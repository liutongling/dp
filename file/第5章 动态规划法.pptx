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4"/>
  </p:handoutMasterIdLst>
  <p:sldIdLst>
    <p:sldId id="256" r:id="rId3"/>
    <p:sldId id="257" r:id="rId5"/>
    <p:sldId id="349" r:id="rId6"/>
    <p:sldId id="350" r:id="rId7"/>
    <p:sldId id="351" r:id="rId8"/>
    <p:sldId id="356" r:id="rId9"/>
    <p:sldId id="259" r:id="rId10"/>
    <p:sldId id="352" r:id="rId11"/>
    <p:sldId id="353" r:id="rId12"/>
    <p:sldId id="355" r:id="rId13"/>
    <p:sldId id="354" r:id="rId14"/>
    <p:sldId id="357" r:id="rId15"/>
    <p:sldId id="329" r:id="rId16"/>
    <p:sldId id="331" r:id="rId17"/>
    <p:sldId id="332" r:id="rId18"/>
    <p:sldId id="338" r:id="rId19"/>
    <p:sldId id="339" r:id="rId20"/>
    <p:sldId id="340" r:id="rId21"/>
    <p:sldId id="341" r:id="rId22"/>
    <p:sldId id="342" r:id="rId23"/>
    <p:sldId id="343" r:id="rId24"/>
    <p:sldId id="346" r:id="rId25"/>
    <p:sldId id="345" r:id="rId26"/>
    <p:sldId id="344" r:id="rId27"/>
    <p:sldId id="290" r:id="rId28"/>
    <p:sldId id="291" r:id="rId29"/>
    <p:sldId id="292" r:id="rId30"/>
    <p:sldId id="293" r:id="rId31"/>
    <p:sldId id="294" r:id="rId32"/>
    <p:sldId id="348" r:id="rId33"/>
    <p:sldId id="347" r:id="rId34"/>
    <p:sldId id="295" r:id="rId35"/>
    <p:sldId id="296" r:id="rId36"/>
    <p:sldId id="298" r:id="rId37"/>
    <p:sldId id="303" r:id="rId38"/>
    <p:sldId id="304" r:id="rId39"/>
    <p:sldId id="306" r:id="rId40"/>
    <p:sldId id="307" r:id="rId41"/>
    <p:sldId id="308" r:id="rId42"/>
    <p:sldId id="313" r:id="rId43"/>
    <p:sldId id="314" r:id="rId44"/>
    <p:sldId id="315" r:id="rId45"/>
    <p:sldId id="316" r:id="rId46"/>
    <p:sldId id="317" r:id="rId47"/>
    <p:sldId id="327" r:id="rId48"/>
    <p:sldId id="334" r:id="rId49"/>
    <p:sldId id="333" r:id="rId50"/>
    <p:sldId id="335" r:id="rId51"/>
    <p:sldId id="336" r:id="rId52"/>
    <p:sldId id="337" r:id="rId53"/>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94" userDrawn="1">
          <p15:clr>
            <a:srgbClr val="A4A3A4"/>
          </p15:clr>
        </p15:guide>
        <p15:guide id="2" pos="282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19" autoAdjust="0"/>
    <p:restoredTop sz="95126" autoAdjust="0"/>
  </p:normalViewPr>
  <p:slideViewPr>
    <p:cSldViewPr showGuides="1">
      <p:cViewPr varScale="1">
        <p:scale>
          <a:sx n="115" d="100"/>
          <a:sy n="115" d="100"/>
        </p:scale>
        <p:origin x="906" y="84"/>
      </p:cViewPr>
      <p:guideLst>
        <p:guide orient="horz" pos="2094"/>
        <p:guide pos="282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8" Type="http://schemas.openxmlformats.org/officeDocument/2006/relationships/commentAuthors" Target="commentAuthors.xml"/><Relationship Id="rId57" Type="http://schemas.openxmlformats.org/officeDocument/2006/relationships/tableStyles" Target="tableStyles.xml"/><Relationship Id="rId56" Type="http://schemas.openxmlformats.org/officeDocument/2006/relationships/viewProps" Target="viewProps.xml"/><Relationship Id="rId55" Type="http://schemas.openxmlformats.org/officeDocument/2006/relationships/presProps" Target="presProps.xml"/><Relationship Id="rId54" Type="http://schemas.openxmlformats.org/officeDocument/2006/relationships/handoutMaster" Target="handoutMasters/handoutMaster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5.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8.png"/><Relationship Id="rId16" Type="http://schemas.openxmlformats.org/officeDocument/2006/relationships/tags" Target="../tags/tag13.xml"/><Relationship Id="rId15" Type="http://schemas.openxmlformats.org/officeDocument/2006/relationships/image" Target="../media/image7.png"/><Relationship Id="rId14" Type="http://schemas.openxmlformats.org/officeDocument/2006/relationships/tags" Target="../tags/tag12.xml"/><Relationship Id="rId13" Type="http://schemas.openxmlformats.org/officeDocument/2006/relationships/image" Target="../media/image6.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74.xml"/></Relationships>
</file>

<file path=ppt/slides/_rels/slide13.xml.rels><?xml version="1.0" encoding="UTF-8" standalone="yes"?>
<Relationships xmlns="http://schemas.openxmlformats.org/package/2006/relationships"><Relationship Id="rId7" Type="http://schemas.openxmlformats.org/officeDocument/2006/relationships/notesSlide" Target="../notesSlides/notesSlide12.xml"/><Relationship Id="rId6"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3.xml"/><Relationship Id="rId7" Type="http://schemas.openxmlformats.org/officeDocument/2006/relationships/slideLayout" Target="../slideLayouts/slideLayout2.xml"/><Relationship Id="rId6" Type="http://schemas.openxmlformats.org/officeDocument/2006/relationships/image" Target="../media/image17.emf"/><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9" Type="http://schemas.openxmlformats.org/officeDocument/2006/relationships/notesSlide" Target="../notesSlides/notesSlide14.xml"/><Relationship Id="rId8" Type="http://schemas.openxmlformats.org/officeDocument/2006/relationships/slideLayout" Target="../slideLayouts/slideLayout2.xml"/><Relationship Id="rId7" Type="http://schemas.openxmlformats.org/officeDocument/2006/relationships/image" Target="../media/image19.emf"/><Relationship Id="rId6" Type="http://schemas.openxmlformats.org/officeDocument/2006/relationships/image" Target="../media/image18.emf"/><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16.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17.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0.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6.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2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0.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5.png"/><Relationship Id="rId6" Type="http://schemas.openxmlformats.org/officeDocument/2006/relationships/image" Target="../media/image24.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2.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6.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8.png"/><Relationship Id="rId6" Type="http://schemas.openxmlformats.org/officeDocument/2006/relationships/image" Target="../media/image27.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9.emf"/></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1.png"/><Relationship Id="rId6" Type="http://schemas.openxmlformats.org/officeDocument/2006/relationships/image" Target="../media/image30.wmf"/><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6.png"/><Relationship Id="rId6" Type="http://schemas.openxmlformats.org/officeDocument/2006/relationships/image" Target="../media/image35.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3.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4.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5.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8.emf"/><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8.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6.png"/><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p>
            <a:r>
              <a:rPr lang="zh-CN" altLang="en-US">
                <a:solidFill>
                  <a:srgbClr val="FF0000"/>
                </a:solidFill>
              </a:rPr>
              <a:t>再思考斐波那契数列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p>
            <a:r>
              <a:rPr lang="zh-CN" altLang="en-US"/>
              <a:t>显然可以利用重叠子问题的性质，那就是保存下来，不要做重复</a:t>
            </a:r>
            <a:r>
              <a:rPr lang="zh-CN" altLang="en-US"/>
              <a:t>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p>
            <a:r>
              <a:rPr lang="zh-CN" altLang="en-US">
                <a:solidFill>
                  <a:srgbClr val="FF0000"/>
                </a:solidFill>
              </a:rPr>
              <a:t>恭喜同学们会了记忆化搜索！若让你把这个代码改成</a:t>
            </a:r>
            <a:r>
              <a:rPr lang="zh-CN" altLang="en-US">
                <a:solidFill>
                  <a:srgbClr val="FF0000"/>
                </a:solidFill>
              </a:rPr>
              <a:t>循环，该</a:t>
            </a:r>
            <a:r>
              <a:rPr lang="zh-CN" altLang="en-US">
                <a:solidFill>
                  <a:srgbClr val="FF0000"/>
                </a:solidFill>
              </a:rPr>
              <a:t>怎么办？</a:t>
            </a:r>
            <a:endParaRPr lang="zh-CN" altLang="en-US">
              <a:solidFill>
                <a:srgbClr val="FF0000"/>
              </a:solidFill>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①明白什么</a:t>
            </a:r>
            <a:r>
              <a:rPr lang="zh-CN" altLang="en-US">
                <a:solidFill>
                  <a:srgbClr val="FF0000"/>
                </a:solidFill>
              </a:rPr>
              <a:t>是重复</a:t>
            </a:r>
            <a:r>
              <a:rPr lang="zh-CN" altLang="en-US">
                <a:solidFill>
                  <a:srgbClr val="FF0000"/>
                </a:solidFill>
              </a:rPr>
              <a:t>子问题</a:t>
            </a:r>
            <a:endParaRPr lang="zh-CN" altLang="en-US">
              <a:solidFill>
                <a:srgbClr val="FF0000"/>
              </a:solidFill>
            </a:endParaRPr>
          </a:p>
          <a:p>
            <a:r>
              <a:rPr lang="zh-CN" altLang="en-US">
                <a:solidFill>
                  <a:srgbClr val="FF0000"/>
                </a:solidFill>
              </a:rPr>
              <a:t>②明白什么是最优子</a:t>
            </a:r>
            <a:r>
              <a:rPr lang="zh-CN" altLang="en-US">
                <a:solidFill>
                  <a:srgbClr val="FF0000"/>
                </a:solidFill>
              </a:rPr>
              <a:t>结构</a:t>
            </a:r>
            <a:endParaRPr lang="zh-CN" altLang="en-US">
              <a:solidFill>
                <a:srgbClr val="FF0000"/>
              </a:solidFill>
            </a:endParaRPr>
          </a:p>
          <a:p>
            <a:r>
              <a:rPr lang="zh-CN" altLang="en-US">
                <a:solidFill>
                  <a:srgbClr val="FF0000"/>
                </a:solidFill>
              </a:rPr>
              <a:t>③明白动态规划的状态转移方程和状态表（</a:t>
            </a:r>
            <a:r>
              <a:rPr lang="zh-CN" altLang="en-US">
                <a:solidFill>
                  <a:srgbClr val="FF0000"/>
                </a:solidFill>
              </a:rPr>
              <a:t>决策表）是</a:t>
            </a:r>
            <a:r>
              <a:rPr lang="zh-CN" altLang="en-US">
                <a:solidFill>
                  <a:srgbClr val="FF0000"/>
                </a:solidFill>
              </a:rPr>
              <a:t>什么</a:t>
            </a:r>
            <a:endParaRPr lang="zh-CN" altLang="en-US">
              <a:solidFill>
                <a:srgbClr val="FF0000"/>
              </a:solidFill>
            </a:endParaRPr>
          </a:p>
          <a:p>
            <a:r>
              <a:rPr lang="zh-CN" altLang="en-US">
                <a:solidFill>
                  <a:srgbClr val="FF0000"/>
                </a:solidFill>
              </a:rPr>
              <a:t>④分清动态规划与分治法的</a:t>
            </a:r>
            <a:r>
              <a:rPr lang="zh-CN" altLang="en-US">
                <a:solidFill>
                  <a:srgbClr val="FF0000"/>
                </a:solidFill>
              </a:rPr>
              <a:t>区别</a:t>
            </a:r>
            <a:endParaRPr lang="zh-CN" altLang="en-US">
              <a:solidFill>
                <a:srgbClr val="FF0000"/>
              </a:solidFill>
            </a:endParaRPr>
          </a:p>
          <a:p>
            <a:r>
              <a:rPr lang="zh-CN" altLang="en-US">
                <a:solidFill>
                  <a:srgbClr val="FF0000"/>
                </a:solidFill>
              </a:rPr>
              <a:t>⑤分清动态规划与贪心算法的</a:t>
            </a:r>
            <a:r>
              <a:rPr lang="zh-CN" altLang="en-US">
                <a:solidFill>
                  <a:srgbClr val="FF0000"/>
                </a:solidFill>
              </a:rPr>
              <a:t>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p>
            <a:r>
              <a:rPr lang="zh-CN" altLang="en-US">
                <a:solidFill>
                  <a:srgbClr val="FF0000"/>
                </a:solidFill>
              </a:rPr>
              <a:t>动态规划思想是</a:t>
            </a:r>
            <a:r>
              <a:rPr lang="zh-CN" altLang="en-US">
                <a:solidFill>
                  <a:srgbClr val="FF0000"/>
                </a:solidFill>
              </a:rPr>
              <a:t>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a:t>
            </a:r>
            <a:r>
              <a:rPr lang="zh-CN" altLang="en-US" sz="1400" b="1">
                <a:solidFill>
                  <a:schemeClr val="tx1"/>
                </a:solidFill>
                <a:ea typeface="宋体" panose="02010600030101010101" pitchFamily="2" charset="-122"/>
              </a:rPr>
              <a:t>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p>
            <a:r>
              <a:rPr lang="zh-CN" altLang="en-US">
                <a:solidFill>
                  <a:srgbClr val="FF0000"/>
                </a:solidFill>
              </a:rPr>
              <a:t>算法初始时候，定义</a:t>
            </a:r>
            <a:r>
              <a:rPr lang="zh-CN" altLang="en-US">
                <a:solidFill>
                  <a:srgbClr val="FF0000"/>
                </a:solidFill>
              </a:rPr>
              <a:t>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a:t>
            </a:r>
            <a:r>
              <a:rPr lang="zh-CN" altLang="en-US">
                <a:solidFill>
                  <a:srgbClr val="FF0000"/>
                </a:solidFill>
              </a:rPr>
              <a:t>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p>
            <a:r>
              <a:rPr lang="zh-CN" altLang="en-US">
                <a:solidFill>
                  <a:schemeClr val="tx1"/>
                </a:solidFill>
              </a:rPr>
              <a:t>动态规划处理子问题是有较多重复，可以把重叠子问题保存下来，供下个问题抉择直接使用。分治法则是独立处理重复的</a:t>
            </a:r>
            <a:r>
              <a:rPr lang="zh-CN" altLang="en-US">
                <a:solidFill>
                  <a:schemeClr val="tx1"/>
                </a:solidFill>
              </a:rPr>
              <a:t>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a:t>
            </a:r>
            <a:r>
              <a:rPr lang="zh-CN" altLang="en-US">
                <a:uFillTx/>
                <a:latin typeface="Times New Roman" panose="02020603050405020304" pitchFamily="18" charset="0"/>
                <a:sym typeface="+mn-ea"/>
              </a:rPr>
              <a:t>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6" grpId="1" animBg="1"/>
      <p:bldP spid="37" grpId="1" animBg="1"/>
      <p:bldP spid="36" grpId="2" animBg="1"/>
      <p:bldP spid="37" grpId="2" animBg="1"/>
      <p:bldP spid="36" grpId="3" animBg="1"/>
      <p:bldP spid="37" grpId="3" animBg="1"/>
      <p:bldP spid="35" grpId="0"/>
      <p:bldP spid="35" grpId="1"/>
      <p:bldP spid="36" grpId="4" animBg="1"/>
      <p:bldP spid="37" grpId="4" animBg="1"/>
      <p:bldP spid="40" grpId="0" bldLvl="0" animBg="1"/>
      <p:bldP spid="41" grpId="0" bldLvl="0" animBg="1"/>
      <p:bldP spid="40" grpId="1" animBg="1"/>
      <p:bldP spid="41" grpId="1" animBg="1"/>
      <p:bldP spid="40" grpId="2" bldLvl="0" animBg="1"/>
      <p:bldP spid="41" grpId="2" bldLvl="0" animBg="1"/>
      <p:bldP spid="40" grpId="3" bldLvl="0" animBg="1"/>
      <p:bldP spid="41" grpId="3" bldLvl="0" animBg="1"/>
      <p:bldP spid="40" grpId="4" bldLvl="0" animBg="1"/>
      <p:bldP spid="41" grpId="4" bldLvl="0" animBg="1"/>
      <p:bldP spid="40" grpId="5" animBg="1"/>
      <p:bldP spid="41" grpId="5" animBg="1"/>
      <p:bldP spid="36" grpId="5" animBg="1"/>
      <p:bldP spid="37" grpId="5" animBg="1"/>
      <p:bldP spid="42" grpId="0"/>
      <p:bldP spid="42" grpId="1"/>
      <p:bldP spid="43" grpId="0" bldLvl="0" animBg="1"/>
      <p:bldP spid="44" grpId="0" bldLvl="0" animBg="1"/>
      <p:bldP spid="43" grpId="1" animBg="1"/>
      <p:bldP spid="44" grpId="1" animBg="1"/>
      <p:bldP spid="43" grpId="2" bldLvl="0" animBg="1"/>
      <p:bldP spid="44" grpId="2" bldLvl="0" animBg="1"/>
      <p:bldP spid="43" grpId="3" bldLvl="0" animBg="1"/>
      <p:bldP spid="44" grpId="3" bldLvl="0" animBg="1"/>
      <p:bldP spid="43" grpId="4" bldLvl="0" animBg="1"/>
      <p:bldP spid="44" grpId="4" bldLvl="0" animBg="1"/>
      <p:bldP spid="43" grpId="5" bldLvl="0" animBg="1"/>
      <p:bldP spid="44" grpId="5" bldLvl="0" animBg="1"/>
      <p:bldP spid="45" grpId="0"/>
      <p:bldP spid="45" grpId="1"/>
      <p:bldP spid="46" grpId="0" bldLvl="0" animBg="1"/>
      <p:bldP spid="47" grpId="0" bldLvl="0" animBg="1"/>
      <p:bldP spid="46" grpId="1" animBg="1"/>
      <p:bldP spid="47" grpId="1" animBg="1"/>
      <p:bldP spid="46" grpId="2" bldLvl="0" animBg="1"/>
      <p:bldP spid="47" grpId="2" bldLvl="0" animBg="1"/>
      <p:bldP spid="46" grpId="3" bldLvl="0" animBg="1"/>
      <p:bldP spid="47" grpId="3" bldLvl="0" animBg="1"/>
      <p:bldP spid="46" grpId="4" bldLvl="0" animBg="1"/>
      <p:bldP spid="47" grpId="4" bldLvl="0" animBg="1"/>
      <p:bldP spid="46" grpId="5"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a:t>
            </a:r>
            <a:r>
              <a:rPr lang="zh-CN" altLang="en-US"/>
              <a:t>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p>
            <a:r>
              <a:rPr lang="zh-CN" altLang="en-US"/>
              <a:t>如何利用动态规划的思想：首先将问题拆分成各个阶段的</a:t>
            </a:r>
            <a:r>
              <a:rPr lang="zh-CN" altLang="en-US"/>
              <a:t>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3" grpId="1"/>
      <p:bldP spid="8" grpId="0"/>
      <p:bldP spid="8" grpId="1"/>
      <p:bldP spid="10" grpId="0"/>
      <p:bldP spid="10" grpId="1"/>
      <p:bldP spid="6" grpId="0"/>
      <p:bldP spid="6" grpId="1"/>
      <p:bldP spid="55" grpId="0"/>
      <p:bldP spid="15" grpId="0"/>
      <p:bldP spid="56" grpId="0"/>
      <p:bldP spid="57" grpId="0"/>
      <p:bldP spid="19" grpId="0"/>
      <p:bldP spid="17" grpId="0"/>
      <p:bldP spid="58" grpId="0"/>
      <p:bldP spid="20" grpId="0"/>
      <p:bldP spid="29" grpId="0"/>
      <p:bldP spid="34" grpId="0"/>
      <p:bldP spid="37" grpId="0"/>
      <p:bldP spid="37" grpId="1"/>
      <p:bldP spid="60" grpId="0"/>
      <p:bldP spid="60" grpId="1"/>
      <p:bldP spid="61" grpId="0"/>
      <p:bldP spid="61" grpId="1"/>
      <p:bldP spid="40" grpId="0"/>
      <p:bldP spid="40" grpId="1"/>
      <p:bldP spid="66" grpId="0"/>
      <p:bldP spid="66" grpId="1"/>
      <p:bldP spid="41" grpId="1"/>
      <p:bldP spid="67" grpId="0"/>
      <p:bldP spid="42" grpId="0"/>
      <p:bldP spid="68" grpId="0"/>
      <p:bldP spid="68" grpId="1"/>
      <p:bldP spid="43" grpId="0"/>
      <p:bldP spid="43" grpId="1"/>
      <p:bldP spid="69" grpId="0"/>
      <p:bldP spid="69" grpId="1"/>
      <p:bldP spid="44" grpId="0"/>
      <p:bldP spid="44" grpId="1"/>
      <p:bldP spid="79" grpId="0"/>
      <p:bldP spid="79" grpId="1"/>
      <p:bldP spid="45" grpId="0"/>
      <p:bldP spid="45"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a:t>
            </a:r>
            <a:r>
              <a:rPr lang="zh-CN" altLang="en-US" sz="2400" b="1" kern="0" dirty="0">
                <a:uFillTx/>
                <a:latin typeface="Times New Roman" panose="02020603050405020304" pitchFamily="18" charset="0"/>
                <a:cs typeface="Times New Roman" panose="02020603050405020304" pitchFamily="18" charset="0"/>
                <a:sym typeface="+mn-ea"/>
              </a:rPr>
              <a:t>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2492375"/>
            <a:ext cx="6981825" cy="1688465"/>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①确定</a:t>
            </a:r>
            <a:r>
              <a:rPr lang="zh-CN" altLang="en-US">
                <a:solidFill>
                  <a:srgbClr val="FF0000"/>
                </a:solidFill>
              </a:rPr>
              <a:t>状态</a:t>
            </a:r>
            <a:endParaRPr lang="zh-CN" altLang="en-US">
              <a:solidFill>
                <a:srgbClr val="FF0000"/>
              </a:solidFill>
            </a:endParaRPr>
          </a:p>
          <a:p>
            <a:r>
              <a:rPr lang="zh-CN" altLang="en-US">
                <a:solidFill>
                  <a:srgbClr val="FF0000"/>
                </a:solidFill>
              </a:rPr>
              <a:t>②找到状态转移</a:t>
            </a:r>
            <a:r>
              <a:rPr lang="zh-CN" altLang="en-US">
                <a:solidFill>
                  <a:srgbClr val="FF0000"/>
                </a:solidFill>
              </a:rPr>
              <a:t>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④获取</a:t>
            </a:r>
            <a:r>
              <a:rPr lang="zh-CN" altLang="en-US">
                <a:solidFill>
                  <a:srgbClr val="FF0000"/>
                </a:solidFill>
              </a:rPr>
              <a:t>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1513205"/>
            <a:ext cx="8409940" cy="902970"/>
          </a:xfrm>
          <a:prstGeom prst="rect">
            <a:avLst/>
          </a:prstGeom>
        </p:spPr>
        <p:txBody>
          <a:bodyPr>
            <a:noAutofit/>
          </a:bodyPr>
          <a:p>
            <a:pPr marL="0" indent="0"/>
            <a:r>
              <a:rPr lang="zh-CN" altLang="en-US" sz="1600" b="0" i="0">
                <a:solidFill>
                  <a:srgbClr val="262626"/>
                </a:solidFill>
                <a:latin typeface="-apple-system"/>
                <a:ea typeface="-apple-system"/>
              </a:rPr>
              <a:t>问题：给你一个整数数组</a:t>
            </a:r>
            <a:r>
              <a:rPr lang="en-US" altLang="zh-CN" sz="1600" b="0" i="0">
                <a:solidFill>
                  <a:srgbClr val="262626"/>
                </a:solidFill>
                <a:uFillTx/>
                <a:latin typeface="Times New Roman" panose="02020603050405020304" pitchFamily="18" charset="0"/>
              </a:rPr>
              <a:t> nums </a:t>
            </a:r>
            <a:r>
              <a:rPr lang="zh-CN" altLang="en-US" sz="1600" b="0" i="0">
                <a:solidFill>
                  <a:srgbClr val="262626"/>
                </a:solidFill>
                <a:latin typeface="-apple-system"/>
                <a:ea typeface="-apple-system"/>
              </a:rPr>
              <a:t>，请你找出一个具有最大和的连续子数组（</a:t>
            </a:r>
            <a:r>
              <a:rPr lang="zh-CN" altLang="en-US" sz="1600" b="0" i="0">
                <a:solidFill>
                  <a:srgbClr val="262626"/>
                </a:solidFill>
                <a:latin typeface="-apple-system"/>
                <a:ea typeface="-apple-system"/>
              </a:rPr>
              <a:t>至少包含一个元素），返回其最大和。</a:t>
            </a:r>
            <a:r>
              <a:rPr lang="zh-CN" altLang="en-US" sz="1600" b="1" i="0">
                <a:solidFill>
                  <a:srgbClr val="0A84FF"/>
                </a:solidFill>
                <a:latin typeface="-apple-system"/>
                <a:ea typeface="-apple-system"/>
              </a:rPr>
              <a:t>子数组</a:t>
            </a:r>
            <a:r>
              <a:rPr lang="zh-CN" altLang="en-US" sz="1600" b="0" i="0">
                <a:solidFill>
                  <a:srgbClr val="262626"/>
                </a:solidFill>
                <a:latin typeface="-apple-system"/>
                <a:ea typeface="-apple-system"/>
              </a:rPr>
              <a:t>是数组中的一个连续部分。</a:t>
            </a:r>
            <a:endParaRPr lang="zh-CN" altLang="en-US" sz="1600" b="0" i="0">
              <a:solidFill>
                <a:srgbClr val="262626"/>
              </a:solidFill>
              <a:latin typeface="-apple-system"/>
              <a:ea typeface="-apple-system"/>
            </a:endParaRPr>
          </a:p>
          <a:p>
            <a:pPr marL="0" indent="0"/>
            <a:r>
              <a:rPr lang="zh-CN" altLang="en-US" sz="1600" b="0" i="0">
                <a:solidFill>
                  <a:srgbClr val="262626"/>
                </a:solidFill>
                <a:latin typeface="-apple-system"/>
                <a:ea typeface="-apple-system"/>
              </a:rPr>
              <a:t>例如</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nums=[5,6,-3,100,-100,-2,3]</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的最大子数组和。使用动态规划的方法解决问题。</a:t>
            </a:r>
            <a:endParaRPr lang="en-US" altLang="zh-CN" sz="1600" b="0" i="0">
              <a:solidFill>
                <a:srgbClr val="262626"/>
              </a:solidFill>
              <a:latin typeface="Times New Roman" panose="02020603050405020304" pitchFamily="18" charset="0"/>
              <a:ea typeface="-apple-system"/>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graphicFrame>
        <p:nvGraphicFramePr>
          <p:cNvPr id="4" name="表格 3"/>
          <p:cNvGraphicFramePr/>
          <p:nvPr>
            <p:custDataLst>
              <p:tags r:id="rId1"/>
            </p:custDataLst>
          </p:nvPr>
        </p:nvGraphicFramePr>
        <p:xfrm>
          <a:off x="683260" y="1628775"/>
          <a:ext cx="4569460" cy="428625"/>
        </p:xfrm>
        <a:graphic>
          <a:graphicData uri="http://schemas.openxmlformats.org/drawingml/2006/table">
            <a:tbl>
              <a:tblPr firstRow="1" bandRow="1">
                <a:tableStyleId>{5C22544A-7EE6-4342-B048-85BDC9FD1C3A}</a:tableStyleId>
              </a:tblPr>
              <a:tblGrid>
                <a:gridCol w="652780"/>
                <a:gridCol w="652780"/>
                <a:gridCol w="652780"/>
                <a:gridCol w="652780"/>
                <a:gridCol w="652780"/>
                <a:gridCol w="652780"/>
                <a:gridCol w="652780"/>
              </a:tblGrid>
              <a:tr h="428625">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5</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6</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chemeClr val="tx1"/>
                          </a:solidFill>
                          <a:latin typeface="Times New Roman" panose="02020603050405020304" pitchFamily="18" charset="0"/>
                          <a:cs typeface="Times New Roman" panose="02020603050405020304" pitchFamily="18" charset="0"/>
                        </a:rPr>
                        <a:t>-3</a:t>
                      </a:r>
                      <a:endParaRPr lang="en-US" altLang="zh-CN" b="0">
                        <a:ln>
                          <a:no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chemeClr val="tx1"/>
                          </a:solidFill>
                          <a:latin typeface="Times New Roman" panose="02020603050405020304" pitchFamily="18" charset="0"/>
                          <a:cs typeface="Times New Roman" panose="02020603050405020304" pitchFamily="18" charset="0"/>
                        </a:rPr>
                        <a:t>100</a:t>
                      </a:r>
                      <a:endParaRPr lang="en-US" altLang="zh-CN" b="0">
                        <a:ln>
                          <a:no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chemeClr val="tx1"/>
                          </a:solidFill>
                          <a:latin typeface="Times New Roman" panose="02020603050405020304" pitchFamily="18" charset="0"/>
                          <a:cs typeface="Times New Roman" panose="02020603050405020304" pitchFamily="18" charset="0"/>
                        </a:rPr>
                        <a:t>-100</a:t>
                      </a:r>
                      <a:endParaRPr lang="en-US" altLang="zh-CN" b="0">
                        <a:ln>
                          <a:no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chemeClr val="tx1"/>
                          </a:solidFill>
                          <a:latin typeface="Times New Roman" panose="02020603050405020304" pitchFamily="18" charset="0"/>
                          <a:cs typeface="Times New Roman" panose="02020603050405020304" pitchFamily="18" charset="0"/>
                        </a:rPr>
                        <a:t>-2</a:t>
                      </a:r>
                      <a:endParaRPr lang="en-US" altLang="zh-CN" b="0">
                        <a:ln>
                          <a:no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chemeClr val="tx1"/>
                          </a:solidFill>
                          <a:latin typeface="Times New Roman" panose="02020603050405020304" pitchFamily="18" charset="0"/>
                          <a:cs typeface="Times New Roman" panose="02020603050405020304" pitchFamily="18" charset="0"/>
                        </a:rPr>
                        <a:t>3</a:t>
                      </a:r>
                      <a:endParaRPr lang="en-US" altLang="zh-CN" b="0">
                        <a:ln>
                          <a:no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124744"/>
            <a:ext cx="8352928" cy="1615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a:t>
            </a:r>
            <a:endParaRPr lang="zh-CN" altLang="en-US" sz="22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假设</a:t>
            </a:r>
            <a:r>
              <a:rPr lang="zh-CN" altLang="en-US" sz="2200" dirty="0">
                <a:solidFill>
                  <a:srgbClr val="080808"/>
                </a:solidFill>
                <a:latin typeface="楷体" panose="02010609060101010101" pitchFamily="49" charset="-122"/>
                <a:ea typeface="楷体" panose="02010609060101010101" pitchFamily="49" charset="-122"/>
              </a:rPr>
              <a:t>你有一个承重量为</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千克的背包，可以装入背包的物品清单如下表</a:t>
            </a:r>
            <a:r>
              <a:rPr lang="en-US" altLang="zh-CN" sz="2200" dirty="0">
                <a:solidFill>
                  <a:srgbClr val="080808"/>
                </a:solidFill>
                <a:latin typeface="楷体" panose="02010609060101010101" pitchFamily="49" charset="-122"/>
                <a:ea typeface="楷体" panose="02010609060101010101" pitchFamily="49" charset="-122"/>
              </a:rPr>
              <a:t>5.1</a:t>
            </a:r>
            <a:r>
              <a:rPr lang="zh-CN" altLang="en-US" sz="2200" dirty="0">
                <a:solidFill>
                  <a:srgbClr val="080808"/>
                </a:solidFill>
                <a:latin typeface="楷体" panose="02010609060101010101" pitchFamily="49" charset="-122"/>
                <a:ea typeface="楷体" panose="02010609060101010101" pitchFamily="49" charset="-122"/>
              </a:rPr>
              <a:t>所示，已知每件物品对应的重量和价格。请运用最优决策表确定装入哪些物品能够使得背包价值最大。</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85344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rPr>
                        <a:t>物品</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rPr>
                        <a:t>重量（</a:t>
                      </a:r>
                      <a:r>
                        <a:rPr lang="en-US" sz="1400" kern="100" dirty="0">
                          <a:effectLst/>
                        </a:rPr>
                        <a:t>kg</a:t>
                      </a:r>
                      <a:r>
                        <a:rPr lang="zh-CN" sz="1400" kern="100">
                          <a:effectLst/>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rPr>
                        <a:t>相机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1600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3500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rPr>
                        <a:t>笔记本电脑</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rPr>
                        <a:t>2700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395536" y="4077072"/>
            <a:ext cx="8352928"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解题思路：首先绘制该问题的最优决策表，表格的各行表示各阶段决策时可选择的物品，各列为不同容量（</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4kg</a:t>
            </a:r>
            <a:r>
              <a:rPr lang="zh-CN" altLang="en-US" sz="2200" dirty="0">
                <a:solidFill>
                  <a:srgbClr val="080808"/>
                </a:solidFill>
                <a:latin typeface="楷体" panose="02010609060101010101" pitchFamily="49" charset="-122"/>
                <a:ea typeface="楷体" panose="02010609060101010101" pitchFamily="49" charset="-122"/>
              </a:rPr>
              <a:t>）的背包，如下</a:t>
            </a:r>
            <a:r>
              <a:rPr lang="zh-CN" altLang="en-US" sz="2200" dirty="0" smtClean="0">
                <a:solidFill>
                  <a:srgbClr val="080808"/>
                </a:solidFill>
                <a:latin typeface="楷体" panose="02010609060101010101" pitchFamily="49" charset="-122"/>
                <a:ea typeface="楷体" panose="02010609060101010101" pitchFamily="49" charset="-122"/>
              </a:rPr>
              <a:t>表所</a:t>
            </a:r>
            <a:r>
              <a:rPr lang="zh-CN" altLang="en-US" sz="2200" dirty="0">
                <a:solidFill>
                  <a:srgbClr val="080808"/>
                </a:solidFill>
                <a:latin typeface="楷体" panose="02010609060101010101" pitchFamily="49" charset="-122"/>
                <a:ea typeface="楷体" panose="02010609060101010101" pitchFamily="49" charset="-122"/>
              </a:rPr>
              <a:t>示： </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6" name="表格 5"/>
          <p:cNvGraphicFramePr>
            <a:graphicFrameLocks noGrp="1"/>
          </p:cNvGraphicFramePr>
          <p:nvPr/>
        </p:nvGraphicFramePr>
        <p:xfrm>
          <a:off x="2570083" y="5255126"/>
          <a:ext cx="4003834" cy="853440"/>
        </p:xfrm>
        <a:graphic>
          <a:graphicData uri="http://schemas.openxmlformats.org/drawingml/2006/table">
            <a:tbl>
              <a:tblPr firstRow="1" firstCol="1" bandRow="1">
                <a:tableStyleId>{5940675A-B579-460E-94D1-54222C63F5DA}</a:tableStyleId>
              </a:tblPr>
              <a:tblGrid>
                <a:gridCol w="1026202"/>
                <a:gridCol w="744221"/>
                <a:gridCol w="744221"/>
                <a:gridCol w="744221"/>
                <a:gridCol w="744969"/>
              </a:tblGrid>
              <a:tr h="0">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r h="133350">
                <a:tc>
                  <a:txBody>
                    <a:bodyPr/>
                    <a:lstStyle/>
                    <a:p>
                      <a:pPr algn="just">
                        <a:spcAft>
                          <a:spcPts val="0"/>
                        </a:spcAft>
                      </a:pPr>
                      <a:r>
                        <a:rPr lang="zh-CN" sz="1400" kern="100">
                          <a:effectLst/>
                        </a:rPr>
                        <a:t>相机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r h="212090">
                <a:tc>
                  <a:txBody>
                    <a:bodyPr/>
                    <a:lstStyle/>
                    <a:p>
                      <a:pPr algn="just">
                        <a:spcAft>
                          <a:spcPts val="0"/>
                        </a:spcAft>
                      </a:pPr>
                      <a:r>
                        <a:rPr lang="zh-CN" sz="1400" kern="100">
                          <a:effectLst/>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r h="0">
                <a:tc>
                  <a:txBody>
                    <a:bodyPr/>
                    <a:lstStyle/>
                    <a:p>
                      <a:pPr algn="just">
                        <a:spcAft>
                          <a:spcPts val="0"/>
                        </a:spcAft>
                      </a:pPr>
                      <a:r>
                        <a:rPr lang="zh-CN" sz="1400" kern="100">
                          <a:effectLst/>
                        </a:rPr>
                        <a:t>笔记本电脑</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tc>
              </a:tr>
            </a:tbl>
          </a:graphicData>
        </a:graphic>
      </p:graphicFrame>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536" y="1196752"/>
            <a:ext cx="8352928"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）第一阶段：第一行表示在本阶段你能装入背包的物品只有相机，对于每个单元格来讲，都需要做一个简单的决定：装还是不装相机？</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087724" y="2420888"/>
          <a:ext cx="4968552" cy="853440"/>
        </p:xfrm>
        <a:graphic>
          <a:graphicData uri="http://schemas.openxmlformats.org/drawingml/2006/table">
            <a:tbl>
              <a:tblPr firstRow="1" firstCol="1" bandRow="1">
                <a:tableStyleId>{5940675A-B579-460E-94D1-54222C63F5DA}</a:tableStyleId>
              </a:tblPr>
              <a:tblGrid>
                <a:gridCol w="1273464"/>
                <a:gridCol w="923540"/>
                <a:gridCol w="923540"/>
                <a:gridCol w="923540"/>
                <a:gridCol w="924468"/>
              </a:tblGrid>
              <a:tr h="0">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just">
                        <a:spcAft>
                          <a:spcPts val="0"/>
                        </a:spcAft>
                      </a:pPr>
                      <a:r>
                        <a:rPr lang="zh-CN" sz="1400" kern="100">
                          <a:effectLst/>
                        </a:rPr>
                        <a:t>相机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1600</a:t>
                      </a:r>
                      <a:r>
                        <a:rPr lang="zh-CN" sz="1400" kern="100">
                          <a:effectLst/>
                        </a:rPr>
                        <a:t>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just">
                        <a:spcAft>
                          <a:spcPts val="0"/>
                        </a:spcAft>
                      </a:pPr>
                      <a:r>
                        <a:rPr lang="zh-CN" sz="1400" kern="100">
                          <a:effectLst/>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just">
                        <a:spcAft>
                          <a:spcPts val="0"/>
                        </a:spcAft>
                      </a:pPr>
                      <a:r>
                        <a:rPr lang="zh-CN" sz="1400" kern="100">
                          <a:effectLst/>
                        </a:rPr>
                        <a:t>笔记本电脑</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539552" y="3399596"/>
            <a:ext cx="8352928"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）第二阶段：现在处于第二行，可装入的商品有相机和扫描仪。在每一行，可装入的物品都为当前行的物品以及之前各行的物品。</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1043608" y="4797152"/>
            <a:ext cx="7493524" cy="1440160"/>
          </a:xfrm>
          <a:prstGeom prst="rect">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536" y="1196752"/>
            <a:ext cx="8352928"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smtClean="0">
                <a:solidFill>
                  <a:srgbClr val="080808"/>
                </a:solidFill>
                <a:latin typeface="楷体" panose="02010609060101010101" pitchFamily="49" charset="-122"/>
                <a:ea typeface="楷体" panose="02010609060101010101" pitchFamily="49" charset="-122"/>
              </a:rPr>
              <a:t>3</a:t>
            </a:r>
            <a:r>
              <a:rPr lang="zh-CN" altLang="en-US" sz="2200" dirty="0" smtClean="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第三阶段：现在处于第三行，可装入的商品有相机、扫描仪和笔记本电脑。</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7" name="图片 6"/>
          <p:cNvPicPr>
            <a:picLocks noChangeAspect="1"/>
          </p:cNvPicPr>
          <p:nvPr/>
        </p:nvPicPr>
        <p:blipFill>
          <a:blip r:embed="rId6"/>
          <a:stretch>
            <a:fillRect/>
          </a:stretch>
        </p:blipFill>
        <p:spPr>
          <a:xfrm>
            <a:off x="683568" y="2420888"/>
            <a:ext cx="7488084" cy="1474063"/>
          </a:xfrm>
          <a:prstGeom prst="rect">
            <a:avLst/>
          </a:prstGeom>
        </p:spPr>
      </p:pic>
      <p:pic>
        <p:nvPicPr>
          <p:cNvPr id="8" name="图片 7"/>
          <p:cNvPicPr>
            <a:picLocks noChangeAspect="1"/>
          </p:cNvPicPr>
          <p:nvPr/>
        </p:nvPicPr>
        <p:blipFill>
          <a:blip r:embed="rId7"/>
          <a:stretch>
            <a:fillRect/>
          </a:stretch>
        </p:blipFill>
        <p:spPr>
          <a:xfrm>
            <a:off x="1071607" y="4358774"/>
            <a:ext cx="7645173" cy="864096"/>
          </a:xfrm>
          <a:prstGeom prst="rect">
            <a:avLst/>
          </a:prstGeom>
        </p:spPr>
      </p:pic>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再举一个例子：背包称重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问最多能装价值多大（物品每次只能选择一次）？</a:t>
            </a:r>
            <a:endParaRPr lang="zh-CN" altLang="en-US" sz="2200" dirty="0">
              <a:solidFill>
                <a:srgbClr val="080808"/>
              </a:solidFill>
              <a:latin typeface="Times New Roman" panose="02020603050405020304" pitchFamily="18" charset="0"/>
              <a:ea typeface="楷体" panose="02010609060101010101" pitchFamily="49" charset="-122"/>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1952836"/>
            <a:ext cx="1911567" cy="97210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dirty="0" smtClean="0">
                <a:solidFill>
                  <a:srgbClr val="080808"/>
                </a:solidFill>
                <a:latin typeface="Times New Roman" panose="02020603050405020304" pitchFamily="18" charset="0"/>
                <a:ea typeface="楷体" panose="02010609060101010101" pitchFamily="49" charset="-122"/>
              </a:rPr>
              <a:t>d</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dirty="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不断的更新表格，能够发现更新的递推公式？</a:t>
            </a:r>
            <a:endParaRPr lang="zh-CN" altLang="en-US" sz="2200" dirty="0">
              <a:solidFill>
                <a:srgbClr val="080808"/>
              </a:solidFill>
              <a:latin typeface="Times New Roman" panose="02020603050405020304" pitchFamily="18" charset="0"/>
              <a:ea typeface="楷体" panose="02010609060101010101" pitchFamily="49" charset="-122"/>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①</a:t>
            </a:r>
            <a:r>
              <a:rPr kumimoji="1" lang="zh-CN" altLang="en-US" sz="2200" smtClean="0">
                <a:solidFill>
                  <a:srgbClr val="080808"/>
                </a:solidFill>
                <a:latin typeface="Times New Roman" panose="02020603050405020304" pitchFamily="18" charset="0"/>
                <a:ea typeface="楷体" panose="02010609060101010101" pitchFamily="49" charset="-122"/>
              </a:rPr>
              <a:t>式表示</a:t>
            </a:r>
            <a:r>
              <a:rPr kumimoji="1" lang="zh-CN" altLang="en-US" sz="2200">
                <a:solidFill>
                  <a:srgbClr val="080808"/>
                </a:solidFill>
                <a:latin typeface="Times New Roman" panose="02020603050405020304" pitchFamily="18" charset="0"/>
                <a:ea typeface="楷体" panose="02010609060101010101" pitchFamily="49" charset="-122"/>
              </a:rPr>
              <a:t>如果当前的容量不能容下当前的物品，则</a:t>
            </a:r>
            <a:r>
              <a:rPr kumimoji="1" lang="zh-CN" altLang="en-US" sz="2200" smtClean="0">
                <a:solidFill>
                  <a:srgbClr val="080808"/>
                </a:solidFill>
                <a:latin typeface="Times New Roman" panose="02020603050405020304" pitchFamily="18" charset="0"/>
                <a:ea typeface="楷体" panose="02010609060101010101" pitchFamily="49" charset="-122"/>
              </a:rPr>
              <a:t>直接不</a:t>
            </a:r>
            <a:r>
              <a:rPr kumimoji="1" lang="zh-CN" altLang="en-US" sz="2200">
                <a:solidFill>
                  <a:srgbClr val="080808"/>
                </a:solidFill>
                <a:latin typeface="Times New Roman" panose="02020603050405020304" pitchFamily="18" charset="0"/>
                <a:ea typeface="楷体" panose="02010609060101010101" pitchFamily="49" charset="-122"/>
              </a:rPr>
              <a:t>选择该物品，此时状态表中直接保存</a:t>
            </a:r>
            <a:r>
              <a:rPr kumimoji="1" lang="en-US" altLang="zh-CN" sz="2200" b="1">
                <a:solidFill>
                  <a:srgbClr val="080808"/>
                </a:solidFill>
                <a:latin typeface="Times New Roman" panose="02020603050405020304" pitchFamily="18" charset="0"/>
                <a:ea typeface="楷体" panose="02010609060101010101" pitchFamily="49" charset="-122"/>
              </a:rPr>
              <a:t>dp[i-1][j]</a:t>
            </a:r>
            <a:r>
              <a:rPr kumimoji="1" lang="zh-CN" altLang="en-US" sz="2200">
                <a:solidFill>
                  <a:srgbClr val="080808"/>
                </a:solidFill>
                <a:latin typeface="Times New Roman" panose="02020603050405020304" pitchFamily="18" charset="0"/>
                <a:ea typeface="楷体" panose="02010609060101010101" pitchFamily="49" charset="-122"/>
              </a:rPr>
              <a:t>的值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755576" y="4547492"/>
            <a:ext cx="7812868" cy="1107996"/>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②式表示</a:t>
            </a:r>
            <a:r>
              <a:rPr kumimoji="1" lang="zh-CN" altLang="en-US" sz="2200">
                <a:solidFill>
                  <a:srgbClr val="080808"/>
                </a:solidFill>
                <a:latin typeface="Times New Roman" panose="02020603050405020304" pitchFamily="18" charset="0"/>
                <a:ea typeface="楷体" panose="02010609060101010101" pitchFamily="49" charset="-122"/>
              </a:rPr>
              <a:t>如果当前的</a:t>
            </a:r>
            <a:r>
              <a:rPr kumimoji="1" lang="zh-CN" altLang="en-US" sz="2200" smtClean="0">
                <a:solidFill>
                  <a:srgbClr val="080808"/>
                </a:solidFill>
                <a:latin typeface="Times New Roman" panose="02020603050405020304" pitchFamily="18" charset="0"/>
                <a:ea typeface="楷体" panose="02010609060101010101" pitchFamily="49" charset="-122"/>
              </a:rPr>
              <a:t>容量能容</a:t>
            </a:r>
            <a:r>
              <a:rPr kumimoji="1" lang="zh-CN" altLang="en-US" sz="2200">
                <a:solidFill>
                  <a:srgbClr val="080808"/>
                </a:solidFill>
                <a:latin typeface="Times New Roman" panose="02020603050405020304" pitchFamily="18" charset="0"/>
                <a:ea typeface="楷体" panose="02010609060101010101" pitchFamily="49" charset="-122"/>
              </a:rPr>
              <a:t>下当前的物品，</a:t>
            </a:r>
            <a:r>
              <a:rPr kumimoji="1" lang="zh-CN" altLang="en-US" sz="2200" smtClean="0">
                <a:solidFill>
                  <a:srgbClr val="080808"/>
                </a:solidFill>
                <a:latin typeface="Times New Roman" panose="02020603050405020304" pitchFamily="18" charset="0"/>
                <a:ea typeface="楷体" panose="02010609060101010101" pitchFamily="49" charset="-122"/>
              </a:rPr>
              <a:t>则有两种选择，选择该物品和不选择该物品，此时</a:t>
            </a:r>
            <a:r>
              <a:rPr kumimoji="1" lang="en-US" altLang="zh-CN" sz="2200" b="1" smtClean="0">
                <a:solidFill>
                  <a:srgbClr val="080808"/>
                </a:solidFill>
                <a:latin typeface="Times New Roman" panose="02020603050405020304" pitchFamily="18" charset="0"/>
                <a:ea typeface="楷体" panose="02010609060101010101" pitchFamily="49" charset="-122"/>
              </a:rPr>
              <a:t>dp[i][j]</a:t>
            </a:r>
            <a:r>
              <a:rPr kumimoji="1" lang="zh-CN" altLang="en-US" sz="2200" smtClean="0">
                <a:solidFill>
                  <a:srgbClr val="080808"/>
                </a:solidFill>
                <a:latin typeface="Times New Roman" panose="02020603050405020304" pitchFamily="18" charset="0"/>
                <a:ea typeface="楷体" panose="02010609060101010101" pitchFamily="49" charset="-122"/>
              </a:rPr>
              <a:t>选择最大的值作为最优选择。</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3088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回顾</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背包问题，解题的流程是怎样的？</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470885" y="1772816"/>
            <a:ext cx="7812868" cy="3477875"/>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首先能够感觉这个问题可以用动态规划，怎么判断呢？该问题求最优解，且整体最优解是所有子问题最优解的组成，其实也就是判断动态规划核心思想符不符合该问题。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）选择数组（或是其他存储结构）能够描述问题状态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）通过再状态转移表中不断的转移，找到递推关系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完全背包问题：有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种物品有质量和对应的价值。每种物品数量是无限的，背包称重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smtClean="0">
                <a:solidFill>
                  <a:srgbClr val="080808"/>
                </a:solidFill>
                <a:latin typeface="Times New Roman" panose="02020603050405020304" pitchFamily="18" charset="0"/>
                <a:ea typeface="楷体" panose="02010609060101010101" pitchFamily="49" charset="-122"/>
              </a:rPr>
              <a:t>dp</a:t>
            </a:r>
            <a:r>
              <a:rPr kumimoji="1" lang="zh-CN" altLang="en-US" sz="2200" smtClean="0">
                <a:solidFill>
                  <a:srgbClr val="080808"/>
                </a:solidFill>
                <a:latin typeface="Times New Roman" panose="02020603050405020304" pitchFamily="18" charset="0"/>
                <a:ea typeface="楷体" panose="02010609060101010101" pitchFamily="49" charset="-122"/>
              </a:rPr>
              <a:t>，那么完全背包问题如何更新状态表？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不断的更新表格，能够发现更新的递推公式？</a:t>
            </a:r>
            <a:endParaRPr lang="zh-CN" altLang="en-US" sz="2200" dirty="0">
              <a:solidFill>
                <a:srgbClr val="080808"/>
              </a:solidFill>
              <a:latin typeface="Times New Roman" panose="02020603050405020304" pitchFamily="18" charset="0"/>
              <a:ea typeface="楷体" panose="02010609060101010101" pitchFamily="49" charset="-122"/>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max(dp[i-1][j-k*w[i]]+k*c[i],dp[i-1][j])</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a:t>
              </a:r>
              <a:r>
                <a:rPr lang="zh-CN" altLang="en-US" b="1" smtClean="0">
                  <a:latin typeface="Times New Roman" panose="02020603050405020304" pitchFamily="18" charset="0"/>
                  <a:cs typeface="Times New Roman" panose="02020603050405020304" pitchFamily="18" charset="0"/>
                </a:rPr>
                <a:t>其</a:t>
              </a:r>
              <a:r>
                <a:rPr lang="en-US" altLang="zh-CN" b="1" smtClean="0">
                  <a:latin typeface="Times New Roman" panose="02020603050405020304" pitchFamily="18" charset="0"/>
                  <a:cs typeface="Times New Roman" panose="02020603050405020304" pitchFamily="18" charset="0"/>
                </a:rPr>
                <a:t>k</a:t>
              </a:r>
              <a:r>
                <a:rPr lang="zh-CN" altLang="en-US" b="1" smtClean="0">
                  <a:latin typeface="Times New Roman" panose="02020603050405020304" pitchFamily="18" charset="0"/>
                  <a:cs typeface="Times New Roman" panose="02020603050405020304" pitchFamily="18" charset="0"/>
                </a:rPr>
                <a:t>取值范围 </a:t>
              </a:r>
              <a:r>
                <a:rPr lang="en-US" altLang="zh-CN" b="1" smtClean="0">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①</a:t>
            </a:r>
            <a:r>
              <a:rPr kumimoji="1" lang="zh-CN" altLang="en-US" sz="2200" smtClean="0">
                <a:solidFill>
                  <a:srgbClr val="080808"/>
                </a:solidFill>
                <a:latin typeface="Times New Roman" panose="02020603050405020304" pitchFamily="18" charset="0"/>
                <a:ea typeface="楷体" panose="02010609060101010101" pitchFamily="49" charset="-122"/>
              </a:rPr>
              <a:t>式表示</a:t>
            </a:r>
            <a:r>
              <a:rPr kumimoji="1" lang="zh-CN" altLang="en-US" sz="2200">
                <a:solidFill>
                  <a:srgbClr val="080808"/>
                </a:solidFill>
                <a:latin typeface="Times New Roman" panose="02020603050405020304" pitchFamily="18" charset="0"/>
                <a:ea typeface="楷体" panose="02010609060101010101" pitchFamily="49" charset="-122"/>
              </a:rPr>
              <a:t>如果当前的容量不能容下当前的物品，则</a:t>
            </a:r>
            <a:r>
              <a:rPr kumimoji="1" lang="zh-CN" altLang="en-US" sz="2200" smtClean="0">
                <a:solidFill>
                  <a:srgbClr val="080808"/>
                </a:solidFill>
                <a:latin typeface="Times New Roman" panose="02020603050405020304" pitchFamily="18" charset="0"/>
                <a:ea typeface="楷体" panose="02010609060101010101" pitchFamily="49" charset="-122"/>
              </a:rPr>
              <a:t>直接不</a:t>
            </a:r>
            <a:r>
              <a:rPr kumimoji="1" lang="zh-CN" altLang="en-US" sz="2200">
                <a:solidFill>
                  <a:srgbClr val="080808"/>
                </a:solidFill>
                <a:latin typeface="Times New Roman" panose="02020603050405020304" pitchFamily="18" charset="0"/>
                <a:ea typeface="楷体" panose="02010609060101010101" pitchFamily="49" charset="-122"/>
              </a:rPr>
              <a:t>选择该物品，此时状态表中直接保存</a:t>
            </a:r>
            <a:r>
              <a:rPr kumimoji="1" lang="en-US" altLang="zh-CN" sz="2200" b="1">
                <a:solidFill>
                  <a:srgbClr val="080808"/>
                </a:solidFill>
                <a:latin typeface="Times New Roman" panose="02020603050405020304" pitchFamily="18" charset="0"/>
                <a:ea typeface="楷体" panose="02010609060101010101" pitchFamily="49" charset="-122"/>
              </a:rPr>
              <a:t>dp[i-1][j]</a:t>
            </a:r>
            <a:r>
              <a:rPr kumimoji="1" lang="zh-CN" altLang="en-US" sz="2200">
                <a:solidFill>
                  <a:srgbClr val="080808"/>
                </a:solidFill>
                <a:latin typeface="Times New Roman" panose="02020603050405020304" pitchFamily="18" charset="0"/>
                <a:ea typeface="楷体" panose="02010609060101010101" pitchFamily="49" charset="-122"/>
              </a:rPr>
              <a:t>的值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755576" y="4547492"/>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②式表示</a:t>
            </a:r>
            <a:r>
              <a:rPr kumimoji="1" lang="zh-CN" altLang="en-US" sz="2200">
                <a:solidFill>
                  <a:srgbClr val="080808"/>
                </a:solidFill>
                <a:latin typeface="Times New Roman" panose="02020603050405020304" pitchFamily="18" charset="0"/>
                <a:ea typeface="楷体" panose="02010609060101010101" pitchFamily="49" charset="-122"/>
              </a:rPr>
              <a:t>如果当前的</a:t>
            </a:r>
            <a:r>
              <a:rPr kumimoji="1" lang="zh-CN" altLang="en-US" sz="2200" smtClean="0">
                <a:solidFill>
                  <a:srgbClr val="080808"/>
                </a:solidFill>
                <a:latin typeface="Times New Roman" panose="02020603050405020304" pitchFamily="18" charset="0"/>
                <a:ea typeface="楷体" panose="02010609060101010101" pitchFamily="49" charset="-122"/>
              </a:rPr>
              <a:t>容量能容</a:t>
            </a:r>
            <a:r>
              <a:rPr kumimoji="1" lang="zh-CN" altLang="en-US" sz="2200">
                <a:solidFill>
                  <a:srgbClr val="080808"/>
                </a:solidFill>
                <a:latin typeface="Times New Roman" panose="02020603050405020304" pitchFamily="18" charset="0"/>
                <a:ea typeface="楷体" panose="02010609060101010101" pitchFamily="49" charset="-122"/>
              </a:rPr>
              <a:t>下当前的物品</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k</a:t>
            </a:r>
            <a:r>
              <a:rPr kumimoji="1" lang="zh-CN" altLang="en-US" sz="2200" smtClean="0">
                <a:solidFill>
                  <a:srgbClr val="080808"/>
                </a:solidFill>
                <a:latin typeface="Times New Roman" panose="02020603050405020304" pitchFamily="18" charset="0"/>
                <a:ea typeface="楷体" panose="02010609060101010101" pitchFamily="49" charset="-122"/>
              </a:rPr>
              <a:t>的值是多少就有多少种选择。选择最大的填充</a:t>
            </a:r>
            <a:r>
              <a:rPr kumimoji="1" lang="en-US" altLang="zh-CN" sz="2200" b="1" smtClean="0">
                <a:solidFill>
                  <a:srgbClr val="080808"/>
                </a:solidFill>
                <a:latin typeface="Times New Roman" panose="02020603050405020304" pitchFamily="18" charset="0"/>
                <a:ea typeface="楷体" panose="02010609060101010101" pitchFamily="49" charset="-122"/>
              </a:rPr>
              <a:t>dp[i][j]</a:t>
            </a:r>
            <a:endParaRPr kumimoji="1" lang="zh-CN" altLang="en-US" sz="2200" b="1">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3088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回顾完全背包问题，发现和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背包问题有一样的解题流程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470885" y="17728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多重背包问题：有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smtClean="0">
                <a:solidFill>
                  <a:srgbClr val="080808"/>
                </a:solidFill>
                <a:latin typeface="Times New Roman" panose="02020603050405020304" pitchFamily="18" charset="0"/>
                <a:ea typeface="楷体" panose="02010609060101010101" pitchFamily="49" charset="-122"/>
              </a:rPr>
              <a:t>S[i]={1,2,3,4}</a:t>
            </a:r>
            <a:r>
              <a:rPr lang="zh-CN" altLang="en-US" sz="2200" smtClean="0">
                <a:solidFill>
                  <a:srgbClr val="080808"/>
                </a:solidFill>
                <a:latin typeface="Times New Roman" panose="02020603050405020304" pitchFamily="18" charset="0"/>
                <a:ea typeface="楷体" panose="02010609060101010101" pitchFamily="49" charset="-122"/>
              </a:rPr>
              <a:t>，背包称重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1:</a:t>
            </a:r>
            <a:r>
              <a:rPr lang="zh-CN" altLang="en-US" smtClean="0">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a:t>
            </a:r>
            <a:r>
              <a:rPr lang="en-US" altLang="zh-CN" smtClean="0">
                <a:latin typeface="Times New Roman" panose="02020603050405020304" pitchFamily="18" charset="0"/>
                <a:cs typeface="Times New Roman" panose="02020603050405020304" pitchFamily="18" charset="0"/>
              </a:rPr>
              <a:t>S[i]&gt;=j/w[i]</a:t>
            </a:r>
            <a:r>
              <a:rPr lang="zh-CN" altLang="en-US" smtClean="0">
                <a:latin typeface="Times New Roman" panose="02020603050405020304" pitchFamily="18" charset="0"/>
                <a:cs typeface="Times New Roman" panose="02020603050405020304" pitchFamily="18" charset="0"/>
              </a:rPr>
              <a:t>时候就是完全背包问题，当</a:t>
            </a:r>
            <a:r>
              <a:rPr lang="en-US" altLang="zh-CN" smtClean="0">
                <a:latin typeface="Times New Roman" panose="02020603050405020304" pitchFamily="18" charset="0"/>
                <a:cs typeface="Times New Roman" panose="02020603050405020304" pitchFamily="18" charset="0"/>
              </a:rPr>
              <a:t>s[i]&lt;j/w[i]</a:t>
            </a:r>
            <a:r>
              <a:rPr lang="zh-CN" altLang="en-US" smtClean="0">
                <a:latin typeface="Times New Roman" panose="02020603050405020304" pitchFamily="18" charset="0"/>
                <a:cs typeface="Times New Roman" panose="02020603050405020304" pitchFamily="18" charset="0"/>
              </a:rPr>
              <a:t>时就后续的更新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的范围就是</a:t>
            </a:r>
            <a:r>
              <a:rPr lang="en-US" altLang="zh-CN" smtClean="0">
                <a:latin typeface="Times New Roman" panose="02020603050405020304" pitchFamily="18" charset="0"/>
                <a:cs typeface="Times New Roman" panose="02020603050405020304" pitchFamily="18" charset="0"/>
              </a:rPr>
              <a:t>1&lt;=k&lt;=s[i]</a:t>
            </a:r>
            <a:r>
              <a:rPr lang="zh-CN" altLang="en-US" smtClean="0">
                <a:latin typeface="Times New Roman" panose="02020603050405020304" pitchFamily="18" charset="0"/>
                <a:cs typeface="Times New Roman" panose="02020603050405020304" pitchFamily="18" charset="0"/>
              </a:rPr>
              <a:t>去更新状态表。</a:t>
            </a:r>
            <a:endParaRPr lang="en-US" altLang="zh-CN" smtClean="0">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：将完全背包问题转换成</a:t>
            </a:r>
            <a:r>
              <a:rPr lang="en-US" altLang="zh-CN" smtClean="0">
                <a:latin typeface="Times New Roman" panose="02020603050405020304" pitchFamily="18" charset="0"/>
                <a:cs typeface="Times New Roman" panose="02020603050405020304" pitchFamily="18" charset="0"/>
              </a:rPr>
              <a:t>0-1</a:t>
            </a:r>
            <a:r>
              <a:rPr lang="zh-CN" altLang="en-US" smtClean="0">
                <a:latin typeface="Times New Roman" panose="02020603050405020304" pitchFamily="18" charset="0"/>
                <a:cs typeface="Times New Roman" panose="02020603050405020304" pitchFamily="18" charset="0"/>
              </a:rPr>
              <a:t>背包问题去解决。</a:t>
            </a:r>
            <a:endParaRPr lang="en-US" altLang="zh-CN" smtClean="0">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a:t>
            </a:r>
            <a:r>
              <a:rPr kumimoji="1" lang="zh-CN" altLang="en-US" sz="2200" smtClean="0">
                <a:solidFill>
                  <a:srgbClr val="FF0000"/>
                </a:solidFill>
                <a:latin typeface="Times New Roman" panose="02020603050405020304" pitchFamily="18" charset="0"/>
                <a:ea typeface="楷体" panose="02010609060101010101" pitchFamily="49" charset="-122"/>
              </a:rPr>
              <a:t>这里同学思考一下，上述的动态规划算法是否可以进行优化？回想一下我们考试时候同学做题的表现。</a:t>
            </a:r>
            <a:endParaRPr kumimoji="1" lang="en-US" altLang="zh-CN" sz="2200" smtClean="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smtClean="0">
                <a:solidFill>
                  <a:srgbClr val="080808"/>
                </a:solidFill>
                <a:latin typeface="楷体" panose="02010609060101010101" pitchFamily="49" charset="-122"/>
                <a:ea typeface="楷体" panose="02010609060101010101" pitchFamily="49" charset="-122"/>
              </a:rPr>
              <a:t>（</a:t>
            </a:r>
            <a:r>
              <a:rPr lang="en-US" altLang="zh-CN" sz="2400" smtClean="0">
                <a:solidFill>
                  <a:srgbClr val="080808"/>
                </a:solidFill>
                <a:latin typeface="楷体" panose="02010609060101010101" pitchFamily="49" charset="-122"/>
                <a:ea typeface="楷体" panose="02010609060101010101" pitchFamily="49" charset="-122"/>
              </a:rPr>
              <a:t>a</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080808"/>
                </a:solidFill>
                <a:latin typeface="楷体" panose="02010609060101010101" pitchFamily="49" charset="-122"/>
                <a:ea typeface="楷体" panose="02010609060101010101" pitchFamily="49" charset="-122"/>
              </a:rPr>
              <a:t>动态规划处理流程           （</a:t>
            </a:r>
            <a:r>
              <a:rPr lang="en-US" altLang="zh-CN" sz="2400" smtClean="0">
                <a:solidFill>
                  <a:srgbClr val="080808"/>
                </a:solidFill>
                <a:latin typeface="楷体" panose="02010609060101010101" pitchFamily="49" charset="-122"/>
                <a:ea typeface="楷体" panose="02010609060101010101" pitchFamily="49" charset="-122"/>
              </a:rPr>
              <a:t>b</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a:solidFill>
                  <a:srgbClr val="080808"/>
                </a:solidFill>
                <a:latin typeface="楷体" panose="02010609060101010101" pitchFamily="49" charset="-122"/>
                <a:ea typeface="楷体" panose="02010609060101010101" pitchFamily="49" charset="-122"/>
              </a:rPr>
              <a:t>分</a:t>
            </a:r>
            <a:r>
              <a:rPr lang="zh-CN" altLang="en-US" sz="2400" smtClean="0">
                <a:solidFill>
                  <a:srgbClr val="080808"/>
                </a:solidFill>
                <a:latin typeface="楷体" panose="02010609060101010101" pitchFamily="49" charset="-122"/>
                <a:ea typeface="楷体" panose="02010609060101010101" pitchFamily="49" charset="-122"/>
              </a:rPr>
              <a:t>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smtClean="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smtClean="0">
                <a:solidFill>
                  <a:srgbClr val="0000FF"/>
                </a:solidFill>
                <a:latin typeface="宋体" panose="02010600030101010101" pitchFamily="2" charset="-122"/>
              </a:rPr>
              <a:t>例</a:t>
            </a:r>
            <a:r>
              <a:rPr lang="zh-CN" altLang="en-US" b="1" dirty="0">
                <a:solidFill>
                  <a:srgbClr val="0000FF"/>
                </a:solidFill>
                <a:latin typeface="宋体" panose="02010600030101010101" pitchFamily="2" charset="-122"/>
              </a:rPr>
              <a:t>：现在有面值为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smtClean="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smtClean="0"/>
              <a:t>元</a:t>
            </a:r>
            <a:r>
              <a:rPr lang="zh-CN" altLang="en-US" b="1" dirty="0" smtClean="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a:t>
            </a:r>
            <a:r>
              <a:rPr lang="zh-CN" altLang="en-US" b="1" dirty="0" smtClean="0">
                <a:solidFill>
                  <a:srgbClr val="0000FF"/>
                </a:solidFill>
                <a:latin typeface="宋体" panose="02010600030101010101" pitchFamily="2" charset="-122"/>
              </a:rPr>
              <a:t>够</a:t>
            </a:r>
            <a:r>
              <a:rPr lang="en-US" altLang="zh-CN" b="1" dirty="0" smtClean="0">
                <a:solidFill>
                  <a:srgbClr val="0000FF"/>
                </a:solidFill>
                <a:latin typeface="宋体" panose="02010600030101010101" pitchFamily="2" charset="-122"/>
              </a:rPr>
              <a:t>9</a:t>
            </a:r>
            <a:r>
              <a:rPr lang="zh-CN" altLang="en-US" b="1" dirty="0" smtClean="0">
                <a:solidFill>
                  <a:srgbClr val="0000FF"/>
                </a:solidFill>
                <a:latin typeface="宋体" panose="02010600030101010101" pitchFamily="2" charset="-122"/>
              </a:rPr>
              <a:t>元</a:t>
            </a:r>
            <a:r>
              <a:rPr lang="zh-CN" altLang="en-US" b="1" dirty="0">
                <a:solidFill>
                  <a:srgbClr val="0000FF"/>
                </a:solidFill>
                <a:latin typeface="宋体" panose="02010600030101010101" pitchFamily="2" charset="-122"/>
              </a:rPr>
              <a:t>？</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a:t>
            </a:r>
            <a:r>
              <a:rPr lang="en-US" altLang="zh-CN" sz="2400" b="1" kern="100" dirty="0" smtClean="0">
                <a:latin typeface="Cambria" panose="02040503050406030204" pitchFamily="18" charset="0"/>
                <a:cs typeface="Times New Roman" panose="02020603050405020304" pitchFamily="18" charset="0"/>
              </a:rPr>
              <a:t>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解题</a:t>
            </a:r>
            <a:r>
              <a:rPr lang="zh-CN" altLang="en-US" sz="2200" dirty="0">
                <a:solidFill>
                  <a:srgbClr val="080808"/>
                </a:solidFill>
                <a:latin typeface="楷体" panose="02010609060101010101" pitchFamily="49" charset="-122"/>
                <a:ea typeface="楷体" panose="02010609060101010101" pitchFamily="49" charset="-122"/>
              </a:rPr>
              <a:t>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a:t>
            </a:r>
            <a:r>
              <a:rPr lang="en-US" altLang="zh-CN" sz="2200" dirty="0" smtClean="0">
                <a:solidFill>
                  <a:srgbClr val="080808"/>
                </a:solidFill>
                <a:latin typeface="楷体" panose="02010609060101010101" pitchFamily="49" charset="-122"/>
                <a:ea typeface="楷体" panose="02010609060101010101" pitchFamily="49" charset="-122"/>
              </a:rPr>
              <a:t>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从</a:t>
            </a:r>
            <a:r>
              <a:rPr lang="zh-CN" altLang="en-US" sz="2200" dirty="0">
                <a:solidFill>
                  <a:srgbClr val="080808"/>
                </a:solidFill>
                <a:latin typeface="楷体" panose="02010609060101010101" pitchFamily="49" charset="-122"/>
                <a:ea typeface="楷体" panose="02010609060101010101" pitchFamily="49" charset="-122"/>
              </a:rPr>
              <a:t>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r>
              <a:rPr lang="zh-CN" altLang="en-US" sz="2200" dirty="0" smtClean="0">
                <a:solidFill>
                  <a:srgbClr val="080808"/>
                </a:solidFill>
                <a:latin typeface="楷体" panose="02010609060101010101" pitchFamily="49" charset="-122"/>
                <a:ea typeface="楷体" panose="02010609060101010101" pitchFamily="49" charset="-122"/>
              </a:rPr>
              <a:t>。</a:t>
            </a:r>
            <a:endParaRPr lang="en-US" altLang="zh-CN" sz="2200" dirty="0" smtClean="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r>
              <a:rPr lang="zh-CN" altLang="en-US" sz="2200" dirty="0" smtClean="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ags/tag74.xml><?xml version="1.0" encoding="utf-8"?>
<p:tagLst xmlns:p="http://schemas.openxmlformats.org/presentationml/2006/main">
  <p:tag name="TABLE_ENDDRAG_ORIGIN_RECT" val="359*33"/>
  <p:tag name="TABLE_ENDDRAG_RECT" val="53*128*359*33"/>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8582</Words>
  <Application>WPS 演示</Application>
  <PresentationFormat>全屏显示(4:3)</PresentationFormat>
  <Paragraphs>1055</Paragraphs>
  <Slides>50</Slides>
  <Notes>5</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50</vt:i4>
      </vt:variant>
    </vt:vector>
  </HeadingPairs>
  <TitlesOfParts>
    <vt:vector size="70" baseType="lpstr">
      <vt:lpstr>Arial</vt:lpstr>
      <vt:lpstr>宋体</vt:lpstr>
      <vt:lpstr>Wingdings</vt:lpstr>
      <vt:lpstr>华文细黑</vt:lpstr>
      <vt:lpstr>MS UI Gothic</vt:lpstr>
      <vt:lpstr>Calibri</vt:lpstr>
      <vt:lpstr>Verdana</vt:lpstr>
      <vt:lpstr>方正正大黑简体</vt:lpstr>
      <vt:lpstr>黑体</vt:lpstr>
      <vt:lpstr>微软雅黑</vt:lpstr>
      <vt:lpstr>Times New Roman</vt:lpstr>
      <vt:lpstr>隶书</vt:lpstr>
      <vt:lpstr>Tahoma</vt:lpstr>
      <vt:lpstr>Arial Unicode MS</vt:lpstr>
      <vt:lpstr>楷体</vt:lpstr>
      <vt:lpstr>Cambria</vt:lpstr>
      <vt:lpstr>-apple-system</vt:lpstr>
      <vt:lpstr>Menlo</vt:lpstr>
      <vt:lpstr>Segoe Print</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409</cp:revision>
  <dcterms:created xsi:type="dcterms:W3CDTF">2010-09-23T08:30:00Z</dcterms:created>
  <dcterms:modified xsi:type="dcterms:W3CDTF">2025-11-16T16:04:09Z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