
<file path=[Content_Types].xml><?xml version="1.0" encoding="utf-8"?>
<Types xmlns="http://schemas.openxmlformats.org/package/2006/content-types">
  <Default Extension="jpeg" ContentType="image/jpeg"/>
  <Default Extension="JPG" ContentType="image/.jpg"/>
  <Default Extension="png" ContentType="image/png"/>
  <Default Extension="emf" ContentType="image/x-emf"/>
  <Default Extension="wmf" ContentType="image/x-wmf"/>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55"/>
  </p:handoutMasterIdLst>
  <p:sldIdLst>
    <p:sldId id="256" r:id="rId3"/>
    <p:sldId id="349" r:id="rId5"/>
    <p:sldId id="257" r:id="rId6"/>
    <p:sldId id="356" r:id="rId7"/>
    <p:sldId id="350" r:id="rId8"/>
    <p:sldId id="351" r:id="rId9"/>
    <p:sldId id="259" r:id="rId10"/>
    <p:sldId id="352" r:id="rId11"/>
    <p:sldId id="353" r:id="rId12"/>
    <p:sldId id="355" r:id="rId13"/>
    <p:sldId id="361" r:id="rId14"/>
    <p:sldId id="354" r:id="rId15"/>
    <p:sldId id="358" r:id="rId16"/>
    <p:sldId id="359" r:id="rId17"/>
    <p:sldId id="357" r:id="rId18"/>
    <p:sldId id="329" r:id="rId19"/>
    <p:sldId id="338" r:id="rId20"/>
    <p:sldId id="339" r:id="rId21"/>
    <p:sldId id="340" r:id="rId22"/>
    <p:sldId id="341" r:id="rId23"/>
    <p:sldId id="342" r:id="rId24"/>
    <p:sldId id="343" r:id="rId25"/>
    <p:sldId id="346" r:id="rId26"/>
    <p:sldId id="345" r:id="rId27"/>
    <p:sldId id="344" r:id="rId28"/>
    <p:sldId id="290" r:id="rId29"/>
    <p:sldId id="291" r:id="rId30"/>
    <p:sldId id="292" r:id="rId31"/>
    <p:sldId id="293" r:id="rId32"/>
    <p:sldId id="294" r:id="rId33"/>
    <p:sldId id="348" r:id="rId34"/>
    <p:sldId id="347" r:id="rId35"/>
    <p:sldId id="295" r:id="rId36"/>
    <p:sldId id="296" r:id="rId37"/>
    <p:sldId id="298" r:id="rId38"/>
    <p:sldId id="303" r:id="rId39"/>
    <p:sldId id="304" r:id="rId40"/>
    <p:sldId id="306" r:id="rId41"/>
    <p:sldId id="307" r:id="rId42"/>
    <p:sldId id="308" r:id="rId43"/>
    <p:sldId id="313" r:id="rId44"/>
    <p:sldId id="314" r:id="rId45"/>
    <p:sldId id="315" r:id="rId46"/>
    <p:sldId id="316" r:id="rId47"/>
    <p:sldId id="317" r:id="rId48"/>
    <p:sldId id="327" r:id="rId49"/>
    <p:sldId id="334" r:id="rId50"/>
    <p:sldId id="333" r:id="rId51"/>
    <p:sldId id="335" r:id="rId52"/>
    <p:sldId id="336" r:id="rId53"/>
    <p:sldId id="337" r:id="rId54"/>
  </p:sldIdLst>
  <p:sldSz cx="9144000" cy="6858000" type="screen4x3"/>
  <p:notesSz cx="6858000" cy="9144000"/>
  <p:defaultTex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p:defaultTextStyle>
  <p:extLst>
    <p:ext uri="{EFAFB233-063F-42B5-8137-9DF3F51BA10A}">
      <p15:sldGuideLst xmlns:p15="http://schemas.microsoft.com/office/powerpoint/2012/main">
        <p15:guide id="1" orient="horz" pos="2064" userDrawn="1">
          <p15:clr>
            <a:srgbClr val="A4A3A4"/>
          </p15:clr>
        </p15:guide>
        <p15:guide id="2" pos="283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tjg" initials="t" lastIdx="1" clrIdx="0"/>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6FC01E"/>
    <a:srgbClr val="0000FF"/>
    <a:srgbClr val="FF33CC"/>
    <a:srgbClr val="FF3399"/>
    <a:srgbClr val="0066FF"/>
    <a:srgbClr val="FF6600"/>
    <a:srgbClr val="55B70C"/>
    <a:srgbClr val="33CC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2919" autoAdjust="0"/>
    <p:restoredTop sz="95126" autoAdjust="0"/>
  </p:normalViewPr>
  <p:slideViewPr>
    <p:cSldViewPr showGuides="1">
      <p:cViewPr varScale="1">
        <p:scale>
          <a:sx n="110" d="100"/>
          <a:sy n="110" d="100"/>
        </p:scale>
        <p:origin x="3492" y="78"/>
      </p:cViewPr>
      <p:guideLst>
        <p:guide orient="horz" pos="2064"/>
        <p:guide pos="2838"/>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10" d="100"/>
        <a:sy n="110" d="100"/>
      </p:scale>
      <p:origin x="0" y="0"/>
    </p:cViewPr>
  </p:sorterViewPr>
  <p:notesViewPr>
    <p:cSldViewPr>
      <p:cViewPr varScale="1">
        <p:scale>
          <a:sx n="55" d="100"/>
          <a:sy n="55" d="100"/>
        </p:scale>
        <p:origin x="2880" y="84"/>
      </p:cViewPr>
      <p:guideLst/>
    </p:cSldViewPr>
  </p:notes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9" Type="http://schemas.openxmlformats.org/officeDocument/2006/relationships/commentAuthors" Target="commentAuthors.xml"/><Relationship Id="rId58" Type="http://schemas.openxmlformats.org/officeDocument/2006/relationships/tableStyles" Target="tableStyles.xml"/><Relationship Id="rId57" Type="http://schemas.openxmlformats.org/officeDocument/2006/relationships/viewProps" Target="viewProps.xml"/><Relationship Id="rId56" Type="http://schemas.openxmlformats.org/officeDocument/2006/relationships/presProps" Target="presProps.xml"/><Relationship Id="rId55" Type="http://schemas.openxmlformats.org/officeDocument/2006/relationships/handoutMaster" Target="handoutMasters/handoutMaster1.xml"/><Relationship Id="rId54" Type="http://schemas.openxmlformats.org/officeDocument/2006/relationships/slide" Target="slides/slide51.xml"/><Relationship Id="rId53" Type="http://schemas.openxmlformats.org/officeDocument/2006/relationships/slide" Target="slides/slide50.xml"/><Relationship Id="rId52" Type="http://schemas.openxmlformats.org/officeDocument/2006/relationships/slide" Target="slides/slide49.xml"/><Relationship Id="rId51" Type="http://schemas.openxmlformats.org/officeDocument/2006/relationships/slide" Target="slides/slide48.xml"/><Relationship Id="rId50" Type="http://schemas.openxmlformats.org/officeDocument/2006/relationships/slide" Target="slides/slide47.xml"/><Relationship Id="rId5" Type="http://schemas.openxmlformats.org/officeDocument/2006/relationships/slide" Target="slides/slide2.xml"/><Relationship Id="rId49" Type="http://schemas.openxmlformats.org/officeDocument/2006/relationships/slide" Target="slides/slide46.xml"/><Relationship Id="rId48" Type="http://schemas.openxmlformats.org/officeDocument/2006/relationships/slide" Target="slides/slide45.xml"/><Relationship Id="rId47" Type="http://schemas.openxmlformats.org/officeDocument/2006/relationships/slide" Target="slides/slide44.xml"/><Relationship Id="rId46" Type="http://schemas.openxmlformats.org/officeDocument/2006/relationships/slide" Target="slides/slide43.xml"/><Relationship Id="rId45" Type="http://schemas.openxmlformats.org/officeDocument/2006/relationships/slide" Target="slides/slide42.xml"/><Relationship Id="rId44" Type="http://schemas.openxmlformats.org/officeDocument/2006/relationships/slide" Target="slides/slide41.xml"/><Relationship Id="rId43" Type="http://schemas.openxmlformats.org/officeDocument/2006/relationships/slide" Target="slides/slide40.xml"/><Relationship Id="rId42" Type="http://schemas.openxmlformats.org/officeDocument/2006/relationships/slide" Target="slides/slide39.xml"/><Relationship Id="rId41" Type="http://schemas.openxmlformats.org/officeDocument/2006/relationships/slide" Target="slides/slide38.xml"/><Relationship Id="rId40" Type="http://schemas.openxmlformats.org/officeDocument/2006/relationships/slide" Target="slides/slide37.xml"/><Relationship Id="rId4" Type="http://schemas.openxmlformats.org/officeDocument/2006/relationships/notesMaster" Target="notesMasters/notesMaster1.xml"/><Relationship Id="rId39" Type="http://schemas.openxmlformats.org/officeDocument/2006/relationships/slide" Target="slides/slide36.xml"/><Relationship Id="rId38" Type="http://schemas.openxmlformats.org/officeDocument/2006/relationships/slide" Target="slides/slide35.xml"/><Relationship Id="rId37" Type="http://schemas.openxmlformats.org/officeDocument/2006/relationships/slide" Target="slides/slide34.xml"/><Relationship Id="rId36" Type="http://schemas.openxmlformats.org/officeDocument/2006/relationships/slide" Target="slides/slide33.xml"/><Relationship Id="rId35" Type="http://schemas.openxmlformats.org/officeDocument/2006/relationships/slide" Target="slides/slide32.xml"/><Relationship Id="rId34" Type="http://schemas.openxmlformats.org/officeDocument/2006/relationships/slide" Target="slides/slide31.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F2B9A6F-649B-40E0-9235-15314CCF5F27}" type="datetimeFigureOut">
              <a:rPr lang="zh-CN" altLang="en-US" smtClean="0"/>
            </a:fld>
            <a:endParaRPr lang="zh-CN" altLang="en-US"/>
          </a:p>
        </p:txBody>
      </p:sp>
      <p:sp>
        <p:nvSpPr>
          <p:cNvPr id="4" name="页脚占位符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5" name="灯片编号占位符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747AA538-38B4-4B93-A9C9-F579F75A06F5}" type="slidenum">
              <a:rPr lang="zh-CN" altLang="en-US" smtClean="0"/>
            </a:fld>
            <a:endParaRPr lang="zh-CN" altLang="en-US"/>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0"/>
            <a:ext cx="2971800" cy="457200"/>
          </a:xfrm>
          <a:prstGeom prst="rect">
            <a:avLst/>
          </a:prstGeom>
          <a:noFill/>
          <a:ln>
            <a:noFill/>
          </a:ln>
          <a:effectLst/>
        </p:spPr>
        <p:txBody>
          <a:bodyPr vert="horz" wrap="square" lIns="91440" tIns="45720" rIns="91440" bIns="45720" numCol="1" anchor="t" anchorCtr="0" compatLnSpc="1"/>
          <a:lstStyle>
            <a:lvl1pPr eaLnBrk="1" hangingPunct="1">
              <a:defRPr sz="1200">
                <a:latin typeface="Calibri" panose="020F0502020204030204" pitchFamily="34" charset="0"/>
              </a:defRPr>
            </a:lvl1pPr>
          </a:lstStyle>
          <a:p>
            <a:pPr>
              <a:defRPr/>
            </a:pPr>
            <a:endParaRPr lang="zh-CN" altLang="en-US"/>
          </a:p>
        </p:txBody>
      </p:sp>
      <p:sp>
        <p:nvSpPr>
          <p:cNvPr id="52227" name="Rectangle 3"/>
          <p:cNvSpPr>
            <a:spLocks noGrp="1" noChangeArrowheads="1"/>
          </p:cNvSpPr>
          <p:nvPr>
            <p:ph type="dt" idx="1"/>
          </p:nvPr>
        </p:nvSpPr>
        <p:spPr bwMode="auto">
          <a:xfrm>
            <a:off x="3884613" y="0"/>
            <a:ext cx="2971800" cy="457200"/>
          </a:xfrm>
          <a:prstGeom prst="rect">
            <a:avLst/>
          </a:prstGeom>
          <a:noFill/>
          <a:ln>
            <a:noFill/>
          </a:ln>
          <a:effectLst/>
        </p:spPr>
        <p:txBody>
          <a:bodyPr vert="horz" wrap="square" lIns="91440" tIns="45720" rIns="91440" bIns="45720" numCol="1" anchor="t" anchorCtr="0" compatLnSpc="1"/>
          <a:lstStyle>
            <a:lvl1pPr algn="r" eaLnBrk="1" hangingPunct="1">
              <a:defRPr sz="1200">
                <a:latin typeface="Calibri" panose="020F0502020204030204" pitchFamily="34" charset="0"/>
              </a:defRPr>
            </a:lvl1pPr>
          </a:lstStyle>
          <a:p>
            <a:pPr>
              <a:defRPr/>
            </a:pPr>
            <a:fld id="{1134E214-E3C0-4F75-A783-D0C3FCB417FE}" type="datetimeFigureOut">
              <a:rPr lang="zh-CN" altLang="en-US"/>
            </a:fld>
            <a:endParaRPr lang="en-US" altLang="zh-CN"/>
          </a:p>
        </p:txBody>
      </p:sp>
      <p:sp>
        <p:nvSpPr>
          <p:cNvPr id="4100"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ln>
          <a:extLst>
            <a:ext uri="{909E8E84-426E-40DD-AFC4-6F175D3DCCD1}">
              <a14:hiddenFill xmlns:a14="http://schemas.microsoft.com/office/drawing/2010/main">
                <a:solidFill>
                  <a:srgbClr val="FFFFFF"/>
                </a:solidFill>
              </a14:hiddenFill>
            </a:ext>
          </a:extLst>
        </p:spPr>
      </p:sp>
      <p:sp>
        <p:nvSpPr>
          <p:cNvPr id="52229" name="Rectangle 5"/>
          <p:cNvSpPr>
            <a:spLocks noGrp="1" noChangeArrowheads="1"/>
          </p:cNvSpPr>
          <p:nvPr>
            <p:ph type="body" sz="quarter" idx="3"/>
          </p:nvPr>
        </p:nvSpPr>
        <p:spPr bwMode="auto">
          <a:xfrm>
            <a:off x="685800" y="4343400"/>
            <a:ext cx="5486400" cy="4114800"/>
          </a:xfrm>
          <a:prstGeom prst="rect">
            <a:avLst/>
          </a:prstGeom>
          <a:noFill/>
          <a:ln>
            <a:noFill/>
          </a:ln>
          <a:effectLst/>
        </p:spPr>
        <p:txBody>
          <a:bodyPr vert="horz" wrap="square" lIns="91440" tIns="45720" rIns="91440" bIns="45720" numCol="1" anchor="t" anchorCtr="0" compatLnSpc="1"/>
          <a:lstStyle/>
          <a:p>
            <a:pPr lvl="0"/>
            <a:r>
              <a:rPr lang="zh-CN" altLang="en-US" noProof="0"/>
              <a:t>单击此处编辑母版文本样式</a:t>
            </a:r>
            <a:endParaRPr lang="zh-CN" altLang="en-US" noProof="0"/>
          </a:p>
          <a:p>
            <a:pPr lvl="1"/>
            <a:r>
              <a:rPr lang="zh-CN" altLang="en-US" noProof="0"/>
              <a:t>第二级</a:t>
            </a:r>
            <a:endParaRPr lang="zh-CN" altLang="en-US" noProof="0"/>
          </a:p>
          <a:p>
            <a:pPr lvl="2"/>
            <a:r>
              <a:rPr lang="zh-CN" altLang="en-US" noProof="0"/>
              <a:t>第三级</a:t>
            </a:r>
            <a:endParaRPr lang="zh-CN" altLang="en-US" noProof="0"/>
          </a:p>
          <a:p>
            <a:pPr lvl="3"/>
            <a:r>
              <a:rPr lang="zh-CN" altLang="en-US" noProof="0"/>
              <a:t>第四级</a:t>
            </a:r>
            <a:endParaRPr lang="zh-CN" altLang="en-US" noProof="0"/>
          </a:p>
          <a:p>
            <a:pPr lvl="4"/>
            <a:r>
              <a:rPr lang="zh-CN" altLang="en-US" noProof="0"/>
              <a:t>第五级</a:t>
            </a:r>
            <a:endParaRPr lang="zh-CN" altLang="en-US" noProof="0"/>
          </a:p>
        </p:txBody>
      </p:sp>
      <p:sp>
        <p:nvSpPr>
          <p:cNvPr id="52230" name="Rectangle 6"/>
          <p:cNvSpPr>
            <a:spLocks noGrp="1" noChangeArrowheads="1"/>
          </p:cNvSpPr>
          <p:nvPr>
            <p:ph type="ftr" sz="quarter" idx="4"/>
          </p:nvPr>
        </p:nvSpPr>
        <p:spPr bwMode="auto">
          <a:xfrm>
            <a:off x="0" y="8685213"/>
            <a:ext cx="2971800" cy="457200"/>
          </a:xfrm>
          <a:prstGeom prst="rect">
            <a:avLst/>
          </a:prstGeom>
          <a:noFill/>
          <a:ln>
            <a:noFill/>
          </a:ln>
          <a:effectLst/>
        </p:spPr>
        <p:txBody>
          <a:bodyPr vert="horz" wrap="square" lIns="91440" tIns="45720" rIns="91440" bIns="45720" numCol="1" anchor="b" anchorCtr="0" compatLnSpc="1"/>
          <a:lstStyle>
            <a:lvl1pPr eaLnBrk="1" hangingPunct="1">
              <a:defRPr sz="1200">
                <a:latin typeface="Calibri" panose="020F0502020204030204" pitchFamily="34" charset="0"/>
              </a:defRPr>
            </a:lvl1pPr>
          </a:lstStyle>
          <a:p>
            <a:pPr>
              <a:defRPr/>
            </a:pPr>
            <a:endParaRPr lang="en-US" altLang="zh-CN"/>
          </a:p>
        </p:txBody>
      </p:sp>
      <p:sp>
        <p:nvSpPr>
          <p:cNvPr id="52231" name="Rectangle 7"/>
          <p:cNvSpPr>
            <a:spLocks noGrp="1" noChangeArrowheads="1"/>
          </p:cNvSpPr>
          <p:nvPr>
            <p:ph type="sldNum" sz="quarter" idx="5"/>
          </p:nvPr>
        </p:nvSpPr>
        <p:spPr bwMode="auto">
          <a:xfrm>
            <a:off x="3884613" y="8685213"/>
            <a:ext cx="2971800" cy="457200"/>
          </a:xfrm>
          <a:prstGeom prst="rect">
            <a:avLst/>
          </a:prstGeom>
          <a:noFill/>
          <a:ln>
            <a:noFill/>
          </a:ln>
          <a:effectLst/>
        </p:spPr>
        <p:txBody>
          <a:bodyPr vert="horz" wrap="square" lIns="91440" tIns="45720" rIns="91440" bIns="45720" numCol="1" anchor="b" anchorCtr="0" compatLnSpc="1"/>
          <a:lstStyle>
            <a:lvl1pPr algn="r" eaLnBrk="1" hangingPunct="1">
              <a:defRPr sz="1200">
                <a:latin typeface="Calibri" panose="020F0502020204030204" pitchFamily="34" charset="0"/>
              </a:defRPr>
            </a:lvl1pPr>
          </a:lstStyle>
          <a:p>
            <a:pPr>
              <a:defRPr/>
            </a:pPr>
            <a:fld id="{AB76F6FC-157B-4160-B88F-123B3C4C0F29}" type="slidenum">
              <a:rPr lang="zh-CN" altLang="en-US"/>
            </a:fld>
            <a:endParaRPr lang="en-US" altLang="zh-CN"/>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1pPr>
    <a:lvl2pPr marL="4572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2pPr>
    <a:lvl3pPr marL="9144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3pPr>
    <a:lvl4pPr marL="13716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4pPr>
    <a:lvl5pPr marL="1828800" algn="l" rtl="0" eaLnBrk="0" fontAlgn="base" hangingPunct="0">
      <a:spcBef>
        <a:spcPct val="30000"/>
      </a:spcBef>
      <a:spcAft>
        <a:spcPct val="0"/>
      </a:spcAft>
      <a:defRPr sz="1200" kern="1200">
        <a:solidFill>
          <a:schemeClr val="tx1"/>
        </a:solidFill>
        <a:latin typeface="Calibri" panose="020F0502020204030204" pitchFamily="34" charset="0"/>
        <a:ea typeface="宋体" panose="02010600030101010101" pitchFamily="2" charset="-122"/>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Grp="1" noRot="1" noChangeAspect="1" noChangeArrowheads="1" noTextEdit="1"/>
          </p:cNvSpPr>
          <p:nvPr>
            <p:ph type="sldImg"/>
          </p:nvPr>
        </p:nvSpPr>
        <p:spPr/>
      </p:sp>
      <p:sp>
        <p:nvSpPr>
          <p:cNvPr id="6147"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a:t>我们在学习</a:t>
            </a:r>
            <a:r>
              <a:rPr lang="en-US" altLang="zh-CN"/>
              <a:t>C</a:t>
            </a:r>
            <a:r>
              <a:rPr lang="zh-CN" altLang="en-US"/>
              <a:t>语言的时候都已经写过简单，相信同学们已经对递归有了了解，这节课我们开始来学习递归和分治算法</a:t>
            </a:r>
            <a:endParaRPr lang="zh-CN" altLang="en-US"/>
          </a:p>
        </p:txBody>
      </p:sp>
      <p:sp>
        <p:nvSpPr>
          <p:cNvPr id="4" name="灯片编号占位符 3"/>
          <p:cNvSpPr>
            <a:spLocks noGrp="1"/>
          </p:cNvSpPr>
          <p:nvPr>
            <p:ph type="sldNum" sz="quarter" idx="10"/>
          </p:nvPr>
        </p:nvSpPr>
        <p:spPr/>
        <p:txBody>
          <a:bodyPr/>
          <a:lstStyle/>
          <a:p>
            <a:pPr>
              <a:defRPr/>
            </a:pPr>
            <a:fld id="{AB76F6FC-157B-4160-B88F-123B3C4C0F29}" type="slidenum">
              <a:rPr lang="zh-CN" altLang="en-US" smtClean="0"/>
            </a:fld>
            <a:endParaRPr lang="en-US" altLang="zh-CN"/>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r>
              <a:rPr lang="zh-CN" altLang="en-US"/>
              <a:t>其实，动态规划与分治很类似，他们同时都需要一个形式，分治里面称递归式，动态规划里面是</a:t>
            </a:r>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p:cNvSpPr>
            <a:spLocks noGrp="1" noRot="1" noChangeAspect="1" noChangeArrowheads="1" noTextEdit="1"/>
          </p:cNvSpPr>
          <p:nvPr>
            <p:ph type="sldImg"/>
          </p:nvPr>
        </p:nvSpPr>
        <p:spPr/>
      </p:sp>
      <p:sp>
        <p:nvSpPr>
          <p:cNvPr id="8195"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标题幻灯片">
    <p:spTree>
      <p:nvGrpSpPr>
        <p:cNvPr id="1" name=""/>
        <p:cNvGrpSpPr/>
        <p:nvPr/>
      </p:nvGrpSpPr>
      <p:grpSpPr>
        <a:xfrm>
          <a:off x="0" y="0"/>
          <a:ext cx="0" cy="0"/>
          <a:chOff x="0" y="0"/>
          <a:chExt cx="0" cy="0"/>
        </a:xfrm>
      </p:grpSpPr>
      <p:pic>
        <p:nvPicPr>
          <p:cNvPr id="4" name="Picture 2" descr="bg1"/>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163" y="-20638"/>
            <a:ext cx="9174163" cy="6878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051" name="Rectangle 27"/>
          <p:cNvSpPr>
            <a:spLocks noGrp="1" noChangeArrowheads="1"/>
          </p:cNvSpPr>
          <p:nvPr>
            <p:ph type="ctrTitle"/>
          </p:nvPr>
        </p:nvSpPr>
        <p:spPr>
          <a:xfrm>
            <a:off x="468313" y="2470150"/>
            <a:ext cx="5399087" cy="1079500"/>
          </a:xfrm>
          <a:prstGeom prst="rect">
            <a:avLst/>
          </a:prstGeom>
        </p:spPr>
        <p:txBody>
          <a:bodyPr/>
          <a:lstStyle>
            <a:lvl1pPr>
              <a:defRPr sz="3200"/>
            </a:lvl1pPr>
          </a:lstStyle>
          <a:p>
            <a:r>
              <a:rPr lang="zh-CN"/>
              <a:t>单击此处编辑母版标题样式</a:t>
            </a:r>
            <a:endParaRPr lang="zh-CN"/>
          </a:p>
        </p:txBody>
      </p:sp>
      <p:sp>
        <p:nvSpPr>
          <p:cNvPr id="2052" name="Rectangle 31"/>
          <p:cNvSpPr>
            <a:spLocks noGrp="1" noChangeArrowheads="1"/>
          </p:cNvSpPr>
          <p:nvPr>
            <p:ph type="subTitle" idx="1" hasCustomPrompt="1"/>
          </p:nvPr>
        </p:nvSpPr>
        <p:spPr>
          <a:xfrm>
            <a:off x="468313" y="3549650"/>
            <a:ext cx="5400675" cy="600075"/>
          </a:xfrm>
          <a:prstGeom prst="rect">
            <a:avLst/>
          </a:prstGeom>
        </p:spPr>
        <p:txBody>
          <a:bodyPr/>
          <a:lstStyle>
            <a:lvl1pPr marL="0" indent="0">
              <a:buFont typeface="Wingdings" panose="05000000000000000000" pitchFamily="2" charset="2"/>
              <a:buNone/>
              <a:defRPr sz="1800">
                <a:solidFill>
                  <a:schemeClr val="bg1"/>
                </a:solidFill>
              </a:defRPr>
            </a:lvl1pPr>
          </a:lstStyle>
          <a:p>
            <a:r>
              <a:rPr lang="zh-CN"/>
              <a:t>单击添加署名或公司信息</a:t>
            </a:r>
            <a:endParaRPr lang="zh-C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dirty="0"/>
              <a:t>单击此处编辑母版标题样式</a:t>
            </a:r>
            <a:endParaRPr lang="zh-CN" altLang="en-US" dirty="0"/>
          </a:p>
        </p:txBody>
      </p:sp>
      <p:sp>
        <p:nvSpPr>
          <p:cNvPr id="3" name="内容占位符 2"/>
          <p:cNvSpPr>
            <a:spLocks noGrp="1"/>
          </p:cNvSpPr>
          <p:nvPr>
            <p:ph idx="1"/>
          </p:nvPr>
        </p:nvSpPr>
        <p:spPr>
          <a:xfrm>
            <a:off x="468313" y="1125538"/>
            <a:ext cx="8207375" cy="5162550"/>
          </a:xfrm>
          <a:prstGeom prst="rect">
            <a:avLst/>
          </a:prstGeom>
        </p:spPr>
        <p:txBody>
          <a:body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722313" y="4406900"/>
            <a:ext cx="7772400" cy="1362075"/>
          </a:xfrm>
          <a:prstGeom prst="rect">
            <a:avLst/>
          </a:prstGeom>
        </p:spPr>
        <p:txBody>
          <a:bodyPr anchor="t"/>
          <a:lstStyle>
            <a:lvl1pPr algn="l">
              <a:defRPr sz="4000" b="1" cap="all"/>
            </a:lvl1pPr>
          </a:lstStyle>
          <a:p>
            <a:r>
              <a:rPr lang="zh-CN" altLang="en-US"/>
              <a:t>单击此处编辑母版标题样式</a:t>
            </a:r>
            <a:endParaRPr lang="zh-CN" altLang="en-US"/>
          </a:p>
        </p:txBody>
      </p:sp>
      <p:sp>
        <p:nvSpPr>
          <p:cNvPr id="3" name="文本占位符 2"/>
          <p:cNvSpPr>
            <a:spLocks noGrp="1"/>
          </p:cNvSpPr>
          <p:nvPr>
            <p:ph type="body" idx="1"/>
          </p:nvPr>
        </p:nvSpPr>
        <p:spPr>
          <a:xfrm>
            <a:off x="722313" y="2906713"/>
            <a:ext cx="7772400" cy="1500187"/>
          </a:xfrm>
          <a:prstGeom prst="rect">
            <a:avLst/>
          </a:prstGeo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zh-CN" altLang="en-US"/>
              <a:t>单击此处编辑母版文本样式</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AD5D6385-73FF-48F7-8DDA-F02439D7B60D}" type="slidenum">
              <a:rPr lang="zh-CN" altLang="en-US" smtClean="0"/>
            </a:fld>
            <a:endParaRPr lang="en-US" altLang="zh-C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内容占位符 2"/>
          <p:cNvSpPr>
            <a:spLocks noGrp="1"/>
          </p:cNvSpPr>
          <p:nvPr>
            <p:ph sz="half" idx="1"/>
          </p:nvPr>
        </p:nvSpPr>
        <p:spPr>
          <a:xfrm>
            <a:off x="468313" y="1125538"/>
            <a:ext cx="4027487"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内容占位符 3"/>
          <p:cNvSpPr>
            <a:spLocks noGrp="1"/>
          </p:cNvSpPr>
          <p:nvPr>
            <p:ph sz="half" idx="2"/>
          </p:nvPr>
        </p:nvSpPr>
        <p:spPr>
          <a:xfrm>
            <a:off x="4648200" y="1125538"/>
            <a:ext cx="4027488" cy="5162550"/>
          </a:xfrm>
          <a:prstGeom prst="rect">
            <a:avLst/>
          </a:prstGeo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45E1E5F-9D19-4FC7-A71A-24AB39712209}" type="slidenum">
              <a:rPr lang="zh-CN" altLang="en-US" smtClean="0"/>
            </a:fld>
            <a:endParaRPr lang="en-US" altLang="zh-C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a:xfrm>
            <a:off x="457200" y="274638"/>
            <a:ext cx="8229600" cy="1143000"/>
          </a:xfrm>
          <a:prstGeom prst="rect">
            <a:avLst/>
          </a:prstGeom>
        </p:spPr>
        <p:txBody>
          <a:bodyPr/>
          <a:lstStyle>
            <a:lvl1pPr>
              <a:defRPr/>
            </a:lvl1pPr>
          </a:lstStyle>
          <a:p>
            <a:r>
              <a:rPr lang="zh-CN" altLang="en-US"/>
              <a:t>单击此处编辑母版标题样式</a:t>
            </a:r>
            <a:endParaRPr lang="zh-CN" altLang="en-US"/>
          </a:p>
        </p:txBody>
      </p:sp>
      <p:sp>
        <p:nvSpPr>
          <p:cNvPr id="3" name="文本占位符 2"/>
          <p:cNvSpPr>
            <a:spLocks noGrp="1"/>
          </p:cNvSpPr>
          <p:nvPr>
            <p:ph type="body" idx="1"/>
          </p:nvPr>
        </p:nvSpPr>
        <p:spPr>
          <a:xfrm>
            <a:off x="457200" y="1535113"/>
            <a:ext cx="4040188"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4" name="内容占位符 3"/>
          <p:cNvSpPr>
            <a:spLocks noGrp="1"/>
          </p:cNvSpPr>
          <p:nvPr>
            <p:ph sz="half" idx="2"/>
          </p:nvPr>
        </p:nvSpPr>
        <p:spPr>
          <a:xfrm>
            <a:off x="457200" y="2174875"/>
            <a:ext cx="4040188"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5" name="文本占位符 4"/>
          <p:cNvSpPr>
            <a:spLocks noGrp="1"/>
          </p:cNvSpPr>
          <p:nvPr>
            <p:ph type="body" sz="quarter" idx="3"/>
          </p:nvPr>
        </p:nvSpPr>
        <p:spPr>
          <a:xfrm>
            <a:off x="4645025" y="1535113"/>
            <a:ext cx="4041775" cy="63976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endParaRPr lang="zh-CN" altLang="en-US"/>
          </a:p>
        </p:txBody>
      </p:sp>
      <p:sp>
        <p:nvSpPr>
          <p:cNvPr id="6" name="内容占位符 5"/>
          <p:cNvSpPr>
            <a:spLocks noGrp="1"/>
          </p:cNvSpPr>
          <p:nvPr>
            <p:ph sz="quarter" idx="4"/>
          </p:nvPr>
        </p:nvSpPr>
        <p:spPr>
          <a:xfrm>
            <a:off x="4645025" y="2174875"/>
            <a:ext cx="4041775" cy="3951288"/>
          </a:xfrm>
          <a:prstGeom prst="rect">
            <a:avLst/>
          </a:prstGeo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7"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01DEBBD1-2960-4502-95D3-F1444E13883A}" type="slidenum">
              <a:rPr lang="zh-CN" altLang="en-US" smtClean="0"/>
            </a:fld>
            <a:endParaRPr lang="en-US" altLang="zh-C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3FFE5EB4-F84A-4001-AC86-DD5EEB2060DD}" type="slidenum">
              <a:rPr lang="zh-CN" altLang="en-US" smtClean="0"/>
            </a:fld>
            <a:endParaRPr lang="en-US" altLang="zh-C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1FA65F22-8AC8-411F-B820-478F7DB776C2}" type="slidenum">
              <a:rPr lang="zh-CN" altLang="en-US" smtClean="0"/>
            </a:fld>
            <a:endParaRPr lang="en-US" altLang="zh-C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457200" y="273050"/>
            <a:ext cx="3008313" cy="1162050"/>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内容占位符 2"/>
          <p:cNvSpPr>
            <a:spLocks noGrp="1"/>
          </p:cNvSpPr>
          <p:nvPr>
            <p:ph idx="1"/>
          </p:nvPr>
        </p:nvSpPr>
        <p:spPr>
          <a:xfrm>
            <a:off x="3575050" y="273050"/>
            <a:ext cx="5111750" cy="5853113"/>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文本占位符 3"/>
          <p:cNvSpPr>
            <a:spLocks noGrp="1"/>
          </p:cNvSpPr>
          <p:nvPr>
            <p:ph type="body" sz="half" idx="2"/>
          </p:nvPr>
        </p:nvSpPr>
        <p:spPr>
          <a:xfrm>
            <a:off x="457200" y="1435100"/>
            <a:ext cx="3008313" cy="4691063"/>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A7D3370-EE2E-49E3-B92B-CC864B084AD2}" type="slidenum">
              <a:rPr lang="zh-CN" altLang="en-US" smtClean="0"/>
            </a:fld>
            <a:endParaRPr lang="en-US" altLang="zh-C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1792288" y="4800600"/>
            <a:ext cx="5486400" cy="566738"/>
          </a:xfrm>
          <a:prstGeom prst="rect">
            <a:avLst/>
          </a:prstGeom>
        </p:spPr>
        <p:txBody>
          <a:bodyPr anchor="b"/>
          <a:lstStyle>
            <a:lvl1pPr algn="l">
              <a:defRPr sz="2000" b="1"/>
            </a:lvl1pPr>
          </a:lstStyle>
          <a:p>
            <a:r>
              <a:rPr lang="zh-CN" altLang="en-US"/>
              <a:t>单击此处编辑母版标题样式</a:t>
            </a:r>
            <a:endParaRPr lang="zh-CN" altLang="en-US"/>
          </a:p>
        </p:txBody>
      </p:sp>
      <p:sp>
        <p:nvSpPr>
          <p:cNvPr id="3" name="图片占位符 2"/>
          <p:cNvSpPr>
            <a:spLocks noGrp="1"/>
          </p:cNvSpPr>
          <p:nvPr>
            <p:ph type="pic" idx="1"/>
          </p:nvPr>
        </p:nvSpPr>
        <p:spPr>
          <a:xfrm>
            <a:off x="1792288" y="612775"/>
            <a:ext cx="5486400" cy="4114800"/>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zh-CN" altLang="en-US" noProof="0"/>
          </a:p>
        </p:txBody>
      </p:sp>
      <p:sp>
        <p:nvSpPr>
          <p:cNvPr id="4" name="文本占位符 3"/>
          <p:cNvSpPr>
            <a:spLocks noGrp="1"/>
          </p:cNvSpPr>
          <p:nvPr>
            <p:ph type="body" sz="half" idx="2"/>
          </p:nvPr>
        </p:nvSpPr>
        <p:spPr>
          <a:xfrm>
            <a:off x="1792288" y="5367338"/>
            <a:ext cx="5486400" cy="804862"/>
          </a:xfrm>
          <a:prstGeom prst="rect">
            <a:avLst/>
          </a:prstGeo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endParaRPr lang="zh-CN" altLang="en-US"/>
          </a:p>
        </p:txBody>
      </p:sp>
      <p:sp>
        <p:nvSpPr>
          <p:cNvPr id="5"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FF81DA7-16D0-41E8-A52E-04703233FF3D}" type="slidenum">
              <a:rPr lang="zh-CN" altLang="en-US" smtClean="0"/>
            </a:fld>
            <a:endParaRPr lang="en-US" altLang="zh-C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1125538"/>
            <a:ext cx="8207375" cy="5162550"/>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85395485-1E7F-4AEF-8259-7171D9A6624F}" type="slidenum">
              <a:rPr lang="zh-CN" altLang="en-US" smtClean="0"/>
            </a:fld>
            <a:endParaRPr lang="en-US" altLang="zh-C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6624638" y="315913"/>
            <a:ext cx="2051050" cy="5972175"/>
          </a:xfrm>
          <a:prstGeom prst="rect">
            <a:avLst/>
          </a:prstGeom>
        </p:spPr>
        <p:txBody>
          <a:bodyPr vert="eaVert"/>
          <a:lstStyle/>
          <a:p>
            <a:r>
              <a:rPr lang="zh-CN" altLang="en-US"/>
              <a:t>单击此处编辑母版标题样式</a:t>
            </a:r>
            <a:endParaRPr lang="zh-CN" altLang="en-US"/>
          </a:p>
        </p:txBody>
      </p:sp>
      <p:sp>
        <p:nvSpPr>
          <p:cNvPr id="3" name="竖排文字占位符 2"/>
          <p:cNvSpPr>
            <a:spLocks noGrp="1"/>
          </p:cNvSpPr>
          <p:nvPr>
            <p:ph type="body" orient="vert" idx="1"/>
          </p:nvPr>
        </p:nvSpPr>
        <p:spPr>
          <a:xfrm>
            <a:off x="468313" y="315913"/>
            <a:ext cx="6003925" cy="5972175"/>
          </a:xfrm>
          <a:prstGeom prst="rect">
            <a:avLst/>
          </a:prstGeom>
        </p:spPr>
        <p:txBody>
          <a:bodyPr vert="eaVert"/>
          <a:lstStyle/>
          <a:p>
            <a:pPr lvl="0"/>
            <a:r>
              <a:rPr lang="zh-CN" altLang="en-US"/>
              <a:t>单击此处编辑母版文本样式</a:t>
            </a:r>
            <a:endParaRPr lang="zh-CN" altLang="en-US"/>
          </a:p>
          <a:p>
            <a:pPr lvl="1"/>
            <a:r>
              <a:rPr lang="zh-CN" altLang="en-US"/>
              <a:t>第二级</a:t>
            </a:r>
            <a:endParaRPr lang="zh-CN" altLang="en-US"/>
          </a:p>
          <a:p>
            <a:pPr lvl="2"/>
            <a:r>
              <a:rPr lang="zh-CN" altLang="en-US"/>
              <a:t>第三级</a:t>
            </a:r>
            <a:endParaRPr lang="zh-CN" altLang="en-US"/>
          </a:p>
          <a:p>
            <a:pPr lvl="3"/>
            <a:r>
              <a:rPr lang="zh-CN" altLang="en-US"/>
              <a:t>第四级</a:t>
            </a:r>
            <a:endParaRPr lang="zh-CN" altLang="en-US"/>
          </a:p>
          <a:p>
            <a:pPr lvl="4"/>
            <a:r>
              <a:rPr lang="zh-CN" altLang="en-US"/>
              <a:t>第五级</a:t>
            </a:r>
            <a:endParaRPr lang="zh-CN" altLang="en-US"/>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7EFF9BE1-89C5-461A-8080-0860368CA4E7}" type="slidenum">
              <a:rPr lang="zh-CN" altLang="en-US" smtClean="0"/>
            </a:fld>
            <a:endParaRPr lang="en-US" altLang="zh-CN"/>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bl" preserve="1">
  <p:cSld name="标题和表格">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表格占位符 2"/>
          <p:cNvSpPr>
            <a:spLocks noGrp="1"/>
          </p:cNvSpPr>
          <p:nvPr>
            <p:ph type="tbl"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C8FEDC41-C8C7-4EFD-A6DE-BC4A4069D4EC}" type="slidenum">
              <a:rPr lang="zh-CN" altLang="en-US" smtClean="0"/>
            </a:fld>
            <a:endParaRPr lang="en-US" altLang="zh-CN"/>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chart" preserve="1">
  <p:cSld name="标题和图表">
    <p:spTree>
      <p:nvGrpSpPr>
        <p:cNvPr id="1" name=""/>
        <p:cNvGrpSpPr/>
        <p:nvPr/>
      </p:nvGrpSpPr>
      <p:grpSpPr>
        <a:xfrm>
          <a:off x="0" y="0"/>
          <a:ext cx="0" cy="0"/>
          <a:chOff x="0" y="0"/>
          <a:chExt cx="0" cy="0"/>
        </a:xfrm>
      </p:grpSpPr>
      <p:sp>
        <p:nvSpPr>
          <p:cNvPr id="2" name="标题 1"/>
          <p:cNvSpPr>
            <a:spLocks noGrp="1"/>
          </p:cNvSpPr>
          <p:nvPr>
            <p:ph type="title"/>
          </p:nvPr>
        </p:nvSpPr>
        <p:spPr>
          <a:xfrm>
            <a:off x="468313" y="315913"/>
            <a:ext cx="8207375" cy="592137"/>
          </a:xfrm>
          <a:prstGeom prst="rect">
            <a:avLst/>
          </a:prstGeom>
        </p:spPr>
        <p:txBody>
          <a:bodyPr/>
          <a:lstStyle/>
          <a:p>
            <a:r>
              <a:rPr lang="zh-CN" altLang="en-US"/>
              <a:t>单击此处编辑母版标题样式</a:t>
            </a:r>
            <a:endParaRPr lang="zh-CN" altLang="en-US"/>
          </a:p>
        </p:txBody>
      </p:sp>
      <p:sp>
        <p:nvSpPr>
          <p:cNvPr id="3" name="图表占位符 2"/>
          <p:cNvSpPr>
            <a:spLocks noGrp="1"/>
          </p:cNvSpPr>
          <p:nvPr>
            <p:ph type="chart" idx="1"/>
          </p:nvPr>
        </p:nvSpPr>
        <p:spPr>
          <a:xfrm>
            <a:off x="468313" y="1125538"/>
            <a:ext cx="8207375" cy="5162550"/>
          </a:xfrm>
          <a:prstGeom prst="rect">
            <a:avLst/>
          </a:prstGeom>
        </p:spPr>
        <p:txBody>
          <a:bodyPr/>
          <a:lstStyle/>
          <a:p>
            <a:pPr lvl="0"/>
            <a:endParaRPr lang="zh-CN" altLang="en-US" noProof="0"/>
          </a:p>
        </p:txBody>
      </p:sp>
      <p:sp>
        <p:nvSpPr>
          <p:cNvPr id="4" name="Rectangle 4"/>
          <p:cNvSpPr>
            <a:spLocks noGrp="1" noChangeArrowheads="1"/>
          </p:cNvSpPr>
          <p:nvPr>
            <p:ph type="sldNum" sz="quarter" idx="10"/>
          </p:nvPr>
        </p:nvSpPr>
        <p:spPr/>
        <p:txBody>
          <a:bodyPr/>
          <a:lstStyle>
            <a:lvl1pPr>
              <a:defRPr/>
            </a:lvl1pPr>
          </a:lstStyle>
          <a:p>
            <a:pPr>
              <a:defRPr/>
            </a:pPr>
            <a:r>
              <a:rPr lang="de-DE" altLang="en-US"/>
              <a:t>Page </a:t>
            </a:r>
            <a:r>
              <a:rPr lang="de-DE" altLang="en-US">
                <a:sym typeface="MS UI Gothic" panose="020B0600070205080204" pitchFamily="34" charset="-128"/>
              </a:rPr>
              <a:t></a:t>
            </a:r>
            <a:r>
              <a:rPr lang="de-DE" altLang="en-US"/>
              <a:t> </a:t>
            </a:r>
            <a:fld id="{6FF87EDD-D88C-44D8-97FB-6009DD6ED594}" type="slidenum">
              <a:rPr lang="zh-CN" altLang="en-US" smtClean="0"/>
            </a:fld>
            <a:endParaRPr lang="en-US" altLang="zh-CN"/>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6" Type="http://schemas.openxmlformats.org/officeDocument/2006/relationships/theme" Target="../theme/theme1.xml"/><Relationship Id="rId15" Type="http://schemas.openxmlformats.org/officeDocument/2006/relationships/image" Target="../media/image3.png"/><Relationship Id="rId14" Type="http://schemas.openxmlformats.org/officeDocument/2006/relationships/image" Target="../media/image2.jpeg"/><Relationship Id="rId13" Type="http://schemas.openxmlformats.org/officeDocument/2006/relationships/slideLayout" Target="../slideLayouts/slideLayout13.xml"/><Relationship Id="rId12" Type="http://schemas.openxmlformats.org/officeDocument/2006/relationships/slideLayout" Target="../slideLayouts/slideLayout12.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pic>
        <p:nvPicPr>
          <p:cNvPr id="2050" name="Picture 2" descr="bg2"/>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0" y="0"/>
            <a:ext cx="9180513" cy="501317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28" name="Rectangle 4"/>
          <p:cNvSpPr>
            <a:spLocks noGrp="1" noChangeArrowheads="1"/>
          </p:cNvSpPr>
          <p:nvPr>
            <p:ph type="sldNum" sz="quarter" idx="4"/>
          </p:nvPr>
        </p:nvSpPr>
        <p:spPr bwMode="auto">
          <a:xfrm>
            <a:off x="7235825" y="6453188"/>
            <a:ext cx="1439863" cy="196850"/>
          </a:xfrm>
          <a:prstGeom prst="rect">
            <a:avLst/>
          </a:prstGeom>
          <a:noFill/>
          <a:ln w="9525">
            <a:noFill/>
            <a:miter lim="800000"/>
          </a:ln>
          <a:effectLst/>
        </p:spPr>
        <p:txBody>
          <a:bodyPr vert="horz" wrap="square" lIns="91440" tIns="45720" rIns="91440" bIns="45720" numCol="1" anchor="t" anchorCtr="0" compatLnSpc="1"/>
          <a:lstStyle>
            <a:lvl1pPr algn="r" eaLnBrk="0" hangingPunct="0">
              <a:defRPr sz="1000" b="1">
                <a:ea typeface="华文细黑" panose="02010600040101010101" pitchFamily="2" charset="-122"/>
              </a:defRPr>
            </a:lvl1pPr>
          </a:lstStyle>
          <a:p>
            <a:pPr>
              <a:defRPr/>
            </a:pPr>
            <a:r>
              <a:rPr lang="de-DE" altLang="en-US"/>
              <a:t>Page </a:t>
            </a:r>
            <a:r>
              <a:rPr lang="de-DE" altLang="en-US">
                <a:sym typeface="MS UI Gothic" panose="020B0600070205080204" pitchFamily="34" charset="-128"/>
              </a:rPr>
              <a:t></a:t>
            </a:r>
            <a:r>
              <a:rPr lang="de-DE" altLang="en-US"/>
              <a:t> </a:t>
            </a:r>
            <a:fld id="{B8F227BD-8E81-48D9-8EB2-264A8CA59D9A}" type="slidenum">
              <a:rPr lang="zh-CN" altLang="en-US" smtClean="0"/>
            </a:fld>
            <a:endParaRPr lang="en-US" altLang="zh-CN"/>
          </a:p>
        </p:txBody>
      </p:sp>
      <p:pic>
        <p:nvPicPr>
          <p:cNvPr id="2" name="图片 1"/>
          <p:cNvPicPr>
            <a:picLocks noChangeAspect="1"/>
          </p:cNvPicPr>
          <p:nvPr userDrawn="1"/>
        </p:nvPicPr>
        <p:blipFill>
          <a:blip r:embed="rId15"/>
          <a:stretch>
            <a:fillRect/>
          </a:stretch>
        </p:blipFill>
        <p:spPr>
          <a:xfrm>
            <a:off x="-1" y="6619981"/>
            <a:ext cx="9180513" cy="409419"/>
          </a:xfrm>
          <a:prstGeom prst="ellipse">
            <a:avLst/>
          </a:prstGeom>
          <a:ln>
            <a:noFill/>
          </a:ln>
          <a:effectLst>
            <a:softEdge rad="112500"/>
          </a:effectLst>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hf hdr="0" ftr="0" dt="0"/>
  <p:txStyles>
    <p:titleStyle>
      <a:lvl1pPr algn="l" rtl="0" eaLnBrk="0" fontAlgn="base" hangingPunct="0">
        <a:spcBef>
          <a:spcPct val="0"/>
        </a:spcBef>
        <a:spcAft>
          <a:spcPct val="0"/>
        </a:spcAft>
        <a:defRPr sz="2800" b="1">
          <a:solidFill>
            <a:schemeClr val="bg1"/>
          </a:solidFill>
          <a:latin typeface="+mj-lt"/>
          <a:ea typeface="+mj-ea"/>
          <a:cs typeface="+mj-cs"/>
        </a:defRPr>
      </a:lvl1pPr>
      <a:lvl2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2pPr>
      <a:lvl3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3pPr>
      <a:lvl4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4pPr>
      <a:lvl5pPr algn="l" rtl="0" eaLnBrk="0" fontAlgn="base" hangingPunct="0">
        <a:spcBef>
          <a:spcPct val="0"/>
        </a:spcBef>
        <a:spcAft>
          <a:spcPct val="0"/>
        </a:spcAft>
        <a:defRPr sz="2800" b="1">
          <a:solidFill>
            <a:schemeClr val="bg1"/>
          </a:solidFill>
          <a:latin typeface="Arial" panose="020B0604020202020204" pitchFamily="34" charset="0"/>
          <a:ea typeface="华文细黑" panose="02010600040101010101" pitchFamily="2" charset="-122"/>
        </a:defRPr>
      </a:lvl5pPr>
      <a:lvl6pPr marL="4572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6pPr>
      <a:lvl7pPr marL="9144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7pPr>
      <a:lvl8pPr marL="13716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8pPr>
      <a:lvl9pPr marL="1828800" algn="l" rtl="0" fontAlgn="base">
        <a:spcBef>
          <a:spcPct val="0"/>
        </a:spcBef>
        <a:spcAft>
          <a:spcPct val="0"/>
        </a:spcAft>
        <a:defRPr sz="2800" b="1">
          <a:solidFill>
            <a:schemeClr val="bg1"/>
          </a:solidFill>
          <a:latin typeface="Arial" panose="020B0604020202020204" pitchFamily="34" charset="0"/>
          <a:ea typeface="华文细黑" panose="02010600040101010101" pitchFamily="2" charset="-122"/>
        </a:defRPr>
      </a:lvl9pPr>
    </p:titleStyle>
    <p:bodyStyle>
      <a:lvl1pPr marL="342900" indent="-342900" algn="l" rtl="0" eaLnBrk="0" fontAlgn="base" hangingPunct="0">
        <a:spcBef>
          <a:spcPct val="20000"/>
        </a:spcBef>
        <a:spcAft>
          <a:spcPct val="0"/>
        </a:spcAft>
        <a:buClr>
          <a:schemeClr val="accent1"/>
        </a:buClr>
        <a:buFont typeface="Wingdings" panose="05000000000000000000" pitchFamily="2" charset="2"/>
        <a:buChar char="n"/>
        <a:defRPr sz="2000">
          <a:solidFill>
            <a:schemeClr val="tx1"/>
          </a:solidFill>
          <a:latin typeface="+mn-lt"/>
          <a:ea typeface="+mn-ea"/>
          <a:cs typeface="+mn-cs"/>
        </a:defRPr>
      </a:lvl1pPr>
      <a:lvl2pPr marL="742950" indent="-285750" algn="l" rtl="0" eaLnBrk="0" fontAlgn="base" hangingPunct="0">
        <a:spcBef>
          <a:spcPct val="20000"/>
        </a:spcBef>
        <a:spcAft>
          <a:spcPct val="0"/>
        </a:spcAft>
        <a:buClr>
          <a:schemeClr val="accent1"/>
        </a:buClr>
        <a:buFont typeface="Wingdings" panose="05000000000000000000" pitchFamily="2" charset="2"/>
        <a:buChar char="n"/>
        <a:defRPr sz="2800">
          <a:solidFill>
            <a:schemeClr val="tx1"/>
          </a:solidFill>
          <a:latin typeface="+mn-lt"/>
          <a:ea typeface="+mn-ea"/>
        </a:defRPr>
      </a:lvl2pPr>
      <a:lvl3pPr marL="1143000" indent="-228600" algn="l" rtl="0" eaLnBrk="0" fontAlgn="base" hangingPunct="0">
        <a:spcBef>
          <a:spcPct val="20000"/>
        </a:spcBef>
        <a:spcAft>
          <a:spcPct val="0"/>
        </a:spcAft>
        <a:buClr>
          <a:schemeClr val="accent2"/>
        </a:buClr>
        <a:buFont typeface="Wingdings" panose="05000000000000000000" pitchFamily="2" charset="2"/>
        <a:buChar char="n"/>
        <a:defRPr sz="1600">
          <a:solidFill>
            <a:schemeClr val="tx1"/>
          </a:solidFill>
          <a:latin typeface="+mn-lt"/>
          <a:ea typeface="+mn-ea"/>
        </a:defRPr>
      </a:lvl3pPr>
      <a:lvl4pPr marL="1600200" indent="-228600" algn="l" rtl="0" eaLnBrk="0" fontAlgn="base" hangingPunct="0">
        <a:spcBef>
          <a:spcPct val="20000"/>
        </a:spcBef>
        <a:spcAft>
          <a:spcPct val="0"/>
        </a:spcAft>
        <a:buClr>
          <a:schemeClr val="hlink"/>
        </a:buClr>
        <a:buFont typeface="Wingdings" panose="05000000000000000000" pitchFamily="2" charset="2"/>
        <a:buChar char="n"/>
        <a:defRPr sz="1400">
          <a:solidFill>
            <a:schemeClr val="tx1"/>
          </a:solidFill>
          <a:latin typeface="+mn-lt"/>
          <a:ea typeface="+mn-ea"/>
        </a:defRPr>
      </a:lvl4pPr>
      <a:lvl5pPr marL="2057400" indent="-228600" algn="l" rtl="0" eaLnBrk="0" fontAlgn="base" hangingPunct="0">
        <a:spcBef>
          <a:spcPct val="20000"/>
        </a:spcBef>
        <a:spcAft>
          <a:spcPct val="0"/>
        </a:spcAft>
        <a:buChar char="»"/>
        <a:defRPr sz="2000">
          <a:solidFill>
            <a:schemeClr val="tx1"/>
          </a:solidFill>
          <a:latin typeface="+mn-lt"/>
          <a:ea typeface="+mn-ea"/>
        </a:defRPr>
      </a:lvl5pPr>
      <a:lvl6pPr marL="2514600" indent="-228600" algn="l" rtl="0" fontAlgn="base">
        <a:spcBef>
          <a:spcPct val="20000"/>
        </a:spcBef>
        <a:spcAft>
          <a:spcPct val="0"/>
        </a:spcAft>
        <a:buChar char="»"/>
        <a:defRPr>
          <a:solidFill>
            <a:schemeClr val="tx1"/>
          </a:solidFill>
          <a:latin typeface="+mn-lt"/>
          <a:ea typeface="+mn-ea"/>
        </a:defRPr>
      </a:lvl6pPr>
      <a:lvl7pPr marL="2971800" indent="-228600" algn="l" rtl="0" fontAlgn="base">
        <a:spcBef>
          <a:spcPct val="20000"/>
        </a:spcBef>
        <a:spcAft>
          <a:spcPct val="0"/>
        </a:spcAft>
        <a:buChar char="»"/>
        <a:defRPr>
          <a:solidFill>
            <a:schemeClr val="tx1"/>
          </a:solidFill>
          <a:latin typeface="+mn-lt"/>
          <a:ea typeface="+mn-ea"/>
        </a:defRPr>
      </a:lvl7pPr>
      <a:lvl8pPr marL="3429000" indent="-228600" algn="l" rtl="0" fontAlgn="base">
        <a:spcBef>
          <a:spcPct val="20000"/>
        </a:spcBef>
        <a:spcAft>
          <a:spcPct val="0"/>
        </a:spcAft>
        <a:buChar char="»"/>
        <a:defRPr>
          <a:solidFill>
            <a:schemeClr val="tx1"/>
          </a:solidFill>
          <a:latin typeface="+mn-lt"/>
          <a:ea typeface="+mn-ea"/>
        </a:defRPr>
      </a:lvl8pPr>
      <a:lvl9pPr marL="3886200" indent="-228600" algn="l" rtl="0" fontAlgn="base">
        <a:spcBef>
          <a:spcPct val="20000"/>
        </a:spcBef>
        <a:spcAft>
          <a:spcPct val="0"/>
        </a:spcAft>
        <a:buChar char="»"/>
        <a:defRPr>
          <a:solidFill>
            <a:schemeClr val="tx1"/>
          </a:solidFill>
          <a:latin typeface="+mn-lt"/>
          <a:ea typeface="+mn-ea"/>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2.xml"/><Relationship Id="rId1"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7.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9" Type="http://schemas.openxmlformats.org/officeDocument/2006/relationships/tags" Target="../tags/tag8.xml"/><Relationship Id="rId8" Type="http://schemas.openxmlformats.org/officeDocument/2006/relationships/image" Target="../media/image6.png"/><Relationship Id="rId7" Type="http://schemas.openxmlformats.org/officeDocument/2006/relationships/tags" Target="../tags/tag7.xml"/><Relationship Id="rId6" Type="http://schemas.openxmlformats.org/officeDocument/2006/relationships/tags" Target="../tags/tag6.xml"/><Relationship Id="rId5" Type="http://schemas.openxmlformats.org/officeDocument/2006/relationships/tags" Target="../tags/tag5.xml"/><Relationship Id="rId4" Type="http://schemas.openxmlformats.org/officeDocument/2006/relationships/tags" Target="../tags/tag4.xml"/><Relationship Id="rId3" Type="http://schemas.openxmlformats.org/officeDocument/2006/relationships/tags" Target="../tags/tag3.xml"/><Relationship Id="rId2" Type="http://schemas.openxmlformats.org/officeDocument/2006/relationships/tags" Target="../tags/tag2.xml"/><Relationship Id="rId18" Type="http://schemas.openxmlformats.org/officeDocument/2006/relationships/slideLayout" Target="../slideLayouts/slideLayout2.xml"/><Relationship Id="rId17" Type="http://schemas.openxmlformats.org/officeDocument/2006/relationships/image" Target="../media/image9.png"/><Relationship Id="rId16" Type="http://schemas.openxmlformats.org/officeDocument/2006/relationships/tags" Target="../tags/tag13.xml"/><Relationship Id="rId15" Type="http://schemas.openxmlformats.org/officeDocument/2006/relationships/image" Target="../media/image8.png"/><Relationship Id="rId14" Type="http://schemas.openxmlformats.org/officeDocument/2006/relationships/tags" Target="../tags/tag12.xml"/><Relationship Id="rId13" Type="http://schemas.openxmlformats.org/officeDocument/2006/relationships/image" Target="../media/image7.png"/><Relationship Id="rId12" Type="http://schemas.openxmlformats.org/officeDocument/2006/relationships/tags" Target="../tags/tag11.xml"/><Relationship Id="rId11" Type="http://schemas.openxmlformats.org/officeDocument/2006/relationships/tags" Target="../tags/tag10.xml"/><Relationship Id="rId10" Type="http://schemas.openxmlformats.org/officeDocument/2006/relationships/tags" Target="../tags/tag9.xml"/><Relationship Id="rId1" Type="http://schemas.openxmlformats.org/officeDocument/2006/relationships/tags" Target="../tags/tag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image" Target="../media/image10.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9" Type="http://schemas.openxmlformats.org/officeDocument/2006/relationships/tags" Target="../tags/tag22.xml"/><Relationship Id="rId8" Type="http://schemas.openxmlformats.org/officeDocument/2006/relationships/tags" Target="../tags/tag21.xml"/><Relationship Id="rId7" Type="http://schemas.openxmlformats.org/officeDocument/2006/relationships/tags" Target="../tags/tag20.xml"/><Relationship Id="rId6" Type="http://schemas.openxmlformats.org/officeDocument/2006/relationships/tags" Target="../tags/tag19.xml"/><Relationship Id="rId5" Type="http://schemas.openxmlformats.org/officeDocument/2006/relationships/tags" Target="../tags/tag18.xml"/><Relationship Id="rId4" Type="http://schemas.openxmlformats.org/officeDocument/2006/relationships/tags" Target="../tags/tag17.xml"/><Relationship Id="rId32" Type="http://schemas.openxmlformats.org/officeDocument/2006/relationships/notesSlide" Target="../notesSlides/notesSlide8.xml"/><Relationship Id="rId31" Type="http://schemas.openxmlformats.org/officeDocument/2006/relationships/slideLayout" Target="../slideLayouts/slideLayout2.xml"/><Relationship Id="rId30" Type="http://schemas.openxmlformats.org/officeDocument/2006/relationships/tags" Target="../tags/tag43.xml"/><Relationship Id="rId3" Type="http://schemas.openxmlformats.org/officeDocument/2006/relationships/tags" Target="../tags/tag16.xml"/><Relationship Id="rId29" Type="http://schemas.openxmlformats.org/officeDocument/2006/relationships/tags" Target="../tags/tag42.xml"/><Relationship Id="rId28" Type="http://schemas.openxmlformats.org/officeDocument/2006/relationships/tags" Target="../tags/tag41.xml"/><Relationship Id="rId27" Type="http://schemas.openxmlformats.org/officeDocument/2006/relationships/tags" Target="../tags/tag40.xml"/><Relationship Id="rId26" Type="http://schemas.openxmlformats.org/officeDocument/2006/relationships/tags" Target="../tags/tag39.xml"/><Relationship Id="rId25" Type="http://schemas.openxmlformats.org/officeDocument/2006/relationships/tags" Target="../tags/tag38.xml"/><Relationship Id="rId24" Type="http://schemas.openxmlformats.org/officeDocument/2006/relationships/tags" Target="../tags/tag37.xml"/><Relationship Id="rId23" Type="http://schemas.openxmlformats.org/officeDocument/2006/relationships/tags" Target="../tags/tag36.xml"/><Relationship Id="rId22" Type="http://schemas.openxmlformats.org/officeDocument/2006/relationships/tags" Target="../tags/tag35.xml"/><Relationship Id="rId21" Type="http://schemas.openxmlformats.org/officeDocument/2006/relationships/tags" Target="../tags/tag34.xml"/><Relationship Id="rId20" Type="http://schemas.openxmlformats.org/officeDocument/2006/relationships/tags" Target="../tags/tag33.xml"/><Relationship Id="rId2" Type="http://schemas.openxmlformats.org/officeDocument/2006/relationships/tags" Target="../tags/tag15.xml"/><Relationship Id="rId19" Type="http://schemas.openxmlformats.org/officeDocument/2006/relationships/tags" Target="../tags/tag32.xml"/><Relationship Id="rId18" Type="http://schemas.openxmlformats.org/officeDocument/2006/relationships/tags" Target="../tags/tag31.xml"/><Relationship Id="rId17" Type="http://schemas.openxmlformats.org/officeDocument/2006/relationships/tags" Target="../tags/tag30.xml"/><Relationship Id="rId16" Type="http://schemas.openxmlformats.org/officeDocument/2006/relationships/tags" Target="../tags/tag29.xml"/><Relationship Id="rId15" Type="http://schemas.openxmlformats.org/officeDocument/2006/relationships/tags" Target="../tags/tag28.xml"/><Relationship Id="rId14" Type="http://schemas.openxmlformats.org/officeDocument/2006/relationships/tags" Target="../tags/tag27.xml"/><Relationship Id="rId13" Type="http://schemas.openxmlformats.org/officeDocument/2006/relationships/tags" Target="../tags/tag26.xml"/><Relationship Id="rId12" Type="http://schemas.openxmlformats.org/officeDocument/2006/relationships/tags" Target="../tags/tag25.xml"/><Relationship Id="rId11" Type="http://schemas.openxmlformats.org/officeDocument/2006/relationships/tags" Target="../tags/tag24.xml"/><Relationship Id="rId10" Type="http://schemas.openxmlformats.org/officeDocument/2006/relationships/tags" Target="../tags/tag23.xml"/><Relationship Id="rId1" Type="http://schemas.openxmlformats.org/officeDocument/2006/relationships/tags" Target="../tags/tag14.xml"/></Relationships>
</file>

<file path=ppt/slides/_rels/slide10.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3" Type="http://schemas.openxmlformats.org/officeDocument/2006/relationships/notesSlide" Target="../notesSlides/notesSlide9.xml"/><Relationship Id="rId32" Type="http://schemas.openxmlformats.org/officeDocument/2006/relationships/slideLayout" Target="../slideLayouts/slideLayout2.xml"/><Relationship Id="rId31" Type="http://schemas.openxmlformats.org/officeDocument/2006/relationships/image" Target="../media/image11.png"/><Relationship Id="rId30" Type="http://schemas.openxmlformats.org/officeDocument/2006/relationships/tags" Target="../tags/tag73.xml"/><Relationship Id="rId3" Type="http://schemas.openxmlformats.org/officeDocument/2006/relationships/tags" Target="../tags/tag46.xml"/><Relationship Id="rId29" Type="http://schemas.openxmlformats.org/officeDocument/2006/relationships/tags" Target="../tags/tag72.xml"/><Relationship Id="rId28" Type="http://schemas.openxmlformats.org/officeDocument/2006/relationships/tags" Target="../tags/tag71.xml"/><Relationship Id="rId27" Type="http://schemas.openxmlformats.org/officeDocument/2006/relationships/tags" Target="../tags/tag70.xml"/><Relationship Id="rId26" Type="http://schemas.openxmlformats.org/officeDocument/2006/relationships/tags" Target="../tags/tag69.xml"/><Relationship Id="rId25" Type="http://schemas.openxmlformats.org/officeDocument/2006/relationships/tags" Target="../tags/tag68.xml"/><Relationship Id="rId24" Type="http://schemas.openxmlformats.org/officeDocument/2006/relationships/tags" Target="../tags/tag67.xml"/><Relationship Id="rId23" Type="http://schemas.openxmlformats.org/officeDocument/2006/relationships/tags" Target="../tags/tag66.xml"/><Relationship Id="rId22" Type="http://schemas.openxmlformats.org/officeDocument/2006/relationships/tags" Target="../tags/tag65.xml"/><Relationship Id="rId21" Type="http://schemas.openxmlformats.org/officeDocument/2006/relationships/tags" Target="../tags/tag64.xml"/><Relationship Id="rId20" Type="http://schemas.openxmlformats.org/officeDocument/2006/relationships/tags" Target="../tags/tag63.xml"/><Relationship Id="rId2" Type="http://schemas.openxmlformats.org/officeDocument/2006/relationships/tags" Target="../tags/tag45.xml"/><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tags" Target="../tags/tag4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7" Type="http://schemas.openxmlformats.org/officeDocument/2006/relationships/notesSlide" Target="../notesSlides/notesSlide14.xml"/><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7.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8.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1.xml.rels><?xml version="1.0" encoding="UTF-8" standalone="yes"?>
<Relationships xmlns="http://schemas.openxmlformats.org/package/2006/relationships"><Relationship Id="rId7" Type="http://schemas.openxmlformats.org/officeDocument/2006/relationships/slideLayout" Target="../slideLayouts/slideLayout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7.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19.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2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1.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3.png"/><Relationship Id="rId6" Type="http://schemas.openxmlformats.org/officeDocument/2006/relationships/image" Target="../media/image22.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2.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3.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24.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4.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6.png"/><Relationship Id="rId6" Type="http://schemas.openxmlformats.org/officeDocument/2006/relationships/image" Target="../media/image2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slideLayout" Target="../slideLayouts/slideLayout2.xml"/><Relationship Id="rId1" Type="http://schemas.openxmlformats.org/officeDocument/2006/relationships/image" Target="../media/image27.emf"/></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29.png"/><Relationship Id="rId6" Type="http://schemas.openxmlformats.org/officeDocument/2006/relationships/image" Target="../media/image28.w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39.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0.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0.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2.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2.png"/><Relationship Id="rId6" Type="http://schemas.openxmlformats.org/officeDocument/2006/relationships/image" Target="../media/image31.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3.xml.rels><?xml version="1.0" encoding="UTF-8" standalone="yes"?>
<Relationships xmlns="http://schemas.openxmlformats.org/package/2006/relationships"><Relationship Id="rId8" Type="http://schemas.openxmlformats.org/officeDocument/2006/relationships/slideLayout" Target="../slideLayouts/slideLayout7.xml"/><Relationship Id="rId7" Type="http://schemas.openxmlformats.org/officeDocument/2006/relationships/image" Target="../media/image34.png"/><Relationship Id="rId6" Type="http://schemas.openxmlformats.org/officeDocument/2006/relationships/image" Target="../media/image33.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4.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5.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5.png"/><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6.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7.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8.xml.rels><?xml version="1.0" encoding="UTF-8" standalone="yes"?>
<Relationships xmlns="http://schemas.openxmlformats.org/package/2006/relationships"><Relationship Id="rId7" Type="http://schemas.openxmlformats.org/officeDocument/2006/relationships/slideLayout" Target="../slideLayouts/slideLayout7.xml"/><Relationship Id="rId6" Type="http://schemas.openxmlformats.org/officeDocument/2006/relationships/image" Target="../media/image36.emf"/><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49.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0.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_rels/slide51.xml.rels><?xml version="1.0" encoding="UTF-8" standalone="yes"?>
<Relationships xmlns="http://schemas.openxmlformats.org/package/2006/relationships"><Relationship Id="rId6" Type="http://schemas.openxmlformats.org/officeDocument/2006/relationships/slideLayout" Target="../slideLayouts/slideLayout7.xml"/><Relationship Id="rId5" Type="http://schemas.openxmlformats.org/officeDocument/2006/relationships/image" Target="../media/image17.png"/><Relationship Id="rId4" Type="http://schemas.openxmlformats.org/officeDocument/2006/relationships/image" Target="../media/image16.png"/><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122" name="Picture 3"/>
          <p:cNvPicPr>
            <a:picLocks noChangeAspect="1" noChangeArrowheads="1"/>
          </p:cNvPicPr>
          <p:nvPr/>
        </p:nvPicPr>
        <p:blipFill>
          <a:blip r:embed="rId1">
            <a:extLst>
              <a:ext uri="{28A0092B-C50C-407E-A947-70E740481C1C}">
                <a14:useLocalDpi xmlns:a14="http://schemas.microsoft.com/office/drawing/2010/main" val="0"/>
              </a:ext>
            </a:extLst>
          </a:blip>
          <a:srcRect/>
          <a:stretch>
            <a:fillRect/>
          </a:stretch>
        </p:blipFill>
        <p:spPr bwMode="auto">
          <a:xfrm>
            <a:off x="0" y="1588"/>
            <a:ext cx="9142413" cy="68564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5124" name="Text Box 8"/>
          <p:cNvSpPr txBox="1">
            <a:spLocks noChangeArrowheads="1"/>
          </p:cNvSpPr>
          <p:nvPr/>
        </p:nvSpPr>
        <p:spPr bwMode="auto">
          <a:xfrm>
            <a:off x="250825" y="6226175"/>
            <a:ext cx="18415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Font typeface="Arial" panose="020B0604020202020204" pitchFamily="34" charset="0"/>
              <a:buChar char="•"/>
              <a:defRPr sz="3200">
                <a:solidFill>
                  <a:schemeClr val="tx1"/>
                </a:solidFill>
                <a:latin typeface="Calibri" panose="020F0502020204030204" pitchFamily="34" charset="0"/>
                <a:ea typeface="宋体" panose="02010600030101010101" pitchFamily="2" charset="-122"/>
              </a:defRPr>
            </a:lvl1pPr>
            <a:lvl2pPr marL="742950" indent="-285750">
              <a:spcBef>
                <a:spcPct val="20000"/>
              </a:spcBef>
              <a:buFont typeface="Arial" panose="020B0604020202020204" pitchFamily="34" charset="0"/>
              <a:buChar char="–"/>
              <a:defRPr sz="2800">
                <a:solidFill>
                  <a:schemeClr val="tx1"/>
                </a:solidFill>
                <a:latin typeface="Calibri" panose="020F0502020204030204" pitchFamily="34" charset="0"/>
                <a:ea typeface="宋体" panose="02010600030101010101" pitchFamily="2" charset="-122"/>
              </a:defRPr>
            </a:lvl2pPr>
            <a:lvl3pPr marL="1143000" indent="-228600">
              <a:spcBef>
                <a:spcPct val="20000"/>
              </a:spcBef>
              <a:buFont typeface="Arial" panose="020B0604020202020204" pitchFamily="34" charset="0"/>
              <a:buChar char="•"/>
              <a:defRPr sz="2400">
                <a:solidFill>
                  <a:schemeClr val="tx1"/>
                </a:solidFill>
                <a:latin typeface="Calibri" panose="020F0502020204030204" pitchFamily="34" charset="0"/>
                <a:ea typeface="宋体" panose="02010600030101010101" pitchFamily="2" charset="-122"/>
              </a:defRPr>
            </a:lvl3pPr>
            <a:lvl4pPr marL="16002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4pPr>
            <a:lvl5pPr marL="2057400" indent="-228600">
              <a:spcBef>
                <a:spcPct val="20000"/>
              </a:spcBef>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5pPr>
            <a:lvl6pPr marL="25146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6pPr>
            <a:lvl7pPr marL="29718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7pPr>
            <a:lvl8pPr marL="34290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8pPr>
            <a:lvl9pPr marL="3886200" indent="-228600" eaLnBrk="0" fontAlgn="base" hangingPunct="0">
              <a:spcBef>
                <a:spcPct val="20000"/>
              </a:spcBef>
              <a:spcAft>
                <a:spcPct val="0"/>
              </a:spcAft>
              <a:buFont typeface="Arial" panose="020B0604020202020204" pitchFamily="34" charset="0"/>
              <a:buChar char="»"/>
              <a:defRPr sz="2000">
                <a:solidFill>
                  <a:schemeClr val="tx1"/>
                </a:solidFill>
                <a:latin typeface="Calibri" panose="020F0502020204030204" pitchFamily="34" charset="0"/>
                <a:ea typeface="宋体" panose="02010600030101010101" pitchFamily="2" charset="-122"/>
              </a:defRPr>
            </a:lvl9pPr>
          </a:lstStyle>
          <a:p>
            <a:pPr eaLnBrk="1" hangingPunct="1">
              <a:spcBef>
                <a:spcPct val="0"/>
              </a:spcBef>
              <a:buFontTx/>
              <a:buNone/>
            </a:pPr>
            <a:endParaRPr lang="en-US" altLang="zh-CN" sz="2400" b="1" dirty="0">
              <a:latin typeface="Verdana" panose="020B0604030504040204" pitchFamily="34" charset="0"/>
            </a:endParaRPr>
          </a:p>
        </p:txBody>
      </p:sp>
      <p:sp>
        <p:nvSpPr>
          <p:cNvPr id="5" name="Rectangle 7"/>
          <p:cNvSpPr>
            <a:spLocks noChangeArrowheads="1"/>
          </p:cNvSpPr>
          <p:nvPr/>
        </p:nvSpPr>
        <p:spPr bwMode="auto">
          <a:xfrm>
            <a:off x="900113" y="2349500"/>
            <a:ext cx="7772400" cy="147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cene3d>
              <a:camera prst="orthographicFront"/>
              <a:lightRig rig="glow" dir="tl">
                <a:rot lat="0" lon="0" rev="5400000"/>
              </a:lightRig>
            </a:scene3d>
            <a:sp3d contourW="12700">
              <a:bevelT w="25400" h="25400"/>
              <a:contourClr>
                <a:schemeClr val="accent6">
                  <a:shade val="73000"/>
                </a:schemeClr>
              </a:contourClr>
            </a:sp3d>
          </a:bodyPr>
          <a:lstStyle/>
          <a:p>
            <a:pPr algn="ctr" eaLnBrk="1" hangingPunct="1">
              <a:defRPr/>
            </a:pP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第</a:t>
            </a:r>
            <a:r>
              <a:rPr lang="en-US" altLang="zh-CN"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5</a:t>
            </a:r>
            <a:r>
              <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rPr>
              <a:t>章 动态规划法</a:t>
            </a:r>
            <a:endParaRPr lang="zh-CN" altLang="en-US" sz="6000" b="1" dirty="0">
              <a:ln w="11430"/>
              <a:gradFill>
                <a:gsLst>
                  <a:gs pos="0">
                    <a:srgbClr val="F79646">
                      <a:tint val="90000"/>
                      <a:satMod val="120000"/>
                    </a:srgbClr>
                  </a:gs>
                  <a:gs pos="25000">
                    <a:srgbClr val="F79646">
                      <a:tint val="93000"/>
                      <a:satMod val="120000"/>
                    </a:srgbClr>
                  </a:gs>
                  <a:gs pos="50000">
                    <a:srgbClr val="F79646">
                      <a:shade val="89000"/>
                      <a:satMod val="110000"/>
                    </a:srgbClr>
                  </a:gs>
                  <a:gs pos="75000">
                    <a:srgbClr val="F79646">
                      <a:tint val="93000"/>
                      <a:satMod val="120000"/>
                    </a:srgbClr>
                  </a:gs>
                  <a:gs pos="100000">
                    <a:srgbClr val="F79646">
                      <a:tint val="90000"/>
                      <a:satMod val="120000"/>
                    </a:srgbClr>
                  </a:gs>
                </a:gsLst>
                <a:lin ang="5400000"/>
              </a:gradFill>
              <a:effectLst>
                <a:outerShdw blurRad="50800" dist="38100" dir="8100000" algn="tr" rotWithShape="0">
                  <a:prstClr val="black">
                    <a:alpha val="40000"/>
                  </a:prstClr>
                </a:outerShdw>
              </a:effectLst>
              <a:latin typeface="方正正大黑简体" pitchFamily="2" charset="-122"/>
              <a:ea typeface="方正正大黑简体" pitchFamily="2" charset="-122"/>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p:cNvPicPr>
            <a:picLocks noChangeAspect="1"/>
          </p:cNvPicPr>
          <p:nvPr/>
        </p:nvPicPr>
        <p:blipFill>
          <a:blip r:embed="rId1"/>
          <a:stretch>
            <a:fillRect/>
          </a:stretch>
        </p:blipFill>
        <p:spPr>
          <a:xfrm>
            <a:off x="1372235" y="980440"/>
            <a:ext cx="6351905" cy="5224780"/>
          </a:xfrm>
          <a:prstGeom prst="rect">
            <a:avLst/>
          </a:prstGeom>
        </p:spPr>
      </p:pic>
      <p:sp>
        <p:nvSpPr>
          <p:cNvPr id="8" name="Rectangle 5"/>
          <p:cNvSpPr>
            <a:spLocks noChangeArrowheads="1"/>
          </p:cNvSpPr>
          <p:nvPr/>
        </p:nvSpPr>
        <p:spPr bwMode="auto">
          <a:xfrm>
            <a:off x="1" y="1051168"/>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Times New Roman" panose="02020603050405020304" pitchFamily="18" charset="0"/>
              <a:buNone/>
            </a:pPr>
            <a:endParaRPr lang="zh-CN" altLang="en-US">
              <a:latin typeface="Times New Roman" panose="02020603050405020304" pitchFamily="18" charset="0"/>
              <a:cs typeface="Times New Roman" panose="02020603050405020304" pitchFamily="18" charset="0"/>
            </a:endParaRPr>
          </a:p>
        </p:txBody>
      </p:sp>
      <p:sp>
        <p:nvSpPr>
          <p:cNvPr id="9" name="Freeform 6"/>
          <p:cNvSpPr/>
          <p:nvPr/>
        </p:nvSpPr>
        <p:spPr bwMode="auto">
          <a:xfrm>
            <a:off x="105925" y="1140429"/>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10" name="Freeform 7"/>
          <p:cNvSpPr>
            <a:spLocks noEditPoints="1"/>
          </p:cNvSpPr>
          <p:nvPr/>
        </p:nvSpPr>
        <p:spPr bwMode="auto">
          <a:xfrm>
            <a:off x="566516" y="1497477"/>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latin typeface="Times New Roman" panose="02020603050405020304" pitchFamily="18" charset="0"/>
              <a:cs typeface="Times New Roman" panose="02020603050405020304" pitchFamily="18" charset="0"/>
            </a:endParaRPr>
          </a:p>
        </p:txBody>
      </p:sp>
      <p:sp>
        <p:nvSpPr>
          <p:cNvPr id="2" name="文本框 1"/>
          <p:cNvSpPr txBox="1"/>
          <p:nvPr/>
        </p:nvSpPr>
        <p:spPr>
          <a:xfrm>
            <a:off x="521335" y="1124585"/>
            <a:ext cx="1515745" cy="368300"/>
          </a:xfrm>
          <a:prstGeom prst="rect">
            <a:avLst/>
          </a:prstGeom>
          <a:noFill/>
        </p:spPr>
        <p:txBody>
          <a:bodyPr wrap="square" rtlCol="0">
            <a:spAutoFit/>
          </a:bodyPr>
          <a:lstStyle/>
          <a:p>
            <a:r>
              <a:rPr lang="zh-CN" altLang="en-US">
                <a:latin typeface="黑体" panose="02010609060101010101" charset="-122"/>
                <a:ea typeface="黑体" panose="02010609060101010101" charset="-122"/>
                <a:cs typeface="Times New Roman" panose="02020603050405020304" pitchFamily="18" charset="0"/>
              </a:rPr>
              <a:t>本章概要</a:t>
            </a:r>
            <a:endParaRPr lang="zh-CN" altLang="en-US">
              <a:latin typeface="黑体" panose="02010609060101010101" charset="-122"/>
              <a:ea typeface="黑体" panose="02010609060101010101" charset="-122"/>
              <a:cs typeface="Times New Roman" panose="02020603050405020304" pitchFamily="18" charset="0"/>
            </a:endParaRPr>
          </a:p>
        </p:txBody>
      </p:sp>
    </p:spTree>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5"/>
          <p:cNvSpPr>
            <a:spLocks noChangeArrowheads="1"/>
          </p:cNvSpPr>
          <p:nvPr/>
        </p:nvSpPr>
        <p:spPr bwMode="auto">
          <a:xfrm>
            <a:off x="0" y="1484784"/>
            <a:ext cx="521290" cy="624834"/>
          </a:xfrm>
          <a:prstGeom prst="rect">
            <a:avLst/>
          </a:prstGeom>
          <a:solidFill>
            <a:schemeClr val="bg2"/>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a:buFont typeface="Arial" panose="020B0604020202020204" pitchFamily="34" charset="0"/>
              <a:buNone/>
            </a:pPr>
            <a:endParaRPr lang="zh-CN" altLang="en-US"/>
          </a:p>
        </p:txBody>
      </p:sp>
      <p:sp>
        <p:nvSpPr>
          <p:cNvPr id="4" name="Freeform 6"/>
          <p:cNvSpPr/>
          <p:nvPr/>
        </p:nvSpPr>
        <p:spPr bwMode="auto">
          <a:xfrm>
            <a:off x="105924" y="1574045"/>
            <a:ext cx="397513" cy="501058"/>
          </a:xfrm>
          <a:custGeom>
            <a:avLst/>
            <a:gdLst>
              <a:gd name="T0" fmla="*/ 510720 w 1173"/>
              <a:gd name="T1" fmla="*/ 242556 h 1472"/>
              <a:gd name="T2" fmla="*/ 494464 w 1173"/>
              <a:gd name="T3" fmla="*/ 21309 h 1472"/>
              <a:gd name="T4" fmla="*/ 481820 w 1173"/>
              <a:gd name="T5" fmla="*/ 24482 h 1472"/>
              <a:gd name="T6" fmla="*/ 452920 w 1173"/>
              <a:gd name="T7" fmla="*/ 30830 h 1472"/>
              <a:gd name="T8" fmla="*/ 414988 w 1173"/>
              <a:gd name="T9" fmla="*/ 24482 h 1472"/>
              <a:gd name="T10" fmla="*/ 284035 w 1173"/>
              <a:gd name="T11" fmla="*/ 2267 h 1472"/>
              <a:gd name="T12" fmla="*/ 0 w 1173"/>
              <a:gd name="T13" fmla="*/ 348193 h 1472"/>
              <a:gd name="T14" fmla="*/ 290356 w 1173"/>
              <a:gd name="T15" fmla="*/ 665102 h 1472"/>
              <a:gd name="T16" fmla="*/ 529686 w 1173"/>
              <a:gd name="T17" fmla="*/ 492366 h 1472"/>
              <a:gd name="T18" fmla="*/ 491303 w 1173"/>
              <a:gd name="T19" fmla="*/ 469697 h 1472"/>
              <a:gd name="T20" fmla="*/ 312483 w 1173"/>
              <a:gd name="T21" fmla="*/ 620671 h 1472"/>
              <a:gd name="T22" fmla="*/ 130954 w 1173"/>
              <a:gd name="T23" fmla="*/ 328697 h 1472"/>
              <a:gd name="T24" fmla="*/ 290356 w 1173"/>
              <a:gd name="T25" fmla="*/ 47151 h 1472"/>
              <a:gd name="T26" fmla="*/ 472337 w 1173"/>
              <a:gd name="T27" fmla="*/ 258424 h 1472"/>
              <a:gd name="T28" fmla="*/ 510720 w 1173"/>
              <a:gd name="T29" fmla="*/ 242556 h 1472"/>
              <a:gd name="T30" fmla="*/ 0 60000 65536"/>
              <a:gd name="T31" fmla="*/ 0 60000 65536"/>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Lst>
            <a:ahLst/>
            <a:cxnLst>
              <a:cxn ang="T30">
                <a:pos x="T0" y="T1"/>
              </a:cxn>
              <a:cxn ang="T31">
                <a:pos x="T2" y="T3"/>
              </a:cxn>
              <a:cxn ang="T32">
                <a:pos x="T4" y="T5"/>
              </a:cxn>
              <a:cxn ang="T33">
                <a:pos x="T6" y="T7"/>
              </a:cxn>
              <a:cxn ang="T34">
                <a:pos x="T8" y="T9"/>
              </a:cxn>
              <a:cxn ang="T35">
                <a:pos x="T10" y="T11"/>
              </a:cxn>
              <a:cxn ang="T36">
                <a:pos x="T12" y="T13"/>
              </a:cxn>
              <a:cxn ang="T37">
                <a:pos x="T14" y="T15"/>
              </a:cxn>
              <a:cxn ang="T38">
                <a:pos x="T16" y="T17"/>
              </a:cxn>
              <a:cxn ang="T39">
                <a:pos x="T18" y="T19"/>
              </a:cxn>
              <a:cxn ang="T40">
                <a:pos x="T20" y="T21"/>
              </a:cxn>
              <a:cxn ang="T41">
                <a:pos x="T22" y="T23"/>
              </a:cxn>
              <a:cxn ang="T42">
                <a:pos x="T24" y="T25"/>
              </a:cxn>
              <a:cxn ang="T43">
                <a:pos x="T26" y="T27"/>
              </a:cxn>
              <a:cxn ang="T44">
                <a:pos x="T28" y="T29"/>
              </a:cxn>
            </a:cxnLst>
            <a:rect l="0" t="0" r="r" b="b"/>
            <a:pathLst>
              <a:path w="1173" h="1472">
                <a:moveTo>
                  <a:pt x="1131" y="535"/>
                </a:moveTo>
                <a:lnTo>
                  <a:pt x="1095" y="47"/>
                </a:lnTo>
                <a:cubicBezTo>
                  <a:pt x="1090" y="47"/>
                  <a:pt x="1081" y="49"/>
                  <a:pt x="1067" y="54"/>
                </a:cubicBezTo>
                <a:cubicBezTo>
                  <a:pt x="1043" y="64"/>
                  <a:pt x="1022" y="68"/>
                  <a:pt x="1003" y="68"/>
                </a:cubicBezTo>
                <a:cubicBezTo>
                  <a:pt x="975" y="68"/>
                  <a:pt x="947" y="64"/>
                  <a:pt x="919" y="54"/>
                </a:cubicBezTo>
                <a:cubicBezTo>
                  <a:pt x="810" y="17"/>
                  <a:pt x="714" y="0"/>
                  <a:pt x="629" y="5"/>
                </a:cubicBezTo>
                <a:cubicBezTo>
                  <a:pt x="214" y="24"/>
                  <a:pt x="5" y="278"/>
                  <a:pt x="0" y="768"/>
                </a:cubicBezTo>
                <a:cubicBezTo>
                  <a:pt x="5" y="1225"/>
                  <a:pt x="219" y="1458"/>
                  <a:pt x="643" y="1467"/>
                </a:cubicBezTo>
                <a:cubicBezTo>
                  <a:pt x="912" y="1472"/>
                  <a:pt x="1088" y="1345"/>
                  <a:pt x="1173" y="1086"/>
                </a:cubicBezTo>
                <a:lnTo>
                  <a:pt x="1088" y="1036"/>
                </a:lnTo>
                <a:cubicBezTo>
                  <a:pt x="999" y="1258"/>
                  <a:pt x="867" y="1369"/>
                  <a:pt x="692" y="1369"/>
                </a:cubicBezTo>
                <a:cubicBezTo>
                  <a:pt x="424" y="1359"/>
                  <a:pt x="290" y="1145"/>
                  <a:pt x="290" y="725"/>
                </a:cubicBezTo>
                <a:cubicBezTo>
                  <a:pt x="290" y="316"/>
                  <a:pt x="408" y="108"/>
                  <a:pt x="643" y="104"/>
                </a:cubicBezTo>
                <a:cubicBezTo>
                  <a:pt x="827" y="94"/>
                  <a:pt x="961" y="250"/>
                  <a:pt x="1046" y="570"/>
                </a:cubicBezTo>
                <a:lnTo>
                  <a:pt x="1131" y="535"/>
                </a:ln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6" name="Freeform 7"/>
          <p:cNvSpPr>
            <a:spLocks noEditPoints="1"/>
          </p:cNvSpPr>
          <p:nvPr/>
        </p:nvSpPr>
        <p:spPr bwMode="auto">
          <a:xfrm>
            <a:off x="566515" y="1931093"/>
            <a:ext cx="742660" cy="151151"/>
          </a:xfrm>
          <a:custGeom>
            <a:avLst/>
            <a:gdLst>
              <a:gd name="T0" fmla="*/ 22141 w 2195"/>
              <a:gd name="T1" fmla="*/ 126007 h 445"/>
              <a:gd name="T2" fmla="*/ 113870 w 2195"/>
              <a:gd name="T3" fmla="*/ 125101 h 445"/>
              <a:gd name="T4" fmla="*/ 68684 w 2195"/>
              <a:gd name="T5" fmla="*/ 200795 h 445"/>
              <a:gd name="T6" fmla="*/ 70491 w 2195"/>
              <a:gd name="T7" fmla="*/ 47593 h 445"/>
              <a:gd name="T8" fmla="*/ 68684 w 2195"/>
              <a:gd name="T9" fmla="*/ 200795 h 445"/>
              <a:gd name="T10" fmla="*/ 300490 w 2195"/>
              <a:gd name="T11" fmla="*/ 196716 h 445"/>
              <a:gd name="T12" fmla="*/ 279253 w 2195"/>
              <a:gd name="T13" fmla="*/ 106064 h 445"/>
              <a:gd name="T14" fmla="*/ 201532 w 2195"/>
              <a:gd name="T15" fmla="*/ 106970 h 445"/>
              <a:gd name="T16" fmla="*/ 180746 w 2195"/>
              <a:gd name="T17" fmla="*/ 197623 h 445"/>
              <a:gd name="T18" fmla="*/ 201532 w 2195"/>
              <a:gd name="T19" fmla="*/ 50312 h 445"/>
              <a:gd name="T20" fmla="*/ 249881 w 2195"/>
              <a:gd name="T21" fmla="*/ 46233 h 445"/>
              <a:gd name="T22" fmla="*/ 405323 w 2195"/>
              <a:gd name="T23" fmla="*/ 184478 h 445"/>
              <a:gd name="T24" fmla="*/ 387248 w 2195"/>
              <a:gd name="T25" fmla="*/ 199889 h 445"/>
              <a:gd name="T26" fmla="*/ 356973 w 2195"/>
              <a:gd name="T27" fmla="*/ 68443 h 445"/>
              <a:gd name="T28" fmla="*/ 336640 w 2195"/>
              <a:gd name="T29" fmla="*/ 50312 h 445"/>
              <a:gd name="T30" fmla="*/ 356973 w 2195"/>
              <a:gd name="T31" fmla="*/ 10878 h 445"/>
              <a:gd name="T32" fmla="*/ 378211 w 2195"/>
              <a:gd name="T33" fmla="*/ 50312 h 445"/>
              <a:gd name="T34" fmla="*/ 405323 w 2195"/>
              <a:gd name="T35" fmla="*/ 68443 h 445"/>
              <a:gd name="T36" fmla="*/ 378211 w 2195"/>
              <a:gd name="T37" fmla="*/ 167707 h 445"/>
              <a:gd name="T38" fmla="*/ 405323 w 2195"/>
              <a:gd name="T39" fmla="*/ 184478 h 445"/>
              <a:gd name="T40" fmla="*/ 548564 w 2195"/>
              <a:gd name="T41" fmla="*/ 112862 h 445"/>
              <a:gd name="T42" fmla="*/ 460902 w 2195"/>
              <a:gd name="T43" fmla="*/ 112862 h 445"/>
              <a:gd name="T44" fmla="*/ 570706 w 2195"/>
              <a:gd name="T45" fmla="*/ 157282 h 445"/>
              <a:gd name="T46" fmla="*/ 436502 w 2195"/>
              <a:gd name="T47" fmla="*/ 126007 h 445"/>
              <a:gd name="T48" fmla="*/ 571609 w 2195"/>
              <a:gd name="T49" fmla="*/ 126007 h 445"/>
              <a:gd name="T50" fmla="*/ 459999 w 2195"/>
              <a:gd name="T51" fmla="*/ 130993 h 445"/>
              <a:gd name="T52" fmla="*/ 548564 w 2195"/>
              <a:gd name="T53" fmla="*/ 151390 h 445"/>
              <a:gd name="T54" fmla="*/ 734733 w 2195"/>
              <a:gd name="T55" fmla="*/ 196716 h 445"/>
              <a:gd name="T56" fmla="*/ 713947 w 2195"/>
              <a:gd name="T57" fmla="*/ 106064 h 445"/>
              <a:gd name="T58" fmla="*/ 636226 w 2195"/>
              <a:gd name="T59" fmla="*/ 106970 h 445"/>
              <a:gd name="T60" fmla="*/ 614988 w 2195"/>
              <a:gd name="T61" fmla="*/ 197623 h 445"/>
              <a:gd name="T62" fmla="*/ 636226 w 2195"/>
              <a:gd name="T63" fmla="*/ 50312 h 445"/>
              <a:gd name="T64" fmla="*/ 684576 w 2195"/>
              <a:gd name="T65" fmla="*/ 46233 h 445"/>
              <a:gd name="T66" fmla="*/ 840017 w 2195"/>
              <a:gd name="T67" fmla="*/ 184478 h 445"/>
              <a:gd name="T68" fmla="*/ 821491 w 2195"/>
              <a:gd name="T69" fmla="*/ 199889 h 445"/>
              <a:gd name="T70" fmla="*/ 791668 w 2195"/>
              <a:gd name="T71" fmla="*/ 68443 h 445"/>
              <a:gd name="T72" fmla="*/ 771334 w 2195"/>
              <a:gd name="T73" fmla="*/ 50312 h 445"/>
              <a:gd name="T74" fmla="*/ 791668 w 2195"/>
              <a:gd name="T75" fmla="*/ 10878 h 445"/>
              <a:gd name="T76" fmla="*/ 812454 w 2195"/>
              <a:gd name="T77" fmla="*/ 50312 h 445"/>
              <a:gd name="T78" fmla="*/ 840017 w 2195"/>
              <a:gd name="T79" fmla="*/ 68443 h 445"/>
              <a:gd name="T80" fmla="*/ 812454 w 2195"/>
              <a:gd name="T81" fmla="*/ 167707 h 445"/>
              <a:gd name="T82" fmla="*/ 840017 w 2195"/>
              <a:gd name="T83" fmla="*/ 184478 h 445"/>
              <a:gd name="T84" fmla="*/ 985066 w 2195"/>
              <a:gd name="T85" fmla="*/ 85667 h 445"/>
              <a:gd name="T86" fmla="*/ 875263 w 2195"/>
              <a:gd name="T87" fmla="*/ 87933 h 445"/>
              <a:gd name="T88" fmla="*/ 968799 w 2195"/>
              <a:gd name="T89" fmla="*/ 159549 h 445"/>
              <a:gd name="T90" fmla="*/ 890174 w 2195"/>
              <a:gd name="T91" fmla="*/ 151390 h 445"/>
              <a:gd name="T92" fmla="*/ 931746 w 2195"/>
              <a:gd name="T93" fmla="*/ 200795 h 445"/>
              <a:gd name="T94" fmla="*/ 937620 w 2195"/>
              <a:gd name="T95" fmla="*/ 114222 h 445"/>
              <a:gd name="T96" fmla="*/ 929487 w 2195"/>
              <a:gd name="T97" fmla="*/ 65723 h 445"/>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60000 65536"/>
              <a:gd name="T139" fmla="*/ 0 60000 65536"/>
              <a:gd name="T140" fmla="*/ 0 60000 65536"/>
              <a:gd name="T141" fmla="*/ 0 60000 65536"/>
              <a:gd name="T142" fmla="*/ 0 60000 65536"/>
              <a:gd name="T143" fmla="*/ 0 60000 65536"/>
              <a:gd name="T144" fmla="*/ 0 60000 65536"/>
              <a:gd name="T145" fmla="*/ 0 60000 65536"/>
              <a:gd name="T146" fmla="*/ 0 60000 65536"/>
            </a:gdLst>
            <a:ahLst/>
            <a:cxnLst>
              <a:cxn ang="T98">
                <a:pos x="T0" y="T1"/>
              </a:cxn>
              <a:cxn ang="T99">
                <a:pos x="T2" y="T3"/>
              </a:cxn>
              <a:cxn ang="T100">
                <a:pos x="T4" y="T5"/>
              </a:cxn>
              <a:cxn ang="T101">
                <a:pos x="T6" y="T7"/>
              </a:cxn>
              <a:cxn ang="T102">
                <a:pos x="T8" y="T9"/>
              </a:cxn>
              <a:cxn ang="T103">
                <a:pos x="T10" y="T11"/>
              </a:cxn>
              <a:cxn ang="T104">
                <a:pos x="T12" y="T13"/>
              </a:cxn>
              <a:cxn ang="T105">
                <a:pos x="T14" y="T15"/>
              </a:cxn>
              <a:cxn ang="T106">
                <a:pos x="T16" y="T17"/>
              </a:cxn>
              <a:cxn ang="T107">
                <a:pos x="T18" y="T19"/>
              </a:cxn>
              <a:cxn ang="T108">
                <a:pos x="T20" y="T21"/>
              </a:cxn>
              <a:cxn ang="T109">
                <a:pos x="T22" y="T23"/>
              </a:cxn>
              <a:cxn ang="T110">
                <a:pos x="T24" y="T25"/>
              </a:cxn>
              <a:cxn ang="T111">
                <a:pos x="T26" y="T27"/>
              </a:cxn>
              <a:cxn ang="T112">
                <a:pos x="T28" y="T29"/>
              </a:cxn>
              <a:cxn ang="T113">
                <a:pos x="T30" y="T31"/>
              </a:cxn>
              <a:cxn ang="T114">
                <a:pos x="T32" y="T33"/>
              </a:cxn>
              <a:cxn ang="T115">
                <a:pos x="T34" y="T35"/>
              </a:cxn>
              <a:cxn ang="T116">
                <a:pos x="T36" y="T37"/>
              </a:cxn>
              <a:cxn ang="T117">
                <a:pos x="T38" y="T39"/>
              </a:cxn>
              <a:cxn ang="T118">
                <a:pos x="T40" y="T41"/>
              </a:cxn>
              <a:cxn ang="T119">
                <a:pos x="T42" y="T43"/>
              </a:cxn>
              <a:cxn ang="T120">
                <a:pos x="T44" y="T45"/>
              </a:cxn>
              <a:cxn ang="T121">
                <a:pos x="T46" y="T47"/>
              </a:cxn>
              <a:cxn ang="T122">
                <a:pos x="T48" y="T49"/>
              </a:cxn>
              <a:cxn ang="T123">
                <a:pos x="T50" y="T51"/>
              </a:cxn>
              <a:cxn ang="T124">
                <a:pos x="T52" y="T53"/>
              </a:cxn>
              <a:cxn ang="T125">
                <a:pos x="T54" y="T55"/>
              </a:cxn>
              <a:cxn ang="T126">
                <a:pos x="T56" y="T57"/>
              </a:cxn>
              <a:cxn ang="T127">
                <a:pos x="T58" y="T59"/>
              </a:cxn>
              <a:cxn ang="T128">
                <a:pos x="T60" y="T61"/>
              </a:cxn>
              <a:cxn ang="T129">
                <a:pos x="T62" y="T63"/>
              </a:cxn>
              <a:cxn ang="T130">
                <a:pos x="T64" y="T65"/>
              </a:cxn>
              <a:cxn ang="T131">
                <a:pos x="T66" y="T67"/>
              </a:cxn>
              <a:cxn ang="T132">
                <a:pos x="T68" y="T69"/>
              </a:cxn>
              <a:cxn ang="T133">
                <a:pos x="T70" y="T71"/>
              </a:cxn>
              <a:cxn ang="T134">
                <a:pos x="T72" y="T73"/>
              </a:cxn>
              <a:cxn ang="T135">
                <a:pos x="T74" y="T75"/>
              </a:cxn>
              <a:cxn ang="T136">
                <a:pos x="T76" y="T77"/>
              </a:cxn>
              <a:cxn ang="T137">
                <a:pos x="T78" y="T79"/>
              </a:cxn>
              <a:cxn ang="T138">
                <a:pos x="T80" y="T81"/>
              </a:cxn>
              <a:cxn ang="T139">
                <a:pos x="T82" y="T83"/>
              </a:cxn>
              <a:cxn ang="T140">
                <a:pos x="T84" y="T85"/>
              </a:cxn>
              <a:cxn ang="T141">
                <a:pos x="T86" y="T87"/>
              </a:cxn>
              <a:cxn ang="T142">
                <a:pos x="T88" y="T89"/>
              </a:cxn>
              <a:cxn ang="T143">
                <a:pos x="T90" y="T91"/>
              </a:cxn>
              <a:cxn ang="T144">
                <a:pos x="T92" y="T93"/>
              </a:cxn>
              <a:cxn ang="T145">
                <a:pos x="T94" y="T95"/>
              </a:cxn>
              <a:cxn ang="T146">
                <a:pos x="T96" y="T97"/>
              </a:cxn>
            </a:cxnLst>
            <a:rect l="0" t="0" r="r" b="b"/>
            <a:pathLst>
              <a:path w="2195" h="445">
                <a:moveTo>
                  <a:pt x="154" y="142"/>
                </a:moveTo>
                <a:cubicBezTo>
                  <a:pt x="86" y="144"/>
                  <a:pt x="51" y="189"/>
                  <a:pt x="49" y="278"/>
                </a:cubicBezTo>
                <a:cubicBezTo>
                  <a:pt x="51" y="361"/>
                  <a:pt x="86" y="405"/>
                  <a:pt x="154" y="407"/>
                </a:cubicBezTo>
                <a:cubicBezTo>
                  <a:pt x="218" y="405"/>
                  <a:pt x="251" y="361"/>
                  <a:pt x="252" y="276"/>
                </a:cubicBezTo>
                <a:cubicBezTo>
                  <a:pt x="248" y="193"/>
                  <a:pt x="215" y="148"/>
                  <a:pt x="154" y="142"/>
                </a:cubicBezTo>
                <a:close/>
                <a:moveTo>
                  <a:pt x="152" y="443"/>
                </a:moveTo>
                <a:cubicBezTo>
                  <a:pt x="55" y="437"/>
                  <a:pt x="5" y="383"/>
                  <a:pt x="0" y="280"/>
                </a:cubicBezTo>
                <a:cubicBezTo>
                  <a:pt x="3" y="166"/>
                  <a:pt x="55" y="107"/>
                  <a:pt x="156" y="105"/>
                </a:cubicBezTo>
                <a:cubicBezTo>
                  <a:pt x="250" y="109"/>
                  <a:pt x="299" y="165"/>
                  <a:pt x="303" y="274"/>
                </a:cubicBezTo>
                <a:cubicBezTo>
                  <a:pt x="302" y="385"/>
                  <a:pt x="251" y="442"/>
                  <a:pt x="152" y="443"/>
                </a:cubicBezTo>
                <a:close/>
                <a:moveTo>
                  <a:pt x="665" y="227"/>
                </a:moveTo>
                <a:lnTo>
                  <a:pt x="665" y="434"/>
                </a:lnTo>
                <a:lnTo>
                  <a:pt x="618" y="434"/>
                </a:lnTo>
                <a:lnTo>
                  <a:pt x="618" y="234"/>
                </a:lnTo>
                <a:cubicBezTo>
                  <a:pt x="616" y="174"/>
                  <a:pt x="591" y="144"/>
                  <a:pt x="542" y="142"/>
                </a:cubicBezTo>
                <a:cubicBezTo>
                  <a:pt x="484" y="150"/>
                  <a:pt x="452" y="181"/>
                  <a:pt x="446" y="236"/>
                </a:cubicBezTo>
                <a:lnTo>
                  <a:pt x="446" y="434"/>
                </a:lnTo>
                <a:lnTo>
                  <a:pt x="400" y="436"/>
                </a:lnTo>
                <a:lnTo>
                  <a:pt x="400" y="111"/>
                </a:lnTo>
                <a:lnTo>
                  <a:pt x="446" y="111"/>
                </a:lnTo>
                <a:lnTo>
                  <a:pt x="446" y="160"/>
                </a:lnTo>
                <a:cubicBezTo>
                  <a:pt x="472" y="123"/>
                  <a:pt x="507" y="104"/>
                  <a:pt x="553" y="102"/>
                </a:cubicBezTo>
                <a:cubicBezTo>
                  <a:pt x="628" y="102"/>
                  <a:pt x="665" y="144"/>
                  <a:pt x="665" y="227"/>
                </a:cubicBezTo>
                <a:close/>
                <a:moveTo>
                  <a:pt x="897" y="407"/>
                </a:moveTo>
                <a:lnTo>
                  <a:pt x="906" y="432"/>
                </a:lnTo>
                <a:cubicBezTo>
                  <a:pt x="891" y="438"/>
                  <a:pt x="875" y="441"/>
                  <a:pt x="857" y="441"/>
                </a:cubicBezTo>
                <a:cubicBezTo>
                  <a:pt x="811" y="442"/>
                  <a:pt x="788" y="419"/>
                  <a:pt x="790" y="370"/>
                </a:cubicBezTo>
                <a:lnTo>
                  <a:pt x="790" y="151"/>
                </a:lnTo>
                <a:lnTo>
                  <a:pt x="745" y="151"/>
                </a:lnTo>
                <a:lnTo>
                  <a:pt x="745" y="111"/>
                </a:lnTo>
                <a:lnTo>
                  <a:pt x="790" y="111"/>
                </a:lnTo>
                <a:lnTo>
                  <a:pt x="790" y="24"/>
                </a:lnTo>
                <a:lnTo>
                  <a:pt x="837" y="0"/>
                </a:lnTo>
                <a:lnTo>
                  <a:pt x="837" y="111"/>
                </a:lnTo>
                <a:lnTo>
                  <a:pt x="897" y="111"/>
                </a:lnTo>
                <a:lnTo>
                  <a:pt x="897" y="151"/>
                </a:lnTo>
                <a:lnTo>
                  <a:pt x="837" y="151"/>
                </a:lnTo>
                <a:lnTo>
                  <a:pt x="837" y="370"/>
                </a:lnTo>
                <a:cubicBezTo>
                  <a:pt x="835" y="398"/>
                  <a:pt x="847" y="411"/>
                  <a:pt x="872" y="410"/>
                </a:cubicBezTo>
                <a:cubicBezTo>
                  <a:pt x="881" y="410"/>
                  <a:pt x="890" y="409"/>
                  <a:pt x="897" y="407"/>
                </a:cubicBezTo>
                <a:close/>
                <a:moveTo>
                  <a:pt x="1020" y="249"/>
                </a:moveTo>
                <a:lnTo>
                  <a:pt x="1214" y="249"/>
                </a:lnTo>
                <a:cubicBezTo>
                  <a:pt x="1211" y="184"/>
                  <a:pt x="1179" y="150"/>
                  <a:pt x="1118" y="147"/>
                </a:cubicBezTo>
                <a:cubicBezTo>
                  <a:pt x="1057" y="153"/>
                  <a:pt x="1024" y="187"/>
                  <a:pt x="1020" y="249"/>
                </a:cubicBezTo>
                <a:close/>
                <a:moveTo>
                  <a:pt x="1214" y="334"/>
                </a:moveTo>
                <a:lnTo>
                  <a:pt x="1263" y="347"/>
                </a:lnTo>
                <a:cubicBezTo>
                  <a:pt x="1245" y="413"/>
                  <a:pt x="1198" y="445"/>
                  <a:pt x="1120" y="443"/>
                </a:cubicBezTo>
                <a:cubicBezTo>
                  <a:pt x="1021" y="439"/>
                  <a:pt x="969" y="384"/>
                  <a:pt x="966" y="278"/>
                </a:cubicBezTo>
                <a:cubicBezTo>
                  <a:pt x="971" y="167"/>
                  <a:pt x="1021" y="109"/>
                  <a:pt x="1118" y="105"/>
                </a:cubicBezTo>
                <a:cubicBezTo>
                  <a:pt x="1213" y="107"/>
                  <a:pt x="1262" y="165"/>
                  <a:pt x="1265" y="278"/>
                </a:cubicBezTo>
                <a:cubicBezTo>
                  <a:pt x="1265" y="284"/>
                  <a:pt x="1265" y="288"/>
                  <a:pt x="1265" y="289"/>
                </a:cubicBezTo>
                <a:lnTo>
                  <a:pt x="1018" y="289"/>
                </a:lnTo>
                <a:cubicBezTo>
                  <a:pt x="1021" y="362"/>
                  <a:pt x="1054" y="401"/>
                  <a:pt x="1118" y="405"/>
                </a:cubicBezTo>
                <a:cubicBezTo>
                  <a:pt x="1169" y="405"/>
                  <a:pt x="1200" y="382"/>
                  <a:pt x="1214" y="334"/>
                </a:cubicBezTo>
                <a:close/>
                <a:moveTo>
                  <a:pt x="1626" y="227"/>
                </a:moveTo>
                <a:lnTo>
                  <a:pt x="1626" y="434"/>
                </a:lnTo>
                <a:lnTo>
                  <a:pt x="1580" y="434"/>
                </a:lnTo>
                <a:lnTo>
                  <a:pt x="1580" y="234"/>
                </a:lnTo>
                <a:cubicBezTo>
                  <a:pt x="1578" y="174"/>
                  <a:pt x="1553" y="144"/>
                  <a:pt x="1504" y="142"/>
                </a:cubicBezTo>
                <a:cubicBezTo>
                  <a:pt x="1446" y="150"/>
                  <a:pt x="1414" y="181"/>
                  <a:pt x="1408" y="236"/>
                </a:cubicBezTo>
                <a:lnTo>
                  <a:pt x="1408" y="434"/>
                </a:lnTo>
                <a:lnTo>
                  <a:pt x="1361" y="436"/>
                </a:lnTo>
                <a:lnTo>
                  <a:pt x="1361" y="111"/>
                </a:lnTo>
                <a:lnTo>
                  <a:pt x="1408" y="111"/>
                </a:lnTo>
                <a:lnTo>
                  <a:pt x="1408" y="160"/>
                </a:lnTo>
                <a:cubicBezTo>
                  <a:pt x="1433" y="123"/>
                  <a:pt x="1469" y="104"/>
                  <a:pt x="1515" y="102"/>
                </a:cubicBezTo>
                <a:cubicBezTo>
                  <a:pt x="1589" y="102"/>
                  <a:pt x="1626" y="144"/>
                  <a:pt x="1626" y="227"/>
                </a:cubicBezTo>
                <a:close/>
                <a:moveTo>
                  <a:pt x="1859" y="407"/>
                </a:moveTo>
                <a:lnTo>
                  <a:pt x="1868" y="432"/>
                </a:lnTo>
                <a:cubicBezTo>
                  <a:pt x="1853" y="438"/>
                  <a:pt x="1836" y="441"/>
                  <a:pt x="1818" y="441"/>
                </a:cubicBezTo>
                <a:cubicBezTo>
                  <a:pt x="1772" y="442"/>
                  <a:pt x="1750" y="419"/>
                  <a:pt x="1752" y="370"/>
                </a:cubicBezTo>
                <a:lnTo>
                  <a:pt x="1752" y="151"/>
                </a:lnTo>
                <a:lnTo>
                  <a:pt x="1707" y="151"/>
                </a:lnTo>
                <a:lnTo>
                  <a:pt x="1707" y="111"/>
                </a:lnTo>
                <a:lnTo>
                  <a:pt x="1752" y="111"/>
                </a:lnTo>
                <a:lnTo>
                  <a:pt x="1752" y="24"/>
                </a:lnTo>
                <a:lnTo>
                  <a:pt x="1798" y="0"/>
                </a:lnTo>
                <a:lnTo>
                  <a:pt x="1798" y="111"/>
                </a:lnTo>
                <a:lnTo>
                  <a:pt x="1859" y="111"/>
                </a:lnTo>
                <a:lnTo>
                  <a:pt x="1859" y="151"/>
                </a:lnTo>
                <a:lnTo>
                  <a:pt x="1798" y="151"/>
                </a:lnTo>
                <a:lnTo>
                  <a:pt x="1798" y="370"/>
                </a:lnTo>
                <a:cubicBezTo>
                  <a:pt x="1797" y="398"/>
                  <a:pt x="1809" y="411"/>
                  <a:pt x="1834" y="410"/>
                </a:cubicBezTo>
                <a:cubicBezTo>
                  <a:pt x="1843" y="410"/>
                  <a:pt x="1851" y="409"/>
                  <a:pt x="1859" y="407"/>
                </a:cubicBezTo>
                <a:close/>
                <a:moveTo>
                  <a:pt x="2131" y="203"/>
                </a:moveTo>
                <a:lnTo>
                  <a:pt x="2180" y="189"/>
                </a:lnTo>
                <a:cubicBezTo>
                  <a:pt x="2167" y="133"/>
                  <a:pt x="2125" y="104"/>
                  <a:pt x="2055" y="102"/>
                </a:cubicBezTo>
                <a:cubicBezTo>
                  <a:pt x="1982" y="105"/>
                  <a:pt x="1943" y="136"/>
                  <a:pt x="1937" y="194"/>
                </a:cubicBezTo>
                <a:cubicBezTo>
                  <a:pt x="1934" y="249"/>
                  <a:pt x="1976" y="281"/>
                  <a:pt x="2062" y="292"/>
                </a:cubicBezTo>
                <a:cubicBezTo>
                  <a:pt x="2118" y="302"/>
                  <a:pt x="2146" y="322"/>
                  <a:pt x="2144" y="352"/>
                </a:cubicBezTo>
                <a:cubicBezTo>
                  <a:pt x="2143" y="387"/>
                  <a:pt x="2115" y="406"/>
                  <a:pt x="2062" y="407"/>
                </a:cubicBezTo>
                <a:cubicBezTo>
                  <a:pt x="2013" y="409"/>
                  <a:pt x="1982" y="384"/>
                  <a:pt x="1970" y="334"/>
                </a:cubicBezTo>
                <a:lnTo>
                  <a:pt x="1924" y="347"/>
                </a:lnTo>
                <a:cubicBezTo>
                  <a:pt x="1941" y="413"/>
                  <a:pt x="1988" y="445"/>
                  <a:pt x="2062" y="443"/>
                </a:cubicBezTo>
                <a:cubicBezTo>
                  <a:pt x="2148" y="442"/>
                  <a:pt x="2192" y="410"/>
                  <a:pt x="2193" y="350"/>
                </a:cubicBezTo>
                <a:cubicBezTo>
                  <a:pt x="2195" y="298"/>
                  <a:pt x="2155" y="265"/>
                  <a:pt x="2075" y="252"/>
                </a:cubicBezTo>
                <a:cubicBezTo>
                  <a:pt x="2014" y="241"/>
                  <a:pt x="1985" y="222"/>
                  <a:pt x="1986" y="194"/>
                </a:cubicBezTo>
                <a:cubicBezTo>
                  <a:pt x="1990" y="162"/>
                  <a:pt x="2014" y="146"/>
                  <a:pt x="2057" y="145"/>
                </a:cubicBezTo>
                <a:cubicBezTo>
                  <a:pt x="2097" y="145"/>
                  <a:pt x="2122" y="164"/>
                  <a:pt x="2131" y="203"/>
                </a:cubicBez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7" name="Freeform 8"/>
          <p:cNvSpPr>
            <a:spLocks noEditPoints="1"/>
          </p:cNvSpPr>
          <p:nvPr/>
        </p:nvSpPr>
        <p:spPr bwMode="auto">
          <a:xfrm>
            <a:off x="595079" y="1495495"/>
            <a:ext cx="714096" cy="335625"/>
          </a:xfrm>
          <a:custGeom>
            <a:avLst/>
            <a:gdLst>
              <a:gd name="T0" fmla="*/ 345008 w 2109"/>
              <a:gd name="T1" fmla="*/ 0 h 986"/>
              <a:gd name="T2" fmla="*/ 305269 w 2109"/>
              <a:gd name="T3" fmla="*/ 447253 h 986"/>
              <a:gd name="T4" fmla="*/ 37933 w 2109"/>
              <a:gd name="T5" fmla="*/ 409150 h 986"/>
              <a:gd name="T6" fmla="*/ 0 w 2109"/>
              <a:gd name="T7" fmla="*/ 447253 h 986"/>
              <a:gd name="T8" fmla="*/ 37933 w 2109"/>
              <a:gd name="T9" fmla="*/ 36288 h 986"/>
              <a:gd name="T10" fmla="*/ 305269 w 2109"/>
              <a:gd name="T11" fmla="*/ 126555 h 986"/>
              <a:gd name="T12" fmla="*/ 37933 w 2109"/>
              <a:gd name="T13" fmla="*/ 36288 h 986"/>
              <a:gd name="T14" fmla="*/ 37933 w 2109"/>
              <a:gd name="T15" fmla="*/ 376944 h 986"/>
              <a:gd name="T16" fmla="*/ 305269 w 2109"/>
              <a:gd name="T17" fmla="*/ 284863 h 986"/>
              <a:gd name="T18" fmla="*/ 37933 w 2109"/>
              <a:gd name="T19" fmla="*/ 160576 h 986"/>
              <a:gd name="T20" fmla="*/ 305269 w 2109"/>
              <a:gd name="T21" fmla="*/ 252657 h 986"/>
              <a:gd name="T22" fmla="*/ 37933 w 2109"/>
              <a:gd name="T23" fmla="*/ 160576 h 986"/>
              <a:gd name="T24" fmla="*/ 912645 w 2109"/>
              <a:gd name="T25" fmla="*/ 250843 h 986"/>
              <a:gd name="T26" fmla="*/ 808781 w 2109"/>
              <a:gd name="T27" fmla="*/ 314801 h 986"/>
              <a:gd name="T28" fmla="*/ 926644 w 2109"/>
              <a:gd name="T29" fmla="*/ 415047 h 986"/>
              <a:gd name="T30" fmla="*/ 731109 w 2109"/>
              <a:gd name="T31" fmla="*/ 371048 h 986"/>
              <a:gd name="T32" fmla="*/ 605118 w 2109"/>
              <a:gd name="T33" fmla="*/ 441356 h 986"/>
              <a:gd name="T34" fmla="*/ 658856 w 2109"/>
              <a:gd name="T35" fmla="*/ 403253 h 986"/>
              <a:gd name="T36" fmla="*/ 694983 w 2109"/>
              <a:gd name="T37" fmla="*/ 202761 h 986"/>
              <a:gd name="T38" fmla="*/ 477321 w 2109"/>
              <a:gd name="T39" fmla="*/ 170555 h 986"/>
              <a:gd name="T40" fmla="*/ 834973 w 2109"/>
              <a:gd name="T41" fmla="*/ 118391 h 986"/>
              <a:gd name="T42" fmla="*/ 537381 w 2109"/>
              <a:gd name="T43" fmla="*/ 86185 h 986"/>
              <a:gd name="T44" fmla="*/ 834973 w 2109"/>
              <a:gd name="T45" fmla="*/ 34020 h 986"/>
              <a:gd name="T46" fmla="*/ 529253 w 2109"/>
              <a:gd name="T47" fmla="*/ 2268 h 986"/>
              <a:gd name="T48" fmla="*/ 872454 w 2109"/>
              <a:gd name="T49" fmla="*/ 170555 h 986"/>
              <a:gd name="T50" fmla="*/ 948771 w 2109"/>
              <a:gd name="T51" fmla="*/ 202761 h 986"/>
              <a:gd name="T52" fmla="*/ 731109 w 2109"/>
              <a:gd name="T53" fmla="*/ 218637 h 986"/>
              <a:gd name="T54" fmla="*/ 886453 w 2109"/>
              <a:gd name="T55" fmla="*/ 218637 h 986"/>
              <a:gd name="T56" fmla="*/ 675113 w 2109"/>
              <a:gd name="T57" fmla="*/ 293028 h 986"/>
              <a:gd name="T58" fmla="*/ 485449 w 2109"/>
              <a:gd name="T59" fmla="*/ 403253 h 986"/>
              <a:gd name="T60" fmla="*/ 537381 w 2109"/>
              <a:gd name="T61" fmla="*/ 214554 h 986"/>
              <a:gd name="T62" fmla="*/ 631310 w 2109"/>
              <a:gd name="T63" fmla="*/ 276698 h 986"/>
              <a:gd name="T64" fmla="*/ 549122 w 2109"/>
              <a:gd name="T65" fmla="*/ 266719 h 986"/>
              <a:gd name="T66" fmla="*/ 537381 w 2109"/>
              <a:gd name="T67" fmla="*/ 214554 h 986"/>
              <a:gd name="T68" fmla="*/ 0 60000 65536"/>
              <a:gd name="T69" fmla="*/ 0 60000 65536"/>
              <a:gd name="T70" fmla="*/ 0 60000 65536"/>
              <a:gd name="T71" fmla="*/ 0 60000 65536"/>
              <a:gd name="T72" fmla="*/ 0 60000 65536"/>
              <a:gd name="T73" fmla="*/ 0 60000 65536"/>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Lst>
            <a:ahLst/>
            <a:cxnLst>
              <a:cxn ang="T68">
                <a:pos x="T0" y="T1"/>
              </a:cxn>
              <a:cxn ang="T69">
                <a:pos x="T2" y="T3"/>
              </a:cxn>
              <a:cxn ang="T70">
                <a:pos x="T4" y="T5"/>
              </a:cxn>
              <a:cxn ang="T71">
                <a:pos x="T6" y="T7"/>
              </a:cxn>
              <a:cxn ang="T72">
                <a:pos x="T8" y="T9"/>
              </a:cxn>
              <a:cxn ang="T73">
                <a:pos x="T10" y="T11"/>
              </a:cxn>
              <a:cxn ang="T74">
                <a:pos x="T12" y="T13"/>
              </a:cxn>
              <a:cxn ang="T75">
                <a:pos x="T14" y="T15"/>
              </a:cxn>
              <a:cxn ang="T76">
                <a:pos x="T16" y="T17"/>
              </a:cxn>
              <a:cxn ang="T77">
                <a:pos x="T18" y="T19"/>
              </a:cxn>
              <a:cxn ang="T78">
                <a:pos x="T20" y="T21"/>
              </a:cxn>
              <a:cxn ang="T79">
                <a:pos x="T22" y="T23"/>
              </a:cxn>
              <a:cxn ang="T80">
                <a:pos x="T24" y="T25"/>
              </a:cxn>
              <a:cxn ang="T81">
                <a:pos x="T26" y="T27"/>
              </a:cxn>
              <a:cxn ang="T82">
                <a:pos x="T28" y="T29"/>
              </a:cxn>
              <a:cxn ang="T83">
                <a:pos x="T30" y="T31"/>
              </a:cxn>
              <a:cxn ang="T84">
                <a:pos x="T32" y="T33"/>
              </a:cxn>
              <a:cxn ang="T85">
                <a:pos x="T34" y="T35"/>
              </a:cxn>
              <a:cxn ang="T86">
                <a:pos x="T36" y="T37"/>
              </a:cxn>
              <a:cxn ang="T87">
                <a:pos x="T38" y="T39"/>
              </a:cxn>
              <a:cxn ang="T88">
                <a:pos x="T40" y="T41"/>
              </a:cxn>
              <a:cxn ang="T89">
                <a:pos x="T42" y="T43"/>
              </a:cxn>
              <a:cxn ang="T90">
                <a:pos x="T44" y="T45"/>
              </a:cxn>
              <a:cxn ang="T91">
                <a:pos x="T46" y="T47"/>
              </a:cxn>
              <a:cxn ang="T92">
                <a:pos x="T48" y="T49"/>
              </a:cxn>
              <a:cxn ang="T93">
                <a:pos x="T50" y="T51"/>
              </a:cxn>
              <a:cxn ang="T94">
                <a:pos x="T52" y="T53"/>
              </a:cxn>
              <a:cxn ang="T95">
                <a:pos x="T54" y="T55"/>
              </a:cxn>
              <a:cxn ang="T96">
                <a:pos x="T56" y="T57"/>
              </a:cxn>
              <a:cxn ang="T97">
                <a:pos x="T58" y="T59"/>
              </a:cxn>
              <a:cxn ang="T98">
                <a:pos x="T60" y="T61"/>
              </a:cxn>
              <a:cxn ang="T99">
                <a:pos x="T62" y="T63"/>
              </a:cxn>
              <a:cxn ang="T100">
                <a:pos x="T64" y="T65"/>
              </a:cxn>
              <a:cxn ang="T101">
                <a:pos x="T66" y="T67"/>
              </a:cxn>
            </a:cxnLst>
            <a:rect l="0" t="0" r="r" b="b"/>
            <a:pathLst>
              <a:path w="2109" h="986">
                <a:moveTo>
                  <a:pt x="0" y="0"/>
                </a:moveTo>
                <a:lnTo>
                  <a:pt x="764" y="0"/>
                </a:lnTo>
                <a:lnTo>
                  <a:pt x="764" y="986"/>
                </a:lnTo>
                <a:lnTo>
                  <a:pt x="676" y="986"/>
                </a:lnTo>
                <a:lnTo>
                  <a:pt x="676" y="902"/>
                </a:lnTo>
                <a:lnTo>
                  <a:pt x="84" y="902"/>
                </a:lnTo>
                <a:lnTo>
                  <a:pt x="84" y="986"/>
                </a:lnTo>
                <a:lnTo>
                  <a:pt x="0" y="986"/>
                </a:lnTo>
                <a:lnTo>
                  <a:pt x="0" y="0"/>
                </a:lnTo>
                <a:close/>
                <a:moveTo>
                  <a:pt x="84" y="80"/>
                </a:moveTo>
                <a:lnTo>
                  <a:pt x="84" y="279"/>
                </a:lnTo>
                <a:lnTo>
                  <a:pt x="676" y="279"/>
                </a:lnTo>
                <a:lnTo>
                  <a:pt x="676" y="80"/>
                </a:lnTo>
                <a:lnTo>
                  <a:pt x="84" y="80"/>
                </a:lnTo>
                <a:close/>
                <a:moveTo>
                  <a:pt x="84" y="628"/>
                </a:moveTo>
                <a:lnTo>
                  <a:pt x="84" y="831"/>
                </a:lnTo>
                <a:lnTo>
                  <a:pt x="676" y="831"/>
                </a:lnTo>
                <a:lnTo>
                  <a:pt x="676" y="628"/>
                </a:lnTo>
                <a:lnTo>
                  <a:pt x="84" y="628"/>
                </a:lnTo>
                <a:close/>
                <a:moveTo>
                  <a:pt x="84" y="354"/>
                </a:moveTo>
                <a:lnTo>
                  <a:pt x="84" y="557"/>
                </a:lnTo>
                <a:lnTo>
                  <a:pt x="676" y="557"/>
                </a:lnTo>
                <a:lnTo>
                  <a:pt x="676" y="354"/>
                </a:lnTo>
                <a:lnTo>
                  <a:pt x="84" y="354"/>
                </a:lnTo>
                <a:close/>
                <a:moveTo>
                  <a:pt x="1963" y="482"/>
                </a:moveTo>
                <a:lnTo>
                  <a:pt x="2021" y="553"/>
                </a:lnTo>
                <a:cubicBezTo>
                  <a:pt x="2000" y="568"/>
                  <a:pt x="1958" y="594"/>
                  <a:pt x="1893" y="632"/>
                </a:cubicBezTo>
                <a:cubicBezTo>
                  <a:pt x="1849" y="659"/>
                  <a:pt x="1815" y="679"/>
                  <a:pt x="1791" y="694"/>
                </a:cubicBezTo>
                <a:cubicBezTo>
                  <a:pt x="1859" y="753"/>
                  <a:pt x="1965" y="800"/>
                  <a:pt x="2109" y="836"/>
                </a:cubicBezTo>
                <a:cubicBezTo>
                  <a:pt x="2089" y="856"/>
                  <a:pt x="2070" y="883"/>
                  <a:pt x="2052" y="915"/>
                </a:cubicBezTo>
                <a:cubicBezTo>
                  <a:pt x="1849" y="856"/>
                  <a:pt x="1704" y="756"/>
                  <a:pt x="1619" y="615"/>
                </a:cubicBezTo>
                <a:lnTo>
                  <a:pt x="1619" y="818"/>
                </a:lnTo>
                <a:cubicBezTo>
                  <a:pt x="1624" y="924"/>
                  <a:pt x="1573" y="976"/>
                  <a:pt x="1464" y="973"/>
                </a:cubicBezTo>
                <a:cubicBezTo>
                  <a:pt x="1423" y="973"/>
                  <a:pt x="1381" y="973"/>
                  <a:pt x="1340" y="973"/>
                </a:cubicBezTo>
                <a:cubicBezTo>
                  <a:pt x="1337" y="937"/>
                  <a:pt x="1331" y="908"/>
                  <a:pt x="1322" y="884"/>
                </a:cubicBezTo>
                <a:cubicBezTo>
                  <a:pt x="1358" y="887"/>
                  <a:pt x="1403" y="889"/>
                  <a:pt x="1459" y="889"/>
                </a:cubicBezTo>
                <a:cubicBezTo>
                  <a:pt x="1515" y="892"/>
                  <a:pt x="1542" y="867"/>
                  <a:pt x="1539" y="814"/>
                </a:cubicBezTo>
                <a:lnTo>
                  <a:pt x="1539" y="447"/>
                </a:lnTo>
                <a:lnTo>
                  <a:pt x="1057" y="447"/>
                </a:lnTo>
                <a:lnTo>
                  <a:pt x="1057" y="376"/>
                </a:lnTo>
                <a:lnTo>
                  <a:pt x="1849" y="376"/>
                </a:lnTo>
                <a:lnTo>
                  <a:pt x="1849" y="261"/>
                </a:lnTo>
                <a:lnTo>
                  <a:pt x="1190" y="261"/>
                </a:lnTo>
                <a:lnTo>
                  <a:pt x="1190" y="190"/>
                </a:lnTo>
                <a:lnTo>
                  <a:pt x="1849" y="190"/>
                </a:lnTo>
                <a:lnTo>
                  <a:pt x="1849" y="75"/>
                </a:lnTo>
                <a:lnTo>
                  <a:pt x="1172" y="75"/>
                </a:lnTo>
                <a:lnTo>
                  <a:pt x="1172" y="5"/>
                </a:lnTo>
                <a:lnTo>
                  <a:pt x="1932" y="5"/>
                </a:lnTo>
                <a:lnTo>
                  <a:pt x="1932" y="376"/>
                </a:lnTo>
                <a:lnTo>
                  <a:pt x="2101" y="376"/>
                </a:lnTo>
                <a:lnTo>
                  <a:pt x="2101" y="447"/>
                </a:lnTo>
                <a:lnTo>
                  <a:pt x="1619" y="447"/>
                </a:lnTo>
                <a:lnTo>
                  <a:pt x="1619" y="482"/>
                </a:lnTo>
                <a:cubicBezTo>
                  <a:pt x="1654" y="544"/>
                  <a:pt x="1692" y="597"/>
                  <a:pt x="1733" y="641"/>
                </a:cubicBezTo>
                <a:cubicBezTo>
                  <a:pt x="1822" y="582"/>
                  <a:pt x="1899" y="529"/>
                  <a:pt x="1963" y="482"/>
                </a:cubicBezTo>
                <a:close/>
                <a:moveTo>
                  <a:pt x="1044" y="814"/>
                </a:moveTo>
                <a:cubicBezTo>
                  <a:pt x="1168" y="772"/>
                  <a:pt x="1318" y="716"/>
                  <a:pt x="1495" y="646"/>
                </a:cubicBezTo>
                <a:cubicBezTo>
                  <a:pt x="1501" y="672"/>
                  <a:pt x="1507" y="699"/>
                  <a:pt x="1513" y="725"/>
                </a:cubicBezTo>
                <a:cubicBezTo>
                  <a:pt x="1351" y="784"/>
                  <a:pt x="1205" y="839"/>
                  <a:pt x="1075" y="889"/>
                </a:cubicBezTo>
                <a:lnTo>
                  <a:pt x="1044" y="814"/>
                </a:lnTo>
                <a:close/>
                <a:moveTo>
                  <a:pt x="1190" y="473"/>
                </a:moveTo>
                <a:cubicBezTo>
                  <a:pt x="1202" y="482"/>
                  <a:pt x="1218" y="492"/>
                  <a:pt x="1238" y="504"/>
                </a:cubicBezTo>
                <a:cubicBezTo>
                  <a:pt x="1303" y="545"/>
                  <a:pt x="1356" y="581"/>
                  <a:pt x="1398" y="610"/>
                </a:cubicBezTo>
                <a:lnTo>
                  <a:pt x="1349" y="681"/>
                </a:lnTo>
                <a:cubicBezTo>
                  <a:pt x="1317" y="658"/>
                  <a:pt x="1272" y="627"/>
                  <a:pt x="1216" y="588"/>
                </a:cubicBezTo>
                <a:cubicBezTo>
                  <a:pt x="1184" y="565"/>
                  <a:pt x="1159" y="547"/>
                  <a:pt x="1141" y="535"/>
                </a:cubicBezTo>
                <a:lnTo>
                  <a:pt x="1190" y="473"/>
                </a:lnTo>
                <a:close/>
              </a:path>
            </a:pathLst>
          </a:custGeom>
          <a:solidFill>
            <a:schemeClr val="tx1"/>
          </a:solidFill>
          <a:ln>
            <a:noFill/>
          </a:ln>
          <a:extLst>
            <a:ext uri="{91240B29-F687-4F45-9708-019B960494DF}">
              <a14:hiddenLine xmlns:a14="http://schemas.microsoft.com/office/drawing/2010/main" w="9525">
                <a:solidFill>
                  <a:srgbClr val="000000"/>
                </a:solidFill>
                <a:round/>
              </a14:hiddenLine>
            </a:ext>
          </a:extLst>
        </p:spPr>
        <p:txBody>
          <a:bodyPr/>
          <a:lstStyle/>
          <a:p>
            <a:endParaRPr lang="zh-CN" altLang="en-US"/>
          </a:p>
        </p:txBody>
      </p:sp>
      <p:sp>
        <p:nvSpPr>
          <p:cNvPr id="8" name="Freeform 24"/>
          <p:cNvSpPr/>
          <p:nvPr>
            <p:custDataLst>
              <p:tags r:id="rId1"/>
            </p:custDataLst>
          </p:nvPr>
        </p:nvSpPr>
        <p:spPr bwMode="auto">
          <a:xfrm>
            <a:off x="4660081" y="3140569"/>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9" name="Freeform 26"/>
          <p:cNvSpPr/>
          <p:nvPr>
            <p:custDataLst>
              <p:tags r:id="rId2"/>
            </p:custDataLst>
          </p:nvPr>
        </p:nvSpPr>
        <p:spPr bwMode="auto">
          <a:xfrm>
            <a:off x="4660081" y="3961463"/>
            <a:ext cx="3567476" cy="535572"/>
          </a:xfrm>
          <a:custGeom>
            <a:avLst/>
            <a:gdLst>
              <a:gd name="T0" fmla="*/ 91 w 8683"/>
              <a:gd name="T1" fmla="*/ 0 h 865"/>
              <a:gd name="T2" fmla="*/ 8591 w 8683"/>
              <a:gd name="T3" fmla="*/ 0 h 865"/>
              <a:gd name="T4" fmla="*/ 8683 w 8683"/>
              <a:gd name="T5" fmla="*/ 91 h 865"/>
              <a:gd name="T6" fmla="*/ 8683 w 8683"/>
              <a:gd name="T7" fmla="*/ 774 h 865"/>
              <a:gd name="T8" fmla="*/ 8591 w 8683"/>
              <a:gd name="T9" fmla="*/ 865 h 865"/>
              <a:gd name="T10" fmla="*/ 91 w 8683"/>
              <a:gd name="T11" fmla="*/ 865 h 865"/>
              <a:gd name="T12" fmla="*/ 0 w 8683"/>
              <a:gd name="T13" fmla="*/ 774 h 865"/>
              <a:gd name="T14" fmla="*/ 0 w 8683"/>
              <a:gd name="T15" fmla="*/ 91 h 865"/>
              <a:gd name="T16" fmla="*/ 91 w 8683"/>
              <a:gd name="T17" fmla="*/ 0 h 8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5">
                <a:moveTo>
                  <a:pt x="91" y="0"/>
                </a:moveTo>
                <a:lnTo>
                  <a:pt x="8591" y="0"/>
                </a:lnTo>
                <a:cubicBezTo>
                  <a:pt x="8642" y="0"/>
                  <a:pt x="8683" y="41"/>
                  <a:pt x="8683" y="91"/>
                </a:cubicBezTo>
                <a:lnTo>
                  <a:pt x="8683" y="774"/>
                </a:lnTo>
                <a:cubicBezTo>
                  <a:pt x="8683" y="824"/>
                  <a:pt x="8642" y="865"/>
                  <a:pt x="8591" y="865"/>
                </a:cubicBezTo>
                <a:lnTo>
                  <a:pt x="91" y="865"/>
                </a:lnTo>
                <a:cubicBezTo>
                  <a:pt x="41" y="865"/>
                  <a:pt x="0" y="824"/>
                  <a:pt x="0" y="774"/>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0" name="Freeform 27">
            <a:hlinkClick r:id="" action="ppaction://noaction"/>
          </p:cNvPr>
          <p:cNvSpPr/>
          <p:nvPr>
            <p:custDataLst>
              <p:tags r:id="rId3"/>
            </p:custDataLst>
          </p:nvPr>
        </p:nvSpPr>
        <p:spPr bwMode="auto">
          <a:xfrm>
            <a:off x="4075713" y="4796620"/>
            <a:ext cx="532002" cy="535572"/>
          </a:xfrm>
          <a:custGeom>
            <a:avLst/>
            <a:gdLst>
              <a:gd name="T0" fmla="*/ 91 w 865"/>
              <a:gd name="T1" fmla="*/ 0 h 866"/>
              <a:gd name="T2" fmla="*/ 774 w 865"/>
              <a:gd name="T3" fmla="*/ 0 h 866"/>
              <a:gd name="T4" fmla="*/ 865 w 865"/>
              <a:gd name="T5" fmla="*/ 91 h 866"/>
              <a:gd name="T6" fmla="*/ 865 w 865"/>
              <a:gd name="T7" fmla="*/ 775 h 866"/>
              <a:gd name="T8" fmla="*/ 774 w 865"/>
              <a:gd name="T9" fmla="*/ 866 h 866"/>
              <a:gd name="T10" fmla="*/ 91 w 865"/>
              <a:gd name="T11" fmla="*/ 866 h 866"/>
              <a:gd name="T12" fmla="*/ 0 w 865"/>
              <a:gd name="T13" fmla="*/ 775 h 866"/>
              <a:gd name="T14" fmla="*/ 0 w 865"/>
              <a:gd name="T15" fmla="*/ 91 h 866"/>
              <a:gd name="T16" fmla="*/ 91 w 865"/>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5" h="866">
                <a:moveTo>
                  <a:pt x="91" y="0"/>
                </a:moveTo>
                <a:lnTo>
                  <a:pt x="774" y="0"/>
                </a:lnTo>
                <a:cubicBezTo>
                  <a:pt x="824" y="0"/>
                  <a:pt x="865" y="41"/>
                  <a:pt x="865" y="91"/>
                </a:cubicBezTo>
                <a:lnTo>
                  <a:pt x="865" y="775"/>
                </a:lnTo>
                <a:cubicBezTo>
                  <a:pt x="865" y="825"/>
                  <a:pt x="824" y="866"/>
                  <a:pt x="774" y="866"/>
                </a:cubicBezTo>
                <a:lnTo>
                  <a:pt x="91" y="866"/>
                </a:lnTo>
                <a:cubicBezTo>
                  <a:pt x="41" y="866"/>
                  <a:pt x="0" y="825"/>
                  <a:pt x="0" y="775"/>
                </a:cubicBezTo>
                <a:lnTo>
                  <a:pt x="0" y="91"/>
                </a:lnTo>
                <a:cubicBezTo>
                  <a:pt x="0" y="41"/>
                  <a:pt x="41" y="0"/>
                  <a:pt x="91" y="0"/>
                </a:cubicBezTo>
                <a:close/>
              </a:path>
            </a:pathLst>
          </a:custGeom>
          <a:solidFill>
            <a:schemeClr val="bg1"/>
          </a:solidFill>
          <a:ln>
            <a:noFill/>
          </a:ln>
        </p:spPr>
        <p:txBody>
          <a:bodyPr vert="horz" wrap="square" lIns="68553" tIns="34277" rIns="68553" bIns="34277" numCol="1" anchor="t" anchorCtr="0" compatLnSpc="1"/>
          <a:lstStyle/>
          <a:p>
            <a:endParaRPr lang="zh-CN" altLang="en-US"/>
          </a:p>
        </p:txBody>
      </p:sp>
      <p:sp>
        <p:nvSpPr>
          <p:cNvPr id="11" name="Freeform 28"/>
          <p:cNvSpPr/>
          <p:nvPr>
            <p:custDataLst>
              <p:tags r:id="rId4"/>
            </p:custDataLst>
          </p:nvPr>
        </p:nvSpPr>
        <p:spPr bwMode="auto">
          <a:xfrm>
            <a:off x="4660081" y="4796620"/>
            <a:ext cx="3567476" cy="535572"/>
          </a:xfrm>
          <a:custGeom>
            <a:avLst/>
            <a:gdLst>
              <a:gd name="T0" fmla="*/ 91 w 8683"/>
              <a:gd name="T1" fmla="*/ 0 h 866"/>
              <a:gd name="T2" fmla="*/ 8591 w 8683"/>
              <a:gd name="T3" fmla="*/ 0 h 866"/>
              <a:gd name="T4" fmla="*/ 8683 w 8683"/>
              <a:gd name="T5" fmla="*/ 91 h 866"/>
              <a:gd name="T6" fmla="*/ 8683 w 8683"/>
              <a:gd name="T7" fmla="*/ 775 h 866"/>
              <a:gd name="T8" fmla="*/ 8591 w 8683"/>
              <a:gd name="T9" fmla="*/ 866 h 866"/>
              <a:gd name="T10" fmla="*/ 91 w 8683"/>
              <a:gd name="T11" fmla="*/ 866 h 866"/>
              <a:gd name="T12" fmla="*/ 0 w 8683"/>
              <a:gd name="T13" fmla="*/ 775 h 866"/>
              <a:gd name="T14" fmla="*/ 0 w 8683"/>
              <a:gd name="T15" fmla="*/ 91 h 866"/>
              <a:gd name="T16" fmla="*/ 91 w 8683"/>
              <a:gd name="T17" fmla="*/ 0 h 8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8683" h="866">
                <a:moveTo>
                  <a:pt x="91" y="0"/>
                </a:moveTo>
                <a:lnTo>
                  <a:pt x="8591" y="0"/>
                </a:lnTo>
                <a:cubicBezTo>
                  <a:pt x="8642" y="0"/>
                  <a:pt x="8683" y="41"/>
                  <a:pt x="8683" y="91"/>
                </a:cubicBezTo>
                <a:lnTo>
                  <a:pt x="8683" y="775"/>
                </a:lnTo>
                <a:cubicBezTo>
                  <a:pt x="8683" y="825"/>
                  <a:pt x="8642" y="866"/>
                  <a:pt x="8591" y="866"/>
                </a:cubicBezTo>
                <a:lnTo>
                  <a:pt x="91" y="866"/>
                </a:lnTo>
                <a:cubicBezTo>
                  <a:pt x="41" y="866"/>
                  <a:pt x="0" y="825"/>
                  <a:pt x="0" y="775"/>
                </a:cubicBezTo>
                <a:lnTo>
                  <a:pt x="0" y="91"/>
                </a:lnTo>
                <a:cubicBezTo>
                  <a:pt x="0" y="41"/>
                  <a:pt x="41" y="0"/>
                  <a:pt x="91" y="0"/>
                </a:cubicBezTo>
                <a:close/>
              </a:path>
            </a:pathLst>
          </a:custGeom>
          <a:solidFill>
            <a:srgbClr val="FFFFFF"/>
          </a:solidFill>
          <a:ln w="9525" cap="flat">
            <a:solidFill>
              <a:schemeClr val="tx1">
                <a:lumMod val="50000"/>
                <a:lumOff val="50000"/>
              </a:schemeClr>
            </a:solidFill>
            <a:prstDash val="solid"/>
            <a:miter lim="800000"/>
          </a:ln>
        </p:spPr>
        <p:txBody>
          <a:bodyPr vert="horz" wrap="square" lIns="68553" tIns="34277" rIns="68553" bIns="34277" numCol="1" anchor="t" anchorCtr="0" compatLnSpc="1"/>
          <a:lstStyle/>
          <a:p>
            <a:endParaRPr lang="zh-CN" altLang="en-US"/>
          </a:p>
        </p:txBody>
      </p:sp>
      <p:sp>
        <p:nvSpPr>
          <p:cNvPr id="13" name="TextBox 47"/>
          <p:cNvSpPr txBox="1"/>
          <p:nvPr>
            <p:custDataLst>
              <p:tags r:id="rId5"/>
            </p:custDataLst>
          </p:nvPr>
        </p:nvSpPr>
        <p:spPr>
          <a:xfrm>
            <a:off x="4784388" y="3189149"/>
            <a:ext cx="3136940" cy="430887"/>
          </a:xfrm>
          <a:prstGeom prst="rect">
            <a:avLst/>
          </a:prstGeom>
          <a:noFill/>
        </p:spPr>
        <p:txBody>
          <a:bodyPr wrap="square" rtlCol="0">
            <a:spAutoFit/>
          </a:bodyPr>
          <a:lstStyle/>
          <a:p>
            <a:r>
              <a:rPr lang="en-US" altLang="zh-CN" sz="2200" b="1" dirty="0">
                <a:solidFill>
                  <a:schemeClr val="tx2">
                    <a:lumMod val="75000"/>
                    <a:lumOff val="25000"/>
                  </a:schemeClr>
                </a:solidFill>
                <a:latin typeface="微软雅黑" panose="020B0503020204020204" pitchFamily="34" charset="-122"/>
                <a:ea typeface="微软雅黑" panose="020B0503020204020204" pitchFamily="34" charset="-122"/>
              </a:rPr>
              <a:t>5.1 </a:t>
            </a:r>
            <a:r>
              <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rPr>
              <a:t>动态规划法概述</a:t>
            </a:r>
            <a:endParaRPr lang="zh-CN" altLang="en-US" sz="2200" b="1" dirty="0">
              <a:solidFill>
                <a:schemeClr val="tx2">
                  <a:lumMod val="75000"/>
                  <a:lumOff val="25000"/>
                </a:schemeClr>
              </a:solidFill>
              <a:latin typeface="微软雅黑" panose="020B0503020204020204" pitchFamily="34" charset="-122"/>
              <a:ea typeface="微软雅黑" panose="020B0503020204020204" pitchFamily="34" charset="-122"/>
            </a:endParaRPr>
          </a:p>
        </p:txBody>
      </p:sp>
      <p:sp>
        <p:nvSpPr>
          <p:cNvPr id="14" name="TextBox 48"/>
          <p:cNvSpPr txBox="1"/>
          <p:nvPr>
            <p:custDataLst>
              <p:tags r:id="rId6"/>
            </p:custDataLst>
          </p:nvPr>
        </p:nvSpPr>
        <p:spPr>
          <a:xfrm>
            <a:off x="4784388" y="4054686"/>
            <a:ext cx="3136940"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5.2 </a:t>
            </a:r>
            <a:r>
              <a:rPr lang="zh-CN" altLang="en-US" sz="2200" dirty="0">
                <a:solidFill>
                  <a:schemeClr val="tx2">
                    <a:lumMod val="75000"/>
                    <a:lumOff val="25000"/>
                  </a:schemeClr>
                </a:solidFill>
              </a:rPr>
              <a:t>动态规划法的案例</a:t>
            </a:r>
            <a:endParaRPr lang="zh-CN" altLang="en-US" sz="2200" dirty="0">
              <a:solidFill>
                <a:schemeClr val="tx2">
                  <a:lumMod val="75000"/>
                  <a:lumOff val="25000"/>
                </a:schemeClr>
              </a:solidFill>
            </a:endParaRPr>
          </a:p>
        </p:txBody>
      </p:sp>
      <p:sp>
        <p:nvSpPr>
          <p:cNvPr id="15" name="TextBox 49"/>
          <p:cNvSpPr txBox="1"/>
          <p:nvPr>
            <p:custDataLst>
              <p:tags r:id="rId7"/>
            </p:custDataLst>
          </p:nvPr>
        </p:nvSpPr>
        <p:spPr>
          <a:xfrm>
            <a:off x="4784388" y="4840885"/>
            <a:ext cx="3744416" cy="429895"/>
          </a:xfrm>
          <a:prstGeom prst="rect">
            <a:avLst/>
          </a:prstGeom>
          <a:noFill/>
        </p:spPr>
        <p:txBody>
          <a:bodyPr wrap="square" rtlCol="0">
            <a:spAutoFit/>
          </a:bodyPr>
          <a:lstStyle>
            <a:defPPr>
              <a:defRPr lang="zh-CN"/>
            </a:defPPr>
            <a:lvl1pPr>
              <a:defRPr sz="3200" b="1">
                <a:solidFill>
                  <a:schemeClr val="accent1"/>
                </a:solidFill>
                <a:latin typeface="微软雅黑" panose="020B0503020204020204" pitchFamily="34" charset="-122"/>
                <a:ea typeface="微软雅黑" panose="020B0503020204020204" pitchFamily="34" charset="-122"/>
              </a:defRPr>
            </a:lvl1pPr>
          </a:lstStyle>
          <a:p>
            <a:r>
              <a:rPr lang="en-US" altLang="zh-CN" sz="2200" dirty="0">
                <a:solidFill>
                  <a:schemeClr val="tx2">
                    <a:lumMod val="75000"/>
                    <a:lumOff val="25000"/>
                  </a:schemeClr>
                </a:solidFill>
              </a:rPr>
              <a:t>5.3 </a:t>
            </a:r>
            <a:r>
              <a:rPr lang="zh-CN" altLang="en-US" sz="2200" dirty="0">
                <a:solidFill>
                  <a:schemeClr val="tx2">
                    <a:lumMod val="75000"/>
                    <a:lumOff val="25000"/>
                  </a:schemeClr>
                </a:solidFill>
              </a:rPr>
              <a:t>动态规划法的练习</a:t>
            </a:r>
            <a:endParaRPr lang="zh-CN" altLang="en-US" sz="2200" dirty="0">
              <a:solidFill>
                <a:schemeClr val="tx2">
                  <a:lumMod val="75000"/>
                  <a:lumOff val="25000"/>
                </a:schemeClr>
              </a:solidFill>
            </a:endParaRPr>
          </a:p>
        </p:txBody>
      </p:sp>
      <p:pic>
        <p:nvPicPr>
          <p:cNvPr id="17" name="Picture 2" descr="E:\我的文档\Nipic_6852949_20110401101000478152.png"/>
          <p:cNvPicPr>
            <a:picLocks noChangeAspect="1" noChangeArrowheads="1"/>
          </p:cNvPicPr>
          <p:nvPr/>
        </p:nvPicPr>
        <p:blipFill rotWithShape="1">
          <a:blip r:embed="rId8" cstate="print">
            <a:extLst>
              <a:ext uri="{28A0092B-C50C-407E-A947-70E740481C1C}">
                <a14:useLocalDpi xmlns:a14="http://schemas.microsoft.com/office/drawing/2010/main" val="0"/>
              </a:ext>
            </a:extLst>
          </a:blip>
          <a:srcRect/>
          <a:stretch>
            <a:fillRect/>
          </a:stretch>
        </p:blipFill>
        <p:spPr bwMode="auto">
          <a:xfrm>
            <a:off x="582589" y="2854504"/>
            <a:ext cx="2680498" cy="2947378"/>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18" name="Freeform 41"/>
          <p:cNvSpPr>
            <a:spLocks noEditPoints="1"/>
          </p:cNvSpPr>
          <p:nvPr>
            <p:custDataLst>
              <p:tags r:id="rId9"/>
            </p:custDataLst>
          </p:nvPr>
        </p:nvSpPr>
        <p:spPr bwMode="auto">
          <a:xfrm>
            <a:off x="4161356" y="3245642"/>
            <a:ext cx="360714" cy="356368"/>
          </a:xfrm>
          <a:custGeom>
            <a:avLst/>
            <a:gdLst>
              <a:gd name="T0" fmla="*/ 471 w 549"/>
              <a:gd name="T1" fmla="*/ 540 h 540"/>
              <a:gd name="T2" fmla="*/ 335 w 549"/>
              <a:gd name="T3" fmla="*/ 436 h 540"/>
              <a:gd name="T4" fmla="*/ 0 w 549"/>
              <a:gd name="T5" fmla="*/ 231 h 540"/>
              <a:gd name="T6" fmla="*/ 461 w 549"/>
              <a:gd name="T7" fmla="*/ 231 h 540"/>
              <a:gd name="T8" fmla="*/ 521 w 549"/>
              <a:gd name="T9" fmla="*/ 419 h 540"/>
              <a:gd name="T10" fmla="*/ 297 w 549"/>
              <a:gd name="T11" fmla="*/ 262 h 540"/>
              <a:gd name="T12" fmla="*/ 284 w 549"/>
              <a:gd name="T13" fmla="*/ 259 h 540"/>
              <a:gd name="T14" fmla="*/ 273 w 549"/>
              <a:gd name="T15" fmla="*/ 311 h 540"/>
              <a:gd name="T16" fmla="*/ 297 w 549"/>
              <a:gd name="T17" fmla="*/ 318 h 540"/>
              <a:gd name="T18" fmla="*/ 291 w 549"/>
              <a:gd name="T19" fmla="*/ 336 h 540"/>
              <a:gd name="T20" fmla="*/ 234 w 549"/>
              <a:gd name="T21" fmla="*/ 351 h 540"/>
              <a:gd name="T22" fmla="*/ 230 w 549"/>
              <a:gd name="T23" fmla="*/ 350 h 540"/>
              <a:gd name="T24" fmla="*/ 168 w 549"/>
              <a:gd name="T25" fmla="*/ 327 h 540"/>
              <a:gd name="T26" fmla="*/ 191 w 549"/>
              <a:gd name="T27" fmla="*/ 312 h 540"/>
              <a:gd name="T28" fmla="*/ 208 w 549"/>
              <a:gd name="T29" fmla="*/ 281 h 540"/>
              <a:gd name="T30" fmla="*/ 180 w 549"/>
              <a:gd name="T31" fmla="*/ 260 h 540"/>
              <a:gd name="T32" fmla="*/ 168 w 549"/>
              <a:gd name="T33" fmla="*/ 236 h 540"/>
              <a:gd name="T34" fmla="*/ 178 w 549"/>
              <a:gd name="T35" fmla="*/ 228 h 540"/>
              <a:gd name="T36" fmla="*/ 288 w 549"/>
              <a:gd name="T37" fmla="*/ 229 h 540"/>
              <a:gd name="T38" fmla="*/ 297 w 549"/>
              <a:gd name="T39" fmla="*/ 237 h 540"/>
              <a:gd name="T40" fmla="*/ 386 w 549"/>
              <a:gd name="T41" fmla="*/ 289 h 540"/>
              <a:gd name="T42" fmla="*/ 317 w 549"/>
              <a:gd name="T43" fmla="*/ 215 h 540"/>
              <a:gd name="T44" fmla="*/ 306 w 549"/>
              <a:gd name="T45" fmla="*/ 209 h 540"/>
              <a:gd name="T46" fmla="*/ 164 w 549"/>
              <a:gd name="T47" fmla="*/ 208 h 540"/>
              <a:gd name="T48" fmla="*/ 150 w 549"/>
              <a:gd name="T49" fmla="*/ 214 h 540"/>
              <a:gd name="T50" fmla="*/ 81 w 549"/>
              <a:gd name="T51" fmla="*/ 288 h 540"/>
              <a:gd name="T52" fmla="*/ 78 w 549"/>
              <a:gd name="T53" fmla="*/ 318 h 540"/>
              <a:gd name="T54" fmla="*/ 102 w 549"/>
              <a:gd name="T55" fmla="*/ 333 h 540"/>
              <a:gd name="T56" fmla="*/ 156 w 549"/>
              <a:gd name="T57" fmla="*/ 320 h 540"/>
              <a:gd name="T58" fmla="*/ 164 w 549"/>
              <a:gd name="T59" fmla="*/ 369 h 540"/>
              <a:gd name="T60" fmla="*/ 310 w 549"/>
              <a:gd name="T61" fmla="*/ 361 h 540"/>
              <a:gd name="T62" fmla="*/ 362 w 549"/>
              <a:gd name="T63" fmla="*/ 333 h 540"/>
              <a:gd name="T64" fmla="*/ 366 w 549"/>
              <a:gd name="T65" fmla="*/ 334 h 540"/>
              <a:gd name="T66" fmla="*/ 386 w 549"/>
              <a:gd name="T67" fmla="*/ 289 h 540"/>
              <a:gd name="T68" fmla="*/ 295 w 549"/>
              <a:gd name="T69" fmla="*/ 138 h 540"/>
              <a:gd name="T70" fmla="*/ 171 w 549"/>
              <a:gd name="T71" fmla="*/ 138 h 540"/>
              <a:gd name="T72" fmla="*/ 231 w 549"/>
              <a:gd name="T73" fmla="*/ 432 h 540"/>
              <a:gd name="T74" fmla="*/ 432 w 549"/>
              <a:gd name="T75" fmla="*/ 231 h 540"/>
              <a:gd name="T76" fmla="*/ 29 w 549"/>
              <a:gd name="T77" fmla="*/ 231 h 5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549" h="540">
                <a:moveTo>
                  <a:pt x="521" y="520"/>
                </a:moveTo>
                <a:cubicBezTo>
                  <a:pt x="507" y="534"/>
                  <a:pt x="489" y="540"/>
                  <a:pt x="471" y="540"/>
                </a:cubicBezTo>
                <a:cubicBezTo>
                  <a:pt x="452" y="540"/>
                  <a:pt x="434" y="534"/>
                  <a:pt x="420" y="520"/>
                </a:cubicBezTo>
                <a:lnTo>
                  <a:pt x="335" y="436"/>
                </a:lnTo>
                <a:cubicBezTo>
                  <a:pt x="304" y="452"/>
                  <a:pt x="268" y="462"/>
                  <a:pt x="231" y="462"/>
                </a:cubicBezTo>
                <a:cubicBezTo>
                  <a:pt x="103" y="462"/>
                  <a:pt x="0" y="358"/>
                  <a:pt x="0" y="231"/>
                </a:cubicBezTo>
                <a:cubicBezTo>
                  <a:pt x="0" y="103"/>
                  <a:pt x="103" y="0"/>
                  <a:pt x="231" y="0"/>
                </a:cubicBezTo>
                <a:cubicBezTo>
                  <a:pt x="358" y="0"/>
                  <a:pt x="461" y="103"/>
                  <a:pt x="461" y="231"/>
                </a:cubicBezTo>
                <a:cubicBezTo>
                  <a:pt x="461" y="269"/>
                  <a:pt x="452" y="304"/>
                  <a:pt x="436" y="336"/>
                </a:cubicBezTo>
                <a:lnTo>
                  <a:pt x="521" y="419"/>
                </a:lnTo>
                <a:cubicBezTo>
                  <a:pt x="549" y="447"/>
                  <a:pt x="549" y="492"/>
                  <a:pt x="521" y="520"/>
                </a:cubicBezTo>
                <a:close/>
                <a:moveTo>
                  <a:pt x="297" y="262"/>
                </a:moveTo>
                <a:lnTo>
                  <a:pt x="286" y="260"/>
                </a:lnTo>
                <a:cubicBezTo>
                  <a:pt x="285" y="259"/>
                  <a:pt x="285" y="259"/>
                  <a:pt x="284" y="259"/>
                </a:cubicBezTo>
                <a:cubicBezTo>
                  <a:pt x="272" y="258"/>
                  <a:pt x="260" y="267"/>
                  <a:pt x="257" y="281"/>
                </a:cubicBezTo>
                <a:cubicBezTo>
                  <a:pt x="255" y="294"/>
                  <a:pt x="261" y="307"/>
                  <a:pt x="273" y="311"/>
                </a:cubicBezTo>
                <a:cubicBezTo>
                  <a:pt x="273" y="312"/>
                  <a:pt x="274" y="312"/>
                  <a:pt x="274" y="312"/>
                </a:cubicBezTo>
                <a:lnTo>
                  <a:pt x="297" y="318"/>
                </a:lnTo>
                <a:lnTo>
                  <a:pt x="297" y="328"/>
                </a:lnTo>
                <a:cubicBezTo>
                  <a:pt x="297" y="331"/>
                  <a:pt x="295" y="335"/>
                  <a:pt x="291" y="336"/>
                </a:cubicBezTo>
                <a:lnTo>
                  <a:pt x="236" y="351"/>
                </a:lnTo>
                <a:cubicBezTo>
                  <a:pt x="235" y="351"/>
                  <a:pt x="234" y="351"/>
                  <a:pt x="234" y="351"/>
                </a:cubicBezTo>
                <a:cubicBezTo>
                  <a:pt x="233" y="351"/>
                  <a:pt x="232" y="351"/>
                  <a:pt x="231" y="351"/>
                </a:cubicBezTo>
                <a:cubicBezTo>
                  <a:pt x="231" y="351"/>
                  <a:pt x="230" y="351"/>
                  <a:pt x="230" y="350"/>
                </a:cubicBezTo>
                <a:lnTo>
                  <a:pt x="174" y="335"/>
                </a:lnTo>
                <a:cubicBezTo>
                  <a:pt x="171" y="334"/>
                  <a:pt x="168" y="331"/>
                  <a:pt x="168" y="327"/>
                </a:cubicBezTo>
                <a:lnTo>
                  <a:pt x="168" y="318"/>
                </a:lnTo>
                <a:lnTo>
                  <a:pt x="191" y="312"/>
                </a:lnTo>
                <a:cubicBezTo>
                  <a:pt x="192" y="312"/>
                  <a:pt x="192" y="312"/>
                  <a:pt x="193" y="311"/>
                </a:cubicBezTo>
                <a:cubicBezTo>
                  <a:pt x="204" y="307"/>
                  <a:pt x="211" y="294"/>
                  <a:pt x="208" y="281"/>
                </a:cubicBezTo>
                <a:cubicBezTo>
                  <a:pt x="205" y="267"/>
                  <a:pt x="193" y="258"/>
                  <a:pt x="181" y="259"/>
                </a:cubicBezTo>
                <a:cubicBezTo>
                  <a:pt x="181" y="259"/>
                  <a:pt x="180" y="259"/>
                  <a:pt x="180" y="260"/>
                </a:cubicBezTo>
                <a:lnTo>
                  <a:pt x="168" y="262"/>
                </a:lnTo>
                <a:lnTo>
                  <a:pt x="168" y="236"/>
                </a:lnTo>
                <a:cubicBezTo>
                  <a:pt x="168" y="233"/>
                  <a:pt x="169" y="231"/>
                  <a:pt x="171" y="229"/>
                </a:cubicBezTo>
                <a:cubicBezTo>
                  <a:pt x="173" y="228"/>
                  <a:pt x="176" y="227"/>
                  <a:pt x="178" y="228"/>
                </a:cubicBezTo>
                <a:lnTo>
                  <a:pt x="234" y="243"/>
                </a:lnTo>
                <a:lnTo>
                  <a:pt x="288" y="229"/>
                </a:lnTo>
                <a:cubicBezTo>
                  <a:pt x="290" y="228"/>
                  <a:pt x="292" y="228"/>
                  <a:pt x="294" y="230"/>
                </a:cubicBezTo>
                <a:cubicBezTo>
                  <a:pt x="296" y="232"/>
                  <a:pt x="297" y="234"/>
                  <a:pt x="297" y="237"/>
                </a:cubicBezTo>
                <a:lnTo>
                  <a:pt x="297" y="262"/>
                </a:lnTo>
                <a:close/>
                <a:moveTo>
                  <a:pt x="386" y="289"/>
                </a:moveTo>
                <a:cubicBezTo>
                  <a:pt x="385" y="289"/>
                  <a:pt x="385" y="288"/>
                  <a:pt x="385" y="288"/>
                </a:cubicBezTo>
                <a:lnTo>
                  <a:pt x="317" y="215"/>
                </a:lnTo>
                <a:cubicBezTo>
                  <a:pt x="316" y="215"/>
                  <a:pt x="316" y="214"/>
                  <a:pt x="316" y="214"/>
                </a:cubicBezTo>
                <a:cubicBezTo>
                  <a:pt x="313" y="211"/>
                  <a:pt x="309" y="210"/>
                  <a:pt x="306" y="209"/>
                </a:cubicBezTo>
                <a:cubicBezTo>
                  <a:pt x="305" y="208"/>
                  <a:pt x="304" y="208"/>
                  <a:pt x="302" y="208"/>
                </a:cubicBezTo>
                <a:lnTo>
                  <a:pt x="164" y="208"/>
                </a:lnTo>
                <a:cubicBezTo>
                  <a:pt x="163" y="208"/>
                  <a:pt x="163" y="208"/>
                  <a:pt x="163" y="208"/>
                </a:cubicBezTo>
                <a:cubicBezTo>
                  <a:pt x="158" y="209"/>
                  <a:pt x="153" y="211"/>
                  <a:pt x="150" y="214"/>
                </a:cubicBezTo>
                <a:cubicBezTo>
                  <a:pt x="149" y="214"/>
                  <a:pt x="149" y="215"/>
                  <a:pt x="149" y="215"/>
                </a:cubicBezTo>
                <a:lnTo>
                  <a:pt x="81" y="288"/>
                </a:lnTo>
                <a:cubicBezTo>
                  <a:pt x="81" y="288"/>
                  <a:pt x="80" y="289"/>
                  <a:pt x="80" y="289"/>
                </a:cubicBezTo>
                <a:cubicBezTo>
                  <a:pt x="74" y="297"/>
                  <a:pt x="73" y="309"/>
                  <a:pt x="78" y="318"/>
                </a:cubicBezTo>
                <a:cubicBezTo>
                  <a:pt x="82" y="327"/>
                  <a:pt x="90" y="334"/>
                  <a:pt x="99" y="334"/>
                </a:cubicBezTo>
                <a:cubicBezTo>
                  <a:pt x="100" y="334"/>
                  <a:pt x="101" y="334"/>
                  <a:pt x="102" y="333"/>
                </a:cubicBezTo>
                <a:cubicBezTo>
                  <a:pt x="103" y="333"/>
                  <a:pt x="103" y="333"/>
                  <a:pt x="104" y="333"/>
                </a:cubicBezTo>
                <a:lnTo>
                  <a:pt x="156" y="320"/>
                </a:lnTo>
                <a:lnTo>
                  <a:pt x="156" y="361"/>
                </a:lnTo>
                <a:cubicBezTo>
                  <a:pt x="156" y="365"/>
                  <a:pt x="160" y="369"/>
                  <a:pt x="164" y="369"/>
                </a:cubicBezTo>
                <a:lnTo>
                  <a:pt x="302" y="369"/>
                </a:lnTo>
                <a:cubicBezTo>
                  <a:pt x="307" y="369"/>
                  <a:pt x="310" y="365"/>
                  <a:pt x="310" y="361"/>
                </a:cubicBezTo>
                <a:lnTo>
                  <a:pt x="310" y="321"/>
                </a:lnTo>
                <a:lnTo>
                  <a:pt x="362" y="333"/>
                </a:lnTo>
                <a:cubicBezTo>
                  <a:pt x="362" y="333"/>
                  <a:pt x="363" y="333"/>
                  <a:pt x="363" y="333"/>
                </a:cubicBezTo>
                <a:cubicBezTo>
                  <a:pt x="364" y="334"/>
                  <a:pt x="365" y="334"/>
                  <a:pt x="366" y="334"/>
                </a:cubicBezTo>
                <a:cubicBezTo>
                  <a:pt x="374" y="334"/>
                  <a:pt x="381" y="329"/>
                  <a:pt x="386" y="322"/>
                </a:cubicBezTo>
                <a:cubicBezTo>
                  <a:pt x="393" y="312"/>
                  <a:pt x="393" y="299"/>
                  <a:pt x="386" y="289"/>
                </a:cubicBezTo>
                <a:close/>
                <a:moveTo>
                  <a:pt x="233" y="204"/>
                </a:moveTo>
                <a:cubicBezTo>
                  <a:pt x="267" y="204"/>
                  <a:pt x="295" y="174"/>
                  <a:pt x="295" y="138"/>
                </a:cubicBezTo>
                <a:cubicBezTo>
                  <a:pt x="295" y="101"/>
                  <a:pt x="267" y="71"/>
                  <a:pt x="233" y="71"/>
                </a:cubicBezTo>
                <a:cubicBezTo>
                  <a:pt x="198" y="71"/>
                  <a:pt x="171" y="101"/>
                  <a:pt x="171" y="138"/>
                </a:cubicBezTo>
                <a:cubicBezTo>
                  <a:pt x="171" y="174"/>
                  <a:pt x="198" y="204"/>
                  <a:pt x="233" y="204"/>
                </a:cubicBezTo>
                <a:close/>
                <a:moveTo>
                  <a:pt x="231" y="432"/>
                </a:moveTo>
                <a:lnTo>
                  <a:pt x="231" y="432"/>
                </a:lnTo>
                <a:cubicBezTo>
                  <a:pt x="342" y="432"/>
                  <a:pt x="432" y="342"/>
                  <a:pt x="432" y="231"/>
                </a:cubicBezTo>
                <a:cubicBezTo>
                  <a:pt x="432" y="120"/>
                  <a:pt x="342" y="30"/>
                  <a:pt x="231" y="30"/>
                </a:cubicBezTo>
                <a:cubicBezTo>
                  <a:pt x="119" y="30"/>
                  <a:pt x="29" y="120"/>
                  <a:pt x="29" y="231"/>
                </a:cubicBezTo>
                <a:cubicBezTo>
                  <a:pt x="29" y="342"/>
                  <a:pt x="119" y="432"/>
                  <a:pt x="231" y="432"/>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19" name="Freeform 47"/>
          <p:cNvSpPr>
            <a:spLocks noEditPoints="1"/>
          </p:cNvSpPr>
          <p:nvPr>
            <p:custDataLst>
              <p:tags r:id="rId10"/>
            </p:custDataLst>
          </p:nvPr>
        </p:nvSpPr>
        <p:spPr bwMode="auto">
          <a:xfrm>
            <a:off x="4213508" y="4054685"/>
            <a:ext cx="308562" cy="349125"/>
          </a:xfrm>
          <a:custGeom>
            <a:avLst/>
            <a:gdLst>
              <a:gd name="T0" fmla="*/ 298 w 467"/>
              <a:gd name="T1" fmla="*/ 66 h 528"/>
              <a:gd name="T2" fmla="*/ 232 w 467"/>
              <a:gd name="T3" fmla="*/ 132 h 528"/>
              <a:gd name="T4" fmla="*/ 166 w 467"/>
              <a:gd name="T5" fmla="*/ 132 h 528"/>
              <a:gd name="T6" fmla="*/ 100 w 467"/>
              <a:gd name="T7" fmla="*/ 66 h 528"/>
              <a:gd name="T8" fmla="*/ 166 w 467"/>
              <a:gd name="T9" fmla="*/ 0 h 528"/>
              <a:gd name="T10" fmla="*/ 232 w 467"/>
              <a:gd name="T11" fmla="*/ 0 h 528"/>
              <a:gd name="T12" fmla="*/ 298 w 467"/>
              <a:gd name="T13" fmla="*/ 66 h 528"/>
              <a:gd name="T14" fmla="*/ 330 w 467"/>
              <a:gd name="T15" fmla="*/ 66 h 528"/>
              <a:gd name="T16" fmla="*/ 331 w 467"/>
              <a:gd name="T17" fmla="*/ 81 h 528"/>
              <a:gd name="T18" fmla="*/ 248 w 467"/>
              <a:gd name="T19" fmla="*/ 164 h 528"/>
              <a:gd name="T20" fmla="*/ 149 w 467"/>
              <a:gd name="T21" fmla="*/ 164 h 528"/>
              <a:gd name="T22" fmla="*/ 66 w 467"/>
              <a:gd name="T23" fmla="*/ 81 h 528"/>
              <a:gd name="T24" fmla="*/ 68 w 467"/>
              <a:gd name="T25" fmla="*/ 66 h 528"/>
              <a:gd name="T26" fmla="*/ 0 w 467"/>
              <a:gd name="T27" fmla="*/ 147 h 528"/>
              <a:gd name="T28" fmla="*/ 0 w 467"/>
              <a:gd name="T29" fmla="*/ 445 h 528"/>
              <a:gd name="T30" fmla="*/ 83 w 467"/>
              <a:gd name="T31" fmla="*/ 528 h 528"/>
              <a:gd name="T32" fmla="*/ 303 w 467"/>
              <a:gd name="T33" fmla="*/ 528 h 528"/>
              <a:gd name="T34" fmla="*/ 213 w 467"/>
              <a:gd name="T35" fmla="*/ 392 h 528"/>
              <a:gd name="T36" fmla="*/ 361 w 467"/>
              <a:gd name="T37" fmla="*/ 244 h 528"/>
              <a:gd name="T38" fmla="*/ 397 w 467"/>
              <a:gd name="T39" fmla="*/ 248 h 528"/>
              <a:gd name="T40" fmla="*/ 397 w 467"/>
              <a:gd name="T41" fmla="*/ 147 h 528"/>
              <a:gd name="T42" fmla="*/ 330 w 467"/>
              <a:gd name="T43" fmla="*/ 66 h 528"/>
              <a:gd name="T44" fmla="*/ 186 w 467"/>
              <a:gd name="T45" fmla="*/ 331 h 528"/>
              <a:gd name="T46" fmla="*/ 186 w 467"/>
              <a:gd name="T47" fmla="*/ 331 h 528"/>
              <a:gd name="T48" fmla="*/ 83 w 467"/>
              <a:gd name="T49" fmla="*/ 331 h 528"/>
              <a:gd name="T50" fmla="*/ 66 w 467"/>
              <a:gd name="T51" fmla="*/ 314 h 528"/>
              <a:gd name="T52" fmla="*/ 83 w 467"/>
              <a:gd name="T53" fmla="*/ 298 h 528"/>
              <a:gd name="T54" fmla="*/ 186 w 467"/>
              <a:gd name="T55" fmla="*/ 298 h 528"/>
              <a:gd name="T56" fmla="*/ 203 w 467"/>
              <a:gd name="T57" fmla="*/ 314 h 528"/>
              <a:gd name="T58" fmla="*/ 186 w 467"/>
              <a:gd name="T59" fmla="*/ 331 h 528"/>
              <a:gd name="T60" fmla="*/ 219 w 467"/>
              <a:gd name="T61" fmla="*/ 264 h 528"/>
              <a:gd name="T62" fmla="*/ 219 w 467"/>
              <a:gd name="T63" fmla="*/ 264 h 528"/>
              <a:gd name="T64" fmla="*/ 83 w 467"/>
              <a:gd name="T65" fmla="*/ 264 h 528"/>
              <a:gd name="T66" fmla="*/ 66 w 467"/>
              <a:gd name="T67" fmla="*/ 248 h 528"/>
              <a:gd name="T68" fmla="*/ 83 w 467"/>
              <a:gd name="T69" fmla="*/ 231 h 528"/>
              <a:gd name="T70" fmla="*/ 219 w 467"/>
              <a:gd name="T71" fmla="*/ 231 h 528"/>
              <a:gd name="T72" fmla="*/ 236 w 467"/>
              <a:gd name="T73" fmla="*/ 248 h 528"/>
              <a:gd name="T74" fmla="*/ 219 w 467"/>
              <a:gd name="T75" fmla="*/ 264 h 528"/>
              <a:gd name="T76" fmla="*/ 388 w 467"/>
              <a:gd name="T77" fmla="*/ 289 h 528"/>
              <a:gd name="T78" fmla="*/ 362 w 467"/>
              <a:gd name="T79" fmla="*/ 286 h 528"/>
              <a:gd name="T80" fmla="*/ 257 w 467"/>
              <a:gd name="T81" fmla="*/ 391 h 528"/>
              <a:gd name="T82" fmla="*/ 340 w 467"/>
              <a:gd name="T83" fmla="*/ 494 h 528"/>
              <a:gd name="T84" fmla="*/ 362 w 467"/>
              <a:gd name="T85" fmla="*/ 497 h 528"/>
              <a:gd name="T86" fmla="*/ 467 w 467"/>
              <a:gd name="T87" fmla="*/ 391 h 528"/>
              <a:gd name="T88" fmla="*/ 388 w 467"/>
              <a:gd name="T89" fmla="*/ 289 h 528"/>
              <a:gd name="T90" fmla="*/ 422 w 467"/>
              <a:gd name="T91" fmla="*/ 376 h 528"/>
              <a:gd name="T92" fmla="*/ 422 w 467"/>
              <a:gd name="T93" fmla="*/ 376 h 528"/>
              <a:gd name="T94" fmla="*/ 388 w 467"/>
              <a:gd name="T95" fmla="*/ 410 h 528"/>
              <a:gd name="T96" fmla="*/ 362 w 467"/>
              <a:gd name="T97" fmla="*/ 436 h 528"/>
              <a:gd name="T98" fmla="*/ 332 w 467"/>
              <a:gd name="T99" fmla="*/ 436 h 528"/>
              <a:gd name="T100" fmla="*/ 302 w 467"/>
              <a:gd name="T101" fmla="*/ 406 h 528"/>
              <a:gd name="T102" fmla="*/ 302 w 467"/>
              <a:gd name="T103" fmla="*/ 376 h 528"/>
              <a:gd name="T104" fmla="*/ 332 w 467"/>
              <a:gd name="T105" fmla="*/ 376 h 528"/>
              <a:gd name="T106" fmla="*/ 347 w 467"/>
              <a:gd name="T107" fmla="*/ 391 h 528"/>
              <a:gd name="T108" fmla="*/ 388 w 467"/>
              <a:gd name="T109" fmla="*/ 350 h 528"/>
              <a:gd name="T110" fmla="*/ 392 w 467"/>
              <a:gd name="T111" fmla="*/ 346 h 528"/>
              <a:gd name="T112" fmla="*/ 422 w 467"/>
              <a:gd name="T113" fmla="*/ 346 h 528"/>
              <a:gd name="T114" fmla="*/ 422 w 467"/>
              <a:gd name="T115" fmla="*/ 376 h 5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467" h="528">
                <a:moveTo>
                  <a:pt x="298" y="66"/>
                </a:moveTo>
                <a:cubicBezTo>
                  <a:pt x="298" y="103"/>
                  <a:pt x="268" y="132"/>
                  <a:pt x="232" y="132"/>
                </a:cubicBezTo>
                <a:lnTo>
                  <a:pt x="166" y="132"/>
                </a:lnTo>
                <a:cubicBezTo>
                  <a:pt x="129" y="132"/>
                  <a:pt x="100" y="103"/>
                  <a:pt x="100" y="66"/>
                </a:cubicBezTo>
                <a:cubicBezTo>
                  <a:pt x="100" y="29"/>
                  <a:pt x="129" y="0"/>
                  <a:pt x="166" y="0"/>
                </a:cubicBezTo>
                <a:lnTo>
                  <a:pt x="232" y="0"/>
                </a:lnTo>
                <a:cubicBezTo>
                  <a:pt x="268" y="0"/>
                  <a:pt x="298" y="29"/>
                  <a:pt x="298" y="66"/>
                </a:cubicBezTo>
                <a:close/>
                <a:moveTo>
                  <a:pt x="330" y="66"/>
                </a:moveTo>
                <a:cubicBezTo>
                  <a:pt x="331" y="71"/>
                  <a:pt x="331" y="76"/>
                  <a:pt x="331" y="81"/>
                </a:cubicBezTo>
                <a:cubicBezTo>
                  <a:pt x="331" y="127"/>
                  <a:pt x="294" y="164"/>
                  <a:pt x="248" y="164"/>
                </a:cubicBezTo>
                <a:lnTo>
                  <a:pt x="149" y="164"/>
                </a:lnTo>
                <a:cubicBezTo>
                  <a:pt x="103" y="164"/>
                  <a:pt x="66" y="127"/>
                  <a:pt x="66" y="81"/>
                </a:cubicBezTo>
                <a:cubicBezTo>
                  <a:pt x="66" y="76"/>
                  <a:pt x="67" y="71"/>
                  <a:pt x="68" y="66"/>
                </a:cubicBezTo>
                <a:cubicBezTo>
                  <a:pt x="29" y="73"/>
                  <a:pt x="0" y="107"/>
                  <a:pt x="0" y="147"/>
                </a:cubicBezTo>
                <a:lnTo>
                  <a:pt x="0" y="445"/>
                </a:lnTo>
                <a:cubicBezTo>
                  <a:pt x="0" y="491"/>
                  <a:pt x="37" y="528"/>
                  <a:pt x="83" y="528"/>
                </a:cubicBezTo>
                <a:lnTo>
                  <a:pt x="303" y="528"/>
                </a:lnTo>
                <a:cubicBezTo>
                  <a:pt x="250" y="505"/>
                  <a:pt x="213" y="453"/>
                  <a:pt x="213" y="392"/>
                </a:cubicBezTo>
                <a:cubicBezTo>
                  <a:pt x="213" y="310"/>
                  <a:pt x="279" y="244"/>
                  <a:pt x="361" y="244"/>
                </a:cubicBezTo>
                <a:cubicBezTo>
                  <a:pt x="374" y="244"/>
                  <a:pt x="386" y="245"/>
                  <a:pt x="397" y="248"/>
                </a:cubicBezTo>
                <a:lnTo>
                  <a:pt x="397" y="147"/>
                </a:lnTo>
                <a:cubicBezTo>
                  <a:pt x="397" y="107"/>
                  <a:pt x="368" y="73"/>
                  <a:pt x="330" y="66"/>
                </a:cubicBezTo>
                <a:close/>
                <a:moveTo>
                  <a:pt x="186" y="331"/>
                </a:moveTo>
                <a:lnTo>
                  <a:pt x="186" y="331"/>
                </a:lnTo>
                <a:lnTo>
                  <a:pt x="83" y="331"/>
                </a:lnTo>
                <a:cubicBezTo>
                  <a:pt x="74" y="331"/>
                  <a:pt x="66" y="323"/>
                  <a:pt x="66" y="314"/>
                </a:cubicBezTo>
                <a:cubicBezTo>
                  <a:pt x="66" y="305"/>
                  <a:pt x="74" y="298"/>
                  <a:pt x="83" y="298"/>
                </a:cubicBezTo>
                <a:lnTo>
                  <a:pt x="186" y="298"/>
                </a:lnTo>
                <a:cubicBezTo>
                  <a:pt x="195" y="298"/>
                  <a:pt x="203" y="305"/>
                  <a:pt x="203" y="314"/>
                </a:cubicBezTo>
                <a:cubicBezTo>
                  <a:pt x="203" y="323"/>
                  <a:pt x="195" y="331"/>
                  <a:pt x="186" y="331"/>
                </a:cubicBezTo>
                <a:close/>
                <a:moveTo>
                  <a:pt x="219" y="264"/>
                </a:moveTo>
                <a:lnTo>
                  <a:pt x="219" y="264"/>
                </a:lnTo>
                <a:lnTo>
                  <a:pt x="83" y="264"/>
                </a:lnTo>
                <a:cubicBezTo>
                  <a:pt x="74" y="264"/>
                  <a:pt x="66" y="257"/>
                  <a:pt x="66" y="248"/>
                </a:cubicBezTo>
                <a:cubicBezTo>
                  <a:pt x="66" y="239"/>
                  <a:pt x="74" y="231"/>
                  <a:pt x="83" y="231"/>
                </a:cubicBezTo>
                <a:lnTo>
                  <a:pt x="219" y="231"/>
                </a:lnTo>
                <a:cubicBezTo>
                  <a:pt x="229" y="231"/>
                  <a:pt x="236" y="239"/>
                  <a:pt x="236" y="248"/>
                </a:cubicBezTo>
                <a:cubicBezTo>
                  <a:pt x="236" y="257"/>
                  <a:pt x="229" y="264"/>
                  <a:pt x="219" y="264"/>
                </a:cubicBezTo>
                <a:close/>
                <a:moveTo>
                  <a:pt x="388" y="289"/>
                </a:moveTo>
                <a:cubicBezTo>
                  <a:pt x="380" y="287"/>
                  <a:pt x="371" y="286"/>
                  <a:pt x="362" y="286"/>
                </a:cubicBezTo>
                <a:cubicBezTo>
                  <a:pt x="304" y="286"/>
                  <a:pt x="257" y="333"/>
                  <a:pt x="257" y="391"/>
                </a:cubicBezTo>
                <a:cubicBezTo>
                  <a:pt x="257" y="442"/>
                  <a:pt x="292" y="484"/>
                  <a:pt x="340" y="494"/>
                </a:cubicBezTo>
                <a:cubicBezTo>
                  <a:pt x="347" y="496"/>
                  <a:pt x="354" y="497"/>
                  <a:pt x="362" y="497"/>
                </a:cubicBezTo>
                <a:cubicBezTo>
                  <a:pt x="420" y="497"/>
                  <a:pt x="467" y="449"/>
                  <a:pt x="467" y="391"/>
                </a:cubicBezTo>
                <a:cubicBezTo>
                  <a:pt x="467" y="342"/>
                  <a:pt x="434" y="301"/>
                  <a:pt x="388" y="289"/>
                </a:cubicBezTo>
                <a:close/>
                <a:moveTo>
                  <a:pt x="422" y="376"/>
                </a:moveTo>
                <a:lnTo>
                  <a:pt x="422" y="376"/>
                </a:lnTo>
                <a:lnTo>
                  <a:pt x="388" y="410"/>
                </a:lnTo>
                <a:lnTo>
                  <a:pt x="362" y="436"/>
                </a:lnTo>
                <a:cubicBezTo>
                  <a:pt x="354" y="444"/>
                  <a:pt x="340" y="444"/>
                  <a:pt x="332" y="436"/>
                </a:cubicBezTo>
                <a:lnTo>
                  <a:pt x="302" y="406"/>
                </a:lnTo>
                <a:cubicBezTo>
                  <a:pt x="294" y="398"/>
                  <a:pt x="294" y="384"/>
                  <a:pt x="302" y="376"/>
                </a:cubicBezTo>
                <a:cubicBezTo>
                  <a:pt x="311" y="368"/>
                  <a:pt x="324" y="368"/>
                  <a:pt x="332" y="376"/>
                </a:cubicBezTo>
                <a:lnTo>
                  <a:pt x="347" y="391"/>
                </a:lnTo>
                <a:lnTo>
                  <a:pt x="388" y="350"/>
                </a:lnTo>
                <a:lnTo>
                  <a:pt x="392" y="346"/>
                </a:lnTo>
                <a:cubicBezTo>
                  <a:pt x="400" y="338"/>
                  <a:pt x="413" y="338"/>
                  <a:pt x="422" y="346"/>
                </a:cubicBezTo>
                <a:cubicBezTo>
                  <a:pt x="430" y="355"/>
                  <a:pt x="430" y="368"/>
                  <a:pt x="422" y="376"/>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sp>
        <p:nvSpPr>
          <p:cNvPr id="20" name="Freeform 49"/>
          <p:cNvSpPr>
            <a:spLocks noEditPoints="1"/>
          </p:cNvSpPr>
          <p:nvPr>
            <p:custDataLst>
              <p:tags r:id="rId11"/>
            </p:custDataLst>
          </p:nvPr>
        </p:nvSpPr>
        <p:spPr bwMode="auto">
          <a:xfrm>
            <a:off x="4177291" y="4892217"/>
            <a:ext cx="328843" cy="352023"/>
          </a:xfrm>
          <a:custGeom>
            <a:avLst/>
            <a:gdLst>
              <a:gd name="T0" fmla="*/ 150 w 500"/>
              <a:gd name="T1" fmla="*/ 82 h 533"/>
              <a:gd name="T2" fmla="*/ 327 w 500"/>
              <a:gd name="T3" fmla="*/ 59 h 533"/>
              <a:gd name="T4" fmla="*/ 264 w 500"/>
              <a:gd name="T5" fmla="*/ 37 h 533"/>
              <a:gd name="T6" fmla="*/ 191 w 500"/>
              <a:gd name="T7" fmla="*/ 37 h 533"/>
              <a:gd name="T8" fmla="*/ 128 w 500"/>
              <a:gd name="T9" fmla="*/ 59 h 533"/>
              <a:gd name="T10" fmla="*/ 411 w 500"/>
              <a:gd name="T11" fmla="*/ 462 h 533"/>
              <a:gd name="T12" fmla="*/ 418 w 500"/>
              <a:gd name="T13" fmla="*/ 446 h 533"/>
              <a:gd name="T14" fmla="*/ 389 w 500"/>
              <a:gd name="T15" fmla="*/ 346 h 533"/>
              <a:gd name="T16" fmla="*/ 371 w 500"/>
              <a:gd name="T17" fmla="*/ 346 h 533"/>
              <a:gd name="T18" fmla="*/ 371 w 500"/>
              <a:gd name="T19" fmla="*/ 423 h 533"/>
              <a:gd name="T20" fmla="*/ 371 w 500"/>
              <a:gd name="T21" fmla="*/ 425 h 533"/>
              <a:gd name="T22" fmla="*/ 372 w 500"/>
              <a:gd name="T23" fmla="*/ 426 h 533"/>
              <a:gd name="T24" fmla="*/ 373 w 500"/>
              <a:gd name="T25" fmla="*/ 428 h 533"/>
              <a:gd name="T26" fmla="*/ 476 w 500"/>
              <a:gd name="T27" fmla="*/ 352 h 533"/>
              <a:gd name="T28" fmla="*/ 380 w 500"/>
              <a:gd name="T29" fmla="*/ 301 h 533"/>
              <a:gd name="T30" fmla="*/ 358 w 500"/>
              <a:gd name="T31" fmla="*/ 531 h 533"/>
              <a:gd name="T32" fmla="*/ 494 w 500"/>
              <a:gd name="T33" fmla="*/ 439 h 533"/>
              <a:gd name="T34" fmla="*/ 476 w 500"/>
              <a:gd name="T35" fmla="*/ 436 h 533"/>
              <a:gd name="T36" fmla="*/ 380 w 500"/>
              <a:gd name="T37" fmla="*/ 515 h 533"/>
              <a:gd name="T38" fmla="*/ 284 w 500"/>
              <a:gd name="T39" fmla="*/ 399 h 533"/>
              <a:gd name="T40" fmla="*/ 398 w 500"/>
              <a:gd name="T41" fmla="*/ 321 h 533"/>
              <a:gd name="T42" fmla="*/ 476 w 500"/>
              <a:gd name="T43" fmla="*/ 436 h 533"/>
              <a:gd name="T44" fmla="*/ 167 w 500"/>
              <a:gd name="T45" fmla="*/ 435 h 533"/>
              <a:gd name="T46" fmla="*/ 286 w 500"/>
              <a:gd name="T47" fmla="*/ 317 h 533"/>
              <a:gd name="T48" fmla="*/ 310 w 500"/>
              <a:gd name="T49" fmla="*/ 298 h 533"/>
              <a:gd name="T50" fmla="*/ 431 w 500"/>
              <a:gd name="T51" fmla="*/ 181 h 533"/>
              <a:gd name="T52" fmla="*/ 436 w 500"/>
              <a:gd name="T53" fmla="*/ 292 h 533"/>
              <a:gd name="T54" fmla="*/ 455 w 500"/>
              <a:gd name="T55" fmla="*/ 298 h 533"/>
              <a:gd name="T56" fmla="*/ 455 w 500"/>
              <a:gd name="T57" fmla="*/ 123 h 533"/>
              <a:gd name="T58" fmla="*/ 23 w 500"/>
              <a:gd name="T59" fmla="*/ 99 h 533"/>
              <a:gd name="T60" fmla="*/ 0 w 500"/>
              <a:gd name="T61" fmla="*/ 186 h 533"/>
              <a:gd name="T62" fmla="*/ 0 w 500"/>
              <a:gd name="T63" fmla="*/ 317 h 533"/>
              <a:gd name="T64" fmla="*/ 0 w 500"/>
              <a:gd name="T65" fmla="*/ 444 h 533"/>
              <a:gd name="T66" fmla="*/ 252 w 500"/>
              <a:gd name="T67" fmla="*/ 467 h 533"/>
              <a:gd name="T68" fmla="*/ 18 w 500"/>
              <a:gd name="T69" fmla="*/ 186 h 533"/>
              <a:gd name="T70" fmla="*/ 23 w 500"/>
              <a:gd name="T71" fmla="*/ 181 h 533"/>
              <a:gd name="T72" fmla="*/ 149 w 500"/>
              <a:gd name="T73" fmla="*/ 298 h 533"/>
              <a:gd name="T74" fmla="*/ 18 w 500"/>
              <a:gd name="T75" fmla="*/ 186 h 533"/>
              <a:gd name="T76" fmla="*/ 149 w 500"/>
              <a:gd name="T77" fmla="*/ 317 h 533"/>
              <a:gd name="T78" fmla="*/ 23 w 500"/>
              <a:gd name="T79" fmla="*/ 435 h 533"/>
              <a:gd name="T80" fmla="*/ 18 w 500"/>
              <a:gd name="T81" fmla="*/ 317 h 533"/>
              <a:gd name="T82" fmla="*/ 167 w 500"/>
              <a:gd name="T83" fmla="*/ 298 h 533"/>
              <a:gd name="T84" fmla="*/ 167 w 500"/>
              <a:gd name="T85" fmla="*/ 181 h 533"/>
              <a:gd name="T86" fmla="*/ 292 w 500"/>
              <a:gd name="T87" fmla="*/ 298 h 533"/>
              <a:gd name="T88" fmla="*/ 301 w 500"/>
              <a:gd name="T89" fmla="*/ 123 h 533"/>
              <a:gd name="T90" fmla="*/ 317 w 500"/>
              <a:gd name="T91" fmla="*/ 139 h 533"/>
              <a:gd name="T92" fmla="*/ 285 w 500"/>
              <a:gd name="T93" fmla="*/ 139 h 533"/>
              <a:gd name="T94" fmla="*/ 158 w 500"/>
              <a:gd name="T95" fmla="*/ 123 h 533"/>
              <a:gd name="T96" fmla="*/ 174 w 500"/>
              <a:gd name="T97" fmla="*/ 139 h 533"/>
              <a:gd name="T98" fmla="*/ 142 w 500"/>
              <a:gd name="T99" fmla="*/ 139 h 5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00" h="533">
                <a:moveTo>
                  <a:pt x="128" y="59"/>
                </a:moveTo>
                <a:cubicBezTo>
                  <a:pt x="128" y="72"/>
                  <a:pt x="138" y="82"/>
                  <a:pt x="150" y="82"/>
                </a:cubicBezTo>
                <a:lnTo>
                  <a:pt x="305" y="82"/>
                </a:lnTo>
                <a:cubicBezTo>
                  <a:pt x="317" y="82"/>
                  <a:pt x="327" y="72"/>
                  <a:pt x="327" y="59"/>
                </a:cubicBezTo>
                <a:cubicBezTo>
                  <a:pt x="327" y="47"/>
                  <a:pt x="317" y="37"/>
                  <a:pt x="305" y="37"/>
                </a:cubicBezTo>
                <a:lnTo>
                  <a:pt x="264" y="37"/>
                </a:lnTo>
                <a:cubicBezTo>
                  <a:pt x="264" y="17"/>
                  <a:pt x="247" y="0"/>
                  <a:pt x="227" y="0"/>
                </a:cubicBezTo>
                <a:cubicBezTo>
                  <a:pt x="207" y="0"/>
                  <a:pt x="191" y="17"/>
                  <a:pt x="191" y="37"/>
                </a:cubicBezTo>
                <a:lnTo>
                  <a:pt x="150" y="37"/>
                </a:lnTo>
                <a:cubicBezTo>
                  <a:pt x="138" y="37"/>
                  <a:pt x="128" y="47"/>
                  <a:pt x="128" y="59"/>
                </a:cubicBezTo>
                <a:close/>
                <a:moveTo>
                  <a:pt x="405" y="459"/>
                </a:moveTo>
                <a:cubicBezTo>
                  <a:pt x="406" y="461"/>
                  <a:pt x="409" y="462"/>
                  <a:pt x="411" y="462"/>
                </a:cubicBezTo>
                <a:cubicBezTo>
                  <a:pt x="414" y="462"/>
                  <a:pt x="416" y="461"/>
                  <a:pt x="418" y="459"/>
                </a:cubicBezTo>
                <a:cubicBezTo>
                  <a:pt x="421" y="456"/>
                  <a:pt x="421" y="450"/>
                  <a:pt x="418" y="446"/>
                </a:cubicBezTo>
                <a:lnTo>
                  <a:pt x="389" y="417"/>
                </a:lnTo>
                <a:lnTo>
                  <a:pt x="389" y="346"/>
                </a:lnTo>
                <a:cubicBezTo>
                  <a:pt x="389" y="341"/>
                  <a:pt x="385" y="337"/>
                  <a:pt x="380" y="337"/>
                </a:cubicBezTo>
                <a:cubicBezTo>
                  <a:pt x="375" y="337"/>
                  <a:pt x="371" y="341"/>
                  <a:pt x="371" y="346"/>
                </a:cubicBezTo>
                <a:lnTo>
                  <a:pt x="371" y="421"/>
                </a:lnTo>
                <a:cubicBezTo>
                  <a:pt x="371" y="422"/>
                  <a:pt x="371" y="423"/>
                  <a:pt x="371" y="423"/>
                </a:cubicBezTo>
                <a:cubicBezTo>
                  <a:pt x="371" y="423"/>
                  <a:pt x="371" y="424"/>
                  <a:pt x="371" y="424"/>
                </a:cubicBezTo>
                <a:cubicBezTo>
                  <a:pt x="371" y="424"/>
                  <a:pt x="371" y="425"/>
                  <a:pt x="371" y="425"/>
                </a:cubicBezTo>
                <a:cubicBezTo>
                  <a:pt x="371" y="425"/>
                  <a:pt x="372" y="425"/>
                  <a:pt x="372" y="426"/>
                </a:cubicBezTo>
                <a:cubicBezTo>
                  <a:pt x="372" y="426"/>
                  <a:pt x="372" y="426"/>
                  <a:pt x="372" y="426"/>
                </a:cubicBezTo>
                <a:cubicBezTo>
                  <a:pt x="372" y="427"/>
                  <a:pt x="373" y="427"/>
                  <a:pt x="373" y="428"/>
                </a:cubicBezTo>
                <a:cubicBezTo>
                  <a:pt x="373" y="428"/>
                  <a:pt x="373" y="428"/>
                  <a:pt x="373" y="428"/>
                </a:cubicBezTo>
                <a:lnTo>
                  <a:pt x="405" y="459"/>
                </a:lnTo>
                <a:close/>
                <a:moveTo>
                  <a:pt x="476" y="352"/>
                </a:moveTo>
                <a:cubicBezTo>
                  <a:pt x="458" y="327"/>
                  <a:pt x="432" y="309"/>
                  <a:pt x="402" y="303"/>
                </a:cubicBezTo>
                <a:cubicBezTo>
                  <a:pt x="394" y="302"/>
                  <a:pt x="387" y="301"/>
                  <a:pt x="380" y="301"/>
                </a:cubicBezTo>
                <a:cubicBezTo>
                  <a:pt x="324" y="301"/>
                  <a:pt x="276" y="341"/>
                  <a:pt x="266" y="396"/>
                </a:cubicBezTo>
                <a:cubicBezTo>
                  <a:pt x="254" y="458"/>
                  <a:pt x="295" y="519"/>
                  <a:pt x="358" y="531"/>
                </a:cubicBezTo>
                <a:cubicBezTo>
                  <a:pt x="365" y="533"/>
                  <a:pt x="373" y="533"/>
                  <a:pt x="380" y="533"/>
                </a:cubicBezTo>
                <a:cubicBezTo>
                  <a:pt x="435" y="533"/>
                  <a:pt x="483" y="494"/>
                  <a:pt x="494" y="439"/>
                </a:cubicBezTo>
                <a:cubicBezTo>
                  <a:pt x="500" y="409"/>
                  <a:pt x="493" y="378"/>
                  <a:pt x="476" y="352"/>
                </a:cubicBezTo>
                <a:close/>
                <a:moveTo>
                  <a:pt x="476" y="436"/>
                </a:moveTo>
                <a:lnTo>
                  <a:pt x="476" y="436"/>
                </a:lnTo>
                <a:cubicBezTo>
                  <a:pt x="467" y="482"/>
                  <a:pt x="427" y="515"/>
                  <a:pt x="380" y="515"/>
                </a:cubicBezTo>
                <a:cubicBezTo>
                  <a:pt x="374" y="515"/>
                  <a:pt x="368" y="515"/>
                  <a:pt x="361" y="514"/>
                </a:cubicBezTo>
                <a:cubicBezTo>
                  <a:pt x="308" y="503"/>
                  <a:pt x="273" y="452"/>
                  <a:pt x="284" y="399"/>
                </a:cubicBezTo>
                <a:cubicBezTo>
                  <a:pt x="292" y="353"/>
                  <a:pt x="333" y="319"/>
                  <a:pt x="380" y="319"/>
                </a:cubicBezTo>
                <a:cubicBezTo>
                  <a:pt x="386" y="319"/>
                  <a:pt x="392" y="320"/>
                  <a:pt x="398" y="321"/>
                </a:cubicBezTo>
                <a:cubicBezTo>
                  <a:pt x="424" y="326"/>
                  <a:pt x="446" y="341"/>
                  <a:pt x="461" y="362"/>
                </a:cubicBezTo>
                <a:cubicBezTo>
                  <a:pt x="476" y="384"/>
                  <a:pt x="481" y="410"/>
                  <a:pt x="476" y="436"/>
                </a:cubicBezTo>
                <a:close/>
                <a:moveTo>
                  <a:pt x="243" y="435"/>
                </a:moveTo>
                <a:lnTo>
                  <a:pt x="167" y="435"/>
                </a:lnTo>
                <a:lnTo>
                  <a:pt x="167" y="317"/>
                </a:lnTo>
                <a:lnTo>
                  <a:pt x="286" y="317"/>
                </a:lnTo>
                <a:cubicBezTo>
                  <a:pt x="293" y="310"/>
                  <a:pt x="302" y="304"/>
                  <a:pt x="311" y="298"/>
                </a:cubicBezTo>
                <a:lnTo>
                  <a:pt x="310" y="298"/>
                </a:lnTo>
                <a:lnTo>
                  <a:pt x="310" y="181"/>
                </a:lnTo>
                <a:lnTo>
                  <a:pt x="431" y="181"/>
                </a:lnTo>
                <a:cubicBezTo>
                  <a:pt x="434" y="181"/>
                  <a:pt x="436" y="183"/>
                  <a:pt x="436" y="186"/>
                </a:cubicBezTo>
                <a:lnTo>
                  <a:pt x="436" y="292"/>
                </a:lnTo>
                <a:cubicBezTo>
                  <a:pt x="443" y="295"/>
                  <a:pt x="449" y="298"/>
                  <a:pt x="455" y="302"/>
                </a:cubicBezTo>
                <a:lnTo>
                  <a:pt x="455" y="298"/>
                </a:lnTo>
                <a:lnTo>
                  <a:pt x="455" y="186"/>
                </a:lnTo>
                <a:lnTo>
                  <a:pt x="455" y="123"/>
                </a:lnTo>
                <a:cubicBezTo>
                  <a:pt x="455" y="110"/>
                  <a:pt x="444" y="99"/>
                  <a:pt x="431" y="99"/>
                </a:cubicBezTo>
                <a:lnTo>
                  <a:pt x="23" y="99"/>
                </a:lnTo>
                <a:cubicBezTo>
                  <a:pt x="10" y="99"/>
                  <a:pt x="0" y="110"/>
                  <a:pt x="0" y="123"/>
                </a:cubicBezTo>
                <a:lnTo>
                  <a:pt x="0" y="186"/>
                </a:lnTo>
                <a:lnTo>
                  <a:pt x="0" y="298"/>
                </a:lnTo>
                <a:lnTo>
                  <a:pt x="0" y="317"/>
                </a:lnTo>
                <a:lnTo>
                  <a:pt x="0" y="430"/>
                </a:lnTo>
                <a:lnTo>
                  <a:pt x="0" y="444"/>
                </a:lnTo>
                <a:cubicBezTo>
                  <a:pt x="0" y="457"/>
                  <a:pt x="10" y="467"/>
                  <a:pt x="23" y="467"/>
                </a:cubicBezTo>
                <a:lnTo>
                  <a:pt x="252" y="467"/>
                </a:lnTo>
                <a:cubicBezTo>
                  <a:pt x="247" y="457"/>
                  <a:pt x="245" y="446"/>
                  <a:pt x="243" y="435"/>
                </a:cubicBezTo>
                <a:close/>
                <a:moveTo>
                  <a:pt x="18" y="186"/>
                </a:moveTo>
                <a:lnTo>
                  <a:pt x="18" y="186"/>
                </a:lnTo>
                <a:cubicBezTo>
                  <a:pt x="18" y="183"/>
                  <a:pt x="21" y="181"/>
                  <a:pt x="23" y="181"/>
                </a:cubicBezTo>
                <a:lnTo>
                  <a:pt x="149" y="181"/>
                </a:lnTo>
                <a:lnTo>
                  <a:pt x="149" y="298"/>
                </a:lnTo>
                <a:lnTo>
                  <a:pt x="18" y="298"/>
                </a:lnTo>
                <a:lnTo>
                  <a:pt x="18" y="186"/>
                </a:lnTo>
                <a:close/>
                <a:moveTo>
                  <a:pt x="149" y="317"/>
                </a:moveTo>
                <a:lnTo>
                  <a:pt x="149" y="317"/>
                </a:lnTo>
                <a:lnTo>
                  <a:pt x="149" y="435"/>
                </a:lnTo>
                <a:lnTo>
                  <a:pt x="23" y="435"/>
                </a:lnTo>
                <a:cubicBezTo>
                  <a:pt x="21" y="435"/>
                  <a:pt x="18" y="432"/>
                  <a:pt x="18" y="430"/>
                </a:cubicBezTo>
                <a:lnTo>
                  <a:pt x="18" y="317"/>
                </a:lnTo>
                <a:lnTo>
                  <a:pt x="149" y="317"/>
                </a:lnTo>
                <a:close/>
                <a:moveTo>
                  <a:pt x="167" y="298"/>
                </a:moveTo>
                <a:lnTo>
                  <a:pt x="167" y="298"/>
                </a:lnTo>
                <a:lnTo>
                  <a:pt x="167" y="181"/>
                </a:lnTo>
                <a:lnTo>
                  <a:pt x="292" y="181"/>
                </a:lnTo>
                <a:lnTo>
                  <a:pt x="292" y="298"/>
                </a:lnTo>
                <a:lnTo>
                  <a:pt x="167" y="298"/>
                </a:lnTo>
                <a:close/>
                <a:moveTo>
                  <a:pt x="301" y="123"/>
                </a:moveTo>
                <a:lnTo>
                  <a:pt x="301" y="123"/>
                </a:lnTo>
                <a:cubicBezTo>
                  <a:pt x="310" y="123"/>
                  <a:pt x="317" y="130"/>
                  <a:pt x="317" y="139"/>
                </a:cubicBezTo>
                <a:cubicBezTo>
                  <a:pt x="317" y="148"/>
                  <a:pt x="310" y="155"/>
                  <a:pt x="301" y="155"/>
                </a:cubicBezTo>
                <a:cubicBezTo>
                  <a:pt x="292" y="155"/>
                  <a:pt x="285" y="148"/>
                  <a:pt x="285" y="139"/>
                </a:cubicBezTo>
                <a:cubicBezTo>
                  <a:pt x="285" y="130"/>
                  <a:pt x="292" y="123"/>
                  <a:pt x="301" y="123"/>
                </a:cubicBezTo>
                <a:close/>
                <a:moveTo>
                  <a:pt x="158" y="123"/>
                </a:moveTo>
                <a:lnTo>
                  <a:pt x="158" y="123"/>
                </a:lnTo>
                <a:cubicBezTo>
                  <a:pt x="167" y="123"/>
                  <a:pt x="174" y="130"/>
                  <a:pt x="174" y="139"/>
                </a:cubicBezTo>
                <a:cubicBezTo>
                  <a:pt x="174" y="148"/>
                  <a:pt x="167" y="155"/>
                  <a:pt x="158" y="155"/>
                </a:cubicBezTo>
                <a:cubicBezTo>
                  <a:pt x="149" y="155"/>
                  <a:pt x="142" y="148"/>
                  <a:pt x="142" y="139"/>
                </a:cubicBezTo>
                <a:cubicBezTo>
                  <a:pt x="142" y="130"/>
                  <a:pt x="149" y="123"/>
                  <a:pt x="158" y="123"/>
                </a:cubicBezTo>
                <a:close/>
              </a:path>
            </a:pathLst>
          </a:cu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vert="horz" wrap="square" lIns="68553" tIns="34277" rIns="68553" bIns="34277" numCol="1" anchor="t" anchorCtr="0" compatLnSpc="1"/>
          <a:lstStyle/>
          <a:p>
            <a:endParaRPr lang="zh-CN" altLang="en-US"/>
          </a:p>
        </p:txBody>
      </p:sp>
      <p:pic>
        <p:nvPicPr>
          <p:cNvPr id="21" name="图片 20"/>
          <p:cNvPicPr>
            <a:picLocks noChangeAspect="1"/>
          </p:cNvPicPr>
          <p:nvPr>
            <p:custDataLst>
              <p:tags r:id="rId12"/>
            </p:custDataLst>
          </p:nvPr>
        </p:nvPicPr>
        <p:blipFill>
          <a:blip r:embed="rId13"/>
          <a:stretch>
            <a:fillRect/>
          </a:stretch>
        </p:blipFill>
        <p:spPr>
          <a:xfrm>
            <a:off x="3896498" y="4782203"/>
            <a:ext cx="558000" cy="562768"/>
          </a:xfrm>
          <a:prstGeom prst="rect">
            <a:avLst/>
          </a:prstGeom>
        </p:spPr>
      </p:pic>
      <p:pic>
        <p:nvPicPr>
          <p:cNvPr id="22" name="图片 21"/>
          <p:cNvPicPr>
            <a:picLocks noChangeAspect="1"/>
          </p:cNvPicPr>
          <p:nvPr>
            <p:custDataLst>
              <p:tags r:id="rId14"/>
            </p:custDataLst>
          </p:nvPr>
        </p:nvPicPr>
        <p:blipFill>
          <a:blip r:embed="rId15"/>
          <a:stretch>
            <a:fillRect/>
          </a:stretch>
        </p:blipFill>
        <p:spPr>
          <a:xfrm>
            <a:off x="3872355" y="3950247"/>
            <a:ext cx="558000" cy="558000"/>
          </a:xfrm>
          <a:prstGeom prst="rect">
            <a:avLst/>
          </a:prstGeom>
        </p:spPr>
      </p:pic>
      <p:pic>
        <p:nvPicPr>
          <p:cNvPr id="23" name="图片 22"/>
          <p:cNvPicPr>
            <a:picLocks noChangeAspect="1"/>
          </p:cNvPicPr>
          <p:nvPr>
            <p:custDataLst>
              <p:tags r:id="rId16"/>
            </p:custDataLst>
          </p:nvPr>
        </p:nvPicPr>
        <p:blipFill>
          <a:blip r:embed="rId17"/>
          <a:stretch>
            <a:fillRect/>
          </a:stretch>
        </p:blipFill>
        <p:spPr>
          <a:xfrm>
            <a:off x="3885235" y="3140569"/>
            <a:ext cx="558000" cy="5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本框 6"/>
          <p:cNvSpPr txBox="1"/>
          <p:nvPr/>
        </p:nvSpPr>
        <p:spPr>
          <a:xfrm>
            <a:off x="395605" y="1988820"/>
            <a:ext cx="6981825" cy="2147570"/>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①明白什么是重复子问题</a:t>
            </a:r>
            <a:endParaRPr lang="zh-CN" altLang="en-US">
              <a:solidFill>
                <a:srgbClr val="FF0000"/>
              </a:solidFill>
            </a:endParaRPr>
          </a:p>
          <a:p>
            <a:r>
              <a:rPr lang="zh-CN" altLang="en-US">
                <a:solidFill>
                  <a:srgbClr val="FF0000"/>
                </a:solidFill>
              </a:rPr>
              <a:t>②明白什么是最优子结构</a:t>
            </a:r>
            <a:endParaRPr lang="zh-CN" altLang="en-US">
              <a:solidFill>
                <a:srgbClr val="FF0000"/>
              </a:solidFill>
            </a:endParaRPr>
          </a:p>
          <a:p>
            <a:r>
              <a:rPr lang="zh-CN" altLang="en-US">
                <a:solidFill>
                  <a:srgbClr val="FF0000"/>
                </a:solidFill>
              </a:rPr>
              <a:t>③明白动态规划的状态转移方程和状态表（决策表）是什么</a:t>
            </a:r>
            <a:endParaRPr lang="zh-CN" altLang="en-US">
              <a:solidFill>
                <a:srgbClr val="FF0000"/>
              </a:solidFill>
            </a:endParaRPr>
          </a:p>
          <a:p>
            <a:r>
              <a:rPr lang="zh-CN" altLang="en-US">
                <a:solidFill>
                  <a:srgbClr val="FF0000"/>
                </a:solidFill>
              </a:rPr>
              <a:t>④分清动态规划与分治法的区别</a:t>
            </a:r>
            <a:endParaRPr lang="zh-CN" altLang="en-US">
              <a:solidFill>
                <a:srgbClr val="FF0000"/>
              </a:solidFill>
            </a:endParaRPr>
          </a:p>
          <a:p>
            <a:r>
              <a:rPr lang="zh-CN" altLang="en-US">
                <a:solidFill>
                  <a:srgbClr val="FF0000"/>
                </a:solidFill>
              </a:rPr>
              <a:t>⑤分清动态规划与贪心算法的区别</a:t>
            </a:r>
            <a:endParaRPr lang="zh-CN" altLang="en-US">
              <a:solidFill>
                <a:srgbClr val="FF0000"/>
              </a:solidFill>
            </a:endParaRPr>
          </a:p>
        </p:txBody>
      </p:sp>
      <p:sp>
        <p:nvSpPr>
          <p:cNvPr id="3" name="文本框 2"/>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4067810" y="177228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4211955" y="180784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32854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3429635" y="285242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5076190" y="2852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5220335" y="285242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25469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2557780" y="386080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368808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369887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4923790"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4934585" y="3860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6064885" y="3860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6075680" y="3860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3902075" y="235077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4787900" y="234886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3030220" y="322516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3817620" y="323405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5407025" y="3231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5580380" y="3240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268220"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2279015" y="486918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3409315" y="486918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3420110" y="486918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2751455" y="423989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2924810" y="424878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251460" y="1772285"/>
            <a:ext cx="3679825" cy="368300"/>
          </a:xfrm>
          <a:prstGeom prst="rect">
            <a:avLst/>
          </a:prstGeom>
          <a:noFill/>
        </p:spPr>
        <p:txBody>
          <a:bodyPr wrap="square" rtlCol="0">
            <a:spAutoFit/>
          </a:bodyPr>
          <a:lstStyle/>
          <a:p>
            <a:r>
              <a:rPr lang="zh-CN" altLang="en-US">
                <a:solidFill>
                  <a:srgbClr val="FF0000"/>
                </a:solidFill>
              </a:rPr>
              <a:t>再次思考斐波那契数列</a:t>
            </a:r>
            <a:endParaRPr lang="zh-CN" altLang="en-US">
              <a:solidFill>
                <a:srgbClr val="FF0000"/>
              </a:solidFill>
            </a:endParaRPr>
          </a:p>
        </p:txBody>
      </p:sp>
      <p:sp>
        <p:nvSpPr>
          <p:cNvPr id="34" name="文本框 33"/>
          <p:cNvSpPr txBox="1"/>
          <p:nvPr/>
        </p:nvSpPr>
        <p:spPr>
          <a:xfrm>
            <a:off x="179705" y="5588635"/>
            <a:ext cx="8774430" cy="725170"/>
          </a:xfrm>
          <a:prstGeom prst="rect">
            <a:avLst/>
          </a:prstGeom>
          <a:noFill/>
        </p:spPr>
        <p:txBody>
          <a:bodyPr wrap="square" rtlCol="0">
            <a:noAutofit/>
          </a:bodyPr>
          <a:lstStyle/>
          <a:p>
            <a:r>
              <a:rPr lang="zh-CN" altLang="en-US"/>
              <a:t>仔细观察这颗二叉树的每一个节点，有重复的节点。而在分治法中则忽略了这些性质，只是让他们当作独立子问题求解。而这些重复的节点就是</a:t>
            </a:r>
            <a:r>
              <a:rPr lang="zh-CN" altLang="en-US">
                <a:solidFill>
                  <a:srgbClr val="FF0000"/>
                </a:solidFill>
              </a:rPr>
              <a:t>重叠子问题。</a:t>
            </a:r>
            <a:endParaRPr lang="zh-CN" altLang="en-US">
              <a:solidFill>
                <a:srgbClr val="FF0000"/>
              </a:solidFill>
            </a:endParaRPr>
          </a:p>
        </p:txBody>
      </p:sp>
      <p:sp>
        <p:nvSpPr>
          <p:cNvPr id="11" name="Text Box 6"/>
          <p:cNvSpPr txBox="1">
            <a:spLocks noChangeArrowheads="1"/>
          </p:cNvSpPr>
          <p:nvPr/>
        </p:nvSpPr>
        <p:spPr bwMode="auto">
          <a:xfrm>
            <a:off x="2771775" y="76454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5.1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动态规划法概述</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endParaRPr>
          </a:p>
        </p:txBody>
      </p:sp>
      <p:sp>
        <p:nvSpPr>
          <p:cNvPr id="2" name="文本框 1"/>
          <p:cNvSpPr txBox="1"/>
          <p:nvPr/>
        </p:nvSpPr>
        <p:spPr>
          <a:xfrm>
            <a:off x="251460" y="119634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圆角矩形 3"/>
          <p:cNvSpPr/>
          <p:nvPr/>
        </p:nvSpPr>
        <p:spPr>
          <a:xfrm>
            <a:off x="1824355" y="1652905"/>
            <a:ext cx="1176020" cy="56388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1968500" y="1688465"/>
            <a:ext cx="1136650" cy="542925"/>
          </a:xfrm>
          <a:prstGeom prst="rect">
            <a:avLst/>
          </a:prstGeom>
          <a:noFill/>
        </p:spPr>
        <p:txBody>
          <a:bodyPr wrap="square" rtlCol="0">
            <a:noAutofit/>
          </a:bodyPr>
          <a:lstStyle/>
          <a:p>
            <a:r>
              <a:rPr lang="en-US" altLang="zh-CN">
                <a:solidFill>
                  <a:schemeClr val="tx1"/>
                </a:solidFill>
                <a:uFillTx/>
                <a:latin typeface="Times New Roman" panose="02020603050405020304" pitchFamily="18" charset="0"/>
              </a:rPr>
              <a:t>fib(5)</a:t>
            </a:r>
            <a:endParaRPr lang="en-US" altLang="zh-CN">
              <a:solidFill>
                <a:schemeClr val="tx1"/>
              </a:solidFill>
              <a:uFillTx/>
              <a:latin typeface="Times New Roman" panose="02020603050405020304" pitchFamily="18" charset="0"/>
            </a:endParaRPr>
          </a:p>
        </p:txBody>
      </p:sp>
      <p:sp>
        <p:nvSpPr>
          <p:cNvPr id="3" name="圆角矩形 2"/>
          <p:cNvSpPr/>
          <p:nvPr/>
        </p:nvSpPr>
        <p:spPr>
          <a:xfrm>
            <a:off x="10420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 name="文本框 7"/>
          <p:cNvSpPr txBox="1"/>
          <p:nvPr/>
        </p:nvSpPr>
        <p:spPr>
          <a:xfrm>
            <a:off x="1186180" y="2733040"/>
            <a:ext cx="944880" cy="457200"/>
          </a:xfrm>
          <a:prstGeom prst="rect">
            <a:avLst/>
          </a:prstGeom>
          <a:noFill/>
        </p:spPr>
        <p:txBody>
          <a:bodyPr wrap="square" rtlCol="0">
            <a:noAutofit/>
          </a:bodyPr>
          <a:lstStyle/>
          <a:p>
            <a:r>
              <a:rPr lang="en-US" altLang="zh-CN" sz="1400">
                <a:latin typeface="Times New Roman" panose="02020603050405020304" pitchFamily="18" charset="0"/>
                <a:cs typeface="Times New Roman" panose="02020603050405020304" pitchFamily="18" charset="0"/>
                <a:sym typeface="+mn-ea"/>
              </a:rPr>
              <a:t>fib(4)</a:t>
            </a:r>
            <a:endParaRPr lang="zh-CN" altLang="en-US" sz="1400">
              <a:latin typeface="Times New Roman" panose="02020603050405020304" pitchFamily="18" charset="0"/>
              <a:cs typeface="Times New Roman" panose="02020603050405020304" pitchFamily="18" charset="0"/>
            </a:endParaRPr>
          </a:p>
        </p:txBody>
      </p:sp>
      <p:sp>
        <p:nvSpPr>
          <p:cNvPr id="9" name="圆角矩形 8"/>
          <p:cNvSpPr/>
          <p:nvPr/>
        </p:nvSpPr>
        <p:spPr>
          <a:xfrm>
            <a:off x="2832735" y="273304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2976880" y="2733040"/>
            <a:ext cx="944880" cy="457200"/>
          </a:xfrm>
          <a:prstGeom prst="rect">
            <a:avLst/>
          </a:prstGeom>
          <a:noFill/>
        </p:spPr>
        <p:txBody>
          <a:bodyPr wrap="square" rtlCol="0">
            <a:noAutofit/>
          </a:bodyPr>
          <a:lstStyle/>
          <a:p>
            <a:r>
              <a:rPr lang="en-US" altLang="zh-CN" sz="1400">
                <a:solidFill>
                  <a:srgbClr val="7030A0"/>
                </a:solidFill>
                <a:uFillTx/>
                <a:latin typeface="Times New Roman" panose="02020603050405020304" pitchFamily="18" charset="0"/>
                <a:sym typeface="+mn-ea"/>
              </a:rPr>
              <a:t>fib(3)</a:t>
            </a:r>
            <a:endParaRPr lang="en-US" altLang="zh-CN" sz="1400">
              <a:solidFill>
                <a:srgbClr val="7030A0"/>
              </a:solidFill>
              <a:uFillTx/>
              <a:latin typeface="Times New Roman" panose="02020603050405020304" pitchFamily="18" charset="0"/>
              <a:sym typeface="+mn-ea"/>
            </a:endParaRPr>
          </a:p>
        </p:txBody>
      </p:sp>
      <p:sp>
        <p:nvSpPr>
          <p:cNvPr id="12" name="圆角矩形 11"/>
          <p:cNvSpPr/>
          <p:nvPr/>
        </p:nvSpPr>
        <p:spPr>
          <a:xfrm>
            <a:off x="3035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3" name="文本框 12"/>
          <p:cNvSpPr txBox="1"/>
          <p:nvPr/>
        </p:nvSpPr>
        <p:spPr>
          <a:xfrm>
            <a:off x="314325" y="3741420"/>
            <a:ext cx="944880" cy="457200"/>
          </a:xfrm>
          <a:prstGeom prst="rect">
            <a:avLst/>
          </a:prstGeom>
          <a:noFill/>
        </p:spPr>
        <p:txBody>
          <a:bodyPr wrap="square" rtlCol="0">
            <a:noAutofit/>
          </a:bodyPr>
          <a:lstStyle/>
          <a:p>
            <a:r>
              <a:rPr lang="en-US" altLang="zh-CN" sz="1400">
                <a:solidFill>
                  <a:srgbClr val="7030A0"/>
                </a:solidFill>
                <a:latin typeface="Times New Roman" panose="02020603050405020304" pitchFamily="18" charset="0"/>
                <a:cs typeface="Times New Roman" panose="02020603050405020304" pitchFamily="18" charset="0"/>
                <a:sym typeface="+mn-ea"/>
              </a:rPr>
              <a:t>fib(3)</a:t>
            </a:r>
            <a:endParaRPr lang="en-US" altLang="zh-CN" sz="1400">
              <a:solidFill>
                <a:srgbClr val="7030A0"/>
              </a:solidFill>
              <a:latin typeface="Times New Roman" panose="02020603050405020304" pitchFamily="18" charset="0"/>
              <a:cs typeface="Times New Roman" panose="02020603050405020304" pitchFamily="18" charset="0"/>
              <a:sym typeface="+mn-ea"/>
            </a:endParaRPr>
          </a:p>
        </p:txBody>
      </p:sp>
      <p:sp>
        <p:nvSpPr>
          <p:cNvPr id="14" name="圆角矩形 13"/>
          <p:cNvSpPr/>
          <p:nvPr/>
        </p:nvSpPr>
        <p:spPr>
          <a:xfrm>
            <a:off x="144462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5" name="文本框 14"/>
          <p:cNvSpPr txBox="1"/>
          <p:nvPr/>
        </p:nvSpPr>
        <p:spPr>
          <a:xfrm>
            <a:off x="145542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endParaRPr>
          </a:p>
          <a:p>
            <a:endParaRPr lang="en-US" altLang="zh-CN" sz="1400">
              <a:solidFill>
                <a:srgbClr val="FF0000"/>
              </a:solidFill>
              <a:latin typeface="Times New Roman" panose="02020603050405020304" pitchFamily="18" charset="0"/>
              <a:cs typeface="Times New Roman" panose="02020603050405020304" pitchFamily="18" charset="0"/>
            </a:endParaRPr>
          </a:p>
        </p:txBody>
      </p:sp>
      <p:sp>
        <p:nvSpPr>
          <p:cNvPr id="16" name="圆角矩形 15"/>
          <p:cNvSpPr/>
          <p:nvPr/>
        </p:nvSpPr>
        <p:spPr>
          <a:xfrm>
            <a:off x="2680335"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7" name="文本框 16"/>
          <p:cNvSpPr txBox="1"/>
          <p:nvPr/>
        </p:nvSpPr>
        <p:spPr>
          <a:xfrm>
            <a:off x="2691130" y="374142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8" name="圆角矩形 17"/>
          <p:cNvSpPr/>
          <p:nvPr/>
        </p:nvSpPr>
        <p:spPr>
          <a:xfrm>
            <a:off x="3821430" y="374142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文本框 19"/>
          <p:cNvSpPr txBox="1"/>
          <p:nvPr/>
        </p:nvSpPr>
        <p:spPr>
          <a:xfrm>
            <a:off x="3832225" y="374142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21" name="直接连接符 20"/>
          <p:cNvCxnSpPr>
            <a:stCxn id="6" idx="2"/>
            <a:endCxn id="8" idx="0"/>
          </p:cNvCxnSpPr>
          <p:nvPr/>
        </p:nvCxnSpPr>
        <p:spPr>
          <a:xfrm flipH="1">
            <a:off x="1658620" y="2231390"/>
            <a:ext cx="878205" cy="50165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endCxn id="10" idx="0"/>
          </p:cNvCxnSpPr>
          <p:nvPr/>
        </p:nvCxnSpPr>
        <p:spPr>
          <a:xfrm>
            <a:off x="2544445" y="2229485"/>
            <a:ext cx="904875" cy="50355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endCxn id="13" idx="0"/>
          </p:cNvCxnSpPr>
          <p:nvPr/>
        </p:nvCxnSpPr>
        <p:spPr>
          <a:xfrm flipH="1">
            <a:off x="786765" y="3105785"/>
            <a:ext cx="787400" cy="63563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endCxn id="15" idx="0"/>
          </p:cNvCxnSpPr>
          <p:nvPr/>
        </p:nvCxnSpPr>
        <p:spPr>
          <a:xfrm>
            <a:off x="1574165" y="3114675"/>
            <a:ext cx="353695" cy="6267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endCxn id="17" idx="0"/>
          </p:cNvCxnSpPr>
          <p:nvPr/>
        </p:nvCxnSpPr>
        <p:spPr>
          <a:xfrm flipH="1">
            <a:off x="3163570" y="311213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endCxn id="20" idx="0"/>
          </p:cNvCxnSpPr>
          <p:nvPr/>
        </p:nvCxnSpPr>
        <p:spPr>
          <a:xfrm>
            <a:off x="3336925" y="312102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27" name="圆角矩形 26"/>
          <p:cNvSpPr/>
          <p:nvPr/>
        </p:nvSpPr>
        <p:spPr>
          <a:xfrm>
            <a:off x="24765"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文本框 27"/>
          <p:cNvSpPr txBox="1"/>
          <p:nvPr/>
        </p:nvSpPr>
        <p:spPr>
          <a:xfrm>
            <a:off x="35560" y="4749800"/>
            <a:ext cx="944880" cy="45720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fib(2)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圆角矩形 28"/>
          <p:cNvSpPr/>
          <p:nvPr/>
        </p:nvSpPr>
        <p:spPr>
          <a:xfrm>
            <a:off x="1165860" y="474980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0" name="文本框 29"/>
          <p:cNvSpPr txBox="1"/>
          <p:nvPr/>
        </p:nvSpPr>
        <p:spPr>
          <a:xfrm>
            <a:off x="1176655" y="4749800"/>
            <a:ext cx="944880" cy="457200"/>
          </a:xfrm>
          <a:prstGeom prst="rect">
            <a:avLst/>
          </a:prstGeom>
          <a:noFill/>
        </p:spPr>
        <p:txBody>
          <a:bodyPr wrap="square" rtlCol="0">
            <a:noAutofit/>
          </a:bodyPr>
          <a:lstStyle/>
          <a:p>
            <a:r>
              <a:rPr lang="en-US" altLang="zh-CN" sz="1400">
                <a:solidFill>
                  <a:srgbClr val="0066FF"/>
                </a:solidFill>
                <a:uFillTx/>
                <a:latin typeface="Times New Roman" panose="02020603050405020304" pitchFamily="18" charset="0"/>
                <a:sym typeface="+mn-ea"/>
              </a:rPr>
              <a:t>fib(1)</a:t>
            </a:r>
            <a:endParaRPr lang="en-US" altLang="zh-CN" sz="1400">
              <a:solidFill>
                <a:srgbClr val="0066FF"/>
              </a:solidFill>
              <a:uFillTx/>
              <a:latin typeface="Times New Roman" panose="02020603050405020304" pitchFamily="18" charset="0"/>
            </a:endParaRPr>
          </a:p>
          <a:p>
            <a:endParaRPr lang="en-US" altLang="zh-CN" sz="1400">
              <a:solidFill>
                <a:srgbClr val="0066FF"/>
              </a:solidFill>
              <a:uFillTx/>
              <a:latin typeface="Times New Roman" panose="02020603050405020304" pitchFamily="18" charset="0"/>
            </a:endParaRPr>
          </a:p>
        </p:txBody>
      </p:sp>
      <p:cxnSp>
        <p:nvCxnSpPr>
          <p:cNvPr id="31" name="直接连接符 30"/>
          <p:cNvCxnSpPr>
            <a:endCxn id="28" idx="0"/>
          </p:cNvCxnSpPr>
          <p:nvPr/>
        </p:nvCxnSpPr>
        <p:spPr>
          <a:xfrm flipH="1">
            <a:off x="508000" y="4120515"/>
            <a:ext cx="173355" cy="62928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endCxn id="30" idx="0"/>
          </p:cNvCxnSpPr>
          <p:nvPr/>
        </p:nvCxnSpPr>
        <p:spPr>
          <a:xfrm>
            <a:off x="681355" y="4129405"/>
            <a:ext cx="967740" cy="62039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33" name="文本框 32"/>
          <p:cNvSpPr txBox="1"/>
          <p:nvPr/>
        </p:nvSpPr>
        <p:spPr>
          <a:xfrm>
            <a:off x="323850" y="980440"/>
            <a:ext cx="7533005" cy="470535"/>
          </a:xfrm>
          <a:prstGeom prst="rect">
            <a:avLst/>
          </a:prstGeom>
          <a:noFill/>
        </p:spPr>
        <p:txBody>
          <a:bodyPr wrap="square" rtlCol="0">
            <a:noAutofit/>
          </a:bodyPr>
          <a:lstStyle/>
          <a:p>
            <a:r>
              <a:rPr lang="zh-CN" altLang="en-US"/>
              <a:t>显然可以利用重叠子问题的性质，那就是保存下来，不要做重复计算！</a:t>
            </a:r>
            <a:endParaRPr lang="zh-CN" altLang="en-US"/>
          </a:p>
        </p:txBody>
      </p:sp>
      <p:sp>
        <p:nvSpPr>
          <p:cNvPr id="5" name="文本框 4"/>
          <p:cNvSpPr txBox="1"/>
          <p:nvPr/>
        </p:nvSpPr>
        <p:spPr>
          <a:xfrm>
            <a:off x="4311650" y="1412240"/>
            <a:ext cx="5074920" cy="5077460"/>
          </a:xfrm>
          <a:prstGeom prst="rect">
            <a:avLst/>
          </a:prstGeom>
          <a:noFill/>
        </p:spPr>
        <p:txBody>
          <a:bodyPr wrap="square" rtlCol="0" anchor="t">
            <a:spAutoFit/>
          </a:bodyPr>
          <a:lstStyle/>
          <a:p>
            <a:r>
              <a:rPr lang="en-US" altLang="zh-CN">
                <a:solidFill>
                  <a:schemeClr val="tx1"/>
                </a:solidFill>
                <a:uFillTx/>
                <a:latin typeface="Times New Roman" panose="02020603050405020304" pitchFamily="18" charset="0"/>
              </a:rPr>
              <a:t>int Fib[1000]; // </a:t>
            </a:r>
            <a:r>
              <a:rPr lang="zh-CN" altLang="en-US">
                <a:solidFill>
                  <a:schemeClr val="tx1"/>
                </a:solidFill>
                <a:uFillTx/>
                <a:latin typeface="Times New Roman" panose="02020603050405020304" pitchFamily="18" charset="0"/>
              </a:rPr>
              <a:t>全局变量数组保存重叠子问题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int fibonacci(int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(n &lt;= 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n;</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int tempL = Fib[n-1], tempR = Fib[n-2];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(tempL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tempL = fibonacci(n-1);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Fib[n-1] = tempL;//</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(tempR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tempR = fibonacci(n-2);</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Fib[n-2] = tempR;//</a:t>
            </a:r>
            <a:r>
              <a:rPr lang="zh-CN" altLang="en-US">
                <a:solidFill>
                  <a:schemeClr val="tx1"/>
                </a:solidFill>
                <a:uFillTx/>
                <a:latin typeface="Times New Roman" panose="02020603050405020304" pitchFamily="18" charset="0"/>
              </a:rPr>
              <a:t>每次计算完成都进行保存</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tempL + tempR;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a:t>
            </a:r>
            <a:endParaRPr lang="en-US" altLang="zh-CN">
              <a:solidFill>
                <a:schemeClr val="tx1"/>
              </a:solidFill>
              <a:uFillTx/>
              <a:latin typeface="Times New Roman" panose="02020603050405020304" pitchFamily="18" charset="0"/>
            </a:endParaRPr>
          </a:p>
        </p:txBody>
      </p:sp>
      <p:sp>
        <p:nvSpPr>
          <p:cNvPr id="7" name="文本框 6"/>
          <p:cNvSpPr txBox="1"/>
          <p:nvPr/>
        </p:nvSpPr>
        <p:spPr>
          <a:xfrm>
            <a:off x="323850" y="5640070"/>
            <a:ext cx="3949700" cy="655320"/>
          </a:xfrm>
          <a:prstGeom prst="rect">
            <a:avLst/>
          </a:prstGeom>
          <a:noFill/>
        </p:spPr>
        <p:txBody>
          <a:bodyPr wrap="square" rtlCol="0">
            <a:noAutofit/>
          </a:bodyPr>
          <a:lstStyle/>
          <a:p>
            <a:r>
              <a:rPr lang="zh-CN" altLang="en-US">
                <a:solidFill>
                  <a:srgbClr val="FF0000"/>
                </a:solidFill>
              </a:rPr>
              <a:t>恭喜同学们会了记忆化搜索！若让你把这个代码改成循环，该怎么办？</a:t>
            </a:r>
            <a:endParaRPr lang="zh-CN" altLang="en-US">
              <a:solidFill>
                <a:srgbClr val="FF0000"/>
              </a:solidFil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683895" y="1484630"/>
            <a:ext cx="3522345" cy="335280"/>
          </a:xfrm>
          <a:prstGeom prst="rect">
            <a:avLst/>
          </a:prstGeom>
          <a:noFill/>
        </p:spPr>
        <p:txBody>
          <a:bodyPr wrap="square" rtlCol="0">
            <a:noAutofit/>
          </a:bodyPr>
          <a:lstStyle/>
          <a:p>
            <a:r>
              <a:rPr lang="zh-CN" altLang="en-US">
                <a:solidFill>
                  <a:srgbClr val="FF0000"/>
                </a:solidFill>
              </a:rPr>
              <a:t>动态规划思想是什么？</a:t>
            </a:r>
            <a:endParaRPr lang="zh-CN" altLang="en-US">
              <a:solidFill>
                <a:srgbClr val="FF0000"/>
              </a:solidFill>
            </a:endParaRPr>
          </a:p>
        </p:txBody>
      </p:sp>
      <p:sp>
        <p:nvSpPr>
          <p:cNvPr id="5" name="文本框 4"/>
          <p:cNvSpPr txBox="1"/>
          <p:nvPr/>
        </p:nvSpPr>
        <p:spPr>
          <a:xfrm>
            <a:off x="684530" y="1934210"/>
            <a:ext cx="7865110" cy="1054100"/>
          </a:xfrm>
          <a:prstGeom prst="rect">
            <a:avLst/>
          </a:prstGeom>
          <a:noFill/>
        </p:spPr>
        <p:txBody>
          <a:bodyPr wrap="square" rtlCol="0">
            <a:noAutofit/>
          </a:bodyPr>
          <a:lstStyle/>
          <a:p>
            <a:r>
              <a:rPr lang="zh-CN" altLang="en-US"/>
              <a:t>动态规划就是待求解的问题按照阶段</a:t>
            </a:r>
            <a:r>
              <a:rPr lang="zh-CN" altLang="en-US">
                <a:solidFill>
                  <a:srgbClr val="FF0000"/>
                </a:solidFill>
              </a:rPr>
              <a:t>分解</a:t>
            </a:r>
            <a:r>
              <a:rPr lang="zh-CN" altLang="en-US"/>
              <a:t>成若干个子问题，其中各个子问题的解都是当前状态下所得的最优解，</a:t>
            </a:r>
            <a:r>
              <a:rPr lang="zh-CN" altLang="en-US">
                <a:solidFill>
                  <a:srgbClr val="FF0000"/>
                </a:solidFill>
              </a:rPr>
              <a:t>整个问题的最优解就是由各个子问题的最优解组成的。</a:t>
            </a:r>
            <a:endParaRPr lang="zh-CN" altLang="en-US">
              <a:solidFill>
                <a:srgbClr val="FF0000"/>
              </a:solidFill>
            </a:endParaRPr>
          </a:p>
        </p:txBody>
      </p:sp>
      <p:pic>
        <p:nvPicPr>
          <p:cNvPr id="6153" name="图片 14"/>
          <p:cNvPicPr>
            <a:picLocks noChangeAspect="1"/>
          </p:cNvPicPr>
          <p:nvPr/>
        </p:nvPicPr>
        <p:blipFill>
          <a:blip r:embed="rId1">
            <a:extLst>
              <a:ext uri="{28A0092B-C50C-407E-A947-70E740481C1C}">
                <a14:useLocalDpi xmlns:a14="http://schemas.microsoft.com/office/drawing/2010/main" val="0"/>
              </a:ext>
            </a:extLst>
          </a:blip>
          <a:srcRect/>
          <a:stretch>
            <a:fillRect/>
          </a:stretch>
        </p:blipFill>
        <p:spPr bwMode="auto">
          <a:xfrm>
            <a:off x="623570" y="4371023"/>
            <a:ext cx="723900" cy="65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6154" name="云形标注 17"/>
          <p:cNvSpPr>
            <a:spLocks noChangeArrowheads="1"/>
          </p:cNvSpPr>
          <p:nvPr/>
        </p:nvSpPr>
        <p:spPr bwMode="auto">
          <a:xfrm>
            <a:off x="1115695" y="3574098"/>
            <a:ext cx="1296988" cy="854075"/>
          </a:xfrm>
          <a:prstGeom prst="cloudCallout">
            <a:avLst>
              <a:gd name="adj1" fmla="val -20833"/>
              <a:gd name="adj2" fmla="val 62500"/>
            </a:avLst>
          </a:prstGeom>
          <a:solidFill>
            <a:schemeClr val="accent1"/>
          </a:solidFill>
          <a:ln w="9525" algn="ctr">
            <a:solidFill>
              <a:schemeClr val="tx1"/>
            </a:solidFill>
            <a:round/>
          </a:ln>
        </p:spPr>
        <p:txBody>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eaLnBrk="1" hangingPunct="1">
              <a:spcBef>
                <a:spcPct val="0"/>
              </a:spcBef>
              <a:buClrTx/>
              <a:buSzTx/>
              <a:buFont typeface="Arial" panose="020B0604020202020204" pitchFamily="34" charset="0"/>
              <a:buNone/>
            </a:pPr>
            <a:endParaRPr lang="zh-CN" altLang="en-US" sz="1800">
              <a:solidFill>
                <a:schemeClr val="tx1"/>
              </a:solidFill>
              <a:ea typeface="宋体" panose="02010600030101010101" pitchFamily="2" charset="-122"/>
            </a:endParaRPr>
          </a:p>
        </p:txBody>
      </p:sp>
      <p:sp>
        <p:nvSpPr>
          <p:cNvPr id="6155" name="文本框 20"/>
          <p:cNvSpPr txBox="1">
            <a:spLocks noChangeArrowheads="1"/>
          </p:cNvSpPr>
          <p:nvPr/>
        </p:nvSpPr>
        <p:spPr bwMode="auto">
          <a:xfrm>
            <a:off x="1218883" y="3748723"/>
            <a:ext cx="1193800" cy="5219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folHlink"/>
              </a:buClr>
              <a:buSzPct val="60000"/>
              <a:buFont typeface="Wingdings" panose="05000000000000000000" pitchFamily="2" charset="2"/>
              <a:buChar char="n"/>
              <a:defRPr sz="3200">
                <a:solidFill>
                  <a:srgbClr val="333399"/>
                </a:solidFill>
                <a:latin typeface="Arial" panose="020B0604020202020204" pitchFamily="34" charset="0"/>
                <a:ea typeface="黑体" panose="02010609060101010101" charset="-122"/>
              </a:defRPr>
            </a:lvl1pPr>
            <a:lvl2pPr marL="742950" indent="-285750">
              <a:spcBef>
                <a:spcPct val="20000"/>
              </a:spcBef>
              <a:buClr>
                <a:schemeClr val="folHlink"/>
              </a:buClr>
              <a:buSzPct val="60000"/>
              <a:buFont typeface="Wingdings" panose="05000000000000000000" pitchFamily="2" charset="2"/>
              <a:buChar char="n"/>
              <a:defRPr sz="2800">
                <a:solidFill>
                  <a:schemeClr val="tx1"/>
                </a:solidFill>
                <a:latin typeface="Tahoma" panose="020B0604030504040204" pitchFamily="34" charset="0"/>
                <a:ea typeface="宋体" panose="02010600030101010101" pitchFamily="2" charset="-122"/>
              </a:defRPr>
            </a:lvl2pPr>
            <a:lvl3pPr marL="1143000" indent="-228600">
              <a:spcBef>
                <a:spcPct val="20000"/>
              </a:spcBef>
              <a:buClr>
                <a:schemeClr val="folHlink"/>
              </a:buClr>
              <a:buSzPct val="60000"/>
              <a:buFont typeface="Wingdings" panose="05000000000000000000" pitchFamily="2" charset="2"/>
              <a:buChar char="n"/>
              <a:defRPr sz="2400">
                <a:solidFill>
                  <a:schemeClr val="tx1"/>
                </a:solidFill>
                <a:latin typeface="Tahoma" panose="020B0604030504040204" pitchFamily="34" charset="0"/>
                <a:ea typeface="宋体" panose="02010600030101010101" pitchFamily="2" charset="-122"/>
              </a:defRPr>
            </a:lvl3pPr>
            <a:lvl4pPr marL="16002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4pPr>
            <a:lvl5pPr marL="2057400" indent="-228600">
              <a:spcBef>
                <a:spcPct val="20000"/>
              </a:spcBef>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Clr>
                <a:schemeClr val="folHlink"/>
              </a:buClr>
              <a:buSzPct val="60000"/>
              <a:buFont typeface="Wingdings" panose="05000000000000000000" pitchFamily="2" charset="2"/>
              <a:buChar char="n"/>
              <a:defRPr sz="2000">
                <a:solidFill>
                  <a:schemeClr val="tx1"/>
                </a:solidFill>
                <a:latin typeface="Tahoma" panose="020B0604030504040204" pitchFamily="34" charset="0"/>
                <a:ea typeface="宋体" panose="02010600030101010101" pitchFamily="2" charset="-122"/>
              </a:defRPr>
            </a:lvl9pPr>
          </a:lstStyle>
          <a:p>
            <a:pPr algn="ctr">
              <a:spcBef>
                <a:spcPct val="0"/>
              </a:spcBef>
              <a:buClrTx/>
              <a:buSzTx/>
              <a:buFontTx/>
              <a:buNone/>
            </a:pPr>
            <a:r>
              <a:rPr lang="zh-CN" altLang="en-US" sz="1400" b="1">
                <a:solidFill>
                  <a:schemeClr val="tx1"/>
                </a:solidFill>
                <a:ea typeface="宋体" panose="02010600030101010101" pitchFamily="2" charset="-122"/>
              </a:rPr>
              <a:t>与分治和贪心雷同？</a:t>
            </a:r>
            <a:endParaRPr lang="zh-CN" altLang="en-US" sz="1400" b="1">
              <a:solidFill>
                <a:schemeClr val="tx1"/>
              </a:solidFill>
              <a:ea typeface="宋体" panose="02010600030101010101" pitchFamily="2" charset="-122"/>
            </a:endParaRPr>
          </a:p>
        </p:txBody>
      </p:sp>
      <p:sp>
        <p:nvSpPr>
          <p:cNvPr id="19" name="文本框 18"/>
          <p:cNvSpPr txBox="1"/>
          <p:nvPr/>
        </p:nvSpPr>
        <p:spPr>
          <a:xfrm>
            <a:off x="2555875" y="3356610"/>
            <a:ext cx="6124575" cy="859155"/>
          </a:xfrm>
          <a:prstGeom prst="rect">
            <a:avLst/>
          </a:prstGeom>
          <a:noFill/>
        </p:spPr>
        <p:txBody>
          <a:bodyPr>
            <a:noAutofit/>
          </a:bodyPr>
          <a:lstStyle/>
          <a:p>
            <a:pPr>
              <a:defRPr/>
            </a:pPr>
            <a:r>
              <a:rPr lang="zh-CN" altLang="en-US">
                <a:solidFill>
                  <a:srgbClr val="FF0000"/>
                </a:solidFill>
                <a:uFillTx/>
                <a:latin typeface="Times New Roman" panose="02020603050405020304" pitchFamily="18" charset="0"/>
                <a:cs typeface="Times New Roman" panose="02020603050405020304" pitchFamily="18" charset="0"/>
              </a:rPr>
              <a:t>①将一个大问题拆分成若干子问题</a:t>
            </a: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zh-CN" altLang="en-US">
              <a:solidFill>
                <a:srgbClr val="FF0000"/>
              </a:solidFill>
              <a:uFillTx/>
              <a:latin typeface="Times New Roman" panose="02020603050405020304" pitchFamily="18" charset="0"/>
              <a:cs typeface="Times New Roman" panose="02020603050405020304" pitchFamily="18" charset="0"/>
            </a:endParaRPr>
          </a:p>
          <a:p>
            <a:pPr>
              <a:defRPr/>
            </a:pPr>
            <a:endParaRPr lang="en-US" altLang="zh-CN">
              <a:solidFill>
                <a:srgbClr val="FF0000"/>
              </a:solidFill>
              <a:uFillTx/>
              <a:latin typeface="Times New Roman" panose="02020603050405020304" pitchFamily="18" charset="0"/>
              <a:cs typeface="Times New Roman" panose="02020603050405020304" pitchFamily="18" charset="0"/>
            </a:endParaRPr>
          </a:p>
          <a:p>
            <a:pPr>
              <a:defRPr/>
            </a:pPr>
            <a:r>
              <a:rPr lang="zh-CN" altLang="en-US">
                <a:solidFill>
                  <a:srgbClr val="FF0000"/>
                </a:solidFill>
                <a:uFillTx/>
                <a:latin typeface="Times New Roman" panose="02020603050405020304" pitchFamily="18" charset="0"/>
                <a:cs typeface="Times New Roman" panose="02020603050405020304" pitchFamily="18" charset="0"/>
              </a:rPr>
              <a:t>②整个问题最优是由各个子问题最优解合并组成。</a:t>
            </a:r>
            <a:endParaRPr lang="en-US" altLang="zh-CN">
              <a:solidFill>
                <a:srgbClr val="FF0000"/>
              </a:solidFill>
              <a:uFillTx/>
              <a:latin typeface="Times New Roman" panose="02020603050405020304" pitchFamily="18" charset="0"/>
              <a:cs typeface="Times New Roman" panose="02020603050405020304" pitchFamily="18" charset="0"/>
            </a:endParaRPr>
          </a:p>
        </p:txBody>
      </p:sp>
      <p:sp>
        <p:nvSpPr>
          <p:cNvPr id="7" name="文本框 6"/>
          <p:cNvSpPr txBox="1"/>
          <p:nvPr/>
        </p:nvSpPr>
        <p:spPr>
          <a:xfrm>
            <a:off x="799465" y="5451475"/>
            <a:ext cx="7880985" cy="848995"/>
          </a:xfrm>
          <a:prstGeom prst="rect">
            <a:avLst/>
          </a:prstGeom>
          <a:noFill/>
        </p:spPr>
        <p:txBody>
          <a:bodyPr wrap="square" rtlCol="0">
            <a:noAutofit/>
          </a:bodyPr>
          <a:lstStyle/>
          <a:p>
            <a:r>
              <a:rPr lang="zh-CN" altLang="en-US">
                <a:solidFill>
                  <a:schemeClr val="tx1"/>
                </a:solidFill>
              </a:rPr>
              <a:t>当然，定义中还缺少动态规划的一些描述，例如</a:t>
            </a:r>
            <a:r>
              <a:rPr lang="zh-CN" altLang="en-US">
                <a:solidFill>
                  <a:srgbClr val="FF0000"/>
                </a:solidFill>
              </a:rPr>
              <a:t>状态转移方程</a:t>
            </a:r>
            <a:r>
              <a:rPr lang="zh-CN" altLang="en-US">
                <a:solidFill>
                  <a:schemeClr val="tx1"/>
                </a:solidFill>
              </a:rPr>
              <a:t>，</a:t>
            </a:r>
            <a:r>
              <a:rPr lang="zh-CN" altLang="en-US">
                <a:solidFill>
                  <a:srgbClr val="FF0000"/>
                </a:solidFill>
              </a:rPr>
              <a:t>状态表</a:t>
            </a:r>
            <a:r>
              <a:rPr lang="zh-CN" altLang="en-US">
                <a:solidFill>
                  <a:schemeClr val="tx1"/>
                </a:solidFill>
              </a:rPr>
              <a:t>，</a:t>
            </a:r>
            <a:r>
              <a:rPr lang="zh-CN" altLang="en-US">
                <a:solidFill>
                  <a:srgbClr val="FF0000"/>
                </a:solidFill>
              </a:rPr>
              <a:t>最优子结构，重叠子问题</a:t>
            </a:r>
            <a:r>
              <a:rPr lang="zh-CN" altLang="en-US">
                <a:solidFill>
                  <a:schemeClr val="tx1"/>
                </a:solidFill>
              </a:rPr>
              <a:t>。</a:t>
            </a:r>
            <a:endParaRPr lang="zh-CN" altLang="en-US">
              <a:solidFill>
                <a:schemeClr val="tx1"/>
              </a:solidFill>
            </a:endParaRPr>
          </a:p>
        </p:txBody>
      </p:sp>
      <p:sp>
        <p:nvSpPr>
          <p:cNvPr id="4" name="波形 3"/>
          <p:cNvSpPr/>
          <p:nvPr/>
        </p:nvSpPr>
        <p:spPr>
          <a:xfrm>
            <a:off x="2484120" y="2924810"/>
            <a:ext cx="5406390" cy="2258695"/>
          </a:xfrm>
          <a:prstGeom prst="wave">
            <a:avLst/>
          </a:prstGeom>
          <a:noFill/>
          <a:ln w="28575" cap="flat" cmpd="sng" algn="ctr">
            <a:solidFill>
              <a:schemeClr val="accent2"/>
            </a:solidFill>
            <a:prstDash val="solid"/>
            <a:round/>
            <a:headEnd type="none" w="med" len="med"/>
            <a:tailEnd type="none" w="med" len="med"/>
          </a:ln>
          <a:extLst>
            <a:ext uri="{909E8E84-426E-40DD-AFC4-6F175D3DCCD1}">
              <a14:hiddenFill xmlns:a14="http://schemas.microsoft.com/office/drawing/2010/main">
                <a:solidFill>
                  <a:schemeClr val="tx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 name="文本框 5"/>
          <p:cNvSpPr txBox="1"/>
          <p:nvPr/>
        </p:nvSpPr>
        <p:spPr>
          <a:xfrm>
            <a:off x="612140" y="81407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5.1.1 </a:t>
            </a:r>
            <a:r>
              <a:rPr lang="zh-CN" altLang="en-US" sz="2400" b="1" kern="0" dirty="0">
                <a:uFillTx/>
                <a:latin typeface="Times New Roman" panose="02020603050405020304" pitchFamily="18" charset="0"/>
                <a:cs typeface="Times New Roman" panose="02020603050405020304" pitchFamily="18" charset="0"/>
                <a:sym typeface="+mn-ea"/>
              </a:rPr>
              <a:t>什么是动态规划</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表格 1"/>
          <p:cNvGraphicFramePr/>
          <p:nvPr/>
        </p:nvGraphicFramePr>
        <p:xfrm>
          <a:off x="683895" y="217741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1" name="文本框 10"/>
          <p:cNvSpPr txBox="1"/>
          <p:nvPr/>
        </p:nvSpPr>
        <p:spPr>
          <a:xfrm>
            <a:off x="539750" y="1196340"/>
            <a:ext cx="7623175" cy="831215"/>
          </a:xfrm>
          <a:prstGeom prst="rect">
            <a:avLst/>
          </a:prstGeom>
          <a:noFill/>
        </p:spPr>
        <p:txBody>
          <a:bodyPr wrap="square" rtlCol="0">
            <a:noAutofit/>
          </a:bodyPr>
          <a:lstStyle/>
          <a:p>
            <a:r>
              <a:rPr lang="zh-CN" altLang="en-US">
                <a:solidFill>
                  <a:srgbClr val="FF0000"/>
                </a:solidFill>
              </a:rPr>
              <a:t>算法初始时候，定义一个记忆数组。但是又需要记忆数组有两项相邻的数斐波那契数才能循环下去，那么初始化最初两项</a:t>
            </a:r>
            <a:r>
              <a:rPr lang="en-US" altLang="zh-CN">
                <a:solidFill>
                  <a:srgbClr val="FF0000"/>
                </a:solidFill>
                <a:latin typeface="Times New Roman" panose="02020603050405020304" pitchFamily="18" charset="0"/>
                <a:cs typeface="Times New Roman" panose="02020603050405020304" pitchFamily="18" charset="0"/>
              </a:rPr>
              <a:t>0,1</a:t>
            </a:r>
            <a:r>
              <a:rPr lang="zh-CN" altLang="en-US">
                <a:solidFill>
                  <a:srgbClr val="FF0000"/>
                </a:solidFill>
              </a:rPr>
              <a:t>可以满足循环要求。</a:t>
            </a:r>
            <a:endParaRPr lang="zh-CN" altLang="en-US">
              <a:solidFill>
                <a:srgbClr val="FF0000"/>
              </a:solidFill>
            </a:endParaRPr>
          </a:p>
        </p:txBody>
      </p:sp>
      <p:sp>
        <p:nvSpPr>
          <p:cNvPr id="19" name="文本框 18"/>
          <p:cNvSpPr txBox="1"/>
          <p:nvPr/>
        </p:nvSpPr>
        <p:spPr>
          <a:xfrm>
            <a:off x="467360" y="5300980"/>
            <a:ext cx="8603615" cy="1092835"/>
          </a:xfrm>
          <a:prstGeom prst="rect">
            <a:avLst/>
          </a:prstGeom>
          <a:noFill/>
        </p:spPr>
        <p:txBody>
          <a:bodyPr wrap="square" rtlCol="0">
            <a:noAutofit/>
          </a:bodyPr>
          <a:lstStyle/>
          <a:p>
            <a:r>
              <a:rPr lang="zh-CN" altLang="en-US">
                <a:solidFill>
                  <a:schemeClr val="tx1"/>
                </a:solidFill>
              </a:rPr>
              <a:t>动态规划处理子问题是有较多重复，可以把重叠子问题保存下来，供下个问题抉择直接使用。分治法则是独立处理重复的子问题。</a:t>
            </a:r>
            <a:endParaRPr lang="zh-CN" altLang="en-US">
              <a:solidFill>
                <a:schemeClr val="tx1"/>
              </a:solidFill>
            </a:endParaRPr>
          </a:p>
          <a:p>
            <a:r>
              <a:rPr lang="zh-CN" altLang="en-US">
                <a:solidFill>
                  <a:srgbClr val="FF0000"/>
                </a:solidFill>
              </a:rPr>
              <a:t>此时：为了解决斐波那契数列问题借助的数组就是称为状态表。</a:t>
            </a:r>
            <a:endParaRPr lang="zh-CN" altLang="en-US">
              <a:solidFill>
                <a:srgbClr val="FF0000"/>
              </a:solidFill>
            </a:endParaRPr>
          </a:p>
          <a:p>
            <a:r>
              <a:rPr lang="zh-CN" altLang="en-US">
                <a:solidFill>
                  <a:srgbClr val="FF0000"/>
                </a:solidFill>
              </a:rPr>
              <a:t>由子问题推导到父问题的转换方程就是状态转移方程，如</a:t>
            </a:r>
            <a:r>
              <a:rPr lang="en-US" altLang="zh-CN">
                <a:solidFill>
                  <a:srgbClr val="FF0000"/>
                </a:solidFill>
                <a:uFillTx/>
                <a:latin typeface="Times New Roman" panose="02020603050405020304" pitchFamily="18" charset="0"/>
                <a:sym typeface="+mn-ea"/>
              </a:rPr>
              <a:t>fib(n) = fib(n-1)+fib(n-2)</a:t>
            </a:r>
            <a:endParaRPr lang="en-US" altLang="zh-CN">
              <a:solidFill>
                <a:srgbClr val="FF0000"/>
              </a:solidFill>
              <a:uFillTx/>
              <a:latin typeface="Times New Roman" panose="02020603050405020304" pitchFamily="18" charset="0"/>
              <a:sym typeface="+mn-ea"/>
            </a:endParaRPr>
          </a:p>
        </p:txBody>
      </p:sp>
      <p:sp>
        <p:nvSpPr>
          <p:cNvPr id="34" name="文本框 33"/>
          <p:cNvSpPr txBox="1"/>
          <p:nvPr/>
        </p:nvSpPr>
        <p:spPr>
          <a:xfrm>
            <a:off x="683895" y="3140710"/>
            <a:ext cx="7478395" cy="490220"/>
          </a:xfrm>
          <a:prstGeom prst="rect">
            <a:avLst/>
          </a:prstGeom>
          <a:noFill/>
        </p:spPr>
        <p:txBody>
          <a:bodyPr wrap="square" rtlCol="0">
            <a:noAutofit/>
          </a:bodyPr>
          <a:lstStyle/>
          <a:p>
            <a:r>
              <a:rPr lang="en-US" altLang="zh-CN">
                <a:uFillTx/>
                <a:latin typeface="Times New Roman" panose="02020603050405020304" pitchFamily="18" charset="0"/>
                <a:sym typeface="+mn-ea"/>
              </a:rPr>
              <a:t>fib(n) = fib(n-1)+fib(n-2)</a:t>
            </a:r>
            <a:r>
              <a:rPr lang="zh-CN" altLang="en-US">
                <a:uFillTx/>
                <a:latin typeface="Times New Roman" panose="02020603050405020304" pitchFamily="18" charset="0"/>
                <a:sym typeface="+mn-ea"/>
              </a:rPr>
              <a:t>然后根据斐波那契数递归方程，持续循环。</a:t>
            </a:r>
            <a:endParaRPr lang="zh-CN" altLang="en-US">
              <a:uFillTx/>
              <a:latin typeface="Times New Roman" panose="02020603050405020304" pitchFamily="18" charset="0"/>
              <a:sym typeface="+mn-ea"/>
            </a:endParaRPr>
          </a:p>
        </p:txBody>
      </p:sp>
      <p:sp>
        <p:nvSpPr>
          <p:cNvPr id="35" name="文本框 34"/>
          <p:cNvSpPr txBox="1"/>
          <p:nvPr/>
        </p:nvSpPr>
        <p:spPr>
          <a:xfrm>
            <a:off x="217297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36" name="上弧形箭头 35"/>
          <p:cNvSpPr/>
          <p:nvPr/>
        </p:nvSpPr>
        <p:spPr>
          <a:xfrm>
            <a:off x="850265" y="194754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上弧形箭头 36"/>
          <p:cNvSpPr/>
          <p:nvPr/>
        </p:nvSpPr>
        <p:spPr>
          <a:xfrm flipV="1">
            <a:off x="1505585" y="256476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0" name="上弧形箭头 39"/>
          <p:cNvSpPr/>
          <p:nvPr/>
        </p:nvSpPr>
        <p:spPr>
          <a:xfrm>
            <a:off x="1619885" y="19551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1" name="上弧形箭头 40"/>
          <p:cNvSpPr/>
          <p:nvPr/>
        </p:nvSpPr>
        <p:spPr>
          <a:xfrm flipV="1">
            <a:off x="2275205" y="25723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2" name="文本框 41"/>
          <p:cNvSpPr txBox="1"/>
          <p:nvPr/>
        </p:nvSpPr>
        <p:spPr>
          <a:xfrm>
            <a:off x="2915920" y="218186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3" name="上弧形箭头 42"/>
          <p:cNvSpPr/>
          <p:nvPr/>
        </p:nvSpPr>
        <p:spPr>
          <a:xfrm>
            <a:off x="2339975" y="195072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4" name="上弧形箭头 43"/>
          <p:cNvSpPr/>
          <p:nvPr/>
        </p:nvSpPr>
        <p:spPr>
          <a:xfrm flipV="1">
            <a:off x="2995295" y="256794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5" name="文本框 44"/>
          <p:cNvSpPr txBox="1"/>
          <p:nvPr/>
        </p:nvSpPr>
        <p:spPr>
          <a:xfrm>
            <a:off x="3636010" y="217741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46" name="上弧形箭头 45"/>
          <p:cNvSpPr/>
          <p:nvPr/>
        </p:nvSpPr>
        <p:spPr>
          <a:xfrm>
            <a:off x="3060065" y="193675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7" name="上弧形箭头 46"/>
          <p:cNvSpPr/>
          <p:nvPr/>
        </p:nvSpPr>
        <p:spPr>
          <a:xfrm flipV="1">
            <a:off x="3715385" y="255397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48" name="文本框 47"/>
          <p:cNvSpPr txBox="1"/>
          <p:nvPr/>
        </p:nvSpPr>
        <p:spPr>
          <a:xfrm>
            <a:off x="4356100" y="216344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50" name="文本框 49"/>
          <p:cNvSpPr txBox="1"/>
          <p:nvPr/>
        </p:nvSpPr>
        <p:spPr>
          <a:xfrm>
            <a:off x="470535" y="3474085"/>
            <a:ext cx="4572000" cy="1753235"/>
          </a:xfrm>
          <a:prstGeom prst="rect">
            <a:avLst/>
          </a:prstGeom>
          <a:noFill/>
        </p:spPr>
        <p:txBody>
          <a:bodyPr wrap="square" rtlCol="0" anchor="t">
            <a:spAutoFit/>
          </a:bodyPr>
          <a:lstStyle/>
          <a:p>
            <a:r>
              <a:rPr lang="en-US" altLang="zh-CN">
                <a:latin typeface="Times New Roman" panose="02020603050405020304" pitchFamily="18" charset="0"/>
                <a:cs typeface="Times New Roman" panose="02020603050405020304" pitchFamily="18" charset="0"/>
              </a:rPr>
              <a:t>    fib[0] = 0;</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fib[1] = 1;</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for (int i = 2; i &lt;= n; i++)</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fib[i] = fib[i-1] + fib[i-2];</a:t>
            </a:r>
            <a:endParaRPr lang="en-US" altLang="zh-CN">
              <a:latin typeface="Times New Roman" panose="02020603050405020304" pitchFamily="18" charset="0"/>
              <a:cs typeface="Times New Roman" panose="02020603050405020304" pitchFamily="18" charset="0"/>
            </a:endParaRPr>
          </a:p>
          <a:p>
            <a:r>
              <a:rPr lang="en-US" altLang="zh-CN">
                <a:latin typeface="Times New Roman" panose="02020603050405020304" pitchFamily="18" charset="0"/>
                <a:cs typeface="Times New Roman" panose="02020603050405020304" pitchFamily="18" charset="0"/>
              </a:rPr>
              <a:t>    }</a:t>
            </a:r>
            <a:endParaRPr lang="zh-CN" altLang="en-US">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5"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5" nodeType="withEffect">
                                  <p:stCondLst>
                                    <p:cond delay="0"/>
                                  </p:stCondLst>
                                  <p:childTnLst>
                                    <p:set>
                                      <p:cBhvr>
                                        <p:cTn id="8" dur="1" fill="hold">
                                          <p:stCondLst>
                                            <p:cond delay="0"/>
                                          </p:stCondLst>
                                        </p:cTn>
                                        <p:tgtEl>
                                          <p:spTgt spid="3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35" presetClass="emph" presetSubtype="0" fill="hold" grpId="0" nodeType="clickEffect">
                                  <p:stCondLst>
                                    <p:cond delay="0"/>
                                  </p:stCondLst>
                                  <p:childTnLst>
                                    <p:anim calcmode="discrete" valueType="str">
                                      <p:cBhvr>
                                        <p:cTn id="12" dur="1000" fill="hold"/>
                                        <p:tgtEl>
                                          <p:spTgt spid="36"/>
                                        </p:tgtEl>
                                        <p:attrNameLst>
                                          <p:attrName>style.visibility</p:attrName>
                                        </p:attrNameLst>
                                      </p:cBhvr>
                                      <p:tavLst>
                                        <p:tav tm="0">
                                          <p:val>
                                            <p:strVal val="hidden"/>
                                          </p:val>
                                        </p:tav>
                                        <p:tav tm="50000">
                                          <p:val>
                                            <p:strVal val="visible"/>
                                          </p:val>
                                        </p:tav>
                                      </p:tavLst>
                                    </p:anim>
                                  </p:childTnLst>
                                </p:cTn>
                              </p:par>
                              <p:par>
                                <p:cTn id="13" presetID="35" presetClass="emph" presetSubtype="0" fill="hold" grpId="0" nodeType="with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1000"/>
                            </p:stCondLst>
                            <p:childTnLst>
                              <p:par>
                                <p:cTn id="16" presetID="35" presetClass="emph" presetSubtype="0" fill="hold" grpId="2" nodeType="afterEffect">
                                  <p:stCondLst>
                                    <p:cond delay="0"/>
                                  </p:stCondLst>
                                  <p:childTnLst>
                                    <p:anim calcmode="discrete" valueType="str">
                                      <p:cBhvr>
                                        <p:cTn id="17" dur="1000" fill="hold"/>
                                        <p:tgtEl>
                                          <p:spTgt spid="36"/>
                                        </p:tgtEl>
                                        <p:attrNameLst>
                                          <p:attrName>style.visibility</p:attrName>
                                        </p:attrNameLst>
                                      </p:cBhvr>
                                      <p:tavLst>
                                        <p:tav tm="0">
                                          <p:val>
                                            <p:strVal val="hidden"/>
                                          </p:val>
                                        </p:tav>
                                        <p:tav tm="50000">
                                          <p:val>
                                            <p:strVal val="visible"/>
                                          </p:val>
                                        </p:tav>
                                      </p:tavLst>
                                    </p:anim>
                                  </p:childTnLst>
                                </p:cTn>
                              </p:par>
                              <p:par>
                                <p:cTn id="18" presetID="35" presetClass="emph" presetSubtype="0" fill="hold" grpId="2" nodeType="withEffect">
                                  <p:stCondLst>
                                    <p:cond delay="0"/>
                                  </p:stCondLst>
                                  <p:childTnLst>
                                    <p:anim calcmode="discrete" valueType="str">
                                      <p:cBhvr>
                                        <p:cTn id="19" dur="1000" fill="hold"/>
                                        <p:tgtEl>
                                          <p:spTgt spid="37"/>
                                        </p:tgtEl>
                                        <p:attrNameLst>
                                          <p:attrName>style.visibility</p:attrName>
                                        </p:attrNameLst>
                                      </p:cBhvr>
                                      <p:tavLst>
                                        <p:tav tm="0">
                                          <p:val>
                                            <p:strVal val="hidden"/>
                                          </p:val>
                                        </p:tav>
                                        <p:tav tm="50000">
                                          <p:val>
                                            <p:strVal val="visible"/>
                                          </p:val>
                                        </p:tav>
                                      </p:tavLst>
                                    </p:anim>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grpId="3" nodeType="clickEffect">
                                  <p:stCondLst>
                                    <p:cond delay="0"/>
                                  </p:stCondLst>
                                  <p:childTnLst>
                                    <p:set>
                                      <p:cBhvr>
                                        <p:cTn id="23" dur="1" fill="hold">
                                          <p:stCondLst>
                                            <p:cond delay="0"/>
                                          </p:stCondLst>
                                        </p:cTn>
                                        <p:tgtEl>
                                          <p:spTgt spid="36"/>
                                        </p:tgtEl>
                                        <p:attrNameLst>
                                          <p:attrName>style.visibility</p:attrName>
                                        </p:attrNameLst>
                                      </p:cBhvr>
                                      <p:to>
                                        <p:strVal val="visible"/>
                                      </p:to>
                                    </p:set>
                                  </p:childTnLst>
                                </p:cTn>
                              </p:par>
                              <p:par>
                                <p:cTn id="24" presetID="1" presetClass="entr" presetSubtype="0" fill="hold" grpId="3" nodeType="withEffect">
                                  <p:stCondLst>
                                    <p:cond delay="0"/>
                                  </p:stCondLst>
                                  <p:childTnLst>
                                    <p:set>
                                      <p:cBhvr>
                                        <p:cTn id="25" dur="1" fill="hold">
                                          <p:stCondLst>
                                            <p:cond delay="0"/>
                                          </p:stCondLst>
                                        </p:cTn>
                                        <p:tgtEl>
                                          <p:spTgt spid="3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1" presetClass="entr" presetSubtype="0" fill="hold" grpId="0" nodeType="clickEffect">
                                  <p:stCondLst>
                                    <p:cond delay="0"/>
                                  </p:stCondLst>
                                  <p:childTnLst>
                                    <p:set>
                                      <p:cBhvr>
                                        <p:cTn id="29" dur="1" fill="hold">
                                          <p:stCondLst>
                                            <p:cond delay="0"/>
                                          </p:stCondLst>
                                        </p:cTn>
                                        <p:tgtEl>
                                          <p:spTgt spid="35"/>
                                        </p:tgtEl>
                                        <p:attrNameLst>
                                          <p:attrName>style.visibility</p:attrName>
                                        </p:attrNameLst>
                                      </p:cBhvr>
                                      <p:to>
                                        <p:strVal val="visible"/>
                                      </p:to>
                                    </p:set>
                                  </p:childTnLst>
                                </p:cTn>
                              </p:par>
                            </p:childTnLst>
                          </p:cTn>
                        </p:par>
                      </p:childTnLst>
                    </p:cTn>
                  </p:par>
                  <p:par>
                    <p:cTn id="30" fill="hold">
                      <p:stCondLst>
                        <p:cond delay="indefinite"/>
                      </p:stCondLst>
                      <p:childTnLst>
                        <p:par>
                          <p:cTn id="31" fill="hold">
                            <p:stCondLst>
                              <p:cond delay="0"/>
                            </p:stCondLst>
                            <p:childTnLst>
                              <p:par>
                                <p:cTn id="32" presetID="1" presetClass="exit" presetSubtype="0" fill="hold" grpId="4" nodeType="clickEffect">
                                  <p:stCondLst>
                                    <p:cond delay="0"/>
                                  </p:stCondLst>
                                  <p:childTnLst>
                                    <p:set>
                                      <p:cBhvr>
                                        <p:cTn id="33" dur="1" fill="hold">
                                          <p:stCondLst>
                                            <p:cond delay="0"/>
                                          </p:stCondLst>
                                        </p:cTn>
                                        <p:tgtEl>
                                          <p:spTgt spid="36"/>
                                        </p:tgtEl>
                                        <p:attrNameLst>
                                          <p:attrName>style.visibility</p:attrName>
                                        </p:attrNameLst>
                                      </p:cBhvr>
                                      <p:to>
                                        <p:strVal val="hidden"/>
                                      </p:to>
                                    </p:set>
                                  </p:childTnLst>
                                </p:cTn>
                              </p:par>
                              <p:par>
                                <p:cTn id="34" presetID="1" presetClass="exit" presetSubtype="0" fill="hold" grpId="4" nodeType="withEffect">
                                  <p:stCondLst>
                                    <p:cond delay="0"/>
                                  </p:stCondLst>
                                  <p:childTnLst>
                                    <p:set>
                                      <p:cBhvr>
                                        <p:cTn id="35" dur="1" fill="hold">
                                          <p:stCondLst>
                                            <p:cond delay="0"/>
                                          </p:stCondLst>
                                        </p:cTn>
                                        <p:tgtEl>
                                          <p:spTgt spid="37"/>
                                        </p:tgtEl>
                                        <p:attrNameLst>
                                          <p:attrName>style.visibility</p:attrName>
                                        </p:attrNameLst>
                                      </p:cBhvr>
                                      <p:to>
                                        <p:strVal val="hidden"/>
                                      </p:to>
                                    </p:set>
                                  </p:childTnLst>
                                </p:cTn>
                              </p:par>
                            </p:childTnLst>
                          </p:cTn>
                        </p:par>
                      </p:childTnLst>
                    </p:cTn>
                  </p:par>
                  <p:par>
                    <p:cTn id="36" fill="hold">
                      <p:stCondLst>
                        <p:cond delay="indefinite"/>
                      </p:stCondLst>
                      <p:childTnLst>
                        <p:par>
                          <p:cTn id="37" fill="hold">
                            <p:stCondLst>
                              <p:cond delay="0"/>
                            </p:stCondLst>
                            <p:childTnLst>
                              <p:par>
                                <p:cTn id="38" presetID="1" presetClass="entr" presetSubtype="0" fill="hold" grpId="5" nodeType="clickEffect">
                                  <p:stCondLst>
                                    <p:cond delay="0"/>
                                  </p:stCondLst>
                                  <p:childTnLst>
                                    <p:set>
                                      <p:cBhvr>
                                        <p:cTn id="39" dur="1" fill="hold">
                                          <p:stCondLst>
                                            <p:cond delay="0"/>
                                          </p:stCondLst>
                                        </p:cTn>
                                        <p:tgtEl>
                                          <p:spTgt spid="40"/>
                                        </p:tgtEl>
                                        <p:attrNameLst>
                                          <p:attrName>style.visibility</p:attrName>
                                        </p:attrNameLst>
                                      </p:cBhvr>
                                      <p:to>
                                        <p:strVal val="visible"/>
                                      </p:to>
                                    </p:set>
                                  </p:childTnLst>
                                </p:cTn>
                              </p:par>
                              <p:par>
                                <p:cTn id="40" presetID="1" presetClass="entr" presetSubtype="0" fill="hold" grpId="5" nodeType="withEffect">
                                  <p:stCondLst>
                                    <p:cond delay="0"/>
                                  </p:stCondLst>
                                  <p:childTnLst>
                                    <p:set>
                                      <p:cBhvr>
                                        <p:cTn id="41" dur="1" fill="hold">
                                          <p:stCondLst>
                                            <p:cond delay="0"/>
                                          </p:stCondLst>
                                        </p:cTn>
                                        <p:tgtEl>
                                          <p:spTgt spid="41"/>
                                        </p:tgtEl>
                                        <p:attrNameLst>
                                          <p:attrName>style.visibility</p:attrName>
                                        </p:attrNameLst>
                                      </p:cBhvr>
                                      <p:to>
                                        <p:strVal val="visible"/>
                                      </p:to>
                                    </p:set>
                                  </p:childTnLst>
                                </p:cTn>
                              </p:par>
                            </p:childTnLst>
                          </p:cTn>
                        </p:par>
                      </p:childTnLst>
                    </p:cTn>
                  </p:par>
                  <p:par>
                    <p:cTn id="42" fill="hold">
                      <p:stCondLst>
                        <p:cond delay="indefinite"/>
                      </p:stCondLst>
                      <p:childTnLst>
                        <p:par>
                          <p:cTn id="43" fill="hold">
                            <p:stCondLst>
                              <p:cond delay="0"/>
                            </p:stCondLst>
                            <p:childTnLst>
                              <p:par>
                                <p:cTn id="44" presetID="35" presetClass="emph" presetSubtype="0" fill="hold" grpId="0" nodeType="clickEffect">
                                  <p:stCondLst>
                                    <p:cond delay="0"/>
                                  </p:stCondLst>
                                  <p:childTnLst>
                                    <p:anim calcmode="discrete" valueType="str">
                                      <p:cBhvr>
                                        <p:cTn id="45" dur="1000" fill="hold"/>
                                        <p:tgtEl>
                                          <p:spTgt spid="40"/>
                                        </p:tgtEl>
                                        <p:attrNameLst>
                                          <p:attrName>style.visibility</p:attrName>
                                        </p:attrNameLst>
                                      </p:cBhvr>
                                      <p:tavLst>
                                        <p:tav tm="0">
                                          <p:val>
                                            <p:strVal val="hidden"/>
                                          </p:val>
                                        </p:tav>
                                        <p:tav tm="50000">
                                          <p:val>
                                            <p:strVal val="visible"/>
                                          </p:val>
                                        </p:tav>
                                      </p:tavLst>
                                    </p:anim>
                                  </p:childTnLst>
                                </p:cTn>
                              </p:par>
                              <p:par>
                                <p:cTn id="46" presetID="35" presetClass="emph" presetSubtype="0" fill="hold" grpId="0" nodeType="withEffect">
                                  <p:stCondLst>
                                    <p:cond delay="0"/>
                                  </p:stCondLst>
                                  <p:childTnLst>
                                    <p:anim calcmode="discrete" valueType="str">
                                      <p:cBhvr>
                                        <p:cTn id="47" dur="1000" fill="hold"/>
                                        <p:tgtEl>
                                          <p:spTgt spid="41"/>
                                        </p:tgtEl>
                                        <p:attrNameLst>
                                          <p:attrName>style.visibility</p:attrName>
                                        </p:attrNameLst>
                                      </p:cBhvr>
                                      <p:tavLst>
                                        <p:tav tm="0">
                                          <p:val>
                                            <p:strVal val="hidden"/>
                                          </p:val>
                                        </p:tav>
                                        <p:tav tm="50000">
                                          <p:val>
                                            <p:strVal val="visible"/>
                                          </p:val>
                                        </p:tav>
                                      </p:tavLst>
                                    </p:anim>
                                  </p:childTnLst>
                                </p:cTn>
                              </p:par>
                            </p:childTnLst>
                          </p:cTn>
                        </p:par>
                        <p:par>
                          <p:cTn id="48" fill="hold">
                            <p:stCondLst>
                              <p:cond delay="1000"/>
                            </p:stCondLst>
                            <p:childTnLst>
                              <p:par>
                                <p:cTn id="49" presetID="35" presetClass="emph" presetSubtype="0" fill="hold" grpId="2" nodeType="afterEffect">
                                  <p:stCondLst>
                                    <p:cond delay="0"/>
                                  </p:stCondLst>
                                  <p:childTnLst>
                                    <p:anim calcmode="discrete" valueType="str">
                                      <p:cBhvr>
                                        <p:cTn id="50" dur="1000" fill="hold"/>
                                        <p:tgtEl>
                                          <p:spTgt spid="40"/>
                                        </p:tgtEl>
                                        <p:attrNameLst>
                                          <p:attrName>style.visibility</p:attrName>
                                        </p:attrNameLst>
                                      </p:cBhvr>
                                      <p:tavLst>
                                        <p:tav tm="0">
                                          <p:val>
                                            <p:strVal val="hidden"/>
                                          </p:val>
                                        </p:tav>
                                        <p:tav tm="50000">
                                          <p:val>
                                            <p:strVal val="visible"/>
                                          </p:val>
                                        </p:tav>
                                      </p:tavLst>
                                    </p:anim>
                                  </p:childTnLst>
                                </p:cTn>
                              </p:par>
                              <p:par>
                                <p:cTn id="51" presetID="35" presetClass="emph" presetSubtype="0" fill="hold" grpId="2" nodeType="withEffect">
                                  <p:stCondLst>
                                    <p:cond delay="0"/>
                                  </p:stCondLst>
                                  <p:childTnLst>
                                    <p:anim calcmode="discrete" valueType="str">
                                      <p:cBhvr>
                                        <p:cTn id="52"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3" nodeType="clickEffect">
                                  <p:stCondLst>
                                    <p:cond delay="0"/>
                                  </p:stCondLst>
                                  <p:childTnLst>
                                    <p:set>
                                      <p:cBhvr>
                                        <p:cTn id="56" dur="1" fill="hold">
                                          <p:stCondLst>
                                            <p:cond delay="0"/>
                                          </p:stCondLst>
                                        </p:cTn>
                                        <p:tgtEl>
                                          <p:spTgt spid="40"/>
                                        </p:tgtEl>
                                        <p:attrNameLst>
                                          <p:attrName>style.visibility</p:attrName>
                                        </p:attrNameLst>
                                      </p:cBhvr>
                                      <p:to>
                                        <p:strVal val="visible"/>
                                      </p:to>
                                    </p:set>
                                  </p:childTnLst>
                                </p:cTn>
                              </p:par>
                              <p:par>
                                <p:cTn id="57" presetID="1" presetClass="entr" presetSubtype="0" fill="hold" grpId="3" nodeType="withEffect">
                                  <p:stCondLst>
                                    <p:cond delay="0"/>
                                  </p:stCondLst>
                                  <p:childTnLst>
                                    <p:set>
                                      <p:cBhvr>
                                        <p:cTn id="58" dur="1" fill="hold">
                                          <p:stCondLst>
                                            <p:cond delay="0"/>
                                          </p:stCondLst>
                                        </p:cTn>
                                        <p:tgtEl>
                                          <p:spTgt spid="41"/>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grpId="4" nodeType="clickEffect">
                                  <p:stCondLst>
                                    <p:cond delay="0"/>
                                  </p:stCondLst>
                                  <p:childTnLst>
                                    <p:set>
                                      <p:cBhvr>
                                        <p:cTn id="66" dur="1" fill="hold">
                                          <p:stCondLst>
                                            <p:cond delay="0"/>
                                          </p:stCondLst>
                                        </p:cTn>
                                        <p:tgtEl>
                                          <p:spTgt spid="40"/>
                                        </p:tgtEl>
                                        <p:attrNameLst>
                                          <p:attrName>style.visibility</p:attrName>
                                        </p:attrNameLst>
                                      </p:cBhvr>
                                      <p:to>
                                        <p:strVal val="hidden"/>
                                      </p:to>
                                    </p:set>
                                  </p:childTnLst>
                                </p:cTn>
                              </p:par>
                              <p:par>
                                <p:cTn id="67" presetID="1" presetClass="exit" presetSubtype="0" fill="hold" grpId="4" nodeType="withEffect">
                                  <p:stCondLst>
                                    <p:cond delay="0"/>
                                  </p:stCondLst>
                                  <p:childTnLst>
                                    <p:set>
                                      <p:cBhvr>
                                        <p:cTn id="68" dur="1" fill="hold">
                                          <p:stCondLst>
                                            <p:cond delay="0"/>
                                          </p:stCondLst>
                                        </p:cTn>
                                        <p:tgtEl>
                                          <p:spTgt spid="41"/>
                                        </p:tgtEl>
                                        <p:attrNameLst>
                                          <p:attrName>style.visibility</p:attrName>
                                        </p:attrNameLst>
                                      </p:cBhvr>
                                      <p:to>
                                        <p:strVal val="hidden"/>
                                      </p:to>
                                    </p:set>
                                  </p:childTnLst>
                                </p:cTn>
                              </p:par>
                            </p:childTnLst>
                          </p:cTn>
                        </p:par>
                      </p:childTnLst>
                    </p:cTn>
                  </p:par>
                  <p:par>
                    <p:cTn id="69" fill="hold">
                      <p:stCondLst>
                        <p:cond delay="indefinite"/>
                      </p:stCondLst>
                      <p:childTnLst>
                        <p:par>
                          <p:cTn id="70" fill="hold">
                            <p:stCondLst>
                              <p:cond delay="0"/>
                            </p:stCondLst>
                            <p:childTnLst>
                              <p:par>
                                <p:cTn id="71" presetID="1" presetClass="entr" presetSubtype="0" fill="hold" grpId="5" nodeType="clickEffect">
                                  <p:stCondLst>
                                    <p:cond delay="0"/>
                                  </p:stCondLst>
                                  <p:childTnLst>
                                    <p:set>
                                      <p:cBhvr>
                                        <p:cTn id="72" dur="1" fill="hold">
                                          <p:stCondLst>
                                            <p:cond delay="0"/>
                                          </p:stCondLst>
                                        </p:cTn>
                                        <p:tgtEl>
                                          <p:spTgt spid="43"/>
                                        </p:tgtEl>
                                        <p:attrNameLst>
                                          <p:attrName>style.visibility</p:attrName>
                                        </p:attrNameLst>
                                      </p:cBhvr>
                                      <p:to>
                                        <p:strVal val="visible"/>
                                      </p:to>
                                    </p:set>
                                  </p:childTnLst>
                                </p:cTn>
                              </p:par>
                              <p:par>
                                <p:cTn id="73" presetID="1" presetClass="entr" presetSubtype="0" fill="hold" grpId="5" nodeType="withEffect">
                                  <p:stCondLst>
                                    <p:cond delay="0"/>
                                  </p:stCondLst>
                                  <p:childTnLst>
                                    <p:set>
                                      <p:cBhvr>
                                        <p:cTn id="74" dur="1" fill="hold">
                                          <p:stCondLst>
                                            <p:cond delay="0"/>
                                          </p:stCondLst>
                                        </p:cTn>
                                        <p:tgtEl>
                                          <p:spTgt spid="44"/>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35" presetClass="emph" presetSubtype="0" fill="hold" grpId="0" nodeType="clickEffect">
                                  <p:stCondLst>
                                    <p:cond delay="0"/>
                                  </p:stCondLst>
                                  <p:childTnLst>
                                    <p:anim calcmode="discrete" valueType="str">
                                      <p:cBhvr>
                                        <p:cTn id="78" dur="1000" fill="hold"/>
                                        <p:tgtEl>
                                          <p:spTgt spid="43"/>
                                        </p:tgtEl>
                                        <p:attrNameLst>
                                          <p:attrName>style.visibility</p:attrName>
                                        </p:attrNameLst>
                                      </p:cBhvr>
                                      <p:tavLst>
                                        <p:tav tm="0">
                                          <p:val>
                                            <p:strVal val="hidden"/>
                                          </p:val>
                                        </p:tav>
                                        <p:tav tm="50000">
                                          <p:val>
                                            <p:strVal val="visible"/>
                                          </p:val>
                                        </p:tav>
                                      </p:tavLst>
                                    </p:anim>
                                  </p:childTnLst>
                                </p:cTn>
                              </p:par>
                              <p:par>
                                <p:cTn id="79" presetID="35" presetClass="emph" presetSubtype="0" fill="hold" grpId="0" nodeType="withEffect">
                                  <p:stCondLst>
                                    <p:cond delay="0"/>
                                  </p:stCondLst>
                                  <p:childTnLst>
                                    <p:anim calcmode="discrete" valueType="str">
                                      <p:cBhvr>
                                        <p:cTn id="80" dur="1000" fill="hold"/>
                                        <p:tgtEl>
                                          <p:spTgt spid="44"/>
                                        </p:tgtEl>
                                        <p:attrNameLst>
                                          <p:attrName>style.visibility</p:attrName>
                                        </p:attrNameLst>
                                      </p:cBhvr>
                                      <p:tavLst>
                                        <p:tav tm="0">
                                          <p:val>
                                            <p:strVal val="hidden"/>
                                          </p:val>
                                        </p:tav>
                                        <p:tav tm="50000">
                                          <p:val>
                                            <p:strVal val="visible"/>
                                          </p:val>
                                        </p:tav>
                                      </p:tavLst>
                                    </p:anim>
                                  </p:childTnLst>
                                </p:cTn>
                              </p:par>
                            </p:childTnLst>
                          </p:cTn>
                        </p:par>
                        <p:par>
                          <p:cTn id="81" fill="hold">
                            <p:stCondLst>
                              <p:cond delay="1000"/>
                            </p:stCondLst>
                            <p:childTnLst>
                              <p:par>
                                <p:cTn id="82" presetID="35" presetClass="emph" presetSubtype="0" fill="hold" grpId="2" nodeType="afterEffect">
                                  <p:stCondLst>
                                    <p:cond delay="0"/>
                                  </p:stCondLst>
                                  <p:childTnLst>
                                    <p:anim calcmode="discrete" valueType="str">
                                      <p:cBhvr>
                                        <p:cTn id="83" dur="1000" fill="hold"/>
                                        <p:tgtEl>
                                          <p:spTgt spid="43"/>
                                        </p:tgtEl>
                                        <p:attrNameLst>
                                          <p:attrName>style.visibility</p:attrName>
                                        </p:attrNameLst>
                                      </p:cBhvr>
                                      <p:tavLst>
                                        <p:tav tm="0">
                                          <p:val>
                                            <p:strVal val="hidden"/>
                                          </p:val>
                                        </p:tav>
                                        <p:tav tm="50000">
                                          <p:val>
                                            <p:strVal val="visible"/>
                                          </p:val>
                                        </p:tav>
                                      </p:tavLst>
                                    </p:anim>
                                  </p:childTnLst>
                                </p:cTn>
                              </p:par>
                              <p:par>
                                <p:cTn id="84" presetID="35" presetClass="emph" presetSubtype="0" fill="hold" grpId="2" nodeType="withEffect">
                                  <p:stCondLst>
                                    <p:cond delay="0"/>
                                  </p:stCondLst>
                                  <p:childTnLst>
                                    <p:anim calcmode="discrete" valueType="str">
                                      <p:cBhvr>
                                        <p:cTn id="85" dur="1000" fill="hold"/>
                                        <p:tgtEl>
                                          <p:spTgt spid="44"/>
                                        </p:tgtEl>
                                        <p:attrNameLst>
                                          <p:attrName>style.visibility</p:attrName>
                                        </p:attrNameLst>
                                      </p:cBhvr>
                                      <p:tavLst>
                                        <p:tav tm="0">
                                          <p:val>
                                            <p:strVal val="hidden"/>
                                          </p:val>
                                        </p:tav>
                                        <p:tav tm="50000">
                                          <p:val>
                                            <p:strVal val="visible"/>
                                          </p:val>
                                        </p:tav>
                                      </p:tavLst>
                                    </p:anim>
                                  </p:childTnLst>
                                </p:cTn>
                              </p:par>
                            </p:childTnLst>
                          </p:cTn>
                        </p:par>
                      </p:childTnLst>
                    </p:cTn>
                  </p:par>
                  <p:par>
                    <p:cTn id="86" fill="hold">
                      <p:stCondLst>
                        <p:cond delay="indefinite"/>
                      </p:stCondLst>
                      <p:childTnLst>
                        <p:par>
                          <p:cTn id="87" fill="hold">
                            <p:stCondLst>
                              <p:cond delay="0"/>
                            </p:stCondLst>
                            <p:childTnLst>
                              <p:par>
                                <p:cTn id="88" presetID="1" presetClass="entr" presetSubtype="0" fill="hold" grpId="3" nodeType="clickEffect">
                                  <p:stCondLst>
                                    <p:cond delay="0"/>
                                  </p:stCondLst>
                                  <p:childTnLst>
                                    <p:set>
                                      <p:cBhvr>
                                        <p:cTn id="89" dur="1" fill="hold">
                                          <p:stCondLst>
                                            <p:cond delay="0"/>
                                          </p:stCondLst>
                                        </p:cTn>
                                        <p:tgtEl>
                                          <p:spTgt spid="43"/>
                                        </p:tgtEl>
                                        <p:attrNameLst>
                                          <p:attrName>style.visibility</p:attrName>
                                        </p:attrNameLst>
                                      </p:cBhvr>
                                      <p:to>
                                        <p:strVal val="visible"/>
                                      </p:to>
                                    </p:set>
                                  </p:childTnLst>
                                </p:cTn>
                              </p:par>
                              <p:par>
                                <p:cTn id="90" presetID="1" presetClass="entr" presetSubtype="0" fill="hold" grpId="3" nodeType="withEffect">
                                  <p:stCondLst>
                                    <p:cond delay="0"/>
                                  </p:stCondLst>
                                  <p:childTnLst>
                                    <p:set>
                                      <p:cBhvr>
                                        <p:cTn id="91" dur="1" fill="hold">
                                          <p:stCondLst>
                                            <p:cond delay="0"/>
                                          </p:stCondLst>
                                        </p:cTn>
                                        <p:tgtEl>
                                          <p:spTgt spid="44"/>
                                        </p:tgtEl>
                                        <p:attrNameLst>
                                          <p:attrName>style.visibility</p:attrName>
                                        </p:attrNameLst>
                                      </p:cBhvr>
                                      <p:to>
                                        <p:strVal val="visible"/>
                                      </p:to>
                                    </p:set>
                                  </p:childTnLst>
                                </p:cTn>
                              </p:par>
                            </p:childTnLst>
                          </p:cTn>
                        </p:par>
                      </p:childTnLst>
                    </p:cTn>
                  </p:par>
                  <p:par>
                    <p:cTn id="92" fill="hold">
                      <p:stCondLst>
                        <p:cond delay="indefinite"/>
                      </p:stCondLst>
                      <p:childTnLst>
                        <p:par>
                          <p:cTn id="93" fill="hold">
                            <p:stCondLst>
                              <p:cond delay="0"/>
                            </p:stCondLst>
                            <p:childTnLst>
                              <p:par>
                                <p:cTn id="94" presetID="1" presetClass="entr" presetSubtype="0" fill="hold" grpId="0" nodeType="clickEffect">
                                  <p:stCondLst>
                                    <p:cond delay="0"/>
                                  </p:stCondLst>
                                  <p:childTnLst>
                                    <p:set>
                                      <p:cBhvr>
                                        <p:cTn id="95" dur="1" fill="hold">
                                          <p:stCondLst>
                                            <p:cond delay="0"/>
                                          </p:stCondLst>
                                        </p:cTn>
                                        <p:tgtEl>
                                          <p:spTgt spid="45"/>
                                        </p:tgtEl>
                                        <p:attrNameLst>
                                          <p:attrName>style.visibility</p:attrName>
                                        </p:attrNameLst>
                                      </p:cBhvr>
                                      <p:to>
                                        <p:strVal val="visible"/>
                                      </p:to>
                                    </p:set>
                                  </p:childTnLst>
                                </p:cTn>
                              </p:par>
                            </p:childTnLst>
                          </p:cTn>
                        </p:par>
                      </p:childTnLst>
                    </p:cTn>
                  </p:par>
                  <p:par>
                    <p:cTn id="96" fill="hold">
                      <p:stCondLst>
                        <p:cond delay="indefinite"/>
                      </p:stCondLst>
                      <p:childTnLst>
                        <p:par>
                          <p:cTn id="97" fill="hold">
                            <p:stCondLst>
                              <p:cond delay="0"/>
                            </p:stCondLst>
                            <p:childTnLst>
                              <p:par>
                                <p:cTn id="98" presetID="1" presetClass="exit" presetSubtype="0" fill="hold" grpId="4" nodeType="clickEffect">
                                  <p:stCondLst>
                                    <p:cond delay="0"/>
                                  </p:stCondLst>
                                  <p:childTnLst>
                                    <p:set>
                                      <p:cBhvr>
                                        <p:cTn id="99" dur="1" fill="hold">
                                          <p:stCondLst>
                                            <p:cond delay="0"/>
                                          </p:stCondLst>
                                        </p:cTn>
                                        <p:tgtEl>
                                          <p:spTgt spid="43"/>
                                        </p:tgtEl>
                                        <p:attrNameLst>
                                          <p:attrName>style.visibility</p:attrName>
                                        </p:attrNameLst>
                                      </p:cBhvr>
                                      <p:to>
                                        <p:strVal val="hidden"/>
                                      </p:to>
                                    </p:set>
                                  </p:childTnLst>
                                </p:cTn>
                              </p:par>
                              <p:par>
                                <p:cTn id="100" presetID="1" presetClass="exit" presetSubtype="0" fill="hold" grpId="4" nodeType="withEffect">
                                  <p:stCondLst>
                                    <p:cond delay="0"/>
                                  </p:stCondLst>
                                  <p:childTnLst>
                                    <p:set>
                                      <p:cBhvr>
                                        <p:cTn id="101" dur="1" fill="hold">
                                          <p:stCondLst>
                                            <p:cond delay="0"/>
                                          </p:stCondLst>
                                        </p:cTn>
                                        <p:tgtEl>
                                          <p:spTgt spid="44"/>
                                        </p:tgtEl>
                                        <p:attrNameLst>
                                          <p:attrName>style.visibility</p:attrName>
                                        </p:attrNameLst>
                                      </p:cBhvr>
                                      <p:to>
                                        <p:strVal val="hidden"/>
                                      </p:to>
                                    </p:set>
                                  </p:childTnLst>
                                </p:cTn>
                              </p:par>
                            </p:childTnLst>
                          </p:cTn>
                        </p:par>
                      </p:childTnLst>
                    </p:cTn>
                  </p:par>
                  <p:par>
                    <p:cTn id="102" fill="hold">
                      <p:stCondLst>
                        <p:cond delay="indefinite"/>
                      </p:stCondLst>
                      <p:childTnLst>
                        <p:par>
                          <p:cTn id="103" fill="hold">
                            <p:stCondLst>
                              <p:cond delay="0"/>
                            </p:stCondLst>
                            <p:childTnLst>
                              <p:par>
                                <p:cTn id="104" presetID="1" presetClass="entr" presetSubtype="0" fill="hold" grpId="5" nodeType="clickEffect">
                                  <p:stCondLst>
                                    <p:cond delay="0"/>
                                  </p:stCondLst>
                                  <p:childTnLst>
                                    <p:set>
                                      <p:cBhvr>
                                        <p:cTn id="105" dur="1" fill="hold">
                                          <p:stCondLst>
                                            <p:cond delay="0"/>
                                          </p:stCondLst>
                                        </p:cTn>
                                        <p:tgtEl>
                                          <p:spTgt spid="46"/>
                                        </p:tgtEl>
                                        <p:attrNameLst>
                                          <p:attrName>style.visibility</p:attrName>
                                        </p:attrNameLst>
                                      </p:cBhvr>
                                      <p:to>
                                        <p:strVal val="visible"/>
                                      </p:to>
                                    </p:set>
                                  </p:childTnLst>
                                </p:cTn>
                              </p:par>
                              <p:par>
                                <p:cTn id="106" presetID="1" presetClass="entr" presetSubtype="0" fill="hold" grpId="5" nodeType="withEffect">
                                  <p:stCondLst>
                                    <p:cond delay="0"/>
                                  </p:stCondLst>
                                  <p:childTnLst>
                                    <p:set>
                                      <p:cBhvr>
                                        <p:cTn id="107" dur="1" fill="hold">
                                          <p:stCondLst>
                                            <p:cond delay="0"/>
                                          </p:stCondLst>
                                        </p:cTn>
                                        <p:tgtEl>
                                          <p:spTgt spid="47"/>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35" presetClass="emph" presetSubtype="0" fill="hold" grpId="0" nodeType="clickEffect">
                                  <p:stCondLst>
                                    <p:cond delay="0"/>
                                  </p:stCondLst>
                                  <p:childTnLst>
                                    <p:anim calcmode="discrete" valueType="str">
                                      <p:cBhvr>
                                        <p:cTn id="111" dur="1000" fill="hold"/>
                                        <p:tgtEl>
                                          <p:spTgt spid="46"/>
                                        </p:tgtEl>
                                        <p:attrNameLst>
                                          <p:attrName>style.visibility</p:attrName>
                                        </p:attrNameLst>
                                      </p:cBhvr>
                                      <p:tavLst>
                                        <p:tav tm="0">
                                          <p:val>
                                            <p:strVal val="hidden"/>
                                          </p:val>
                                        </p:tav>
                                        <p:tav tm="50000">
                                          <p:val>
                                            <p:strVal val="visible"/>
                                          </p:val>
                                        </p:tav>
                                      </p:tavLst>
                                    </p:anim>
                                  </p:childTnLst>
                                </p:cTn>
                              </p:par>
                              <p:par>
                                <p:cTn id="112" presetID="35" presetClass="emph" presetSubtype="0" fill="hold" grpId="0" nodeType="withEffect">
                                  <p:stCondLst>
                                    <p:cond delay="0"/>
                                  </p:stCondLst>
                                  <p:childTnLst>
                                    <p:anim calcmode="discrete" valueType="str">
                                      <p:cBhvr>
                                        <p:cTn id="113"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14" fill="hold">
                            <p:stCondLst>
                              <p:cond delay="1000"/>
                            </p:stCondLst>
                            <p:childTnLst>
                              <p:par>
                                <p:cTn id="115" presetID="35" presetClass="emph" presetSubtype="0" fill="hold" grpId="2" nodeType="afterEffect">
                                  <p:stCondLst>
                                    <p:cond delay="0"/>
                                  </p:stCondLst>
                                  <p:childTnLst>
                                    <p:anim calcmode="discrete" valueType="str">
                                      <p:cBhvr>
                                        <p:cTn id="116" dur="1000" fill="hold"/>
                                        <p:tgtEl>
                                          <p:spTgt spid="46"/>
                                        </p:tgtEl>
                                        <p:attrNameLst>
                                          <p:attrName>style.visibility</p:attrName>
                                        </p:attrNameLst>
                                      </p:cBhvr>
                                      <p:tavLst>
                                        <p:tav tm="0">
                                          <p:val>
                                            <p:strVal val="hidden"/>
                                          </p:val>
                                        </p:tav>
                                        <p:tav tm="50000">
                                          <p:val>
                                            <p:strVal val="visible"/>
                                          </p:val>
                                        </p:tav>
                                      </p:tavLst>
                                    </p:anim>
                                  </p:childTnLst>
                                </p:cTn>
                              </p:par>
                              <p:par>
                                <p:cTn id="117" presetID="35" presetClass="emph" presetSubtype="0" fill="hold" grpId="2" nodeType="withEffect">
                                  <p:stCondLst>
                                    <p:cond delay="0"/>
                                  </p:stCondLst>
                                  <p:childTnLst>
                                    <p:anim calcmode="discrete" valueType="str">
                                      <p:cBhvr>
                                        <p:cTn id="118" dur="1000" fill="hold"/>
                                        <p:tgtEl>
                                          <p:spTgt spid="47"/>
                                        </p:tgtEl>
                                        <p:attrNameLst>
                                          <p:attrName>style.visibility</p:attrName>
                                        </p:attrNameLst>
                                      </p:cBhvr>
                                      <p:tavLst>
                                        <p:tav tm="0">
                                          <p:val>
                                            <p:strVal val="hidden"/>
                                          </p:val>
                                        </p:tav>
                                        <p:tav tm="50000">
                                          <p:val>
                                            <p:strVal val="visible"/>
                                          </p:val>
                                        </p:tav>
                                      </p:tavLst>
                                    </p:anim>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3" nodeType="clickEffect">
                                  <p:stCondLst>
                                    <p:cond delay="0"/>
                                  </p:stCondLst>
                                  <p:childTnLst>
                                    <p:set>
                                      <p:cBhvr>
                                        <p:cTn id="122" dur="1" fill="hold">
                                          <p:stCondLst>
                                            <p:cond delay="0"/>
                                          </p:stCondLst>
                                        </p:cTn>
                                        <p:tgtEl>
                                          <p:spTgt spid="46"/>
                                        </p:tgtEl>
                                        <p:attrNameLst>
                                          <p:attrName>style.visibility</p:attrName>
                                        </p:attrNameLst>
                                      </p:cBhvr>
                                      <p:to>
                                        <p:strVal val="visible"/>
                                      </p:to>
                                    </p:set>
                                  </p:childTnLst>
                                </p:cTn>
                              </p:par>
                              <p:par>
                                <p:cTn id="123" presetID="1" presetClass="entr" presetSubtype="0" fill="hold" grpId="3" nodeType="withEffect">
                                  <p:stCondLst>
                                    <p:cond delay="0"/>
                                  </p:stCondLst>
                                  <p:childTnLst>
                                    <p:set>
                                      <p:cBhvr>
                                        <p:cTn id="124" dur="1" fill="hold">
                                          <p:stCondLst>
                                            <p:cond delay="0"/>
                                          </p:stCondLst>
                                        </p:cTn>
                                        <p:tgtEl>
                                          <p:spTgt spid="47"/>
                                        </p:tgtEl>
                                        <p:attrNameLst>
                                          <p:attrName>style.visibility</p:attrName>
                                        </p:attrNameLst>
                                      </p:cBhvr>
                                      <p:to>
                                        <p:strVal val="visible"/>
                                      </p:to>
                                    </p:set>
                                  </p:childTnLst>
                                </p:cTn>
                              </p:par>
                            </p:childTnLst>
                          </p:cTn>
                        </p:par>
                      </p:childTnLst>
                    </p:cTn>
                  </p:par>
                  <p:par>
                    <p:cTn id="125" fill="hold">
                      <p:stCondLst>
                        <p:cond delay="indefinite"/>
                      </p:stCondLst>
                      <p:childTnLst>
                        <p:par>
                          <p:cTn id="126" fill="hold">
                            <p:stCondLst>
                              <p:cond delay="0"/>
                            </p:stCondLst>
                            <p:childTnLst>
                              <p:par>
                                <p:cTn id="127" presetID="1" presetClass="entr" presetSubtype="0" fill="hold" grpId="0" nodeType="clickEffect">
                                  <p:stCondLst>
                                    <p:cond delay="0"/>
                                  </p:stCondLst>
                                  <p:childTnLst>
                                    <p:set>
                                      <p:cBhvr>
                                        <p:cTn id="128" dur="1" fill="hold">
                                          <p:stCondLst>
                                            <p:cond delay="0"/>
                                          </p:stCondLst>
                                        </p:cTn>
                                        <p:tgtEl>
                                          <p:spTgt spid="48"/>
                                        </p:tgtEl>
                                        <p:attrNameLst>
                                          <p:attrName>style.visibility</p:attrName>
                                        </p:attrNameLst>
                                      </p:cBhvr>
                                      <p:to>
                                        <p:strVal val="visible"/>
                                      </p:to>
                                    </p:set>
                                  </p:childTnLst>
                                </p:cTn>
                              </p:par>
                            </p:childTnLst>
                          </p:cTn>
                        </p:par>
                      </p:childTnLst>
                    </p:cTn>
                  </p:par>
                  <p:par>
                    <p:cTn id="129" fill="hold">
                      <p:stCondLst>
                        <p:cond delay="indefinite"/>
                      </p:stCondLst>
                      <p:childTnLst>
                        <p:par>
                          <p:cTn id="130" fill="hold">
                            <p:stCondLst>
                              <p:cond delay="0"/>
                            </p:stCondLst>
                            <p:childTnLst>
                              <p:par>
                                <p:cTn id="131" presetID="1" presetClass="exit" presetSubtype="0" fill="hold" grpId="4" nodeType="clickEffect">
                                  <p:stCondLst>
                                    <p:cond delay="0"/>
                                  </p:stCondLst>
                                  <p:childTnLst>
                                    <p:set>
                                      <p:cBhvr>
                                        <p:cTn id="132" dur="1" fill="hold">
                                          <p:stCondLst>
                                            <p:cond delay="0"/>
                                          </p:stCondLst>
                                        </p:cTn>
                                        <p:tgtEl>
                                          <p:spTgt spid="46"/>
                                        </p:tgtEl>
                                        <p:attrNameLst>
                                          <p:attrName>style.visibility</p:attrName>
                                        </p:attrNameLst>
                                      </p:cBhvr>
                                      <p:to>
                                        <p:strVal val="hidden"/>
                                      </p:to>
                                    </p:set>
                                  </p:childTnLst>
                                </p:cTn>
                              </p:par>
                              <p:par>
                                <p:cTn id="133" presetID="1" presetClass="exit" presetSubtype="0" fill="hold" grpId="4" nodeType="withEffect">
                                  <p:stCondLst>
                                    <p:cond delay="0"/>
                                  </p:stCondLst>
                                  <p:childTnLst>
                                    <p:set>
                                      <p:cBhvr>
                                        <p:cTn id="134" dur="1" fill="hold">
                                          <p:stCondLst>
                                            <p:cond delay="0"/>
                                          </p:stCondLst>
                                        </p:cTn>
                                        <p:tgtEl>
                                          <p:spTgt spid="4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5" grpId="1"/>
      <p:bldP spid="36" grpId="0" animBg="1"/>
      <p:bldP spid="36" grpId="1" animBg="1"/>
      <p:bldP spid="36" grpId="2" animBg="1"/>
      <p:bldP spid="36" grpId="3" animBg="1"/>
      <p:bldP spid="36" grpId="4" animBg="1"/>
      <p:bldP spid="36" grpId="5" animBg="1"/>
      <p:bldP spid="37" grpId="0" animBg="1"/>
      <p:bldP spid="37" grpId="1" animBg="1"/>
      <p:bldP spid="37" grpId="2" animBg="1"/>
      <p:bldP spid="37" grpId="3" animBg="1"/>
      <p:bldP spid="37" grpId="4" animBg="1"/>
      <p:bldP spid="37" grpId="5" animBg="1"/>
      <p:bldP spid="40" grpId="0" bldLvl="0" animBg="1"/>
      <p:bldP spid="40" grpId="1" animBg="1"/>
      <p:bldP spid="40" grpId="2" bldLvl="0" animBg="1"/>
      <p:bldP spid="40" grpId="3" bldLvl="0" animBg="1"/>
      <p:bldP spid="40" grpId="4" bldLvl="0" animBg="1"/>
      <p:bldP spid="40" grpId="5" animBg="1"/>
      <p:bldP spid="41" grpId="0" bldLvl="0" animBg="1"/>
      <p:bldP spid="41" grpId="1" animBg="1"/>
      <p:bldP spid="41" grpId="2" bldLvl="0" animBg="1"/>
      <p:bldP spid="41" grpId="3" bldLvl="0" animBg="1"/>
      <p:bldP spid="41" grpId="4" bldLvl="0" animBg="1"/>
      <p:bldP spid="41" grpId="5" animBg="1"/>
      <p:bldP spid="42" grpId="0"/>
      <p:bldP spid="42" grpId="1"/>
      <p:bldP spid="43" grpId="0" bldLvl="0" animBg="1"/>
      <p:bldP spid="43" grpId="1" animBg="1"/>
      <p:bldP spid="43" grpId="2" bldLvl="0" animBg="1"/>
      <p:bldP spid="43" grpId="3" bldLvl="0" animBg="1"/>
      <p:bldP spid="43" grpId="4" bldLvl="0" animBg="1"/>
      <p:bldP spid="43" grpId="5" bldLvl="0" animBg="1"/>
      <p:bldP spid="44" grpId="0" bldLvl="0" animBg="1"/>
      <p:bldP spid="44" grpId="1" animBg="1"/>
      <p:bldP spid="44" grpId="2" bldLvl="0" animBg="1"/>
      <p:bldP spid="44" grpId="3" bldLvl="0" animBg="1"/>
      <p:bldP spid="44" grpId="4" bldLvl="0" animBg="1"/>
      <p:bldP spid="44" grpId="5" bldLvl="0" animBg="1"/>
      <p:bldP spid="45" grpId="0"/>
      <p:bldP spid="45" grpId="1"/>
      <p:bldP spid="46" grpId="0" bldLvl="0" animBg="1"/>
      <p:bldP spid="46" grpId="1" animBg="1"/>
      <p:bldP spid="46" grpId="2" bldLvl="0" animBg="1"/>
      <p:bldP spid="46" grpId="3" bldLvl="0" animBg="1"/>
      <p:bldP spid="46" grpId="4" bldLvl="0" animBg="1"/>
      <p:bldP spid="46" grpId="5" bldLvl="0" animBg="1"/>
      <p:bldP spid="47" grpId="0" bldLvl="0" animBg="1"/>
      <p:bldP spid="47" grpId="1" animBg="1"/>
      <p:bldP spid="47" grpId="2" bldLvl="0" animBg="1"/>
      <p:bldP spid="47" grpId="3" bldLvl="0" animBg="1"/>
      <p:bldP spid="47" grpId="4" bldLvl="0" animBg="1"/>
      <p:bldP spid="47" grpId="5" bldLvl="0" animBg="1"/>
      <p:bldP spid="48" grpId="0"/>
      <p:bldP spid="48" grpId="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文本框 10"/>
          <p:cNvSpPr txBox="1"/>
          <p:nvPr/>
        </p:nvSpPr>
        <p:spPr>
          <a:xfrm>
            <a:off x="470535" y="836930"/>
            <a:ext cx="7500620" cy="370205"/>
          </a:xfrm>
          <a:prstGeom prst="rect">
            <a:avLst/>
          </a:prstGeom>
          <a:noFill/>
        </p:spPr>
        <p:txBody>
          <a:bodyPr wrap="square" rtlCol="0">
            <a:noAutofit/>
          </a:bodyPr>
          <a:lstStyle/>
          <a:p>
            <a:r>
              <a:rPr lang="zh-CN" altLang="en-US">
                <a:solidFill>
                  <a:schemeClr val="tx1"/>
                </a:solidFill>
              </a:rPr>
              <a:t>动态规划为何可以利用</a:t>
            </a:r>
            <a:r>
              <a:rPr lang="zh-CN" altLang="en-US">
                <a:solidFill>
                  <a:srgbClr val="FF0000"/>
                </a:solidFill>
              </a:rPr>
              <a:t>最优子结构</a:t>
            </a:r>
            <a:r>
              <a:rPr lang="zh-CN" altLang="en-US">
                <a:solidFill>
                  <a:schemeClr val="tx1"/>
                </a:solidFill>
              </a:rPr>
              <a:t>来求解组合优化问题</a:t>
            </a:r>
            <a:endParaRPr lang="zh-CN" altLang="en-US">
              <a:solidFill>
                <a:schemeClr val="tx1"/>
              </a:solidFill>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1"/>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2"/>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3"/>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4"/>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5"/>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6"/>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p:cNvCxnSpPr>
          <p:nvPr>
            <p:custDataLst>
              <p:tags r:id="rId7"/>
            </p:custDataLst>
          </p:nvPr>
        </p:nvCxnSpPr>
        <p:spPr>
          <a:xfrm flipH="1">
            <a:off x="3996055" y="3366770"/>
            <a:ext cx="781050" cy="42227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8"/>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9"/>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custDataLst>
              <p:tags r:id="rId10"/>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9" name="文本框 58"/>
          <p:cNvSpPr txBox="1"/>
          <p:nvPr/>
        </p:nvSpPr>
        <p:spPr>
          <a:xfrm>
            <a:off x="3771900" y="378904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470535" y="5480685"/>
            <a:ext cx="8227695" cy="570230"/>
          </a:xfrm>
          <a:prstGeom prst="rect">
            <a:avLst/>
          </a:prstGeom>
          <a:noFill/>
        </p:spPr>
        <p:txBody>
          <a:bodyPr wrap="square" rtlCol="0">
            <a:noAutofit/>
          </a:bodyPr>
          <a:lstStyle/>
          <a:p>
            <a:r>
              <a:rPr lang="zh-CN" altLang="en-US"/>
              <a:t>如果用贪心算法是否可以求解？贪心求解最长路径是</a:t>
            </a:r>
            <a:r>
              <a:rPr lang="en-US" altLang="zh-CN">
                <a:latin typeface="Times New Roman" panose="02020603050405020304" pitchFamily="18" charset="0"/>
                <a:cs typeface="Times New Roman" panose="02020603050405020304" pitchFamily="18" charset="0"/>
              </a:rPr>
              <a:t>22</a:t>
            </a:r>
            <a:r>
              <a:rPr lang="zh-CN" altLang="en-US"/>
              <a:t>，很显然能找到一个反例推翻，例如紫色路径</a:t>
            </a:r>
            <a:r>
              <a:rPr lang="en-US" altLang="zh-CN">
                <a:latin typeface="Times New Roman" panose="02020603050405020304" pitchFamily="18" charset="0"/>
                <a:cs typeface="Times New Roman" panose="02020603050405020304" pitchFamily="18" charset="0"/>
              </a:rPr>
              <a:t>25</a:t>
            </a:r>
            <a:r>
              <a:rPr lang="zh-CN" altLang="en-US"/>
              <a:t>，比贪心算法更优。</a:t>
            </a:r>
            <a:endParaRPr lang="zh-CN" altLang="en-US"/>
          </a:p>
        </p:txBody>
      </p:sp>
      <p:cxnSp>
        <p:nvCxnSpPr>
          <p:cNvPr id="81" name="直接箭头连接符 80"/>
          <p:cNvCxnSpPr/>
          <p:nvPr/>
        </p:nvCxnSpPr>
        <p:spPr>
          <a:xfrm>
            <a:off x="5022215" y="1923415"/>
            <a:ext cx="557530" cy="20891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2" name="直接箭头连接符 81"/>
          <p:cNvCxnSpPr/>
          <p:nvPr/>
        </p:nvCxnSpPr>
        <p:spPr>
          <a:xfrm flipH="1">
            <a:off x="4859655" y="2607310"/>
            <a:ext cx="432435" cy="24511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3" name="直接箭头连接符 82"/>
          <p:cNvCxnSpPr/>
          <p:nvPr/>
        </p:nvCxnSpPr>
        <p:spPr>
          <a:xfrm>
            <a:off x="4775200" y="3423920"/>
            <a:ext cx="485140" cy="273685"/>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4" name="直接箭头连接符 83"/>
          <p:cNvCxnSpPr/>
          <p:nvPr/>
        </p:nvCxnSpPr>
        <p:spPr>
          <a:xfrm flipH="1">
            <a:off x="5022215" y="4220845"/>
            <a:ext cx="413385" cy="200660"/>
          </a:xfrm>
          <a:prstGeom prst="straightConnector1">
            <a:avLst/>
          </a:prstGeom>
          <a:solidFill>
            <a:schemeClr val="accent1"/>
          </a:solidFill>
          <a:ln w="19050" cap="flat" cmpd="sng" algn="ctr">
            <a:solidFill>
              <a:srgbClr val="FF0000"/>
            </a:solidFill>
            <a:prstDash val="solid"/>
            <a:round/>
            <a:headEnd type="none" w="med" len="med"/>
            <a:tailEnd type="arrow" w="med" len="med"/>
          </a:ln>
        </p:spPr>
      </p:cxnSp>
      <p:cxnSp>
        <p:nvCxnSpPr>
          <p:cNvPr id="85" name="直接箭头连接符 84"/>
          <p:cNvCxnSpPr/>
          <p:nvPr/>
        </p:nvCxnSpPr>
        <p:spPr>
          <a:xfrm flipH="1">
            <a:off x="3928745" y="1932940"/>
            <a:ext cx="482600" cy="20129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7" name="直接箭头连接符 86"/>
          <p:cNvCxnSpPr/>
          <p:nvPr/>
        </p:nvCxnSpPr>
        <p:spPr>
          <a:xfrm flipH="1">
            <a:off x="3203575" y="2636520"/>
            <a:ext cx="504190" cy="28829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8" name="直接箭头连接符 87"/>
          <p:cNvCxnSpPr/>
          <p:nvPr/>
        </p:nvCxnSpPr>
        <p:spPr>
          <a:xfrm>
            <a:off x="3203575" y="3429000"/>
            <a:ext cx="648335" cy="287655"/>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cxnSp>
        <p:nvCxnSpPr>
          <p:cNvPr id="89" name="直接箭头连接符 88"/>
          <p:cNvCxnSpPr/>
          <p:nvPr/>
        </p:nvCxnSpPr>
        <p:spPr>
          <a:xfrm flipH="1">
            <a:off x="3419475" y="4149090"/>
            <a:ext cx="432435" cy="215900"/>
          </a:xfrm>
          <a:prstGeom prst="straightConnector1">
            <a:avLst/>
          </a:prstGeom>
          <a:solidFill>
            <a:schemeClr val="accent1"/>
          </a:solidFill>
          <a:ln w="19050" cap="flat" cmpd="sng" algn="ctr">
            <a:solidFill>
              <a:srgbClr val="7030A0"/>
            </a:solidFill>
            <a:prstDash val="solid"/>
            <a:round/>
            <a:headEnd type="none" w="med" len="med"/>
            <a:tailEnd type="arrow" w="med" len="med"/>
          </a:ln>
        </p:spPr>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down)">
                                      <p:cBhvr>
                                        <p:cTn id="7" dur="500"/>
                                        <p:tgtEl>
                                          <p:spTgt spid="81"/>
                                        </p:tgtEl>
                                      </p:cBhvr>
                                    </p:animEffect>
                                  </p:childTnLst>
                                </p:cTn>
                              </p:par>
                            </p:childTnLst>
                          </p:cTn>
                        </p:par>
                        <p:par>
                          <p:cTn id="8" fill="hold">
                            <p:stCondLst>
                              <p:cond delay="500"/>
                            </p:stCondLst>
                            <p:childTnLst>
                              <p:par>
                                <p:cTn id="9" presetID="22" presetClass="entr" presetSubtype="4" fill="hold" nodeType="afterEffect">
                                  <p:stCondLst>
                                    <p:cond delay="0"/>
                                  </p:stCondLst>
                                  <p:childTnLst>
                                    <p:set>
                                      <p:cBhvr>
                                        <p:cTn id="10" dur="1" fill="hold">
                                          <p:stCondLst>
                                            <p:cond delay="0"/>
                                          </p:stCondLst>
                                        </p:cTn>
                                        <p:tgtEl>
                                          <p:spTgt spid="82"/>
                                        </p:tgtEl>
                                        <p:attrNameLst>
                                          <p:attrName>style.visibility</p:attrName>
                                        </p:attrNameLst>
                                      </p:cBhvr>
                                      <p:to>
                                        <p:strVal val="visible"/>
                                      </p:to>
                                    </p:set>
                                    <p:animEffect transition="in" filter="wipe(down)">
                                      <p:cBhvr>
                                        <p:cTn id="11" dur="500"/>
                                        <p:tgtEl>
                                          <p:spTgt spid="82"/>
                                        </p:tgtEl>
                                      </p:cBhvr>
                                    </p:animEffect>
                                  </p:childTnLst>
                                </p:cTn>
                              </p:par>
                            </p:childTnLst>
                          </p:cTn>
                        </p:par>
                        <p:par>
                          <p:cTn id="12" fill="hold">
                            <p:stCondLst>
                              <p:cond delay="1000"/>
                            </p:stCondLst>
                            <p:childTnLst>
                              <p:par>
                                <p:cTn id="13" presetID="22" presetClass="entr" presetSubtype="4" fill="hold" nodeType="afterEffect">
                                  <p:stCondLst>
                                    <p:cond delay="0"/>
                                  </p:stCondLst>
                                  <p:childTnLst>
                                    <p:set>
                                      <p:cBhvr>
                                        <p:cTn id="14" dur="1" fill="hold">
                                          <p:stCondLst>
                                            <p:cond delay="0"/>
                                          </p:stCondLst>
                                        </p:cTn>
                                        <p:tgtEl>
                                          <p:spTgt spid="83"/>
                                        </p:tgtEl>
                                        <p:attrNameLst>
                                          <p:attrName>style.visibility</p:attrName>
                                        </p:attrNameLst>
                                      </p:cBhvr>
                                      <p:to>
                                        <p:strVal val="visible"/>
                                      </p:to>
                                    </p:set>
                                    <p:animEffect transition="in" filter="wipe(down)">
                                      <p:cBhvr>
                                        <p:cTn id="15" dur="500"/>
                                        <p:tgtEl>
                                          <p:spTgt spid="83"/>
                                        </p:tgtEl>
                                      </p:cBhvr>
                                    </p:animEffect>
                                  </p:childTnLst>
                                </p:cTn>
                              </p:par>
                            </p:childTnLst>
                          </p:cTn>
                        </p:par>
                        <p:par>
                          <p:cTn id="16" fill="hold">
                            <p:stCondLst>
                              <p:cond delay="1500"/>
                            </p:stCondLst>
                            <p:childTnLst>
                              <p:par>
                                <p:cTn id="17" presetID="22" presetClass="entr" presetSubtype="4" fill="hold" nodeType="afterEffect">
                                  <p:stCondLst>
                                    <p:cond delay="0"/>
                                  </p:stCondLst>
                                  <p:childTnLst>
                                    <p:set>
                                      <p:cBhvr>
                                        <p:cTn id="18" dur="1" fill="hold">
                                          <p:stCondLst>
                                            <p:cond delay="0"/>
                                          </p:stCondLst>
                                        </p:cTn>
                                        <p:tgtEl>
                                          <p:spTgt spid="84"/>
                                        </p:tgtEl>
                                        <p:attrNameLst>
                                          <p:attrName>style.visibility</p:attrName>
                                        </p:attrNameLst>
                                      </p:cBhvr>
                                      <p:to>
                                        <p:strVal val="visible"/>
                                      </p:to>
                                    </p:set>
                                    <p:animEffect transition="in" filter="wipe(down)">
                                      <p:cBhvr>
                                        <p:cTn id="19" dur="500"/>
                                        <p:tgtEl>
                                          <p:spTgt spid="84"/>
                                        </p:tgtEl>
                                      </p:cBhvr>
                                    </p:animEffect>
                                  </p:childTnLst>
                                </p:cTn>
                              </p:par>
                            </p:childTnLst>
                          </p:cTn>
                        </p:par>
                      </p:childTnLst>
                    </p:cTn>
                  </p:par>
                  <p:par>
                    <p:cTn id="20" fill="hold">
                      <p:stCondLst>
                        <p:cond delay="indefinite"/>
                      </p:stCondLst>
                      <p:childTnLst>
                        <p:par>
                          <p:cTn id="21" fill="hold">
                            <p:stCondLst>
                              <p:cond delay="0"/>
                            </p:stCondLst>
                            <p:childTnLst>
                              <p:par>
                                <p:cTn id="22" presetID="22" presetClass="entr" presetSubtype="4" fill="hold" nodeType="clickEffect">
                                  <p:stCondLst>
                                    <p:cond delay="0"/>
                                  </p:stCondLst>
                                  <p:childTnLst>
                                    <p:set>
                                      <p:cBhvr>
                                        <p:cTn id="23" dur="1" fill="hold">
                                          <p:stCondLst>
                                            <p:cond delay="0"/>
                                          </p:stCondLst>
                                        </p:cTn>
                                        <p:tgtEl>
                                          <p:spTgt spid="85"/>
                                        </p:tgtEl>
                                        <p:attrNameLst>
                                          <p:attrName>style.visibility</p:attrName>
                                        </p:attrNameLst>
                                      </p:cBhvr>
                                      <p:to>
                                        <p:strVal val="visible"/>
                                      </p:to>
                                    </p:set>
                                    <p:animEffect transition="in" filter="wipe(down)">
                                      <p:cBhvr>
                                        <p:cTn id="24" dur="500"/>
                                        <p:tgtEl>
                                          <p:spTgt spid="85"/>
                                        </p:tgtEl>
                                      </p:cBhvr>
                                    </p:animEffect>
                                  </p:childTnLst>
                                </p:cTn>
                              </p:par>
                            </p:childTnLst>
                          </p:cTn>
                        </p:par>
                        <p:par>
                          <p:cTn id="25" fill="hold">
                            <p:stCondLst>
                              <p:cond delay="500"/>
                            </p:stCondLst>
                            <p:childTnLst>
                              <p:par>
                                <p:cTn id="26" presetID="22" presetClass="entr" presetSubtype="4" fill="hold" nodeType="afterEffect">
                                  <p:stCondLst>
                                    <p:cond delay="0"/>
                                  </p:stCondLst>
                                  <p:childTnLst>
                                    <p:set>
                                      <p:cBhvr>
                                        <p:cTn id="27" dur="1" fill="hold">
                                          <p:stCondLst>
                                            <p:cond delay="0"/>
                                          </p:stCondLst>
                                        </p:cTn>
                                        <p:tgtEl>
                                          <p:spTgt spid="87"/>
                                        </p:tgtEl>
                                        <p:attrNameLst>
                                          <p:attrName>style.visibility</p:attrName>
                                        </p:attrNameLst>
                                      </p:cBhvr>
                                      <p:to>
                                        <p:strVal val="visible"/>
                                      </p:to>
                                    </p:set>
                                    <p:animEffect transition="in" filter="wipe(down)">
                                      <p:cBhvr>
                                        <p:cTn id="28" dur="500"/>
                                        <p:tgtEl>
                                          <p:spTgt spid="87"/>
                                        </p:tgtEl>
                                      </p:cBhvr>
                                    </p:animEffect>
                                  </p:childTnLst>
                                </p:cTn>
                              </p:par>
                            </p:childTnLst>
                          </p:cTn>
                        </p:par>
                        <p:par>
                          <p:cTn id="29" fill="hold">
                            <p:stCondLst>
                              <p:cond delay="1000"/>
                            </p:stCondLst>
                            <p:childTnLst>
                              <p:par>
                                <p:cTn id="30" presetID="22" presetClass="entr" presetSubtype="4" fill="hold" nodeType="afterEffect">
                                  <p:stCondLst>
                                    <p:cond delay="0"/>
                                  </p:stCondLst>
                                  <p:childTnLst>
                                    <p:set>
                                      <p:cBhvr>
                                        <p:cTn id="31" dur="1" fill="hold">
                                          <p:stCondLst>
                                            <p:cond delay="0"/>
                                          </p:stCondLst>
                                        </p:cTn>
                                        <p:tgtEl>
                                          <p:spTgt spid="88"/>
                                        </p:tgtEl>
                                        <p:attrNameLst>
                                          <p:attrName>style.visibility</p:attrName>
                                        </p:attrNameLst>
                                      </p:cBhvr>
                                      <p:to>
                                        <p:strVal val="visible"/>
                                      </p:to>
                                    </p:set>
                                    <p:animEffect transition="in" filter="wipe(down)">
                                      <p:cBhvr>
                                        <p:cTn id="32" dur="500"/>
                                        <p:tgtEl>
                                          <p:spTgt spid="88"/>
                                        </p:tgtEl>
                                      </p:cBhvr>
                                    </p:animEffect>
                                  </p:childTnLst>
                                </p:cTn>
                              </p:par>
                            </p:childTnLst>
                          </p:cTn>
                        </p:par>
                        <p:par>
                          <p:cTn id="33" fill="hold">
                            <p:stCondLst>
                              <p:cond delay="1500"/>
                            </p:stCondLst>
                            <p:childTnLst>
                              <p:par>
                                <p:cTn id="34" presetID="22" presetClass="entr" presetSubtype="4" fill="hold" nodeType="afterEffect">
                                  <p:stCondLst>
                                    <p:cond delay="0"/>
                                  </p:stCondLst>
                                  <p:childTnLst>
                                    <p:set>
                                      <p:cBhvr>
                                        <p:cTn id="35" dur="1" fill="hold">
                                          <p:stCondLst>
                                            <p:cond delay="0"/>
                                          </p:stCondLst>
                                        </p:cTn>
                                        <p:tgtEl>
                                          <p:spTgt spid="89"/>
                                        </p:tgtEl>
                                        <p:attrNameLst>
                                          <p:attrName>style.visibility</p:attrName>
                                        </p:attrNameLst>
                                      </p:cBhvr>
                                      <p:to>
                                        <p:strVal val="visible"/>
                                      </p:to>
                                    </p:set>
                                    <p:animEffect transition="in" filter="wipe(down)">
                                      <p:cBhvr>
                                        <p:cTn id="36" dur="500"/>
                                        <p:tgtEl>
                                          <p:spTgt spid="8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圆角矩形 26"/>
          <p:cNvSpPr/>
          <p:nvPr>
            <p:custDataLst>
              <p:tags r:id="rId1"/>
            </p:custDataLst>
          </p:nvPr>
        </p:nvSpPr>
        <p:spPr>
          <a:xfrm>
            <a:off x="362458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7" name="文本框 36"/>
          <p:cNvSpPr txBox="1"/>
          <p:nvPr/>
        </p:nvSpPr>
        <p:spPr>
          <a:xfrm>
            <a:off x="380238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 name="圆角矩形 4"/>
          <p:cNvSpPr/>
          <p:nvPr/>
        </p:nvSpPr>
        <p:spPr>
          <a:xfrm>
            <a:off x="349186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9" name="圆角矩形 8"/>
          <p:cNvSpPr/>
          <p:nvPr/>
        </p:nvSpPr>
        <p:spPr>
          <a:xfrm>
            <a:off x="5089525" y="22040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2" name="圆角矩形 11"/>
          <p:cNvSpPr/>
          <p:nvPr>
            <p:custDataLst>
              <p:tags r:id="rId2"/>
            </p:custDataLst>
          </p:nvPr>
        </p:nvSpPr>
        <p:spPr>
          <a:xfrm>
            <a:off x="2771775"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4" name="圆角矩形 13"/>
          <p:cNvSpPr/>
          <p:nvPr>
            <p:custDataLst>
              <p:tags r:id="rId3"/>
            </p:custDataLst>
          </p:nvPr>
        </p:nvSpPr>
        <p:spPr>
          <a:xfrm>
            <a:off x="43484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6" name="圆角矩形 15"/>
          <p:cNvSpPr/>
          <p:nvPr>
            <p:custDataLst>
              <p:tags r:id="rId4"/>
            </p:custDataLst>
          </p:nvPr>
        </p:nvSpPr>
        <p:spPr>
          <a:xfrm>
            <a:off x="5796280" y="29787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8" name="圆角矩形 17"/>
          <p:cNvSpPr/>
          <p:nvPr>
            <p:custDataLst>
              <p:tags r:id="rId5"/>
            </p:custDataLst>
          </p:nvPr>
        </p:nvSpPr>
        <p:spPr>
          <a:xfrm>
            <a:off x="2051685"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7" idx="2"/>
            <a:endCxn id="5" idx="0"/>
          </p:cNvCxnSpPr>
          <p:nvPr/>
        </p:nvCxnSpPr>
        <p:spPr>
          <a:xfrm flipH="1">
            <a:off x="3920490" y="1918970"/>
            <a:ext cx="7924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7" idx="2"/>
            <a:endCxn id="9" idx="0"/>
          </p:cNvCxnSpPr>
          <p:nvPr/>
        </p:nvCxnSpPr>
        <p:spPr>
          <a:xfrm>
            <a:off x="4712970" y="1918970"/>
            <a:ext cx="80518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9" idx="2"/>
            <a:endCxn id="14" idx="0"/>
          </p:cNvCxnSpPr>
          <p:nvPr>
            <p:custDataLst>
              <p:tags r:id="rId6"/>
            </p:custDataLst>
          </p:nvPr>
        </p:nvCxnSpPr>
        <p:spPr>
          <a:xfrm flipH="1">
            <a:off x="4777105" y="2592070"/>
            <a:ext cx="74104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5" idx="2"/>
            <a:endCxn id="14" idx="0"/>
          </p:cNvCxnSpPr>
          <p:nvPr>
            <p:custDataLst>
              <p:tags r:id="rId7"/>
            </p:custDataLst>
          </p:nvPr>
        </p:nvCxnSpPr>
        <p:spPr>
          <a:xfrm>
            <a:off x="3920490" y="2592070"/>
            <a:ext cx="85661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4" idx="2"/>
            <a:endCxn id="27" idx="0"/>
          </p:cNvCxnSpPr>
          <p:nvPr>
            <p:custDataLst>
              <p:tags r:id="rId8"/>
            </p:custDataLst>
          </p:nvPr>
        </p:nvCxnSpPr>
        <p:spPr>
          <a:xfrm flipH="1">
            <a:off x="4053205" y="3366770"/>
            <a:ext cx="72390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5" idx="2"/>
            <a:endCxn id="12" idx="0"/>
          </p:cNvCxnSpPr>
          <p:nvPr>
            <p:custDataLst>
              <p:tags r:id="rId9"/>
            </p:custDataLst>
          </p:nvPr>
        </p:nvCxnSpPr>
        <p:spPr>
          <a:xfrm flipH="1">
            <a:off x="3200400" y="25920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9" idx="2"/>
            <a:endCxn id="16" idx="0"/>
          </p:cNvCxnSpPr>
          <p:nvPr>
            <p:custDataLst>
              <p:tags r:id="rId10"/>
            </p:custDataLst>
          </p:nvPr>
        </p:nvCxnSpPr>
        <p:spPr>
          <a:xfrm>
            <a:off x="5518150" y="2592070"/>
            <a:ext cx="706755"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 name="圆角矩形 6"/>
          <p:cNvSpPr/>
          <p:nvPr/>
        </p:nvSpPr>
        <p:spPr>
          <a:xfrm>
            <a:off x="4284345" y="15309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custDataLst>
              <p:tags r:id="rId11"/>
            </p:custDataLst>
          </p:nvPr>
        </p:nvSpPr>
        <p:spPr>
          <a:xfrm>
            <a:off x="504190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custDataLst>
              <p:tags r:id="rId12"/>
            </p:custDataLst>
          </p:nvPr>
        </p:nvSpPr>
        <p:spPr>
          <a:xfrm>
            <a:off x="6516370" y="3753485"/>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38" name="直接连接符 37"/>
          <p:cNvCxnSpPr>
            <a:stCxn id="12" idx="2"/>
            <a:endCxn id="18" idx="0"/>
          </p:cNvCxnSpPr>
          <p:nvPr>
            <p:custDataLst>
              <p:tags r:id="rId13"/>
            </p:custDataLst>
          </p:nvPr>
        </p:nvCxnSpPr>
        <p:spPr>
          <a:xfrm flipH="1">
            <a:off x="2480310"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9" name="直接连接符 38"/>
          <p:cNvCxnSpPr>
            <a:stCxn id="12" idx="2"/>
            <a:endCxn id="27" idx="0"/>
          </p:cNvCxnSpPr>
          <p:nvPr>
            <p:custDataLst>
              <p:tags r:id="rId14"/>
            </p:custDataLst>
          </p:nvPr>
        </p:nvCxnSpPr>
        <p:spPr>
          <a:xfrm>
            <a:off x="3200400" y="3366770"/>
            <a:ext cx="852805"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49" name="直接连接符 48"/>
          <p:cNvCxnSpPr>
            <a:stCxn id="14" idx="2"/>
            <a:endCxn id="28" idx="0"/>
          </p:cNvCxnSpPr>
          <p:nvPr>
            <p:custDataLst>
              <p:tags r:id="rId15"/>
            </p:custDataLst>
          </p:nvPr>
        </p:nvCxnSpPr>
        <p:spPr>
          <a:xfrm>
            <a:off x="4777105" y="3366770"/>
            <a:ext cx="69342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1" name="直接连接符 50"/>
          <p:cNvCxnSpPr>
            <a:stCxn id="16" idx="2"/>
            <a:endCxn id="28" idx="0"/>
          </p:cNvCxnSpPr>
          <p:nvPr>
            <p:custDataLst>
              <p:tags r:id="rId16"/>
            </p:custDataLst>
          </p:nvPr>
        </p:nvCxnSpPr>
        <p:spPr>
          <a:xfrm flipH="1">
            <a:off x="5470525" y="3366770"/>
            <a:ext cx="754380" cy="386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52" name="直接连接符 51"/>
          <p:cNvCxnSpPr>
            <a:stCxn id="16" idx="2"/>
            <a:endCxn id="33" idx="0"/>
          </p:cNvCxnSpPr>
          <p:nvPr>
            <p:custDataLst>
              <p:tags r:id="rId17"/>
            </p:custDataLst>
          </p:nvPr>
        </p:nvCxnSpPr>
        <p:spPr>
          <a:xfrm>
            <a:off x="6224905" y="3366770"/>
            <a:ext cx="720090" cy="38671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3" name="文本框 12"/>
          <p:cNvSpPr txBox="1"/>
          <p:nvPr/>
        </p:nvSpPr>
        <p:spPr>
          <a:xfrm>
            <a:off x="4580255" y="155829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3" name="文本框 52"/>
          <p:cNvSpPr txBox="1"/>
          <p:nvPr/>
        </p:nvSpPr>
        <p:spPr>
          <a:xfrm>
            <a:off x="377190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4" name="文本框 53"/>
          <p:cNvSpPr txBox="1"/>
          <p:nvPr/>
        </p:nvSpPr>
        <p:spPr>
          <a:xfrm>
            <a:off x="5292090" y="22498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9</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5" name="文本框 54"/>
          <p:cNvSpPr txBox="1"/>
          <p:nvPr/>
        </p:nvSpPr>
        <p:spPr>
          <a:xfrm>
            <a:off x="2987675"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8</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6" name="文本框 55"/>
          <p:cNvSpPr txBox="1"/>
          <p:nvPr/>
        </p:nvSpPr>
        <p:spPr>
          <a:xfrm>
            <a:off x="456311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7" name="文本框 56"/>
          <p:cNvSpPr txBox="1"/>
          <p:nvPr/>
        </p:nvSpPr>
        <p:spPr>
          <a:xfrm>
            <a:off x="6012180" y="302514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0</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58" name="文本框 57"/>
          <p:cNvSpPr txBox="1"/>
          <p:nvPr/>
        </p:nvSpPr>
        <p:spPr>
          <a:xfrm>
            <a:off x="2195830"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4</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0" name="文本框 59"/>
          <p:cNvSpPr txBox="1"/>
          <p:nvPr/>
        </p:nvSpPr>
        <p:spPr>
          <a:xfrm>
            <a:off x="5259070" y="37858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7</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1" name="文本框 60"/>
          <p:cNvSpPr txBox="1"/>
          <p:nvPr/>
        </p:nvSpPr>
        <p:spPr>
          <a:xfrm>
            <a:off x="6689725" y="379920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3</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2" name="圆角矩形 61"/>
          <p:cNvSpPr/>
          <p:nvPr>
            <p:custDataLst>
              <p:tags r:id="rId18"/>
            </p:custDataLst>
          </p:nvPr>
        </p:nvSpPr>
        <p:spPr>
          <a:xfrm>
            <a:off x="1372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3" name="圆角矩形 62"/>
          <p:cNvSpPr/>
          <p:nvPr>
            <p:custDataLst>
              <p:tags r:id="rId19"/>
            </p:custDataLst>
          </p:nvPr>
        </p:nvSpPr>
        <p:spPr>
          <a:xfrm>
            <a:off x="294576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4" name="圆角矩形 63"/>
          <p:cNvSpPr/>
          <p:nvPr>
            <p:custDataLst>
              <p:tags r:id="rId20"/>
            </p:custDataLst>
          </p:nvPr>
        </p:nvSpPr>
        <p:spPr>
          <a:xfrm>
            <a:off x="436308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5" name="圆角矩形 64"/>
          <p:cNvSpPr/>
          <p:nvPr>
            <p:custDataLst>
              <p:tags r:id="rId21"/>
            </p:custDataLst>
          </p:nvPr>
        </p:nvSpPr>
        <p:spPr>
          <a:xfrm>
            <a:off x="5837555"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66" name="文本框 65"/>
          <p:cNvSpPr txBox="1"/>
          <p:nvPr/>
        </p:nvSpPr>
        <p:spPr>
          <a:xfrm>
            <a:off x="1517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6</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7" name="文本框 66"/>
          <p:cNvSpPr txBox="1"/>
          <p:nvPr/>
        </p:nvSpPr>
        <p:spPr>
          <a:xfrm>
            <a:off x="3093085" y="451231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8" name="文本框 67"/>
          <p:cNvSpPr txBox="1"/>
          <p:nvPr/>
        </p:nvSpPr>
        <p:spPr>
          <a:xfrm>
            <a:off x="4580255" y="4509135"/>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2</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69" name="文本框 68"/>
          <p:cNvSpPr txBox="1"/>
          <p:nvPr/>
        </p:nvSpPr>
        <p:spPr>
          <a:xfrm>
            <a:off x="6010910"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1</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70" name="圆角矩形 69"/>
          <p:cNvSpPr/>
          <p:nvPr>
            <p:custDataLst>
              <p:tags r:id="rId22"/>
            </p:custDataLst>
          </p:nvPr>
        </p:nvSpPr>
        <p:spPr>
          <a:xfrm>
            <a:off x="7595870" y="4476750"/>
            <a:ext cx="856615" cy="38798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71" name="直接连接符 70"/>
          <p:cNvCxnSpPr>
            <a:stCxn id="18" idx="2"/>
            <a:endCxn id="62" idx="0"/>
          </p:cNvCxnSpPr>
          <p:nvPr>
            <p:custDataLst>
              <p:tags r:id="rId23"/>
            </p:custDataLst>
          </p:nvPr>
        </p:nvCxnSpPr>
        <p:spPr>
          <a:xfrm flipH="1">
            <a:off x="1801495"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2" name="直接连接符 71"/>
          <p:cNvCxnSpPr>
            <a:stCxn id="18" idx="2"/>
            <a:endCxn id="63" idx="0"/>
          </p:cNvCxnSpPr>
          <p:nvPr>
            <p:custDataLst>
              <p:tags r:id="rId24"/>
            </p:custDataLst>
          </p:nvPr>
        </p:nvCxnSpPr>
        <p:spPr>
          <a:xfrm>
            <a:off x="2480310" y="4141470"/>
            <a:ext cx="894080"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3" name="直接连接符 72"/>
          <p:cNvCxnSpPr>
            <a:stCxn id="27" idx="2"/>
            <a:endCxn id="63" idx="0"/>
          </p:cNvCxnSpPr>
          <p:nvPr>
            <p:custDataLst>
              <p:tags r:id="rId25"/>
            </p:custDataLst>
          </p:nvPr>
        </p:nvCxnSpPr>
        <p:spPr>
          <a:xfrm flipH="1">
            <a:off x="337439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4" name="直接连接符 73"/>
          <p:cNvCxnSpPr>
            <a:stCxn id="27" idx="2"/>
            <a:endCxn id="64" idx="0"/>
          </p:cNvCxnSpPr>
          <p:nvPr>
            <p:custDataLst>
              <p:tags r:id="rId26"/>
            </p:custDataLst>
          </p:nvPr>
        </p:nvCxnSpPr>
        <p:spPr>
          <a:xfrm>
            <a:off x="4053205" y="4141470"/>
            <a:ext cx="73850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5" name="直接连接符 74"/>
          <p:cNvCxnSpPr>
            <a:stCxn id="28" idx="2"/>
            <a:endCxn id="64" idx="0"/>
          </p:cNvCxnSpPr>
          <p:nvPr>
            <p:custDataLst>
              <p:tags r:id="rId27"/>
            </p:custDataLst>
          </p:nvPr>
        </p:nvCxnSpPr>
        <p:spPr>
          <a:xfrm flipH="1">
            <a:off x="479171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6" name="直接连接符 75"/>
          <p:cNvCxnSpPr>
            <a:stCxn id="28" idx="2"/>
            <a:endCxn id="65" idx="0"/>
          </p:cNvCxnSpPr>
          <p:nvPr>
            <p:custDataLst>
              <p:tags r:id="rId28"/>
            </p:custDataLst>
          </p:nvPr>
        </p:nvCxnSpPr>
        <p:spPr>
          <a:xfrm>
            <a:off x="5470525" y="4141470"/>
            <a:ext cx="79565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7" name="直接连接符 76"/>
          <p:cNvCxnSpPr>
            <a:stCxn id="33" idx="2"/>
            <a:endCxn id="65" idx="0"/>
          </p:cNvCxnSpPr>
          <p:nvPr>
            <p:custDataLst>
              <p:tags r:id="rId29"/>
            </p:custDataLst>
          </p:nvPr>
        </p:nvCxnSpPr>
        <p:spPr>
          <a:xfrm flipH="1">
            <a:off x="6266180" y="4141470"/>
            <a:ext cx="678815" cy="3352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78" name="直接连接符 77"/>
          <p:cNvCxnSpPr>
            <a:stCxn id="33" idx="2"/>
            <a:endCxn id="70" idx="0"/>
          </p:cNvCxnSpPr>
          <p:nvPr>
            <p:custDataLst>
              <p:tags r:id="rId30"/>
            </p:custDataLst>
          </p:nvPr>
        </p:nvCxnSpPr>
        <p:spPr>
          <a:xfrm>
            <a:off x="6944995" y="4141470"/>
            <a:ext cx="1079500" cy="335280"/>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79" name="文本框 78"/>
          <p:cNvSpPr txBox="1"/>
          <p:nvPr/>
        </p:nvSpPr>
        <p:spPr>
          <a:xfrm>
            <a:off x="7740015" y="4522470"/>
            <a:ext cx="478790" cy="295910"/>
          </a:xfrm>
          <a:prstGeom prst="rect">
            <a:avLst/>
          </a:prstGeom>
          <a:noFill/>
        </p:spPr>
        <p:txBody>
          <a:bodyPr wrap="square" rtlCol="0">
            <a:noAutofit/>
          </a:bodyPr>
          <a:lstStyle/>
          <a:p>
            <a:r>
              <a:rPr lang="en-US" altLang="zh-CN" sz="1400">
                <a:solidFill>
                  <a:schemeClr val="tx1"/>
                </a:solidFill>
                <a:latin typeface="Times New Roman" panose="02020603050405020304" pitchFamily="18" charset="0"/>
                <a:cs typeface="Times New Roman" panose="02020603050405020304" pitchFamily="18" charset="0"/>
                <a:sym typeface="+mn-ea"/>
              </a:rPr>
              <a:t>5</a:t>
            </a:r>
            <a:endParaRPr lang="en-US" altLang="zh-CN" sz="1400">
              <a:solidFill>
                <a:schemeClr val="tx1"/>
              </a:solidFill>
              <a:latin typeface="Times New Roman" panose="02020603050405020304" pitchFamily="18" charset="0"/>
              <a:cs typeface="Times New Roman" panose="02020603050405020304" pitchFamily="18" charset="0"/>
              <a:sym typeface="+mn-ea"/>
            </a:endParaRPr>
          </a:p>
        </p:txBody>
      </p:sp>
      <p:sp>
        <p:nvSpPr>
          <p:cNvPr id="80" name="文本框 79"/>
          <p:cNvSpPr txBox="1"/>
          <p:nvPr/>
        </p:nvSpPr>
        <p:spPr>
          <a:xfrm>
            <a:off x="107950" y="836295"/>
            <a:ext cx="8398510" cy="429260"/>
          </a:xfrm>
          <a:prstGeom prst="rect">
            <a:avLst/>
          </a:prstGeom>
          <a:noFill/>
        </p:spPr>
        <p:txBody>
          <a:bodyPr wrap="square" rtlCol="0">
            <a:noAutofit/>
          </a:bodyPr>
          <a:lstStyle/>
          <a:p>
            <a:r>
              <a:rPr lang="zh-CN" altLang="en-US"/>
              <a:t>如何利用动态规划的思想：首先将问题拆分成各个阶段的小问题。</a:t>
            </a:r>
            <a:endParaRPr lang="zh-CN" altLang="en-US"/>
          </a:p>
        </p:txBody>
      </p:sp>
      <p:pic>
        <p:nvPicPr>
          <p:cNvPr id="2" name="图片 1"/>
          <p:cNvPicPr>
            <a:picLocks noChangeAspect="1"/>
          </p:cNvPicPr>
          <p:nvPr/>
        </p:nvPicPr>
        <p:blipFill>
          <a:blip r:embed="rId31"/>
          <a:stretch>
            <a:fillRect/>
          </a:stretch>
        </p:blipFill>
        <p:spPr>
          <a:xfrm>
            <a:off x="314960" y="4139565"/>
            <a:ext cx="8648700" cy="1133475"/>
          </a:xfrm>
          <a:prstGeom prst="rect">
            <a:avLst/>
          </a:prstGeom>
        </p:spPr>
      </p:pic>
      <p:pic>
        <p:nvPicPr>
          <p:cNvPr id="3" name="图片 2"/>
          <p:cNvPicPr>
            <a:picLocks noChangeAspect="1"/>
          </p:cNvPicPr>
          <p:nvPr/>
        </p:nvPicPr>
        <p:blipFill>
          <a:blip r:embed="rId31"/>
          <a:stretch>
            <a:fillRect/>
          </a:stretch>
        </p:blipFill>
        <p:spPr>
          <a:xfrm>
            <a:off x="498475" y="3362960"/>
            <a:ext cx="8648700" cy="1133475"/>
          </a:xfrm>
          <a:prstGeom prst="rect">
            <a:avLst/>
          </a:prstGeom>
        </p:spPr>
      </p:pic>
      <p:pic>
        <p:nvPicPr>
          <p:cNvPr id="4" name="图片 3"/>
          <p:cNvPicPr>
            <a:picLocks noChangeAspect="1"/>
          </p:cNvPicPr>
          <p:nvPr/>
        </p:nvPicPr>
        <p:blipFill>
          <a:blip r:embed="rId31"/>
          <a:stretch>
            <a:fillRect/>
          </a:stretch>
        </p:blipFill>
        <p:spPr>
          <a:xfrm>
            <a:off x="324485" y="2592070"/>
            <a:ext cx="8648700" cy="1133475"/>
          </a:xfrm>
          <a:prstGeom prst="rect">
            <a:avLst/>
          </a:prstGeom>
        </p:spPr>
      </p:pic>
      <p:sp>
        <p:nvSpPr>
          <p:cNvPr id="6" name="文本框 5"/>
          <p:cNvSpPr txBox="1"/>
          <p:nvPr/>
        </p:nvSpPr>
        <p:spPr>
          <a:xfrm>
            <a:off x="323215" y="5372735"/>
            <a:ext cx="8398510" cy="763270"/>
          </a:xfrm>
          <a:prstGeom prst="rect">
            <a:avLst/>
          </a:prstGeom>
          <a:noFill/>
        </p:spPr>
        <p:txBody>
          <a:bodyPr wrap="square" rtlCol="0">
            <a:noAutofit/>
          </a:bodyPr>
          <a:lstStyle/>
          <a:p>
            <a:r>
              <a:rPr lang="zh-CN" altLang="en-US"/>
              <a:t>当将问题拆分到最后一个阶段，则可以直接获得到当前阶段的最大路径。当</a:t>
            </a:r>
            <a:r>
              <a:rPr lang="zh-CN" altLang="en-US">
                <a:solidFill>
                  <a:srgbClr val="FF0000"/>
                </a:solidFill>
              </a:rPr>
              <a:t>子问题考虑完所有情况</a:t>
            </a:r>
            <a:r>
              <a:rPr lang="zh-CN" altLang="en-US"/>
              <a:t>之后，选择最优的保存。</a:t>
            </a:r>
            <a:endParaRPr lang="zh-CN" altLang="en-US"/>
          </a:p>
          <a:p>
            <a:endParaRPr lang="zh-CN" altLang="en-US"/>
          </a:p>
        </p:txBody>
      </p:sp>
      <p:sp>
        <p:nvSpPr>
          <p:cNvPr id="8" name="文本框 7"/>
          <p:cNvSpPr txBox="1"/>
          <p:nvPr/>
        </p:nvSpPr>
        <p:spPr>
          <a:xfrm>
            <a:off x="377444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8</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0" name="文本框 9"/>
          <p:cNvSpPr txBox="1"/>
          <p:nvPr/>
        </p:nvSpPr>
        <p:spPr>
          <a:xfrm>
            <a:off x="5259070" y="22498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5" name="文本框 14"/>
          <p:cNvSpPr txBox="1"/>
          <p:nvPr/>
        </p:nvSpPr>
        <p:spPr>
          <a:xfrm>
            <a:off x="2945765" y="302514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7" name="文本框 16"/>
          <p:cNvSpPr txBox="1"/>
          <p:nvPr/>
        </p:nvSpPr>
        <p:spPr>
          <a:xfrm>
            <a:off x="448119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13</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19" name="文本框 18"/>
          <p:cNvSpPr txBox="1"/>
          <p:nvPr/>
        </p:nvSpPr>
        <p:spPr>
          <a:xfrm>
            <a:off x="5970905" y="302958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0" name="文本框 19"/>
          <p:cNvSpPr txBox="1"/>
          <p:nvPr/>
        </p:nvSpPr>
        <p:spPr>
          <a:xfrm>
            <a:off x="2124075" y="386080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9" name="文本框 28"/>
          <p:cNvSpPr txBox="1"/>
          <p:nvPr/>
        </p:nvSpPr>
        <p:spPr>
          <a:xfrm>
            <a:off x="3771900"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22</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34" name="文本框 33"/>
          <p:cNvSpPr txBox="1"/>
          <p:nvPr/>
        </p:nvSpPr>
        <p:spPr>
          <a:xfrm>
            <a:off x="5205095" y="3799205"/>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20</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0" name="文本框 39"/>
          <p:cNvSpPr txBox="1"/>
          <p:nvPr/>
        </p:nvSpPr>
        <p:spPr>
          <a:xfrm>
            <a:off x="6652895" y="37858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1" name="文本框 40"/>
          <p:cNvSpPr txBox="1"/>
          <p:nvPr/>
        </p:nvSpPr>
        <p:spPr>
          <a:xfrm>
            <a:off x="14757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26</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2" name="文本框 41"/>
          <p:cNvSpPr txBox="1"/>
          <p:nvPr/>
        </p:nvSpPr>
        <p:spPr>
          <a:xfrm>
            <a:off x="306006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27</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3" name="文本框 42"/>
          <p:cNvSpPr txBox="1"/>
          <p:nvPr/>
        </p:nvSpPr>
        <p:spPr>
          <a:xfrm>
            <a:off x="456311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24</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4" name="文本框 43"/>
          <p:cNvSpPr txBox="1"/>
          <p:nvPr/>
        </p:nvSpPr>
        <p:spPr>
          <a:xfrm>
            <a:off x="5946140"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21</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45" name="文本框 44"/>
          <p:cNvSpPr txBox="1"/>
          <p:nvPr/>
        </p:nvSpPr>
        <p:spPr>
          <a:xfrm>
            <a:off x="7740015" y="4522470"/>
            <a:ext cx="478790" cy="295910"/>
          </a:xfrm>
          <a:prstGeom prst="rect">
            <a:avLst/>
          </a:prstGeom>
          <a:noFill/>
        </p:spPr>
        <p:txBody>
          <a:bodyPr wrap="square" rtlCol="0">
            <a:noAutofit/>
          </a:bodyPr>
          <a:lstStyle/>
          <a:p>
            <a:r>
              <a:rPr lang="en-US" altLang="zh-CN" sz="1400">
                <a:solidFill>
                  <a:srgbClr val="FF0000"/>
                </a:solidFill>
                <a:latin typeface="Times New Roman" panose="02020603050405020304" pitchFamily="18" charset="0"/>
                <a:cs typeface="Times New Roman" panose="02020603050405020304" pitchFamily="18" charset="0"/>
                <a:sym typeface="+mn-ea"/>
              </a:rPr>
              <a:t>19</a:t>
            </a:r>
            <a:endParaRPr lang="en-US" altLang="zh-CN" sz="1400">
              <a:solidFill>
                <a:srgbClr val="FF0000"/>
              </a:solidFill>
              <a:latin typeface="Times New Roman" panose="02020603050405020304" pitchFamily="18" charset="0"/>
              <a:cs typeface="Times New Roman" panose="02020603050405020304" pitchFamily="18" charset="0"/>
              <a:sym typeface="+mn-ea"/>
            </a:endParaRPr>
          </a:p>
        </p:txBody>
      </p:sp>
      <p:sp>
        <p:nvSpPr>
          <p:cNvPr id="23" name="文本框 22"/>
          <p:cNvSpPr txBox="1"/>
          <p:nvPr/>
        </p:nvSpPr>
        <p:spPr>
          <a:xfrm>
            <a:off x="314960" y="6236970"/>
            <a:ext cx="7880350" cy="370205"/>
          </a:xfrm>
          <a:prstGeom prst="rect">
            <a:avLst/>
          </a:prstGeom>
          <a:noFill/>
        </p:spPr>
        <p:txBody>
          <a:bodyPr wrap="square" rtlCol="0" anchor="t">
            <a:noAutofit/>
          </a:bodyPr>
          <a:lstStyle/>
          <a:p>
            <a:r>
              <a:rPr lang="zh-CN" altLang="en-US">
                <a:sym typeface="+mn-ea"/>
              </a:rPr>
              <a:t>该问题的最优解通过每一步的最优解组合获得，说明具有</a:t>
            </a:r>
            <a:r>
              <a:rPr lang="zh-CN" altLang="en-US">
                <a:solidFill>
                  <a:srgbClr val="FF0000"/>
                </a:solidFill>
                <a:sym typeface="+mn-ea"/>
              </a:rPr>
              <a:t>最优子结构</a:t>
            </a:r>
            <a:r>
              <a:rPr lang="zh-CN" altLang="en-US">
                <a:sym typeface="+mn-ea"/>
              </a:rPr>
              <a:t>。</a:t>
            </a:r>
            <a:endParaRPr lang="zh-CN" altLang="en-US">
              <a:sym typeface="+mn-ea"/>
            </a:endParaRPr>
          </a:p>
        </p:txBody>
      </p:sp>
      <p:sp>
        <p:nvSpPr>
          <p:cNvPr id="30" name="文本框 29"/>
          <p:cNvSpPr txBox="1"/>
          <p:nvPr/>
        </p:nvSpPr>
        <p:spPr>
          <a:xfrm>
            <a:off x="219710" y="1558290"/>
            <a:ext cx="2382520" cy="812165"/>
          </a:xfrm>
          <a:prstGeom prst="rect">
            <a:avLst/>
          </a:prstGeom>
          <a:noFill/>
        </p:spPr>
        <p:txBody>
          <a:bodyPr wrap="square" rtlCol="0" anchor="t">
            <a:noAutofit/>
          </a:bodyPr>
          <a:lstStyle/>
          <a:p>
            <a:r>
              <a:rPr lang="zh-CN" altLang="en-US">
                <a:solidFill>
                  <a:srgbClr val="FF0000"/>
                </a:solidFill>
                <a:sym typeface="+mn-ea"/>
              </a:rPr>
              <a:t>那么同学们这个问题的状态转移方程和状态表能找出来吗？</a:t>
            </a:r>
            <a:endParaRPr lang="zh-CN" altLang="en-US">
              <a:solidFill>
                <a:srgbClr val="FF0000"/>
              </a:solidFill>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xit" presetSubtype="0" fill="hold" grpId="0" nodeType="clickEffect">
                                  <p:stCondLst>
                                    <p:cond delay="0"/>
                                  </p:stCondLst>
                                  <p:childTnLst>
                                    <p:set>
                                      <p:cBhvr>
                                        <p:cTn id="22" dur="1" fill="hold">
                                          <p:stCondLst>
                                            <p:cond delay="0"/>
                                          </p:stCondLst>
                                        </p:cTn>
                                        <p:tgtEl>
                                          <p:spTgt spid="53"/>
                                        </p:tgtEl>
                                        <p:attrNameLst>
                                          <p:attrName>style.visibility</p:attrName>
                                        </p:attrNameLst>
                                      </p:cBhvr>
                                      <p:to>
                                        <p:strVal val="hidden"/>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8"/>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xit" presetSubtype="0" fill="hold" nodeType="clickEffect">
                                  <p:stCondLst>
                                    <p:cond delay="0"/>
                                  </p:stCondLst>
                                  <p:childTnLst>
                                    <p:set>
                                      <p:cBhvr>
                                        <p:cTn id="30" dur="1" fill="hold">
                                          <p:stCondLst>
                                            <p:cond delay="0"/>
                                          </p:stCondLst>
                                        </p:cTn>
                                        <p:tgtEl>
                                          <p:spTgt spid="54">
                                            <p:txEl>
                                              <p:pRg st="0" end="0"/>
                                            </p:txEl>
                                          </p:spTgt>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0"/>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xit" presetSubtype="0" fill="hold" nodeType="clickEffect">
                                  <p:stCondLst>
                                    <p:cond delay="0"/>
                                  </p:stCondLst>
                                  <p:childTnLst>
                                    <p:set>
                                      <p:cBhvr>
                                        <p:cTn id="38" dur="1" fill="hold">
                                          <p:stCondLst>
                                            <p:cond delay="0"/>
                                          </p:stCondLst>
                                        </p:cTn>
                                        <p:tgtEl>
                                          <p:spTgt spid="4"/>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1" presetClass="exit" presetSubtype="0" fill="hold" grpId="0" nodeType="clickEffect">
                                  <p:stCondLst>
                                    <p:cond delay="0"/>
                                  </p:stCondLst>
                                  <p:childTnLst>
                                    <p:set>
                                      <p:cBhvr>
                                        <p:cTn id="42" dur="1" fill="hold">
                                          <p:stCondLst>
                                            <p:cond delay="0"/>
                                          </p:stCondLst>
                                        </p:cTn>
                                        <p:tgtEl>
                                          <p:spTgt spid="55"/>
                                        </p:tgtEl>
                                        <p:attrNameLst>
                                          <p:attrName>style.visibility</p:attrName>
                                        </p:attrNameLst>
                                      </p:cBhvr>
                                      <p:to>
                                        <p:strVal val="hidden"/>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xit" presetSubtype="0" fill="hold" grpId="0" nodeType="clickEffect">
                                  <p:stCondLst>
                                    <p:cond delay="0"/>
                                  </p:stCondLst>
                                  <p:childTnLst>
                                    <p:set>
                                      <p:cBhvr>
                                        <p:cTn id="50" dur="1" fill="hold">
                                          <p:stCondLst>
                                            <p:cond delay="0"/>
                                          </p:stCondLst>
                                        </p:cTn>
                                        <p:tgtEl>
                                          <p:spTgt spid="56"/>
                                        </p:tgtEl>
                                        <p:attrNameLst>
                                          <p:attrName>style.visibility</p:attrName>
                                        </p:attrNameLst>
                                      </p:cBhvr>
                                      <p:to>
                                        <p:strVal val="hidden"/>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grpId="0" nodeType="clickEffect">
                                  <p:stCondLst>
                                    <p:cond delay="0"/>
                                  </p:stCondLst>
                                  <p:childTnLst>
                                    <p:set>
                                      <p:cBhvr>
                                        <p:cTn id="54" dur="1" fill="hold">
                                          <p:stCondLst>
                                            <p:cond delay="0"/>
                                          </p:stCondLst>
                                        </p:cTn>
                                        <p:tgtEl>
                                          <p:spTgt spid="17"/>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xit" presetSubtype="0" fill="hold" grpId="0" nodeType="clickEffect">
                                  <p:stCondLst>
                                    <p:cond delay="0"/>
                                  </p:stCondLst>
                                  <p:childTnLst>
                                    <p:set>
                                      <p:cBhvr>
                                        <p:cTn id="58" dur="1" fill="hold">
                                          <p:stCondLst>
                                            <p:cond delay="0"/>
                                          </p:stCondLst>
                                        </p:cTn>
                                        <p:tgtEl>
                                          <p:spTgt spid="57"/>
                                        </p:tgtEl>
                                        <p:attrNameLst>
                                          <p:attrName>style.visibility</p:attrName>
                                        </p:attrNameLst>
                                      </p:cBhvr>
                                      <p:to>
                                        <p:strVal val="hidden"/>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grpId="0" nodeType="clickEffect">
                                  <p:stCondLst>
                                    <p:cond delay="0"/>
                                  </p:stCondLst>
                                  <p:childTnLst>
                                    <p:set>
                                      <p:cBhvr>
                                        <p:cTn id="62" dur="1" fill="hold">
                                          <p:stCondLst>
                                            <p:cond delay="0"/>
                                          </p:stCondLst>
                                        </p:cTn>
                                        <p:tgtEl>
                                          <p:spTgt spid="19"/>
                                        </p:tgtEl>
                                        <p:attrNameLst>
                                          <p:attrName>style.visibility</p:attrName>
                                        </p:attrNameLst>
                                      </p:cBhvr>
                                      <p:to>
                                        <p:strVal val="visible"/>
                                      </p:to>
                                    </p:set>
                                  </p:childTnLst>
                                </p:cTn>
                              </p:par>
                            </p:childTnLst>
                          </p:cTn>
                        </p:par>
                      </p:childTnLst>
                    </p:cTn>
                  </p:par>
                  <p:par>
                    <p:cTn id="63" fill="hold">
                      <p:stCondLst>
                        <p:cond delay="indefinite"/>
                      </p:stCondLst>
                      <p:childTnLst>
                        <p:par>
                          <p:cTn id="64" fill="hold">
                            <p:stCondLst>
                              <p:cond delay="0"/>
                            </p:stCondLst>
                            <p:childTnLst>
                              <p:par>
                                <p:cTn id="65" presetID="1" presetClass="exit" presetSubtype="0" fill="hold" nodeType="clickEffect">
                                  <p:stCondLst>
                                    <p:cond delay="0"/>
                                  </p:stCondLst>
                                  <p:childTnLst>
                                    <p:set>
                                      <p:cBhvr>
                                        <p:cTn id="66" dur="1" fill="hold">
                                          <p:stCondLst>
                                            <p:cond delay="0"/>
                                          </p:stCondLst>
                                        </p:cTn>
                                        <p:tgtEl>
                                          <p:spTgt spid="3"/>
                                        </p:tgtEl>
                                        <p:attrNameLst>
                                          <p:attrName>style.visibility</p:attrName>
                                        </p:attrNameLst>
                                      </p:cBhvr>
                                      <p:to>
                                        <p:strVal val="hidden"/>
                                      </p:to>
                                    </p:set>
                                  </p:childTnLst>
                                </p:cTn>
                              </p:par>
                            </p:childTnLst>
                          </p:cTn>
                        </p:par>
                      </p:childTnLst>
                    </p:cTn>
                  </p:par>
                  <p:par>
                    <p:cTn id="67" fill="hold">
                      <p:stCondLst>
                        <p:cond delay="indefinite"/>
                      </p:stCondLst>
                      <p:childTnLst>
                        <p:par>
                          <p:cTn id="68" fill="hold">
                            <p:stCondLst>
                              <p:cond delay="0"/>
                            </p:stCondLst>
                            <p:childTnLst>
                              <p:par>
                                <p:cTn id="69" presetID="1" presetClass="exit" presetSubtype="0" fill="hold" grpId="0" nodeType="clickEffect">
                                  <p:stCondLst>
                                    <p:cond delay="0"/>
                                  </p:stCondLst>
                                  <p:childTnLst>
                                    <p:set>
                                      <p:cBhvr>
                                        <p:cTn id="70" dur="1" fill="hold">
                                          <p:stCondLst>
                                            <p:cond delay="0"/>
                                          </p:stCondLst>
                                        </p:cTn>
                                        <p:tgtEl>
                                          <p:spTgt spid="58"/>
                                        </p:tgtEl>
                                        <p:attrNameLst>
                                          <p:attrName>style.visibility</p:attrName>
                                        </p:attrNameLst>
                                      </p:cBhvr>
                                      <p:to>
                                        <p:strVal val="hidden"/>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grpId="0" nodeType="clickEffect">
                                  <p:stCondLst>
                                    <p:cond delay="0"/>
                                  </p:stCondLst>
                                  <p:childTnLst>
                                    <p:set>
                                      <p:cBhvr>
                                        <p:cTn id="74" dur="1" fill="hold">
                                          <p:stCondLst>
                                            <p:cond delay="0"/>
                                          </p:stCondLst>
                                        </p:cTn>
                                        <p:tgtEl>
                                          <p:spTgt spid="20"/>
                                        </p:tgtEl>
                                        <p:attrNameLst>
                                          <p:attrName>style.visibility</p:attrName>
                                        </p:attrNameLst>
                                      </p:cBhvr>
                                      <p:to>
                                        <p:strVal val="visible"/>
                                      </p:to>
                                    </p:set>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0" nodeType="clickEffect">
                                  <p:stCondLst>
                                    <p:cond delay="0"/>
                                  </p:stCondLst>
                                  <p:childTnLst>
                                    <p:set>
                                      <p:cBhvr>
                                        <p:cTn id="78" dur="1" fill="hold">
                                          <p:stCondLst>
                                            <p:cond delay="0"/>
                                          </p:stCondLst>
                                        </p:cTn>
                                        <p:tgtEl>
                                          <p:spTgt spid="37"/>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1" presetClass="entr" presetSubtype="0" fill="hold" grpId="0" nodeType="clickEffect">
                                  <p:stCondLst>
                                    <p:cond delay="0"/>
                                  </p:stCondLst>
                                  <p:childTnLst>
                                    <p:set>
                                      <p:cBhvr>
                                        <p:cTn id="82" dur="1" fill="hold">
                                          <p:stCondLst>
                                            <p:cond delay="0"/>
                                          </p:stCondLst>
                                        </p:cTn>
                                        <p:tgtEl>
                                          <p:spTgt spid="29"/>
                                        </p:tgtEl>
                                        <p:attrNameLst>
                                          <p:attrName>style.visibility</p:attrName>
                                        </p:attrNameLst>
                                      </p:cBhvr>
                                      <p:to>
                                        <p:strVal val="visible"/>
                                      </p:to>
                                    </p:set>
                                  </p:childTnLst>
                                </p:cTn>
                              </p:par>
                            </p:childTnLst>
                          </p:cTn>
                        </p:par>
                      </p:childTnLst>
                    </p:cTn>
                  </p:par>
                  <p:par>
                    <p:cTn id="83" fill="hold">
                      <p:stCondLst>
                        <p:cond delay="indefinite"/>
                      </p:stCondLst>
                      <p:childTnLst>
                        <p:par>
                          <p:cTn id="84" fill="hold">
                            <p:stCondLst>
                              <p:cond delay="0"/>
                            </p:stCondLst>
                            <p:childTnLst>
                              <p:par>
                                <p:cTn id="85" presetID="1" presetClass="exit" presetSubtype="0" fill="hold" grpId="0" nodeType="clickEffect">
                                  <p:stCondLst>
                                    <p:cond delay="0"/>
                                  </p:stCondLst>
                                  <p:childTnLst>
                                    <p:set>
                                      <p:cBhvr>
                                        <p:cTn id="86" dur="1" fill="hold">
                                          <p:stCondLst>
                                            <p:cond delay="0"/>
                                          </p:stCondLst>
                                        </p:cTn>
                                        <p:tgtEl>
                                          <p:spTgt spid="60"/>
                                        </p:tgtEl>
                                        <p:attrNameLst>
                                          <p:attrName>style.visibility</p:attrName>
                                        </p:attrNameLst>
                                      </p:cBhvr>
                                      <p:to>
                                        <p:strVal val="hidden"/>
                                      </p:to>
                                    </p:set>
                                  </p:childTnLst>
                                </p:cTn>
                              </p:par>
                            </p:childTnLst>
                          </p:cTn>
                        </p:par>
                      </p:childTnLst>
                    </p:cTn>
                  </p:par>
                  <p:par>
                    <p:cTn id="87" fill="hold">
                      <p:stCondLst>
                        <p:cond delay="indefinite"/>
                      </p:stCondLst>
                      <p:childTnLst>
                        <p:par>
                          <p:cTn id="88" fill="hold">
                            <p:stCondLst>
                              <p:cond delay="0"/>
                            </p:stCondLst>
                            <p:childTnLst>
                              <p:par>
                                <p:cTn id="89" presetID="1" presetClass="entr" presetSubtype="0" fill="hold" grpId="0" nodeType="clickEffect">
                                  <p:stCondLst>
                                    <p:cond delay="0"/>
                                  </p:stCondLst>
                                  <p:childTnLst>
                                    <p:set>
                                      <p:cBhvr>
                                        <p:cTn id="90" dur="1" fill="hold">
                                          <p:stCondLst>
                                            <p:cond delay="0"/>
                                          </p:stCondLst>
                                        </p:cTn>
                                        <p:tgtEl>
                                          <p:spTgt spid="34"/>
                                        </p:tgtEl>
                                        <p:attrNameLst>
                                          <p:attrName>style.visibility</p:attrName>
                                        </p:attrNameLst>
                                      </p:cBhvr>
                                      <p:to>
                                        <p:strVal val="visible"/>
                                      </p:to>
                                    </p:set>
                                  </p:childTnLst>
                                </p:cTn>
                              </p:par>
                            </p:childTnLst>
                          </p:cTn>
                        </p:par>
                      </p:childTnLst>
                    </p:cTn>
                  </p:par>
                  <p:par>
                    <p:cTn id="91" fill="hold">
                      <p:stCondLst>
                        <p:cond delay="indefinite"/>
                      </p:stCondLst>
                      <p:childTnLst>
                        <p:par>
                          <p:cTn id="92" fill="hold">
                            <p:stCondLst>
                              <p:cond delay="0"/>
                            </p:stCondLst>
                            <p:childTnLst>
                              <p:par>
                                <p:cTn id="93" presetID="1" presetClass="exit" presetSubtype="0" fill="hold" grpId="0" nodeType="clickEffect">
                                  <p:stCondLst>
                                    <p:cond delay="0"/>
                                  </p:stCondLst>
                                  <p:childTnLst>
                                    <p:set>
                                      <p:cBhvr>
                                        <p:cTn id="94" dur="1" fill="hold">
                                          <p:stCondLst>
                                            <p:cond delay="0"/>
                                          </p:stCondLst>
                                        </p:cTn>
                                        <p:tgtEl>
                                          <p:spTgt spid="61"/>
                                        </p:tgtEl>
                                        <p:attrNameLst>
                                          <p:attrName>style.visibility</p:attrName>
                                        </p:attrNameLst>
                                      </p:cBhvr>
                                      <p:to>
                                        <p:strVal val="hidden"/>
                                      </p:to>
                                    </p:set>
                                  </p:childTnLst>
                                </p:cTn>
                              </p:par>
                            </p:childTnLst>
                          </p:cTn>
                        </p:par>
                      </p:childTnLst>
                    </p:cTn>
                  </p:par>
                  <p:par>
                    <p:cTn id="95" fill="hold">
                      <p:stCondLst>
                        <p:cond delay="indefinite"/>
                      </p:stCondLst>
                      <p:childTnLst>
                        <p:par>
                          <p:cTn id="96" fill="hold">
                            <p:stCondLst>
                              <p:cond delay="0"/>
                            </p:stCondLst>
                            <p:childTnLst>
                              <p:par>
                                <p:cTn id="97" presetID="1" presetClass="entr" presetSubtype="0" fill="hold" grpId="0" nodeType="clickEffect">
                                  <p:stCondLst>
                                    <p:cond delay="0"/>
                                  </p:stCondLst>
                                  <p:childTnLst>
                                    <p:set>
                                      <p:cBhvr>
                                        <p:cTn id="98" dur="1" fill="hold">
                                          <p:stCondLst>
                                            <p:cond delay="0"/>
                                          </p:stCondLst>
                                        </p:cTn>
                                        <p:tgtEl>
                                          <p:spTgt spid="40"/>
                                        </p:tgtEl>
                                        <p:attrNameLst>
                                          <p:attrName>style.visibility</p:attrName>
                                        </p:attrNameLst>
                                      </p:cBhvr>
                                      <p:to>
                                        <p:strVal val="visible"/>
                                      </p:to>
                                    </p:set>
                                  </p:childTnLst>
                                </p:cTn>
                              </p:par>
                            </p:childTnLst>
                          </p:cTn>
                        </p:par>
                      </p:childTnLst>
                    </p:cTn>
                  </p:par>
                  <p:par>
                    <p:cTn id="99" fill="hold">
                      <p:stCondLst>
                        <p:cond delay="indefinite"/>
                      </p:stCondLst>
                      <p:childTnLst>
                        <p:par>
                          <p:cTn id="100" fill="hold">
                            <p:stCondLst>
                              <p:cond delay="0"/>
                            </p:stCondLst>
                            <p:childTnLst>
                              <p:par>
                                <p:cTn id="101" presetID="1" presetClass="exit" presetSubtype="0" fill="hold" nodeType="clickEffect">
                                  <p:stCondLst>
                                    <p:cond delay="0"/>
                                  </p:stCondLst>
                                  <p:childTnLst>
                                    <p:set>
                                      <p:cBhvr>
                                        <p:cTn id="102" dur="1" fill="hold">
                                          <p:stCondLst>
                                            <p:cond delay="0"/>
                                          </p:stCondLst>
                                        </p:cTn>
                                        <p:tgtEl>
                                          <p:spTgt spid="2"/>
                                        </p:tgtEl>
                                        <p:attrNameLst>
                                          <p:attrName>style.visibility</p:attrName>
                                        </p:attrNameLst>
                                      </p:cBhvr>
                                      <p:to>
                                        <p:strVal val="hidden"/>
                                      </p:to>
                                    </p:set>
                                  </p:childTnLst>
                                </p:cTn>
                              </p:par>
                            </p:childTnLst>
                          </p:cTn>
                        </p:par>
                      </p:childTnLst>
                    </p:cTn>
                  </p:par>
                  <p:par>
                    <p:cTn id="103" fill="hold">
                      <p:stCondLst>
                        <p:cond delay="indefinite"/>
                      </p:stCondLst>
                      <p:childTnLst>
                        <p:par>
                          <p:cTn id="104" fill="hold">
                            <p:stCondLst>
                              <p:cond delay="0"/>
                            </p:stCondLst>
                            <p:childTnLst>
                              <p:par>
                                <p:cTn id="105" presetID="1" presetClass="exit" presetSubtype="0" fill="hold" grpId="0" nodeType="clickEffect">
                                  <p:stCondLst>
                                    <p:cond delay="0"/>
                                  </p:stCondLst>
                                  <p:childTnLst>
                                    <p:set>
                                      <p:cBhvr>
                                        <p:cTn id="106" dur="1" fill="hold">
                                          <p:stCondLst>
                                            <p:cond delay="0"/>
                                          </p:stCondLst>
                                        </p:cTn>
                                        <p:tgtEl>
                                          <p:spTgt spid="66"/>
                                        </p:tgtEl>
                                        <p:attrNameLst>
                                          <p:attrName>style.visibility</p:attrName>
                                        </p:attrNameLst>
                                      </p:cBhvr>
                                      <p:to>
                                        <p:strVal val="hidden"/>
                                      </p:to>
                                    </p:set>
                                  </p:childTnLst>
                                </p:cTn>
                              </p:par>
                            </p:childTnLst>
                          </p:cTn>
                        </p:par>
                      </p:childTnLst>
                    </p:cTn>
                  </p:par>
                  <p:par>
                    <p:cTn id="107" fill="hold">
                      <p:stCondLst>
                        <p:cond delay="indefinite"/>
                      </p:stCondLst>
                      <p:childTnLst>
                        <p:par>
                          <p:cTn id="108" fill="hold">
                            <p:stCondLst>
                              <p:cond delay="0"/>
                            </p:stCondLst>
                            <p:childTnLst>
                              <p:par>
                                <p:cTn id="109" presetID="1" presetClass="entr" presetSubtype="0" fill="hold" nodeType="clickEffect">
                                  <p:stCondLst>
                                    <p:cond delay="0"/>
                                  </p:stCondLst>
                                  <p:childTnLst>
                                    <p:set>
                                      <p:cBhvr>
                                        <p:cTn id="110" dur="1" fill="hold">
                                          <p:stCondLst>
                                            <p:cond delay="0"/>
                                          </p:stCondLst>
                                        </p:cTn>
                                        <p:tgtEl>
                                          <p:spTgt spid="41">
                                            <p:txEl>
                                              <p:pRg st="0" end="0"/>
                                            </p:txEl>
                                          </p:spTgt>
                                        </p:tgtEl>
                                        <p:attrNameLst>
                                          <p:attrName>style.visibility</p:attrName>
                                        </p:attrNameLst>
                                      </p:cBhvr>
                                      <p:to>
                                        <p:strVal val="visible"/>
                                      </p:to>
                                    </p:set>
                                  </p:childTnLst>
                                </p:cTn>
                              </p:par>
                            </p:childTnLst>
                          </p:cTn>
                        </p:par>
                      </p:childTnLst>
                    </p:cTn>
                  </p:par>
                  <p:par>
                    <p:cTn id="111" fill="hold">
                      <p:stCondLst>
                        <p:cond delay="indefinite"/>
                      </p:stCondLst>
                      <p:childTnLst>
                        <p:par>
                          <p:cTn id="112" fill="hold">
                            <p:stCondLst>
                              <p:cond delay="0"/>
                            </p:stCondLst>
                            <p:childTnLst>
                              <p:par>
                                <p:cTn id="113" presetID="1" presetClass="exit" presetSubtype="0" fill="hold" grpId="0" nodeType="clickEffect">
                                  <p:stCondLst>
                                    <p:cond delay="0"/>
                                  </p:stCondLst>
                                  <p:childTnLst>
                                    <p:set>
                                      <p:cBhvr>
                                        <p:cTn id="114" dur="1" fill="hold">
                                          <p:stCondLst>
                                            <p:cond delay="0"/>
                                          </p:stCondLst>
                                        </p:cTn>
                                        <p:tgtEl>
                                          <p:spTgt spid="67"/>
                                        </p:tgtEl>
                                        <p:attrNameLst>
                                          <p:attrName>style.visibility</p:attrName>
                                        </p:attrNameLst>
                                      </p:cBhvr>
                                      <p:to>
                                        <p:strVal val="hidden"/>
                                      </p:to>
                                    </p:set>
                                  </p:childTnLst>
                                </p:cTn>
                              </p:par>
                            </p:childTnLst>
                          </p:cTn>
                        </p:par>
                      </p:childTnLst>
                    </p:cTn>
                  </p:par>
                  <p:par>
                    <p:cTn id="115" fill="hold">
                      <p:stCondLst>
                        <p:cond delay="indefinite"/>
                      </p:stCondLst>
                      <p:childTnLst>
                        <p:par>
                          <p:cTn id="116" fill="hold">
                            <p:stCondLst>
                              <p:cond delay="0"/>
                            </p:stCondLst>
                            <p:childTnLst>
                              <p:par>
                                <p:cTn id="117" presetID="1" presetClass="entr" presetSubtype="0" fill="hold" grpId="0" nodeType="clickEffect">
                                  <p:stCondLst>
                                    <p:cond delay="0"/>
                                  </p:stCondLst>
                                  <p:childTnLst>
                                    <p:set>
                                      <p:cBhvr>
                                        <p:cTn id="118" dur="1" fill="hold">
                                          <p:stCondLst>
                                            <p:cond delay="0"/>
                                          </p:stCondLst>
                                        </p:cTn>
                                        <p:tgtEl>
                                          <p:spTgt spid="42"/>
                                        </p:tgtEl>
                                        <p:attrNameLst>
                                          <p:attrName>style.visibility</p:attrName>
                                        </p:attrNameLst>
                                      </p:cBhvr>
                                      <p:to>
                                        <p:strVal val="visible"/>
                                      </p:to>
                                    </p:set>
                                  </p:childTnLst>
                                </p:cTn>
                              </p:par>
                            </p:childTnLst>
                          </p:cTn>
                        </p:par>
                      </p:childTnLst>
                    </p:cTn>
                  </p:par>
                  <p:par>
                    <p:cTn id="119" fill="hold">
                      <p:stCondLst>
                        <p:cond delay="indefinite"/>
                      </p:stCondLst>
                      <p:childTnLst>
                        <p:par>
                          <p:cTn id="120" fill="hold">
                            <p:stCondLst>
                              <p:cond delay="0"/>
                            </p:stCondLst>
                            <p:childTnLst>
                              <p:par>
                                <p:cTn id="121" presetID="1" presetClass="exit"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hidden"/>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grpId="0" nodeType="clickEffect">
                                  <p:stCondLst>
                                    <p:cond delay="0"/>
                                  </p:stCondLst>
                                  <p:childTnLst>
                                    <p:set>
                                      <p:cBhvr>
                                        <p:cTn id="126" dur="1" fill="hold">
                                          <p:stCondLst>
                                            <p:cond delay="0"/>
                                          </p:stCondLst>
                                        </p:cTn>
                                        <p:tgtEl>
                                          <p:spTgt spid="4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1" presetClass="exit" presetSubtype="0" fill="hold" grpId="0" nodeType="clickEffect">
                                  <p:stCondLst>
                                    <p:cond delay="0"/>
                                  </p:stCondLst>
                                  <p:childTnLst>
                                    <p:set>
                                      <p:cBhvr>
                                        <p:cTn id="130" dur="1" fill="hold">
                                          <p:stCondLst>
                                            <p:cond delay="0"/>
                                          </p:stCondLst>
                                        </p:cTn>
                                        <p:tgtEl>
                                          <p:spTgt spid="69"/>
                                        </p:tgtEl>
                                        <p:attrNameLst>
                                          <p:attrName>style.visibility</p:attrName>
                                        </p:attrNameLst>
                                      </p:cBhvr>
                                      <p:to>
                                        <p:strVal val="hidden"/>
                                      </p:to>
                                    </p:set>
                                  </p:childTnLst>
                                </p:cTn>
                              </p:par>
                            </p:childTnLst>
                          </p:cTn>
                        </p:par>
                      </p:childTnLst>
                    </p:cTn>
                  </p:par>
                  <p:par>
                    <p:cTn id="131" fill="hold">
                      <p:stCondLst>
                        <p:cond delay="indefinite"/>
                      </p:stCondLst>
                      <p:childTnLst>
                        <p:par>
                          <p:cTn id="132" fill="hold">
                            <p:stCondLst>
                              <p:cond delay="0"/>
                            </p:stCondLst>
                            <p:childTnLst>
                              <p:par>
                                <p:cTn id="133" presetID="1" presetClass="entr" presetSubtype="0" fill="hold" grpId="0" nodeType="clickEffect">
                                  <p:stCondLst>
                                    <p:cond delay="0"/>
                                  </p:stCondLst>
                                  <p:childTnLst>
                                    <p:set>
                                      <p:cBhvr>
                                        <p:cTn id="134" dur="1" fill="hold">
                                          <p:stCondLst>
                                            <p:cond delay="0"/>
                                          </p:stCondLst>
                                        </p:cTn>
                                        <p:tgtEl>
                                          <p:spTgt spid="44"/>
                                        </p:tgtEl>
                                        <p:attrNameLst>
                                          <p:attrName>style.visibility</p:attrName>
                                        </p:attrNameLst>
                                      </p:cBhvr>
                                      <p:to>
                                        <p:strVal val="visible"/>
                                      </p:to>
                                    </p:set>
                                  </p:childTnLst>
                                </p:cTn>
                              </p:par>
                            </p:childTnLst>
                          </p:cTn>
                        </p:par>
                      </p:childTnLst>
                    </p:cTn>
                  </p:par>
                  <p:par>
                    <p:cTn id="135" fill="hold">
                      <p:stCondLst>
                        <p:cond delay="indefinite"/>
                      </p:stCondLst>
                      <p:childTnLst>
                        <p:par>
                          <p:cTn id="136" fill="hold">
                            <p:stCondLst>
                              <p:cond delay="0"/>
                            </p:stCondLst>
                            <p:childTnLst>
                              <p:par>
                                <p:cTn id="137" presetID="1" presetClass="exit" presetSubtype="0" fill="hold" grpId="0" nodeType="clickEffect">
                                  <p:stCondLst>
                                    <p:cond delay="0"/>
                                  </p:stCondLst>
                                  <p:childTnLst>
                                    <p:set>
                                      <p:cBhvr>
                                        <p:cTn id="138" dur="1" fill="hold">
                                          <p:stCondLst>
                                            <p:cond delay="0"/>
                                          </p:stCondLst>
                                        </p:cTn>
                                        <p:tgtEl>
                                          <p:spTgt spid="79"/>
                                        </p:tgtEl>
                                        <p:attrNameLst>
                                          <p:attrName>style.visibility</p:attrName>
                                        </p:attrNameLst>
                                      </p:cBhvr>
                                      <p:to>
                                        <p:strVal val="hidden"/>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45"/>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2" presetClass="entr" presetSubtype="4" fill="hold" grpId="0" nodeType="clickEffect">
                                  <p:stCondLst>
                                    <p:cond delay="0"/>
                                  </p:stCondLst>
                                  <p:childTnLst>
                                    <p:set>
                                      <p:cBhvr>
                                        <p:cTn id="146" dur="1" fill="hold">
                                          <p:stCondLst>
                                            <p:cond delay="0"/>
                                          </p:stCondLst>
                                        </p:cTn>
                                        <p:tgtEl>
                                          <p:spTgt spid="23"/>
                                        </p:tgtEl>
                                        <p:attrNameLst>
                                          <p:attrName>style.visibility</p:attrName>
                                        </p:attrNameLst>
                                      </p:cBhvr>
                                      <p:to>
                                        <p:strVal val="visible"/>
                                      </p:to>
                                    </p:set>
                                    <p:anim calcmode="lin" valueType="num">
                                      <p:cBhvr additive="base">
                                        <p:cTn id="147" dur="500" fill="hold"/>
                                        <p:tgtEl>
                                          <p:spTgt spid="23"/>
                                        </p:tgtEl>
                                        <p:attrNameLst>
                                          <p:attrName>ppt_x</p:attrName>
                                        </p:attrNameLst>
                                      </p:cBhvr>
                                      <p:tavLst>
                                        <p:tav tm="0">
                                          <p:val>
                                            <p:strVal val="#ppt_x"/>
                                          </p:val>
                                        </p:tav>
                                        <p:tav tm="100000">
                                          <p:val>
                                            <p:strVal val="#ppt_x"/>
                                          </p:val>
                                        </p:tav>
                                      </p:tavLst>
                                    </p:anim>
                                    <p:anim calcmode="lin" valueType="num">
                                      <p:cBhvr additive="base">
                                        <p:cTn id="148"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par>
                    <p:cTn id="149" fill="hold">
                      <p:stCondLst>
                        <p:cond delay="indefinite"/>
                      </p:stCondLst>
                      <p:childTnLst>
                        <p:par>
                          <p:cTn id="150" fill="hold">
                            <p:stCondLst>
                              <p:cond delay="0"/>
                            </p:stCondLst>
                            <p:childTnLst>
                              <p:par>
                                <p:cTn id="151" presetID="2" presetClass="entr" presetSubtype="4" fill="hold" grpId="0" nodeType="clickEffect">
                                  <p:stCondLst>
                                    <p:cond delay="0"/>
                                  </p:stCondLst>
                                  <p:childTnLst>
                                    <p:set>
                                      <p:cBhvr>
                                        <p:cTn id="152" dur="1" fill="hold">
                                          <p:stCondLst>
                                            <p:cond delay="0"/>
                                          </p:stCondLst>
                                        </p:cTn>
                                        <p:tgtEl>
                                          <p:spTgt spid="30"/>
                                        </p:tgtEl>
                                        <p:attrNameLst>
                                          <p:attrName>style.visibility</p:attrName>
                                        </p:attrNameLst>
                                      </p:cBhvr>
                                      <p:to>
                                        <p:strVal val="visible"/>
                                      </p:to>
                                    </p:set>
                                    <p:anim calcmode="lin" valueType="num">
                                      <p:cBhvr additive="base">
                                        <p:cTn id="153" dur="500" fill="hold"/>
                                        <p:tgtEl>
                                          <p:spTgt spid="30"/>
                                        </p:tgtEl>
                                        <p:attrNameLst>
                                          <p:attrName>ppt_x</p:attrName>
                                        </p:attrNameLst>
                                      </p:cBhvr>
                                      <p:tavLst>
                                        <p:tav tm="0">
                                          <p:val>
                                            <p:strVal val="#ppt_x"/>
                                          </p:val>
                                        </p:tav>
                                        <p:tav tm="100000">
                                          <p:val>
                                            <p:strVal val="#ppt_x"/>
                                          </p:val>
                                        </p:tav>
                                      </p:tavLst>
                                    </p:anim>
                                    <p:anim calcmode="lin" valueType="num">
                                      <p:cBhvr additive="base">
                                        <p:cTn id="15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p:bldP spid="37" grpId="1"/>
      <p:bldP spid="53" grpId="0"/>
      <p:bldP spid="53" grpId="1"/>
      <p:bldP spid="55" grpId="0"/>
      <p:bldP spid="56" grpId="0"/>
      <p:bldP spid="57" grpId="0"/>
      <p:bldP spid="58" grpId="0"/>
      <p:bldP spid="60" grpId="0"/>
      <p:bldP spid="60" grpId="1"/>
      <p:bldP spid="61" grpId="0"/>
      <p:bldP spid="61" grpId="1"/>
      <p:bldP spid="66" grpId="0"/>
      <p:bldP spid="66" grpId="1"/>
      <p:bldP spid="67" grpId="0"/>
      <p:bldP spid="68" grpId="0"/>
      <p:bldP spid="68" grpId="1"/>
      <p:bldP spid="69" grpId="0"/>
      <p:bldP spid="69" grpId="1"/>
      <p:bldP spid="79" grpId="0"/>
      <p:bldP spid="79" grpId="1"/>
      <p:bldP spid="6" grpId="0"/>
      <p:bldP spid="6" grpId="1"/>
      <p:bldP spid="8" grpId="0"/>
      <p:bldP spid="8" grpId="1"/>
      <p:bldP spid="10" grpId="0"/>
      <p:bldP spid="10" grpId="1"/>
      <p:bldP spid="15" grpId="0"/>
      <p:bldP spid="17" grpId="0"/>
      <p:bldP spid="19" grpId="0"/>
      <p:bldP spid="20" grpId="0"/>
      <p:bldP spid="29" grpId="0"/>
      <p:bldP spid="34" grpId="0"/>
      <p:bldP spid="40" grpId="0"/>
      <p:bldP spid="40" grpId="1"/>
      <p:bldP spid="41" grpId="1"/>
      <p:bldP spid="42" grpId="0"/>
      <p:bldP spid="43" grpId="0"/>
      <p:bldP spid="43" grpId="1"/>
      <p:bldP spid="44" grpId="0"/>
      <p:bldP spid="44" grpId="1"/>
      <p:bldP spid="45" grpId="0"/>
      <p:bldP spid="45" grpId="1"/>
      <p:bldP spid="23" grpId="0"/>
      <p:bldP spid="23" grpId="1"/>
      <p:bldP spid="30" grpId="0"/>
      <p:bldP spid="30" grpId="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a:p>
        </p:txBody>
      </p:sp>
      <p:sp>
        <p:nvSpPr>
          <p:cNvPr id="5" name="文本框 4"/>
          <p:cNvSpPr txBox="1"/>
          <p:nvPr/>
        </p:nvSpPr>
        <p:spPr>
          <a:xfrm>
            <a:off x="275590" y="879475"/>
            <a:ext cx="2208530" cy="368300"/>
          </a:xfrm>
          <a:prstGeom prst="rect">
            <a:avLst/>
          </a:prstGeom>
          <a:noFill/>
        </p:spPr>
        <p:txBody>
          <a:bodyPr wrap="square" rtlCol="0">
            <a:spAutoFit/>
          </a:bodyPr>
          <a:lstStyle/>
          <a:p>
            <a:r>
              <a:rPr lang="zh-CN" altLang="en-US"/>
              <a:t>树塔的算法实现：</a:t>
            </a:r>
            <a:endParaRPr lang="zh-CN" altLang="en-US"/>
          </a:p>
        </p:txBody>
      </p:sp>
      <p:sp>
        <p:nvSpPr>
          <p:cNvPr id="6" name="文本框 5"/>
          <p:cNvSpPr txBox="1"/>
          <p:nvPr/>
        </p:nvSpPr>
        <p:spPr>
          <a:xfrm>
            <a:off x="1439545" y="1701165"/>
            <a:ext cx="6264910" cy="3746500"/>
          </a:xfrm>
          <a:prstGeom prst="rect">
            <a:avLst/>
          </a:prstGeom>
          <a:noFill/>
        </p:spPr>
        <p:txBody>
          <a:bodyPr wrap="square" rtlCol="0" anchor="t">
            <a:noAutofit/>
          </a:bodyPr>
          <a:lstStyle/>
          <a:p>
            <a:r>
              <a:rPr lang="en-US" altLang="zh-CN">
                <a:solidFill>
                  <a:schemeClr val="tx1"/>
                </a:solidFill>
                <a:uFillTx/>
                <a:latin typeface="Times New Roman" panose="02020603050405020304" pitchFamily="18" charset="0"/>
              </a:rPr>
              <a:t>def tower_math(tower:list)-&gt;int:</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 = 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i in range(1,len(tower)):</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for j in range(len(tower[i])):</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 </a:t>
            </a:r>
            <a:r>
              <a:rPr lang="zh-CN" altLang="en-US">
                <a:solidFill>
                  <a:schemeClr val="tx1"/>
                </a:solidFill>
                <a:uFillTx/>
                <a:latin typeface="Times New Roman" panose="02020603050405020304" pitchFamily="18" charset="0"/>
              </a:rPr>
              <a:t>找到两个方向的路劲，要判断是否只有一条路</a:t>
            </a:r>
            <a:endParaRPr lang="zh-CN" altLang="en-US">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if j == 0:</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tower[i][j]+res[i-1][j]</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elif j == len(tower[i])-1: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res[i][j]=tower[i][j]+res[i-1][j-1]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else:</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res[i][j] = tower[i][j]+max(res[i-1][j],res[i-1][j-1])</a:t>
            </a:r>
            <a:endParaRPr lang="en-US" altLang="zh-CN">
              <a:solidFill>
                <a:schemeClr val="tx1"/>
              </a:solidFill>
              <a:uFillTx/>
              <a:latin typeface="Times New Roman" panose="02020603050405020304" pitchFamily="18" charset="0"/>
            </a:endParaRPr>
          </a:p>
          <a:p>
            <a:r>
              <a:rPr lang="en-US" altLang="zh-CN">
                <a:solidFill>
                  <a:schemeClr val="tx1"/>
                </a:solidFill>
                <a:uFillTx/>
                <a:latin typeface="Times New Roman" panose="02020603050405020304" pitchFamily="18" charset="0"/>
              </a:rPr>
              <a:t>    return </a:t>
            </a:r>
            <a:r>
              <a:rPr lang="en-US" altLang="zh-CN">
                <a:solidFill>
                  <a:srgbClr val="FF0000"/>
                </a:solidFill>
                <a:uFillTx/>
                <a:latin typeface="Times New Roman" panose="02020603050405020304" pitchFamily="18" charset="0"/>
              </a:rPr>
              <a:t>max(</a:t>
            </a:r>
            <a:r>
              <a:rPr lang="en-US" altLang="zh-CN">
                <a:solidFill>
                  <a:srgbClr val="FF0000"/>
                </a:solidFill>
                <a:uFillTx/>
                <a:latin typeface="Times New Roman" panose="02020603050405020304" pitchFamily="18" charset="0"/>
                <a:sym typeface="+mn-ea"/>
              </a:rPr>
              <a:t>res[-1]</a:t>
            </a:r>
            <a:r>
              <a:rPr lang="en-US" altLang="zh-CN">
                <a:solidFill>
                  <a:srgbClr val="FF0000"/>
                </a:solidFill>
                <a:uFillTx/>
                <a:latin typeface="Times New Roman" panose="02020603050405020304" pitchFamily="18" charset="0"/>
              </a:rPr>
              <a:t>)</a:t>
            </a:r>
            <a:endParaRPr lang="en-US" altLang="zh-CN">
              <a:solidFill>
                <a:srgbClr val="FF0000"/>
              </a:solidFill>
              <a:uFillTx/>
              <a:latin typeface="Times New Roman" panose="02020603050405020304" pitchFamily="18" charset="0"/>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uFillTx/>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467995" y="1412875"/>
            <a:ext cx="6981825" cy="1688465"/>
          </a:xfrm>
          <a:prstGeom prst="rect">
            <a:avLst/>
          </a:prstGeom>
          <a:noFill/>
        </p:spPr>
        <p:txBody>
          <a:bodyPr wrap="square" rtlCol="0">
            <a:noAutofit/>
          </a:bodyPr>
          <a:lstStyle/>
          <a:p>
            <a:r>
              <a:rPr lang="zh-CN" altLang="en-US">
                <a:solidFill>
                  <a:srgbClr val="FF0000"/>
                </a:solidFill>
              </a:rPr>
              <a:t>本小节学习目标：</a:t>
            </a:r>
            <a:endParaRPr lang="zh-CN" altLang="en-US">
              <a:solidFill>
                <a:srgbClr val="FF0000"/>
              </a:solidFill>
            </a:endParaRPr>
          </a:p>
          <a:p>
            <a:r>
              <a:rPr lang="zh-CN" altLang="en-US">
                <a:solidFill>
                  <a:srgbClr val="FF0000"/>
                </a:solidFill>
              </a:rPr>
              <a:t>①确定状态</a:t>
            </a:r>
            <a:endParaRPr lang="zh-CN" altLang="en-US">
              <a:solidFill>
                <a:srgbClr val="FF0000"/>
              </a:solidFill>
            </a:endParaRPr>
          </a:p>
          <a:p>
            <a:r>
              <a:rPr lang="zh-CN" altLang="en-US">
                <a:solidFill>
                  <a:srgbClr val="FF0000"/>
                </a:solidFill>
              </a:rPr>
              <a:t>②找到状态转移方程</a:t>
            </a:r>
            <a:endParaRPr lang="zh-CN" altLang="en-US">
              <a:solidFill>
                <a:srgbClr val="FF0000"/>
              </a:solidFill>
            </a:endParaRPr>
          </a:p>
          <a:p>
            <a:r>
              <a:rPr lang="zh-CN" altLang="en-US">
                <a:solidFill>
                  <a:srgbClr val="FF0000"/>
                </a:solidFill>
              </a:rPr>
              <a:t>③确定边界，然后自底向上迭代。</a:t>
            </a:r>
            <a:endParaRPr lang="zh-CN" altLang="en-US">
              <a:solidFill>
                <a:srgbClr val="FF0000"/>
              </a:solidFill>
            </a:endParaRPr>
          </a:p>
          <a:p>
            <a:r>
              <a:rPr lang="zh-CN" altLang="en-US">
                <a:solidFill>
                  <a:srgbClr val="FF0000"/>
                </a:solidFill>
              </a:rPr>
              <a:t>④更新状态，获取结果。</a:t>
            </a:r>
            <a:endParaRPr lang="zh-CN" altLang="en-US">
              <a:solidFill>
                <a:srgbClr val="FF0000"/>
              </a:solidFill>
            </a:endParaRPr>
          </a:p>
          <a:p>
            <a:endParaRPr lang="zh-CN" altLang="en-US">
              <a:solidFill>
                <a:srgbClr val="FF0000"/>
              </a:solidFill>
            </a:endParaRPr>
          </a:p>
        </p:txBody>
      </p:sp>
      <p:sp>
        <p:nvSpPr>
          <p:cNvPr id="3" name="文本框 2"/>
          <p:cNvSpPr txBox="1"/>
          <p:nvPr/>
        </p:nvSpPr>
        <p:spPr>
          <a:xfrm>
            <a:off x="467995" y="3101340"/>
            <a:ext cx="8409940" cy="902970"/>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青蛙跳台阶问题是指一只青蛙可以一次跳一个台阶或者两个台阶，问当青蛙跳上第</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个台阶的时候，可以有多少种跳法？</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4" name="圆角矩形 3"/>
          <p:cNvSpPr/>
          <p:nvPr/>
        </p:nvSpPr>
        <p:spPr>
          <a:xfrm>
            <a:off x="2124075" y="414909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54200" y="4471035"/>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369185" y="4471035"/>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62355" y="4975225"/>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54200" y="4975225"/>
            <a:ext cx="288290"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862580" y="4975225"/>
            <a:ext cx="210185"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072765" y="4975225"/>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305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62355" y="5581650"/>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09090"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27655" y="465328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17245" y="525970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97380" y="526034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17470"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490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385445" y="594931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481705" y="526542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208530" y="4149090"/>
            <a:ext cx="321310" cy="316865"/>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619885" y="465328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n-1</a:t>
            </a:r>
            <a:endParaRPr lang="en-US" altLang="zh-CN" sz="1600">
              <a:latin typeface="Times New Roman" panose="02020603050405020304" pitchFamily="18" charset="0"/>
              <a:cs typeface="Times New Roman" panose="02020603050405020304" pitchFamily="18" charset="0"/>
            </a:endParaRPr>
          </a:p>
        </p:txBody>
      </p:sp>
      <p:sp>
        <p:nvSpPr>
          <p:cNvPr id="38" name="文本框 37"/>
          <p:cNvSpPr txBox="1"/>
          <p:nvPr/>
        </p:nvSpPr>
        <p:spPr>
          <a:xfrm>
            <a:off x="2827655" y="466217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n-2</a:t>
            </a:r>
            <a:endParaRPr lang="en-US" altLang="zh-CN" sz="1600">
              <a:latin typeface="Times New Roman" panose="02020603050405020304" pitchFamily="18" charset="0"/>
              <a:cs typeface="Times New Roman" panose="02020603050405020304" pitchFamily="18" charset="0"/>
            </a:endParaRPr>
          </a:p>
        </p:txBody>
      </p:sp>
      <p:sp>
        <p:nvSpPr>
          <p:cNvPr id="39" name="文本框 38"/>
          <p:cNvSpPr txBox="1"/>
          <p:nvPr/>
        </p:nvSpPr>
        <p:spPr>
          <a:xfrm>
            <a:off x="827405" y="5268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0" name="文本框 39"/>
          <p:cNvSpPr txBox="1"/>
          <p:nvPr/>
        </p:nvSpPr>
        <p:spPr>
          <a:xfrm>
            <a:off x="1897380" y="525970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1" name="文本框 40"/>
          <p:cNvSpPr txBox="1"/>
          <p:nvPr/>
        </p:nvSpPr>
        <p:spPr>
          <a:xfrm>
            <a:off x="2627630"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n-3</a:t>
            </a:r>
            <a:endParaRPr lang="en-US" altLang="zh-CN" sz="1600">
              <a:latin typeface="Times New Roman" panose="02020603050405020304" pitchFamily="18" charset="0"/>
              <a:cs typeface="Times New Roman" panose="02020603050405020304" pitchFamily="18" charset="0"/>
            </a:endParaRPr>
          </a:p>
        </p:txBody>
      </p:sp>
      <p:sp>
        <p:nvSpPr>
          <p:cNvPr id="42" name="文本框 41"/>
          <p:cNvSpPr txBox="1"/>
          <p:nvPr/>
        </p:nvSpPr>
        <p:spPr>
          <a:xfrm>
            <a:off x="3491865" y="527494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395605"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59840" y="5958840"/>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71" name="文本框 70"/>
          <p:cNvSpPr txBox="1"/>
          <p:nvPr/>
        </p:nvSpPr>
        <p:spPr>
          <a:xfrm>
            <a:off x="4716145" y="3933190"/>
            <a:ext cx="3949065" cy="368300"/>
          </a:xfrm>
          <a:prstGeom prst="rect">
            <a:avLst/>
          </a:prstGeom>
          <a:noFill/>
        </p:spPr>
        <p:txBody>
          <a:bodyPr wrap="square" rtlCol="0">
            <a:spAutoFit/>
          </a:bodyPr>
          <a:lstStyle/>
          <a:p>
            <a:r>
              <a:rPr lang="en-US" altLang="zh-CN">
                <a:latin typeface="Times New Roman" panose="02020603050405020304" pitchFamily="18" charset="0"/>
                <a:cs typeface="Times New Roman" panose="02020603050405020304" pitchFamily="18" charset="0"/>
              </a:rPr>
              <a:t>S(n) = S(n-1)+S(n-2)</a:t>
            </a:r>
            <a:endParaRPr lang="zh-CN" altLang="en-US">
              <a:latin typeface="Times New Roman" panose="02020603050405020304" pitchFamily="18" charset="0"/>
              <a:cs typeface="Times New Roman" panose="02020603050405020304" pitchFamily="18" charset="0"/>
            </a:endParaRPr>
          </a:p>
        </p:txBody>
      </p:sp>
      <p:sp>
        <p:nvSpPr>
          <p:cNvPr id="72" name="文本框 71"/>
          <p:cNvSpPr txBox="1"/>
          <p:nvPr/>
        </p:nvSpPr>
        <p:spPr>
          <a:xfrm>
            <a:off x="3915410" y="4653280"/>
            <a:ext cx="5043805" cy="368300"/>
          </a:xfrm>
          <a:prstGeom prst="rect">
            <a:avLst/>
          </a:prstGeom>
          <a:noFill/>
        </p:spPr>
        <p:txBody>
          <a:bodyPr wrap="square" rtlCol="0">
            <a:spAutoFit/>
          </a:bodyPr>
          <a:lstStyle/>
          <a:p>
            <a:r>
              <a:rPr lang="zh-CN" altLang="en-US"/>
              <a:t>状态转移方程只有一个变量，用一维表表示状态</a:t>
            </a:r>
            <a:endParaRPr lang="zh-CN" altLang="en-US"/>
          </a:p>
        </p:txBody>
      </p:sp>
      <p:cxnSp>
        <p:nvCxnSpPr>
          <p:cNvPr id="73" name="直接箭头连接符 72"/>
          <p:cNvCxnSpPr/>
          <p:nvPr/>
        </p:nvCxnSpPr>
        <p:spPr>
          <a:xfrm flipV="1">
            <a:off x="5697855" y="4221480"/>
            <a:ext cx="26035" cy="42037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74" name="表格 73"/>
          <p:cNvGraphicFramePr/>
          <p:nvPr/>
        </p:nvGraphicFramePr>
        <p:xfrm>
          <a:off x="4211955" y="5563235"/>
          <a:ext cx="6400165" cy="381000"/>
        </p:xfrm>
        <a:graphic>
          <a:graphicData uri="http://schemas.openxmlformats.org/drawingml/2006/table">
            <a:tbl>
              <a:tblPr firstRow="1" bandRow="1">
                <a:tableStyleId>{5C22544A-7EE6-4342-B048-85BDC9FD1C3A}</a:tableStyleId>
              </a:tblPr>
              <a:tblGrid>
                <a:gridCol w="710565"/>
                <a:gridCol w="710565"/>
                <a:gridCol w="710565"/>
                <a:gridCol w="710565"/>
                <a:gridCol w="710565"/>
                <a:gridCol w="710565"/>
              </a:tblGrid>
              <a:tr h="381000">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0</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r>
                        <a:rPr lang="en-US" altLang="zh-CN" b="0">
                          <a:ln>
                            <a:noFill/>
                          </a:ln>
                          <a:solidFill>
                            <a:srgbClr val="FF0000"/>
                          </a:solidFill>
                          <a:latin typeface="Times New Roman" panose="02020603050405020304" pitchFamily="18" charset="0"/>
                          <a:cs typeface="Times New Roman" panose="02020603050405020304" pitchFamily="18" charset="0"/>
                        </a:rPr>
                        <a:t>1</a:t>
                      </a:r>
                      <a:endParaRPr lang="en-US" altLang="zh-CN" b="0">
                        <a:ln>
                          <a:noFill/>
                        </a:ln>
                        <a:solidFill>
                          <a:srgbClr val="FF0000"/>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b="0">
                        <a:ln>
                          <a:solidFill>
                            <a:sysClr val="windowText" lastClr="000000"/>
                          </a:solidFill>
                        </a:l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en-US" altLang="zh-CN">
                        <a:solidFill>
                          <a:schemeClr val="tx1"/>
                        </a:solidFill>
                        <a:latin typeface="Times New Roman" panose="02020603050405020304" pitchFamily="18" charset="0"/>
                        <a:cs typeface="Times New Roman" panose="02020603050405020304" pitchFamily="18" charset="0"/>
                      </a:endParaRPr>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75" name="文本框 74"/>
          <p:cNvSpPr txBox="1"/>
          <p:nvPr/>
        </p:nvSpPr>
        <p:spPr>
          <a:xfrm>
            <a:off x="570103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1</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76" name="上弧形箭头 75"/>
          <p:cNvSpPr/>
          <p:nvPr/>
        </p:nvSpPr>
        <p:spPr>
          <a:xfrm>
            <a:off x="4378325" y="533336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7" name="上弧形箭头 76"/>
          <p:cNvSpPr/>
          <p:nvPr/>
        </p:nvSpPr>
        <p:spPr>
          <a:xfrm flipV="1">
            <a:off x="5033645" y="595058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8" name="上弧形箭头 77"/>
          <p:cNvSpPr/>
          <p:nvPr/>
        </p:nvSpPr>
        <p:spPr>
          <a:xfrm>
            <a:off x="5147945" y="5340985"/>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79" name="上弧形箭头 78"/>
          <p:cNvSpPr/>
          <p:nvPr/>
        </p:nvSpPr>
        <p:spPr>
          <a:xfrm flipV="1">
            <a:off x="5803265" y="5958205"/>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0" name="文本框 79"/>
          <p:cNvSpPr txBox="1"/>
          <p:nvPr/>
        </p:nvSpPr>
        <p:spPr>
          <a:xfrm>
            <a:off x="6443980" y="5567680"/>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2</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1" name="上弧形箭头 80"/>
          <p:cNvSpPr/>
          <p:nvPr/>
        </p:nvSpPr>
        <p:spPr>
          <a:xfrm>
            <a:off x="5868035" y="533654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2" name="上弧形箭头 81"/>
          <p:cNvSpPr/>
          <p:nvPr/>
        </p:nvSpPr>
        <p:spPr>
          <a:xfrm flipV="1">
            <a:off x="6523355" y="595376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3" name="文本框 82"/>
          <p:cNvSpPr txBox="1"/>
          <p:nvPr/>
        </p:nvSpPr>
        <p:spPr>
          <a:xfrm>
            <a:off x="7164070" y="556323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3</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
        <p:nvSpPr>
          <p:cNvPr id="84" name="上弧形箭头 83"/>
          <p:cNvSpPr/>
          <p:nvPr/>
        </p:nvSpPr>
        <p:spPr>
          <a:xfrm>
            <a:off x="6588125" y="5322570"/>
            <a:ext cx="1477010" cy="2159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5" name="上弧形箭头 84"/>
          <p:cNvSpPr/>
          <p:nvPr/>
        </p:nvSpPr>
        <p:spPr>
          <a:xfrm flipV="1">
            <a:off x="7243445" y="5939790"/>
            <a:ext cx="887095" cy="216000"/>
          </a:xfrm>
          <a:prstGeom prst="curvedDownArrow">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86" name="文本框 85"/>
          <p:cNvSpPr txBox="1"/>
          <p:nvPr/>
        </p:nvSpPr>
        <p:spPr>
          <a:xfrm>
            <a:off x="7884160" y="5549265"/>
            <a:ext cx="334645" cy="326390"/>
          </a:xfrm>
          <a:prstGeom prst="rect">
            <a:avLst/>
          </a:prstGeom>
          <a:noFill/>
        </p:spPr>
        <p:txBody>
          <a:bodyPr wrap="square" rtlCol="0" anchor="t">
            <a:noAutofit/>
          </a:bodyPr>
          <a:lstStyle/>
          <a:p>
            <a:pPr>
              <a:buNone/>
            </a:pPr>
            <a:r>
              <a:rPr lang="en-US" altLang="zh-CN">
                <a:ln>
                  <a:noFill/>
                </a:ln>
                <a:solidFill>
                  <a:srgbClr val="FF0000"/>
                </a:solidFill>
                <a:latin typeface="Times New Roman" panose="02020603050405020304" pitchFamily="18" charset="0"/>
                <a:cs typeface="Times New Roman" panose="02020603050405020304" pitchFamily="18" charset="0"/>
                <a:sym typeface="+mn-ea"/>
              </a:rPr>
              <a:t>5</a:t>
            </a:r>
            <a:endParaRPr lang="en-US" altLang="zh-CN">
              <a:ln>
                <a:noFill/>
              </a:ln>
              <a:solidFill>
                <a:srgbClr val="FF0000"/>
              </a:solidFill>
              <a:latin typeface="Times New Roman" panose="02020603050405020304" pitchFamily="18" charset="0"/>
              <a:cs typeface="Times New Roman" panose="02020603050405020304" pitchFamily="18" charset="0"/>
              <a:sym typeface="+mn-ea"/>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38"/>
                                        </p:tgtEl>
                                        <p:attrNameLst>
                                          <p:attrName>style.visibility</p:attrName>
                                        </p:attrNameLst>
                                      </p:cBhvr>
                                      <p:to>
                                        <p:strVal val="visible"/>
                                      </p:to>
                                    </p:set>
                                    <p:animEffect transition="in" filter="box(in)">
                                      <p:cBhvr>
                                        <p:cTn id="64" dur="2000"/>
                                        <p:tgtEl>
                                          <p:spTgt spid="38"/>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39"/>
                                        </p:tgtEl>
                                        <p:attrNameLst>
                                          <p:attrName>style.visibility</p:attrName>
                                        </p:attrNameLst>
                                      </p:cBhvr>
                                      <p:to>
                                        <p:strVal val="visible"/>
                                      </p:to>
                                    </p:set>
                                    <p:animEffect transition="in" filter="box(in)">
                                      <p:cBhvr>
                                        <p:cTn id="67" dur="2000"/>
                                        <p:tgtEl>
                                          <p:spTgt spid="39"/>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40"/>
                                        </p:tgtEl>
                                        <p:attrNameLst>
                                          <p:attrName>style.visibility</p:attrName>
                                        </p:attrNameLst>
                                      </p:cBhvr>
                                      <p:to>
                                        <p:strVal val="visible"/>
                                      </p:to>
                                    </p:set>
                                    <p:animEffect transition="in" filter="box(in)">
                                      <p:cBhvr>
                                        <p:cTn id="70" dur="2000"/>
                                        <p:tgtEl>
                                          <p:spTgt spid="40"/>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41"/>
                                        </p:tgtEl>
                                        <p:attrNameLst>
                                          <p:attrName>style.visibility</p:attrName>
                                        </p:attrNameLst>
                                      </p:cBhvr>
                                      <p:to>
                                        <p:strVal val="visible"/>
                                      </p:to>
                                    </p:set>
                                    <p:animEffect transition="in" filter="box(in)">
                                      <p:cBhvr>
                                        <p:cTn id="73" dur="2000"/>
                                        <p:tgtEl>
                                          <p:spTgt spid="41"/>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42"/>
                                        </p:tgtEl>
                                        <p:attrNameLst>
                                          <p:attrName>style.visibility</p:attrName>
                                        </p:attrNameLst>
                                      </p:cBhvr>
                                      <p:to>
                                        <p:strVal val="visible"/>
                                      </p:to>
                                    </p:set>
                                    <p:animEffect transition="in" filter="box(in)">
                                      <p:cBhvr>
                                        <p:cTn id="76" dur="2000"/>
                                        <p:tgtEl>
                                          <p:spTgt spid="42"/>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43"/>
                                        </p:tgtEl>
                                        <p:attrNameLst>
                                          <p:attrName>style.visibility</p:attrName>
                                        </p:attrNameLst>
                                      </p:cBhvr>
                                      <p:to>
                                        <p:strVal val="visible"/>
                                      </p:to>
                                    </p:set>
                                    <p:animEffect transition="in" filter="box(in)">
                                      <p:cBhvr>
                                        <p:cTn id="79" dur="2000"/>
                                        <p:tgtEl>
                                          <p:spTgt spid="43"/>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44"/>
                                        </p:tgtEl>
                                        <p:attrNameLst>
                                          <p:attrName>style.visibility</p:attrName>
                                        </p:attrNameLst>
                                      </p:cBhvr>
                                      <p:to>
                                        <p:strVal val="visible"/>
                                      </p:to>
                                    </p:set>
                                    <p:animEffect transition="in" filter="box(in)">
                                      <p:cBhvr>
                                        <p:cTn id="82" dur="2000"/>
                                        <p:tgtEl>
                                          <p:spTgt spid="44"/>
                                        </p:tgtEl>
                                      </p:cBhvr>
                                    </p:animEffec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5" nodeType="clickEffect">
                                  <p:stCondLst>
                                    <p:cond delay="0"/>
                                  </p:stCondLst>
                                  <p:childTnLst>
                                    <p:set>
                                      <p:cBhvr>
                                        <p:cTn id="86" dur="1" fill="hold">
                                          <p:stCondLst>
                                            <p:cond delay="0"/>
                                          </p:stCondLst>
                                        </p:cTn>
                                        <p:tgtEl>
                                          <p:spTgt spid="76"/>
                                        </p:tgtEl>
                                        <p:attrNameLst>
                                          <p:attrName>style.visibility</p:attrName>
                                        </p:attrNameLst>
                                      </p:cBhvr>
                                      <p:to>
                                        <p:strVal val="visible"/>
                                      </p:to>
                                    </p:set>
                                  </p:childTnLst>
                                </p:cTn>
                              </p:par>
                              <p:par>
                                <p:cTn id="87" presetID="1" presetClass="entr" presetSubtype="0" fill="hold" grpId="5" nodeType="withEffect">
                                  <p:stCondLst>
                                    <p:cond delay="0"/>
                                  </p:stCondLst>
                                  <p:childTnLst>
                                    <p:set>
                                      <p:cBhvr>
                                        <p:cTn id="88" dur="1" fill="hold">
                                          <p:stCondLst>
                                            <p:cond delay="0"/>
                                          </p:stCondLst>
                                        </p:cTn>
                                        <p:tgtEl>
                                          <p:spTgt spid="77"/>
                                        </p:tgtEl>
                                        <p:attrNameLst>
                                          <p:attrName>style.visibility</p:attrName>
                                        </p:attrNameLst>
                                      </p:cBhvr>
                                      <p:to>
                                        <p:strVal val="visible"/>
                                      </p:to>
                                    </p:set>
                                  </p:childTnLst>
                                </p:cTn>
                              </p:par>
                            </p:childTnLst>
                          </p:cTn>
                        </p:par>
                      </p:childTnLst>
                    </p:cTn>
                  </p:par>
                  <p:par>
                    <p:cTn id="89" fill="hold">
                      <p:stCondLst>
                        <p:cond delay="indefinite"/>
                      </p:stCondLst>
                      <p:childTnLst>
                        <p:par>
                          <p:cTn id="90" fill="hold">
                            <p:stCondLst>
                              <p:cond delay="0"/>
                            </p:stCondLst>
                            <p:childTnLst>
                              <p:par>
                                <p:cTn id="91" presetID="35" presetClass="emph" presetSubtype="0" fill="hold" grpId="0" nodeType="clickEffect">
                                  <p:stCondLst>
                                    <p:cond delay="0"/>
                                  </p:stCondLst>
                                  <p:childTnLst>
                                    <p:anim calcmode="discrete" valueType="str">
                                      <p:cBhvr>
                                        <p:cTn id="92" dur="1000" fill="hold"/>
                                        <p:tgtEl>
                                          <p:spTgt spid="76"/>
                                        </p:tgtEl>
                                        <p:attrNameLst>
                                          <p:attrName>style.visibility</p:attrName>
                                        </p:attrNameLst>
                                      </p:cBhvr>
                                      <p:tavLst>
                                        <p:tav tm="0">
                                          <p:val>
                                            <p:strVal val="hidden"/>
                                          </p:val>
                                        </p:tav>
                                        <p:tav tm="50000">
                                          <p:val>
                                            <p:strVal val="visible"/>
                                          </p:val>
                                        </p:tav>
                                      </p:tavLst>
                                    </p:anim>
                                  </p:childTnLst>
                                </p:cTn>
                              </p:par>
                              <p:par>
                                <p:cTn id="93" presetID="35" presetClass="emph" presetSubtype="0" fill="hold" grpId="0" nodeType="withEffect">
                                  <p:stCondLst>
                                    <p:cond delay="0"/>
                                  </p:stCondLst>
                                  <p:childTnLst>
                                    <p:anim calcmode="discrete" valueType="str">
                                      <p:cBhvr>
                                        <p:cTn id="94" dur="1000" fill="hold"/>
                                        <p:tgtEl>
                                          <p:spTgt spid="77"/>
                                        </p:tgtEl>
                                        <p:attrNameLst>
                                          <p:attrName>style.visibility</p:attrName>
                                        </p:attrNameLst>
                                      </p:cBhvr>
                                      <p:tavLst>
                                        <p:tav tm="0">
                                          <p:val>
                                            <p:strVal val="hidden"/>
                                          </p:val>
                                        </p:tav>
                                        <p:tav tm="50000">
                                          <p:val>
                                            <p:strVal val="visible"/>
                                          </p:val>
                                        </p:tav>
                                      </p:tavLst>
                                    </p:anim>
                                  </p:childTnLst>
                                </p:cTn>
                              </p:par>
                            </p:childTnLst>
                          </p:cTn>
                        </p:par>
                        <p:par>
                          <p:cTn id="95" fill="hold">
                            <p:stCondLst>
                              <p:cond delay="1000"/>
                            </p:stCondLst>
                            <p:childTnLst>
                              <p:par>
                                <p:cTn id="96" presetID="35" presetClass="emph" presetSubtype="0" fill="hold" grpId="2" nodeType="afterEffect">
                                  <p:stCondLst>
                                    <p:cond delay="0"/>
                                  </p:stCondLst>
                                  <p:childTnLst>
                                    <p:anim calcmode="discrete" valueType="str">
                                      <p:cBhvr>
                                        <p:cTn id="97" dur="1000" fill="hold"/>
                                        <p:tgtEl>
                                          <p:spTgt spid="76"/>
                                        </p:tgtEl>
                                        <p:attrNameLst>
                                          <p:attrName>style.visibility</p:attrName>
                                        </p:attrNameLst>
                                      </p:cBhvr>
                                      <p:tavLst>
                                        <p:tav tm="0">
                                          <p:val>
                                            <p:strVal val="hidden"/>
                                          </p:val>
                                        </p:tav>
                                        <p:tav tm="50000">
                                          <p:val>
                                            <p:strVal val="visible"/>
                                          </p:val>
                                        </p:tav>
                                      </p:tavLst>
                                    </p:anim>
                                  </p:childTnLst>
                                </p:cTn>
                              </p:par>
                              <p:par>
                                <p:cTn id="98" presetID="35" presetClass="emph" presetSubtype="0" fill="hold" grpId="2" nodeType="withEffect">
                                  <p:stCondLst>
                                    <p:cond delay="0"/>
                                  </p:stCondLst>
                                  <p:childTnLst>
                                    <p:anim calcmode="discrete" valueType="str">
                                      <p:cBhvr>
                                        <p:cTn id="99" dur="1000" fill="hold"/>
                                        <p:tgtEl>
                                          <p:spTgt spid="77"/>
                                        </p:tgtEl>
                                        <p:attrNameLst>
                                          <p:attrName>style.visibility</p:attrName>
                                        </p:attrNameLst>
                                      </p:cBhvr>
                                      <p:tavLst>
                                        <p:tav tm="0">
                                          <p:val>
                                            <p:strVal val="hidden"/>
                                          </p:val>
                                        </p:tav>
                                        <p:tav tm="50000">
                                          <p:val>
                                            <p:strVal val="visible"/>
                                          </p:val>
                                        </p:tav>
                                      </p:tavLst>
                                    </p:anim>
                                  </p:childTnLst>
                                </p:cTn>
                              </p:par>
                            </p:childTnLst>
                          </p:cTn>
                        </p:par>
                      </p:childTnLst>
                    </p:cTn>
                  </p:par>
                  <p:par>
                    <p:cTn id="100" fill="hold">
                      <p:stCondLst>
                        <p:cond delay="indefinite"/>
                      </p:stCondLst>
                      <p:childTnLst>
                        <p:par>
                          <p:cTn id="101" fill="hold">
                            <p:stCondLst>
                              <p:cond delay="0"/>
                            </p:stCondLst>
                            <p:childTnLst>
                              <p:par>
                                <p:cTn id="102" presetID="1" presetClass="entr" presetSubtype="0" fill="hold" grpId="3" nodeType="clickEffect">
                                  <p:stCondLst>
                                    <p:cond delay="0"/>
                                  </p:stCondLst>
                                  <p:childTnLst>
                                    <p:set>
                                      <p:cBhvr>
                                        <p:cTn id="103" dur="1" fill="hold">
                                          <p:stCondLst>
                                            <p:cond delay="0"/>
                                          </p:stCondLst>
                                        </p:cTn>
                                        <p:tgtEl>
                                          <p:spTgt spid="76"/>
                                        </p:tgtEl>
                                        <p:attrNameLst>
                                          <p:attrName>style.visibility</p:attrName>
                                        </p:attrNameLst>
                                      </p:cBhvr>
                                      <p:to>
                                        <p:strVal val="visible"/>
                                      </p:to>
                                    </p:set>
                                  </p:childTnLst>
                                </p:cTn>
                              </p:par>
                              <p:par>
                                <p:cTn id="104" presetID="1" presetClass="entr" presetSubtype="0" fill="hold" grpId="3" nodeType="withEffect">
                                  <p:stCondLst>
                                    <p:cond delay="0"/>
                                  </p:stCondLst>
                                  <p:childTnLst>
                                    <p:set>
                                      <p:cBhvr>
                                        <p:cTn id="105" dur="1" fill="hold">
                                          <p:stCondLst>
                                            <p:cond delay="0"/>
                                          </p:stCondLst>
                                        </p:cTn>
                                        <p:tgtEl>
                                          <p:spTgt spid="77"/>
                                        </p:tgtEl>
                                        <p:attrNameLst>
                                          <p:attrName>style.visibility</p:attrName>
                                        </p:attrNameLst>
                                      </p:cBhvr>
                                      <p:to>
                                        <p:strVal val="visible"/>
                                      </p:to>
                                    </p:set>
                                  </p:childTnLst>
                                </p:cTn>
                              </p:par>
                            </p:childTnLst>
                          </p:cTn>
                        </p:par>
                      </p:childTnLst>
                    </p:cTn>
                  </p:par>
                  <p:par>
                    <p:cTn id="106" fill="hold">
                      <p:stCondLst>
                        <p:cond delay="indefinite"/>
                      </p:stCondLst>
                      <p:childTnLst>
                        <p:par>
                          <p:cTn id="107" fill="hold">
                            <p:stCondLst>
                              <p:cond delay="0"/>
                            </p:stCondLst>
                            <p:childTnLst>
                              <p:par>
                                <p:cTn id="108" presetID="1" presetClass="entr" presetSubtype="0" fill="hold" grpId="0" nodeType="clickEffect">
                                  <p:stCondLst>
                                    <p:cond delay="0"/>
                                  </p:stCondLst>
                                  <p:childTnLst>
                                    <p:set>
                                      <p:cBhvr>
                                        <p:cTn id="109" dur="1" fill="hold">
                                          <p:stCondLst>
                                            <p:cond delay="0"/>
                                          </p:stCondLst>
                                        </p:cTn>
                                        <p:tgtEl>
                                          <p:spTgt spid="75"/>
                                        </p:tgtEl>
                                        <p:attrNameLst>
                                          <p:attrName>style.visibility</p:attrName>
                                        </p:attrNameLst>
                                      </p:cBhvr>
                                      <p:to>
                                        <p:strVal val="visible"/>
                                      </p:to>
                                    </p:set>
                                  </p:childTnLst>
                                </p:cTn>
                              </p:par>
                            </p:childTnLst>
                          </p:cTn>
                        </p:par>
                      </p:childTnLst>
                    </p:cTn>
                  </p:par>
                  <p:par>
                    <p:cTn id="110" fill="hold">
                      <p:stCondLst>
                        <p:cond delay="indefinite"/>
                      </p:stCondLst>
                      <p:childTnLst>
                        <p:par>
                          <p:cTn id="111" fill="hold">
                            <p:stCondLst>
                              <p:cond delay="0"/>
                            </p:stCondLst>
                            <p:childTnLst>
                              <p:par>
                                <p:cTn id="112" presetID="1" presetClass="exit" presetSubtype="0" fill="hold" grpId="4" nodeType="clickEffect">
                                  <p:stCondLst>
                                    <p:cond delay="0"/>
                                  </p:stCondLst>
                                  <p:childTnLst>
                                    <p:set>
                                      <p:cBhvr>
                                        <p:cTn id="113" dur="1" fill="hold">
                                          <p:stCondLst>
                                            <p:cond delay="0"/>
                                          </p:stCondLst>
                                        </p:cTn>
                                        <p:tgtEl>
                                          <p:spTgt spid="76"/>
                                        </p:tgtEl>
                                        <p:attrNameLst>
                                          <p:attrName>style.visibility</p:attrName>
                                        </p:attrNameLst>
                                      </p:cBhvr>
                                      <p:to>
                                        <p:strVal val="hidden"/>
                                      </p:to>
                                    </p:set>
                                  </p:childTnLst>
                                </p:cTn>
                              </p:par>
                              <p:par>
                                <p:cTn id="114" presetID="1" presetClass="exit" presetSubtype="0" fill="hold" grpId="4" nodeType="withEffect">
                                  <p:stCondLst>
                                    <p:cond delay="0"/>
                                  </p:stCondLst>
                                  <p:childTnLst>
                                    <p:set>
                                      <p:cBhvr>
                                        <p:cTn id="115" dur="1" fill="hold">
                                          <p:stCondLst>
                                            <p:cond delay="0"/>
                                          </p:stCondLst>
                                        </p:cTn>
                                        <p:tgtEl>
                                          <p:spTgt spid="77"/>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5" nodeType="clickEffect">
                                  <p:stCondLst>
                                    <p:cond delay="0"/>
                                  </p:stCondLst>
                                  <p:childTnLst>
                                    <p:set>
                                      <p:cBhvr>
                                        <p:cTn id="119" dur="1" fill="hold">
                                          <p:stCondLst>
                                            <p:cond delay="0"/>
                                          </p:stCondLst>
                                        </p:cTn>
                                        <p:tgtEl>
                                          <p:spTgt spid="78"/>
                                        </p:tgtEl>
                                        <p:attrNameLst>
                                          <p:attrName>style.visibility</p:attrName>
                                        </p:attrNameLst>
                                      </p:cBhvr>
                                      <p:to>
                                        <p:strVal val="visible"/>
                                      </p:to>
                                    </p:set>
                                  </p:childTnLst>
                                </p:cTn>
                              </p:par>
                              <p:par>
                                <p:cTn id="120" presetID="1" presetClass="entr" presetSubtype="0" fill="hold" grpId="5" nodeType="withEffect">
                                  <p:stCondLst>
                                    <p:cond delay="0"/>
                                  </p:stCondLst>
                                  <p:childTnLst>
                                    <p:set>
                                      <p:cBhvr>
                                        <p:cTn id="121" dur="1" fill="hold">
                                          <p:stCondLst>
                                            <p:cond delay="0"/>
                                          </p:stCondLst>
                                        </p:cTn>
                                        <p:tgtEl>
                                          <p:spTgt spid="7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35" presetClass="emph" presetSubtype="0" fill="hold" grpId="0" nodeType="clickEffect">
                                  <p:stCondLst>
                                    <p:cond delay="0"/>
                                  </p:stCondLst>
                                  <p:childTnLst>
                                    <p:anim calcmode="discrete" valueType="str">
                                      <p:cBhvr>
                                        <p:cTn id="125" dur="1000" fill="hold"/>
                                        <p:tgtEl>
                                          <p:spTgt spid="78"/>
                                        </p:tgtEl>
                                        <p:attrNameLst>
                                          <p:attrName>style.visibility</p:attrName>
                                        </p:attrNameLst>
                                      </p:cBhvr>
                                      <p:tavLst>
                                        <p:tav tm="0">
                                          <p:val>
                                            <p:strVal val="hidden"/>
                                          </p:val>
                                        </p:tav>
                                        <p:tav tm="50000">
                                          <p:val>
                                            <p:strVal val="visible"/>
                                          </p:val>
                                        </p:tav>
                                      </p:tavLst>
                                    </p:anim>
                                  </p:childTnLst>
                                </p:cTn>
                              </p:par>
                              <p:par>
                                <p:cTn id="126" presetID="35" presetClass="emph" presetSubtype="0" fill="hold" grpId="0" nodeType="withEffect">
                                  <p:stCondLst>
                                    <p:cond delay="0"/>
                                  </p:stCondLst>
                                  <p:childTnLst>
                                    <p:anim calcmode="discrete" valueType="str">
                                      <p:cBhvr>
                                        <p:cTn id="127" dur="1000" fill="hold"/>
                                        <p:tgtEl>
                                          <p:spTgt spid="79"/>
                                        </p:tgtEl>
                                        <p:attrNameLst>
                                          <p:attrName>style.visibility</p:attrName>
                                        </p:attrNameLst>
                                      </p:cBhvr>
                                      <p:tavLst>
                                        <p:tav tm="0">
                                          <p:val>
                                            <p:strVal val="hidden"/>
                                          </p:val>
                                        </p:tav>
                                        <p:tav tm="50000">
                                          <p:val>
                                            <p:strVal val="visible"/>
                                          </p:val>
                                        </p:tav>
                                      </p:tavLst>
                                    </p:anim>
                                  </p:childTnLst>
                                </p:cTn>
                              </p:par>
                            </p:childTnLst>
                          </p:cTn>
                        </p:par>
                        <p:par>
                          <p:cTn id="128" fill="hold">
                            <p:stCondLst>
                              <p:cond delay="1000"/>
                            </p:stCondLst>
                            <p:childTnLst>
                              <p:par>
                                <p:cTn id="129" presetID="35" presetClass="emph" presetSubtype="0" fill="hold" grpId="2" nodeType="afterEffect">
                                  <p:stCondLst>
                                    <p:cond delay="0"/>
                                  </p:stCondLst>
                                  <p:childTnLst>
                                    <p:anim calcmode="discrete" valueType="str">
                                      <p:cBhvr>
                                        <p:cTn id="130" dur="1000" fill="hold"/>
                                        <p:tgtEl>
                                          <p:spTgt spid="78"/>
                                        </p:tgtEl>
                                        <p:attrNameLst>
                                          <p:attrName>style.visibility</p:attrName>
                                        </p:attrNameLst>
                                      </p:cBhvr>
                                      <p:tavLst>
                                        <p:tav tm="0">
                                          <p:val>
                                            <p:strVal val="hidden"/>
                                          </p:val>
                                        </p:tav>
                                        <p:tav tm="50000">
                                          <p:val>
                                            <p:strVal val="visible"/>
                                          </p:val>
                                        </p:tav>
                                      </p:tavLst>
                                    </p:anim>
                                  </p:childTnLst>
                                </p:cTn>
                              </p:par>
                              <p:par>
                                <p:cTn id="131" presetID="35" presetClass="emph" presetSubtype="0" fill="hold" grpId="2" nodeType="withEffect">
                                  <p:stCondLst>
                                    <p:cond delay="0"/>
                                  </p:stCondLst>
                                  <p:childTnLst>
                                    <p:anim calcmode="discrete" valueType="str">
                                      <p:cBhvr>
                                        <p:cTn id="132" dur="1000" fill="hold"/>
                                        <p:tgtEl>
                                          <p:spTgt spid="79"/>
                                        </p:tgtEl>
                                        <p:attrNameLst>
                                          <p:attrName>style.visibility</p:attrName>
                                        </p:attrNameLst>
                                      </p:cBhvr>
                                      <p:tavLst>
                                        <p:tav tm="0">
                                          <p:val>
                                            <p:strVal val="hidden"/>
                                          </p:val>
                                        </p:tav>
                                        <p:tav tm="50000">
                                          <p:val>
                                            <p:strVal val="visible"/>
                                          </p:val>
                                        </p:tav>
                                      </p:tavLst>
                                    </p:anim>
                                  </p:childTnLst>
                                </p:cTn>
                              </p:par>
                            </p:childTnLst>
                          </p:cTn>
                        </p:par>
                      </p:childTnLst>
                    </p:cTn>
                  </p:par>
                  <p:par>
                    <p:cTn id="133" fill="hold">
                      <p:stCondLst>
                        <p:cond delay="indefinite"/>
                      </p:stCondLst>
                      <p:childTnLst>
                        <p:par>
                          <p:cTn id="134" fill="hold">
                            <p:stCondLst>
                              <p:cond delay="0"/>
                            </p:stCondLst>
                            <p:childTnLst>
                              <p:par>
                                <p:cTn id="135" presetID="1" presetClass="entr" presetSubtype="0" fill="hold" grpId="3" nodeType="clickEffect">
                                  <p:stCondLst>
                                    <p:cond delay="0"/>
                                  </p:stCondLst>
                                  <p:childTnLst>
                                    <p:set>
                                      <p:cBhvr>
                                        <p:cTn id="136" dur="1" fill="hold">
                                          <p:stCondLst>
                                            <p:cond delay="0"/>
                                          </p:stCondLst>
                                        </p:cTn>
                                        <p:tgtEl>
                                          <p:spTgt spid="78"/>
                                        </p:tgtEl>
                                        <p:attrNameLst>
                                          <p:attrName>style.visibility</p:attrName>
                                        </p:attrNameLst>
                                      </p:cBhvr>
                                      <p:to>
                                        <p:strVal val="visible"/>
                                      </p:to>
                                    </p:set>
                                  </p:childTnLst>
                                </p:cTn>
                              </p:par>
                              <p:par>
                                <p:cTn id="137" presetID="1" presetClass="entr" presetSubtype="0" fill="hold" grpId="3" nodeType="withEffect">
                                  <p:stCondLst>
                                    <p:cond delay="0"/>
                                  </p:stCondLst>
                                  <p:childTnLst>
                                    <p:set>
                                      <p:cBhvr>
                                        <p:cTn id="138" dur="1" fill="hold">
                                          <p:stCondLst>
                                            <p:cond delay="0"/>
                                          </p:stCondLst>
                                        </p:cTn>
                                        <p:tgtEl>
                                          <p:spTgt spid="79"/>
                                        </p:tgtEl>
                                        <p:attrNameLst>
                                          <p:attrName>style.visibility</p:attrName>
                                        </p:attrNameLst>
                                      </p:cBhvr>
                                      <p:to>
                                        <p:strVal val="visible"/>
                                      </p:to>
                                    </p:set>
                                  </p:childTnLst>
                                </p:cTn>
                              </p:par>
                            </p:childTnLst>
                          </p:cTn>
                        </p:par>
                      </p:childTnLst>
                    </p:cTn>
                  </p:par>
                  <p:par>
                    <p:cTn id="139" fill="hold">
                      <p:stCondLst>
                        <p:cond delay="indefinite"/>
                      </p:stCondLst>
                      <p:childTnLst>
                        <p:par>
                          <p:cTn id="140" fill="hold">
                            <p:stCondLst>
                              <p:cond delay="0"/>
                            </p:stCondLst>
                            <p:childTnLst>
                              <p:par>
                                <p:cTn id="141" presetID="1" presetClass="entr" presetSubtype="0" fill="hold" grpId="0" nodeType="clickEffect">
                                  <p:stCondLst>
                                    <p:cond delay="0"/>
                                  </p:stCondLst>
                                  <p:childTnLst>
                                    <p:set>
                                      <p:cBhvr>
                                        <p:cTn id="142" dur="1" fill="hold">
                                          <p:stCondLst>
                                            <p:cond delay="0"/>
                                          </p:stCondLst>
                                        </p:cTn>
                                        <p:tgtEl>
                                          <p:spTgt spid="80"/>
                                        </p:tgtEl>
                                        <p:attrNameLst>
                                          <p:attrName>style.visibility</p:attrName>
                                        </p:attrNameLst>
                                      </p:cBhvr>
                                      <p:to>
                                        <p:strVal val="visible"/>
                                      </p:to>
                                    </p:set>
                                  </p:childTnLst>
                                </p:cTn>
                              </p:par>
                            </p:childTnLst>
                          </p:cTn>
                        </p:par>
                      </p:childTnLst>
                    </p:cTn>
                  </p:par>
                  <p:par>
                    <p:cTn id="143" fill="hold">
                      <p:stCondLst>
                        <p:cond delay="indefinite"/>
                      </p:stCondLst>
                      <p:childTnLst>
                        <p:par>
                          <p:cTn id="144" fill="hold">
                            <p:stCondLst>
                              <p:cond delay="0"/>
                            </p:stCondLst>
                            <p:childTnLst>
                              <p:par>
                                <p:cTn id="145" presetID="1" presetClass="exit" presetSubtype="0" fill="hold" grpId="4" nodeType="clickEffect">
                                  <p:stCondLst>
                                    <p:cond delay="0"/>
                                  </p:stCondLst>
                                  <p:childTnLst>
                                    <p:set>
                                      <p:cBhvr>
                                        <p:cTn id="146" dur="1" fill="hold">
                                          <p:stCondLst>
                                            <p:cond delay="0"/>
                                          </p:stCondLst>
                                        </p:cTn>
                                        <p:tgtEl>
                                          <p:spTgt spid="78"/>
                                        </p:tgtEl>
                                        <p:attrNameLst>
                                          <p:attrName>style.visibility</p:attrName>
                                        </p:attrNameLst>
                                      </p:cBhvr>
                                      <p:to>
                                        <p:strVal val="hidden"/>
                                      </p:to>
                                    </p:set>
                                  </p:childTnLst>
                                </p:cTn>
                              </p:par>
                              <p:par>
                                <p:cTn id="147" presetID="1" presetClass="exit" presetSubtype="0" fill="hold" grpId="4" nodeType="withEffect">
                                  <p:stCondLst>
                                    <p:cond delay="0"/>
                                  </p:stCondLst>
                                  <p:childTnLst>
                                    <p:set>
                                      <p:cBhvr>
                                        <p:cTn id="148" dur="1" fill="hold">
                                          <p:stCondLst>
                                            <p:cond delay="0"/>
                                          </p:stCondLst>
                                        </p:cTn>
                                        <p:tgtEl>
                                          <p:spTgt spid="79"/>
                                        </p:tgtEl>
                                        <p:attrNameLst>
                                          <p:attrName>style.visibility</p:attrName>
                                        </p:attrNameLst>
                                      </p:cBhvr>
                                      <p:to>
                                        <p:strVal val="hidden"/>
                                      </p:to>
                                    </p:set>
                                  </p:childTnLst>
                                </p:cTn>
                              </p:par>
                            </p:childTnLst>
                          </p:cTn>
                        </p:par>
                      </p:childTnLst>
                    </p:cTn>
                  </p:par>
                  <p:par>
                    <p:cTn id="149" fill="hold">
                      <p:stCondLst>
                        <p:cond delay="indefinite"/>
                      </p:stCondLst>
                      <p:childTnLst>
                        <p:par>
                          <p:cTn id="150" fill="hold">
                            <p:stCondLst>
                              <p:cond delay="0"/>
                            </p:stCondLst>
                            <p:childTnLst>
                              <p:par>
                                <p:cTn id="151" presetID="1" presetClass="entr" presetSubtype="0" fill="hold" grpId="5" nodeType="clickEffect">
                                  <p:stCondLst>
                                    <p:cond delay="0"/>
                                  </p:stCondLst>
                                  <p:childTnLst>
                                    <p:set>
                                      <p:cBhvr>
                                        <p:cTn id="152" dur="1" fill="hold">
                                          <p:stCondLst>
                                            <p:cond delay="0"/>
                                          </p:stCondLst>
                                        </p:cTn>
                                        <p:tgtEl>
                                          <p:spTgt spid="81"/>
                                        </p:tgtEl>
                                        <p:attrNameLst>
                                          <p:attrName>style.visibility</p:attrName>
                                        </p:attrNameLst>
                                      </p:cBhvr>
                                      <p:to>
                                        <p:strVal val="visible"/>
                                      </p:to>
                                    </p:set>
                                  </p:childTnLst>
                                </p:cTn>
                              </p:par>
                              <p:par>
                                <p:cTn id="153" presetID="1" presetClass="entr" presetSubtype="0" fill="hold" grpId="5" nodeType="withEffect">
                                  <p:stCondLst>
                                    <p:cond delay="0"/>
                                  </p:stCondLst>
                                  <p:childTnLst>
                                    <p:set>
                                      <p:cBhvr>
                                        <p:cTn id="154" dur="1" fill="hold">
                                          <p:stCondLst>
                                            <p:cond delay="0"/>
                                          </p:stCondLst>
                                        </p:cTn>
                                        <p:tgtEl>
                                          <p:spTgt spid="82"/>
                                        </p:tgtEl>
                                        <p:attrNameLst>
                                          <p:attrName>style.visibility</p:attrName>
                                        </p:attrNameLst>
                                      </p:cBhvr>
                                      <p:to>
                                        <p:strVal val="visible"/>
                                      </p:to>
                                    </p:set>
                                  </p:childTnLst>
                                </p:cTn>
                              </p:par>
                            </p:childTnLst>
                          </p:cTn>
                        </p:par>
                      </p:childTnLst>
                    </p:cTn>
                  </p:par>
                  <p:par>
                    <p:cTn id="155" fill="hold">
                      <p:stCondLst>
                        <p:cond delay="indefinite"/>
                      </p:stCondLst>
                      <p:childTnLst>
                        <p:par>
                          <p:cTn id="156" fill="hold">
                            <p:stCondLst>
                              <p:cond delay="0"/>
                            </p:stCondLst>
                            <p:childTnLst>
                              <p:par>
                                <p:cTn id="157" presetID="35" presetClass="emph" presetSubtype="0" fill="hold" grpId="0" nodeType="clickEffect">
                                  <p:stCondLst>
                                    <p:cond delay="0"/>
                                  </p:stCondLst>
                                  <p:childTnLst>
                                    <p:anim calcmode="discrete" valueType="str">
                                      <p:cBhvr>
                                        <p:cTn id="158" dur="1000" fill="hold"/>
                                        <p:tgtEl>
                                          <p:spTgt spid="81"/>
                                        </p:tgtEl>
                                        <p:attrNameLst>
                                          <p:attrName>style.visibility</p:attrName>
                                        </p:attrNameLst>
                                      </p:cBhvr>
                                      <p:tavLst>
                                        <p:tav tm="0">
                                          <p:val>
                                            <p:strVal val="hidden"/>
                                          </p:val>
                                        </p:tav>
                                        <p:tav tm="50000">
                                          <p:val>
                                            <p:strVal val="visible"/>
                                          </p:val>
                                        </p:tav>
                                      </p:tavLst>
                                    </p:anim>
                                  </p:childTnLst>
                                </p:cTn>
                              </p:par>
                              <p:par>
                                <p:cTn id="159" presetID="35" presetClass="emph" presetSubtype="0" fill="hold" grpId="0" nodeType="withEffect">
                                  <p:stCondLst>
                                    <p:cond delay="0"/>
                                  </p:stCondLst>
                                  <p:childTnLst>
                                    <p:anim calcmode="discrete" valueType="str">
                                      <p:cBhvr>
                                        <p:cTn id="160" dur="1000" fill="hold"/>
                                        <p:tgtEl>
                                          <p:spTgt spid="82"/>
                                        </p:tgtEl>
                                        <p:attrNameLst>
                                          <p:attrName>style.visibility</p:attrName>
                                        </p:attrNameLst>
                                      </p:cBhvr>
                                      <p:tavLst>
                                        <p:tav tm="0">
                                          <p:val>
                                            <p:strVal val="hidden"/>
                                          </p:val>
                                        </p:tav>
                                        <p:tav tm="50000">
                                          <p:val>
                                            <p:strVal val="visible"/>
                                          </p:val>
                                        </p:tav>
                                      </p:tavLst>
                                    </p:anim>
                                  </p:childTnLst>
                                </p:cTn>
                              </p:par>
                            </p:childTnLst>
                          </p:cTn>
                        </p:par>
                        <p:par>
                          <p:cTn id="161" fill="hold">
                            <p:stCondLst>
                              <p:cond delay="1000"/>
                            </p:stCondLst>
                            <p:childTnLst>
                              <p:par>
                                <p:cTn id="162" presetID="35" presetClass="emph" presetSubtype="0" fill="hold" grpId="2" nodeType="afterEffect">
                                  <p:stCondLst>
                                    <p:cond delay="0"/>
                                  </p:stCondLst>
                                  <p:childTnLst>
                                    <p:anim calcmode="discrete" valueType="str">
                                      <p:cBhvr>
                                        <p:cTn id="163" dur="1000" fill="hold"/>
                                        <p:tgtEl>
                                          <p:spTgt spid="81"/>
                                        </p:tgtEl>
                                        <p:attrNameLst>
                                          <p:attrName>style.visibility</p:attrName>
                                        </p:attrNameLst>
                                      </p:cBhvr>
                                      <p:tavLst>
                                        <p:tav tm="0">
                                          <p:val>
                                            <p:strVal val="hidden"/>
                                          </p:val>
                                        </p:tav>
                                        <p:tav tm="50000">
                                          <p:val>
                                            <p:strVal val="visible"/>
                                          </p:val>
                                        </p:tav>
                                      </p:tavLst>
                                    </p:anim>
                                  </p:childTnLst>
                                </p:cTn>
                              </p:par>
                              <p:par>
                                <p:cTn id="164" presetID="35" presetClass="emph" presetSubtype="0" fill="hold" grpId="2" nodeType="withEffect">
                                  <p:stCondLst>
                                    <p:cond delay="0"/>
                                  </p:stCondLst>
                                  <p:childTnLst>
                                    <p:anim calcmode="discrete" valueType="str">
                                      <p:cBhvr>
                                        <p:cTn id="165"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par>
                    <p:cTn id="166" fill="hold">
                      <p:stCondLst>
                        <p:cond delay="indefinite"/>
                      </p:stCondLst>
                      <p:childTnLst>
                        <p:par>
                          <p:cTn id="167" fill="hold">
                            <p:stCondLst>
                              <p:cond delay="0"/>
                            </p:stCondLst>
                            <p:childTnLst>
                              <p:par>
                                <p:cTn id="168" presetID="1" presetClass="entr" presetSubtype="0" fill="hold" grpId="3" nodeType="clickEffect">
                                  <p:stCondLst>
                                    <p:cond delay="0"/>
                                  </p:stCondLst>
                                  <p:childTnLst>
                                    <p:set>
                                      <p:cBhvr>
                                        <p:cTn id="169" dur="1" fill="hold">
                                          <p:stCondLst>
                                            <p:cond delay="0"/>
                                          </p:stCondLst>
                                        </p:cTn>
                                        <p:tgtEl>
                                          <p:spTgt spid="81"/>
                                        </p:tgtEl>
                                        <p:attrNameLst>
                                          <p:attrName>style.visibility</p:attrName>
                                        </p:attrNameLst>
                                      </p:cBhvr>
                                      <p:to>
                                        <p:strVal val="visible"/>
                                      </p:to>
                                    </p:set>
                                  </p:childTnLst>
                                </p:cTn>
                              </p:par>
                              <p:par>
                                <p:cTn id="170" presetID="1" presetClass="entr" presetSubtype="0" fill="hold" grpId="3" nodeType="withEffect">
                                  <p:stCondLst>
                                    <p:cond delay="0"/>
                                  </p:stCondLst>
                                  <p:childTnLst>
                                    <p:set>
                                      <p:cBhvr>
                                        <p:cTn id="171" dur="1" fill="hold">
                                          <p:stCondLst>
                                            <p:cond delay="0"/>
                                          </p:stCondLst>
                                        </p:cTn>
                                        <p:tgtEl>
                                          <p:spTgt spid="82"/>
                                        </p:tgtEl>
                                        <p:attrNameLst>
                                          <p:attrName>style.visibility</p:attrName>
                                        </p:attrNameLst>
                                      </p:cBhvr>
                                      <p:to>
                                        <p:strVal val="visible"/>
                                      </p:to>
                                    </p:set>
                                  </p:childTnLst>
                                </p:cTn>
                              </p:par>
                            </p:childTnLst>
                          </p:cTn>
                        </p:par>
                      </p:childTnLst>
                    </p:cTn>
                  </p:par>
                  <p:par>
                    <p:cTn id="172" fill="hold">
                      <p:stCondLst>
                        <p:cond delay="indefinite"/>
                      </p:stCondLst>
                      <p:childTnLst>
                        <p:par>
                          <p:cTn id="173" fill="hold">
                            <p:stCondLst>
                              <p:cond delay="0"/>
                            </p:stCondLst>
                            <p:childTnLst>
                              <p:par>
                                <p:cTn id="174" presetID="1" presetClass="entr" presetSubtype="0" fill="hold" grpId="0" nodeType="clickEffect">
                                  <p:stCondLst>
                                    <p:cond delay="0"/>
                                  </p:stCondLst>
                                  <p:childTnLst>
                                    <p:set>
                                      <p:cBhvr>
                                        <p:cTn id="175" dur="1" fill="hold">
                                          <p:stCondLst>
                                            <p:cond delay="0"/>
                                          </p:stCondLst>
                                        </p:cTn>
                                        <p:tgtEl>
                                          <p:spTgt spid="83"/>
                                        </p:tgtEl>
                                        <p:attrNameLst>
                                          <p:attrName>style.visibility</p:attrName>
                                        </p:attrNameLst>
                                      </p:cBhvr>
                                      <p:to>
                                        <p:strVal val="visible"/>
                                      </p:to>
                                    </p:set>
                                  </p:childTnLst>
                                </p:cTn>
                              </p:par>
                            </p:childTnLst>
                          </p:cTn>
                        </p:par>
                      </p:childTnLst>
                    </p:cTn>
                  </p:par>
                  <p:par>
                    <p:cTn id="176" fill="hold">
                      <p:stCondLst>
                        <p:cond delay="indefinite"/>
                      </p:stCondLst>
                      <p:childTnLst>
                        <p:par>
                          <p:cTn id="177" fill="hold">
                            <p:stCondLst>
                              <p:cond delay="0"/>
                            </p:stCondLst>
                            <p:childTnLst>
                              <p:par>
                                <p:cTn id="178" presetID="1" presetClass="exit" presetSubtype="0" fill="hold" grpId="4" nodeType="clickEffect">
                                  <p:stCondLst>
                                    <p:cond delay="0"/>
                                  </p:stCondLst>
                                  <p:childTnLst>
                                    <p:set>
                                      <p:cBhvr>
                                        <p:cTn id="179" dur="1" fill="hold">
                                          <p:stCondLst>
                                            <p:cond delay="0"/>
                                          </p:stCondLst>
                                        </p:cTn>
                                        <p:tgtEl>
                                          <p:spTgt spid="81"/>
                                        </p:tgtEl>
                                        <p:attrNameLst>
                                          <p:attrName>style.visibility</p:attrName>
                                        </p:attrNameLst>
                                      </p:cBhvr>
                                      <p:to>
                                        <p:strVal val="hidden"/>
                                      </p:to>
                                    </p:set>
                                  </p:childTnLst>
                                </p:cTn>
                              </p:par>
                              <p:par>
                                <p:cTn id="180" presetID="1" presetClass="exit" presetSubtype="0" fill="hold" grpId="4" nodeType="withEffect">
                                  <p:stCondLst>
                                    <p:cond delay="0"/>
                                  </p:stCondLst>
                                  <p:childTnLst>
                                    <p:set>
                                      <p:cBhvr>
                                        <p:cTn id="181" dur="1" fill="hold">
                                          <p:stCondLst>
                                            <p:cond delay="0"/>
                                          </p:stCondLst>
                                        </p:cTn>
                                        <p:tgtEl>
                                          <p:spTgt spid="82"/>
                                        </p:tgtEl>
                                        <p:attrNameLst>
                                          <p:attrName>style.visibility</p:attrName>
                                        </p:attrNameLst>
                                      </p:cBhvr>
                                      <p:to>
                                        <p:strVal val="hidden"/>
                                      </p:to>
                                    </p:set>
                                  </p:childTnLst>
                                </p:cTn>
                              </p:par>
                            </p:childTnLst>
                          </p:cTn>
                        </p:par>
                      </p:childTnLst>
                    </p:cTn>
                  </p:par>
                  <p:par>
                    <p:cTn id="182" fill="hold">
                      <p:stCondLst>
                        <p:cond delay="indefinite"/>
                      </p:stCondLst>
                      <p:childTnLst>
                        <p:par>
                          <p:cTn id="183" fill="hold">
                            <p:stCondLst>
                              <p:cond delay="0"/>
                            </p:stCondLst>
                            <p:childTnLst>
                              <p:par>
                                <p:cTn id="184" presetID="1" presetClass="entr" presetSubtype="0" fill="hold" grpId="5" nodeType="clickEffect">
                                  <p:stCondLst>
                                    <p:cond delay="0"/>
                                  </p:stCondLst>
                                  <p:childTnLst>
                                    <p:set>
                                      <p:cBhvr>
                                        <p:cTn id="185" dur="1" fill="hold">
                                          <p:stCondLst>
                                            <p:cond delay="0"/>
                                          </p:stCondLst>
                                        </p:cTn>
                                        <p:tgtEl>
                                          <p:spTgt spid="84"/>
                                        </p:tgtEl>
                                        <p:attrNameLst>
                                          <p:attrName>style.visibility</p:attrName>
                                        </p:attrNameLst>
                                      </p:cBhvr>
                                      <p:to>
                                        <p:strVal val="visible"/>
                                      </p:to>
                                    </p:set>
                                  </p:childTnLst>
                                </p:cTn>
                              </p:par>
                              <p:par>
                                <p:cTn id="186" presetID="1" presetClass="entr" presetSubtype="0" fill="hold" grpId="5" nodeType="withEffect">
                                  <p:stCondLst>
                                    <p:cond delay="0"/>
                                  </p:stCondLst>
                                  <p:childTnLst>
                                    <p:set>
                                      <p:cBhvr>
                                        <p:cTn id="187" dur="1" fill="hold">
                                          <p:stCondLst>
                                            <p:cond delay="0"/>
                                          </p:stCondLst>
                                        </p:cTn>
                                        <p:tgtEl>
                                          <p:spTgt spid="85"/>
                                        </p:tgtEl>
                                        <p:attrNameLst>
                                          <p:attrName>style.visibility</p:attrName>
                                        </p:attrNameLst>
                                      </p:cBhvr>
                                      <p:to>
                                        <p:strVal val="visible"/>
                                      </p:to>
                                    </p:set>
                                  </p:childTnLst>
                                </p:cTn>
                              </p:par>
                            </p:childTnLst>
                          </p:cTn>
                        </p:par>
                      </p:childTnLst>
                    </p:cTn>
                  </p:par>
                  <p:par>
                    <p:cTn id="188" fill="hold">
                      <p:stCondLst>
                        <p:cond delay="indefinite"/>
                      </p:stCondLst>
                      <p:childTnLst>
                        <p:par>
                          <p:cTn id="189" fill="hold">
                            <p:stCondLst>
                              <p:cond delay="0"/>
                            </p:stCondLst>
                            <p:childTnLst>
                              <p:par>
                                <p:cTn id="190" presetID="35" presetClass="emph" presetSubtype="0" fill="hold" grpId="0" nodeType="clickEffect">
                                  <p:stCondLst>
                                    <p:cond delay="0"/>
                                  </p:stCondLst>
                                  <p:childTnLst>
                                    <p:anim calcmode="discrete" valueType="str">
                                      <p:cBhvr>
                                        <p:cTn id="191" dur="1000" fill="hold"/>
                                        <p:tgtEl>
                                          <p:spTgt spid="84"/>
                                        </p:tgtEl>
                                        <p:attrNameLst>
                                          <p:attrName>style.visibility</p:attrName>
                                        </p:attrNameLst>
                                      </p:cBhvr>
                                      <p:tavLst>
                                        <p:tav tm="0">
                                          <p:val>
                                            <p:strVal val="hidden"/>
                                          </p:val>
                                        </p:tav>
                                        <p:tav tm="50000">
                                          <p:val>
                                            <p:strVal val="visible"/>
                                          </p:val>
                                        </p:tav>
                                      </p:tavLst>
                                    </p:anim>
                                  </p:childTnLst>
                                </p:cTn>
                              </p:par>
                              <p:par>
                                <p:cTn id="192" presetID="35" presetClass="emph" presetSubtype="0" fill="hold" grpId="0" nodeType="withEffect">
                                  <p:stCondLst>
                                    <p:cond delay="0"/>
                                  </p:stCondLst>
                                  <p:childTnLst>
                                    <p:anim calcmode="discrete" valueType="str">
                                      <p:cBhvr>
                                        <p:cTn id="193" dur="1000" fill="hold"/>
                                        <p:tgtEl>
                                          <p:spTgt spid="85"/>
                                        </p:tgtEl>
                                        <p:attrNameLst>
                                          <p:attrName>style.visibility</p:attrName>
                                        </p:attrNameLst>
                                      </p:cBhvr>
                                      <p:tavLst>
                                        <p:tav tm="0">
                                          <p:val>
                                            <p:strVal val="hidden"/>
                                          </p:val>
                                        </p:tav>
                                        <p:tav tm="50000">
                                          <p:val>
                                            <p:strVal val="visible"/>
                                          </p:val>
                                        </p:tav>
                                      </p:tavLst>
                                    </p:anim>
                                  </p:childTnLst>
                                </p:cTn>
                              </p:par>
                            </p:childTnLst>
                          </p:cTn>
                        </p:par>
                        <p:par>
                          <p:cTn id="194" fill="hold">
                            <p:stCondLst>
                              <p:cond delay="1000"/>
                            </p:stCondLst>
                            <p:childTnLst>
                              <p:par>
                                <p:cTn id="195" presetID="35" presetClass="emph" presetSubtype="0" fill="hold" grpId="2" nodeType="afterEffect">
                                  <p:stCondLst>
                                    <p:cond delay="0"/>
                                  </p:stCondLst>
                                  <p:childTnLst>
                                    <p:anim calcmode="discrete" valueType="str">
                                      <p:cBhvr>
                                        <p:cTn id="196" dur="1000" fill="hold"/>
                                        <p:tgtEl>
                                          <p:spTgt spid="84"/>
                                        </p:tgtEl>
                                        <p:attrNameLst>
                                          <p:attrName>style.visibility</p:attrName>
                                        </p:attrNameLst>
                                      </p:cBhvr>
                                      <p:tavLst>
                                        <p:tav tm="0">
                                          <p:val>
                                            <p:strVal val="hidden"/>
                                          </p:val>
                                        </p:tav>
                                        <p:tav tm="50000">
                                          <p:val>
                                            <p:strVal val="visible"/>
                                          </p:val>
                                        </p:tav>
                                      </p:tavLst>
                                    </p:anim>
                                  </p:childTnLst>
                                </p:cTn>
                              </p:par>
                              <p:par>
                                <p:cTn id="197" presetID="35" presetClass="emph" presetSubtype="0" fill="hold" grpId="2" nodeType="withEffect">
                                  <p:stCondLst>
                                    <p:cond delay="0"/>
                                  </p:stCondLst>
                                  <p:childTnLst>
                                    <p:anim calcmode="discrete" valueType="str">
                                      <p:cBhvr>
                                        <p:cTn id="198"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par>
                    <p:cTn id="199" fill="hold">
                      <p:stCondLst>
                        <p:cond delay="indefinite"/>
                      </p:stCondLst>
                      <p:childTnLst>
                        <p:par>
                          <p:cTn id="200" fill="hold">
                            <p:stCondLst>
                              <p:cond delay="0"/>
                            </p:stCondLst>
                            <p:childTnLst>
                              <p:par>
                                <p:cTn id="201" presetID="1" presetClass="entr" presetSubtype="0" fill="hold" grpId="3" nodeType="clickEffect">
                                  <p:stCondLst>
                                    <p:cond delay="0"/>
                                  </p:stCondLst>
                                  <p:childTnLst>
                                    <p:set>
                                      <p:cBhvr>
                                        <p:cTn id="202" dur="1" fill="hold">
                                          <p:stCondLst>
                                            <p:cond delay="0"/>
                                          </p:stCondLst>
                                        </p:cTn>
                                        <p:tgtEl>
                                          <p:spTgt spid="84"/>
                                        </p:tgtEl>
                                        <p:attrNameLst>
                                          <p:attrName>style.visibility</p:attrName>
                                        </p:attrNameLst>
                                      </p:cBhvr>
                                      <p:to>
                                        <p:strVal val="visible"/>
                                      </p:to>
                                    </p:set>
                                  </p:childTnLst>
                                </p:cTn>
                              </p:par>
                              <p:par>
                                <p:cTn id="203" presetID="1" presetClass="entr" presetSubtype="0" fill="hold" grpId="3" nodeType="withEffect">
                                  <p:stCondLst>
                                    <p:cond delay="0"/>
                                  </p:stCondLst>
                                  <p:childTnLst>
                                    <p:set>
                                      <p:cBhvr>
                                        <p:cTn id="204" dur="1" fill="hold">
                                          <p:stCondLst>
                                            <p:cond delay="0"/>
                                          </p:stCondLst>
                                        </p:cTn>
                                        <p:tgtEl>
                                          <p:spTgt spid="85"/>
                                        </p:tgtEl>
                                        <p:attrNameLst>
                                          <p:attrName>style.visibility</p:attrName>
                                        </p:attrNameLst>
                                      </p:cBhvr>
                                      <p:to>
                                        <p:strVal val="visible"/>
                                      </p:to>
                                    </p:set>
                                  </p:childTnLst>
                                </p:cTn>
                              </p:par>
                            </p:childTnLst>
                          </p:cTn>
                        </p:par>
                      </p:childTnLst>
                    </p:cTn>
                  </p:par>
                  <p:par>
                    <p:cTn id="205" fill="hold">
                      <p:stCondLst>
                        <p:cond delay="indefinite"/>
                      </p:stCondLst>
                      <p:childTnLst>
                        <p:par>
                          <p:cTn id="206" fill="hold">
                            <p:stCondLst>
                              <p:cond delay="0"/>
                            </p:stCondLst>
                            <p:childTnLst>
                              <p:par>
                                <p:cTn id="207" presetID="1" presetClass="entr" presetSubtype="0" fill="hold" grpId="0" nodeType="clickEffect">
                                  <p:stCondLst>
                                    <p:cond delay="0"/>
                                  </p:stCondLst>
                                  <p:childTnLst>
                                    <p:set>
                                      <p:cBhvr>
                                        <p:cTn id="208" dur="1" fill="hold">
                                          <p:stCondLst>
                                            <p:cond delay="0"/>
                                          </p:stCondLst>
                                        </p:cTn>
                                        <p:tgtEl>
                                          <p:spTgt spid="86"/>
                                        </p:tgtEl>
                                        <p:attrNameLst>
                                          <p:attrName>style.visibility</p:attrName>
                                        </p:attrNameLst>
                                      </p:cBhvr>
                                      <p:to>
                                        <p:strVal val="visible"/>
                                      </p:to>
                                    </p:set>
                                  </p:childTnLst>
                                </p:cTn>
                              </p:par>
                            </p:childTnLst>
                          </p:cTn>
                        </p:par>
                      </p:childTnLst>
                    </p:cTn>
                  </p:par>
                  <p:par>
                    <p:cTn id="209" fill="hold">
                      <p:stCondLst>
                        <p:cond delay="indefinite"/>
                      </p:stCondLst>
                      <p:childTnLst>
                        <p:par>
                          <p:cTn id="210" fill="hold">
                            <p:stCondLst>
                              <p:cond delay="0"/>
                            </p:stCondLst>
                            <p:childTnLst>
                              <p:par>
                                <p:cTn id="211" presetID="1" presetClass="exit" presetSubtype="0" fill="hold" grpId="4" nodeType="clickEffect">
                                  <p:stCondLst>
                                    <p:cond delay="0"/>
                                  </p:stCondLst>
                                  <p:childTnLst>
                                    <p:set>
                                      <p:cBhvr>
                                        <p:cTn id="212" dur="1" fill="hold">
                                          <p:stCondLst>
                                            <p:cond delay="0"/>
                                          </p:stCondLst>
                                        </p:cTn>
                                        <p:tgtEl>
                                          <p:spTgt spid="84"/>
                                        </p:tgtEl>
                                        <p:attrNameLst>
                                          <p:attrName>style.visibility</p:attrName>
                                        </p:attrNameLst>
                                      </p:cBhvr>
                                      <p:to>
                                        <p:strVal val="hidden"/>
                                      </p:to>
                                    </p:set>
                                  </p:childTnLst>
                                </p:cTn>
                              </p:par>
                              <p:par>
                                <p:cTn id="213" presetID="1" presetClass="exit" presetSubtype="0" fill="hold" grpId="4" nodeType="withEffect">
                                  <p:stCondLst>
                                    <p:cond delay="0"/>
                                  </p:stCondLst>
                                  <p:childTnLst>
                                    <p:set>
                                      <p:cBhvr>
                                        <p:cTn id="214" dur="1" fill="hold">
                                          <p:stCondLst>
                                            <p:cond delay="0"/>
                                          </p:stCondLst>
                                        </p:cTn>
                                        <p:tgtEl>
                                          <p:spTgt spid="85"/>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4" grpId="1" animBg="1"/>
      <p:bldP spid="11" grpId="0" animBg="1"/>
      <p:bldP spid="11" grpId="1" animBg="1"/>
      <p:bldP spid="19" grpId="0" animBg="1"/>
      <p:bldP spid="19" grpId="1" animBg="1"/>
      <p:bldP spid="20" grpId="0" animBg="1"/>
      <p:bldP spid="20" grpId="1" animBg="1"/>
      <p:bldP spid="27" grpId="0" animBg="1"/>
      <p:bldP spid="27" grpId="1" animBg="1"/>
      <p:bldP spid="28" grpId="0" animBg="1"/>
      <p:bldP spid="28" grpId="1" animBg="1"/>
      <p:bldP spid="33" grpId="0" animBg="1"/>
      <p:bldP spid="33" grpId="1" animBg="1"/>
      <p:bldP spid="34" grpId="0" animBg="1"/>
      <p:bldP spid="34" grpId="1" animBg="1"/>
      <p:bldP spid="35" grpId="0" animBg="1"/>
      <p:bldP spid="35" grpId="1" animBg="1"/>
      <p:bldP spid="36" grpId="0"/>
      <p:bldP spid="36" grpId="1"/>
      <p:bldP spid="37" grpId="0"/>
      <p:bldP spid="37" grpId="1"/>
      <p:bldP spid="38" grpId="0"/>
      <p:bldP spid="38" grpId="1"/>
      <p:bldP spid="39" grpId="0"/>
      <p:bldP spid="39" grpId="1"/>
      <p:bldP spid="40" grpId="0"/>
      <p:bldP spid="40" grpId="1"/>
      <p:bldP spid="41" grpId="0"/>
      <p:bldP spid="41" grpId="1"/>
      <p:bldP spid="42" grpId="0"/>
      <p:bldP spid="42" grpId="1"/>
      <p:bldP spid="43" grpId="0"/>
      <p:bldP spid="43" grpId="1"/>
      <p:bldP spid="44" grpId="0"/>
      <p:bldP spid="44" grpId="1"/>
      <p:bldP spid="75" grpId="0"/>
      <p:bldP spid="75" grpId="1"/>
      <p:bldP spid="76" grpId="0" bldLvl="0" animBg="1"/>
      <p:bldP spid="76" grpId="1" animBg="1"/>
      <p:bldP spid="76" grpId="2" bldLvl="0" animBg="1"/>
      <p:bldP spid="76" grpId="3" bldLvl="0" animBg="1"/>
      <p:bldP spid="76" grpId="4" bldLvl="0" animBg="1"/>
      <p:bldP spid="76" grpId="5" bldLvl="0" animBg="1"/>
      <p:bldP spid="77" grpId="0" bldLvl="0" animBg="1"/>
      <p:bldP spid="77" grpId="1" animBg="1"/>
      <p:bldP spid="77" grpId="2" bldLvl="0" animBg="1"/>
      <p:bldP spid="77" grpId="3" bldLvl="0" animBg="1"/>
      <p:bldP spid="77" grpId="4" bldLvl="0" animBg="1"/>
      <p:bldP spid="77" grpId="5" bldLvl="0" animBg="1"/>
      <p:bldP spid="78" grpId="0" bldLvl="0" animBg="1"/>
      <p:bldP spid="78" grpId="1" animBg="1"/>
      <p:bldP spid="78" grpId="2" bldLvl="0" animBg="1"/>
      <p:bldP spid="78" grpId="3" bldLvl="0" animBg="1"/>
      <p:bldP spid="78" grpId="4" bldLvl="0" animBg="1"/>
      <p:bldP spid="78" grpId="5" bldLvl="0" animBg="1"/>
      <p:bldP spid="79" grpId="0" bldLvl="0" animBg="1"/>
      <p:bldP spid="79" grpId="1" animBg="1"/>
      <p:bldP spid="79" grpId="2" bldLvl="0" animBg="1"/>
      <p:bldP spid="79" grpId="3" bldLvl="0" animBg="1"/>
      <p:bldP spid="79" grpId="4" bldLvl="0" animBg="1"/>
      <p:bldP spid="79" grpId="5" bldLvl="0" animBg="1"/>
      <p:bldP spid="80" grpId="0"/>
      <p:bldP spid="80" grpId="1"/>
      <p:bldP spid="81" grpId="0" bldLvl="0" animBg="1"/>
      <p:bldP spid="81" grpId="1" animBg="1"/>
      <p:bldP spid="81" grpId="2" bldLvl="0" animBg="1"/>
      <p:bldP spid="81" grpId="3" bldLvl="0" animBg="1"/>
      <p:bldP spid="81" grpId="4" bldLvl="0" animBg="1"/>
      <p:bldP spid="81" grpId="5" bldLvl="0" animBg="1"/>
      <p:bldP spid="82" grpId="0" bldLvl="0" animBg="1"/>
      <p:bldP spid="82" grpId="1" animBg="1"/>
      <p:bldP spid="82" grpId="2" bldLvl="0" animBg="1"/>
      <p:bldP spid="82" grpId="3" bldLvl="0" animBg="1"/>
      <p:bldP spid="82" grpId="4" bldLvl="0" animBg="1"/>
      <p:bldP spid="82" grpId="5" bldLvl="0" animBg="1"/>
      <p:bldP spid="83" grpId="0"/>
      <p:bldP spid="83" grpId="1"/>
      <p:bldP spid="84" grpId="0" bldLvl="0" animBg="1"/>
      <p:bldP spid="84" grpId="1" animBg="1"/>
      <p:bldP spid="84" grpId="2" bldLvl="0" animBg="1"/>
      <p:bldP spid="84" grpId="3" bldLvl="0" animBg="1"/>
      <p:bldP spid="84" grpId="4" bldLvl="0" animBg="1"/>
      <p:bldP spid="84" grpId="5" bldLvl="0" animBg="1"/>
      <p:bldP spid="85" grpId="0" bldLvl="0" animBg="1"/>
      <p:bldP spid="85" grpId="1" animBg="1"/>
      <p:bldP spid="85" grpId="2" bldLvl="0" animBg="1"/>
      <p:bldP spid="85" grpId="3" bldLvl="0" animBg="1"/>
      <p:bldP spid="85" grpId="4" bldLvl="0" animBg="1"/>
      <p:bldP spid="85" grpId="5" bldLvl="0" animBg="1"/>
      <p:bldP spid="86" grpId="0"/>
      <p:bldP spid="86"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pic>
        <p:nvPicPr>
          <p:cNvPr id="4" name="图片 -2147482500" descr="IMG_256"/>
          <p:cNvPicPr>
            <a:picLocks noChangeAspect="1"/>
          </p:cNvPicPr>
          <p:nvPr/>
        </p:nvPicPr>
        <p:blipFill>
          <a:blip r:embed="rId1"/>
          <a:stretch>
            <a:fillRect/>
          </a:stretch>
        </p:blipFill>
        <p:spPr>
          <a:xfrm>
            <a:off x="2267585" y="2132965"/>
            <a:ext cx="4276090" cy="1861185"/>
          </a:xfrm>
          <a:prstGeom prst="rect">
            <a:avLst/>
          </a:prstGeom>
          <a:noFill/>
          <a:ln w="9525">
            <a:noFill/>
          </a:ln>
        </p:spPr>
      </p:pic>
      <p:sp>
        <p:nvSpPr>
          <p:cNvPr id="5" name="圆角矩形 4"/>
          <p:cNvSpPr/>
          <p:nvPr/>
        </p:nvSpPr>
        <p:spPr>
          <a:xfrm>
            <a:off x="2159000" y="422084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21" name="直接连接符 20"/>
          <p:cNvCxnSpPr>
            <a:stCxn id="4" idx="2"/>
            <a:endCxn id="11" idx="0"/>
          </p:cNvCxnSpPr>
          <p:nvPr/>
        </p:nvCxnSpPr>
        <p:spPr>
          <a:xfrm flipH="1">
            <a:off x="1889125" y="4542790"/>
            <a:ext cx="514985"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2" name="直接连接符 21"/>
          <p:cNvCxnSpPr>
            <a:stCxn id="4" idx="2"/>
            <a:endCxn id="19" idx="0"/>
          </p:cNvCxnSpPr>
          <p:nvPr/>
        </p:nvCxnSpPr>
        <p:spPr>
          <a:xfrm>
            <a:off x="2404110" y="4542790"/>
            <a:ext cx="703580" cy="18224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3" name="直接连接符 22"/>
          <p:cNvCxnSpPr>
            <a:stCxn id="11" idx="2"/>
            <a:endCxn id="20" idx="0"/>
          </p:cNvCxnSpPr>
          <p:nvPr/>
        </p:nvCxnSpPr>
        <p:spPr>
          <a:xfrm flipH="1">
            <a:off x="1097280" y="5046980"/>
            <a:ext cx="791845" cy="284480"/>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4" name="直接连接符 23"/>
          <p:cNvCxnSpPr>
            <a:stCxn id="11" idx="2"/>
            <a:endCxn id="27" idx="0"/>
          </p:cNvCxnSpPr>
          <p:nvPr/>
        </p:nvCxnSpPr>
        <p:spPr>
          <a:xfrm>
            <a:off x="1889125" y="5046980"/>
            <a:ext cx="241935" cy="2851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5" name="直接连接符 24"/>
          <p:cNvCxnSpPr>
            <a:stCxn id="19" idx="2"/>
            <a:endCxn id="28" idx="0"/>
          </p:cNvCxnSpPr>
          <p:nvPr/>
        </p:nvCxnSpPr>
        <p:spPr>
          <a:xfrm flipH="1">
            <a:off x="2931795" y="5046980"/>
            <a:ext cx="175895" cy="25971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26" name="直接连接符 25"/>
          <p:cNvCxnSpPr>
            <a:stCxn id="19" idx="2"/>
            <a:endCxn id="35" idx="0"/>
          </p:cNvCxnSpPr>
          <p:nvPr/>
        </p:nvCxnSpPr>
        <p:spPr>
          <a:xfrm>
            <a:off x="3107690" y="5046980"/>
            <a:ext cx="654050" cy="29019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1" name="直接连接符 30"/>
          <p:cNvCxnSpPr>
            <a:stCxn id="20" idx="2"/>
            <a:endCxn id="34" idx="0"/>
          </p:cNvCxnSpPr>
          <p:nvPr/>
        </p:nvCxnSpPr>
        <p:spPr>
          <a:xfrm flipH="1">
            <a:off x="6654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cxnSp>
        <p:nvCxnSpPr>
          <p:cNvPr id="32" name="直接连接符 31"/>
          <p:cNvCxnSpPr>
            <a:stCxn id="20" idx="2"/>
            <a:endCxn id="33" idx="0"/>
          </p:cNvCxnSpPr>
          <p:nvPr/>
        </p:nvCxnSpPr>
        <p:spPr>
          <a:xfrm>
            <a:off x="1097280" y="5653405"/>
            <a:ext cx="431800" cy="367665"/>
          </a:xfrm>
          <a:prstGeom prst="line">
            <a:avLst/>
          </a:prstGeom>
          <a:solidFill>
            <a:schemeClr val="accent1"/>
          </a:solidFill>
          <a:ln w="9525" cap="flat" cmpd="sng" algn="ctr">
            <a:solidFill>
              <a:schemeClr val="tx1"/>
            </a:solidFill>
            <a:prstDash val="solid"/>
            <a:round/>
            <a:headEnd type="none" w="med" len="med"/>
            <a:tailEnd type="none" w="med" len="med"/>
          </a:ln>
        </p:spPr>
      </p:cxnSp>
      <p:sp>
        <p:nvSpPr>
          <p:cNvPr id="11" name="圆角矩形 10"/>
          <p:cNvSpPr/>
          <p:nvPr/>
        </p:nvSpPr>
        <p:spPr>
          <a:xfrm>
            <a:off x="1644015"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9" name="圆角矩形 18"/>
          <p:cNvSpPr/>
          <p:nvPr/>
        </p:nvSpPr>
        <p:spPr>
          <a:xfrm>
            <a:off x="2862580" y="472503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0" name="圆角矩形 19"/>
          <p:cNvSpPr/>
          <p:nvPr/>
        </p:nvSpPr>
        <p:spPr>
          <a:xfrm>
            <a:off x="852170" y="533146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7" name="圆角矩形 26"/>
          <p:cNvSpPr/>
          <p:nvPr/>
        </p:nvSpPr>
        <p:spPr>
          <a:xfrm>
            <a:off x="1845945" y="5332095"/>
            <a:ext cx="569595" cy="356870"/>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8" name="圆角矩形 27"/>
          <p:cNvSpPr/>
          <p:nvPr/>
        </p:nvSpPr>
        <p:spPr>
          <a:xfrm>
            <a:off x="2632075" y="5306695"/>
            <a:ext cx="598805" cy="36893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3" name="圆角矩形 32"/>
          <p:cNvSpPr/>
          <p:nvPr/>
        </p:nvSpPr>
        <p:spPr>
          <a:xfrm>
            <a:off x="12839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4" name="圆角矩形 33"/>
          <p:cNvSpPr/>
          <p:nvPr/>
        </p:nvSpPr>
        <p:spPr>
          <a:xfrm>
            <a:off x="420370" y="6021070"/>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5" name="圆角矩形 34"/>
          <p:cNvSpPr/>
          <p:nvPr/>
        </p:nvSpPr>
        <p:spPr>
          <a:xfrm>
            <a:off x="3516630" y="5337175"/>
            <a:ext cx="490220" cy="321945"/>
          </a:xfrm>
          <a:prstGeom prst="roundRect">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36" name="文本框 35"/>
          <p:cNvSpPr txBox="1"/>
          <p:nvPr/>
        </p:nvSpPr>
        <p:spPr>
          <a:xfrm>
            <a:off x="2161540" y="4211320"/>
            <a:ext cx="501015" cy="33147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a:t>
            </a:r>
            <a:endParaRPr lang="en-US" altLang="zh-CN" sz="1600">
              <a:latin typeface="Times New Roman" panose="02020603050405020304" pitchFamily="18" charset="0"/>
              <a:cs typeface="Times New Roman" panose="02020603050405020304" pitchFamily="18" charset="0"/>
            </a:endParaRPr>
          </a:p>
        </p:txBody>
      </p:sp>
      <p:sp>
        <p:nvSpPr>
          <p:cNvPr id="37" name="文本框 36"/>
          <p:cNvSpPr txBox="1"/>
          <p:nvPr/>
        </p:nvSpPr>
        <p:spPr>
          <a:xfrm>
            <a:off x="156908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a:t>
            </a:r>
            <a:endParaRPr lang="en-US" altLang="zh-CN" sz="1600">
              <a:latin typeface="Times New Roman" panose="02020603050405020304" pitchFamily="18" charset="0"/>
              <a:cs typeface="Times New Roman" panose="02020603050405020304" pitchFamily="18" charset="0"/>
            </a:endParaRPr>
          </a:p>
        </p:txBody>
      </p:sp>
      <p:sp>
        <p:nvSpPr>
          <p:cNvPr id="43" name="文本框 42"/>
          <p:cNvSpPr txBox="1"/>
          <p:nvPr/>
        </p:nvSpPr>
        <p:spPr>
          <a:xfrm>
            <a:off x="430530"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n-4</a:t>
            </a:r>
            <a:endParaRPr lang="en-US" altLang="zh-CN" sz="1600">
              <a:latin typeface="Times New Roman" panose="02020603050405020304" pitchFamily="18" charset="0"/>
              <a:cs typeface="Times New Roman" panose="02020603050405020304" pitchFamily="18" charset="0"/>
            </a:endParaRPr>
          </a:p>
        </p:txBody>
      </p:sp>
      <p:sp>
        <p:nvSpPr>
          <p:cNvPr id="44" name="文本框 43"/>
          <p:cNvSpPr txBox="1"/>
          <p:nvPr/>
        </p:nvSpPr>
        <p:spPr>
          <a:xfrm>
            <a:off x="1294765" y="6030595"/>
            <a:ext cx="525145" cy="30353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n-5</a:t>
            </a:r>
            <a:endParaRPr lang="en-US" altLang="zh-CN" sz="1600">
              <a:latin typeface="Times New Roman" panose="02020603050405020304" pitchFamily="18" charset="0"/>
              <a:cs typeface="Times New Roman" panose="02020603050405020304" pitchFamily="18" charset="0"/>
            </a:endParaRPr>
          </a:p>
        </p:txBody>
      </p:sp>
      <p:sp>
        <p:nvSpPr>
          <p:cNvPr id="6" name="文本框 5"/>
          <p:cNvSpPr txBox="1"/>
          <p:nvPr/>
        </p:nvSpPr>
        <p:spPr>
          <a:xfrm>
            <a:off x="2776855" y="4725035"/>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(i,j-1)</a:t>
            </a:r>
            <a:endParaRPr lang="en-US" altLang="zh-CN" sz="1600">
              <a:latin typeface="Times New Roman" panose="02020603050405020304" pitchFamily="18" charset="0"/>
              <a:cs typeface="Times New Roman" panose="02020603050405020304" pitchFamily="18" charset="0"/>
            </a:endParaRPr>
          </a:p>
        </p:txBody>
      </p:sp>
      <p:sp>
        <p:nvSpPr>
          <p:cNvPr id="7" name="文本框 6"/>
          <p:cNvSpPr txBox="1"/>
          <p:nvPr/>
        </p:nvSpPr>
        <p:spPr>
          <a:xfrm>
            <a:off x="77025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(i-2,j)</a:t>
            </a:r>
            <a:endParaRPr lang="en-US" altLang="zh-CN" sz="1600">
              <a:latin typeface="Times New Roman" panose="02020603050405020304" pitchFamily="18" charset="0"/>
              <a:cs typeface="Times New Roman" panose="02020603050405020304" pitchFamily="18" charset="0"/>
            </a:endParaRPr>
          </a:p>
        </p:txBody>
      </p:sp>
      <p:sp>
        <p:nvSpPr>
          <p:cNvPr id="8" name="文本框 7"/>
          <p:cNvSpPr txBox="1"/>
          <p:nvPr/>
        </p:nvSpPr>
        <p:spPr>
          <a:xfrm>
            <a:off x="1715770" y="531114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9" name="文本框 8"/>
          <p:cNvSpPr txBox="1"/>
          <p:nvPr/>
        </p:nvSpPr>
        <p:spPr>
          <a:xfrm>
            <a:off x="2524760" y="5302250"/>
            <a:ext cx="838200" cy="4191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(i-1,j-1)</a:t>
            </a:r>
            <a:endParaRPr lang="en-US" altLang="zh-CN" sz="1600">
              <a:latin typeface="Times New Roman" panose="02020603050405020304" pitchFamily="18" charset="0"/>
              <a:cs typeface="Times New Roman" panose="02020603050405020304" pitchFamily="18" charset="0"/>
            </a:endParaRPr>
          </a:p>
        </p:txBody>
      </p:sp>
      <p:sp>
        <p:nvSpPr>
          <p:cNvPr id="10" name="文本框 9"/>
          <p:cNvSpPr txBox="1"/>
          <p:nvPr/>
        </p:nvSpPr>
        <p:spPr>
          <a:xfrm>
            <a:off x="3425825" y="5326380"/>
            <a:ext cx="652780" cy="317500"/>
          </a:xfrm>
          <a:prstGeom prst="rect">
            <a:avLst/>
          </a:prstGeom>
          <a:noFill/>
        </p:spPr>
        <p:txBody>
          <a:bodyPr wrap="square" rtlCol="0">
            <a:noAutofit/>
          </a:bodyPr>
          <a:lstStyle/>
          <a:p>
            <a:r>
              <a:rPr lang="en-US" altLang="zh-CN" sz="1600">
                <a:latin typeface="Times New Roman" panose="02020603050405020304" pitchFamily="18" charset="0"/>
                <a:cs typeface="Times New Roman" panose="02020603050405020304" pitchFamily="18" charset="0"/>
              </a:rPr>
              <a:t>(i,j-2)</a:t>
            </a:r>
            <a:endParaRPr lang="en-US" altLang="zh-CN" sz="1600">
              <a:latin typeface="Times New Roman" panose="02020603050405020304" pitchFamily="18" charset="0"/>
              <a:cs typeface="Times New Roman" panose="02020603050405020304" pitchFamily="18" charset="0"/>
            </a:endParaRPr>
          </a:p>
        </p:txBody>
      </p:sp>
      <p:sp>
        <p:nvSpPr>
          <p:cNvPr id="12" name="文本框 11"/>
          <p:cNvSpPr txBox="1"/>
          <p:nvPr/>
        </p:nvSpPr>
        <p:spPr>
          <a:xfrm>
            <a:off x="199390" y="4174490"/>
            <a:ext cx="1330325" cy="368300"/>
          </a:xfrm>
          <a:prstGeom prst="rect">
            <a:avLst/>
          </a:prstGeom>
          <a:noFill/>
        </p:spPr>
        <p:txBody>
          <a:bodyPr wrap="square" rtlCol="0">
            <a:spAutoFit/>
          </a:bodyPr>
          <a:lstStyle/>
          <a:p>
            <a:r>
              <a:rPr lang="zh-CN" altLang="en-US">
                <a:solidFill>
                  <a:srgbClr val="FF0000"/>
                </a:solidFill>
              </a:rPr>
              <a:t>抽象成树：</a:t>
            </a:r>
            <a:endParaRPr lang="zh-CN" altLang="en-US">
              <a:solidFill>
                <a:srgbClr val="FF0000"/>
              </a:solidFill>
            </a:endParaRPr>
          </a:p>
        </p:txBody>
      </p:sp>
      <p:sp>
        <p:nvSpPr>
          <p:cNvPr id="13" name="文本框 12"/>
          <p:cNvSpPr txBox="1"/>
          <p:nvPr/>
        </p:nvSpPr>
        <p:spPr>
          <a:xfrm>
            <a:off x="4643755" y="5013325"/>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box(in)">
                                      <p:cBhvr>
                                        <p:cTn id="7" dur="2000"/>
                                        <p:tgtEl>
                                          <p:spTgt spid="4"/>
                                        </p:tgtEl>
                                      </p:cBhvr>
                                    </p:animEffect>
                                  </p:childTnLst>
                                </p:cTn>
                              </p:par>
                              <p:par>
                                <p:cTn id="8" presetID="4" presetClass="entr" presetSubtype="16"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box(in)">
                                      <p:cBhvr>
                                        <p:cTn id="10" dur="2000"/>
                                        <p:tgtEl>
                                          <p:spTgt spid="21"/>
                                        </p:tgtEl>
                                      </p:cBhvr>
                                    </p:animEffect>
                                  </p:childTnLst>
                                </p:cTn>
                              </p:par>
                              <p:par>
                                <p:cTn id="11" presetID="4" presetClass="entr" presetSubtype="16"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box(in)">
                                      <p:cBhvr>
                                        <p:cTn id="13" dur="2000"/>
                                        <p:tgtEl>
                                          <p:spTgt spid="22"/>
                                        </p:tgtEl>
                                      </p:cBhvr>
                                    </p:animEffect>
                                  </p:childTnLst>
                                </p:cTn>
                              </p:par>
                              <p:par>
                                <p:cTn id="14" presetID="4" presetClass="entr" presetSubtype="16" fill="hold" nodeType="withEffect">
                                  <p:stCondLst>
                                    <p:cond delay="0"/>
                                  </p:stCondLst>
                                  <p:childTnLst>
                                    <p:set>
                                      <p:cBhvr>
                                        <p:cTn id="15" dur="1" fill="hold">
                                          <p:stCondLst>
                                            <p:cond delay="0"/>
                                          </p:stCondLst>
                                        </p:cTn>
                                        <p:tgtEl>
                                          <p:spTgt spid="23"/>
                                        </p:tgtEl>
                                        <p:attrNameLst>
                                          <p:attrName>style.visibility</p:attrName>
                                        </p:attrNameLst>
                                      </p:cBhvr>
                                      <p:to>
                                        <p:strVal val="visible"/>
                                      </p:to>
                                    </p:set>
                                    <p:animEffect transition="in" filter="box(in)">
                                      <p:cBhvr>
                                        <p:cTn id="16" dur="2000"/>
                                        <p:tgtEl>
                                          <p:spTgt spid="23"/>
                                        </p:tgtEl>
                                      </p:cBhvr>
                                    </p:animEffect>
                                  </p:childTnLst>
                                </p:cTn>
                              </p:par>
                              <p:par>
                                <p:cTn id="17" presetID="4" presetClass="entr" presetSubtype="16" fill="hold" nodeType="withEffect">
                                  <p:stCondLst>
                                    <p:cond delay="0"/>
                                  </p:stCondLst>
                                  <p:childTnLst>
                                    <p:set>
                                      <p:cBhvr>
                                        <p:cTn id="18" dur="1" fill="hold">
                                          <p:stCondLst>
                                            <p:cond delay="0"/>
                                          </p:stCondLst>
                                        </p:cTn>
                                        <p:tgtEl>
                                          <p:spTgt spid="24"/>
                                        </p:tgtEl>
                                        <p:attrNameLst>
                                          <p:attrName>style.visibility</p:attrName>
                                        </p:attrNameLst>
                                      </p:cBhvr>
                                      <p:to>
                                        <p:strVal val="visible"/>
                                      </p:to>
                                    </p:set>
                                    <p:animEffect transition="in" filter="box(in)">
                                      <p:cBhvr>
                                        <p:cTn id="19" dur="2000"/>
                                        <p:tgtEl>
                                          <p:spTgt spid="24"/>
                                        </p:tgtEl>
                                      </p:cBhvr>
                                    </p:animEffect>
                                  </p:childTnLst>
                                </p:cTn>
                              </p:par>
                              <p:par>
                                <p:cTn id="20" presetID="4" presetClass="entr" presetSubtype="16" fill="hold" nodeType="with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box(in)">
                                      <p:cBhvr>
                                        <p:cTn id="22" dur="2000"/>
                                        <p:tgtEl>
                                          <p:spTgt spid="25"/>
                                        </p:tgtEl>
                                      </p:cBhvr>
                                    </p:animEffect>
                                  </p:childTnLst>
                                </p:cTn>
                              </p:par>
                              <p:par>
                                <p:cTn id="23" presetID="4" presetClass="entr" presetSubtype="16"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animEffect transition="in" filter="box(in)">
                                      <p:cBhvr>
                                        <p:cTn id="25" dur="2000"/>
                                        <p:tgtEl>
                                          <p:spTgt spid="26"/>
                                        </p:tgtEl>
                                      </p:cBhvr>
                                    </p:animEffect>
                                  </p:childTnLst>
                                </p:cTn>
                              </p:par>
                              <p:par>
                                <p:cTn id="26" presetID="4" presetClass="entr" presetSubtype="16" fill="hold" nodeType="withEffect">
                                  <p:stCondLst>
                                    <p:cond delay="0"/>
                                  </p:stCondLst>
                                  <p:childTnLst>
                                    <p:set>
                                      <p:cBhvr>
                                        <p:cTn id="27" dur="1" fill="hold">
                                          <p:stCondLst>
                                            <p:cond delay="0"/>
                                          </p:stCondLst>
                                        </p:cTn>
                                        <p:tgtEl>
                                          <p:spTgt spid="31"/>
                                        </p:tgtEl>
                                        <p:attrNameLst>
                                          <p:attrName>style.visibility</p:attrName>
                                        </p:attrNameLst>
                                      </p:cBhvr>
                                      <p:to>
                                        <p:strVal val="visible"/>
                                      </p:to>
                                    </p:set>
                                    <p:animEffect transition="in" filter="box(in)">
                                      <p:cBhvr>
                                        <p:cTn id="28" dur="2000"/>
                                        <p:tgtEl>
                                          <p:spTgt spid="31"/>
                                        </p:tgtEl>
                                      </p:cBhvr>
                                    </p:animEffect>
                                  </p:childTnLst>
                                </p:cTn>
                              </p:par>
                              <p:par>
                                <p:cTn id="29" presetID="4" presetClass="entr" presetSubtype="16" fill="hold"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box(in)">
                                      <p:cBhvr>
                                        <p:cTn id="31" dur="2000"/>
                                        <p:tgtEl>
                                          <p:spTgt spid="32"/>
                                        </p:tgtEl>
                                      </p:cBhvr>
                                    </p:animEffect>
                                  </p:childTnLst>
                                </p:cTn>
                              </p:par>
                              <p:par>
                                <p:cTn id="32" presetID="4" presetClass="entr" presetSubtype="16"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box(in)">
                                      <p:cBhvr>
                                        <p:cTn id="34" dur="2000"/>
                                        <p:tgtEl>
                                          <p:spTgt spid="11"/>
                                        </p:tgtEl>
                                      </p:cBhvr>
                                    </p:animEffect>
                                  </p:childTnLst>
                                </p:cTn>
                              </p:par>
                              <p:par>
                                <p:cTn id="35" presetID="4" presetClass="entr" presetSubtype="16"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box(in)">
                                      <p:cBhvr>
                                        <p:cTn id="37" dur="2000"/>
                                        <p:tgtEl>
                                          <p:spTgt spid="19"/>
                                        </p:tgtEl>
                                      </p:cBhvr>
                                    </p:animEffect>
                                  </p:childTnLst>
                                </p:cTn>
                              </p:par>
                              <p:par>
                                <p:cTn id="38" presetID="4" presetClass="entr" presetSubtype="16"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box(in)">
                                      <p:cBhvr>
                                        <p:cTn id="40" dur="2000"/>
                                        <p:tgtEl>
                                          <p:spTgt spid="20"/>
                                        </p:tgtEl>
                                      </p:cBhvr>
                                    </p:animEffect>
                                  </p:childTnLst>
                                </p:cTn>
                              </p:par>
                              <p:par>
                                <p:cTn id="41" presetID="4" presetClass="entr" presetSubtype="16"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box(in)">
                                      <p:cBhvr>
                                        <p:cTn id="43" dur="2000"/>
                                        <p:tgtEl>
                                          <p:spTgt spid="27"/>
                                        </p:tgtEl>
                                      </p:cBhvr>
                                    </p:animEffect>
                                  </p:childTnLst>
                                </p:cTn>
                              </p:par>
                              <p:par>
                                <p:cTn id="44" presetID="4" presetClass="entr" presetSubtype="16"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box(in)">
                                      <p:cBhvr>
                                        <p:cTn id="46" dur="2000"/>
                                        <p:tgtEl>
                                          <p:spTgt spid="28"/>
                                        </p:tgtEl>
                                      </p:cBhvr>
                                    </p:animEffect>
                                  </p:childTnLst>
                                </p:cTn>
                              </p:par>
                              <p:par>
                                <p:cTn id="47" presetID="4" presetClass="entr" presetSubtype="16" fill="hold" grpId="0" nodeType="withEffect">
                                  <p:stCondLst>
                                    <p:cond delay="0"/>
                                  </p:stCondLst>
                                  <p:childTnLst>
                                    <p:set>
                                      <p:cBhvr>
                                        <p:cTn id="48" dur="1" fill="hold">
                                          <p:stCondLst>
                                            <p:cond delay="0"/>
                                          </p:stCondLst>
                                        </p:cTn>
                                        <p:tgtEl>
                                          <p:spTgt spid="33"/>
                                        </p:tgtEl>
                                        <p:attrNameLst>
                                          <p:attrName>style.visibility</p:attrName>
                                        </p:attrNameLst>
                                      </p:cBhvr>
                                      <p:to>
                                        <p:strVal val="visible"/>
                                      </p:to>
                                    </p:set>
                                    <p:animEffect transition="in" filter="box(in)">
                                      <p:cBhvr>
                                        <p:cTn id="49" dur="2000"/>
                                        <p:tgtEl>
                                          <p:spTgt spid="33"/>
                                        </p:tgtEl>
                                      </p:cBhvr>
                                    </p:animEffect>
                                  </p:childTnLst>
                                </p:cTn>
                              </p:par>
                              <p:par>
                                <p:cTn id="50" presetID="4" presetClass="entr" presetSubtype="16" fill="hold" grpId="0" nodeType="with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box(in)">
                                      <p:cBhvr>
                                        <p:cTn id="52" dur="2000"/>
                                        <p:tgtEl>
                                          <p:spTgt spid="34"/>
                                        </p:tgtEl>
                                      </p:cBhvr>
                                    </p:animEffect>
                                  </p:childTnLst>
                                </p:cTn>
                              </p:par>
                              <p:par>
                                <p:cTn id="53" presetID="4" presetClass="entr" presetSubtype="16" fill="hold" grpId="0" nodeType="withEffect">
                                  <p:stCondLst>
                                    <p:cond delay="0"/>
                                  </p:stCondLst>
                                  <p:childTnLst>
                                    <p:set>
                                      <p:cBhvr>
                                        <p:cTn id="54" dur="1" fill="hold">
                                          <p:stCondLst>
                                            <p:cond delay="0"/>
                                          </p:stCondLst>
                                        </p:cTn>
                                        <p:tgtEl>
                                          <p:spTgt spid="35"/>
                                        </p:tgtEl>
                                        <p:attrNameLst>
                                          <p:attrName>style.visibility</p:attrName>
                                        </p:attrNameLst>
                                      </p:cBhvr>
                                      <p:to>
                                        <p:strVal val="visible"/>
                                      </p:to>
                                    </p:set>
                                    <p:animEffect transition="in" filter="box(in)">
                                      <p:cBhvr>
                                        <p:cTn id="55" dur="2000"/>
                                        <p:tgtEl>
                                          <p:spTgt spid="35"/>
                                        </p:tgtEl>
                                      </p:cBhvr>
                                    </p:animEffect>
                                  </p:childTnLst>
                                </p:cTn>
                              </p:par>
                              <p:par>
                                <p:cTn id="56" presetID="4" presetClass="entr" presetSubtype="16" fill="hold" grpId="0" nodeType="withEffect">
                                  <p:stCondLst>
                                    <p:cond delay="0"/>
                                  </p:stCondLst>
                                  <p:childTnLst>
                                    <p:set>
                                      <p:cBhvr>
                                        <p:cTn id="57" dur="1" fill="hold">
                                          <p:stCondLst>
                                            <p:cond delay="0"/>
                                          </p:stCondLst>
                                        </p:cTn>
                                        <p:tgtEl>
                                          <p:spTgt spid="36"/>
                                        </p:tgtEl>
                                        <p:attrNameLst>
                                          <p:attrName>style.visibility</p:attrName>
                                        </p:attrNameLst>
                                      </p:cBhvr>
                                      <p:to>
                                        <p:strVal val="visible"/>
                                      </p:to>
                                    </p:set>
                                    <p:animEffect transition="in" filter="box(in)">
                                      <p:cBhvr>
                                        <p:cTn id="58" dur="2000"/>
                                        <p:tgtEl>
                                          <p:spTgt spid="36"/>
                                        </p:tgtEl>
                                      </p:cBhvr>
                                    </p:animEffect>
                                  </p:childTnLst>
                                </p:cTn>
                              </p:par>
                              <p:par>
                                <p:cTn id="59" presetID="4" presetClass="entr" presetSubtype="16" fill="hold" grpId="0" nodeType="withEffect">
                                  <p:stCondLst>
                                    <p:cond delay="0"/>
                                  </p:stCondLst>
                                  <p:childTnLst>
                                    <p:set>
                                      <p:cBhvr>
                                        <p:cTn id="60" dur="1" fill="hold">
                                          <p:stCondLst>
                                            <p:cond delay="0"/>
                                          </p:stCondLst>
                                        </p:cTn>
                                        <p:tgtEl>
                                          <p:spTgt spid="37"/>
                                        </p:tgtEl>
                                        <p:attrNameLst>
                                          <p:attrName>style.visibility</p:attrName>
                                        </p:attrNameLst>
                                      </p:cBhvr>
                                      <p:to>
                                        <p:strVal val="visible"/>
                                      </p:to>
                                    </p:set>
                                    <p:animEffect transition="in" filter="box(in)">
                                      <p:cBhvr>
                                        <p:cTn id="61" dur="2000"/>
                                        <p:tgtEl>
                                          <p:spTgt spid="37"/>
                                        </p:tgtEl>
                                      </p:cBhvr>
                                    </p:animEffect>
                                  </p:childTnLst>
                                </p:cTn>
                              </p:par>
                              <p:par>
                                <p:cTn id="62" presetID="4" presetClass="entr" presetSubtype="16" fill="hold" grpId="0" nodeType="withEffect">
                                  <p:stCondLst>
                                    <p:cond delay="0"/>
                                  </p:stCondLst>
                                  <p:childTnLst>
                                    <p:set>
                                      <p:cBhvr>
                                        <p:cTn id="63" dur="1" fill="hold">
                                          <p:stCondLst>
                                            <p:cond delay="0"/>
                                          </p:stCondLst>
                                        </p:cTn>
                                        <p:tgtEl>
                                          <p:spTgt spid="43"/>
                                        </p:tgtEl>
                                        <p:attrNameLst>
                                          <p:attrName>style.visibility</p:attrName>
                                        </p:attrNameLst>
                                      </p:cBhvr>
                                      <p:to>
                                        <p:strVal val="visible"/>
                                      </p:to>
                                    </p:set>
                                    <p:animEffect transition="in" filter="box(in)">
                                      <p:cBhvr>
                                        <p:cTn id="64" dur="2000"/>
                                        <p:tgtEl>
                                          <p:spTgt spid="43"/>
                                        </p:tgtEl>
                                      </p:cBhvr>
                                    </p:animEffect>
                                  </p:childTnLst>
                                </p:cTn>
                              </p:par>
                              <p:par>
                                <p:cTn id="65" presetID="4" presetClass="entr" presetSubtype="16" fill="hold" grpId="0" nodeType="withEffect">
                                  <p:stCondLst>
                                    <p:cond delay="0"/>
                                  </p:stCondLst>
                                  <p:childTnLst>
                                    <p:set>
                                      <p:cBhvr>
                                        <p:cTn id="66" dur="1" fill="hold">
                                          <p:stCondLst>
                                            <p:cond delay="0"/>
                                          </p:stCondLst>
                                        </p:cTn>
                                        <p:tgtEl>
                                          <p:spTgt spid="44"/>
                                        </p:tgtEl>
                                        <p:attrNameLst>
                                          <p:attrName>style.visibility</p:attrName>
                                        </p:attrNameLst>
                                      </p:cBhvr>
                                      <p:to>
                                        <p:strVal val="visible"/>
                                      </p:to>
                                    </p:set>
                                    <p:animEffect transition="in" filter="box(in)">
                                      <p:cBhvr>
                                        <p:cTn id="67" dur="2000"/>
                                        <p:tgtEl>
                                          <p:spTgt spid="44"/>
                                        </p:tgtEl>
                                      </p:cBhvr>
                                    </p:animEffect>
                                  </p:childTnLst>
                                </p:cTn>
                              </p:par>
                              <p:par>
                                <p:cTn id="68" presetID="4" presetClass="entr" presetSubtype="16" fill="hold" grpId="0" nodeType="withEffect">
                                  <p:stCondLst>
                                    <p:cond delay="0"/>
                                  </p:stCondLst>
                                  <p:childTnLst>
                                    <p:set>
                                      <p:cBhvr>
                                        <p:cTn id="69" dur="1" fill="hold">
                                          <p:stCondLst>
                                            <p:cond delay="0"/>
                                          </p:stCondLst>
                                        </p:cTn>
                                        <p:tgtEl>
                                          <p:spTgt spid="5"/>
                                        </p:tgtEl>
                                        <p:attrNameLst>
                                          <p:attrName>style.visibility</p:attrName>
                                        </p:attrNameLst>
                                      </p:cBhvr>
                                      <p:to>
                                        <p:strVal val="visible"/>
                                      </p:to>
                                    </p:set>
                                    <p:animEffect transition="in" filter="box(in)">
                                      <p:cBhvr>
                                        <p:cTn id="70" dur="2000"/>
                                        <p:tgtEl>
                                          <p:spTgt spid="5"/>
                                        </p:tgtEl>
                                      </p:cBhvr>
                                    </p:animEffect>
                                  </p:childTnLst>
                                </p:cTn>
                              </p:par>
                              <p:par>
                                <p:cTn id="71" presetID="4" presetClass="entr" presetSubtype="16" fill="hold" grpId="0" nodeType="withEffect">
                                  <p:stCondLst>
                                    <p:cond delay="0"/>
                                  </p:stCondLst>
                                  <p:childTnLst>
                                    <p:set>
                                      <p:cBhvr>
                                        <p:cTn id="72" dur="1" fill="hold">
                                          <p:stCondLst>
                                            <p:cond delay="0"/>
                                          </p:stCondLst>
                                        </p:cTn>
                                        <p:tgtEl>
                                          <p:spTgt spid="6"/>
                                        </p:tgtEl>
                                        <p:attrNameLst>
                                          <p:attrName>style.visibility</p:attrName>
                                        </p:attrNameLst>
                                      </p:cBhvr>
                                      <p:to>
                                        <p:strVal val="visible"/>
                                      </p:to>
                                    </p:set>
                                    <p:animEffect transition="in" filter="box(in)">
                                      <p:cBhvr>
                                        <p:cTn id="73" dur="2000"/>
                                        <p:tgtEl>
                                          <p:spTgt spid="6"/>
                                        </p:tgtEl>
                                      </p:cBhvr>
                                    </p:animEffect>
                                  </p:childTnLst>
                                </p:cTn>
                              </p:par>
                              <p:par>
                                <p:cTn id="74" presetID="4" presetClass="entr" presetSubtype="16" fill="hold" grpId="0" nodeType="withEffect">
                                  <p:stCondLst>
                                    <p:cond delay="0"/>
                                  </p:stCondLst>
                                  <p:childTnLst>
                                    <p:set>
                                      <p:cBhvr>
                                        <p:cTn id="75" dur="1" fill="hold">
                                          <p:stCondLst>
                                            <p:cond delay="0"/>
                                          </p:stCondLst>
                                        </p:cTn>
                                        <p:tgtEl>
                                          <p:spTgt spid="8"/>
                                        </p:tgtEl>
                                        <p:attrNameLst>
                                          <p:attrName>style.visibility</p:attrName>
                                        </p:attrNameLst>
                                      </p:cBhvr>
                                      <p:to>
                                        <p:strVal val="visible"/>
                                      </p:to>
                                    </p:set>
                                    <p:animEffect transition="in" filter="box(in)">
                                      <p:cBhvr>
                                        <p:cTn id="76" dur="2000"/>
                                        <p:tgtEl>
                                          <p:spTgt spid="8"/>
                                        </p:tgtEl>
                                      </p:cBhvr>
                                    </p:animEffect>
                                  </p:childTnLst>
                                </p:cTn>
                              </p:par>
                              <p:par>
                                <p:cTn id="77" presetID="4" presetClass="entr" presetSubtype="16" fill="hold" grpId="0" nodeType="withEffect">
                                  <p:stCondLst>
                                    <p:cond delay="0"/>
                                  </p:stCondLst>
                                  <p:childTnLst>
                                    <p:set>
                                      <p:cBhvr>
                                        <p:cTn id="78" dur="1" fill="hold">
                                          <p:stCondLst>
                                            <p:cond delay="0"/>
                                          </p:stCondLst>
                                        </p:cTn>
                                        <p:tgtEl>
                                          <p:spTgt spid="9"/>
                                        </p:tgtEl>
                                        <p:attrNameLst>
                                          <p:attrName>style.visibility</p:attrName>
                                        </p:attrNameLst>
                                      </p:cBhvr>
                                      <p:to>
                                        <p:strVal val="visible"/>
                                      </p:to>
                                    </p:set>
                                    <p:animEffect transition="in" filter="box(in)">
                                      <p:cBhvr>
                                        <p:cTn id="79" dur="2000"/>
                                        <p:tgtEl>
                                          <p:spTgt spid="9"/>
                                        </p:tgtEl>
                                      </p:cBhvr>
                                    </p:animEffect>
                                  </p:childTnLst>
                                </p:cTn>
                              </p:par>
                              <p:par>
                                <p:cTn id="80" presetID="4" presetClass="entr" presetSubtype="16" fill="hold" grpId="0" nodeType="withEffect">
                                  <p:stCondLst>
                                    <p:cond delay="0"/>
                                  </p:stCondLst>
                                  <p:childTnLst>
                                    <p:set>
                                      <p:cBhvr>
                                        <p:cTn id="81" dur="1" fill="hold">
                                          <p:stCondLst>
                                            <p:cond delay="0"/>
                                          </p:stCondLst>
                                        </p:cTn>
                                        <p:tgtEl>
                                          <p:spTgt spid="10"/>
                                        </p:tgtEl>
                                        <p:attrNameLst>
                                          <p:attrName>style.visibility</p:attrName>
                                        </p:attrNameLst>
                                      </p:cBhvr>
                                      <p:to>
                                        <p:strVal val="visible"/>
                                      </p:to>
                                    </p:set>
                                    <p:animEffect transition="in" filter="box(in)">
                                      <p:cBhvr>
                                        <p:cTn id="82" dur="20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bldLvl="0" animBg="1"/>
      <p:bldP spid="4" grpId="1" animBg="1"/>
      <p:bldP spid="5" grpId="0" animBg="1"/>
      <p:bldP spid="5" grpId="1"/>
      <p:bldP spid="11" grpId="0" bldLvl="0" animBg="1"/>
      <p:bldP spid="11" grpId="1" animBg="1"/>
      <p:bldP spid="19" grpId="0" bldLvl="0" animBg="1"/>
      <p:bldP spid="19" grpId="1" animBg="1"/>
      <p:bldP spid="20" grpId="0" bldLvl="0" animBg="1"/>
      <p:bldP spid="20" grpId="1" animBg="1"/>
      <p:bldP spid="27" grpId="0" bldLvl="0" animBg="1"/>
      <p:bldP spid="27" grpId="1" animBg="1"/>
      <p:bldP spid="28" grpId="0" bldLvl="0" animBg="1"/>
      <p:bldP spid="28" grpId="1" animBg="1"/>
      <p:bldP spid="33" grpId="0" bldLvl="0" animBg="1"/>
      <p:bldP spid="33" grpId="1" animBg="1"/>
      <p:bldP spid="34" grpId="0" bldLvl="0" animBg="1"/>
      <p:bldP spid="34" grpId="1" animBg="1"/>
      <p:bldP spid="35" grpId="0" bldLvl="0" animBg="1"/>
      <p:bldP spid="35" grpId="1" animBg="1"/>
      <p:bldP spid="36" grpId="0"/>
      <p:bldP spid="36" grpId="1"/>
      <p:bldP spid="37" grpId="0"/>
      <p:bldP spid="37" grpId="1"/>
      <p:bldP spid="43" grpId="0"/>
      <p:bldP spid="43" grpId="1"/>
      <p:bldP spid="44" grpId="0"/>
      <p:bldP spid="44" grpId="1"/>
      <p:bldP spid="6" grpId="0"/>
      <p:bldP spid="6" grpId="1"/>
      <p:bldP spid="8" grpId="0"/>
      <p:bldP spid="8" grpId="1"/>
      <p:bldP spid="9" grpId="0"/>
      <p:bldP spid="9" grpId="1"/>
      <p:bldP spid="10" grpId="0"/>
      <p:bldP spid="10" grpId="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框 1"/>
          <p:cNvSpPr txBox="1"/>
          <p:nvPr/>
        </p:nvSpPr>
        <p:spPr>
          <a:xfrm>
            <a:off x="179705" y="764540"/>
            <a:ext cx="3679190" cy="447040"/>
          </a:xfrm>
          <a:prstGeom prst="rect">
            <a:avLst/>
          </a:prstGeom>
          <a:noFill/>
        </p:spPr>
        <p:txBody>
          <a:bodyPr wrap="square" rtlCol="0" anchor="t">
            <a:noAutofit/>
          </a:bodyPr>
          <a:lstStyle/>
          <a:p>
            <a:pPr>
              <a:lnSpc>
                <a:spcPct val="120000"/>
              </a:lnSpc>
              <a:buNone/>
            </a:pPr>
            <a:r>
              <a:rPr lang="en-US" altLang="zh-CN" sz="2400" b="1" kern="0" dirty="0">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latin typeface="Times New Roman" panose="02020603050405020304" pitchFamily="18" charset="0"/>
              <a:cs typeface="Times New Roman" panose="02020603050405020304" pitchFamily="18" charset="0"/>
              <a:sym typeface="+mn-ea"/>
            </a:endParaRPr>
          </a:p>
        </p:txBody>
      </p:sp>
      <p:sp>
        <p:nvSpPr>
          <p:cNvPr id="3" name="文本框 2"/>
          <p:cNvSpPr txBox="1"/>
          <p:nvPr/>
        </p:nvSpPr>
        <p:spPr>
          <a:xfrm>
            <a:off x="467995" y="1513205"/>
            <a:ext cx="8458200" cy="608965"/>
          </a:xfrm>
          <a:prstGeom prst="rect">
            <a:avLst/>
          </a:prstGeom>
        </p:spPr>
        <p:txBody>
          <a:bodyPr>
            <a:noAutofit/>
          </a:bodyPr>
          <a:lstStyle/>
          <a:p>
            <a:pPr marL="0" indent="0"/>
            <a:r>
              <a:rPr lang="zh-CN" altLang="en-US" sz="1600" b="0" i="0">
                <a:solidFill>
                  <a:srgbClr val="262626"/>
                </a:solidFill>
                <a:latin typeface="-apple-system"/>
                <a:ea typeface="-apple-system"/>
              </a:rPr>
              <a:t>问题：</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现在青蛙位于一个</a:t>
            </a:r>
            <a:r>
              <a:rPr lang="en-US" altLang="zh-CN" sz="1600" b="0" i="0">
                <a:solidFill>
                  <a:srgbClr val="262626"/>
                </a:solidFill>
                <a:latin typeface="Times New Roman" panose="02020603050405020304" pitchFamily="18" charset="0"/>
                <a:ea typeface="-apple-system"/>
                <a:cs typeface="Times New Roman" panose="02020603050405020304" pitchFamily="18" charset="0"/>
              </a:rPr>
              <a:t>m</a:t>
            </a:r>
            <a:r>
              <a:rPr lang="en-US" altLang="en-US" sz="1600" b="0" i="0">
                <a:solidFill>
                  <a:srgbClr val="262626"/>
                </a:solidFill>
                <a:latin typeface="Times New Roman" panose="02020603050405020304" pitchFamily="18" charset="0"/>
                <a:ea typeface="-apple-system"/>
                <a:cs typeface="Times New Roman" panose="02020603050405020304" pitchFamily="18" charset="0"/>
              </a:rPr>
              <a:t>×</a:t>
            </a:r>
            <a:r>
              <a:rPr lang="en-US" altLang="zh-CN" sz="1600" b="0" i="0">
                <a:solidFill>
                  <a:srgbClr val="262626"/>
                </a:solidFill>
                <a:latin typeface="Times New Roman" panose="02020603050405020304" pitchFamily="18" charset="0"/>
                <a:ea typeface="-apple-system"/>
                <a:cs typeface="Times New Roman" panose="02020603050405020304" pitchFamily="18" charset="0"/>
              </a:rPr>
              <a:t>n</a:t>
            </a:r>
            <a:r>
              <a:rPr lang="zh-CN" altLang="en-US" sz="1600" b="0" i="0">
                <a:solidFill>
                  <a:srgbClr val="262626"/>
                </a:solidFill>
                <a:latin typeface="Times New Roman" panose="02020603050405020304" pitchFamily="18" charset="0"/>
                <a:ea typeface="-apple-system"/>
                <a:cs typeface="Times New Roman" panose="02020603050405020304" pitchFamily="18" charset="0"/>
              </a:rPr>
              <a:t>的网格左上角，青蛙每次只能向下或者向右移动一步。青蛙试图到达网格右下角。问总共由多少条不同的路径到达终点？</a:t>
            </a:r>
            <a:endParaRPr lang="zh-CN" altLang="en-US" sz="1600" b="0" i="0">
              <a:solidFill>
                <a:srgbClr val="262626"/>
              </a:solidFill>
              <a:latin typeface="Times New Roman" panose="02020603050405020304" pitchFamily="18" charset="0"/>
              <a:ea typeface="-apple-system"/>
              <a:cs typeface="Times New Roman" panose="02020603050405020304" pitchFamily="18" charset="0"/>
            </a:endParaRPr>
          </a:p>
        </p:txBody>
      </p:sp>
      <p:sp>
        <p:nvSpPr>
          <p:cNvPr id="13" name="文本框 12"/>
          <p:cNvSpPr txBox="1"/>
          <p:nvPr/>
        </p:nvSpPr>
        <p:spPr>
          <a:xfrm>
            <a:off x="467995" y="2493010"/>
            <a:ext cx="4345305" cy="353060"/>
          </a:xfrm>
          <a:prstGeom prst="rect">
            <a:avLst/>
          </a:prstGeom>
          <a:noFill/>
        </p:spPr>
        <p:txBody>
          <a:bodyPr wrap="square" rtlCol="0">
            <a:noAutofit/>
          </a:bodyPr>
          <a:lstStyle/>
          <a:p>
            <a:r>
              <a:rPr lang="zh-CN" altLang="en-US">
                <a:solidFill>
                  <a:srgbClr val="FF0000"/>
                </a:solidFill>
              </a:rPr>
              <a:t>状态转移方程：</a:t>
            </a:r>
            <a:r>
              <a:rPr lang="en-US" altLang="zh-CN">
                <a:solidFill>
                  <a:srgbClr val="FF0000"/>
                </a:solidFill>
                <a:latin typeface="Times New Roman" panose="02020603050405020304" pitchFamily="18" charset="0"/>
                <a:cs typeface="Times New Roman" panose="02020603050405020304" pitchFamily="18" charset="0"/>
              </a:rPr>
              <a:t>F(i,j)=F(i-1,j)+F(i,j-1)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72" name="文本框 71"/>
          <p:cNvSpPr txBox="1"/>
          <p:nvPr/>
        </p:nvSpPr>
        <p:spPr>
          <a:xfrm>
            <a:off x="487045" y="3357245"/>
            <a:ext cx="8049260" cy="376555"/>
          </a:xfrm>
          <a:prstGeom prst="rect">
            <a:avLst/>
          </a:prstGeom>
          <a:noFill/>
        </p:spPr>
        <p:txBody>
          <a:bodyPr wrap="square" rtlCol="0">
            <a:noAutofit/>
          </a:bodyPr>
          <a:lstStyle/>
          <a:p>
            <a:r>
              <a:rPr lang="zh-CN" altLang="en-US"/>
              <a:t>状态转移方程有两个变量，用二维表表示状态。</a:t>
            </a:r>
            <a:endParaRPr lang="zh-CN" altLang="en-US"/>
          </a:p>
        </p:txBody>
      </p:sp>
      <p:cxnSp>
        <p:nvCxnSpPr>
          <p:cNvPr id="73" name="直接箭头连接符 72"/>
          <p:cNvCxnSpPr/>
          <p:nvPr/>
        </p:nvCxnSpPr>
        <p:spPr>
          <a:xfrm flipV="1">
            <a:off x="2339975" y="2925445"/>
            <a:ext cx="8255" cy="431800"/>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cxnSp>
        <p:nvCxnSpPr>
          <p:cNvPr id="15" name="直接箭头连接符 14"/>
          <p:cNvCxnSpPr/>
          <p:nvPr/>
        </p:nvCxnSpPr>
        <p:spPr>
          <a:xfrm flipV="1">
            <a:off x="2339975" y="2781300"/>
            <a:ext cx="935990" cy="575945"/>
          </a:xfrm>
          <a:prstGeom prst="straightConnector1">
            <a:avLst/>
          </a:prstGeom>
          <a:solidFill>
            <a:schemeClr val="accent1"/>
          </a:solidFill>
          <a:ln w="9525" cap="flat" cmpd="sng" algn="ctr">
            <a:solidFill>
              <a:schemeClr val="tx1"/>
            </a:solidFill>
            <a:prstDash val="solid"/>
            <a:round/>
            <a:headEnd type="none" w="med" len="med"/>
            <a:tailEnd type="arrow" w="med" len="med"/>
          </a:ln>
        </p:spPr>
      </p:cxnSp>
      <p:graphicFrame>
        <p:nvGraphicFramePr>
          <p:cNvPr id="17" name="表格 16"/>
          <p:cNvGraphicFramePr/>
          <p:nvPr/>
        </p:nvGraphicFramePr>
        <p:xfrm>
          <a:off x="544830" y="4478655"/>
          <a:ext cx="6396990" cy="1935480"/>
        </p:xfrm>
        <a:graphic>
          <a:graphicData uri="http://schemas.openxmlformats.org/drawingml/2006/table">
            <a:tbl>
              <a:tblPr firstRow="1" bandRow="1">
                <a:tableStyleId>{5C22544A-7EE6-4342-B048-85BDC9FD1C3A}</a:tableStyleId>
              </a:tblPr>
              <a:tblGrid>
                <a:gridCol w="1066165"/>
                <a:gridCol w="1066165"/>
                <a:gridCol w="1066165"/>
                <a:gridCol w="1066165"/>
                <a:gridCol w="1066165"/>
                <a:gridCol w="1066165"/>
              </a:tblGrid>
              <a:tr h="41148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r h="381000">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solidFill>
                      <a:srgbClr val="FFFF00"/>
                    </a:solid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c>
                  <a:txBody>
                    <a:bodyPr/>
                    <a:lstStyle/>
                    <a:p>
                      <a:pPr>
                        <a:buNone/>
                      </a:pPr>
                      <a:endParaRPr lang="zh-CN" altLang="en-US"/>
                    </a:p>
                  </a:txBody>
                  <a:tcPr>
                    <a:lnL w="12700" cmpd="sng">
                      <a:solidFill>
                        <a:schemeClr val="tx1"/>
                      </a:solidFill>
                      <a:prstDash val="solid"/>
                    </a:lnL>
                    <a:lnR w="12700" cmpd="sng">
                      <a:solidFill>
                        <a:schemeClr val="tx1"/>
                      </a:solidFill>
                      <a:prstDash val="solid"/>
                    </a:lnR>
                    <a:lnT w="12700" cmpd="sng">
                      <a:solidFill>
                        <a:schemeClr val="tx1"/>
                      </a:solidFill>
                      <a:prstDash val="solid"/>
                    </a:lnT>
                    <a:lnB w="12700" cmpd="sng">
                      <a:solidFill>
                        <a:schemeClr val="tx1"/>
                      </a:solidFill>
                      <a:prstDash val="solid"/>
                    </a:lnB>
                    <a:noFill/>
                  </a:tcPr>
                </a:tc>
              </a:tr>
            </a:tbl>
          </a:graphicData>
        </a:graphic>
      </p:graphicFrame>
      <p:sp>
        <p:nvSpPr>
          <p:cNvPr id="18" name="五角星 17"/>
          <p:cNvSpPr/>
          <p:nvPr/>
        </p:nvSpPr>
        <p:spPr>
          <a:xfrm>
            <a:off x="899795" y="4471035"/>
            <a:ext cx="360045" cy="360045"/>
          </a:xfrm>
          <a:prstGeom prst="star5">
            <a:avLst/>
          </a:prstGeom>
          <a:solidFill>
            <a:srgbClr val="FF0000"/>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29" name="文本框 28"/>
          <p:cNvSpPr txBox="1"/>
          <p:nvPr/>
        </p:nvSpPr>
        <p:spPr>
          <a:xfrm>
            <a:off x="506095" y="3954145"/>
            <a:ext cx="5071110" cy="368300"/>
          </a:xfrm>
          <a:prstGeom prst="rect">
            <a:avLst/>
          </a:prstGeom>
          <a:noFill/>
        </p:spPr>
        <p:txBody>
          <a:bodyPr wrap="square" rtlCol="0">
            <a:spAutoFit/>
          </a:bodyPr>
          <a:lstStyle/>
          <a:p>
            <a:r>
              <a:rPr lang="zh-CN" altLang="en-US"/>
              <a:t>那么黄色的边界如何初始化？</a:t>
            </a:r>
            <a:endParaRPr lang="zh-CN" altLang="en-US"/>
          </a:p>
        </p:txBody>
      </p:sp>
      <p:sp>
        <p:nvSpPr>
          <p:cNvPr id="30" name="文本框 29"/>
          <p:cNvSpPr txBox="1"/>
          <p:nvPr/>
        </p:nvSpPr>
        <p:spPr>
          <a:xfrm>
            <a:off x="1979930" y="4509135"/>
            <a:ext cx="4624070" cy="368300"/>
          </a:xfrm>
          <a:prstGeom prst="rect">
            <a:avLst/>
          </a:prstGeom>
          <a:noFill/>
        </p:spPr>
        <p:txBody>
          <a:bodyPr wrap="square" rtlCol="0">
            <a:spAutoFit/>
          </a:bodyPr>
          <a:lstStyle/>
          <a:p>
            <a:r>
              <a:rPr lang="en-US" altLang="zh-CN">
                <a:solidFill>
                  <a:srgbClr val="FF0000"/>
                </a:solidFill>
                <a:latin typeface="Times New Roman" panose="02020603050405020304" pitchFamily="18" charset="0"/>
                <a:cs typeface="Times New Roman" panose="02020603050405020304" pitchFamily="18" charset="0"/>
              </a:rPr>
              <a:t>1               1                 1                  1                1</a:t>
            </a:r>
            <a:r>
              <a:rPr lang="en-US" altLang="zh-CN">
                <a:latin typeface="Times New Roman" panose="02020603050405020304" pitchFamily="18" charset="0"/>
                <a:cs typeface="Times New Roman" panose="02020603050405020304" pitchFamily="18" charset="0"/>
              </a:rPr>
              <a:t>    </a:t>
            </a:r>
            <a:endParaRPr lang="en-US" altLang="zh-CN">
              <a:latin typeface="Times New Roman" panose="02020603050405020304" pitchFamily="18" charset="0"/>
              <a:cs typeface="Times New Roman" panose="02020603050405020304" pitchFamily="18" charset="0"/>
            </a:endParaRPr>
          </a:p>
        </p:txBody>
      </p:sp>
      <p:sp>
        <p:nvSpPr>
          <p:cNvPr id="38" name="文本框 37"/>
          <p:cNvSpPr txBox="1"/>
          <p:nvPr/>
        </p:nvSpPr>
        <p:spPr>
          <a:xfrm>
            <a:off x="899795" y="494157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39" name="文本框 38"/>
          <p:cNvSpPr txBox="1"/>
          <p:nvPr/>
        </p:nvSpPr>
        <p:spPr>
          <a:xfrm>
            <a:off x="894080" y="5328285"/>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0" name="文本框 39"/>
          <p:cNvSpPr txBox="1"/>
          <p:nvPr/>
        </p:nvSpPr>
        <p:spPr>
          <a:xfrm>
            <a:off x="899795" y="571500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
        <p:nvSpPr>
          <p:cNvPr id="41" name="文本框 40"/>
          <p:cNvSpPr txBox="1"/>
          <p:nvPr/>
        </p:nvSpPr>
        <p:spPr>
          <a:xfrm>
            <a:off x="899795" y="6054090"/>
            <a:ext cx="702310" cy="339090"/>
          </a:xfrm>
          <a:prstGeom prst="rect">
            <a:avLst/>
          </a:prstGeom>
          <a:noFill/>
        </p:spPr>
        <p:txBody>
          <a:bodyPr wrap="square" rtlCol="0">
            <a:noAutofit/>
          </a:bodyPr>
          <a:lstStyle/>
          <a:p>
            <a:r>
              <a:rPr lang="en-US" altLang="zh-CN">
                <a:solidFill>
                  <a:srgbClr val="FF0000"/>
                </a:solidFill>
                <a:latin typeface="Times New Roman" panose="02020603050405020304" pitchFamily="18" charset="0"/>
                <a:cs typeface="Times New Roman" panose="02020603050405020304" pitchFamily="18" charset="0"/>
              </a:rPr>
              <a:t>1</a:t>
            </a:r>
            <a:endParaRPr lang="en-US" altLang="zh-CN">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38"/>
                                        </p:tgtEl>
                                        <p:attrNameLst>
                                          <p:attrName>style.visibility</p:attrName>
                                        </p:attrNameLst>
                                      </p:cBhvr>
                                      <p:to>
                                        <p:strVal val="visible"/>
                                      </p:to>
                                    </p:set>
                                    <p:anim calcmode="lin" valueType="num">
                                      <p:cBhvr additive="base">
                                        <p:cTn id="7" dur="500" fill="hold"/>
                                        <p:tgtEl>
                                          <p:spTgt spid="38"/>
                                        </p:tgtEl>
                                        <p:attrNameLst>
                                          <p:attrName>ppt_x</p:attrName>
                                        </p:attrNameLst>
                                      </p:cBhvr>
                                      <p:tavLst>
                                        <p:tav tm="0">
                                          <p:val>
                                            <p:strVal val="#ppt_x"/>
                                          </p:val>
                                        </p:tav>
                                        <p:tav tm="100000">
                                          <p:val>
                                            <p:strVal val="#ppt_x"/>
                                          </p:val>
                                        </p:tav>
                                      </p:tavLst>
                                    </p:anim>
                                    <p:anim calcmode="lin" valueType="num">
                                      <p:cBhvr additive="base">
                                        <p:cTn id="8" dur="500" fill="hold"/>
                                        <p:tgtEl>
                                          <p:spTgt spid="38"/>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anim calcmode="lin" valueType="num">
                                      <p:cBhvr additive="base">
                                        <p:cTn id="11" dur="500" fill="hold"/>
                                        <p:tgtEl>
                                          <p:spTgt spid="39"/>
                                        </p:tgtEl>
                                        <p:attrNameLst>
                                          <p:attrName>ppt_x</p:attrName>
                                        </p:attrNameLst>
                                      </p:cBhvr>
                                      <p:tavLst>
                                        <p:tav tm="0">
                                          <p:val>
                                            <p:strVal val="#ppt_x"/>
                                          </p:val>
                                        </p:tav>
                                        <p:tav tm="100000">
                                          <p:val>
                                            <p:strVal val="#ppt_x"/>
                                          </p:val>
                                        </p:tav>
                                      </p:tavLst>
                                    </p:anim>
                                    <p:anim calcmode="lin" valueType="num">
                                      <p:cBhvr additive="base">
                                        <p:cTn id="12" dur="500" fill="hold"/>
                                        <p:tgtEl>
                                          <p:spTgt spid="39"/>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40"/>
                                        </p:tgtEl>
                                        <p:attrNameLst>
                                          <p:attrName>style.visibility</p:attrName>
                                        </p:attrNameLst>
                                      </p:cBhvr>
                                      <p:to>
                                        <p:strVal val="visible"/>
                                      </p:to>
                                    </p:set>
                                    <p:anim calcmode="lin" valueType="num">
                                      <p:cBhvr additive="base">
                                        <p:cTn id="15" dur="500" fill="hold"/>
                                        <p:tgtEl>
                                          <p:spTgt spid="40"/>
                                        </p:tgtEl>
                                        <p:attrNameLst>
                                          <p:attrName>ppt_x</p:attrName>
                                        </p:attrNameLst>
                                      </p:cBhvr>
                                      <p:tavLst>
                                        <p:tav tm="0">
                                          <p:val>
                                            <p:strVal val="#ppt_x"/>
                                          </p:val>
                                        </p:tav>
                                        <p:tav tm="100000">
                                          <p:val>
                                            <p:strVal val="#ppt_x"/>
                                          </p:val>
                                        </p:tav>
                                      </p:tavLst>
                                    </p:anim>
                                    <p:anim calcmode="lin" valueType="num">
                                      <p:cBhvr additive="base">
                                        <p:cTn id="16" dur="500" fill="hold"/>
                                        <p:tgtEl>
                                          <p:spTgt spid="40"/>
                                        </p:tgtEl>
                                        <p:attrNameLst>
                                          <p:attrName>ppt_y</p:attrName>
                                        </p:attrNameLst>
                                      </p:cBhvr>
                                      <p:tavLst>
                                        <p:tav tm="0">
                                          <p:val>
                                            <p:strVal val="1+#ppt_h/2"/>
                                          </p:val>
                                        </p:tav>
                                        <p:tav tm="100000">
                                          <p:val>
                                            <p:strVal val="#ppt_y"/>
                                          </p:val>
                                        </p:tav>
                                      </p:tavLst>
                                    </p:anim>
                                  </p:childTnLst>
                                </p:cTn>
                              </p:par>
                              <p:par>
                                <p:cTn id="17" presetID="2" presetClass="entr" presetSubtype="4"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 calcmode="lin" valueType="num">
                                      <p:cBhvr additive="base">
                                        <p:cTn id="19" dur="500" fill="hold"/>
                                        <p:tgtEl>
                                          <p:spTgt spid="41"/>
                                        </p:tgtEl>
                                        <p:attrNameLst>
                                          <p:attrName>ppt_x</p:attrName>
                                        </p:attrNameLst>
                                      </p:cBhvr>
                                      <p:tavLst>
                                        <p:tav tm="0">
                                          <p:val>
                                            <p:strVal val="#ppt_x"/>
                                          </p:val>
                                        </p:tav>
                                        <p:tav tm="100000">
                                          <p:val>
                                            <p:strVal val="#ppt_x"/>
                                          </p:val>
                                        </p:tav>
                                      </p:tavLst>
                                    </p:anim>
                                    <p:anim calcmode="lin" valueType="num">
                                      <p:cBhvr additive="base">
                                        <p:cTn id="20" dur="500" fill="hold"/>
                                        <p:tgtEl>
                                          <p:spTgt spid="41"/>
                                        </p:tgtEl>
                                        <p:attrNameLst>
                                          <p:attrName>ppt_y</p:attrName>
                                        </p:attrNameLst>
                                      </p:cBhvr>
                                      <p:tavLst>
                                        <p:tav tm="0">
                                          <p:val>
                                            <p:strVal val="1+#ppt_h/2"/>
                                          </p:val>
                                        </p:tav>
                                        <p:tav tm="100000">
                                          <p:val>
                                            <p:strVal val="#ppt_y"/>
                                          </p:val>
                                        </p:tav>
                                      </p:tavLst>
                                    </p:anim>
                                  </p:childTnLst>
                                </p:cTn>
                              </p:par>
                              <p:par>
                                <p:cTn id="21" presetID="2" presetClass="entr" presetSubtype="4" fill="hold" grpId="0" nodeType="withEffect">
                                  <p:stCondLst>
                                    <p:cond delay="0"/>
                                  </p:stCondLst>
                                  <p:childTnLst>
                                    <p:set>
                                      <p:cBhvr>
                                        <p:cTn id="22" dur="1" fill="hold">
                                          <p:stCondLst>
                                            <p:cond delay="0"/>
                                          </p:stCondLst>
                                        </p:cTn>
                                        <p:tgtEl>
                                          <p:spTgt spid="30"/>
                                        </p:tgtEl>
                                        <p:attrNameLst>
                                          <p:attrName>style.visibility</p:attrName>
                                        </p:attrNameLst>
                                      </p:cBhvr>
                                      <p:to>
                                        <p:strVal val="visible"/>
                                      </p:to>
                                    </p:set>
                                    <p:anim calcmode="lin" valueType="num">
                                      <p:cBhvr additive="base">
                                        <p:cTn id="23" dur="500" fill="hold"/>
                                        <p:tgtEl>
                                          <p:spTgt spid="30"/>
                                        </p:tgtEl>
                                        <p:attrNameLst>
                                          <p:attrName>ppt_x</p:attrName>
                                        </p:attrNameLst>
                                      </p:cBhvr>
                                      <p:tavLst>
                                        <p:tav tm="0">
                                          <p:val>
                                            <p:strVal val="#ppt_x"/>
                                          </p:val>
                                        </p:tav>
                                        <p:tav tm="100000">
                                          <p:val>
                                            <p:strVal val="#ppt_x"/>
                                          </p:val>
                                        </p:tav>
                                      </p:tavLst>
                                    </p:anim>
                                    <p:anim calcmode="lin" valueType="num">
                                      <p:cBhvr additive="base">
                                        <p:cTn id="24" dur="500" fill="hold"/>
                                        <p:tgtEl>
                                          <p:spTgt spid="3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0" grpId="1"/>
      <p:bldP spid="38" grpId="0"/>
      <p:bldP spid="38" grpId="1"/>
      <p:bldP spid="39" grpId="0"/>
      <p:bldP spid="39" grpId="1"/>
      <p:bldP spid="40" grpId="0"/>
      <p:bldP spid="40" grpId="1"/>
      <p:bldP spid="41" grpId="0"/>
      <p:bldP spid="41" grpId="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p:cNvSpPr txBox="1"/>
          <p:nvPr/>
        </p:nvSpPr>
        <p:spPr>
          <a:xfrm>
            <a:off x="179705" y="692785"/>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5.1.2 </a:t>
            </a:r>
            <a:r>
              <a:rPr lang="zh-CN" altLang="en-US" sz="2400" b="1" kern="0" dirty="0">
                <a:latin typeface="Times New Roman" panose="02020603050405020304" pitchFamily="18" charset="0"/>
                <a:cs typeface="Times New Roman" panose="02020603050405020304" pitchFamily="18" charset="0"/>
                <a:sym typeface="+mn-ea"/>
              </a:rPr>
              <a:t>动态规划基本步骤</a:t>
            </a:r>
            <a:endParaRPr lang="zh-CN" altLang="en-US" sz="2400" b="1" kern="0" dirty="0">
              <a:uFillTx/>
              <a:latin typeface="Times New Roman" panose="02020603050405020304" pitchFamily="18" charset="0"/>
              <a:cs typeface="Times New Roman" panose="02020603050405020304" pitchFamily="18" charset="0"/>
              <a:sym typeface="+mn-ea"/>
            </a:endParaRPr>
          </a:p>
        </p:txBody>
      </p:sp>
      <p:sp>
        <p:nvSpPr>
          <p:cNvPr id="7" name="文本框 6"/>
          <p:cNvSpPr txBox="1"/>
          <p:nvPr/>
        </p:nvSpPr>
        <p:spPr>
          <a:xfrm>
            <a:off x="251460" y="1772920"/>
            <a:ext cx="8669020" cy="2886710"/>
          </a:xfrm>
          <a:prstGeom prst="rect">
            <a:avLst/>
          </a:prstGeom>
          <a:noFill/>
        </p:spPr>
        <p:txBody>
          <a:bodyPr wrap="square" rtlCol="0">
            <a:noAutofit/>
          </a:bodyPr>
          <a:lstStyle/>
          <a:p>
            <a:r>
              <a:rPr lang="zh-CN" altLang="en-US">
                <a:solidFill>
                  <a:schemeClr val="tx1"/>
                </a:solidFill>
              </a:rPr>
              <a:t>总结：</a:t>
            </a:r>
            <a:endParaRPr lang="zh-CN" altLang="en-US">
              <a:solidFill>
                <a:schemeClr val="tx1"/>
              </a:solidFill>
            </a:endParaRPr>
          </a:p>
          <a:p>
            <a:endParaRPr lang="zh-CN" altLang="en-US">
              <a:solidFill>
                <a:schemeClr val="tx1"/>
              </a:solidFill>
            </a:endParaRPr>
          </a:p>
          <a:p>
            <a:r>
              <a:rPr lang="zh-CN" altLang="en-US">
                <a:solidFill>
                  <a:schemeClr val="tx1"/>
                </a:solidFill>
              </a:rPr>
              <a:t>①确定状态</a:t>
            </a:r>
            <a:r>
              <a:rPr lang="en-US" altLang="zh-CN">
                <a:solidFill>
                  <a:schemeClr val="tx1"/>
                </a:solidFill>
              </a:rPr>
              <a:t> </a:t>
            </a:r>
            <a:r>
              <a:rPr lang="zh-CN" altLang="en-US">
                <a:solidFill>
                  <a:schemeClr val="tx1"/>
                </a:solidFill>
              </a:rPr>
              <a:t>（</a:t>
            </a:r>
            <a:r>
              <a:rPr lang="zh-CN" altLang="en-US">
                <a:solidFill>
                  <a:srgbClr val="FF0000"/>
                </a:solidFill>
              </a:rPr>
              <a:t>用数组当状态表，数组中存放的值的含义</a:t>
            </a:r>
            <a:r>
              <a:rPr lang="zh-CN" altLang="en-US">
                <a:solidFill>
                  <a:schemeClr val="tx1"/>
                </a:solidFill>
              </a:rPr>
              <a:t>）</a:t>
            </a:r>
            <a:endParaRPr lang="zh-CN" altLang="en-US">
              <a:solidFill>
                <a:schemeClr val="tx1"/>
              </a:solidFill>
            </a:endParaRPr>
          </a:p>
          <a:p>
            <a:r>
              <a:rPr lang="zh-CN" altLang="en-US">
                <a:solidFill>
                  <a:schemeClr val="tx1"/>
                </a:solidFill>
              </a:rPr>
              <a:t>②找到状态转移方程</a:t>
            </a:r>
            <a:r>
              <a:rPr lang="zh-CN" altLang="en-US">
                <a:solidFill>
                  <a:schemeClr val="tx1"/>
                </a:solidFill>
                <a:sym typeface="+mn-ea"/>
              </a:rPr>
              <a:t>（</a:t>
            </a:r>
            <a:r>
              <a:rPr lang="zh-CN" altLang="en-US">
                <a:solidFill>
                  <a:srgbClr val="FF0000"/>
                </a:solidFill>
                <a:sym typeface="+mn-ea"/>
              </a:rPr>
              <a:t>可以通过将问题抽象成树结构，然后可以直观了解子问题与父问题如何转移</a:t>
            </a:r>
            <a:r>
              <a:rPr lang="zh-CN" altLang="en-US">
                <a:sym typeface="+mn-ea"/>
              </a:rPr>
              <a:t>）</a:t>
            </a:r>
            <a:endParaRPr lang="zh-CN" altLang="en-US">
              <a:solidFill>
                <a:schemeClr val="tx1"/>
              </a:solidFill>
            </a:endParaRPr>
          </a:p>
          <a:p>
            <a:r>
              <a:rPr lang="zh-CN" altLang="en-US">
                <a:solidFill>
                  <a:schemeClr val="tx1"/>
                </a:solidFill>
              </a:rPr>
              <a:t>③确定边界，然后自底向上迭代。（</a:t>
            </a:r>
            <a:r>
              <a:rPr lang="zh-CN" altLang="en-US">
                <a:solidFill>
                  <a:srgbClr val="FF0000"/>
                </a:solidFill>
              </a:rPr>
              <a:t>类比分治法的递归出口，动态规划需要确定边界</a:t>
            </a:r>
            <a:r>
              <a:rPr lang="zh-CN" altLang="en-US">
                <a:solidFill>
                  <a:schemeClr val="tx1"/>
                </a:solidFill>
              </a:rPr>
              <a:t>）</a:t>
            </a:r>
            <a:endParaRPr lang="zh-CN" altLang="en-US">
              <a:solidFill>
                <a:schemeClr val="tx1"/>
              </a:solidFill>
            </a:endParaRPr>
          </a:p>
          <a:p>
            <a:r>
              <a:rPr lang="zh-CN" altLang="en-US">
                <a:solidFill>
                  <a:schemeClr val="tx1"/>
                </a:solidFill>
              </a:rPr>
              <a:t>④更新状态（注意顺序自底向上更新），获取结果</a:t>
            </a:r>
            <a:r>
              <a:rPr lang="en-US" altLang="zh-CN">
                <a:solidFill>
                  <a:schemeClr val="tx1"/>
                </a:solidFill>
              </a:rPr>
              <a:t> </a:t>
            </a:r>
            <a:r>
              <a:rPr lang="zh-CN" altLang="en-US">
                <a:solidFill>
                  <a:schemeClr val="tx1"/>
                </a:solidFill>
              </a:rPr>
              <a:t>（</a:t>
            </a:r>
            <a:r>
              <a:rPr lang="zh-CN" altLang="en-US">
                <a:solidFill>
                  <a:srgbClr val="FF0000"/>
                </a:solidFill>
              </a:rPr>
              <a:t>有的问题在更新完状态表之后不可能直接获得答案，需要遍历一遍获取答案</a:t>
            </a:r>
            <a:r>
              <a:rPr lang="zh-CN" altLang="en-US">
                <a:solidFill>
                  <a:schemeClr val="tx1"/>
                </a:solidFill>
              </a:rPr>
              <a:t>）</a:t>
            </a:r>
            <a:endParaRPr lang="zh-CN" altLang="en-US">
              <a:solidFill>
                <a:schemeClr val="tx1"/>
              </a:solidFill>
            </a:endParaRPr>
          </a:p>
          <a:p>
            <a:endParaRPr lang="zh-CN" altLang="en-US">
              <a:solidFill>
                <a:schemeClr val="tx1"/>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95605" y="1818005"/>
            <a:ext cx="861060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sym typeface="+mn-ea"/>
              </a:rPr>
              <a:t>背包称重</a:t>
            </a:r>
            <a:r>
              <a:rPr lang="en-US" altLang="zh-CN" sz="2200" dirty="0">
                <a:solidFill>
                  <a:srgbClr val="080808"/>
                </a:solidFill>
                <a:uFillTx/>
                <a:latin typeface="Times New Roman" panose="02020603050405020304" pitchFamily="18" charset="0"/>
                <a:sym typeface="+mn-ea"/>
              </a:rPr>
              <a:t>M = 10kg,</a:t>
            </a:r>
            <a:r>
              <a:rPr lang="zh-CN" altLang="en-US" sz="2200">
                <a:solidFill>
                  <a:srgbClr val="080808"/>
                </a:solidFill>
                <a:uFillTx/>
                <a:latin typeface="Times New Roman" panose="02020603050405020304" pitchFamily="18" charset="0"/>
                <a:sym typeface="+mn-ea"/>
              </a:rPr>
              <a:t>物品的重量</a:t>
            </a:r>
            <a:r>
              <a:rPr lang="en-US" altLang="zh-CN" sz="2200" dirty="0">
                <a:solidFill>
                  <a:srgbClr val="080808"/>
                </a:solidFill>
                <a:uFillTx/>
                <a:latin typeface="Times New Roman" panose="02020603050405020304" pitchFamily="18" charset="0"/>
                <a:sym typeface="+mn-ea"/>
              </a:rPr>
              <a:t>W</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{2,3,4,7},</a:t>
            </a:r>
            <a:r>
              <a:rPr lang="zh-CN" altLang="en-US" sz="2200">
                <a:solidFill>
                  <a:srgbClr val="080808"/>
                </a:solidFill>
                <a:uFillTx/>
                <a:latin typeface="Times New Roman" panose="02020603050405020304" pitchFamily="18" charset="0"/>
                <a:sym typeface="+mn-ea"/>
              </a:rPr>
              <a:t>价值为</a:t>
            </a:r>
            <a:r>
              <a:rPr lang="en-US" altLang="zh-CN" sz="2200" dirty="0">
                <a:solidFill>
                  <a:srgbClr val="080808"/>
                </a:solidFill>
                <a:uFillTx/>
                <a:latin typeface="Times New Roman" panose="02020603050405020304" pitchFamily="18" charset="0"/>
                <a:sym typeface="+mn-ea"/>
              </a:rPr>
              <a:t>C</a:t>
            </a:r>
            <a:r>
              <a:rPr lang="en-US" altLang="zh-CN" sz="2200" baseline="-25000" dirty="0">
                <a:solidFill>
                  <a:srgbClr val="080808"/>
                </a:solidFill>
                <a:uFillTx/>
                <a:latin typeface="Times New Roman" panose="02020603050405020304" pitchFamily="18" charset="0"/>
                <a:sym typeface="+mn-ea"/>
              </a:rPr>
              <a:t>i</a:t>
            </a:r>
            <a:r>
              <a:rPr lang="en-US" altLang="zh-CN" sz="2200" dirty="0">
                <a:solidFill>
                  <a:srgbClr val="080808"/>
                </a:solidFill>
                <a:uFillTx/>
                <a:latin typeface="Times New Roman" panose="02020603050405020304" pitchFamily="18" charset="0"/>
                <a:sym typeface="+mn-ea"/>
              </a:rPr>
              <a:t> = {1,3,5,9},</a:t>
            </a:r>
            <a:r>
              <a:rPr lang="zh-CN" altLang="en-US" sz="2200">
                <a:solidFill>
                  <a:srgbClr val="080808"/>
                </a:solidFill>
                <a:uFillTx/>
                <a:latin typeface="Times New Roman" panose="02020603050405020304" pitchFamily="18" charset="0"/>
                <a:sym typeface="+mn-ea"/>
              </a:rPr>
              <a:t>问最多能装价值多大（物品每次只能选择一次）？</a:t>
            </a:r>
            <a:endParaRPr lang="zh-CN" altLang="en-US" sz="2200" dirty="0">
              <a:solidFill>
                <a:srgbClr val="080808"/>
              </a:solidFill>
              <a:latin typeface="楷体" panose="02010609060101010101" pitchFamily="49" charset="-122"/>
              <a:ea typeface="楷体" panose="02010609060101010101" pitchFamily="49" charset="-122"/>
            </a:endParaRPr>
          </a:p>
        </p:txBody>
      </p:sp>
      <p:graphicFrame>
        <p:nvGraphicFramePr>
          <p:cNvPr id="2" name="表格 1"/>
          <p:cNvGraphicFramePr>
            <a:graphicFrameLocks noGrp="1"/>
          </p:cNvGraphicFramePr>
          <p:nvPr/>
        </p:nvGraphicFramePr>
        <p:xfrm>
          <a:off x="2627784" y="2924944"/>
          <a:ext cx="3687445" cy="1066800"/>
        </p:xfrm>
        <a:graphic>
          <a:graphicData uri="http://schemas.openxmlformats.org/drawingml/2006/table">
            <a:tbl>
              <a:tblPr firstRow="1" firstCol="1" bandRow="1">
                <a:tableStyleId>{5940675A-B579-460E-94D1-54222C63F5DA}</a:tableStyleId>
              </a:tblPr>
              <a:tblGrid>
                <a:gridCol w="1167130"/>
                <a:gridCol w="1260475"/>
                <a:gridCol w="1259840"/>
              </a:tblGrid>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物品</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重量（</a:t>
                      </a:r>
                      <a:r>
                        <a:rPr lang="en-US" sz="1400" kern="100" dirty="0">
                          <a:solidFill>
                            <a:schemeClr val="tx1"/>
                          </a:solidFill>
                          <a:effectLst/>
                          <a:uFillTx/>
                          <a:latin typeface="Times New Roman" panose="02020603050405020304" pitchFamily="18" charset="0"/>
                          <a:ea typeface="宋体" panose="02010600030101010101" pitchFamily="2" charset="-122"/>
                        </a:rPr>
                        <a:t>kg</a:t>
                      </a:r>
                      <a:r>
                        <a:rPr lang="zh-CN" sz="1400" kern="100">
                          <a:solidFill>
                            <a:schemeClr val="tx1"/>
                          </a:solidFill>
                          <a:effectLst/>
                          <a:uFillTx/>
                          <a:latin typeface="Times New Roman" panose="02020603050405020304" pitchFamily="18" charset="0"/>
                          <a:ea typeface="宋体" panose="02010600030101010101" pitchFamily="2" charset="-122"/>
                        </a:rPr>
                        <a:t>）</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zh-CN" sz="1400" kern="100">
                          <a:solidFill>
                            <a:schemeClr val="tx1"/>
                          </a:solidFill>
                          <a:effectLst/>
                          <a:uFillTx/>
                          <a:latin typeface="Times New Roman" panose="02020603050405020304" pitchFamily="18" charset="0"/>
                          <a:ea typeface="宋体" panose="02010600030101010101" pitchFamily="2" charset="-122"/>
                        </a:rPr>
                        <a:t>价值（万元）</a:t>
                      </a:r>
                      <a:endParaRPr lang="zh-CN" sz="1400" kern="100">
                        <a:solidFill>
                          <a:schemeClr val="tx1"/>
                        </a:solidFill>
                        <a:effectLst/>
                        <a:uFillTx/>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133350">
                <a:tc>
                  <a:txBody>
                    <a:bodyPr/>
                    <a:lstStyle/>
                    <a:p>
                      <a:pPr algn="ctr">
                        <a:spcAft>
                          <a:spcPts val="0"/>
                        </a:spcAft>
                      </a:pPr>
                      <a:r>
                        <a:rPr lang="zh-CN" sz="1400" kern="100">
                          <a:effectLst/>
                          <a:latin typeface="宋体" panose="02010600030101010101" pitchFamily="2" charset="-122"/>
                          <a:ea typeface="宋体" panose="02010600030101010101" pitchFamily="2" charset="-122"/>
                        </a:rPr>
                        <a:t>相机</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2</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1</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212090">
                <a:tc>
                  <a:txBody>
                    <a:bodyPr/>
                    <a:lstStyle/>
                    <a:p>
                      <a:pPr algn="ctr">
                        <a:spcAft>
                          <a:spcPts val="0"/>
                        </a:spcAft>
                      </a:pPr>
                      <a:r>
                        <a:rPr lang="zh-CN" sz="1400" kern="100">
                          <a:effectLst/>
                          <a:latin typeface="宋体" panose="02010600030101010101" pitchFamily="2" charset="-122"/>
                          <a:ea typeface="宋体" panose="02010600030101010101" pitchFamily="2" charset="-122"/>
                        </a:rPr>
                        <a:t>扫描仪</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3</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pPr>
                      <a:r>
                        <a:rPr lang="zh-CN" sz="1400" kern="100">
                          <a:effectLst/>
                          <a:latin typeface="宋体" panose="02010600030101010101" pitchFamily="2" charset="-122"/>
                          <a:ea typeface="宋体" panose="02010600030101010101" pitchFamily="2" charset="-122"/>
                        </a:rPr>
                        <a:t>笔记本电脑</a:t>
                      </a:r>
                      <a:endParaRPr lang="zh-CN" sz="1400" kern="100">
                        <a:effectLst/>
                        <a:latin typeface="宋体" panose="02010600030101010101" pitchFamily="2" charset="-122"/>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4</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pPr>
                      <a:r>
                        <a:rPr lang="en-US" sz="1400" kern="100" dirty="0">
                          <a:effectLst/>
                          <a:latin typeface="Times New Roman" panose="02020603050405020304" pitchFamily="18" charset="0"/>
                          <a:cs typeface="Times New Roman" panose="02020603050405020304" pitchFamily="18" charset="0"/>
                        </a:rPr>
                        <a:t>5</a:t>
                      </a:r>
                      <a:endParaRPr lang="en-US"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0">
                <a:tc>
                  <a:txBody>
                    <a:bodyPr/>
                    <a:lstStyle/>
                    <a:p>
                      <a:pPr algn="ctr">
                        <a:spcAft>
                          <a:spcPts val="0"/>
                        </a:spcAft>
                        <a:buNone/>
                      </a:pPr>
                      <a:r>
                        <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rPr>
                        <a:t>打印机</a:t>
                      </a:r>
                      <a:endParaRPr lang="zh-CN" altLang="en-US"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ctr">
                        <a:spcAft>
                          <a:spcPts val="0"/>
                        </a:spcAft>
                        <a:buNone/>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5" name="Text Box 4"/>
          <p:cNvSpPr txBox="1">
            <a:spLocks noChangeArrowheads="1"/>
          </p:cNvSpPr>
          <p:nvPr/>
        </p:nvSpPr>
        <p:spPr bwMode="auto">
          <a:xfrm>
            <a:off x="410776" y="4581262"/>
            <a:ext cx="8352928"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dirty="0">
                <a:solidFill>
                  <a:srgbClr val="080808"/>
                </a:solidFill>
                <a:uFillTx/>
                <a:latin typeface="Times New Roman" panose="02020603050405020304" pitchFamily="18" charset="0"/>
              </a:rPr>
              <a:t>解题思路：如果用暴力解法如何求解，能否将</a:t>
            </a:r>
            <a:r>
              <a:rPr lang="en-US" altLang="zh-CN" sz="2200" dirty="0">
                <a:solidFill>
                  <a:srgbClr val="080808"/>
                </a:solidFill>
                <a:uFillTx/>
                <a:latin typeface="Times New Roman" panose="02020603050405020304" pitchFamily="18" charset="0"/>
              </a:rPr>
              <a:t>0-1</a:t>
            </a:r>
            <a:r>
              <a:rPr lang="zh-CN" altLang="en-US" sz="2200" dirty="0">
                <a:solidFill>
                  <a:srgbClr val="080808"/>
                </a:solidFill>
                <a:uFillTx/>
                <a:latin typeface="Times New Roman" panose="02020603050405020304" pitchFamily="18" charset="0"/>
              </a:rPr>
              <a:t>背包问题抽象成一棵树？</a:t>
            </a:r>
            <a:endParaRPr lang="zh-CN" altLang="en-US" sz="2200" dirty="0">
              <a:solidFill>
                <a:srgbClr val="080808"/>
              </a:solidFill>
              <a:uFillTx/>
              <a:latin typeface="Times New Roman" panose="02020603050405020304" pitchFamily="18" charset="0"/>
            </a:endParaRPr>
          </a:p>
        </p:txBody>
      </p:sp>
      <p:sp>
        <p:nvSpPr>
          <p:cNvPr id="11" name="Text Box 6"/>
          <p:cNvSpPr txBox="1">
            <a:spLocks noChangeArrowheads="1"/>
          </p:cNvSpPr>
          <p:nvPr/>
        </p:nvSpPr>
        <p:spPr bwMode="auto">
          <a:xfrm>
            <a:off x="2771775" y="669290"/>
            <a:ext cx="4375150" cy="583565"/>
          </a:xfrm>
          <a:prstGeom prst="rect">
            <a:avLst/>
          </a:prstGeom>
          <a:noFill/>
          <a:ln w="9525">
            <a:noFill/>
            <a:miter lim="800000"/>
          </a:ln>
          <a:effectLst/>
        </p:spPr>
        <p:txBody>
          <a:bodyPr wrap="square">
            <a:spAutoFit/>
          </a:bodyPr>
          <a:lstStyle/>
          <a:p>
            <a:pPr eaLnBrk="1" hangingPunct="1">
              <a:spcBef>
                <a:spcPct val="50000"/>
              </a:spcBef>
              <a:defRPr/>
            </a:pPr>
            <a:r>
              <a:rPr lang="en-US" altLang="zh-CN"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rPr>
              <a:t>5.2  </a:t>
            </a:r>
            <a:r>
              <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rPr>
              <a:t>动态规划法案例</a:t>
            </a:r>
            <a:endParaRPr lang="zh-CN" altLang="en-US" sz="3200" dirty="0">
              <a:ln w="18000">
                <a:solidFill>
                  <a:schemeClr val="accent2">
                    <a:satMod val="140000"/>
                  </a:schemeClr>
                </a:solidFill>
                <a:prstDash val="solid"/>
                <a:miter lim="800000"/>
              </a:ln>
              <a:solidFill>
                <a:schemeClr val="accent2"/>
              </a:solidFill>
              <a:effectLst>
                <a:outerShdw blurRad="25500" dist="23000" dir="7020000" algn="tl">
                  <a:srgbClr val="000000">
                    <a:alpha val="50000"/>
                  </a:srgbClr>
                </a:outerShdw>
              </a:effectLst>
              <a:latin typeface="Times New Roman" panose="02020603050405020304" pitchFamily="18" charset="0"/>
              <a:ea typeface="隶书" panose="02010509060101010101" pitchFamily="49" charset="-122"/>
              <a:cs typeface="Times New Roman" panose="02020603050405020304" pitchFamily="18" charset="0"/>
              <a:sym typeface="+mn-ea"/>
            </a:endParaRPr>
          </a:p>
        </p:txBody>
      </p:sp>
      <p:sp>
        <p:nvSpPr>
          <p:cNvPr id="3" name="文本框 2"/>
          <p:cNvSpPr txBox="1"/>
          <p:nvPr/>
        </p:nvSpPr>
        <p:spPr>
          <a:xfrm>
            <a:off x="410845" y="1264920"/>
            <a:ext cx="4572000" cy="534035"/>
          </a:xfrm>
          <a:prstGeom prst="rect">
            <a:avLst/>
          </a:prstGeom>
          <a:noFill/>
        </p:spPr>
        <p:txBody>
          <a:bodyPr wrap="square" rtlCol="0" anchor="t">
            <a:spAutoFit/>
          </a:bodyPr>
          <a:lstStyle/>
          <a:p>
            <a:pPr>
              <a:lnSpc>
                <a:spcPct val="120000"/>
              </a:lnSpc>
              <a:buNone/>
            </a:pPr>
            <a:r>
              <a:rPr lang="en-US" altLang="zh-CN" sz="2400" b="1" kern="0" dirty="0">
                <a:uFillTx/>
                <a:latin typeface="Times New Roman" panose="02020603050405020304" pitchFamily="18" charset="0"/>
                <a:cs typeface="Times New Roman" panose="02020603050405020304" pitchFamily="18" charset="0"/>
                <a:sym typeface="+mn-ea"/>
              </a:rPr>
              <a:t>5.2.1 </a:t>
            </a:r>
            <a:r>
              <a:rPr lang="zh-CN" altLang="en-US" sz="2400" b="1" kern="0" dirty="0">
                <a:uFillTx/>
                <a:latin typeface="Times New Roman" panose="02020603050405020304" pitchFamily="18" charset="0"/>
                <a:cs typeface="Times New Roman" panose="02020603050405020304" pitchFamily="18" charset="0"/>
                <a:sym typeface="+mn-ea"/>
              </a:rPr>
              <a:t>0-1背包问题</a:t>
            </a:r>
            <a:endParaRPr lang="zh-CN" altLang="en-US" sz="2400" b="1" kern="0" dirty="0">
              <a:uFillTx/>
              <a:latin typeface="Times New Roman" panose="02020603050405020304" pitchFamily="18" charset="0"/>
              <a:cs typeface="Times New Roman" panose="02020603050405020304" pitchFamily="18" charset="0"/>
              <a:sym typeface="+mn-ea"/>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p:cNvSpPr>
            <a:spLocks noChangeArrowheads="1"/>
          </p:cNvSpPr>
          <p:nvPr/>
        </p:nvSpPr>
        <p:spPr bwMode="auto">
          <a:xfrm>
            <a:off x="3284221" y="3882073"/>
            <a:ext cx="541338" cy="361950"/>
          </a:xfrm>
          <a:prstGeom prst="rect">
            <a:avLst/>
          </a:prstGeom>
          <a:solidFill>
            <a:srgbClr val="6FC01E"/>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42" name="Rectangle 5"/>
          <p:cNvSpPr>
            <a:spLocks noChangeArrowheads="1"/>
          </p:cNvSpPr>
          <p:nvPr/>
        </p:nvSpPr>
        <p:spPr bwMode="auto">
          <a:xfrm>
            <a:off x="2747328" y="3882073"/>
            <a:ext cx="541338" cy="361950"/>
          </a:xfrm>
          <a:prstGeom prst="rect">
            <a:avLst/>
          </a:prstGeom>
          <a:solidFill>
            <a:schemeClr val="accent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问最多能装价值多大（物品每次只能选择一次）？</a:t>
            </a:r>
            <a:endParaRPr lang="zh-CN" altLang="en-US" sz="2200" dirty="0">
              <a:solidFill>
                <a:srgbClr val="080808"/>
              </a:solidFill>
              <a:uFillTx/>
              <a:latin typeface="Times New Roman" panose="02020603050405020304" pitchFamily="18" charset="0"/>
            </a:endParaRPr>
          </a:p>
        </p:txBody>
      </p:sp>
      <p:sp>
        <p:nvSpPr>
          <p:cNvPr id="12" name="矩形标注 11"/>
          <p:cNvSpPr/>
          <p:nvPr/>
        </p:nvSpPr>
        <p:spPr>
          <a:xfrm>
            <a:off x="-396240" y="5085080"/>
            <a:ext cx="1114425" cy="1373505"/>
          </a:xfrm>
          <a:prstGeom prst="wedgeRectCallout">
            <a:avLst>
              <a:gd name="adj1" fmla="val -77326"/>
              <a:gd name="adj2" fmla="val 48432"/>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更新至每一行，只考虑当前物品的用与不用，其他空余空间的价值从该物品上一行获得</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13" name="矩形 12"/>
          <p:cNvSpPr/>
          <p:nvPr/>
        </p:nvSpPr>
        <p:spPr>
          <a:xfrm>
            <a:off x="-7833995" y="5696585"/>
            <a:ext cx="7122795" cy="764540"/>
          </a:xfrm>
          <a:prstGeom prst="rect">
            <a:avLst/>
          </a:prstGeom>
          <a:noFill/>
          <a:ln w="28575" cap="flat" cmpd="sng" algn="ctr">
            <a:solidFill>
              <a:schemeClr val="accent1"/>
            </a:solidFill>
            <a:prstDash val="solid"/>
            <a:round/>
            <a:headEnd type="none" w="med" len="med"/>
            <a:tailEnd type="none" w="med" len="med"/>
          </a:ln>
          <a:extLst>
            <a:ext uri="{909E8E84-426E-40DD-AFC4-6F175D3DCCD1}">
              <a14:hiddenFill xmlns:a14="http://schemas.microsoft.com/office/drawing/2010/main">
                <a:solidFill>
                  <a:schemeClr val="accent1"/>
                </a:solidFill>
              </a14:hiddenFill>
            </a:ext>
          </a:extLst>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cxnSp>
        <p:nvCxnSpPr>
          <p:cNvPr id="16" name="直接连接符 15"/>
          <p:cNvCxnSpPr/>
          <p:nvPr/>
        </p:nvCxnSpPr>
        <p:spPr>
          <a:xfrm>
            <a:off x="-7165340" y="4941570"/>
            <a:ext cx="7112000" cy="0"/>
          </a:xfrm>
          <a:prstGeom prst="line">
            <a:avLst/>
          </a:prstGeom>
          <a:solidFill>
            <a:schemeClr val="accent1"/>
          </a:solidFill>
          <a:ln w="28575" cap="flat" cmpd="sng" algn="ctr">
            <a:solidFill>
              <a:srgbClr val="FF0000"/>
            </a:solidFill>
            <a:prstDash val="solid"/>
            <a:round/>
            <a:headEnd type="none" w="med" len="med"/>
            <a:tailEnd type="none" w="med" len="med"/>
          </a:ln>
        </p:spPr>
      </p:cxnSp>
      <p:grpSp>
        <p:nvGrpSpPr>
          <p:cNvPr id="3" name="Group 4"/>
          <p:cNvGrpSpPr>
            <a:grpSpLocks noChangeAspect="1"/>
          </p:cNvGrpSpPr>
          <p:nvPr/>
        </p:nvGrpSpPr>
        <p:grpSpPr bwMode="auto">
          <a:xfrm>
            <a:off x="1115378" y="3142933"/>
            <a:ext cx="7058025" cy="2219325"/>
            <a:chOff x="657" y="1461"/>
            <a:chExt cx="4446" cy="1398"/>
          </a:xfrm>
        </p:grpSpPr>
        <p:sp>
          <p:nvSpPr>
            <p:cNvPr id="7" name="AutoShape 3"/>
            <p:cNvSpPr>
              <a:spLocks noChangeAspect="1" noChangeArrowheads="1" noTextEdit="1"/>
            </p:cNvSpPr>
            <p:nvPr/>
          </p:nvSpPr>
          <p:spPr bwMode="auto">
            <a:xfrm>
              <a:off x="657" y="1461"/>
              <a:ext cx="4446" cy="1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lstStyle/>
            <a:p>
              <a:endParaRPr lang="zh-CN" altLang="en-US"/>
            </a:p>
          </p:txBody>
        </p:sp>
        <p:sp>
          <p:nvSpPr>
            <p:cNvPr id="11" name="Line 8"/>
            <p:cNvSpPr>
              <a:spLocks noChangeShapeType="1"/>
            </p:cNvSpPr>
            <p:nvPr/>
          </p:nvSpPr>
          <p:spPr bwMode="auto">
            <a:xfrm>
              <a:off x="100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4" name="Line 9"/>
            <p:cNvSpPr>
              <a:spLocks noChangeShapeType="1"/>
            </p:cNvSpPr>
            <p:nvPr/>
          </p:nvSpPr>
          <p:spPr bwMode="auto">
            <a:xfrm>
              <a:off x="1345"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5" name="Line 10"/>
            <p:cNvSpPr>
              <a:spLocks noChangeShapeType="1"/>
            </p:cNvSpPr>
            <p:nvPr/>
          </p:nvSpPr>
          <p:spPr bwMode="auto">
            <a:xfrm>
              <a:off x="168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7" name="Line 11"/>
            <p:cNvSpPr>
              <a:spLocks noChangeShapeType="1"/>
            </p:cNvSpPr>
            <p:nvPr/>
          </p:nvSpPr>
          <p:spPr bwMode="auto">
            <a:xfrm>
              <a:off x="2026"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8" name="Line 12"/>
            <p:cNvSpPr>
              <a:spLocks noChangeShapeType="1"/>
            </p:cNvSpPr>
            <p:nvPr/>
          </p:nvSpPr>
          <p:spPr bwMode="auto">
            <a:xfrm>
              <a:off x="236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19" name="Line 13"/>
            <p:cNvSpPr>
              <a:spLocks noChangeShapeType="1"/>
            </p:cNvSpPr>
            <p:nvPr/>
          </p:nvSpPr>
          <p:spPr bwMode="auto">
            <a:xfrm>
              <a:off x="2707"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0" name="Line 14"/>
            <p:cNvSpPr>
              <a:spLocks noChangeShapeType="1"/>
            </p:cNvSpPr>
            <p:nvPr/>
          </p:nvSpPr>
          <p:spPr bwMode="auto">
            <a:xfrm>
              <a:off x="3048"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1" name="Line 15"/>
            <p:cNvSpPr>
              <a:spLocks noChangeShapeType="1"/>
            </p:cNvSpPr>
            <p:nvPr/>
          </p:nvSpPr>
          <p:spPr bwMode="auto">
            <a:xfrm>
              <a:off x="3389"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2" name="Line 16"/>
            <p:cNvSpPr>
              <a:spLocks noChangeShapeType="1"/>
            </p:cNvSpPr>
            <p:nvPr/>
          </p:nvSpPr>
          <p:spPr bwMode="auto">
            <a:xfrm>
              <a:off x="373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3" name="Line 17"/>
            <p:cNvSpPr>
              <a:spLocks noChangeShapeType="1"/>
            </p:cNvSpPr>
            <p:nvPr/>
          </p:nvSpPr>
          <p:spPr bwMode="auto">
            <a:xfrm>
              <a:off x="4070"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4" name="Line 18"/>
            <p:cNvSpPr>
              <a:spLocks noChangeShapeType="1"/>
            </p:cNvSpPr>
            <p:nvPr/>
          </p:nvSpPr>
          <p:spPr bwMode="auto">
            <a:xfrm>
              <a:off x="441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5" name="Line 19"/>
            <p:cNvSpPr>
              <a:spLocks noChangeShapeType="1"/>
            </p:cNvSpPr>
            <p:nvPr/>
          </p:nvSpPr>
          <p:spPr bwMode="auto">
            <a:xfrm>
              <a:off x="4751"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6" name="Line 20"/>
            <p:cNvSpPr>
              <a:spLocks noChangeShapeType="1"/>
            </p:cNvSpPr>
            <p:nvPr/>
          </p:nvSpPr>
          <p:spPr bwMode="auto">
            <a:xfrm>
              <a:off x="660" y="1698"/>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7" name="Line 21"/>
            <p:cNvSpPr>
              <a:spLocks noChangeShapeType="1"/>
            </p:cNvSpPr>
            <p:nvPr/>
          </p:nvSpPr>
          <p:spPr bwMode="auto">
            <a:xfrm>
              <a:off x="660" y="1925"/>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8" name="Line 22"/>
            <p:cNvSpPr>
              <a:spLocks noChangeShapeType="1"/>
            </p:cNvSpPr>
            <p:nvPr/>
          </p:nvSpPr>
          <p:spPr bwMode="auto">
            <a:xfrm>
              <a:off x="660" y="2153"/>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29" name="Line 23"/>
            <p:cNvSpPr>
              <a:spLocks noChangeShapeType="1"/>
            </p:cNvSpPr>
            <p:nvPr/>
          </p:nvSpPr>
          <p:spPr bwMode="auto">
            <a:xfrm>
              <a:off x="660" y="2381"/>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0" name="Line 24"/>
            <p:cNvSpPr>
              <a:spLocks noChangeShapeType="1"/>
            </p:cNvSpPr>
            <p:nvPr/>
          </p:nvSpPr>
          <p:spPr bwMode="auto">
            <a:xfrm>
              <a:off x="660" y="2609"/>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1" name="Line 25"/>
            <p:cNvSpPr>
              <a:spLocks noChangeShapeType="1"/>
            </p:cNvSpPr>
            <p:nvPr/>
          </p:nvSpPr>
          <p:spPr bwMode="auto">
            <a:xfrm>
              <a:off x="664"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2" name="Line 26"/>
            <p:cNvSpPr>
              <a:spLocks noChangeShapeType="1"/>
            </p:cNvSpPr>
            <p:nvPr/>
          </p:nvSpPr>
          <p:spPr bwMode="auto">
            <a:xfrm>
              <a:off x="5092" y="1466"/>
              <a:ext cx="0" cy="1374"/>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3" name="Line 27"/>
            <p:cNvSpPr>
              <a:spLocks noChangeShapeType="1"/>
            </p:cNvSpPr>
            <p:nvPr/>
          </p:nvSpPr>
          <p:spPr bwMode="auto">
            <a:xfrm>
              <a:off x="660" y="1470"/>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4" name="Line 28"/>
            <p:cNvSpPr>
              <a:spLocks noChangeShapeType="1"/>
            </p:cNvSpPr>
            <p:nvPr/>
          </p:nvSpPr>
          <p:spPr bwMode="auto">
            <a:xfrm>
              <a:off x="660" y="2837"/>
              <a:ext cx="4436" cy="0"/>
            </a:xfrm>
            <a:prstGeom prst="line">
              <a:avLst/>
            </a:prstGeom>
            <a:noFill/>
            <a:ln w="12700" cap="flat">
              <a:solidFill>
                <a:srgbClr val="000000"/>
              </a:solidFill>
              <a:prstDash val="solid"/>
              <a:round/>
            </a:ln>
            <a:extLst>
              <a:ext uri="{909E8E84-426E-40DD-AFC4-6F175D3DCCD1}">
                <a14:hiddenFill xmlns:a14="http://schemas.microsoft.com/office/drawing/2010/main">
                  <a:noFill/>
                </a14:hiddenFill>
              </a:ext>
            </a:extLst>
          </p:spPr>
          <p:txBody>
            <a:bodyPr vert="horz" wrap="square" lIns="91440" tIns="45720" rIns="91440" bIns="45720" numCol="1" anchor="t" anchorCtr="0" compatLnSpc="1"/>
            <a:lstStyle/>
            <a:p>
              <a:endParaRPr lang="zh-CN" altLang="en-US"/>
            </a:p>
          </p:txBody>
        </p:sp>
        <p:sp>
          <p:nvSpPr>
            <p:cNvPr id="35" name="Rectangle 29"/>
            <p:cNvSpPr>
              <a:spLocks noChangeArrowheads="1"/>
            </p:cNvSpPr>
            <p:nvPr/>
          </p:nvSpPr>
          <p:spPr bwMode="auto">
            <a:xfrm>
              <a:off x="734" y="1526"/>
              <a:ext cx="162"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W</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6" name="Rectangle 30"/>
            <p:cNvSpPr>
              <a:spLocks noChangeArrowheads="1"/>
            </p:cNvSpPr>
            <p:nvPr/>
          </p:nvSpPr>
          <p:spPr bwMode="auto">
            <a:xfrm>
              <a:off x="836"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7" name="Rectangle 31"/>
            <p:cNvSpPr>
              <a:spLocks noChangeArrowheads="1"/>
            </p:cNvSpPr>
            <p:nvPr/>
          </p:nvSpPr>
          <p:spPr bwMode="auto">
            <a:xfrm>
              <a:off x="1050" y="1526"/>
              <a:ext cx="127"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C</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8" name="Rectangle 32"/>
            <p:cNvSpPr>
              <a:spLocks noChangeArrowheads="1"/>
            </p:cNvSpPr>
            <p:nvPr/>
          </p:nvSpPr>
          <p:spPr bwMode="auto">
            <a:xfrm>
              <a:off x="1129" y="1586"/>
              <a:ext cx="48" cy="9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900" b="0" i="0" u="none" strike="noStrike" cap="none" normalizeH="0" baseline="0">
                  <a:ln>
                    <a:noFill/>
                  </a:ln>
                  <a:solidFill>
                    <a:srgbClr val="000000"/>
                  </a:solidFill>
                  <a:effectLst/>
                  <a:latin typeface="Times New Roman" panose="02020603050405020304" pitchFamily="18" charset="0"/>
                </a:rPr>
                <a:t>i</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39" name="Rectangle 33"/>
            <p:cNvSpPr>
              <a:spLocks noChangeArrowheads="1"/>
            </p:cNvSpPr>
            <p:nvPr/>
          </p:nvSpPr>
          <p:spPr bwMode="auto">
            <a:xfrm>
              <a:off x="1391"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0" name="Rectangle 34"/>
            <p:cNvSpPr>
              <a:spLocks noChangeArrowheads="1"/>
            </p:cNvSpPr>
            <p:nvPr/>
          </p:nvSpPr>
          <p:spPr bwMode="auto">
            <a:xfrm>
              <a:off x="1445"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1" name="Rectangle 35"/>
            <p:cNvSpPr>
              <a:spLocks noChangeArrowheads="1"/>
            </p:cNvSpPr>
            <p:nvPr/>
          </p:nvSpPr>
          <p:spPr bwMode="auto">
            <a:xfrm>
              <a:off x="173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2" name="Rectangle 36"/>
            <p:cNvSpPr>
              <a:spLocks noChangeArrowheads="1"/>
            </p:cNvSpPr>
            <p:nvPr/>
          </p:nvSpPr>
          <p:spPr bwMode="auto">
            <a:xfrm>
              <a:off x="178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3" name="Rectangle 37"/>
            <p:cNvSpPr>
              <a:spLocks noChangeArrowheads="1"/>
            </p:cNvSpPr>
            <p:nvPr/>
          </p:nvSpPr>
          <p:spPr bwMode="auto">
            <a:xfrm>
              <a:off x="2072"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4" name="Rectangle 38"/>
            <p:cNvSpPr>
              <a:spLocks noChangeArrowheads="1"/>
            </p:cNvSpPr>
            <p:nvPr/>
          </p:nvSpPr>
          <p:spPr bwMode="auto">
            <a:xfrm>
              <a:off x="2156"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5" name="Rectangle 39"/>
            <p:cNvSpPr>
              <a:spLocks noChangeArrowheads="1"/>
            </p:cNvSpPr>
            <p:nvPr/>
          </p:nvSpPr>
          <p:spPr bwMode="auto">
            <a:xfrm>
              <a:off x="2413"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6" name="Rectangle 40"/>
            <p:cNvSpPr>
              <a:spLocks noChangeArrowheads="1"/>
            </p:cNvSpPr>
            <p:nvPr/>
          </p:nvSpPr>
          <p:spPr bwMode="auto">
            <a:xfrm>
              <a:off x="2497"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7" name="Rectangle 41"/>
            <p:cNvSpPr>
              <a:spLocks noChangeArrowheads="1"/>
            </p:cNvSpPr>
            <p:nvPr/>
          </p:nvSpPr>
          <p:spPr bwMode="auto">
            <a:xfrm>
              <a:off x="275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8" name="Rectangle 42"/>
            <p:cNvSpPr>
              <a:spLocks noChangeArrowheads="1"/>
            </p:cNvSpPr>
            <p:nvPr/>
          </p:nvSpPr>
          <p:spPr bwMode="auto">
            <a:xfrm>
              <a:off x="2838"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49" name="Rectangle 43"/>
            <p:cNvSpPr>
              <a:spLocks noChangeArrowheads="1"/>
            </p:cNvSpPr>
            <p:nvPr/>
          </p:nvSpPr>
          <p:spPr bwMode="auto">
            <a:xfrm>
              <a:off x="3094"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0" name="Rectangle 44"/>
            <p:cNvSpPr>
              <a:spLocks noChangeArrowheads="1"/>
            </p:cNvSpPr>
            <p:nvPr/>
          </p:nvSpPr>
          <p:spPr bwMode="auto">
            <a:xfrm>
              <a:off x="3148"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1" name="Rectangle 45"/>
            <p:cNvSpPr>
              <a:spLocks noChangeArrowheads="1"/>
            </p:cNvSpPr>
            <p:nvPr/>
          </p:nvSpPr>
          <p:spPr bwMode="auto">
            <a:xfrm>
              <a:off x="3435"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2" name="Rectangle 46"/>
            <p:cNvSpPr>
              <a:spLocks noChangeArrowheads="1"/>
            </p:cNvSpPr>
            <p:nvPr/>
          </p:nvSpPr>
          <p:spPr bwMode="auto">
            <a:xfrm>
              <a:off x="3489"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3" name="Rectangle 47"/>
            <p:cNvSpPr>
              <a:spLocks noChangeArrowheads="1"/>
            </p:cNvSpPr>
            <p:nvPr/>
          </p:nvSpPr>
          <p:spPr bwMode="auto">
            <a:xfrm>
              <a:off x="3775" y="1526"/>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4" name="Rectangle 48"/>
            <p:cNvSpPr>
              <a:spLocks noChangeArrowheads="1"/>
            </p:cNvSpPr>
            <p:nvPr/>
          </p:nvSpPr>
          <p:spPr bwMode="auto">
            <a:xfrm>
              <a:off x="383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5" name="Rectangle 49"/>
            <p:cNvSpPr>
              <a:spLocks noChangeArrowheads="1"/>
            </p:cNvSpPr>
            <p:nvPr/>
          </p:nvSpPr>
          <p:spPr bwMode="auto">
            <a:xfrm>
              <a:off x="4116"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6" name="Rectangle 50"/>
            <p:cNvSpPr>
              <a:spLocks noChangeArrowheads="1"/>
            </p:cNvSpPr>
            <p:nvPr/>
          </p:nvSpPr>
          <p:spPr bwMode="auto">
            <a:xfrm>
              <a:off x="4170"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7" name="Rectangle 51"/>
            <p:cNvSpPr>
              <a:spLocks noChangeArrowheads="1"/>
            </p:cNvSpPr>
            <p:nvPr/>
          </p:nvSpPr>
          <p:spPr bwMode="auto">
            <a:xfrm>
              <a:off x="4457" y="1526"/>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8" name="Rectangle 52"/>
            <p:cNvSpPr>
              <a:spLocks noChangeArrowheads="1"/>
            </p:cNvSpPr>
            <p:nvPr/>
          </p:nvSpPr>
          <p:spPr bwMode="auto">
            <a:xfrm>
              <a:off x="4511"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59" name="Rectangle 53"/>
            <p:cNvSpPr>
              <a:spLocks noChangeArrowheads="1"/>
            </p:cNvSpPr>
            <p:nvPr/>
          </p:nvSpPr>
          <p:spPr bwMode="auto">
            <a:xfrm>
              <a:off x="4797" y="1526"/>
              <a:ext cx="16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0" name="Rectangle 54"/>
            <p:cNvSpPr>
              <a:spLocks noChangeArrowheads="1"/>
            </p:cNvSpPr>
            <p:nvPr/>
          </p:nvSpPr>
          <p:spPr bwMode="auto">
            <a:xfrm>
              <a:off x="4906" y="1526"/>
              <a:ext cx="16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kg</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1" name="Rectangle 55"/>
            <p:cNvSpPr>
              <a:spLocks noChangeArrowheads="1"/>
            </p:cNvSpPr>
            <p:nvPr/>
          </p:nvSpPr>
          <p:spPr bwMode="auto">
            <a:xfrm>
              <a:off x="710" y="1752"/>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2" name="Rectangle 56"/>
            <p:cNvSpPr>
              <a:spLocks noChangeArrowheads="1"/>
            </p:cNvSpPr>
            <p:nvPr/>
          </p:nvSpPr>
          <p:spPr bwMode="auto">
            <a:xfrm>
              <a:off x="1050" y="1752"/>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4" name="Rectangle 68"/>
            <p:cNvSpPr>
              <a:spLocks noChangeArrowheads="1"/>
            </p:cNvSpPr>
            <p:nvPr/>
          </p:nvSpPr>
          <p:spPr bwMode="auto">
            <a:xfrm>
              <a:off x="710"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2</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5" name="Rectangle 69"/>
            <p:cNvSpPr>
              <a:spLocks noChangeArrowheads="1"/>
            </p:cNvSpPr>
            <p:nvPr/>
          </p:nvSpPr>
          <p:spPr bwMode="auto">
            <a:xfrm>
              <a:off x="1050"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79" name="Rectangle 73"/>
            <p:cNvSpPr>
              <a:spLocks noChangeArrowheads="1"/>
            </p:cNvSpPr>
            <p:nvPr/>
          </p:nvSpPr>
          <p:spPr bwMode="auto">
            <a:xfrm>
              <a:off x="2413"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0" name="Rectangle 74"/>
            <p:cNvSpPr>
              <a:spLocks noChangeArrowheads="1"/>
            </p:cNvSpPr>
            <p:nvPr/>
          </p:nvSpPr>
          <p:spPr bwMode="auto">
            <a:xfrm>
              <a:off x="2754"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1" name="Rectangle 75"/>
            <p:cNvSpPr>
              <a:spLocks noChangeArrowheads="1"/>
            </p:cNvSpPr>
            <p:nvPr/>
          </p:nvSpPr>
          <p:spPr bwMode="auto">
            <a:xfrm>
              <a:off x="3094"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2" name="Rectangle 76"/>
            <p:cNvSpPr>
              <a:spLocks noChangeArrowheads="1"/>
            </p:cNvSpPr>
            <p:nvPr/>
          </p:nvSpPr>
          <p:spPr bwMode="auto">
            <a:xfrm>
              <a:off x="3435"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3" name="Rectangle 77"/>
            <p:cNvSpPr>
              <a:spLocks noChangeArrowheads="1"/>
            </p:cNvSpPr>
            <p:nvPr/>
          </p:nvSpPr>
          <p:spPr bwMode="auto">
            <a:xfrm>
              <a:off x="3775" y="1980"/>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4" name="Rectangle 78"/>
            <p:cNvSpPr>
              <a:spLocks noChangeArrowheads="1"/>
            </p:cNvSpPr>
            <p:nvPr/>
          </p:nvSpPr>
          <p:spPr bwMode="auto">
            <a:xfrm>
              <a:off x="4116"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5" name="Rectangle 79"/>
            <p:cNvSpPr>
              <a:spLocks noChangeArrowheads="1"/>
            </p:cNvSpPr>
            <p:nvPr/>
          </p:nvSpPr>
          <p:spPr bwMode="auto">
            <a:xfrm>
              <a:off x="4457"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6" name="Rectangle 80"/>
            <p:cNvSpPr>
              <a:spLocks noChangeArrowheads="1"/>
            </p:cNvSpPr>
            <p:nvPr/>
          </p:nvSpPr>
          <p:spPr bwMode="auto">
            <a:xfrm>
              <a:off x="4797" y="1980"/>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7" name="Rectangle 81"/>
            <p:cNvSpPr>
              <a:spLocks noChangeArrowheads="1"/>
            </p:cNvSpPr>
            <p:nvPr/>
          </p:nvSpPr>
          <p:spPr bwMode="auto">
            <a:xfrm>
              <a:off x="710"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88" name="Rectangle 82"/>
            <p:cNvSpPr>
              <a:spLocks noChangeArrowheads="1"/>
            </p:cNvSpPr>
            <p:nvPr/>
          </p:nvSpPr>
          <p:spPr bwMode="auto">
            <a:xfrm>
              <a:off x="1050"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0" name="Rectangle 84"/>
            <p:cNvSpPr>
              <a:spLocks noChangeArrowheads="1"/>
            </p:cNvSpPr>
            <p:nvPr/>
          </p:nvSpPr>
          <p:spPr bwMode="auto">
            <a:xfrm>
              <a:off x="1732"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1" name="Rectangle 85"/>
            <p:cNvSpPr>
              <a:spLocks noChangeArrowheads="1"/>
            </p:cNvSpPr>
            <p:nvPr/>
          </p:nvSpPr>
          <p:spPr bwMode="auto">
            <a:xfrm>
              <a:off x="2072"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2" name="Rectangle 86"/>
            <p:cNvSpPr>
              <a:spLocks noChangeArrowheads="1"/>
            </p:cNvSpPr>
            <p:nvPr/>
          </p:nvSpPr>
          <p:spPr bwMode="auto">
            <a:xfrm>
              <a:off x="2413"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3" name="Rectangle 87"/>
            <p:cNvSpPr>
              <a:spLocks noChangeArrowheads="1"/>
            </p:cNvSpPr>
            <p:nvPr/>
          </p:nvSpPr>
          <p:spPr bwMode="auto">
            <a:xfrm>
              <a:off x="275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4" name="Rectangle 88"/>
            <p:cNvSpPr>
              <a:spLocks noChangeArrowheads="1"/>
            </p:cNvSpPr>
            <p:nvPr/>
          </p:nvSpPr>
          <p:spPr bwMode="auto">
            <a:xfrm>
              <a:off x="3094"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5" name="Rectangle 89"/>
            <p:cNvSpPr>
              <a:spLocks noChangeArrowheads="1"/>
            </p:cNvSpPr>
            <p:nvPr/>
          </p:nvSpPr>
          <p:spPr bwMode="auto">
            <a:xfrm>
              <a:off x="3435"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6" name="Rectangle 90"/>
            <p:cNvSpPr>
              <a:spLocks noChangeArrowheads="1"/>
            </p:cNvSpPr>
            <p:nvPr/>
          </p:nvSpPr>
          <p:spPr bwMode="auto">
            <a:xfrm>
              <a:off x="3775" y="2209"/>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7" name="Rectangle 91"/>
            <p:cNvSpPr>
              <a:spLocks noChangeArrowheads="1"/>
            </p:cNvSpPr>
            <p:nvPr/>
          </p:nvSpPr>
          <p:spPr bwMode="auto">
            <a:xfrm>
              <a:off x="4116"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8" name="Rectangle 92"/>
            <p:cNvSpPr>
              <a:spLocks noChangeArrowheads="1"/>
            </p:cNvSpPr>
            <p:nvPr/>
          </p:nvSpPr>
          <p:spPr bwMode="auto">
            <a:xfrm>
              <a:off x="445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99" name="Rectangle 93"/>
            <p:cNvSpPr>
              <a:spLocks noChangeArrowheads="1"/>
            </p:cNvSpPr>
            <p:nvPr/>
          </p:nvSpPr>
          <p:spPr bwMode="auto">
            <a:xfrm>
              <a:off x="4797" y="2209"/>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0" name="Rectangle 94"/>
            <p:cNvSpPr>
              <a:spLocks noChangeArrowheads="1"/>
            </p:cNvSpPr>
            <p:nvPr/>
          </p:nvSpPr>
          <p:spPr bwMode="auto">
            <a:xfrm>
              <a:off x="710"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4</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1" name="Rectangle 95"/>
            <p:cNvSpPr>
              <a:spLocks noChangeArrowheads="1"/>
            </p:cNvSpPr>
            <p:nvPr/>
          </p:nvSpPr>
          <p:spPr bwMode="auto">
            <a:xfrm>
              <a:off x="1050"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3" name="Rectangle 97"/>
            <p:cNvSpPr>
              <a:spLocks noChangeArrowheads="1"/>
            </p:cNvSpPr>
            <p:nvPr/>
          </p:nvSpPr>
          <p:spPr bwMode="auto">
            <a:xfrm>
              <a:off x="173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4" name="Rectangle 98"/>
            <p:cNvSpPr>
              <a:spLocks noChangeArrowheads="1"/>
            </p:cNvSpPr>
            <p:nvPr/>
          </p:nvSpPr>
          <p:spPr bwMode="auto">
            <a:xfrm>
              <a:off x="2072"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5" name="Rectangle 99"/>
            <p:cNvSpPr>
              <a:spLocks noChangeArrowheads="1"/>
            </p:cNvSpPr>
            <p:nvPr/>
          </p:nvSpPr>
          <p:spPr bwMode="auto">
            <a:xfrm>
              <a:off x="2413"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6" name="Rectangle 100"/>
            <p:cNvSpPr>
              <a:spLocks noChangeArrowheads="1"/>
            </p:cNvSpPr>
            <p:nvPr/>
          </p:nvSpPr>
          <p:spPr bwMode="auto">
            <a:xfrm>
              <a:off x="275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7" name="Rectangle 101"/>
            <p:cNvSpPr>
              <a:spLocks noChangeArrowheads="1"/>
            </p:cNvSpPr>
            <p:nvPr/>
          </p:nvSpPr>
          <p:spPr bwMode="auto">
            <a:xfrm>
              <a:off x="3094"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8" name="Rectangle 102"/>
            <p:cNvSpPr>
              <a:spLocks noChangeArrowheads="1"/>
            </p:cNvSpPr>
            <p:nvPr/>
          </p:nvSpPr>
          <p:spPr bwMode="auto">
            <a:xfrm>
              <a:off x="3435"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09" name="Rectangle 103"/>
            <p:cNvSpPr>
              <a:spLocks noChangeArrowheads="1"/>
            </p:cNvSpPr>
            <p:nvPr/>
          </p:nvSpPr>
          <p:spPr bwMode="auto">
            <a:xfrm>
              <a:off x="3775" y="2437"/>
              <a:ext cx="109"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0" name="Rectangle 104"/>
            <p:cNvSpPr>
              <a:spLocks noChangeArrowheads="1"/>
            </p:cNvSpPr>
            <p:nvPr/>
          </p:nvSpPr>
          <p:spPr bwMode="auto">
            <a:xfrm>
              <a:off x="4116"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8</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1" name="Rectangle 105"/>
            <p:cNvSpPr>
              <a:spLocks noChangeArrowheads="1"/>
            </p:cNvSpPr>
            <p:nvPr/>
          </p:nvSpPr>
          <p:spPr bwMode="auto">
            <a:xfrm>
              <a:off x="445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2" name="Rectangle 106"/>
            <p:cNvSpPr>
              <a:spLocks noChangeArrowheads="1"/>
            </p:cNvSpPr>
            <p:nvPr/>
          </p:nvSpPr>
          <p:spPr bwMode="auto">
            <a:xfrm>
              <a:off x="4797" y="2437"/>
              <a:ext cx="108" cy="16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3" name="Rectangle 107"/>
            <p:cNvSpPr>
              <a:spLocks noChangeArrowheads="1"/>
            </p:cNvSpPr>
            <p:nvPr/>
          </p:nvSpPr>
          <p:spPr bwMode="auto">
            <a:xfrm>
              <a:off x="710"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7</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4" name="Rectangle 108"/>
            <p:cNvSpPr>
              <a:spLocks noChangeArrowheads="1"/>
            </p:cNvSpPr>
            <p:nvPr/>
          </p:nvSpPr>
          <p:spPr bwMode="auto">
            <a:xfrm>
              <a:off x="1050"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6" name="Rectangle 110"/>
            <p:cNvSpPr>
              <a:spLocks noChangeArrowheads="1"/>
            </p:cNvSpPr>
            <p:nvPr/>
          </p:nvSpPr>
          <p:spPr bwMode="auto">
            <a:xfrm>
              <a:off x="173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7" name="Rectangle 111"/>
            <p:cNvSpPr>
              <a:spLocks noChangeArrowheads="1"/>
            </p:cNvSpPr>
            <p:nvPr/>
          </p:nvSpPr>
          <p:spPr bwMode="auto">
            <a:xfrm>
              <a:off x="2072"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8" name="Rectangle 112"/>
            <p:cNvSpPr>
              <a:spLocks noChangeArrowheads="1"/>
            </p:cNvSpPr>
            <p:nvPr/>
          </p:nvSpPr>
          <p:spPr bwMode="auto">
            <a:xfrm>
              <a:off x="2413"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3</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19" name="Rectangle 113"/>
            <p:cNvSpPr>
              <a:spLocks noChangeArrowheads="1"/>
            </p:cNvSpPr>
            <p:nvPr/>
          </p:nvSpPr>
          <p:spPr bwMode="auto">
            <a:xfrm>
              <a:off x="275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0" name="Rectangle 114"/>
            <p:cNvSpPr>
              <a:spLocks noChangeArrowheads="1"/>
            </p:cNvSpPr>
            <p:nvPr/>
          </p:nvSpPr>
          <p:spPr bwMode="auto">
            <a:xfrm>
              <a:off x="3094"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5</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1" name="Rectangle 115"/>
            <p:cNvSpPr>
              <a:spLocks noChangeArrowheads="1"/>
            </p:cNvSpPr>
            <p:nvPr/>
          </p:nvSpPr>
          <p:spPr bwMode="auto">
            <a:xfrm>
              <a:off x="3435"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6</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2" name="Rectangle 116"/>
            <p:cNvSpPr>
              <a:spLocks noChangeArrowheads="1"/>
            </p:cNvSpPr>
            <p:nvPr/>
          </p:nvSpPr>
          <p:spPr bwMode="auto">
            <a:xfrm>
              <a:off x="3775" y="2663"/>
              <a:ext cx="10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3" name="Rectangle 117"/>
            <p:cNvSpPr>
              <a:spLocks noChangeArrowheads="1"/>
            </p:cNvSpPr>
            <p:nvPr/>
          </p:nvSpPr>
          <p:spPr bwMode="auto">
            <a:xfrm>
              <a:off x="4116" y="2663"/>
              <a:ext cx="10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9</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4" name="Rectangle 118"/>
            <p:cNvSpPr>
              <a:spLocks noChangeArrowheads="1"/>
            </p:cNvSpPr>
            <p:nvPr/>
          </p:nvSpPr>
          <p:spPr bwMode="auto">
            <a:xfrm>
              <a:off x="4457" y="2663"/>
              <a:ext cx="168"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125" name="Rectangle 119"/>
            <p:cNvSpPr>
              <a:spLocks noChangeArrowheads="1"/>
            </p:cNvSpPr>
            <p:nvPr/>
          </p:nvSpPr>
          <p:spPr bwMode="auto">
            <a:xfrm>
              <a:off x="4797" y="2663"/>
              <a:ext cx="169" cy="16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grpSp>
      <p:sp>
        <p:nvSpPr>
          <p:cNvPr id="2" name="Rectangle 57"/>
          <p:cNvSpPr>
            <a:spLocks noChangeArrowheads="1"/>
          </p:cNvSpPr>
          <p:nvPr/>
        </p:nvSpPr>
        <p:spPr bwMode="auto">
          <a:xfrm>
            <a:off x="228060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5" name="Rectangle 58"/>
          <p:cNvSpPr>
            <a:spLocks noChangeArrowheads="1"/>
          </p:cNvSpPr>
          <p:nvPr/>
        </p:nvSpPr>
        <p:spPr bwMode="auto">
          <a:xfrm>
            <a:off x="28219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6" name="Rectangle 59"/>
          <p:cNvSpPr>
            <a:spLocks noChangeArrowheads="1"/>
          </p:cNvSpPr>
          <p:nvPr/>
        </p:nvSpPr>
        <p:spPr bwMode="auto">
          <a:xfrm>
            <a:off x="336169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7" name="Rectangle 60"/>
          <p:cNvSpPr>
            <a:spLocks noChangeArrowheads="1"/>
          </p:cNvSpPr>
          <p:nvPr/>
        </p:nvSpPr>
        <p:spPr bwMode="auto">
          <a:xfrm>
            <a:off x="39030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8" name="Rectangle 61"/>
          <p:cNvSpPr>
            <a:spLocks noChangeArrowheads="1"/>
          </p:cNvSpPr>
          <p:nvPr/>
        </p:nvSpPr>
        <p:spPr bwMode="auto">
          <a:xfrm>
            <a:off x="444436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29" name="Rectangle 62"/>
          <p:cNvSpPr>
            <a:spLocks noChangeArrowheads="1"/>
          </p:cNvSpPr>
          <p:nvPr/>
        </p:nvSpPr>
        <p:spPr bwMode="auto">
          <a:xfrm>
            <a:off x="4984116"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0" name="Rectangle 63"/>
          <p:cNvSpPr>
            <a:spLocks noChangeArrowheads="1"/>
          </p:cNvSpPr>
          <p:nvPr/>
        </p:nvSpPr>
        <p:spPr bwMode="auto">
          <a:xfrm>
            <a:off x="5525453"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1" name="Rectangle 64"/>
          <p:cNvSpPr>
            <a:spLocks noChangeArrowheads="1"/>
          </p:cNvSpPr>
          <p:nvPr/>
        </p:nvSpPr>
        <p:spPr bwMode="auto">
          <a:xfrm>
            <a:off x="6065203" y="3604896"/>
            <a:ext cx="173038"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2" name="Rectangle 65"/>
          <p:cNvSpPr>
            <a:spLocks noChangeArrowheads="1"/>
          </p:cNvSpPr>
          <p:nvPr/>
        </p:nvSpPr>
        <p:spPr bwMode="auto">
          <a:xfrm>
            <a:off x="6606541"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3" name="Rectangle 66"/>
          <p:cNvSpPr>
            <a:spLocks noChangeArrowheads="1"/>
          </p:cNvSpPr>
          <p:nvPr/>
        </p:nvSpPr>
        <p:spPr bwMode="auto">
          <a:xfrm>
            <a:off x="714787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4" name="Rectangle 67"/>
          <p:cNvSpPr>
            <a:spLocks noChangeArrowheads="1"/>
          </p:cNvSpPr>
          <p:nvPr/>
        </p:nvSpPr>
        <p:spPr bwMode="auto">
          <a:xfrm>
            <a:off x="7687628" y="360489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5" name="Rectangle 70"/>
          <p:cNvSpPr>
            <a:spLocks noChangeArrowheads="1"/>
          </p:cNvSpPr>
          <p:nvPr/>
        </p:nvSpPr>
        <p:spPr bwMode="auto">
          <a:xfrm>
            <a:off x="2280603"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6" name="Rectangle 83"/>
          <p:cNvSpPr>
            <a:spLocks noChangeArrowheads="1"/>
          </p:cNvSpPr>
          <p:nvPr/>
        </p:nvSpPr>
        <p:spPr bwMode="auto">
          <a:xfrm>
            <a:off x="2280603" y="4330383"/>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7" name="Rectangle 96"/>
          <p:cNvSpPr>
            <a:spLocks noChangeArrowheads="1"/>
          </p:cNvSpPr>
          <p:nvPr/>
        </p:nvSpPr>
        <p:spPr bwMode="auto">
          <a:xfrm>
            <a:off x="2280603" y="4692333"/>
            <a:ext cx="171450" cy="266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8" name="Rectangle 109"/>
          <p:cNvSpPr>
            <a:spLocks noChangeArrowheads="1"/>
          </p:cNvSpPr>
          <p:nvPr/>
        </p:nvSpPr>
        <p:spPr bwMode="auto">
          <a:xfrm>
            <a:off x="2280603" y="5051108"/>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FF0000"/>
                </a:solidFill>
                <a:effectLst/>
                <a:latin typeface="Times New Roman" panose="02020603050405020304" pitchFamily="18" charset="0"/>
              </a:rPr>
              <a:t>0</a:t>
            </a:r>
            <a:endParaRPr kumimoji="0" lang="zh-CN" altLang="zh-CN" sz="1400" b="0" i="0" u="none" strike="noStrike" cap="none" normalizeH="0" baseline="0">
              <a:ln>
                <a:noFill/>
              </a:ln>
              <a:solidFill>
                <a:srgbClr val="FF0000"/>
              </a:solidFill>
              <a:effectLst/>
              <a:latin typeface="Times New Roman" panose="02020603050405020304" pitchFamily="18" charset="0"/>
            </a:endParaRPr>
          </a:p>
        </p:txBody>
      </p:sp>
      <p:sp>
        <p:nvSpPr>
          <p:cNvPr id="139" name="文本框 138"/>
          <p:cNvSpPr txBox="1"/>
          <p:nvPr/>
        </p:nvSpPr>
        <p:spPr>
          <a:xfrm>
            <a:off x="755650" y="5805170"/>
            <a:ext cx="2515235" cy="922020"/>
          </a:xfrm>
          <a:prstGeom prst="rect">
            <a:avLst/>
          </a:prstGeom>
          <a:noFill/>
        </p:spPr>
        <p:txBody>
          <a:bodyPr wrap="square" rtlCol="0">
            <a:spAutoFit/>
          </a:bodyPr>
          <a:p>
            <a:r>
              <a:rPr lang="en-US" altLang="zh-CN">
                <a:latin typeface="Times New Roman" panose="02020603050405020304" pitchFamily="18" charset="0"/>
                <a:cs typeface="Times New Roman" panose="02020603050405020304" pitchFamily="18" charset="0"/>
              </a:rPr>
              <a:t>j&lt;w[i]</a:t>
            </a:r>
            <a:r>
              <a:rPr lang="zh-CN" altLang="en-US">
                <a:latin typeface="Times New Roman" panose="02020603050405020304" pitchFamily="18" charset="0"/>
                <a:cs typeface="Times New Roman" panose="02020603050405020304" pitchFamily="18" charset="0"/>
              </a:rPr>
              <a:t>表明装不下该物品，则不考虑该物品的最大值</a:t>
            </a:r>
            <a:endParaRPr lang="zh-CN" altLang="en-US">
              <a:latin typeface="Times New Roman" panose="02020603050405020304" pitchFamily="18" charset="0"/>
              <a:cs typeface="Times New Roman" panose="02020603050405020304" pitchFamily="18" charset="0"/>
            </a:endParaRPr>
          </a:p>
        </p:txBody>
      </p:sp>
      <p:sp>
        <p:nvSpPr>
          <p:cNvPr id="143" name="Rectangle 71"/>
          <p:cNvSpPr>
            <a:spLocks noChangeArrowheads="1"/>
          </p:cNvSpPr>
          <p:nvPr/>
        </p:nvSpPr>
        <p:spPr bwMode="auto">
          <a:xfrm>
            <a:off x="282194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0</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
        <p:nvSpPr>
          <p:cNvPr id="64" name="文本框 63"/>
          <p:cNvSpPr txBox="1"/>
          <p:nvPr/>
        </p:nvSpPr>
        <p:spPr>
          <a:xfrm>
            <a:off x="3825875" y="5445125"/>
            <a:ext cx="4024630" cy="1971675"/>
          </a:xfrm>
          <a:prstGeom prst="rect">
            <a:avLst/>
          </a:prstGeom>
          <a:noFill/>
        </p:spPr>
        <p:txBody>
          <a:bodyPr wrap="square" rtlCol="0">
            <a:noAutofit/>
          </a:bodyPr>
          <a:p>
            <a:r>
              <a:rPr lang="en-US" altLang="zh-CN">
                <a:latin typeface="Times New Roman" panose="02020603050405020304" pitchFamily="18" charset="0"/>
                <a:cs typeface="Times New Roman" panose="02020603050405020304" pitchFamily="18" charset="0"/>
              </a:rPr>
              <a:t>j&gt;=w[i]</a:t>
            </a:r>
            <a:r>
              <a:rPr lang="zh-CN" altLang="en-US">
                <a:latin typeface="Times New Roman" panose="02020603050405020304" pitchFamily="18" charset="0"/>
                <a:cs typeface="Times New Roman" panose="02020603050405020304" pitchFamily="18" charset="0"/>
              </a:rPr>
              <a:t>表明可以装该物品，那么就可以考虑两个情况，①不考虑该物品的价值，②考虑该物品的价值，加上剩下口昂见存放之前物品存放的价值。两种情况选择</a:t>
            </a:r>
            <a:r>
              <a:rPr lang="zh-CN" altLang="en-US">
                <a:latin typeface="Times New Roman" panose="02020603050405020304" pitchFamily="18" charset="0"/>
                <a:cs typeface="Times New Roman" panose="02020603050405020304" pitchFamily="18" charset="0"/>
              </a:rPr>
              <a:t>最大</a:t>
            </a:r>
            <a:endParaRPr lang="zh-CN" altLang="en-US">
              <a:latin typeface="Times New Roman" panose="02020603050405020304" pitchFamily="18" charset="0"/>
              <a:cs typeface="Times New Roman" panose="02020603050405020304" pitchFamily="18" charset="0"/>
            </a:endParaRPr>
          </a:p>
        </p:txBody>
      </p:sp>
      <p:sp>
        <p:nvSpPr>
          <p:cNvPr id="65" name="矩形标注 64"/>
          <p:cNvSpPr/>
          <p:nvPr/>
        </p:nvSpPr>
        <p:spPr>
          <a:xfrm>
            <a:off x="327533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a:t>
            </a:r>
            <a:r>
              <a:rPr kumimoji="0" lang="zh-CN" altLang="en-US" sz="1200" b="1" u="none" strike="noStrike" cap="none" normalizeH="0" baseline="0">
                <a:ln>
                  <a:noFill/>
                </a:ln>
                <a:solidFill>
                  <a:schemeClr val="tx1"/>
                </a:solidFill>
                <a:effectLst/>
                <a:latin typeface="宋体" panose="02010600030101010101" pitchFamily="2" charset="-122"/>
              </a:rPr>
              <a:t>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6" name="矩形标注 65"/>
          <p:cNvSpPr/>
          <p:nvPr/>
        </p:nvSpPr>
        <p:spPr>
          <a:xfrm>
            <a:off x="2598420" y="2059940"/>
            <a:ext cx="1308100" cy="758190"/>
          </a:xfrm>
          <a:prstGeom prst="wedgeRectCallout">
            <a:avLst>
              <a:gd name="adj1" fmla="val -63932"/>
              <a:gd name="adj2" fmla="val 167839"/>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考虑该物品，剩余空间为</a:t>
            </a:r>
            <a:r>
              <a:rPr kumimoji="0" lang="en-US" altLang="zh-CN" sz="1200" b="1" u="none" strike="noStrike" cap="none" normalizeH="0" baseline="0">
                <a:ln>
                  <a:noFill/>
                </a:ln>
                <a:solidFill>
                  <a:schemeClr val="tx1"/>
                </a:solidFill>
                <a:effectLst/>
                <a:latin typeface="宋体" panose="02010600030101010101" pitchFamily="2" charset="-122"/>
              </a:rPr>
              <a:t>j-w[i],</a:t>
            </a:r>
            <a:r>
              <a:rPr kumimoji="0" lang="zh-CN" altLang="en-US" sz="1200" b="1" u="none" strike="noStrike" cap="none" normalizeH="0" baseline="0">
                <a:ln>
                  <a:noFill/>
                </a:ln>
                <a:solidFill>
                  <a:schemeClr val="tx1"/>
                </a:solidFill>
                <a:effectLst/>
                <a:latin typeface="宋体" panose="02010600030101010101" pitchFamily="2" charset="-122"/>
              </a:rPr>
              <a:t>它能盛放最大价值</a:t>
            </a:r>
            <a:r>
              <a:rPr kumimoji="0" lang="zh-CN" altLang="en-US" sz="1200" b="1" u="none" strike="noStrike" cap="none" normalizeH="0" baseline="0">
                <a:ln>
                  <a:noFill/>
                </a:ln>
                <a:solidFill>
                  <a:schemeClr val="tx1"/>
                </a:solidFill>
                <a:effectLst/>
                <a:latin typeface="宋体" panose="02010600030101010101" pitchFamily="2" charset="-122"/>
              </a:rPr>
              <a:t>为。</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7" name="矩形标注 66"/>
          <p:cNvSpPr/>
          <p:nvPr/>
        </p:nvSpPr>
        <p:spPr>
          <a:xfrm>
            <a:off x="3851910" y="2204720"/>
            <a:ext cx="1273175" cy="613410"/>
          </a:xfrm>
          <a:prstGeom prst="wedgeRectCallout">
            <a:avLst>
              <a:gd name="adj1" fmla="val -72344"/>
              <a:gd name="adj2" fmla="val 190786"/>
            </a:avLst>
          </a:prstGeom>
          <a:solidFill>
            <a:schemeClr val="accent1"/>
          </a:solidFill>
          <a:ln w="9525" cap="flat" cmpd="sng" algn="ctr">
            <a:solidFill>
              <a:schemeClr val="tx1"/>
            </a:solidFill>
            <a:prstDash val="solid"/>
            <a:round/>
            <a:headEnd type="none" w="med" len="med"/>
            <a:tailEnd type="none" w="med" len="med"/>
          </a:ln>
        </p:spPr>
        <p:txBody>
          <a:bodyPr vert="horz" wrap="square" lIns="91440" tIns="45720" rIns="91440" bIns="45720" numCol="1" anchor="t" anchorCtr="0" compatLnSpc="1"/>
          <a:lstStyle/>
          <a:p>
            <a:pPr marL="0" marR="0" indent="0" algn="l" defTabSz="914400" rtl="0" eaLnBrk="1" fontAlgn="base" latinLnBrk="0" hangingPunct="1">
              <a:lnSpc>
                <a:spcPct val="100000"/>
              </a:lnSpc>
              <a:spcBef>
                <a:spcPct val="0"/>
              </a:spcBef>
              <a:spcAft>
                <a:spcPct val="0"/>
              </a:spcAft>
              <a:buClrTx/>
              <a:buSzTx/>
              <a:buFontTx/>
              <a:buNone/>
            </a:pPr>
            <a:r>
              <a:rPr kumimoji="0" lang="zh-CN" altLang="en-US" sz="1200" b="1" u="none" strike="noStrike" cap="none" normalizeH="0" baseline="0">
                <a:ln>
                  <a:noFill/>
                </a:ln>
                <a:solidFill>
                  <a:schemeClr val="tx1"/>
                </a:solidFill>
                <a:effectLst/>
                <a:latin typeface="宋体" panose="02010600030101010101" pitchFamily="2" charset="-122"/>
              </a:rPr>
              <a:t>不考虑该物品则在上一行，直接获取</a:t>
            </a:r>
            <a:r>
              <a:rPr kumimoji="0" lang="zh-CN" altLang="en-US" sz="1200" b="1" u="none" strike="noStrike" cap="none" normalizeH="0" baseline="0">
                <a:ln>
                  <a:noFill/>
                </a:ln>
                <a:solidFill>
                  <a:schemeClr val="tx1"/>
                </a:solidFill>
                <a:effectLst/>
                <a:latin typeface="宋体" panose="02010600030101010101" pitchFamily="2" charset="-122"/>
              </a:rPr>
              <a:t>结果。</a:t>
            </a:r>
            <a:endParaRPr kumimoji="0" lang="zh-CN" altLang="en-US" sz="1200" b="1" u="none" strike="noStrike" cap="none" normalizeH="0" baseline="0">
              <a:ln>
                <a:noFill/>
              </a:ln>
              <a:solidFill>
                <a:schemeClr val="tx1"/>
              </a:solidFill>
              <a:effectLst/>
              <a:latin typeface="宋体" panose="02010600030101010101" pitchFamily="2" charset="-122"/>
            </a:endParaRPr>
          </a:p>
        </p:txBody>
      </p:sp>
      <p:sp>
        <p:nvSpPr>
          <p:cNvPr id="68" name="Rectangle 72"/>
          <p:cNvSpPr>
            <a:spLocks noChangeArrowheads="1"/>
          </p:cNvSpPr>
          <p:nvPr/>
        </p:nvSpPr>
        <p:spPr bwMode="auto">
          <a:xfrm>
            <a:off x="3361691" y="3966846"/>
            <a:ext cx="171450" cy="268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none" lIns="0" tIns="0" rIns="0" bIns="0" numCol="1" anchor="t" anchorCtr="0" compatLnSpc="1">
            <a:spAutoFit/>
          </a:bodyPr>
          <a:lstStyle>
            <a:lvl1pPr>
              <a:defRPr>
                <a:solidFill>
                  <a:schemeClr val="tx1"/>
                </a:solidFill>
                <a:latin typeface="Arial" panose="020B0604020202020204" pitchFamily="34" charset="0"/>
              </a:defRPr>
            </a:lvl1pPr>
            <a:lvl2pPr>
              <a:defRPr>
                <a:solidFill>
                  <a:schemeClr val="tx1"/>
                </a:solidFill>
                <a:latin typeface="Arial" panose="020B0604020202020204" pitchFamily="34" charset="0"/>
              </a:defRPr>
            </a:lvl2pPr>
            <a:lvl3pPr>
              <a:defRPr>
                <a:solidFill>
                  <a:schemeClr val="tx1"/>
                </a:solidFill>
                <a:latin typeface="Arial" panose="020B0604020202020204" pitchFamily="34" charset="0"/>
              </a:defRPr>
            </a:lvl3pPr>
            <a:lvl4pPr>
              <a:defRPr>
                <a:solidFill>
                  <a:schemeClr val="tx1"/>
                </a:solidFill>
                <a:latin typeface="Arial" panose="020B0604020202020204" pitchFamily="34" charset="0"/>
              </a:defRPr>
            </a:lvl4pPr>
            <a:lvl5pPr>
              <a:defRPr>
                <a:solidFill>
                  <a:schemeClr val="tx1"/>
                </a:solidFill>
                <a:latin typeface="Arial" panose="020B0604020202020204" pitchFamily="34" charset="0"/>
              </a:defRPr>
            </a:lvl5pPr>
            <a:lvl6pPr eaLnBrk="0" fontAlgn="base" hangingPunct="0">
              <a:spcBef>
                <a:spcPct val="0"/>
              </a:spcBef>
              <a:spcAft>
                <a:spcPct val="0"/>
              </a:spcAft>
              <a:defRPr>
                <a:solidFill>
                  <a:schemeClr val="tx1"/>
                </a:solidFill>
                <a:latin typeface="Arial" panose="020B0604020202020204" pitchFamily="34" charset="0"/>
              </a:defRPr>
            </a:lvl6pPr>
            <a:lvl7pPr eaLnBrk="0" fontAlgn="base" hangingPunct="0">
              <a:spcBef>
                <a:spcPct val="0"/>
              </a:spcBef>
              <a:spcAft>
                <a:spcPct val="0"/>
              </a:spcAft>
              <a:defRPr>
                <a:solidFill>
                  <a:schemeClr val="tx1"/>
                </a:solidFill>
                <a:latin typeface="Arial" panose="020B0604020202020204" pitchFamily="34" charset="0"/>
              </a:defRPr>
            </a:lvl7pPr>
            <a:lvl8pPr eaLnBrk="0" fontAlgn="base" hangingPunct="0">
              <a:spcBef>
                <a:spcPct val="0"/>
              </a:spcBef>
              <a:spcAft>
                <a:spcPct val="0"/>
              </a:spcAft>
              <a:defRPr>
                <a:solidFill>
                  <a:schemeClr val="tx1"/>
                </a:solidFill>
                <a:latin typeface="Arial" panose="020B0604020202020204" pitchFamily="34" charset="0"/>
              </a:defRPr>
            </a:lvl8pPr>
            <a:lvl9pPr eaLnBrk="0" fontAlgn="base" hangingPunct="0">
              <a:spcBef>
                <a:spcPct val="0"/>
              </a:spcBef>
              <a:spcAft>
                <a:spcPct val="0"/>
              </a:spcAft>
              <a:defRPr>
                <a:solidFill>
                  <a:schemeClr val="tx1"/>
                </a:solidFill>
                <a:latin typeface="Arial" panose="020B0604020202020204" pitchFamily="34" charset="0"/>
              </a:defRPr>
            </a:lvl9pPr>
          </a:lstStyle>
          <a:p>
            <a:pPr marL="0" marR="0" lvl="0" indent="0" algn="l" defTabSz="914400" rtl="0" eaLnBrk="0" fontAlgn="base" latinLnBrk="0" hangingPunct="0">
              <a:lnSpc>
                <a:spcPct val="100000"/>
              </a:lnSpc>
              <a:spcBef>
                <a:spcPct val="0"/>
              </a:spcBef>
              <a:spcAft>
                <a:spcPct val="0"/>
              </a:spcAft>
              <a:buClrTx/>
              <a:buSzTx/>
              <a:buFontTx/>
              <a:buNone/>
            </a:pPr>
            <a:r>
              <a:rPr kumimoji="0" lang="zh-CN" altLang="zh-CN" sz="1400" b="0" i="0" u="none" strike="noStrike" cap="none" normalizeH="0" baseline="0">
                <a:ln>
                  <a:noFill/>
                </a:ln>
                <a:solidFill>
                  <a:srgbClr val="000000"/>
                </a:solidFill>
                <a:effectLst/>
                <a:latin typeface="Times New Roman" panose="02020603050405020304" pitchFamily="18" charset="0"/>
              </a:rPr>
              <a:t>1</a:t>
            </a:r>
            <a:endParaRPr kumimoji="0" lang="zh-CN" altLang="zh-CN" sz="1800" b="0" i="0" u="none" strike="noStrike" cap="none" normalizeH="0" baseline="0">
              <a:ln>
                <a:noFill/>
              </a:ln>
              <a:solidFill>
                <a:schemeClr val="tx1"/>
              </a:solidFill>
              <a:effectLst/>
              <a:latin typeface="Arial" panose="020B0604020202020204" pitchFamily="34" charset="0"/>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additive="base">
                                        <p:cTn id="7" dur="500" fill="hold"/>
                                        <p:tgtEl>
                                          <p:spTgt spid="12"/>
                                        </p:tgtEl>
                                        <p:attrNameLst>
                                          <p:attrName>ppt_x</p:attrName>
                                        </p:attrNameLst>
                                      </p:cBhvr>
                                      <p:tavLst>
                                        <p:tav tm="0">
                                          <p:val>
                                            <p:strVal val="#ppt_x"/>
                                          </p:val>
                                        </p:tav>
                                        <p:tav tm="100000">
                                          <p:val>
                                            <p:strVal val="#ppt_x"/>
                                          </p:val>
                                        </p:tav>
                                      </p:tavLst>
                                    </p:anim>
                                    <p:anim calcmode="lin" valueType="num">
                                      <p:cBhvr additive="base">
                                        <p:cTn id="8" dur="500" fill="hold"/>
                                        <p:tgtEl>
                                          <p:spTgt spid="12"/>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anim calcmode="lin" valueType="num">
                                      <p:cBhvr additive="base">
                                        <p:cTn id="11" dur="500" fill="hold"/>
                                        <p:tgtEl>
                                          <p:spTgt spid="13"/>
                                        </p:tgtEl>
                                        <p:attrNameLst>
                                          <p:attrName>ppt_x</p:attrName>
                                        </p:attrNameLst>
                                      </p:cBhvr>
                                      <p:tavLst>
                                        <p:tav tm="0">
                                          <p:val>
                                            <p:strVal val="#ppt_x"/>
                                          </p:val>
                                        </p:tav>
                                        <p:tav tm="100000">
                                          <p:val>
                                            <p:strVal val="#ppt_x"/>
                                          </p:val>
                                        </p:tav>
                                      </p:tavLst>
                                    </p:anim>
                                    <p:anim calcmode="lin" valueType="num">
                                      <p:cBhvr additive="base">
                                        <p:cTn id="12" dur="500" fill="hold"/>
                                        <p:tgtEl>
                                          <p:spTgt spid="13"/>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anim calcmode="lin" valueType="num">
                                      <p:cBhvr additive="base">
                                        <p:cTn id="15" dur="500" fill="hold"/>
                                        <p:tgtEl>
                                          <p:spTgt spid="16"/>
                                        </p:tgtEl>
                                        <p:attrNameLst>
                                          <p:attrName>ppt_x</p:attrName>
                                        </p:attrNameLst>
                                      </p:cBhvr>
                                      <p:tavLst>
                                        <p:tav tm="0">
                                          <p:val>
                                            <p:strVal val="#ppt_x"/>
                                          </p:val>
                                        </p:tav>
                                        <p:tav tm="100000">
                                          <p:val>
                                            <p:strVal val="#ppt_x"/>
                                          </p:val>
                                        </p:tav>
                                      </p:tavLst>
                                    </p:anim>
                                    <p:anim calcmode="lin" valueType="num">
                                      <p:cBhvr additive="base">
                                        <p:cTn id="16" dur="500" fill="hold"/>
                                        <p:tgtEl>
                                          <p:spTgt spid="16"/>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27"/>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128"/>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129"/>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30"/>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3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132"/>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3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34"/>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135"/>
                                        </p:tgtEl>
                                        <p:attrNameLst>
                                          <p:attrName>style.visibility</p:attrName>
                                        </p:attrNameLst>
                                      </p:cBhvr>
                                      <p:to>
                                        <p:strVal val="visible"/>
                                      </p:to>
                                    </p:set>
                                  </p:childTnLst>
                                </p:cTn>
                              </p:par>
                              <p:par>
                                <p:cTn id="43" presetID="1" presetClass="entr" presetSubtype="0" fill="hold" grpId="0" nodeType="withEffect">
                                  <p:stCondLst>
                                    <p:cond delay="0"/>
                                  </p:stCondLst>
                                  <p:childTnLst>
                                    <p:set>
                                      <p:cBhvr>
                                        <p:cTn id="44" dur="1" fill="hold">
                                          <p:stCondLst>
                                            <p:cond delay="0"/>
                                          </p:stCondLst>
                                        </p:cTn>
                                        <p:tgtEl>
                                          <p:spTgt spid="136"/>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3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3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3" nodeType="clickEffect">
                                  <p:stCondLst>
                                    <p:cond delay="0"/>
                                  </p:stCondLst>
                                  <p:childTnLst>
                                    <p:set>
                                      <p:cBhvr>
                                        <p:cTn id="52" dur="1" fill="hold">
                                          <p:stCondLst>
                                            <p:cond delay="0"/>
                                          </p:stCondLst>
                                        </p:cTn>
                                        <p:tgtEl>
                                          <p:spTgt spid="142"/>
                                        </p:tgtEl>
                                        <p:attrNameLst>
                                          <p:attrName>style.visibility</p:attrName>
                                        </p:attrNameLst>
                                      </p:cBhvr>
                                      <p:to>
                                        <p:strVal val="visible"/>
                                      </p:to>
                                    </p:set>
                                  </p:childTnLst>
                                </p:cTn>
                              </p:par>
                            </p:childTnLst>
                          </p:cTn>
                        </p:par>
                        <p:par>
                          <p:cTn id="53" fill="hold">
                            <p:stCondLst>
                              <p:cond delay="0"/>
                            </p:stCondLst>
                            <p:childTnLst>
                              <p:par>
                                <p:cTn id="54" presetID="35" presetClass="emph" presetSubtype="0" fill="hold" grpId="0" nodeType="afterEffect">
                                  <p:stCondLst>
                                    <p:cond delay="0"/>
                                  </p:stCondLst>
                                  <p:childTnLst>
                                    <p:anim calcmode="discrete" valueType="str">
                                      <p:cBhvr>
                                        <p:cTn id="55" dur="1000" fill="hold"/>
                                        <p:tgtEl>
                                          <p:spTgt spid="142"/>
                                        </p:tgtEl>
                                        <p:attrNameLst>
                                          <p:attrName>style.visibility</p:attrName>
                                        </p:attrNameLst>
                                      </p:cBhvr>
                                      <p:tavLst>
                                        <p:tav tm="0">
                                          <p:val>
                                            <p:strVal val="hidden"/>
                                          </p:val>
                                        </p:tav>
                                        <p:tav tm="50000">
                                          <p:val>
                                            <p:strVal val="visible"/>
                                          </p:val>
                                        </p:tav>
                                      </p:tavLst>
                                    </p:anim>
                                  </p:childTnLst>
                                </p:cTn>
                              </p:par>
                            </p:childTnLst>
                          </p:cTn>
                        </p:par>
                        <p:par>
                          <p:cTn id="56" fill="hold">
                            <p:stCondLst>
                              <p:cond delay="1000"/>
                            </p:stCondLst>
                            <p:childTnLst>
                              <p:par>
                                <p:cTn id="57" presetID="35" presetClass="emph" presetSubtype="0" fill="hold" grpId="2" nodeType="afterEffect">
                                  <p:stCondLst>
                                    <p:cond delay="0"/>
                                  </p:stCondLst>
                                  <p:childTnLst>
                                    <p:anim calcmode="discrete" valueType="str">
                                      <p:cBhvr>
                                        <p:cTn id="58" dur="1000" fill="hold"/>
                                        <p:tgtEl>
                                          <p:spTgt spid="142"/>
                                        </p:tgtEl>
                                        <p:attrNameLst>
                                          <p:attrName>style.visibility</p:attrName>
                                        </p:attrNameLst>
                                      </p:cBhvr>
                                      <p:tavLst>
                                        <p:tav tm="0">
                                          <p:val>
                                            <p:strVal val="hidden"/>
                                          </p:val>
                                        </p:tav>
                                        <p:tav tm="50000">
                                          <p:val>
                                            <p:strVal val="visible"/>
                                          </p:val>
                                        </p:tav>
                                      </p:tavLst>
                                    </p:anim>
                                  </p:childTnLst>
                                </p:cTn>
                              </p:par>
                            </p:childTnLst>
                          </p:cTn>
                        </p:par>
                      </p:childTnLst>
                    </p:cTn>
                  </p:par>
                  <p:par>
                    <p:cTn id="59" fill="hold">
                      <p:stCondLst>
                        <p:cond delay="indefinite"/>
                      </p:stCondLst>
                      <p:childTnLst>
                        <p:par>
                          <p:cTn id="60" fill="hold">
                            <p:stCondLst>
                              <p:cond delay="0"/>
                            </p:stCondLst>
                            <p:childTnLst>
                              <p:par>
                                <p:cTn id="61" presetID="2" presetClass="entr" presetSubtype="4" fill="hold" grpId="0" nodeType="clickEffect">
                                  <p:stCondLst>
                                    <p:cond delay="0"/>
                                  </p:stCondLst>
                                  <p:childTnLst>
                                    <p:set>
                                      <p:cBhvr>
                                        <p:cTn id="62" dur="1" fill="hold">
                                          <p:stCondLst>
                                            <p:cond delay="0"/>
                                          </p:stCondLst>
                                        </p:cTn>
                                        <p:tgtEl>
                                          <p:spTgt spid="139"/>
                                        </p:tgtEl>
                                        <p:attrNameLst>
                                          <p:attrName>style.visibility</p:attrName>
                                        </p:attrNameLst>
                                      </p:cBhvr>
                                      <p:to>
                                        <p:strVal val="visible"/>
                                      </p:to>
                                    </p:set>
                                    <p:anim calcmode="lin" valueType="num">
                                      <p:cBhvr additive="base">
                                        <p:cTn id="63" dur="500" fill="hold"/>
                                        <p:tgtEl>
                                          <p:spTgt spid="139"/>
                                        </p:tgtEl>
                                        <p:attrNameLst>
                                          <p:attrName>ppt_x</p:attrName>
                                        </p:attrNameLst>
                                      </p:cBhvr>
                                      <p:tavLst>
                                        <p:tav tm="0">
                                          <p:val>
                                            <p:strVal val="#ppt_x"/>
                                          </p:val>
                                        </p:tav>
                                        <p:tav tm="100000">
                                          <p:val>
                                            <p:strVal val="#ppt_x"/>
                                          </p:val>
                                        </p:tav>
                                      </p:tavLst>
                                    </p:anim>
                                    <p:anim calcmode="lin" valueType="num">
                                      <p:cBhvr additive="base">
                                        <p:cTn id="64" dur="500" fill="hold"/>
                                        <p:tgtEl>
                                          <p:spTgt spid="139"/>
                                        </p:tgtEl>
                                        <p:attrNameLst>
                                          <p:attrName>ppt_y</p:attrName>
                                        </p:attrNameLst>
                                      </p:cBhvr>
                                      <p:tavLst>
                                        <p:tav tm="0">
                                          <p:val>
                                            <p:strVal val="1+#ppt_h/2"/>
                                          </p:val>
                                        </p:tav>
                                        <p:tav tm="100000">
                                          <p:val>
                                            <p:strVal val="#ppt_y"/>
                                          </p:val>
                                        </p:tav>
                                      </p:tavLst>
                                    </p:anim>
                                  </p:childTnLst>
                                </p:cTn>
                              </p:par>
                            </p:childTnLst>
                          </p:cTn>
                        </p:par>
                      </p:childTnLst>
                    </p:cTn>
                  </p:par>
                  <p:par>
                    <p:cTn id="65" fill="hold">
                      <p:stCondLst>
                        <p:cond delay="indefinite"/>
                      </p:stCondLst>
                      <p:childTnLst>
                        <p:par>
                          <p:cTn id="66" fill="hold">
                            <p:stCondLst>
                              <p:cond delay="0"/>
                            </p:stCondLst>
                            <p:childTnLst>
                              <p:par>
                                <p:cTn id="67" presetID="2" presetClass="entr" presetSubtype="4" fill="hold" grpId="0" nodeType="clickEffect">
                                  <p:stCondLst>
                                    <p:cond delay="0"/>
                                  </p:stCondLst>
                                  <p:childTnLst>
                                    <p:set>
                                      <p:cBhvr>
                                        <p:cTn id="68" dur="1" fill="hold">
                                          <p:stCondLst>
                                            <p:cond delay="0"/>
                                          </p:stCondLst>
                                        </p:cTn>
                                        <p:tgtEl>
                                          <p:spTgt spid="65"/>
                                        </p:tgtEl>
                                        <p:attrNameLst>
                                          <p:attrName>style.visibility</p:attrName>
                                        </p:attrNameLst>
                                      </p:cBhvr>
                                      <p:to>
                                        <p:strVal val="visible"/>
                                      </p:to>
                                    </p:set>
                                    <p:anim calcmode="lin" valueType="num">
                                      <p:cBhvr additive="base">
                                        <p:cTn id="69" dur="500" fill="hold"/>
                                        <p:tgtEl>
                                          <p:spTgt spid="65"/>
                                        </p:tgtEl>
                                        <p:attrNameLst>
                                          <p:attrName>ppt_x</p:attrName>
                                        </p:attrNameLst>
                                      </p:cBhvr>
                                      <p:tavLst>
                                        <p:tav tm="0">
                                          <p:val>
                                            <p:strVal val="#ppt_x"/>
                                          </p:val>
                                        </p:tav>
                                        <p:tav tm="100000">
                                          <p:val>
                                            <p:strVal val="#ppt_x"/>
                                          </p:val>
                                        </p:tav>
                                      </p:tavLst>
                                    </p:anim>
                                    <p:anim calcmode="lin" valueType="num">
                                      <p:cBhvr additive="base">
                                        <p:cTn id="70" dur="500" fill="hold"/>
                                        <p:tgtEl>
                                          <p:spTgt spid="65"/>
                                        </p:tgtEl>
                                        <p:attrNameLst>
                                          <p:attrName>ppt_y</p:attrName>
                                        </p:attrNameLst>
                                      </p:cBhvr>
                                      <p:tavLst>
                                        <p:tav tm="0">
                                          <p:val>
                                            <p:strVal val="1+#ppt_h/2"/>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3" presetID="1" presetClass="exit" presetSubtype="0" fill="hold" grpId="2" nodeType="clickEffect">
                                  <p:stCondLst>
                                    <p:cond delay="0"/>
                                  </p:stCondLst>
                                  <p:childTnLst>
                                    <p:set>
                                      <p:cBhvr>
                                        <p:cTn id="74" dur="1" fill="hold">
                                          <p:stCondLst>
                                            <p:cond delay="0"/>
                                          </p:stCondLst>
                                        </p:cTn>
                                        <p:tgtEl>
                                          <p:spTgt spid="65"/>
                                        </p:tgtEl>
                                        <p:attrNameLst>
                                          <p:attrName>style.visibility</p:attrName>
                                        </p:attrNameLst>
                                      </p:cBhvr>
                                      <p:to>
                                        <p:strVal val="hidden"/>
                                      </p:to>
                                    </p:set>
                                  </p:childTnLst>
                                </p:cTn>
                              </p:par>
                            </p:childTnLst>
                          </p:cTn>
                        </p:par>
                      </p:childTnLst>
                    </p:cTn>
                  </p:par>
                  <p:par>
                    <p:cTn id="75" fill="hold">
                      <p:stCondLst>
                        <p:cond delay="indefinite"/>
                      </p:stCondLst>
                      <p:childTnLst>
                        <p:par>
                          <p:cTn id="76" fill="hold">
                            <p:stCondLst>
                              <p:cond delay="0"/>
                            </p:stCondLst>
                            <p:childTnLst>
                              <p:par>
                                <p:cTn id="77" presetID="1" presetClass="entr" presetSubtype="0" fill="hold" grpId="0" nodeType="clickEffect">
                                  <p:stCondLst>
                                    <p:cond delay="0"/>
                                  </p:stCondLst>
                                  <p:childTnLst>
                                    <p:set>
                                      <p:cBhvr>
                                        <p:cTn id="78" dur="1" fill="hold">
                                          <p:stCondLst>
                                            <p:cond delay="0"/>
                                          </p:stCondLst>
                                        </p:cTn>
                                        <p:tgtEl>
                                          <p:spTgt spid="143"/>
                                        </p:tgtEl>
                                        <p:attrNameLst>
                                          <p:attrName>style.visibility</p:attrName>
                                        </p:attrNameLst>
                                      </p:cBhvr>
                                      <p:to>
                                        <p:strVal val="visible"/>
                                      </p:to>
                                    </p:set>
                                  </p:childTnLst>
                                </p:cTn>
                              </p:par>
                            </p:childTnLst>
                          </p:cTn>
                        </p:par>
                      </p:childTnLst>
                    </p:cTn>
                  </p:par>
                  <p:par>
                    <p:cTn id="79" fill="hold">
                      <p:stCondLst>
                        <p:cond delay="indefinite"/>
                      </p:stCondLst>
                      <p:childTnLst>
                        <p:par>
                          <p:cTn id="80" fill="hold">
                            <p:stCondLst>
                              <p:cond delay="0"/>
                            </p:stCondLst>
                            <p:childTnLst>
                              <p:par>
                                <p:cTn id="81" presetID="1" presetClass="exit" presetSubtype="0" fill="hold" grpId="4" nodeType="clickEffect">
                                  <p:stCondLst>
                                    <p:cond delay="0"/>
                                  </p:stCondLst>
                                  <p:childTnLst>
                                    <p:set>
                                      <p:cBhvr>
                                        <p:cTn id="82" dur="1" fill="hold">
                                          <p:stCondLst>
                                            <p:cond delay="0"/>
                                          </p:stCondLst>
                                        </p:cTn>
                                        <p:tgtEl>
                                          <p:spTgt spid="142"/>
                                        </p:tgtEl>
                                        <p:attrNameLst>
                                          <p:attrName>style.visibility</p:attrName>
                                        </p:attrNameLst>
                                      </p:cBhvr>
                                      <p:to>
                                        <p:strVal val="hidden"/>
                                      </p:to>
                                    </p:set>
                                  </p:childTnLst>
                                </p:cTn>
                              </p:par>
                            </p:childTnLst>
                          </p:cTn>
                        </p:par>
                      </p:childTnLst>
                    </p:cTn>
                  </p:par>
                  <p:par>
                    <p:cTn id="83" fill="hold">
                      <p:stCondLst>
                        <p:cond delay="indefinite"/>
                      </p:stCondLst>
                      <p:childTnLst>
                        <p:par>
                          <p:cTn id="84" fill="hold">
                            <p:stCondLst>
                              <p:cond delay="0"/>
                            </p:stCondLst>
                            <p:childTnLst>
                              <p:par>
                                <p:cTn id="85" presetID="1" presetClass="entr" presetSubtype="0" fill="hold" grpId="0" nodeType="clickEffect">
                                  <p:stCondLst>
                                    <p:cond delay="0"/>
                                  </p:stCondLst>
                                  <p:childTnLst>
                                    <p:set>
                                      <p:cBhvr>
                                        <p:cTn id="86" dur="1" fill="hold">
                                          <p:stCondLst>
                                            <p:cond delay="0"/>
                                          </p:stCondLst>
                                        </p:cTn>
                                        <p:tgtEl>
                                          <p:spTgt spid="8"/>
                                        </p:tgtEl>
                                        <p:attrNameLst>
                                          <p:attrName>style.visibility</p:attrName>
                                        </p:attrNameLst>
                                      </p:cBhvr>
                                      <p:to>
                                        <p:strVal val="visible"/>
                                      </p:to>
                                    </p:set>
                                  </p:childTnLst>
                                </p:cTn>
                              </p:par>
                            </p:childTnLst>
                          </p:cTn>
                        </p:par>
                        <p:par>
                          <p:cTn id="87" fill="hold">
                            <p:stCondLst>
                              <p:cond delay="0"/>
                            </p:stCondLst>
                            <p:childTnLst>
                              <p:par>
                                <p:cTn id="88" presetID="35" presetClass="emph" presetSubtype="0" fill="hold" grpId="2" nodeType="afterEffect">
                                  <p:stCondLst>
                                    <p:cond delay="0"/>
                                  </p:stCondLst>
                                  <p:childTnLst>
                                    <p:anim calcmode="discrete" valueType="str">
                                      <p:cBhvr>
                                        <p:cTn id="89" dur="1000" fill="hold"/>
                                        <p:tgtEl>
                                          <p:spTgt spid="8"/>
                                        </p:tgtEl>
                                        <p:attrNameLst>
                                          <p:attrName>style.visibility</p:attrName>
                                        </p:attrNameLst>
                                      </p:cBhvr>
                                      <p:tavLst>
                                        <p:tav tm="0">
                                          <p:val>
                                            <p:strVal val="hidden"/>
                                          </p:val>
                                        </p:tav>
                                        <p:tav tm="50000">
                                          <p:val>
                                            <p:strVal val="visible"/>
                                          </p:val>
                                        </p:tav>
                                      </p:tavLst>
                                    </p:anim>
                                  </p:childTnLst>
                                </p:cTn>
                              </p:par>
                            </p:childTnLst>
                          </p:cTn>
                        </p:par>
                        <p:par>
                          <p:cTn id="90" fill="hold">
                            <p:stCondLst>
                              <p:cond delay="1000"/>
                            </p:stCondLst>
                            <p:childTnLst>
                              <p:par>
                                <p:cTn id="91" presetID="35" presetClass="emph" presetSubtype="0" fill="hold" grpId="3" nodeType="afterEffect">
                                  <p:stCondLst>
                                    <p:cond delay="0"/>
                                  </p:stCondLst>
                                  <p:childTnLst>
                                    <p:anim calcmode="discrete" valueType="str">
                                      <p:cBhvr>
                                        <p:cTn id="92"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par>
                    <p:cTn id="93" fill="hold">
                      <p:stCondLst>
                        <p:cond delay="indefinite"/>
                      </p:stCondLst>
                      <p:childTnLst>
                        <p:par>
                          <p:cTn id="94" fill="hold">
                            <p:stCondLst>
                              <p:cond delay="0"/>
                            </p:stCondLst>
                            <p:childTnLst>
                              <p:par>
                                <p:cTn id="95" presetID="2" presetClass="entr" presetSubtype="4" fill="hold" grpId="0" nodeType="clickEffect">
                                  <p:stCondLst>
                                    <p:cond delay="0"/>
                                  </p:stCondLst>
                                  <p:childTnLst>
                                    <p:set>
                                      <p:cBhvr>
                                        <p:cTn id="96" dur="1" fill="hold">
                                          <p:stCondLst>
                                            <p:cond delay="0"/>
                                          </p:stCondLst>
                                        </p:cTn>
                                        <p:tgtEl>
                                          <p:spTgt spid="64"/>
                                        </p:tgtEl>
                                        <p:attrNameLst>
                                          <p:attrName>style.visibility</p:attrName>
                                        </p:attrNameLst>
                                      </p:cBhvr>
                                      <p:to>
                                        <p:strVal val="visible"/>
                                      </p:to>
                                    </p:set>
                                    <p:anim calcmode="lin" valueType="num">
                                      <p:cBhvr additive="base">
                                        <p:cTn id="97" dur="500" fill="hold"/>
                                        <p:tgtEl>
                                          <p:spTgt spid="64"/>
                                        </p:tgtEl>
                                        <p:attrNameLst>
                                          <p:attrName>ppt_x</p:attrName>
                                        </p:attrNameLst>
                                      </p:cBhvr>
                                      <p:tavLst>
                                        <p:tav tm="0">
                                          <p:val>
                                            <p:strVal val="#ppt_x"/>
                                          </p:val>
                                        </p:tav>
                                        <p:tav tm="100000">
                                          <p:val>
                                            <p:strVal val="#ppt_x"/>
                                          </p:val>
                                        </p:tav>
                                      </p:tavLst>
                                    </p:anim>
                                    <p:anim calcmode="lin" valueType="num">
                                      <p:cBhvr additive="base">
                                        <p:cTn id="98" dur="500" fill="hold"/>
                                        <p:tgtEl>
                                          <p:spTgt spid="64"/>
                                        </p:tgtEl>
                                        <p:attrNameLst>
                                          <p:attrName>ppt_y</p:attrName>
                                        </p:attrNameLst>
                                      </p:cBhvr>
                                      <p:tavLst>
                                        <p:tav tm="0">
                                          <p:val>
                                            <p:strVal val="1+#ppt_h/2"/>
                                          </p:val>
                                        </p:tav>
                                        <p:tav tm="100000">
                                          <p:val>
                                            <p:strVal val="#ppt_y"/>
                                          </p:val>
                                        </p:tav>
                                      </p:tavLst>
                                    </p:anim>
                                  </p:childTnLst>
                                </p:cTn>
                              </p:par>
                            </p:childTnLst>
                          </p:cTn>
                        </p:par>
                      </p:childTnLst>
                    </p:cTn>
                  </p:par>
                  <p:par>
                    <p:cTn id="99" fill="hold">
                      <p:stCondLst>
                        <p:cond delay="indefinite"/>
                      </p:stCondLst>
                      <p:childTnLst>
                        <p:par>
                          <p:cTn id="100" fill="hold">
                            <p:stCondLst>
                              <p:cond delay="0"/>
                            </p:stCondLst>
                            <p:childTnLst>
                              <p:par>
                                <p:cTn id="101" presetID="2" presetClass="entr" presetSubtype="4" fill="hold" grpId="0" nodeType="clickEffect">
                                  <p:stCondLst>
                                    <p:cond delay="0"/>
                                  </p:stCondLst>
                                  <p:childTnLst>
                                    <p:set>
                                      <p:cBhvr>
                                        <p:cTn id="102" dur="1" fill="hold">
                                          <p:stCondLst>
                                            <p:cond delay="0"/>
                                          </p:stCondLst>
                                        </p:cTn>
                                        <p:tgtEl>
                                          <p:spTgt spid="66"/>
                                        </p:tgtEl>
                                        <p:attrNameLst>
                                          <p:attrName>style.visibility</p:attrName>
                                        </p:attrNameLst>
                                      </p:cBhvr>
                                      <p:to>
                                        <p:strVal val="visible"/>
                                      </p:to>
                                    </p:set>
                                    <p:anim calcmode="lin" valueType="num">
                                      <p:cBhvr additive="base">
                                        <p:cTn id="103" dur="500" fill="hold"/>
                                        <p:tgtEl>
                                          <p:spTgt spid="66"/>
                                        </p:tgtEl>
                                        <p:attrNameLst>
                                          <p:attrName>ppt_x</p:attrName>
                                        </p:attrNameLst>
                                      </p:cBhvr>
                                      <p:tavLst>
                                        <p:tav tm="0">
                                          <p:val>
                                            <p:strVal val="#ppt_x"/>
                                          </p:val>
                                        </p:tav>
                                        <p:tav tm="100000">
                                          <p:val>
                                            <p:strVal val="#ppt_x"/>
                                          </p:val>
                                        </p:tav>
                                      </p:tavLst>
                                    </p:anim>
                                    <p:anim calcmode="lin" valueType="num">
                                      <p:cBhvr additive="base">
                                        <p:cTn id="104" dur="500" fill="hold"/>
                                        <p:tgtEl>
                                          <p:spTgt spid="66"/>
                                        </p:tgtEl>
                                        <p:attrNameLst>
                                          <p:attrName>ppt_y</p:attrName>
                                        </p:attrNameLst>
                                      </p:cBhvr>
                                      <p:tavLst>
                                        <p:tav tm="0">
                                          <p:val>
                                            <p:strVal val="1+#ppt_h/2"/>
                                          </p:val>
                                        </p:tav>
                                        <p:tav tm="100000">
                                          <p:val>
                                            <p:strVal val="#ppt_y"/>
                                          </p:val>
                                        </p:tav>
                                      </p:tavLst>
                                    </p:anim>
                                  </p:childTnLst>
                                </p:cTn>
                              </p:par>
                            </p:childTnLst>
                          </p:cTn>
                        </p:par>
                      </p:childTnLst>
                    </p:cTn>
                  </p:par>
                  <p:par>
                    <p:cTn id="105" fill="hold">
                      <p:stCondLst>
                        <p:cond delay="indefinite"/>
                      </p:stCondLst>
                      <p:childTnLst>
                        <p:par>
                          <p:cTn id="106" fill="hold">
                            <p:stCondLst>
                              <p:cond delay="0"/>
                            </p:stCondLst>
                            <p:childTnLst>
                              <p:par>
                                <p:cTn id="107" presetID="1" presetClass="exit" presetSubtype="0" fill="hold" grpId="2" nodeType="clickEffect">
                                  <p:stCondLst>
                                    <p:cond delay="0"/>
                                  </p:stCondLst>
                                  <p:childTnLst>
                                    <p:set>
                                      <p:cBhvr>
                                        <p:cTn id="108" dur="1" fill="hold">
                                          <p:stCondLst>
                                            <p:cond delay="0"/>
                                          </p:stCondLst>
                                        </p:cTn>
                                        <p:tgtEl>
                                          <p:spTgt spid="66"/>
                                        </p:tgtEl>
                                        <p:attrNameLst>
                                          <p:attrName>style.visibility</p:attrName>
                                        </p:attrNameLst>
                                      </p:cBhvr>
                                      <p:to>
                                        <p:strVal val="hidden"/>
                                      </p:to>
                                    </p:set>
                                  </p:childTnLst>
                                </p:cTn>
                              </p:par>
                            </p:childTnLst>
                          </p:cTn>
                        </p:par>
                      </p:childTnLst>
                    </p:cTn>
                  </p:par>
                  <p:par>
                    <p:cTn id="109" fill="hold">
                      <p:stCondLst>
                        <p:cond delay="indefinite"/>
                      </p:stCondLst>
                      <p:childTnLst>
                        <p:par>
                          <p:cTn id="110" fill="hold">
                            <p:stCondLst>
                              <p:cond delay="0"/>
                            </p:stCondLst>
                            <p:childTnLst>
                              <p:par>
                                <p:cTn id="111" presetID="2" presetClass="entr" presetSubtype="4" fill="hold" grpId="0" nodeType="clickEffect">
                                  <p:stCondLst>
                                    <p:cond delay="0"/>
                                  </p:stCondLst>
                                  <p:childTnLst>
                                    <p:set>
                                      <p:cBhvr>
                                        <p:cTn id="112" dur="1" fill="hold">
                                          <p:stCondLst>
                                            <p:cond delay="0"/>
                                          </p:stCondLst>
                                        </p:cTn>
                                        <p:tgtEl>
                                          <p:spTgt spid="67"/>
                                        </p:tgtEl>
                                        <p:attrNameLst>
                                          <p:attrName>style.visibility</p:attrName>
                                        </p:attrNameLst>
                                      </p:cBhvr>
                                      <p:to>
                                        <p:strVal val="visible"/>
                                      </p:to>
                                    </p:set>
                                    <p:anim calcmode="lin" valueType="num">
                                      <p:cBhvr additive="base">
                                        <p:cTn id="113" dur="500" fill="hold"/>
                                        <p:tgtEl>
                                          <p:spTgt spid="67"/>
                                        </p:tgtEl>
                                        <p:attrNameLst>
                                          <p:attrName>ppt_x</p:attrName>
                                        </p:attrNameLst>
                                      </p:cBhvr>
                                      <p:tavLst>
                                        <p:tav tm="0">
                                          <p:val>
                                            <p:strVal val="#ppt_x"/>
                                          </p:val>
                                        </p:tav>
                                        <p:tav tm="100000">
                                          <p:val>
                                            <p:strVal val="#ppt_x"/>
                                          </p:val>
                                        </p:tav>
                                      </p:tavLst>
                                    </p:anim>
                                    <p:anim calcmode="lin" valueType="num">
                                      <p:cBhvr additive="base">
                                        <p:cTn id="114" dur="500" fill="hold"/>
                                        <p:tgtEl>
                                          <p:spTgt spid="67"/>
                                        </p:tgtEl>
                                        <p:attrNameLst>
                                          <p:attrName>ppt_y</p:attrName>
                                        </p:attrNameLst>
                                      </p:cBhvr>
                                      <p:tavLst>
                                        <p:tav tm="0">
                                          <p:val>
                                            <p:strVal val="1+#ppt_h/2"/>
                                          </p:val>
                                        </p:tav>
                                        <p:tav tm="100000">
                                          <p:val>
                                            <p:strVal val="#ppt_y"/>
                                          </p:val>
                                        </p:tav>
                                      </p:tavLst>
                                    </p:anim>
                                  </p:childTnLst>
                                </p:cTn>
                              </p:par>
                            </p:childTnLst>
                          </p:cTn>
                        </p:par>
                      </p:childTnLst>
                    </p:cTn>
                  </p:par>
                  <p:par>
                    <p:cTn id="115" fill="hold">
                      <p:stCondLst>
                        <p:cond delay="indefinite"/>
                      </p:stCondLst>
                      <p:childTnLst>
                        <p:par>
                          <p:cTn id="116" fill="hold">
                            <p:stCondLst>
                              <p:cond delay="0"/>
                            </p:stCondLst>
                            <p:childTnLst>
                              <p:par>
                                <p:cTn id="117" presetID="1" presetClass="exit" presetSubtype="0" fill="hold" grpId="2" nodeType="clickEffect">
                                  <p:stCondLst>
                                    <p:cond delay="0"/>
                                  </p:stCondLst>
                                  <p:childTnLst>
                                    <p:set>
                                      <p:cBhvr>
                                        <p:cTn id="118" dur="1" fill="hold">
                                          <p:stCondLst>
                                            <p:cond delay="0"/>
                                          </p:stCondLst>
                                        </p:cTn>
                                        <p:tgtEl>
                                          <p:spTgt spid="67"/>
                                        </p:tgtEl>
                                        <p:attrNameLst>
                                          <p:attrName>style.visibility</p:attrName>
                                        </p:attrNameLst>
                                      </p:cBhvr>
                                      <p:to>
                                        <p:strVal val="hidden"/>
                                      </p:to>
                                    </p:se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grpId="0" nodeType="clickEffect">
                                  <p:stCondLst>
                                    <p:cond delay="0"/>
                                  </p:stCondLst>
                                  <p:childTnLst>
                                    <p:set>
                                      <p:cBhvr>
                                        <p:cTn id="122" dur="1" fill="hold">
                                          <p:stCondLst>
                                            <p:cond delay="0"/>
                                          </p:stCondLst>
                                        </p:cTn>
                                        <p:tgtEl>
                                          <p:spTgt spid="68"/>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xit" presetSubtype="0" fill="hold" grpId="4" nodeType="clickEffect">
                                  <p:stCondLst>
                                    <p:cond delay="0"/>
                                  </p:stCondLst>
                                  <p:childTnLst>
                                    <p:set>
                                      <p:cBhvr>
                                        <p:cTn id="126" dur="1" fill="hold">
                                          <p:stCondLst>
                                            <p:cond delay="0"/>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bldLvl="0" animBg="1"/>
      <p:bldP spid="12" grpId="1" animBg="1"/>
      <p:bldP spid="13" grpId="0" bldLvl="0" animBg="1"/>
      <p:bldP spid="13" grpId="1" animBg="1"/>
      <p:bldP spid="2" grpId="0"/>
      <p:bldP spid="5" grpId="0"/>
      <p:bldP spid="126" grpId="0"/>
      <p:bldP spid="127" grpId="0"/>
      <p:bldP spid="128" grpId="0"/>
      <p:bldP spid="129" grpId="0"/>
      <p:bldP spid="130" grpId="0"/>
      <p:bldP spid="131" grpId="0"/>
      <p:bldP spid="132" grpId="0"/>
      <p:bldP spid="133" grpId="0"/>
      <p:bldP spid="134" grpId="0"/>
      <p:bldP spid="135" grpId="0"/>
      <p:bldP spid="136" grpId="0"/>
      <p:bldP spid="137" grpId="0"/>
      <p:bldP spid="138" grpId="0"/>
      <p:bldP spid="2" grpId="1"/>
      <p:bldP spid="5" grpId="1"/>
      <p:bldP spid="126" grpId="1"/>
      <p:bldP spid="127" grpId="1"/>
      <p:bldP spid="128" grpId="1"/>
      <p:bldP spid="129" grpId="1"/>
      <p:bldP spid="130" grpId="1"/>
      <p:bldP spid="131" grpId="1"/>
      <p:bldP spid="132" grpId="1"/>
      <p:bldP spid="133" grpId="1"/>
      <p:bldP spid="134" grpId="1"/>
      <p:bldP spid="135" grpId="1"/>
      <p:bldP spid="136" grpId="1"/>
      <p:bldP spid="137" grpId="1"/>
      <p:bldP spid="138" grpId="1"/>
      <p:bldP spid="142" grpId="0" bldLvl="0" animBg="1"/>
      <p:bldP spid="142" grpId="1" animBg="1"/>
      <p:bldP spid="142" grpId="2" bldLvl="0" animBg="1"/>
      <p:bldP spid="143" grpId="0"/>
      <p:bldP spid="143" grpId="1"/>
      <p:bldP spid="139" grpId="0"/>
      <p:bldP spid="139" grpId="1"/>
      <p:bldP spid="142" grpId="3" bldLvl="0" animBg="1"/>
      <p:bldP spid="142" grpId="4" bldLvl="0" animBg="1"/>
      <p:bldP spid="8" grpId="0" bldLvl="0" animBg="1"/>
      <p:bldP spid="8" grpId="1" animBg="1"/>
      <p:bldP spid="8" grpId="2" bldLvl="0" animBg="1"/>
      <p:bldP spid="8" grpId="3" bldLvl="0" animBg="1"/>
      <p:bldP spid="64" grpId="0"/>
      <p:bldP spid="64" grpId="1"/>
      <p:bldP spid="65" grpId="0" bldLvl="0" animBg="1"/>
      <p:bldP spid="65" grpId="1" animBg="1"/>
      <p:bldP spid="65" grpId="2" animBg="1"/>
      <p:bldP spid="66" grpId="0" bldLvl="0" animBg="1"/>
      <p:bldP spid="66" grpId="1" animBg="1"/>
      <p:bldP spid="66" grpId="2" bldLvl="0" animBg="1"/>
      <p:bldP spid="67" grpId="0" bldLvl="0" animBg="1"/>
      <p:bldP spid="67" grpId="1" animBg="1"/>
      <p:bldP spid="67" grpId="2" bldLvl="0" animBg="1"/>
      <p:bldP spid="68" grpId="0"/>
      <p:bldP spid="68" grpId="1"/>
      <p:bldP spid="8" grpId="4"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不断的更新表格，能够发现更新的状态转移方程</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87624" y="2132856"/>
            <a:ext cx="6120679" cy="889964"/>
            <a:chOff x="755576" y="2566065"/>
            <a:chExt cx="6120679" cy="889964"/>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2029963" y="2566065"/>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2029962" y="3086697"/>
              <a:ext cx="4846293"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max(dp[i-1][j-w[i]]+c[i],dp[i-1][j])</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29608" y="2728039"/>
              <a:ext cx="180975" cy="619125"/>
            </a:xfrm>
            <a:prstGeom prst="rect">
              <a:avLst/>
            </a:prstGeom>
          </p:spPr>
        </p:pic>
      </p:grpSp>
      <p:sp>
        <p:nvSpPr>
          <p:cNvPr id="15" name="文本框 14"/>
          <p:cNvSpPr txBox="1"/>
          <p:nvPr/>
        </p:nvSpPr>
        <p:spPr>
          <a:xfrm>
            <a:off x="4981491" y="2132856"/>
            <a:ext cx="216024"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235824" y="2648464"/>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110680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②式表示如果当前的容量能容下当前的物品，则有两种选择，选择该物品和不选择该物品，此时</a:t>
            </a:r>
            <a:r>
              <a:rPr kumimoji="1" lang="en-US" altLang="zh-CN" sz="2200" b="1">
                <a:solidFill>
                  <a:srgbClr val="080808"/>
                </a:solidFill>
                <a:uFillTx/>
                <a:latin typeface="Times New Roman" panose="02020603050405020304" pitchFamily="18" charset="0"/>
              </a:rPr>
              <a:t>dp[i][j]</a:t>
            </a:r>
            <a:r>
              <a:rPr kumimoji="1" lang="zh-CN" altLang="en-US" sz="2200">
                <a:solidFill>
                  <a:srgbClr val="080808"/>
                </a:solidFill>
                <a:uFillTx/>
                <a:latin typeface="Times New Roman" panose="02020603050405020304" pitchFamily="18" charset="0"/>
              </a:rPr>
              <a:t>选择最大的值作为最优选择。</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背包问题，解题的流程是怎样的？</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347662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首先能够感觉这个问题可以用动态规划，怎么判断呢？该问题求最优解，且整体最优解是所有子问题最优解的组成，其实也就是判断动态规划核心思想符不符合该问题。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）选择数组（或是其他存储结构）能够描述问题状态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）通过状态转移表中不断的转移，找到递推关系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）更新结果，</a:t>
            </a:r>
            <a:r>
              <a:rPr kumimoji="1" lang="zh-CN" altLang="en-US" sz="2200">
                <a:solidFill>
                  <a:srgbClr val="080808"/>
                </a:solidFill>
                <a:uFillTx/>
                <a:latin typeface="Times New Roman" panose="02020603050405020304" pitchFamily="18" charset="0"/>
                <a:sym typeface="+mn-ea"/>
              </a:rPr>
              <a:t>获取结果（可能会重新遍历状态表）</a:t>
            </a:r>
            <a:endParaRPr kumimoji="1" lang="en-US" altLang="zh-CN" sz="2200">
              <a:solidFill>
                <a:srgbClr val="080808"/>
              </a:solidFill>
              <a:uFillTx/>
              <a:latin typeface="Times New Roman" panose="02020603050405020304" pitchFamily="18" charset="0"/>
            </a:endParaRPr>
          </a:p>
          <a:p>
            <a:endParaRPr kumimoji="1" lang="en-US" altLang="zh-CN" sz="2200">
              <a:solidFill>
                <a:srgbClr val="080808"/>
              </a:solidFill>
              <a:uFillTx/>
              <a:latin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graphicFrame>
        <p:nvGraphicFramePr>
          <p:cNvPr id="5" name="表格 4"/>
          <p:cNvGraphicFramePr>
            <a:graphicFrameLocks noGrp="1"/>
          </p:cNvGraphicFramePr>
          <p:nvPr/>
        </p:nvGraphicFramePr>
        <p:xfrm>
          <a:off x="1187624" y="3192454"/>
          <a:ext cx="7020000" cy="216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2"/>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a:effectLst/>
                        </a:rPr>
                        <a:t> </a:t>
                      </a:r>
                      <a:r>
                        <a:rPr lang="en-US" altLang="zh-CN" sz="1400" kern="100">
                          <a:effectLst/>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8</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11</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6</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12</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bl>
          </a:graphicData>
        </a:graphic>
      </p:graphicFrame>
      <p:sp>
        <p:nvSpPr>
          <p:cNvPr id="6" name="Text Box 4"/>
          <p:cNvSpPr txBox="1">
            <a:spLocks noChangeArrowheads="1"/>
          </p:cNvSpPr>
          <p:nvPr/>
        </p:nvSpPr>
        <p:spPr bwMode="auto">
          <a:xfrm>
            <a:off x="107504" y="1124744"/>
            <a:ext cx="8856984" cy="110680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完全背包问题：有</a:t>
            </a:r>
            <a:r>
              <a:rPr lang="en-US" altLang="zh-CN" sz="2200">
                <a:solidFill>
                  <a:srgbClr val="080808"/>
                </a:solidFill>
                <a:uFillTx/>
                <a:latin typeface="Times New Roman" panose="02020603050405020304" pitchFamily="18" charset="0"/>
              </a:rPr>
              <a:t>n</a:t>
            </a:r>
            <a:r>
              <a:rPr lang="zh-CN" altLang="en-US" sz="2200">
                <a:solidFill>
                  <a:srgbClr val="080808"/>
                </a:solidFill>
                <a:uFillTx/>
                <a:latin typeface="Times New Roman" panose="02020603050405020304" pitchFamily="18" charset="0"/>
              </a:rPr>
              <a:t>种物品有质量和对应的价值。每种物品数量是无限的，背包称重</a:t>
            </a:r>
            <a:r>
              <a:rPr lang="en-US" altLang="zh-CN" sz="2200" dirty="0">
                <a:solidFill>
                  <a:srgbClr val="080808"/>
                </a:solidFill>
                <a:uFillTx/>
                <a:latin typeface="Times New Roman" panose="02020603050405020304" pitchFamily="18" charset="0"/>
              </a:rPr>
              <a:t>M = 10kg,</a:t>
            </a:r>
            <a:r>
              <a:rPr lang="zh-CN" altLang="en-US" sz="2200">
                <a:solidFill>
                  <a:srgbClr val="080808"/>
                </a:solidFill>
                <a:uFillTx/>
                <a:latin typeface="Times New Roman" panose="02020603050405020304" pitchFamily="18" charset="0"/>
              </a:rPr>
              <a:t>物品的重量</a:t>
            </a:r>
            <a:r>
              <a:rPr lang="en-US" altLang="zh-CN" sz="2200" dirty="0">
                <a:solidFill>
                  <a:srgbClr val="080808"/>
                </a:solidFill>
                <a:uFillTx/>
                <a:latin typeface="Times New Roman" panose="02020603050405020304" pitchFamily="18" charset="0"/>
              </a:rPr>
              <a:t>W</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{2,3,4,7},</a:t>
            </a:r>
            <a:r>
              <a:rPr lang="zh-CN" altLang="en-US" sz="2200">
                <a:solidFill>
                  <a:srgbClr val="080808"/>
                </a:solidFill>
                <a:uFillTx/>
                <a:latin typeface="Times New Roman" panose="02020603050405020304" pitchFamily="18" charset="0"/>
              </a:rPr>
              <a:t>价值为</a:t>
            </a:r>
            <a:r>
              <a:rPr lang="en-US" altLang="zh-CN" sz="2200" dirty="0">
                <a:solidFill>
                  <a:srgbClr val="080808"/>
                </a:solidFill>
                <a:uFillTx/>
                <a:latin typeface="Times New Roman" panose="02020603050405020304" pitchFamily="18" charset="0"/>
              </a:rPr>
              <a:t>C</a:t>
            </a:r>
            <a:r>
              <a:rPr lang="en-US" altLang="zh-CN" sz="2200" baseline="-25000" dirty="0">
                <a:solidFill>
                  <a:srgbClr val="080808"/>
                </a:solidFill>
                <a:uFillTx/>
                <a:latin typeface="Times New Roman" panose="02020603050405020304" pitchFamily="18" charset="0"/>
              </a:rPr>
              <a:t>i</a:t>
            </a:r>
            <a:r>
              <a:rPr lang="en-US" altLang="zh-CN" sz="2200" dirty="0">
                <a:solidFill>
                  <a:srgbClr val="080808"/>
                </a:solidFill>
                <a:uFillTx/>
                <a:latin typeface="Times New Roman" panose="02020603050405020304" pitchFamily="18" charset="0"/>
              </a:rPr>
              <a:t> = {1,3,5,9},</a:t>
            </a:r>
            <a:r>
              <a:rPr lang="zh-CN" altLang="en-US" sz="2200">
                <a:solidFill>
                  <a:srgbClr val="080808"/>
                </a:solidFill>
                <a:uFillTx/>
                <a:latin typeface="Times New Roman" panose="02020603050405020304" pitchFamily="18" charset="0"/>
              </a:rPr>
              <a:t>问最多能装价值多大？</a:t>
            </a:r>
            <a:endParaRPr lang="zh-CN" altLang="en-US" sz="2200" dirty="0">
              <a:solidFill>
                <a:srgbClr val="080808"/>
              </a:solidFill>
              <a:uFillTx/>
              <a:latin typeface="Times New Roman" panose="02020603050405020304" pitchFamily="18" charset="0"/>
            </a:endParaRPr>
          </a:p>
        </p:txBody>
      </p:sp>
      <p:cxnSp>
        <p:nvCxnSpPr>
          <p:cNvPr id="8" name="直接箭头连接符 7"/>
          <p:cNvCxnSpPr/>
          <p:nvPr/>
        </p:nvCxnSpPr>
        <p:spPr bwMode="auto">
          <a:xfrm>
            <a:off x="2721549" y="2878559"/>
            <a:ext cx="774488" cy="1162435"/>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9" name="云形 8"/>
          <p:cNvSpPr/>
          <p:nvPr/>
        </p:nvSpPr>
        <p:spPr bwMode="auto">
          <a:xfrm>
            <a:off x="1584469" y="2132856"/>
            <a:ext cx="1911567" cy="792088"/>
          </a:xfrm>
          <a:prstGeom prst="cloud">
            <a:avLst/>
          </a:prstGeom>
          <a:solidFill>
            <a:schemeClr val="accent1"/>
          </a:solid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lstStyle/>
          <a:p>
            <a:pPr marL="0" marR="0" indent="0" algn="l" defTabSz="914400" rtl="0" eaLnBrk="1" fontAlgn="base" latinLnBrk="0" hangingPunct="1">
              <a:lnSpc>
                <a:spcPct val="100000"/>
              </a:lnSpc>
              <a:spcBef>
                <a:spcPct val="0"/>
              </a:spcBef>
              <a:spcAft>
                <a:spcPct val="0"/>
              </a:spcAft>
              <a:buClrTx/>
              <a:buSzTx/>
              <a:buFontTx/>
              <a:buNone/>
            </a:pPr>
            <a:endParaRPr kumimoji="0" lang="zh-CN" altLang="en-US" sz="1800" b="0" i="1" u="none" strike="noStrike" cap="none" normalizeH="0" baseline="0">
              <a:ln>
                <a:noFill/>
              </a:ln>
              <a:solidFill>
                <a:schemeClr val="tx1"/>
              </a:solidFill>
              <a:effectLst/>
              <a:latin typeface="Arial" panose="020B0604020202020204" pitchFamily="34" charset="0"/>
              <a:ea typeface="华文细黑" panose="02010600040101010101" pitchFamily="2" charset="-122"/>
            </a:endParaRPr>
          </a:p>
        </p:txBody>
      </p:sp>
      <p:sp>
        <p:nvSpPr>
          <p:cNvPr id="10" name="文本框 9"/>
          <p:cNvSpPr txBox="1"/>
          <p:nvPr/>
        </p:nvSpPr>
        <p:spPr>
          <a:xfrm>
            <a:off x="1584470" y="2229108"/>
            <a:ext cx="2059739" cy="43088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如何更新值？</a:t>
            </a:r>
            <a:endParaRPr kumimoji="1" lang="zh-CN" altLang="en-US" sz="2200">
              <a:solidFill>
                <a:srgbClr val="080808"/>
              </a:solidFill>
              <a:latin typeface="Times New Roman" panose="02020603050405020304" pitchFamily="18" charset="0"/>
              <a:ea typeface="楷体" panose="02010609060101010101" pitchFamily="49" charset="-122"/>
            </a:endParaRPr>
          </a:p>
        </p:txBody>
      </p:sp>
      <p:cxnSp>
        <p:nvCxnSpPr>
          <p:cNvPr id="11" name="直接箭头连接符 10"/>
          <p:cNvCxnSpPr/>
          <p:nvPr/>
        </p:nvCxnSpPr>
        <p:spPr bwMode="auto">
          <a:xfrm>
            <a:off x="2721549" y="2878559"/>
            <a:ext cx="774488" cy="1558553"/>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cxnSp>
        <p:nvCxnSpPr>
          <p:cNvPr id="14" name="直接箭头连接符 13"/>
          <p:cNvCxnSpPr/>
          <p:nvPr/>
        </p:nvCxnSpPr>
        <p:spPr bwMode="auto">
          <a:xfrm>
            <a:off x="2721549" y="2878559"/>
            <a:ext cx="2354507" cy="1476330"/>
          </a:xfrm>
          <a:prstGeom prst="straightConnector1">
            <a:avLst/>
          </a:prstGeom>
          <a:solidFill>
            <a:schemeClr val="accent1"/>
          </a:solidFill>
          <a:ln w="9525" cap="flat" cmpd="sng" algn="ctr">
            <a:solidFill>
              <a:srgbClr val="FF0000"/>
            </a:solidFill>
            <a:prstDash val="solid"/>
            <a:round/>
            <a:headEnd type="none" w="med" len="med"/>
            <a:tailEnd type="triangle"/>
          </a:ln>
          <a:effectLst/>
        </p:spPr>
      </p:cxnSp>
      <p:sp>
        <p:nvSpPr>
          <p:cNvPr id="19" name="文本框 18"/>
          <p:cNvSpPr txBox="1"/>
          <p:nvPr/>
        </p:nvSpPr>
        <p:spPr>
          <a:xfrm>
            <a:off x="1186856" y="5735381"/>
            <a:ext cx="7488832"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假设数组名为</a:t>
            </a:r>
            <a:r>
              <a:rPr kumimoji="1" lang="en-US" altLang="zh-CN" sz="2200">
                <a:solidFill>
                  <a:srgbClr val="080808"/>
                </a:solidFill>
                <a:uFillTx/>
                <a:latin typeface="Times New Roman" panose="02020603050405020304" pitchFamily="18" charset="0"/>
              </a:rPr>
              <a:t>dp</a:t>
            </a:r>
            <a:r>
              <a:rPr kumimoji="1" lang="zh-CN" altLang="en-US" sz="2200">
                <a:solidFill>
                  <a:srgbClr val="080808"/>
                </a:solidFill>
                <a:uFillTx/>
                <a:latin typeface="Times New Roman" panose="02020603050405020304" pitchFamily="18" charset="0"/>
              </a:rPr>
              <a:t>，那么完全背包问题如何更新状态表？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42989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uFillTx/>
                <a:latin typeface="Times New Roman" panose="02020603050405020304" pitchFamily="18" charset="0"/>
              </a:rPr>
              <a:t>不断的更新表格，能够发现更新的递推公式？</a:t>
            </a:r>
            <a:endParaRPr lang="zh-CN" altLang="en-US" sz="2200" dirty="0">
              <a:solidFill>
                <a:srgbClr val="080808"/>
              </a:solidFill>
              <a:uFillTx/>
              <a:latin typeface="Times New Roman" panose="02020603050405020304" pitchFamily="18" charset="0"/>
            </a:endParaRPr>
          </a:p>
        </p:txBody>
      </p:sp>
      <p:grpSp>
        <p:nvGrpSpPr>
          <p:cNvPr id="14" name="组合 13"/>
          <p:cNvGrpSpPr/>
          <p:nvPr/>
        </p:nvGrpSpPr>
        <p:grpSpPr>
          <a:xfrm>
            <a:off x="1113392" y="2206650"/>
            <a:ext cx="7779088" cy="1093169"/>
            <a:chOff x="755576" y="2639859"/>
            <a:chExt cx="6120679" cy="1093169"/>
          </a:xfrm>
        </p:grpSpPr>
        <p:sp>
          <p:nvSpPr>
            <p:cNvPr id="10" name="文本框 9"/>
            <p:cNvSpPr txBox="1"/>
            <p:nvPr/>
          </p:nvSpPr>
          <p:spPr>
            <a:xfrm>
              <a:off x="755576" y="2852936"/>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dp[i][j] = </a:t>
              </a:r>
              <a:endParaRPr lang="zh-CN" altLang="en-US" b="1">
                <a:latin typeface="Times New Roman" panose="02020603050405020304" pitchFamily="18" charset="0"/>
                <a:cs typeface="Times New Roman" panose="02020603050405020304" pitchFamily="18" charset="0"/>
              </a:endParaRPr>
            </a:p>
          </p:txBody>
        </p:sp>
        <p:sp>
          <p:nvSpPr>
            <p:cNvPr id="11" name="文本框 10"/>
            <p:cNvSpPr txBox="1"/>
            <p:nvPr/>
          </p:nvSpPr>
          <p:spPr>
            <a:xfrm>
              <a:off x="1715427" y="2639859"/>
              <a:ext cx="2520280" cy="369332"/>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j&lt;w[i]            dp[i-1][j]</a:t>
              </a:r>
              <a:endParaRPr lang="zh-CN" altLang="en-US" b="1">
                <a:latin typeface="Times New Roman" panose="02020603050405020304" pitchFamily="18" charset="0"/>
                <a:cs typeface="Times New Roman" panose="02020603050405020304" pitchFamily="18" charset="0"/>
              </a:endParaRPr>
            </a:p>
          </p:txBody>
        </p:sp>
        <p:sp>
          <p:nvSpPr>
            <p:cNvPr id="12" name="文本框 11"/>
            <p:cNvSpPr txBox="1"/>
            <p:nvPr/>
          </p:nvSpPr>
          <p:spPr>
            <a:xfrm>
              <a:off x="1719255" y="3086697"/>
              <a:ext cx="5157000" cy="646331"/>
            </a:xfrm>
            <a:prstGeom prst="rect">
              <a:avLst/>
            </a:prstGeom>
            <a:noFill/>
          </p:spPr>
          <p:txBody>
            <a:bodyPr wrap="square" rtlCol="0">
              <a:spAutoFit/>
            </a:bodyPr>
            <a:lstStyle/>
            <a:p>
              <a:r>
                <a:rPr lang="en-US" altLang="zh-CN" b="1">
                  <a:latin typeface="Times New Roman" panose="02020603050405020304" pitchFamily="18" charset="0"/>
                  <a:cs typeface="Times New Roman" panose="02020603050405020304" pitchFamily="18" charset="0"/>
                </a:rPr>
                <a:t>j&gt;=w[i]       max(dp[i-1][j-k*w[i]]+k*c[i],dp[i-1][j])</a:t>
              </a:r>
              <a:endParaRPr lang="en-US" altLang="zh-CN" b="1">
                <a:latin typeface="Times New Roman" panose="02020603050405020304" pitchFamily="18" charset="0"/>
                <a:cs typeface="Times New Roman" panose="02020603050405020304" pitchFamily="18" charset="0"/>
              </a:endParaRPr>
            </a:p>
            <a:p>
              <a:r>
                <a:rPr lang="en-US" altLang="zh-CN" b="1">
                  <a:latin typeface="Times New Roman" panose="02020603050405020304" pitchFamily="18" charset="0"/>
                  <a:cs typeface="Times New Roman" panose="02020603050405020304" pitchFamily="18" charset="0"/>
                </a:rPr>
                <a:t>                             </a:t>
              </a:r>
              <a:r>
                <a:rPr lang="zh-CN" altLang="en-US" b="1">
                  <a:latin typeface="Times New Roman" panose="02020603050405020304" pitchFamily="18" charset="0"/>
                  <a:cs typeface="Times New Roman" panose="02020603050405020304" pitchFamily="18" charset="0"/>
                </a:rPr>
                <a:t>其</a:t>
              </a:r>
              <a:r>
                <a:rPr lang="en-US" altLang="zh-CN" b="1">
                  <a:latin typeface="Times New Roman" panose="02020603050405020304" pitchFamily="18" charset="0"/>
                  <a:cs typeface="Times New Roman" panose="02020603050405020304" pitchFamily="18" charset="0"/>
                </a:rPr>
                <a:t>k</a:t>
              </a:r>
              <a:r>
                <a:rPr lang="zh-CN" altLang="en-US" b="1">
                  <a:latin typeface="Times New Roman" panose="02020603050405020304" pitchFamily="18" charset="0"/>
                  <a:cs typeface="Times New Roman" panose="02020603050405020304" pitchFamily="18" charset="0"/>
                </a:rPr>
                <a:t>取值范围 </a:t>
              </a:r>
              <a:r>
                <a:rPr lang="en-US" altLang="zh-CN" b="1">
                  <a:latin typeface="Times New Roman" panose="02020603050405020304" pitchFamily="18" charset="0"/>
                  <a:cs typeface="Times New Roman" panose="02020603050405020304" pitchFamily="18" charset="0"/>
                </a:rPr>
                <a:t>1&lt;= k&lt;= j/w[i]</a:t>
              </a:r>
              <a:endParaRPr lang="zh-CN" altLang="en-US" b="1">
                <a:latin typeface="Times New Roman" panose="02020603050405020304" pitchFamily="18" charset="0"/>
                <a:cs typeface="Times New Roman" panose="02020603050405020304" pitchFamily="18" charset="0"/>
              </a:endParaRPr>
            </a:p>
          </p:txBody>
        </p:sp>
        <p:pic>
          <p:nvPicPr>
            <p:cNvPr id="13" name="图片 12"/>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38279" y="2750731"/>
              <a:ext cx="180975" cy="619125"/>
            </a:xfrm>
            <a:prstGeom prst="rect">
              <a:avLst/>
            </a:prstGeom>
          </p:spPr>
        </p:pic>
      </p:grpSp>
      <p:sp>
        <p:nvSpPr>
          <p:cNvPr id="15" name="文本框 14"/>
          <p:cNvSpPr txBox="1"/>
          <p:nvPr/>
        </p:nvSpPr>
        <p:spPr>
          <a:xfrm>
            <a:off x="4735209" y="2239105"/>
            <a:ext cx="382597" cy="369332"/>
          </a:xfrm>
          <a:prstGeom prst="rect">
            <a:avLst/>
          </a:prstGeom>
          <a:noFill/>
        </p:spPr>
        <p:txBody>
          <a:bodyPr wrap="square" rtlCol="0">
            <a:spAutoFit/>
          </a:bodyPr>
          <a:lstStyle/>
          <a:p>
            <a:r>
              <a:rPr lang="zh-CN" altLang="en-US"/>
              <a:t>①</a:t>
            </a:r>
            <a:endParaRPr lang="zh-CN" altLang="en-US"/>
          </a:p>
        </p:txBody>
      </p:sp>
      <p:sp>
        <p:nvSpPr>
          <p:cNvPr id="16" name="文本框 15"/>
          <p:cNvSpPr txBox="1"/>
          <p:nvPr/>
        </p:nvSpPr>
        <p:spPr>
          <a:xfrm>
            <a:off x="7380312" y="2682229"/>
            <a:ext cx="432519" cy="369332"/>
          </a:xfrm>
          <a:prstGeom prst="rect">
            <a:avLst/>
          </a:prstGeom>
          <a:noFill/>
        </p:spPr>
        <p:txBody>
          <a:bodyPr wrap="square" rtlCol="0">
            <a:spAutoFit/>
          </a:bodyPr>
          <a:lstStyle/>
          <a:p>
            <a:r>
              <a:rPr lang="zh-CN" altLang="en-US"/>
              <a:t>②</a:t>
            </a:r>
            <a:endParaRPr lang="zh-CN" altLang="en-US"/>
          </a:p>
        </p:txBody>
      </p:sp>
      <p:sp>
        <p:nvSpPr>
          <p:cNvPr id="17" name="文本框 16"/>
          <p:cNvSpPr txBox="1"/>
          <p:nvPr/>
        </p:nvSpPr>
        <p:spPr>
          <a:xfrm>
            <a:off x="755576" y="3778051"/>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①式表示如果当前的容量不能容下当前的物品，则直接不选择该物品，此时状态表中直接保存</a:t>
            </a:r>
            <a:r>
              <a:rPr kumimoji="1" lang="en-US" altLang="zh-CN" sz="2200" b="1">
                <a:solidFill>
                  <a:srgbClr val="080808"/>
                </a:solidFill>
                <a:uFillTx/>
                <a:latin typeface="Times New Roman" panose="02020603050405020304" pitchFamily="18" charset="0"/>
              </a:rPr>
              <a:t>dp[i-1][j]</a:t>
            </a:r>
            <a:r>
              <a:rPr kumimoji="1" lang="zh-CN" altLang="en-US" sz="2200">
                <a:solidFill>
                  <a:srgbClr val="080808"/>
                </a:solidFill>
                <a:uFillTx/>
                <a:latin typeface="Times New Roman" panose="02020603050405020304" pitchFamily="18" charset="0"/>
              </a:rPr>
              <a:t>的值</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755576" y="4547492"/>
            <a:ext cx="7812868" cy="76835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②式表示如果当前的容量能容下当前的物品，</a:t>
            </a:r>
            <a:r>
              <a:rPr kumimoji="1" lang="en-US" altLang="zh-CN" sz="2200">
                <a:solidFill>
                  <a:srgbClr val="080808"/>
                </a:solidFill>
                <a:uFillTx/>
                <a:latin typeface="Times New Roman" panose="02020603050405020304" pitchFamily="18" charset="0"/>
              </a:rPr>
              <a:t>k</a:t>
            </a:r>
            <a:r>
              <a:rPr kumimoji="1" lang="zh-CN" altLang="en-US" sz="2200">
                <a:solidFill>
                  <a:srgbClr val="080808"/>
                </a:solidFill>
                <a:uFillTx/>
                <a:latin typeface="Times New Roman" panose="02020603050405020304" pitchFamily="18" charset="0"/>
              </a:rPr>
              <a:t>的值是多少就有多少种选择。选择最大的填充</a:t>
            </a:r>
            <a:r>
              <a:rPr kumimoji="1" lang="en-US" altLang="zh-CN" sz="2200" b="1">
                <a:solidFill>
                  <a:srgbClr val="080808"/>
                </a:solidFill>
                <a:uFillTx/>
                <a:latin typeface="Times New Roman" panose="02020603050405020304" pitchFamily="18" charset="0"/>
              </a:rPr>
              <a:t>dp[i][j]</a:t>
            </a:r>
            <a:endParaRPr kumimoji="1" lang="en-US" altLang="zh-CN" sz="2200" b="1">
              <a:solidFill>
                <a:srgbClr val="080808"/>
              </a:solidFill>
              <a:uFillTx/>
              <a:latin typeface="Times New Roman" panose="02020603050405020304" pitchFamily="18"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429895"/>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回顾完全背包问题，发现和</a:t>
            </a:r>
            <a:r>
              <a:rPr kumimoji="1" lang="en-US" altLang="zh-CN" sz="2200">
                <a:solidFill>
                  <a:srgbClr val="080808"/>
                </a:solidFill>
                <a:uFillTx/>
                <a:latin typeface="Times New Roman" panose="02020603050405020304" pitchFamily="18" charset="0"/>
              </a:rPr>
              <a:t>0-1</a:t>
            </a:r>
            <a:r>
              <a:rPr kumimoji="1" lang="zh-CN" altLang="en-US" sz="2200">
                <a:solidFill>
                  <a:srgbClr val="080808"/>
                </a:solidFill>
                <a:uFillTx/>
                <a:latin typeface="Times New Roman" panose="02020603050405020304" pitchFamily="18" charset="0"/>
              </a:rPr>
              <a:t>背包问题有一样的解题流程</a:t>
            </a:r>
            <a:endParaRPr kumimoji="1" lang="zh-CN" altLang="en-US" sz="2200">
              <a:solidFill>
                <a:srgbClr val="080808"/>
              </a:solidFill>
              <a:uFillTx/>
              <a:latin typeface="Times New Roman" panose="02020603050405020304" pitchFamily="18" charset="0"/>
            </a:endParaRPr>
          </a:p>
        </p:txBody>
      </p:sp>
      <p:sp>
        <p:nvSpPr>
          <p:cNvPr id="18" name="文本框 17"/>
          <p:cNvSpPr txBox="1"/>
          <p:nvPr/>
        </p:nvSpPr>
        <p:spPr>
          <a:xfrm>
            <a:off x="470885" y="1772816"/>
            <a:ext cx="7812868" cy="2461260"/>
          </a:xfrm>
          <a:prstGeom prst="rect">
            <a:avLst/>
          </a:prstGeom>
          <a:noFill/>
        </p:spPr>
        <p:txBody>
          <a:bodyPr wrap="square" rtlCol="0">
            <a:spAutoFit/>
          </a:bodyPr>
          <a:lstStyle/>
          <a:p>
            <a:r>
              <a:rPr kumimoji="1" lang="zh-CN" altLang="en-US" sz="2200">
                <a:solidFill>
                  <a:srgbClr val="080808"/>
                </a:solidFill>
                <a:uFillTx/>
                <a:latin typeface="Times New Roman" panose="02020603050405020304" pitchFamily="18" charset="0"/>
              </a:rPr>
              <a:t>判断动态规划核心思想符不符合该问题。</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然后</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1</a:t>
            </a:r>
            <a:r>
              <a:rPr kumimoji="1" lang="zh-CN" altLang="en-US" sz="2200">
                <a:solidFill>
                  <a:srgbClr val="080808"/>
                </a:solidFill>
                <a:uFillTx/>
                <a:latin typeface="Times New Roman" panose="02020603050405020304" pitchFamily="18" charset="0"/>
              </a:rPr>
              <a:t>）选择数组描述状态</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2</a:t>
            </a:r>
            <a:r>
              <a:rPr kumimoji="1" lang="zh-CN" altLang="en-US" sz="2200">
                <a:solidFill>
                  <a:srgbClr val="080808"/>
                </a:solidFill>
                <a:uFillTx/>
                <a:latin typeface="Times New Roman" panose="02020603050405020304" pitchFamily="18" charset="0"/>
              </a:rPr>
              <a:t>）找到递推关系</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3</a:t>
            </a:r>
            <a:r>
              <a:rPr kumimoji="1" lang="zh-CN" altLang="en-US" sz="2200">
                <a:solidFill>
                  <a:srgbClr val="080808"/>
                </a:solidFill>
                <a:uFillTx/>
                <a:latin typeface="Times New Roman" panose="02020603050405020304" pitchFamily="18" charset="0"/>
              </a:rPr>
              <a:t>）初始化边界</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这三步不是严格的顺序</a:t>
            </a:r>
            <a:endParaRPr kumimoji="1" lang="en-US" altLang="zh-CN" sz="2200">
              <a:solidFill>
                <a:srgbClr val="080808"/>
              </a:solidFill>
              <a:uFillTx/>
              <a:latin typeface="Times New Roman" panose="02020603050405020304" pitchFamily="18" charset="0"/>
            </a:endParaRPr>
          </a:p>
          <a:p>
            <a:r>
              <a:rPr kumimoji="1" lang="zh-CN" altLang="en-US" sz="2200">
                <a:solidFill>
                  <a:srgbClr val="080808"/>
                </a:solidFill>
                <a:uFillTx/>
                <a:latin typeface="Times New Roman" panose="02020603050405020304" pitchFamily="18" charset="0"/>
              </a:rPr>
              <a:t>（</a:t>
            </a:r>
            <a:r>
              <a:rPr kumimoji="1" lang="en-US" altLang="zh-CN" sz="2200">
                <a:solidFill>
                  <a:srgbClr val="080808"/>
                </a:solidFill>
                <a:uFillTx/>
                <a:latin typeface="Times New Roman" panose="02020603050405020304" pitchFamily="18" charset="0"/>
              </a:rPr>
              <a:t>4</a:t>
            </a:r>
            <a:r>
              <a:rPr kumimoji="1" lang="zh-CN" altLang="en-US" sz="2200">
                <a:solidFill>
                  <a:srgbClr val="080808"/>
                </a:solidFill>
                <a:uFillTx/>
                <a:latin typeface="Times New Roman" panose="02020603050405020304" pitchFamily="18" charset="0"/>
              </a:rPr>
              <a:t>）更新状态表，获取结果（可能会重新遍历状态表）</a:t>
            </a:r>
            <a:endParaRPr kumimoji="1" lang="zh-CN" altLang="en-US" sz="2200">
              <a:solidFill>
                <a:srgbClr val="080808"/>
              </a:solidFill>
              <a:uFillTx/>
              <a:latin typeface="Times New Roman" panose="02020603050405020304" pitchFamily="18" charset="0"/>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6" name="Text Box 4"/>
          <p:cNvSpPr txBox="1">
            <a:spLocks noChangeArrowheads="1"/>
          </p:cNvSpPr>
          <p:nvPr/>
        </p:nvSpPr>
        <p:spPr bwMode="auto">
          <a:xfrm>
            <a:off x="107504" y="1124744"/>
            <a:ext cx="8856984" cy="11079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indent="457200">
              <a:spcBef>
                <a:spcPct val="50000"/>
              </a:spcBef>
              <a:buSzTx/>
              <a:buFontTx/>
              <a:buNone/>
            </a:pPr>
            <a:r>
              <a:rPr lang="zh-CN" altLang="en-US" sz="2200">
                <a:solidFill>
                  <a:srgbClr val="080808"/>
                </a:solidFill>
                <a:latin typeface="Times New Roman" panose="02020603050405020304" pitchFamily="18" charset="0"/>
                <a:ea typeface="楷体" panose="02010609060101010101" pitchFamily="49" charset="-122"/>
              </a:rPr>
              <a:t>多重背包问题：有</a:t>
            </a:r>
            <a:r>
              <a:rPr lang="en-US" altLang="zh-CN" sz="2200">
                <a:solidFill>
                  <a:srgbClr val="080808"/>
                </a:solidFill>
                <a:latin typeface="Times New Roman" panose="02020603050405020304" pitchFamily="18" charset="0"/>
                <a:ea typeface="楷体" panose="02010609060101010101" pitchFamily="49" charset="-122"/>
              </a:rPr>
              <a:t>n</a:t>
            </a:r>
            <a:r>
              <a:rPr lang="zh-CN" altLang="en-US" sz="2200">
                <a:solidFill>
                  <a:srgbClr val="080808"/>
                </a:solidFill>
                <a:latin typeface="Times New Roman" panose="02020603050405020304" pitchFamily="18" charset="0"/>
                <a:ea typeface="楷体" panose="02010609060101010101" pitchFamily="49" charset="-122"/>
              </a:rPr>
              <a:t>种物品有质量和对应的价值。每种物品数量是</a:t>
            </a:r>
            <a:r>
              <a:rPr lang="en-US" altLang="zh-CN" sz="2200">
                <a:solidFill>
                  <a:srgbClr val="080808"/>
                </a:solidFill>
                <a:latin typeface="Times New Roman" panose="02020603050405020304" pitchFamily="18" charset="0"/>
                <a:ea typeface="楷体" panose="02010609060101010101" pitchFamily="49" charset="-122"/>
              </a:rPr>
              <a:t>S[i]={1,2,3,4}</a:t>
            </a:r>
            <a:r>
              <a:rPr lang="zh-CN" altLang="en-US" sz="2200">
                <a:solidFill>
                  <a:srgbClr val="080808"/>
                </a:solidFill>
                <a:latin typeface="Times New Roman" panose="02020603050405020304" pitchFamily="18" charset="0"/>
                <a:ea typeface="楷体" panose="02010609060101010101" pitchFamily="49" charset="-122"/>
              </a:rPr>
              <a:t>，背包称重</a:t>
            </a:r>
            <a:r>
              <a:rPr lang="en-US" altLang="zh-CN" sz="2200" dirty="0">
                <a:solidFill>
                  <a:srgbClr val="080808"/>
                </a:solidFill>
                <a:latin typeface="Times New Roman" panose="02020603050405020304" pitchFamily="18" charset="0"/>
                <a:ea typeface="楷体" panose="02010609060101010101" pitchFamily="49" charset="-122"/>
              </a:rPr>
              <a:t>M = 10kg,</a:t>
            </a:r>
            <a:r>
              <a:rPr lang="zh-CN" altLang="en-US" sz="2200">
                <a:solidFill>
                  <a:srgbClr val="080808"/>
                </a:solidFill>
                <a:latin typeface="Times New Roman" panose="02020603050405020304" pitchFamily="18" charset="0"/>
                <a:ea typeface="楷体" panose="02010609060101010101" pitchFamily="49" charset="-122"/>
              </a:rPr>
              <a:t>物品的重量</a:t>
            </a:r>
            <a:r>
              <a:rPr lang="en-US" altLang="zh-CN" sz="2200" dirty="0">
                <a:solidFill>
                  <a:srgbClr val="080808"/>
                </a:solidFill>
                <a:latin typeface="Times New Roman" panose="02020603050405020304" pitchFamily="18" charset="0"/>
                <a:ea typeface="楷体" panose="02010609060101010101" pitchFamily="49" charset="-122"/>
              </a:rPr>
              <a:t>W</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{2,3,4,7},</a:t>
            </a:r>
            <a:r>
              <a:rPr lang="zh-CN" altLang="en-US" sz="2200">
                <a:solidFill>
                  <a:srgbClr val="080808"/>
                </a:solidFill>
                <a:latin typeface="Times New Roman" panose="02020603050405020304" pitchFamily="18" charset="0"/>
                <a:ea typeface="楷体" panose="02010609060101010101" pitchFamily="49" charset="-122"/>
              </a:rPr>
              <a:t>价值为</a:t>
            </a:r>
            <a:r>
              <a:rPr lang="en-US" altLang="zh-CN" sz="2200" dirty="0">
                <a:solidFill>
                  <a:srgbClr val="080808"/>
                </a:solidFill>
                <a:latin typeface="Times New Roman" panose="02020603050405020304" pitchFamily="18" charset="0"/>
                <a:ea typeface="楷体" panose="02010609060101010101" pitchFamily="49" charset="-122"/>
              </a:rPr>
              <a:t>C</a:t>
            </a:r>
            <a:r>
              <a:rPr lang="en-US" altLang="zh-CN" sz="2200" baseline="-25000" dirty="0">
                <a:solidFill>
                  <a:srgbClr val="080808"/>
                </a:solidFill>
                <a:latin typeface="Times New Roman" panose="02020603050405020304" pitchFamily="18" charset="0"/>
                <a:ea typeface="楷体" panose="02010609060101010101" pitchFamily="49" charset="-122"/>
              </a:rPr>
              <a:t>i</a:t>
            </a:r>
            <a:r>
              <a:rPr lang="en-US" altLang="zh-CN" sz="2200" dirty="0">
                <a:solidFill>
                  <a:srgbClr val="080808"/>
                </a:solidFill>
                <a:latin typeface="Times New Roman" panose="02020603050405020304" pitchFamily="18" charset="0"/>
                <a:ea typeface="楷体" panose="02010609060101010101" pitchFamily="49" charset="-122"/>
              </a:rPr>
              <a:t> = {1,3,5,9},</a:t>
            </a:r>
            <a:r>
              <a:rPr lang="zh-CN" altLang="en-US" sz="2200">
                <a:solidFill>
                  <a:srgbClr val="080808"/>
                </a:solidFill>
                <a:latin typeface="Times New Roman" panose="02020603050405020304" pitchFamily="18" charset="0"/>
                <a:ea typeface="楷体" panose="02010609060101010101" pitchFamily="49" charset="-122"/>
              </a:rPr>
              <a:t>问最多能装价值多大？</a:t>
            </a:r>
            <a:endParaRPr lang="zh-CN" altLang="en-US" sz="2200" dirty="0">
              <a:solidFill>
                <a:srgbClr val="080808"/>
              </a:solidFill>
              <a:latin typeface="Times New Roman" panose="02020603050405020304" pitchFamily="18" charset="0"/>
              <a:ea typeface="楷体" panose="02010609060101010101" pitchFamily="49" charset="-122"/>
            </a:endParaRPr>
          </a:p>
        </p:txBody>
      </p:sp>
      <p:sp>
        <p:nvSpPr>
          <p:cNvPr id="2" name="文本框 1"/>
          <p:cNvSpPr txBox="1"/>
          <p:nvPr/>
        </p:nvSpPr>
        <p:spPr>
          <a:xfrm>
            <a:off x="611560" y="2996952"/>
            <a:ext cx="7560840" cy="2031325"/>
          </a:xfrm>
          <a:prstGeom prst="rect">
            <a:avLst/>
          </a:prstGeom>
          <a:noFill/>
        </p:spPr>
        <p:txBody>
          <a:bodyPr wrap="square" rtlCol="0">
            <a:spAutoFit/>
          </a:bodyPr>
          <a:lstStyle/>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1:</a:t>
            </a:r>
            <a:r>
              <a:rPr lang="zh-CN" altLang="en-US">
                <a:latin typeface="Times New Roman" panose="02020603050405020304" pitchFamily="18" charset="0"/>
                <a:cs typeface="Times New Roman" panose="02020603050405020304" pitchFamily="18" charset="0"/>
              </a:rPr>
              <a:t>这个问题完全可以按照完全背包的思路解决，主要考虑的就是物品个数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a:t>
            </a:r>
            <a:r>
              <a:rPr lang="en-US" altLang="zh-CN">
                <a:latin typeface="Times New Roman" panose="02020603050405020304" pitchFamily="18" charset="0"/>
                <a:cs typeface="Times New Roman" panose="02020603050405020304" pitchFamily="18" charset="0"/>
              </a:rPr>
              <a:t>S[i]&gt;=j/w[i]</a:t>
            </a:r>
            <a:r>
              <a:rPr lang="zh-CN" altLang="en-US">
                <a:latin typeface="Times New Roman" panose="02020603050405020304" pitchFamily="18" charset="0"/>
                <a:cs typeface="Times New Roman" panose="02020603050405020304" pitchFamily="18" charset="0"/>
              </a:rPr>
              <a:t>时候就是完全背包问题，当</a:t>
            </a:r>
            <a:r>
              <a:rPr lang="en-US" altLang="zh-CN">
                <a:latin typeface="Times New Roman" panose="02020603050405020304" pitchFamily="18" charset="0"/>
                <a:cs typeface="Times New Roman" panose="02020603050405020304" pitchFamily="18" charset="0"/>
              </a:rPr>
              <a:t>s[i]&lt;j/w[i]</a:t>
            </a:r>
            <a:r>
              <a:rPr lang="zh-CN" altLang="en-US">
                <a:latin typeface="Times New Roman" panose="02020603050405020304" pitchFamily="18" charset="0"/>
                <a:cs typeface="Times New Roman" panose="02020603050405020304" pitchFamily="18" charset="0"/>
              </a:rPr>
              <a:t>时就后续的更新</a:t>
            </a:r>
            <a:r>
              <a:rPr lang="en-US" altLang="zh-CN">
                <a:latin typeface="Times New Roman" panose="02020603050405020304" pitchFamily="18" charset="0"/>
                <a:cs typeface="Times New Roman" panose="02020603050405020304" pitchFamily="18" charset="0"/>
              </a:rPr>
              <a:t>k</a:t>
            </a:r>
            <a:r>
              <a:rPr lang="zh-CN" altLang="en-US">
                <a:latin typeface="Times New Roman" panose="02020603050405020304" pitchFamily="18" charset="0"/>
                <a:cs typeface="Times New Roman" panose="02020603050405020304" pitchFamily="18" charset="0"/>
              </a:rPr>
              <a:t>的范围就是</a:t>
            </a:r>
            <a:r>
              <a:rPr lang="en-US" altLang="zh-CN">
                <a:latin typeface="Times New Roman" panose="02020603050405020304" pitchFamily="18" charset="0"/>
                <a:cs typeface="Times New Roman" panose="02020603050405020304" pitchFamily="18" charset="0"/>
              </a:rPr>
              <a:t>1&lt;=k&lt;=s[i]</a:t>
            </a:r>
            <a:r>
              <a:rPr lang="zh-CN" altLang="en-US">
                <a:latin typeface="Times New Roman" panose="02020603050405020304" pitchFamily="18" charset="0"/>
                <a:cs typeface="Times New Roman" panose="02020603050405020304" pitchFamily="18" charset="0"/>
              </a:rPr>
              <a:t>去更新状态表。</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a:t>
            </a:r>
            <a:endParaRPr lang="en-US" altLang="zh-CN">
              <a:latin typeface="Times New Roman" panose="02020603050405020304" pitchFamily="18" charset="0"/>
              <a:cs typeface="Times New Roman" panose="02020603050405020304" pitchFamily="18" charset="0"/>
            </a:endParaRPr>
          </a:p>
          <a:p>
            <a:endParaRPr lang="en-US" altLang="zh-CN">
              <a:latin typeface="Times New Roman" panose="02020603050405020304" pitchFamily="18" charset="0"/>
              <a:cs typeface="Times New Roman" panose="02020603050405020304" pitchFamily="18" charset="0"/>
            </a:endParaRPr>
          </a:p>
          <a:p>
            <a:r>
              <a:rPr lang="zh-CN" altLang="en-US">
                <a:solidFill>
                  <a:srgbClr val="FF0000"/>
                </a:solidFill>
                <a:latin typeface="Times New Roman" panose="02020603050405020304" pitchFamily="18" charset="0"/>
                <a:cs typeface="Times New Roman" panose="02020603050405020304" pitchFamily="18" charset="0"/>
              </a:rPr>
              <a:t>同学们想一想还有没有其他的解决方法？？？</a:t>
            </a:r>
            <a:endParaRPr lang="zh-CN" altLang="en-US">
              <a:solidFill>
                <a:srgbClr val="FF0000"/>
              </a:solidFill>
              <a:latin typeface="Times New Roman" panose="02020603050405020304" pitchFamily="18" charset="0"/>
              <a:cs typeface="Times New Roman" panose="02020603050405020304" pitchFamily="18" charset="0"/>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2" name="文本框 1"/>
          <p:cNvSpPr txBox="1"/>
          <p:nvPr/>
        </p:nvSpPr>
        <p:spPr>
          <a:xfrm>
            <a:off x="539552" y="908720"/>
            <a:ext cx="7560840" cy="923330"/>
          </a:xfrm>
          <a:prstGeom prst="rect">
            <a:avLst/>
          </a:prstGeom>
          <a:noFill/>
        </p:spPr>
        <p:txBody>
          <a:bodyPr wrap="square" rtlCol="0">
            <a:spAutoFit/>
          </a:bodyPr>
          <a:lstStyle/>
          <a:p>
            <a:endParaRPr lang="en-US" altLang="zh-CN">
              <a:latin typeface="Times New Roman" panose="02020603050405020304" pitchFamily="18" charset="0"/>
              <a:cs typeface="Times New Roman" panose="02020603050405020304" pitchFamily="18" charset="0"/>
            </a:endParaRPr>
          </a:p>
          <a:p>
            <a:r>
              <a:rPr lang="zh-CN" altLang="en-US">
                <a:latin typeface="Times New Roman" panose="02020603050405020304" pitchFamily="18" charset="0"/>
                <a:cs typeface="Times New Roman" panose="02020603050405020304" pitchFamily="18" charset="0"/>
              </a:rPr>
              <a:t>思路</a:t>
            </a:r>
            <a:r>
              <a:rPr lang="en-US" altLang="zh-CN">
                <a:latin typeface="Times New Roman" panose="02020603050405020304" pitchFamily="18" charset="0"/>
                <a:cs typeface="Times New Roman" panose="02020603050405020304" pitchFamily="18" charset="0"/>
              </a:rPr>
              <a:t>2</a:t>
            </a:r>
            <a:r>
              <a:rPr lang="zh-CN" altLang="en-US">
                <a:latin typeface="Times New Roman" panose="02020603050405020304" pitchFamily="18" charset="0"/>
                <a:cs typeface="Times New Roman" panose="02020603050405020304" pitchFamily="18" charset="0"/>
              </a:rPr>
              <a:t>：将完全背包问题转换成</a:t>
            </a:r>
            <a:r>
              <a:rPr lang="en-US" altLang="zh-CN">
                <a:latin typeface="Times New Roman" panose="02020603050405020304" pitchFamily="18" charset="0"/>
                <a:cs typeface="Times New Roman" panose="02020603050405020304" pitchFamily="18" charset="0"/>
              </a:rPr>
              <a:t>0-1</a:t>
            </a:r>
            <a:r>
              <a:rPr lang="zh-CN" altLang="en-US">
                <a:latin typeface="Times New Roman" panose="02020603050405020304" pitchFamily="18" charset="0"/>
                <a:cs typeface="Times New Roman" panose="02020603050405020304" pitchFamily="18" charset="0"/>
              </a:rPr>
              <a:t>背包问题去解决。</a:t>
            </a:r>
            <a:endParaRPr lang="en-US" altLang="zh-CN">
              <a:latin typeface="Times New Roman" panose="02020603050405020304" pitchFamily="18" charset="0"/>
              <a:cs typeface="Times New Roman" panose="02020603050405020304" pitchFamily="18" charset="0"/>
            </a:endParaRPr>
          </a:p>
          <a:p>
            <a:endParaRPr lang="zh-CN" altLang="en-US">
              <a:latin typeface="Times New Roman" panose="02020603050405020304" pitchFamily="18" charset="0"/>
              <a:cs typeface="Times New Roman" panose="02020603050405020304" pitchFamily="18" charset="0"/>
            </a:endParaRPr>
          </a:p>
        </p:txBody>
      </p:sp>
      <p:graphicFrame>
        <p:nvGraphicFramePr>
          <p:cNvPr id="12" name="表格 11"/>
          <p:cNvGraphicFramePr>
            <a:graphicFrameLocks noGrp="1"/>
          </p:cNvGraphicFramePr>
          <p:nvPr/>
        </p:nvGraphicFramePr>
        <p:xfrm>
          <a:off x="683568" y="1916832"/>
          <a:ext cx="7020000" cy="4320000"/>
        </p:xfrm>
        <a:graphic>
          <a:graphicData uri="http://schemas.openxmlformats.org/drawingml/2006/table">
            <a:tbl>
              <a:tblPr firstRow="1" firstCol="1" bandRow="1">
                <a:tableStyleId>{5940675A-B579-460E-94D1-54222C63F5DA}</a:tableStyleId>
              </a:tblPr>
              <a:tblGrid>
                <a:gridCol w="540000"/>
                <a:gridCol w="540000"/>
                <a:gridCol w="540000"/>
                <a:gridCol w="540000"/>
                <a:gridCol w="540000"/>
                <a:gridCol w="540000"/>
                <a:gridCol w="540000"/>
                <a:gridCol w="540000"/>
                <a:gridCol w="540000"/>
                <a:gridCol w="540000"/>
                <a:gridCol w="540000"/>
                <a:gridCol w="540000"/>
                <a:gridCol w="540000"/>
              </a:tblGrid>
              <a:tr h="360000">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 W</a:t>
                      </a:r>
                      <a:r>
                        <a:rPr lang="en-US" sz="1400" kern="100" baseline="-25000" dirty="0">
                          <a:effectLst/>
                          <a:latin typeface="Times New Roman" panose="02020603050405020304" pitchFamily="18" charset="0"/>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C</a:t>
                      </a:r>
                      <a:r>
                        <a:rPr lang="en-US" alt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rPr>
                        <a:t>i</a:t>
                      </a:r>
                      <a:endParaRPr lang="zh-CN" sz="1400" kern="100" baseline="-250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0kg</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1kg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2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3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sz="1400" kern="100" dirty="0">
                          <a:effectLst/>
                          <a:latin typeface="Times New Roman" panose="02020603050405020304" pitchFamily="18" charset="0"/>
                          <a:cs typeface="Times New Roman" panose="02020603050405020304" pitchFamily="18" charset="0"/>
                        </a:rPr>
                        <a:t>4 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6kg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8kg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10kg</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2</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1</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2">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dirty="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3</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r>
                        <a:rPr lang="en-US" alt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marL="0" algn="just" defTabSz="914400" rtl="0" eaLnBrk="1" latinLnBrk="0" hangingPunct="1">
                        <a:spcAft>
                          <a:spcPts val="0"/>
                        </a:spcAft>
                      </a:pPr>
                      <a:endParaRPr lang="zh-CN" sz="1400" kern="100">
                        <a:solidFill>
                          <a:schemeClr val="tx1"/>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bg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4</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5</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20000"/>
                        <a:lumOff val="80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r h="360000">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7</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9</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dirty="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r>
                        <a:rPr lang="en-US" altLang="zh-CN" sz="1400" kern="100">
                          <a:effectLst/>
                          <a:latin typeface="Times New Roman" panose="02020603050405020304" pitchFamily="18" charset="0"/>
                          <a:ea typeface="宋体" panose="02010600030101010101" pitchFamily="2" charset="-122"/>
                          <a:cs typeface="Times New Roman" panose="02020603050405020304" pitchFamily="18" charset="0"/>
                        </a:rPr>
                        <a:t>0</a:t>
                      </a: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c>
                  <a:txBody>
                    <a:bodyPr/>
                    <a:lstStyle/>
                    <a:p>
                      <a:pPr algn="just">
                        <a:spcAft>
                          <a:spcPts val="0"/>
                        </a:spcAft>
                      </a:pPr>
                      <a:endParaRPr lang="zh-CN" sz="1400"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solidFill>
                      <a:schemeClr val="accent1">
                        <a:lumMod val="75000"/>
                      </a:schemeClr>
                    </a:solidFill>
                  </a:tcPr>
                </a:tc>
              </a:tr>
            </a:tbl>
          </a:graphicData>
        </a:graphic>
      </p:graphicFrame>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灯片编号占位符 3"/>
          <p:cNvSpPr>
            <a:spLocks noGrp="1"/>
          </p:cNvSpPr>
          <p:nvPr>
            <p:ph type="sldNum" sz="quarter" idx="10"/>
          </p:nvPr>
        </p:nvSpPr>
        <p:spPr/>
        <p:txBody>
          <a:bodyPr/>
          <a:lstStyle/>
          <a:p>
            <a:pPr>
              <a:defRPr/>
            </a:pPr>
            <a:r>
              <a:rPr lang="de-DE" altLang="en-US"/>
              <a:t>Page </a:t>
            </a:r>
            <a:r>
              <a:rPr lang="de-DE" altLang="en-US">
                <a:sym typeface="MS UI Gothic" panose="020B0600070205080204" pitchFamily="34" charset="-128"/>
              </a:rPr>
              <a:t></a:t>
            </a:r>
            <a:r>
              <a:rPr lang="de-DE" altLang="en-US"/>
              <a:t> </a:t>
            </a:r>
            <a:fld id="{AB2E83DC-661B-4DCC-B4A3-95AD0DF58E27}" type="slidenum">
              <a:rPr lang="zh-CN" altLang="en-US" smtClean="0"/>
            </a:fld>
            <a:endParaRPr lang="en-US" altLang="zh-CN" dirty="0"/>
          </a:p>
        </p:txBody>
      </p:sp>
      <p:sp>
        <p:nvSpPr>
          <p:cNvPr id="17" name="文本框 16"/>
          <p:cNvSpPr txBox="1"/>
          <p:nvPr/>
        </p:nvSpPr>
        <p:spPr>
          <a:xfrm>
            <a:off x="467544" y="1124744"/>
            <a:ext cx="7812868" cy="769441"/>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将多重背包转换成完全背包和</a:t>
            </a:r>
            <a:r>
              <a:rPr kumimoji="1" lang="en-US" altLang="zh-CN" sz="2200">
                <a:solidFill>
                  <a:srgbClr val="080808"/>
                </a:solidFill>
                <a:latin typeface="Times New Roman" panose="02020603050405020304" pitchFamily="18" charset="0"/>
                <a:ea typeface="楷体" panose="02010609060101010101" pitchFamily="49" charset="-122"/>
              </a:rPr>
              <a:t>0-1</a:t>
            </a:r>
            <a:r>
              <a:rPr kumimoji="1" lang="zh-CN" altLang="en-US" sz="2200">
                <a:solidFill>
                  <a:srgbClr val="080808"/>
                </a:solidFill>
                <a:latin typeface="Times New Roman" panose="02020603050405020304" pitchFamily="18" charset="0"/>
                <a:ea typeface="楷体" panose="02010609060101010101" pitchFamily="49" charset="-122"/>
              </a:rPr>
              <a:t>背包问题之后，仍然是同样解题流程</a:t>
            </a:r>
            <a:endParaRPr kumimoji="1" lang="zh-CN" altLang="en-US" sz="2200">
              <a:solidFill>
                <a:srgbClr val="080808"/>
              </a:solidFill>
              <a:latin typeface="Times New Roman" panose="02020603050405020304" pitchFamily="18" charset="0"/>
              <a:ea typeface="楷体" panose="02010609060101010101" pitchFamily="49" charset="-122"/>
            </a:endParaRPr>
          </a:p>
        </p:txBody>
      </p:sp>
      <p:sp>
        <p:nvSpPr>
          <p:cNvPr id="18" name="文本框 17"/>
          <p:cNvSpPr txBox="1"/>
          <p:nvPr/>
        </p:nvSpPr>
        <p:spPr>
          <a:xfrm>
            <a:off x="600298" y="4943255"/>
            <a:ext cx="7812868" cy="769441"/>
          </a:xfrm>
          <a:prstGeom prst="rect">
            <a:avLst/>
          </a:prstGeom>
          <a:noFill/>
        </p:spPr>
        <p:txBody>
          <a:bodyPr wrap="square" rtlCol="0">
            <a:spAutoFit/>
          </a:bodyPr>
          <a:lstStyle/>
          <a:p>
            <a:r>
              <a:rPr kumimoji="1" lang="zh-CN" altLang="en-US" sz="2200">
                <a:solidFill>
                  <a:srgbClr val="FF0000"/>
                </a:solidFill>
                <a:latin typeface="Times New Roman" panose="02020603050405020304" pitchFamily="18" charset="0"/>
                <a:ea typeface="楷体" panose="02010609060101010101" pitchFamily="49" charset="-122"/>
              </a:rPr>
              <a:t>到这里同学思考一下，上述的动态规划算法是否可以进行优化？回想一下我们考试时候同学做题的表现。</a:t>
            </a:r>
            <a:endParaRPr kumimoji="1" lang="en-US" altLang="zh-CN" sz="2200">
              <a:solidFill>
                <a:srgbClr val="FF0000"/>
              </a:solidFill>
              <a:latin typeface="Times New Roman" panose="02020603050405020304" pitchFamily="18" charset="0"/>
              <a:ea typeface="楷体" panose="02010609060101010101" pitchFamily="49" charset="-122"/>
            </a:endParaRPr>
          </a:p>
        </p:txBody>
      </p:sp>
      <p:sp>
        <p:nvSpPr>
          <p:cNvPr id="5" name="文本框 4"/>
          <p:cNvSpPr txBox="1"/>
          <p:nvPr/>
        </p:nvSpPr>
        <p:spPr>
          <a:xfrm>
            <a:off x="623285" y="1925216"/>
            <a:ext cx="7812868" cy="2800767"/>
          </a:xfrm>
          <a:prstGeom prst="rect">
            <a:avLst/>
          </a:prstGeom>
          <a:noFill/>
        </p:spPr>
        <p:txBody>
          <a:bodyPr wrap="square" rtlCol="0">
            <a:spAutoFit/>
          </a:bodyPr>
          <a:lstStyle/>
          <a:p>
            <a:r>
              <a:rPr kumimoji="1" lang="zh-CN" altLang="en-US" sz="2200">
                <a:solidFill>
                  <a:srgbClr val="080808"/>
                </a:solidFill>
                <a:latin typeface="Times New Roman" panose="02020603050405020304" pitchFamily="18" charset="0"/>
                <a:ea typeface="楷体" panose="02010609060101010101" pitchFamily="49" charset="-122"/>
              </a:rPr>
              <a:t>判断动态规划核心思想符不符合该问题。</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然后</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1</a:t>
            </a:r>
            <a:r>
              <a:rPr kumimoji="1" lang="zh-CN" altLang="en-US" sz="2200">
                <a:solidFill>
                  <a:srgbClr val="080808"/>
                </a:solidFill>
                <a:latin typeface="Times New Roman" panose="02020603050405020304" pitchFamily="18" charset="0"/>
                <a:ea typeface="楷体" panose="02010609060101010101" pitchFamily="49" charset="-122"/>
              </a:rPr>
              <a:t>）选择数组描述状态</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2</a:t>
            </a:r>
            <a:r>
              <a:rPr kumimoji="1" lang="zh-CN" altLang="en-US" sz="2200">
                <a:solidFill>
                  <a:srgbClr val="080808"/>
                </a:solidFill>
                <a:latin typeface="Times New Roman" panose="02020603050405020304" pitchFamily="18" charset="0"/>
                <a:ea typeface="楷体" panose="02010609060101010101" pitchFamily="49" charset="-122"/>
              </a:rPr>
              <a:t>）找到递推关系</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3</a:t>
            </a:r>
            <a:r>
              <a:rPr kumimoji="1" lang="zh-CN" altLang="en-US" sz="2200">
                <a:solidFill>
                  <a:srgbClr val="080808"/>
                </a:solidFill>
                <a:latin typeface="Times New Roman" panose="02020603050405020304" pitchFamily="18" charset="0"/>
                <a:ea typeface="楷体" panose="02010609060101010101" pitchFamily="49" charset="-122"/>
              </a:rPr>
              <a:t>）初始化边界</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这三步不是严格的顺序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4</a:t>
            </a:r>
            <a:r>
              <a:rPr kumimoji="1" lang="zh-CN" altLang="en-US" sz="2200">
                <a:solidFill>
                  <a:srgbClr val="080808"/>
                </a:solidFill>
                <a:latin typeface="Times New Roman" panose="02020603050405020304" pitchFamily="18" charset="0"/>
                <a:ea typeface="楷体" panose="02010609060101010101" pitchFamily="49" charset="-122"/>
              </a:rPr>
              <a:t>）确定计算顺序</a:t>
            </a:r>
            <a:endParaRPr kumimoji="1" lang="en-US" altLang="zh-CN" sz="2200">
              <a:solidFill>
                <a:srgbClr val="080808"/>
              </a:solidFill>
              <a:latin typeface="Times New Roman" panose="02020603050405020304" pitchFamily="18" charset="0"/>
              <a:ea typeface="楷体" panose="02010609060101010101" pitchFamily="49" charset="-122"/>
            </a:endParaRPr>
          </a:p>
          <a:p>
            <a:r>
              <a:rPr kumimoji="1" lang="zh-CN" altLang="en-US" sz="2200">
                <a:solidFill>
                  <a:srgbClr val="080808"/>
                </a:solidFill>
                <a:latin typeface="Times New Roman" panose="02020603050405020304" pitchFamily="18" charset="0"/>
                <a:ea typeface="楷体" panose="02010609060101010101" pitchFamily="49" charset="-122"/>
              </a:rPr>
              <a:t>（</a:t>
            </a:r>
            <a:r>
              <a:rPr kumimoji="1" lang="en-US" altLang="zh-CN" sz="2200">
                <a:solidFill>
                  <a:srgbClr val="080808"/>
                </a:solidFill>
                <a:latin typeface="Times New Roman" panose="02020603050405020304" pitchFamily="18" charset="0"/>
                <a:ea typeface="楷体" panose="02010609060101010101" pitchFamily="49" charset="-122"/>
              </a:rPr>
              <a:t>5</a:t>
            </a:r>
            <a:r>
              <a:rPr kumimoji="1" lang="zh-CN" altLang="en-US" sz="2200">
                <a:solidFill>
                  <a:srgbClr val="080808"/>
                </a:solidFill>
                <a:latin typeface="Times New Roman" panose="02020603050405020304" pitchFamily="18" charset="0"/>
                <a:ea typeface="楷体" panose="02010609060101010101" pitchFamily="49" charset="-122"/>
              </a:rPr>
              <a:t>）获取结果（可能会重新遍历状态表）</a:t>
            </a:r>
            <a:endParaRPr kumimoji="1" lang="zh-CN" altLang="en-US" sz="2200">
              <a:solidFill>
                <a:srgbClr val="080808"/>
              </a:solidFill>
              <a:latin typeface="Times New Roman" panose="02020603050405020304" pitchFamily="18" charset="0"/>
              <a:ea typeface="楷体" panose="02010609060101010101" pitchFamily="49" charset="-122"/>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动态规划与分治方法的区别：</a:t>
            </a:r>
            <a:endParaRPr lang="en-US" altLang="zh-CN" sz="2400" dirty="0">
              <a:solidFill>
                <a:srgbClr val="080808"/>
              </a:solidFill>
              <a:latin typeface="楷体" panose="02010609060101010101" pitchFamily="49" charset="-122"/>
              <a:ea typeface="楷体" panose="02010609060101010101" pitchFamily="49" charset="-122"/>
            </a:endParaRPr>
          </a:p>
          <a:p>
            <a:pPr indent="457200">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两者都是通过组合子问题的解来求解原问题。不同的是，分治法适合处理能够将问题划分为互不相交的子问题的问题，通过递归地求解子问题来推出原问题的解。而动态规划适合应用于子问题重叠的情况，即不同的子问题具有公共的子问题。分治法则不适合，因为它会重复求解这些公共的子问题，而动态规划法则会把子问题的解保存下来，避免重复计算，可以说动态规划法是用空间来换时间。</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5.2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动态规划法的应用</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988840"/>
            <a:ext cx="8001880" cy="83099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下面分别使用分治法和动态规划法来解决斐波那契数列问题。斐波那契数列</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的递推定义是：</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23528" y="1196752"/>
            <a:ext cx="2733441"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5.2.1</a:t>
            </a:r>
            <a:r>
              <a:rPr lang="zh-CN" altLang="zh-CN" sz="2400" b="1" kern="100" dirty="0">
                <a:latin typeface="Cambria" panose="02040503050406030204" pitchFamily="18" charset="0"/>
                <a:cs typeface="Times New Roman" panose="02020603050405020304" pitchFamily="18" charset="0"/>
              </a:rPr>
              <a:t>斐波那契数列</a:t>
            </a:r>
            <a:endParaRPr lang="zh-CN" altLang="zh-CN" sz="2400" b="1" kern="100" dirty="0">
              <a:effectLst/>
              <a:latin typeface="Cambria" panose="02040503050406030204" pitchFamily="18" charset="0"/>
              <a:cs typeface="Times New Roman" panose="02020603050405020304" pitchFamily="18" charset="0"/>
            </a:endParaRPr>
          </a:p>
        </p:txBody>
      </p:sp>
      <p:pic>
        <p:nvPicPr>
          <p:cNvPr id="3" name="图片 2"/>
          <p:cNvPicPr>
            <a:picLocks noChangeAspect="1"/>
          </p:cNvPicPr>
          <p:nvPr/>
        </p:nvPicPr>
        <p:blipFill>
          <a:blip r:embed="rId6"/>
          <a:stretch>
            <a:fillRect/>
          </a:stretch>
        </p:blipFill>
        <p:spPr>
          <a:xfrm>
            <a:off x="1259632" y="3032016"/>
            <a:ext cx="6120680" cy="1517524"/>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37856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、分治法解题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如下图所示，先分解原问题，再递归地求解子问题退出原问题的解。斐波那契数列的递归设计如下</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fib(int 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if(n == 1 || n == 2)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1;                      //</a:t>
            </a:r>
            <a:r>
              <a:rPr lang="zh-CN" altLang="en-US" sz="2400" dirty="0">
                <a:solidFill>
                  <a:srgbClr val="080808"/>
                </a:solidFill>
                <a:latin typeface="楷体" panose="02010609060101010101" pitchFamily="49" charset="-122"/>
                <a:ea typeface="楷体" panose="02010609060101010101" pitchFamily="49" charset="-122"/>
              </a:rPr>
              <a:t>递归出口</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else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fib(n-1) + fib(n-2);    //</a:t>
            </a:r>
            <a:r>
              <a:rPr lang="zh-CN" altLang="en-US" sz="2400" dirty="0">
                <a:solidFill>
                  <a:srgbClr val="080808"/>
                </a:solidFill>
                <a:latin typeface="楷体" panose="02010609060101010101" pitchFamily="49" charset="-122"/>
                <a:ea typeface="楷体" panose="02010609060101010101" pitchFamily="49" charset="-122"/>
              </a:rPr>
              <a:t>递归调用</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4" name="图片 3"/>
          <p:cNvPicPr/>
          <p:nvPr/>
        </p:nvPicPr>
        <p:blipFill>
          <a:blip r:embed="rId6">
            <a:extLst>
              <a:ext uri="{28A0092B-C50C-407E-A947-70E740481C1C}">
                <a14:useLocalDpi xmlns:a14="http://schemas.microsoft.com/office/drawing/2010/main" val="0"/>
              </a:ext>
            </a:extLst>
          </a:blip>
          <a:stretch>
            <a:fillRect/>
          </a:stretch>
        </p:blipFill>
        <p:spPr>
          <a:xfrm>
            <a:off x="1907850" y="4697760"/>
            <a:ext cx="5328300" cy="216024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484784"/>
            <a:ext cx="8001880" cy="3046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、动态规划法解题</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    为了解决分治法出现的问题，下面尝试使用动态规划法，动态规划法能够在问题的求解过程在，保存上一个子问题的解，这样能够重复求解子问题。在使用动态规划法求解斐波那契数列第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项的时候，需要保存的是</a:t>
            </a:r>
            <a:r>
              <a:rPr lang="en-US" altLang="zh-CN" sz="2400" dirty="0">
                <a:solidFill>
                  <a:srgbClr val="080808"/>
                </a:solidFill>
                <a:latin typeface="楷体" panose="02010609060101010101" pitchFamily="49" charset="-122"/>
                <a:ea typeface="楷体" panose="02010609060101010101" pitchFamily="49" charset="-122"/>
              </a:rPr>
              <a:t>fib(n-1)</a:t>
            </a:r>
            <a:r>
              <a:rPr lang="zh-CN" altLang="en-US" sz="2400" dirty="0">
                <a:solidFill>
                  <a:srgbClr val="080808"/>
                </a:solidFill>
                <a:latin typeface="楷体" panose="02010609060101010101" pitchFamily="49" charset="-122"/>
                <a:ea typeface="楷体" panose="02010609060101010101" pitchFamily="49" charset="-122"/>
              </a:rPr>
              <a:t>和</a:t>
            </a:r>
            <a:r>
              <a:rPr lang="en-US" altLang="zh-CN" sz="2400" dirty="0">
                <a:solidFill>
                  <a:srgbClr val="080808"/>
                </a:solidFill>
                <a:latin typeface="楷体" panose="02010609060101010101" pitchFamily="49" charset="-122"/>
                <a:ea typeface="楷体" panose="02010609060101010101" pitchFamily="49" charset="-122"/>
              </a:rPr>
              <a:t>fib(n-2)</a:t>
            </a:r>
            <a:r>
              <a:rPr lang="zh-CN" altLang="en-US" sz="2400" dirty="0">
                <a:solidFill>
                  <a:srgbClr val="080808"/>
                </a:solidFill>
                <a:latin typeface="楷体" panose="02010609060101010101" pitchFamily="49" charset="-122"/>
                <a:ea typeface="楷体" panose="02010609060101010101" pitchFamily="49" charset="-122"/>
              </a:rPr>
              <a:t>的值，这定义一个一维数组，用来存放斐波那契数列的各个项，能够提升运行效率。</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04933" y="2163102"/>
            <a:ext cx="4824536" cy="34163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long fib1(int 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long f[n]; </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f[1]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f[2] = 1;</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for(</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3;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&lt;= n;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f[</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 = f[i-1] + f[i-2];</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return f[n];</a:t>
            </a:r>
            <a:endParaRPr lang="en-US" altLang="zh-CN"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 }</a:t>
            </a:r>
            <a:endParaRPr lang="en-US" altLang="zh-CN" sz="2400" dirty="0">
              <a:solidFill>
                <a:srgbClr val="080808"/>
              </a:solidFill>
              <a:latin typeface="楷体" panose="02010609060101010101" pitchFamily="49" charset="-122"/>
              <a:ea typeface="楷体" panose="02010609060101010101" pitchFamily="49" charset="-122"/>
            </a:endParaRPr>
          </a:p>
        </p:txBody>
      </p:sp>
      <p:pic>
        <p:nvPicPr>
          <p:cNvPr id="3" name="图片 2"/>
          <p:cNvPicPr/>
          <p:nvPr/>
        </p:nvPicPr>
        <p:blipFill>
          <a:blip r:embed="rId6">
            <a:extLst>
              <a:ext uri="{28A0092B-C50C-407E-A947-70E740481C1C}">
                <a14:useLocalDpi xmlns:a14="http://schemas.microsoft.com/office/drawing/2010/main" val="0"/>
              </a:ext>
            </a:extLst>
          </a:blip>
          <a:stretch>
            <a:fillRect/>
          </a:stretch>
        </p:blipFill>
        <p:spPr>
          <a:xfrm>
            <a:off x="4858681" y="1844824"/>
            <a:ext cx="3960440" cy="4052877"/>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323528" y="1052736"/>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499992" y="2564904"/>
            <a:ext cx="4459091" cy="2376264"/>
          </a:xfrm>
          <a:prstGeom prst="rect">
            <a:avLst/>
          </a:prstGeom>
        </p:spPr>
      </p:pic>
      <p:pic>
        <p:nvPicPr>
          <p:cNvPr id="5" name="图片 4"/>
          <p:cNvPicPr>
            <a:picLocks noChangeAspect="1"/>
          </p:cNvPicPr>
          <p:nvPr/>
        </p:nvPicPr>
        <p:blipFill>
          <a:blip r:embed="rId7"/>
          <a:stretch>
            <a:fillRect/>
          </a:stretch>
        </p:blipFill>
        <p:spPr>
          <a:xfrm>
            <a:off x="251379" y="2345462"/>
            <a:ext cx="3960581" cy="2729863"/>
          </a:xfrm>
          <a:prstGeom prst="rect">
            <a:avLst/>
          </a:prstGeom>
        </p:spPr>
      </p:pic>
      <p:sp>
        <p:nvSpPr>
          <p:cNvPr id="7" name="Text Box 4"/>
          <p:cNvSpPr txBox="1">
            <a:spLocks noChangeArrowheads="1"/>
          </p:cNvSpPr>
          <p:nvPr/>
        </p:nvSpPr>
        <p:spPr bwMode="auto">
          <a:xfrm>
            <a:off x="827584" y="515719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a:solidFill>
                  <a:srgbClr val="080808"/>
                </a:solidFill>
                <a:latin typeface="楷体" panose="02010609060101010101" pitchFamily="49" charset="-122"/>
                <a:ea typeface="楷体" panose="02010609060101010101" pitchFamily="49" charset="-122"/>
              </a:rPr>
              <a:t>（</a:t>
            </a:r>
            <a:r>
              <a:rPr lang="en-US" altLang="zh-CN" sz="2400">
                <a:solidFill>
                  <a:srgbClr val="080808"/>
                </a:solidFill>
                <a:latin typeface="楷体" panose="02010609060101010101" pitchFamily="49" charset="-122"/>
                <a:ea typeface="楷体" panose="02010609060101010101" pitchFamily="49" charset="-122"/>
              </a:rPr>
              <a:t>a</a:t>
            </a:r>
            <a:r>
              <a:rPr lang="zh-CN" altLang="en-US" sz="2400">
                <a:solidFill>
                  <a:srgbClr val="080808"/>
                </a:solidFill>
                <a:latin typeface="楷体" panose="02010609060101010101" pitchFamily="49" charset="-122"/>
                <a:ea typeface="楷体" panose="02010609060101010101" pitchFamily="49" charset="-122"/>
              </a:rPr>
              <a:t>）动态规划处理流程           （</a:t>
            </a:r>
            <a:r>
              <a:rPr lang="en-US" altLang="zh-CN" sz="2400">
                <a:solidFill>
                  <a:srgbClr val="080808"/>
                </a:solidFill>
                <a:latin typeface="楷体" panose="02010609060101010101" pitchFamily="49" charset="-122"/>
                <a:ea typeface="楷体" panose="02010609060101010101" pitchFamily="49" charset="-122"/>
              </a:rPr>
              <a:t>b</a:t>
            </a:r>
            <a:r>
              <a:rPr lang="zh-CN" altLang="en-US" sz="2400">
                <a:solidFill>
                  <a:srgbClr val="080808"/>
                </a:solidFill>
                <a:latin typeface="楷体" panose="02010609060101010101" pitchFamily="49" charset="-122"/>
                <a:ea typeface="楷体" panose="02010609060101010101" pitchFamily="49" charset="-122"/>
              </a:rPr>
              <a:t>）分治法处理流程</a:t>
            </a:r>
            <a:endParaRPr lang="en-US" altLang="zh-CN"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196752"/>
            <a:ext cx="800188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en-US" altLang="zh-CN" sz="2400">
                <a:solidFill>
                  <a:srgbClr val="080808"/>
                </a:solidFill>
                <a:latin typeface="楷体" panose="02010609060101010101" pitchFamily="49" charset="-122"/>
                <a:ea typeface="楷体" panose="02010609060101010101" pitchFamily="49" charset="-122"/>
              </a:rPr>
              <a:t>3</a:t>
            </a:r>
            <a:r>
              <a:rPr lang="zh-CN" altLang="en-US" sz="2400">
                <a:solidFill>
                  <a:srgbClr val="080808"/>
                </a:solidFill>
                <a:latin typeface="楷体" panose="02010609060101010101" pitchFamily="49" charset="-122"/>
                <a:ea typeface="楷体" panose="02010609060101010101" pitchFamily="49" charset="-122"/>
              </a:rPr>
              <a:t>、</a:t>
            </a:r>
            <a:r>
              <a:rPr lang="zh-CN" altLang="en-US" sz="2400">
                <a:solidFill>
                  <a:srgbClr val="FF0000"/>
                </a:solidFill>
                <a:latin typeface="楷体" panose="02010609060101010101" pitchFamily="49" charset="-122"/>
                <a:ea typeface="楷体" panose="02010609060101010101" pitchFamily="49" charset="-122"/>
              </a:rPr>
              <a:t>动态规划</a:t>
            </a:r>
            <a:r>
              <a:rPr lang="zh-CN" altLang="en-US" sz="2400">
                <a:solidFill>
                  <a:srgbClr val="080808"/>
                </a:solidFill>
                <a:latin typeface="楷体" panose="02010609060101010101" pitchFamily="49" charset="-122"/>
                <a:ea typeface="楷体" panose="02010609060101010101" pitchFamily="49" charset="-122"/>
              </a:rPr>
              <a:t>和</a:t>
            </a:r>
            <a:r>
              <a:rPr lang="zh-CN" altLang="en-US" sz="2400">
                <a:solidFill>
                  <a:srgbClr val="FF0000"/>
                </a:solidFill>
                <a:latin typeface="楷体" panose="02010609060101010101" pitchFamily="49" charset="-122"/>
                <a:ea typeface="楷体" panose="02010609060101010101" pitchFamily="49" charset="-122"/>
              </a:rPr>
              <a:t>分治法</a:t>
            </a:r>
            <a:r>
              <a:rPr lang="zh-CN" altLang="en-US" sz="2400">
                <a:solidFill>
                  <a:srgbClr val="080808"/>
                </a:solidFill>
                <a:latin typeface="楷体" panose="02010609060101010101" pitchFamily="49" charset="-122"/>
                <a:ea typeface="楷体" panose="02010609060101010101" pitchFamily="49" charset="-122"/>
              </a:rPr>
              <a:t>对比</a:t>
            </a:r>
            <a:endParaRPr lang="en-US" altLang="zh-CN" sz="2400">
              <a:solidFill>
                <a:srgbClr val="080808"/>
              </a:solidFill>
              <a:latin typeface="楷体" panose="02010609060101010101" pitchFamily="49" charset="-122"/>
              <a:ea typeface="楷体" panose="02010609060101010101" pitchFamily="49" charset="-122"/>
            </a:endParaRPr>
          </a:p>
        </p:txBody>
      </p:sp>
      <p:graphicFrame>
        <p:nvGraphicFramePr>
          <p:cNvPr id="5" name="表格 4"/>
          <p:cNvGraphicFramePr>
            <a:graphicFrameLocks noGrp="1"/>
          </p:cNvGraphicFramePr>
          <p:nvPr/>
        </p:nvGraphicFramePr>
        <p:xfrm>
          <a:off x="1475656" y="2492896"/>
          <a:ext cx="6048672" cy="2304256"/>
        </p:xfrm>
        <a:graphic>
          <a:graphicData uri="http://schemas.openxmlformats.org/drawingml/2006/table">
            <a:tbl>
              <a:tblPr firstRow="1" firstCol="1" bandRow="1">
                <a:tableStyleId>{5940675A-B579-460E-94D1-54222C63F5DA}</a:tableStyleId>
              </a:tblPr>
              <a:tblGrid>
                <a:gridCol w="1605735"/>
                <a:gridCol w="2509035"/>
                <a:gridCol w="1933902"/>
              </a:tblGrid>
              <a:tr h="576064">
                <a:tc>
                  <a:txBody>
                    <a:bodyPr/>
                    <a:lstStyle/>
                    <a:p>
                      <a:pPr algn="ctr">
                        <a:spcAft>
                          <a:spcPts val="0"/>
                        </a:spcAft>
                      </a:pPr>
                      <a:endParaRPr lang="zh-CN" sz="1400"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cs typeface="Times New Roman" panose="02020603050405020304" pitchFamily="18" charset="0"/>
                        </a:rPr>
                        <a:t>动态规划</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spcAft>
                          <a:spcPts val="0"/>
                        </a:spcAft>
                      </a:pPr>
                      <a:r>
                        <a:rPr lang="zh-CN" altLang="en-US" sz="1400" b="1" kern="10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rPr>
                        <a:t>分治法</a:t>
                      </a:r>
                      <a:endParaRPr lang="zh-CN" sz="1400" b="1" kern="100" baseline="-25000" dirty="0">
                        <a:solidFill>
                          <a:srgbClr val="FF0000"/>
                        </a:solidFill>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ap="flat" cmpd="sng" algn="ctr">
                      <a:noFill/>
                      <a:prstDash val="solid"/>
                      <a:round/>
                      <a:headEnd type="none" w="med" len="med"/>
                      <a:tailEnd type="none" w="med" len="med"/>
                    </a:lnL>
                    <a:lnR w="12700" cmpd="sng">
                      <a:noFill/>
                    </a:lnR>
                    <a:lnT w="38100" cap="flat" cmpd="sng" algn="ctr">
                      <a:solidFill>
                        <a:schemeClr val="tx1"/>
                      </a:solidFill>
                      <a:prstDash val="solid"/>
                      <a:round/>
                      <a:headEnd type="none" w="med" len="med"/>
                      <a:tailEnd type="none" w="med" len="med"/>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576064">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子问题特点：</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子问题重叠</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子问题独立</a:t>
                      </a:r>
                      <a:endParaRPr lang="zh-CN" sz="1400" b="1" kern="100" dirty="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38100" cap="flat" cmpd="sng" algn="ctr">
                      <a:solidFill>
                        <a:schemeClr val="tx1"/>
                      </a:solidFill>
                      <a:prstDash val="solid"/>
                      <a:round/>
                      <a:headEnd type="none" w="med" len="med"/>
                      <a:tailEnd type="none" w="med" len="med"/>
                    </a:lnT>
                    <a:lnB w="12700" cmpd="sng">
                      <a:noFill/>
                    </a:lnB>
                    <a:lnTlToBr w="12700" cmpd="sng">
                      <a:noFill/>
                      <a:prstDash val="solid"/>
                    </a:lnTlToBr>
                    <a:lnBlToTr w="12700" cmpd="sng">
                      <a:noFill/>
                      <a:prstDash val="solid"/>
                    </a:lnBlToTr>
                  </a:tcPr>
                </a:tc>
              </a:tr>
              <a:tr h="576064">
                <a:tc rowSpan="2">
                  <a:txBody>
                    <a:bodyPr/>
                    <a:lstStyle/>
                    <a:p>
                      <a:pPr marL="0" marR="0" indent="0" algn="ctr" defTabSz="914400" rtl="0" eaLnBrk="1" fontAlgn="auto" latinLnBrk="0" hangingPunct="1">
                        <a:lnSpc>
                          <a:spcPct val="100000"/>
                        </a:lnSpc>
                        <a:spcBef>
                          <a:spcPts val="0"/>
                        </a:spcBef>
                        <a:spcAft>
                          <a:spcPts val="0"/>
                        </a:spcAft>
                        <a:buClrTx/>
                        <a:buSzTx/>
                        <a:buFontTx/>
                        <a:buNone/>
                        <a:defRPr/>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子问题处理方式：</a:t>
                      </a:r>
                      <a:endParaRPr lang="zh-CN" alt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p>
                      <a:pPr algn="ctr">
                        <a:spcAft>
                          <a:spcPts val="0"/>
                        </a:spcAft>
                      </a:pP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存储子问题（记忆）</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不存储子问题</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12700" cmpd="sng">
                      <a:noFill/>
                    </a:lnB>
                    <a:lnTlToBr w="12700" cmpd="sng">
                      <a:noFill/>
                      <a:prstDash val="solid"/>
                    </a:lnTlToBr>
                    <a:lnBlToTr w="12700" cmpd="sng">
                      <a:noFill/>
                      <a:prstDash val="solid"/>
                    </a:lnBlToTr>
                    <a:solidFill>
                      <a:schemeClr val="bg2">
                        <a:lumMod val="20000"/>
                        <a:lumOff val="80000"/>
                      </a:schemeClr>
                    </a:solidFill>
                  </a:tcPr>
                </a:tc>
              </a:tr>
              <a:tr h="576064">
                <a:tc vMerge="1">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决策表（自底向上或自顶向下）</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c>
                  <a:txBody>
                    <a:bodyPr/>
                    <a:lstStyle/>
                    <a:p>
                      <a:pPr algn="ctr">
                        <a:spcAft>
                          <a:spcPts val="0"/>
                        </a:spcAft>
                      </a:pPr>
                      <a:r>
                        <a:rPr lang="zh-CN" altLang="en-US" sz="1400" b="1" kern="100">
                          <a:effectLst/>
                          <a:latin typeface="Times New Roman" panose="02020603050405020304" pitchFamily="18" charset="0"/>
                          <a:ea typeface="宋体" panose="02010600030101010101" pitchFamily="2" charset="-122"/>
                          <a:cs typeface="Times New Roman" panose="02020603050405020304" pitchFamily="18" charset="0"/>
                        </a:rPr>
                        <a:t>递归分治</a:t>
                      </a:r>
                      <a:endParaRPr lang="zh-CN" sz="1400" b="1" kern="100">
                        <a:effectLst/>
                        <a:latin typeface="Times New Roman" panose="02020603050405020304" pitchFamily="18" charset="0"/>
                        <a:ea typeface="宋体" panose="02010600030101010101" pitchFamily="2" charset="-122"/>
                        <a:cs typeface="Times New Roman" panose="02020603050405020304" pitchFamily="18" charset="0"/>
                      </a:endParaRPr>
                    </a:p>
                  </a:txBody>
                  <a:tcPr marL="68580" marR="68580" marT="0" marB="0" anchor="ctr">
                    <a:lnL w="12700" cmpd="sng">
                      <a:noFill/>
                    </a:lnL>
                    <a:lnR w="12700" cmpd="sng">
                      <a:noFill/>
                    </a:lnR>
                    <a:lnT w="12700" cmpd="sng">
                      <a:noFill/>
                    </a:lnT>
                    <a:lnB w="381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75000"/>
                      </a:schemeClr>
                    </a:solidFill>
                  </a:tcPr>
                </a:tc>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64840" y="1475364"/>
            <a:ext cx="8558279"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问题描述：从数字塔的顶端出发，在经过的每一个结点处都可以选择向左走或向右走，一直走到最底端，请找出一条路径，要求经过路径上的数值和最大。</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95536" y="836712"/>
            <a:ext cx="2424062"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5.2.2</a:t>
            </a:r>
            <a:r>
              <a:rPr lang="zh-CN" altLang="en-US" sz="2400" b="1" kern="100" dirty="0">
                <a:latin typeface="Cambria" panose="02040503050406030204" pitchFamily="18" charset="0"/>
                <a:cs typeface="Times New Roman" panose="02020603050405020304" pitchFamily="18" charset="0"/>
              </a:rPr>
              <a:t>数字塔问题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5" name="图片 4"/>
          <p:cNvPicPr/>
          <p:nvPr/>
        </p:nvPicPr>
        <p:blipFill>
          <a:blip r:embed="rId6">
            <a:extLst>
              <a:ext uri="{28A0092B-C50C-407E-A947-70E740481C1C}">
                <a14:useLocalDpi xmlns:a14="http://schemas.microsoft.com/office/drawing/2010/main" val="0"/>
              </a:ext>
            </a:extLst>
          </a:blip>
          <a:stretch>
            <a:fillRect/>
          </a:stretch>
        </p:blipFill>
        <p:spPr>
          <a:xfrm>
            <a:off x="1979712" y="2675693"/>
            <a:ext cx="5073094" cy="3973537"/>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251520" y="1124744"/>
            <a:ext cx="8820472" cy="286232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000" dirty="0">
                <a:solidFill>
                  <a:srgbClr val="080808"/>
                </a:solidFill>
                <a:latin typeface="楷体" panose="02010609060101010101" pitchFamily="49" charset="-122"/>
                <a:ea typeface="楷体" panose="02010609060101010101" pitchFamily="49" charset="-122"/>
              </a:rPr>
              <a:t>解题思路：首先是问题分解，从五层数字塔的顶端</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出发走下面的哪一个分支主要取决于位于它下方的左右两个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层数字塔的最大数值和，如下图</a:t>
            </a:r>
            <a:r>
              <a:rPr lang="en-US" altLang="zh-CN" sz="2000" dirty="0">
                <a:solidFill>
                  <a:srgbClr val="080808"/>
                </a:solidFill>
                <a:latin typeface="楷体" panose="02010609060101010101" pitchFamily="49" charset="-122"/>
                <a:ea typeface="楷体" panose="02010609060101010101" pitchFamily="49" charset="-122"/>
              </a:rPr>
              <a:t>5.3</a:t>
            </a:r>
            <a:r>
              <a:rPr lang="zh-CN" altLang="en-US" sz="2000" dirty="0">
                <a:solidFill>
                  <a:srgbClr val="080808"/>
                </a:solidFill>
                <a:latin typeface="楷体" panose="02010609060101010101" pitchFamily="49" charset="-122"/>
                <a:ea typeface="楷体" panose="02010609060101010101" pitchFamily="49" charset="-122"/>
              </a:rPr>
              <a:t>所示，以此类推，每个</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层数字塔的问题，每个</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层数字塔的问题又可以分解为两个</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层数字塔的问题，而</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层数字塔的最大数值和就是其本身，进入问题求解过程。接下来求解下一阶段的子问题，第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层的求解是在最底层决策的基础上的，第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4</a:t>
            </a:r>
            <a:r>
              <a:rPr lang="zh-CN" altLang="en-US" sz="2000" dirty="0">
                <a:solidFill>
                  <a:srgbClr val="080808"/>
                </a:solidFill>
                <a:latin typeface="楷体" panose="02010609060101010101" pitchFamily="49" charset="-122"/>
                <a:ea typeface="楷体" panose="02010609060101010101" pitchFamily="49" charset="-122"/>
              </a:rPr>
              <a:t>层的基础上的，第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层的求解是在第</a:t>
            </a:r>
            <a:r>
              <a:rPr lang="en-US" altLang="zh-CN" sz="2000" dirty="0">
                <a:solidFill>
                  <a:srgbClr val="080808"/>
                </a:solidFill>
                <a:latin typeface="楷体" panose="02010609060101010101" pitchFamily="49" charset="-122"/>
                <a:ea typeface="楷体" panose="02010609060101010101" pitchFamily="49" charset="-122"/>
              </a:rPr>
              <a:t>3</a:t>
            </a:r>
            <a:r>
              <a:rPr lang="zh-CN" altLang="en-US" sz="2000" dirty="0">
                <a:solidFill>
                  <a:srgbClr val="080808"/>
                </a:solidFill>
                <a:latin typeface="楷体" panose="02010609060101010101" pitchFamily="49" charset="-122"/>
                <a:ea typeface="楷体" panose="02010609060101010101" pitchFamily="49" charset="-122"/>
              </a:rPr>
              <a:t>层的基础上的，直到最后一个阶段：第</a:t>
            </a:r>
            <a:r>
              <a:rPr lang="en-US" altLang="zh-CN" sz="2000" dirty="0">
                <a:solidFill>
                  <a:srgbClr val="080808"/>
                </a:solidFill>
                <a:latin typeface="楷体" panose="02010609060101010101" pitchFamily="49" charset="-122"/>
                <a:ea typeface="楷体" panose="02010609060101010101" pitchFamily="49" charset="-122"/>
              </a:rPr>
              <a:t>1</a:t>
            </a:r>
            <a:r>
              <a:rPr lang="zh-CN" altLang="en-US" sz="2000" dirty="0">
                <a:solidFill>
                  <a:srgbClr val="080808"/>
                </a:solidFill>
                <a:latin typeface="楷体" panose="02010609060101010101" pitchFamily="49" charset="-122"/>
                <a:ea typeface="楷体" panose="02010609060101010101" pitchFamily="49" charset="-122"/>
              </a:rPr>
              <a:t>层求解是在第</a:t>
            </a:r>
            <a:r>
              <a:rPr lang="en-US" altLang="zh-CN" sz="2000" dirty="0">
                <a:solidFill>
                  <a:srgbClr val="080808"/>
                </a:solidFill>
                <a:latin typeface="楷体" panose="02010609060101010101" pitchFamily="49" charset="-122"/>
                <a:ea typeface="楷体" panose="02010609060101010101" pitchFamily="49" charset="-122"/>
              </a:rPr>
              <a:t>2</a:t>
            </a:r>
            <a:r>
              <a:rPr lang="zh-CN" altLang="en-US" sz="2000" dirty="0">
                <a:solidFill>
                  <a:srgbClr val="080808"/>
                </a:solidFill>
                <a:latin typeface="楷体" panose="02010609060101010101" pitchFamily="49" charset="-122"/>
                <a:ea typeface="楷体" panose="02010609060101010101" pitchFamily="49" charset="-122"/>
              </a:rPr>
              <a:t>层的基础上的，也是数字塔的整体最优解。</a:t>
            </a:r>
            <a:endParaRPr lang="en-US" altLang="zh-CN" sz="2000" dirty="0">
              <a:solidFill>
                <a:srgbClr val="080808"/>
              </a:solidFill>
              <a:latin typeface="楷体" panose="02010609060101010101" pitchFamily="49" charset="-122"/>
              <a:ea typeface="楷体" panose="02010609060101010101" pitchFamily="49" charset="-122"/>
            </a:endParaRPr>
          </a:p>
        </p:txBody>
      </p:sp>
      <p:grpSp>
        <p:nvGrpSpPr>
          <p:cNvPr id="6" name="组合 5"/>
          <p:cNvGrpSpPr/>
          <p:nvPr/>
        </p:nvGrpSpPr>
        <p:grpSpPr>
          <a:xfrm>
            <a:off x="1187624" y="3987066"/>
            <a:ext cx="7416824" cy="2582902"/>
            <a:chOff x="0" y="0"/>
            <a:chExt cx="4857750" cy="1727200"/>
          </a:xfrm>
        </p:grpSpPr>
        <p:pic>
          <p:nvPicPr>
            <p:cNvPr id="7" name="图片 6"/>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0" y="0"/>
              <a:ext cx="2381250" cy="1727200"/>
            </a:xfrm>
            <a:prstGeom prst="rect">
              <a:avLst/>
            </a:prstGeom>
          </p:spPr>
        </p:pic>
        <p:pic>
          <p:nvPicPr>
            <p:cNvPr id="8" name="图片 7"/>
            <p:cNvPicPr/>
            <p:nvPr/>
          </p:nvPicPr>
          <p:blipFill>
            <a:blip r:embed="rId7">
              <a:extLst>
                <a:ext uri="{28A0092B-C50C-407E-A947-70E740481C1C}">
                  <a14:useLocalDpi xmlns:a14="http://schemas.microsoft.com/office/drawing/2010/main" val="0"/>
                </a:ext>
              </a:extLst>
            </a:blip>
            <a:stretch>
              <a:fillRect/>
            </a:stretch>
          </p:blipFill>
          <p:spPr>
            <a:xfrm>
              <a:off x="2476500" y="0"/>
              <a:ext cx="2381250" cy="1720850"/>
            </a:xfrm>
            <a:prstGeom prst="rect">
              <a:avLst/>
            </a:prstGeom>
          </p:spPr>
        </p:pic>
      </p:gr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20399" y="2003311"/>
            <a:ext cx="8311969" cy="954107"/>
          </a:xfrm>
          <a:prstGeom prst="rect">
            <a:avLst/>
          </a:prstGeom>
        </p:spPr>
        <p:txBody>
          <a:bodyPr wrap="square">
            <a:spAutoFit/>
          </a:bodyPr>
          <a:lstStyle/>
          <a:p>
            <a:endParaRPr lang="en-US" altLang="zh-CN" b="1" dirty="0">
              <a:latin typeface="宋体" panose="02010600030101010101" pitchFamily="2" charset="-122"/>
            </a:endParaRPr>
          </a:p>
          <a:p>
            <a:r>
              <a:rPr lang="zh-CN" altLang="en-US" b="1" dirty="0">
                <a:solidFill>
                  <a:srgbClr val="0000FF"/>
                </a:solidFill>
                <a:latin typeface="宋体" panose="02010600030101010101" pitchFamily="2" charset="-122"/>
              </a:rPr>
              <a:t>例：现在有面值为</a:t>
            </a:r>
            <a:r>
              <a:rPr lang="en-US" altLang="zh-CN" b="1" dirty="0">
                <a:solidFill>
                  <a:srgbClr val="0000FF"/>
                </a:solidFill>
                <a:latin typeface="宋体" panose="02010600030101010101" pitchFamily="2" charset="-122"/>
              </a:rPr>
              <a:t>1</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en-US" altLang="zh-CN" b="1" dirty="0">
              <a:solidFill>
                <a:srgbClr val="0000FF"/>
              </a:solidFill>
              <a:latin typeface="宋体" panose="02010600030101010101" pitchFamily="2" charset="-122"/>
            </a:endParaRPr>
          </a:p>
          <a:p>
            <a:endParaRPr lang="zh-CN" altLang="en-US" sz="2000" b="1" dirty="0"/>
          </a:p>
        </p:txBody>
      </p:sp>
      <p:sp>
        <p:nvSpPr>
          <p:cNvPr id="6" name="矩形 5"/>
          <p:cNvSpPr/>
          <p:nvPr/>
        </p:nvSpPr>
        <p:spPr>
          <a:xfrm>
            <a:off x="220399" y="2643369"/>
            <a:ext cx="8613461" cy="1754326"/>
          </a:xfrm>
          <a:prstGeom prst="rect">
            <a:avLst/>
          </a:prstGeom>
        </p:spPr>
        <p:txBody>
          <a:bodyPr wrap="square">
            <a:spAutoFit/>
          </a:bodyPr>
          <a:lstStyle/>
          <a:p>
            <a:pPr>
              <a:lnSpc>
                <a:spcPct val="150000"/>
              </a:lnSpc>
            </a:pPr>
            <a:r>
              <a:rPr lang="zh-CN" altLang="en-US" b="1" dirty="0"/>
              <a:t>这道题给人的第一感觉是可以使用贪心算法，先选面值最大的，最多能够选一枚</a:t>
            </a:r>
            <a:r>
              <a:rPr lang="en-US" altLang="zh-CN" b="1" dirty="0"/>
              <a:t>5</a:t>
            </a:r>
            <a:r>
              <a:rPr lang="zh-CN" altLang="en-US" b="1" dirty="0"/>
              <a:t>元的硬币，目前是</a:t>
            </a:r>
            <a:r>
              <a:rPr lang="en-US" altLang="zh-CN" b="1" dirty="0"/>
              <a:t>5</a:t>
            </a:r>
            <a:r>
              <a:rPr lang="zh-CN" altLang="en-US" b="1" dirty="0"/>
              <a:t>元了，还差</a:t>
            </a:r>
            <a:r>
              <a:rPr lang="en-US" altLang="zh-CN" b="1" dirty="0"/>
              <a:t>4</a:t>
            </a:r>
            <a:r>
              <a:rPr lang="zh-CN" altLang="en-US" b="1" dirty="0"/>
              <a:t>元；接下来我们选取第</a:t>
            </a:r>
            <a:r>
              <a:rPr lang="en-US" altLang="zh-CN" b="1" dirty="0"/>
              <a:t>2</a:t>
            </a:r>
            <a:r>
              <a:rPr lang="zh-CN" altLang="en-US" b="1" dirty="0"/>
              <a:t>大的</a:t>
            </a:r>
            <a:r>
              <a:rPr lang="en-US" altLang="zh-CN" b="1" dirty="0"/>
              <a:t>3</a:t>
            </a:r>
            <a:r>
              <a:rPr lang="zh-CN" altLang="en-US" b="1" dirty="0"/>
              <a:t>元面值，最多能够选一枚，目前是</a:t>
            </a:r>
            <a:r>
              <a:rPr lang="en-US" altLang="zh-CN" b="1" dirty="0"/>
              <a:t>8</a:t>
            </a:r>
            <a:r>
              <a:rPr lang="zh-CN" altLang="en-US" b="1" dirty="0"/>
              <a:t>元了，还差</a:t>
            </a:r>
            <a:r>
              <a:rPr lang="en-US" altLang="zh-CN" b="1" dirty="0"/>
              <a:t>1</a:t>
            </a:r>
            <a:r>
              <a:rPr lang="zh-CN" altLang="en-US" b="1" dirty="0"/>
              <a:t>元；继续选第</a:t>
            </a:r>
            <a:r>
              <a:rPr lang="en-US" altLang="zh-CN" b="1" dirty="0"/>
              <a:t>3</a:t>
            </a:r>
            <a:r>
              <a:rPr lang="zh-CN" altLang="en-US" b="1" dirty="0"/>
              <a:t>大的硬币也就是</a:t>
            </a:r>
            <a:r>
              <a:rPr lang="en-US" altLang="zh-CN" b="1" dirty="0"/>
              <a:t>1</a:t>
            </a:r>
            <a:r>
              <a:rPr lang="zh-CN" altLang="en-US" b="1" dirty="0"/>
              <a:t>元面值，选一个就可以了，因此用</a:t>
            </a:r>
            <a:r>
              <a:rPr lang="en-US" altLang="zh-CN" b="1" dirty="0"/>
              <a:t>3</a:t>
            </a:r>
            <a:r>
              <a:rPr lang="zh-CN" altLang="en-US" b="1" dirty="0"/>
              <a:t>枚硬币凑够了</a:t>
            </a:r>
            <a:r>
              <a:rPr lang="en-US" altLang="zh-CN" b="1" dirty="0"/>
              <a:t>11</a:t>
            </a:r>
            <a:r>
              <a:rPr lang="zh-CN" altLang="en-US" b="1" dirty="0"/>
              <a:t>元</a:t>
            </a:r>
            <a:r>
              <a:rPr lang="zh-CN" altLang="en-US" b="1" dirty="0">
                <a:latin typeface="宋体" panose="02010600030101010101" pitchFamily="2" charset="-122"/>
              </a:rPr>
              <a:t>。</a:t>
            </a:r>
            <a:endParaRPr lang="en-US" altLang="zh-CN" b="1" dirty="0">
              <a:latin typeface="宋体" panose="02010600030101010101" pitchFamily="2" charset="-122"/>
            </a:endParaRPr>
          </a:p>
        </p:txBody>
      </p:sp>
      <p:sp>
        <p:nvSpPr>
          <p:cNvPr id="7" name="矩形 6"/>
          <p:cNvSpPr/>
          <p:nvPr/>
        </p:nvSpPr>
        <p:spPr>
          <a:xfrm>
            <a:off x="250081" y="4604135"/>
            <a:ext cx="8515200" cy="2104872"/>
          </a:xfrm>
          <a:prstGeom prst="rect">
            <a:avLst/>
          </a:prstGeom>
        </p:spPr>
        <p:txBody>
          <a:bodyPr wrap="square">
            <a:spAutoFit/>
          </a:bodyPr>
          <a:lstStyle/>
          <a:p>
            <a:pPr>
              <a:lnSpc>
                <a:spcPct val="150000"/>
              </a:lnSpc>
            </a:pPr>
            <a:r>
              <a:rPr lang="zh-CN" altLang="en-US" b="1" dirty="0">
                <a:latin typeface="宋体" panose="02010600030101010101" pitchFamily="2" charset="-122"/>
              </a:rPr>
              <a:t>这个问题还能否使用贪心法来求解呢？先尝试使用一下贪心策略，先选面值最大的，最多能够选一枚</a:t>
            </a:r>
            <a:r>
              <a:rPr lang="en-US" altLang="zh-CN" b="1" dirty="0">
                <a:latin typeface="宋体" panose="02010600030101010101" pitchFamily="2" charset="-122"/>
              </a:rPr>
              <a:t>5</a:t>
            </a:r>
            <a:r>
              <a:rPr lang="zh-CN" altLang="en-US" b="1" dirty="0">
                <a:latin typeface="宋体" panose="02010600030101010101" pitchFamily="2" charset="-122"/>
              </a:rPr>
              <a:t>元的硬币，目前是</a:t>
            </a:r>
            <a:r>
              <a:rPr lang="en-US" altLang="zh-CN" b="1" dirty="0">
                <a:latin typeface="宋体" panose="02010600030101010101" pitchFamily="2" charset="-122"/>
              </a:rPr>
              <a:t>5</a:t>
            </a:r>
            <a:r>
              <a:rPr lang="zh-CN" altLang="en-US" b="1" dirty="0">
                <a:latin typeface="宋体" panose="02010600030101010101" pitchFamily="2" charset="-122"/>
              </a:rPr>
              <a:t>元了，还差</a:t>
            </a:r>
            <a:r>
              <a:rPr lang="en-US" altLang="zh-CN" b="1" dirty="0">
                <a:latin typeface="宋体" panose="02010600030101010101" pitchFamily="2" charset="-122"/>
              </a:rPr>
              <a:t>4</a:t>
            </a:r>
            <a:r>
              <a:rPr lang="zh-CN" altLang="en-US" b="1" dirty="0">
                <a:latin typeface="宋体" panose="02010600030101010101" pitchFamily="2" charset="-122"/>
              </a:rPr>
              <a:t>元；接下来我们选取第</a:t>
            </a:r>
            <a:r>
              <a:rPr lang="en-US" altLang="zh-CN" b="1" dirty="0">
                <a:latin typeface="宋体" panose="02010600030101010101" pitchFamily="2" charset="-122"/>
              </a:rPr>
              <a:t>2</a:t>
            </a:r>
            <a:r>
              <a:rPr lang="zh-CN" altLang="en-US" b="1" dirty="0">
                <a:latin typeface="宋体" panose="02010600030101010101" pitchFamily="2" charset="-122"/>
              </a:rPr>
              <a:t>大的</a:t>
            </a:r>
            <a:r>
              <a:rPr lang="en-US" altLang="zh-CN" b="1" dirty="0">
                <a:latin typeface="宋体" panose="02010600030101010101" pitchFamily="2" charset="-122"/>
              </a:rPr>
              <a:t>3</a:t>
            </a:r>
            <a:r>
              <a:rPr lang="zh-CN" altLang="en-US" b="1" dirty="0">
                <a:latin typeface="宋体" panose="02010600030101010101" pitchFamily="2" charset="-122"/>
              </a:rPr>
              <a:t>元面值，最多能够选一枚，目前是</a:t>
            </a:r>
            <a:r>
              <a:rPr lang="en-US" altLang="zh-CN" b="1" dirty="0">
                <a:latin typeface="宋体" panose="02010600030101010101" pitchFamily="2" charset="-122"/>
              </a:rPr>
              <a:t>8</a:t>
            </a:r>
            <a:r>
              <a:rPr lang="zh-CN" altLang="en-US" b="1" dirty="0">
                <a:latin typeface="宋体" panose="02010600030101010101" pitchFamily="2" charset="-122"/>
              </a:rPr>
              <a:t>元了，还差</a:t>
            </a:r>
            <a:r>
              <a:rPr lang="en-US" altLang="zh-CN" b="1" dirty="0">
                <a:latin typeface="宋体" panose="02010600030101010101" pitchFamily="2" charset="-122"/>
              </a:rPr>
              <a:t>1</a:t>
            </a:r>
            <a:r>
              <a:rPr lang="zh-CN" altLang="en-US" b="1" dirty="0">
                <a:latin typeface="宋体" panose="02010600030101010101" pitchFamily="2" charset="-122"/>
              </a:rPr>
              <a:t>元；继续选第</a:t>
            </a:r>
            <a:r>
              <a:rPr lang="en-US" altLang="zh-CN" b="1" dirty="0">
                <a:latin typeface="宋体" panose="02010600030101010101" pitchFamily="2" charset="-122"/>
              </a:rPr>
              <a:t>3</a:t>
            </a:r>
            <a:r>
              <a:rPr lang="zh-CN" altLang="en-US" b="1" dirty="0">
                <a:latin typeface="宋体" panose="02010600030101010101" pitchFamily="2" charset="-122"/>
              </a:rPr>
              <a:t>大的硬币也就是</a:t>
            </a:r>
            <a:r>
              <a:rPr lang="en-US" altLang="zh-CN" b="1" dirty="0">
                <a:latin typeface="宋体" panose="02010600030101010101" pitchFamily="2" charset="-122"/>
              </a:rPr>
              <a:t>2</a:t>
            </a:r>
            <a:r>
              <a:rPr lang="zh-CN" altLang="en-US" b="1" dirty="0">
                <a:latin typeface="宋体" panose="02010600030101010101" pitchFamily="2" charset="-122"/>
              </a:rPr>
              <a:t>元面值，发现不行，这个时候用贪心方法怎么也凑不出</a:t>
            </a:r>
            <a:r>
              <a:rPr lang="en-US" altLang="zh-CN" b="1" dirty="0">
                <a:latin typeface="宋体" panose="02010600030101010101" pitchFamily="2" charset="-122"/>
              </a:rPr>
              <a:t>9</a:t>
            </a:r>
            <a:r>
              <a:rPr lang="zh-CN" altLang="en-US" b="1" dirty="0">
                <a:latin typeface="宋体" panose="02010600030101010101" pitchFamily="2" charset="-122"/>
              </a:rPr>
              <a:t>元。对于这个问题，贪心法失效了，可见对于凑硬币问题，它并不能够保证找出最优解。</a:t>
            </a:r>
            <a:endParaRPr lang="en-US" altLang="zh-CN" b="1" dirty="0">
              <a:latin typeface="宋体" panose="02010600030101010101" pitchFamily="2" charset="-122"/>
            </a:endParaRPr>
          </a:p>
        </p:txBody>
      </p:sp>
      <p:sp>
        <p:nvSpPr>
          <p:cNvPr id="8" name="矩形 7"/>
          <p:cNvSpPr/>
          <p:nvPr/>
        </p:nvSpPr>
        <p:spPr>
          <a:xfrm>
            <a:off x="166651" y="1404392"/>
            <a:ext cx="8613461" cy="869533"/>
          </a:xfrm>
          <a:prstGeom prst="rect">
            <a:avLst/>
          </a:prstGeom>
        </p:spPr>
        <p:txBody>
          <a:bodyPr wrap="square">
            <a:spAutoFit/>
          </a:bodyPr>
          <a:lstStyle/>
          <a:p>
            <a:pPr>
              <a:lnSpc>
                <a:spcPct val="150000"/>
              </a:lnSpc>
            </a:pPr>
            <a:r>
              <a:rPr lang="zh-CN" altLang="en-US" b="1" dirty="0">
                <a:latin typeface="宋体" panose="02010600030101010101" pitchFamily="2" charset="-122"/>
              </a:rPr>
              <a:t>问题描述：给定</a:t>
            </a:r>
            <a:r>
              <a:rPr lang="en-US" altLang="zh-CN" b="1" dirty="0">
                <a:latin typeface="宋体" panose="02010600030101010101" pitchFamily="2" charset="-122"/>
              </a:rPr>
              <a:t>n</a:t>
            </a:r>
            <a:r>
              <a:rPr lang="zh-CN" altLang="en-US" b="1" dirty="0">
                <a:latin typeface="宋体" panose="02010600030101010101" pitchFamily="2" charset="-122"/>
              </a:rPr>
              <a:t>种不同的硬币，面值分别为</a:t>
            </a:r>
            <a:r>
              <a:rPr lang="en-US" altLang="zh-CN" b="1" dirty="0">
                <a:latin typeface="宋体" panose="02010600030101010101" pitchFamily="2" charset="-122"/>
              </a:rPr>
              <a:t>{v1, v2, ..., </a:t>
            </a:r>
            <a:r>
              <a:rPr lang="en-US" altLang="zh-CN" b="1" dirty="0" err="1">
                <a:latin typeface="宋体" panose="02010600030101010101" pitchFamily="2" charset="-122"/>
              </a:rPr>
              <a:t>vn</a:t>
            </a:r>
            <a:r>
              <a:rPr lang="en-US" altLang="zh-CN" b="1" dirty="0">
                <a:latin typeface="宋体" panose="02010600030101010101" pitchFamily="2" charset="-122"/>
              </a:rPr>
              <a:t>}</a:t>
            </a:r>
            <a:r>
              <a:rPr lang="zh-CN" altLang="en-US" b="1" dirty="0">
                <a:latin typeface="宋体" panose="02010600030101010101" pitchFamily="2" charset="-122"/>
              </a:rPr>
              <a:t>，给出一个金额</a:t>
            </a:r>
            <a:r>
              <a:rPr lang="en-US" altLang="zh-CN" b="1" dirty="0">
                <a:latin typeface="宋体" panose="02010600030101010101" pitchFamily="2" charset="-122"/>
              </a:rPr>
              <a:t>y</a:t>
            </a:r>
            <a:r>
              <a:rPr lang="zh-CN" altLang="en-US" b="1" dirty="0">
                <a:latin typeface="宋体" panose="02010600030101010101" pitchFamily="2" charset="-122"/>
              </a:rPr>
              <a:t>，设计算法用最少的硬币凑出</a:t>
            </a:r>
            <a:r>
              <a:rPr lang="en-US" altLang="zh-CN" b="1" dirty="0">
                <a:latin typeface="宋体" panose="02010600030101010101" pitchFamily="2" charset="-122"/>
              </a:rPr>
              <a:t>y</a:t>
            </a:r>
            <a:r>
              <a:rPr lang="zh-CN" altLang="en-US" b="1" dirty="0">
                <a:latin typeface="宋体" panose="02010600030101010101" pitchFamily="2" charset="-122"/>
              </a:rPr>
              <a:t>。</a:t>
            </a:r>
            <a:endParaRPr lang="zh-CN" altLang="en-US" dirty="0"/>
          </a:p>
        </p:txBody>
      </p:sp>
      <p:sp>
        <p:nvSpPr>
          <p:cNvPr id="2" name="矩形 1"/>
          <p:cNvSpPr/>
          <p:nvPr/>
        </p:nvSpPr>
        <p:spPr>
          <a:xfrm>
            <a:off x="257925" y="4316718"/>
            <a:ext cx="8613460" cy="369332"/>
          </a:xfrm>
          <a:prstGeom prst="rect">
            <a:avLst/>
          </a:prstGeom>
        </p:spPr>
        <p:txBody>
          <a:bodyPr wrap="square">
            <a:spAutoFit/>
          </a:bodyPr>
          <a:lstStyle/>
          <a:p>
            <a:r>
              <a:rPr lang="zh-CN" altLang="en-US" b="1" dirty="0">
                <a:solidFill>
                  <a:srgbClr val="0000FF"/>
                </a:solidFill>
                <a:latin typeface="宋体" panose="02010600030101010101" pitchFamily="2" charset="-122"/>
              </a:rPr>
              <a:t>如果有面值为</a:t>
            </a:r>
            <a:r>
              <a:rPr lang="en-US" altLang="zh-CN" b="1" dirty="0">
                <a:solidFill>
                  <a:srgbClr val="0000FF"/>
                </a:solidFill>
                <a:latin typeface="宋体" panose="02010600030101010101" pitchFamily="2" charset="-122"/>
              </a:rPr>
              <a:t>2</a:t>
            </a:r>
            <a:r>
              <a:rPr lang="zh-CN" altLang="en-US" b="1" dirty="0">
                <a:solidFill>
                  <a:srgbClr val="0000FF"/>
                </a:solidFill>
                <a:latin typeface="宋体" panose="02010600030101010101" pitchFamily="2" charset="-122"/>
              </a:rPr>
              <a:t>元、</a:t>
            </a:r>
            <a:r>
              <a:rPr lang="en-US" altLang="zh-CN" b="1" dirty="0">
                <a:solidFill>
                  <a:srgbClr val="0000FF"/>
                </a:solidFill>
                <a:latin typeface="宋体" panose="02010600030101010101" pitchFamily="2" charset="-122"/>
              </a:rPr>
              <a:t>3</a:t>
            </a:r>
            <a:r>
              <a:rPr lang="zh-CN" altLang="en-US" b="1" dirty="0">
                <a:solidFill>
                  <a:srgbClr val="0000FF"/>
                </a:solidFill>
                <a:latin typeface="宋体" panose="02010600030101010101" pitchFamily="2" charset="-122"/>
              </a:rPr>
              <a:t>元和</a:t>
            </a:r>
            <a:r>
              <a:rPr lang="en-US" altLang="zh-CN" b="1" dirty="0">
                <a:solidFill>
                  <a:srgbClr val="0000FF"/>
                </a:solidFill>
                <a:latin typeface="宋体" panose="02010600030101010101" pitchFamily="2" charset="-122"/>
              </a:rPr>
              <a:t>5</a:t>
            </a:r>
            <a:r>
              <a:rPr lang="zh-CN" altLang="en-US" b="1" dirty="0">
                <a:solidFill>
                  <a:srgbClr val="0000FF"/>
                </a:solidFill>
                <a:latin typeface="宋体" panose="02010600030101010101" pitchFamily="2" charset="-122"/>
              </a:rPr>
              <a:t>元的硬币若干枚，如何用最少的硬币凑够</a:t>
            </a:r>
            <a:r>
              <a:rPr lang="en-US" altLang="zh-CN" b="1" dirty="0">
                <a:solidFill>
                  <a:srgbClr val="0000FF"/>
                </a:solidFill>
                <a:latin typeface="宋体" panose="02010600030101010101" pitchFamily="2" charset="-122"/>
              </a:rPr>
              <a:t>9</a:t>
            </a:r>
            <a:r>
              <a:rPr lang="zh-CN" altLang="en-US" b="1" dirty="0">
                <a:solidFill>
                  <a:srgbClr val="0000FF"/>
                </a:solidFill>
                <a:latin typeface="宋体" panose="02010600030101010101" pitchFamily="2" charset="-122"/>
              </a:rPr>
              <a:t>元？</a:t>
            </a:r>
            <a:endParaRPr lang="zh-CN" altLang="en-US" dirty="0"/>
          </a:p>
        </p:txBody>
      </p:sp>
      <p:sp>
        <p:nvSpPr>
          <p:cNvPr id="9" name="矩形 8"/>
          <p:cNvSpPr/>
          <p:nvPr/>
        </p:nvSpPr>
        <p:spPr>
          <a:xfrm>
            <a:off x="204940" y="804702"/>
            <a:ext cx="2491388" cy="635495"/>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5.2.3 </a:t>
            </a:r>
            <a:r>
              <a:rPr lang="zh-CN" altLang="en-US" sz="2400" b="1" kern="100" dirty="0">
                <a:latin typeface="Cambria" panose="02040503050406030204" pitchFamily="18" charset="0"/>
                <a:cs typeface="Times New Roman" panose="02020603050405020304" pitchFamily="18" charset="0"/>
              </a:rPr>
              <a:t>凑硬币问题</a:t>
            </a:r>
            <a:endParaRPr lang="zh-CN" altLang="zh-CN" sz="2400" b="1" kern="100" dirty="0">
              <a:effectLst/>
              <a:latin typeface="Cambria" panose="02040503050406030204" pitchFamily="18" charset="0"/>
              <a:cs typeface="Times New Roman" panose="02020603050405020304" pitchFamily="18" charset="0"/>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179512" y="1124744"/>
            <a:ext cx="8613461" cy="923330"/>
          </a:xfrm>
          <a:prstGeom prst="rect">
            <a:avLst/>
          </a:prstGeom>
        </p:spPr>
        <p:txBody>
          <a:bodyPr wrap="square">
            <a:spAutoFit/>
          </a:bodyPr>
          <a:lstStyle/>
          <a:p>
            <a:pPr>
              <a:lnSpc>
                <a:spcPct val="150000"/>
              </a:lnSpc>
            </a:pPr>
            <a:r>
              <a:rPr lang="zh-CN" altLang="en-US" b="1" dirty="0"/>
              <a:t>接下来用动态规划法来求解这个问题：。从问题的求解过程中，可以发现每一步都是从前一个步骤的最优解解集中选一个，然后再走一步即可，如下表所示：</a:t>
            </a:r>
            <a:endParaRPr lang="zh-CN" altLang="en-US" b="1" dirty="0"/>
          </a:p>
        </p:txBody>
      </p:sp>
      <p:pic>
        <p:nvPicPr>
          <p:cNvPr id="2" name="图片 1"/>
          <p:cNvPicPr>
            <a:picLocks noChangeAspect="1"/>
          </p:cNvPicPr>
          <p:nvPr/>
        </p:nvPicPr>
        <p:blipFill>
          <a:blip r:embed="rId1"/>
          <a:stretch>
            <a:fillRect/>
          </a:stretch>
        </p:blipFill>
        <p:spPr>
          <a:xfrm>
            <a:off x="1043608" y="2276872"/>
            <a:ext cx="7106214" cy="3960440"/>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矩形 8"/>
          <p:cNvSpPr/>
          <p:nvPr/>
        </p:nvSpPr>
        <p:spPr>
          <a:xfrm>
            <a:off x="323528" y="1628800"/>
            <a:ext cx="8699219" cy="3362524"/>
          </a:xfrm>
          <a:prstGeom prst="rect">
            <a:avLst/>
          </a:prstGeom>
        </p:spPr>
        <p:txBody>
          <a:bodyPr wrap="square">
            <a:spAutoFit/>
          </a:bodyPr>
          <a:lstStyle/>
          <a:p>
            <a:pPr>
              <a:lnSpc>
                <a:spcPct val="150000"/>
              </a:lnSpc>
            </a:pPr>
            <a:r>
              <a:rPr lang="zh-CN" altLang="en-US" b="1" dirty="0"/>
              <a:t>如上表所示，可以得到如下递推公式：</a:t>
            </a:r>
            <a:endParaRPr lang="zh-CN" altLang="en-US" b="1" dirty="0"/>
          </a:p>
          <a:p>
            <a:pPr>
              <a:lnSpc>
                <a:spcPct val="150000"/>
              </a:lnSpc>
            </a:pPr>
            <a:r>
              <a:rPr lang="en-US" altLang="zh-CN" b="1" dirty="0"/>
              <a:t>c(</a:t>
            </a:r>
            <a:r>
              <a:rPr lang="en-US" altLang="zh-CN" b="1" dirty="0" err="1"/>
              <a:t>i</a:t>
            </a:r>
            <a:r>
              <a:rPr lang="en-US" altLang="zh-CN" b="1" dirty="0"/>
              <a:t>) = min{ c(</a:t>
            </a:r>
            <a:r>
              <a:rPr lang="en-US" altLang="zh-CN" b="1" dirty="0" err="1"/>
              <a:t>i</a:t>
            </a:r>
            <a:r>
              <a:rPr lang="en-US" altLang="zh-CN" b="1" dirty="0"/>
              <a:t> - </a:t>
            </a:r>
            <a:r>
              <a:rPr lang="en-US" altLang="zh-CN" b="1" dirty="0" err="1"/>
              <a:t>vj</a:t>
            </a:r>
            <a:r>
              <a:rPr lang="en-US" altLang="zh-CN" b="1" dirty="0"/>
              <a:t>) + 1} ,</a:t>
            </a:r>
            <a:r>
              <a:rPr lang="en-US" altLang="zh-CN" b="1" dirty="0" err="1"/>
              <a:t>i</a:t>
            </a:r>
            <a:r>
              <a:rPr lang="en-US" altLang="zh-CN" b="1" dirty="0"/>
              <a:t> &gt;= </a:t>
            </a:r>
            <a:r>
              <a:rPr lang="en-US" altLang="zh-CN" b="1" dirty="0" err="1"/>
              <a:t>vj</a:t>
            </a:r>
            <a:endParaRPr lang="en-US" altLang="zh-CN" b="1" dirty="0"/>
          </a:p>
          <a:p>
            <a:pPr>
              <a:lnSpc>
                <a:spcPct val="150000"/>
              </a:lnSpc>
            </a:pPr>
            <a:r>
              <a:rPr lang="en-US" altLang="zh-CN" b="1" dirty="0"/>
              <a:t>c(</a:t>
            </a:r>
            <a:r>
              <a:rPr lang="en-US" altLang="zh-CN" b="1" dirty="0" err="1"/>
              <a:t>i</a:t>
            </a:r>
            <a:r>
              <a:rPr lang="en-US" altLang="zh-CN" b="1" dirty="0"/>
              <a:t>)</a:t>
            </a:r>
            <a:r>
              <a:rPr lang="zh-CN" altLang="en-US" b="1" dirty="0"/>
              <a:t>表示凑够</a:t>
            </a:r>
            <a:r>
              <a:rPr lang="en-US" altLang="zh-CN" b="1" dirty="0" err="1"/>
              <a:t>i</a:t>
            </a:r>
            <a:r>
              <a:rPr lang="zh-CN" altLang="en-US" b="1" dirty="0"/>
              <a:t>元需要的最少硬币数量，将它定义为该问题的</a:t>
            </a:r>
            <a:r>
              <a:rPr lang="en-US" altLang="zh-CN" b="1" dirty="0"/>
              <a:t>"</a:t>
            </a:r>
            <a:r>
              <a:rPr lang="zh-CN" altLang="en-US" b="1" dirty="0"/>
              <a:t>状态</a:t>
            </a:r>
            <a:r>
              <a:rPr lang="en-US" altLang="zh-CN" b="1" dirty="0"/>
              <a:t>"</a:t>
            </a:r>
            <a:r>
              <a:rPr lang="zh-CN" altLang="en-US" b="1" dirty="0"/>
              <a:t>，这个状态是根据子问题定义状态找出的，最终我们要求解的问题，可以用这个状态来表示：</a:t>
            </a:r>
            <a:r>
              <a:rPr lang="en-US" altLang="zh-CN" b="1" dirty="0"/>
              <a:t>c(9)</a:t>
            </a:r>
            <a:r>
              <a:rPr lang="zh-CN" altLang="en-US" b="1" dirty="0"/>
              <a:t>，即凑够</a:t>
            </a:r>
            <a:r>
              <a:rPr lang="en-US" altLang="zh-CN" b="1" dirty="0"/>
              <a:t>9</a:t>
            </a:r>
            <a:r>
              <a:rPr lang="zh-CN" altLang="en-US" b="1" dirty="0"/>
              <a:t>元最少需要多少个硬币。上面的递推公式叫做状态转移方程，用来描述状态之间是如何转移的。找出它们是动态规划法解题的关键，在分析问题的过程中，通常情况下是没有办法一眼就看出状态转移方程的，这需要实践积累的，这也是动态规划法的难点所在。</a:t>
            </a:r>
            <a:endParaRPr lang="zh-CN" altLang="en-US" b="1"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323528" y="1733192"/>
            <a:ext cx="8696479" cy="280076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问题描述：给定一个容量为</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的背包和</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种物品，已知物品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的重量是 </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，其价值为 </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，求解的问题是</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如何选择装入背包的物品，使得装入背包中物品的总价值最大。</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表示物品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装入背包的情况，即解向量：</a:t>
            </a:r>
            <a:r>
              <a:rPr lang="en-US" altLang="zh-CN" sz="2200" dirty="0">
                <a:solidFill>
                  <a:srgbClr val="080808"/>
                </a:solidFill>
                <a:latin typeface="楷体" panose="02010609060101010101" pitchFamily="49" charset="-122"/>
                <a:ea typeface="楷体" panose="02010609060101010101" pitchFamily="49" charset="-122"/>
              </a:rPr>
              <a:t>X=(x1,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则</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取值只有</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没被装入背包，当</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时表示物体</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整个被装入背包。</a:t>
            </a:r>
            <a:endParaRPr lang="en-US" altLang="zh-CN"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）约束条件</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背包载重量是</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，因此选入背包中物品的总重量不得超过</a:t>
            </a:r>
            <a:r>
              <a:rPr lang="en-US" altLang="zh-CN" sz="2200" dirty="0">
                <a:solidFill>
                  <a:srgbClr val="080808"/>
                </a:solidFill>
                <a:latin typeface="楷体" panose="02010609060101010101" pitchFamily="49" charset="-122"/>
                <a:ea typeface="楷体" panose="02010609060101010101" pitchFamily="49" charset="-122"/>
              </a:rPr>
              <a:t>C</a:t>
            </a:r>
            <a:r>
              <a:rPr lang="zh-CN" altLang="en-US" sz="2200" dirty="0">
                <a:solidFill>
                  <a:srgbClr val="080808"/>
                </a:solidFill>
                <a:latin typeface="楷体" panose="02010609060101010101" pitchFamily="49" charset="-122"/>
                <a:ea typeface="楷体" panose="02010609060101010101" pitchFamily="49" charset="-122"/>
              </a:rPr>
              <a:t>，即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36549" y="1097697"/>
            <a:ext cx="2719014" cy="727571"/>
          </a:xfrm>
          <a:prstGeom prst="rect">
            <a:avLst/>
          </a:prstGeom>
        </p:spPr>
        <p:txBody>
          <a:bodyPr wrap="none">
            <a:spAutoFit/>
          </a:bodyPr>
          <a:lstStyle/>
          <a:p>
            <a:pPr algn="just">
              <a:lnSpc>
                <a:spcPct val="172000"/>
              </a:lnSpc>
              <a:spcBef>
                <a:spcPts val="300"/>
              </a:spcBef>
              <a:spcAft>
                <a:spcPts val="300"/>
              </a:spcAft>
            </a:pPr>
            <a:r>
              <a:rPr lang="en-US" altLang="zh-CN" sz="2400" b="1" kern="100" dirty="0">
                <a:latin typeface="Cambria" panose="02040503050406030204" pitchFamily="18" charset="0"/>
                <a:cs typeface="Times New Roman" panose="02020603050405020304" pitchFamily="18" charset="0"/>
              </a:rPr>
              <a:t>5.2.4  0-1</a:t>
            </a:r>
            <a:r>
              <a:rPr lang="zh-CN" altLang="en-US" sz="2400" b="1" kern="100" dirty="0">
                <a:latin typeface="Cambria" panose="02040503050406030204" pitchFamily="18" charset="0"/>
                <a:cs typeface="Times New Roman" panose="02020603050405020304" pitchFamily="18" charset="0"/>
              </a:rPr>
              <a:t>背包问题</a:t>
            </a:r>
            <a:endParaRPr lang="zh-CN" altLang="zh-CN" sz="2400" b="1" kern="100" dirty="0">
              <a:effectLst/>
              <a:latin typeface="Cambria" panose="02040503050406030204" pitchFamily="18" charset="0"/>
              <a:cs typeface="Times New Roman" panose="02020603050405020304" pitchFamily="18" charset="0"/>
            </a:endParaRPr>
          </a:p>
        </p:txBody>
      </p:sp>
      <p:pic>
        <p:nvPicPr>
          <p:cNvPr id="6" name="Picture 4"/>
          <p:cNvPicPr/>
          <p:nvPr/>
        </p:nvPicPr>
        <p:blipFill>
          <a:blip r:embed="rId6" cstate="print">
            <a:extLst>
              <a:ext uri="{28A0092B-C50C-407E-A947-70E740481C1C}">
                <a14:useLocalDpi xmlns:a14="http://schemas.microsoft.com/office/drawing/2010/main" val="0"/>
              </a:ext>
            </a:extLst>
          </a:blip>
          <a:srcRect/>
          <a:stretch>
            <a:fillRect/>
          </a:stretch>
        </p:blipFill>
        <p:spPr bwMode="auto">
          <a:xfrm>
            <a:off x="3620248" y="4425638"/>
            <a:ext cx="1903501" cy="615414"/>
          </a:xfrm>
          <a:prstGeom prst="rect">
            <a:avLst/>
          </a:prstGeom>
          <a:solidFill>
            <a:srgbClr val="FFFFFF"/>
          </a:solidFill>
        </p:spPr>
      </p:pic>
      <p:sp>
        <p:nvSpPr>
          <p:cNvPr id="7" name="Text Box 4"/>
          <p:cNvSpPr txBox="1">
            <a:spLocks noChangeArrowheads="1"/>
          </p:cNvSpPr>
          <p:nvPr/>
        </p:nvSpPr>
        <p:spPr bwMode="auto">
          <a:xfrm>
            <a:off x="223760" y="5149373"/>
            <a:ext cx="8696479"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）问题的求解目标</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背包中的物品总价值最大，即</a:t>
            </a:r>
            <a:r>
              <a:rPr lang="en-US" altLang="zh-CN"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8" name="图片 7"/>
          <p:cNvPicPr/>
          <p:nvPr/>
        </p:nvPicPr>
        <p:blipFill>
          <a:blip r:embed="rId7">
            <a:extLst>
              <a:ext uri="{28A0092B-C50C-407E-A947-70E740481C1C}">
                <a14:useLocalDpi xmlns:a14="http://schemas.microsoft.com/office/drawing/2010/main" val="0"/>
              </a:ext>
            </a:extLst>
          </a:blip>
          <a:srcRect/>
          <a:stretch>
            <a:fillRect/>
          </a:stretch>
        </p:blipFill>
        <p:spPr bwMode="auto">
          <a:xfrm>
            <a:off x="3820627" y="5796903"/>
            <a:ext cx="1502746" cy="883140"/>
          </a:xfrm>
          <a:prstGeom prst="rect">
            <a:avLst/>
          </a:prstGeom>
          <a:noFill/>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79512" y="1478709"/>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使用动态规划法来求解。将</a:t>
            </a:r>
            <a:r>
              <a:rPr lang="en-US" altLang="zh-CN" sz="2200" dirty="0">
                <a:solidFill>
                  <a:srgbClr val="080808"/>
                </a:solidFill>
                <a:latin typeface="楷体" panose="02010609060101010101" pitchFamily="49" charset="-122"/>
                <a:ea typeface="楷体" panose="02010609060101010101" pitchFamily="49" charset="-122"/>
              </a:rPr>
              <a:t>0/1</a:t>
            </a:r>
            <a:r>
              <a:rPr lang="zh-CN" altLang="en-US" sz="2200" dirty="0">
                <a:solidFill>
                  <a:srgbClr val="080808"/>
                </a:solidFill>
                <a:latin typeface="楷体" panose="02010609060101010101" pitchFamily="49" charset="-122"/>
                <a:ea typeface="楷体" panose="02010609060101010101" pitchFamily="49" charset="-122"/>
              </a:rPr>
              <a:t>背包问题看作是一个决策序列</a:t>
            </a:r>
            <a:r>
              <a:rPr lang="en-US" altLang="zh-CN" sz="2200" dirty="0">
                <a:solidFill>
                  <a:srgbClr val="080808"/>
                </a:solidFill>
                <a:latin typeface="楷体" panose="02010609060101010101" pitchFamily="49" charset="-122"/>
                <a:ea typeface="楷体" panose="02010609060101010101" pitchFamily="49" charset="-122"/>
              </a:rPr>
              <a:t>(x1, x2, …, </a:t>
            </a:r>
            <a:r>
              <a:rPr lang="en-US" altLang="zh-CN" sz="2200" dirty="0" err="1">
                <a:solidFill>
                  <a:srgbClr val="080808"/>
                </a:solidFill>
                <a:latin typeface="楷体" panose="02010609060101010101" pitchFamily="49" charset="-122"/>
                <a:ea typeface="楷体" panose="02010609060101010101" pitchFamily="49" charset="-122"/>
              </a:rPr>
              <a:t>xn</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，对其中的</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的决策是取</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还是</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。在决策</a:t>
            </a:r>
            <a:r>
              <a:rPr lang="en-US" altLang="zh-CN" sz="2200" dirty="0">
                <a:solidFill>
                  <a:srgbClr val="080808"/>
                </a:solidFill>
                <a:latin typeface="楷体" panose="02010609060101010101" pitchFamily="49" charset="-122"/>
                <a:ea typeface="楷体" panose="02010609060101010101" pitchFamily="49" charset="-122"/>
              </a:rPr>
              <a:t>xi </a:t>
            </a:r>
            <a:r>
              <a:rPr lang="zh-CN" altLang="en-US" sz="2200" dirty="0">
                <a:solidFill>
                  <a:srgbClr val="080808"/>
                </a:solidFill>
                <a:latin typeface="楷体" panose="02010609060101010101" pitchFamily="49" charset="-122"/>
                <a:ea typeface="楷体" panose="02010609060101010101" pitchFamily="49" charset="-122"/>
              </a:rPr>
              <a:t>时，有以下两种状态：</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）背包装不下物品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xi=0</a:t>
            </a:r>
            <a:r>
              <a:rPr lang="zh-CN" altLang="en-US" sz="2200" dirty="0">
                <a:solidFill>
                  <a:srgbClr val="080808"/>
                </a:solidFill>
                <a:latin typeface="楷体" panose="02010609060101010101" pitchFamily="49" charset="-122"/>
                <a:ea typeface="楷体" panose="02010609060101010101" pitchFamily="49" charset="-122"/>
              </a:rPr>
              <a:t>，背包原价值不变；</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）背包可以装下物品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，取 </a:t>
            </a:r>
            <a:r>
              <a:rPr lang="en-US" altLang="zh-CN" sz="2200" dirty="0">
                <a:solidFill>
                  <a:srgbClr val="080808"/>
                </a:solidFill>
                <a:latin typeface="楷体" panose="02010609060101010101" pitchFamily="49" charset="-122"/>
                <a:ea typeface="楷体" panose="02010609060101010101" pitchFamily="49" charset="-122"/>
              </a:rPr>
              <a:t>xi=1</a:t>
            </a:r>
            <a:r>
              <a:rPr lang="zh-CN" altLang="en-US" sz="2200" dirty="0">
                <a:solidFill>
                  <a:srgbClr val="080808"/>
                </a:solidFill>
                <a:latin typeface="楷体" panose="02010609060101010101" pitchFamily="49" charset="-122"/>
                <a:ea typeface="楷体" panose="02010609060101010101" pitchFamily="49" charset="-122"/>
              </a:rPr>
              <a:t>，背包价值增加了</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两种情况下背包价值的最大者就是对</a:t>
            </a:r>
            <a:r>
              <a:rPr lang="en-US" altLang="zh-CN" sz="2200" dirty="0">
                <a:solidFill>
                  <a:srgbClr val="080808"/>
                </a:solidFill>
                <a:latin typeface="楷体" panose="02010609060101010101" pitchFamily="49" charset="-122"/>
                <a:ea typeface="楷体" panose="02010609060101010101" pitchFamily="49" charset="-122"/>
              </a:rPr>
              <a:t>xi</a:t>
            </a:r>
            <a:r>
              <a:rPr lang="zh-CN" altLang="en-US" sz="2200" dirty="0">
                <a:solidFill>
                  <a:srgbClr val="080808"/>
                </a:solidFill>
                <a:latin typeface="楷体" panose="02010609060101010101" pitchFamily="49" charset="-122"/>
                <a:ea typeface="楷体" panose="02010609060101010101" pitchFamily="49" charset="-122"/>
              </a:rPr>
              <a:t>决策后的背包价值。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将</a:t>
            </a:r>
            <a:r>
              <a:rPr lang="en-US" altLang="zh-CN" sz="2200" dirty="0">
                <a:solidFill>
                  <a:srgbClr val="080808"/>
                </a:solidFill>
                <a:latin typeface="楷体" panose="02010609060101010101" pitchFamily="49" charset="-122"/>
                <a:ea typeface="楷体" panose="02010609060101010101" pitchFamily="49" charset="-122"/>
              </a:rPr>
              <a:t>V(</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j) </a:t>
            </a:r>
            <a:r>
              <a:rPr lang="zh-CN" altLang="en-US" sz="2200" dirty="0">
                <a:solidFill>
                  <a:srgbClr val="080808"/>
                </a:solidFill>
                <a:latin typeface="楷体" panose="02010609060101010101" pitchFamily="49" charset="-122"/>
                <a:ea typeface="楷体" panose="02010609060101010101" pitchFamily="49" charset="-122"/>
              </a:rPr>
              <a:t>定义为该问题的状态，表示前</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个物品中能够装入容量为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1≤j≤C</a:t>
            </a:r>
            <a:r>
              <a:rPr lang="zh-CN" altLang="en-US" sz="2200" dirty="0">
                <a:solidFill>
                  <a:srgbClr val="080808"/>
                </a:solidFill>
                <a:latin typeface="楷体" panose="02010609060101010101" pitchFamily="49" charset="-122"/>
                <a:ea typeface="楷体" panose="02010609060101010101" pitchFamily="49" charset="-122"/>
              </a:rPr>
              <a:t>）的背包获得的最大价值，则可以得到如下状态转移方程：</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4869160"/>
            <a:ext cx="7293251" cy="8978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Text Box 4"/>
          <p:cNvSpPr txBox="1">
            <a:spLocks noChangeArrowheads="1"/>
          </p:cNvSpPr>
          <p:nvPr/>
        </p:nvSpPr>
        <p:spPr bwMode="auto">
          <a:xfrm>
            <a:off x="111879" y="2636912"/>
            <a:ext cx="8920242" cy="31393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&lt;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 </a:t>
            </a:r>
            <a:r>
              <a:rPr lang="zh-CN" altLang="en-US" sz="2200" dirty="0">
                <a:solidFill>
                  <a:srgbClr val="080808"/>
                </a:solidFill>
                <a:latin typeface="楷体" panose="02010609060101010101" pitchFamily="49" charset="-122"/>
                <a:ea typeface="楷体" panose="02010609060101010101" pitchFamily="49" charset="-122"/>
              </a:rPr>
              <a:t>就不能装入背包；此时背包最大价值都不会发生变化。</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）背包的容量</a:t>
            </a:r>
            <a:r>
              <a:rPr lang="en-US" altLang="zh-CN" sz="2200" dirty="0">
                <a:solidFill>
                  <a:srgbClr val="080808"/>
                </a:solidFill>
                <a:latin typeface="楷体" panose="02010609060101010101" pitchFamily="49" charset="-122"/>
                <a:ea typeface="楷体" panose="02010609060101010101" pitchFamily="49" charset="-122"/>
              </a:rPr>
              <a:t>&gt;</a:t>
            </a:r>
            <a:r>
              <a:rPr lang="zh-CN" altLang="en-US" sz="2200" dirty="0">
                <a:solidFill>
                  <a:srgbClr val="080808"/>
                </a:solidFill>
                <a:latin typeface="楷体" panose="02010609060101010101" pitchFamily="49" charset="-122"/>
                <a:ea typeface="楷体" panose="02010609060101010101" pitchFamily="49" charset="-122"/>
              </a:rPr>
              <a:t>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个物品的重量，物品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可以装入背包，此时有两个选择：</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①物品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装入背包，此时背包的价值是把前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en-US" altLang="zh-CN" sz="2200" dirty="0" err="1">
                <a:solidFill>
                  <a:srgbClr val="080808"/>
                </a:solidFill>
                <a:latin typeface="楷体" panose="02010609060101010101" pitchFamily="49" charset="-122"/>
                <a:ea typeface="楷体" panose="02010609060101010101" pitchFamily="49" charset="-122"/>
              </a:rPr>
              <a:t>wi</a:t>
            </a:r>
            <a:r>
              <a:rPr lang="zh-CN" altLang="en-US" sz="2200" dirty="0">
                <a:solidFill>
                  <a:srgbClr val="080808"/>
                </a:solidFill>
                <a:latin typeface="楷体" panose="02010609060101010101" pitchFamily="49" charset="-122"/>
                <a:ea typeface="楷体" panose="02010609060101010101" pitchFamily="49" charset="-122"/>
              </a:rPr>
              <a:t>背包中的价值加上第</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个物品的价值</a:t>
            </a:r>
            <a:r>
              <a:rPr lang="en-US" altLang="zh-CN" sz="2200" dirty="0">
                <a:solidFill>
                  <a:srgbClr val="080808"/>
                </a:solidFill>
                <a:latin typeface="楷体" panose="02010609060101010101" pitchFamily="49" charset="-122"/>
                <a:ea typeface="楷体" panose="02010609060101010101" pitchFamily="49" charset="-122"/>
              </a:rPr>
              <a:t>vi</a:t>
            </a:r>
            <a:r>
              <a:rPr lang="zh-CN" altLang="en-US" sz="2200" dirty="0">
                <a:solidFill>
                  <a:srgbClr val="080808"/>
                </a:solidFill>
                <a:latin typeface="楷体" panose="02010609060101010101" pitchFamily="49" charset="-122"/>
                <a:ea typeface="楷体" panose="02010609060101010101" pitchFamily="49" charset="-122"/>
              </a:rPr>
              <a:t>；</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②物品</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不装入背包，此时则背包的价值是把前</a:t>
            </a:r>
            <a:r>
              <a:rPr lang="en-US" altLang="zh-CN" sz="2200" dirty="0">
                <a:solidFill>
                  <a:srgbClr val="080808"/>
                </a:solidFill>
                <a:latin typeface="楷体" panose="02010609060101010101" pitchFamily="49" charset="-122"/>
                <a:ea typeface="楷体" panose="02010609060101010101" pitchFamily="49" charset="-122"/>
              </a:rPr>
              <a:t>i-1</a:t>
            </a:r>
            <a:r>
              <a:rPr lang="zh-CN" altLang="en-US" sz="2200" dirty="0">
                <a:solidFill>
                  <a:srgbClr val="080808"/>
                </a:solidFill>
                <a:latin typeface="楷体" panose="02010609060101010101" pitchFamily="49" charset="-122"/>
                <a:ea typeface="楷体" panose="02010609060101010101" pitchFamily="49" charset="-122"/>
              </a:rPr>
              <a:t>个物品装入容量为</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的背包中的价值。</a:t>
            </a:r>
            <a:endParaRPr lang="zh-CN" altLang="en-US" sz="22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200" dirty="0">
                <a:solidFill>
                  <a:srgbClr val="080808"/>
                </a:solidFill>
                <a:latin typeface="楷体" panose="02010609060101010101" pitchFamily="49" charset="-122"/>
                <a:ea typeface="楷体" panose="02010609060101010101" pitchFamily="49" charset="-122"/>
              </a:rPr>
              <a:t>取上述二者中价值较大者作为最优解。</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3" name="图片 2"/>
          <p:cNvPicPr>
            <a:picLocks noChangeAspect="1"/>
          </p:cNvPicPr>
          <p:nvPr/>
        </p:nvPicPr>
        <p:blipFill>
          <a:blip r:embed="rId6"/>
          <a:stretch>
            <a:fillRect/>
          </a:stretch>
        </p:blipFill>
        <p:spPr>
          <a:xfrm>
            <a:off x="683568" y="1484784"/>
            <a:ext cx="7293251" cy="8978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2132856"/>
            <a:ext cx="8604250"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动态规划法分析与设计的基本步骤如下：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）确定状态。将问题发展到各个阶段的状态表示出来。</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）确定状态转移方程。状态转移方程表示如何根据上一阶段的状态和决策来导出本阶段的状态，可以通过分析相邻两个阶段的状态之间的关系来确定状态转移方程。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）采用以自底向上的方法来计算各个阶段的最优解，并通过这些解来构造问题的最优解。</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5.3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动态规划法分析与设计</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286236"/>
            <a:ext cx="8604250" cy="21236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5.2】</a:t>
            </a:r>
            <a:r>
              <a:rPr lang="zh-CN" altLang="en-US" sz="2400" dirty="0">
                <a:solidFill>
                  <a:srgbClr val="080808"/>
                </a:solidFill>
                <a:latin typeface="楷体" panose="02010609060101010101" pitchFamily="49" charset="-122"/>
                <a:ea typeface="楷体" panose="02010609060101010101" pitchFamily="49" charset="-122"/>
              </a:rPr>
              <a:t>斐波那契数列。</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 解题思路：</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fib(n)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475656" y="3373993"/>
            <a:ext cx="5449965" cy="1569589"/>
          </a:xfrm>
          <a:prstGeom prst="rect">
            <a:avLst/>
          </a:prstGeom>
        </p:spPr>
      </p:pic>
      <p:sp>
        <p:nvSpPr>
          <p:cNvPr id="5" name="Text Box 4"/>
          <p:cNvSpPr txBox="1">
            <a:spLocks noChangeArrowheads="1"/>
          </p:cNvSpPr>
          <p:nvPr/>
        </p:nvSpPr>
        <p:spPr bwMode="auto">
          <a:xfrm>
            <a:off x="269875" y="4712749"/>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4" name="图片 3"/>
          <p:cNvPicPr>
            <a:picLocks noChangeAspect="1"/>
          </p:cNvPicPr>
          <p:nvPr/>
        </p:nvPicPr>
        <p:blipFill>
          <a:blip r:embed="rId7"/>
          <a:stretch>
            <a:fillRect/>
          </a:stretch>
        </p:blipFill>
        <p:spPr>
          <a:xfrm>
            <a:off x="495413" y="5328053"/>
            <a:ext cx="8153173" cy="981267"/>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5" y="1340768"/>
            <a:ext cx="8604250" cy="15696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5.3】</a:t>
            </a:r>
            <a:r>
              <a:rPr lang="zh-CN" altLang="en-US" sz="2400" dirty="0">
                <a:solidFill>
                  <a:srgbClr val="080808"/>
                </a:solidFill>
                <a:latin typeface="楷体" panose="02010609060101010101" pitchFamily="49" charset="-122"/>
                <a:ea typeface="楷体" panose="02010609060101010101" pitchFamily="49" charset="-122"/>
              </a:rPr>
              <a:t>求阶乘问题。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）用</a:t>
            </a:r>
            <a:r>
              <a:rPr lang="en-US" altLang="zh-CN" sz="2400" dirty="0">
                <a:solidFill>
                  <a:srgbClr val="080808"/>
                </a:solidFill>
                <a:latin typeface="楷体" panose="02010609060101010101" pitchFamily="49" charset="-122"/>
                <a:ea typeface="楷体" panose="02010609060101010101" pitchFamily="49" charset="-122"/>
              </a:rPr>
              <a:t>factorial (n)</a:t>
            </a:r>
            <a:r>
              <a:rPr lang="zh-CN" altLang="en-US" sz="2400" dirty="0">
                <a:solidFill>
                  <a:srgbClr val="080808"/>
                </a:solidFill>
                <a:latin typeface="楷体" panose="02010609060101010101" pitchFamily="49" charset="-122"/>
                <a:ea typeface="楷体" panose="02010609060101010101" pitchFamily="49" charset="-122"/>
              </a:rPr>
              <a:t>表示在斐波纳契数列中第</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个数的值；</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sp>
        <p:nvSpPr>
          <p:cNvPr id="5" name="Text Box 4"/>
          <p:cNvSpPr txBox="1">
            <a:spLocks noChangeArrowheads="1"/>
          </p:cNvSpPr>
          <p:nvPr/>
        </p:nvSpPr>
        <p:spPr bwMode="auto">
          <a:xfrm>
            <a:off x="267644" y="401842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1115616" y="4797152"/>
            <a:ext cx="6646169" cy="1034545"/>
          </a:xfrm>
          <a:prstGeom prst="rect">
            <a:avLst/>
          </a:prstGeom>
        </p:spPr>
      </p:pic>
      <p:pic>
        <p:nvPicPr>
          <p:cNvPr id="6" name="图片 5"/>
          <p:cNvPicPr>
            <a:picLocks noChangeAspect="1"/>
          </p:cNvPicPr>
          <p:nvPr/>
        </p:nvPicPr>
        <p:blipFill>
          <a:blip r:embed="rId7"/>
          <a:stretch>
            <a:fillRect/>
          </a:stretch>
        </p:blipFill>
        <p:spPr>
          <a:xfrm>
            <a:off x="1721018" y="2970468"/>
            <a:ext cx="5435363" cy="889423"/>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124744"/>
            <a:ext cx="8874125" cy="32316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例</a:t>
            </a:r>
            <a:r>
              <a:rPr lang="en-US" altLang="zh-CN" sz="2400" dirty="0">
                <a:solidFill>
                  <a:srgbClr val="080808"/>
                </a:solidFill>
                <a:latin typeface="楷体" panose="02010609060101010101" pitchFamily="49" charset="-122"/>
                <a:ea typeface="楷体" panose="02010609060101010101" pitchFamily="49" charset="-122"/>
              </a:rPr>
              <a:t>5.4】</a:t>
            </a:r>
            <a:r>
              <a:rPr lang="zh-CN" altLang="en-US" sz="2400" dirty="0">
                <a:solidFill>
                  <a:srgbClr val="080808"/>
                </a:solidFill>
                <a:latin typeface="楷体" panose="02010609060101010101" pitchFamily="49" charset="-122"/>
                <a:ea typeface="楷体" panose="02010609060101010101" pitchFamily="49" charset="-122"/>
              </a:rPr>
              <a:t>排队买票问题。</a:t>
            </a:r>
            <a:endParaRPr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问题描述：本周末有一场电影首映，有</a:t>
            </a:r>
            <a:r>
              <a:rPr lang="en-US" altLang="zh-CN" sz="2400" dirty="0">
                <a:solidFill>
                  <a:srgbClr val="080808"/>
                </a:solidFill>
                <a:latin typeface="楷体" panose="02010609060101010101" pitchFamily="49" charset="-122"/>
                <a:ea typeface="楷体" panose="02010609060101010101" pitchFamily="49" charset="-122"/>
              </a:rPr>
              <a:t>n</a:t>
            </a:r>
            <a:r>
              <a:rPr lang="zh-CN" altLang="en-US" sz="2400" dirty="0">
                <a:solidFill>
                  <a:srgbClr val="080808"/>
                </a:solidFill>
                <a:latin typeface="楷体" panose="02010609060101010101" pitchFamily="49" charset="-122"/>
                <a:ea typeface="楷体" panose="02010609060101010101" pitchFamily="49" charset="-122"/>
              </a:rPr>
              <a:t>个观众在排队买票，一个人买一张票。售票处规定，一个人每次最多只能买两张票。设第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位歌迷买一张票的时间是</a:t>
            </a:r>
            <a:r>
              <a:rPr lang="en-US" altLang="zh-CN" sz="2400" dirty="0" err="1">
                <a:solidFill>
                  <a:srgbClr val="080808"/>
                </a:solidFill>
                <a:latin typeface="楷体" panose="02010609060101010101" pitchFamily="49" charset="-122"/>
                <a:ea typeface="楷体" panose="02010609060101010101" pitchFamily="49" charset="-122"/>
              </a:rPr>
              <a:t>ti</a:t>
            </a: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1≤i≤n</a:t>
            </a:r>
            <a:r>
              <a:rPr lang="zh-CN" altLang="en-US" sz="2400" dirty="0">
                <a:solidFill>
                  <a:srgbClr val="080808"/>
                </a:solidFill>
                <a:latin typeface="楷体" panose="02010609060101010101" pitchFamily="49" charset="-122"/>
                <a:ea typeface="楷体" panose="02010609060101010101" pitchFamily="49" charset="-122"/>
              </a:rPr>
              <a:t>），队伍里相邻的两位观众（设第</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个人和第</a:t>
            </a:r>
            <a:r>
              <a:rPr lang="en-US" altLang="zh-CN" sz="2400" dirty="0">
                <a:solidFill>
                  <a:srgbClr val="080808"/>
                </a:solidFill>
                <a:latin typeface="楷体" panose="02010609060101010101" pitchFamily="49" charset="-122"/>
                <a:ea typeface="楷体" panose="02010609060101010101" pitchFamily="49" charset="-122"/>
              </a:rPr>
              <a:t>i+1</a:t>
            </a:r>
            <a:r>
              <a:rPr lang="zh-CN" altLang="en-US" sz="2400" dirty="0">
                <a:solidFill>
                  <a:srgbClr val="080808"/>
                </a:solidFill>
                <a:latin typeface="楷体" panose="02010609060101010101" pitchFamily="49" charset="-122"/>
                <a:ea typeface="楷体" panose="02010609060101010101" pitchFamily="49" charset="-122"/>
              </a:rPr>
              <a:t>个人）也可以由其中一个人一次买两张票，这样另一位就不用排队了，此时他们买两张票的时间就变成了</a:t>
            </a:r>
            <a:r>
              <a:rPr lang="en-US" altLang="zh-CN" sz="2400" dirty="0" err="1">
                <a:solidFill>
                  <a:srgbClr val="080808"/>
                </a:solidFill>
                <a:latin typeface="楷体" panose="02010609060101010101" pitchFamily="49" charset="-122"/>
                <a:ea typeface="楷体" panose="02010609060101010101" pitchFamily="49" charset="-122"/>
              </a:rPr>
              <a:t>ei</a:t>
            </a:r>
            <a:r>
              <a:rPr lang="zh-CN" altLang="en-US" sz="2400" dirty="0">
                <a:solidFill>
                  <a:srgbClr val="080808"/>
                </a:solidFill>
                <a:latin typeface="楷体" panose="02010609060101010101" pitchFamily="49" charset="-122"/>
                <a:ea typeface="楷体" panose="02010609060101010101" pitchFamily="49" charset="-122"/>
              </a:rPr>
              <a:t>，如果</a:t>
            </a:r>
            <a:r>
              <a:rPr lang="en-US" altLang="zh-CN" sz="2400" dirty="0" err="1">
                <a:solidFill>
                  <a:srgbClr val="080808"/>
                </a:solidFill>
                <a:latin typeface="楷体" panose="02010609060101010101" pitchFamily="49" charset="-122"/>
                <a:ea typeface="楷体" panose="02010609060101010101" pitchFamily="49" charset="-122"/>
              </a:rPr>
              <a:t>ei</a:t>
            </a:r>
            <a:r>
              <a:rPr lang="en-US" altLang="zh-CN" sz="2400" dirty="0">
                <a:solidFill>
                  <a:srgbClr val="080808"/>
                </a:solidFill>
                <a:latin typeface="楷体" panose="02010609060101010101" pitchFamily="49" charset="-122"/>
                <a:ea typeface="楷体" panose="02010609060101010101" pitchFamily="49" charset="-122"/>
              </a:rPr>
              <a:t>&lt;ti+ti+1</a:t>
            </a:r>
            <a:r>
              <a:rPr lang="zh-CN" altLang="en-US" sz="2400" dirty="0">
                <a:solidFill>
                  <a:srgbClr val="080808"/>
                </a:solidFill>
                <a:latin typeface="楷体" panose="02010609060101010101" pitchFamily="49" charset="-122"/>
                <a:ea typeface="楷体" panose="02010609060101010101" pitchFamily="49" charset="-122"/>
              </a:rPr>
              <a:t>，就能够缩短后面观众等待的时间，加快售票过程。设计算法求让每个人都买到票的最短时间。</a:t>
            </a:r>
            <a:endParaRPr lang="en-US" altLang="zh-CN" sz="2400" dirty="0">
              <a:solidFill>
                <a:srgbClr val="080808"/>
              </a:solidFill>
              <a:latin typeface="楷体" panose="02010609060101010101" pitchFamily="49" charset="-122"/>
              <a:ea typeface="楷体" panose="02010609060101010101" pitchFamily="49" charset="-122"/>
            </a:endParaRPr>
          </a:p>
        </p:txBody>
      </p:sp>
      <p:sp>
        <p:nvSpPr>
          <p:cNvPr id="2" name="矩形 1"/>
          <p:cNvSpPr/>
          <p:nvPr/>
        </p:nvSpPr>
        <p:spPr>
          <a:xfrm>
            <a:off x="163470" y="4365010"/>
            <a:ext cx="8845591" cy="2492990"/>
          </a:xfrm>
          <a:prstGeom prst="rect">
            <a:avLst/>
          </a:prstGeom>
        </p:spPr>
        <p:txBody>
          <a:bodyPr wrap="square">
            <a:spAutoFit/>
          </a:bodyPr>
          <a:lstStyle/>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解题思路：</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1</a:t>
            </a:r>
            <a:r>
              <a:rPr kumimoji="1" lang="zh-CN" altLang="en-US" sz="2400" dirty="0">
                <a:solidFill>
                  <a:srgbClr val="080808"/>
                </a:solidFill>
                <a:latin typeface="楷体" panose="02010609060101010101" pitchFamily="49" charset="-122"/>
                <a:ea typeface="楷体" panose="02010609060101010101" pitchFamily="49" charset="-122"/>
              </a:rPr>
              <a:t>）用</a:t>
            </a:r>
            <a:r>
              <a:rPr kumimoji="1" lang="en-US" altLang="zh-CN" sz="2400" dirty="0">
                <a:solidFill>
                  <a:srgbClr val="080808"/>
                </a:solidFill>
                <a:latin typeface="楷体" panose="02010609060101010101" pitchFamily="49" charset="-122"/>
                <a:ea typeface="楷体" panose="02010609060101010101" pitchFamily="49" charset="-122"/>
              </a:rPr>
              <a:t>ticket(</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en-US" altLang="zh-CN" sz="2400" dirty="0">
                <a:solidFill>
                  <a:srgbClr val="080808"/>
                </a:solidFill>
                <a:latin typeface="楷体" panose="02010609060101010101" pitchFamily="49" charset="-122"/>
                <a:ea typeface="楷体" panose="02010609060101010101" pitchFamily="49" charset="-122"/>
              </a:rPr>
              <a:t>)</a:t>
            </a:r>
            <a:r>
              <a:rPr kumimoji="1" lang="zh-CN" altLang="en-US" sz="2400" dirty="0">
                <a:solidFill>
                  <a:srgbClr val="080808"/>
                </a:solidFill>
                <a:latin typeface="楷体" panose="02010609060101010101" pitchFamily="49" charset="-122"/>
                <a:ea typeface="楷体" panose="02010609060101010101" pitchFamily="49" charset="-122"/>
              </a:rPr>
              <a:t>表示前</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个人买票所需最短时间，有以下两种情况：</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a</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个人的票自己买；</a:t>
            </a:r>
            <a:endParaRPr kumimoji="1" lang="zh-CN" altLang="en-US" sz="24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kumimoji="1" lang="zh-CN" altLang="en-US" sz="2400" dirty="0">
                <a:solidFill>
                  <a:srgbClr val="080808"/>
                </a:solidFill>
                <a:latin typeface="楷体" panose="02010609060101010101" pitchFamily="49" charset="-122"/>
                <a:ea typeface="楷体" panose="02010609060101010101" pitchFamily="49" charset="-122"/>
              </a:rPr>
              <a:t>     </a:t>
            </a:r>
            <a:r>
              <a:rPr kumimoji="1" lang="en-US" altLang="zh-CN" sz="2400" dirty="0">
                <a:solidFill>
                  <a:srgbClr val="080808"/>
                </a:solidFill>
                <a:latin typeface="楷体" panose="02010609060101010101" pitchFamily="49" charset="-122"/>
                <a:ea typeface="楷体" panose="02010609060101010101" pitchFamily="49" charset="-122"/>
              </a:rPr>
              <a:t>b</a:t>
            </a:r>
            <a:r>
              <a:rPr kumimoji="1" lang="zh-CN" altLang="en-US" sz="2400" dirty="0">
                <a:solidFill>
                  <a:srgbClr val="080808"/>
                </a:solidFill>
                <a:latin typeface="楷体" panose="02010609060101010101" pitchFamily="49" charset="-122"/>
                <a:ea typeface="楷体" panose="02010609060101010101" pitchFamily="49" charset="-122"/>
              </a:rPr>
              <a:t>、第</a:t>
            </a:r>
            <a:r>
              <a:rPr kumimoji="1" lang="en-US" altLang="zh-CN" sz="2400" dirty="0" err="1">
                <a:solidFill>
                  <a:srgbClr val="080808"/>
                </a:solidFill>
                <a:latin typeface="楷体" panose="02010609060101010101" pitchFamily="49" charset="-122"/>
                <a:ea typeface="楷体" panose="02010609060101010101" pitchFamily="49" charset="-122"/>
              </a:rPr>
              <a:t>i</a:t>
            </a:r>
            <a:r>
              <a:rPr kumimoji="1" lang="zh-CN" altLang="en-US" sz="2400" dirty="0">
                <a:solidFill>
                  <a:srgbClr val="080808"/>
                </a:solidFill>
                <a:latin typeface="楷体" panose="02010609060101010101" pitchFamily="49" charset="-122"/>
                <a:ea typeface="楷体" panose="02010609060101010101" pitchFamily="49" charset="-122"/>
              </a:rPr>
              <a:t>个人的票由第</a:t>
            </a:r>
            <a:r>
              <a:rPr kumimoji="1" lang="en-US" altLang="zh-CN" sz="2400" dirty="0">
                <a:solidFill>
                  <a:srgbClr val="080808"/>
                </a:solidFill>
                <a:latin typeface="楷体" panose="02010609060101010101" pitchFamily="49" charset="-122"/>
                <a:ea typeface="楷体" panose="02010609060101010101" pitchFamily="49" charset="-122"/>
              </a:rPr>
              <a:t>i-1</a:t>
            </a:r>
            <a:r>
              <a:rPr kumimoji="1" lang="zh-CN" altLang="en-US" sz="2400" dirty="0">
                <a:solidFill>
                  <a:srgbClr val="080808"/>
                </a:solidFill>
                <a:latin typeface="楷体" panose="02010609060101010101" pitchFamily="49" charset="-122"/>
                <a:ea typeface="楷体" panose="02010609060101010101" pitchFamily="49" charset="-122"/>
              </a:rPr>
              <a:t>个人买。</a:t>
            </a:r>
            <a:endParaRPr kumimoji="1"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34937" y="1340768"/>
            <a:ext cx="6453287"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p:txBody>
      </p:sp>
      <p:pic>
        <p:nvPicPr>
          <p:cNvPr id="2" name="图片 1"/>
          <p:cNvPicPr>
            <a:picLocks noChangeAspect="1"/>
          </p:cNvPicPr>
          <p:nvPr/>
        </p:nvPicPr>
        <p:blipFill>
          <a:blip r:embed="rId6"/>
          <a:stretch>
            <a:fillRect/>
          </a:stretch>
        </p:blipFill>
        <p:spPr>
          <a:xfrm>
            <a:off x="494211" y="2078370"/>
            <a:ext cx="8155577" cy="1374199"/>
          </a:xfrm>
          <a:prstGeom prst="rect">
            <a:avLst/>
          </a:prstGeom>
        </p:spPr>
      </p:pic>
      <p:sp>
        <p:nvSpPr>
          <p:cNvPr id="4" name="Text Box 4"/>
          <p:cNvSpPr txBox="1">
            <a:spLocks noChangeArrowheads="1"/>
          </p:cNvSpPr>
          <p:nvPr/>
        </p:nvSpPr>
        <p:spPr bwMode="auto">
          <a:xfrm>
            <a:off x="166715" y="3731413"/>
            <a:ext cx="860425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3</a:t>
            </a:r>
            <a:r>
              <a:rPr lang="zh-CN" altLang="en-US" sz="2400" dirty="0">
                <a:solidFill>
                  <a:srgbClr val="080808"/>
                </a:solidFill>
                <a:latin typeface="楷体" panose="02010609060101010101" pitchFamily="49" charset="-122"/>
                <a:ea typeface="楷体" panose="02010609060101010101" pitchFamily="49" charset="-122"/>
              </a:rPr>
              <a:t>）以自底向上的方法来计算最优解</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Box 4"/>
          <p:cNvSpPr txBox="1">
            <a:spLocks noChangeArrowheads="1"/>
          </p:cNvSpPr>
          <p:nvPr/>
        </p:nvSpPr>
        <p:spPr bwMode="auto">
          <a:xfrm>
            <a:off x="94218" y="1700808"/>
            <a:ext cx="8955563" cy="12003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1</a:t>
            </a:r>
            <a:r>
              <a:rPr lang="zh-CN" altLang="en-US" sz="2400" dirty="0">
                <a:solidFill>
                  <a:srgbClr val="080808"/>
                </a:solidFill>
                <a:latin typeface="楷体" panose="02010609060101010101" pitchFamily="49" charset="-122"/>
                <a:ea typeface="楷体" panose="02010609060101010101" pitchFamily="49" charset="-122"/>
              </a:rPr>
              <a:t>）设</a:t>
            </a:r>
            <a:r>
              <a:rPr lang="en-US" altLang="zh-CN" sz="2400" dirty="0">
                <a:solidFill>
                  <a:srgbClr val="080808"/>
                </a:solidFill>
                <a:latin typeface="楷体" panose="02010609060101010101" pitchFamily="49" charset="-122"/>
                <a:ea typeface="楷体" panose="02010609060101010101" pitchFamily="49" charset="-122"/>
              </a:rPr>
              <a:t>w (</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a:t>
            </a:r>
            <a:r>
              <a:rPr lang="zh-CN" altLang="en-US" sz="2400" dirty="0">
                <a:solidFill>
                  <a:srgbClr val="080808"/>
                </a:solidFill>
                <a:latin typeface="楷体" panose="02010609060101010101" pitchFamily="49" charset="-122"/>
                <a:ea typeface="楷体" panose="02010609060101010101" pitchFamily="49" charset="-122"/>
              </a:rPr>
              <a:t>为从起点到达编号为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zh-CN" altLang="en-US" sz="2400" dirty="0">
                <a:solidFill>
                  <a:srgbClr val="080808"/>
                </a:solidFill>
                <a:latin typeface="楷体" panose="02010609060101010101" pitchFamily="49" charset="-122"/>
                <a:ea typeface="楷体" panose="02010609060101010101" pitchFamily="49" charset="-122"/>
              </a:rPr>
              <a:t>（</a:t>
            </a:r>
            <a:r>
              <a:rPr lang="en-US" altLang="zh-CN" sz="2400" dirty="0">
                <a:solidFill>
                  <a:srgbClr val="080808"/>
                </a:solidFill>
                <a:latin typeface="楷体" panose="02010609060101010101" pitchFamily="49" charset="-122"/>
                <a:ea typeface="楷体" panose="02010609060101010101" pitchFamily="49" charset="-122"/>
              </a:rPr>
              <a:t>2</a:t>
            </a:r>
            <a:r>
              <a:rPr lang="zh-CN" altLang="en-US" sz="2400" dirty="0">
                <a:solidFill>
                  <a:srgbClr val="080808"/>
                </a:solidFill>
                <a:latin typeface="楷体" panose="02010609060101010101" pitchFamily="49" charset="-122"/>
                <a:ea typeface="楷体" panose="02010609060101010101" pitchFamily="49" charset="-122"/>
              </a:rPr>
              <a:t>）状态转移方程：</a:t>
            </a:r>
            <a:endParaRPr lang="zh-CN" altLang="en-US" sz="2400" dirty="0">
              <a:solidFill>
                <a:srgbClr val="080808"/>
              </a:solidFill>
              <a:latin typeface="楷体" panose="02010609060101010101" pitchFamily="49" charset="-122"/>
              <a:ea typeface="楷体" panose="02010609060101010101" pitchFamily="49" charset="-122"/>
            </a:endParaRPr>
          </a:p>
          <a:p>
            <a:pPr>
              <a:spcBef>
                <a:spcPts val="0"/>
              </a:spcBef>
              <a:buSzTx/>
              <a:buFontTx/>
              <a:buNone/>
            </a:pPr>
            <a:r>
              <a:rPr lang="en-US" altLang="zh-CN" sz="2400" dirty="0">
                <a:solidFill>
                  <a:srgbClr val="080808"/>
                </a:solidFill>
                <a:latin typeface="楷体" panose="02010609060101010101" pitchFamily="49" charset="-122"/>
                <a:ea typeface="楷体" panose="02010609060101010101" pitchFamily="49" charset="-122"/>
              </a:rPr>
              <a:t>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min(w(</a:t>
            </a:r>
            <a:r>
              <a:rPr lang="en-US" altLang="zh-CN" sz="2400" dirty="0" err="1">
                <a:solidFill>
                  <a:srgbClr val="080808"/>
                </a:solidFill>
                <a:latin typeface="楷体" panose="02010609060101010101" pitchFamily="49" charset="-122"/>
                <a:ea typeface="楷体" panose="02010609060101010101" pitchFamily="49" charset="-122"/>
              </a:rPr>
              <a:t>i</a:t>
            </a:r>
            <a:r>
              <a:rPr lang="en-US" altLang="zh-CN" sz="2400" dirty="0">
                <a:solidFill>
                  <a:srgbClr val="080808"/>
                </a:solidFill>
                <a:latin typeface="楷体" panose="02010609060101010101" pitchFamily="49" charset="-122"/>
                <a:ea typeface="楷体" panose="02010609060101010101" pitchFamily="49" charset="-122"/>
              </a:rPr>
              <a:t>)+1,w(</a:t>
            </a:r>
            <a:r>
              <a:rPr lang="en-US" altLang="zh-CN" sz="2400" dirty="0" err="1">
                <a:solidFill>
                  <a:srgbClr val="080808"/>
                </a:solidFill>
                <a:latin typeface="楷体" panose="02010609060101010101" pitchFamily="49" charset="-122"/>
                <a:ea typeface="楷体" panose="02010609060101010101" pitchFamily="49" charset="-122"/>
              </a:rPr>
              <a:t>i+j</a:t>
            </a:r>
            <a:r>
              <a:rPr lang="en-US" altLang="zh-CN" sz="2400" dirty="0">
                <a:solidFill>
                  <a:srgbClr val="080808"/>
                </a:solidFill>
                <a:latin typeface="楷体" panose="02010609060101010101" pitchFamily="49" charset="-122"/>
                <a:ea typeface="楷体" panose="02010609060101010101" pitchFamily="49" charset="-122"/>
              </a:rPr>
              <a:t>))      //</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为石板编号，</a:t>
            </a:r>
            <a:r>
              <a:rPr lang="en-US" altLang="zh-CN" sz="2400" dirty="0">
                <a:solidFill>
                  <a:srgbClr val="080808"/>
                </a:solidFill>
                <a:latin typeface="楷体" panose="02010609060101010101" pitchFamily="49" charset="-122"/>
                <a:ea typeface="楷体" panose="02010609060101010101" pitchFamily="49" charset="-122"/>
              </a:rPr>
              <a:t>j</a:t>
            </a:r>
            <a:r>
              <a:rPr lang="zh-CN" altLang="en-US" sz="2400" dirty="0">
                <a:solidFill>
                  <a:srgbClr val="080808"/>
                </a:solidFill>
                <a:latin typeface="楷体" panose="02010609060101010101" pitchFamily="49" charset="-122"/>
                <a:ea typeface="楷体" panose="02010609060101010101" pitchFamily="49" charset="-122"/>
              </a:rPr>
              <a:t>为</a:t>
            </a:r>
            <a:r>
              <a:rPr lang="en-US" altLang="zh-CN" sz="2400" dirty="0" err="1">
                <a:solidFill>
                  <a:srgbClr val="080808"/>
                </a:solidFill>
                <a:latin typeface="楷体" panose="02010609060101010101" pitchFamily="49" charset="-122"/>
                <a:ea typeface="楷体" panose="02010609060101010101" pitchFamily="49" charset="-122"/>
              </a:rPr>
              <a:t>i</a:t>
            </a:r>
            <a:r>
              <a:rPr lang="zh-CN" altLang="en-US" sz="2400" dirty="0">
                <a:solidFill>
                  <a:srgbClr val="080808"/>
                </a:solidFill>
                <a:latin typeface="楷体" panose="02010609060101010101" pitchFamily="49" charset="-122"/>
                <a:ea typeface="楷体" panose="02010609060101010101" pitchFamily="49" charset="-122"/>
              </a:rPr>
              <a:t>的因子</a:t>
            </a:r>
            <a:endParaRPr lang="zh-CN" altLang="en-US" sz="24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69874" y="1916832"/>
            <a:ext cx="8604250" cy="381642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5.7】</a:t>
            </a:r>
            <a:r>
              <a:rPr lang="zh-CN" altLang="en-US" sz="2200" dirty="0">
                <a:solidFill>
                  <a:srgbClr val="080808"/>
                </a:solidFill>
                <a:latin typeface="楷体" panose="02010609060101010101" pitchFamily="49" charset="-122"/>
                <a:ea typeface="楷体" panose="02010609060101010101" pitchFamily="49" charset="-122"/>
              </a:rPr>
              <a:t>跨楼梯问题。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问题描述：现有一段楼梯共</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级，假设每次只能往上走一级台阶或者二级台阶，如果要走上第</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级，请设计算法求出共有多少走法？</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设走到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种走法，按要求每次只能往上走一级或者二级台阶，那么要想走到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层，只有两种走法，一是从</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层跨一步上去，二是从</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层跨两步上去。设走到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种走法，到达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层有</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种走法，那么：</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k = k1 + k2</a:t>
            </a:r>
            <a:endParaRPr lang="en-US" altLang="zh-CN" sz="2200" dirty="0">
              <a:solidFill>
                <a:srgbClr val="080808"/>
              </a:solidFill>
              <a:latin typeface="楷体" panose="02010609060101010101" pitchFamily="49" charset="-122"/>
              <a:ea typeface="楷体" panose="02010609060101010101" pitchFamily="49" charset="-122"/>
            </a:endParaRPr>
          </a:p>
        </p:txBody>
      </p:sp>
      <p:sp>
        <p:nvSpPr>
          <p:cNvPr id="4" name="Text Box 3"/>
          <p:cNvSpPr txBox="1">
            <a:spLocks noChangeArrowheads="1"/>
          </p:cNvSpPr>
          <p:nvPr/>
        </p:nvSpPr>
        <p:spPr bwMode="auto">
          <a:xfrm>
            <a:off x="2083739" y="1186824"/>
            <a:ext cx="4976520" cy="584775"/>
          </a:xfrm>
          <a:prstGeom prst="rect">
            <a:avLst/>
          </a:prstGeom>
          <a:noFill/>
          <a:ln w="9525">
            <a:noFill/>
            <a:miter lim="800000"/>
          </a:ln>
          <a:effectLst/>
        </p:spPr>
        <p:txBody>
          <a:bodyPr wrap="square">
            <a:spAutoFit/>
          </a:bodyPr>
          <a:lstStyle/>
          <a:p>
            <a:pPr algn="ctr">
              <a:spcBef>
                <a:spcPct val="50000"/>
              </a:spcBef>
              <a:defRPr/>
            </a:pPr>
            <a:r>
              <a:rPr lang="en-US" altLang="zh-CN"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5.4 </a:t>
            </a:r>
            <a:r>
              <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rPr>
              <a:t>动态规划法示例</a:t>
            </a:r>
            <a:endParaRPr lang="zh-CN" altLang="en-US" sz="3200" dirty="0">
              <a:ln w="18000">
                <a:solidFill>
                  <a:schemeClr val="accent2">
                    <a:satMod val="140000"/>
                  </a:schemeClr>
                </a:solidFill>
                <a:prstDash val="solid"/>
                <a:miter lim="800000"/>
              </a:ln>
              <a:solidFill>
                <a:srgbClr val="080808"/>
              </a:solidFill>
              <a:effectLst>
                <a:outerShdw blurRad="25500" dist="23000" dir="7020000" algn="tl">
                  <a:srgbClr val="000000">
                    <a:alpha val="50000"/>
                  </a:srgbClr>
                </a:outerShdw>
              </a:effectLst>
              <a:ea typeface="隶书" panose="02010509060101010101" pitchFamily="49" charset="-122"/>
            </a:endParaRP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29700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从上面的式子中可以看出想要求走到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是依附于走到</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和到达</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的。一个问题的解依附于其子问题的解，这是使用动态规划法的明显特征。也就是说只要求出</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k2</a:t>
            </a:r>
            <a:r>
              <a:rPr lang="zh-CN" altLang="en-US" sz="2200" dirty="0">
                <a:solidFill>
                  <a:srgbClr val="080808"/>
                </a:solidFill>
                <a:latin typeface="楷体" panose="02010609060101010101" pitchFamily="49" charset="-122"/>
                <a:ea typeface="楷体" panose="02010609060101010101" pitchFamily="49" charset="-122"/>
              </a:rPr>
              <a:t>就能求出达</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r>
              <a:rPr lang="en-US" altLang="zh-CN" sz="2200" dirty="0">
                <a:solidFill>
                  <a:srgbClr val="080808"/>
                </a:solidFill>
                <a:latin typeface="楷体" panose="02010609060101010101" pitchFamily="49" charset="-122"/>
                <a:ea typeface="楷体" panose="02010609060101010101" pitchFamily="49" charset="-122"/>
              </a:rPr>
              <a:t>k</a:t>
            </a:r>
            <a:r>
              <a:rPr lang="zh-CN" altLang="en-US" sz="2200" dirty="0">
                <a:solidFill>
                  <a:srgbClr val="080808"/>
                </a:solidFill>
                <a:latin typeface="楷体" panose="02010609060101010101" pitchFamily="49" charset="-122"/>
                <a:ea typeface="楷体" panose="02010609060101010101" pitchFamily="49" charset="-122"/>
              </a:rPr>
              <a:t>了。同样的道理，</a:t>
            </a:r>
            <a:r>
              <a:rPr lang="en-US" altLang="zh-CN" sz="2200" dirty="0">
                <a:solidFill>
                  <a:srgbClr val="080808"/>
                </a:solidFill>
                <a:latin typeface="楷体" panose="02010609060101010101" pitchFamily="49" charset="-122"/>
                <a:ea typeface="楷体" panose="02010609060101010101" pitchFamily="49" charset="-122"/>
              </a:rPr>
              <a:t>n-1</a:t>
            </a:r>
            <a:r>
              <a:rPr lang="zh-CN" altLang="en-US" sz="2200" dirty="0">
                <a:solidFill>
                  <a:srgbClr val="080808"/>
                </a:solidFill>
                <a:latin typeface="楷体" panose="02010609060101010101" pitchFamily="49" charset="-122"/>
                <a:ea typeface="楷体" panose="02010609060101010101" pitchFamily="49" charset="-122"/>
              </a:rPr>
              <a:t>层的走法可以由</a:t>
            </a:r>
            <a:r>
              <a:rPr lang="en-US" altLang="zh-CN" sz="2200" dirty="0">
                <a:solidFill>
                  <a:srgbClr val="080808"/>
                </a:solidFill>
                <a:latin typeface="楷体" panose="02010609060101010101" pitchFamily="49" charset="-122"/>
                <a:ea typeface="楷体" panose="02010609060101010101" pitchFamily="49" charset="-122"/>
              </a:rPr>
              <a:t>(n-1)-1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(n-1)-2</a:t>
            </a:r>
            <a:r>
              <a:rPr lang="zh-CN" altLang="en-US" sz="2200" dirty="0">
                <a:solidFill>
                  <a:srgbClr val="080808"/>
                </a:solidFill>
                <a:latin typeface="楷体" panose="02010609060101010101" pitchFamily="49" charset="-122"/>
                <a:ea typeface="楷体" panose="02010609060101010101" pitchFamily="49" charset="-122"/>
              </a:rPr>
              <a:t>层的走法求得，</a:t>
            </a:r>
            <a:r>
              <a:rPr lang="en-US" altLang="zh-CN" sz="2200" dirty="0">
                <a:solidFill>
                  <a:srgbClr val="080808"/>
                </a:solidFill>
                <a:latin typeface="楷体" panose="02010609060101010101" pitchFamily="49" charset="-122"/>
                <a:ea typeface="楷体" panose="02010609060101010101" pitchFamily="49" charset="-122"/>
              </a:rPr>
              <a:t>n-2</a:t>
            </a:r>
            <a:r>
              <a:rPr lang="zh-CN" altLang="en-US" sz="2200" dirty="0">
                <a:solidFill>
                  <a:srgbClr val="080808"/>
                </a:solidFill>
                <a:latin typeface="楷体" panose="02010609060101010101" pitchFamily="49" charset="-122"/>
                <a:ea typeface="楷体" panose="02010609060101010101" pitchFamily="49" charset="-122"/>
              </a:rPr>
              <a:t>层的走法也可以从</a:t>
            </a:r>
            <a:r>
              <a:rPr lang="en-US" altLang="zh-CN" sz="2200" dirty="0">
                <a:solidFill>
                  <a:srgbClr val="080808"/>
                </a:solidFill>
                <a:latin typeface="楷体" panose="02010609060101010101" pitchFamily="49" charset="-122"/>
                <a:ea typeface="楷体" panose="02010609060101010101" pitchFamily="49" charset="-122"/>
              </a:rPr>
              <a:t>(n-2)-1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(n-2)-2</a:t>
            </a:r>
            <a:r>
              <a:rPr lang="zh-CN" altLang="en-US" sz="2200" dirty="0">
                <a:solidFill>
                  <a:srgbClr val="080808"/>
                </a:solidFill>
                <a:latin typeface="楷体" panose="02010609060101010101" pitchFamily="49" charset="-122"/>
                <a:ea typeface="楷体" panose="02010609060101010101" pitchFamily="49" charset="-122"/>
              </a:rPr>
              <a:t>层的走法求得。</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step (n)</a:t>
            </a:r>
            <a:r>
              <a:rPr lang="zh-CN" altLang="en-US" sz="2200" dirty="0">
                <a:solidFill>
                  <a:srgbClr val="080808"/>
                </a:solidFill>
                <a:latin typeface="楷体" panose="02010609060101010101" pitchFamily="49" charset="-122"/>
                <a:ea typeface="楷体" panose="02010609060101010101" pitchFamily="49" charset="-122"/>
              </a:rPr>
              <a:t>为每次只能往上走一级台阶或者二级台阶，走到</a:t>
            </a:r>
            <a:r>
              <a:rPr lang="en-US" altLang="zh-CN" sz="2200" dirty="0">
                <a:solidFill>
                  <a:srgbClr val="080808"/>
                </a:solidFill>
                <a:latin typeface="楷体" panose="02010609060101010101" pitchFamily="49" charset="-122"/>
                <a:ea typeface="楷体" panose="02010609060101010101" pitchFamily="49" charset="-122"/>
              </a:rPr>
              <a:t>n</a:t>
            </a:r>
            <a:r>
              <a:rPr lang="zh-CN" altLang="en-US" sz="2200" dirty="0">
                <a:solidFill>
                  <a:srgbClr val="080808"/>
                </a:solidFill>
                <a:latin typeface="楷体" panose="02010609060101010101" pitchFamily="49" charset="-122"/>
                <a:ea typeface="楷体" panose="02010609060101010101" pitchFamily="49" charset="-122"/>
              </a:rPr>
              <a:t>层的走法；</a:t>
            </a:r>
            <a:endParaRPr lang="zh-CN" altLang="en-US" sz="2200" dirty="0">
              <a:solidFill>
                <a:srgbClr val="080808"/>
              </a:solidFill>
              <a:latin typeface="楷体" panose="02010609060101010101" pitchFamily="49" charset="-122"/>
              <a:ea typeface="楷体" panose="02010609060101010101" pitchFamily="49" charset="-122"/>
            </a:endParaRPr>
          </a:p>
        </p:txBody>
      </p:sp>
      <p:pic>
        <p:nvPicPr>
          <p:cNvPr id="5" name="图片 4"/>
          <p:cNvPicPr>
            <a:picLocks noChangeAspect="1"/>
          </p:cNvPicPr>
          <p:nvPr/>
        </p:nvPicPr>
        <p:blipFill>
          <a:blip r:embed="rId6"/>
          <a:stretch>
            <a:fillRect/>
          </a:stretch>
        </p:blipFill>
        <p:spPr>
          <a:xfrm>
            <a:off x="665214" y="4797152"/>
            <a:ext cx="7671681" cy="1153167"/>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251520" y="1484784"/>
            <a:ext cx="8604250" cy="43242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例</a:t>
            </a:r>
            <a:r>
              <a:rPr lang="en-US" altLang="zh-CN" sz="2200" dirty="0">
                <a:solidFill>
                  <a:srgbClr val="080808"/>
                </a:solidFill>
                <a:latin typeface="楷体" panose="02010609060101010101" pitchFamily="49" charset="-122"/>
                <a:ea typeface="楷体" panose="02010609060101010101" pitchFamily="49" charset="-122"/>
              </a:rPr>
              <a:t>5.12】</a:t>
            </a:r>
            <a:r>
              <a:rPr lang="zh-CN" altLang="en-US" sz="2200" dirty="0">
                <a:solidFill>
                  <a:srgbClr val="080808"/>
                </a:solidFill>
                <a:latin typeface="楷体" panose="02010609060101010101" pitchFamily="49" charset="-122"/>
                <a:ea typeface="楷体" panose="02010609060101010101" pitchFamily="49" charset="-122"/>
              </a:rPr>
              <a:t>跳石板问题。</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问题描述：有一条石板路，每块石板都有编号，依次是：</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3.......</a:t>
            </a:r>
            <a:r>
              <a:rPr lang="zh-CN" altLang="en-US" sz="2200" dirty="0">
                <a:solidFill>
                  <a:srgbClr val="080808"/>
                </a:solidFill>
                <a:latin typeface="楷体" panose="02010609060101010101" pitchFamily="49" charset="-122"/>
                <a:ea typeface="楷体" panose="02010609060101010101" pitchFamily="49" charset="-122"/>
              </a:rPr>
              <a:t>，在这条石板路上前进需要根据特殊的规则：设当前所在石板的编号为</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，单次只能往前跳</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步（</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是</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的因子，但其中不含</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和</a:t>
            </a:r>
            <a:r>
              <a:rPr lang="en-US" altLang="zh-CN" sz="2200" dirty="0">
                <a:solidFill>
                  <a:srgbClr val="080808"/>
                </a:solidFill>
                <a:latin typeface="楷体" panose="02010609060101010101" pitchFamily="49" charset="-122"/>
                <a:ea typeface="楷体" panose="02010609060101010101" pitchFamily="49" charset="-122"/>
              </a:rPr>
              <a:t>h</a:t>
            </a:r>
            <a:r>
              <a:rPr lang="zh-CN" altLang="en-US" sz="2200" dirty="0">
                <a:solidFill>
                  <a:srgbClr val="080808"/>
                </a:solidFill>
                <a:latin typeface="楷体" panose="02010609060101010101" pitchFamily="49" charset="-122"/>
                <a:ea typeface="楷体" panose="02010609060101010101" pitchFamily="49" charset="-122"/>
              </a:rPr>
              <a:t>），即跳到</a:t>
            </a:r>
            <a:r>
              <a:rPr lang="en-US" altLang="zh-CN" sz="2200" dirty="0" err="1">
                <a:solidFill>
                  <a:srgbClr val="080808"/>
                </a:solidFill>
                <a:latin typeface="楷体" panose="02010609060101010101" pitchFamily="49" charset="-122"/>
                <a:ea typeface="楷体" panose="02010609060101010101" pitchFamily="49" charset="-122"/>
              </a:rPr>
              <a:t>h+t</a:t>
            </a:r>
            <a:r>
              <a:rPr lang="zh-CN" altLang="en-US" sz="2200" dirty="0">
                <a:solidFill>
                  <a:srgbClr val="080808"/>
                </a:solidFill>
                <a:latin typeface="楷体" panose="02010609060101010101" pitchFamily="49" charset="-122"/>
                <a:ea typeface="楷体" panose="02010609060101010101" pitchFamily="49" charset="-122"/>
              </a:rPr>
              <a:t>的位置。设当前所在石板的编号为</a:t>
            </a:r>
            <a:r>
              <a:rPr lang="en-US" altLang="zh-CN" sz="2200" dirty="0">
                <a:solidFill>
                  <a:srgbClr val="080808"/>
                </a:solidFill>
                <a:latin typeface="楷体" panose="02010609060101010101" pitchFamily="49" charset="-122"/>
                <a:ea typeface="楷体" panose="02010609060101010101" pitchFamily="49" charset="-122"/>
              </a:rPr>
              <a:t>s</a:t>
            </a:r>
            <a:r>
              <a:rPr lang="zh-CN" altLang="en-US" sz="2200" dirty="0">
                <a:solidFill>
                  <a:srgbClr val="080808"/>
                </a:solidFill>
                <a:latin typeface="楷体" panose="02010609060101010101" pitchFamily="49" charset="-122"/>
                <a:ea typeface="楷体" panose="02010609060101010101" pitchFamily="49" charset="-122"/>
              </a:rPr>
              <a:t>，请设计算法求出要想跳到编号为</a:t>
            </a:r>
            <a:r>
              <a:rPr lang="en-US" altLang="zh-CN" sz="2200" dirty="0">
                <a:solidFill>
                  <a:srgbClr val="080808"/>
                </a:solidFill>
                <a:latin typeface="楷体" panose="02010609060101010101" pitchFamily="49" charset="-122"/>
                <a:ea typeface="楷体" panose="02010609060101010101" pitchFamily="49" charset="-122"/>
              </a:rPr>
              <a:t>e</a:t>
            </a:r>
            <a:r>
              <a:rPr lang="zh-CN" altLang="en-US" sz="2200" dirty="0">
                <a:solidFill>
                  <a:srgbClr val="080808"/>
                </a:solidFill>
                <a:latin typeface="楷体" panose="02010609060101010101" pitchFamily="49" charset="-122"/>
                <a:ea typeface="楷体" panose="02010609060101010101" pitchFamily="49" charset="-122"/>
              </a:rPr>
              <a:t>的石板去，最少需要跳跃几次。</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当</a:t>
            </a:r>
            <a:r>
              <a:rPr lang="en-US" altLang="zh-CN" sz="2200" dirty="0">
                <a:solidFill>
                  <a:srgbClr val="080808"/>
                </a:solidFill>
                <a:latin typeface="楷体" panose="02010609060101010101" pitchFamily="49" charset="-122"/>
                <a:ea typeface="楷体" panose="02010609060101010101" pitchFamily="49" charset="-122"/>
              </a:rPr>
              <a:t>s = 4</a:t>
            </a: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e= 24</a:t>
            </a:r>
            <a:r>
              <a:rPr lang="zh-CN" altLang="en-US" sz="2200" dirty="0">
                <a:solidFill>
                  <a:srgbClr val="080808"/>
                </a:solidFill>
                <a:latin typeface="楷体" panose="02010609060101010101" pitchFamily="49" charset="-122"/>
                <a:ea typeface="楷体" panose="02010609060101010101" pitchFamily="49" charset="-122"/>
              </a:rPr>
              <a:t>时，跳跃路径为：</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4—6—8—12—18—24</a:t>
            </a:r>
            <a:endParaRPr lang="en-US" altLang="zh-CN"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因此，从</a:t>
            </a:r>
            <a:r>
              <a:rPr lang="en-US" altLang="zh-CN" sz="2200" dirty="0">
                <a:solidFill>
                  <a:srgbClr val="080808"/>
                </a:solidFill>
                <a:latin typeface="楷体" panose="02010609060101010101" pitchFamily="49" charset="-122"/>
                <a:ea typeface="楷体" panose="02010609060101010101" pitchFamily="49" charset="-122"/>
              </a:rPr>
              <a:t>4</a:t>
            </a:r>
            <a:r>
              <a:rPr lang="zh-CN" altLang="en-US" sz="2200" dirty="0">
                <a:solidFill>
                  <a:srgbClr val="080808"/>
                </a:solidFill>
                <a:latin typeface="楷体" panose="02010609060101010101" pitchFamily="49" charset="-122"/>
                <a:ea typeface="楷体" panose="02010609060101010101" pitchFamily="49" charset="-122"/>
              </a:rPr>
              <a:t>号石板跳到</a:t>
            </a:r>
            <a:r>
              <a:rPr lang="en-US" altLang="zh-CN" sz="2200" dirty="0">
                <a:solidFill>
                  <a:srgbClr val="080808"/>
                </a:solidFill>
                <a:latin typeface="楷体" panose="02010609060101010101" pitchFamily="49" charset="-122"/>
                <a:ea typeface="楷体" panose="02010609060101010101" pitchFamily="49" charset="-122"/>
              </a:rPr>
              <a:t>24</a:t>
            </a:r>
            <a:r>
              <a:rPr lang="zh-CN" altLang="en-US" sz="2200" dirty="0">
                <a:solidFill>
                  <a:srgbClr val="080808"/>
                </a:solidFill>
                <a:latin typeface="楷体" panose="02010609060101010101" pitchFamily="49" charset="-122"/>
                <a:ea typeface="楷体" panose="02010609060101010101" pitchFamily="49" charset="-122"/>
              </a:rPr>
              <a:t>号石板最少需要跳跃</a:t>
            </a:r>
            <a:r>
              <a:rPr lang="en-US" altLang="zh-CN" sz="2200" dirty="0">
                <a:solidFill>
                  <a:srgbClr val="080808"/>
                </a:solidFill>
                <a:latin typeface="楷体" panose="02010609060101010101" pitchFamily="49" charset="-122"/>
                <a:ea typeface="楷体" panose="02010609060101010101" pitchFamily="49" charset="-122"/>
              </a:rPr>
              <a:t>5</a:t>
            </a:r>
            <a:r>
              <a:rPr lang="zh-CN" altLang="en-US" sz="2200" dirty="0">
                <a:solidFill>
                  <a:srgbClr val="080808"/>
                </a:solidFill>
                <a:latin typeface="楷体" panose="02010609060101010101" pitchFamily="49" charset="-122"/>
                <a:ea typeface="楷体" panose="02010609060101010101" pitchFamily="49" charset="-122"/>
              </a:rPr>
              <a:t>次。</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052736"/>
            <a:ext cx="8604250" cy="5509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1. </a:t>
            </a:r>
            <a:r>
              <a:rPr lang="zh-CN" altLang="en-US" sz="2200" dirty="0">
                <a:solidFill>
                  <a:srgbClr val="080808"/>
                </a:solidFill>
                <a:latin typeface="楷体" panose="02010609060101010101" pitchFamily="49" charset="-122"/>
                <a:ea typeface="楷体" panose="02010609060101010101" pitchFamily="49" charset="-122"/>
              </a:rPr>
              <a:t>解题思路：</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动态规划法需要存储各个子问题的解，因此定义一个数组</a:t>
            </a:r>
            <a:r>
              <a:rPr lang="en-US" altLang="zh-CN" sz="2200" dirty="0">
                <a:solidFill>
                  <a:srgbClr val="080808"/>
                </a:solidFill>
                <a:latin typeface="楷体" panose="02010609060101010101" pitchFamily="49" charset="-122"/>
                <a:ea typeface="楷体" panose="02010609060101010101" pitchFamily="49" charset="-122"/>
              </a:rPr>
              <a:t>w</a:t>
            </a:r>
            <a:r>
              <a:rPr lang="zh-CN" altLang="en-US" sz="2200" dirty="0">
                <a:solidFill>
                  <a:srgbClr val="080808"/>
                </a:solidFill>
                <a:latin typeface="楷体" panose="02010609060101010101" pitchFamily="49" charset="-122"/>
                <a:ea typeface="楷体" panose="02010609060101010101" pitchFamily="49" charset="-122"/>
              </a:rPr>
              <a:t>，长度为</a:t>
            </a:r>
            <a:r>
              <a:rPr lang="en-US" altLang="zh-CN" sz="2200" dirty="0">
                <a:solidFill>
                  <a:srgbClr val="080808"/>
                </a:solidFill>
                <a:latin typeface="楷体" panose="02010609060101010101" pitchFamily="49" charset="-122"/>
                <a:ea typeface="楷体" panose="02010609060101010101" pitchFamily="49" charset="-122"/>
              </a:rPr>
              <a:t>e-s+1</a:t>
            </a:r>
            <a:r>
              <a:rPr lang="zh-CN" altLang="en-US" sz="2200" dirty="0">
                <a:solidFill>
                  <a:srgbClr val="080808"/>
                </a:solidFill>
                <a:latin typeface="楷体" panose="02010609060101010101" pitchFamily="49" charset="-122"/>
                <a:ea typeface="楷体" panose="02010609060101010101" pitchFamily="49" charset="-122"/>
              </a:rPr>
              <a:t>，包括起点与终点，数组中的元素表示从起点到达该点所需的最小跳跃次数，初始状态下起点为</a:t>
            </a:r>
            <a:r>
              <a:rPr lang="en-US" altLang="zh-CN" sz="2200" dirty="0">
                <a:solidFill>
                  <a:srgbClr val="080808"/>
                </a:solidFill>
                <a:latin typeface="楷体" panose="02010609060101010101" pitchFamily="49" charset="-122"/>
                <a:ea typeface="楷体" panose="02010609060101010101" pitchFamily="49" charset="-122"/>
              </a:rPr>
              <a:t>0</a:t>
            </a:r>
            <a:r>
              <a:rPr lang="zh-CN" altLang="en-US" sz="2200" dirty="0">
                <a:solidFill>
                  <a:srgbClr val="080808"/>
                </a:solidFill>
                <a:latin typeface="楷体" panose="02010609060101010101" pitchFamily="49" charset="-122"/>
                <a:ea typeface="楷体" panose="02010609060101010101" pitchFamily="49" charset="-122"/>
              </a:rPr>
              <a:t>，数组其他元素为</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，表示不可达；</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接下来要遍历每一块石板（即数组中的每一个元素）：先判断当前数组元素的值是否是</a:t>
            </a:r>
            <a:r>
              <a:rPr lang="en-US" altLang="zh-CN" sz="2200" dirty="0">
                <a:solidFill>
                  <a:srgbClr val="080808"/>
                </a:solidFill>
                <a:latin typeface="楷体" panose="02010609060101010101" pitchFamily="49" charset="-122"/>
                <a:ea typeface="楷体" panose="02010609060101010101" pitchFamily="49" charset="-122"/>
              </a:rPr>
              <a:t>MAX</a:t>
            </a:r>
            <a:r>
              <a:rPr lang="zh-CN" altLang="en-US" sz="2200" dirty="0">
                <a:solidFill>
                  <a:srgbClr val="080808"/>
                </a:solidFill>
                <a:latin typeface="楷体" panose="02010609060101010101" pitchFamily="49" charset="-122"/>
                <a:ea typeface="楷体" panose="02010609060101010101" pitchFamily="49" charset="-122"/>
              </a:rPr>
              <a:t>，如果是表示不可达，跳出当前循环，如果不是，表示可达，此时求解当前石板编号的因子集合，接着遍历当前石板编号的因子集合，计算从当前石板到每一个因数对应的下一块石板的最小跳跃次数（当然在求解之前需要先判断下一个石板的编号是否小于等于</a:t>
            </a:r>
            <a:r>
              <a:rPr lang="en-US" altLang="zh-CN" sz="2200" dirty="0">
                <a:solidFill>
                  <a:srgbClr val="080808"/>
                </a:solidFill>
                <a:latin typeface="楷体" panose="02010609060101010101" pitchFamily="49" charset="-122"/>
                <a:ea typeface="楷体" panose="02010609060101010101" pitchFamily="49" charset="-122"/>
              </a:rPr>
              <a:t>t</a:t>
            </a:r>
            <a:r>
              <a:rPr lang="zh-CN" altLang="en-US" sz="2200" dirty="0">
                <a:solidFill>
                  <a:srgbClr val="080808"/>
                </a:solidFill>
                <a:latin typeface="楷体" panose="02010609060101010101" pitchFamily="49" charset="-122"/>
                <a:ea typeface="楷体" panose="02010609060101010101" pitchFamily="49" charset="-122"/>
              </a:rPr>
              <a:t>，如不满足则跳过本次循环），最小跳跃次数是对应下一个石板元素值与当前石板元素值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中的较小值，即如果要跳到的石板之前没有经过，则用当前石板元素值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即可，如果要跳到的石板之前经过，则比较之前经过该石板时的步数和当前石板元素值</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的大小，取小者。</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4"/>
          <p:cNvSpPr txBox="1">
            <a:spLocks noChangeArrowheads="1"/>
          </p:cNvSpPr>
          <p:nvPr/>
        </p:nvSpPr>
        <p:spPr bwMode="auto">
          <a:xfrm>
            <a:off x="179512" y="1700808"/>
            <a:ext cx="8604250" cy="144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spcBef>
                <a:spcPct val="20000"/>
              </a:spcBef>
              <a:buSzPct val="90000"/>
              <a:buBlip>
                <a:blip r:embed="rId1"/>
              </a:buBlip>
              <a:defRPr kumimoji="1" sz="3200">
                <a:solidFill>
                  <a:schemeClr val="tx1"/>
                </a:solidFill>
                <a:latin typeface="Tahoma" panose="020B0604030504040204" pitchFamily="34" charset="0"/>
                <a:ea typeface="宋体" panose="02010600030101010101" pitchFamily="2" charset="-122"/>
              </a:defRPr>
            </a:lvl1pPr>
            <a:lvl2pPr marL="742950" indent="-285750">
              <a:spcBef>
                <a:spcPct val="20000"/>
              </a:spcBef>
              <a:buSzPct val="80000"/>
              <a:buBlip>
                <a:blip r:embed="rId2"/>
              </a:buBlip>
              <a:defRPr kumimoji="1" sz="2800">
                <a:solidFill>
                  <a:schemeClr val="tx1"/>
                </a:solidFill>
                <a:latin typeface="Tahoma" panose="020B0604030504040204" pitchFamily="34" charset="0"/>
                <a:ea typeface="宋体" panose="02010600030101010101" pitchFamily="2" charset="-122"/>
              </a:defRPr>
            </a:lvl2pPr>
            <a:lvl3pPr marL="1143000" indent="-228600">
              <a:spcBef>
                <a:spcPct val="20000"/>
              </a:spcBef>
              <a:buSzPct val="70000"/>
              <a:buBlip>
                <a:blip r:embed="rId3"/>
              </a:buBlip>
              <a:defRPr kumimoji="1" sz="2400">
                <a:solidFill>
                  <a:schemeClr val="tx1"/>
                </a:solidFill>
                <a:latin typeface="Tahoma" panose="020B0604030504040204" pitchFamily="34" charset="0"/>
                <a:ea typeface="宋体" panose="02010600030101010101" pitchFamily="2" charset="-122"/>
              </a:defRPr>
            </a:lvl3pPr>
            <a:lvl4pPr marL="1600200" indent="-228600">
              <a:spcBef>
                <a:spcPct val="20000"/>
              </a:spcBef>
              <a:buSzPct val="70000"/>
              <a:buBlip>
                <a:blip r:embed="rId4"/>
              </a:buBlip>
              <a:defRPr kumimoji="1" sz="2000">
                <a:solidFill>
                  <a:schemeClr val="tx1"/>
                </a:solidFill>
                <a:latin typeface="Tahoma" panose="020B0604030504040204" pitchFamily="34" charset="0"/>
                <a:ea typeface="宋体" panose="02010600030101010101" pitchFamily="2" charset="-122"/>
              </a:defRPr>
            </a:lvl4pPr>
            <a:lvl5pPr marL="2057400" indent="-228600">
              <a:spcBef>
                <a:spcPct val="20000"/>
              </a:spcBef>
              <a:buSzPct val="70000"/>
              <a:buBlip>
                <a:blip r:embed="rId5"/>
              </a:buBlip>
              <a:defRPr kumimoji="1" sz="2000">
                <a:solidFill>
                  <a:schemeClr val="tx1"/>
                </a:solidFill>
                <a:latin typeface="Tahoma" panose="020B0604030504040204" pitchFamily="34" charset="0"/>
                <a:ea typeface="宋体" panose="02010600030101010101" pitchFamily="2" charset="-122"/>
              </a:defRPr>
            </a:lvl5pPr>
            <a:lvl6pPr marL="25146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6pPr>
            <a:lvl7pPr marL="29718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7pPr>
            <a:lvl8pPr marL="34290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8pPr>
            <a:lvl9pPr marL="3886200" indent="-228600" eaLnBrk="0" fontAlgn="base" hangingPunct="0">
              <a:spcBef>
                <a:spcPct val="20000"/>
              </a:spcBef>
              <a:spcAft>
                <a:spcPct val="0"/>
              </a:spcAft>
              <a:buSzPct val="70000"/>
              <a:buBlip>
                <a:blip r:embed="rId5"/>
              </a:buBlip>
              <a:defRPr kumimoji="1" sz="2000">
                <a:solidFill>
                  <a:schemeClr val="tx1"/>
                </a:solidFill>
                <a:latin typeface="Tahoma" panose="020B0604030504040204" pitchFamily="34" charset="0"/>
                <a:ea typeface="宋体" panose="02010600030101010101" pitchFamily="2" charset="-122"/>
              </a:defRPr>
            </a:lvl9pPr>
          </a:lstStyle>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1</a:t>
            </a:r>
            <a:r>
              <a:rPr lang="zh-CN" altLang="en-US" sz="2200" dirty="0">
                <a:solidFill>
                  <a:srgbClr val="080808"/>
                </a:solidFill>
                <a:latin typeface="楷体" panose="02010609060101010101" pitchFamily="49" charset="-122"/>
                <a:ea typeface="楷体" panose="02010609060101010101" pitchFamily="49" charset="-122"/>
              </a:rPr>
              <a:t>）设</a:t>
            </a:r>
            <a:r>
              <a:rPr lang="en-US" altLang="zh-CN" sz="2200" dirty="0">
                <a:solidFill>
                  <a:srgbClr val="080808"/>
                </a:solidFill>
                <a:latin typeface="楷体" panose="02010609060101010101" pitchFamily="49" charset="-122"/>
                <a:ea typeface="楷体" panose="02010609060101010101" pitchFamily="49" charset="-122"/>
              </a:rPr>
              <a:t>w (</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a:t>
            </a:r>
            <a:r>
              <a:rPr lang="zh-CN" altLang="en-US" sz="2200" dirty="0">
                <a:solidFill>
                  <a:srgbClr val="080808"/>
                </a:solidFill>
                <a:latin typeface="楷体" panose="02010609060101010101" pitchFamily="49" charset="-122"/>
                <a:ea typeface="楷体" panose="02010609060101010101" pitchFamily="49" charset="-122"/>
              </a:rPr>
              <a:t>为从起点到达编号为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的石板所需的最小跳跃次数；</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zh-CN" altLang="en-US" sz="2200" dirty="0">
                <a:solidFill>
                  <a:srgbClr val="080808"/>
                </a:solidFill>
                <a:latin typeface="楷体" panose="02010609060101010101" pitchFamily="49" charset="-122"/>
                <a:ea typeface="楷体" panose="02010609060101010101" pitchFamily="49" charset="-122"/>
              </a:rPr>
              <a:t>（</a:t>
            </a:r>
            <a:r>
              <a:rPr lang="en-US" altLang="zh-CN" sz="2200" dirty="0">
                <a:solidFill>
                  <a:srgbClr val="080808"/>
                </a:solidFill>
                <a:latin typeface="楷体" panose="02010609060101010101" pitchFamily="49" charset="-122"/>
                <a:ea typeface="楷体" panose="02010609060101010101" pitchFamily="49" charset="-122"/>
              </a:rPr>
              <a:t>2</a:t>
            </a:r>
            <a:r>
              <a:rPr lang="zh-CN" altLang="en-US" sz="2200" dirty="0">
                <a:solidFill>
                  <a:srgbClr val="080808"/>
                </a:solidFill>
                <a:latin typeface="楷体" panose="02010609060101010101" pitchFamily="49" charset="-122"/>
                <a:ea typeface="楷体" panose="02010609060101010101" pitchFamily="49" charset="-122"/>
              </a:rPr>
              <a:t>）状态转移方程：</a:t>
            </a:r>
            <a:endParaRPr lang="zh-CN" altLang="en-US" sz="2200" dirty="0">
              <a:solidFill>
                <a:srgbClr val="080808"/>
              </a:solidFill>
              <a:latin typeface="楷体" panose="02010609060101010101" pitchFamily="49" charset="-122"/>
              <a:ea typeface="楷体" panose="02010609060101010101" pitchFamily="49" charset="-122"/>
            </a:endParaRPr>
          </a:p>
          <a:p>
            <a:pPr>
              <a:spcBef>
                <a:spcPct val="50000"/>
              </a:spcBef>
              <a:buSzTx/>
              <a:buFontTx/>
              <a:buNone/>
            </a:pPr>
            <a:r>
              <a:rPr lang="en-US" altLang="zh-CN" sz="2200" dirty="0">
                <a:solidFill>
                  <a:srgbClr val="080808"/>
                </a:solidFill>
                <a:latin typeface="楷体" panose="02010609060101010101" pitchFamily="49" charset="-122"/>
                <a:ea typeface="楷体" panose="02010609060101010101" pitchFamily="49" charset="-122"/>
              </a:rPr>
              <a:t>w(</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min(w(</a:t>
            </a:r>
            <a:r>
              <a:rPr lang="en-US" altLang="zh-CN" sz="2200" dirty="0" err="1">
                <a:solidFill>
                  <a:srgbClr val="080808"/>
                </a:solidFill>
                <a:latin typeface="楷体" panose="02010609060101010101" pitchFamily="49" charset="-122"/>
                <a:ea typeface="楷体" panose="02010609060101010101" pitchFamily="49" charset="-122"/>
              </a:rPr>
              <a:t>i</a:t>
            </a:r>
            <a:r>
              <a:rPr lang="en-US" altLang="zh-CN" sz="2200" dirty="0">
                <a:solidFill>
                  <a:srgbClr val="080808"/>
                </a:solidFill>
                <a:latin typeface="楷体" panose="02010609060101010101" pitchFamily="49" charset="-122"/>
                <a:ea typeface="楷体" panose="02010609060101010101" pitchFamily="49" charset="-122"/>
              </a:rPr>
              <a:t>)+1, w (</a:t>
            </a:r>
            <a:r>
              <a:rPr lang="en-US" altLang="zh-CN" sz="2200" dirty="0" err="1">
                <a:solidFill>
                  <a:srgbClr val="080808"/>
                </a:solidFill>
                <a:latin typeface="楷体" panose="02010609060101010101" pitchFamily="49" charset="-122"/>
                <a:ea typeface="楷体" panose="02010609060101010101" pitchFamily="49" charset="-122"/>
              </a:rPr>
              <a:t>i+j</a:t>
            </a:r>
            <a:r>
              <a:rPr lang="en-US" altLang="zh-CN" sz="2200" dirty="0">
                <a:solidFill>
                  <a:srgbClr val="080808"/>
                </a:solidFill>
                <a:latin typeface="楷体" panose="02010609060101010101" pitchFamily="49" charset="-122"/>
                <a:ea typeface="楷体" panose="02010609060101010101" pitchFamily="49" charset="-122"/>
              </a:rPr>
              <a:t>))      //</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为石板编号，</a:t>
            </a:r>
            <a:r>
              <a:rPr lang="en-US" altLang="zh-CN" sz="2200" dirty="0">
                <a:solidFill>
                  <a:srgbClr val="080808"/>
                </a:solidFill>
                <a:latin typeface="楷体" panose="02010609060101010101" pitchFamily="49" charset="-122"/>
                <a:ea typeface="楷体" panose="02010609060101010101" pitchFamily="49" charset="-122"/>
              </a:rPr>
              <a:t>j</a:t>
            </a:r>
            <a:r>
              <a:rPr lang="zh-CN" altLang="en-US" sz="2200" dirty="0">
                <a:solidFill>
                  <a:srgbClr val="080808"/>
                </a:solidFill>
                <a:latin typeface="楷体" panose="02010609060101010101" pitchFamily="49" charset="-122"/>
                <a:ea typeface="楷体" panose="02010609060101010101" pitchFamily="49" charset="-122"/>
              </a:rPr>
              <a:t>为</a:t>
            </a:r>
            <a:r>
              <a:rPr lang="en-US" altLang="zh-CN" sz="2200" dirty="0" err="1">
                <a:solidFill>
                  <a:srgbClr val="080808"/>
                </a:solidFill>
                <a:latin typeface="楷体" panose="02010609060101010101" pitchFamily="49" charset="-122"/>
                <a:ea typeface="楷体" panose="02010609060101010101" pitchFamily="49" charset="-122"/>
              </a:rPr>
              <a:t>i</a:t>
            </a:r>
            <a:r>
              <a:rPr lang="zh-CN" altLang="en-US" sz="2200" dirty="0">
                <a:solidFill>
                  <a:srgbClr val="080808"/>
                </a:solidFill>
                <a:latin typeface="楷体" panose="02010609060101010101" pitchFamily="49" charset="-122"/>
                <a:ea typeface="楷体" panose="02010609060101010101" pitchFamily="49" charset="-122"/>
              </a:rPr>
              <a:t>的因子</a:t>
            </a:r>
            <a:endParaRPr lang="zh-CN" altLang="en-US" sz="2200" dirty="0">
              <a:solidFill>
                <a:srgbClr val="080808"/>
              </a:solidFill>
              <a:latin typeface="楷体" panose="02010609060101010101" pitchFamily="49" charset="-122"/>
              <a:ea typeface="楷体" panose="02010609060101010101" pitchFamily="49" charset="-122"/>
            </a:endParaRPr>
          </a:p>
        </p:txBody>
      </p:sp>
    </p:spTree>
  </p:cSld>
  <p:clrMapOvr>
    <a:masterClrMapping/>
  </p:clrMapOvr>
</p:sld>
</file>

<file path=ppt/tags/tag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4.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5.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6.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7.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8.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9.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0.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1.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2.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3.xml><?xml version="1.0" encoding="utf-8"?>
<p:tagLst xmlns:p="http://schemas.openxmlformats.org/presentationml/2006/main">
  <p:tag name="KSO_WM_DIAGRAM_VIRTUALLY_FRAME" val="{&quot;height&quot;:239.36000000000004,&quot;left&quot;:304.909842519685,&quot;top&quot;:220.93889763779526,&quot;width&quot;:366.6495275590552}"/>
</p:tagLst>
</file>

<file path=ppt/tags/tag14.xml><?xml version="1.0" encoding="utf-8"?>
<p:tagLst xmlns:p="http://schemas.openxmlformats.org/presentationml/2006/main">
  <p:tag name="KSO_WM_DIAGRAM_VIRTUALLY_FRAME" val="{&quot;height&quot;:294.65,&quot;left&quot;:161.55,&quot;top&quot;:204.1,&quot;width&quot;:419}"/>
</p:tagLst>
</file>

<file path=ppt/tags/tag15.xml><?xml version="1.0" encoding="utf-8"?>
<p:tagLst xmlns:p="http://schemas.openxmlformats.org/presentationml/2006/main">
  <p:tag name="KSO_WM_DIAGRAM_VIRTUALLY_FRAME" val="{&quot;height&quot;:294.65,&quot;left&quot;:161.55,&quot;top&quot;:204.1,&quot;width&quot;:419}"/>
</p:tagLst>
</file>

<file path=ppt/tags/tag16.xml><?xml version="1.0" encoding="utf-8"?>
<p:tagLst xmlns:p="http://schemas.openxmlformats.org/presentationml/2006/main">
  <p:tag name="KSO_WM_DIAGRAM_VIRTUALLY_FRAME" val="{&quot;height&quot;:294.65,&quot;left&quot;:161.55,&quot;top&quot;:204.1,&quot;width&quot;:419}"/>
</p:tagLst>
</file>

<file path=ppt/tags/tag17.xml><?xml version="1.0" encoding="utf-8"?>
<p:tagLst xmlns:p="http://schemas.openxmlformats.org/presentationml/2006/main">
  <p:tag name="KSO_WM_DIAGRAM_VIRTUALLY_FRAME" val="{&quot;height&quot;:294.65,&quot;left&quot;:161.55,&quot;top&quot;:204.1,&quot;width&quot;:419}"/>
</p:tagLst>
</file>

<file path=ppt/tags/tag18.xml><?xml version="1.0" encoding="utf-8"?>
<p:tagLst xmlns:p="http://schemas.openxmlformats.org/presentationml/2006/main">
  <p:tag name="KSO_WM_DIAGRAM_VIRTUALLY_FRAME" val="{&quot;height&quot;:294.65,&quot;left&quot;:161.55,&quot;top&quot;:204.1,&quot;width&quot;:419}"/>
</p:tagLst>
</file>

<file path=ppt/tags/tag19.xml><?xml version="1.0" encoding="utf-8"?>
<p:tagLst xmlns:p="http://schemas.openxmlformats.org/presentationml/2006/main">
  <p:tag name="KSO_WM_DIAGRAM_VIRTUALLY_FRAME" val="{&quot;height&quot;:294.65,&quot;left&quot;:161.55,&quot;top&quot;:204.1,&quot;width&quot;:419}"/>
</p:tagLst>
</file>

<file path=ppt/tags/tag20.xml><?xml version="1.0" encoding="utf-8"?>
<p:tagLst xmlns:p="http://schemas.openxmlformats.org/presentationml/2006/main">
  <p:tag name="KSO_WM_DIAGRAM_VIRTUALLY_FRAME" val="{&quot;height&quot;:294.65,&quot;left&quot;:161.55,&quot;top&quot;:204.1,&quot;width&quot;:419}"/>
</p:tagLst>
</file>

<file path=ppt/tags/tag21.xml><?xml version="1.0" encoding="utf-8"?>
<p:tagLst xmlns:p="http://schemas.openxmlformats.org/presentationml/2006/main">
  <p:tag name="KSO_WM_DIAGRAM_VIRTUALLY_FRAME" val="{&quot;height&quot;:294.65,&quot;left&quot;:161.55,&quot;top&quot;:204.1,&quot;width&quot;:419}"/>
</p:tagLst>
</file>

<file path=ppt/tags/tag22.xml><?xml version="1.0" encoding="utf-8"?>
<p:tagLst xmlns:p="http://schemas.openxmlformats.org/presentationml/2006/main">
  <p:tag name="KSO_WM_DIAGRAM_VIRTUALLY_FRAME" val="{&quot;height&quot;:294.65,&quot;left&quot;:161.55,&quot;top&quot;:204.1,&quot;width&quot;:419}"/>
</p:tagLst>
</file>

<file path=ppt/tags/tag23.xml><?xml version="1.0" encoding="utf-8"?>
<p:tagLst xmlns:p="http://schemas.openxmlformats.org/presentationml/2006/main">
  <p:tag name="KSO_WM_DIAGRAM_VIRTUALLY_FRAME" val="{&quot;height&quot;:294.65,&quot;left&quot;:161.55,&quot;top&quot;:204.1,&quot;width&quot;:419}"/>
</p:tagLst>
</file>

<file path=ppt/tags/tag24.xml><?xml version="1.0" encoding="utf-8"?>
<p:tagLst xmlns:p="http://schemas.openxmlformats.org/presentationml/2006/main">
  <p:tag name="KSO_WM_DIAGRAM_VIRTUALLY_FRAME" val="{&quot;height&quot;:294.65,&quot;left&quot;:161.55,&quot;top&quot;:204.1,&quot;width&quot;:419}"/>
</p:tagLst>
</file>

<file path=ppt/tags/tag25.xml><?xml version="1.0" encoding="utf-8"?>
<p:tagLst xmlns:p="http://schemas.openxmlformats.org/presentationml/2006/main">
  <p:tag name="KSO_WM_DIAGRAM_VIRTUALLY_FRAME" val="{&quot;height&quot;:294.65,&quot;left&quot;:161.55,&quot;top&quot;:204.1,&quot;width&quot;:419}"/>
</p:tagLst>
</file>

<file path=ppt/tags/tag26.xml><?xml version="1.0" encoding="utf-8"?>
<p:tagLst xmlns:p="http://schemas.openxmlformats.org/presentationml/2006/main">
  <p:tag name="KSO_WM_DIAGRAM_VIRTUALLY_FRAME" val="{&quot;height&quot;:294.65,&quot;left&quot;:161.55,&quot;top&quot;:204.1,&quot;width&quot;:419}"/>
</p:tagLst>
</file>

<file path=ppt/tags/tag27.xml><?xml version="1.0" encoding="utf-8"?>
<p:tagLst xmlns:p="http://schemas.openxmlformats.org/presentationml/2006/main">
  <p:tag name="KSO_WM_DIAGRAM_VIRTUALLY_FRAME" val="{&quot;height&quot;:294.65,&quot;left&quot;:161.55,&quot;top&quot;:204.1,&quot;width&quot;:419}"/>
</p:tagLst>
</file>

<file path=ppt/tags/tag28.xml><?xml version="1.0" encoding="utf-8"?>
<p:tagLst xmlns:p="http://schemas.openxmlformats.org/presentationml/2006/main">
  <p:tag name="KSO_WM_DIAGRAM_VIRTUALLY_FRAME" val="{&quot;height&quot;:294.65,&quot;left&quot;:161.55,&quot;top&quot;:204.1,&quot;width&quot;:419}"/>
</p:tagLst>
</file>

<file path=ppt/tags/tag29.xml><?xml version="1.0" encoding="utf-8"?>
<p:tagLst xmlns:p="http://schemas.openxmlformats.org/presentationml/2006/main">
  <p:tag name="KSO_WM_DIAGRAM_VIRTUALLY_FRAME" val="{&quot;height&quot;:294.65,&quot;left&quot;:161.55,&quot;top&quot;:204.1,&quot;width&quot;:419}"/>
</p:tagLst>
</file>

<file path=ppt/tags/tag30.xml><?xml version="1.0" encoding="utf-8"?>
<p:tagLst xmlns:p="http://schemas.openxmlformats.org/presentationml/2006/main">
  <p:tag name="KSO_WM_DIAGRAM_VIRTUALLY_FRAME" val="{&quot;height&quot;:294.65,&quot;left&quot;:161.55,&quot;top&quot;:204.1,&quot;width&quot;:419}"/>
</p:tagLst>
</file>

<file path=ppt/tags/tag31.xml><?xml version="1.0" encoding="utf-8"?>
<p:tagLst xmlns:p="http://schemas.openxmlformats.org/presentationml/2006/main">
  <p:tag name="KSO_WM_DIAGRAM_VIRTUALLY_FRAME" val="{&quot;height&quot;:294.65,&quot;left&quot;:161.55,&quot;top&quot;:204.1,&quot;width&quot;:419}"/>
</p:tagLst>
</file>

<file path=ppt/tags/tag32.xml><?xml version="1.0" encoding="utf-8"?>
<p:tagLst xmlns:p="http://schemas.openxmlformats.org/presentationml/2006/main">
  <p:tag name="KSO_WM_DIAGRAM_VIRTUALLY_FRAME" val="{&quot;height&quot;:294.65,&quot;left&quot;:161.55,&quot;top&quot;:204.1,&quot;width&quot;:419}"/>
</p:tagLst>
</file>

<file path=ppt/tags/tag33.xml><?xml version="1.0" encoding="utf-8"?>
<p:tagLst xmlns:p="http://schemas.openxmlformats.org/presentationml/2006/main">
  <p:tag name="KSO_WM_DIAGRAM_VIRTUALLY_FRAME" val="{&quot;height&quot;:294.65,&quot;left&quot;:161.55,&quot;top&quot;:204.1,&quot;width&quot;:419}"/>
</p:tagLst>
</file>

<file path=ppt/tags/tag34.xml><?xml version="1.0" encoding="utf-8"?>
<p:tagLst xmlns:p="http://schemas.openxmlformats.org/presentationml/2006/main">
  <p:tag name="KSO_WM_DIAGRAM_VIRTUALLY_FRAME" val="{&quot;height&quot;:294.65,&quot;left&quot;:161.55,&quot;top&quot;:204.1,&quot;width&quot;:419}"/>
</p:tagLst>
</file>

<file path=ppt/tags/tag35.xml><?xml version="1.0" encoding="utf-8"?>
<p:tagLst xmlns:p="http://schemas.openxmlformats.org/presentationml/2006/main">
  <p:tag name="KSO_WM_DIAGRAM_VIRTUALLY_FRAME" val="{&quot;height&quot;:294.65,&quot;left&quot;:161.55,&quot;top&quot;:204.1,&quot;width&quot;:419}"/>
</p:tagLst>
</file>

<file path=ppt/tags/tag36.xml><?xml version="1.0" encoding="utf-8"?>
<p:tagLst xmlns:p="http://schemas.openxmlformats.org/presentationml/2006/main">
  <p:tag name="KSO_WM_DIAGRAM_VIRTUALLY_FRAME" val="{&quot;height&quot;:294.65,&quot;left&quot;:161.55,&quot;top&quot;:204.1,&quot;width&quot;:419}"/>
</p:tagLst>
</file>

<file path=ppt/tags/tag37.xml><?xml version="1.0" encoding="utf-8"?>
<p:tagLst xmlns:p="http://schemas.openxmlformats.org/presentationml/2006/main">
  <p:tag name="KSO_WM_DIAGRAM_VIRTUALLY_FRAME" val="{&quot;height&quot;:294.65,&quot;left&quot;:161.55,&quot;top&quot;:204.1,&quot;width&quot;:419}"/>
</p:tagLst>
</file>

<file path=ppt/tags/tag38.xml><?xml version="1.0" encoding="utf-8"?>
<p:tagLst xmlns:p="http://schemas.openxmlformats.org/presentationml/2006/main">
  <p:tag name="KSO_WM_DIAGRAM_VIRTUALLY_FRAME" val="{&quot;height&quot;:294.65,&quot;left&quot;:161.55,&quot;top&quot;:204.1,&quot;width&quot;:419}"/>
</p:tagLst>
</file>

<file path=ppt/tags/tag39.xml><?xml version="1.0" encoding="utf-8"?>
<p:tagLst xmlns:p="http://schemas.openxmlformats.org/presentationml/2006/main">
  <p:tag name="KSO_WM_DIAGRAM_VIRTUALLY_FRAME" val="{&quot;height&quot;:294.65,&quot;left&quot;:161.55,&quot;top&quot;:204.1,&quot;width&quot;:419}"/>
</p:tagLst>
</file>

<file path=ppt/tags/tag40.xml><?xml version="1.0" encoding="utf-8"?>
<p:tagLst xmlns:p="http://schemas.openxmlformats.org/presentationml/2006/main">
  <p:tag name="KSO_WM_DIAGRAM_VIRTUALLY_FRAME" val="{&quot;height&quot;:294.65,&quot;left&quot;:161.55,&quot;top&quot;:204.1,&quot;width&quot;:419}"/>
</p:tagLst>
</file>

<file path=ppt/tags/tag41.xml><?xml version="1.0" encoding="utf-8"?>
<p:tagLst xmlns:p="http://schemas.openxmlformats.org/presentationml/2006/main">
  <p:tag name="KSO_WM_DIAGRAM_VIRTUALLY_FRAME" val="{&quot;height&quot;:294.65,&quot;left&quot;:161.55,&quot;top&quot;:204.1,&quot;width&quot;:419}"/>
</p:tagLst>
</file>

<file path=ppt/tags/tag42.xml><?xml version="1.0" encoding="utf-8"?>
<p:tagLst xmlns:p="http://schemas.openxmlformats.org/presentationml/2006/main">
  <p:tag name="KSO_WM_DIAGRAM_VIRTUALLY_FRAME" val="{&quot;height&quot;:294.65,&quot;left&quot;:161.55,&quot;top&quot;:204.1,&quot;width&quot;:419}"/>
</p:tagLst>
</file>

<file path=ppt/tags/tag43.xml><?xml version="1.0" encoding="utf-8"?>
<p:tagLst xmlns:p="http://schemas.openxmlformats.org/presentationml/2006/main">
  <p:tag name="KSO_WM_DIAGRAM_VIRTUALLY_FRAME" val="{&quot;height&quot;:294.65,&quot;left&quot;:161.55,&quot;top&quot;:204.1,&quot;width&quot;:419}"/>
</p:tagLst>
</file>

<file path=ppt/tags/tag44.xml><?xml version="1.0" encoding="utf-8"?>
<p:tagLst xmlns:p="http://schemas.openxmlformats.org/presentationml/2006/main">
  <p:tag name="KSO_WM_DIAGRAM_VIRTUALLY_FRAME" val="{&quot;height&quot;:294.65,&quot;left&quot;:161.55,&quot;top&quot;:204.1,&quot;width&quot;:419}"/>
</p:tagLst>
</file>

<file path=ppt/tags/tag45.xml><?xml version="1.0" encoding="utf-8"?>
<p:tagLst xmlns:p="http://schemas.openxmlformats.org/presentationml/2006/main">
  <p:tag name="KSO_WM_DIAGRAM_VIRTUALLY_FRAME" val="{&quot;height&quot;:294.65,&quot;left&quot;:161.55,&quot;top&quot;:204.1,&quot;width&quot;:419}"/>
</p:tagLst>
</file>

<file path=ppt/tags/tag46.xml><?xml version="1.0" encoding="utf-8"?>
<p:tagLst xmlns:p="http://schemas.openxmlformats.org/presentationml/2006/main">
  <p:tag name="KSO_WM_DIAGRAM_VIRTUALLY_FRAME" val="{&quot;height&quot;:294.65,&quot;left&quot;:161.55,&quot;top&quot;:204.1,&quot;width&quot;:419}"/>
</p:tagLst>
</file>

<file path=ppt/tags/tag47.xml><?xml version="1.0" encoding="utf-8"?>
<p:tagLst xmlns:p="http://schemas.openxmlformats.org/presentationml/2006/main">
  <p:tag name="KSO_WM_DIAGRAM_VIRTUALLY_FRAME" val="{&quot;height&quot;:294.65,&quot;left&quot;:161.55,&quot;top&quot;:204.1,&quot;width&quot;:419}"/>
</p:tagLst>
</file>

<file path=ppt/tags/tag48.xml><?xml version="1.0" encoding="utf-8"?>
<p:tagLst xmlns:p="http://schemas.openxmlformats.org/presentationml/2006/main">
  <p:tag name="KSO_WM_DIAGRAM_VIRTUALLY_FRAME" val="{&quot;height&quot;:294.65,&quot;left&quot;:161.55,&quot;top&quot;:204.1,&quot;width&quot;:419}"/>
</p:tagLst>
</file>

<file path=ppt/tags/tag49.xml><?xml version="1.0" encoding="utf-8"?>
<p:tagLst xmlns:p="http://schemas.openxmlformats.org/presentationml/2006/main">
  <p:tag name="KSO_WM_DIAGRAM_VIRTUALLY_FRAME" val="{&quot;height&quot;:294.65,&quot;left&quot;:161.55,&quot;top&quot;:204.1,&quot;width&quot;:419}"/>
</p:tagLst>
</file>

<file path=ppt/tags/tag50.xml><?xml version="1.0" encoding="utf-8"?>
<p:tagLst xmlns:p="http://schemas.openxmlformats.org/presentationml/2006/main">
  <p:tag name="KSO_WM_DIAGRAM_VIRTUALLY_FRAME" val="{&quot;height&quot;:294.65,&quot;left&quot;:161.55,&quot;top&quot;:204.1,&quot;width&quot;:419}"/>
</p:tagLst>
</file>

<file path=ppt/tags/tag51.xml><?xml version="1.0" encoding="utf-8"?>
<p:tagLst xmlns:p="http://schemas.openxmlformats.org/presentationml/2006/main">
  <p:tag name="KSO_WM_DIAGRAM_VIRTUALLY_FRAME" val="{&quot;height&quot;:294.65,&quot;left&quot;:161.55,&quot;top&quot;:204.1,&quot;width&quot;:419}"/>
</p:tagLst>
</file>

<file path=ppt/tags/tag52.xml><?xml version="1.0" encoding="utf-8"?>
<p:tagLst xmlns:p="http://schemas.openxmlformats.org/presentationml/2006/main">
  <p:tag name="KSO_WM_DIAGRAM_VIRTUALLY_FRAME" val="{&quot;height&quot;:294.65,&quot;left&quot;:161.55,&quot;top&quot;:204.1,&quot;width&quot;:419}"/>
</p:tagLst>
</file>

<file path=ppt/tags/tag53.xml><?xml version="1.0" encoding="utf-8"?>
<p:tagLst xmlns:p="http://schemas.openxmlformats.org/presentationml/2006/main">
  <p:tag name="KSO_WM_DIAGRAM_VIRTUALLY_FRAME" val="{&quot;height&quot;:294.65,&quot;left&quot;:161.55,&quot;top&quot;:204.1,&quot;width&quot;:419}"/>
</p:tagLst>
</file>

<file path=ppt/tags/tag54.xml><?xml version="1.0" encoding="utf-8"?>
<p:tagLst xmlns:p="http://schemas.openxmlformats.org/presentationml/2006/main">
  <p:tag name="KSO_WM_DIAGRAM_VIRTUALLY_FRAME" val="{&quot;height&quot;:294.65,&quot;left&quot;:161.55,&quot;top&quot;:204.1,&quot;width&quot;:419}"/>
</p:tagLst>
</file>

<file path=ppt/tags/tag55.xml><?xml version="1.0" encoding="utf-8"?>
<p:tagLst xmlns:p="http://schemas.openxmlformats.org/presentationml/2006/main">
  <p:tag name="KSO_WM_DIAGRAM_VIRTUALLY_FRAME" val="{&quot;height&quot;:294.65,&quot;left&quot;:161.55,&quot;top&quot;:204.1,&quot;width&quot;:419}"/>
</p:tagLst>
</file>

<file path=ppt/tags/tag56.xml><?xml version="1.0" encoding="utf-8"?>
<p:tagLst xmlns:p="http://schemas.openxmlformats.org/presentationml/2006/main">
  <p:tag name="KSO_WM_DIAGRAM_VIRTUALLY_FRAME" val="{&quot;height&quot;:294.65,&quot;left&quot;:161.55,&quot;top&quot;:204.1,&quot;width&quot;:419}"/>
</p:tagLst>
</file>

<file path=ppt/tags/tag57.xml><?xml version="1.0" encoding="utf-8"?>
<p:tagLst xmlns:p="http://schemas.openxmlformats.org/presentationml/2006/main">
  <p:tag name="KSO_WM_DIAGRAM_VIRTUALLY_FRAME" val="{&quot;height&quot;:294.65,&quot;left&quot;:161.55,&quot;top&quot;:204.1,&quot;width&quot;:419}"/>
</p:tagLst>
</file>

<file path=ppt/tags/tag58.xml><?xml version="1.0" encoding="utf-8"?>
<p:tagLst xmlns:p="http://schemas.openxmlformats.org/presentationml/2006/main">
  <p:tag name="KSO_WM_DIAGRAM_VIRTUALLY_FRAME" val="{&quot;height&quot;:294.65,&quot;left&quot;:161.55,&quot;top&quot;:204.1,&quot;width&quot;:419}"/>
</p:tagLst>
</file>

<file path=ppt/tags/tag59.xml><?xml version="1.0" encoding="utf-8"?>
<p:tagLst xmlns:p="http://schemas.openxmlformats.org/presentationml/2006/main">
  <p:tag name="KSO_WM_DIAGRAM_VIRTUALLY_FRAME" val="{&quot;height&quot;:294.65,&quot;left&quot;:161.55,&quot;top&quot;:204.1,&quot;width&quot;:419}"/>
</p:tagLst>
</file>

<file path=ppt/tags/tag60.xml><?xml version="1.0" encoding="utf-8"?>
<p:tagLst xmlns:p="http://schemas.openxmlformats.org/presentationml/2006/main">
  <p:tag name="KSO_WM_DIAGRAM_VIRTUALLY_FRAME" val="{&quot;height&quot;:294.65,&quot;left&quot;:161.55,&quot;top&quot;:204.1,&quot;width&quot;:419}"/>
</p:tagLst>
</file>

<file path=ppt/tags/tag61.xml><?xml version="1.0" encoding="utf-8"?>
<p:tagLst xmlns:p="http://schemas.openxmlformats.org/presentationml/2006/main">
  <p:tag name="KSO_WM_DIAGRAM_VIRTUALLY_FRAME" val="{&quot;height&quot;:294.65,&quot;left&quot;:161.55,&quot;top&quot;:204.1,&quot;width&quot;:419}"/>
</p:tagLst>
</file>

<file path=ppt/tags/tag62.xml><?xml version="1.0" encoding="utf-8"?>
<p:tagLst xmlns:p="http://schemas.openxmlformats.org/presentationml/2006/main">
  <p:tag name="KSO_WM_DIAGRAM_VIRTUALLY_FRAME" val="{&quot;height&quot;:294.65,&quot;left&quot;:161.55,&quot;top&quot;:204.1,&quot;width&quot;:419}"/>
</p:tagLst>
</file>

<file path=ppt/tags/tag63.xml><?xml version="1.0" encoding="utf-8"?>
<p:tagLst xmlns:p="http://schemas.openxmlformats.org/presentationml/2006/main">
  <p:tag name="KSO_WM_DIAGRAM_VIRTUALLY_FRAME" val="{&quot;height&quot;:294.65,&quot;left&quot;:161.55,&quot;top&quot;:204.1,&quot;width&quot;:419}"/>
</p:tagLst>
</file>

<file path=ppt/tags/tag64.xml><?xml version="1.0" encoding="utf-8"?>
<p:tagLst xmlns:p="http://schemas.openxmlformats.org/presentationml/2006/main">
  <p:tag name="KSO_WM_DIAGRAM_VIRTUALLY_FRAME" val="{&quot;height&quot;:294.65,&quot;left&quot;:161.55,&quot;top&quot;:204.1,&quot;width&quot;:419}"/>
</p:tagLst>
</file>

<file path=ppt/tags/tag65.xml><?xml version="1.0" encoding="utf-8"?>
<p:tagLst xmlns:p="http://schemas.openxmlformats.org/presentationml/2006/main">
  <p:tag name="KSO_WM_DIAGRAM_VIRTUALLY_FRAME" val="{&quot;height&quot;:294.65,&quot;left&quot;:161.55,&quot;top&quot;:204.1,&quot;width&quot;:419}"/>
</p:tagLst>
</file>

<file path=ppt/tags/tag66.xml><?xml version="1.0" encoding="utf-8"?>
<p:tagLst xmlns:p="http://schemas.openxmlformats.org/presentationml/2006/main">
  <p:tag name="KSO_WM_DIAGRAM_VIRTUALLY_FRAME" val="{&quot;height&quot;:294.65,&quot;left&quot;:161.55,&quot;top&quot;:204.1,&quot;width&quot;:419}"/>
</p:tagLst>
</file>

<file path=ppt/tags/tag67.xml><?xml version="1.0" encoding="utf-8"?>
<p:tagLst xmlns:p="http://schemas.openxmlformats.org/presentationml/2006/main">
  <p:tag name="KSO_WM_DIAGRAM_VIRTUALLY_FRAME" val="{&quot;height&quot;:294.65,&quot;left&quot;:161.55,&quot;top&quot;:204.1,&quot;width&quot;:419}"/>
</p:tagLst>
</file>

<file path=ppt/tags/tag68.xml><?xml version="1.0" encoding="utf-8"?>
<p:tagLst xmlns:p="http://schemas.openxmlformats.org/presentationml/2006/main">
  <p:tag name="KSO_WM_DIAGRAM_VIRTUALLY_FRAME" val="{&quot;height&quot;:294.65,&quot;left&quot;:161.55,&quot;top&quot;:204.1,&quot;width&quot;:419}"/>
</p:tagLst>
</file>

<file path=ppt/tags/tag69.xml><?xml version="1.0" encoding="utf-8"?>
<p:tagLst xmlns:p="http://schemas.openxmlformats.org/presentationml/2006/main">
  <p:tag name="KSO_WM_DIAGRAM_VIRTUALLY_FRAME" val="{&quot;height&quot;:294.65,&quot;left&quot;:161.55,&quot;top&quot;:204.1,&quot;width&quot;:419}"/>
</p:tagLst>
</file>

<file path=ppt/tags/tag70.xml><?xml version="1.0" encoding="utf-8"?>
<p:tagLst xmlns:p="http://schemas.openxmlformats.org/presentationml/2006/main">
  <p:tag name="KSO_WM_DIAGRAM_VIRTUALLY_FRAME" val="{&quot;height&quot;:294.65,&quot;left&quot;:161.55,&quot;top&quot;:204.1,&quot;width&quot;:419}"/>
</p:tagLst>
</file>

<file path=ppt/tags/tag71.xml><?xml version="1.0" encoding="utf-8"?>
<p:tagLst xmlns:p="http://schemas.openxmlformats.org/presentationml/2006/main">
  <p:tag name="KSO_WM_DIAGRAM_VIRTUALLY_FRAME" val="{&quot;height&quot;:294.65,&quot;left&quot;:161.55,&quot;top&quot;:204.1,&quot;width&quot;:419}"/>
</p:tagLst>
</file>

<file path=ppt/tags/tag72.xml><?xml version="1.0" encoding="utf-8"?>
<p:tagLst xmlns:p="http://schemas.openxmlformats.org/presentationml/2006/main">
  <p:tag name="KSO_WM_DIAGRAM_VIRTUALLY_FRAME" val="{&quot;height&quot;:294.65,&quot;left&quot;:161.55,&quot;top&quot;:204.1,&quot;width&quot;:419}"/>
</p:tagLst>
</file>

<file path=ppt/tags/tag73.xml><?xml version="1.0" encoding="utf-8"?>
<p:tagLst xmlns:p="http://schemas.openxmlformats.org/presentationml/2006/main">
  <p:tag name="KSO_WM_DIAGRAM_VIRTUALLY_FRAME" val="{&quot;height&quot;:294.65,&quot;left&quot;:161.55,&quot;top&quot;:204.1,&quot;width&quot;:419}"/>
</p:tagLst>
</file>

<file path=ppt/theme/theme1.xml><?xml version="1.0" encoding="utf-8"?>
<a:theme xmlns:a="http://schemas.openxmlformats.org/drawingml/2006/main" name="第一PPT：www.1ppt.com">
  <a:themeElements>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fontScheme name="演示设计">
      <a:majorFont>
        <a:latin typeface="Arial"/>
        <a:ea typeface="华文细黑"/>
        <a:cs typeface=""/>
      </a:majorFont>
      <a:minorFont>
        <a:latin typeface="Arial"/>
        <a:ea typeface="华文细黑"/>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spPr>
      <a:bodyPr vert="horz" wrap="square" lIns="91440" tIns="45720" rIns="91440" bIns="45720" numCol="1" anchor="t" anchorCtr="0" compatLnSpc="1"/>
      <a:lstStyle>
        <a:defPPr marL="0" marR="0" indent="0" algn="l" defTabSz="914400" rtl="0" eaLnBrk="1" fontAlgn="base" latinLnBrk="0" hangingPunct="1">
          <a:lnSpc>
            <a:spcPct val="100000"/>
          </a:lnSpc>
          <a:spcBef>
            <a:spcPct val="0"/>
          </a:spcBef>
          <a:spcAft>
            <a:spcPct val="0"/>
          </a:spcAft>
          <a:buClrTx/>
          <a:buSzTx/>
          <a:buFontTx/>
          <a:buNone/>
          <a:defRPr kumimoji="0" lang="zh-CN" sz="1800" b="0" i="1" u="none" strike="noStrike" cap="none" normalizeH="0" baseline="0" smtClean="0">
            <a:ln>
              <a:noFill/>
            </a:ln>
            <a:solidFill>
              <a:schemeClr val="tx1"/>
            </a:solidFill>
            <a:effectLst/>
            <a:latin typeface="Arial" panose="020B0604020202020204" pitchFamily="34" charset="0"/>
            <a:ea typeface="华文细黑" panose="02010600040101010101" pitchFamily="2" charset="-122"/>
          </a:defRPr>
        </a:defPPr>
      </a:lstStyle>
    </a:lnDef>
  </a:objectDefaults>
  <a:extraClrSchemeLst>
    <a:extraClrScheme>
      <a:clrScheme name="演示设计 1">
        <a:dk1>
          <a:srgbClr val="000000"/>
        </a:dk1>
        <a:lt1>
          <a:srgbClr val="FFFFFF"/>
        </a:lt1>
        <a:dk2>
          <a:srgbClr val="000000"/>
        </a:dk2>
        <a:lt2>
          <a:srgbClr val="808080"/>
        </a:lt2>
        <a:accent1>
          <a:srgbClr val="FFCC00"/>
        </a:accent1>
        <a:accent2>
          <a:srgbClr val="FF9933"/>
        </a:accent2>
        <a:accent3>
          <a:srgbClr val="FFFFFF"/>
        </a:accent3>
        <a:accent4>
          <a:srgbClr val="000000"/>
        </a:accent4>
        <a:accent5>
          <a:srgbClr val="FFE2AA"/>
        </a:accent5>
        <a:accent6>
          <a:srgbClr val="E78A2D"/>
        </a:accent6>
        <a:hlink>
          <a:srgbClr val="463900"/>
        </a:hlink>
        <a:folHlink>
          <a:srgbClr val="FFE67D"/>
        </a:folHlink>
      </a:clrScheme>
      <a:clrMap bg1="lt1" tx1="dk1" bg2="lt2" tx2="dk2" accent1="accent1" accent2="accent2" accent3="accent3" accent4="accent4" accent5="accent5" accent6="accent6" hlink="hlink" folHlink="folHlink"/>
    </a:extraClrScheme>
    <a:extraClrScheme>
      <a:clrScheme name="演示设计 2">
        <a:dk1>
          <a:srgbClr val="000000"/>
        </a:dk1>
        <a:lt1>
          <a:srgbClr val="FFFFFF"/>
        </a:lt1>
        <a:dk2>
          <a:srgbClr val="000000"/>
        </a:dk2>
        <a:lt2>
          <a:srgbClr val="808080"/>
        </a:lt2>
        <a:accent1>
          <a:srgbClr val="FF9021"/>
        </a:accent1>
        <a:accent2>
          <a:srgbClr val="DA5800"/>
        </a:accent2>
        <a:accent3>
          <a:srgbClr val="FFFFFF"/>
        </a:accent3>
        <a:accent4>
          <a:srgbClr val="000000"/>
        </a:accent4>
        <a:accent5>
          <a:srgbClr val="FFC6AB"/>
        </a:accent5>
        <a:accent6>
          <a:srgbClr val="C54F00"/>
        </a:accent6>
        <a:hlink>
          <a:srgbClr val="963D00"/>
        </a:hlink>
        <a:folHlink>
          <a:srgbClr val="FFAD5B"/>
        </a:folHlink>
      </a:clrScheme>
      <a:clrMap bg1="lt1" tx1="dk1" bg2="lt2" tx2="dk2" accent1="accent1" accent2="accent2" accent3="accent3" accent4="accent4" accent5="accent5" accent6="accent6" hlink="hlink" folHlink="folHlink"/>
    </a:extraClrScheme>
    <a:extraClrScheme>
      <a:clrScheme name="演示设计 3">
        <a:dk1>
          <a:srgbClr val="000000"/>
        </a:dk1>
        <a:lt1>
          <a:srgbClr val="FFFFFF"/>
        </a:lt1>
        <a:dk2>
          <a:srgbClr val="000000"/>
        </a:dk2>
        <a:lt2>
          <a:srgbClr val="C0C0C0"/>
        </a:lt2>
        <a:accent1>
          <a:srgbClr val="5B8CC1"/>
        </a:accent1>
        <a:accent2>
          <a:srgbClr val="2A5682"/>
        </a:accent2>
        <a:accent3>
          <a:srgbClr val="FFFFFF"/>
        </a:accent3>
        <a:accent4>
          <a:srgbClr val="000000"/>
        </a:accent4>
        <a:accent5>
          <a:srgbClr val="B5C5DD"/>
        </a:accent5>
        <a:accent6>
          <a:srgbClr val="254D75"/>
        </a:accent6>
        <a:hlink>
          <a:srgbClr val="002850"/>
        </a:hlink>
        <a:folHlink>
          <a:srgbClr val="2A94FE"/>
        </a:folHlink>
      </a:clrScheme>
      <a:clrMap bg1="lt1" tx1="dk1" bg2="lt2" tx2="dk2" accent1="accent1" accent2="accent2" accent3="accent3" accent4="accent4" accent5="accent5" accent6="accent6" hlink="hlink" folHlink="folHlink"/>
    </a:extraClrScheme>
    <a:extraClrScheme>
      <a:clrScheme name="演示设计 4">
        <a:dk1>
          <a:srgbClr val="000000"/>
        </a:dk1>
        <a:lt1>
          <a:srgbClr val="FFFFFF"/>
        </a:lt1>
        <a:dk2>
          <a:srgbClr val="000000"/>
        </a:dk2>
        <a:lt2>
          <a:srgbClr val="C0C0C0"/>
        </a:lt2>
        <a:accent1>
          <a:srgbClr val="B2B2B2"/>
        </a:accent1>
        <a:accent2>
          <a:srgbClr val="5F5F5F"/>
        </a:accent2>
        <a:accent3>
          <a:srgbClr val="FFFFFF"/>
        </a:accent3>
        <a:accent4>
          <a:srgbClr val="000000"/>
        </a:accent4>
        <a:accent5>
          <a:srgbClr val="D5D5D5"/>
        </a:accent5>
        <a:accent6>
          <a:srgbClr val="555555"/>
        </a:accent6>
        <a:hlink>
          <a:srgbClr val="1C1C1C"/>
        </a:hlink>
        <a:folHlink>
          <a:srgbClr val="C0C0C0"/>
        </a:folHlink>
      </a:clrScheme>
      <a:clrMap bg1="lt1" tx1="dk1" bg2="lt2" tx2="dk2" accent1="accent1" accent2="accent2" accent3="accent3" accent4="accent4" accent5="accent5" accent6="accent6" hlink="hlink" folHlink="folHlink"/>
    </a:extraClrScheme>
    <a:extraClrScheme>
      <a:clrScheme name="演示设计 5">
        <a:dk1>
          <a:srgbClr val="000000"/>
        </a:dk1>
        <a:lt1>
          <a:srgbClr val="FFFFFF"/>
        </a:lt1>
        <a:dk2>
          <a:srgbClr val="000000"/>
        </a:dk2>
        <a:lt2>
          <a:srgbClr val="B2B2B2"/>
        </a:lt2>
        <a:accent1>
          <a:srgbClr val="BF59B8"/>
        </a:accent1>
        <a:accent2>
          <a:srgbClr val="884183"/>
        </a:accent2>
        <a:accent3>
          <a:srgbClr val="FFFFFF"/>
        </a:accent3>
        <a:accent4>
          <a:srgbClr val="000000"/>
        </a:accent4>
        <a:accent5>
          <a:srgbClr val="DCB5D8"/>
        </a:accent5>
        <a:accent6>
          <a:srgbClr val="7B3A76"/>
        </a:accent6>
        <a:hlink>
          <a:srgbClr val="371535"/>
        </a:hlink>
        <a:folHlink>
          <a:srgbClr val="C468BD"/>
        </a:folHlink>
      </a:clrScheme>
      <a:clrMap bg1="lt1" tx1="dk1" bg2="lt2" tx2="dk2" accent1="accent1" accent2="accent2" accent3="accent3" accent4="accent4" accent5="accent5" accent6="accent6" hlink="hlink" folHlink="folHlink"/>
    </a:extraClrScheme>
    <a:extraClrScheme>
      <a:clrScheme name="演示设计 6">
        <a:dk1>
          <a:srgbClr val="000000"/>
        </a:dk1>
        <a:lt1>
          <a:srgbClr val="FFFFFF"/>
        </a:lt1>
        <a:dk2>
          <a:srgbClr val="000000"/>
        </a:dk2>
        <a:lt2>
          <a:srgbClr val="B2B2B2"/>
        </a:lt2>
        <a:accent1>
          <a:srgbClr val="FF0517"/>
        </a:accent1>
        <a:accent2>
          <a:srgbClr val="BC000D"/>
        </a:accent2>
        <a:accent3>
          <a:srgbClr val="FFFFFF"/>
        </a:accent3>
        <a:accent4>
          <a:srgbClr val="000000"/>
        </a:accent4>
        <a:accent5>
          <a:srgbClr val="FFAAAB"/>
        </a:accent5>
        <a:accent6>
          <a:srgbClr val="AA000B"/>
        </a:accent6>
        <a:hlink>
          <a:srgbClr val="3A0004"/>
        </a:hlink>
        <a:folHlink>
          <a:srgbClr val="FF3B3B"/>
        </a:folHlink>
      </a:clrScheme>
      <a:clrMap bg1="lt1" tx1="dk1" bg2="lt2" tx2="dk2" accent1="accent1" accent2="accent2" accent3="accent3" accent4="accent4" accent5="accent5" accent6="accent6" hlink="hlink" folHlink="folHlink"/>
    </a:extraClrScheme>
    <a:extraClrScheme>
      <a:clrScheme name="演示设计 7">
        <a:dk1>
          <a:srgbClr val="000000"/>
        </a:dk1>
        <a:lt1>
          <a:srgbClr val="FFFFFF"/>
        </a:lt1>
        <a:dk2>
          <a:srgbClr val="000000"/>
        </a:dk2>
        <a:lt2>
          <a:srgbClr val="C0C0C0"/>
        </a:lt2>
        <a:accent1>
          <a:srgbClr val="DFE0BE"/>
        </a:accent1>
        <a:accent2>
          <a:srgbClr val="D1D46B"/>
        </a:accent2>
        <a:accent3>
          <a:srgbClr val="FFFFFF"/>
        </a:accent3>
        <a:accent4>
          <a:srgbClr val="000000"/>
        </a:accent4>
        <a:accent5>
          <a:srgbClr val="ECEDDB"/>
        </a:accent5>
        <a:accent6>
          <a:srgbClr val="BDC060"/>
        </a:accent6>
        <a:hlink>
          <a:srgbClr val="3A3B11"/>
        </a:hlink>
        <a:folHlink>
          <a:srgbClr val="DDDF91"/>
        </a:folHlink>
      </a:clrScheme>
      <a:clrMap bg1="lt1" tx1="dk1" bg2="lt2" tx2="dk2" accent1="accent1" accent2="accent2" accent3="accent3" accent4="accent4" accent5="accent5" accent6="accent6" hlink="hlink" folHlink="folHlink"/>
    </a:extraClrScheme>
    <a:extraClrScheme>
      <a:clrScheme name="演示设计 8">
        <a:dk1>
          <a:srgbClr val="000000"/>
        </a:dk1>
        <a:lt1>
          <a:srgbClr val="FFFFFF"/>
        </a:lt1>
        <a:dk2>
          <a:srgbClr val="000000"/>
        </a:dk2>
        <a:lt2>
          <a:srgbClr val="C0C0C0"/>
        </a:lt2>
        <a:accent1>
          <a:srgbClr val="6FC01E"/>
        </a:accent1>
        <a:accent2>
          <a:srgbClr val="4F7913"/>
        </a:accent2>
        <a:accent3>
          <a:srgbClr val="FFFFFF"/>
        </a:accent3>
        <a:accent4>
          <a:srgbClr val="000000"/>
        </a:accent4>
        <a:accent5>
          <a:srgbClr val="BBDCAB"/>
        </a:accent5>
        <a:accent6>
          <a:srgbClr val="476D10"/>
        </a:accent6>
        <a:hlink>
          <a:srgbClr val="26420A"/>
        </a:hlink>
        <a:folHlink>
          <a:srgbClr val="7BD520"/>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9553</Words>
  <Application>WPS 演示</Application>
  <PresentationFormat>全屏显示(4:3)</PresentationFormat>
  <Paragraphs>1148</Paragraphs>
  <Slides>51</Slides>
  <Notes>14</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51</vt:i4>
      </vt:variant>
    </vt:vector>
  </HeadingPairs>
  <TitlesOfParts>
    <vt:vector size="71" baseType="lpstr">
      <vt:lpstr>Arial</vt:lpstr>
      <vt:lpstr>宋体</vt:lpstr>
      <vt:lpstr>Wingdings</vt:lpstr>
      <vt:lpstr>华文细黑</vt:lpstr>
      <vt:lpstr>MS UI Gothic</vt:lpstr>
      <vt:lpstr>Calibri</vt:lpstr>
      <vt:lpstr>Verdana</vt:lpstr>
      <vt:lpstr>方正正大黑简体</vt:lpstr>
      <vt:lpstr>黑体</vt:lpstr>
      <vt:lpstr>Times New Roman</vt:lpstr>
      <vt:lpstr>微软雅黑</vt:lpstr>
      <vt:lpstr>隶书</vt:lpstr>
      <vt:lpstr>Tahoma</vt:lpstr>
      <vt:lpstr>Arial Unicode MS</vt:lpstr>
      <vt:lpstr>-apple-system</vt:lpstr>
      <vt:lpstr>Segoe Print</vt:lpstr>
      <vt:lpstr>楷体</vt:lpstr>
      <vt:lpstr>Cambria</vt:lpstr>
      <vt:lpstr>Be Happy</vt:lpstr>
      <vt:lpstr>第一PPT：www.1ppt.com</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第一PPT模板网：www.1ppt.com</dc:title>
  <dc:creator>第一PPT模板网：www.1ppt.com</dc:creator>
  <cp:lastModifiedBy>时间矿泉水</cp:lastModifiedBy>
  <cp:revision>419</cp:revision>
  <dcterms:created xsi:type="dcterms:W3CDTF">2010-09-23T08:30:00Z</dcterms:created>
  <dcterms:modified xsi:type="dcterms:W3CDTF">2025-11-20T16:10:03Z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模板">
    <vt:lpwstr>www.1ppt.com</vt:lpwstr>
  </property>
  <property fmtid="{D5CDD505-2E9C-101B-9397-08002B2CF9AE}" pid="3" name="ICV">
    <vt:lpwstr>0E8E802CEE794820AF70A8C9AFC251F8_12</vt:lpwstr>
  </property>
  <property fmtid="{D5CDD505-2E9C-101B-9397-08002B2CF9AE}" pid="4" name="KSOProductBuildVer">
    <vt:lpwstr>2052-12.1.0.23542</vt:lpwstr>
  </property>
</Properties>
</file>