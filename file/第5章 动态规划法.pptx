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349" r:id="rId5"/>
    <p:sldId id="257" r:id="rId6"/>
    <p:sldId id="356" r:id="rId7"/>
    <p:sldId id="350" r:id="rId8"/>
    <p:sldId id="351"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94" userDrawn="1">
          <p15:clr>
            <a:srgbClr val="A4A3A4"/>
          </p15:clr>
        </p15:guide>
        <p15:guide id="2" pos="28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094"/>
        <p:guide pos="281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a:t>
            </a:r>
            <a:r>
              <a:rPr lang="zh-CN" altLang="en-US"/>
              <a:t>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6.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9.png"/><Relationship Id="rId16" Type="http://schemas.openxmlformats.org/officeDocument/2006/relationships/tags" Target="../tags/tag13.xml"/><Relationship Id="rId15" Type="http://schemas.openxmlformats.org/officeDocument/2006/relationships/image" Target="../media/image8.png"/><Relationship Id="rId14" Type="http://schemas.openxmlformats.org/officeDocument/2006/relationships/tags" Target="../tags/tag12.xml"/><Relationship Id="rId13" Type="http://schemas.openxmlformats.org/officeDocument/2006/relationships/image" Target="../media/image7.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①明白什么</a:t>
            </a:r>
            <a:r>
              <a:rPr lang="zh-CN" altLang="en-US">
                <a:solidFill>
                  <a:srgbClr val="FF0000"/>
                </a:solidFill>
              </a:rPr>
              <a:t>是重复</a:t>
            </a:r>
            <a:r>
              <a:rPr lang="zh-CN" altLang="en-US">
                <a:solidFill>
                  <a:srgbClr val="FF0000"/>
                </a:solidFill>
              </a:rPr>
              <a:t>子问题</a:t>
            </a:r>
            <a:endParaRPr lang="zh-CN" altLang="en-US">
              <a:solidFill>
                <a:srgbClr val="FF0000"/>
              </a:solidFill>
            </a:endParaRPr>
          </a:p>
          <a:p>
            <a:r>
              <a:rPr lang="zh-CN" altLang="en-US">
                <a:solidFill>
                  <a:srgbClr val="FF0000"/>
                </a:solidFill>
              </a:rPr>
              <a:t>②明白什么是最优子</a:t>
            </a:r>
            <a:r>
              <a:rPr lang="zh-CN" altLang="en-US">
                <a:solidFill>
                  <a:srgbClr val="FF0000"/>
                </a:solidFill>
              </a:rPr>
              <a:t>结构</a:t>
            </a:r>
            <a:endParaRPr lang="zh-CN" altLang="en-US">
              <a:solidFill>
                <a:srgbClr val="FF0000"/>
              </a:solidFill>
            </a:endParaRPr>
          </a:p>
          <a:p>
            <a:r>
              <a:rPr lang="zh-CN" altLang="en-US">
                <a:solidFill>
                  <a:srgbClr val="FF0000"/>
                </a:solidFill>
              </a:rPr>
              <a:t>③明白动态规划的状态转移方程和状态表（</a:t>
            </a:r>
            <a:r>
              <a:rPr lang="zh-CN" altLang="en-US">
                <a:solidFill>
                  <a:srgbClr val="FF0000"/>
                </a:solidFill>
              </a:rPr>
              <a:t>决策表）是</a:t>
            </a:r>
            <a:r>
              <a:rPr lang="zh-CN" altLang="en-US">
                <a:solidFill>
                  <a:srgbClr val="FF0000"/>
                </a:solidFill>
              </a:rPr>
              <a:t>什么</a:t>
            </a:r>
            <a:endParaRPr lang="zh-CN" altLang="en-US">
              <a:solidFill>
                <a:srgbClr val="FF0000"/>
              </a:solidFill>
            </a:endParaRPr>
          </a:p>
          <a:p>
            <a:r>
              <a:rPr lang="zh-CN" altLang="en-US">
                <a:solidFill>
                  <a:srgbClr val="FF0000"/>
                </a:solidFill>
              </a:rPr>
              <a:t>④分清动态规划与分治法的</a:t>
            </a:r>
            <a:r>
              <a:rPr lang="zh-CN" altLang="en-US">
                <a:solidFill>
                  <a:srgbClr val="FF0000"/>
                </a:solidFill>
              </a:rPr>
              <a:t>区别</a:t>
            </a:r>
            <a:endParaRPr lang="zh-CN" altLang="en-US">
              <a:solidFill>
                <a:srgbClr val="FF0000"/>
              </a:solidFill>
            </a:endParaRPr>
          </a:p>
          <a:p>
            <a:r>
              <a:rPr lang="zh-CN" altLang="en-US">
                <a:solidFill>
                  <a:srgbClr val="FF0000"/>
                </a:solidFill>
              </a:rPr>
              <a:t>⑤分清动态规划与贪心算法的</a:t>
            </a:r>
            <a:r>
              <a:rPr lang="zh-CN" altLang="en-US">
                <a:solidFill>
                  <a:srgbClr val="FF0000"/>
                </a:solidFill>
              </a:rPr>
              <a:t>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p>
            <a:r>
              <a:rPr lang="zh-CN" altLang="en-US">
                <a:solidFill>
                  <a:srgbClr val="FF0000"/>
                </a:solidFill>
              </a:rPr>
              <a:t>再</a:t>
            </a:r>
            <a:r>
              <a:rPr lang="zh-CN" altLang="en-US">
                <a:solidFill>
                  <a:srgbClr val="FF0000"/>
                </a:solidFill>
              </a:rPr>
              <a:t>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p>
            <a:r>
              <a:rPr lang="zh-CN" altLang="en-US"/>
              <a:t>显然可以利用重叠子问题的性质，那就是保存下来，不要做重复</a:t>
            </a:r>
            <a:r>
              <a:rPr lang="zh-CN" altLang="en-US"/>
              <a:t>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p>
            <a:r>
              <a:rPr lang="zh-CN" altLang="en-US">
                <a:solidFill>
                  <a:srgbClr val="FF0000"/>
                </a:solidFill>
              </a:rPr>
              <a:t>恭喜同学们会了记忆化搜索！若让你把这个代码改成</a:t>
            </a:r>
            <a:r>
              <a:rPr lang="zh-CN" altLang="en-US">
                <a:solidFill>
                  <a:srgbClr val="FF0000"/>
                </a:solidFill>
              </a:rPr>
              <a:t>循环，该</a:t>
            </a:r>
            <a:r>
              <a:rPr lang="zh-CN" altLang="en-US">
                <a:solidFill>
                  <a:srgbClr val="FF0000"/>
                </a:solidFill>
              </a:rPr>
              <a:t>怎么办？</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p>
            <a:r>
              <a:rPr lang="zh-CN" altLang="en-US">
                <a:solidFill>
                  <a:srgbClr val="FF0000"/>
                </a:solidFill>
              </a:rPr>
              <a:t>动态规划思想是</a:t>
            </a:r>
            <a:r>
              <a:rPr lang="zh-CN" altLang="en-US">
                <a:solidFill>
                  <a:srgbClr val="FF0000"/>
                </a:solidFill>
              </a:rPr>
              <a:t>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a:t>
            </a:r>
            <a:r>
              <a:rPr lang="zh-CN" altLang="en-US" sz="1400" b="1">
                <a:solidFill>
                  <a:schemeClr val="tx1"/>
                </a:solidFill>
                <a:ea typeface="宋体" panose="02010600030101010101" pitchFamily="2" charset="-122"/>
              </a:rPr>
              <a:t>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p>
            <a:r>
              <a:rPr lang="zh-CN" altLang="en-US">
                <a:solidFill>
                  <a:srgbClr val="FF0000"/>
                </a:solidFill>
              </a:rPr>
              <a:t>算法初始时候，定义</a:t>
            </a:r>
            <a:r>
              <a:rPr lang="zh-CN" altLang="en-US">
                <a:solidFill>
                  <a:srgbClr val="FF0000"/>
                </a:solidFill>
              </a:rPr>
              <a:t>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a:t>
            </a:r>
            <a:r>
              <a:rPr lang="zh-CN" altLang="en-US">
                <a:solidFill>
                  <a:srgbClr val="FF0000"/>
                </a:solidFill>
              </a:rPr>
              <a:t>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p>
            <a:r>
              <a:rPr lang="zh-CN" altLang="en-US">
                <a:solidFill>
                  <a:schemeClr val="tx1"/>
                </a:solidFill>
              </a:rPr>
              <a:t>动态规划处理子问题是有较多重复，可以把重叠子问题保存下来，供下个问题抉择直接使用。分治法则是独立处理重复的</a:t>
            </a:r>
            <a:r>
              <a:rPr lang="zh-CN" altLang="en-US">
                <a:solidFill>
                  <a:schemeClr val="tx1"/>
                </a:solidFill>
              </a:rPr>
              <a:t>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a:t>
            </a:r>
            <a:r>
              <a:rPr lang="zh-CN" altLang="en-US">
                <a:uFillTx/>
                <a:latin typeface="Times New Roman" panose="02020603050405020304" pitchFamily="18" charset="0"/>
                <a:sym typeface="+mn-ea"/>
              </a:rPr>
              <a:t>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6" grpId="1" animBg="1"/>
      <p:bldP spid="37" grpId="1" animBg="1"/>
      <p:bldP spid="36" grpId="2" animBg="1"/>
      <p:bldP spid="37" grpId="2" animBg="1"/>
      <p:bldP spid="36" grpId="3" animBg="1"/>
      <p:bldP spid="37" grpId="3" animBg="1"/>
      <p:bldP spid="35" grpId="0"/>
      <p:bldP spid="35" grpId="1"/>
      <p:bldP spid="36" grpId="4" animBg="1"/>
      <p:bldP spid="37" grpId="4" animBg="1"/>
      <p:bldP spid="40" grpId="0" bldLvl="0" animBg="1"/>
      <p:bldP spid="41" grpId="0" bldLvl="0" animBg="1"/>
      <p:bldP spid="40" grpId="1" animBg="1"/>
      <p:bldP spid="41" grpId="1" animBg="1"/>
      <p:bldP spid="40" grpId="2" bldLvl="0" animBg="1"/>
      <p:bldP spid="41" grpId="2" bldLvl="0" animBg="1"/>
      <p:bldP spid="40" grpId="3" bldLvl="0" animBg="1"/>
      <p:bldP spid="41" grpId="3" bldLvl="0" animBg="1"/>
      <p:bldP spid="40" grpId="4" bldLvl="0" animBg="1"/>
      <p:bldP spid="41" grpId="4" bldLvl="0" animBg="1"/>
      <p:bldP spid="40" grpId="5" animBg="1"/>
      <p:bldP spid="41" grpId="5" animBg="1"/>
      <p:bldP spid="36" grpId="5" animBg="1"/>
      <p:bldP spid="37" grpId="5" animBg="1"/>
      <p:bldP spid="42" grpId="0"/>
      <p:bldP spid="42" grpId="1"/>
      <p:bldP spid="43" grpId="0" bldLvl="0" animBg="1"/>
      <p:bldP spid="44" grpId="0" bldLvl="0" animBg="1"/>
      <p:bldP spid="43" grpId="1" animBg="1"/>
      <p:bldP spid="44" grpId="1" animBg="1"/>
      <p:bldP spid="43" grpId="2" bldLvl="0" animBg="1"/>
      <p:bldP spid="44" grpId="2" bldLvl="0" animBg="1"/>
      <p:bldP spid="43" grpId="3" bldLvl="0" animBg="1"/>
      <p:bldP spid="44" grpId="3" bldLvl="0" animBg="1"/>
      <p:bldP spid="43" grpId="4" bldLvl="0" animBg="1"/>
      <p:bldP spid="44" grpId="4" bldLvl="0" animBg="1"/>
      <p:bldP spid="43" grpId="5" bldLvl="0" animBg="1"/>
      <p:bldP spid="44" grpId="5" bldLvl="0" animBg="1"/>
      <p:bldP spid="45" grpId="0"/>
      <p:bldP spid="45" grpId="1"/>
      <p:bldP spid="46" grpId="0" bldLvl="0" animBg="1"/>
      <p:bldP spid="47" grpId="0" bldLvl="0" animBg="1"/>
      <p:bldP spid="46" grpId="1" animBg="1"/>
      <p:bldP spid="47" grpId="1" animBg="1"/>
      <p:bldP spid="46" grpId="2" bldLvl="0" animBg="1"/>
      <p:bldP spid="47" grpId="2" bldLvl="0" animBg="1"/>
      <p:bldP spid="46" grpId="3" bldLvl="0" animBg="1"/>
      <p:bldP spid="47" grpId="3" bldLvl="0" animBg="1"/>
      <p:bldP spid="46" grpId="4" bldLvl="0" animBg="1"/>
      <p:bldP spid="47" grpId="4" bldLvl="0" animBg="1"/>
      <p:bldP spid="46" grpId="5"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a:t>
            </a:r>
            <a:r>
              <a:rPr lang="zh-CN" altLang="en-US"/>
              <a:t>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p>
            <a:r>
              <a:rPr lang="zh-CN" altLang="en-US"/>
              <a:t>如何利用动态规划的思想：首先将问题拆分成各个阶段的</a:t>
            </a:r>
            <a:r>
              <a:rPr lang="zh-CN" altLang="en-US"/>
              <a:t>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3" grpId="1"/>
      <p:bldP spid="8" grpId="0"/>
      <p:bldP spid="8" grpId="1"/>
      <p:bldP spid="10" grpId="0"/>
      <p:bldP spid="10" grpId="1"/>
      <p:bldP spid="6" grpId="0"/>
      <p:bldP spid="6" grpId="1"/>
      <p:bldP spid="55" grpId="0"/>
      <p:bldP spid="15" grpId="0"/>
      <p:bldP spid="56" grpId="0"/>
      <p:bldP spid="57" grpId="0"/>
      <p:bldP spid="19" grpId="0"/>
      <p:bldP spid="17" grpId="0"/>
      <p:bldP spid="58" grpId="0"/>
      <p:bldP spid="20" grpId="0"/>
      <p:bldP spid="29" grpId="0"/>
      <p:bldP spid="34" grpId="0"/>
      <p:bldP spid="37" grpId="0"/>
      <p:bldP spid="37" grpId="1"/>
      <p:bldP spid="60" grpId="0"/>
      <p:bldP spid="60" grpId="1"/>
      <p:bldP spid="61" grpId="0"/>
      <p:bldP spid="61" grpId="1"/>
      <p:bldP spid="40" grpId="0"/>
      <p:bldP spid="40" grpId="1"/>
      <p:bldP spid="66" grpId="0"/>
      <p:bldP spid="66" grpId="1"/>
      <p:bldP spid="41" grpId="1"/>
      <p:bldP spid="67" grpId="0"/>
      <p:bldP spid="42" grpId="0"/>
      <p:bldP spid="68" grpId="0"/>
      <p:bldP spid="68" grpId="1"/>
      <p:bldP spid="43" grpId="0"/>
      <p:bldP spid="43" grpId="1"/>
      <p:bldP spid="69" grpId="0"/>
      <p:bldP spid="69" grpId="1"/>
      <p:bldP spid="44" grpId="0"/>
      <p:bldP spid="44" grpId="1"/>
      <p:bldP spid="79" grpId="0"/>
      <p:bldP spid="79"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p>
            <a:r>
              <a:rPr lang="zh-CN" altLang="en-US"/>
              <a:t>树塔的算法</a:t>
            </a:r>
            <a:r>
              <a:rPr lang="zh-CN" altLang="en-US"/>
              <a:t>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a:t>
            </a:r>
            <a:r>
              <a:rPr lang="zh-CN" altLang="en-US" sz="2400" b="1" kern="0" dirty="0">
                <a:uFillTx/>
                <a:latin typeface="Times New Roman" panose="02020603050405020304" pitchFamily="18" charset="0"/>
                <a:cs typeface="Times New Roman" panose="02020603050405020304" pitchFamily="18" charset="0"/>
                <a:sym typeface="+mn-ea"/>
              </a:rPr>
              <a:t>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①确定</a:t>
            </a:r>
            <a:r>
              <a:rPr lang="zh-CN" altLang="en-US">
                <a:solidFill>
                  <a:srgbClr val="FF0000"/>
                </a:solidFill>
              </a:rPr>
              <a:t>状态</a:t>
            </a:r>
            <a:endParaRPr lang="zh-CN" altLang="en-US">
              <a:solidFill>
                <a:srgbClr val="FF0000"/>
              </a:solidFill>
            </a:endParaRPr>
          </a:p>
          <a:p>
            <a:r>
              <a:rPr lang="zh-CN" altLang="en-US">
                <a:solidFill>
                  <a:srgbClr val="FF0000"/>
                </a:solidFill>
              </a:rPr>
              <a:t>②找到状态转移</a:t>
            </a:r>
            <a:r>
              <a:rPr lang="zh-CN" altLang="en-US">
                <a:solidFill>
                  <a:srgbClr val="FF0000"/>
                </a:solidFill>
              </a:rPr>
              <a:t>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a:t>
            </a:r>
            <a:r>
              <a:rPr lang="zh-CN" altLang="en-US">
                <a:solidFill>
                  <a:srgbClr val="FF0000"/>
                </a:solidFill>
              </a:rPr>
              <a:t>状态，获取</a:t>
            </a:r>
            <a:r>
              <a:rPr lang="zh-CN" altLang="en-US">
                <a:solidFill>
                  <a:srgbClr val="FF0000"/>
                </a:solidFill>
              </a:rPr>
              <a:t>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p>
            <a:r>
              <a:rPr lang="zh-CN" altLang="en-US"/>
              <a:t>状态转移方程只有一个变量，用一维表表示</a:t>
            </a:r>
            <a:r>
              <a:rPr lang="zh-CN" altLang="en-US"/>
              <a:t>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9" grpId="0" animBg="1"/>
      <p:bldP spid="20" grpId="0" animBg="1"/>
      <p:bldP spid="27" grpId="0" animBg="1"/>
      <p:bldP spid="28" grpId="0" animBg="1"/>
      <p:bldP spid="33" grpId="0" animBg="1"/>
      <p:bldP spid="34" grpId="0" animBg="1"/>
      <p:bldP spid="35" grpId="0" animBg="1"/>
      <p:bldP spid="36" grpId="0"/>
      <p:bldP spid="37" grpId="0"/>
      <p:bldP spid="38" grpId="0"/>
      <p:bldP spid="39" grpId="0"/>
      <p:bldP spid="40" grpId="0"/>
      <p:bldP spid="41" grpId="0"/>
      <p:bldP spid="42"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38" grpId="1"/>
      <p:bldP spid="39" grpId="1"/>
      <p:bldP spid="40" grpId="1"/>
      <p:bldP spid="41" grpId="1"/>
      <p:bldP spid="42" grpId="1"/>
      <p:bldP spid="43" grpId="1"/>
      <p:bldP spid="44" grpId="1"/>
      <p:bldP spid="76" grpId="0" bldLvl="0" animBg="1"/>
      <p:bldP spid="77" grpId="0" bldLvl="0" animBg="1"/>
      <p:bldP spid="76" grpId="1" animBg="1"/>
      <p:bldP spid="77" grpId="1" animBg="1"/>
      <p:bldP spid="76" grpId="2" bldLvl="0" animBg="1"/>
      <p:bldP spid="77" grpId="2" bldLvl="0" animBg="1"/>
      <p:bldP spid="76" grpId="3" bldLvl="0" animBg="1"/>
      <p:bldP spid="77" grpId="3" bldLvl="0" animBg="1"/>
      <p:bldP spid="75" grpId="0"/>
      <p:bldP spid="75" grpId="1"/>
      <p:bldP spid="76" grpId="4" bldLvl="0" animBg="1"/>
      <p:bldP spid="77" grpId="4" bldLvl="0" animBg="1"/>
      <p:bldP spid="78" grpId="0" bldLvl="0" animBg="1"/>
      <p:bldP spid="79" grpId="0" bldLvl="0" animBg="1"/>
      <p:bldP spid="78" grpId="1" animBg="1"/>
      <p:bldP spid="79" grpId="1" animBg="1"/>
      <p:bldP spid="78" grpId="2" bldLvl="0" animBg="1"/>
      <p:bldP spid="79" grpId="2" bldLvl="0" animBg="1"/>
      <p:bldP spid="78" grpId="3" bldLvl="0" animBg="1"/>
      <p:bldP spid="79" grpId="3" bldLvl="0" animBg="1"/>
      <p:bldP spid="78" grpId="4" bldLvl="0" animBg="1"/>
      <p:bldP spid="79" grpId="4" bldLvl="0" animBg="1"/>
      <p:bldP spid="78" grpId="5" bldLvl="0" animBg="1"/>
      <p:bldP spid="79" grpId="5" bldLvl="0" animBg="1"/>
      <p:bldP spid="76" grpId="5" bldLvl="0" animBg="1"/>
      <p:bldP spid="77" grpId="5" bldLvl="0" animBg="1"/>
      <p:bldP spid="80" grpId="0"/>
      <p:bldP spid="80" grpId="1"/>
      <p:bldP spid="81" grpId="0" bldLvl="0" animBg="1"/>
      <p:bldP spid="82" grpId="0" bldLvl="0" animBg="1"/>
      <p:bldP spid="81" grpId="1" animBg="1"/>
      <p:bldP spid="82" grpId="1" animBg="1"/>
      <p:bldP spid="81" grpId="2" bldLvl="0" animBg="1"/>
      <p:bldP spid="82" grpId="2" bldLvl="0" animBg="1"/>
      <p:bldP spid="81" grpId="3" bldLvl="0" animBg="1"/>
      <p:bldP spid="82" grpId="3" bldLvl="0" animBg="1"/>
      <p:bldP spid="81" grpId="4" bldLvl="0" animBg="1"/>
      <p:bldP spid="82" grpId="4" bldLvl="0" animBg="1"/>
      <p:bldP spid="81" grpId="5" bldLvl="0" animBg="1"/>
      <p:bldP spid="82" grpId="5" bldLvl="0" animBg="1"/>
      <p:bldP spid="83" grpId="0"/>
      <p:bldP spid="83" grpId="1"/>
      <p:bldP spid="84" grpId="0" bldLvl="0" animBg="1"/>
      <p:bldP spid="85" grpId="0" bldLvl="0" animBg="1"/>
      <p:bldP spid="84" grpId="1" animBg="1"/>
      <p:bldP spid="85" grpId="1" animBg="1"/>
      <p:bldP spid="84" grpId="2" bldLvl="0" animBg="1"/>
      <p:bldP spid="85" grpId="2" bldLvl="0" animBg="1"/>
      <p:bldP spid="84" grpId="3" bldLvl="0" animBg="1"/>
      <p:bldP spid="85" grpId="3" bldLvl="0" animBg="1"/>
      <p:bldP spid="84" grpId="4" bldLvl="0" animBg="1"/>
      <p:bldP spid="85" grpId="4" bldLvl="0" animBg="1"/>
      <p:bldP spid="84" grpId="5"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11" grpId="0" bldLvl="0" animBg="1"/>
      <p:bldP spid="19" grpId="0" bldLvl="0" animBg="1"/>
      <p:bldP spid="20" grpId="0" bldLvl="0" animBg="1"/>
      <p:bldP spid="27" grpId="0" bldLvl="0" animBg="1"/>
      <p:bldP spid="28" grpId="0" bldLvl="0" animBg="1"/>
      <p:bldP spid="33" grpId="0" bldLvl="0" animBg="1"/>
      <p:bldP spid="34" grpId="0" bldLvl="0" animBg="1"/>
      <p:bldP spid="35" grpId="0" bldLvl="0" animBg="1"/>
      <p:bldP spid="36" grpId="0"/>
      <p:bldP spid="37"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43" grpId="1"/>
      <p:bldP spid="44" grpId="1"/>
      <p:bldP spid="5" grpId="0"/>
      <p:bldP spid="5"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p>
            <a:r>
              <a:rPr lang="zh-CN" altLang="en-US"/>
              <a:t>那么黄色的边界如何</a:t>
            </a:r>
            <a:r>
              <a:rPr lang="zh-CN" altLang="en-US"/>
              <a:t>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P spid="30" grpId="0"/>
      <p:bldP spid="38" grpId="1"/>
      <p:bldP spid="39" grpId="1"/>
      <p:bldP spid="40" grpId="1"/>
      <p:bldP spid="41" grpId="1"/>
      <p:bldP spid="30"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a:t>
            </a:r>
            <a:r>
              <a:rPr lang="zh-CN" altLang="en-US">
                <a:solidFill>
                  <a:schemeClr val="tx1"/>
                </a:solidFill>
              </a:rPr>
              <a:t>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sym typeface="+mn-ea"/>
              </a:rPr>
              <a:t>背包称重</a:t>
            </a:r>
            <a:r>
              <a:rPr lang="en-US" altLang="zh-CN" sz="2200" dirty="0" smtClean="0">
                <a:solidFill>
                  <a:srgbClr val="080808"/>
                </a:solidFill>
                <a:uFillTx/>
                <a:latin typeface="Times New Roman" panose="02020603050405020304" pitchFamily="18" charset="0"/>
                <a:sym typeface="+mn-ea"/>
              </a:rPr>
              <a:t>M = 10kg,</a:t>
            </a:r>
            <a:r>
              <a:rPr lang="zh-CN" altLang="en-US" sz="2200" smtClean="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{2,3,4,7},</a:t>
            </a:r>
            <a:r>
              <a:rPr lang="zh-CN" altLang="en-US" sz="2200" smtClean="0">
                <a:solidFill>
                  <a:srgbClr val="080808"/>
                </a:solidFill>
                <a:uFillTx/>
                <a:latin typeface="Times New Roman" panose="02020603050405020304" pitchFamily="18" charset="0"/>
                <a:sym typeface="+mn-ea"/>
              </a:rPr>
              <a:t>价值为</a:t>
            </a:r>
            <a:r>
              <a:rPr lang="en-US" altLang="zh-CN" sz="2200" dirty="0" smtClean="0">
                <a:solidFill>
                  <a:srgbClr val="080808"/>
                </a:solidFill>
                <a:uFillTx/>
                <a:latin typeface="Times New Roman" panose="02020603050405020304" pitchFamily="18" charset="0"/>
                <a:sym typeface="+mn-ea"/>
              </a:rPr>
              <a:t>C</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{1,3,5,9},</a:t>
            </a:r>
            <a:r>
              <a:rPr lang="zh-CN" altLang="en-US" sz="2200" smtClean="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问最多能装价值多大（物品每次只能选择一次）？</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1952836"/>
            <a:ext cx="1911567" cy="97210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dirty="0" smtClean="0">
                <a:solidFill>
                  <a:srgbClr val="080808"/>
                </a:solidFill>
                <a:latin typeface="Times New Roman" panose="02020603050405020304" pitchFamily="18" charset="0"/>
                <a:ea typeface="楷体" panose="02010609060101010101" pitchFamily="49" charset="-122"/>
              </a:rPr>
              <a:t>d</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dirty="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不断的更新表格，能够发现更新的状态转移</a:t>
            </a:r>
            <a:r>
              <a:rPr lang="zh-CN" altLang="en-US" sz="2200" smtClean="0">
                <a:solidFill>
                  <a:srgbClr val="080808"/>
                </a:solidFill>
                <a:uFillTx/>
                <a:latin typeface="Times New Roman" panose="02020603050405020304" pitchFamily="18" charset="0"/>
              </a:rPr>
              <a:t>方程</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则有两种选择，选择该物品和不选择该物品，此时</a:t>
            </a:r>
            <a:r>
              <a:rPr kumimoji="1" lang="en-US" altLang="zh-CN" sz="2200" b="1" smtClean="0">
                <a:solidFill>
                  <a:srgbClr val="080808"/>
                </a:solidFill>
                <a:uFillTx/>
                <a:latin typeface="Times New Roman" panose="02020603050405020304" pitchFamily="18" charset="0"/>
              </a:rPr>
              <a:t>dp[i][j]</a:t>
            </a:r>
            <a:r>
              <a:rPr kumimoji="1" lang="zh-CN" altLang="en-US" sz="2200" smtClean="0">
                <a:solidFill>
                  <a:srgbClr val="080808"/>
                </a:solidFill>
                <a:uFillTx/>
                <a:latin typeface="Times New Roman" panose="02020603050405020304" pitchFamily="18" charset="0"/>
              </a:rPr>
              <a:t>选择最大的值作为最优选择。</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背包问题，解题的流程是怎样的？</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）选择数组（或是其他存储结构）能够描述问题状态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）通过状态转移表中不断的转移，找到递推关系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）更新结果，</a:t>
            </a:r>
            <a:r>
              <a:rPr kumimoji="1" lang="zh-CN" altLang="en-US" sz="2200" smtClean="0">
                <a:solidFill>
                  <a:srgbClr val="080808"/>
                </a:solidFill>
                <a:uFillTx/>
                <a:latin typeface="Times New Roman" panose="02020603050405020304" pitchFamily="18" charset="0"/>
                <a:sym typeface="+mn-ea"/>
              </a:rPr>
              <a:t>获取结果（可能会重新遍历状态表）</a:t>
            </a:r>
            <a:endParaRPr kumimoji="1" lang="en-US" altLang="zh-CN" sz="2200" smtClean="0">
              <a:solidFill>
                <a:srgbClr val="080808"/>
              </a:solidFill>
              <a:uFillTx/>
              <a:latin typeface="Times New Roman" panose="02020603050405020304" pitchFamily="18" charset="0"/>
            </a:endParaRPr>
          </a:p>
          <a:p>
            <a:endParaRPr kumimoji="1" lang="en-US" altLang="zh-CN"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完全背包问题：有</a:t>
            </a:r>
            <a:r>
              <a:rPr lang="en-US" altLang="zh-CN" sz="2200" smtClean="0">
                <a:solidFill>
                  <a:srgbClr val="080808"/>
                </a:solidFill>
                <a:uFillTx/>
                <a:latin typeface="Times New Roman" panose="02020603050405020304" pitchFamily="18" charset="0"/>
              </a:rPr>
              <a:t>n</a:t>
            </a:r>
            <a:r>
              <a:rPr lang="zh-CN" altLang="en-US" sz="2200" smtClean="0">
                <a:solidFill>
                  <a:srgbClr val="080808"/>
                </a:solidFill>
                <a:uFillTx/>
                <a:latin typeface="Times New Roman" panose="02020603050405020304" pitchFamily="18" charset="0"/>
              </a:rPr>
              <a:t>种物品有质量和对应的价值。每种物品数量是无限的，背包称重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smtClean="0">
                <a:solidFill>
                  <a:srgbClr val="080808"/>
                </a:solidFill>
                <a:uFillTx/>
                <a:latin typeface="Times New Roman" panose="02020603050405020304" pitchFamily="18" charset="0"/>
              </a:rPr>
              <a:t>dp</a:t>
            </a:r>
            <a:r>
              <a:rPr kumimoji="1" lang="zh-CN" altLang="en-US" sz="2200" smtClean="0">
                <a:solidFill>
                  <a:srgbClr val="080808"/>
                </a:solidFill>
                <a:uFillTx/>
                <a:latin typeface="Times New Roman" panose="02020603050405020304" pitchFamily="18" charset="0"/>
              </a:rPr>
              <a:t>，那么完全背包问题如何更新状态表？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不断的更新表格，能够发现更新的递推公式？</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k</a:t>
            </a:r>
            <a:r>
              <a:rPr kumimoji="1" lang="zh-CN" altLang="en-US" sz="2200" smtClean="0">
                <a:solidFill>
                  <a:srgbClr val="080808"/>
                </a:solidFill>
                <a:uFillTx/>
                <a:latin typeface="Times New Roman" panose="02020603050405020304" pitchFamily="18" charset="0"/>
              </a:rPr>
              <a:t>的值是多少就有多少种选择。选择最大的填充</a:t>
            </a:r>
            <a:r>
              <a:rPr kumimoji="1" lang="en-US" altLang="zh-CN" sz="2200" b="1" smtClean="0">
                <a:solidFill>
                  <a:srgbClr val="080808"/>
                </a:solidFill>
                <a:uFillTx/>
                <a:latin typeface="Times New Roman" panose="02020603050405020304" pitchFamily="18" charset="0"/>
              </a:rPr>
              <a:t>dp[i][j]</a:t>
            </a:r>
            <a:endParaRPr kumimoji="1" lang="en-US" altLang="zh-CN" sz="2200" b="1"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回顾完全背包问题，发现和</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背包问题有一样的解题流程</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）选择数组描述状态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）更新状态表，获取结果（可能会重新遍历状态表）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9357</Words>
  <Application>WPS 演示</Application>
  <PresentationFormat>全屏显示(4:3)</PresentationFormat>
  <Paragraphs>1072</Paragraphs>
  <Slides>51</Slides>
  <Notes>5</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51</vt:i4>
      </vt:variant>
    </vt:vector>
  </HeadingPairs>
  <TitlesOfParts>
    <vt:vector size="70" baseType="lpstr">
      <vt:lpstr>Arial</vt:lpstr>
      <vt:lpstr>宋体</vt:lpstr>
      <vt:lpstr>Wingdings</vt:lpstr>
      <vt:lpstr>华文细黑</vt:lpstr>
      <vt:lpstr>MS UI Gothic</vt:lpstr>
      <vt:lpstr>Calibri</vt:lpstr>
      <vt:lpstr>Verdana</vt:lpstr>
      <vt:lpstr>方正正大黑简体</vt:lpstr>
      <vt:lpstr>黑体</vt:lpstr>
      <vt:lpstr>微软雅黑</vt:lpstr>
      <vt:lpstr>Times New Roman</vt:lpstr>
      <vt:lpstr>隶书</vt:lpstr>
      <vt:lpstr>Tahoma</vt:lpstr>
      <vt:lpstr>Arial Unicode MS</vt:lpstr>
      <vt:lpstr>-apple-system</vt:lpstr>
      <vt:lpstr>Segoe Print</vt:lpstr>
      <vt:lpstr>楷体</vt:lpstr>
      <vt:lpstr>Cambria</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414</cp:revision>
  <dcterms:created xsi:type="dcterms:W3CDTF">2010-09-23T08:30:00Z</dcterms:created>
  <dcterms:modified xsi:type="dcterms:W3CDTF">2025-11-18T05:46:59Z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