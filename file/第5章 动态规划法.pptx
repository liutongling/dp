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45"/>
  </p:handoutMasterIdLst>
  <p:sldIdLst>
    <p:sldId id="256" r:id="rId3"/>
    <p:sldId id="257" r:id="rId5"/>
    <p:sldId id="259" r:id="rId6"/>
    <p:sldId id="329" r:id="rId7"/>
    <p:sldId id="331" r:id="rId8"/>
    <p:sldId id="332" r:id="rId9"/>
    <p:sldId id="338" r:id="rId10"/>
    <p:sldId id="339" r:id="rId11"/>
    <p:sldId id="340" r:id="rId12"/>
    <p:sldId id="341" r:id="rId13"/>
    <p:sldId id="342" r:id="rId14"/>
    <p:sldId id="343" r:id="rId15"/>
    <p:sldId id="346" r:id="rId16"/>
    <p:sldId id="345" r:id="rId17"/>
    <p:sldId id="344" r:id="rId18"/>
    <p:sldId id="290" r:id="rId19"/>
    <p:sldId id="291" r:id="rId20"/>
    <p:sldId id="292" r:id="rId21"/>
    <p:sldId id="293" r:id="rId22"/>
    <p:sldId id="294" r:id="rId23"/>
    <p:sldId id="348" r:id="rId24"/>
    <p:sldId id="347" r:id="rId25"/>
    <p:sldId id="295" r:id="rId26"/>
    <p:sldId id="296" r:id="rId27"/>
    <p:sldId id="298" r:id="rId28"/>
    <p:sldId id="303" r:id="rId29"/>
    <p:sldId id="304" r:id="rId30"/>
    <p:sldId id="306" r:id="rId31"/>
    <p:sldId id="307" r:id="rId32"/>
    <p:sldId id="308" r:id="rId33"/>
    <p:sldId id="313" r:id="rId34"/>
    <p:sldId id="314" r:id="rId35"/>
    <p:sldId id="315" r:id="rId36"/>
    <p:sldId id="316" r:id="rId37"/>
    <p:sldId id="317" r:id="rId38"/>
    <p:sldId id="327" r:id="rId39"/>
    <p:sldId id="334" r:id="rId40"/>
    <p:sldId id="333" r:id="rId41"/>
    <p:sldId id="335" r:id="rId42"/>
    <p:sldId id="336" r:id="rId43"/>
    <p:sldId id="337" r:id="rId4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19" autoAdjust="0"/>
    <p:restoredTop sz="95126" autoAdjust="0"/>
  </p:normalViewPr>
  <p:slideViewPr>
    <p:cSldViewPr showGuides="1">
      <p:cViewPr varScale="1">
        <p:scale>
          <a:sx n="115" d="100"/>
          <a:sy n="115" d="100"/>
        </p:scale>
        <p:origin x="906"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9" Type="http://schemas.openxmlformats.org/officeDocument/2006/relationships/commentAuthors" Target="commentAuthors.xml"/><Relationship Id="rId48" Type="http://schemas.openxmlformats.org/officeDocument/2006/relationships/tableStyles" Target="tableStyles.xml"/><Relationship Id="rId47" Type="http://schemas.openxmlformats.org/officeDocument/2006/relationships/viewProps" Target="viewProps.xml"/><Relationship Id="rId46" Type="http://schemas.openxmlformats.org/officeDocument/2006/relationships/presProps" Target="presProps.xml"/><Relationship Id="rId45" Type="http://schemas.openxmlformats.org/officeDocument/2006/relationships/handoutMaster" Target="handoutMasters/handoutMaster1.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7" Type="http://schemas.openxmlformats.org/officeDocument/2006/relationships/notesSlide" Target="../notesSlides/notesSlide2.xml"/><Relationship Id="rId6"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4.xml.rels><?xml version="1.0" encoding="UTF-8" standalone="yes"?>
<Relationships xmlns="http://schemas.openxmlformats.org/package/2006/relationships"><Relationship Id="rId7" Type="http://schemas.openxmlformats.org/officeDocument/2006/relationships/notesSlide" Target="../notesSlides/notesSlide3.xml"/><Relationship Id="rId6"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4.xml"/><Relationship Id="rId7" Type="http://schemas.openxmlformats.org/officeDocument/2006/relationships/slideLayout" Target="../slideLayouts/slideLayout2.xml"/><Relationship Id="rId6" Type="http://schemas.openxmlformats.org/officeDocument/2006/relationships/image" Target="../media/image16.emf"/><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5.xml"/><Relationship Id="rId8" Type="http://schemas.openxmlformats.org/officeDocument/2006/relationships/slideLayout" Target="../slideLayouts/slideLayout2.xml"/><Relationship Id="rId7" Type="http://schemas.openxmlformats.org/officeDocument/2006/relationships/image" Target="../media/image18.emf"/><Relationship Id="rId6" Type="http://schemas.openxmlformats.org/officeDocument/2006/relationships/image" Target="../media/image17.emf"/><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2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2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4.png"/><Relationship Id="rId6" Type="http://schemas.openxmlformats.org/officeDocument/2006/relationships/image" Target="../media/image23.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2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2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2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7.png"/><Relationship Id="rId6" Type="http://schemas.openxmlformats.org/officeDocument/2006/relationships/image" Target="../media/image26.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8.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0.png"/><Relationship Id="rId6" Type="http://schemas.openxmlformats.org/officeDocument/2006/relationships/image" Target="../media/image29.wmf"/><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2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3.png"/><Relationship Id="rId6" Type="http://schemas.openxmlformats.org/officeDocument/2006/relationships/image" Target="../media/image32.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5.png"/><Relationship Id="rId6" Type="http://schemas.openxmlformats.org/officeDocument/2006/relationships/image" Target="../media/image34.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7.emf"/><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3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nvSpPr>
        <p:spPr bwMode="auto">
          <a:xfrm>
            <a:off x="4660081" y="2805924"/>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nvSpPr>
        <p:spPr bwMode="auto">
          <a:xfrm>
            <a:off x="4660081" y="3626818"/>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nvSpPr>
        <p:spPr bwMode="auto">
          <a:xfrm>
            <a:off x="4075713" y="4461975"/>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nvSpPr>
        <p:spPr bwMode="auto">
          <a:xfrm>
            <a:off x="4660081" y="4461975"/>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30"/>
          <p:cNvSpPr/>
          <p:nvPr/>
        </p:nvSpPr>
        <p:spPr bwMode="auto">
          <a:xfrm>
            <a:off x="4660081" y="5309034"/>
            <a:ext cx="3567476" cy="53676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nvSpPr>
        <p:spPr>
          <a:xfrm>
            <a:off x="4784388" y="2854504"/>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nvSpPr>
        <p:spPr>
          <a:xfrm>
            <a:off x="4784388" y="3720041"/>
            <a:ext cx="3136940"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动态规划法的应用</a:t>
            </a:r>
            <a:endParaRPr lang="zh-CN" altLang="en-US" sz="2200" dirty="0">
              <a:solidFill>
                <a:schemeClr val="tx2">
                  <a:lumMod val="75000"/>
                  <a:lumOff val="25000"/>
                </a:schemeClr>
              </a:solidFill>
            </a:endParaRPr>
          </a:p>
        </p:txBody>
      </p:sp>
      <p:sp>
        <p:nvSpPr>
          <p:cNvPr id="15" name="TextBox 49"/>
          <p:cNvSpPr txBox="1"/>
          <p:nvPr/>
        </p:nvSpPr>
        <p:spPr>
          <a:xfrm>
            <a:off x="4784388" y="4506240"/>
            <a:ext cx="3744416"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动态规划法分析与设计</a:t>
            </a:r>
            <a:endParaRPr lang="zh-CN" altLang="en-US" sz="2200" dirty="0">
              <a:solidFill>
                <a:schemeClr val="tx2">
                  <a:lumMod val="75000"/>
                  <a:lumOff val="25000"/>
                </a:schemeClr>
              </a:solidFill>
            </a:endParaRPr>
          </a:p>
        </p:txBody>
      </p:sp>
      <p:sp>
        <p:nvSpPr>
          <p:cNvPr id="16" name="TextBox 50"/>
          <p:cNvSpPr txBox="1"/>
          <p:nvPr/>
        </p:nvSpPr>
        <p:spPr>
          <a:xfrm>
            <a:off x="4784388" y="5361132"/>
            <a:ext cx="3136940"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5.4 </a:t>
            </a:r>
            <a:r>
              <a:rPr lang="zh-CN" altLang="en-US" sz="2200" dirty="0">
                <a:solidFill>
                  <a:schemeClr val="tx2">
                    <a:lumMod val="75000"/>
                    <a:lumOff val="25000"/>
                  </a:schemeClr>
                </a:solidFill>
              </a:rPr>
              <a:t>动态规划法示例</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1"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nvSpPr>
        <p:spPr bwMode="auto">
          <a:xfrm>
            <a:off x="4161356" y="2910997"/>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nvSpPr>
        <p:spPr bwMode="auto">
          <a:xfrm>
            <a:off x="4213508" y="3720040"/>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nvSpPr>
        <p:spPr bwMode="auto">
          <a:xfrm>
            <a:off x="4177291" y="4557572"/>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nvPicPr>
        <p:blipFill>
          <a:blip r:embed="rId2"/>
          <a:stretch>
            <a:fillRect/>
          </a:stretch>
        </p:blipFill>
        <p:spPr>
          <a:xfrm>
            <a:off x="3896498" y="4447558"/>
            <a:ext cx="558000" cy="562768"/>
          </a:xfrm>
          <a:prstGeom prst="rect">
            <a:avLst/>
          </a:prstGeom>
        </p:spPr>
      </p:pic>
      <p:pic>
        <p:nvPicPr>
          <p:cNvPr id="22" name="图片 21"/>
          <p:cNvPicPr>
            <a:picLocks noChangeAspect="1"/>
          </p:cNvPicPr>
          <p:nvPr/>
        </p:nvPicPr>
        <p:blipFill>
          <a:blip r:embed="rId3"/>
          <a:stretch>
            <a:fillRect/>
          </a:stretch>
        </p:blipFill>
        <p:spPr>
          <a:xfrm>
            <a:off x="3872355" y="3615602"/>
            <a:ext cx="558000" cy="558000"/>
          </a:xfrm>
          <a:prstGeom prst="rect">
            <a:avLst/>
          </a:prstGeom>
        </p:spPr>
      </p:pic>
      <p:pic>
        <p:nvPicPr>
          <p:cNvPr id="23" name="图片 22"/>
          <p:cNvPicPr>
            <a:picLocks noChangeAspect="1"/>
          </p:cNvPicPr>
          <p:nvPr/>
        </p:nvPicPr>
        <p:blipFill>
          <a:blip r:embed="rId4"/>
          <a:stretch>
            <a:fillRect/>
          </a:stretch>
        </p:blipFill>
        <p:spPr>
          <a:xfrm>
            <a:off x="3885235" y="2805924"/>
            <a:ext cx="558000" cy="558000"/>
          </a:xfrm>
          <a:prstGeom prst="rect">
            <a:avLst/>
          </a:prstGeom>
        </p:spPr>
      </p:pic>
      <p:pic>
        <p:nvPicPr>
          <p:cNvPr id="24" name="图片 23"/>
          <p:cNvPicPr>
            <a:picLocks noChangeAspect="1"/>
          </p:cNvPicPr>
          <p:nvPr/>
        </p:nvPicPr>
        <p:blipFill>
          <a:blip r:embed="rId5"/>
          <a:stretch>
            <a:fillRect/>
          </a:stretch>
        </p:blipFill>
        <p:spPr>
          <a:xfrm>
            <a:off x="3905527" y="5283281"/>
            <a:ext cx="558000" cy="558000"/>
          </a:xfrm>
          <a:prstGeom prst="rect">
            <a:avLst/>
          </a:prstGeom>
        </p:spPr>
      </p:pic>
      <p:pic>
        <p:nvPicPr>
          <p:cNvPr id="2" name="图片 1"/>
          <p:cNvPicPr>
            <a:picLocks noChangeAspect="1"/>
          </p:cNvPicPr>
          <p:nvPr/>
        </p:nvPicPr>
        <p:blipFill>
          <a:blip r:embed="rId6"/>
          <a:stretch>
            <a:fillRect/>
          </a:stretch>
        </p:blipFill>
        <p:spPr>
          <a:xfrm>
            <a:off x="2483485" y="1268730"/>
            <a:ext cx="3199765" cy="4268470"/>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6"/>
          <p:cNvSpPr txBox="1">
            <a:spLocks noChangeArrowheads="1"/>
          </p:cNvSpPr>
          <p:nvPr/>
        </p:nvSpPr>
        <p:spPr bwMode="auto">
          <a:xfrm>
            <a:off x="2555776" y="1196752"/>
            <a:ext cx="4298585" cy="58477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noFill/>
                <a:effectLst>
                  <a:outerShdw blurRad="25500" dist="23000" dir="7020000" algn="tl">
                    <a:srgbClr val="000000">
                      <a:alpha val="50000"/>
                    </a:srgbClr>
                  </a:outerShdw>
                </a:effectLst>
                <a:ea typeface="隶书" panose="02010509060101010101" pitchFamily="49" charset="-122"/>
              </a:rPr>
              <a:t>5.1   </a:t>
            </a:r>
            <a:r>
              <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ea typeface="隶书" panose="02010509060101010101" pitchFamily="49" charset="-122"/>
              </a:rPr>
              <a:t>动态规划法概述</a:t>
            </a:r>
            <a:endPar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ea typeface="隶书" panose="02010509060101010101" pitchFamily="49" charset="-122"/>
            </a:endParaRPr>
          </a:p>
        </p:txBody>
      </p:sp>
      <p:sp>
        <p:nvSpPr>
          <p:cNvPr id="4" name="Text Box 4"/>
          <p:cNvSpPr txBox="1">
            <a:spLocks noChangeArrowheads="1"/>
          </p:cNvSpPr>
          <p:nvPr/>
        </p:nvSpPr>
        <p:spPr bwMode="auto">
          <a:xfrm>
            <a:off x="528604" y="2060848"/>
            <a:ext cx="8352928"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是由美国数学家贝尔曼在研究最优控制问题时提出，是一种求解多阶段决策最优化问题的工具，已被成功应用于解决许多领域的问题，是常用的计算机算法设计方法之一。其基本思想是将待求解的问题按阶段分解成若干个子问题，而后按照顺序求解各阶段的子问题，前一阶段子问题的解能够为后一阶段子问题的求解提供信息。在求解任一阶段的子问题时，会列出所有可能的局部解，通过决策保留那些有可能达到最优的局部解。依次解决各阶段的子问题，最后一个阶段子问题的解就是初始问题的解。各个子问题的解只跟它前面的子问题的解相关，其中各个子问题的解都是当前状态下所得的最优解，而整个问题的最优解是由各个子问题的最优解组成的。</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124744"/>
            <a:ext cx="8352928" cy="16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a:t>
            </a:r>
            <a:endParaRPr lang="zh-CN" altLang="en-US" sz="22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假设</a:t>
            </a:r>
            <a:r>
              <a:rPr lang="zh-CN" altLang="en-US" sz="2200" dirty="0">
                <a:solidFill>
                  <a:srgbClr val="080808"/>
                </a:solidFill>
                <a:latin typeface="楷体" panose="02010609060101010101" pitchFamily="49" charset="-122"/>
                <a:ea typeface="楷体" panose="02010609060101010101" pitchFamily="49" charset="-122"/>
              </a:rPr>
              <a:t>你有一个承重量为</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千克的背包，可以装入背包的物品清单如下表</a:t>
            </a:r>
            <a:r>
              <a:rPr lang="en-US" altLang="zh-CN" sz="2200" dirty="0">
                <a:solidFill>
                  <a:srgbClr val="080808"/>
                </a:solidFill>
                <a:latin typeface="楷体" panose="02010609060101010101" pitchFamily="49" charset="-122"/>
                <a:ea typeface="楷体" panose="02010609060101010101" pitchFamily="49" charset="-122"/>
              </a:rPr>
              <a:t>5.1</a:t>
            </a:r>
            <a:r>
              <a:rPr lang="zh-CN" altLang="en-US" sz="2200" dirty="0">
                <a:solidFill>
                  <a:srgbClr val="080808"/>
                </a:solidFill>
                <a:latin typeface="楷体" panose="02010609060101010101" pitchFamily="49" charset="-122"/>
                <a:ea typeface="楷体" panose="02010609060101010101" pitchFamily="49" charset="-122"/>
              </a:rPr>
              <a:t>所示，已知每件物品对应的重量和价格。请运用最优决策表确定装入哪些物品能够使得背包价值最大。</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85344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rPr>
                        <a:t>物品</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rPr>
                        <a:t>重量（</a:t>
                      </a:r>
                      <a:r>
                        <a:rPr lang="en-US" sz="1400" kern="100" dirty="0">
                          <a:effectLst/>
                        </a:rPr>
                        <a:t>kg</a:t>
                      </a:r>
                      <a:r>
                        <a:rPr lang="zh-CN" sz="1400" kern="100">
                          <a:effectLst/>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rPr>
                        <a:t>相机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1600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3500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rPr>
                        <a:t>笔记本电脑</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2700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395536" y="4077072"/>
            <a:ext cx="8352928"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解题思路：首先绘制该问题的最优决策表，表格的各行表示各阶段决策时可选择的物品，各列为不同容量（</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4kg</a:t>
            </a:r>
            <a:r>
              <a:rPr lang="zh-CN" altLang="en-US" sz="2200" dirty="0">
                <a:solidFill>
                  <a:srgbClr val="080808"/>
                </a:solidFill>
                <a:latin typeface="楷体" panose="02010609060101010101" pitchFamily="49" charset="-122"/>
                <a:ea typeface="楷体" panose="02010609060101010101" pitchFamily="49" charset="-122"/>
              </a:rPr>
              <a:t>）的背包，如下</a:t>
            </a:r>
            <a:r>
              <a:rPr lang="zh-CN" altLang="en-US" sz="2200" dirty="0" smtClean="0">
                <a:solidFill>
                  <a:srgbClr val="080808"/>
                </a:solidFill>
                <a:latin typeface="楷体" panose="02010609060101010101" pitchFamily="49" charset="-122"/>
                <a:ea typeface="楷体" panose="02010609060101010101" pitchFamily="49" charset="-122"/>
              </a:rPr>
              <a:t>表所</a:t>
            </a:r>
            <a:r>
              <a:rPr lang="zh-CN" altLang="en-US" sz="2200" dirty="0">
                <a:solidFill>
                  <a:srgbClr val="080808"/>
                </a:solidFill>
                <a:latin typeface="楷体" panose="02010609060101010101" pitchFamily="49" charset="-122"/>
                <a:ea typeface="楷体" panose="02010609060101010101" pitchFamily="49" charset="-122"/>
              </a:rPr>
              <a:t>示： </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6" name="表格 5"/>
          <p:cNvGraphicFramePr>
            <a:graphicFrameLocks noGrp="1"/>
          </p:cNvGraphicFramePr>
          <p:nvPr/>
        </p:nvGraphicFramePr>
        <p:xfrm>
          <a:off x="2570083" y="5255126"/>
          <a:ext cx="4003834" cy="853440"/>
        </p:xfrm>
        <a:graphic>
          <a:graphicData uri="http://schemas.openxmlformats.org/drawingml/2006/table">
            <a:tbl>
              <a:tblPr firstRow="1" firstCol="1" bandRow="1">
                <a:tableStyleId>{5940675A-B579-460E-94D1-54222C63F5DA}</a:tableStyleId>
              </a:tblPr>
              <a:tblGrid>
                <a:gridCol w="1026202"/>
                <a:gridCol w="744221"/>
                <a:gridCol w="744221"/>
                <a:gridCol w="744221"/>
                <a:gridCol w="744969"/>
              </a:tblGrid>
              <a:tr h="0">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r h="133350">
                <a:tc>
                  <a:txBody>
                    <a:bodyPr/>
                    <a:lstStyle/>
                    <a:p>
                      <a:pPr algn="just">
                        <a:spcAft>
                          <a:spcPts val="0"/>
                        </a:spcAft>
                      </a:pPr>
                      <a:r>
                        <a:rPr lang="zh-CN" sz="1400" kern="100">
                          <a:effectLst/>
                        </a:rPr>
                        <a:t>相机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r h="212090">
                <a:tc>
                  <a:txBody>
                    <a:bodyPr/>
                    <a:lstStyle/>
                    <a:p>
                      <a:pPr algn="just">
                        <a:spcAft>
                          <a:spcPts val="0"/>
                        </a:spcAft>
                      </a:pPr>
                      <a:r>
                        <a:rPr lang="zh-CN" sz="1400" kern="100">
                          <a:effectLst/>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r h="0">
                <a:tc>
                  <a:txBody>
                    <a:bodyPr/>
                    <a:lstStyle/>
                    <a:p>
                      <a:pPr algn="just">
                        <a:spcAft>
                          <a:spcPts val="0"/>
                        </a:spcAft>
                      </a:pPr>
                      <a:r>
                        <a:rPr lang="zh-CN" sz="1400" kern="100">
                          <a:effectLst/>
                        </a:rPr>
                        <a:t>笔记本电脑</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bl>
          </a:graphicData>
        </a:graphic>
      </p:graphicFrame>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536" y="1196752"/>
            <a:ext cx="8352928"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）第一阶段：第一行表示在本阶段你能装入背包的物品只有相机，对于每个单元格来讲，都需要做一个简单的决定：装还是不装相机？</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087724" y="2420888"/>
          <a:ext cx="4968552" cy="853440"/>
        </p:xfrm>
        <a:graphic>
          <a:graphicData uri="http://schemas.openxmlformats.org/drawingml/2006/table">
            <a:tbl>
              <a:tblPr firstRow="1" firstCol="1" bandRow="1">
                <a:tableStyleId>{5940675A-B579-460E-94D1-54222C63F5DA}</a:tableStyleId>
              </a:tblPr>
              <a:tblGrid>
                <a:gridCol w="1273464"/>
                <a:gridCol w="923540"/>
                <a:gridCol w="923540"/>
                <a:gridCol w="923540"/>
                <a:gridCol w="924468"/>
              </a:tblGrid>
              <a:tr h="0">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just">
                        <a:spcAft>
                          <a:spcPts val="0"/>
                        </a:spcAft>
                      </a:pPr>
                      <a:r>
                        <a:rPr lang="zh-CN" sz="1400" kern="100">
                          <a:effectLst/>
                        </a:rPr>
                        <a:t>相机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just">
                        <a:spcAft>
                          <a:spcPts val="0"/>
                        </a:spcAft>
                      </a:pPr>
                      <a:r>
                        <a:rPr lang="zh-CN" sz="1400" kern="100">
                          <a:effectLst/>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just">
                        <a:spcAft>
                          <a:spcPts val="0"/>
                        </a:spcAft>
                      </a:pPr>
                      <a:r>
                        <a:rPr lang="zh-CN" sz="1400" kern="100">
                          <a:effectLst/>
                        </a:rPr>
                        <a:t>笔记本电脑</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539552" y="3399596"/>
            <a:ext cx="8352928"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）第二阶段：现在处于第二行，可装入的商品有相机和扫描仪。在每一行，可装入的物品都为当前行的物品以及之前各行的物品。</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1043608" y="4797152"/>
            <a:ext cx="7493524" cy="144016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536" y="1196752"/>
            <a:ext cx="8352928"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smtClean="0">
                <a:solidFill>
                  <a:srgbClr val="080808"/>
                </a:solidFill>
                <a:latin typeface="楷体" panose="02010609060101010101" pitchFamily="49" charset="-122"/>
                <a:ea typeface="楷体" panose="02010609060101010101" pitchFamily="49" charset="-122"/>
              </a:rPr>
              <a:t>3</a:t>
            </a:r>
            <a:r>
              <a:rPr lang="zh-CN" altLang="en-US" sz="2200" dirty="0" smtClean="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第三阶段：现在处于第三行，可装入的商品有相机、扫描仪和笔记本电脑。</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7" name="图片 6"/>
          <p:cNvPicPr>
            <a:picLocks noChangeAspect="1"/>
          </p:cNvPicPr>
          <p:nvPr/>
        </p:nvPicPr>
        <p:blipFill>
          <a:blip r:embed="rId6"/>
          <a:stretch>
            <a:fillRect/>
          </a:stretch>
        </p:blipFill>
        <p:spPr>
          <a:xfrm>
            <a:off x="683568" y="2420888"/>
            <a:ext cx="7488084" cy="1474063"/>
          </a:xfrm>
          <a:prstGeom prst="rect">
            <a:avLst/>
          </a:prstGeom>
        </p:spPr>
      </p:pic>
      <p:pic>
        <p:nvPicPr>
          <p:cNvPr id="8" name="图片 7"/>
          <p:cNvPicPr>
            <a:picLocks noChangeAspect="1"/>
          </p:cNvPicPr>
          <p:nvPr/>
        </p:nvPicPr>
        <p:blipFill>
          <a:blip r:embed="rId7"/>
          <a:stretch>
            <a:fillRect/>
          </a:stretch>
        </p:blipFill>
        <p:spPr>
          <a:xfrm>
            <a:off x="1071607" y="4358774"/>
            <a:ext cx="7645173" cy="864096"/>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再举一个例子：背包称重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问最多能装价值多大（物品每次只能选择一次）？</a:t>
            </a:r>
            <a:endParaRPr lang="zh-CN" altLang="en-US" sz="2200" dirty="0">
              <a:solidFill>
                <a:srgbClr val="080808"/>
              </a:solidFill>
              <a:latin typeface="Times New Roman" panose="02020603050405020304" pitchFamily="18" charset="0"/>
              <a:ea typeface="楷体" panose="02010609060101010101" pitchFamily="49" charset="-122"/>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1952836"/>
            <a:ext cx="1911567" cy="97210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假设数组名为</a:t>
            </a:r>
            <a:r>
              <a:rPr kumimoji="1" lang="en-US" altLang="zh-CN" sz="2200" dirty="0" smtClean="0">
                <a:solidFill>
                  <a:srgbClr val="080808"/>
                </a:solidFill>
                <a:latin typeface="Times New Roman" panose="02020603050405020304" pitchFamily="18" charset="0"/>
                <a:ea typeface="楷体" panose="02010609060101010101" pitchFamily="49" charset="-122"/>
              </a:rPr>
              <a:t>d</a:t>
            </a:r>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dirty="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背包问题如何更新状态表？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不断的更新表格，能够发现更新的递推公式？</a:t>
            </a:r>
            <a:endParaRPr lang="zh-CN" altLang="en-US" sz="2200" dirty="0">
              <a:solidFill>
                <a:srgbClr val="080808"/>
              </a:solidFill>
              <a:latin typeface="Times New Roman" panose="02020603050405020304" pitchFamily="18" charset="0"/>
              <a:ea typeface="楷体" panose="02010609060101010101" pitchFamily="49" charset="-122"/>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①</a:t>
            </a:r>
            <a:r>
              <a:rPr kumimoji="1" lang="zh-CN" altLang="en-US" sz="2200" smtClean="0">
                <a:solidFill>
                  <a:srgbClr val="080808"/>
                </a:solidFill>
                <a:latin typeface="Times New Roman" panose="02020603050405020304" pitchFamily="18" charset="0"/>
                <a:ea typeface="楷体" panose="02010609060101010101" pitchFamily="49" charset="-122"/>
              </a:rPr>
              <a:t>式表示</a:t>
            </a:r>
            <a:r>
              <a:rPr kumimoji="1" lang="zh-CN" altLang="en-US" sz="2200">
                <a:solidFill>
                  <a:srgbClr val="080808"/>
                </a:solidFill>
                <a:latin typeface="Times New Roman" panose="02020603050405020304" pitchFamily="18" charset="0"/>
                <a:ea typeface="楷体" panose="02010609060101010101" pitchFamily="49" charset="-122"/>
              </a:rPr>
              <a:t>如果当前的容量不能容下当前的物品，则</a:t>
            </a:r>
            <a:r>
              <a:rPr kumimoji="1" lang="zh-CN" altLang="en-US" sz="2200" smtClean="0">
                <a:solidFill>
                  <a:srgbClr val="080808"/>
                </a:solidFill>
                <a:latin typeface="Times New Roman" panose="02020603050405020304" pitchFamily="18" charset="0"/>
                <a:ea typeface="楷体" panose="02010609060101010101" pitchFamily="49" charset="-122"/>
              </a:rPr>
              <a:t>直接不</a:t>
            </a:r>
            <a:r>
              <a:rPr kumimoji="1" lang="zh-CN" altLang="en-US" sz="2200">
                <a:solidFill>
                  <a:srgbClr val="080808"/>
                </a:solidFill>
                <a:latin typeface="Times New Roman" panose="02020603050405020304" pitchFamily="18" charset="0"/>
                <a:ea typeface="楷体" panose="02010609060101010101" pitchFamily="49" charset="-122"/>
              </a:rPr>
              <a:t>选择该物品，此时状态表中直接保存</a:t>
            </a:r>
            <a:r>
              <a:rPr kumimoji="1" lang="en-US" altLang="zh-CN" sz="2200" b="1">
                <a:solidFill>
                  <a:srgbClr val="080808"/>
                </a:solidFill>
                <a:latin typeface="Times New Roman" panose="02020603050405020304" pitchFamily="18" charset="0"/>
                <a:ea typeface="楷体" panose="02010609060101010101" pitchFamily="49" charset="-122"/>
              </a:rPr>
              <a:t>dp[i-1][j]</a:t>
            </a:r>
            <a:r>
              <a:rPr kumimoji="1" lang="zh-CN" altLang="en-US" sz="2200">
                <a:solidFill>
                  <a:srgbClr val="080808"/>
                </a:solidFill>
                <a:latin typeface="Times New Roman" panose="02020603050405020304" pitchFamily="18" charset="0"/>
                <a:ea typeface="楷体" panose="02010609060101010101" pitchFamily="49" charset="-122"/>
              </a:rPr>
              <a:t>的值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755576" y="4547492"/>
            <a:ext cx="7812868" cy="1107996"/>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②式表示</a:t>
            </a:r>
            <a:r>
              <a:rPr kumimoji="1" lang="zh-CN" altLang="en-US" sz="2200">
                <a:solidFill>
                  <a:srgbClr val="080808"/>
                </a:solidFill>
                <a:latin typeface="Times New Roman" panose="02020603050405020304" pitchFamily="18" charset="0"/>
                <a:ea typeface="楷体" panose="02010609060101010101" pitchFamily="49" charset="-122"/>
              </a:rPr>
              <a:t>如果当前的</a:t>
            </a:r>
            <a:r>
              <a:rPr kumimoji="1" lang="zh-CN" altLang="en-US" sz="2200" smtClean="0">
                <a:solidFill>
                  <a:srgbClr val="080808"/>
                </a:solidFill>
                <a:latin typeface="Times New Roman" panose="02020603050405020304" pitchFamily="18" charset="0"/>
                <a:ea typeface="楷体" panose="02010609060101010101" pitchFamily="49" charset="-122"/>
              </a:rPr>
              <a:t>容量能容</a:t>
            </a:r>
            <a:r>
              <a:rPr kumimoji="1" lang="zh-CN" altLang="en-US" sz="2200">
                <a:solidFill>
                  <a:srgbClr val="080808"/>
                </a:solidFill>
                <a:latin typeface="Times New Roman" panose="02020603050405020304" pitchFamily="18" charset="0"/>
                <a:ea typeface="楷体" panose="02010609060101010101" pitchFamily="49" charset="-122"/>
              </a:rPr>
              <a:t>下当前的物品，</a:t>
            </a:r>
            <a:r>
              <a:rPr kumimoji="1" lang="zh-CN" altLang="en-US" sz="2200" smtClean="0">
                <a:solidFill>
                  <a:srgbClr val="080808"/>
                </a:solidFill>
                <a:latin typeface="Times New Roman" panose="02020603050405020304" pitchFamily="18" charset="0"/>
                <a:ea typeface="楷体" panose="02010609060101010101" pitchFamily="49" charset="-122"/>
              </a:rPr>
              <a:t>则有两种选择，选择该物品和不选择该物品，此时</a:t>
            </a:r>
            <a:r>
              <a:rPr kumimoji="1" lang="en-US" altLang="zh-CN" sz="2200" b="1" smtClean="0">
                <a:solidFill>
                  <a:srgbClr val="080808"/>
                </a:solidFill>
                <a:latin typeface="Times New Roman" panose="02020603050405020304" pitchFamily="18" charset="0"/>
                <a:ea typeface="楷体" panose="02010609060101010101" pitchFamily="49" charset="-122"/>
              </a:rPr>
              <a:t>dp[i][j]</a:t>
            </a:r>
            <a:r>
              <a:rPr kumimoji="1" lang="zh-CN" altLang="en-US" sz="2200" smtClean="0">
                <a:solidFill>
                  <a:srgbClr val="080808"/>
                </a:solidFill>
                <a:latin typeface="Times New Roman" panose="02020603050405020304" pitchFamily="18" charset="0"/>
                <a:ea typeface="楷体" panose="02010609060101010101" pitchFamily="49" charset="-122"/>
              </a:rPr>
              <a:t>选择最大的值作为最优选择。</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3088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回顾</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背包问题，解题的流程是怎样的？</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470885" y="1772816"/>
            <a:ext cx="7812868" cy="3477875"/>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首先能够感觉这个问题可以用动态规划，怎么判断呢？该问题求最优解，且整体最优解是所有子问题最优解的组成，其实也就是判断动态规划核心思想符不符合该问题。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）选择数组（或是其他存储结构）能够描述问题状态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）通过再状态转移表中不断的转移，找到递推关系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完全背包问题：有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种物品有质量和对应的价值。每种物品数量是无限的，背包称重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假设数组名为</a:t>
            </a:r>
            <a:r>
              <a:rPr kumimoji="1" lang="en-US" altLang="zh-CN" sz="2200" smtClean="0">
                <a:solidFill>
                  <a:srgbClr val="080808"/>
                </a:solidFill>
                <a:latin typeface="Times New Roman" panose="02020603050405020304" pitchFamily="18" charset="0"/>
                <a:ea typeface="楷体" panose="02010609060101010101" pitchFamily="49" charset="-122"/>
              </a:rPr>
              <a:t>dp</a:t>
            </a:r>
            <a:r>
              <a:rPr kumimoji="1" lang="zh-CN" altLang="en-US" sz="2200" smtClean="0">
                <a:solidFill>
                  <a:srgbClr val="080808"/>
                </a:solidFill>
                <a:latin typeface="Times New Roman" panose="02020603050405020304" pitchFamily="18" charset="0"/>
                <a:ea typeface="楷体" panose="02010609060101010101" pitchFamily="49" charset="-122"/>
              </a:rPr>
              <a:t>，那么完全背包问题如何更新状态表？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不断的更新表格，能够发现更新的递推公式？</a:t>
            </a:r>
            <a:endParaRPr lang="zh-CN" altLang="en-US" sz="2200" dirty="0">
              <a:solidFill>
                <a:srgbClr val="080808"/>
              </a:solidFill>
              <a:latin typeface="Times New Roman" panose="02020603050405020304" pitchFamily="18" charset="0"/>
              <a:ea typeface="楷体" panose="02010609060101010101" pitchFamily="49" charset="-122"/>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max(dp[i-1][j-k*w[i]]+k*c[i],dp[i-1][j])</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a:t>
              </a:r>
              <a:r>
                <a:rPr lang="zh-CN" altLang="en-US" b="1" smtClean="0">
                  <a:latin typeface="Times New Roman" panose="02020603050405020304" pitchFamily="18" charset="0"/>
                  <a:cs typeface="Times New Roman" panose="02020603050405020304" pitchFamily="18" charset="0"/>
                </a:rPr>
                <a:t>其</a:t>
              </a:r>
              <a:r>
                <a:rPr lang="en-US" altLang="zh-CN" b="1" smtClean="0">
                  <a:latin typeface="Times New Roman" panose="02020603050405020304" pitchFamily="18" charset="0"/>
                  <a:cs typeface="Times New Roman" panose="02020603050405020304" pitchFamily="18" charset="0"/>
                </a:rPr>
                <a:t>k</a:t>
              </a:r>
              <a:r>
                <a:rPr lang="zh-CN" altLang="en-US" b="1" smtClean="0">
                  <a:latin typeface="Times New Roman" panose="02020603050405020304" pitchFamily="18" charset="0"/>
                  <a:cs typeface="Times New Roman" panose="02020603050405020304" pitchFamily="18" charset="0"/>
                </a:rPr>
                <a:t>取值范围 </a:t>
              </a:r>
              <a:r>
                <a:rPr lang="en-US" altLang="zh-CN" b="1" smtClean="0">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①</a:t>
            </a:r>
            <a:r>
              <a:rPr kumimoji="1" lang="zh-CN" altLang="en-US" sz="2200" smtClean="0">
                <a:solidFill>
                  <a:srgbClr val="080808"/>
                </a:solidFill>
                <a:latin typeface="Times New Roman" panose="02020603050405020304" pitchFamily="18" charset="0"/>
                <a:ea typeface="楷体" panose="02010609060101010101" pitchFamily="49" charset="-122"/>
              </a:rPr>
              <a:t>式表示</a:t>
            </a:r>
            <a:r>
              <a:rPr kumimoji="1" lang="zh-CN" altLang="en-US" sz="2200">
                <a:solidFill>
                  <a:srgbClr val="080808"/>
                </a:solidFill>
                <a:latin typeface="Times New Roman" panose="02020603050405020304" pitchFamily="18" charset="0"/>
                <a:ea typeface="楷体" panose="02010609060101010101" pitchFamily="49" charset="-122"/>
              </a:rPr>
              <a:t>如果当前的容量不能容下当前的物品，则</a:t>
            </a:r>
            <a:r>
              <a:rPr kumimoji="1" lang="zh-CN" altLang="en-US" sz="2200" smtClean="0">
                <a:solidFill>
                  <a:srgbClr val="080808"/>
                </a:solidFill>
                <a:latin typeface="Times New Roman" panose="02020603050405020304" pitchFamily="18" charset="0"/>
                <a:ea typeface="楷体" panose="02010609060101010101" pitchFamily="49" charset="-122"/>
              </a:rPr>
              <a:t>直接不</a:t>
            </a:r>
            <a:r>
              <a:rPr kumimoji="1" lang="zh-CN" altLang="en-US" sz="2200">
                <a:solidFill>
                  <a:srgbClr val="080808"/>
                </a:solidFill>
                <a:latin typeface="Times New Roman" panose="02020603050405020304" pitchFamily="18" charset="0"/>
                <a:ea typeface="楷体" panose="02010609060101010101" pitchFamily="49" charset="-122"/>
              </a:rPr>
              <a:t>选择该物品，此时状态表中直接保存</a:t>
            </a:r>
            <a:r>
              <a:rPr kumimoji="1" lang="en-US" altLang="zh-CN" sz="2200" b="1">
                <a:solidFill>
                  <a:srgbClr val="080808"/>
                </a:solidFill>
                <a:latin typeface="Times New Roman" panose="02020603050405020304" pitchFamily="18" charset="0"/>
                <a:ea typeface="楷体" panose="02010609060101010101" pitchFamily="49" charset="-122"/>
              </a:rPr>
              <a:t>dp[i-1][j]</a:t>
            </a:r>
            <a:r>
              <a:rPr kumimoji="1" lang="zh-CN" altLang="en-US" sz="2200">
                <a:solidFill>
                  <a:srgbClr val="080808"/>
                </a:solidFill>
                <a:latin typeface="Times New Roman" panose="02020603050405020304" pitchFamily="18" charset="0"/>
                <a:ea typeface="楷体" panose="02010609060101010101" pitchFamily="49" charset="-122"/>
              </a:rPr>
              <a:t>的值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755576" y="4547492"/>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②式表示</a:t>
            </a:r>
            <a:r>
              <a:rPr kumimoji="1" lang="zh-CN" altLang="en-US" sz="2200">
                <a:solidFill>
                  <a:srgbClr val="080808"/>
                </a:solidFill>
                <a:latin typeface="Times New Roman" panose="02020603050405020304" pitchFamily="18" charset="0"/>
                <a:ea typeface="楷体" panose="02010609060101010101" pitchFamily="49" charset="-122"/>
              </a:rPr>
              <a:t>如果当前的</a:t>
            </a:r>
            <a:r>
              <a:rPr kumimoji="1" lang="zh-CN" altLang="en-US" sz="2200" smtClean="0">
                <a:solidFill>
                  <a:srgbClr val="080808"/>
                </a:solidFill>
                <a:latin typeface="Times New Roman" panose="02020603050405020304" pitchFamily="18" charset="0"/>
                <a:ea typeface="楷体" panose="02010609060101010101" pitchFamily="49" charset="-122"/>
              </a:rPr>
              <a:t>容量能容</a:t>
            </a:r>
            <a:r>
              <a:rPr kumimoji="1" lang="zh-CN" altLang="en-US" sz="2200">
                <a:solidFill>
                  <a:srgbClr val="080808"/>
                </a:solidFill>
                <a:latin typeface="Times New Roman" panose="02020603050405020304" pitchFamily="18" charset="0"/>
                <a:ea typeface="楷体" panose="02010609060101010101" pitchFamily="49" charset="-122"/>
              </a:rPr>
              <a:t>下当前的物品</a:t>
            </a:r>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k</a:t>
            </a:r>
            <a:r>
              <a:rPr kumimoji="1" lang="zh-CN" altLang="en-US" sz="2200" smtClean="0">
                <a:solidFill>
                  <a:srgbClr val="080808"/>
                </a:solidFill>
                <a:latin typeface="Times New Roman" panose="02020603050405020304" pitchFamily="18" charset="0"/>
                <a:ea typeface="楷体" panose="02010609060101010101" pitchFamily="49" charset="-122"/>
              </a:rPr>
              <a:t>的值是多少就有多少种选择。选择最大的填充</a:t>
            </a:r>
            <a:r>
              <a:rPr kumimoji="1" lang="en-US" altLang="zh-CN" sz="2200" b="1" smtClean="0">
                <a:solidFill>
                  <a:srgbClr val="080808"/>
                </a:solidFill>
                <a:latin typeface="Times New Roman" panose="02020603050405020304" pitchFamily="18" charset="0"/>
                <a:ea typeface="楷体" panose="02010609060101010101" pitchFamily="49" charset="-122"/>
              </a:rPr>
              <a:t>dp[i][j]</a:t>
            </a:r>
            <a:endParaRPr kumimoji="1" lang="zh-CN" altLang="en-US" sz="2200" b="1">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3088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回顾完全背包问题，发现和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背包问题有一样的解题流程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470885" y="17728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多重背包问题：有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smtClean="0">
                <a:solidFill>
                  <a:srgbClr val="080808"/>
                </a:solidFill>
                <a:latin typeface="Times New Roman" panose="02020603050405020304" pitchFamily="18" charset="0"/>
                <a:ea typeface="楷体" panose="02010609060101010101" pitchFamily="49" charset="-122"/>
              </a:rPr>
              <a:t>S[i]={1,2,3,4}</a:t>
            </a:r>
            <a:r>
              <a:rPr lang="zh-CN" altLang="en-US" sz="2200" smtClean="0">
                <a:solidFill>
                  <a:srgbClr val="080808"/>
                </a:solidFill>
                <a:latin typeface="Times New Roman" panose="02020603050405020304" pitchFamily="18" charset="0"/>
                <a:ea typeface="楷体" panose="02010609060101010101" pitchFamily="49" charset="-122"/>
              </a:rPr>
              <a:t>，背包称重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1:</a:t>
            </a:r>
            <a:r>
              <a:rPr lang="zh-CN" altLang="en-US" smtClean="0">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a:t>
            </a:r>
            <a:r>
              <a:rPr lang="en-US" altLang="zh-CN" smtClean="0">
                <a:latin typeface="Times New Roman" panose="02020603050405020304" pitchFamily="18" charset="0"/>
                <a:cs typeface="Times New Roman" panose="02020603050405020304" pitchFamily="18" charset="0"/>
              </a:rPr>
              <a:t>S[i]&gt;=j/w[i]</a:t>
            </a:r>
            <a:r>
              <a:rPr lang="zh-CN" altLang="en-US" smtClean="0">
                <a:latin typeface="Times New Roman" panose="02020603050405020304" pitchFamily="18" charset="0"/>
                <a:cs typeface="Times New Roman" panose="02020603050405020304" pitchFamily="18" charset="0"/>
              </a:rPr>
              <a:t>时候就是完全背包问题，当</a:t>
            </a:r>
            <a:r>
              <a:rPr lang="en-US" altLang="zh-CN" smtClean="0">
                <a:latin typeface="Times New Roman" panose="02020603050405020304" pitchFamily="18" charset="0"/>
                <a:cs typeface="Times New Roman" panose="02020603050405020304" pitchFamily="18" charset="0"/>
              </a:rPr>
              <a:t>s[i]&lt;j/w[i]</a:t>
            </a:r>
            <a:r>
              <a:rPr lang="zh-CN" altLang="en-US" smtClean="0">
                <a:latin typeface="Times New Roman" panose="02020603050405020304" pitchFamily="18" charset="0"/>
                <a:cs typeface="Times New Roman" panose="02020603050405020304" pitchFamily="18" charset="0"/>
              </a:rPr>
              <a:t>时就后续的更新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的范围就是</a:t>
            </a:r>
            <a:r>
              <a:rPr lang="en-US" altLang="zh-CN" smtClean="0">
                <a:latin typeface="Times New Roman" panose="02020603050405020304" pitchFamily="18" charset="0"/>
                <a:cs typeface="Times New Roman" panose="02020603050405020304" pitchFamily="18" charset="0"/>
              </a:rPr>
              <a:t>1&lt;=k&lt;=s[i]</a:t>
            </a:r>
            <a:r>
              <a:rPr lang="zh-CN" altLang="en-US" smtClean="0">
                <a:latin typeface="Times New Roman" panose="02020603050405020304" pitchFamily="18" charset="0"/>
                <a:cs typeface="Times New Roman" panose="02020603050405020304" pitchFamily="18" charset="0"/>
              </a:rPr>
              <a:t>去更新状态表。</a:t>
            </a:r>
            <a:endParaRPr lang="en-US" altLang="zh-CN" smtClean="0">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：将完全背包问题转换成</a:t>
            </a:r>
            <a:r>
              <a:rPr lang="en-US" altLang="zh-CN" smtClean="0">
                <a:latin typeface="Times New Roman" panose="02020603050405020304" pitchFamily="18" charset="0"/>
                <a:cs typeface="Times New Roman" panose="02020603050405020304" pitchFamily="18" charset="0"/>
              </a:rPr>
              <a:t>0-1</a:t>
            </a:r>
            <a:r>
              <a:rPr lang="zh-CN" altLang="en-US" smtClean="0">
                <a:latin typeface="Times New Roman" panose="02020603050405020304" pitchFamily="18" charset="0"/>
                <a:cs typeface="Times New Roman" panose="02020603050405020304" pitchFamily="18" charset="0"/>
              </a:rPr>
              <a:t>背包问题去解决。</a:t>
            </a:r>
            <a:endParaRPr lang="en-US" altLang="zh-CN" smtClean="0">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a:t>
            </a:r>
            <a:r>
              <a:rPr kumimoji="1" lang="zh-CN" altLang="en-US" sz="2200" smtClean="0">
                <a:solidFill>
                  <a:srgbClr val="FF0000"/>
                </a:solidFill>
                <a:latin typeface="Times New Roman" panose="02020603050405020304" pitchFamily="18" charset="0"/>
                <a:ea typeface="楷体" panose="02010609060101010101" pitchFamily="49" charset="-122"/>
              </a:rPr>
              <a:t>这里同学思考一下，上述的动态规划算法是否可以进行优化？回想一下我们考试时候同学做题的表现。</a:t>
            </a:r>
            <a:endParaRPr kumimoji="1" lang="en-US" altLang="zh-CN" sz="2200" smtClean="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smtClean="0">
                <a:solidFill>
                  <a:srgbClr val="080808"/>
                </a:solidFill>
                <a:latin typeface="楷体" panose="02010609060101010101" pitchFamily="49" charset="-122"/>
                <a:ea typeface="楷体" panose="02010609060101010101" pitchFamily="49" charset="-122"/>
              </a:rPr>
              <a:t>（</a:t>
            </a:r>
            <a:r>
              <a:rPr lang="en-US" altLang="zh-CN" sz="2400" smtClean="0">
                <a:solidFill>
                  <a:srgbClr val="080808"/>
                </a:solidFill>
                <a:latin typeface="楷体" panose="02010609060101010101" pitchFamily="49" charset="-122"/>
                <a:ea typeface="楷体" panose="02010609060101010101" pitchFamily="49" charset="-122"/>
              </a:rPr>
              <a:t>a</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080808"/>
                </a:solidFill>
                <a:latin typeface="楷体" panose="02010609060101010101" pitchFamily="49" charset="-122"/>
                <a:ea typeface="楷体" panose="02010609060101010101" pitchFamily="49" charset="-122"/>
              </a:rPr>
              <a:t>动态规划处理流程           （</a:t>
            </a:r>
            <a:r>
              <a:rPr lang="en-US" altLang="zh-CN" sz="2400" smtClean="0">
                <a:solidFill>
                  <a:srgbClr val="080808"/>
                </a:solidFill>
                <a:latin typeface="楷体" panose="02010609060101010101" pitchFamily="49" charset="-122"/>
                <a:ea typeface="楷体" panose="02010609060101010101" pitchFamily="49" charset="-122"/>
              </a:rPr>
              <a:t>b</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a:solidFill>
                  <a:srgbClr val="080808"/>
                </a:solidFill>
                <a:latin typeface="楷体" panose="02010609060101010101" pitchFamily="49" charset="-122"/>
                <a:ea typeface="楷体" panose="02010609060101010101" pitchFamily="49" charset="-122"/>
              </a:rPr>
              <a:t>分</a:t>
            </a:r>
            <a:r>
              <a:rPr lang="zh-CN" altLang="en-US" sz="2400" smtClean="0">
                <a:solidFill>
                  <a:srgbClr val="080808"/>
                </a:solidFill>
                <a:latin typeface="楷体" panose="02010609060101010101" pitchFamily="49" charset="-122"/>
                <a:ea typeface="楷体" panose="02010609060101010101" pitchFamily="49" charset="-122"/>
              </a:rPr>
              <a:t>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smtClean="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smtClean="0">
                <a:solidFill>
                  <a:srgbClr val="0000FF"/>
                </a:solidFill>
                <a:latin typeface="宋体" panose="02010600030101010101" pitchFamily="2" charset="-122"/>
              </a:rPr>
              <a:t>例</a:t>
            </a:r>
            <a:r>
              <a:rPr lang="zh-CN" altLang="en-US" b="1" dirty="0">
                <a:solidFill>
                  <a:srgbClr val="0000FF"/>
                </a:solidFill>
                <a:latin typeface="宋体" panose="02010600030101010101" pitchFamily="2" charset="-122"/>
              </a:rPr>
              <a:t>：现在有面值为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smtClean="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smtClean="0"/>
              <a:t>元</a:t>
            </a:r>
            <a:r>
              <a:rPr lang="zh-CN" altLang="en-US" b="1" dirty="0" smtClean="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a:t>
            </a:r>
            <a:r>
              <a:rPr lang="zh-CN" altLang="en-US" b="1" dirty="0" smtClean="0">
                <a:solidFill>
                  <a:srgbClr val="0000FF"/>
                </a:solidFill>
                <a:latin typeface="宋体" panose="02010600030101010101" pitchFamily="2" charset="-122"/>
              </a:rPr>
              <a:t>够</a:t>
            </a:r>
            <a:r>
              <a:rPr lang="en-US" altLang="zh-CN" b="1" dirty="0" smtClean="0">
                <a:solidFill>
                  <a:srgbClr val="0000FF"/>
                </a:solidFill>
                <a:latin typeface="宋体" panose="02010600030101010101" pitchFamily="2" charset="-122"/>
              </a:rPr>
              <a:t>9</a:t>
            </a:r>
            <a:r>
              <a:rPr lang="zh-CN" altLang="en-US" b="1" dirty="0" smtClean="0">
                <a:solidFill>
                  <a:srgbClr val="0000FF"/>
                </a:solidFill>
                <a:latin typeface="宋体" panose="02010600030101010101" pitchFamily="2" charset="-122"/>
              </a:rPr>
              <a:t>元</a:t>
            </a:r>
            <a:r>
              <a:rPr lang="zh-CN" altLang="en-US" b="1" dirty="0">
                <a:solidFill>
                  <a:srgbClr val="0000FF"/>
                </a:solidFill>
                <a:latin typeface="宋体" panose="02010600030101010101" pitchFamily="2" charset="-122"/>
              </a:rPr>
              <a:t>？</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a:t>
            </a:r>
            <a:r>
              <a:rPr lang="en-US" altLang="zh-CN" sz="2400" b="1" kern="100" dirty="0" smtClean="0">
                <a:latin typeface="Cambria" panose="02040503050406030204" pitchFamily="18" charset="0"/>
                <a:cs typeface="Times New Roman" panose="02020603050405020304" pitchFamily="18" charset="0"/>
              </a:rPr>
              <a:t>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hq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解题</a:t>
            </a:r>
            <a:r>
              <a:rPr lang="zh-CN" altLang="en-US" sz="2200" dirty="0">
                <a:solidFill>
                  <a:srgbClr val="080808"/>
                </a:solidFill>
                <a:latin typeface="楷体" panose="02010609060101010101" pitchFamily="49" charset="-122"/>
                <a:ea typeface="楷体" panose="02010609060101010101" pitchFamily="49" charset="-122"/>
              </a:rPr>
              <a:t>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a:t>
            </a:r>
            <a:r>
              <a:rPr lang="en-US" altLang="zh-CN" sz="2200" dirty="0" smtClean="0">
                <a:solidFill>
                  <a:srgbClr val="080808"/>
                </a:solidFill>
                <a:latin typeface="楷体" panose="02010609060101010101" pitchFamily="49" charset="-122"/>
                <a:ea typeface="楷体" panose="02010609060101010101" pitchFamily="49" charset="-122"/>
              </a:rPr>
              <a:t>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从</a:t>
            </a:r>
            <a:r>
              <a:rPr lang="zh-CN" altLang="en-US" sz="2200" dirty="0">
                <a:solidFill>
                  <a:srgbClr val="080808"/>
                </a:solidFill>
                <a:latin typeface="楷体" panose="02010609060101010101" pitchFamily="49" charset="-122"/>
                <a:ea typeface="楷体" panose="02010609060101010101" pitchFamily="49" charset="-122"/>
              </a:rPr>
              <a:t>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r>
              <a:rPr lang="zh-CN" altLang="en-US" sz="2200" dirty="0" smtClean="0">
                <a:solidFill>
                  <a:srgbClr val="080808"/>
                </a:solidFill>
                <a:latin typeface="楷体" panose="02010609060101010101" pitchFamily="49" charset="-122"/>
                <a:ea typeface="楷体" panose="02010609060101010101" pitchFamily="49" charset="-122"/>
              </a:rPr>
              <a:t>。</a:t>
            </a:r>
            <a:endParaRPr lang="en-US" altLang="zh-CN" sz="2200" dirty="0" smtClean="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r>
              <a:rPr lang="zh-CN" altLang="en-US" sz="2200" dirty="0" smtClean="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7198</Words>
  <Application>WPS 演示</Application>
  <PresentationFormat>全屏显示(4:3)</PresentationFormat>
  <Paragraphs>811</Paragraphs>
  <Slides>41</Slides>
  <Notes>5</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41</vt:i4>
      </vt:variant>
    </vt:vector>
  </HeadingPairs>
  <TitlesOfParts>
    <vt:vector size="58" baseType="lpstr">
      <vt:lpstr>Arial</vt:lpstr>
      <vt:lpstr>宋体</vt:lpstr>
      <vt:lpstr>Wingdings</vt:lpstr>
      <vt:lpstr>华文细黑</vt:lpstr>
      <vt:lpstr>MS UI Gothic</vt:lpstr>
      <vt:lpstr>Calibri</vt:lpstr>
      <vt:lpstr>Verdana</vt:lpstr>
      <vt:lpstr>方正正大黑简体</vt:lpstr>
      <vt:lpstr>黑体</vt:lpstr>
      <vt:lpstr>微软雅黑</vt:lpstr>
      <vt:lpstr>隶书</vt:lpstr>
      <vt:lpstr>Tahoma</vt:lpstr>
      <vt:lpstr>楷体</vt:lpstr>
      <vt:lpstr>Times New Roman</vt:lpstr>
      <vt:lpstr>Arial Unicode MS</vt:lpstr>
      <vt:lpstr>Cambria</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406</cp:revision>
  <dcterms:created xsi:type="dcterms:W3CDTF">2010-09-23T08:30:00Z</dcterms:created>
  <dcterms:modified xsi:type="dcterms:W3CDTF">2025-11-13T16:03:20Z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