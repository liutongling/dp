
<file path=[Content_Types].xml><?xml version="1.0" encoding="utf-8"?>
<Types xmlns="http://schemas.openxmlformats.org/package/2006/content-types">
  <Default Extension="jpeg" ContentType="image/jpeg"/>
  <Default Extension="JPG" ContentType="image/.jpg"/>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76"/>
  </p:handoutMasterIdLst>
  <p:sldIdLst>
    <p:sldId id="256" r:id="rId3"/>
    <p:sldId id="361" r:id="rId5"/>
    <p:sldId id="349" r:id="rId6"/>
    <p:sldId id="257" r:id="rId7"/>
    <p:sldId id="356" r:id="rId8"/>
    <p:sldId id="350" r:id="rId9"/>
    <p:sldId id="351" r:id="rId10"/>
    <p:sldId id="259" r:id="rId11"/>
    <p:sldId id="352" r:id="rId12"/>
    <p:sldId id="353" r:id="rId13"/>
    <p:sldId id="355" r:id="rId14"/>
    <p:sldId id="380" r:id="rId15"/>
    <p:sldId id="368" r:id="rId16"/>
    <p:sldId id="354" r:id="rId17"/>
    <p:sldId id="358" r:id="rId18"/>
    <p:sldId id="359" r:id="rId19"/>
    <p:sldId id="357" r:id="rId20"/>
    <p:sldId id="329" r:id="rId21"/>
    <p:sldId id="338" r:id="rId22"/>
    <p:sldId id="362" r:id="rId23"/>
    <p:sldId id="363" r:id="rId24"/>
    <p:sldId id="339" r:id="rId25"/>
    <p:sldId id="364" r:id="rId26"/>
    <p:sldId id="340" r:id="rId27"/>
    <p:sldId id="341" r:id="rId28"/>
    <p:sldId id="342" r:id="rId29"/>
    <p:sldId id="366" r:id="rId30"/>
    <p:sldId id="343" r:id="rId31"/>
    <p:sldId id="367" r:id="rId32"/>
    <p:sldId id="369" r:id="rId33"/>
    <p:sldId id="365" r:id="rId34"/>
    <p:sldId id="370" r:id="rId35"/>
    <p:sldId id="371" r:id="rId36"/>
    <p:sldId id="381" r:id="rId37"/>
    <p:sldId id="382" r:id="rId38"/>
    <p:sldId id="372" r:id="rId39"/>
    <p:sldId id="373" r:id="rId40"/>
    <p:sldId id="374" r:id="rId41"/>
    <p:sldId id="375" r:id="rId42"/>
    <p:sldId id="376" r:id="rId43"/>
    <p:sldId id="377" r:id="rId44"/>
    <p:sldId id="378" r:id="rId45"/>
    <p:sldId id="379" r:id="rId46"/>
    <p:sldId id="346" r:id="rId47"/>
    <p:sldId id="345" r:id="rId48"/>
    <p:sldId id="344" r:id="rId49"/>
    <p:sldId id="290" r:id="rId50"/>
    <p:sldId id="291" r:id="rId51"/>
    <p:sldId id="292" r:id="rId52"/>
    <p:sldId id="293" r:id="rId53"/>
    <p:sldId id="294" r:id="rId54"/>
    <p:sldId id="348" r:id="rId55"/>
    <p:sldId id="347" r:id="rId56"/>
    <p:sldId id="295" r:id="rId57"/>
    <p:sldId id="296" r:id="rId58"/>
    <p:sldId id="298" r:id="rId59"/>
    <p:sldId id="303" r:id="rId60"/>
    <p:sldId id="304" r:id="rId61"/>
    <p:sldId id="306" r:id="rId62"/>
    <p:sldId id="307" r:id="rId63"/>
    <p:sldId id="308" r:id="rId64"/>
    <p:sldId id="313" r:id="rId65"/>
    <p:sldId id="314" r:id="rId66"/>
    <p:sldId id="315" r:id="rId67"/>
    <p:sldId id="316" r:id="rId68"/>
    <p:sldId id="317" r:id="rId69"/>
    <p:sldId id="327" r:id="rId70"/>
    <p:sldId id="334" r:id="rId71"/>
    <p:sldId id="333" r:id="rId72"/>
    <p:sldId id="335" r:id="rId73"/>
    <p:sldId id="336" r:id="rId74"/>
    <p:sldId id="337" r:id="rId75"/>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046" userDrawn="1">
          <p15:clr>
            <a:srgbClr val="A4A3A4"/>
          </p15:clr>
        </p15:guide>
        <p15:guide id="2" pos="2793"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FC01E"/>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19" autoAdjust="0"/>
    <p:restoredTop sz="95126" autoAdjust="0"/>
  </p:normalViewPr>
  <p:slideViewPr>
    <p:cSldViewPr showGuides="1">
      <p:cViewPr varScale="1">
        <p:scale>
          <a:sx n="110" d="100"/>
          <a:sy n="110" d="100"/>
        </p:scale>
        <p:origin x="1800" y="78"/>
      </p:cViewPr>
      <p:guideLst>
        <p:guide orient="horz" pos="2046"/>
        <p:guide pos="2793"/>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0" Type="http://schemas.openxmlformats.org/officeDocument/2006/relationships/commentAuthors" Target="commentAuthors.xml"/><Relationship Id="rId8" Type="http://schemas.openxmlformats.org/officeDocument/2006/relationships/slide" Target="slides/slide5.xml"/><Relationship Id="rId79" Type="http://schemas.openxmlformats.org/officeDocument/2006/relationships/tableStyles" Target="tableStyles.xml"/><Relationship Id="rId78" Type="http://schemas.openxmlformats.org/officeDocument/2006/relationships/viewProps" Target="viewProps.xml"/><Relationship Id="rId77" Type="http://schemas.openxmlformats.org/officeDocument/2006/relationships/presProps" Target="presProps.xml"/><Relationship Id="rId76" Type="http://schemas.openxmlformats.org/officeDocument/2006/relationships/handoutMaster" Target="handoutMasters/handoutMaster1.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我们在学习</a:t>
            </a:r>
            <a:r>
              <a:rPr lang="en-US" altLang="zh-CN"/>
              <a:t>C</a:t>
            </a:r>
            <a:r>
              <a:rPr lang="zh-CN" altLang="en-US"/>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a:t>其实，动态规划与分治很类似，他们同时都需要一个形式，分治里面称递归式，动态规划里面是</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7.png"/></Relationships>
</file>

<file path=ppt/slides/_rels/slide4.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image" Target="../media/image8.png"/><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8" Type="http://schemas.openxmlformats.org/officeDocument/2006/relationships/slideLayout" Target="../slideLayouts/slideLayout2.xml"/><Relationship Id="rId17" Type="http://schemas.openxmlformats.org/officeDocument/2006/relationships/image" Target="../media/image11.png"/><Relationship Id="rId16" Type="http://schemas.openxmlformats.org/officeDocument/2006/relationships/tags" Target="../tags/tag13.xml"/><Relationship Id="rId15" Type="http://schemas.openxmlformats.org/officeDocument/2006/relationships/image" Target="../media/image10.png"/><Relationship Id="rId14" Type="http://schemas.openxmlformats.org/officeDocument/2006/relationships/tags" Target="../tags/tag12.xml"/><Relationship Id="rId13" Type="http://schemas.openxmlformats.org/officeDocument/2006/relationships/image" Target="../media/image9.png"/><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2" Type="http://schemas.openxmlformats.org/officeDocument/2006/relationships/notesSlide" Target="../notesSlides/notesSlide8.xml"/><Relationship Id="rId31" Type="http://schemas.openxmlformats.org/officeDocument/2006/relationships/slideLayout" Target="../slideLayouts/slideLayout2.xml"/><Relationship Id="rId30" Type="http://schemas.openxmlformats.org/officeDocument/2006/relationships/tags" Target="../tags/tag43.xml"/><Relationship Id="rId3" Type="http://schemas.openxmlformats.org/officeDocument/2006/relationships/tags" Target="../tags/tag16.xml"/><Relationship Id="rId29" Type="http://schemas.openxmlformats.org/officeDocument/2006/relationships/tags" Target="../tags/tag42.xml"/><Relationship Id="rId28" Type="http://schemas.openxmlformats.org/officeDocument/2006/relationships/tags" Target="../tags/tag41.xml"/><Relationship Id="rId27" Type="http://schemas.openxmlformats.org/officeDocument/2006/relationships/tags" Target="../tags/tag40.xml"/><Relationship Id="rId26" Type="http://schemas.openxmlformats.org/officeDocument/2006/relationships/tags" Target="../tags/tag39.xml"/><Relationship Id="rId25" Type="http://schemas.openxmlformats.org/officeDocument/2006/relationships/tags" Target="../tags/tag38.xml"/><Relationship Id="rId24" Type="http://schemas.openxmlformats.org/officeDocument/2006/relationships/tags" Target="../tags/tag37.xml"/><Relationship Id="rId23" Type="http://schemas.openxmlformats.org/officeDocument/2006/relationships/tags" Target="../tags/tag36.xml"/><Relationship Id="rId22" Type="http://schemas.openxmlformats.org/officeDocument/2006/relationships/tags" Target="../tags/tag35.xml"/><Relationship Id="rId21" Type="http://schemas.openxmlformats.org/officeDocument/2006/relationships/tags" Target="../tags/tag34.xml"/><Relationship Id="rId20" Type="http://schemas.openxmlformats.org/officeDocument/2006/relationships/tags" Target="../tags/tag33.xml"/><Relationship Id="rId2" Type="http://schemas.openxmlformats.org/officeDocument/2006/relationships/tags" Target="../tags/tag15.xml"/><Relationship Id="rId19" Type="http://schemas.openxmlformats.org/officeDocument/2006/relationships/tags" Target="../tags/tag32.xml"/><Relationship Id="rId18" Type="http://schemas.openxmlformats.org/officeDocument/2006/relationships/tags" Target="../tags/tag31.xml"/><Relationship Id="rId17" Type="http://schemas.openxmlformats.org/officeDocument/2006/relationships/tags" Target="../tags/tag30.xml"/><Relationship Id="rId16" Type="http://schemas.openxmlformats.org/officeDocument/2006/relationships/tags" Target="../tags/tag29.xml"/><Relationship Id="rId15" Type="http://schemas.openxmlformats.org/officeDocument/2006/relationships/tags" Target="../tags/tag28.xml"/><Relationship Id="rId14" Type="http://schemas.openxmlformats.org/officeDocument/2006/relationships/tags" Target="../tags/tag27.xml"/><Relationship Id="rId13" Type="http://schemas.openxmlformats.org/officeDocument/2006/relationships/tags" Target="../tags/tag26.xml"/><Relationship Id="rId12" Type="http://schemas.openxmlformats.org/officeDocument/2006/relationships/tags" Target="../tags/tag25.xml"/><Relationship Id="rId11" Type="http://schemas.openxmlformats.org/officeDocument/2006/relationships/tags" Target="../tags/tag24.xml"/><Relationship Id="rId10" Type="http://schemas.openxmlformats.org/officeDocument/2006/relationships/tags" Target="../tags/tag23.xml"/><Relationship Id="rId1" Type="http://schemas.openxmlformats.org/officeDocument/2006/relationships/tags" Target="../tags/tag14.xml"/></Relationships>
</file>

<file path=ppt/slides/_rels/slide11.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3" Type="http://schemas.openxmlformats.org/officeDocument/2006/relationships/notesSlide" Target="../notesSlides/notesSlide9.xml"/><Relationship Id="rId32" Type="http://schemas.openxmlformats.org/officeDocument/2006/relationships/slideLayout" Target="../slideLayouts/slideLayout2.xml"/><Relationship Id="rId31" Type="http://schemas.openxmlformats.org/officeDocument/2006/relationships/image" Target="../media/image13.png"/><Relationship Id="rId30" Type="http://schemas.openxmlformats.org/officeDocument/2006/relationships/tags" Target="../tags/tag73.xml"/><Relationship Id="rId3" Type="http://schemas.openxmlformats.org/officeDocument/2006/relationships/tags" Target="../tags/tag46.xml"/><Relationship Id="rId29" Type="http://schemas.openxmlformats.org/officeDocument/2006/relationships/tags" Target="../tags/tag72.xml"/><Relationship Id="rId28" Type="http://schemas.openxmlformats.org/officeDocument/2006/relationships/tags" Target="../tags/tag71.xml"/><Relationship Id="rId27" Type="http://schemas.openxmlformats.org/officeDocument/2006/relationships/tags" Target="../tags/tag70.xml"/><Relationship Id="rId26" Type="http://schemas.openxmlformats.org/officeDocument/2006/relationships/tags" Target="../tags/tag69.xml"/><Relationship Id="rId25" Type="http://schemas.openxmlformats.org/officeDocument/2006/relationships/tags" Target="../tags/tag68.xml"/><Relationship Id="rId24" Type="http://schemas.openxmlformats.org/officeDocument/2006/relationships/tags" Target="../tags/tag67.xml"/><Relationship Id="rId23" Type="http://schemas.openxmlformats.org/officeDocument/2006/relationships/tags" Target="../tags/tag66.xml"/><Relationship Id="rId22" Type="http://schemas.openxmlformats.org/officeDocument/2006/relationships/tags" Target="../tags/tag65.xml"/><Relationship Id="rId21" Type="http://schemas.openxmlformats.org/officeDocument/2006/relationships/tags" Target="../tags/tag64.xml"/><Relationship Id="rId20" Type="http://schemas.openxmlformats.org/officeDocument/2006/relationships/tags" Target="../tags/tag63.xml"/><Relationship Id="rId2" Type="http://schemas.openxmlformats.org/officeDocument/2006/relationships/tags" Target="../tags/tag45.xml"/><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tags" Target="../tags/tag4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76.xml"/><Relationship Id="rId2" Type="http://schemas.openxmlformats.org/officeDocument/2006/relationships/tags" Target="../tags/tag75.xml"/><Relationship Id="rId1" Type="http://schemas.openxmlformats.org/officeDocument/2006/relationships/tags" Target="../tags/tag7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7" Type="http://schemas.openxmlformats.org/officeDocument/2006/relationships/notesSlide" Target="../notesSlides/notesSlide14.xml"/><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19.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6.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image" Target="../media/image21.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4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4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1.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2.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6.png"/><Relationship Id="rId6" Type="http://schemas.openxmlformats.org/officeDocument/2006/relationships/image" Target="../media/image25.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3.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4.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5.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9.png"/><Relationship Id="rId6" Type="http://schemas.openxmlformats.org/officeDocument/2006/relationships/image" Target="../media/image28.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0.emf"/></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2.png"/><Relationship Id="rId6" Type="http://schemas.openxmlformats.org/officeDocument/2006/relationships/image" Target="../media/image31.wmf"/><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1.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3.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5.png"/><Relationship Id="rId6" Type="http://schemas.openxmlformats.org/officeDocument/2006/relationships/image" Target="../media/image34.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4.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7.png"/><Relationship Id="rId6" Type="http://schemas.openxmlformats.org/officeDocument/2006/relationships/image" Target="../media/image36.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5.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6.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9.emf"/><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7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7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7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dirty="0">
              <a:latin typeface="Verdana" panose="020B0604030504040204" pitchFamily="34" charset="0"/>
            </a:endParaRPr>
          </a:p>
        </p:txBody>
      </p:sp>
      <p:sp>
        <p:nvSpPr>
          <p:cNvPr id="5"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5</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动态规划法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pic>
        <p:nvPicPr>
          <p:cNvPr id="2" name="图片 1"/>
          <p:cNvPicPr>
            <a:picLocks noChangeAspect="1"/>
          </p:cNvPicPr>
          <p:nvPr/>
        </p:nvPicPr>
        <p:blipFill>
          <a:blip r:embed="rId1"/>
          <a:stretch>
            <a:fillRect/>
          </a:stretch>
        </p:blipFill>
        <p:spPr>
          <a:xfrm>
            <a:off x="1056005" y="2564765"/>
            <a:ext cx="7077075" cy="3438525"/>
          </a:xfrm>
          <a:prstGeom prst="rect">
            <a:avLst/>
          </a:prstGeom>
        </p:spPr>
      </p:pic>
      <p:pic>
        <p:nvPicPr>
          <p:cNvPr id="3" name="图片 2"/>
          <p:cNvPicPr>
            <a:picLocks noChangeAspect="1"/>
          </p:cNvPicPr>
          <p:nvPr/>
        </p:nvPicPr>
        <p:blipFill>
          <a:blip r:embed="rId2"/>
          <a:stretch>
            <a:fillRect/>
          </a:stretch>
        </p:blipFill>
        <p:spPr>
          <a:xfrm>
            <a:off x="1187450" y="1202690"/>
            <a:ext cx="7305675" cy="1362075"/>
          </a:xfrm>
          <a:prstGeom prst="rect">
            <a:avLst/>
          </a:prstGeom>
        </p:spPr>
      </p:pic>
      <p:sp>
        <p:nvSpPr>
          <p:cNvPr id="7" name="文本框 6"/>
          <p:cNvSpPr txBox="1"/>
          <p:nvPr/>
        </p:nvSpPr>
        <p:spPr>
          <a:xfrm>
            <a:off x="1118235" y="816610"/>
            <a:ext cx="2373630" cy="368300"/>
          </a:xfrm>
          <a:prstGeom prst="rect">
            <a:avLst/>
          </a:prstGeom>
          <a:noFill/>
        </p:spPr>
        <p:txBody>
          <a:bodyPr wrap="square" rtlCol="0">
            <a:spAutoFit/>
          </a:bodyPr>
          <a:p>
            <a:r>
              <a:rPr lang="zh-CN" altLang="en-US"/>
              <a:t>课后</a:t>
            </a:r>
            <a:r>
              <a:rPr lang="zh-CN" altLang="en-US"/>
              <a:t>作业：</a:t>
            </a: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pic>
        <p:nvPicPr>
          <p:cNvPr id="3" name="图片 2"/>
          <p:cNvPicPr>
            <a:picLocks noChangeAspect="1"/>
          </p:cNvPicPr>
          <p:nvPr/>
        </p:nvPicPr>
        <p:blipFill>
          <a:blip r:embed="rId1"/>
          <a:stretch>
            <a:fillRect/>
          </a:stretch>
        </p:blipFill>
        <p:spPr>
          <a:xfrm>
            <a:off x="1835150" y="1497330"/>
            <a:ext cx="6043295" cy="4983480"/>
          </a:xfrm>
          <a:prstGeom prst="rect">
            <a:avLst/>
          </a:prstGeom>
        </p:spPr>
      </p:pic>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p:cNvSpPr>
            <a:spLocks noChangeArrowheads="1"/>
          </p:cNvSpPr>
          <p:nvPr/>
        </p:nvSpPr>
        <p:spPr bwMode="auto">
          <a:xfrm>
            <a:off x="0" y="1484784"/>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4" name="Freeform 6"/>
          <p:cNvSpPr/>
          <p:nvPr/>
        </p:nvSpPr>
        <p:spPr bwMode="auto">
          <a:xfrm>
            <a:off x="105924" y="1574045"/>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6" name="Freeform 7"/>
          <p:cNvSpPr>
            <a:spLocks noEditPoints="1"/>
          </p:cNvSpPr>
          <p:nvPr/>
        </p:nvSpPr>
        <p:spPr bwMode="auto">
          <a:xfrm>
            <a:off x="566515" y="1931093"/>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8"/>
          <p:cNvSpPr>
            <a:spLocks noEditPoints="1"/>
          </p:cNvSpPr>
          <p:nvPr/>
        </p:nvSpPr>
        <p:spPr bwMode="auto">
          <a:xfrm>
            <a:off x="595079" y="1495495"/>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24"/>
          <p:cNvSpPr/>
          <p:nvPr>
            <p:custDataLst>
              <p:tags r:id="rId1"/>
            </p:custDataLst>
          </p:nvPr>
        </p:nvSpPr>
        <p:spPr bwMode="auto">
          <a:xfrm>
            <a:off x="4660081" y="3140569"/>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9" name="Freeform 26"/>
          <p:cNvSpPr/>
          <p:nvPr>
            <p:custDataLst>
              <p:tags r:id="rId2"/>
            </p:custDataLst>
          </p:nvPr>
        </p:nvSpPr>
        <p:spPr bwMode="auto">
          <a:xfrm>
            <a:off x="4660081" y="3961463"/>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0" name="Freeform 27">
            <a:hlinkClick r:id="" action="ppaction://noaction"/>
          </p:cNvPr>
          <p:cNvSpPr/>
          <p:nvPr>
            <p:custDataLst>
              <p:tags r:id="rId3"/>
            </p:custDataLst>
          </p:nvPr>
        </p:nvSpPr>
        <p:spPr bwMode="auto">
          <a:xfrm>
            <a:off x="4075713" y="4796620"/>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p>
        </p:txBody>
      </p:sp>
      <p:sp>
        <p:nvSpPr>
          <p:cNvPr id="11" name="Freeform 28"/>
          <p:cNvSpPr/>
          <p:nvPr>
            <p:custDataLst>
              <p:tags r:id="rId4"/>
            </p:custDataLst>
          </p:nvPr>
        </p:nvSpPr>
        <p:spPr bwMode="auto">
          <a:xfrm>
            <a:off x="4660081" y="4796620"/>
            <a:ext cx="3567476"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3" name="TextBox 47"/>
          <p:cNvSpPr txBox="1"/>
          <p:nvPr>
            <p:custDataLst>
              <p:tags r:id="rId5"/>
            </p:custDataLst>
          </p:nvPr>
        </p:nvSpPr>
        <p:spPr>
          <a:xfrm>
            <a:off x="4784388" y="3189149"/>
            <a:ext cx="3136940"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5.1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动态规划法概述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4" name="TextBox 48"/>
          <p:cNvSpPr txBox="1"/>
          <p:nvPr>
            <p:custDataLst>
              <p:tags r:id="rId6"/>
            </p:custDataLst>
          </p:nvPr>
        </p:nvSpPr>
        <p:spPr>
          <a:xfrm>
            <a:off x="4784388" y="4054686"/>
            <a:ext cx="3136940"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5.2 </a:t>
            </a:r>
            <a:r>
              <a:rPr lang="zh-CN" altLang="en-US" sz="2200" dirty="0">
                <a:solidFill>
                  <a:schemeClr val="tx2">
                    <a:lumMod val="75000"/>
                    <a:lumOff val="25000"/>
                  </a:schemeClr>
                </a:solidFill>
              </a:rPr>
              <a:t>动态规划法的案例</a:t>
            </a:r>
            <a:endParaRPr lang="zh-CN" altLang="en-US" sz="2200" dirty="0">
              <a:solidFill>
                <a:schemeClr val="tx2">
                  <a:lumMod val="75000"/>
                  <a:lumOff val="25000"/>
                </a:schemeClr>
              </a:solidFill>
            </a:endParaRPr>
          </a:p>
        </p:txBody>
      </p:sp>
      <p:sp>
        <p:nvSpPr>
          <p:cNvPr id="15" name="TextBox 49"/>
          <p:cNvSpPr txBox="1"/>
          <p:nvPr>
            <p:custDataLst>
              <p:tags r:id="rId7"/>
            </p:custDataLst>
          </p:nvPr>
        </p:nvSpPr>
        <p:spPr>
          <a:xfrm>
            <a:off x="4784388" y="4840885"/>
            <a:ext cx="3744416"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5.3 </a:t>
            </a:r>
            <a:r>
              <a:rPr lang="zh-CN" altLang="en-US" sz="2200" dirty="0">
                <a:solidFill>
                  <a:schemeClr val="tx2">
                    <a:lumMod val="75000"/>
                    <a:lumOff val="25000"/>
                  </a:schemeClr>
                </a:solidFill>
              </a:rPr>
              <a:t>动态规划法的练习</a:t>
            </a:r>
            <a:endParaRPr lang="zh-CN" altLang="en-US" sz="2200" dirty="0">
              <a:solidFill>
                <a:schemeClr val="tx2">
                  <a:lumMod val="75000"/>
                  <a:lumOff val="25000"/>
                </a:schemeClr>
              </a:solidFill>
            </a:endParaRPr>
          </a:p>
        </p:txBody>
      </p:sp>
      <p:pic>
        <p:nvPicPr>
          <p:cNvPr id="17" name="Picture 2" descr="E:\我的文档\Nipic_6852949_20110401101000478152.png"/>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a:stretch>
            <a:fillRect/>
          </a:stretch>
        </p:blipFill>
        <p:spPr bwMode="auto">
          <a:xfrm>
            <a:off x="582589" y="2854504"/>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8" name="Freeform 41"/>
          <p:cNvSpPr>
            <a:spLocks noEditPoints="1"/>
          </p:cNvSpPr>
          <p:nvPr>
            <p:custDataLst>
              <p:tags r:id="rId9"/>
            </p:custDataLst>
          </p:nvPr>
        </p:nvSpPr>
        <p:spPr bwMode="auto">
          <a:xfrm>
            <a:off x="4161356" y="3245642"/>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19" name="Freeform 47"/>
          <p:cNvSpPr>
            <a:spLocks noEditPoints="1"/>
          </p:cNvSpPr>
          <p:nvPr>
            <p:custDataLst>
              <p:tags r:id="rId10"/>
            </p:custDataLst>
          </p:nvPr>
        </p:nvSpPr>
        <p:spPr bwMode="auto">
          <a:xfrm>
            <a:off x="4213508" y="4054685"/>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0" name="Freeform 49"/>
          <p:cNvSpPr>
            <a:spLocks noEditPoints="1"/>
          </p:cNvSpPr>
          <p:nvPr>
            <p:custDataLst>
              <p:tags r:id="rId11"/>
            </p:custDataLst>
          </p:nvPr>
        </p:nvSpPr>
        <p:spPr bwMode="auto">
          <a:xfrm>
            <a:off x="4177291" y="4892217"/>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21" name="图片 20"/>
          <p:cNvPicPr>
            <a:picLocks noChangeAspect="1"/>
          </p:cNvPicPr>
          <p:nvPr>
            <p:custDataLst>
              <p:tags r:id="rId12"/>
            </p:custDataLst>
          </p:nvPr>
        </p:nvPicPr>
        <p:blipFill>
          <a:blip r:embed="rId13"/>
          <a:stretch>
            <a:fillRect/>
          </a:stretch>
        </p:blipFill>
        <p:spPr>
          <a:xfrm>
            <a:off x="3896498" y="4782203"/>
            <a:ext cx="558000" cy="562768"/>
          </a:xfrm>
          <a:prstGeom prst="rect">
            <a:avLst/>
          </a:prstGeom>
        </p:spPr>
      </p:pic>
      <p:pic>
        <p:nvPicPr>
          <p:cNvPr id="22" name="图片 21"/>
          <p:cNvPicPr>
            <a:picLocks noChangeAspect="1"/>
          </p:cNvPicPr>
          <p:nvPr>
            <p:custDataLst>
              <p:tags r:id="rId14"/>
            </p:custDataLst>
          </p:nvPr>
        </p:nvPicPr>
        <p:blipFill>
          <a:blip r:embed="rId15"/>
          <a:stretch>
            <a:fillRect/>
          </a:stretch>
        </p:blipFill>
        <p:spPr>
          <a:xfrm>
            <a:off x="3872355" y="3950247"/>
            <a:ext cx="558000" cy="558000"/>
          </a:xfrm>
          <a:prstGeom prst="rect">
            <a:avLst/>
          </a:prstGeom>
        </p:spPr>
      </p:pic>
      <p:pic>
        <p:nvPicPr>
          <p:cNvPr id="23" name="图片 22"/>
          <p:cNvPicPr>
            <a:picLocks noChangeAspect="1"/>
          </p:cNvPicPr>
          <p:nvPr>
            <p:custDataLst>
              <p:tags r:id="rId16"/>
            </p:custDataLst>
          </p:nvPr>
        </p:nvPicPr>
        <p:blipFill>
          <a:blip r:embed="rId17"/>
          <a:stretch>
            <a:fillRect/>
          </a:stretch>
        </p:blipFill>
        <p:spPr>
          <a:xfrm>
            <a:off x="3885235" y="3140569"/>
            <a:ext cx="558000" cy="5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nvSpPr>
        <p:spPr>
          <a:xfrm>
            <a:off x="395605" y="1988820"/>
            <a:ext cx="6981825" cy="2147570"/>
          </a:xfrm>
          <a:prstGeom prst="rect">
            <a:avLst/>
          </a:prstGeom>
          <a:noFill/>
        </p:spPr>
        <p:txBody>
          <a:bodyPr wrap="square" rtlCol="0">
            <a:noAutofit/>
          </a:bodyPr>
          <a:lstStyle/>
          <a:p>
            <a:r>
              <a:rPr lang="zh-CN" altLang="en-US">
                <a:solidFill>
                  <a:srgbClr val="FF0000"/>
                </a:solidFill>
              </a:rPr>
              <a:t>本小节学习目标：</a:t>
            </a:r>
            <a:endParaRPr lang="zh-CN" altLang="en-US">
              <a:solidFill>
                <a:srgbClr val="FF0000"/>
              </a:solidFill>
            </a:endParaRPr>
          </a:p>
          <a:p>
            <a:r>
              <a:rPr lang="zh-CN" altLang="en-US">
                <a:solidFill>
                  <a:srgbClr val="FF0000"/>
                </a:solidFill>
              </a:rPr>
              <a:t>①明白什么是重复子问题</a:t>
            </a:r>
            <a:endParaRPr lang="zh-CN" altLang="en-US">
              <a:solidFill>
                <a:srgbClr val="FF0000"/>
              </a:solidFill>
            </a:endParaRPr>
          </a:p>
          <a:p>
            <a:r>
              <a:rPr lang="zh-CN" altLang="en-US">
                <a:solidFill>
                  <a:srgbClr val="FF0000"/>
                </a:solidFill>
              </a:rPr>
              <a:t>②明白什么是最优子结构</a:t>
            </a:r>
            <a:endParaRPr lang="zh-CN" altLang="en-US">
              <a:solidFill>
                <a:srgbClr val="FF0000"/>
              </a:solidFill>
            </a:endParaRPr>
          </a:p>
          <a:p>
            <a:r>
              <a:rPr lang="zh-CN" altLang="en-US">
                <a:solidFill>
                  <a:srgbClr val="FF0000"/>
                </a:solidFill>
              </a:rPr>
              <a:t>③明白动态规划的状态转移方程和状态表（决策表）是什么</a:t>
            </a:r>
            <a:endParaRPr lang="zh-CN" altLang="en-US">
              <a:solidFill>
                <a:srgbClr val="FF0000"/>
              </a:solidFill>
            </a:endParaRPr>
          </a:p>
          <a:p>
            <a:r>
              <a:rPr lang="zh-CN" altLang="en-US">
                <a:solidFill>
                  <a:srgbClr val="FF0000"/>
                </a:solidFill>
              </a:rPr>
              <a:t>④分清动态规划与分治法的区别</a:t>
            </a:r>
            <a:endParaRPr lang="zh-CN" altLang="en-US">
              <a:solidFill>
                <a:srgbClr val="FF0000"/>
              </a:solidFill>
            </a:endParaRPr>
          </a:p>
          <a:p>
            <a:r>
              <a:rPr lang="zh-CN" altLang="en-US">
                <a:solidFill>
                  <a:srgbClr val="FF0000"/>
                </a:solidFill>
              </a:rPr>
              <a:t>⑤分清动态规划与贪心算法的区别</a:t>
            </a:r>
            <a:endParaRPr lang="zh-CN" altLang="en-US">
              <a:solidFill>
                <a:srgbClr val="FF0000"/>
              </a:solidFill>
            </a:endParaRPr>
          </a:p>
        </p:txBody>
      </p:sp>
      <p:sp>
        <p:nvSpPr>
          <p:cNvPr id="3" name="文本框 2"/>
          <p:cNvSpPr txBox="1"/>
          <p:nvPr/>
        </p:nvSpPr>
        <p:spPr>
          <a:xfrm>
            <a:off x="251460" y="11963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4067810" y="177228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4211955" y="1807845"/>
            <a:ext cx="1136650" cy="542925"/>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32854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3429635" y="2852420"/>
            <a:ext cx="944880" cy="457200"/>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50761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5220335" y="2852420"/>
            <a:ext cx="944880" cy="457200"/>
          </a:xfrm>
          <a:prstGeom prst="rect">
            <a:avLst/>
          </a:prstGeom>
          <a:noFill/>
        </p:spPr>
        <p:txBody>
          <a:bodyPr wrap="square" rtlCol="0">
            <a:noAutofit/>
          </a:bodyPr>
          <a:lstStyle/>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25469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2557780" y="3860800"/>
            <a:ext cx="944880" cy="457200"/>
          </a:xfrm>
          <a:prstGeom prst="rect">
            <a:avLst/>
          </a:prstGeom>
          <a:noFill/>
        </p:spPr>
        <p:txBody>
          <a:bodyPr wrap="square" rtlCol="0">
            <a:noAutofit/>
          </a:bodyPr>
          <a:lstStyle/>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368808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3698875" y="3860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492379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4934585" y="3860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60648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6075680" y="386080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3902075" y="235077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4787900" y="234886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3030220" y="322516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3817620" y="323405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5407025" y="3231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5580380" y="3240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268220"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2279015" y="486918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3409315"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3420110" y="486918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2751455" y="423989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2924810" y="424878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251460" y="1772285"/>
            <a:ext cx="3679825" cy="368300"/>
          </a:xfrm>
          <a:prstGeom prst="rect">
            <a:avLst/>
          </a:prstGeom>
          <a:noFill/>
        </p:spPr>
        <p:txBody>
          <a:bodyPr wrap="square" rtlCol="0">
            <a:spAutoFit/>
          </a:bodyPr>
          <a:lstStyle/>
          <a:p>
            <a:r>
              <a:rPr lang="zh-CN" altLang="en-US">
                <a:solidFill>
                  <a:srgbClr val="FF0000"/>
                </a:solidFill>
              </a:rPr>
              <a:t>再次思考斐波那契数列</a:t>
            </a:r>
            <a:endParaRPr lang="zh-CN" altLang="en-US">
              <a:solidFill>
                <a:srgbClr val="FF0000"/>
              </a:solidFill>
            </a:endParaRPr>
          </a:p>
        </p:txBody>
      </p:sp>
      <p:sp>
        <p:nvSpPr>
          <p:cNvPr id="34" name="文本框 33"/>
          <p:cNvSpPr txBox="1"/>
          <p:nvPr/>
        </p:nvSpPr>
        <p:spPr>
          <a:xfrm>
            <a:off x="179705" y="5588635"/>
            <a:ext cx="8774430" cy="725170"/>
          </a:xfrm>
          <a:prstGeom prst="rect">
            <a:avLst/>
          </a:prstGeom>
          <a:noFill/>
        </p:spPr>
        <p:txBody>
          <a:bodyPr wrap="square" rtlCol="0">
            <a:noAutofit/>
          </a:bodyPr>
          <a:lstStyle/>
          <a:p>
            <a:r>
              <a:rPr lang="zh-CN" altLang="en-US"/>
              <a:t>仔细观察这颗二叉树的每一个节点，有重复的节点。而在分治法中则忽略了这些性质，只是让他们当作独立子问题求解。而这些重复的节点就是</a:t>
            </a:r>
            <a:r>
              <a:rPr lang="zh-CN" altLang="en-US">
                <a:solidFill>
                  <a:srgbClr val="FF0000"/>
                </a:solidFill>
              </a:rPr>
              <a:t>重叠子问题。</a:t>
            </a:r>
            <a:endParaRPr lang="zh-CN" altLang="en-US">
              <a:solidFill>
                <a:srgbClr val="FF0000"/>
              </a:solidFill>
            </a:endParaRPr>
          </a:p>
        </p:txBody>
      </p:sp>
      <p:sp>
        <p:nvSpPr>
          <p:cNvPr id="11" name="Text Box 6"/>
          <p:cNvSpPr txBox="1">
            <a:spLocks noChangeArrowheads="1"/>
          </p:cNvSpPr>
          <p:nvPr/>
        </p:nvSpPr>
        <p:spPr bwMode="auto">
          <a:xfrm>
            <a:off x="2771775" y="76454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2" name="文本框 1"/>
          <p:cNvSpPr txBox="1"/>
          <p:nvPr/>
        </p:nvSpPr>
        <p:spPr>
          <a:xfrm>
            <a:off x="251460" y="11963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824355" y="165290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968500" y="1688465"/>
            <a:ext cx="1136650" cy="542925"/>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10420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186180" y="2733040"/>
            <a:ext cx="944880" cy="457200"/>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28327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2976880" y="2733040"/>
            <a:ext cx="944880" cy="457200"/>
          </a:xfrm>
          <a:prstGeom prst="rect">
            <a:avLst/>
          </a:prstGeom>
          <a:noFill/>
        </p:spPr>
        <p:txBody>
          <a:bodyPr wrap="square" rtlCol="0">
            <a:noAutofit/>
          </a:bodyPr>
          <a:lstStyle/>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3035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314325" y="3741420"/>
            <a:ext cx="944880" cy="457200"/>
          </a:xfrm>
          <a:prstGeom prst="rect">
            <a:avLst/>
          </a:prstGeom>
          <a:noFill/>
        </p:spPr>
        <p:txBody>
          <a:bodyPr wrap="square" rtlCol="0">
            <a:noAutofit/>
          </a:bodyPr>
          <a:lstStyle/>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144462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455420" y="374142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268033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2691130" y="374142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38214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3832225" y="374142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1658620" y="223139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2544445" y="222948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786765" y="310578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1574165" y="311467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3163570" y="311213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3336925" y="312102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4765"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35560" y="4749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1165860"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1176655" y="474980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508000" y="4120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681355" y="4129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323850" y="980440"/>
            <a:ext cx="7533005" cy="470535"/>
          </a:xfrm>
          <a:prstGeom prst="rect">
            <a:avLst/>
          </a:prstGeom>
          <a:noFill/>
        </p:spPr>
        <p:txBody>
          <a:bodyPr wrap="square" rtlCol="0">
            <a:noAutofit/>
          </a:bodyPr>
          <a:lstStyle/>
          <a:p>
            <a:r>
              <a:rPr lang="zh-CN" altLang="en-US"/>
              <a:t>显然可以利用重叠子问题的性质，那就是保存下来，不要做重复计算！</a:t>
            </a:r>
            <a:endParaRPr lang="zh-CN" altLang="en-US"/>
          </a:p>
        </p:txBody>
      </p:sp>
      <p:sp>
        <p:nvSpPr>
          <p:cNvPr id="5" name="文本框 4"/>
          <p:cNvSpPr txBox="1"/>
          <p:nvPr/>
        </p:nvSpPr>
        <p:spPr>
          <a:xfrm>
            <a:off x="4311650" y="1412240"/>
            <a:ext cx="5074920" cy="5077460"/>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rPr>
              <a:t>int Fib[1000]; // </a:t>
            </a:r>
            <a:r>
              <a:rPr lang="zh-CN" altLang="en-US">
                <a:solidFill>
                  <a:schemeClr val="tx1"/>
                </a:solidFill>
                <a:uFillTx/>
                <a:latin typeface="Times New Roman" panose="02020603050405020304" pitchFamily="18" charset="0"/>
              </a:rPr>
              <a:t>全局变量数组保存重叠子问题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int fibonacci(int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 &lt;=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int tempL = Fib[n-1], tempR = Fib[n-2];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(tempL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tempL = fibonacci(n-1);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Fib[n-1] = tempL;//</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(tempR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tempR = fibonacci(n-2);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Fib[n-2] = tempR;//</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tempL + tempR;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7" name="文本框 6"/>
          <p:cNvSpPr txBox="1"/>
          <p:nvPr/>
        </p:nvSpPr>
        <p:spPr>
          <a:xfrm>
            <a:off x="323850" y="5640070"/>
            <a:ext cx="3949700" cy="655320"/>
          </a:xfrm>
          <a:prstGeom prst="rect">
            <a:avLst/>
          </a:prstGeom>
          <a:noFill/>
        </p:spPr>
        <p:txBody>
          <a:bodyPr wrap="square" rtlCol="0">
            <a:noAutofit/>
          </a:bodyPr>
          <a:lstStyle/>
          <a:p>
            <a:r>
              <a:rPr lang="zh-CN" altLang="en-US">
                <a:solidFill>
                  <a:srgbClr val="FF0000"/>
                </a:solidFill>
              </a:rPr>
              <a:t>恭喜同学们会了记忆化搜索！若让你把这个代码改成循环，该怎么办？</a:t>
            </a:r>
            <a:endParaRPr lang="zh-CN" altLang="en-US">
              <a:solidFill>
                <a:srgbClr val="FF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83895" y="1484630"/>
            <a:ext cx="3522345" cy="335280"/>
          </a:xfrm>
          <a:prstGeom prst="rect">
            <a:avLst/>
          </a:prstGeom>
          <a:noFill/>
        </p:spPr>
        <p:txBody>
          <a:bodyPr wrap="square" rtlCol="0">
            <a:noAutofit/>
          </a:bodyPr>
          <a:lstStyle/>
          <a:p>
            <a:r>
              <a:rPr lang="zh-CN" altLang="en-US">
                <a:solidFill>
                  <a:srgbClr val="FF0000"/>
                </a:solidFill>
              </a:rPr>
              <a:t>动态规划思想是什么？</a:t>
            </a:r>
            <a:endParaRPr lang="zh-CN" altLang="en-US">
              <a:solidFill>
                <a:srgbClr val="FF0000"/>
              </a:solidFill>
            </a:endParaRPr>
          </a:p>
        </p:txBody>
      </p:sp>
      <p:sp>
        <p:nvSpPr>
          <p:cNvPr id="5" name="文本框 4"/>
          <p:cNvSpPr txBox="1"/>
          <p:nvPr/>
        </p:nvSpPr>
        <p:spPr>
          <a:xfrm>
            <a:off x="684530" y="1934210"/>
            <a:ext cx="7865110" cy="1054100"/>
          </a:xfrm>
          <a:prstGeom prst="rect">
            <a:avLst/>
          </a:prstGeom>
          <a:noFill/>
        </p:spPr>
        <p:txBody>
          <a:bodyPr wrap="square" rtlCol="0">
            <a:noAutofit/>
          </a:bodyPr>
          <a:lstStyle/>
          <a:p>
            <a:r>
              <a:rPr lang="zh-CN" altLang="en-US"/>
              <a:t>动态规划就是待求解的问题按照阶段</a:t>
            </a:r>
            <a:r>
              <a:rPr lang="zh-CN" altLang="en-US">
                <a:solidFill>
                  <a:srgbClr val="FF0000"/>
                </a:solidFill>
              </a:rPr>
              <a:t>分解</a:t>
            </a:r>
            <a:r>
              <a:rPr lang="zh-CN" altLang="en-US"/>
              <a:t>成若干个子问题，其中各个子问题的解都是当前状态下所得的最优解，</a:t>
            </a:r>
            <a:r>
              <a:rPr lang="zh-CN" altLang="en-US">
                <a:solidFill>
                  <a:srgbClr val="FF0000"/>
                </a:solidFill>
              </a:rPr>
              <a:t>整个问题的最优解就是由各个子问题的最优解组成的。</a:t>
            </a:r>
            <a:endParaRPr lang="zh-CN" altLang="en-US">
              <a:solidFill>
                <a:srgbClr val="FF0000"/>
              </a:solidFill>
            </a:endParaRPr>
          </a:p>
        </p:txBody>
      </p:sp>
      <p:pic>
        <p:nvPicPr>
          <p:cNvPr id="6153" name="图片 1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3570" y="4371023"/>
            <a:ext cx="723900"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54" name="云形标注 17"/>
          <p:cNvSpPr>
            <a:spLocks noChangeArrowheads="1"/>
          </p:cNvSpPr>
          <p:nvPr/>
        </p:nvSpPr>
        <p:spPr bwMode="auto">
          <a:xfrm>
            <a:off x="1115695" y="3574098"/>
            <a:ext cx="1296988" cy="854075"/>
          </a:xfrm>
          <a:prstGeom prst="cloudCallout">
            <a:avLst>
              <a:gd name="adj1" fmla="val -20833"/>
              <a:gd name="adj2" fmla="val 62500"/>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6155" name="文本框 20"/>
          <p:cNvSpPr txBox="1">
            <a:spLocks noChangeArrowheads="1"/>
          </p:cNvSpPr>
          <p:nvPr/>
        </p:nvSpPr>
        <p:spPr bwMode="auto">
          <a:xfrm>
            <a:off x="1218883" y="3748723"/>
            <a:ext cx="11938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lgn="ctr">
              <a:spcBef>
                <a:spcPct val="0"/>
              </a:spcBef>
              <a:buClrTx/>
              <a:buSzTx/>
              <a:buFontTx/>
              <a:buNone/>
            </a:pPr>
            <a:r>
              <a:rPr lang="zh-CN" altLang="en-US" sz="1400" b="1">
                <a:solidFill>
                  <a:schemeClr val="tx1"/>
                </a:solidFill>
                <a:ea typeface="宋体" panose="02010600030101010101" pitchFamily="2" charset="-122"/>
              </a:rPr>
              <a:t>与分治和贪心雷同？</a:t>
            </a:r>
            <a:endParaRPr lang="zh-CN" altLang="en-US" sz="1400" b="1">
              <a:solidFill>
                <a:schemeClr val="tx1"/>
              </a:solidFill>
              <a:ea typeface="宋体" panose="02010600030101010101" pitchFamily="2" charset="-122"/>
            </a:endParaRPr>
          </a:p>
        </p:txBody>
      </p:sp>
      <p:sp>
        <p:nvSpPr>
          <p:cNvPr id="19" name="文本框 18"/>
          <p:cNvSpPr txBox="1"/>
          <p:nvPr/>
        </p:nvSpPr>
        <p:spPr>
          <a:xfrm>
            <a:off x="2555875" y="3356610"/>
            <a:ext cx="6124575" cy="859155"/>
          </a:xfrm>
          <a:prstGeom prst="rect">
            <a:avLst/>
          </a:prstGeom>
          <a:noFill/>
        </p:spPr>
        <p:txBody>
          <a:bodyPr>
            <a:noAutofit/>
          </a:bodyPr>
          <a:lstStyle/>
          <a:p>
            <a:pPr>
              <a:defRPr/>
            </a:pPr>
            <a:r>
              <a:rPr lang="zh-CN" altLang="en-US">
                <a:solidFill>
                  <a:srgbClr val="FF0000"/>
                </a:solidFill>
                <a:uFillTx/>
                <a:latin typeface="Times New Roman" panose="02020603050405020304" pitchFamily="18" charset="0"/>
                <a:cs typeface="Times New Roman" panose="02020603050405020304" pitchFamily="18" charset="0"/>
              </a:rPr>
              <a:t>①将一个大问题拆分成若干子问题</a:t>
            </a: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en-US" altLang="zh-CN">
              <a:solidFill>
                <a:srgbClr val="FF0000"/>
              </a:solidFill>
              <a:uFillTx/>
              <a:latin typeface="Times New Roman" panose="02020603050405020304" pitchFamily="18" charset="0"/>
              <a:cs typeface="Times New Roman" panose="02020603050405020304" pitchFamily="18" charset="0"/>
            </a:endParaRPr>
          </a:p>
          <a:p>
            <a:pPr>
              <a:defRPr/>
            </a:pPr>
            <a:r>
              <a:rPr lang="zh-CN" altLang="en-US">
                <a:solidFill>
                  <a:srgbClr val="FF0000"/>
                </a:solidFill>
                <a:uFillTx/>
                <a:latin typeface="Times New Roman" panose="02020603050405020304" pitchFamily="18" charset="0"/>
                <a:cs typeface="Times New Roman" panose="02020603050405020304" pitchFamily="18" charset="0"/>
              </a:rPr>
              <a:t>②整个问题最优是由各个子问题最优解合并组成。</a:t>
            </a:r>
            <a:endParaRPr lang="en-US" altLang="zh-CN">
              <a:solidFill>
                <a:srgbClr val="FF0000"/>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799465" y="5451475"/>
            <a:ext cx="7880985" cy="848995"/>
          </a:xfrm>
          <a:prstGeom prst="rect">
            <a:avLst/>
          </a:prstGeom>
          <a:noFill/>
        </p:spPr>
        <p:txBody>
          <a:bodyPr wrap="square" rtlCol="0">
            <a:noAutofit/>
          </a:bodyPr>
          <a:lstStyle/>
          <a:p>
            <a:r>
              <a:rPr lang="zh-CN" altLang="en-US">
                <a:solidFill>
                  <a:schemeClr val="tx1"/>
                </a:solidFill>
              </a:rPr>
              <a:t>当然，定义中还缺少动态规划的一些描述，例如</a:t>
            </a:r>
            <a:r>
              <a:rPr lang="zh-CN" altLang="en-US">
                <a:solidFill>
                  <a:srgbClr val="FF0000"/>
                </a:solidFill>
              </a:rPr>
              <a:t>状态转移方程</a:t>
            </a:r>
            <a:r>
              <a:rPr lang="zh-CN" altLang="en-US">
                <a:solidFill>
                  <a:schemeClr val="tx1"/>
                </a:solidFill>
              </a:rPr>
              <a:t>，</a:t>
            </a:r>
            <a:r>
              <a:rPr lang="zh-CN" altLang="en-US">
                <a:solidFill>
                  <a:srgbClr val="FF0000"/>
                </a:solidFill>
              </a:rPr>
              <a:t>状态表</a:t>
            </a:r>
            <a:r>
              <a:rPr lang="zh-CN" altLang="en-US">
                <a:solidFill>
                  <a:schemeClr val="tx1"/>
                </a:solidFill>
              </a:rPr>
              <a:t>，</a:t>
            </a:r>
            <a:r>
              <a:rPr lang="zh-CN" altLang="en-US">
                <a:solidFill>
                  <a:srgbClr val="FF0000"/>
                </a:solidFill>
              </a:rPr>
              <a:t>最优子结构，重叠子问题</a:t>
            </a:r>
            <a:r>
              <a:rPr lang="zh-CN" altLang="en-US">
                <a:solidFill>
                  <a:schemeClr val="tx1"/>
                </a:solidFill>
              </a:rPr>
              <a:t>。</a:t>
            </a:r>
            <a:endParaRPr lang="zh-CN" altLang="en-US">
              <a:solidFill>
                <a:schemeClr val="tx1"/>
              </a:solidFill>
            </a:endParaRPr>
          </a:p>
        </p:txBody>
      </p:sp>
      <p:sp>
        <p:nvSpPr>
          <p:cNvPr id="4" name="波形 3"/>
          <p:cNvSpPr/>
          <p:nvPr/>
        </p:nvSpPr>
        <p:spPr>
          <a:xfrm>
            <a:off x="2484120" y="2924810"/>
            <a:ext cx="5406390" cy="2258695"/>
          </a:xfrm>
          <a:prstGeom prst="wave">
            <a:avLst/>
          </a:prstGeom>
          <a:noFill/>
          <a:ln w="28575" cap="flat" cmpd="sng" algn="ctr">
            <a:solidFill>
              <a:schemeClr val="accent2"/>
            </a:solidFill>
            <a:prstDash val="solid"/>
            <a:round/>
            <a:headEnd type="none" w="med" len="med"/>
            <a:tailEnd type="none" w="med" len="med"/>
          </a:ln>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612140" y="81407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nvGraphicFramePr>
        <p:xfrm>
          <a:off x="683895" y="217741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1" name="文本框 10"/>
          <p:cNvSpPr txBox="1"/>
          <p:nvPr/>
        </p:nvSpPr>
        <p:spPr>
          <a:xfrm>
            <a:off x="539750" y="1196340"/>
            <a:ext cx="7623175" cy="831215"/>
          </a:xfrm>
          <a:prstGeom prst="rect">
            <a:avLst/>
          </a:prstGeom>
          <a:noFill/>
        </p:spPr>
        <p:txBody>
          <a:bodyPr wrap="square" rtlCol="0">
            <a:noAutofit/>
          </a:bodyPr>
          <a:lstStyle/>
          <a:p>
            <a:r>
              <a:rPr lang="zh-CN" altLang="en-US">
                <a:solidFill>
                  <a:srgbClr val="FF0000"/>
                </a:solidFill>
              </a:rPr>
              <a:t>算法初始时候，定义一个记忆数组。但是又需要记忆数组有两项相邻的数斐波那契数才能循环下去，那么初始化最初两项</a:t>
            </a:r>
            <a:r>
              <a:rPr lang="en-US" altLang="zh-CN">
                <a:solidFill>
                  <a:srgbClr val="FF0000"/>
                </a:solidFill>
                <a:latin typeface="Times New Roman" panose="02020603050405020304" pitchFamily="18" charset="0"/>
                <a:cs typeface="Times New Roman" panose="02020603050405020304" pitchFamily="18" charset="0"/>
              </a:rPr>
              <a:t>0,1</a:t>
            </a:r>
            <a:r>
              <a:rPr lang="zh-CN" altLang="en-US">
                <a:solidFill>
                  <a:srgbClr val="FF0000"/>
                </a:solidFill>
              </a:rPr>
              <a:t>可以满足循环要求。</a:t>
            </a:r>
            <a:endParaRPr lang="zh-CN" altLang="en-US">
              <a:solidFill>
                <a:srgbClr val="FF0000"/>
              </a:solidFill>
            </a:endParaRPr>
          </a:p>
        </p:txBody>
      </p:sp>
      <p:sp>
        <p:nvSpPr>
          <p:cNvPr id="19" name="文本框 18"/>
          <p:cNvSpPr txBox="1"/>
          <p:nvPr/>
        </p:nvSpPr>
        <p:spPr>
          <a:xfrm>
            <a:off x="467360" y="5300980"/>
            <a:ext cx="8603615" cy="1092835"/>
          </a:xfrm>
          <a:prstGeom prst="rect">
            <a:avLst/>
          </a:prstGeom>
          <a:noFill/>
        </p:spPr>
        <p:txBody>
          <a:bodyPr wrap="square" rtlCol="0">
            <a:noAutofit/>
          </a:bodyPr>
          <a:lstStyle/>
          <a:p>
            <a:r>
              <a:rPr lang="zh-CN" altLang="en-US">
                <a:solidFill>
                  <a:schemeClr val="tx1"/>
                </a:solidFill>
              </a:rPr>
              <a:t>动态规划处理子问题是有较多重复，可以把重叠子问题保存下来，供下个问题抉择直接使用。分治法则是独立处理重复的子问题。</a:t>
            </a:r>
            <a:endParaRPr lang="zh-CN" altLang="en-US">
              <a:solidFill>
                <a:schemeClr val="tx1"/>
              </a:solidFill>
            </a:endParaRPr>
          </a:p>
          <a:p>
            <a:r>
              <a:rPr lang="zh-CN" altLang="en-US">
                <a:solidFill>
                  <a:srgbClr val="FF0000"/>
                </a:solidFill>
              </a:rPr>
              <a:t>此时：为了解决斐波那契数列问题借助的数组就是称为状态表。</a:t>
            </a:r>
            <a:endParaRPr lang="zh-CN" altLang="en-US">
              <a:solidFill>
                <a:srgbClr val="FF0000"/>
              </a:solidFill>
            </a:endParaRPr>
          </a:p>
          <a:p>
            <a:r>
              <a:rPr lang="zh-CN" altLang="en-US">
                <a:solidFill>
                  <a:srgbClr val="FF0000"/>
                </a:solidFill>
              </a:rPr>
              <a:t>由子问题推导到父问题的转换方程就是状态转移方程，如</a:t>
            </a:r>
            <a:r>
              <a:rPr lang="en-US" altLang="zh-CN">
                <a:solidFill>
                  <a:srgbClr val="FF0000"/>
                </a:solidFill>
                <a:uFillTx/>
                <a:latin typeface="Times New Roman" panose="02020603050405020304" pitchFamily="18" charset="0"/>
                <a:sym typeface="+mn-ea"/>
              </a:rPr>
              <a:t>fib(n) = fib(n-1)+fib(n-2)</a:t>
            </a:r>
            <a:endParaRPr lang="en-US" altLang="zh-CN">
              <a:solidFill>
                <a:srgbClr val="FF0000"/>
              </a:solidFill>
              <a:uFillTx/>
              <a:latin typeface="Times New Roman" panose="02020603050405020304" pitchFamily="18" charset="0"/>
              <a:sym typeface="+mn-ea"/>
            </a:endParaRPr>
          </a:p>
        </p:txBody>
      </p:sp>
      <p:sp>
        <p:nvSpPr>
          <p:cNvPr id="34" name="文本框 33"/>
          <p:cNvSpPr txBox="1"/>
          <p:nvPr/>
        </p:nvSpPr>
        <p:spPr>
          <a:xfrm>
            <a:off x="683895" y="3140710"/>
            <a:ext cx="7478395" cy="490220"/>
          </a:xfrm>
          <a:prstGeom prst="rect">
            <a:avLst/>
          </a:prstGeom>
          <a:noFill/>
        </p:spPr>
        <p:txBody>
          <a:bodyPr wrap="square" rtlCol="0">
            <a:noAutofit/>
          </a:bodyPr>
          <a:lstStyle/>
          <a:p>
            <a:r>
              <a:rPr lang="en-US" altLang="zh-CN">
                <a:uFillTx/>
                <a:latin typeface="Times New Roman" panose="02020603050405020304" pitchFamily="18" charset="0"/>
                <a:sym typeface="+mn-ea"/>
              </a:rPr>
              <a:t>fib(n) = fib(n-1)+fib(n-2)</a:t>
            </a:r>
            <a:r>
              <a:rPr lang="zh-CN" altLang="en-US">
                <a:uFillTx/>
                <a:latin typeface="Times New Roman" panose="02020603050405020304" pitchFamily="18" charset="0"/>
                <a:sym typeface="+mn-ea"/>
              </a:rPr>
              <a:t>然后根据斐波那契数递归方程，持续循环。</a:t>
            </a:r>
            <a:endParaRPr lang="zh-CN" altLang="en-US">
              <a:uFillTx/>
              <a:latin typeface="Times New Roman" panose="02020603050405020304" pitchFamily="18" charset="0"/>
              <a:sym typeface="+mn-ea"/>
            </a:endParaRPr>
          </a:p>
        </p:txBody>
      </p:sp>
      <p:sp>
        <p:nvSpPr>
          <p:cNvPr id="35" name="文本框 34"/>
          <p:cNvSpPr txBox="1"/>
          <p:nvPr/>
        </p:nvSpPr>
        <p:spPr>
          <a:xfrm>
            <a:off x="2172970" y="218186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36" name="上弧形箭头 35"/>
          <p:cNvSpPr/>
          <p:nvPr/>
        </p:nvSpPr>
        <p:spPr>
          <a:xfrm>
            <a:off x="850265" y="194754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上弧形箭头 36"/>
          <p:cNvSpPr/>
          <p:nvPr/>
        </p:nvSpPr>
        <p:spPr>
          <a:xfrm flipV="1">
            <a:off x="1505585" y="256476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0" name="上弧形箭头 39"/>
          <p:cNvSpPr/>
          <p:nvPr/>
        </p:nvSpPr>
        <p:spPr>
          <a:xfrm>
            <a:off x="1619885" y="19551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1" name="上弧形箭头 40"/>
          <p:cNvSpPr/>
          <p:nvPr/>
        </p:nvSpPr>
        <p:spPr>
          <a:xfrm flipV="1">
            <a:off x="2275205" y="25723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2915920" y="218186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3" name="上弧形箭头 42"/>
          <p:cNvSpPr/>
          <p:nvPr/>
        </p:nvSpPr>
        <p:spPr>
          <a:xfrm>
            <a:off x="2339975" y="195072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4" name="上弧形箭头 43"/>
          <p:cNvSpPr/>
          <p:nvPr/>
        </p:nvSpPr>
        <p:spPr>
          <a:xfrm flipV="1">
            <a:off x="2995295" y="256794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3636010" y="217741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6" name="上弧形箭头 45"/>
          <p:cNvSpPr/>
          <p:nvPr/>
        </p:nvSpPr>
        <p:spPr>
          <a:xfrm>
            <a:off x="3060065" y="193675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7" name="上弧形箭头 46"/>
          <p:cNvSpPr/>
          <p:nvPr/>
        </p:nvSpPr>
        <p:spPr>
          <a:xfrm flipV="1">
            <a:off x="3715385" y="255397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4356100" y="216344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50" name="文本框 49"/>
          <p:cNvSpPr txBox="1"/>
          <p:nvPr/>
        </p:nvSpPr>
        <p:spPr>
          <a:xfrm>
            <a:off x="470535" y="3474085"/>
            <a:ext cx="4572000" cy="1753235"/>
          </a:xfrm>
          <a:prstGeom prst="rect">
            <a:avLst/>
          </a:prstGeom>
          <a:noFill/>
        </p:spPr>
        <p:txBody>
          <a:bodyPr wrap="square" rtlCol="0" anchor="t">
            <a:spAutoFit/>
          </a:bodyPr>
          <a:lstStyle/>
          <a:p>
            <a:r>
              <a:rPr lang="en-US" altLang="zh-CN">
                <a:latin typeface="Times New Roman" panose="02020603050405020304" pitchFamily="18" charset="0"/>
                <a:cs typeface="Times New Roman" panose="02020603050405020304" pitchFamily="18" charset="0"/>
              </a:rPr>
              <a:t>    fib[0] = 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fib[1] = 1;</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(int i = 2; i &lt;= n; 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fib[i] = fib[i-1] + fib[i-2];</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5"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5"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35" presetClass="emph" presetSubtype="0" fill="hold" grpId="0" nodeType="clickEffect">
                                  <p:stCondLst>
                                    <p:cond delay="0"/>
                                  </p:stCondLst>
                                  <p:childTnLst>
                                    <p:anim calcmode="discrete" valueType="str">
                                      <p:cBhvr>
                                        <p:cTn id="12" dur="1000" fill="hold"/>
                                        <p:tgtEl>
                                          <p:spTgt spid="36"/>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1000"/>
                            </p:stCondLst>
                            <p:childTnLst>
                              <p:par>
                                <p:cTn id="16" presetID="35" presetClass="emph" presetSubtype="0" fill="hold" grpId="2" nodeType="afterEffect">
                                  <p:stCondLst>
                                    <p:cond delay="0"/>
                                  </p:stCondLst>
                                  <p:childTnLst>
                                    <p:anim calcmode="discrete" valueType="str">
                                      <p:cBhvr>
                                        <p:cTn id="17" dur="1000" fill="hold"/>
                                        <p:tgtEl>
                                          <p:spTgt spid="36"/>
                                        </p:tgtEl>
                                        <p:attrNameLst>
                                          <p:attrName>style.visibility</p:attrName>
                                        </p:attrNameLst>
                                      </p:cBhvr>
                                      <p:tavLst>
                                        <p:tav tm="0">
                                          <p:val>
                                            <p:strVal val="hidden"/>
                                          </p:val>
                                        </p:tav>
                                        <p:tav tm="50000">
                                          <p:val>
                                            <p:strVal val="visible"/>
                                          </p:val>
                                        </p:tav>
                                      </p:tavLst>
                                    </p:anim>
                                  </p:childTnLst>
                                </p:cTn>
                              </p:par>
                              <p:par>
                                <p:cTn id="18" presetID="35" presetClass="emph" presetSubtype="0" fill="hold" grpId="2" nodeType="withEffect">
                                  <p:stCondLst>
                                    <p:cond delay="0"/>
                                  </p:stCondLst>
                                  <p:childTnLst>
                                    <p:anim calcmode="discrete" valueType="str">
                                      <p:cBhvr>
                                        <p:cTn id="19"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3" nodeType="clickEffect">
                                  <p:stCondLst>
                                    <p:cond delay="0"/>
                                  </p:stCondLst>
                                  <p:childTnLst>
                                    <p:set>
                                      <p:cBhvr>
                                        <p:cTn id="23" dur="1" fill="hold">
                                          <p:stCondLst>
                                            <p:cond delay="0"/>
                                          </p:stCondLst>
                                        </p:cTn>
                                        <p:tgtEl>
                                          <p:spTgt spid="36"/>
                                        </p:tgtEl>
                                        <p:attrNameLst>
                                          <p:attrName>style.visibility</p:attrName>
                                        </p:attrNameLst>
                                      </p:cBhvr>
                                      <p:to>
                                        <p:strVal val="visible"/>
                                      </p:to>
                                    </p:set>
                                  </p:childTnLst>
                                </p:cTn>
                              </p:par>
                              <p:par>
                                <p:cTn id="24" presetID="1" presetClass="entr" presetSubtype="0" fill="hold" grpId="3" nodeType="withEffect">
                                  <p:stCondLst>
                                    <p:cond delay="0"/>
                                  </p:stCondLst>
                                  <p:childTnLst>
                                    <p:set>
                                      <p:cBhvr>
                                        <p:cTn id="25" dur="1" fill="hold">
                                          <p:stCondLst>
                                            <p:cond delay="0"/>
                                          </p:stCondLst>
                                        </p:cTn>
                                        <p:tgtEl>
                                          <p:spTgt spid="3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4" nodeType="clickEffect">
                                  <p:stCondLst>
                                    <p:cond delay="0"/>
                                  </p:stCondLst>
                                  <p:childTnLst>
                                    <p:set>
                                      <p:cBhvr>
                                        <p:cTn id="33" dur="1" fill="hold">
                                          <p:stCondLst>
                                            <p:cond delay="0"/>
                                          </p:stCondLst>
                                        </p:cTn>
                                        <p:tgtEl>
                                          <p:spTgt spid="36"/>
                                        </p:tgtEl>
                                        <p:attrNameLst>
                                          <p:attrName>style.visibility</p:attrName>
                                        </p:attrNameLst>
                                      </p:cBhvr>
                                      <p:to>
                                        <p:strVal val="hidden"/>
                                      </p:to>
                                    </p:set>
                                  </p:childTnLst>
                                </p:cTn>
                              </p:par>
                              <p:par>
                                <p:cTn id="34" presetID="1" presetClass="exit" presetSubtype="0" fill="hold" grpId="4" nodeType="withEffect">
                                  <p:stCondLst>
                                    <p:cond delay="0"/>
                                  </p:stCondLst>
                                  <p:childTnLst>
                                    <p:set>
                                      <p:cBhvr>
                                        <p:cTn id="35" dur="1" fill="hold">
                                          <p:stCondLst>
                                            <p:cond delay="0"/>
                                          </p:stCondLst>
                                        </p:cTn>
                                        <p:tgtEl>
                                          <p:spTgt spid="37"/>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5" nodeType="clickEffect">
                                  <p:stCondLst>
                                    <p:cond delay="0"/>
                                  </p:stCondLst>
                                  <p:childTnLst>
                                    <p:set>
                                      <p:cBhvr>
                                        <p:cTn id="39" dur="1" fill="hold">
                                          <p:stCondLst>
                                            <p:cond delay="0"/>
                                          </p:stCondLst>
                                        </p:cTn>
                                        <p:tgtEl>
                                          <p:spTgt spid="40"/>
                                        </p:tgtEl>
                                        <p:attrNameLst>
                                          <p:attrName>style.visibility</p:attrName>
                                        </p:attrNameLst>
                                      </p:cBhvr>
                                      <p:to>
                                        <p:strVal val="visible"/>
                                      </p:to>
                                    </p:set>
                                  </p:childTnLst>
                                </p:cTn>
                              </p:par>
                              <p:par>
                                <p:cTn id="40" presetID="1" presetClass="entr" presetSubtype="0" fill="hold" grpId="5" nodeType="withEffect">
                                  <p:stCondLst>
                                    <p:cond delay="0"/>
                                  </p:stCondLst>
                                  <p:childTnLst>
                                    <p:set>
                                      <p:cBhvr>
                                        <p:cTn id="41" dur="1" fill="hold">
                                          <p:stCondLst>
                                            <p:cond delay="0"/>
                                          </p:stCondLst>
                                        </p:cTn>
                                        <p:tgtEl>
                                          <p:spTgt spid="41"/>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35" presetClass="emph" presetSubtype="0" fill="hold" grpId="0" nodeType="clickEffect">
                                  <p:stCondLst>
                                    <p:cond delay="0"/>
                                  </p:stCondLst>
                                  <p:childTnLst>
                                    <p:anim calcmode="discrete" valueType="str">
                                      <p:cBhvr>
                                        <p:cTn id="45" dur="1000" fill="hold"/>
                                        <p:tgtEl>
                                          <p:spTgt spid="40"/>
                                        </p:tgtEl>
                                        <p:attrNameLst>
                                          <p:attrName>style.visibility</p:attrName>
                                        </p:attrNameLst>
                                      </p:cBhvr>
                                      <p:tavLst>
                                        <p:tav tm="0">
                                          <p:val>
                                            <p:strVal val="hidden"/>
                                          </p:val>
                                        </p:tav>
                                        <p:tav tm="50000">
                                          <p:val>
                                            <p:strVal val="visible"/>
                                          </p:val>
                                        </p:tav>
                                      </p:tavLst>
                                    </p:anim>
                                  </p:childTnLst>
                                </p:cTn>
                              </p:par>
                              <p:par>
                                <p:cTn id="46" presetID="35" presetClass="emph" presetSubtype="0" fill="hold" grpId="0" nodeType="withEffect">
                                  <p:stCondLst>
                                    <p:cond delay="0"/>
                                  </p:stCondLst>
                                  <p:childTnLst>
                                    <p:anim calcmode="discrete" valueType="str">
                                      <p:cBhvr>
                                        <p:cTn id="47"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48" fill="hold">
                            <p:stCondLst>
                              <p:cond delay="1000"/>
                            </p:stCondLst>
                            <p:childTnLst>
                              <p:par>
                                <p:cTn id="49" presetID="35" presetClass="emph" presetSubtype="0" fill="hold" grpId="2" nodeType="afterEffect">
                                  <p:stCondLst>
                                    <p:cond delay="0"/>
                                  </p:stCondLst>
                                  <p:childTnLst>
                                    <p:anim calcmode="discrete" valueType="str">
                                      <p:cBhvr>
                                        <p:cTn id="50" dur="1000" fill="hold"/>
                                        <p:tgtEl>
                                          <p:spTgt spid="40"/>
                                        </p:tgtEl>
                                        <p:attrNameLst>
                                          <p:attrName>style.visibility</p:attrName>
                                        </p:attrNameLst>
                                      </p:cBhvr>
                                      <p:tavLst>
                                        <p:tav tm="0">
                                          <p:val>
                                            <p:strVal val="hidden"/>
                                          </p:val>
                                        </p:tav>
                                        <p:tav tm="50000">
                                          <p:val>
                                            <p:strVal val="visible"/>
                                          </p:val>
                                        </p:tav>
                                      </p:tavLst>
                                    </p:anim>
                                  </p:childTnLst>
                                </p:cTn>
                              </p:par>
                              <p:par>
                                <p:cTn id="51" presetID="35" presetClass="emph" presetSubtype="0" fill="hold" grpId="2" nodeType="withEffect">
                                  <p:stCondLst>
                                    <p:cond delay="0"/>
                                  </p:stCondLst>
                                  <p:childTnLst>
                                    <p:anim calcmode="discrete" valueType="str">
                                      <p:cBhvr>
                                        <p:cTn id="52"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3" nodeType="clickEffect">
                                  <p:stCondLst>
                                    <p:cond delay="0"/>
                                  </p:stCondLst>
                                  <p:childTnLst>
                                    <p:set>
                                      <p:cBhvr>
                                        <p:cTn id="56" dur="1" fill="hold">
                                          <p:stCondLst>
                                            <p:cond delay="0"/>
                                          </p:stCondLst>
                                        </p:cTn>
                                        <p:tgtEl>
                                          <p:spTgt spid="40"/>
                                        </p:tgtEl>
                                        <p:attrNameLst>
                                          <p:attrName>style.visibility</p:attrName>
                                        </p:attrNameLst>
                                      </p:cBhvr>
                                      <p:to>
                                        <p:strVal val="visible"/>
                                      </p:to>
                                    </p:set>
                                  </p:childTnLst>
                                </p:cTn>
                              </p:par>
                              <p:par>
                                <p:cTn id="57" presetID="1" presetClass="entr" presetSubtype="0" fill="hold" grpId="3"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4" nodeType="clickEffect">
                                  <p:stCondLst>
                                    <p:cond delay="0"/>
                                  </p:stCondLst>
                                  <p:childTnLst>
                                    <p:set>
                                      <p:cBhvr>
                                        <p:cTn id="66" dur="1" fill="hold">
                                          <p:stCondLst>
                                            <p:cond delay="0"/>
                                          </p:stCondLst>
                                        </p:cTn>
                                        <p:tgtEl>
                                          <p:spTgt spid="40"/>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5" nodeType="clickEffect">
                                  <p:stCondLst>
                                    <p:cond delay="0"/>
                                  </p:stCondLst>
                                  <p:childTnLst>
                                    <p:set>
                                      <p:cBhvr>
                                        <p:cTn id="72" dur="1" fill="hold">
                                          <p:stCondLst>
                                            <p:cond delay="0"/>
                                          </p:stCondLst>
                                        </p:cTn>
                                        <p:tgtEl>
                                          <p:spTgt spid="43"/>
                                        </p:tgtEl>
                                        <p:attrNameLst>
                                          <p:attrName>style.visibility</p:attrName>
                                        </p:attrNameLst>
                                      </p:cBhvr>
                                      <p:to>
                                        <p:strVal val="visible"/>
                                      </p:to>
                                    </p:set>
                                  </p:childTnLst>
                                </p:cTn>
                              </p:par>
                              <p:par>
                                <p:cTn id="73" presetID="1" presetClass="entr" presetSubtype="0" fill="hold" grpId="5" nodeType="withEffect">
                                  <p:stCondLst>
                                    <p:cond delay="0"/>
                                  </p:stCondLst>
                                  <p:childTnLst>
                                    <p:set>
                                      <p:cBhvr>
                                        <p:cTn id="74" dur="1" fill="hold">
                                          <p:stCondLst>
                                            <p:cond delay="0"/>
                                          </p:stCondLst>
                                        </p:cTn>
                                        <p:tgtEl>
                                          <p:spTgt spid="4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35" presetClass="emph" presetSubtype="0" fill="hold" grpId="0" nodeType="clickEffect">
                                  <p:stCondLst>
                                    <p:cond delay="0"/>
                                  </p:stCondLst>
                                  <p:childTnLst>
                                    <p:anim calcmode="discrete" valueType="str">
                                      <p:cBhvr>
                                        <p:cTn id="78" dur="1000" fill="hold"/>
                                        <p:tgtEl>
                                          <p:spTgt spid="43"/>
                                        </p:tgtEl>
                                        <p:attrNameLst>
                                          <p:attrName>style.visibility</p:attrName>
                                        </p:attrNameLst>
                                      </p:cBhvr>
                                      <p:tavLst>
                                        <p:tav tm="0">
                                          <p:val>
                                            <p:strVal val="hidden"/>
                                          </p:val>
                                        </p:tav>
                                        <p:tav tm="50000">
                                          <p:val>
                                            <p:strVal val="visible"/>
                                          </p:val>
                                        </p:tav>
                                      </p:tavLst>
                                    </p:anim>
                                  </p:childTnLst>
                                </p:cTn>
                              </p:par>
                              <p:par>
                                <p:cTn id="79" presetID="35" presetClass="emph" presetSubtype="0" fill="hold" grpId="0" nodeType="withEffect">
                                  <p:stCondLst>
                                    <p:cond delay="0"/>
                                  </p:stCondLst>
                                  <p:childTnLst>
                                    <p:anim calcmode="discrete" valueType="str">
                                      <p:cBhvr>
                                        <p:cTn id="80" dur="1000" fill="hold"/>
                                        <p:tgtEl>
                                          <p:spTgt spid="44"/>
                                        </p:tgtEl>
                                        <p:attrNameLst>
                                          <p:attrName>style.visibility</p:attrName>
                                        </p:attrNameLst>
                                      </p:cBhvr>
                                      <p:tavLst>
                                        <p:tav tm="0">
                                          <p:val>
                                            <p:strVal val="hidden"/>
                                          </p:val>
                                        </p:tav>
                                        <p:tav tm="50000">
                                          <p:val>
                                            <p:strVal val="visible"/>
                                          </p:val>
                                        </p:tav>
                                      </p:tavLst>
                                    </p:anim>
                                  </p:childTnLst>
                                </p:cTn>
                              </p:par>
                            </p:childTnLst>
                          </p:cTn>
                        </p:par>
                        <p:par>
                          <p:cTn id="81" fill="hold">
                            <p:stCondLst>
                              <p:cond delay="1000"/>
                            </p:stCondLst>
                            <p:childTnLst>
                              <p:par>
                                <p:cTn id="82" presetID="35" presetClass="emph" presetSubtype="0" fill="hold" grpId="2" nodeType="afterEffect">
                                  <p:stCondLst>
                                    <p:cond delay="0"/>
                                  </p:stCondLst>
                                  <p:childTnLst>
                                    <p:anim calcmode="discrete" valueType="str">
                                      <p:cBhvr>
                                        <p:cTn id="83" dur="1000" fill="hold"/>
                                        <p:tgtEl>
                                          <p:spTgt spid="43"/>
                                        </p:tgtEl>
                                        <p:attrNameLst>
                                          <p:attrName>style.visibility</p:attrName>
                                        </p:attrNameLst>
                                      </p:cBhvr>
                                      <p:tavLst>
                                        <p:tav tm="0">
                                          <p:val>
                                            <p:strVal val="hidden"/>
                                          </p:val>
                                        </p:tav>
                                        <p:tav tm="50000">
                                          <p:val>
                                            <p:strVal val="visible"/>
                                          </p:val>
                                        </p:tav>
                                      </p:tavLst>
                                    </p:anim>
                                  </p:childTnLst>
                                </p:cTn>
                              </p:par>
                              <p:par>
                                <p:cTn id="84" presetID="35" presetClass="emph" presetSubtype="0" fill="hold" grpId="2" nodeType="withEffect">
                                  <p:stCondLst>
                                    <p:cond delay="0"/>
                                  </p:stCondLst>
                                  <p:childTnLst>
                                    <p:anim calcmode="discrete" valueType="str">
                                      <p:cBhvr>
                                        <p:cTn id="85"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grpId="3" nodeType="clickEffect">
                                  <p:stCondLst>
                                    <p:cond delay="0"/>
                                  </p:stCondLst>
                                  <p:childTnLst>
                                    <p:set>
                                      <p:cBhvr>
                                        <p:cTn id="89" dur="1" fill="hold">
                                          <p:stCondLst>
                                            <p:cond delay="0"/>
                                          </p:stCondLst>
                                        </p:cTn>
                                        <p:tgtEl>
                                          <p:spTgt spid="43"/>
                                        </p:tgtEl>
                                        <p:attrNameLst>
                                          <p:attrName>style.visibility</p:attrName>
                                        </p:attrNameLst>
                                      </p:cBhvr>
                                      <p:to>
                                        <p:strVal val="visible"/>
                                      </p:to>
                                    </p:set>
                                  </p:childTnLst>
                                </p:cTn>
                              </p:par>
                              <p:par>
                                <p:cTn id="90" presetID="1" presetClass="entr" presetSubtype="0" fill="hold" grpId="3" nodeType="withEffect">
                                  <p:stCondLst>
                                    <p:cond delay="0"/>
                                  </p:stCondLst>
                                  <p:childTnLst>
                                    <p:set>
                                      <p:cBhvr>
                                        <p:cTn id="91" dur="1" fill="hold">
                                          <p:stCondLst>
                                            <p:cond delay="0"/>
                                          </p:stCondLst>
                                        </p:cTn>
                                        <p:tgtEl>
                                          <p:spTgt spid="44"/>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grpId="0" nodeType="clickEffect">
                                  <p:stCondLst>
                                    <p:cond delay="0"/>
                                  </p:stCondLst>
                                  <p:childTnLst>
                                    <p:set>
                                      <p:cBhvr>
                                        <p:cTn id="95" dur="1" fill="hold">
                                          <p:stCondLst>
                                            <p:cond delay="0"/>
                                          </p:stCondLst>
                                        </p:cTn>
                                        <p:tgtEl>
                                          <p:spTgt spid="45"/>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xit" presetSubtype="0" fill="hold" grpId="4" nodeType="clickEffect">
                                  <p:stCondLst>
                                    <p:cond delay="0"/>
                                  </p:stCondLst>
                                  <p:childTnLst>
                                    <p:set>
                                      <p:cBhvr>
                                        <p:cTn id="99" dur="1" fill="hold">
                                          <p:stCondLst>
                                            <p:cond delay="0"/>
                                          </p:stCondLst>
                                        </p:cTn>
                                        <p:tgtEl>
                                          <p:spTgt spid="43"/>
                                        </p:tgtEl>
                                        <p:attrNameLst>
                                          <p:attrName>style.visibility</p:attrName>
                                        </p:attrNameLst>
                                      </p:cBhvr>
                                      <p:to>
                                        <p:strVal val="hidden"/>
                                      </p:to>
                                    </p:set>
                                  </p:childTnLst>
                                </p:cTn>
                              </p:par>
                              <p:par>
                                <p:cTn id="100" presetID="1" presetClass="exit" presetSubtype="0" fill="hold" grpId="4" nodeType="withEffect">
                                  <p:stCondLst>
                                    <p:cond delay="0"/>
                                  </p:stCondLst>
                                  <p:childTnLst>
                                    <p:set>
                                      <p:cBhvr>
                                        <p:cTn id="101" dur="1" fill="hold">
                                          <p:stCondLst>
                                            <p:cond delay="0"/>
                                          </p:stCondLst>
                                        </p:cTn>
                                        <p:tgtEl>
                                          <p:spTgt spid="4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5" nodeType="clickEffect">
                                  <p:stCondLst>
                                    <p:cond delay="0"/>
                                  </p:stCondLst>
                                  <p:childTnLst>
                                    <p:set>
                                      <p:cBhvr>
                                        <p:cTn id="105" dur="1" fill="hold">
                                          <p:stCondLst>
                                            <p:cond delay="0"/>
                                          </p:stCondLst>
                                        </p:cTn>
                                        <p:tgtEl>
                                          <p:spTgt spid="46"/>
                                        </p:tgtEl>
                                        <p:attrNameLst>
                                          <p:attrName>style.visibility</p:attrName>
                                        </p:attrNameLst>
                                      </p:cBhvr>
                                      <p:to>
                                        <p:strVal val="visible"/>
                                      </p:to>
                                    </p:set>
                                  </p:childTnLst>
                                </p:cTn>
                              </p:par>
                              <p:par>
                                <p:cTn id="106" presetID="1" presetClass="entr" presetSubtype="0" fill="hold" grpId="5" nodeType="withEffect">
                                  <p:stCondLst>
                                    <p:cond delay="0"/>
                                  </p:stCondLst>
                                  <p:childTnLst>
                                    <p:set>
                                      <p:cBhvr>
                                        <p:cTn id="107" dur="1" fill="hold">
                                          <p:stCondLst>
                                            <p:cond delay="0"/>
                                          </p:stCondLst>
                                        </p:cTn>
                                        <p:tgtEl>
                                          <p:spTgt spid="47"/>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35" presetClass="emph" presetSubtype="0" fill="hold" grpId="0" nodeType="clickEffect">
                                  <p:stCondLst>
                                    <p:cond delay="0"/>
                                  </p:stCondLst>
                                  <p:childTnLst>
                                    <p:anim calcmode="discrete" valueType="str">
                                      <p:cBhvr>
                                        <p:cTn id="111" dur="1000" fill="hold"/>
                                        <p:tgtEl>
                                          <p:spTgt spid="46"/>
                                        </p:tgtEl>
                                        <p:attrNameLst>
                                          <p:attrName>style.visibility</p:attrName>
                                        </p:attrNameLst>
                                      </p:cBhvr>
                                      <p:tavLst>
                                        <p:tav tm="0">
                                          <p:val>
                                            <p:strVal val="hidden"/>
                                          </p:val>
                                        </p:tav>
                                        <p:tav tm="50000">
                                          <p:val>
                                            <p:strVal val="visible"/>
                                          </p:val>
                                        </p:tav>
                                      </p:tavLst>
                                    </p:anim>
                                  </p:childTnLst>
                                </p:cTn>
                              </p:par>
                              <p:par>
                                <p:cTn id="112" presetID="35" presetClass="emph" presetSubtype="0" fill="hold" grpId="0" nodeType="withEffect">
                                  <p:stCondLst>
                                    <p:cond delay="0"/>
                                  </p:stCondLst>
                                  <p:childTnLst>
                                    <p:anim calcmode="discrete" valueType="str">
                                      <p:cBhvr>
                                        <p:cTn id="113"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14" fill="hold">
                            <p:stCondLst>
                              <p:cond delay="1000"/>
                            </p:stCondLst>
                            <p:childTnLst>
                              <p:par>
                                <p:cTn id="115" presetID="35" presetClass="emph" presetSubtype="0" fill="hold" grpId="2" nodeType="afterEffect">
                                  <p:stCondLst>
                                    <p:cond delay="0"/>
                                  </p:stCondLst>
                                  <p:childTnLst>
                                    <p:anim calcmode="discrete" valueType="str">
                                      <p:cBhvr>
                                        <p:cTn id="116" dur="1000" fill="hold"/>
                                        <p:tgtEl>
                                          <p:spTgt spid="46"/>
                                        </p:tgtEl>
                                        <p:attrNameLst>
                                          <p:attrName>style.visibility</p:attrName>
                                        </p:attrNameLst>
                                      </p:cBhvr>
                                      <p:tavLst>
                                        <p:tav tm="0">
                                          <p:val>
                                            <p:strVal val="hidden"/>
                                          </p:val>
                                        </p:tav>
                                        <p:tav tm="50000">
                                          <p:val>
                                            <p:strVal val="visible"/>
                                          </p:val>
                                        </p:tav>
                                      </p:tavLst>
                                    </p:anim>
                                  </p:childTnLst>
                                </p:cTn>
                              </p:par>
                              <p:par>
                                <p:cTn id="117" presetID="35" presetClass="emph" presetSubtype="0" fill="hold" grpId="2" nodeType="withEffect">
                                  <p:stCondLst>
                                    <p:cond delay="0"/>
                                  </p:stCondLst>
                                  <p:childTnLst>
                                    <p:anim calcmode="discrete" valueType="str">
                                      <p:cBhvr>
                                        <p:cTn id="118"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3" nodeType="clickEffect">
                                  <p:stCondLst>
                                    <p:cond delay="0"/>
                                  </p:stCondLst>
                                  <p:childTnLst>
                                    <p:set>
                                      <p:cBhvr>
                                        <p:cTn id="122" dur="1" fill="hold">
                                          <p:stCondLst>
                                            <p:cond delay="0"/>
                                          </p:stCondLst>
                                        </p:cTn>
                                        <p:tgtEl>
                                          <p:spTgt spid="46"/>
                                        </p:tgtEl>
                                        <p:attrNameLst>
                                          <p:attrName>style.visibility</p:attrName>
                                        </p:attrNameLst>
                                      </p:cBhvr>
                                      <p:to>
                                        <p:strVal val="visible"/>
                                      </p:to>
                                    </p:set>
                                  </p:childTnLst>
                                </p:cTn>
                              </p:par>
                              <p:par>
                                <p:cTn id="123" presetID="1" presetClass="entr" presetSubtype="0" fill="hold" grpId="3" nodeType="withEffect">
                                  <p:stCondLst>
                                    <p:cond delay="0"/>
                                  </p:stCondLst>
                                  <p:childTnLst>
                                    <p:set>
                                      <p:cBhvr>
                                        <p:cTn id="124" dur="1" fill="hold">
                                          <p:stCondLst>
                                            <p:cond delay="0"/>
                                          </p:stCondLst>
                                        </p:cTn>
                                        <p:tgtEl>
                                          <p:spTgt spid="47"/>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48"/>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xit" presetSubtype="0" fill="hold" grpId="4" nodeType="clickEffect">
                                  <p:stCondLst>
                                    <p:cond delay="0"/>
                                  </p:stCondLst>
                                  <p:childTnLst>
                                    <p:set>
                                      <p:cBhvr>
                                        <p:cTn id="132" dur="1" fill="hold">
                                          <p:stCondLst>
                                            <p:cond delay="0"/>
                                          </p:stCondLst>
                                        </p:cTn>
                                        <p:tgtEl>
                                          <p:spTgt spid="46"/>
                                        </p:tgtEl>
                                        <p:attrNameLst>
                                          <p:attrName>style.visibility</p:attrName>
                                        </p:attrNameLst>
                                      </p:cBhvr>
                                      <p:to>
                                        <p:strVal val="hidden"/>
                                      </p:to>
                                    </p:set>
                                  </p:childTnLst>
                                </p:cTn>
                              </p:par>
                              <p:par>
                                <p:cTn id="133" presetID="1" presetClass="exit" presetSubtype="0" fill="hold" grpId="4" nodeType="withEffect">
                                  <p:stCondLst>
                                    <p:cond delay="0"/>
                                  </p:stCondLst>
                                  <p:childTnLst>
                                    <p:set>
                                      <p:cBhvr>
                                        <p:cTn id="134" dur="1" fill="hold">
                                          <p:stCondLst>
                                            <p:cond delay="0"/>
                                          </p:stCondLst>
                                        </p:cTn>
                                        <p:tgtEl>
                                          <p:spTgt spid="4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5" grpId="1"/>
      <p:bldP spid="36" grpId="0" animBg="1"/>
      <p:bldP spid="36" grpId="1" animBg="1"/>
      <p:bldP spid="36" grpId="2" animBg="1"/>
      <p:bldP spid="36" grpId="3" animBg="1"/>
      <p:bldP spid="36" grpId="4" animBg="1"/>
      <p:bldP spid="36" grpId="5" animBg="1"/>
      <p:bldP spid="37" grpId="0" animBg="1"/>
      <p:bldP spid="37" grpId="1" animBg="1"/>
      <p:bldP spid="37" grpId="2" animBg="1"/>
      <p:bldP spid="37" grpId="3" animBg="1"/>
      <p:bldP spid="37" grpId="4" animBg="1"/>
      <p:bldP spid="37" grpId="5" animBg="1"/>
      <p:bldP spid="40" grpId="0" bldLvl="0" animBg="1"/>
      <p:bldP spid="40" grpId="1" animBg="1"/>
      <p:bldP spid="40" grpId="2" bldLvl="0" animBg="1"/>
      <p:bldP spid="40" grpId="3" bldLvl="0" animBg="1"/>
      <p:bldP spid="40" grpId="4" bldLvl="0" animBg="1"/>
      <p:bldP spid="40" grpId="5" animBg="1"/>
      <p:bldP spid="41" grpId="0" bldLvl="0" animBg="1"/>
      <p:bldP spid="41" grpId="1" animBg="1"/>
      <p:bldP spid="41" grpId="2" bldLvl="0" animBg="1"/>
      <p:bldP spid="41" grpId="3" bldLvl="0" animBg="1"/>
      <p:bldP spid="41" grpId="4" bldLvl="0" animBg="1"/>
      <p:bldP spid="41" grpId="5" animBg="1"/>
      <p:bldP spid="42" grpId="0"/>
      <p:bldP spid="42" grpId="1"/>
      <p:bldP spid="43" grpId="0" bldLvl="0" animBg="1"/>
      <p:bldP spid="43" grpId="1" animBg="1"/>
      <p:bldP spid="43" grpId="2" bldLvl="0" animBg="1"/>
      <p:bldP spid="43" grpId="3" bldLvl="0" animBg="1"/>
      <p:bldP spid="43" grpId="4" bldLvl="0" animBg="1"/>
      <p:bldP spid="43" grpId="5" bldLvl="0" animBg="1"/>
      <p:bldP spid="44" grpId="0" bldLvl="0" animBg="1"/>
      <p:bldP spid="44" grpId="1" animBg="1"/>
      <p:bldP spid="44" grpId="2" bldLvl="0" animBg="1"/>
      <p:bldP spid="44" grpId="3" bldLvl="0" animBg="1"/>
      <p:bldP spid="44" grpId="4" bldLvl="0" animBg="1"/>
      <p:bldP spid="44" grpId="5" bldLvl="0" animBg="1"/>
      <p:bldP spid="45" grpId="0"/>
      <p:bldP spid="45" grpId="1"/>
      <p:bldP spid="46" grpId="0" bldLvl="0" animBg="1"/>
      <p:bldP spid="46" grpId="1" animBg="1"/>
      <p:bldP spid="46" grpId="2" bldLvl="0" animBg="1"/>
      <p:bldP spid="46" grpId="3" bldLvl="0" animBg="1"/>
      <p:bldP spid="46" grpId="4" bldLvl="0" animBg="1"/>
      <p:bldP spid="46" grpId="5" bldLvl="0" animBg="1"/>
      <p:bldP spid="47" grpId="0" bldLvl="0" animBg="1"/>
      <p:bldP spid="47" grpId="1" animBg="1"/>
      <p:bldP spid="47" grpId="2" bldLvl="0" animBg="1"/>
      <p:bldP spid="47" grpId="3" bldLvl="0" animBg="1"/>
      <p:bldP spid="47" grpId="4" bldLvl="0" animBg="1"/>
      <p:bldP spid="47" grpId="5" bldLvl="0" animBg="1"/>
      <p:bldP spid="48" grpId="0"/>
      <p:bldP spid="48" grpId="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470535" y="836930"/>
            <a:ext cx="7500620" cy="370205"/>
          </a:xfrm>
          <a:prstGeom prst="rect">
            <a:avLst/>
          </a:prstGeom>
          <a:noFill/>
        </p:spPr>
        <p:txBody>
          <a:bodyPr wrap="square" rtlCol="0">
            <a:noAutofit/>
          </a:bodyPr>
          <a:lstStyle/>
          <a:p>
            <a:r>
              <a:rPr lang="zh-CN" altLang="en-US">
                <a:solidFill>
                  <a:schemeClr val="tx1"/>
                </a:solidFill>
              </a:rPr>
              <a:t>动态规划为何可以利用</a:t>
            </a:r>
            <a:r>
              <a:rPr lang="zh-CN" altLang="en-US">
                <a:solidFill>
                  <a:srgbClr val="FF0000"/>
                </a:solidFill>
              </a:rPr>
              <a:t>最优子结构</a:t>
            </a:r>
            <a:r>
              <a:rPr lang="zh-CN" altLang="en-US">
                <a:solidFill>
                  <a:schemeClr val="tx1"/>
                </a:solidFill>
              </a:rPr>
              <a:t>来求解组合优化问题</a:t>
            </a:r>
            <a:endParaRPr lang="zh-CN" altLang="en-US">
              <a:solidFill>
                <a:schemeClr val="tx1"/>
              </a:solidFill>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1"/>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2"/>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3"/>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4"/>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5"/>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6"/>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p:cNvCxnSpPr>
          <p:nvPr>
            <p:custDataLst>
              <p:tags r:id="rId7"/>
            </p:custDataLst>
          </p:nvPr>
        </p:nvCxnSpPr>
        <p:spPr>
          <a:xfrm flipH="1">
            <a:off x="3996055" y="3366770"/>
            <a:ext cx="781050" cy="42227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8"/>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9"/>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custDataLst>
              <p:tags r:id="rId10"/>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9" name="文本框 58"/>
          <p:cNvSpPr txBox="1"/>
          <p:nvPr/>
        </p:nvSpPr>
        <p:spPr>
          <a:xfrm>
            <a:off x="3771900" y="378904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470535" y="5480685"/>
            <a:ext cx="8227695" cy="570230"/>
          </a:xfrm>
          <a:prstGeom prst="rect">
            <a:avLst/>
          </a:prstGeom>
          <a:noFill/>
        </p:spPr>
        <p:txBody>
          <a:bodyPr wrap="square" rtlCol="0">
            <a:noAutofit/>
          </a:bodyPr>
          <a:lstStyle/>
          <a:p>
            <a:r>
              <a:rPr lang="zh-CN" altLang="en-US"/>
              <a:t>如果用贪心算法是否可以求解？贪心求解最长路径是</a:t>
            </a:r>
            <a:r>
              <a:rPr lang="en-US" altLang="zh-CN">
                <a:latin typeface="Times New Roman" panose="02020603050405020304" pitchFamily="18" charset="0"/>
                <a:cs typeface="Times New Roman" panose="02020603050405020304" pitchFamily="18" charset="0"/>
              </a:rPr>
              <a:t>22</a:t>
            </a:r>
            <a:r>
              <a:rPr lang="zh-CN" altLang="en-US"/>
              <a:t>，很显然能找到一个反例推翻，例如紫色路径</a:t>
            </a:r>
            <a:r>
              <a:rPr lang="en-US" altLang="zh-CN">
                <a:latin typeface="Times New Roman" panose="02020603050405020304" pitchFamily="18" charset="0"/>
                <a:cs typeface="Times New Roman" panose="02020603050405020304" pitchFamily="18" charset="0"/>
              </a:rPr>
              <a:t>25</a:t>
            </a:r>
            <a:r>
              <a:rPr lang="zh-CN" altLang="en-US"/>
              <a:t>，比贪心算法更优。</a:t>
            </a:r>
            <a:endParaRPr lang="zh-CN" altLang="en-US"/>
          </a:p>
        </p:txBody>
      </p:sp>
      <p:cxnSp>
        <p:nvCxnSpPr>
          <p:cNvPr id="81" name="直接箭头连接符 80"/>
          <p:cNvCxnSpPr/>
          <p:nvPr/>
        </p:nvCxnSpPr>
        <p:spPr>
          <a:xfrm>
            <a:off x="5022215" y="1923415"/>
            <a:ext cx="557530" cy="20891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2" name="直接箭头连接符 81"/>
          <p:cNvCxnSpPr/>
          <p:nvPr/>
        </p:nvCxnSpPr>
        <p:spPr>
          <a:xfrm flipH="1">
            <a:off x="4859655" y="2607310"/>
            <a:ext cx="432435" cy="24511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3" name="直接箭头连接符 82"/>
          <p:cNvCxnSpPr/>
          <p:nvPr/>
        </p:nvCxnSpPr>
        <p:spPr>
          <a:xfrm>
            <a:off x="4775200" y="3423920"/>
            <a:ext cx="485140" cy="27368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4" name="直接箭头连接符 83"/>
          <p:cNvCxnSpPr/>
          <p:nvPr/>
        </p:nvCxnSpPr>
        <p:spPr>
          <a:xfrm flipH="1">
            <a:off x="5022215" y="4220845"/>
            <a:ext cx="413385" cy="20066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5" name="直接箭头连接符 84"/>
          <p:cNvCxnSpPr/>
          <p:nvPr/>
        </p:nvCxnSpPr>
        <p:spPr>
          <a:xfrm flipH="1">
            <a:off x="3928745" y="1932940"/>
            <a:ext cx="482600" cy="20129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7" name="直接箭头连接符 86"/>
          <p:cNvCxnSpPr/>
          <p:nvPr/>
        </p:nvCxnSpPr>
        <p:spPr>
          <a:xfrm flipH="1">
            <a:off x="3203575" y="2636520"/>
            <a:ext cx="504190" cy="28829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8" name="直接箭头连接符 87"/>
          <p:cNvCxnSpPr/>
          <p:nvPr/>
        </p:nvCxnSpPr>
        <p:spPr>
          <a:xfrm>
            <a:off x="3203575" y="3429000"/>
            <a:ext cx="648335" cy="28765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9" name="直接箭头连接符 88"/>
          <p:cNvCxnSpPr/>
          <p:nvPr/>
        </p:nvCxnSpPr>
        <p:spPr>
          <a:xfrm flipH="1">
            <a:off x="3419475" y="4149090"/>
            <a:ext cx="432435" cy="21590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down)">
                                      <p:cBhvr>
                                        <p:cTn id="7" dur="500"/>
                                        <p:tgtEl>
                                          <p:spTgt spid="81"/>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82"/>
                                        </p:tgtEl>
                                        <p:attrNameLst>
                                          <p:attrName>style.visibility</p:attrName>
                                        </p:attrNameLst>
                                      </p:cBhvr>
                                      <p:to>
                                        <p:strVal val="visible"/>
                                      </p:to>
                                    </p:set>
                                    <p:animEffect transition="in" filter="wipe(down)">
                                      <p:cBhvr>
                                        <p:cTn id="11" dur="500"/>
                                        <p:tgtEl>
                                          <p:spTgt spid="82"/>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83"/>
                                        </p:tgtEl>
                                        <p:attrNameLst>
                                          <p:attrName>style.visibility</p:attrName>
                                        </p:attrNameLst>
                                      </p:cBhvr>
                                      <p:to>
                                        <p:strVal val="visible"/>
                                      </p:to>
                                    </p:set>
                                    <p:animEffect transition="in" filter="wipe(down)">
                                      <p:cBhvr>
                                        <p:cTn id="15" dur="500"/>
                                        <p:tgtEl>
                                          <p:spTgt spid="83"/>
                                        </p:tgtEl>
                                      </p:cBhvr>
                                    </p:animEffect>
                                  </p:childTnLst>
                                </p:cTn>
                              </p:par>
                            </p:childTnLst>
                          </p:cTn>
                        </p:par>
                        <p:par>
                          <p:cTn id="16" fill="hold">
                            <p:stCondLst>
                              <p:cond delay="1500"/>
                            </p:stCondLst>
                            <p:childTnLst>
                              <p:par>
                                <p:cTn id="17" presetID="22" presetClass="entr" presetSubtype="4" fill="hold" nodeType="afterEffect">
                                  <p:stCondLst>
                                    <p:cond delay="0"/>
                                  </p:stCondLst>
                                  <p:childTnLst>
                                    <p:set>
                                      <p:cBhvr>
                                        <p:cTn id="18" dur="1" fill="hold">
                                          <p:stCondLst>
                                            <p:cond delay="0"/>
                                          </p:stCondLst>
                                        </p:cTn>
                                        <p:tgtEl>
                                          <p:spTgt spid="84"/>
                                        </p:tgtEl>
                                        <p:attrNameLst>
                                          <p:attrName>style.visibility</p:attrName>
                                        </p:attrNameLst>
                                      </p:cBhvr>
                                      <p:to>
                                        <p:strVal val="visible"/>
                                      </p:to>
                                    </p:set>
                                    <p:animEffect transition="in" filter="wipe(down)">
                                      <p:cBhvr>
                                        <p:cTn id="19" dur="500"/>
                                        <p:tgtEl>
                                          <p:spTgt spid="84"/>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nodeType="clickEffect">
                                  <p:stCondLst>
                                    <p:cond delay="0"/>
                                  </p:stCondLst>
                                  <p:childTnLst>
                                    <p:set>
                                      <p:cBhvr>
                                        <p:cTn id="23" dur="1" fill="hold">
                                          <p:stCondLst>
                                            <p:cond delay="0"/>
                                          </p:stCondLst>
                                        </p:cTn>
                                        <p:tgtEl>
                                          <p:spTgt spid="85"/>
                                        </p:tgtEl>
                                        <p:attrNameLst>
                                          <p:attrName>style.visibility</p:attrName>
                                        </p:attrNameLst>
                                      </p:cBhvr>
                                      <p:to>
                                        <p:strVal val="visible"/>
                                      </p:to>
                                    </p:set>
                                    <p:animEffect transition="in" filter="wipe(down)">
                                      <p:cBhvr>
                                        <p:cTn id="24" dur="500"/>
                                        <p:tgtEl>
                                          <p:spTgt spid="85"/>
                                        </p:tgtEl>
                                      </p:cBhvr>
                                    </p:animEffect>
                                  </p:childTnLst>
                                </p:cTn>
                              </p:par>
                            </p:childTnLst>
                          </p:cTn>
                        </p:par>
                        <p:par>
                          <p:cTn id="25" fill="hold">
                            <p:stCondLst>
                              <p:cond delay="500"/>
                            </p:stCondLst>
                            <p:childTnLst>
                              <p:par>
                                <p:cTn id="26" presetID="22" presetClass="entr" presetSubtype="4" fill="hold" nodeType="afterEffect">
                                  <p:stCondLst>
                                    <p:cond delay="0"/>
                                  </p:stCondLst>
                                  <p:childTnLst>
                                    <p:set>
                                      <p:cBhvr>
                                        <p:cTn id="27" dur="1" fill="hold">
                                          <p:stCondLst>
                                            <p:cond delay="0"/>
                                          </p:stCondLst>
                                        </p:cTn>
                                        <p:tgtEl>
                                          <p:spTgt spid="87"/>
                                        </p:tgtEl>
                                        <p:attrNameLst>
                                          <p:attrName>style.visibility</p:attrName>
                                        </p:attrNameLst>
                                      </p:cBhvr>
                                      <p:to>
                                        <p:strVal val="visible"/>
                                      </p:to>
                                    </p:set>
                                    <p:animEffect transition="in" filter="wipe(down)">
                                      <p:cBhvr>
                                        <p:cTn id="28" dur="500"/>
                                        <p:tgtEl>
                                          <p:spTgt spid="87"/>
                                        </p:tgtEl>
                                      </p:cBhvr>
                                    </p:animEffect>
                                  </p:childTnLst>
                                </p:cTn>
                              </p:par>
                            </p:childTnLst>
                          </p:cTn>
                        </p:par>
                        <p:par>
                          <p:cTn id="29" fill="hold">
                            <p:stCondLst>
                              <p:cond delay="1000"/>
                            </p:stCondLst>
                            <p:childTnLst>
                              <p:par>
                                <p:cTn id="30" presetID="22" presetClass="entr" presetSubtype="4" fill="hold" nodeType="afterEffect">
                                  <p:stCondLst>
                                    <p:cond delay="0"/>
                                  </p:stCondLst>
                                  <p:childTnLst>
                                    <p:set>
                                      <p:cBhvr>
                                        <p:cTn id="31" dur="1" fill="hold">
                                          <p:stCondLst>
                                            <p:cond delay="0"/>
                                          </p:stCondLst>
                                        </p:cTn>
                                        <p:tgtEl>
                                          <p:spTgt spid="88"/>
                                        </p:tgtEl>
                                        <p:attrNameLst>
                                          <p:attrName>style.visibility</p:attrName>
                                        </p:attrNameLst>
                                      </p:cBhvr>
                                      <p:to>
                                        <p:strVal val="visible"/>
                                      </p:to>
                                    </p:set>
                                    <p:animEffect transition="in" filter="wipe(down)">
                                      <p:cBhvr>
                                        <p:cTn id="32" dur="500"/>
                                        <p:tgtEl>
                                          <p:spTgt spid="88"/>
                                        </p:tgtEl>
                                      </p:cBhvr>
                                    </p:animEffect>
                                  </p:childTnLst>
                                </p:cTn>
                              </p:par>
                            </p:childTnLst>
                          </p:cTn>
                        </p:par>
                        <p:par>
                          <p:cTn id="33" fill="hold">
                            <p:stCondLst>
                              <p:cond delay="1500"/>
                            </p:stCondLst>
                            <p:childTnLst>
                              <p:par>
                                <p:cTn id="34" presetID="22" presetClass="entr" presetSubtype="4" fill="hold" nodeType="afterEffect">
                                  <p:stCondLst>
                                    <p:cond delay="0"/>
                                  </p:stCondLst>
                                  <p:childTnLst>
                                    <p:set>
                                      <p:cBhvr>
                                        <p:cTn id="35" dur="1" fill="hold">
                                          <p:stCondLst>
                                            <p:cond delay="0"/>
                                          </p:stCondLst>
                                        </p:cTn>
                                        <p:tgtEl>
                                          <p:spTgt spid="89"/>
                                        </p:tgtEl>
                                        <p:attrNameLst>
                                          <p:attrName>style.visibility</p:attrName>
                                        </p:attrNameLst>
                                      </p:cBhvr>
                                      <p:to>
                                        <p:strVal val="visible"/>
                                      </p:to>
                                    </p:set>
                                    <p:animEffect transition="in" filter="wipe(down)">
                                      <p:cBhvr>
                                        <p:cTn id="36"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圆角矩形 26"/>
          <p:cNvSpPr/>
          <p:nvPr>
            <p:custDataLst>
              <p:tags r:id="rId1"/>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380238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2"/>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3"/>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4"/>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5"/>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6"/>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7"/>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a:endCxn id="27" idx="0"/>
          </p:cNvCxnSpPr>
          <p:nvPr>
            <p:custDataLst>
              <p:tags r:id="rId8"/>
            </p:custDataLst>
          </p:nvPr>
        </p:nvCxnSpPr>
        <p:spPr>
          <a:xfrm flipH="1">
            <a:off x="4053205" y="3366770"/>
            <a:ext cx="72390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9"/>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10"/>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107950" y="836295"/>
            <a:ext cx="8398510" cy="429260"/>
          </a:xfrm>
          <a:prstGeom prst="rect">
            <a:avLst/>
          </a:prstGeom>
          <a:noFill/>
        </p:spPr>
        <p:txBody>
          <a:bodyPr wrap="square" rtlCol="0">
            <a:noAutofit/>
          </a:bodyPr>
          <a:lstStyle/>
          <a:p>
            <a:r>
              <a:rPr lang="zh-CN" altLang="en-US"/>
              <a:t>如何利用动态规划的思想：首先将问题拆分成各个阶段的小问题。</a:t>
            </a:r>
            <a:endParaRPr lang="zh-CN" altLang="en-US"/>
          </a:p>
        </p:txBody>
      </p:sp>
      <p:pic>
        <p:nvPicPr>
          <p:cNvPr id="2" name="图片 1"/>
          <p:cNvPicPr>
            <a:picLocks noChangeAspect="1"/>
          </p:cNvPicPr>
          <p:nvPr/>
        </p:nvPicPr>
        <p:blipFill>
          <a:blip r:embed="rId31"/>
          <a:stretch>
            <a:fillRect/>
          </a:stretch>
        </p:blipFill>
        <p:spPr>
          <a:xfrm>
            <a:off x="314960" y="4139565"/>
            <a:ext cx="8648700" cy="1133475"/>
          </a:xfrm>
          <a:prstGeom prst="rect">
            <a:avLst/>
          </a:prstGeom>
        </p:spPr>
      </p:pic>
      <p:pic>
        <p:nvPicPr>
          <p:cNvPr id="3" name="图片 2"/>
          <p:cNvPicPr>
            <a:picLocks noChangeAspect="1"/>
          </p:cNvPicPr>
          <p:nvPr/>
        </p:nvPicPr>
        <p:blipFill>
          <a:blip r:embed="rId31"/>
          <a:stretch>
            <a:fillRect/>
          </a:stretch>
        </p:blipFill>
        <p:spPr>
          <a:xfrm>
            <a:off x="498475" y="3362960"/>
            <a:ext cx="8648700" cy="1133475"/>
          </a:xfrm>
          <a:prstGeom prst="rect">
            <a:avLst/>
          </a:prstGeom>
        </p:spPr>
      </p:pic>
      <p:pic>
        <p:nvPicPr>
          <p:cNvPr id="4" name="图片 3"/>
          <p:cNvPicPr>
            <a:picLocks noChangeAspect="1"/>
          </p:cNvPicPr>
          <p:nvPr/>
        </p:nvPicPr>
        <p:blipFill>
          <a:blip r:embed="rId31"/>
          <a:stretch>
            <a:fillRect/>
          </a:stretch>
        </p:blipFill>
        <p:spPr>
          <a:xfrm>
            <a:off x="324485" y="2592070"/>
            <a:ext cx="8648700" cy="1133475"/>
          </a:xfrm>
          <a:prstGeom prst="rect">
            <a:avLst/>
          </a:prstGeom>
        </p:spPr>
      </p:pic>
      <p:sp>
        <p:nvSpPr>
          <p:cNvPr id="6" name="文本框 5"/>
          <p:cNvSpPr txBox="1"/>
          <p:nvPr/>
        </p:nvSpPr>
        <p:spPr>
          <a:xfrm>
            <a:off x="323215" y="5372735"/>
            <a:ext cx="8398510" cy="763270"/>
          </a:xfrm>
          <a:prstGeom prst="rect">
            <a:avLst/>
          </a:prstGeom>
          <a:noFill/>
        </p:spPr>
        <p:txBody>
          <a:bodyPr wrap="square" rtlCol="0">
            <a:noAutofit/>
          </a:bodyPr>
          <a:lstStyle/>
          <a:p>
            <a:r>
              <a:rPr lang="zh-CN" altLang="en-US"/>
              <a:t>当将问题拆分到最后一个阶段，则可以直接获得到当前阶段的最大路径。当</a:t>
            </a:r>
            <a:r>
              <a:rPr lang="zh-CN" altLang="en-US">
                <a:solidFill>
                  <a:srgbClr val="FF0000"/>
                </a:solidFill>
              </a:rPr>
              <a:t>子问题考虑完所有情况</a:t>
            </a:r>
            <a:r>
              <a:rPr lang="zh-CN" altLang="en-US"/>
              <a:t>之后，选择最优的保存。</a:t>
            </a:r>
            <a:endParaRPr lang="zh-CN" altLang="en-US"/>
          </a:p>
          <a:p>
            <a:endParaRPr lang="zh-CN" altLang="en-US"/>
          </a:p>
        </p:txBody>
      </p:sp>
      <p:sp>
        <p:nvSpPr>
          <p:cNvPr id="8" name="文本框 7"/>
          <p:cNvSpPr txBox="1"/>
          <p:nvPr/>
        </p:nvSpPr>
        <p:spPr>
          <a:xfrm>
            <a:off x="3774440" y="22498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8</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0" name="文本框 9"/>
          <p:cNvSpPr txBox="1"/>
          <p:nvPr/>
        </p:nvSpPr>
        <p:spPr>
          <a:xfrm>
            <a:off x="5259070" y="22498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5" name="文本框 14"/>
          <p:cNvSpPr txBox="1"/>
          <p:nvPr/>
        </p:nvSpPr>
        <p:spPr>
          <a:xfrm>
            <a:off x="2945765" y="302514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7" name="文本框 16"/>
          <p:cNvSpPr txBox="1"/>
          <p:nvPr/>
        </p:nvSpPr>
        <p:spPr>
          <a:xfrm>
            <a:off x="4481195" y="302958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13</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9" name="文本框 18"/>
          <p:cNvSpPr txBox="1"/>
          <p:nvPr/>
        </p:nvSpPr>
        <p:spPr>
          <a:xfrm>
            <a:off x="5970905" y="302958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0" name="文本框 19"/>
          <p:cNvSpPr txBox="1"/>
          <p:nvPr/>
        </p:nvSpPr>
        <p:spPr>
          <a:xfrm>
            <a:off x="2124075" y="386080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文本框 28"/>
          <p:cNvSpPr txBox="1"/>
          <p:nvPr/>
        </p:nvSpPr>
        <p:spPr>
          <a:xfrm>
            <a:off x="3771900" y="37992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34" name="文本框 33"/>
          <p:cNvSpPr txBox="1"/>
          <p:nvPr/>
        </p:nvSpPr>
        <p:spPr>
          <a:xfrm>
            <a:off x="5205095" y="37992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0" name="文本框 39"/>
          <p:cNvSpPr txBox="1"/>
          <p:nvPr/>
        </p:nvSpPr>
        <p:spPr>
          <a:xfrm>
            <a:off x="6652895" y="37858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1" name="文本框 40"/>
          <p:cNvSpPr txBox="1"/>
          <p:nvPr/>
        </p:nvSpPr>
        <p:spPr>
          <a:xfrm>
            <a:off x="147574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2" name="文本框 41"/>
          <p:cNvSpPr txBox="1"/>
          <p:nvPr/>
        </p:nvSpPr>
        <p:spPr>
          <a:xfrm>
            <a:off x="3060065"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27</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3" name="文本框 42"/>
          <p:cNvSpPr txBox="1"/>
          <p:nvPr/>
        </p:nvSpPr>
        <p:spPr>
          <a:xfrm>
            <a:off x="456311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4" name="文本框 43"/>
          <p:cNvSpPr txBox="1"/>
          <p:nvPr/>
        </p:nvSpPr>
        <p:spPr>
          <a:xfrm>
            <a:off x="594614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5" name="文本框 44"/>
          <p:cNvSpPr txBox="1"/>
          <p:nvPr/>
        </p:nvSpPr>
        <p:spPr>
          <a:xfrm>
            <a:off x="7740015"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19</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3" name="文本框 22"/>
          <p:cNvSpPr txBox="1"/>
          <p:nvPr/>
        </p:nvSpPr>
        <p:spPr>
          <a:xfrm>
            <a:off x="314960" y="6236970"/>
            <a:ext cx="7880350" cy="370205"/>
          </a:xfrm>
          <a:prstGeom prst="rect">
            <a:avLst/>
          </a:prstGeom>
          <a:noFill/>
        </p:spPr>
        <p:txBody>
          <a:bodyPr wrap="square" rtlCol="0" anchor="t">
            <a:noAutofit/>
          </a:bodyPr>
          <a:lstStyle/>
          <a:p>
            <a:r>
              <a:rPr lang="zh-CN" altLang="en-US">
                <a:sym typeface="+mn-ea"/>
              </a:rPr>
              <a:t>该问题的最优解通过每一步的最优解组合获得，说明具有</a:t>
            </a:r>
            <a:r>
              <a:rPr lang="zh-CN" altLang="en-US">
                <a:solidFill>
                  <a:srgbClr val="FF0000"/>
                </a:solidFill>
                <a:sym typeface="+mn-ea"/>
              </a:rPr>
              <a:t>最优子结构</a:t>
            </a:r>
            <a:r>
              <a:rPr lang="zh-CN" altLang="en-US">
                <a:sym typeface="+mn-ea"/>
              </a:rPr>
              <a:t>。</a:t>
            </a:r>
            <a:endParaRPr lang="zh-CN" altLang="en-US">
              <a:sym typeface="+mn-ea"/>
            </a:endParaRPr>
          </a:p>
        </p:txBody>
      </p:sp>
      <p:sp>
        <p:nvSpPr>
          <p:cNvPr id="30" name="文本框 29"/>
          <p:cNvSpPr txBox="1"/>
          <p:nvPr/>
        </p:nvSpPr>
        <p:spPr>
          <a:xfrm>
            <a:off x="219710" y="1558290"/>
            <a:ext cx="2382520" cy="812165"/>
          </a:xfrm>
          <a:prstGeom prst="rect">
            <a:avLst/>
          </a:prstGeom>
          <a:noFill/>
        </p:spPr>
        <p:txBody>
          <a:bodyPr wrap="square" rtlCol="0" anchor="t">
            <a:noAutofit/>
          </a:bodyPr>
          <a:lstStyle/>
          <a:p>
            <a:r>
              <a:rPr lang="zh-CN" altLang="en-US">
                <a:solidFill>
                  <a:srgbClr val="FF0000"/>
                </a:solidFill>
                <a:sym typeface="+mn-ea"/>
              </a:rPr>
              <a:t>那么同学们这个问题的状态转移方程和状态表能找出来吗？</a:t>
            </a:r>
            <a:endParaRPr lang="zh-CN" altLang="en-US">
              <a:solidFill>
                <a:srgbClr val="FF000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54">
                                            <p:txEl>
                                              <p:pRg st="0" end="0"/>
                                            </p:txEl>
                                          </p:spTgt>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nodeType="clickEffect">
                                  <p:stCondLst>
                                    <p:cond delay="0"/>
                                  </p:stCondLst>
                                  <p:childTnLst>
                                    <p:set>
                                      <p:cBhvr>
                                        <p:cTn id="38" dur="1" fill="hold">
                                          <p:stCondLst>
                                            <p:cond delay="0"/>
                                          </p:stCondLst>
                                        </p:cTn>
                                        <p:tgtEl>
                                          <p:spTgt spid="4"/>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0" nodeType="clickEffect">
                                  <p:stCondLst>
                                    <p:cond delay="0"/>
                                  </p:stCondLst>
                                  <p:childTnLst>
                                    <p:set>
                                      <p:cBhvr>
                                        <p:cTn id="42" dur="1" fill="hold">
                                          <p:stCondLst>
                                            <p:cond delay="0"/>
                                          </p:stCondLst>
                                        </p:cTn>
                                        <p:tgtEl>
                                          <p:spTgt spid="55"/>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56"/>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0" nodeType="clickEffect">
                                  <p:stCondLst>
                                    <p:cond delay="0"/>
                                  </p:stCondLst>
                                  <p:childTnLst>
                                    <p:set>
                                      <p:cBhvr>
                                        <p:cTn id="58" dur="1" fill="hold">
                                          <p:stCondLst>
                                            <p:cond delay="0"/>
                                          </p:stCondLst>
                                        </p:cTn>
                                        <p:tgtEl>
                                          <p:spTgt spid="57"/>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nodeType="clickEffect">
                                  <p:stCondLst>
                                    <p:cond delay="0"/>
                                  </p:stCondLst>
                                  <p:childTnLst>
                                    <p:set>
                                      <p:cBhvr>
                                        <p:cTn id="66" dur="1" fill="hold">
                                          <p:stCondLst>
                                            <p:cond delay="0"/>
                                          </p:stCondLst>
                                        </p:cTn>
                                        <p:tgtEl>
                                          <p:spTgt spid="3"/>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0" nodeType="clickEffect">
                                  <p:stCondLst>
                                    <p:cond delay="0"/>
                                  </p:stCondLst>
                                  <p:childTnLst>
                                    <p:set>
                                      <p:cBhvr>
                                        <p:cTn id="70" dur="1" fill="hold">
                                          <p:stCondLst>
                                            <p:cond delay="0"/>
                                          </p:stCondLst>
                                        </p:cTn>
                                        <p:tgtEl>
                                          <p:spTgt spid="58"/>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0" nodeType="clickEffect">
                                  <p:stCondLst>
                                    <p:cond delay="0"/>
                                  </p:stCondLst>
                                  <p:childTnLst>
                                    <p:set>
                                      <p:cBhvr>
                                        <p:cTn id="78" dur="1" fill="hold">
                                          <p:stCondLst>
                                            <p:cond delay="0"/>
                                          </p:stCondLst>
                                        </p:cTn>
                                        <p:tgtEl>
                                          <p:spTgt spid="37"/>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xit" presetSubtype="0" fill="hold" grpId="0" nodeType="clickEffect">
                                  <p:stCondLst>
                                    <p:cond delay="0"/>
                                  </p:stCondLst>
                                  <p:childTnLst>
                                    <p:set>
                                      <p:cBhvr>
                                        <p:cTn id="86" dur="1" fill="hold">
                                          <p:stCondLst>
                                            <p:cond delay="0"/>
                                          </p:stCondLst>
                                        </p:cTn>
                                        <p:tgtEl>
                                          <p:spTgt spid="60"/>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4"/>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xit" presetSubtype="0" fill="hold" grpId="0" nodeType="clickEffect">
                                  <p:stCondLst>
                                    <p:cond delay="0"/>
                                  </p:stCondLst>
                                  <p:childTnLst>
                                    <p:set>
                                      <p:cBhvr>
                                        <p:cTn id="94" dur="1" fill="hold">
                                          <p:stCondLst>
                                            <p:cond delay="0"/>
                                          </p:stCondLst>
                                        </p:cTn>
                                        <p:tgtEl>
                                          <p:spTgt spid="61"/>
                                        </p:tgtEl>
                                        <p:attrNameLst>
                                          <p:attrName>style.visibility</p:attrName>
                                        </p:attrNameLst>
                                      </p:cBhvr>
                                      <p:to>
                                        <p:strVal val="hidden"/>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40"/>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xit" presetSubtype="0" fill="hold" nodeType="clickEffect">
                                  <p:stCondLst>
                                    <p:cond delay="0"/>
                                  </p:stCondLst>
                                  <p:childTnLst>
                                    <p:set>
                                      <p:cBhvr>
                                        <p:cTn id="102" dur="1" fill="hold">
                                          <p:stCondLst>
                                            <p:cond delay="0"/>
                                          </p:stCondLst>
                                        </p:cTn>
                                        <p:tgtEl>
                                          <p:spTgt spid="2"/>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1" presetClass="exit" presetSubtype="0" fill="hold" grpId="0" nodeType="clickEffect">
                                  <p:stCondLst>
                                    <p:cond delay="0"/>
                                  </p:stCondLst>
                                  <p:childTnLst>
                                    <p:set>
                                      <p:cBhvr>
                                        <p:cTn id="106" dur="1" fill="hold">
                                          <p:stCondLst>
                                            <p:cond delay="0"/>
                                          </p:stCondLst>
                                        </p:cTn>
                                        <p:tgtEl>
                                          <p:spTgt spid="66"/>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xit" presetSubtype="0" fill="hold" grpId="0" nodeType="clickEffect">
                                  <p:stCondLst>
                                    <p:cond delay="0"/>
                                  </p:stCondLst>
                                  <p:childTnLst>
                                    <p:set>
                                      <p:cBhvr>
                                        <p:cTn id="114" dur="1" fill="hold">
                                          <p:stCondLst>
                                            <p:cond delay="0"/>
                                          </p:stCondLst>
                                        </p:cTn>
                                        <p:tgtEl>
                                          <p:spTgt spid="67"/>
                                        </p:tgtEl>
                                        <p:attrNameLst>
                                          <p:attrName>style.visibility</p:attrName>
                                        </p:attrNameLst>
                                      </p:cBhvr>
                                      <p:to>
                                        <p:strVal val="hidden"/>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4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xit" presetSubtype="0" fill="hold" grpId="0" nodeType="clickEffect">
                                  <p:stCondLst>
                                    <p:cond delay="0"/>
                                  </p:stCondLst>
                                  <p:childTnLst>
                                    <p:set>
                                      <p:cBhvr>
                                        <p:cTn id="122" dur="1" fill="hold">
                                          <p:stCondLst>
                                            <p:cond delay="0"/>
                                          </p:stCondLst>
                                        </p:cTn>
                                        <p:tgtEl>
                                          <p:spTgt spid="68"/>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4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xit" presetSubtype="0" fill="hold" grpId="0" nodeType="clickEffect">
                                  <p:stCondLst>
                                    <p:cond delay="0"/>
                                  </p:stCondLst>
                                  <p:childTnLst>
                                    <p:set>
                                      <p:cBhvr>
                                        <p:cTn id="130" dur="1" fill="hold">
                                          <p:stCondLst>
                                            <p:cond delay="0"/>
                                          </p:stCondLst>
                                        </p:cTn>
                                        <p:tgtEl>
                                          <p:spTgt spid="69"/>
                                        </p:tgtEl>
                                        <p:attrNameLst>
                                          <p:attrName>style.visibility</p:attrName>
                                        </p:attrNameLst>
                                      </p:cBhvr>
                                      <p:to>
                                        <p:strVal val="hidden"/>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44"/>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xit" presetSubtype="0" fill="hold" grpId="0" nodeType="clickEffect">
                                  <p:stCondLst>
                                    <p:cond delay="0"/>
                                  </p:stCondLst>
                                  <p:childTnLst>
                                    <p:set>
                                      <p:cBhvr>
                                        <p:cTn id="138" dur="1" fill="hold">
                                          <p:stCondLst>
                                            <p:cond delay="0"/>
                                          </p:stCondLst>
                                        </p:cTn>
                                        <p:tgtEl>
                                          <p:spTgt spid="79"/>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45"/>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2" presetClass="entr" presetSubtype="4" fill="hold" grpId="0" nodeType="clickEffect">
                                  <p:stCondLst>
                                    <p:cond delay="0"/>
                                  </p:stCondLst>
                                  <p:childTnLst>
                                    <p:set>
                                      <p:cBhvr>
                                        <p:cTn id="146" dur="1" fill="hold">
                                          <p:stCondLst>
                                            <p:cond delay="0"/>
                                          </p:stCondLst>
                                        </p:cTn>
                                        <p:tgtEl>
                                          <p:spTgt spid="23"/>
                                        </p:tgtEl>
                                        <p:attrNameLst>
                                          <p:attrName>style.visibility</p:attrName>
                                        </p:attrNameLst>
                                      </p:cBhvr>
                                      <p:to>
                                        <p:strVal val="visible"/>
                                      </p:to>
                                    </p:set>
                                    <p:anim calcmode="lin" valueType="num">
                                      <p:cBhvr additive="base">
                                        <p:cTn id="147" dur="500" fill="hold"/>
                                        <p:tgtEl>
                                          <p:spTgt spid="23"/>
                                        </p:tgtEl>
                                        <p:attrNameLst>
                                          <p:attrName>ppt_x</p:attrName>
                                        </p:attrNameLst>
                                      </p:cBhvr>
                                      <p:tavLst>
                                        <p:tav tm="0">
                                          <p:val>
                                            <p:strVal val="#ppt_x"/>
                                          </p:val>
                                        </p:tav>
                                        <p:tav tm="100000">
                                          <p:val>
                                            <p:strVal val="#ppt_x"/>
                                          </p:val>
                                        </p:tav>
                                      </p:tavLst>
                                    </p:anim>
                                    <p:anim calcmode="lin" valueType="num">
                                      <p:cBhvr additive="base">
                                        <p:cTn id="148"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51" presetID="2" presetClass="entr" presetSubtype="4" fill="hold" grpId="0" nodeType="clickEffect">
                                  <p:stCondLst>
                                    <p:cond delay="0"/>
                                  </p:stCondLst>
                                  <p:childTnLst>
                                    <p:set>
                                      <p:cBhvr>
                                        <p:cTn id="152" dur="1" fill="hold">
                                          <p:stCondLst>
                                            <p:cond delay="0"/>
                                          </p:stCondLst>
                                        </p:cTn>
                                        <p:tgtEl>
                                          <p:spTgt spid="30"/>
                                        </p:tgtEl>
                                        <p:attrNameLst>
                                          <p:attrName>style.visibility</p:attrName>
                                        </p:attrNameLst>
                                      </p:cBhvr>
                                      <p:to>
                                        <p:strVal val="visible"/>
                                      </p:to>
                                    </p:set>
                                    <p:anim calcmode="lin" valueType="num">
                                      <p:cBhvr additive="base">
                                        <p:cTn id="153" dur="500" fill="hold"/>
                                        <p:tgtEl>
                                          <p:spTgt spid="30"/>
                                        </p:tgtEl>
                                        <p:attrNameLst>
                                          <p:attrName>ppt_x</p:attrName>
                                        </p:attrNameLst>
                                      </p:cBhvr>
                                      <p:tavLst>
                                        <p:tav tm="0">
                                          <p:val>
                                            <p:strVal val="#ppt_x"/>
                                          </p:val>
                                        </p:tav>
                                        <p:tav tm="100000">
                                          <p:val>
                                            <p:strVal val="#ppt_x"/>
                                          </p:val>
                                        </p:tav>
                                      </p:tavLst>
                                    </p:anim>
                                    <p:anim calcmode="lin" valueType="num">
                                      <p:cBhvr additive="base">
                                        <p:cTn id="15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P spid="37" grpId="1"/>
      <p:bldP spid="53" grpId="0"/>
      <p:bldP spid="53" grpId="1"/>
      <p:bldP spid="55" grpId="0"/>
      <p:bldP spid="56" grpId="0"/>
      <p:bldP spid="57" grpId="0"/>
      <p:bldP spid="58" grpId="0"/>
      <p:bldP spid="60" grpId="0"/>
      <p:bldP spid="60" grpId="1"/>
      <p:bldP spid="61" grpId="0"/>
      <p:bldP spid="61" grpId="1"/>
      <p:bldP spid="66" grpId="0"/>
      <p:bldP spid="66" grpId="1"/>
      <p:bldP spid="67" grpId="0"/>
      <p:bldP spid="68" grpId="0"/>
      <p:bldP spid="68" grpId="1"/>
      <p:bldP spid="69" grpId="0"/>
      <p:bldP spid="69" grpId="1"/>
      <p:bldP spid="79" grpId="0"/>
      <p:bldP spid="79" grpId="1"/>
      <p:bldP spid="6" grpId="0"/>
      <p:bldP spid="6" grpId="1"/>
      <p:bldP spid="8" grpId="0"/>
      <p:bldP spid="8" grpId="1"/>
      <p:bldP spid="10" grpId="0"/>
      <p:bldP spid="10" grpId="1"/>
      <p:bldP spid="15" grpId="0"/>
      <p:bldP spid="17" grpId="0"/>
      <p:bldP spid="19" grpId="0"/>
      <p:bldP spid="20" grpId="0"/>
      <p:bldP spid="29" grpId="0"/>
      <p:bldP spid="34" grpId="0"/>
      <p:bldP spid="40" grpId="0"/>
      <p:bldP spid="40" grpId="1"/>
      <p:bldP spid="41" grpId="1"/>
      <p:bldP spid="42" grpId="0"/>
      <p:bldP spid="43" grpId="0"/>
      <p:bldP spid="43" grpId="1"/>
      <p:bldP spid="44" grpId="0"/>
      <p:bldP spid="44" grpId="1"/>
      <p:bldP spid="45" grpId="0"/>
      <p:bldP spid="45" grpId="1"/>
      <p:bldP spid="23" grpId="0"/>
      <p:bldP spid="23" grpId="1"/>
      <p:bldP spid="30" grpId="0"/>
      <p:bldP spid="30" grpId="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5" name="文本框 4"/>
          <p:cNvSpPr txBox="1"/>
          <p:nvPr/>
        </p:nvSpPr>
        <p:spPr>
          <a:xfrm>
            <a:off x="275590" y="879475"/>
            <a:ext cx="2208530" cy="368300"/>
          </a:xfrm>
          <a:prstGeom prst="rect">
            <a:avLst/>
          </a:prstGeom>
          <a:noFill/>
        </p:spPr>
        <p:txBody>
          <a:bodyPr wrap="square" rtlCol="0">
            <a:spAutoFit/>
          </a:bodyPr>
          <a:lstStyle/>
          <a:p>
            <a:r>
              <a:rPr lang="zh-CN" altLang="en-US"/>
              <a:t>树塔的算法实现：</a:t>
            </a:r>
            <a:endParaRPr lang="zh-CN" altLang="en-US"/>
          </a:p>
        </p:txBody>
      </p:sp>
      <p:sp>
        <p:nvSpPr>
          <p:cNvPr id="6" name="文本框 5"/>
          <p:cNvSpPr txBox="1"/>
          <p:nvPr/>
        </p:nvSpPr>
        <p:spPr>
          <a:xfrm>
            <a:off x="1439545" y="1701165"/>
            <a:ext cx="6264910" cy="3746500"/>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rPr>
              <a:t>def tower_math(tower:list)-&gt;int: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range(len(tower[i])):</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找到两个方向的路劲，要判断是否只有一条路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tower[i][j]+res[i-1][j]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elif j == len(tower[i])-1: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res[i][j]=tower[i][j]+res[i-1][j-1]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tower[i][j]+max(res[i-1][j],res[i-1][j-1])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a:t>
            </a:r>
            <a:r>
              <a:rPr lang="en-US" altLang="zh-CN">
                <a:solidFill>
                  <a:srgbClr val="FF0000"/>
                </a:solidFill>
                <a:uFillTx/>
                <a:latin typeface="Times New Roman" panose="02020603050405020304" pitchFamily="18" charset="0"/>
              </a:rPr>
              <a:t>max(</a:t>
            </a:r>
            <a:r>
              <a:rPr lang="en-US" altLang="zh-CN">
                <a:solidFill>
                  <a:srgbClr val="FF0000"/>
                </a:solidFill>
                <a:uFillTx/>
                <a:latin typeface="Times New Roman" panose="02020603050405020304" pitchFamily="18" charset="0"/>
                <a:sym typeface="+mn-ea"/>
              </a:rPr>
              <a:t>res[-1]</a:t>
            </a:r>
            <a:r>
              <a:rPr lang="en-US" altLang="zh-CN">
                <a:solidFill>
                  <a:srgbClr val="FF0000"/>
                </a:solidFill>
                <a:uFillTx/>
                <a:latin typeface="Times New Roman" panose="02020603050405020304" pitchFamily="18" charset="0"/>
              </a:rPr>
              <a:t>)</a:t>
            </a:r>
            <a:endParaRPr lang="en-US" altLang="zh-CN">
              <a:solidFill>
                <a:srgbClr val="FF0000"/>
              </a:solidFill>
              <a:uFillTx/>
              <a:latin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5" name="文本框 4"/>
          <p:cNvSpPr txBox="1"/>
          <p:nvPr>
            <p:custDataLst>
              <p:tags r:id="rId1"/>
            </p:custDataLst>
          </p:nvPr>
        </p:nvSpPr>
        <p:spPr>
          <a:xfrm>
            <a:off x="275590" y="1083945"/>
            <a:ext cx="3086100" cy="454660"/>
          </a:xfrm>
          <a:prstGeom prst="rect">
            <a:avLst/>
          </a:prstGeom>
          <a:noFill/>
        </p:spPr>
        <p:txBody>
          <a:bodyPr wrap="square" rtlCol="0">
            <a:noAutofit/>
          </a:bodyPr>
          <a:lstStyle/>
          <a:p>
            <a:r>
              <a:rPr lang="zh-CN" altLang="en-US"/>
              <a:t>动态规划与分治法类比：</a:t>
            </a:r>
            <a:endParaRPr lang="zh-CN" altLang="en-US"/>
          </a:p>
        </p:txBody>
      </p:sp>
      <p:graphicFrame>
        <p:nvGraphicFramePr>
          <p:cNvPr id="2" name="表格 1"/>
          <p:cNvGraphicFramePr/>
          <p:nvPr/>
        </p:nvGraphicFramePr>
        <p:xfrm>
          <a:off x="899160" y="1689100"/>
          <a:ext cx="6929755" cy="1524000"/>
        </p:xfrm>
        <a:graphic>
          <a:graphicData uri="http://schemas.openxmlformats.org/drawingml/2006/table">
            <a:tbl>
              <a:tblPr firstRow="1" bandRow="1">
                <a:tableStyleId>{5C22544A-7EE6-4342-B048-85BDC9FD1C3A}</a:tableStyleId>
              </a:tblPr>
              <a:tblGrid>
                <a:gridCol w="2021840"/>
                <a:gridCol w="2774738"/>
                <a:gridCol w="2133177"/>
              </a:tblGrid>
              <a:tr h="381000">
                <a:tc>
                  <a:txBody>
                    <a:bodyPr/>
                    <a:lstStyle/>
                    <a:p>
                      <a:pPr>
                        <a:buNone/>
                      </a:pP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3810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动态规划</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3810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分治法</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38100">
                      <a:solidFill>
                        <a:schemeClr val="tx1"/>
                      </a:solidFill>
                      <a:prstDash val="solid"/>
                    </a:lnB>
                    <a:lnTlToBr>
                      <a:noFill/>
                    </a:lnTlToBr>
                    <a:lnBlToTr>
                      <a:noFill/>
                    </a:lnBlToTr>
                    <a:noFill/>
                  </a:tcPr>
                </a:tc>
              </a:tr>
              <a:tr h="381000">
                <a:tc>
                  <a:txBody>
                    <a:bodyPr/>
                    <a:lstStyle/>
                    <a:p>
                      <a:pPr>
                        <a:buNone/>
                      </a:pPr>
                      <a:r>
                        <a:rPr lang="zh-CN" altLang="en-US">
                          <a:solidFill>
                            <a:schemeClr val="tx1"/>
                          </a:solidFill>
                          <a:latin typeface="宋体" panose="02010600030101010101" pitchFamily="2" charset="-122"/>
                          <a:ea typeface="宋体" panose="02010600030101010101" pitchFamily="2" charset="-122"/>
                        </a:rPr>
                        <a:t>子问题</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子问题重叠</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子问题独立</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19050">
                      <a:solidFill>
                        <a:schemeClr val="tx1"/>
                      </a:solidFill>
                      <a:prstDash val="solid"/>
                    </a:lnB>
                    <a:lnTlToBr>
                      <a:noFill/>
                    </a:lnTlToBr>
                    <a:lnBlToTr>
                      <a:noFill/>
                    </a:lnBlToTr>
                    <a:noFill/>
                  </a:tcPr>
                </a:tc>
              </a:tr>
              <a:tr h="381000">
                <a:tc>
                  <a:txBody>
                    <a:bodyPr/>
                    <a:lstStyle/>
                    <a:p>
                      <a:pPr>
                        <a:buNone/>
                      </a:pPr>
                      <a:r>
                        <a:rPr lang="zh-CN" altLang="en-US">
                          <a:solidFill>
                            <a:schemeClr val="tx1"/>
                          </a:solidFill>
                          <a:latin typeface="宋体" panose="02010600030101010101" pitchFamily="2" charset="-122"/>
                          <a:ea typeface="宋体" panose="02010600030101010101" pitchFamily="2" charset="-122"/>
                        </a:rPr>
                        <a:t>子问题处理方式</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存储子问题（状态表中）</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独立递归处理</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r>
              <a:tr h="381000">
                <a:tc>
                  <a:txBody>
                    <a:bodyPr/>
                    <a:lstStyle/>
                    <a:p>
                      <a:pPr>
                        <a:buNone/>
                      </a:pPr>
                      <a:r>
                        <a:rPr lang="zh-CN" altLang="en-US">
                          <a:solidFill>
                            <a:schemeClr val="tx1"/>
                          </a:solidFill>
                          <a:latin typeface="宋体" panose="02010600030101010101" pitchFamily="2" charset="-122"/>
                          <a:ea typeface="宋体" panose="02010600030101010101" pitchFamily="2" charset="-122"/>
                        </a:rPr>
                        <a:t>处理顺序</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自底向上</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递归分治</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r>
            </a:tbl>
          </a:graphicData>
        </a:graphic>
      </p:graphicFrame>
      <p:sp>
        <p:nvSpPr>
          <p:cNvPr id="3" name="文本框 2"/>
          <p:cNvSpPr txBox="1"/>
          <p:nvPr>
            <p:custDataLst>
              <p:tags r:id="rId2"/>
            </p:custDataLst>
          </p:nvPr>
        </p:nvSpPr>
        <p:spPr>
          <a:xfrm>
            <a:off x="251460" y="3345180"/>
            <a:ext cx="7593330" cy="911860"/>
          </a:xfrm>
          <a:prstGeom prst="rect">
            <a:avLst/>
          </a:prstGeom>
          <a:noFill/>
        </p:spPr>
        <p:txBody>
          <a:bodyPr wrap="square" rtlCol="0">
            <a:noAutofit/>
          </a:bodyPr>
          <a:lstStyle/>
          <a:p>
            <a:r>
              <a:rPr lang="zh-CN" altLang="en-US"/>
              <a:t>动态规划与分治法雷同处：</a:t>
            </a:r>
            <a:endParaRPr lang="zh-CN" altLang="en-US"/>
          </a:p>
          <a:p>
            <a:r>
              <a:rPr lang="en-US" altLang="zh-CN"/>
              <a:t>        </a:t>
            </a:r>
            <a:r>
              <a:rPr lang="zh-CN" altLang="en-US"/>
              <a:t>均需要找递推方程（动态规划状态转移方程），需要递归出口（动态规划状态表边界）均需要将大问题拆分成子问题。</a:t>
            </a:r>
            <a:endParaRPr lang="zh-CN" altLang="en-US"/>
          </a:p>
        </p:txBody>
      </p:sp>
      <p:sp>
        <p:nvSpPr>
          <p:cNvPr id="8" name="文本框 7"/>
          <p:cNvSpPr txBox="1"/>
          <p:nvPr>
            <p:custDataLst>
              <p:tags r:id="rId3"/>
            </p:custDataLst>
          </p:nvPr>
        </p:nvSpPr>
        <p:spPr>
          <a:xfrm>
            <a:off x="323215" y="4580890"/>
            <a:ext cx="7593330" cy="911860"/>
          </a:xfrm>
          <a:prstGeom prst="rect">
            <a:avLst/>
          </a:prstGeom>
          <a:noFill/>
        </p:spPr>
        <p:txBody>
          <a:bodyPr wrap="square" rtlCol="0">
            <a:noAutofit/>
          </a:bodyPr>
          <a:lstStyle/>
          <a:p>
            <a:r>
              <a:rPr lang="zh-CN" altLang="en-US"/>
              <a:t>动态规划与贪心法完全不同：</a:t>
            </a:r>
            <a:endParaRPr lang="zh-CN" altLang="en-US"/>
          </a:p>
          <a:p>
            <a:r>
              <a:rPr lang="en-US" altLang="zh-CN"/>
              <a:t>        </a:t>
            </a:r>
            <a:r>
              <a:rPr lang="zh-CN" altLang="en-US"/>
              <a:t>动态规划能够得出最优解，是因为动态规划解决问题时候已经筛选所有子问题的最优解，也就是最优子结构。</a:t>
            </a: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uFillTx/>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467995" y="1412875"/>
            <a:ext cx="6981825" cy="1688465"/>
          </a:xfrm>
          <a:prstGeom prst="rect">
            <a:avLst/>
          </a:prstGeom>
          <a:noFill/>
        </p:spPr>
        <p:txBody>
          <a:bodyPr wrap="square" rtlCol="0">
            <a:noAutofit/>
          </a:bodyPr>
          <a:lstStyle/>
          <a:p>
            <a:r>
              <a:rPr lang="zh-CN" altLang="en-US">
                <a:solidFill>
                  <a:srgbClr val="FF0000"/>
                </a:solidFill>
              </a:rPr>
              <a:t>本小节学习目标：</a:t>
            </a:r>
            <a:endParaRPr lang="zh-CN" altLang="en-US">
              <a:solidFill>
                <a:srgbClr val="FF0000"/>
              </a:solidFill>
            </a:endParaRPr>
          </a:p>
          <a:p>
            <a:r>
              <a:rPr lang="zh-CN" altLang="en-US">
                <a:solidFill>
                  <a:srgbClr val="FF0000"/>
                </a:solidFill>
              </a:rPr>
              <a:t>①确定状态</a:t>
            </a:r>
            <a:endParaRPr lang="zh-CN" altLang="en-US">
              <a:solidFill>
                <a:srgbClr val="FF0000"/>
              </a:solidFill>
            </a:endParaRPr>
          </a:p>
          <a:p>
            <a:r>
              <a:rPr lang="zh-CN" altLang="en-US">
                <a:solidFill>
                  <a:srgbClr val="FF0000"/>
                </a:solidFill>
              </a:rPr>
              <a:t>②找到状态转移方程</a:t>
            </a:r>
            <a:endParaRPr lang="zh-CN" altLang="en-US">
              <a:solidFill>
                <a:srgbClr val="FF0000"/>
              </a:solidFill>
            </a:endParaRPr>
          </a:p>
          <a:p>
            <a:r>
              <a:rPr lang="zh-CN" altLang="en-US">
                <a:solidFill>
                  <a:srgbClr val="FF0000"/>
                </a:solidFill>
              </a:rPr>
              <a:t>③确定边界，然后自底向上迭代。</a:t>
            </a:r>
            <a:endParaRPr lang="zh-CN" altLang="en-US">
              <a:solidFill>
                <a:srgbClr val="FF0000"/>
              </a:solidFill>
            </a:endParaRPr>
          </a:p>
          <a:p>
            <a:r>
              <a:rPr lang="zh-CN" altLang="en-US">
                <a:solidFill>
                  <a:srgbClr val="FF0000"/>
                </a:solidFill>
              </a:rPr>
              <a:t>④更新状态，获取结果。</a:t>
            </a:r>
            <a:endParaRPr lang="zh-CN" altLang="en-US">
              <a:solidFill>
                <a:srgbClr val="FF0000"/>
              </a:solidFill>
            </a:endParaRPr>
          </a:p>
          <a:p>
            <a:endParaRPr lang="zh-CN" altLang="en-US">
              <a:solidFill>
                <a:srgbClr val="FF0000"/>
              </a:solidFill>
            </a:endParaRPr>
          </a:p>
        </p:txBody>
      </p:sp>
      <p:sp>
        <p:nvSpPr>
          <p:cNvPr id="3" name="文本框 2"/>
          <p:cNvSpPr txBox="1"/>
          <p:nvPr/>
        </p:nvSpPr>
        <p:spPr>
          <a:xfrm>
            <a:off x="467995" y="3101340"/>
            <a:ext cx="8409940" cy="902970"/>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青蛙跳台阶问题是指一只青蛙可以一次跳一个台阶或者两个台阶，问当青蛙跳上第</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个台阶的时候，可以有多少种跳法？</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4" name="圆角矩形 3"/>
          <p:cNvSpPr/>
          <p:nvPr/>
        </p:nvSpPr>
        <p:spPr>
          <a:xfrm>
            <a:off x="2124075" y="414909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54200" y="4471035"/>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369185" y="4471035"/>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62355" y="4975225"/>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54200" y="4975225"/>
            <a:ext cx="28829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862580" y="4975225"/>
            <a:ext cx="210185"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072765" y="4975225"/>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305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623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09090"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27655"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17245" y="525970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97380" y="526034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17470"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490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3854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481705"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208530" y="4149090"/>
            <a:ext cx="321310" cy="316865"/>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619885" y="465328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n-1</a:t>
            </a:r>
            <a:endParaRPr lang="en-US" altLang="zh-CN" sz="1600">
              <a:latin typeface="Times New Roman" panose="02020603050405020304" pitchFamily="18" charset="0"/>
              <a:cs typeface="Times New Roman" panose="02020603050405020304" pitchFamily="18" charset="0"/>
            </a:endParaRPr>
          </a:p>
        </p:txBody>
      </p:sp>
      <p:sp>
        <p:nvSpPr>
          <p:cNvPr id="38" name="文本框 37"/>
          <p:cNvSpPr txBox="1"/>
          <p:nvPr/>
        </p:nvSpPr>
        <p:spPr>
          <a:xfrm>
            <a:off x="2827655" y="466217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n-2</a:t>
            </a:r>
            <a:endParaRPr lang="en-US" altLang="zh-CN" sz="1600">
              <a:latin typeface="Times New Roman" panose="02020603050405020304" pitchFamily="18" charset="0"/>
              <a:cs typeface="Times New Roman" panose="02020603050405020304" pitchFamily="18" charset="0"/>
            </a:endParaRPr>
          </a:p>
        </p:txBody>
      </p:sp>
      <p:sp>
        <p:nvSpPr>
          <p:cNvPr id="39" name="文本框 38"/>
          <p:cNvSpPr txBox="1"/>
          <p:nvPr/>
        </p:nvSpPr>
        <p:spPr>
          <a:xfrm>
            <a:off x="827405" y="526859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n-2</a:t>
            </a:r>
            <a:endParaRPr lang="en-US" altLang="zh-CN" sz="1600">
              <a:latin typeface="Times New Roman" panose="02020603050405020304" pitchFamily="18" charset="0"/>
              <a:cs typeface="Times New Roman" panose="02020603050405020304" pitchFamily="18" charset="0"/>
            </a:endParaRPr>
          </a:p>
        </p:txBody>
      </p:sp>
      <p:sp>
        <p:nvSpPr>
          <p:cNvPr id="40" name="文本框 39"/>
          <p:cNvSpPr txBox="1"/>
          <p:nvPr/>
        </p:nvSpPr>
        <p:spPr>
          <a:xfrm>
            <a:off x="1897380" y="525970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1" name="文本框 40"/>
          <p:cNvSpPr txBox="1"/>
          <p:nvPr/>
        </p:nvSpPr>
        <p:spPr>
          <a:xfrm>
            <a:off x="2627630" y="527494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2" name="文本框 41"/>
          <p:cNvSpPr txBox="1"/>
          <p:nvPr/>
        </p:nvSpPr>
        <p:spPr>
          <a:xfrm>
            <a:off x="3491865" y="527494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395605" y="595884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59840" y="595884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71" name="文本框 70"/>
          <p:cNvSpPr txBox="1"/>
          <p:nvPr/>
        </p:nvSpPr>
        <p:spPr>
          <a:xfrm>
            <a:off x="4716145" y="3933190"/>
            <a:ext cx="3949065" cy="36830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S(n) = S(n-1)+S(n-2)</a:t>
            </a:r>
            <a:endParaRPr lang="zh-CN" altLang="en-US">
              <a:latin typeface="Times New Roman" panose="02020603050405020304" pitchFamily="18" charset="0"/>
              <a:cs typeface="Times New Roman" panose="02020603050405020304" pitchFamily="18" charset="0"/>
            </a:endParaRPr>
          </a:p>
        </p:txBody>
      </p:sp>
      <p:sp>
        <p:nvSpPr>
          <p:cNvPr id="72" name="文本框 71"/>
          <p:cNvSpPr txBox="1"/>
          <p:nvPr/>
        </p:nvSpPr>
        <p:spPr>
          <a:xfrm>
            <a:off x="3915410" y="4653280"/>
            <a:ext cx="5043805" cy="368300"/>
          </a:xfrm>
          <a:prstGeom prst="rect">
            <a:avLst/>
          </a:prstGeom>
          <a:noFill/>
        </p:spPr>
        <p:txBody>
          <a:bodyPr wrap="square" rtlCol="0">
            <a:spAutoFit/>
          </a:bodyPr>
          <a:lstStyle/>
          <a:p>
            <a:r>
              <a:rPr lang="zh-CN" altLang="en-US"/>
              <a:t>状态转移方程只有一个变量，用一维表表示状态</a:t>
            </a:r>
            <a:endParaRPr lang="zh-CN" altLang="en-US"/>
          </a:p>
        </p:txBody>
      </p:sp>
      <p:cxnSp>
        <p:nvCxnSpPr>
          <p:cNvPr id="73" name="直接箭头连接符 72"/>
          <p:cNvCxnSpPr/>
          <p:nvPr/>
        </p:nvCxnSpPr>
        <p:spPr>
          <a:xfrm flipV="1">
            <a:off x="5697855" y="4221480"/>
            <a:ext cx="26035" cy="4203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74" name="表格 73"/>
          <p:cNvGraphicFramePr/>
          <p:nvPr/>
        </p:nvGraphicFramePr>
        <p:xfrm>
          <a:off x="4211955" y="556323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75" name="文本框 74"/>
          <p:cNvSpPr txBox="1"/>
          <p:nvPr/>
        </p:nvSpPr>
        <p:spPr>
          <a:xfrm>
            <a:off x="5701030" y="556768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76" name="上弧形箭头 75"/>
          <p:cNvSpPr/>
          <p:nvPr/>
        </p:nvSpPr>
        <p:spPr>
          <a:xfrm>
            <a:off x="4378325" y="53333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7" name="上弧形箭头 76"/>
          <p:cNvSpPr/>
          <p:nvPr/>
        </p:nvSpPr>
        <p:spPr>
          <a:xfrm flipV="1">
            <a:off x="5033645" y="59505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8" name="上弧形箭头 77"/>
          <p:cNvSpPr/>
          <p:nvPr/>
        </p:nvSpPr>
        <p:spPr>
          <a:xfrm>
            <a:off x="5147945" y="534098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9" name="上弧形箭头 78"/>
          <p:cNvSpPr/>
          <p:nvPr/>
        </p:nvSpPr>
        <p:spPr>
          <a:xfrm flipV="1">
            <a:off x="5803265" y="595820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6443980" y="556768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1" name="上弧形箭头 80"/>
          <p:cNvSpPr/>
          <p:nvPr/>
        </p:nvSpPr>
        <p:spPr>
          <a:xfrm>
            <a:off x="5868035" y="533654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2" name="上弧形箭头 81"/>
          <p:cNvSpPr/>
          <p:nvPr/>
        </p:nvSpPr>
        <p:spPr>
          <a:xfrm flipV="1">
            <a:off x="6523355" y="595376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3" name="文本框 82"/>
          <p:cNvSpPr txBox="1"/>
          <p:nvPr/>
        </p:nvSpPr>
        <p:spPr>
          <a:xfrm>
            <a:off x="7164070" y="556323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4" name="上弧形箭头 83"/>
          <p:cNvSpPr/>
          <p:nvPr/>
        </p:nvSpPr>
        <p:spPr>
          <a:xfrm>
            <a:off x="6588125" y="532257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5" name="上弧形箭头 84"/>
          <p:cNvSpPr/>
          <p:nvPr/>
        </p:nvSpPr>
        <p:spPr>
          <a:xfrm flipV="1">
            <a:off x="7243445" y="593979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7884160" y="554926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box(in)">
                                      <p:cBhvr>
                                        <p:cTn id="64" dur="2000"/>
                                        <p:tgtEl>
                                          <p:spTgt spid="38"/>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box(in)">
                                      <p:cBhvr>
                                        <p:cTn id="67" dur="2000"/>
                                        <p:tgtEl>
                                          <p:spTgt spid="39"/>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box(in)">
                                      <p:cBhvr>
                                        <p:cTn id="70" dur="2000"/>
                                        <p:tgtEl>
                                          <p:spTgt spid="4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box(in)">
                                      <p:cBhvr>
                                        <p:cTn id="73" dur="2000"/>
                                        <p:tgtEl>
                                          <p:spTgt spid="41"/>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box(in)">
                                      <p:cBhvr>
                                        <p:cTn id="76" dur="2000"/>
                                        <p:tgtEl>
                                          <p:spTgt spid="42"/>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box(in)">
                                      <p:cBhvr>
                                        <p:cTn id="79" dur="2000"/>
                                        <p:tgtEl>
                                          <p:spTgt spid="43"/>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box(in)">
                                      <p:cBhvr>
                                        <p:cTn id="82" dur="2000"/>
                                        <p:tgtEl>
                                          <p:spTgt spid="44"/>
                                        </p:tgtEl>
                                      </p:cBhvr>
                                    </p:animEffec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5" nodeType="clickEffect">
                                  <p:stCondLst>
                                    <p:cond delay="0"/>
                                  </p:stCondLst>
                                  <p:childTnLst>
                                    <p:set>
                                      <p:cBhvr>
                                        <p:cTn id="86" dur="1" fill="hold">
                                          <p:stCondLst>
                                            <p:cond delay="0"/>
                                          </p:stCondLst>
                                        </p:cTn>
                                        <p:tgtEl>
                                          <p:spTgt spid="76"/>
                                        </p:tgtEl>
                                        <p:attrNameLst>
                                          <p:attrName>style.visibility</p:attrName>
                                        </p:attrNameLst>
                                      </p:cBhvr>
                                      <p:to>
                                        <p:strVal val="visible"/>
                                      </p:to>
                                    </p:set>
                                  </p:childTnLst>
                                </p:cTn>
                              </p:par>
                              <p:par>
                                <p:cTn id="87" presetID="1" presetClass="entr" presetSubtype="0" fill="hold" grpId="5" nodeType="withEffect">
                                  <p:stCondLst>
                                    <p:cond delay="0"/>
                                  </p:stCondLst>
                                  <p:childTnLst>
                                    <p:set>
                                      <p:cBhvr>
                                        <p:cTn id="88" dur="1" fill="hold">
                                          <p:stCondLst>
                                            <p:cond delay="0"/>
                                          </p:stCondLst>
                                        </p:cTn>
                                        <p:tgtEl>
                                          <p:spTgt spid="77"/>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35" presetClass="emph" presetSubtype="0" fill="hold" grpId="0" nodeType="clickEffect">
                                  <p:stCondLst>
                                    <p:cond delay="0"/>
                                  </p:stCondLst>
                                  <p:childTnLst>
                                    <p:anim calcmode="discrete" valueType="str">
                                      <p:cBhvr>
                                        <p:cTn id="92" dur="1000" fill="hold"/>
                                        <p:tgtEl>
                                          <p:spTgt spid="76"/>
                                        </p:tgtEl>
                                        <p:attrNameLst>
                                          <p:attrName>style.visibility</p:attrName>
                                        </p:attrNameLst>
                                      </p:cBhvr>
                                      <p:tavLst>
                                        <p:tav tm="0">
                                          <p:val>
                                            <p:strVal val="hidden"/>
                                          </p:val>
                                        </p:tav>
                                        <p:tav tm="50000">
                                          <p:val>
                                            <p:strVal val="visible"/>
                                          </p:val>
                                        </p:tav>
                                      </p:tavLst>
                                    </p:anim>
                                  </p:childTnLst>
                                </p:cTn>
                              </p:par>
                              <p:par>
                                <p:cTn id="93" presetID="35" presetClass="emph" presetSubtype="0" fill="hold" grpId="0" nodeType="withEffect">
                                  <p:stCondLst>
                                    <p:cond delay="0"/>
                                  </p:stCondLst>
                                  <p:childTnLst>
                                    <p:anim calcmode="discrete" valueType="str">
                                      <p:cBhvr>
                                        <p:cTn id="94" dur="1000" fill="hold"/>
                                        <p:tgtEl>
                                          <p:spTgt spid="77"/>
                                        </p:tgtEl>
                                        <p:attrNameLst>
                                          <p:attrName>style.visibility</p:attrName>
                                        </p:attrNameLst>
                                      </p:cBhvr>
                                      <p:tavLst>
                                        <p:tav tm="0">
                                          <p:val>
                                            <p:strVal val="hidden"/>
                                          </p:val>
                                        </p:tav>
                                        <p:tav tm="50000">
                                          <p:val>
                                            <p:strVal val="visible"/>
                                          </p:val>
                                        </p:tav>
                                      </p:tavLst>
                                    </p:anim>
                                  </p:childTnLst>
                                </p:cTn>
                              </p:par>
                            </p:childTnLst>
                          </p:cTn>
                        </p:par>
                        <p:par>
                          <p:cTn id="95" fill="hold">
                            <p:stCondLst>
                              <p:cond delay="1000"/>
                            </p:stCondLst>
                            <p:childTnLst>
                              <p:par>
                                <p:cTn id="96" presetID="35" presetClass="emph" presetSubtype="0" fill="hold" grpId="2" nodeType="afterEffect">
                                  <p:stCondLst>
                                    <p:cond delay="0"/>
                                  </p:stCondLst>
                                  <p:childTnLst>
                                    <p:anim calcmode="discrete" valueType="str">
                                      <p:cBhvr>
                                        <p:cTn id="97" dur="1000" fill="hold"/>
                                        <p:tgtEl>
                                          <p:spTgt spid="76"/>
                                        </p:tgtEl>
                                        <p:attrNameLst>
                                          <p:attrName>style.visibility</p:attrName>
                                        </p:attrNameLst>
                                      </p:cBhvr>
                                      <p:tavLst>
                                        <p:tav tm="0">
                                          <p:val>
                                            <p:strVal val="hidden"/>
                                          </p:val>
                                        </p:tav>
                                        <p:tav tm="50000">
                                          <p:val>
                                            <p:strVal val="visible"/>
                                          </p:val>
                                        </p:tav>
                                      </p:tavLst>
                                    </p:anim>
                                  </p:childTnLst>
                                </p:cTn>
                              </p:par>
                              <p:par>
                                <p:cTn id="98" presetID="35" presetClass="emph" presetSubtype="0" fill="hold" grpId="2" nodeType="withEffect">
                                  <p:stCondLst>
                                    <p:cond delay="0"/>
                                  </p:stCondLst>
                                  <p:childTnLst>
                                    <p:anim calcmode="discrete" valueType="str">
                                      <p:cBhvr>
                                        <p:cTn id="99" dur="1000" fill="hold"/>
                                        <p:tgtEl>
                                          <p:spTgt spid="77"/>
                                        </p:tgtEl>
                                        <p:attrNameLst>
                                          <p:attrName>style.visibility</p:attrName>
                                        </p:attrNameLst>
                                      </p:cBhvr>
                                      <p:tavLst>
                                        <p:tav tm="0">
                                          <p:val>
                                            <p:strVal val="hidden"/>
                                          </p:val>
                                        </p:tav>
                                        <p:tav tm="50000">
                                          <p:val>
                                            <p:strVal val="visible"/>
                                          </p:val>
                                        </p:tav>
                                      </p:tavLst>
                                    </p:anim>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grpId="3" nodeType="clickEffect">
                                  <p:stCondLst>
                                    <p:cond delay="0"/>
                                  </p:stCondLst>
                                  <p:childTnLst>
                                    <p:set>
                                      <p:cBhvr>
                                        <p:cTn id="103" dur="1" fill="hold">
                                          <p:stCondLst>
                                            <p:cond delay="0"/>
                                          </p:stCondLst>
                                        </p:cTn>
                                        <p:tgtEl>
                                          <p:spTgt spid="76"/>
                                        </p:tgtEl>
                                        <p:attrNameLst>
                                          <p:attrName>style.visibility</p:attrName>
                                        </p:attrNameLst>
                                      </p:cBhvr>
                                      <p:to>
                                        <p:strVal val="visible"/>
                                      </p:to>
                                    </p:set>
                                  </p:childTnLst>
                                </p:cTn>
                              </p:par>
                              <p:par>
                                <p:cTn id="104" presetID="1" presetClass="entr" presetSubtype="0" fill="hold" grpId="3" nodeType="withEffect">
                                  <p:stCondLst>
                                    <p:cond delay="0"/>
                                  </p:stCondLst>
                                  <p:childTnLst>
                                    <p:set>
                                      <p:cBhvr>
                                        <p:cTn id="105" dur="1" fill="hold">
                                          <p:stCondLst>
                                            <p:cond delay="0"/>
                                          </p:stCondLst>
                                        </p:cTn>
                                        <p:tgtEl>
                                          <p:spTgt spid="77"/>
                                        </p:tgtEl>
                                        <p:attrNameLst>
                                          <p:attrName>style.visibility</p:attrName>
                                        </p:attrNameLst>
                                      </p:cBhvr>
                                      <p:to>
                                        <p:strVal val="visible"/>
                                      </p:to>
                                    </p:set>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grpId="0" nodeType="clickEffect">
                                  <p:stCondLst>
                                    <p:cond delay="0"/>
                                  </p:stCondLst>
                                  <p:childTnLst>
                                    <p:set>
                                      <p:cBhvr>
                                        <p:cTn id="109" dur="1" fill="hold">
                                          <p:stCondLst>
                                            <p:cond delay="0"/>
                                          </p:stCondLst>
                                        </p:cTn>
                                        <p:tgtEl>
                                          <p:spTgt spid="75"/>
                                        </p:tgtEl>
                                        <p:attrNameLst>
                                          <p:attrName>style.visibility</p:attrName>
                                        </p:attrNameLst>
                                      </p:cBhvr>
                                      <p:to>
                                        <p:strVal val="visible"/>
                                      </p:to>
                                    </p:set>
                                  </p:childTnLst>
                                </p:cTn>
                              </p:par>
                            </p:childTnLst>
                          </p:cTn>
                        </p:par>
                      </p:childTnLst>
                    </p:cTn>
                  </p:par>
                  <p:par>
                    <p:cTn id="110" fill="hold">
                      <p:stCondLst>
                        <p:cond delay="indefinite"/>
                      </p:stCondLst>
                      <p:childTnLst>
                        <p:par>
                          <p:cTn id="111" fill="hold">
                            <p:stCondLst>
                              <p:cond delay="0"/>
                            </p:stCondLst>
                            <p:childTnLst>
                              <p:par>
                                <p:cTn id="112" presetID="1" presetClass="exit" presetSubtype="0" fill="hold" grpId="4" nodeType="clickEffect">
                                  <p:stCondLst>
                                    <p:cond delay="0"/>
                                  </p:stCondLst>
                                  <p:childTnLst>
                                    <p:set>
                                      <p:cBhvr>
                                        <p:cTn id="113" dur="1" fill="hold">
                                          <p:stCondLst>
                                            <p:cond delay="0"/>
                                          </p:stCondLst>
                                        </p:cTn>
                                        <p:tgtEl>
                                          <p:spTgt spid="76"/>
                                        </p:tgtEl>
                                        <p:attrNameLst>
                                          <p:attrName>style.visibility</p:attrName>
                                        </p:attrNameLst>
                                      </p:cBhvr>
                                      <p:to>
                                        <p:strVal val="hidden"/>
                                      </p:to>
                                    </p:set>
                                  </p:childTnLst>
                                </p:cTn>
                              </p:par>
                              <p:par>
                                <p:cTn id="114" presetID="1" presetClass="exit" presetSubtype="0" fill="hold" grpId="4" nodeType="withEffect">
                                  <p:stCondLst>
                                    <p:cond delay="0"/>
                                  </p:stCondLst>
                                  <p:childTnLst>
                                    <p:set>
                                      <p:cBhvr>
                                        <p:cTn id="115" dur="1" fill="hold">
                                          <p:stCondLst>
                                            <p:cond delay="0"/>
                                          </p:stCondLst>
                                        </p:cTn>
                                        <p:tgtEl>
                                          <p:spTgt spid="77"/>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grpId="5" nodeType="clickEffect">
                                  <p:stCondLst>
                                    <p:cond delay="0"/>
                                  </p:stCondLst>
                                  <p:childTnLst>
                                    <p:set>
                                      <p:cBhvr>
                                        <p:cTn id="119" dur="1" fill="hold">
                                          <p:stCondLst>
                                            <p:cond delay="0"/>
                                          </p:stCondLst>
                                        </p:cTn>
                                        <p:tgtEl>
                                          <p:spTgt spid="78"/>
                                        </p:tgtEl>
                                        <p:attrNameLst>
                                          <p:attrName>style.visibility</p:attrName>
                                        </p:attrNameLst>
                                      </p:cBhvr>
                                      <p:to>
                                        <p:strVal val="visible"/>
                                      </p:to>
                                    </p:set>
                                  </p:childTnLst>
                                </p:cTn>
                              </p:par>
                              <p:par>
                                <p:cTn id="120" presetID="1" presetClass="entr" presetSubtype="0" fill="hold" grpId="5" nodeType="withEffect">
                                  <p:stCondLst>
                                    <p:cond delay="0"/>
                                  </p:stCondLst>
                                  <p:childTnLst>
                                    <p:set>
                                      <p:cBhvr>
                                        <p:cTn id="121" dur="1" fill="hold">
                                          <p:stCondLst>
                                            <p:cond delay="0"/>
                                          </p:stCondLst>
                                        </p:cTn>
                                        <p:tgtEl>
                                          <p:spTgt spid="7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35" presetClass="emph" presetSubtype="0" fill="hold" grpId="0" nodeType="clickEffect">
                                  <p:stCondLst>
                                    <p:cond delay="0"/>
                                  </p:stCondLst>
                                  <p:childTnLst>
                                    <p:anim calcmode="discrete" valueType="str">
                                      <p:cBhvr>
                                        <p:cTn id="125" dur="1000" fill="hold"/>
                                        <p:tgtEl>
                                          <p:spTgt spid="78"/>
                                        </p:tgtEl>
                                        <p:attrNameLst>
                                          <p:attrName>style.visibility</p:attrName>
                                        </p:attrNameLst>
                                      </p:cBhvr>
                                      <p:tavLst>
                                        <p:tav tm="0">
                                          <p:val>
                                            <p:strVal val="hidden"/>
                                          </p:val>
                                        </p:tav>
                                        <p:tav tm="50000">
                                          <p:val>
                                            <p:strVal val="visible"/>
                                          </p:val>
                                        </p:tav>
                                      </p:tavLst>
                                    </p:anim>
                                  </p:childTnLst>
                                </p:cTn>
                              </p:par>
                              <p:par>
                                <p:cTn id="126" presetID="35" presetClass="emph" presetSubtype="0" fill="hold" grpId="0" nodeType="withEffect">
                                  <p:stCondLst>
                                    <p:cond delay="0"/>
                                  </p:stCondLst>
                                  <p:childTnLst>
                                    <p:anim calcmode="discrete" valueType="str">
                                      <p:cBhvr>
                                        <p:cTn id="127" dur="1000" fill="hold"/>
                                        <p:tgtEl>
                                          <p:spTgt spid="79"/>
                                        </p:tgtEl>
                                        <p:attrNameLst>
                                          <p:attrName>style.visibility</p:attrName>
                                        </p:attrNameLst>
                                      </p:cBhvr>
                                      <p:tavLst>
                                        <p:tav tm="0">
                                          <p:val>
                                            <p:strVal val="hidden"/>
                                          </p:val>
                                        </p:tav>
                                        <p:tav tm="50000">
                                          <p:val>
                                            <p:strVal val="visible"/>
                                          </p:val>
                                        </p:tav>
                                      </p:tavLst>
                                    </p:anim>
                                  </p:childTnLst>
                                </p:cTn>
                              </p:par>
                            </p:childTnLst>
                          </p:cTn>
                        </p:par>
                        <p:par>
                          <p:cTn id="128" fill="hold">
                            <p:stCondLst>
                              <p:cond delay="1000"/>
                            </p:stCondLst>
                            <p:childTnLst>
                              <p:par>
                                <p:cTn id="129" presetID="35" presetClass="emph" presetSubtype="0" fill="hold" grpId="2" nodeType="afterEffect">
                                  <p:stCondLst>
                                    <p:cond delay="0"/>
                                  </p:stCondLst>
                                  <p:childTnLst>
                                    <p:anim calcmode="discrete" valueType="str">
                                      <p:cBhvr>
                                        <p:cTn id="130" dur="1000" fill="hold"/>
                                        <p:tgtEl>
                                          <p:spTgt spid="78"/>
                                        </p:tgtEl>
                                        <p:attrNameLst>
                                          <p:attrName>style.visibility</p:attrName>
                                        </p:attrNameLst>
                                      </p:cBhvr>
                                      <p:tavLst>
                                        <p:tav tm="0">
                                          <p:val>
                                            <p:strVal val="hidden"/>
                                          </p:val>
                                        </p:tav>
                                        <p:tav tm="50000">
                                          <p:val>
                                            <p:strVal val="visible"/>
                                          </p:val>
                                        </p:tav>
                                      </p:tavLst>
                                    </p:anim>
                                  </p:childTnLst>
                                </p:cTn>
                              </p:par>
                              <p:par>
                                <p:cTn id="131" presetID="35" presetClass="emph" presetSubtype="0" fill="hold" grpId="2" nodeType="withEffect">
                                  <p:stCondLst>
                                    <p:cond delay="0"/>
                                  </p:stCondLst>
                                  <p:childTnLst>
                                    <p:anim calcmode="discrete" valueType="str">
                                      <p:cBhvr>
                                        <p:cTn id="132"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3" nodeType="clickEffect">
                                  <p:stCondLst>
                                    <p:cond delay="0"/>
                                  </p:stCondLst>
                                  <p:childTnLst>
                                    <p:set>
                                      <p:cBhvr>
                                        <p:cTn id="136" dur="1" fill="hold">
                                          <p:stCondLst>
                                            <p:cond delay="0"/>
                                          </p:stCondLst>
                                        </p:cTn>
                                        <p:tgtEl>
                                          <p:spTgt spid="78"/>
                                        </p:tgtEl>
                                        <p:attrNameLst>
                                          <p:attrName>style.visibility</p:attrName>
                                        </p:attrNameLst>
                                      </p:cBhvr>
                                      <p:to>
                                        <p:strVal val="visible"/>
                                      </p:to>
                                    </p:set>
                                  </p:childTnLst>
                                </p:cTn>
                              </p:par>
                              <p:par>
                                <p:cTn id="137" presetID="1" presetClass="entr" presetSubtype="0" fill="hold" grpId="3" nodeType="withEffect">
                                  <p:stCondLst>
                                    <p:cond delay="0"/>
                                  </p:stCondLst>
                                  <p:childTnLst>
                                    <p:set>
                                      <p:cBhvr>
                                        <p:cTn id="138" dur="1" fill="hold">
                                          <p:stCondLst>
                                            <p:cond delay="0"/>
                                          </p:stCondLst>
                                        </p:cTn>
                                        <p:tgtEl>
                                          <p:spTgt spid="79"/>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80"/>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xit" presetSubtype="0" fill="hold" grpId="4" nodeType="clickEffect">
                                  <p:stCondLst>
                                    <p:cond delay="0"/>
                                  </p:stCondLst>
                                  <p:childTnLst>
                                    <p:set>
                                      <p:cBhvr>
                                        <p:cTn id="146" dur="1" fill="hold">
                                          <p:stCondLst>
                                            <p:cond delay="0"/>
                                          </p:stCondLst>
                                        </p:cTn>
                                        <p:tgtEl>
                                          <p:spTgt spid="78"/>
                                        </p:tgtEl>
                                        <p:attrNameLst>
                                          <p:attrName>style.visibility</p:attrName>
                                        </p:attrNameLst>
                                      </p:cBhvr>
                                      <p:to>
                                        <p:strVal val="hidden"/>
                                      </p:to>
                                    </p:set>
                                  </p:childTnLst>
                                </p:cTn>
                              </p:par>
                              <p:par>
                                <p:cTn id="147" presetID="1" presetClass="exit" presetSubtype="0" fill="hold" grpId="4" nodeType="withEffect">
                                  <p:stCondLst>
                                    <p:cond delay="0"/>
                                  </p:stCondLst>
                                  <p:childTnLst>
                                    <p:set>
                                      <p:cBhvr>
                                        <p:cTn id="148" dur="1" fill="hold">
                                          <p:stCondLst>
                                            <p:cond delay="0"/>
                                          </p:stCondLst>
                                        </p:cTn>
                                        <p:tgtEl>
                                          <p:spTgt spid="79"/>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5" nodeType="clickEffect">
                                  <p:stCondLst>
                                    <p:cond delay="0"/>
                                  </p:stCondLst>
                                  <p:childTnLst>
                                    <p:set>
                                      <p:cBhvr>
                                        <p:cTn id="152" dur="1" fill="hold">
                                          <p:stCondLst>
                                            <p:cond delay="0"/>
                                          </p:stCondLst>
                                        </p:cTn>
                                        <p:tgtEl>
                                          <p:spTgt spid="81"/>
                                        </p:tgtEl>
                                        <p:attrNameLst>
                                          <p:attrName>style.visibility</p:attrName>
                                        </p:attrNameLst>
                                      </p:cBhvr>
                                      <p:to>
                                        <p:strVal val="visible"/>
                                      </p:to>
                                    </p:set>
                                  </p:childTnLst>
                                </p:cTn>
                              </p:par>
                              <p:par>
                                <p:cTn id="153" presetID="1" presetClass="entr" presetSubtype="0" fill="hold" grpId="5" nodeType="withEffect">
                                  <p:stCondLst>
                                    <p:cond delay="0"/>
                                  </p:stCondLst>
                                  <p:childTnLst>
                                    <p:set>
                                      <p:cBhvr>
                                        <p:cTn id="154" dur="1" fill="hold">
                                          <p:stCondLst>
                                            <p:cond delay="0"/>
                                          </p:stCondLst>
                                        </p:cTn>
                                        <p:tgtEl>
                                          <p:spTgt spid="82"/>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35" presetClass="emph" presetSubtype="0" fill="hold" grpId="0" nodeType="clickEffect">
                                  <p:stCondLst>
                                    <p:cond delay="0"/>
                                  </p:stCondLst>
                                  <p:childTnLst>
                                    <p:anim calcmode="discrete" valueType="str">
                                      <p:cBhvr>
                                        <p:cTn id="158" dur="1000" fill="hold"/>
                                        <p:tgtEl>
                                          <p:spTgt spid="81"/>
                                        </p:tgtEl>
                                        <p:attrNameLst>
                                          <p:attrName>style.visibility</p:attrName>
                                        </p:attrNameLst>
                                      </p:cBhvr>
                                      <p:tavLst>
                                        <p:tav tm="0">
                                          <p:val>
                                            <p:strVal val="hidden"/>
                                          </p:val>
                                        </p:tav>
                                        <p:tav tm="50000">
                                          <p:val>
                                            <p:strVal val="visible"/>
                                          </p:val>
                                        </p:tav>
                                      </p:tavLst>
                                    </p:anim>
                                  </p:childTnLst>
                                </p:cTn>
                              </p:par>
                              <p:par>
                                <p:cTn id="159" presetID="35" presetClass="emph" presetSubtype="0" fill="hold" grpId="0" nodeType="withEffect">
                                  <p:stCondLst>
                                    <p:cond delay="0"/>
                                  </p:stCondLst>
                                  <p:childTnLst>
                                    <p:anim calcmode="discrete" valueType="str">
                                      <p:cBhvr>
                                        <p:cTn id="160" dur="1000" fill="hold"/>
                                        <p:tgtEl>
                                          <p:spTgt spid="82"/>
                                        </p:tgtEl>
                                        <p:attrNameLst>
                                          <p:attrName>style.visibility</p:attrName>
                                        </p:attrNameLst>
                                      </p:cBhvr>
                                      <p:tavLst>
                                        <p:tav tm="0">
                                          <p:val>
                                            <p:strVal val="hidden"/>
                                          </p:val>
                                        </p:tav>
                                        <p:tav tm="50000">
                                          <p:val>
                                            <p:strVal val="visible"/>
                                          </p:val>
                                        </p:tav>
                                      </p:tavLst>
                                    </p:anim>
                                  </p:childTnLst>
                                </p:cTn>
                              </p:par>
                            </p:childTnLst>
                          </p:cTn>
                        </p:par>
                        <p:par>
                          <p:cTn id="161" fill="hold">
                            <p:stCondLst>
                              <p:cond delay="1000"/>
                            </p:stCondLst>
                            <p:childTnLst>
                              <p:par>
                                <p:cTn id="162" presetID="35" presetClass="emph" presetSubtype="0" fill="hold" grpId="2" nodeType="afterEffect">
                                  <p:stCondLst>
                                    <p:cond delay="0"/>
                                  </p:stCondLst>
                                  <p:childTnLst>
                                    <p:anim calcmode="discrete" valueType="str">
                                      <p:cBhvr>
                                        <p:cTn id="163" dur="1000" fill="hold"/>
                                        <p:tgtEl>
                                          <p:spTgt spid="81"/>
                                        </p:tgtEl>
                                        <p:attrNameLst>
                                          <p:attrName>style.visibility</p:attrName>
                                        </p:attrNameLst>
                                      </p:cBhvr>
                                      <p:tavLst>
                                        <p:tav tm="0">
                                          <p:val>
                                            <p:strVal val="hidden"/>
                                          </p:val>
                                        </p:tav>
                                        <p:tav tm="50000">
                                          <p:val>
                                            <p:strVal val="visible"/>
                                          </p:val>
                                        </p:tav>
                                      </p:tavLst>
                                    </p:anim>
                                  </p:childTnLst>
                                </p:cTn>
                              </p:par>
                              <p:par>
                                <p:cTn id="164" presetID="35" presetClass="emph" presetSubtype="0" fill="hold" grpId="2" nodeType="withEffect">
                                  <p:stCondLst>
                                    <p:cond delay="0"/>
                                  </p:stCondLst>
                                  <p:childTnLst>
                                    <p:anim calcmode="discrete" valueType="str">
                                      <p:cBhvr>
                                        <p:cTn id="165"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par>
                    <p:cTn id="166" fill="hold">
                      <p:stCondLst>
                        <p:cond delay="indefinite"/>
                      </p:stCondLst>
                      <p:childTnLst>
                        <p:par>
                          <p:cTn id="167" fill="hold">
                            <p:stCondLst>
                              <p:cond delay="0"/>
                            </p:stCondLst>
                            <p:childTnLst>
                              <p:par>
                                <p:cTn id="168" presetID="1" presetClass="entr" presetSubtype="0" fill="hold" grpId="3" nodeType="clickEffect">
                                  <p:stCondLst>
                                    <p:cond delay="0"/>
                                  </p:stCondLst>
                                  <p:childTnLst>
                                    <p:set>
                                      <p:cBhvr>
                                        <p:cTn id="169" dur="1" fill="hold">
                                          <p:stCondLst>
                                            <p:cond delay="0"/>
                                          </p:stCondLst>
                                        </p:cTn>
                                        <p:tgtEl>
                                          <p:spTgt spid="81"/>
                                        </p:tgtEl>
                                        <p:attrNameLst>
                                          <p:attrName>style.visibility</p:attrName>
                                        </p:attrNameLst>
                                      </p:cBhvr>
                                      <p:to>
                                        <p:strVal val="visible"/>
                                      </p:to>
                                    </p:set>
                                  </p:childTnLst>
                                </p:cTn>
                              </p:par>
                              <p:par>
                                <p:cTn id="170" presetID="1" presetClass="entr" presetSubtype="0" fill="hold" grpId="3" nodeType="withEffect">
                                  <p:stCondLst>
                                    <p:cond delay="0"/>
                                  </p:stCondLst>
                                  <p:childTnLst>
                                    <p:set>
                                      <p:cBhvr>
                                        <p:cTn id="171" dur="1" fill="hold">
                                          <p:stCondLst>
                                            <p:cond delay="0"/>
                                          </p:stCondLst>
                                        </p:cTn>
                                        <p:tgtEl>
                                          <p:spTgt spid="82"/>
                                        </p:tgtEl>
                                        <p:attrNameLst>
                                          <p:attrName>style.visibility</p:attrName>
                                        </p:attrNameLst>
                                      </p:cBhvr>
                                      <p:to>
                                        <p:strVal val="visible"/>
                                      </p:to>
                                    </p:set>
                                  </p:childTnLst>
                                </p:cTn>
                              </p:par>
                            </p:childTnLst>
                          </p:cTn>
                        </p:par>
                      </p:childTnLst>
                    </p:cTn>
                  </p:par>
                  <p:par>
                    <p:cTn id="172" fill="hold">
                      <p:stCondLst>
                        <p:cond delay="indefinite"/>
                      </p:stCondLst>
                      <p:childTnLst>
                        <p:par>
                          <p:cTn id="173" fill="hold">
                            <p:stCondLst>
                              <p:cond delay="0"/>
                            </p:stCondLst>
                            <p:childTnLst>
                              <p:par>
                                <p:cTn id="174" presetID="1" presetClass="entr" presetSubtype="0" fill="hold" grpId="0" nodeType="clickEffect">
                                  <p:stCondLst>
                                    <p:cond delay="0"/>
                                  </p:stCondLst>
                                  <p:childTnLst>
                                    <p:set>
                                      <p:cBhvr>
                                        <p:cTn id="175" dur="1" fill="hold">
                                          <p:stCondLst>
                                            <p:cond delay="0"/>
                                          </p:stCondLst>
                                        </p:cTn>
                                        <p:tgtEl>
                                          <p:spTgt spid="83"/>
                                        </p:tgtEl>
                                        <p:attrNameLst>
                                          <p:attrName>style.visibility</p:attrName>
                                        </p:attrNameLst>
                                      </p:cBhvr>
                                      <p:to>
                                        <p:strVal val="visible"/>
                                      </p:to>
                                    </p:set>
                                  </p:childTnLst>
                                </p:cTn>
                              </p:par>
                            </p:childTnLst>
                          </p:cTn>
                        </p:par>
                      </p:childTnLst>
                    </p:cTn>
                  </p:par>
                  <p:par>
                    <p:cTn id="176" fill="hold">
                      <p:stCondLst>
                        <p:cond delay="indefinite"/>
                      </p:stCondLst>
                      <p:childTnLst>
                        <p:par>
                          <p:cTn id="177" fill="hold">
                            <p:stCondLst>
                              <p:cond delay="0"/>
                            </p:stCondLst>
                            <p:childTnLst>
                              <p:par>
                                <p:cTn id="178" presetID="1" presetClass="exit" presetSubtype="0" fill="hold" grpId="4" nodeType="clickEffect">
                                  <p:stCondLst>
                                    <p:cond delay="0"/>
                                  </p:stCondLst>
                                  <p:childTnLst>
                                    <p:set>
                                      <p:cBhvr>
                                        <p:cTn id="179" dur="1" fill="hold">
                                          <p:stCondLst>
                                            <p:cond delay="0"/>
                                          </p:stCondLst>
                                        </p:cTn>
                                        <p:tgtEl>
                                          <p:spTgt spid="81"/>
                                        </p:tgtEl>
                                        <p:attrNameLst>
                                          <p:attrName>style.visibility</p:attrName>
                                        </p:attrNameLst>
                                      </p:cBhvr>
                                      <p:to>
                                        <p:strVal val="hidden"/>
                                      </p:to>
                                    </p:set>
                                  </p:childTnLst>
                                </p:cTn>
                              </p:par>
                              <p:par>
                                <p:cTn id="180" presetID="1" presetClass="exit" presetSubtype="0" fill="hold" grpId="4" nodeType="withEffect">
                                  <p:stCondLst>
                                    <p:cond delay="0"/>
                                  </p:stCondLst>
                                  <p:childTnLst>
                                    <p:set>
                                      <p:cBhvr>
                                        <p:cTn id="181" dur="1" fill="hold">
                                          <p:stCondLst>
                                            <p:cond delay="0"/>
                                          </p:stCondLst>
                                        </p:cTn>
                                        <p:tgtEl>
                                          <p:spTgt spid="82"/>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1" presetClass="entr" presetSubtype="0" fill="hold" grpId="5" nodeType="clickEffect">
                                  <p:stCondLst>
                                    <p:cond delay="0"/>
                                  </p:stCondLst>
                                  <p:childTnLst>
                                    <p:set>
                                      <p:cBhvr>
                                        <p:cTn id="185" dur="1" fill="hold">
                                          <p:stCondLst>
                                            <p:cond delay="0"/>
                                          </p:stCondLst>
                                        </p:cTn>
                                        <p:tgtEl>
                                          <p:spTgt spid="84"/>
                                        </p:tgtEl>
                                        <p:attrNameLst>
                                          <p:attrName>style.visibility</p:attrName>
                                        </p:attrNameLst>
                                      </p:cBhvr>
                                      <p:to>
                                        <p:strVal val="visible"/>
                                      </p:to>
                                    </p:set>
                                  </p:childTnLst>
                                </p:cTn>
                              </p:par>
                              <p:par>
                                <p:cTn id="186" presetID="1" presetClass="entr" presetSubtype="0" fill="hold" grpId="5" nodeType="withEffect">
                                  <p:stCondLst>
                                    <p:cond delay="0"/>
                                  </p:stCondLst>
                                  <p:childTnLst>
                                    <p:set>
                                      <p:cBhvr>
                                        <p:cTn id="187" dur="1" fill="hold">
                                          <p:stCondLst>
                                            <p:cond delay="0"/>
                                          </p:stCondLst>
                                        </p:cTn>
                                        <p:tgtEl>
                                          <p:spTgt spid="85"/>
                                        </p:tgtEl>
                                        <p:attrNameLst>
                                          <p:attrName>style.visibility</p:attrName>
                                        </p:attrNameLst>
                                      </p:cBhvr>
                                      <p:to>
                                        <p:strVal val="visible"/>
                                      </p:to>
                                    </p:set>
                                  </p:childTnLst>
                                </p:cTn>
                              </p:par>
                            </p:childTnLst>
                          </p:cTn>
                        </p:par>
                      </p:childTnLst>
                    </p:cTn>
                  </p:par>
                  <p:par>
                    <p:cTn id="188" fill="hold">
                      <p:stCondLst>
                        <p:cond delay="indefinite"/>
                      </p:stCondLst>
                      <p:childTnLst>
                        <p:par>
                          <p:cTn id="189" fill="hold">
                            <p:stCondLst>
                              <p:cond delay="0"/>
                            </p:stCondLst>
                            <p:childTnLst>
                              <p:par>
                                <p:cTn id="190" presetID="35" presetClass="emph" presetSubtype="0" fill="hold" grpId="0" nodeType="clickEffect">
                                  <p:stCondLst>
                                    <p:cond delay="0"/>
                                  </p:stCondLst>
                                  <p:childTnLst>
                                    <p:anim calcmode="discrete" valueType="str">
                                      <p:cBhvr>
                                        <p:cTn id="191" dur="1000" fill="hold"/>
                                        <p:tgtEl>
                                          <p:spTgt spid="84"/>
                                        </p:tgtEl>
                                        <p:attrNameLst>
                                          <p:attrName>style.visibility</p:attrName>
                                        </p:attrNameLst>
                                      </p:cBhvr>
                                      <p:tavLst>
                                        <p:tav tm="0">
                                          <p:val>
                                            <p:strVal val="hidden"/>
                                          </p:val>
                                        </p:tav>
                                        <p:tav tm="50000">
                                          <p:val>
                                            <p:strVal val="visible"/>
                                          </p:val>
                                        </p:tav>
                                      </p:tavLst>
                                    </p:anim>
                                  </p:childTnLst>
                                </p:cTn>
                              </p:par>
                              <p:par>
                                <p:cTn id="192" presetID="35" presetClass="emph" presetSubtype="0" fill="hold" grpId="0" nodeType="withEffect">
                                  <p:stCondLst>
                                    <p:cond delay="0"/>
                                  </p:stCondLst>
                                  <p:childTnLst>
                                    <p:anim calcmode="discrete" valueType="str">
                                      <p:cBhvr>
                                        <p:cTn id="193" dur="1000" fill="hold"/>
                                        <p:tgtEl>
                                          <p:spTgt spid="85"/>
                                        </p:tgtEl>
                                        <p:attrNameLst>
                                          <p:attrName>style.visibility</p:attrName>
                                        </p:attrNameLst>
                                      </p:cBhvr>
                                      <p:tavLst>
                                        <p:tav tm="0">
                                          <p:val>
                                            <p:strVal val="hidden"/>
                                          </p:val>
                                        </p:tav>
                                        <p:tav tm="50000">
                                          <p:val>
                                            <p:strVal val="visible"/>
                                          </p:val>
                                        </p:tav>
                                      </p:tavLst>
                                    </p:anim>
                                  </p:childTnLst>
                                </p:cTn>
                              </p:par>
                            </p:childTnLst>
                          </p:cTn>
                        </p:par>
                        <p:par>
                          <p:cTn id="194" fill="hold">
                            <p:stCondLst>
                              <p:cond delay="1000"/>
                            </p:stCondLst>
                            <p:childTnLst>
                              <p:par>
                                <p:cTn id="195" presetID="35" presetClass="emph" presetSubtype="0" fill="hold" grpId="2" nodeType="afterEffect">
                                  <p:stCondLst>
                                    <p:cond delay="0"/>
                                  </p:stCondLst>
                                  <p:childTnLst>
                                    <p:anim calcmode="discrete" valueType="str">
                                      <p:cBhvr>
                                        <p:cTn id="196" dur="1000" fill="hold"/>
                                        <p:tgtEl>
                                          <p:spTgt spid="84"/>
                                        </p:tgtEl>
                                        <p:attrNameLst>
                                          <p:attrName>style.visibility</p:attrName>
                                        </p:attrNameLst>
                                      </p:cBhvr>
                                      <p:tavLst>
                                        <p:tav tm="0">
                                          <p:val>
                                            <p:strVal val="hidden"/>
                                          </p:val>
                                        </p:tav>
                                        <p:tav tm="50000">
                                          <p:val>
                                            <p:strVal val="visible"/>
                                          </p:val>
                                        </p:tav>
                                      </p:tavLst>
                                    </p:anim>
                                  </p:childTnLst>
                                </p:cTn>
                              </p:par>
                              <p:par>
                                <p:cTn id="197" presetID="35" presetClass="emph" presetSubtype="0" fill="hold" grpId="2" nodeType="withEffect">
                                  <p:stCondLst>
                                    <p:cond delay="0"/>
                                  </p:stCondLst>
                                  <p:childTnLst>
                                    <p:anim calcmode="discrete" valueType="str">
                                      <p:cBhvr>
                                        <p:cTn id="198"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grpId="3" nodeType="clickEffect">
                                  <p:stCondLst>
                                    <p:cond delay="0"/>
                                  </p:stCondLst>
                                  <p:childTnLst>
                                    <p:set>
                                      <p:cBhvr>
                                        <p:cTn id="202" dur="1" fill="hold">
                                          <p:stCondLst>
                                            <p:cond delay="0"/>
                                          </p:stCondLst>
                                        </p:cTn>
                                        <p:tgtEl>
                                          <p:spTgt spid="84"/>
                                        </p:tgtEl>
                                        <p:attrNameLst>
                                          <p:attrName>style.visibility</p:attrName>
                                        </p:attrNameLst>
                                      </p:cBhvr>
                                      <p:to>
                                        <p:strVal val="visible"/>
                                      </p:to>
                                    </p:set>
                                  </p:childTnLst>
                                </p:cTn>
                              </p:par>
                              <p:par>
                                <p:cTn id="203" presetID="1" presetClass="entr" presetSubtype="0" fill="hold" grpId="3" nodeType="withEffect">
                                  <p:stCondLst>
                                    <p:cond delay="0"/>
                                  </p:stCondLst>
                                  <p:childTnLst>
                                    <p:set>
                                      <p:cBhvr>
                                        <p:cTn id="204" dur="1" fill="hold">
                                          <p:stCondLst>
                                            <p:cond delay="0"/>
                                          </p:stCondLst>
                                        </p:cTn>
                                        <p:tgtEl>
                                          <p:spTgt spid="85"/>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presetSubtype="0" fill="hold" grpId="0" nodeType="clickEffect">
                                  <p:stCondLst>
                                    <p:cond delay="0"/>
                                  </p:stCondLst>
                                  <p:childTnLst>
                                    <p:set>
                                      <p:cBhvr>
                                        <p:cTn id="208" dur="1" fill="hold">
                                          <p:stCondLst>
                                            <p:cond delay="0"/>
                                          </p:stCondLst>
                                        </p:cTn>
                                        <p:tgtEl>
                                          <p:spTgt spid="86"/>
                                        </p:tgtEl>
                                        <p:attrNameLst>
                                          <p:attrName>style.visibility</p:attrName>
                                        </p:attrNameLst>
                                      </p:cBhvr>
                                      <p:to>
                                        <p:strVal val="visible"/>
                                      </p:to>
                                    </p:set>
                                  </p:childTnLst>
                                </p:cTn>
                              </p:par>
                            </p:childTnLst>
                          </p:cTn>
                        </p:par>
                      </p:childTnLst>
                    </p:cTn>
                  </p:par>
                  <p:par>
                    <p:cTn id="209" fill="hold">
                      <p:stCondLst>
                        <p:cond delay="indefinite"/>
                      </p:stCondLst>
                      <p:childTnLst>
                        <p:par>
                          <p:cTn id="210" fill="hold">
                            <p:stCondLst>
                              <p:cond delay="0"/>
                            </p:stCondLst>
                            <p:childTnLst>
                              <p:par>
                                <p:cTn id="211" presetID="1" presetClass="exit" presetSubtype="0" fill="hold" grpId="4" nodeType="clickEffect">
                                  <p:stCondLst>
                                    <p:cond delay="0"/>
                                  </p:stCondLst>
                                  <p:childTnLst>
                                    <p:set>
                                      <p:cBhvr>
                                        <p:cTn id="212" dur="1" fill="hold">
                                          <p:stCondLst>
                                            <p:cond delay="0"/>
                                          </p:stCondLst>
                                        </p:cTn>
                                        <p:tgtEl>
                                          <p:spTgt spid="84"/>
                                        </p:tgtEl>
                                        <p:attrNameLst>
                                          <p:attrName>style.visibility</p:attrName>
                                        </p:attrNameLst>
                                      </p:cBhvr>
                                      <p:to>
                                        <p:strVal val="hidden"/>
                                      </p:to>
                                    </p:set>
                                  </p:childTnLst>
                                </p:cTn>
                              </p:par>
                              <p:par>
                                <p:cTn id="213" presetID="1" presetClass="exit" presetSubtype="0" fill="hold" grpId="4" nodeType="withEffect">
                                  <p:stCondLst>
                                    <p:cond delay="0"/>
                                  </p:stCondLst>
                                  <p:childTnLst>
                                    <p:set>
                                      <p:cBhvr>
                                        <p:cTn id="214" dur="1" fill="hold">
                                          <p:stCondLst>
                                            <p:cond delay="0"/>
                                          </p:stCondLst>
                                        </p:cTn>
                                        <p:tgtEl>
                                          <p:spTgt spid="8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11" grpId="0" animBg="1"/>
      <p:bldP spid="11" grpId="1" animBg="1"/>
      <p:bldP spid="19" grpId="0" animBg="1"/>
      <p:bldP spid="19" grpId="1" animBg="1"/>
      <p:bldP spid="20" grpId="0" animBg="1"/>
      <p:bldP spid="20" grpId="1" animBg="1"/>
      <p:bldP spid="27" grpId="0" animBg="1"/>
      <p:bldP spid="27" grpId="1" animBg="1"/>
      <p:bldP spid="28" grpId="0" animBg="1"/>
      <p:bldP spid="28" grpId="1" animBg="1"/>
      <p:bldP spid="33" grpId="0" animBg="1"/>
      <p:bldP spid="33" grpId="1" animBg="1"/>
      <p:bldP spid="34" grpId="0" animBg="1"/>
      <p:bldP spid="34" grpId="1" animBg="1"/>
      <p:bldP spid="35" grpId="0" animBg="1"/>
      <p:bldP spid="35" grpId="1" animBg="1"/>
      <p:bldP spid="36" grpId="0"/>
      <p:bldP spid="36" grpId="1"/>
      <p:bldP spid="37" grpId="0"/>
      <p:bldP spid="37" grpId="1"/>
      <p:bldP spid="38" grpId="0"/>
      <p:bldP spid="38" grpId="1"/>
      <p:bldP spid="39" grpId="0"/>
      <p:bldP spid="39" grpId="1"/>
      <p:bldP spid="40" grpId="0"/>
      <p:bldP spid="40" grpId="1"/>
      <p:bldP spid="41" grpId="0"/>
      <p:bldP spid="41" grpId="1"/>
      <p:bldP spid="42" grpId="0"/>
      <p:bldP spid="42" grpId="1"/>
      <p:bldP spid="43" grpId="0"/>
      <p:bldP spid="43" grpId="1"/>
      <p:bldP spid="44" grpId="0"/>
      <p:bldP spid="44" grpId="1"/>
      <p:bldP spid="75" grpId="0"/>
      <p:bldP spid="75" grpId="1"/>
      <p:bldP spid="76" grpId="0" bldLvl="0" animBg="1"/>
      <p:bldP spid="76" grpId="1" animBg="1"/>
      <p:bldP spid="76" grpId="2" bldLvl="0" animBg="1"/>
      <p:bldP spid="76" grpId="3" bldLvl="0" animBg="1"/>
      <p:bldP spid="76" grpId="4" bldLvl="0" animBg="1"/>
      <p:bldP spid="76" grpId="5" bldLvl="0" animBg="1"/>
      <p:bldP spid="77" grpId="0" bldLvl="0" animBg="1"/>
      <p:bldP spid="77" grpId="1" animBg="1"/>
      <p:bldP spid="77" grpId="2" bldLvl="0" animBg="1"/>
      <p:bldP spid="77" grpId="3" bldLvl="0" animBg="1"/>
      <p:bldP spid="77" grpId="4" bldLvl="0" animBg="1"/>
      <p:bldP spid="77" grpId="5" bldLvl="0" animBg="1"/>
      <p:bldP spid="78" grpId="0" bldLvl="0" animBg="1"/>
      <p:bldP spid="78" grpId="1" animBg="1"/>
      <p:bldP spid="78" grpId="2" bldLvl="0" animBg="1"/>
      <p:bldP spid="78" grpId="3" bldLvl="0" animBg="1"/>
      <p:bldP spid="78" grpId="4" bldLvl="0" animBg="1"/>
      <p:bldP spid="78" grpId="5" bldLvl="0" animBg="1"/>
      <p:bldP spid="79" grpId="0" bldLvl="0" animBg="1"/>
      <p:bldP spid="79" grpId="1" animBg="1"/>
      <p:bldP spid="79" grpId="2" bldLvl="0" animBg="1"/>
      <p:bldP spid="79" grpId="3" bldLvl="0" animBg="1"/>
      <p:bldP spid="79" grpId="4" bldLvl="0" animBg="1"/>
      <p:bldP spid="79" grpId="5" bldLvl="0" animBg="1"/>
      <p:bldP spid="80" grpId="0"/>
      <p:bldP spid="80" grpId="1"/>
      <p:bldP spid="81" grpId="0" bldLvl="0" animBg="1"/>
      <p:bldP spid="81" grpId="1" animBg="1"/>
      <p:bldP spid="81" grpId="2" bldLvl="0" animBg="1"/>
      <p:bldP spid="81" grpId="3" bldLvl="0" animBg="1"/>
      <p:bldP spid="81" grpId="4" bldLvl="0" animBg="1"/>
      <p:bldP spid="81" grpId="5" bldLvl="0" animBg="1"/>
      <p:bldP spid="82" grpId="0" bldLvl="0" animBg="1"/>
      <p:bldP spid="82" grpId="1" animBg="1"/>
      <p:bldP spid="82" grpId="2" bldLvl="0" animBg="1"/>
      <p:bldP spid="82" grpId="3" bldLvl="0" animBg="1"/>
      <p:bldP spid="82" grpId="4" bldLvl="0" animBg="1"/>
      <p:bldP spid="82" grpId="5" bldLvl="0" animBg="1"/>
      <p:bldP spid="83" grpId="0"/>
      <p:bldP spid="83" grpId="1"/>
      <p:bldP spid="84" grpId="0" bldLvl="0" animBg="1"/>
      <p:bldP spid="84" grpId="1" animBg="1"/>
      <p:bldP spid="84" grpId="2" bldLvl="0" animBg="1"/>
      <p:bldP spid="84" grpId="3" bldLvl="0" animBg="1"/>
      <p:bldP spid="84" grpId="4" bldLvl="0" animBg="1"/>
      <p:bldP spid="84" grpId="5" bldLvl="0" animBg="1"/>
      <p:bldP spid="85" grpId="0" bldLvl="0" animBg="1"/>
      <p:bldP spid="85" grpId="1" animBg="1"/>
      <p:bldP spid="85" grpId="2" bldLvl="0" animBg="1"/>
      <p:bldP spid="85" grpId="3" bldLvl="0" animBg="1"/>
      <p:bldP spid="85" grpId="4" bldLvl="0" animBg="1"/>
      <p:bldP spid="85" grpId="5" bldLvl="0" animBg="1"/>
      <p:bldP spid="86" grpId="0"/>
      <p:bldP spid="86"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pic>
        <p:nvPicPr>
          <p:cNvPr id="4" name="图片 -2147482500" descr="IMG_256"/>
          <p:cNvPicPr>
            <a:picLocks noChangeAspect="1"/>
          </p:cNvPicPr>
          <p:nvPr/>
        </p:nvPicPr>
        <p:blipFill>
          <a:blip r:embed="rId1"/>
          <a:stretch>
            <a:fillRect/>
          </a:stretch>
        </p:blipFill>
        <p:spPr>
          <a:xfrm>
            <a:off x="2267585" y="2132965"/>
            <a:ext cx="4276090" cy="1861185"/>
          </a:xfrm>
          <a:prstGeom prst="rect">
            <a:avLst/>
          </a:prstGeom>
          <a:noFill/>
          <a:ln w="9525">
            <a:noFill/>
          </a:ln>
        </p:spPr>
      </p:pic>
      <p:sp>
        <p:nvSpPr>
          <p:cNvPr id="5" name="圆角矩形 4"/>
          <p:cNvSpPr/>
          <p:nvPr/>
        </p:nvSpPr>
        <p:spPr>
          <a:xfrm>
            <a:off x="2159000" y="422084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89125" y="4542790"/>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404110" y="4542790"/>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97280" y="5046980"/>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89125" y="5046980"/>
            <a:ext cx="241935"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931795" y="5046980"/>
            <a:ext cx="175895" cy="259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107690" y="5046980"/>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654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972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44015"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62580"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52170" y="533146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45945" y="5332095"/>
            <a:ext cx="569595" cy="35687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32075" y="5306695"/>
            <a:ext cx="598805" cy="36893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839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4203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516630" y="533717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161540" y="4211320"/>
            <a:ext cx="501015" cy="33147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569085" y="4725035"/>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359410" y="6030595"/>
            <a:ext cx="702310" cy="330835"/>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sym typeface="+mn-ea"/>
              </a:rPr>
              <a:t>(i-3,j)</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115695" y="6030595"/>
            <a:ext cx="855980"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sym typeface="+mn-ea"/>
              </a:rPr>
              <a:t>(i-2,j-1)</a:t>
            </a:r>
            <a:endParaRPr lang="en-US" altLang="zh-CN" sz="1600">
              <a:latin typeface="Times New Roman" panose="02020603050405020304" pitchFamily="18" charset="0"/>
              <a:cs typeface="Times New Roman" panose="02020603050405020304" pitchFamily="18" charset="0"/>
            </a:endParaRPr>
          </a:p>
        </p:txBody>
      </p:sp>
      <p:sp>
        <p:nvSpPr>
          <p:cNvPr id="6" name="文本框 5"/>
          <p:cNvSpPr txBox="1"/>
          <p:nvPr/>
        </p:nvSpPr>
        <p:spPr>
          <a:xfrm>
            <a:off x="2776855" y="4725035"/>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(i,j-1)</a:t>
            </a:r>
            <a:endParaRPr lang="en-US" altLang="zh-CN" sz="1600">
              <a:latin typeface="Times New Roman" panose="02020603050405020304" pitchFamily="18" charset="0"/>
              <a:cs typeface="Times New Roman" panose="02020603050405020304" pitchFamily="18" charset="0"/>
            </a:endParaRPr>
          </a:p>
        </p:txBody>
      </p:sp>
      <p:sp>
        <p:nvSpPr>
          <p:cNvPr id="7" name="文本框 6"/>
          <p:cNvSpPr txBox="1"/>
          <p:nvPr/>
        </p:nvSpPr>
        <p:spPr>
          <a:xfrm>
            <a:off x="770255" y="5326380"/>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(i-2,j)</a:t>
            </a:r>
            <a:endParaRPr lang="en-US" altLang="zh-CN" sz="1600">
              <a:latin typeface="Times New Roman" panose="02020603050405020304" pitchFamily="18" charset="0"/>
              <a:cs typeface="Times New Roman" panose="02020603050405020304" pitchFamily="18" charset="0"/>
            </a:endParaRPr>
          </a:p>
        </p:txBody>
      </p:sp>
      <p:sp>
        <p:nvSpPr>
          <p:cNvPr id="8" name="文本框 7"/>
          <p:cNvSpPr txBox="1"/>
          <p:nvPr/>
        </p:nvSpPr>
        <p:spPr>
          <a:xfrm>
            <a:off x="1715770" y="5311140"/>
            <a:ext cx="838200" cy="4191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9" name="文本框 8"/>
          <p:cNvSpPr txBox="1"/>
          <p:nvPr/>
        </p:nvSpPr>
        <p:spPr>
          <a:xfrm>
            <a:off x="2524760" y="5302250"/>
            <a:ext cx="838200" cy="4191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10" name="文本框 9"/>
          <p:cNvSpPr txBox="1"/>
          <p:nvPr/>
        </p:nvSpPr>
        <p:spPr>
          <a:xfrm>
            <a:off x="3425825" y="5326380"/>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(i,j-2)</a:t>
            </a:r>
            <a:endParaRPr lang="en-US" altLang="zh-CN" sz="1600">
              <a:latin typeface="Times New Roman" panose="02020603050405020304" pitchFamily="18" charset="0"/>
              <a:cs typeface="Times New Roman" panose="02020603050405020304" pitchFamily="18" charset="0"/>
            </a:endParaRPr>
          </a:p>
        </p:txBody>
      </p:sp>
      <p:sp>
        <p:nvSpPr>
          <p:cNvPr id="12" name="文本框 11"/>
          <p:cNvSpPr txBox="1"/>
          <p:nvPr/>
        </p:nvSpPr>
        <p:spPr>
          <a:xfrm>
            <a:off x="199390" y="4174490"/>
            <a:ext cx="1330325" cy="368300"/>
          </a:xfrm>
          <a:prstGeom prst="rect">
            <a:avLst/>
          </a:prstGeom>
          <a:noFill/>
        </p:spPr>
        <p:txBody>
          <a:bodyPr wrap="square" rtlCol="0">
            <a:spAutoFit/>
          </a:bodyPr>
          <a:lstStyle/>
          <a:p>
            <a:r>
              <a:rPr lang="zh-CN" altLang="en-US">
                <a:solidFill>
                  <a:srgbClr val="FF0000"/>
                </a:solidFill>
              </a:rPr>
              <a:t>抽象成树：</a:t>
            </a:r>
            <a:endParaRPr lang="zh-CN" altLang="en-US">
              <a:solidFill>
                <a:srgbClr val="FF0000"/>
              </a:solidFill>
            </a:endParaRPr>
          </a:p>
        </p:txBody>
      </p:sp>
      <p:sp>
        <p:nvSpPr>
          <p:cNvPr id="13" name="文本框 12"/>
          <p:cNvSpPr txBox="1"/>
          <p:nvPr/>
        </p:nvSpPr>
        <p:spPr>
          <a:xfrm>
            <a:off x="4643755" y="5013325"/>
            <a:ext cx="4345305" cy="353060"/>
          </a:xfrm>
          <a:prstGeom prst="rect">
            <a:avLst/>
          </a:prstGeom>
          <a:noFill/>
        </p:spPr>
        <p:txBody>
          <a:bodyPr wrap="square" rtlCol="0">
            <a:noAutofit/>
          </a:bodyPr>
          <a:lstStyle/>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43"/>
                                        </p:tgtEl>
                                        <p:attrNameLst>
                                          <p:attrName>style.visibility</p:attrName>
                                        </p:attrNameLst>
                                      </p:cBhvr>
                                      <p:to>
                                        <p:strVal val="visible"/>
                                      </p:to>
                                    </p:set>
                                    <p:animEffect transition="in" filter="box(in)">
                                      <p:cBhvr>
                                        <p:cTn id="64" dur="2000"/>
                                        <p:tgtEl>
                                          <p:spTgt spid="43"/>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box(in)">
                                      <p:cBhvr>
                                        <p:cTn id="67" dur="2000"/>
                                        <p:tgtEl>
                                          <p:spTgt spid="44"/>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box(in)">
                                      <p:cBhvr>
                                        <p:cTn id="70" dur="2000"/>
                                        <p:tgtEl>
                                          <p:spTgt spid="5"/>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6"/>
                                        </p:tgtEl>
                                        <p:attrNameLst>
                                          <p:attrName>style.visibility</p:attrName>
                                        </p:attrNameLst>
                                      </p:cBhvr>
                                      <p:to>
                                        <p:strVal val="visible"/>
                                      </p:to>
                                    </p:set>
                                    <p:animEffect transition="in" filter="box(in)">
                                      <p:cBhvr>
                                        <p:cTn id="73" dur="2000"/>
                                        <p:tgtEl>
                                          <p:spTgt spid="6"/>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8"/>
                                        </p:tgtEl>
                                        <p:attrNameLst>
                                          <p:attrName>style.visibility</p:attrName>
                                        </p:attrNameLst>
                                      </p:cBhvr>
                                      <p:to>
                                        <p:strVal val="visible"/>
                                      </p:to>
                                    </p:set>
                                    <p:animEffect transition="in" filter="box(in)">
                                      <p:cBhvr>
                                        <p:cTn id="76" dur="2000"/>
                                        <p:tgtEl>
                                          <p:spTgt spid="8"/>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box(in)">
                                      <p:cBhvr>
                                        <p:cTn id="79" dur="2000"/>
                                        <p:tgtEl>
                                          <p:spTgt spid="9"/>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10"/>
                                        </p:tgtEl>
                                        <p:attrNameLst>
                                          <p:attrName>style.visibility</p:attrName>
                                        </p:attrNameLst>
                                      </p:cBhvr>
                                      <p:to>
                                        <p:strVal val="visible"/>
                                      </p:to>
                                    </p:set>
                                    <p:animEffect transition="in" filter="box(in)">
                                      <p:cBhvr>
                                        <p:cTn id="82"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ldLvl="0" animBg="1"/>
      <p:bldP spid="4" grpId="1" animBg="1"/>
      <p:bldP spid="5" grpId="0" animBg="1"/>
      <p:bldP spid="5" grpId="1"/>
      <p:bldP spid="11" grpId="0" bldLvl="0" animBg="1"/>
      <p:bldP spid="11" grpId="1" animBg="1"/>
      <p:bldP spid="19" grpId="0" bldLvl="0" animBg="1"/>
      <p:bldP spid="19" grpId="1" animBg="1"/>
      <p:bldP spid="20" grpId="0" bldLvl="0" animBg="1"/>
      <p:bldP spid="20" grpId="1" animBg="1"/>
      <p:bldP spid="27" grpId="0" bldLvl="0" animBg="1"/>
      <p:bldP spid="27" grpId="1" animBg="1"/>
      <p:bldP spid="28" grpId="0" bldLvl="0" animBg="1"/>
      <p:bldP spid="28" grpId="1" animBg="1"/>
      <p:bldP spid="33" grpId="0" bldLvl="0" animBg="1"/>
      <p:bldP spid="33" grpId="1" animBg="1"/>
      <p:bldP spid="34" grpId="0" bldLvl="0" animBg="1"/>
      <p:bldP spid="34" grpId="1" animBg="1"/>
      <p:bldP spid="35" grpId="0" bldLvl="0" animBg="1"/>
      <p:bldP spid="35" grpId="1" animBg="1"/>
      <p:bldP spid="36" grpId="0"/>
      <p:bldP spid="36" grpId="1"/>
      <p:bldP spid="37" grpId="0"/>
      <p:bldP spid="37" grpId="1"/>
      <p:bldP spid="43" grpId="0"/>
      <p:bldP spid="43" grpId="1"/>
      <p:bldP spid="44" grpId="0"/>
      <p:bldP spid="44" grpId="1"/>
      <p:bldP spid="6" grpId="0"/>
      <p:bldP spid="6" grpId="1"/>
      <p:bldP spid="8" grpId="0"/>
      <p:bldP spid="8" grpId="1"/>
      <p:bldP spid="9" grpId="0"/>
      <p:bldP spid="9" grpId="1"/>
      <p:bldP spid="10" grpId="0"/>
      <p:bldP spid="10" grpId="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13" name="文本框 12"/>
          <p:cNvSpPr txBox="1"/>
          <p:nvPr/>
        </p:nvSpPr>
        <p:spPr>
          <a:xfrm>
            <a:off x="467995" y="2493010"/>
            <a:ext cx="4345305" cy="353060"/>
          </a:xfrm>
          <a:prstGeom prst="rect">
            <a:avLst/>
          </a:prstGeom>
          <a:noFill/>
        </p:spPr>
        <p:txBody>
          <a:bodyPr wrap="square" rtlCol="0">
            <a:noAutofit/>
          </a:bodyPr>
          <a:lstStyle/>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72" name="文本框 71"/>
          <p:cNvSpPr txBox="1"/>
          <p:nvPr/>
        </p:nvSpPr>
        <p:spPr>
          <a:xfrm>
            <a:off x="487045" y="3357245"/>
            <a:ext cx="8049260" cy="376555"/>
          </a:xfrm>
          <a:prstGeom prst="rect">
            <a:avLst/>
          </a:prstGeom>
          <a:noFill/>
        </p:spPr>
        <p:txBody>
          <a:bodyPr wrap="square" rtlCol="0">
            <a:noAutofit/>
          </a:bodyPr>
          <a:lstStyle/>
          <a:p>
            <a:r>
              <a:rPr lang="zh-CN" altLang="en-US"/>
              <a:t>状态转移方程有两个变量，用二维表表示状态。</a:t>
            </a:r>
            <a:endParaRPr lang="zh-CN" altLang="en-US"/>
          </a:p>
        </p:txBody>
      </p:sp>
      <p:cxnSp>
        <p:nvCxnSpPr>
          <p:cNvPr id="73" name="直接箭头连接符 72"/>
          <p:cNvCxnSpPr/>
          <p:nvPr/>
        </p:nvCxnSpPr>
        <p:spPr>
          <a:xfrm flipV="1">
            <a:off x="2339975" y="2925445"/>
            <a:ext cx="8255" cy="431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5" name="直接箭头连接符 14"/>
          <p:cNvCxnSpPr/>
          <p:nvPr/>
        </p:nvCxnSpPr>
        <p:spPr>
          <a:xfrm flipV="1">
            <a:off x="2339975" y="2781300"/>
            <a:ext cx="935990" cy="57594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17" name="表格 16"/>
          <p:cNvGraphicFramePr/>
          <p:nvPr/>
        </p:nvGraphicFramePr>
        <p:xfrm>
          <a:off x="544830" y="4478655"/>
          <a:ext cx="6396990" cy="1935480"/>
        </p:xfrm>
        <a:graphic>
          <a:graphicData uri="http://schemas.openxmlformats.org/drawingml/2006/table">
            <a:tbl>
              <a:tblPr firstRow="1" bandRow="1">
                <a:tableStyleId>{5C22544A-7EE6-4342-B048-85BDC9FD1C3A}</a:tableStyleId>
              </a:tblPr>
              <a:tblGrid>
                <a:gridCol w="1066165"/>
                <a:gridCol w="1066165"/>
                <a:gridCol w="1066165"/>
                <a:gridCol w="1066165"/>
                <a:gridCol w="1066165"/>
                <a:gridCol w="1066165"/>
              </a:tblGrid>
              <a:tr h="41148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8" name="五角星 17"/>
          <p:cNvSpPr/>
          <p:nvPr/>
        </p:nvSpPr>
        <p:spPr>
          <a:xfrm>
            <a:off x="899795" y="4471035"/>
            <a:ext cx="360045" cy="360045"/>
          </a:xfrm>
          <a:prstGeom prst="star5">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9" name="文本框 28"/>
          <p:cNvSpPr txBox="1"/>
          <p:nvPr/>
        </p:nvSpPr>
        <p:spPr>
          <a:xfrm>
            <a:off x="506095" y="3954145"/>
            <a:ext cx="5071110" cy="368300"/>
          </a:xfrm>
          <a:prstGeom prst="rect">
            <a:avLst/>
          </a:prstGeom>
          <a:noFill/>
        </p:spPr>
        <p:txBody>
          <a:bodyPr wrap="square" rtlCol="0">
            <a:spAutoFit/>
          </a:bodyPr>
          <a:lstStyle/>
          <a:p>
            <a:r>
              <a:rPr lang="zh-CN" altLang="en-US"/>
              <a:t>那么黄色的边界如何初始化？</a:t>
            </a:r>
            <a:endParaRPr lang="zh-CN" altLang="en-US"/>
          </a:p>
        </p:txBody>
      </p:sp>
      <p:sp>
        <p:nvSpPr>
          <p:cNvPr id="30" name="文本框 29"/>
          <p:cNvSpPr txBox="1"/>
          <p:nvPr/>
        </p:nvSpPr>
        <p:spPr>
          <a:xfrm>
            <a:off x="1979930" y="4509135"/>
            <a:ext cx="4624070" cy="368300"/>
          </a:xfrm>
          <a:prstGeom prst="rect">
            <a:avLst/>
          </a:prstGeom>
          <a:noFill/>
        </p:spPr>
        <p:txBody>
          <a:bodyPr wrap="square" rtlCol="0">
            <a:spAutoFit/>
          </a:bodyPr>
          <a:lstStyle/>
          <a:p>
            <a:r>
              <a:rPr lang="en-US" altLang="zh-CN">
                <a:solidFill>
                  <a:srgbClr val="FF0000"/>
                </a:solidFill>
                <a:latin typeface="Times New Roman" panose="02020603050405020304" pitchFamily="18" charset="0"/>
                <a:cs typeface="Times New Roman" panose="02020603050405020304" pitchFamily="18" charset="0"/>
              </a:rPr>
              <a:t>1               1                 1                  1                1</a:t>
            </a:r>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p:txBody>
      </p:sp>
      <p:sp>
        <p:nvSpPr>
          <p:cNvPr id="38" name="文本框 37"/>
          <p:cNvSpPr txBox="1"/>
          <p:nvPr/>
        </p:nvSpPr>
        <p:spPr>
          <a:xfrm>
            <a:off x="899795" y="494157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9" name="文本框 38"/>
          <p:cNvSpPr txBox="1"/>
          <p:nvPr/>
        </p:nvSpPr>
        <p:spPr>
          <a:xfrm>
            <a:off x="894080" y="5328285"/>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0" name="文本框 39"/>
          <p:cNvSpPr txBox="1"/>
          <p:nvPr/>
        </p:nvSpPr>
        <p:spPr>
          <a:xfrm>
            <a:off x="899795" y="571500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1" name="文本框 40"/>
          <p:cNvSpPr txBox="1"/>
          <p:nvPr/>
        </p:nvSpPr>
        <p:spPr>
          <a:xfrm>
            <a:off x="899795" y="605409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anim calcmode="lin" valueType="num">
                                      <p:cBhvr additive="base">
                                        <p:cTn id="7" dur="500" fill="hold"/>
                                        <p:tgtEl>
                                          <p:spTgt spid="38"/>
                                        </p:tgtEl>
                                        <p:attrNameLst>
                                          <p:attrName>ppt_x</p:attrName>
                                        </p:attrNameLst>
                                      </p:cBhvr>
                                      <p:tavLst>
                                        <p:tav tm="0">
                                          <p:val>
                                            <p:strVal val="#ppt_x"/>
                                          </p:val>
                                        </p:tav>
                                        <p:tav tm="100000">
                                          <p:val>
                                            <p:strVal val="#ppt_x"/>
                                          </p:val>
                                        </p:tav>
                                      </p:tavLst>
                                    </p:anim>
                                    <p:anim calcmode="lin" valueType="num">
                                      <p:cBhvr additive="base">
                                        <p:cTn id="8" dur="500" fill="hold"/>
                                        <p:tgtEl>
                                          <p:spTgt spid="3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 calcmode="lin" valueType="num">
                                      <p:cBhvr additive="base">
                                        <p:cTn id="11" dur="500" fill="hold"/>
                                        <p:tgtEl>
                                          <p:spTgt spid="39"/>
                                        </p:tgtEl>
                                        <p:attrNameLst>
                                          <p:attrName>ppt_x</p:attrName>
                                        </p:attrNameLst>
                                      </p:cBhvr>
                                      <p:tavLst>
                                        <p:tav tm="0">
                                          <p:val>
                                            <p:strVal val="#ppt_x"/>
                                          </p:val>
                                        </p:tav>
                                        <p:tav tm="100000">
                                          <p:val>
                                            <p:strVal val="#ppt_x"/>
                                          </p:val>
                                        </p:tav>
                                      </p:tavLst>
                                    </p:anim>
                                    <p:anim calcmode="lin" valueType="num">
                                      <p:cBhvr additive="base">
                                        <p:cTn id="12" dur="500" fill="hold"/>
                                        <p:tgtEl>
                                          <p:spTgt spid="3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40"/>
                                        </p:tgtEl>
                                        <p:attrNameLst>
                                          <p:attrName>style.visibility</p:attrName>
                                        </p:attrNameLst>
                                      </p:cBhvr>
                                      <p:to>
                                        <p:strVal val="visible"/>
                                      </p:to>
                                    </p:set>
                                    <p:anim calcmode="lin" valueType="num">
                                      <p:cBhvr additive="base">
                                        <p:cTn id="15" dur="500" fill="hold"/>
                                        <p:tgtEl>
                                          <p:spTgt spid="40"/>
                                        </p:tgtEl>
                                        <p:attrNameLst>
                                          <p:attrName>ppt_x</p:attrName>
                                        </p:attrNameLst>
                                      </p:cBhvr>
                                      <p:tavLst>
                                        <p:tav tm="0">
                                          <p:val>
                                            <p:strVal val="#ppt_x"/>
                                          </p:val>
                                        </p:tav>
                                        <p:tav tm="100000">
                                          <p:val>
                                            <p:strVal val="#ppt_x"/>
                                          </p:val>
                                        </p:tav>
                                      </p:tavLst>
                                    </p:anim>
                                    <p:anim calcmode="lin" valueType="num">
                                      <p:cBhvr additive="base">
                                        <p:cTn id="16" dur="500" fill="hold"/>
                                        <p:tgtEl>
                                          <p:spTgt spid="4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41"/>
                                        </p:tgtEl>
                                        <p:attrNameLst>
                                          <p:attrName>style.visibility</p:attrName>
                                        </p:attrNameLst>
                                      </p:cBhvr>
                                      <p:to>
                                        <p:strVal val="visible"/>
                                      </p:to>
                                    </p:set>
                                    <p:anim calcmode="lin" valueType="num">
                                      <p:cBhvr additive="base">
                                        <p:cTn id="19" dur="500" fill="hold"/>
                                        <p:tgtEl>
                                          <p:spTgt spid="41"/>
                                        </p:tgtEl>
                                        <p:attrNameLst>
                                          <p:attrName>ppt_x</p:attrName>
                                        </p:attrNameLst>
                                      </p:cBhvr>
                                      <p:tavLst>
                                        <p:tav tm="0">
                                          <p:val>
                                            <p:strVal val="#ppt_x"/>
                                          </p:val>
                                        </p:tav>
                                        <p:tav tm="100000">
                                          <p:val>
                                            <p:strVal val="#ppt_x"/>
                                          </p:val>
                                        </p:tav>
                                      </p:tavLst>
                                    </p:anim>
                                    <p:anim calcmode="lin" valueType="num">
                                      <p:cBhvr additive="base">
                                        <p:cTn id="20" dur="500" fill="hold"/>
                                        <p:tgtEl>
                                          <p:spTgt spid="41"/>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anim calcmode="lin" valueType="num">
                                      <p:cBhvr additive="base">
                                        <p:cTn id="23" dur="500" fill="hold"/>
                                        <p:tgtEl>
                                          <p:spTgt spid="30"/>
                                        </p:tgtEl>
                                        <p:attrNameLst>
                                          <p:attrName>ppt_x</p:attrName>
                                        </p:attrNameLst>
                                      </p:cBhvr>
                                      <p:tavLst>
                                        <p:tav tm="0">
                                          <p:val>
                                            <p:strVal val="#ppt_x"/>
                                          </p:val>
                                        </p:tav>
                                        <p:tav tm="100000">
                                          <p:val>
                                            <p:strVal val="#ppt_x"/>
                                          </p:val>
                                        </p:tav>
                                      </p:tavLst>
                                    </p:anim>
                                    <p:anim calcmode="lin" valueType="num">
                                      <p:cBhvr additive="base">
                                        <p:cTn id="2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0" grpId="1"/>
      <p:bldP spid="38" grpId="0"/>
      <p:bldP spid="38" grpId="1"/>
      <p:bldP spid="39" grpId="0"/>
      <p:bldP spid="39" grpId="1"/>
      <p:bldP spid="40" grpId="0"/>
      <p:bldP spid="40" grpId="1"/>
      <p:bldP spid="41" grpId="0"/>
      <p:bldP spid="41" grpId="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692785"/>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251460" y="1772920"/>
            <a:ext cx="8669020" cy="2886710"/>
          </a:xfrm>
          <a:prstGeom prst="rect">
            <a:avLst/>
          </a:prstGeom>
          <a:noFill/>
        </p:spPr>
        <p:txBody>
          <a:bodyPr wrap="square" rtlCol="0">
            <a:noAutofit/>
          </a:bodyPr>
          <a:lstStyle/>
          <a:p>
            <a:r>
              <a:rPr lang="zh-CN" altLang="en-US">
                <a:solidFill>
                  <a:schemeClr val="tx1"/>
                </a:solidFill>
              </a:rPr>
              <a:t>总结：</a:t>
            </a:r>
            <a:endParaRPr lang="zh-CN" altLang="en-US">
              <a:solidFill>
                <a:schemeClr val="tx1"/>
              </a:solidFill>
            </a:endParaRPr>
          </a:p>
          <a:p>
            <a:endParaRPr lang="zh-CN" altLang="en-US">
              <a:solidFill>
                <a:schemeClr val="tx1"/>
              </a:solidFill>
            </a:endParaRPr>
          </a:p>
          <a:p>
            <a:r>
              <a:rPr lang="zh-CN" altLang="en-US">
                <a:solidFill>
                  <a:schemeClr val="tx1"/>
                </a:solidFill>
              </a:rPr>
              <a:t>①确定状态</a:t>
            </a:r>
            <a:r>
              <a:rPr lang="en-US" altLang="zh-CN">
                <a:solidFill>
                  <a:schemeClr val="tx1"/>
                </a:solidFill>
              </a:rPr>
              <a:t> </a:t>
            </a:r>
            <a:r>
              <a:rPr lang="zh-CN" altLang="en-US">
                <a:solidFill>
                  <a:schemeClr val="tx1"/>
                </a:solidFill>
              </a:rPr>
              <a:t>（</a:t>
            </a:r>
            <a:r>
              <a:rPr lang="zh-CN" altLang="en-US">
                <a:solidFill>
                  <a:srgbClr val="FF0000"/>
                </a:solidFill>
              </a:rPr>
              <a:t>用数组当状态表，数组中存放的值的含义</a:t>
            </a:r>
            <a:r>
              <a:rPr lang="zh-CN" altLang="en-US">
                <a:solidFill>
                  <a:schemeClr val="tx1"/>
                </a:solidFill>
              </a:rPr>
              <a:t>）</a:t>
            </a:r>
            <a:endParaRPr lang="zh-CN" altLang="en-US">
              <a:solidFill>
                <a:schemeClr val="tx1"/>
              </a:solidFill>
            </a:endParaRPr>
          </a:p>
          <a:p>
            <a:r>
              <a:rPr lang="zh-CN" altLang="en-US">
                <a:solidFill>
                  <a:schemeClr val="tx1"/>
                </a:solidFill>
              </a:rPr>
              <a:t>②找到状态转移方程</a:t>
            </a:r>
            <a:r>
              <a:rPr lang="zh-CN" altLang="en-US">
                <a:solidFill>
                  <a:schemeClr val="tx1"/>
                </a:solidFill>
                <a:sym typeface="+mn-ea"/>
              </a:rPr>
              <a:t>（</a:t>
            </a:r>
            <a:r>
              <a:rPr lang="zh-CN" altLang="en-US">
                <a:solidFill>
                  <a:srgbClr val="FF0000"/>
                </a:solidFill>
                <a:sym typeface="+mn-ea"/>
              </a:rPr>
              <a:t>可以通过将问题抽象成树结构，然后可以直观了解子问题与父问题如何转移</a:t>
            </a:r>
            <a:r>
              <a:rPr lang="zh-CN" altLang="en-US">
                <a:sym typeface="+mn-ea"/>
              </a:rPr>
              <a:t>）</a:t>
            </a:r>
            <a:endParaRPr lang="zh-CN" altLang="en-US">
              <a:solidFill>
                <a:schemeClr val="tx1"/>
              </a:solidFill>
            </a:endParaRPr>
          </a:p>
          <a:p>
            <a:r>
              <a:rPr lang="zh-CN" altLang="en-US">
                <a:solidFill>
                  <a:schemeClr val="tx1"/>
                </a:solidFill>
              </a:rPr>
              <a:t>③确定边界，然后自底向上迭代。（</a:t>
            </a:r>
            <a:r>
              <a:rPr lang="zh-CN" altLang="en-US">
                <a:solidFill>
                  <a:srgbClr val="FF0000"/>
                </a:solidFill>
              </a:rPr>
              <a:t>类比分治法的递归出口，动态规划需要确定边界</a:t>
            </a:r>
            <a:r>
              <a:rPr lang="zh-CN" altLang="en-US">
                <a:solidFill>
                  <a:schemeClr val="tx1"/>
                </a:solidFill>
              </a:rPr>
              <a:t>）</a:t>
            </a:r>
            <a:endParaRPr lang="zh-CN" altLang="en-US">
              <a:solidFill>
                <a:schemeClr val="tx1"/>
              </a:solidFill>
            </a:endParaRPr>
          </a:p>
          <a:p>
            <a:r>
              <a:rPr lang="zh-CN" altLang="en-US">
                <a:solidFill>
                  <a:schemeClr val="tx1"/>
                </a:solidFill>
              </a:rPr>
              <a:t>④更新状态（注意顺序自底向上更新），获取结果</a:t>
            </a:r>
            <a:r>
              <a:rPr lang="en-US" altLang="zh-CN">
                <a:solidFill>
                  <a:schemeClr val="tx1"/>
                </a:solidFill>
              </a:rPr>
              <a:t> </a:t>
            </a:r>
            <a:r>
              <a:rPr lang="zh-CN" altLang="en-US">
                <a:solidFill>
                  <a:schemeClr val="tx1"/>
                </a:solidFill>
              </a:rPr>
              <a:t>（</a:t>
            </a:r>
            <a:r>
              <a:rPr lang="zh-CN" altLang="en-US">
                <a:solidFill>
                  <a:srgbClr val="FF0000"/>
                </a:solidFill>
              </a:rPr>
              <a:t>有的问题在更新完状态表之后不可能直接获得答案，需要遍历一遍获取答案</a:t>
            </a:r>
            <a:r>
              <a:rPr lang="zh-CN" altLang="en-US">
                <a:solidFill>
                  <a:schemeClr val="tx1"/>
                </a:solidFill>
              </a:rPr>
              <a:t>）</a:t>
            </a:r>
            <a:endParaRPr lang="zh-CN" altLang="en-US">
              <a:solidFill>
                <a:schemeClr val="tx1"/>
              </a:solidFill>
            </a:endParaRPr>
          </a:p>
          <a:p>
            <a:endParaRPr lang="zh-CN" altLang="en-US">
              <a:solidFill>
                <a:schemeClr val="tx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95605" y="1818005"/>
            <a:ext cx="861060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sym typeface="+mn-ea"/>
              </a:rPr>
              <a:t>背包称重</a:t>
            </a:r>
            <a:r>
              <a:rPr lang="en-US" altLang="zh-CN" sz="2200" dirty="0">
                <a:solidFill>
                  <a:srgbClr val="080808"/>
                </a:solidFill>
                <a:uFillTx/>
                <a:latin typeface="Times New Roman" panose="02020603050405020304" pitchFamily="18" charset="0"/>
                <a:sym typeface="+mn-ea"/>
              </a:rPr>
              <a:t>M = 10kg,</a:t>
            </a:r>
            <a:r>
              <a:rPr lang="zh-CN" altLang="en-US" sz="2200">
                <a:solidFill>
                  <a:srgbClr val="080808"/>
                </a:solidFill>
                <a:uFillTx/>
                <a:latin typeface="Times New Roman" panose="02020603050405020304" pitchFamily="18" charset="0"/>
                <a:sym typeface="+mn-ea"/>
              </a:rPr>
              <a:t>物品的重量</a:t>
            </a:r>
            <a:r>
              <a:rPr lang="en-US" altLang="zh-CN" sz="2200" dirty="0">
                <a:solidFill>
                  <a:srgbClr val="080808"/>
                </a:solidFill>
                <a:uFillTx/>
                <a:latin typeface="Times New Roman" panose="02020603050405020304" pitchFamily="18" charset="0"/>
                <a:sym typeface="+mn-ea"/>
              </a:rPr>
              <a:t>W</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sym typeface="+mn-ea"/>
              </a:rPr>
              <a:t> = {2,3,4,7},</a:t>
            </a:r>
            <a:r>
              <a:rPr lang="zh-CN" altLang="en-US" sz="2200">
                <a:solidFill>
                  <a:srgbClr val="080808"/>
                </a:solidFill>
                <a:uFillTx/>
                <a:latin typeface="Times New Roman" panose="02020603050405020304" pitchFamily="18" charset="0"/>
                <a:sym typeface="+mn-ea"/>
              </a:rPr>
              <a:t>价值为</a:t>
            </a:r>
            <a:r>
              <a:rPr lang="en-US" altLang="zh-CN" sz="2200" dirty="0">
                <a:solidFill>
                  <a:srgbClr val="080808"/>
                </a:solidFill>
                <a:uFillTx/>
                <a:latin typeface="Times New Roman" panose="02020603050405020304" pitchFamily="18" charset="0"/>
                <a:sym typeface="+mn-ea"/>
              </a:rPr>
              <a:t>C</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sym typeface="+mn-ea"/>
              </a:rPr>
              <a:t> = {1,3,5,9},</a:t>
            </a:r>
            <a:r>
              <a:rPr lang="zh-CN" altLang="en-US" sz="2200">
                <a:solidFill>
                  <a:srgbClr val="080808"/>
                </a:solidFill>
                <a:uFillTx/>
                <a:latin typeface="Times New Roman" panose="02020603050405020304" pitchFamily="18" charset="0"/>
                <a:sym typeface="+mn-ea"/>
              </a:rPr>
              <a:t>问最多能装价值多大（物品每次只能选择一次）？</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2" name="表格 1"/>
          <p:cNvGraphicFramePr>
            <a:graphicFrameLocks noGrp="1"/>
          </p:cNvGraphicFramePr>
          <p:nvPr/>
        </p:nvGraphicFramePr>
        <p:xfrm>
          <a:off x="2627784" y="2924944"/>
          <a:ext cx="3687445" cy="1066800"/>
        </p:xfrm>
        <a:graphic>
          <a:graphicData uri="http://schemas.openxmlformats.org/drawingml/2006/table">
            <a:tbl>
              <a:tblPr firstRow="1" firstCol="1" bandRow="1">
                <a:tableStyleId>{5940675A-B579-460E-94D1-54222C63F5DA}</a:tableStyleId>
              </a:tblPr>
              <a:tblGrid>
                <a:gridCol w="1167130"/>
                <a:gridCol w="1260475"/>
                <a:gridCol w="1259840"/>
              </a:tblGrid>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物品</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重量（</a:t>
                      </a:r>
                      <a:r>
                        <a:rPr lang="en-US" sz="1400" kern="100" dirty="0">
                          <a:solidFill>
                            <a:schemeClr val="tx1"/>
                          </a:solidFill>
                          <a:effectLst/>
                          <a:uFillTx/>
                          <a:latin typeface="Times New Roman" panose="02020603050405020304" pitchFamily="18" charset="0"/>
                          <a:ea typeface="宋体" panose="02010600030101010101" pitchFamily="2" charset="-122"/>
                        </a:rPr>
                        <a:t>kg</a:t>
                      </a:r>
                      <a:r>
                        <a:rPr lang="zh-CN" sz="1400" kern="100">
                          <a:solidFill>
                            <a:schemeClr val="tx1"/>
                          </a:solidFill>
                          <a:effectLst/>
                          <a:uFillTx/>
                          <a:latin typeface="Times New Roman" panose="02020603050405020304" pitchFamily="18" charset="0"/>
                          <a:ea typeface="宋体" panose="02010600030101010101" pitchFamily="2" charset="-122"/>
                        </a:rPr>
                        <a:t>）</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价值（万元）</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33350">
                <a:tc>
                  <a:txBody>
                    <a:bodyPr/>
                    <a:lstStyle/>
                    <a:p>
                      <a:pPr algn="ctr">
                        <a:spcAft>
                          <a:spcPts val="0"/>
                        </a:spcAft>
                      </a:pPr>
                      <a:r>
                        <a:rPr lang="zh-CN" sz="1400" kern="100">
                          <a:effectLst/>
                          <a:latin typeface="宋体" panose="02010600030101010101" pitchFamily="2" charset="-122"/>
                          <a:ea typeface="宋体" panose="02010600030101010101" pitchFamily="2" charset="-122"/>
                        </a:rPr>
                        <a:t>相机</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2</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1</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2090">
                <a:tc>
                  <a:txBody>
                    <a:bodyPr/>
                    <a:lstStyle/>
                    <a:p>
                      <a:pPr algn="ctr">
                        <a:spcAft>
                          <a:spcPts val="0"/>
                        </a:spcAft>
                      </a:pPr>
                      <a:r>
                        <a:rPr lang="zh-CN" sz="1400" kern="100">
                          <a:effectLst/>
                          <a:latin typeface="宋体" panose="02010600030101010101" pitchFamily="2" charset="-122"/>
                          <a:ea typeface="宋体" panose="02010600030101010101" pitchFamily="2" charset="-122"/>
                        </a:rPr>
                        <a:t>扫描仪</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笔记本电脑</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4</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5</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buNone/>
                      </a:pP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打印机</a:t>
                      </a: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buNone/>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buNone/>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5" name="Text Box 4"/>
          <p:cNvSpPr txBox="1">
            <a:spLocks noChangeArrowheads="1"/>
          </p:cNvSpPr>
          <p:nvPr/>
        </p:nvSpPr>
        <p:spPr bwMode="auto">
          <a:xfrm>
            <a:off x="410776" y="4581262"/>
            <a:ext cx="8352928"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uFillTx/>
                <a:latin typeface="Times New Roman" panose="02020603050405020304" pitchFamily="18" charset="0"/>
              </a:rPr>
              <a:t>解题思路：如果用暴力解法如何求解，能否将</a:t>
            </a:r>
            <a:r>
              <a:rPr lang="en-US" altLang="zh-CN" sz="2200" dirty="0">
                <a:solidFill>
                  <a:srgbClr val="080808"/>
                </a:solidFill>
                <a:uFillTx/>
                <a:latin typeface="Times New Roman" panose="02020603050405020304" pitchFamily="18" charset="0"/>
              </a:rPr>
              <a:t>0-1</a:t>
            </a:r>
            <a:r>
              <a:rPr lang="zh-CN" altLang="en-US" sz="2200" dirty="0">
                <a:solidFill>
                  <a:srgbClr val="080808"/>
                </a:solidFill>
                <a:uFillTx/>
                <a:latin typeface="Times New Roman" panose="02020603050405020304" pitchFamily="18" charset="0"/>
              </a:rPr>
              <a:t>背包问题抽象成一棵树？</a:t>
            </a:r>
            <a:endParaRPr lang="zh-CN" altLang="en-US" sz="2200" dirty="0">
              <a:solidFill>
                <a:srgbClr val="080808"/>
              </a:solidFill>
              <a:uFillTx/>
              <a:latin typeface="Times New Roman" panose="02020603050405020304" pitchFamily="18" charset="0"/>
            </a:endParaRPr>
          </a:p>
        </p:txBody>
      </p:sp>
      <p:sp>
        <p:nvSpPr>
          <p:cNvPr id="11" name="Text Box 6"/>
          <p:cNvSpPr txBox="1">
            <a:spLocks noChangeArrowheads="1"/>
          </p:cNvSpPr>
          <p:nvPr/>
        </p:nvSpPr>
        <p:spPr bwMode="auto">
          <a:xfrm>
            <a:off x="2771775" y="66929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5.2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动态规划法案例</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endParaRPr>
          </a:p>
        </p:txBody>
      </p:sp>
      <p:sp>
        <p:nvSpPr>
          <p:cNvPr id="3" name="文本框 2"/>
          <p:cNvSpPr txBox="1"/>
          <p:nvPr/>
        </p:nvSpPr>
        <p:spPr>
          <a:xfrm>
            <a:off x="410845" y="126492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5.2.1 </a:t>
            </a:r>
            <a:r>
              <a:rPr lang="zh-CN" altLang="en-US" sz="2400" b="1" kern="0" dirty="0">
                <a:uFillTx/>
                <a:latin typeface="Times New Roman" panose="02020603050405020304" pitchFamily="18" charset="0"/>
                <a:cs typeface="Times New Roman" panose="02020603050405020304" pitchFamily="18" charset="0"/>
                <a:sym typeface="+mn-ea"/>
              </a:rPr>
              <a:t>0-1背包问题</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a:spLocks noChangeArrowheads="1"/>
          </p:cNvSpPr>
          <p:nvPr/>
        </p:nvSpPr>
        <p:spPr bwMode="auto">
          <a:xfrm>
            <a:off x="3284221" y="3882073"/>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2" name="Rectangle 5"/>
          <p:cNvSpPr>
            <a:spLocks noChangeArrowheads="1"/>
          </p:cNvSpPr>
          <p:nvPr/>
        </p:nvSpPr>
        <p:spPr bwMode="auto">
          <a:xfrm>
            <a:off x="2747328" y="3882073"/>
            <a:ext cx="541338" cy="3619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问最多能装价值多大（物品每次只能选择一次）？</a:t>
            </a:r>
            <a:endParaRPr lang="zh-CN" altLang="en-US" sz="2200" dirty="0">
              <a:solidFill>
                <a:srgbClr val="080808"/>
              </a:solidFill>
              <a:uFillTx/>
              <a:latin typeface="Times New Roman" panose="02020603050405020304" pitchFamily="18" charset="0"/>
            </a:endParaRPr>
          </a:p>
        </p:txBody>
      </p:sp>
      <p:sp>
        <p:nvSpPr>
          <p:cNvPr id="12" name="矩形标注 11"/>
          <p:cNvSpPr/>
          <p:nvPr/>
        </p:nvSpPr>
        <p:spPr>
          <a:xfrm>
            <a:off x="-396240" y="5085080"/>
            <a:ext cx="1114425" cy="1373505"/>
          </a:xfrm>
          <a:prstGeom prst="wedgeRectCallout">
            <a:avLst>
              <a:gd name="adj1" fmla="val -77326"/>
              <a:gd name="adj2" fmla="val 48432"/>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更新至每一行，只考虑当前物品的用与不用，其他空余空间的价值从该物品上一行获得</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13" name="矩形 12"/>
          <p:cNvSpPr/>
          <p:nvPr/>
        </p:nvSpPr>
        <p:spPr>
          <a:xfrm>
            <a:off x="-7833995" y="5696585"/>
            <a:ext cx="7122795" cy="764540"/>
          </a:xfrm>
          <a:prstGeom prst="rect">
            <a:avLst/>
          </a:prstGeom>
          <a:noFill/>
          <a:ln w="28575" cap="flat" cmpd="sng" algn="ctr">
            <a:solidFill>
              <a:schemeClr val="accent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16" name="直接连接符 15"/>
          <p:cNvCxnSpPr/>
          <p:nvPr/>
        </p:nvCxnSpPr>
        <p:spPr>
          <a:xfrm>
            <a:off x="-7165340" y="4941570"/>
            <a:ext cx="7112000" cy="0"/>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3" name="Group 4"/>
          <p:cNvGrpSpPr>
            <a:grpSpLocks noChangeAspect="1"/>
          </p:cNvGrpSpPr>
          <p:nvPr/>
        </p:nvGrpSpPr>
        <p:grpSpPr bwMode="auto">
          <a:xfrm>
            <a:off x="1115378" y="3142933"/>
            <a:ext cx="7058025" cy="2219325"/>
            <a:chOff x="657" y="1461"/>
            <a:chExt cx="4446" cy="1398"/>
          </a:xfrm>
        </p:grpSpPr>
        <p:sp>
          <p:nvSpPr>
            <p:cNvPr id="7" name="AutoShape 3"/>
            <p:cNvSpPr>
              <a:spLocks noChangeAspect="1" noChangeArrowheads="1" noTextEdit="1"/>
            </p:cNvSpPr>
            <p:nvPr/>
          </p:nvSpPr>
          <p:spPr bwMode="auto">
            <a:xfrm>
              <a:off x="657" y="1461"/>
              <a:ext cx="4446" cy="1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Line 8"/>
            <p:cNvSpPr>
              <a:spLocks noChangeShapeType="1"/>
            </p:cNvSpPr>
            <p:nvPr/>
          </p:nvSpPr>
          <p:spPr bwMode="auto">
            <a:xfrm>
              <a:off x="100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4" name="Line 9"/>
            <p:cNvSpPr>
              <a:spLocks noChangeShapeType="1"/>
            </p:cNvSpPr>
            <p:nvPr/>
          </p:nvSpPr>
          <p:spPr bwMode="auto">
            <a:xfrm>
              <a:off x="1345"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5" name="Line 10"/>
            <p:cNvSpPr>
              <a:spLocks noChangeShapeType="1"/>
            </p:cNvSpPr>
            <p:nvPr/>
          </p:nvSpPr>
          <p:spPr bwMode="auto">
            <a:xfrm>
              <a:off x="168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7" name="Line 11"/>
            <p:cNvSpPr>
              <a:spLocks noChangeShapeType="1"/>
            </p:cNvSpPr>
            <p:nvPr/>
          </p:nvSpPr>
          <p:spPr bwMode="auto">
            <a:xfrm>
              <a:off x="202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8" name="Line 12"/>
            <p:cNvSpPr>
              <a:spLocks noChangeShapeType="1"/>
            </p:cNvSpPr>
            <p:nvPr/>
          </p:nvSpPr>
          <p:spPr bwMode="auto">
            <a:xfrm>
              <a:off x="236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9" name="Line 13"/>
            <p:cNvSpPr>
              <a:spLocks noChangeShapeType="1"/>
            </p:cNvSpPr>
            <p:nvPr/>
          </p:nvSpPr>
          <p:spPr bwMode="auto">
            <a:xfrm>
              <a:off x="270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0" name="Line 14"/>
            <p:cNvSpPr>
              <a:spLocks noChangeShapeType="1"/>
            </p:cNvSpPr>
            <p:nvPr/>
          </p:nvSpPr>
          <p:spPr bwMode="auto">
            <a:xfrm>
              <a:off x="3048"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1" name="Line 15"/>
            <p:cNvSpPr>
              <a:spLocks noChangeShapeType="1"/>
            </p:cNvSpPr>
            <p:nvPr/>
          </p:nvSpPr>
          <p:spPr bwMode="auto">
            <a:xfrm>
              <a:off x="3389"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2" name="Line 16"/>
            <p:cNvSpPr>
              <a:spLocks noChangeShapeType="1"/>
            </p:cNvSpPr>
            <p:nvPr/>
          </p:nvSpPr>
          <p:spPr bwMode="auto">
            <a:xfrm>
              <a:off x="373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17"/>
            <p:cNvSpPr>
              <a:spLocks noChangeShapeType="1"/>
            </p:cNvSpPr>
            <p:nvPr/>
          </p:nvSpPr>
          <p:spPr bwMode="auto">
            <a:xfrm>
              <a:off x="407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18"/>
            <p:cNvSpPr>
              <a:spLocks noChangeShapeType="1"/>
            </p:cNvSpPr>
            <p:nvPr/>
          </p:nvSpPr>
          <p:spPr bwMode="auto">
            <a:xfrm>
              <a:off x="441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19"/>
            <p:cNvSpPr>
              <a:spLocks noChangeShapeType="1"/>
            </p:cNvSpPr>
            <p:nvPr/>
          </p:nvSpPr>
          <p:spPr bwMode="auto">
            <a:xfrm>
              <a:off x="475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0"/>
            <p:cNvSpPr>
              <a:spLocks noChangeShapeType="1"/>
            </p:cNvSpPr>
            <p:nvPr/>
          </p:nvSpPr>
          <p:spPr bwMode="auto">
            <a:xfrm>
              <a:off x="660" y="1698"/>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1"/>
            <p:cNvSpPr>
              <a:spLocks noChangeShapeType="1"/>
            </p:cNvSpPr>
            <p:nvPr/>
          </p:nvSpPr>
          <p:spPr bwMode="auto">
            <a:xfrm>
              <a:off x="660" y="1925"/>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2"/>
            <p:cNvSpPr>
              <a:spLocks noChangeShapeType="1"/>
            </p:cNvSpPr>
            <p:nvPr/>
          </p:nvSpPr>
          <p:spPr bwMode="auto">
            <a:xfrm>
              <a:off x="660" y="2153"/>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3"/>
            <p:cNvSpPr>
              <a:spLocks noChangeShapeType="1"/>
            </p:cNvSpPr>
            <p:nvPr/>
          </p:nvSpPr>
          <p:spPr bwMode="auto">
            <a:xfrm>
              <a:off x="660" y="2381"/>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4"/>
            <p:cNvSpPr>
              <a:spLocks noChangeShapeType="1"/>
            </p:cNvSpPr>
            <p:nvPr/>
          </p:nvSpPr>
          <p:spPr bwMode="auto">
            <a:xfrm>
              <a:off x="660" y="2609"/>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5"/>
            <p:cNvSpPr>
              <a:spLocks noChangeShapeType="1"/>
            </p:cNvSpPr>
            <p:nvPr/>
          </p:nvSpPr>
          <p:spPr bwMode="auto">
            <a:xfrm>
              <a:off x="66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26"/>
            <p:cNvSpPr>
              <a:spLocks noChangeShapeType="1"/>
            </p:cNvSpPr>
            <p:nvPr/>
          </p:nvSpPr>
          <p:spPr bwMode="auto">
            <a:xfrm>
              <a:off x="5092"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27"/>
            <p:cNvSpPr>
              <a:spLocks noChangeShapeType="1"/>
            </p:cNvSpPr>
            <p:nvPr/>
          </p:nvSpPr>
          <p:spPr bwMode="auto">
            <a:xfrm>
              <a:off x="660" y="1470"/>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28"/>
            <p:cNvSpPr>
              <a:spLocks noChangeShapeType="1"/>
            </p:cNvSpPr>
            <p:nvPr/>
          </p:nvSpPr>
          <p:spPr bwMode="auto">
            <a:xfrm>
              <a:off x="660" y="2837"/>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Rectangle 29"/>
            <p:cNvSpPr>
              <a:spLocks noChangeArrowheads="1"/>
            </p:cNvSpPr>
            <p:nvPr/>
          </p:nvSpPr>
          <p:spPr bwMode="auto">
            <a:xfrm>
              <a:off x="734" y="1526"/>
              <a:ext cx="1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W</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6" name="Rectangle 30"/>
            <p:cNvSpPr>
              <a:spLocks noChangeArrowheads="1"/>
            </p:cNvSpPr>
            <p:nvPr/>
          </p:nvSpPr>
          <p:spPr bwMode="auto">
            <a:xfrm>
              <a:off x="836"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7" name="Rectangle 31"/>
            <p:cNvSpPr>
              <a:spLocks noChangeArrowheads="1"/>
            </p:cNvSpPr>
            <p:nvPr/>
          </p:nvSpPr>
          <p:spPr bwMode="auto">
            <a:xfrm>
              <a:off x="1050" y="1526"/>
              <a:ext cx="127"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8" name="Rectangle 32"/>
            <p:cNvSpPr>
              <a:spLocks noChangeArrowheads="1"/>
            </p:cNvSpPr>
            <p:nvPr/>
          </p:nvSpPr>
          <p:spPr bwMode="auto">
            <a:xfrm>
              <a:off x="1129"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9" name="Rectangle 33"/>
            <p:cNvSpPr>
              <a:spLocks noChangeArrowheads="1"/>
            </p:cNvSpPr>
            <p:nvPr/>
          </p:nvSpPr>
          <p:spPr bwMode="auto">
            <a:xfrm>
              <a:off x="1391"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0" name="Rectangle 34"/>
            <p:cNvSpPr>
              <a:spLocks noChangeArrowheads="1"/>
            </p:cNvSpPr>
            <p:nvPr/>
          </p:nvSpPr>
          <p:spPr bwMode="auto">
            <a:xfrm>
              <a:off x="1445"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1" name="Rectangle 35"/>
            <p:cNvSpPr>
              <a:spLocks noChangeArrowheads="1"/>
            </p:cNvSpPr>
            <p:nvPr/>
          </p:nvSpPr>
          <p:spPr bwMode="auto">
            <a:xfrm>
              <a:off x="173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2" name="Rectangle 36"/>
            <p:cNvSpPr>
              <a:spLocks noChangeArrowheads="1"/>
            </p:cNvSpPr>
            <p:nvPr/>
          </p:nvSpPr>
          <p:spPr bwMode="auto">
            <a:xfrm>
              <a:off x="178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37"/>
            <p:cNvSpPr>
              <a:spLocks noChangeArrowheads="1"/>
            </p:cNvSpPr>
            <p:nvPr/>
          </p:nvSpPr>
          <p:spPr bwMode="auto">
            <a:xfrm>
              <a:off x="207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38"/>
            <p:cNvSpPr>
              <a:spLocks noChangeArrowheads="1"/>
            </p:cNvSpPr>
            <p:nvPr/>
          </p:nvSpPr>
          <p:spPr bwMode="auto">
            <a:xfrm>
              <a:off x="2156"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39"/>
            <p:cNvSpPr>
              <a:spLocks noChangeArrowheads="1"/>
            </p:cNvSpPr>
            <p:nvPr/>
          </p:nvSpPr>
          <p:spPr bwMode="auto">
            <a:xfrm>
              <a:off x="2413"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0"/>
            <p:cNvSpPr>
              <a:spLocks noChangeArrowheads="1"/>
            </p:cNvSpPr>
            <p:nvPr/>
          </p:nvSpPr>
          <p:spPr bwMode="auto">
            <a:xfrm>
              <a:off x="2497"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1"/>
            <p:cNvSpPr>
              <a:spLocks noChangeArrowheads="1"/>
            </p:cNvSpPr>
            <p:nvPr/>
          </p:nvSpPr>
          <p:spPr bwMode="auto">
            <a:xfrm>
              <a:off x="275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2"/>
            <p:cNvSpPr>
              <a:spLocks noChangeArrowheads="1"/>
            </p:cNvSpPr>
            <p:nvPr/>
          </p:nvSpPr>
          <p:spPr bwMode="auto">
            <a:xfrm>
              <a:off x="2838"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3"/>
            <p:cNvSpPr>
              <a:spLocks noChangeArrowheads="1"/>
            </p:cNvSpPr>
            <p:nvPr/>
          </p:nvSpPr>
          <p:spPr bwMode="auto">
            <a:xfrm>
              <a:off x="309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4"/>
            <p:cNvSpPr>
              <a:spLocks noChangeArrowheads="1"/>
            </p:cNvSpPr>
            <p:nvPr/>
          </p:nvSpPr>
          <p:spPr bwMode="auto">
            <a:xfrm>
              <a:off x="3148"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5"/>
            <p:cNvSpPr>
              <a:spLocks noChangeArrowheads="1"/>
            </p:cNvSpPr>
            <p:nvPr/>
          </p:nvSpPr>
          <p:spPr bwMode="auto">
            <a:xfrm>
              <a:off x="3435"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46"/>
            <p:cNvSpPr>
              <a:spLocks noChangeArrowheads="1"/>
            </p:cNvSpPr>
            <p:nvPr/>
          </p:nvSpPr>
          <p:spPr bwMode="auto">
            <a:xfrm>
              <a:off x="3489"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47"/>
            <p:cNvSpPr>
              <a:spLocks noChangeArrowheads="1"/>
            </p:cNvSpPr>
            <p:nvPr/>
          </p:nvSpPr>
          <p:spPr bwMode="auto">
            <a:xfrm>
              <a:off x="3775" y="1526"/>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4" name="Rectangle 48"/>
            <p:cNvSpPr>
              <a:spLocks noChangeArrowheads="1"/>
            </p:cNvSpPr>
            <p:nvPr/>
          </p:nvSpPr>
          <p:spPr bwMode="auto">
            <a:xfrm>
              <a:off x="383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5" name="Rectangle 49"/>
            <p:cNvSpPr>
              <a:spLocks noChangeArrowheads="1"/>
            </p:cNvSpPr>
            <p:nvPr/>
          </p:nvSpPr>
          <p:spPr bwMode="auto">
            <a:xfrm>
              <a:off x="4116"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6" name="Rectangle 50"/>
            <p:cNvSpPr>
              <a:spLocks noChangeArrowheads="1"/>
            </p:cNvSpPr>
            <p:nvPr/>
          </p:nvSpPr>
          <p:spPr bwMode="auto">
            <a:xfrm>
              <a:off x="417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7" name="Rectangle 51"/>
            <p:cNvSpPr>
              <a:spLocks noChangeArrowheads="1"/>
            </p:cNvSpPr>
            <p:nvPr/>
          </p:nvSpPr>
          <p:spPr bwMode="auto">
            <a:xfrm>
              <a:off x="4457"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8" name="Rectangle 52"/>
            <p:cNvSpPr>
              <a:spLocks noChangeArrowheads="1"/>
            </p:cNvSpPr>
            <p:nvPr/>
          </p:nvSpPr>
          <p:spPr bwMode="auto">
            <a:xfrm>
              <a:off x="4511"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9" name="Rectangle 53"/>
            <p:cNvSpPr>
              <a:spLocks noChangeArrowheads="1"/>
            </p:cNvSpPr>
            <p:nvPr/>
          </p:nvSpPr>
          <p:spPr bwMode="auto">
            <a:xfrm>
              <a:off x="4797"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0" name="Rectangle 54"/>
            <p:cNvSpPr>
              <a:spLocks noChangeArrowheads="1"/>
            </p:cNvSpPr>
            <p:nvPr/>
          </p:nvSpPr>
          <p:spPr bwMode="auto">
            <a:xfrm>
              <a:off x="490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1" name="Rectangle 55"/>
            <p:cNvSpPr>
              <a:spLocks noChangeArrowheads="1"/>
            </p:cNvSpPr>
            <p:nvPr/>
          </p:nvSpPr>
          <p:spPr bwMode="auto">
            <a:xfrm>
              <a:off x="710" y="1752"/>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2" name="Rectangle 56"/>
            <p:cNvSpPr>
              <a:spLocks noChangeArrowheads="1"/>
            </p:cNvSpPr>
            <p:nvPr/>
          </p:nvSpPr>
          <p:spPr bwMode="auto">
            <a:xfrm>
              <a:off x="1050" y="1752"/>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68"/>
            <p:cNvSpPr>
              <a:spLocks noChangeArrowheads="1"/>
            </p:cNvSpPr>
            <p:nvPr/>
          </p:nvSpPr>
          <p:spPr bwMode="auto">
            <a:xfrm>
              <a:off x="710"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69"/>
            <p:cNvSpPr>
              <a:spLocks noChangeArrowheads="1"/>
            </p:cNvSpPr>
            <p:nvPr/>
          </p:nvSpPr>
          <p:spPr bwMode="auto">
            <a:xfrm>
              <a:off x="1050"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81"/>
            <p:cNvSpPr>
              <a:spLocks noChangeArrowheads="1"/>
            </p:cNvSpPr>
            <p:nvPr/>
          </p:nvSpPr>
          <p:spPr bwMode="auto">
            <a:xfrm>
              <a:off x="710"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8" name="Rectangle 82"/>
            <p:cNvSpPr>
              <a:spLocks noChangeArrowheads="1"/>
            </p:cNvSpPr>
            <p:nvPr/>
          </p:nvSpPr>
          <p:spPr bwMode="auto">
            <a:xfrm>
              <a:off x="1050"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94"/>
            <p:cNvSpPr>
              <a:spLocks noChangeArrowheads="1"/>
            </p:cNvSpPr>
            <p:nvPr/>
          </p:nvSpPr>
          <p:spPr bwMode="auto">
            <a:xfrm>
              <a:off x="710"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1" name="Rectangle 95"/>
            <p:cNvSpPr>
              <a:spLocks noChangeArrowheads="1"/>
            </p:cNvSpPr>
            <p:nvPr/>
          </p:nvSpPr>
          <p:spPr bwMode="auto">
            <a:xfrm>
              <a:off x="1050"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3" name="Rectangle 107"/>
            <p:cNvSpPr>
              <a:spLocks noChangeArrowheads="1"/>
            </p:cNvSpPr>
            <p:nvPr/>
          </p:nvSpPr>
          <p:spPr bwMode="auto">
            <a:xfrm>
              <a:off x="710"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4" name="Rectangle 108"/>
            <p:cNvSpPr>
              <a:spLocks noChangeArrowheads="1"/>
            </p:cNvSpPr>
            <p:nvPr/>
          </p:nvSpPr>
          <p:spPr bwMode="auto">
            <a:xfrm>
              <a:off x="1050"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2" name="Rectangle 57"/>
          <p:cNvSpPr>
            <a:spLocks noChangeArrowheads="1"/>
          </p:cNvSpPr>
          <p:nvPr/>
        </p:nvSpPr>
        <p:spPr bwMode="auto">
          <a:xfrm>
            <a:off x="228060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5" name="Rectangle 58"/>
          <p:cNvSpPr>
            <a:spLocks noChangeArrowheads="1"/>
          </p:cNvSpPr>
          <p:nvPr/>
        </p:nvSpPr>
        <p:spPr bwMode="auto">
          <a:xfrm>
            <a:off x="28219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6" name="Rectangle 59"/>
          <p:cNvSpPr>
            <a:spLocks noChangeArrowheads="1"/>
          </p:cNvSpPr>
          <p:nvPr/>
        </p:nvSpPr>
        <p:spPr bwMode="auto">
          <a:xfrm>
            <a:off x="336169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7" name="Rectangle 60"/>
          <p:cNvSpPr>
            <a:spLocks noChangeArrowheads="1"/>
          </p:cNvSpPr>
          <p:nvPr/>
        </p:nvSpPr>
        <p:spPr bwMode="auto">
          <a:xfrm>
            <a:off x="39030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8" name="Rectangle 61"/>
          <p:cNvSpPr>
            <a:spLocks noChangeArrowheads="1"/>
          </p:cNvSpPr>
          <p:nvPr/>
        </p:nvSpPr>
        <p:spPr bwMode="auto">
          <a:xfrm>
            <a:off x="444436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9" name="Rectangle 62"/>
          <p:cNvSpPr>
            <a:spLocks noChangeArrowheads="1"/>
          </p:cNvSpPr>
          <p:nvPr/>
        </p:nvSpPr>
        <p:spPr bwMode="auto">
          <a:xfrm>
            <a:off x="498411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0" name="Rectangle 63"/>
          <p:cNvSpPr>
            <a:spLocks noChangeArrowheads="1"/>
          </p:cNvSpPr>
          <p:nvPr/>
        </p:nvSpPr>
        <p:spPr bwMode="auto">
          <a:xfrm>
            <a:off x="552545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1" name="Rectangle 64"/>
          <p:cNvSpPr>
            <a:spLocks noChangeArrowheads="1"/>
          </p:cNvSpPr>
          <p:nvPr/>
        </p:nvSpPr>
        <p:spPr bwMode="auto">
          <a:xfrm>
            <a:off x="6065203" y="360489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2" name="Rectangle 65"/>
          <p:cNvSpPr>
            <a:spLocks noChangeArrowheads="1"/>
          </p:cNvSpPr>
          <p:nvPr/>
        </p:nvSpPr>
        <p:spPr bwMode="auto">
          <a:xfrm>
            <a:off x="66065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3" name="Rectangle 66"/>
          <p:cNvSpPr>
            <a:spLocks noChangeArrowheads="1"/>
          </p:cNvSpPr>
          <p:nvPr/>
        </p:nvSpPr>
        <p:spPr bwMode="auto">
          <a:xfrm>
            <a:off x="714787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4" name="Rectangle 67"/>
          <p:cNvSpPr>
            <a:spLocks noChangeArrowheads="1"/>
          </p:cNvSpPr>
          <p:nvPr/>
        </p:nvSpPr>
        <p:spPr bwMode="auto">
          <a:xfrm>
            <a:off x="76876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5" name="Rectangle 70"/>
          <p:cNvSpPr>
            <a:spLocks noChangeArrowheads="1"/>
          </p:cNvSpPr>
          <p:nvPr/>
        </p:nvSpPr>
        <p:spPr bwMode="auto">
          <a:xfrm>
            <a:off x="228060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6" name="Rectangle 83"/>
          <p:cNvSpPr>
            <a:spLocks noChangeArrowheads="1"/>
          </p:cNvSpPr>
          <p:nvPr/>
        </p:nvSpPr>
        <p:spPr bwMode="auto">
          <a:xfrm>
            <a:off x="2280603"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7" name="Rectangle 96"/>
          <p:cNvSpPr>
            <a:spLocks noChangeArrowheads="1"/>
          </p:cNvSpPr>
          <p:nvPr/>
        </p:nvSpPr>
        <p:spPr bwMode="auto">
          <a:xfrm>
            <a:off x="2280603"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8" name="Rectangle 109"/>
          <p:cNvSpPr>
            <a:spLocks noChangeArrowheads="1"/>
          </p:cNvSpPr>
          <p:nvPr/>
        </p:nvSpPr>
        <p:spPr bwMode="auto">
          <a:xfrm>
            <a:off x="2280603"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9" name="文本框 138"/>
          <p:cNvSpPr txBox="1"/>
          <p:nvPr/>
        </p:nvSpPr>
        <p:spPr>
          <a:xfrm>
            <a:off x="755650" y="5805170"/>
            <a:ext cx="2515235" cy="92202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j&lt;w[i]</a:t>
            </a:r>
            <a:r>
              <a:rPr lang="zh-CN" altLang="en-US">
                <a:latin typeface="Times New Roman" panose="02020603050405020304" pitchFamily="18" charset="0"/>
                <a:cs typeface="Times New Roman" panose="02020603050405020304" pitchFamily="18" charset="0"/>
              </a:rPr>
              <a:t>表明装不下该物品，则不考虑该物品的最大值</a:t>
            </a:r>
            <a:endParaRPr lang="zh-CN" altLang="en-US">
              <a:latin typeface="Times New Roman" panose="02020603050405020304" pitchFamily="18" charset="0"/>
              <a:cs typeface="Times New Roman" panose="02020603050405020304" pitchFamily="18" charset="0"/>
            </a:endParaRPr>
          </a:p>
        </p:txBody>
      </p:sp>
      <p:sp>
        <p:nvSpPr>
          <p:cNvPr id="143" name="Rectangle 71"/>
          <p:cNvSpPr>
            <a:spLocks noChangeArrowheads="1"/>
          </p:cNvSpPr>
          <p:nvPr/>
        </p:nvSpPr>
        <p:spPr bwMode="auto">
          <a:xfrm>
            <a:off x="28219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4" name="文本框 63"/>
          <p:cNvSpPr txBox="1"/>
          <p:nvPr/>
        </p:nvSpPr>
        <p:spPr>
          <a:xfrm>
            <a:off x="3825875" y="5445125"/>
            <a:ext cx="4024630" cy="1971675"/>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j&gt;=w[i]</a:t>
            </a:r>
            <a:r>
              <a:rPr lang="zh-CN" altLang="en-US">
                <a:latin typeface="Times New Roman" panose="02020603050405020304" pitchFamily="18" charset="0"/>
                <a:cs typeface="Times New Roman" panose="02020603050405020304" pitchFamily="18" charset="0"/>
              </a:rPr>
              <a:t>表明可以装该物品，那么就可以考虑两个情况，①不考虑该物品的价值，②考虑该物品的价值，加上剩下口昂见存放之前物品存放的价值。两种情况选择最大</a:t>
            </a:r>
            <a:endParaRPr lang="zh-CN" altLang="en-US">
              <a:latin typeface="Times New Roman" panose="02020603050405020304" pitchFamily="18" charset="0"/>
              <a:cs typeface="Times New Roman" panose="02020603050405020304" pitchFamily="18" charset="0"/>
            </a:endParaRPr>
          </a:p>
        </p:txBody>
      </p:sp>
      <p:sp>
        <p:nvSpPr>
          <p:cNvPr id="65" name="矩形标注 64"/>
          <p:cNvSpPr/>
          <p:nvPr/>
        </p:nvSpPr>
        <p:spPr>
          <a:xfrm>
            <a:off x="3275330" y="220472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6" name="矩形标注 65"/>
          <p:cNvSpPr/>
          <p:nvPr/>
        </p:nvSpPr>
        <p:spPr>
          <a:xfrm>
            <a:off x="2598420" y="2059940"/>
            <a:ext cx="1308100" cy="758190"/>
          </a:xfrm>
          <a:prstGeom prst="wedgeRectCallout">
            <a:avLst>
              <a:gd name="adj1" fmla="val -63932"/>
              <a:gd name="adj2" fmla="val 167839"/>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考虑该物品，剩余空间为</a:t>
            </a:r>
            <a:r>
              <a:rPr kumimoji="0" lang="en-US" altLang="zh-CN" sz="1200" b="1" u="none" strike="noStrike" cap="none" normalizeH="0" baseline="0">
                <a:ln>
                  <a:noFill/>
                </a:ln>
                <a:solidFill>
                  <a:schemeClr val="tx1"/>
                </a:solidFill>
                <a:effectLst/>
                <a:latin typeface="宋体" panose="02010600030101010101" pitchFamily="2" charset="-122"/>
              </a:rPr>
              <a:t>j-w[i],</a:t>
            </a:r>
            <a:r>
              <a:rPr kumimoji="0" lang="zh-CN" altLang="en-US" sz="1200" b="1" u="none" strike="noStrike" cap="none" normalizeH="0" baseline="0">
                <a:ln>
                  <a:noFill/>
                </a:ln>
                <a:solidFill>
                  <a:schemeClr val="tx1"/>
                </a:solidFill>
                <a:effectLst/>
                <a:latin typeface="宋体" panose="02010600030101010101" pitchFamily="2" charset="-122"/>
              </a:rPr>
              <a:t>它能盛放最大价值为。</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7" name="矩形标注 66"/>
          <p:cNvSpPr/>
          <p:nvPr/>
        </p:nvSpPr>
        <p:spPr>
          <a:xfrm>
            <a:off x="3851910" y="220472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8" name="Rectangle 72"/>
          <p:cNvSpPr>
            <a:spLocks noChangeArrowheads="1"/>
          </p:cNvSpPr>
          <p:nvPr/>
        </p:nvSpPr>
        <p:spPr bwMode="auto">
          <a:xfrm>
            <a:off x="336169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73"/>
          <p:cNvSpPr>
            <a:spLocks noChangeArrowheads="1"/>
          </p:cNvSpPr>
          <p:nvPr/>
        </p:nvSpPr>
        <p:spPr bwMode="auto">
          <a:xfrm>
            <a:off x="39030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 name="Rectangle 74"/>
          <p:cNvSpPr>
            <a:spLocks noChangeArrowheads="1"/>
          </p:cNvSpPr>
          <p:nvPr/>
        </p:nvSpPr>
        <p:spPr bwMode="auto">
          <a:xfrm>
            <a:off x="444436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3" name="Rectangle 75"/>
          <p:cNvSpPr>
            <a:spLocks noChangeArrowheads="1"/>
          </p:cNvSpPr>
          <p:nvPr/>
        </p:nvSpPr>
        <p:spPr bwMode="auto">
          <a:xfrm>
            <a:off x="498411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9" name="Rectangle 76"/>
          <p:cNvSpPr>
            <a:spLocks noChangeArrowheads="1"/>
          </p:cNvSpPr>
          <p:nvPr/>
        </p:nvSpPr>
        <p:spPr bwMode="auto">
          <a:xfrm>
            <a:off x="552545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77"/>
          <p:cNvSpPr>
            <a:spLocks noChangeArrowheads="1"/>
          </p:cNvSpPr>
          <p:nvPr/>
        </p:nvSpPr>
        <p:spPr bwMode="auto">
          <a:xfrm>
            <a:off x="6065203" y="396684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1" name="Rectangle 78"/>
          <p:cNvSpPr>
            <a:spLocks noChangeArrowheads="1"/>
          </p:cNvSpPr>
          <p:nvPr/>
        </p:nvSpPr>
        <p:spPr bwMode="auto">
          <a:xfrm>
            <a:off x="66065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9"/>
          <p:cNvSpPr>
            <a:spLocks noChangeArrowheads="1"/>
          </p:cNvSpPr>
          <p:nvPr/>
        </p:nvSpPr>
        <p:spPr bwMode="auto">
          <a:xfrm>
            <a:off x="714787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80"/>
          <p:cNvSpPr>
            <a:spLocks noChangeArrowheads="1"/>
          </p:cNvSpPr>
          <p:nvPr/>
        </p:nvSpPr>
        <p:spPr bwMode="auto">
          <a:xfrm>
            <a:off x="76876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84"/>
          <p:cNvSpPr>
            <a:spLocks noChangeArrowheads="1"/>
          </p:cNvSpPr>
          <p:nvPr/>
        </p:nvSpPr>
        <p:spPr bwMode="auto">
          <a:xfrm>
            <a:off x="282194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85"/>
          <p:cNvSpPr>
            <a:spLocks noChangeArrowheads="1"/>
          </p:cNvSpPr>
          <p:nvPr/>
        </p:nvSpPr>
        <p:spPr bwMode="auto">
          <a:xfrm>
            <a:off x="336169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anim calcmode="lin" valueType="num">
                                      <p:cBhvr additive="base">
                                        <p:cTn id="11" dur="500" fill="hold"/>
                                        <p:tgtEl>
                                          <p:spTgt spid="13"/>
                                        </p:tgtEl>
                                        <p:attrNameLst>
                                          <p:attrName>ppt_x</p:attrName>
                                        </p:attrNameLst>
                                      </p:cBhvr>
                                      <p:tavLst>
                                        <p:tav tm="0">
                                          <p:val>
                                            <p:strVal val="#ppt_x"/>
                                          </p:val>
                                        </p:tav>
                                        <p:tav tm="100000">
                                          <p:val>
                                            <p:strVal val="#ppt_x"/>
                                          </p:val>
                                        </p:tav>
                                      </p:tavLst>
                                    </p:anim>
                                    <p:anim calcmode="lin" valueType="num">
                                      <p:cBhvr additive="base">
                                        <p:cTn id="12" dur="500" fill="hold"/>
                                        <p:tgtEl>
                                          <p:spTgt spid="13"/>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anim calcmode="lin" valueType="num">
                                      <p:cBhvr additive="base">
                                        <p:cTn id="15" dur="500" fill="hold"/>
                                        <p:tgtEl>
                                          <p:spTgt spid="16"/>
                                        </p:tgtEl>
                                        <p:attrNameLst>
                                          <p:attrName>ppt_x</p:attrName>
                                        </p:attrNameLst>
                                      </p:cBhvr>
                                      <p:tavLst>
                                        <p:tav tm="0">
                                          <p:val>
                                            <p:strVal val="#ppt_x"/>
                                          </p:val>
                                        </p:tav>
                                        <p:tav tm="100000">
                                          <p:val>
                                            <p:strVal val="#ppt_x"/>
                                          </p:val>
                                        </p:tav>
                                      </p:tavLst>
                                    </p:anim>
                                    <p:anim calcmode="lin" valueType="num">
                                      <p:cBhvr additive="base">
                                        <p:cTn id="16"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3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3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3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3" nodeType="clickEffect">
                                  <p:stCondLst>
                                    <p:cond delay="0"/>
                                  </p:stCondLst>
                                  <p:childTnLst>
                                    <p:set>
                                      <p:cBhvr>
                                        <p:cTn id="52" dur="1" fill="hold">
                                          <p:stCondLst>
                                            <p:cond delay="0"/>
                                          </p:stCondLst>
                                        </p:cTn>
                                        <p:tgtEl>
                                          <p:spTgt spid="142"/>
                                        </p:tgtEl>
                                        <p:attrNameLst>
                                          <p:attrName>style.visibility</p:attrName>
                                        </p:attrNameLst>
                                      </p:cBhvr>
                                      <p:to>
                                        <p:strVal val="visible"/>
                                      </p:to>
                                    </p:set>
                                  </p:childTnLst>
                                </p:cTn>
                              </p:par>
                            </p:childTnLst>
                          </p:cTn>
                        </p:par>
                        <p:par>
                          <p:cTn id="53" fill="hold">
                            <p:stCondLst>
                              <p:cond delay="0"/>
                            </p:stCondLst>
                            <p:childTnLst>
                              <p:par>
                                <p:cTn id="54" presetID="35" presetClass="emph" presetSubtype="0" fill="hold" grpId="0" nodeType="afterEffect">
                                  <p:stCondLst>
                                    <p:cond delay="0"/>
                                  </p:stCondLst>
                                  <p:childTnLst>
                                    <p:anim calcmode="discrete" valueType="str">
                                      <p:cBhvr>
                                        <p:cTn id="55" dur="1000" fill="hold"/>
                                        <p:tgtEl>
                                          <p:spTgt spid="142"/>
                                        </p:tgtEl>
                                        <p:attrNameLst>
                                          <p:attrName>style.visibility</p:attrName>
                                        </p:attrNameLst>
                                      </p:cBhvr>
                                      <p:tavLst>
                                        <p:tav tm="0">
                                          <p:val>
                                            <p:strVal val="hidden"/>
                                          </p:val>
                                        </p:tav>
                                        <p:tav tm="50000">
                                          <p:val>
                                            <p:strVal val="visible"/>
                                          </p:val>
                                        </p:tav>
                                      </p:tavLst>
                                    </p:anim>
                                  </p:childTnLst>
                                </p:cTn>
                              </p:par>
                            </p:childTnLst>
                          </p:cTn>
                        </p:par>
                        <p:par>
                          <p:cTn id="56" fill="hold">
                            <p:stCondLst>
                              <p:cond delay="1000"/>
                            </p:stCondLst>
                            <p:childTnLst>
                              <p:par>
                                <p:cTn id="57" presetID="35" presetClass="emph" presetSubtype="0" fill="hold" grpId="2" nodeType="afterEffect">
                                  <p:stCondLst>
                                    <p:cond delay="0"/>
                                  </p:stCondLst>
                                  <p:childTnLst>
                                    <p:anim calcmode="discrete" valueType="str">
                                      <p:cBhvr>
                                        <p:cTn id="5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fill="hold" grpId="0" nodeType="clickEffect">
                                  <p:stCondLst>
                                    <p:cond delay="0"/>
                                  </p:stCondLst>
                                  <p:childTnLst>
                                    <p:set>
                                      <p:cBhvr>
                                        <p:cTn id="62" dur="1" fill="hold">
                                          <p:stCondLst>
                                            <p:cond delay="0"/>
                                          </p:stCondLst>
                                        </p:cTn>
                                        <p:tgtEl>
                                          <p:spTgt spid="139"/>
                                        </p:tgtEl>
                                        <p:attrNameLst>
                                          <p:attrName>style.visibility</p:attrName>
                                        </p:attrNameLst>
                                      </p:cBhvr>
                                      <p:to>
                                        <p:strVal val="visible"/>
                                      </p:to>
                                    </p:set>
                                    <p:anim calcmode="lin" valueType="num">
                                      <p:cBhvr additive="base">
                                        <p:cTn id="63" dur="500" fill="hold"/>
                                        <p:tgtEl>
                                          <p:spTgt spid="139"/>
                                        </p:tgtEl>
                                        <p:attrNameLst>
                                          <p:attrName>ppt_x</p:attrName>
                                        </p:attrNameLst>
                                      </p:cBhvr>
                                      <p:tavLst>
                                        <p:tav tm="0">
                                          <p:val>
                                            <p:strVal val="#ppt_x"/>
                                          </p:val>
                                        </p:tav>
                                        <p:tav tm="100000">
                                          <p:val>
                                            <p:strVal val="#ppt_x"/>
                                          </p:val>
                                        </p:tav>
                                      </p:tavLst>
                                    </p:anim>
                                    <p:anim calcmode="lin" valueType="num">
                                      <p:cBhvr additive="base">
                                        <p:cTn id="64" dur="500" fill="hold"/>
                                        <p:tgtEl>
                                          <p:spTgt spid="139"/>
                                        </p:tgtEl>
                                        <p:attrNameLst>
                                          <p:attrName>ppt_y</p:attrName>
                                        </p:attrNameLst>
                                      </p:cBhvr>
                                      <p:tavLst>
                                        <p:tav tm="0">
                                          <p:val>
                                            <p:strVal val="1+#ppt_h/2"/>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2" presetClass="entr" presetSubtype="4" fill="hold" grpId="0" nodeType="clickEffect">
                                  <p:stCondLst>
                                    <p:cond delay="0"/>
                                  </p:stCondLst>
                                  <p:childTnLst>
                                    <p:set>
                                      <p:cBhvr>
                                        <p:cTn id="68" dur="1" fill="hold">
                                          <p:stCondLst>
                                            <p:cond delay="0"/>
                                          </p:stCondLst>
                                        </p:cTn>
                                        <p:tgtEl>
                                          <p:spTgt spid="65"/>
                                        </p:tgtEl>
                                        <p:attrNameLst>
                                          <p:attrName>style.visibility</p:attrName>
                                        </p:attrNameLst>
                                      </p:cBhvr>
                                      <p:to>
                                        <p:strVal val="visible"/>
                                      </p:to>
                                    </p:set>
                                    <p:anim calcmode="lin" valueType="num">
                                      <p:cBhvr additive="base">
                                        <p:cTn id="69" dur="500" fill="hold"/>
                                        <p:tgtEl>
                                          <p:spTgt spid="65"/>
                                        </p:tgtEl>
                                        <p:attrNameLst>
                                          <p:attrName>ppt_x</p:attrName>
                                        </p:attrNameLst>
                                      </p:cBhvr>
                                      <p:tavLst>
                                        <p:tav tm="0">
                                          <p:val>
                                            <p:strVal val="#ppt_x"/>
                                          </p:val>
                                        </p:tav>
                                        <p:tav tm="100000">
                                          <p:val>
                                            <p:strVal val="#ppt_x"/>
                                          </p:val>
                                        </p:tav>
                                      </p:tavLst>
                                    </p:anim>
                                    <p:anim calcmode="lin" valueType="num">
                                      <p:cBhvr additive="base">
                                        <p:cTn id="70" dur="500" fill="hold"/>
                                        <p:tgtEl>
                                          <p:spTgt spid="65"/>
                                        </p:tgtEl>
                                        <p:attrNameLst>
                                          <p:attrName>ppt_y</p:attrName>
                                        </p:attrNameLst>
                                      </p:cBhvr>
                                      <p:tavLst>
                                        <p:tav tm="0">
                                          <p:val>
                                            <p:strVal val="1+#ppt_h/2"/>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65"/>
                                        </p:tgtEl>
                                        <p:attrNameLst>
                                          <p:attrName>style.visibility</p:attrName>
                                        </p:attrNameLst>
                                      </p:cBhvr>
                                      <p:to>
                                        <p:strVal val="hidden"/>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143"/>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4" nodeType="clickEffect">
                                  <p:stCondLst>
                                    <p:cond delay="0"/>
                                  </p:stCondLst>
                                  <p:childTnLst>
                                    <p:set>
                                      <p:cBhvr>
                                        <p:cTn id="82" dur="1" fill="hold">
                                          <p:stCondLst>
                                            <p:cond delay="0"/>
                                          </p:stCondLst>
                                        </p:cTn>
                                        <p:tgtEl>
                                          <p:spTgt spid="142"/>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8"/>
                                        </p:tgtEl>
                                        <p:attrNameLst>
                                          <p:attrName>style.visibility</p:attrName>
                                        </p:attrNameLst>
                                      </p:cBhvr>
                                      <p:to>
                                        <p:strVal val="visible"/>
                                      </p:to>
                                    </p:set>
                                  </p:childTnLst>
                                </p:cTn>
                              </p:par>
                            </p:childTnLst>
                          </p:cTn>
                        </p:par>
                        <p:par>
                          <p:cTn id="87" fill="hold">
                            <p:stCondLst>
                              <p:cond delay="0"/>
                            </p:stCondLst>
                            <p:childTnLst>
                              <p:par>
                                <p:cTn id="88" presetID="35" presetClass="emph" presetSubtype="0" fill="hold" grpId="2" nodeType="afterEffect">
                                  <p:stCondLst>
                                    <p:cond delay="0"/>
                                  </p:stCondLst>
                                  <p:childTnLst>
                                    <p:anim calcmode="discrete" valueType="str">
                                      <p:cBhvr>
                                        <p:cTn id="89" dur="1000" fill="hold"/>
                                        <p:tgtEl>
                                          <p:spTgt spid="8"/>
                                        </p:tgtEl>
                                        <p:attrNameLst>
                                          <p:attrName>style.visibility</p:attrName>
                                        </p:attrNameLst>
                                      </p:cBhvr>
                                      <p:tavLst>
                                        <p:tav tm="0">
                                          <p:val>
                                            <p:strVal val="hidden"/>
                                          </p:val>
                                        </p:tav>
                                        <p:tav tm="50000">
                                          <p:val>
                                            <p:strVal val="visible"/>
                                          </p:val>
                                        </p:tav>
                                      </p:tavLst>
                                    </p:anim>
                                  </p:childTnLst>
                                </p:cTn>
                              </p:par>
                            </p:childTnLst>
                          </p:cTn>
                        </p:par>
                        <p:par>
                          <p:cTn id="90" fill="hold">
                            <p:stCondLst>
                              <p:cond delay="1000"/>
                            </p:stCondLst>
                            <p:childTnLst>
                              <p:par>
                                <p:cTn id="91" presetID="35" presetClass="emph" presetSubtype="0" fill="hold" grpId="3" nodeType="afterEffect">
                                  <p:stCondLst>
                                    <p:cond delay="0"/>
                                  </p:stCondLst>
                                  <p:childTnLst>
                                    <p:anim calcmode="discrete" valueType="str">
                                      <p:cBhvr>
                                        <p:cTn id="92"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4" fill="hold" grpId="0" nodeType="clickEffect">
                                  <p:stCondLst>
                                    <p:cond delay="0"/>
                                  </p:stCondLst>
                                  <p:childTnLst>
                                    <p:set>
                                      <p:cBhvr>
                                        <p:cTn id="96" dur="1" fill="hold">
                                          <p:stCondLst>
                                            <p:cond delay="0"/>
                                          </p:stCondLst>
                                        </p:cTn>
                                        <p:tgtEl>
                                          <p:spTgt spid="64"/>
                                        </p:tgtEl>
                                        <p:attrNameLst>
                                          <p:attrName>style.visibility</p:attrName>
                                        </p:attrNameLst>
                                      </p:cBhvr>
                                      <p:to>
                                        <p:strVal val="visible"/>
                                      </p:to>
                                    </p:set>
                                    <p:anim calcmode="lin" valueType="num">
                                      <p:cBhvr additive="base">
                                        <p:cTn id="97" dur="500" fill="hold"/>
                                        <p:tgtEl>
                                          <p:spTgt spid="64"/>
                                        </p:tgtEl>
                                        <p:attrNameLst>
                                          <p:attrName>ppt_x</p:attrName>
                                        </p:attrNameLst>
                                      </p:cBhvr>
                                      <p:tavLst>
                                        <p:tav tm="0">
                                          <p:val>
                                            <p:strVal val="#ppt_x"/>
                                          </p:val>
                                        </p:tav>
                                        <p:tav tm="100000">
                                          <p:val>
                                            <p:strVal val="#ppt_x"/>
                                          </p:val>
                                        </p:tav>
                                      </p:tavLst>
                                    </p:anim>
                                    <p:anim calcmode="lin" valueType="num">
                                      <p:cBhvr additive="base">
                                        <p:cTn id="98" dur="500" fill="hold"/>
                                        <p:tgtEl>
                                          <p:spTgt spid="64"/>
                                        </p:tgtEl>
                                        <p:attrNameLst>
                                          <p:attrName>ppt_y</p:attrName>
                                        </p:attrNameLst>
                                      </p:cBhvr>
                                      <p:tavLst>
                                        <p:tav tm="0">
                                          <p:val>
                                            <p:strVal val="1+#ppt_h/2"/>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grpId="0" nodeType="clickEffect">
                                  <p:stCondLst>
                                    <p:cond delay="0"/>
                                  </p:stCondLst>
                                  <p:childTnLst>
                                    <p:set>
                                      <p:cBhvr>
                                        <p:cTn id="102" dur="1" fill="hold">
                                          <p:stCondLst>
                                            <p:cond delay="0"/>
                                          </p:stCondLst>
                                        </p:cTn>
                                        <p:tgtEl>
                                          <p:spTgt spid="66"/>
                                        </p:tgtEl>
                                        <p:attrNameLst>
                                          <p:attrName>style.visibility</p:attrName>
                                        </p:attrNameLst>
                                      </p:cBhvr>
                                      <p:to>
                                        <p:strVal val="visible"/>
                                      </p:to>
                                    </p:set>
                                    <p:anim calcmode="lin" valueType="num">
                                      <p:cBhvr additive="base">
                                        <p:cTn id="103" dur="500" fill="hold"/>
                                        <p:tgtEl>
                                          <p:spTgt spid="66"/>
                                        </p:tgtEl>
                                        <p:attrNameLst>
                                          <p:attrName>ppt_x</p:attrName>
                                        </p:attrNameLst>
                                      </p:cBhvr>
                                      <p:tavLst>
                                        <p:tav tm="0">
                                          <p:val>
                                            <p:strVal val="#ppt_x"/>
                                          </p:val>
                                        </p:tav>
                                        <p:tav tm="100000">
                                          <p:val>
                                            <p:strVal val="#ppt_x"/>
                                          </p:val>
                                        </p:tav>
                                      </p:tavLst>
                                    </p:anim>
                                    <p:anim calcmode="lin" valueType="num">
                                      <p:cBhvr additive="base">
                                        <p:cTn id="104" dur="500" fill="hold"/>
                                        <p:tgtEl>
                                          <p:spTgt spid="66"/>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66"/>
                                        </p:tgtEl>
                                        <p:attrNameLst>
                                          <p:attrName>style.visibility</p:attrName>
                                        </p:attrNameLst>
                                      </p:cBhvr>
                                      <p:to>
                                        <p:strVal val="hidden"/>
                                      </p:to>
                                    </p:set>
                                  </p:childTnLst>
                                </p:cTn>
                              </p:par>
                            </p:childTnLst>
                          </p:cTn>
                        </p:par>
                      </p:childTnLst>
                    </p:cTn>
                  </p:par>
                  <p:par>
                    <p:cTn id="109" fill="hold">
                      <p:stCondLst>
                        <p:cond delay="indefinite"/>
                      </p:stCondLst>
                      <p:childTnLst>
                        <p:par>
                          <p:cTn id="110" fill="hold">
                            <p:stCondLst>
                              <p:cond delay="0"/>
                            </p:stCondLst>
                            <p:childTnLst>
                              <p:par>
                                <p:cTn id="111" presetID="2" presetClass="entr" presetSubtype="4" fill="hold" grpId="0" nodeType="clickEffect">
                                  <p:stCondLst>
                                    <p:cond delay="0"/>
                                  </p:stCondLst>
                                  <p:childTnLst>
                                    <p:set>
                                      <p:cBhvr>
                                        <p:cTn id="112" dur="1" fill="hold">
                                          <p:stCondLst>
                                            <p:cond delay="0"/>
                                          </p:stCondLst>
                                        </p:cTn>
                                        <p:tgtEl>
                                          <p:spTgt spid="67"/>
                                        </p:tgtEl>
                                        <p:attrNameLst>
                                          <p:attrName>style.visibility</p:attrName>
                                        </p:attrNameLst>
                                      </p:cBhvr>
                                      <p:to>
                                        <p:strVal val="visible"/>
                                      </p:to>
                                    </p:set>
                                    <p:anim calcmode="lin" valueType="num">
                                      <p:cBhvr additive="base">
                                        <p:cTn id="113" dur="500" fill="hold"/>
                                        <p:tgtEl>
                                          <p:spTgt spid="67"/>
                                        </p:tgtEl>
                                        <p:attrNameLst>
                                          <p:attrName>ppt_x</p:attrName>
                                        </p:attrNameLst>
                                      </p:cBhvr>
                                      <p:tavLst>
                                        <p:tav tm="0">
                                          <p:val>
                                            <p:strVal val="#ppt_x"/>
                                          </p:val>
                                        </p:tav>
                                        <p:tav tm="100000">
                                          <p:val>
                                            <p:strVal val="#ppt_x"/>
                                          </p:val>
                                        </p:tav>
                                      </p:tavLst>
                                    </p:anim>
                                    <p:anim calcmode="lin" valueType="num">
                                      <p:cBhvr additive="base">
                                        <p:cTn id="114" dur="500" fill="hold"/>
                                        <p:tgtEl>
                                          <p:spTgt spid="67"/>
                                        </p:tgtEl>
                                        <p:attrNameLst>
                                          <p:attrName>ppt_y</p:attrName>
                                        </p:attrNameLst>
                                      </p:cBhvr>
                                      <p:tavLst>
                                        <p:tav tm="0">
                                          <p:val>
                                            <p:strVal val="1+#ppt_h/2"/>
                                          </p:val>
                                        </p:tav>
                                        <p:tav tm="100000">
                                          <p:val>
                                            <p:strVal val="#ppt_y"/>
                                          </p:val>
                                        </p:tav>
                                      </p:tavLst>
                                    </p:anim>
                                  </p:childTnLst>
                                </p:cTn>
                              </p:par>
                            </p:childTnLst>
                          </p:cTn>
                        </p:par>
                      </p:childTnLst>
                    </p:cTn>
                  </p:par>
                  <p:par>
                    <p:cTn id="115" fill="hold">
                      <p:stCondLst>
                        <p:cond delay="indefinite"/>
                      </p:stCondLst>
                      <p:childTnLst>
                        <p:par>
                          <p:cTn id="116" fill="hold">
                            <p:stCondLst>
                              <p:cond delay="0"/>
                            </p:stCondLst>
                            <p:childTnLst>
                              <p:par>
                                <p:cTn id="117" presetID="1" presetClass="exit" presetSubtype="0" fill="hold" grpId="2" nodeType="clickEffect">
                                  <p:stCondLst>
                                    <p:cond delay="0"/>
                                  </p:stCondLst>
                                  <p:childTnLst>
                                    <p:set>
                                      <p:cBhvr>
                                        <p:cTn id="118" dur="1" fill="hold">
                                          <p:stCondLst>
                                            <p:cond delay="0"/>
                                          </p:stCondLst>
                                        </p:cTn>
                                        <p:tgtEl>
                                          <p:spTgt spid="67"/>
                                        </p:tgtEl>
                                        <p:attrNameLst>
                                          <p:attrName>style.visibility</p:attrName>
                                        </p:attrNameLst>
                                      </p:cBhvr>
                                      <p:to>
                                        <p:strVal val="hidden"/>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0" nodeType="clickEffect">
                                  <p:stCondLst>
                                    <p:cond delay="0"/>
                                  </p:stCondLst>
                                  <p:childTnLst>
                                    <p:set>
                                      <p:cBhvr>
                                        <p:cTn id="122" dur="1" fill="hold">
                                          <p:stCondLst>
                                            <p:cond delay="0"/>
                                          </p:stCondLst>
                                        </p:cTn>
                                        <p:tgtEl>
                                          <p:spTgt spid="68"/>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xit" presetSubtype="0" fill="hold" grpId="4" nodeType="clickEffect">
                                  <p:stCondLst>
                                    <p:cond delay="0"/>
                                  </p:stCondLst>
                                  <p:childTnLst>
                                    <p:set>
                                      <p:cBhvr>
                                        <p:cTn id="126" dur="1" fill="hold">
                                          <p:stCondLst>
                                            <p:cond delay="0"/>
                                          </p:stCondLst>
                                        </p:cTn>
                                        <p:tgtEl>
                                          <p:spTgt spid="8"/>
                                        </p:tgtEl>
                                        <p:attrNameLst>
                                          <p:attrName>style.visibility</p:attrName>
                                        </p:attrNameLst>
                                      </p:cBhvr>
                                      <p:to>
                                        <p:strVal val="hidden"/>
                                      </p:to>
                                    </p:set>
                                  </p:childTnLst>
                                </p:cTn>
                              </p:par>
                            </p:childTnLst>
                          </p:cTn>
                        </p:par>
                      </p:childTnLst>
                    </p:cTn>
                  </p:par>
                  <p:par>
                    <p:cTn id="127" fill="hold">
                      <p:stCondLst>
                        <p:cond delay="indefinite"/>
                      </p:stCondLst>
                      <p:childTnLst>
                        <p:par>
                          <p:cTn id="128" fill="hold">
                            <p:stCondLst>
                              <p:cond delay="0"/>
                            </p:stCondLst>
                            <p:childTnLst>
                              <p:par>
                                <p:cTn id="129" presetID="2" presetClass="entr" presetSubtype="4" fill="hold" grpId="0" nodeType="clickEffect">
                                  <p:stCondLst>
                                    <p:cond delay="0"/>
                                  </p:stCondLst>
                                  <p:childTnLst>
                                    <p:set>
                                      <p:cBhvr>
                                        <p:cTn id="130" dur="1" fill="hold">
                                          <p:stCondLst>
                                            <p:cond delay="0"/>
                                          </p:stCondLst>
                                        </p:cTn>
                                        <p:tgtEl>
                                          <p:spTgt spid="9"/>
                                        </p:tgtEl>
                                        <p:attrNameLst>
                                          <p:attrName>style.visibility</p:attrName>
                                        </p:attrNameLst>
                                      </p:cBhvr>
                                      <p:to>
                                        <p:strVal val="visible"/>
                                      </p:to>
                                    </p:set>
                                    <p:anim calcmode="lin" valueType="num">
                                      <p:cBhvr additive="base">
                                        <p:cTn id="131" dur="500" fill="hold"/>
                                        <p:tgtEl>
                                          <p:spTgt spid="9"/>
                                        </p:tgtEl>
                                        <p:attrNameLst>
                                          <p:attrName>ppt_x</p:attrName>
                                        </p:attrNameLst>
                                      </p:cBhvr>
                                      <p:tavLst>
                                        <p:tav tm="0">
                                          <p:val>
                                            <p:strVal val="#ppt_x"/>
                                          </p:val>
                                        </p:tav>
                                        <p:tav tm="100000">
                                          <p:val>
                                            <p:strVal val="#ppt_x"/>
                                          </p:val>
                                        </p:tav>
                                      </p:tavLst>
                                    </p:anim>
                                    <p:anim calcmode="lin" valueType="num">
                                      <p:cBhvr additive="base">
                                        <p:cTn id="13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33" fill="hold">
                      <p:stCondLst>
                        <p:cond delay="indefinite"/>
                      </p:stCondLst>
                      <p:childTnLst>
                        <p:par>
                          <p:cTn id="134" fill="hold">
                            <p:stCondLst>
                              <p:cond delay="0"/>
                            </p:stCondLst>
                            <p:childTnLst>
                              <p:par>
                                <p:cTn id="135" presetID="2" presetClass="entr" presetSubtype="4" fill="hold" grpId="0" nodeType="clickEffect">
                                  <p:stCondLst>
                                    <p:cond delay="0"/>
                                  </p:stCondLst>
                                  <p:childTnLst>
                                    <p:set>
                                      <p:cBhvr>
                                        <p:cTn id="136" dur="1" fill="hold">
                                          <p:stCondLst>
                                            <p:cond delay="0"/>
                                          </p:stCondLst>
                                        </p:cTn>
                                        <p:tgtEl>
                                          <p:spTgt spid="10"/>
                                        </p:tgtEl>
                                        <p:attrNameLst>
                                          <p:attrName>style.visibility</p:attrName>
                                        </p:attrNameLst>
                                      </p:cBhvr>
                                      <p:to>
                                        <p:strVal val="visible"/>
                                      </p:to>
                                    </p:set>
                                    <p:anim calcmode="lin" valueType="num">
                                      <p:cBhvr additive="base">
                                        <p:cTn id="137" dur="500" fill="hold"/>
                                        <p:tgtEl>
                                          <p:spTgt spid="10"/>
                                        </p:tgtEl>
                                        <p:attrNameLst>
                                          <p:attrName>ppt_x</p:attrName>
                                        </p:attrNameLst>
                                      </p:cBhvr>
                                      <p:tavLst>
                                        <p:tav tm="0">
                                          <p:val>
                                            <p:strVal val="#ppt_x"/>
                                          </p:val>
                                        </p:tav>
                                        <p:tav tm="100000">
                                          <p:val>
                                            <p:strVal val="#ppt_x"/>
                                          </p:val>
                                        </p:tav>
                                      </p:tavLst>
                                    </p:anim>
                                    <p:anim calcmode="lin" valueType="num">
                                      <p:cBhvr additive="base">
                                        <p:cTn id="1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39" fill="hold">
                      <p:stCondLst>
                        <p:cond delay="indefinite"/>
                      </p:stCondLst>
                      <p:childTnLst>
                        <p:par>
                          <p:cTn id="140" fill="hold">
                            <p:stCondLst>
                              <p:cond delay="0"/>
                            </p:stCondLst>
                            <p:childTnLst>
                              <p:par>
                                <p:cTn id="141" presetID="2" presetClass="entr" presetSubtype="4" fill="hold" grpId="0" nodeType="clickEffect">
                                  <p:stCondLst>
                                    <p:cond delay="0"/>
                                  </p:stCondLst>
                                  <p:childTnLst>
                                    <p:set>
                                      <p:cBhvr>
                                        <p:cTn id="142" dur="1" fill="hold">
                                          <p:stCondLst>
                                            <p:cond delay="0"/>
                                          </p:stCondLst>
                                        </p:cTn>
                                        <p:tgtEl>
                                          <p:spTgt spid="63"/>
                                        </p:tgtEl>
                                        <p:attrNameLst>
                                          <p:attrName>style.visibility</p:attrName>
                                        </p:attrNameLst>
                                      </p:cBhvr>
                                      <p:to>
                                        <p:strVal val="visible"/>
                                      </p:to>
                                    </p:set>
                                    <p:anim calcmode="lin" valueType="num">
                                      <p:cBhvr additive="base">
                                        <p:cTn id="143" dur="500" fill="hold"/>
                                        <p:tgtEl>
                                          <p:spTgt spid="63"/>
                                        </p:tgtEl>
                                        <p:attrNameLst>
                                          <p:attrName>ppt_x</p:attrName>
                                        </p:attrNameLst>
                                      </p:cBhvr>
                                      <p:tavLst>
                                        <p:tav tm="0">
                                          <p:val>
                                            <p:strVal val="#ppt_x"/>
                                          </p:val>
                                        </p:tav>
                                        <p:tav tm="100000">
                                          <p:val>
                                            <p:strVal val="#ppt_x"/>
                                          </p:val>
                                        </p:tav>
                                      </p:tavLst>
                                    </p:anim>
                                    <p:anim calcmode="lin" valueType="num">
                                      <p:cBhvr additive="base">
                                        <p:cTn id="144" dur="500" fill="hold"/>
                                        <p:tgtEl>
                                          <p:spTgt spid="63"/>
                                        </p:tgtEl>
                                        <p:attrNameLst>
                                          <p:attrName>ppt_y</p:attrName>
                                        </p:attrNameLst>
                                      </p:cBhvr>
                                      <p:tavLst>
                                        <p:tav tm="0">
                                          <p:val>
                                            <p:strVal val="1+#ppt_h/2"/>
                                          </p:val>
                                        </p:tav>
                                        <p:tav tm="100000">
                                          <p:val>
                                            <p:strVal val="#ppt_y"/>
                                          </p:val>
                                        </p:tav>
                                      </p:tavLst>
                                    </p:anim>
                                  </p:childTnLst>
                                </p:cTn>
                              </p:par>
                              <p:par>
                                <p:cTn id="145" presetID="2" presetClass="entr" presetSubtype="4" fill="hold" grpId="0" nodeType="withEffect">
                                  <p:stCondLst>
                                    <p:cond delay="0"/>
                                  </p:stCondLst>
                                  <p:childTnLst>
                                    <p:set>
                                      <p:cBhvr>
                                        <p:cTn id="146" dur="1" fill="hold">
                                          <p:stCondLst>
                                            <p:cond delay="0"/>
                                          </p:stCondLst>
                                        </p:cTn>
                                        <p:tgtEl>
                                          <p:spTgt spid="69"/>
                                        </p:tgtEl>
                                        <p:attrNameLst>
                                          <p:attrName>style.visibility</p:attrName>
                                        </p:attrNameLst>
                                      </p:cBhvr>
                                      <p:to>
                                        <p:strVal val="visible"/>
                                      </p:to>
                                    </p:set>
                                    <p:anim calcmode="lin" valueType="num">
                                      <p:cBhvr additive="base">
                                        <p:cTn id="147" dur="500" fill="hold"/>
                                        <p:tgtEl>
                                          <p:spTgt spid="69"/>
                                        </p:tgtEl>
                                        <p:attrNameLst>
                                          <p:attrName>ppt_x</p:attrName>
                                        </p:attrNameLst>
                                      </p:cBhvr>
                                      <p:tavLst>
                                        <p:tav tm="0">
                                          <p:val>
                                            <p:strVal val="#ppt_x"/>
                                          </p:val>
                                        </p:tav>
                                        <p:tav tm="100000">
                                          <p:val>
                                            <p:strVal val="#ppt_x"/>
                                          </p:val>
                                        </p:tav>
                                      </p:tavLst>
                                    </p:anim>
                                    <p:anim calcmode="lin" valueType="num">
                                      <p:cBhvr additive="base">
                                        <p:cTn id="148" dur="500" fill="hold"/>
                                        <p:tgtEl>
                                          <p:spTgt spid="69"/>
                                        </p:tgtEl>
                                        <p:attrNameLst>
                                          <p:attrName>ppt_y</p:attrName>
                                        </p:attrNameLst>
                                      </p:cBhvr>
                                      <p:tavLst>
                                        <p:tav tm="0">
                                          <p:val>
                                            <p:strVal val="1+#ppt_h/2"/>
                                          </p:val>
                                        </p:tav>
                                        <p:tav tm="100000">
                                          <p:val>
                                            <p:strVal val="#ppt_y"/>
                                          </p:val>
                                        </p:tav>
                                      </p:tavLst>
                                    </p:anim>
                                  </p:childTnLst>
                                </p:cTn>
                              </p:par>
                              <p:par>
                                <p:cTn id="149" presetID="2" presetClass="entr" presetSubtype="4" fill="hold" grpId="0" nodeType="withEffect">
                                  <p:stCondLst>
                                    <p:cond delay="0"/>
                                  </p:stCondLst>
                                  <p:childTnLst>
                                    <p:set>
                                      <p:cBhvr>
                                        <p:cTn id="150" dur="1" fill="hold">
                                          <p:stCondLst>
                                            <p:cond delay="0"/>
                                          </p:stCondLst>
                                        </p:cTn>
                                        <p:tgtEl>
                                          <p:spTgt spid="70"/>
                                        </p:tgtEl>
                                        <p:attrNameLst>
                                          <p:attrName>style.visibility</p:attrName>
                                        </p:attrNameLst>
                                      </p:cBhvr>
                                      <p:to>
                                        <p:strVal val="visible"/>
                                      </p:to>
                                    </p:set>
                                    <p:anim calcmode="lin" valueType="num">
                                      <p:cBhvr additive="base">
                                        <p:cTn id="151" dur="500" fill="hold"/>
                                        <p:tgtEl>
                                          <p:spTgt spid="70"/>
                                        </p:tgtEl>
                                        <p:attrNameLst>
                                          <p:attrName>ppt_x</p:attrName>
                                        </p:attrNameLst>
                                      </p:cBhvr>
                                      <p:tavLst>
                                        <p:tav tm="0">
                                          <p:val>
                                            <p:strVal val="#ppt_x"/>
                                          </p:val>
                                        </p:tav>
                                        <p:tav tm="100000">
                                          <p:val>
                                            <p:strVal val="#ppt_x"/>
                                          </p:val>
                                        </p:tav>
                                      </p:tavLst>
                                    </p:anim>
                                    <p:anim calcmode="lin" valueType="num">
                                      <p:cBhvr additive="base">
                                        <p:cTn id="152" dur="500" fill="hold"/>
                                        <p:tgtEl>
                                          <p:spTgt spid="70"/>
                                        </p:tgtEl>
                                        <p:attrNameLst>
                                          <p:attrName>ppt_y</p:attrName>
                                        </p:attrNameLst>
                                      </p:cBhvr>
                                      <p:tavLst>
                                        <p:tav tm="0">
                                          <p:val>
                                            <p:strVal val="1+#ppt_h/2"/>
                                          </p:val>
                                        </p:tav>
                                        <p:tav tm="100000">
                                          <p:val>
                                            <p:strVal val="#ppt_y"/>
                                          </p:val>
                                        </p:tav>
                                      </p:tavLst>
                                    </p:anim>
                                  </p:childTnLst>
                                </p:cTn>
                              </p:par>
                              <p:par>
                                <p:cTn id="153" presetID="2" presetClass="entr" presetSubtype="4" fill="hold" grpId="0" nodeType="withEffect">
                                  <p:stCondLst>
                                    <p:cond delay="0"/>
                                  </p:stCondLst>
                                  <p:childTnLst>
                                    <p:set>
                                      <p:cBhvr>
                                        <p:cTn id="154" dur="1" fill="hold">
                                          <p:stCondLst>
                                            <p:cond delay="0"/>
                                          </p:stCondLst>
                                        </p:cTn>
                                        <p:tgtEl>
                                          <p:spTgt spid="71"/>
                                        </p:tgtEl>
                                        <p:attrNameLst>
                                          <p:attrName>style.visibility</p:attrName>
                                        </p:attrNameLst>
                                      </p:cBhvr>
                                      <p:to>
                                        <p:strVal val="visible"/>
                                      </p:to>
                                    </p:set>
                                    <p:anim calcmode="lin" valueType="num">
                                      <p:cBhvr additive="base">
                                        <p:cTn id="155" dur="500" fill="hold"/>
                                        <p:tgtEl>
                                          <p:spTgt spid="71"/>
                                        </p:tgtEl>
                                        <p:attrNameLst>
                                          <p:attrName>ppt_x</p:attrName>
                                        </p:attrNameLst>
                                      </p:cBhvr>
                                      <p:tavLst>
                                        <p:tav tm="0">
                                          <p:val>
                                            <p:strVal val="#ppt_x"/>
                                          </p:val>
                                        </p:tav>
                                        <p:tav tm="100000">
                                          <p:val>
                                            <p:strVal val="#ppt_x"/>
                                          </p:val>
                                        </p:tav>
                                      </p:tavLst>
                                    </p:anim>
                                    <p:anim calcmode="lin" valueType="num">
                                      <p:cBhvr additive="base">
                                        <p:cTn id="156" dur="500" fill="hold"/>
                                        <p:tgtEl>
                                          <p:spTgt spid="71"/>
                                        </p:tgtEl>
                                        <p:attrNameLst>
                                          <p:attrName>ppt_y</p:attrName>
                                        </p:attrNameLst>
                                      </p:cBhvr>
                                      <p:tavLst>
                                        <p:tav tm="0">
                                          <p:val>
                                            <p:strVal val="1+#ppt_h/2"/>
                                          </p:val>
                                        </p:tav>
                                        <p:tav tm="100000">
                                          <p:val>
                                            <p:strVal val="#ppt_y"/>
                                          </p:val>
                                        </p:tav>
                                      </p:tavLst>
                                    </p:anim>
                                  </p:childTnLst>
                                </p:cTn>
                              </p:par>
                              <p:par>
                                <p:cTn id="157" presetID="2" presetClass="entr" presetSubtype="4" fill="hold" grpId="0" nodeType="withEffect">
                                  <p:stCondLst>
                                    <p:cond delay="0"/>
                                  </p:stCondLst>
                                  <p:childTnLst>
                                    <p:set>
                                      <p:cBhvr>
                                        <p:cTn id="158" dur="1" fill="hold">
                                          <p:stCondLst>
                                            <p:cond delay="0"/>
                                          </p:stCondLst>
                                        </p:cTn>
                                        <p:tgtEl>
                                          <p:spTgt spid="72"/>
                                        </p:tgtEl>
                                        <p:attrNameLst>
                                          <p:attrName>style.visibility</p:attrName>
                                        </p:attrNameLst>
                                      </p:cBhvr>
                                      <p:to>
                                        <p:strVal val="visible"/>
                                      </p:to>
                                    </p:set>
                                    <p:anim calcmode="lin" valueType="num">
                                      <p:cBhvr additive="base">
                                        <p:cTn id="159" dur="500" fill="hold"/>
                                        <p:tgtEl>
                                          <p:spTgt spid="72"/>
                                        </p:tgtEl>
                                        <p:attrNameLst>
                                          <p:attrName>ppt_x</p:attrName>
                                        </p:attrNameLst>
                                      </p:cBhvr>
                                      <p:tavLst>
                                        <p:tav tm="0">
                                          <p:val>
                                            <p:strVal val="#ppt_x"/>
                                          </p:val>
                                        </p:tav>
                                        <p:tav tm="100000">
                                          <p:val>
                                            <p:strVal val="#ppt_x"/>
                                          </p:val>
                                        </p:tav>
                                      </p:tavLst>
                                    </p:anim>
                                    <p:anim calcmode="lin" valueType="num">
                                      <p:cBhvr additive="base">
                                        <p:cTn id="160" dur="500" fill="hold"/>
                                        <p:tgtEl>
                                          <p:spTgt spid="72"/>
                                        </p:tgtEl>
                                        <p:attrNameLst>
                                          <p:attrName>ppt_y</p:attrName>
                                        </p:attrNameLst>
                                      </p:cBhvr>
                                      <p:tavLst>
                                        <p:tav tm="0">
                                          <p:val>
                                            <p:strVal val="1+#ppt_h/2"/>
                                          </p:val>
                                        </p:tav>
                                        <p:tav tm="100000">
                                          <p:val>
                                            <p:strVal val="#ppt_y"/>
                                          </p:val>
                                        </p:tav>
                                      </p:tavLst>
                                    </p:anim>
                                  </p:childTnLst>
                                </p:cTn>
                              </p:par>
                              <p:par>
                                <p:cTn id="161" presetID="2" presetClass="entr" presetSubtype="4" fill="hold" grpId="0" nodeType="withEffect">
                                  <p:stCondLst>
                                    <p:cond delay="0"/>
                                  </p:stCondLst>
                                  <p:childTnLst>
                                    <p:set>
                                      <p:cBhvr>
                                        <p:cTn id="162" dur="1" fill="hold">
                                          <p:stCondLst>
                                            <p:cond delay="0"/>
                                          </p:stCondLst>
                                        </p:cTn>
                                        <p:tgtEl>
                                          <p:spTgt spid="73"/>
                                        </p:tgtEl>
                                        <p:attrNameLst>
                                          <p:attrName>style.visibility</p:attrName>
                                        </p:attrNameLst>
                                      </p:cBhvr>
                                      <p:to>
                                        <p:strVal val="visible"/>
                                      </p:to>
                                    </p:set>
                                    <p:anim calcmode="lin" valueType="num">
                                      <p:cBhvr additive="base">
                                        <p:cTn id="163" dur="500" fill="hold"/>
                                        <p:tgtEl>
                                          <p:spTgt spid="73"/>
                                        </p:tgtEl>
                                        <p:attrNameLst>
                                          <p:attrName>ppt_x</p:attrName>
                                        </p:attrNameLst>
                                      </p:cBhvr>
                                      <p:tavLst>
                                        <p:tav tm="0">
                                          <p:val>
                                            <p:strVal val="#ppt_x"/>
                                          </p:val>
                                        </p:tav>
                                        <p:tav tm="100000">
                                          <p:val>
                                            <p:strVal val="#ppt_x"/>
                                          </p:val>
                                        </p:tav>
                                      </p:tavLst>
                                    </p:anim>
                                    <p:anim calcmode="lin" valueType="num">
                                      <p:cBhvr additive="base">
                                        <p:cTn id="164"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165" fill="hold">
                      <p:stCondLst>
                        <p:cond delay="indefinite"/>
                      </p:stCondLst>
                      <p:childTnLst>
                        <p:par>
                          <p:cTn id="166" fill="hold">
                            <p:stCondLst>
                              <p:cond delay="0"/>
                            </p:stCondLst>
                            <p:childTnLst>
                              <p:par>
                                <p:cTn id="167" presetID="2" presetClass="entr" presetSubtype="4" fill="hold" grpId="0" nodeType="clickEffect">
                                  <p:stCondLst>
                                    <p:cond delay="0"/>
                                  </p:stCondLst>
                                  <p:childTnLst>
                                    <p:set>
                                      <p:cBhvr>
                                        <p:cTn id="168" dur="1" fill="hold">
                                          <p:stCondLst>
                                            <p:cond delay="0"/>
                                          </p:stCondLst>
                                        </p:cTn>
                                        <p:tgtEl>
                                          <p:spTgt spid="76"/>
                                        </p:tgtEl>
                                        <p:attrNameLst>
                                          <p:attrName>style.visibility</p:attrName>
                                        </p:attrNameLst>
                                      </p:cBhvr>
                                      <p:to>
                                        <p:strVal val="visible"/>
                                      </p:to>
                                    </p:set>
                                    <p:anim calcmode="lin" valueType="num">
                                      <p:cBhvr additive="base">
                                        <p:cTn id="169" dur="500" fill="hold"/>
                                        <p:tgtEl>
                                          <p:spTgt spid="76"/>
                                        </p:tgtEl>
                                        <p:attrNameLst>
                                          <p:attrName>ppt_x</p:attrName>
                                        </p:attrNameLst>
                                      </p:cBhvr>
                                      <p:tavLst>
                                        <p:tav tm="0">
                                          <p:val>
                                            <p:strVal val="#ppt_x"/>
                                          </p:val>
                                        </p:tav>
                                        <p:tav tm="100000">
                                          <p:val>
                                            <p:strVal val="#ppt_x"/>
                                          </p:val>
                                        </p:tav>
                                      </p:tavLst>
                                    </p:anim>
                                    <p:anim calcmode="lin" valueType="num">
                                      <p:cBhvr additive="base">
                                        <p:cTn id="170" dur="500" fill="hold"/>
                                        <p:tgtEl>
                                          <p:spTgt spid="76"/>
                                        </p:tgtEl>
                                        <p:attrNameLst>
                                          <p:attrName>ppt_y</p:attrName>
                                        </p:attrNameLst>
                                      </p:cBhvr>
                                      <p:tavLst>
                                        <p:tav tm="0">
                                          <p:val>
                                            <p:strVal val="1+#ppt_h/2"/>
                                          </p:val>
                                        </p:tav>
                                        <p:tav tm="100000">
                                          <p:val>
                                            <p:strVal val="#ppt_y"/>
                                          </p:val>
                                        </p:tav>
                                      </p:tavLst>
                                    </p:anim>
                                  </p:childTnLst>
                                </p:cTn>
                              </p:par>
                              <p:par>
                                <p:cTn id="171" presetID="2" presetClass="entr" presetSubtype="4" fill="hold" grpId="0" nodeType="withEffect">
                                  <p:stCondLst>
                                    <p:cond delay="0"/>
                                  </p:stCondLst>
                                  <p:childTnLst>
                                    <p:set>
                                      <p:cBhvr>
                                        <p:cTn id="172" dur="1" fill="hold">
                                          <p:stCondLst>
                                            <p:cond delay="0"/>
                                          </p:stCondLst>
                                        </p:cTn>
                                        <p:tgtEl>
                                          <p:spTgt spid="77"/>
                                        </p:tgtEl>
                                        <p:attrNameLst>
                                          <p:attrName>style.visibility</p:attrName>
                                        </p:attrNameLst>
                                      </p:cBhvr>
                                      <p:to>
                                        <p:strVal val="visible"/>
                                      </p:to>
                                    </p:set>
                                    <p:anim calcmode="lin" valueType="num">
                                      <p:cBhvr additive="base">
                                        <p:cTn id="173" dur="500" fill="hold"/>
                                        <p:tgtEl>
                                          <p:spTgt spid="77"/>
                                        </p:tgtEl>
                                        <p:attrNameLst>
                                          <p:attrName>ppt_x</p:attrName>
                                        </p:attrNameLst>
                                      </p:cBhvr>
                                      <p:tavLst>
                                        <p:tav tm="0">
                                          <p:val>
                                            <p:strVal val="#ppt_x"/>
                                          </p:val>
                                        </p:tav>
                                        <p:tav tm="100000">
                                          <p:val>
                                            <p:strVal val="#ppt_x"/>
                                          </p:val>
                                        </p:tav>
                                      </p:tavLst>
                                    </p:anim>
                                    <p:anim calcmode="lin" valueType="num">
                                      <p:cBhvr additive="base">
                                        <p:cTn id="174" dur="500" fill="hold"/>
                                        <p:tgtEl>
                                          <p:spTgt spid="7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ldLvl="0" animBg="1"/>
      <p:bldP spid="8" grpId="1" animBg="1"/>
      <p:bldP spid="8" grpId="2" bldLvl="0" animBg="1"/>
      <p:bldP spid="8" grpId="3" bldLvl="0" animBg="1"/>
      <p:bldP spid="8" grpId="4" animBg="1"/>
      <p:bldP spid="142" grpId="0" bldLvl="0" animBg="1"/>
      <p:bldP spid="142" grpId="1" animBg="1"/>
      <p:bldP spid="142" grpId="2" bldLvl="0" animBg="1"/>
      <p:bldP spid="142" grpId="3" bldLvl="0" animBg="1"/>
      <p:bldP spid="142" grpId="4" bldLvl="0" animBg="1"/>
      <p:bldP spid="12" grpId="0" bldLvl="0" animBg="1"/>
      <p:bldP spid="12" grpId="1" animBg="1"/>
      <p:bldP spid="13" grpId="0" bldLvl="0" animBg="1"/>
      <p:bldP spid="13" grpId="1" animBg="1"/>
      <p:bldP spid="2" grpId="0"/>
      <p:bldP spid="2" grpId="1"/>
      <p:bldP spid="5" grpId="0"/>
      <p:bldP spid="5" grpId="1"/>
      <p:bldP spid="126" grpId="0"/>
      <p:bldP spid="126" grpId="1"/>
      <p:bldP spid="127" grpId="0"/>
      <p:bldP spid="127" grpId="1"/>
      <p:bldP spid="128" grpId="0"/>
      <p:bldP spid="128" grpId="1"/>
      <p:bldP spid="129" grpId="0"/>
      <p:bldP spid="129" grpId="1"/>
      <p:bldP spid="130" grpId="0"/>
      <p:bldP spid="130" grpId="1"/>
      <p:bldP spid="131" grpId="0"/>
      <p:bldP spid="131" grpId="1"/>
      <p:bldP spid="132" grpId="0"/>
      <p:bldP spid="132" grpId="1"/>
      <p:bldP spid="133" grpId="0"/>
      <p:bldP spid="133" grpId="1"/>
      <p:bldP spid="134" grpId="0"/>
      <p:bldP spid="134" grpId="1"/>
      <p:bldP spid="135" grpId="0"/>
      <p:bldP spid="135" grpId="1"/>
      <p:bldP spid="136" grpId="0"/>
      <p:bldP spid="136" grpId="1"/>
      <p:bldP spid="137" grpId="0"/>
      <p:bldP spid="137" grpId="1"/>
      <p:bldP spid="138" grpId="0"/>
      <p:bldP spid="138" grpId="1"/>
      <p:bldP spid="139" grpId="0"/>
      <p:bldP spid="139" grpId="1"/>
      <p:bldP spid="143" grpId="0"/>
      <p:bldP spid="143" grpId="1"/>
      <p:bldP spid="64" grpId="0"/>
      <p:bldP spid="64" grpId="1"/>
      <p:bldP spid="65" grpId="0" bldLvl="0" animBg="1"/>
      <p:bldP spid="65" grpId="1" animBg="1"/>
      <p:bldP spid="65" grpId="2" animBg="1"/>
      <p:bldP spid="66" grpId="0" bldLvl="0" animBg="1"/>
      <p:bldP spid="66" grpId="1" animBg="1"/>
      <p:bldP spid="66" grpId="2" bldLvl="0" animBg="1"/>
      <p:bldP spid="67" grpId="0" bldLvl="0" animBg="1"/>
      <p:bldP spid="67" grpId="1" animBg="1"/>
      <p:bldP spid="67" grpId="2" bldLvl="0" animBg="1"/>
      <p:bldP spid="68" grpId="0"/>
      <p:bldP spid="68" grpId="1"/>
      <p:bldP spid="9" grpId="0"/>
      <p:bldP spid="9" grpId="1"/>
      <p:bldP spid="10" grpId="0"/>
      <p:bldP spid="10" grpId="1"/>
      <p:bldP spid="63" grpId="0"/>
      <p:bldP spid="63" grpId="1"/>
      <p:bldP spid="69" grpId="0"/>
      <p:bldP spid="69" grpId="1"/>
      <p:bldP spid="70" grpId="0"/>
      <p:bldP spid="70" grpId="1"/>
      <p:bldP spid="71" grpId="0"/>
      <p:bldP spid="71" grpId="1"/>
      <p:bldP spid="72" grpId="0"/>
      <p:bldP spid="72" grpId="1"/>
      <p:bldP spid="73" grpId="0"/>
      <p:bldP spid="73" grpId="1"/>
      <p:bldP spid="76" grpId="0"/>
      <p:bldP spid="76" grpId="1"/>
      <p:bldP spid="77" grpId="0"/>
      <p:bldP spid="77" grpId="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Rectangle 7"/>
          <p:cNvSpPr>
            <a:spLocks noChangeArrowheads="1"/>
          </p:cNvSpPr>
          <p:nvPr/>
        </p:nvSpPr>
        <p:spPr bwMode="auto">
          <a:xfrm>
            <a:off x="3293746" y="3882073"/>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9" name="Rectangle 7"/>
          <p:cNvSpPr>
            <a:spLocks noChangeArrowheads="1"/>
          </p:cNvSpPr>
          <p:nvPr/>
        </p:nvSpPr>
        <p:spPr bwMode="auto">
          <a:xfrm>
            <a:off x="4911091" y="3878898"/>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问最多能装价值多大（物品每次只能选择一次）？</a:t>
            </a:r>
            <a:endParaRPr lang="zh-CN" altLang="en-US" sz="2200" dirty="0">
              <a:solidFill>
                <a:srgbClr val="080808"/>
              </a:solidFill>
              <a:uFillTx/>
              <a:latin typeface="Times New Roman" panose="02020603050405020304" pitchFamily="18" charset="0"/>
            </a:endParaRPr>
          </a:p>
        </p:txBody>
      </p:sp>
      <p:grpSp>
        <p:nvGrpSpPr>
          <p:cNvPr id="3" name="Group 4"/>
          <p:cNvGrpSpPr>
            <a:grpSpLocks noChangeAspect="1"/>
          </p:cNvGrpSpPr>
          <p:nvPr/>
        </p:nvGrpSpPr>
        <p:grpSpPr bwMode="auto">
          <a:xfrm>
            <a:off x="1115378" y="3142933"/>
            <a:ext cx="7058025" cy="2219325"/>
            <a:chOff x="657" y="1461"/>
            <a:chExt cx="4446" cy="1398"/>
          </a:xfrm>
        </p:grpSpPr>
        <p:sp>
          <p:nvSpPr>
            <p:cNvPr id="7" name="AutoShape 3"/>
            <p:cNvSpPr>
              <a:spLocks noChangeAspect="1" noChangeArrowheads="1" noTextEdit="1"/>
            </p:cNvSpPr>
            <p:nvPr/>
          </p:nvSpPr>
          <p:spPr bwMode="auto">
            <a:xfrm>
              <a:off x="657" y="1461"/>
              <a:ext cx="4446" cy="1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Line 8"/>
            <p:cNvSpPr>
              <a:spLocks noChangeShapeType="1"/>
            </p:cNvSpPr>
            <p:nvPr/>
          </p:nvSpPr>
          <p:spPr bwMode="auto">
            <a:xfrm>
              <a:off x="100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4" name="Line 9"/>
            <p:cNvSpPr>
              <a:spLocks noChangeShapeType="1"/>
            </p:cNvSpPr>
            <p:nvPr/>
          </p:nvSpPr>
          <p:spPr bwMode="auto">
            <a:xfrm>
              <a:off x="1345"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5" name="Line 10"/>
            <p:cNvSpPr>
              <a:spLocks noChangeShapeType="1"/>
            </p:cNvSpPr>
            <p:nvPr/>
          </p:nvSpPr>
          <p:spPr bwMode="auto">
            <a:xfrm>
              <a:off x="168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7" name="Line 11"/>
            <p:cNvSpPr>
              <a:spLocks noChangeShapeType="1"/>
            </p:cNvSpPr>
            <p:nvPr/>
          </p:nvSpPr>
          <p:spPr bwMode="auto">
            <a:xfrm>
              <a:off x="202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8" name="Line 12"/>
            <p:cNvSpPr>
              <a:spLocks noChangeShapeType="1"/>
            </p:cNvSpPr>
            <p:nvPr/>
          </p:nvSpPr>
          <p:spPr bwMode="auto">
            <a:xfrm>
              <a:off x="236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9" name="Line 13"/>
            <p:cNvSpPr>
              <a:spLocks noChangeShapeType="1"/>
            </p:cNvSpPr>
            <p:nvPr/>
          </p:nvSpPr>
          <p:spPr bwMode="auto">
            <a:xfrm>
              <a:off x="270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0" name="Line 14"/>
            <p:cNvSpPr>
              <a:spLocks noChangeShapeType="1"/>
            </p:cNvSpPr>
            <p:nvPr/>
          </p:nvSpPr>
          <p:spPr bwMode="auto">
            <a:xfrm>
              <a:off x="3048"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1" name="Line 15"/>
            <p:cNvSpPr>
              <a:spLocks noChangeShapeType="1"/>
            </p:cNvSpPr>
            <p:nvPr/>
          </p:nvSpPr>
          <p:spPr bwMode="auto">
            <a:xfrm>
              <a:off x="3389"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2" name="Line 16"/>
            <p:cNvSpPr>
              <a:spLocks noChangeShapeType="1"/>
            </p:cNvSpPr>
            <p:nvPr/>
          </p:nvSpPr>
          <p:spPr bwMode="auto">
            <a:xfrm>
              <a:off x="373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17"/>
            <p:cNvSpPr>
              <a:spLocks noChangeShapeType="1"/>
            </p:cNvSpPr>
            <p:nvPr/>
          </p:nvSpPr>
          <p:spPr bwMode="auto">
            <a:xfrm>
              <a:off x="407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18"/>
            <p:cNvSpPr>
              <a:spLocks noChangeShapeType="1"/>
            </p:cNvSpPr>
            <p:nvPr/>
          </p:nvSpPr>
          <p:spPr bwMode="auto">
            <a:xfrm>
              <a:off x="441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19"/>
            <p:cNvSpPr>
              <a:spLocks noChangeShapeType="1"/>
            </p:cNvSpPr>
            <p:nvPr/>
          </p:nvSpPr>
          <p:spPr bwMode="auto">
            <a:xfrm>
              <a:off x="475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0"/>
            <p:cNvSpPr>
              <a:spLocks noChangeShapeType="1"/>
            </p:cNvSpPr>
            <p:nvPr/>
          </p:nvSpPr>
          <p:spPr bwMode="auto">
            <a:xfrm>
              <a:off x="660" y="1698"/>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1"/>
            <p:cNvSpPr>
              <a:spLocks noChangeShapeType="1"/>
            </p:cNvSpPr>
            <p:nvPr/>
          </p:nvSpPr>
          <p:spPr bwMode="auto">
            <a:xfrm>
              <a:off x="660" y="1925"/>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2"/>
            <p:cNvSpPr>
              <a:spLocks noChangeShapeType="1"/>
            </p:cNvSpPr>
            <p:nvPr/>
          </p:nvSpPr>
          <p:spPr bwMode="auto">
            <a:xfrm>
              <a:off x="660" y="2153"/>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3"/>
            <p:cNvSpPr>
              <a:spLocks noChangeShapeType="1"/>
            </p:cNvSpPr>
            <p:nvPr/>
          </p:nvSpPr>
          <p:spPr bwMode="auto">
            <a:xfrm>
              <a:off x="660" y="2381"/>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4"/>
            <p:cNvSpPr>
              <a:spLocks noChangeShapeType="1"/>
            </p:cNvSpPr>
            <p:nvPr/>
          </p:nvSpPr>
          <p:spPr bwMode="auto">
            <a:xfrm>
              <a:off x="660" y="2609"/>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5"/>
            <p:cNvSpPr>
              <a:spLocks noChangeShapeType="1"/>
            </p:cNvSpPr>
            <p:nvPr/>
          </p:nvSpPr>
          <p:spPr bwMode="auto">
            <a:xfrm>
              <a:off x="66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26"/>
            <p:cNvSpPr>
              <a:spLocks noChangeShapeType="1"/>
            </p:cNvSpPr>
            <p:nvPr/>
          </p:nvSpPr>
          <p:spPr bwMode="auto">
            <a:xfrm>
              <a:off x="5092"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27"/>
            <p:cNvSpPr>
              <a:spLocks noChangeShapeType="1"/>
            </p:cNvSpPr>
            <p:nvPr/>
          </p:nvSpPr>
          <p:spPr bwMode="auto">
            <a:xfrm>
              <a:off x="660" y="1470"/>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28"/>
            <p:cNvSpPr>
              <a:spLocks noChangeShapeType="1"/>
            </p:cNvSpPr>
            <p:nvPr/>
          </p:nvSpPr>
          <p:spPr bwMode="auto">
            <a:xfrm>
              <a:off x="660" y="2837"/>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Rectangle 29"/>
            <p:cNvSpPr>
              <a:spLocks noChangeArrowheads="1"/>
            </p:cNvSpPr>
            <p:nvPr/>
          </p:nvSpPr>
          <p:spPr bwMode="auto">
            <a:xfrm>
              <a:off x="734" y="1526"/>
              <a:ext cx="1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W</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6" name="Rectangle 30"/>
            <p:cNvSpPr>
              <a:spLocks noChangeArrowheads="1"/>
            </p:cNvSpPr>
            <p:nvPr/>
          </p:nvSpPr>
          <p:spPr bwMode="auto">
            <a:xfrm>
              <a:off x="836"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7" name="Rectangle 31"/>
            <p:cNvSpPr>
              <a:spLocks noChangeArrowheads="1"/>
            </p:cNvSpPr>
            <p:nvPr/>
          </p:nvSpPr>
          <p:spPr bwMode="auto">
            <a:xfrm>
              <a:off x="1050" y="1526"/>
              <a:ext cx="127"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8" name="Rectangle 32"/>
            <p:cNvSpPr>
              <a:spLocks noChangeArrowheads="1"/>
            </p:cNvSpPr>
            <p:nvPr/>
          </p:nvSpPr>
          <p:spPr bwMode="auto">
            <a:xfrm>
              <a:off x="1129"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9" name="Rectangle 33"/>
            <p:cNvSpPr>
              <a:spLocks noChangeArrowheads="1"/>
            </p:cNvSpPr>
            <p:nvPr/>
          </p:nvSpPr>
          <p:spPr bwMode="auto">
            <a:xfrm>
              <a:off x="1391"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0" name="Rectangle 34"/>
            <p:cNvSpPr>
              <a:spLocks noChangeArrowheads="1"/>
            </p:cNvSpPr>
            <p:nvPr/>
          </p:nvSpPr>
          <p:spPr bwMode="auto">
            <a:xfrm>
              <a:off x="1445"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1" name="Rectangle 35"/>
            <p:cNvSpPr>
              <a:spLocks noChangeArrowheads="1"/>
            </p:cNvSpPr>
            <p:nvPr/>
          </p:nvSpPr>
          <p:spPr bwMode="auto">
            <a:xfrm>
              <a:off x="173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2" name="Rectangle 36"/>
            <p:cNvSpPr>
              <a:spLocks noChangeArrowheads="1"/>
            </p:cNvSpPr>
            <p:nvPr/>
          </p:nvSpPr>
          <p:spPr bwMode="auto">
            <a:xfrm>
              <a:off x="178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37"/>
            <p:cNvSpPr>
              <a:spLocks noChangeArrowheads="1"/>
            </p:cNvSpPr>
            <p:nvPr/>
          </p:nvSpPr>
          <p:spPr bwMode="auto">
            <a:xfrm>
              <a:off x="207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38"/>
            <p:cNvSpPr>
              <a:spLocks noChangeArrowheads="1"/>
            </p:cNvSpPr>
            <p:nvPr/>
          </p:nvSpPr>
          <p:spPr bwMode="auto">
            <a:xfrm>
              <a:off x="2156"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39"/>
            <p:cNvSpPr>
              <a:spLocks noChangeArrowheads="1"/>
            </p:cNvSpPr>
            <p:nvPr/>
          </p:nvSpPr>
          <p:spPr bwMode="auto">
            <a:xfrm>
              <a:off x="2413"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0"/>
            <p:cNvSpPr>
              <a:spLocks noChangeArrowheads="1"/>
            </p:cNvSpPr>
            <p:nvPr/>
          </p:nvSpPr>
          <p:spPr bwMode="auto">
            <a:xfrm>
              <a:off x="2497"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1"/>
            <p:cNvSpPr>
              <a:spLocks noChangeArrowheads="1"/>
            </p:cNvSpPr>
            <p:nvPr/>
          </p:nvSpPr>
          <p:spPr bwMode="auto">
            <a:xfrm>
              <a:off x="275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2"/>
            <p:cNvSpPr>
              <a:spLocks noChangeArrowheads="1"/>
            </p:cNvSpPr>
            <p:nvPr/>
          </p:nvSpPr>
          <p:spPr bwMode="auto">
            <a:xfrm>
              <a:off x="2838"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3"/>
            <p:cNvSpPr>
              <a:spLocks noChangeArrowheads="1"/>
            </p:cNvSpPr>
            <p:nvPr/>
          </p:nvSpPr>
          <p:spPr bwMode="auto">
            <a:xfrm>
              <a:off x="309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4"/>
            <p:cNvSpPr>
              <a:spLocks noChangeArrowheads="1"/>
            </p:cNvSpPr>
            <p:nvPr/>
          </p:nvSpPr>
          <p:spPr bwMode="auto">
            <a:xfrm>
              <a:off x="3148"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5"/>
            <p:cNvSpPr>
              <a:spLocks noChangeArrowheads="1"/>
            </p:cNvSpPr>
            <p:nvPr/>
          </p:nvSpPr>
          <p:spPr bwMode="auto">
            <a:xfrm>
              <a:off x="3435"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46"/>
            <p:cNvSpPr>
              <a:spLocks noChangeArrowheads="1"/>
            </p:cNvSpPr>
            <p:nvPr/>
          </p:nvSpPr>
          <p:spPr bwMode="auto">
            <a:xfrm>
              <a:off x="3489"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47"/>
            <p:cNvSpPr>
              <a:spLocks noChangeArrowheads="1"/>
            </p:cNvSpPr>
            <p:nvPr/>
          </p:nvSpPr>
          <p:spPr bwMode="auto">
            <a:xfrm>
              <a:off x="3775" y="1526"/>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4" name="Rectangle 48"/>
            <p:cNvSpPr>
              <a:spLocks noChangeArrowheads="1"/>
            </p:cNvSpPr>
            <p:nvPr/>
          </p:nvSpPr>
          <p:spPr bwMode="auto">
            <a:xfrm>
              <a:off x="383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5" name="Rectangle 49"/>
            <p:cNvSpPr>
              <a:spLocks noChangeArrowheads="1"/>
            </p:cNvSpPr>
            <p:nvPr/>
          </p:nvSpPr>
          <p:spPr bwMode="auto">
            <a:xfrm>
              <a:off x="4116"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6" name="Rectangle 50"/>
            <p:cNvSpPr>
              <a:spLocks noChangeArrowheads="1"/>
            </p:cNvSpPr>
            <p:nvPr/>
          </p:nvSpPr>
          <p:spPr bwMode="auto">
            <a:xfrm>
              <a:off x="417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7" name="Rectangle 51"/>
            <p:cNvSpPr>
              <a:spLocks noChangeArrowheads="1"/>
            </p:cNvSpPr>
            <p:nvPr/>
          </p:nvSpPr>
          <p:spPr bwMode="auto">
            <a:xfrm>
              <a:off x="4457"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8" name="Rectangle 52"/>
            <p:cNvSpPr>
              <a:spLocks noChangeArrowheads="1"/>
            </p:cNvSpPr>
            <p:nvPr/>
          </p:nvSpPr>
          <p:spPr bwMode="auto">
            <a:xfrm>
              <a:off x="4511"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9" name="Rectangle 53"/>
            <p:cNvSpPr>
              <a:spLocks noChangeArrowheads="1"/>
            </p:cNvSpPr>
            <p:nvPr/>
          </p:nvSpPr>
          <p:spPr bwMode="auto">
            <a:xfrm>
              <a:off x="4797"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0" name="Rectangle 54"/>
            <p:cNvSpPr>
              <a:spLocks noChangeArrowheads="1"/>
            </p:cNvSpPr>
            <p:nvPr/>
          </p:nvSpPr>
          <p:spPr bwMode="auto">
            <a:xfrm>
              <a:off x="490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1" name="Rectangle 55"/>
            <p:cNvSpPr>
              <a:spLocks noChangeArrowheads="1"/>
            </p:cNvSpPr>
            <p:nvPr/>
          </p:nvSpPr>
          <p:spPr bwMode="auto">
            <a:xfrm>
              <a:off x="710" y="1752"/>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2" name="Rectangle 56"/>
            <p:cNvSpPr>
              <a:spLocks noChangeArrowheads="1"/>
            </p:cNvSpPr>
            <p:nvPr/>
          </p:nvSpPr>
          <p:spPr bwMode="auto">
            <a:xfrm>
              <a:off x="1050" y="1752"/>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68"/>
            <p:cNvSpPr>
              <a:spLocks noChangeArrowheads="1"/>
            </p:cNvSpPr>
            <p:nvPr/>
          </p:nvSpPr>
          <p:spPr bwMode="auto">
            <a:xfrm>
              <a:off x="710"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69"/>
            <p:cNvSpPr>
              <a:spLocks noChangeArrowheads="1"/>
            </p:cNvSpPr>
            <p:nvPr/>
          </p:nvSpPr>
          <p:spPr bwMode="auto">
            <a:xfrm>
              <a:off x="1050"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81"/>
            <p:cNvSpPr>
              <a:spLocks noChangeArrowheads="1"/>
            </p:cNvSpPr>
            <p:nvPr/>
          </p:nvSpPr>
          <p:spPr bwMode="auto">
            <a:xfrm>
              <a:off x="710"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8" name="Rectangle 82"/>
            <p:cNvSpPr>
              <a:spLocks noChangeArrowheads="1"/>
            </p:cNvSpPr>
            <p:nvPr/>
          </p:nvSpPr>
          <p:spPr bwMode="auto">
            <a:xfrm>
              <a:off x="1050"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3" name="Rectangle 87"/>
            <p:cNvSpPr>
              <a:spLocks noChangeArrowheads="1"/>
            </p:cNvSpPr>
            <p:nvPr/>
          </p:nvSpPr>
          <p:spPr bwMode="auto">
            <a:xfrm>
              <a:off x="275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94"/>
            <p:cNvSpPr>
              <a:spLocks noChangeArrowheads="1"/>
            </p:cNvSpPr>
            <p:nvPr/>
          </p:nvSpPr>
          <p:spPr bwMode="auto">
            <a:xfrm>
              <a:off x="710"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1" name="Rectangle 95"/>
            <p:cNvSpPr>
              <a:spLocks noChangeArrowheads="1"/>
            </p:cNvSpPr>
            <p:nvPr/>
          </p:nvSpPr>
          <p:spPr bwMode="auto">
            <a:xfrm>
              <a:off x="1050"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3" name="Rectangle 107"/>
            <p:cNvSpPr>
              <a:spLocks noChangeArrowheads="1"/>
            </p:cNvSpPr>
            <p:nvPr/>
          </p:nvSpPr>
          <p:spPr bwMode="auto">
            <a:xfrm>
              <a:off x="710"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4" name="Rectangle 108"/>
            <p:cNvSpPr>
              <a:spLocks noChangeArrowheads="1"/>
            </p:cNvSpPr>
            <p:nvPr/>
          </p:nvSpPr>
          <p:spPr bwMode="auto">
            <a:xfrm>
              <a:off x="1050"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2" name="Rectangle 57"/>
          <p:cNvSpPr>
            <a:spLocks noChangeArrowheads="1"/>
          </p:cNvSpPr>
          <p:nvPr/>
        </p:nvSpPr>
        <p:spPr bwMode="auto">
          <a:xfrm>
            <a:off x="228060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5" name="Rectangle 58"/>
          <p:cNvSpPr>
            <a:spLocks noChangeArrowheads="1"/>
          </p:cNvSpPr>
          <p:nvPr/>
        </p:nvSpPr>
        <p:spPr bwMode="auto">
          <a:xfrm>
            <a:off x="28219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6" name="Rectangle 59"/>
          <p:cNvSpPr>
            <a:spLocks noChangeArrowheads="1"/>
          </p:cNvSpPr>
          <p:nvPr/>
        </p:nvSpPr>
        <p:spPr bwMode="auto">
          <a:xfrm>
            <a:off x="336169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7" name="Rectangle 60"/>
          <p:cNvSpPr>
            <a:spLocks noChangeArrowheads="1"/>
          </p:cNvSpPr>
          <p:nvPr/>
        </p:nvSpPr>
        <p:spPr bwMode="auto">
          <a:xfrm>
            <a:off x="39030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8" name="Rectangle 61"/>
          <p:cNvSpPr>
            <a:spLocks noChangeArrowheads="1"/>
          </p:cNvSpPr>
          <p:nvPr/>
        </p:nvSpPr>
        <p:spPr bwMode="auto">
          <a:xfrm>
            <a:off x="444436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9" name="Rectangle 62"/>
          <p:cNvSpPr>
            <a:spLocks noChangeArrowheads="1"/>
          </p:cNvSpPr>
          <p:nvPr/>
        </p:nvSpPr>
        <p:spPr bwMode="auto">
          <a:xfrm>
            <a:off x="498411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0" name="Rectangle 63"/>
          <p:cNvSpPr>
            <a:spLocks noChangeArrowheads="1"/>
          </p:cNvSpPr>
          <p:nvPr/>
        </p:nvSpPr>
        <p:spPr bwMode="auto">
          <a:xfrm>
            <a:off x="552545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1" name="Rectangle 64"/>
          <p:cNvSpPr>
            <a:spLocks noChangeArrowheads="1"/>
          </p:cNvSpPr>
          <p:nvPr/>
        </p:nvSpPr>
        <p:spPr bwMode="auto">
          <a:xfrm>
            <a:off x="6065203" y="360489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2" name="Rectangle 65"/>
          <p:cNvSpPr>
            <a:spLocks noChangeArrowheads="1"/>
          </p:cNvSpPr>
          <p:nvPr/>
        </p:nvSpPr>
        <p:spPr bwMode="auto">
          <a:xfrm>
            <a:off x="66065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3" name="Rectangle 66"/>
          <p:cNvSpPr>
            <a:spLocks noChangeArrowheads="1"/>
          </p:cNvSpPr>
          <p:nvPr/>
        </p:nvSpPr>
        <p:spPr bwMode="auto">
          <a:xfrm>
            <a:off x="714787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4" name="Rectangle 67"/>
          <p:cNvSpPr>
            <a:spLocks noChangeArrowheads="1"/>
          </p:cNvSpPr>
          <p:nvPr/>
        </p:nvSpPr>
        <p:spPr bwMode="auto">
          <a:xfrm>
            <a:off x="76876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5" name="Rectangle 70"/>
          <p:cNvSpPr>
            <a:spLocks noChangeArrowheads="1"/>
          </p:cNvSpPr>
          <p:nvPr/>
        </p:nvSpPr>
        <p:spPr bwMode="auto">
          <a:xfrm>
            <a:off x="228060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6" name="Rectangle 83"/>
          <p:cNvSpPr>
            <a:spLocks noChangeArrowheads="1"/>
          </p:cNvSpPr>
          <p:nvPr/>
        </p:nvSpPr>
        <p:spPr bwMode="auto">
          <a:xfrm>
            <a:off x="2280603"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7" name="Rectangle 96"/>
          <p:cNvSpPr>
            <a:spLocks noChangeArrowheads="1"/>
          </p:cNvSpPr>
          <p:nvPr/>
        </p:nvSpPr>
        <p:spPr bwMode="auto">
          <a:xfrm>
            <a:off x="2280603"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8" name="Rectangle 109"/>
          <p:cNvSpPr>
            <a:spLocks noChangeArrowheads="1"/>
          </p:cNvSpPr>
          <p:nvPr/>
        </p:nvSpPr>
        <p:spPr bwMode="auto">
          <a:xfrm>
            <a:off x="2280603"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43" name="Rectangle 71"/>
          <p:cNvSpPr>
            <a:spLocks noChangeArrowheads="1"/>
          </p:cNvSpPr>
          <p:nvPr/>
        </p:nvSpPr>
        <p:spPr bwMode="auto">
          <a:xfrm>
            <a:off x="28219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4" name="文本框 63"/>
          <p:cNvSpPr txBox="1"/>
          <p:nvPr/>
        </p:nvSpPr>
        <p:spPr>
          <a:xfrm>
            <a:off x="1127125" y="5362575"/>
            <a:ext cx="7047865" cy="2054225"/>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j&gt;=w[i]</a:t>
            </a:r>
            <a:r>
              <a:rPr lang="zh-CN" altLang="en-US">
                <a:latin typeface="Times New Roman" panose="02020603050405020304" pitchFamily="18" charset="0"/>
                <a:cs typeface="Times New Roman" panose="02020603050405020304" pitchFamily="18" charset="0"/>
              </a:rPr>
              <a:t>表明可以装该物品，那么就可以考虑两个情况，①不考虑该物品的价值是</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，②考虑该物品的价值，加上剩下空间</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，能存放的价值</a:t>
            </a:r>
            <a:r>
              <a:rPr lang="en-US" altLang="zh-CN">
                <a:latin typeface="Times New Roman" panose="02020603050405020304" pitchFamily="18" charset="0"/>
                <a:cs typeface="Times New Roman" panose="02020603050405020304" pitchFamily="18" charset="0"/>
              </a:rPr>
              <a:t>4</a:t>
            </a:r>
            <a:r>
              <a:rPr lang="zh-CN" altLang="en-US">
                <a:latin typeface="Times New Roman" panose="02020603050405020304" pitchFamily="18" charset="0"/>
                <a:cs typeface="Times New Roman" panose="02020603050405020304" pitchFamily="18" charset="0"/>
              </a:rPr>
              <a:t>。然后两者选择最大的值。</a:t>
            </a:r>
            <a:endParaRPr lang="zh-CN" altLang="en-US">
              <a:latin typeface="Times New Roman" panose="02020603050405020304" pitchFamily="18" charset="0"/>
              <a:cs typeface="Times New Roman" panose="02020603050405020304" pitchFamily="18" charset="0"/>
            </a:endParaRPr>
          </a:p>
        </p:txBody>
      </p:sp>
      <p:sp>
        <p:nvSpPr>
          <p:cNvPr id="66" name="矩形标注 65"/>
          <p:cNvSpPr/>
          <p:nvPr/>
        </p:nvSpPr>
        <p:spPr>
          <a:xfrm>
            <a:off x="3676015" y="2346960"/>
            <a:ext cx="1308100" cy="758190"/>
          </a:xfrm>
          <a:prstGeom prst="wedgeRectCallout">
            <a:avLst>
              <a:gd name="adj1" fmla="val -63932"/>
              <a:gd name="adj2" fmla="val 167839"/>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考虑该物品，剩余空间为</a:t>
            </a:r>
            <a:r>
              <a:rPr kumimoji="0" lang="en-US" altLang="zh-CN" sz="1200" b="1" u="none" strike="noStrike" cap="none" normalizeH="0" baseline="0">
                <a:ln>
                  <a:noFill/>
                </a:ln>
                <a:solidFill>
                  <a:schemeClr val="tx1"/>
                </a:solidFill>
                <a:effectLst/>
                <a:latin typeface="宋体" panose="02010600030101010101" pitchFamily="2" charset="-122"/>
              </a:rPr>
              <a:t>j-w[i],</a:t>
            </a:r>
            <a:r>
              <a:rPr kumimoji="0" lang="zh-CN" altLang="en-US" sz="1200" b="1" u="none" strike="noStrike" cap="none" normalizeH="0" baseline="0">
                <a:ln>
                  <a:noFill/>
                </a:ln>
                <a:solidFill>
                  <a:schemeClr val="tx1"/>
                </a:solidFill>
                <a:effectLst/>
                <a:latin typeface="宋体" panose="02010600030101010101" pitchFamily="2" charset="-122"/>
              </a:rPr>
              <a:t>它能盛放最大价值为</a:t>
            </a:r>
            <a:r>
              <a:rPr kumimoji="0" lang="en-US" altLang="zh-CN" sz="1200" b="1" u="none" strike="noStrike" cap="none" normalizeH="0" baseline="0">
                <a:ln>
                  <a:noFill/>
                </a:ln>
                <a:solidFill>
                  <a:schemeClr val="tx1"/>
                </a:solidFill>
                <a:effectLst/>
                <a:latin typeface="宋体" panose="02010600030101010101" pitchFamily="2" charset="-122"/>
              </a:rPr>
              <a:t>1</a:t>
            </a:r>
            <a:r>
              <a:rPr kumimoji="0" lang="zh-CN" altLang="en-US" sz="1200" b="1" u="none" strike="noStrike" cap="none" normalizeH="0" baseline="0">
                <a:ln>
                  <a:noFill/>
                </a:ln>
                <a:solidFill>
                  <a:schemeClr val="tx1"/>
                </a:solidFill>
                <a:effectLst/>
                <a:latin typeface="宋体" panose="02010600030101010101" pitchFamily="2" charset="-122"/>
              </a:rPr>
              <a:t>。</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8" name="Rectangle 72"/>
          <p:cNvSpPr>
            <a:spLocks noChangeArrowheads="1"/>
          </p:cNvSpPr>
          <p:nvPr/>
        </p:nvSpPr>
        <p:spPr bwMode="auto">
          <a:xfrm>
            <a:off x="336169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73"/>
          <p:cNvSpPr>
            <a:spLocks noChangeArrowheads="1"/>
          </p:cNvSpPr>
          <p:nvPr/>
        </p:nvSpPr>
        <p:spPr bwMode="auto">
          <a:xfrm>
            <a:off x="39030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 name="Rectangle 74"/>
          <p:cNvSpPr>
            <a:spLocks noChangeArrowheads="1"/>
          </p:cNvSpPr>
          <p:nvPr/>
        </p:nvSpPr>
        <p:spPr bwMode="auto">
          <a:xfrm>
            <a:off x="444436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3" name="Rectangle 75"/>
          <p:cNvSpPr>
            <a:spLocks noChangeArrowheads="1"/>
          </p:cNvSpPr>
          <p:nvPr/>
        </p:nvSpPr>
        <p:spPr bwMode="auto">
          <a:xfrm>
            <a:off x="498411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9" name="Rectangle 76"/>
          <p:cNvSpPr>
            <a:spLocks noChangeArrowheads="1"/>
          </p:cNvSpPr>
          <p:nvPr/>
        </p:nvSpPr>
        <p:spPr bwMode="auto">
          <a:xfrm>
            <a:off x="552545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77"/>
          <p:cNvSpPr>
            <a:spLocks noChangeArrowheads="1"/>
          </p:cNvSpPr>
          <p:nvPr/>
        </p:nvSpPr>
        <p:spPr bwMode="auto">
          <a:xfrm>
            <a:off x="6065203" y="396684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1" name="Rectangle 78"/>
          <p:cNvSpPr>
            <a:spLocks noChangeArrowheads="1"/>
          </p:cNvSpPr>
          <p:nvPr/>
        </p:nvSpPr>
        <p:spPr bwMode="auto">
          <a:xfrm>
            <a:off x="66065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9"/>
          <p:cNvSpPr>
            <a:spLocks noChangeArrowheads="1"/>
          </p:cNvSpPr>
          <p:nvPr/>
        </p:nvSpPr>
        <p:spPr bwMode="auto">
          <a:xfrm>
            <a:off x="714787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80"/>
          <p:cNvSpPr>
            <a:spLocks noChangeArrowheads="1"/>
          </p:cNvSpPr>
          <p:nvPr/>
        </p:nvSpPr>
        <p:spPr bwMode="auto">
          <a:xfrm>
            <a:off x="76876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84"/>
          <p:cNvSpPr>
            <a:spLocks noChangeArrowheads="1"/>
          </p:cNvSpPr>
          <p:nvPr/>
        </p:nvSpPr>
        <p:spPr bwMode="auto">
          <a:xfrm>
            <a:off x="282194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85"/>
          <p:cNvSpPr>
            <a:spLocks noChangeArrowheads="1"/>
          </p:cNvSpPr>
          <p:nvPr/>
        </p:nvSpPr>
        <p:spPr bwMode="auto">
          <a:xfrm>
            <a:off x="336169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8" name="Rectangle 86"/>
          <p:cNvSpPr>
            <a:spLocks noChangeArrowheads="1"/>
          </p:cNvSpPr>
          <p:nvPr/>
        </p:nvSpPr>
        <p:spPr bwMode="auto">
          <a:xfrm>
            <a:off x="390302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0" name="矩形标注 79"/>
          <p:cNvSpPr/>
          <p:nvPr/>
        </p:nvSpPr>
        <p:spPr>
          <a:xfrm>
            <a:off x="5452745" y="249174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82" name="Rectangle 88"/>
          <p:cNvSpPr>
            <a:spLocks noChangeArrowheads="1"/>
          </p:cNvSpPr>
          <p:nvPr/>
        </p:nvSpPr>
        <p:spPr bwMode="auto">
          <a:xfrm>
            <a:off x="4984116"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89"/>
          <p:cNvSpPr>
            <a:spLocks noChangeArrowheads="1"/>
          </p:cNvSpPr>
          <p:nvPr/>
        </p:nvSpPr>
        <p:spPr bwMode="auto">
          <a:xfrm>
            <a:off x="5525453"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4" name="Rectangle 90"/>
          <p:cNvSpPr>
            <a:spLocks noChangeArrowheads="1"/>
          </p:cNvSpPr>
          <p:nvPr/>
        </p:nvSpPr>
        <p:spPr bwMode="auto">
          <a:xfrm>
            <a:off x="6065203" y="4330383"/>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5" name="Rectangle 91"/>
          <p:cNvSpPr>
            <a:spLocks noChangeArrowheads="1"/>
          </p:cNvSpPr>
          <p:nvPr/>
        </p:nvSpPr>
        <p:spPr bwMode="auto">
          <a:xfrm>
            <a:off x="660654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92"/>
          <p:cNvSpPr>
            <a:spLocks noChangeArrowheads="1"/>
          </p:cNvSpPr>
          <p:nvPr/>
        </p:nvSpPr>
        <p:spPr bwMode="auto">
          <a:xfrm>
            <a:off x="714787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9" name="Rectangle 93"/>
          <p:cNvSpPr>
            <a:spLocks noChangeArrowheads="1"/>
          </p:cNvSpPr>
          <p:nvPr/>
        </p:nvSpPr>
        <p:spPr bwMode="auto">
          <a:xfrm>
            <a:off x="768762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0" name="Rectangle 97"/>
          <p:cNvSpPr>
            <a:spLocks noChangeArrowheads="1"/>
          </p:cNvSpPr>
          <p:nvPr/>
        </p:nvSpPr>
        <p:spPr bwMode="auto">
          <a:xfrm>
            <a:off x="2821941"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1" name="Rectangle 98"/>
          <p:cNvSpPr>
            <a:spLocks noChangeArrowheads="1"/>
          </p:cNvSpPr>
          <p:nvPr/>
        </p:nvSpPr>
        <p:spPr bwMode="auto">
          <a:xfrm>
            <a:off x="3361691"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2" name="Rectangle 99"/>
          <p:cNvSpPr>
            <a:spLocks noChangeArrowheads="1"/>
          </p:cNvSpPr>
          <p:nvPr/>
        </p:nvSpPr>
        <p:spPr bwMode="auto">
          <a:xfrm>
            <a:off x="3903028"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2" name="Rectangle 100"/>
          <p:cNvSpPr>
            <a:spLocks noChangeArrowheads="1"/>
          </p:cNvSpPr>
          <p:nvPr/>
        </p:nvSpPr>
        <p:spPr bwMode="auto">
          <a:xfrm>
            <a:off x="4444366"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5" name="Rectangle 101"/>
          <p:cNvSpPr>
            <a:spLocks noChangeArrowheads="1"/>
          </p:cNvSpPr>
          <p:nvPr/>
        </p:nvSpPr>
        <p:spPr bwMode="auto">
          <a:xfrm>
            <a:off x="4984116"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0" name="Rectangle 102"/>
          <p:cNvSpPr>
            <a:spLocks noChangeArrowheads="1"/>
          </p:cNvSpPr>
          <p:nvPr/>
        </p:nvSpPr>
        <p:spPr bwMode="auto">
          <a:xfrm>
            <a:off x="5525453"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1" name="Rectangle 103"/>
          <p:cNvSpPr>
            <a:spLocks noChangeArrowheads="1"/>
          </p:cNvSpPr>
          <p:nvPr/>
        </p:nvSpPr>
        <p:spPr bwMode="auto">
          <a:xfrm>
            <a:off x="6065203" y="4692333"/>
            <a:ext cx="889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en-US" altLang="zh-CN" sz="1400" b="0" i="0" u="none" strike="noStrike" cap="none" normalizeH="0" baseline="0">
                <a:ln>
                  <a:noFill/>
                </a:ln>
                <a:solidFill>
                  <a:srgbClr val="000000"/>
                </a:solidFill>
                <a:effectLst/>
                <a:latin typeface="Times New Roman" panose="02020603050405020304" pitchFamily="18" charset="0"/>
              </a:rPr>
              <a:t>8</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sp>
        <p:nvSpPr>
          <p:cNvPr id="144" name="Rectangle 104"/>
          <p:cNvSpPr>
            <a:spLocks noChangeArrowheads="1"/>
          </p:cNvSpPr>
          <p:nvPr/>
        </p:nvSpPr>
        <p:spPr bwMode="auto">
          <a:xfrm>
            <a:off x="6606541"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5" name="Rectangle 105"/>
          <p:cNvSpPr>
            <a:spLocks noChangeArrowheads="1"/>
          </p:cNvSpPr>
          <p:nvPr/>
        </p:nvSpPr>
        <p:spPr bwMode="auto">
          <a:xfrm>
            <a:off x="7147878"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6" name="Rectangle 106"/>
          <p:cNvSpPr>
            <a:spLocks noChangeArrowheads="1"/>
          </p:cNvSpPr>
          <p:nvPr/>
        </p:nvSpPr>
        <p:spPr bwMode="auto">
          <a:xfrm>
            <a:off x="7687628"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7" name="Rectangle 110"/>
          <p:cNvSpPr>
            <a:spLocks noChangeArrowheads="1"/>
          </p:cNvSpPr>
          <p:nvPr/>
        </p:nvSpPr>
        <p:spPr bwMode="auto">
          <a:xfrm>
            <a:off x="2821941"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8" name="Rectangle 111"/>
          <p:cNvSpPr>
            <a:spLocks noChangeArrowheads="1"/>
          </p:cNvSpPr>
          <p:nvPr/>
        </p:nvSpPr>
        <p:spPr bwMode="auto">
          <a:xfrm>
            <a:off x="3361691"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9" name="Rectangle 112"/>
          <p:cNvSpPr>
            <a:spLocks noChangeArrowheads="1"/>
          </p:cNvSpPr>
          <p:nvPr/>
        </p:nvSpPr>
        <p:spPr bwMode="auto">
          <a:xfrm>
            <a:off x="3903028"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0" name="Rectangle 113"/>
          <p:cNvSpPr>
            <a:spLocks noChangeArrowheads="1"/>
          </p:cNvSpPr>
          <p:nvPr/>
        </p:nvSpPr>
        <p:spPr bwMode="auto">
          <a:xfrm>
            <a:off x="4444366"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1" name="Rectangle 114"/>
          <p:cNvSpPr>
            <a:spLocks noChangeArrowheads="1"/>
          </p:cNvSpPr>
          <p:nvPr/>
        </p:nvSpPr>
        <p:spPr bwMode="auto">
          <a:xfrm>
            <a:off x="4984116"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2" name="Rectangle 115"/>
          <p:cNvSpPr>
            <a:spLocks noChangeArrowheads="1"/>
          </p:cNvSpPr>
          <p:nvPr/>
        </p:nvSpPr>
        <p:spPr bwMode="auto">
          <a:xfrm>
            <a:off x="5525453"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3" name="Rectangle 116"/>
          <p:cNvSpPr>
            <a:spLocks noChangeArrowheads="1"/>
          </p:cNvSpPr>
          <p:nvPr/>
        </p:nvSpPr>
        <p:spPr bwMode="auto">
          <a:xfrm>
            <a:off x="6065203" y="5051108"/>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4" name="Rectangle 117"/>
          <p:cNvSpPr>
            <a:spLocks noChangeArrowheads="1"/>
          </p:cNvSpPr>
          <p:nvPr/>
        </p:nvSpPr>
        <p:spPr bwMode="auto">
          <a:xfrm>
            <a:off x="6606541"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5" name="Rectangle 118"/>
          <p:cNvSpPr>
            <a:spLocks noChangeArrowheads="1"/>
          </p:cNvSpPr>
          <p:nvPr/>
        </p:nvSpPr>
        <p:spPr bwMode="auto">
          <a:xfrm>
            <a:off x="7147878" y="5051108"/>
            <a:ext cx="26670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6" name="Rectangle 119"/>
          <p:cNvSpPr>
            <a:spLocks noChangeArrowheads="1"/>
          </p:cNvSpPr>
          <p:nvPr/>
        </p:nvSpPr>
        <p:spPr bwMode="auto">
          <a:xfrm>
            <a:off x="7687628" y="5051108"/>
            <a:ext cx="1778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r>
              <a:rPr kumimoji="0" lang="en-US" altLang="zh-CN" sz="1400" b="0" i="0" u="none" strike="noStrike" cap="none" normalizeH="0" baseline="0">
                <a:ln>
                  <a:noFill/>
                </a:ln>
                <a:solidFill>
                  <a:srgbClr val="000000"/>
                </a:solidFill>
                <a:effectLst/>
                <a:latin typeface="Times New Roman" panose="02020603050405020304" pitchFamily="18" charset="0"/>
              </a:rPr>
              <a:t>2</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par>
                          <p:cTn id="7" fill="hold">
                            <p:stCondLst>
                              <p:cond delay="1000"/>
                            </p:stCondLst>
                            <p:childTnLst>
                              <p:par>
                                <p:cTn id="8" presetID="35" presetClass="emph" presetSubtype="0" fill="hold" grpId="2" nodeType="afterEffect">
                                  <p:stCondLst>
                                    <p:cond delay="0"/>
                                  </p:stCondLst>
                                  <p:childTnLst>
                                    <p:anim calcmode="discrete" valueType="str">
                                      <p:cBhvr>
                                        <p:cTn id="9"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80"/>
                                        </p:tgtEl>
                                        <p:attrNameLst>
                                          <p:attrName>style.visibility</p:attrName>
                                        </p:attrNameLst>
                                      </p:cBhvr>
                                      <p:to>
                                        <p:strVal val="visible"/>
                                      </p:to>
                                    </p:set>
                                    <p:anim calcmode="lin" valueType="num">
                                      <p:cBhvr additive="base">
                                        <p:cTn id="14" dur="500" fill="hold"/>
                                        <p:tgtEl>
                                          <p:spTgt spid="80"/>
                                        </p:tgtEl>
                                        <p:attrNameLst>
                                          <p:attrName>ppt_x</p:attrName>
                                        </p:attrNameLst>
                                      </p:cBhvr>
                                      <p:tavLst>
                                        <p:tav tm="0">
                                          <p:val>
                                            <p:strVal val="#ppt_x"/>
                                          </p:val>
                                        </p:tav>
                                        <p:tav tm="100000">
                                          <p:val>
                                            <p:strVal val="#ppt_x"/>
                                          </p:val>
                                        </p:tav>
                                      </p:tavLst>
                                    </p:anim>
                                    <p:anim calcmode="lin" valueType="num">
                                      <p:cBhvr additive="base">
                                        <p:cTn id="15" dur="500" fill="hold"/>
                                        <p:tgtEl>
                                          <p:spTgt spid="80"/>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35" presetClass="emph" presetSubtype="0" fill="hold" grpId="0" nodeType="clickEffect">
                                  <p:stCondLst>
                                    <p:cond delay="0"/>
                                  </p:stCondLst>
                                  <p:childTnLst>
                                    <p:anim calcmode="discrete" valueType="str">
                                      <p:cBhvr>
                                        <p:cTn id="19"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20" fill="hold">
                            <p:stCondLst>
                              <p:cond delay="1000"/>
                            </p:stCondLst>
                            <p:childTnLst>
                              <p:par>
                                <p:cTn id="21" presetID="35" presetClass="emph" presetSubtype="0" fill="hold" grpId="2" nodeType="afterEffect">
                                  <p:stCondLst>
                                    <p:cond delay="0"/>
                                  </p:stCondLst>
                                  <p:childTnLst>
                                    <p:anim calcmode="discrete" valueType="str">
                                      <p:cBhvr>
                                        <p:cTn id="22"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66"/>
                                        </p:tgtEl>
                                        <p:attrNameLst>
                                          <p:attrName>style.visibility</p:attrName>
                                        </p:attrNameLst>
                                      </p:cBhvr>
                                      <p:to>
                                        <p:strVal val="visible"/>
                                      </p:to>
                                    </p:set>
                                    <p:anim calcmode="lin" valueType="num">
                                      <p:cBhvr additive="base">
                                        <p:cTn id="27" dur="500" fill="hold"/>
                                        <p:tgtEl>
                                          <p:spTgt spid="66"/>
                                        </p:tgtEl>
                                        <p:attrNameLst>
                                          <p:attrName>ppt_x</p:attrName>
                                        </p:attrNameLst>
                                      </p:cBhvr>
                                      <p:tavLst>
                                        <p:tav tm="0">
                                          <p:val>
                                            <p:strVal val="#ppt_x"/>
                                          </p:val>
                                        </p:tav>
                                        <p:tav tm="100000">
                                          <p:val>
                                            <p:strVal val="#ppt_x"/>
                                          </p:val>
                                        </p:tav>
                                      </p:tavLst>
                                    </p:anim>
                                    <p:anim calcmode="lin" valueType="num">
                                      <p:cBhvr additive="base">
                                        <p:cTn id="28" dur="500" fill="hold"/>
                                        <p:tgtEl>
                                          <p:spTgt spid="66"/>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82"/>
                                        </p:tgtEl>
                                        <p:attrNameLst>
                                          <p:attrName>style.visibility</p:attrName>
                                        </p:attrNameLst>
                                      </p:cBhvr>
                                      <p:to>
                                        <p:strVal val="visible"/>
                                      </p:to>
                                    </p:set>
                                    <p:anim calcmode="lin" valueType="num">
                                      <p:cBhvr additive="base">
                                        <p:cTn id="33" dur="500" fill="hold"/>
                                        <p:tgtEl>
                                          <p:spTgt spid="82"/>
                                        </p:tgtEl>
                                        <p:attrNameLst>
                                          <p:attrName>ppt_x</p:attrName>
                                        </p:attrNameLst>
                                      </p:cBhvr>
                                      <p:tavLst>
                                        <p:tav tm="0">
                                          <p:val>
                                            <p:strVal val="#ppt_x"/>
                                          </p:val>
                                        </p:tav>
                                        <p:tav tm="100000">
                                          <p:val>
                                            <p:strVal val="#ppt_x"/>
                                          </p:val>
                                        </p:tav>
                                      </p:tavLst>
                                    </p:anim>
                                    <p:anim calcmode="lin" valueType="num">
                                      <p:cBhvr additive="base">
                                        <p:cTn id="34" dur="500" fill="hold"/>
                                        <p:tgtEl>
                                          <p:spTgt spid="82"/>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83"/>
                                        </p:tgtEl>
                                        <p:attrNameLst>
                                          <p:attrName>style.visibility</p:attrName>
                                        </p:attrNameLst>
                                      </p:cBhvr>
                                      <p:to>
                                        <p:strVal val="visible"/>
                                      </p:to>
                                    </p:set>
                                    <p:anim calcmode="lin" valueType="num">
                                      <p:cBhvr additive="base">
                                        <p:cTn id="39" dur="500" fill="hold"/>
                                        <p:tgtEl>
                                          <p:spTgt spid="83"/>
                                        </p:tgtEl>
                                        <p:attrNameLst>
                                          <p:attrName>ppt_x</p:attrName>
                                        </p:attrNameLst>
                                      </p:cBhvr>
                                      <p:tavLst>
                                        <p:tav tm="0">
                                          <p:val>
                                            <p:strVal val="#ppt_x"/>
                                          </p:val>
                                        </p:tav>
                                        <p:tav tm="100000">
                                          <p:val>
                                            <p:strVal val="#ppt_x"/>
                                          </p:val>
                                        </p:tav>
                                      </p:tavLst>
                                    </p:anim>
                                    <p:anim calcmode="lin" valueType="num">
                                      <p:cBhvr additive="base">
                                        <p:cTn id="40" dur="500" fill="hold"/>
                                        <p:tgtEl>
                                          <p:spTgt spid="83"/>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84"/>
                                        </p:tgtEl>
                                        <p:attrNameLst>
                                          <p:attrName>style.visibility</p:attrName>
                                        </p:attrNameLst>
                                      </p:cBhvr>
                                      <p:to>
                                        <p:strVal val="visible"/>
                                      </p:to>
                                    </p:set>
                                    <p:anim calcmode="lin" valueType="num">
                                      <p:cBhvr additive="base">
                                        <p:cTn id="43" dur="500" fill="hold"/>
                                        <p:tgtEl>
                                          <p:spTgt spid="84"/>
                                        </p:tgtEl>
                                        <p:attrNameLst>
                                          <p:attrName>ppt_x</p:attrName>
                                        </p:attrNameLst>
                                      </p:cBhvr>
                                      <p:tavLst>
                                        <p:tav tm="0">
                                          <p:val>
                                            <p:strVal val="#ppt_x"/>
                                          </p:val>
                                        </p:tav>
                                        <p:tav tm="100000">
                                          <p:val>
                                            <p:strVal val="#ppt_x"/>
                                          </p:val>
                                        </p:tav>
                                      </p:tavLst>
                                    </p:anim>
                                    <p:anim calcmode="lin" valueType="num">
                                      <p:cBhvr additive="base">
                                        <p:cTn id="44" dur="500" fill="hold"/>
                                        <p:tgtEl>
                                          <p:spTgt spid="84"/>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anim calcmode="lin" valueType="num">
                                      <p:cBhvr additive="base">
                                        <p:cTn id="47" dur="500" fill="hold"/>
                                        <p:tgtEl>
                                          <p:spTgt spid="85"/>
                                        </p:tgtEl>
                                        <p:attrNameLst>
                                          <p:attrName>ppt_x</p:attrName>
                                        </p:attrNameLst>
                                      </p:cBhvr>
                                      <p:tavLst>
                                        <p:tav tm="0">
                                          <p:val>
                                            <p:strVal val="#ppt_x"/>
                                          </p:val>
                                        </p:tav>
                                        <p:tav tm="100000">
                                          <p:val>
                                            <p:strVal val="#ppt_x"/>
                                          </p:val>
                                        </p:tav>
                                      </p:tavLst>
                                    </p:anim>
                                    <p:anim calcmode="lin" valueType="num">
                                      <p:cBhvr additive="base">
                                        <p:cTn id="48" dur="500" fill="hold"/>
                                        <p:tgtEl>
                                          <p:spTgt spid="85"/>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86"/>
                                        </p:tgtEl>
                                        <p:attrNameLst>
                                          <p:attrName>style.visibility</p:attrName>
                                        </p:attrNameLst>
                                      </p:cBhvr>
                                      <p:to>
                                        <p:strVal val="visible"/>
                                      </p:to>
                                    </p:set>
                                    <p:anim calcmode="lin" valueType="num">
                                      <p:cBhvr additive="base">
                                        <p:cTn id="51" dur="500" fill="hold"/>
                                        <p:tgtEl>
                                          <p:spTgt spid="86"/>
                                        </p:tgtEl>
                                        <p:attrNameLst>
                                          <p:attrName>ppt_x</p:attrName>
                                        </p:attrNameLst>
                                      </p:cBhvr>
                                      <p:tavLst>
                                        <p:tav tm="0">
                                          <p:val>
                                            <p:strVal val="#ppt_x"/>
                                          </p:val>
                                        </p:tav>
                                        <p:tav tm="100000">
                                          <p:val>
                                            <p:strVal val="#ppt_x"/>
                                          </p:val>
                                        </p:tav>
                                      </p:tavLst>
                                    </p:anim>
                                    <p:anim calcmode="lin" valueType="num">
                                      <p:cBhvr additive="base">
                                        <p:cTn id="52" dur="500" fill="hold"/>
                                        <p:tgtEl>
                                          <p:spTgt spid="86"/>
                                        </p:tgtEl>
                                        <p:attrNameLst>
                                          <p:attrName>ppt_y</p:attrName>
                                        </p:attrNameLst>
                                      </p:cBhvr>
                                      <p:tavLst>
                                        <p:tav tm="0">
                                          <p:val>
                                            <p:strVal val="1+#ppt_h/2"/>
                                          </p:val>
                                        </p:tav>
                                        <p:tav tm="100000">
                                          <p:val>
                                            <p:strVal val="#ppt_y"/>
                                          </p:val>
                                        </p:tav>
                                      </p:tavLst>
                                    </p:anim>
                                  </p:childTnLst>
                                </p:cTn>
                              </p:par>
                              <p:par>
                                <p:cTn id="53" presetID="2" presetClass="entr" presetSubtype="4"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anim calcmode="lin" valueType="num">
                                      <p:cBhvr additive="base">
                                        <p:cTn id="55" dur="500" fill="hold"/>
                                        <p:tgtEl>
                                          <p:spTgt spid="89"/>
                                        </p:tgtEl>
                                        <p:attrNameLst>
                                          <p:attrName>ppt_x</p:attrName>
                                        </p:attrNameLst>
                                      </p:cBhvr>
                                      <p:tavLst>
                                        <p:tav tm="0">
                                          <p:val>
                                            <p:strVal val="#ppt_x"/>
                                          </p:val>
                                        </p:tav>
                                        <p:tav tm="100000">
                                          <p:val>
                                            <p:strVal val="#ppt_x"/>
                                          </p:val>
                                        </p:tav>
                                      </p:tavLst>
                                    </p:anim>
                                    <p:anim calcmode="lin" valueType="num">
                                      <p:cBhvr additive="base">
                                        <p:cTn id="56" dur="500" fill="hold"/>
                                        <p:tgtEl>
                                          <p:spTgt spid="89"/>
                                        </p:tgtEl>
                                        <p:attrNameLst>
                                          <p:attrName>ppt_y</p:attrName>
                                        </p:attrNameLst>
                                      </p:cBhvr>
                                      <p:tavLst>
                                        <p:tav tm="0">
                                          <p:val>
                                            <p:strVal val="1+#ppt_h/2"/>
                                          </p:val>
                                        </p:tav>
                                        <p:tav tm="100000">
                                          <p:val>
                                            <p:strVal val="#ppt_y"/>
                                          </p:val>
                                        </p:tav>
                                      </p:tavLst>
                                    </p:anim>
                                  </p:childTnLst>
                                </p:cTn>
                              </p:par>
                              <p:par>
                                <p:cTn id="57" presetID="2" presetClass="entr" presetSubtype="4" fill="hold" grpId="0" nodeType="withEffect">
                                  <p:stCondLst>
                                    <p:cond delay="0"/>
                                  </p:stCondLst>
                                  <p:childTnLst>
                                    <p:set>
                                      <p:cBhvr>
                                        <p:cTn id="58" dur="1" fill="hold">
                                          <p:stCondLst>
                                            <p:cond delay="0"/>
                                          </p:stCondLst>
                                        </p:cTn>
                                        <p:tgtEl>
                                          <p:spTgt spid="90"/>
                                        </p:tgtEl>
                                        <p:attrNameLst>
                                          <p:attrName>style.visibility</p:attrName>
                                        </p:attrNameLst>
                                      </p:cBhvr>
                                      <p:to>
                                        <p:strVal val="visible"/>
                                      </p:to>
                                    </p:set>
                                    <p:anim calcmode="lin" valueType="num">
                                      <p:cBhvr additive="base">
                                        <p:cTn id="59" dur="500" fill="hold"/>
                                        <p:tgtEl>
                                          <p:spTgt spid="90"/>
                                        </p:tgtEl>
                                        <p:attrNameLst>
                                          <p:attrName>ppt_x</p:attrName>
                                        </p:attrNameLst>
                                      </p:cBhvr>
                                      <p:tavLst>
                                        <p:tav tm="0">
                                          <p:val>
                                            <p:strVal val="#ppt_x"/>
                                          </p:val>
                                        </p:tav>
                                        <p:tav tm="100000">
                                          <p:val>
                                            <p:strVal val="#ppt_x"/>
                                          </p:val>
                                        </p:tav>
                                      </p:tavLst>
                                    </p:anim>
                                    <p:anim calcmode="lin" valueType="num">
                                      <p:cBhvr additive="base">
                                        <p:cTn id="60" dur="500" fill="hold"/>
                                        <p:tgtEl>
                                          <p:spTgt spid="90"/>
                                        </p:tgtEl>
                                        <p:attrNameLst>
                                          <p:attrName>ppt_y</p:attrName>
                                        </p:attrNameLst>
                                      </p:cBhvr>
                                      <p:tavLst>
                                        <p:tav tm="0">
                                          <p:val>
                                            <p:strVal val="1+#ppt_h/2"/>
                                          </p:val>
                                        </p:tav>
                                        <p:tav tm="100000">
                                          <p:val>
                                            <p:strVal val="#ppt_y"/>
                                          </p:val>
                                        </p:tav>
                                      </p:tavLst>
                                    </p:anim>
                                  </p:childTnLst>
                                </p:cTn>
                              </p:par>
                              <p:par>
                                <p:cTn id="61" presetID="2" presetClass="entr" presetSubtype="4" fill="hold" grpId="0" nodeType="withEffect">
                                  <p:stCondLst>
                                    <p:cond delay="0"/>
                                  </p:stCondLst>
                                  <p:childTnLst>
                                    <p:set>
                                      <p:cBhvr>
                                        <p:cTn id="62" dur="1" fill="hold">
                                          <p:stCondLst>
                                            <p:cond delay="0"/>
                                          </p:stCondLst>
                                        </p:cTn>
                                        <p:tgtEl>
                                          <p:spTgt spid="91"/>
                                        </p:tgtEl>
                                        <p:attrNameLst>
                                          <p:attrName>style.visibility</p:attrName>
                                        </p:attrNameLst>
                                      </p:cBhvr>
                                      <p:to>
                                        <p:strVal val="visible"/>
                                      </p:to>
                                    </p:set>
                                    <p:anim calcmode="lin" valueType="num">
                                      <p:cBhvr additive="base">
                                        <p:cTn id="63" dur="500" fill="hold"/>
                                        <p:tgtEl>
                                          <p:spTgt spid="91"/>
                                        </p:tgtEl>
                                        <p:attrNameLst>
                                          <p:attrName>ppt_x</p:attrName>
                                        </p:attrNameLst>
                                      </p:cBhvr>
                                      <p:tavLst>
                                        <p:tav tm="0">
                                          <p:val>
                                            <p:strVal val="#ppt_x"/>
                                          </p:val>
                                        </p:tav>
                                        <p:tav tm="100000">
                                          <p:val>
                                            <p:strVal val="#ppt_x"/>
                                          </p:val>
                                        </p:tav>
                                      </p:tavLst>
                                    </p:anim>
                                    <p:anim calcmode="lin" valueType="num">
                                      <p:cBhvr additive="base">
                                        <p:cTn id="64" dur="500" fill="hold"/>
                                        <p:tgtEl>
                                          <p:spTgt spid="91"/>
                                        </p:tgtEl>
                                        <p:attrNameLst>
                                          <p:attrName>ppt_y</p:attrName>
                                        </p:attrNameLst>
                                      </p:cBhvr>
                                      <p:tavLst>
                                        <p:tav tm="0">
                                          <p:val>
                                            <p:strVal val="1+#ppt_h/2"/>
                                          </p:val>
                                        </p:tav>
                                        <p:tav tm="100000">
                                          <p:val>
                                            <p:strVal val="#ppt_y"/>
                                          </p:val>
                                        </p:tav>
                                      </p:tavLst>
                                    </p:anim>
                                  </p:childTnLst>
                                </p:cTn>
                              </p:par>
                              <p:par>
                                <p:cTn id="65" presetID="2" presetClass="entr" presetSubtype="4" fill="hold" grpId="0" nodeType="withEffect">
                                  <p:stCondLst>
                                    <p:cond delay="0"/>
                                  </p:stCondLst>
                                  <p:childTnLst>
                                    <p:set>
                                      <p:cBhvr>
                                        <p:cTn id="66" dur="1" fill="hold">
                                          <p:stCondLst>
                                            <p:cond delay="0"/>
                                          </p:stCondLst>
                                        </p:cTn>
                                        <p:tgtEl>
                                          <p:spTgt spid="92"/>
                                        </p:tgtEl>
                                        <p:attrNameLst>
                                          <p:attrName>style.visibility</p:attrName>
                                        </p:attrNameLst>
                                      </p:cBhvr>
                                      <p:to>
                                        <p:strVal val="visible"/>
                                      </p:to>
                                    </p:set>
                                    <p:anim calcmode="lin" valueType="num">
                                      <p:cBhvr additive="base">
                                        <p:cTn id="67" dur="500" fill="hold"/>
                                        <p:tgtEl>
                                          <p:spTgt spid="92"/>
                                        </p:tgtEl>
                                        <p:attrNameLst>
                                          <p:attrName>ppt_x</p:attrName>
                                        </p:attrNameLst>
                                      </p:cBhvr>
                                      <p:tavLst>
                                        <p:tav tm="0">
                                          <p:val>
                                            <p:strVal val="#ppt_x"/>
                                          </p:val>
                                        </p:tav>
                                        <p:tav tm="100000">
                                          <p:val>
                                            <p:strVal val="#ppt_x"/>
                                          </p:val>
                                        </p:tav>
                                      </p:tavLst>
                                    </p:anim>
                                    <p:anim calcmode="lin" valueType="num">
                                      <p:cBhvr additive="base">
                                        <p:cTn id="68" dur="500" fill="hold"/>
                                        <p:tgtEl>
                                          <p:spTgt spid="92"/>
                                        </p:tgtEl>
                                        <p:attrNameLst>
                                          <p:attrName>ppt_y</p:attrName>
                                        </p:attrNameLst>
                                      </p:cBhvr>
                                      <p:tavLst>
                                        <p:tav tm="0">
                                          <p:val>
                                            <p:strVal val="1+#ppt_h/2"/>
                                          </p:val>
                                        </p:tav>
                                        <p:tav tm="100000">
                                          <p:val>
                                            <p:strVal val="#ppt_y"/>
                                          </p:val>
                                        </p:tav>
                                      </p:tavLst>
                                    </p:anim>
                                  </p:childTnLst>
                                </p:cTn>
                              </p:par>
                              <p:par>
                                <p:cTn id="69" presetID="2" presetClass="entr" presetSubtype="4" fill="hold" grpId="0" nodeType="withEffect">
                                  <p:stCondLst>
                                    <p:cond delay="0"/>
                                  </p:stCondLst>
                                  <p:childTnLst>
                                    <p:set>
                                      <p:cBhvr>
                                        <p:cTn id="70" dur="1" fill="hold">
                                          <p:stCondLst>
                                            <p:cond delay="0"/>
                                          </p:stCondLst>
                                        </p:cTn>
                                        <p:tgtEl>
                                          <p:spTgt spid="102"/>
                                        </p:tgtEl>
                                        <p:attrNameLst>
                                          <p:attrName>style.visibility</p:attrName>
                                        </p:attrNameLst>
                                      </p:cBhvr>
                                      <p:to>
                                        <p:strVal val="visible"/>
                                      </p:to>
                                    </p:set>
                                    <p:anim calcmode="lin" valueType="num">
                                      <p:cBhvr additive="base">
                                        <p:cTn id="71" dur="500" fill="hold"/>
                                        <p:tgtEl>
                                          <p:spTgt spid="102"/>
                                        </p:tgtEl>
                                        <p:attrNameLst>
                                          <p:attrName>ppt_x</p:attrName>
                                        </p:attrNameLst>
                                      </p:cBhvr>
                                      <p:tavLst>
                                        <p:tav tm="0">
                                          <p:val>
                                            <p:strVal val="#ppt_x"/>
                                          </p:val>
                                        </p:tav>
                                        <p:tav tm="100000">
                                          <p:val>
                                            <p:strVal val="#ppt_x"/>
                                          </p:val>
                                        </p:tav>
                                      </p:tavLst>
                                    </p:anim>
                                    <p:anim calcmode="lin" valueType="num">
                                      <p:cBhvr additive="base">
                                        <p:cTn id="72" dur="500" fill="hold"/>
                                        <p:tgtEl>
                                          <p:spTgt spid="102"/>
                                        </p:tgtEl>
                                        <p:attrNameLst>
                                          <p:attrName>ppt_y</p:attrName>
                                        </p:attrNameLst>
                                      </p:cBhvr>
                                      <p:tavLst>
                                        <p:tav tm="0">
                                          <p:val>
                                            <p:strVal val="1+#ppt_h/2"/>
                                          </p:val>
                                        </p:tav>
                                        <p:tav tm="100000">
                                          <p:val>
                                            <p:strVal val="#ppt_y"/>
                                          </p:val>
                                        </p:tav>
                                      </p:tavLst>
                                    </p:anim>
                                  </p:childTnLst>
                                </p:cTn>
                              </p:par>
                              <p:par>
                                <p:cTn id="73" presetID="2" presetClass="entr" presetSubtype="4" fill="hold" grpId="0" nodeType="withEffect">
                                  <p:stCondLst>
                                    <p:cond delay="0"/>
                                  </p:stCondLst>
                                  <p:childTnLst>
                                    <p:set>
                                      <p:cBhvr>
                                        <p:cTn id="74" dur="1" fill="hold">
                                          <p:stCondLst>
                                            <p:cond delay="0"/>
                                          </p:stCondLst>
                                        </p:cTn>
                                        <p:tgtEl>
                                          <p:spTgt spid="115"/>
                                        </p:tgtEl>
                                        <p:attrNameLst>
                                          <p:attrName>style.visibility</p:attrName>
                                        </p:attrNameLst>
                                      </p:cBhvr>
                                      <p:to>
                                        <p:strVal val="visible"/>
                                      </p:to>
                                    </p:set>
                                    <p:anim calcmode="lin" valueType="num">
                                      <p:cBhvr additive="base">
                                        <p:cTn id="75" dur="500" fill="hold"/>
                                        <p:tgtEl>
                                          <p:spTgt spid="115"/>
                                        </p:tgtEl>
                                        <p:attrNameLst>
                                          <p:attrName>ppt_x</p:attrName>
                                        </p:attrNameLst>
                                      </p:cBhvr>
                                      <p:tavLst>
                                        <p:tav tm="0">
                                          <p:val>
                                            <p:strVal val="#ppt_x"/>
                                          </p:val>
                                        </p:tav>
                                        <p:tav tm="100000">
                                          <p:val>
                                            <p:strVal val="#ppt_x"/>
                                          </p:val>
                                        </p:tav>
                                      </p:tavLst>
                                    </p:anim>
                                    <p:anim calcmode="lin" valueType="num">
                                      <p:cBhvr additive="base">
                                        <p:cTn id="76" dur="500" fill="hold"/>
                                        <p:tgtEl>
                                          <p:spTgt spid="115"/>
                                        </p:tgtEl>
                                        <p:attrNameLst>
                                          <p:attrName>ppt_y</p:attrName>
                                        </p:attrNameLst>
                                      </p:cBhvr>
                                      <p:tavLst>
                                        <p:tav tm="0">
                                          <p:val>
                                            <p:strVal val="1+#ppt_h/2"/>
                                          </p:val>
                                        </p:tav>
                                        <p:tav tm="100000">
                                          <p:val>
                                            <p:strVal val="#ppt_y"/>
                                          </p:val>
                                        </p:tav>
                                      </p:tavLst>
                                    </p:anim>
                                  </p:childTnLst>
                                </p:cTn>
                              </p:par>
                              <p:par>
                                <p:cTn id="77" presetID="2" presetClass="entr" presetSubtype="4" fill="hold" grpId="0" nodeType="withEffect">
                                  <p:stCondLst>
                                    <p:cond delay="0"/>
                                  </p:stCondLst>
                                  <p:childTnLst>
                                    <p:set>
                                      <p:cBhvr>
                                        <p:cTn id="78" dur="1" fill="hold">
                                          <p:stCondLst>
                                            <p:cond delay="0"/>
                                          </p:stCondLst>
                                        </p:cTn>
                                        <p:tgtEl>
                                          <p:spTgt spid="140"/>
                                        </p:tgtEl>
                                        <p:attrNameLst>
                                          <p:attrName>style.visibility</p:attrName>
                                        </p:attrNameLst>
                                      </p:cBhvr>
                                      <p:to>
                                        <p:strVal val="visible"/>
                                      </p:to>
                                    </p:set>
                                    <p:anim calcmode="lin" valueType="num">
                                      <p:cBhvr additive="base">
                                        <p:cTn id="79" dur="500" fill="hold"/>
                                        <p:tgtEl>
                                          <p:spTgt spid="140"/>
                                        </p:tgtEl>
                                        <p:attrNameLst>
                                          <p:attrName>ppt_x</p:attrName>
                                        </p:attrNameLst>
                                      </p:cBhvr>
                                      <p:tavLst>
                                        <p:tav tm="0">
                                          <p:val>
                                            <p:strVal val="#ppt_x"/>
                                          </p:val>
                                        </p:tav>
                                        <p:tav tm="100000">
                                          <p:val>
                                            <p:strVal val="#ppt_x"/>
                                          </p:val>
                                        </p:tav>
                                      </p:tavLst>
                                    </p:anim>
                                    <p:anim calcmode="lin" valueType="num">
                                      <p:cBhvr additive="base">
                                        <p:cTn id="80" dur="500" fill="hold"/>
                                        <p:tgtEl>
                                          <p:spTgt spid="140"/>
                                        </p:tgtEl>
                                        <p:attrNameLst>
                                          <p:attrName>ppt_y</p:attrName>
                                        </p:attrNameLst>
                                      </p:cBhvr>
                                      <p:tavLst>
                                        <p:tav tm="0">
                                          <p:val>
                                            <p:strVal val="1+#ppt_h/2"/>
                                          </p:val>
                                        </p:tav>
                                        <p:tav tm="100000">
                                          <p:val>
                                            <p:strVal val="#ppt_y"/>
                                          </p:val>
                                        </p:tav>
                                      </p:tavLst>
                                    </p:anim>
                                  </p:childTnLst>
                                </p:cTn>
                              </p:par>
                              <p:par>
                                <p:cTn id="81" presetID="2" presetClass="entr" presetSubtype="4" fill="hold" grpId="0" nodeType="withEffect">
                                  <p:stCondLst>
                                    <p:cond delay="0"/>
                                  </p:stCondLst>
                                  <p:childTnLst>
                                    <p:set>
                                      <p:cBhvr>
                                        <p:cTn id="82" dur="1" fill="hold">
                                          <p:stCondLst>
                                            <p:cond delay="0"/>
                                          </p:stCondLst>
                                        </p:cTn>
                                        <p:tgtEl>
                                          <p:spTgt spid="141"/>
                                        </p:tgtEl>
                                        <p:attrNameLst>
                                          <p:attrName>style.visibility</p:attrName>
                                        </p:attrNameLst>
                                      </p:cBhvr>
                                      <p:to>
                                        <p:strVal val="visible"/>
                                      </p:to>
                                    </p:set>
                                    <p:anim calcmode="lin" valueType="num">
                                      <p:cBhvr additive="base">
                                        <p:cTn id="83" dur="500" fill="hold"/>
                                        <p:tgtEl>
                                          <p:spTgt spid="141"/>
                                        </p:tgtEl>
                                        <p:attrNameLst>
                                          <p:attrName>ppt_x</p:attrName>
                                        </p:attrNameLst>
                                      </p:cBhvr>
                                      <p:tavLst>
                                        <p:tav tm="0">
                                          <p:val>
                                            <p:strVal val="#ppt_x"/>
                                          </p:val>
                                        </p:tav>
                                        <p:tav tm="100000">
                                          <p:val>
                                            <p:strVal val="#ppt_x"/>
                                          </p:val>
                                        </p:tav>
                                      </p:tavLst>
                                    </p:anim>
                                    <p:anim calcmode="lin" valueType="num">
                                      <p:cBhvr additive="base">
                                        <p:cTn id="84" dur="500" fill="hold"/>
                                        <p:tgtEl>
                                          <p:spTgt spid="141"/>
                                        </p:tgtEl>
                                        <p:attrNameLst>
                                          <p:attrName>ppt_y</p:attrName>
                                        </p:attrNameLst>
                                      </p:cBhvr>
                                      <p:tavLst>
                                        <p:tav tm="0">
                                          <p:val>
                                            <p:strVal val="1+#ppt_h/2"/>
                                          </p:val>
                                        </p:tav>
                                        <p:tav tm="100000">
                                          <p:val>
                                            <p:strVal val="#ppt_y"/>
                                          </p:val>
                                        </p:tav>
                                      </p:tavLst>
                                    </p:anim>
                                  </p:childTnLst>
                                </p:cTn>
                              </p:par>
                              <p:par>
                                <p:cTn id="85" presetID="2" presetClass="entr" presetSubtype="4" fill="hold" grpId="0" nodeType="withEffect">
                                  <p:stCondLst>
                                    <p:cond delay="0"/>
                                  </p:stCondLst>
                                  <p:childTnLst>
                                    <p:set>
                                      <p:cBhvr>
                                        <p:cTn id="86" dur="1" fill="hold">
                                          <p:stCondLst>
                                            <p:cond delay="0"/>
                                          </p:stCondLst>
                                        </p:cTn>
                                        <p:tgtEl>
                                          <p:spTgt spid="144"/>
                                        </p:tgtEl>
                                        <p:attrNameLst>
                                          <p:attrName>style.visibility</p:attrName>
                                        </p:attrNameLst>
                                      </p:cBhvr>
                                      <p:to>
                                        <p:strVal val="visible"/>
                                      </p:to>
                                    </p:set>
                                    <p:anim calcmode="lin" valueType="num">
                                      <p:cBhvr additive="base">
                                        <p:cTn id="87" dur="500" fill="hold"/>
                                        <p:tgtEl>
                                          <p:spTgt spid="144"/>
                                        </p:tgtEl>
                                        <p:attrNameLst>
                                          <p:attrName>ppt_x</p:attrName>
                                        </p:attrNameLst>
                                      </p:cBhvr>
                                      <p:tavLst>
                                        <p:tav tm="0">
                                          <p:val>
                                            <p:strVal val="#ppt_x"/>
                                          </p:val>
                                        </p:tav>
                                        <p:tav tm="100000">
                                          <p:val>
                                            <p:strVal val="#ppt_x"/>
                                          </p:val>
                                        </p:tav>
                                      </p:tavLst>
                                    </p:anim>
                                    <p:anim calcmode="lin" valueType="num">
                                      <p:cBhvr additive="base">
                                        <p:cTn id="88" dur="500" fill="hold"/>
                                        <p:tgtEl>
                                          <p:spTgt spid="144"/>
                                        </p:tgtEl>
                                        <p:attrNameLst>
                                          <p:attrName>ppt_y</p:attrName>
                                        </p:attrNameLst>
                                      </p:cBhvr>
                                      <p:tavLst>
                                        <p:tav tm="0">
                                          <p:val>
                                            <p:strVal val="1+#ppt_h/2"/>
                                          </p:val>
                                        </p:tav>
                                        <p:tav tm="100000">
                                          <p:val>
                                            <p:strVal val="#ppt_y"/>
                                          </p:val>
                                        </p:tav>
                                      </p:tavLst>
                                    </p:anim>
                                  </p:childTnLst>
                                </p:cTn>
                              </p:par>
                              <p:par>
                                <p:cTn id="89" presetID="2" presetClass="entr" presetSubtype="4" fill="hold" grpId="0" nodeType="withEffect">
                                  <p:stCondLst>
                                    <p:cond delay="0"/>
                                  </p:stCondLst>
                                  <p:childTnLst>
                                    <p:set>
                                      <p:cBhvr>
                                        <p:cTn id="90" dur="1" fill="hold">
                                          <p:stCondLst>
                                            <p:cond delay="0"/>
                                          </p:stCondLst>
                                        </p:cTn>
                                        <p:tgtEl>
                                          <p:spTgt spid="145"/>
                                        </p:tgtEl>
                                        <p:attrNameLst>
                                          <p:attrName>style.visibility</p:attrName>
                                        </p:attrNameLst>
                                      </p:cBhvr>
                                      <p:to>
                                        <p:strVal val="visible"/>
                                      </p:to>
                                    </p:set>
                                    <p:anim calcmode="lin" valueType="num">
                                      <p:cBhvr additive="base">
                                        <p:cTn id="91" dur="500" fill="hold"/>
                                        <p:tgtEl>
                                          <p:spTgt spid="145"/>
                                        </p:tgtEl>
                                        <p:attrNameLst>
                                          <p:attrName>ppt_x</p:attrName>
                                        </p:attrNameLst>
                                      </p:cBhvr>
                                      <p:tavLst>
                                        <p:tav tm="0">
                                          <p:val>
                                            <p:strVal val="#ppt_x"/>
                                          </p:val>
                                        </p:tav>
                                        <p:tav tm="100000">
                                          <p:val>
                                            <p:strVal val="#ppt_x"/>
                                          </p:val>
                                        </p:tav>
                                      </p:tavLst>
                                    </p:anim>
                                    <p:anim calcmode="lin" valueType="num">
                                      <p:cBhvr additive="base">
                                        <p:cTn id="92" dur="500" fill="hold"/>
                                        <p:tgtEl>
                                          <p:spTgt spid="145"/>
                                        </p:tgtEl>
                                        <p:attrNameLst>
                                          <p:attrName>ppt_y</p:attrName>
                                        </p:attrNameLst>
                                      </p:cBhvr>
                                      <p:tavLst>
                                        <p:tav tm="0">
                                          <p:val>
                                            <p:strVal val="1+#ppt_h/2"/>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4" fill="hold" grpId="0" nodeType="clickEffect">
                                  <p:stCondLst>
                                    <p:cond delay="0"/>
                                  </p:stCondLst>
                                  <p:childTnLst>
                                    <p:set>
                                      <p:cBhvr>
                                        <p:cTn id="96" dur="1" fill="hold">
                                          <p:stCondLst>
                                            <p:cond delay="0"/>
                                          </p:stCondLst>
                                        </p:cTn>
                                        <p:tgtEl>
                                          <p:spTgt spid="146"/>
                                        </p:tgtEl>
                                        <p:attrNameLst>
                                          <p:attrName>style.visibility</p:attrName>
                                        </p:attrNameLst>
                                      </p:cBhvr>
                                      <p:to>
                                        <p:strVal val="visible"/>
                                      </p:to>
                                    </p:set>
                                    <p:anim calcmode="lin" valueType="num">
                                      <p:cBhvr additive="base">
                                        <p:cTn id="97" dur="500" fill="hold"/>
                                        <p:tgtEl>
                                          <p:spTgt spid="146"/>
                                        </p:tgtEl>
                                        <p:attrNameLst>
                                          <p:attrName>ppt_x</p:attrName>
                                        </p:attrNameLst>
                                      </p:cBhvr>
                                      <p:tavLst>
                                        <p:tav tm="0">
                                          <p:val>
                                            <p:strVal val="#ppt_x"/>
                                          </p:val>
                                        </p:tav>
                                        <p:tav tm="100000">
                                          <p:val>
                                            <p:strVal val="#ppt_x"/>
                                          </p:val>
                                        </p:tav>
                                      </p:tavLst>
                                    </p:anim>
                                    <p:anim calcmode="lin" valueType="num">
                                      <p:cBhvr additive="base">
                                        <p:cTn id="98" dur="500" fill="hold"/>
                                        <p:tgtEl>
                                          <p:spTgt spid="146"/>
                                        </p:tgtEl>
                                        <p:attrNameLst>
                                          <p:attrName>ppt_y</p:attrName>
                                        </p:attrNameLst>
                                      </p:cBhvr>
                                      <p:tavLst>
                                        <p:tav tm="0">
                                          <p:val>
                                            <p:strVal val="1+#ppt_h/2"/>
                                          </p:val>
                                        </p:tav>
                                        <p:tav tm="100000">
                                          <p:val>
                                            <p:strVal val="#ppt_y"/>
                                          </p:val>
                                        </p:tav>
                                      </p:tavLst>
                                    </p:anim>
                                  </p:childTnLst>
                                </p:cTn>
                              </p:par>
                              <p:par>
                                <p:cTn id="99" presetID="2" presetClass="entr" presetSubtype="4" fill="hold" grpId="0" nodeType="withEffect">
                                  <p:stCondLst>
                                    <p:cond delay="0"/>
                                  </p:stCondLst>
                                  <p:childTnLst>
                                    <p:set>
                                      <p:cBhvr>
                                        <p:cTn id="100" dur="1" fill="hold">
                                          <p:stCondLst>
                                            <p:cond delay="0"/>
                                          </p:stCondLst>
                                        </p:cTn>
                                        <p:tgtEl>
                                          <p:spTgt spid="147"/>
                                        </p:tgtEl>
                                        <p:attrNameLst>
                                          <p:attrName>style.visibility</p:attrName>
                                        </p:attrNameLst>
                                      </p:cBhvr>
                                      <p:to>
                                        <p:strVal val="visible"/>
                                      </p:to>
                                    </p:set>
                                    <p:anim calcmode="lin" valueType="num">
                                      <p:cBhvr additive="base">
                                        <p:cTn id="101" dur="500" fill="hold"/>
                                        <p:tgtEl>
                                          <p:spTgt spid="147"/>
                                        </p:tgtEl>
                                        <p:attrNameLst>
                                          <p:attrName>ppt_x</p:attrName>
                                        </p:attrNameLst>
                                      </p:cBhvr>
                                      <p:tavLst>
                                        <p:tav tm="0">
                                          <p:val>
                                            <p:strVal val="#ppt_x"/>
                                          </p:val>
                                        </p:tav>
                                        <p:tav tm="100000">
                                          <p:val>
                                            <p:strVal val="#ppt_x"/>
                                          </p:val>
                                        </p:tav>
                                      </p:tavLst>
                                    </p:anim>
                                    <p:anim calcmode="lin" valueType="num">
                                      <p:cBhvr additive="base">
                                        <p:cTn id="102" dur="500" fill="hold"/>
                                        <p:tgtEl>
                                          <p:spTgt spid="147"/>
                                        </p:tgtEl>
                                        <p:attrNameLst>
                                          <p:attrName>ppt_y</p:attrName>
                                        </p:attrNameLst>
                                      </p:cBhvr>
                                      <p:tavLst>
                                        <p:tav tm="0">
                                          <p:val>
                                            <p:strVal val="1+#ppt_h/2"/>
                                          </p:val>
                                        </p:tav>
                                        <p:tav tm="100000">
                                          <p:val>
                                            <p:strVal val="#ppt_y"/>
                                          </p:val>
                                        </p:tav>
                                      </p:tavLst>
                                    </p:anim>
                                  </p:childTnLst>
                                </p:cTn>
                              </p:par>
                              <p:par>
                                <p:cTn id="103" presetID="2" presetClass="entr" presetSubtype="4" fill="hold" grpId="0" nodeType="withEffect">
                                  <p:stCondLst>
                                    <p:cond delay="0"/>
                                  </p:stCondLst>
                                  <p:childTnLst>
                                    <p:set>
                                      <p:cBhvr>
                                        <p:cTn id="104" dur="1" fill="hold">
                                          <p:stCondLst>
                                            <p:cond delay="0"/>
                                          </p:stCondLst>
                                        </p:cTn>
                                        <p:tgtEl>
                                          <p:spTgt spid="148"/>
                                        </p:tgtEl>
                                        <p:attrNameLst>
                                          <p:attrName>style.visibility</p:attrName>
                                        </p:attrNameLst>
                                      </p:cBhvr>
                                      <p:to>
                                        <p:strVal val="visible"/>
                                      </p:to>
                                    </p:set>
                                    <p:anim calcmode="lin" valueType="num">
                                      <p:cBhvr additive="base">
                                        <p:cTn id="105" dur="500" fill="hold"/>
                                        <p:tgtEl>
                                          <p:spTgt spid="148"/>
                                        </p:tgtEl>
                                        <p:attrNameLst>
                                          <p:attrName>ppt_x</p:attrName>
                                        </p:attrNameLst>
                                      </p:cBhvr>
                                      <p:tavLst>
                                        <p:tav tm="0">
                                          <p:val>
                                            <p:strVal val="#ppt_x"/>
                                          </p:val>
                                        </p:tav>
                                        <p:tav tm="100000">
                                          <p:val>
                                            <p:strVal val="#ppt_x"/>
                                          </p:val>
                                        </p:tav>
                                      </p:tavLst>
                                    </p:anim>
                                    <p:anim calcmode="lin" valueType="num">
                                      <p:cBhvr additive="base">
                                        <p:cTn id="106" dur="500" fill="hold"/>
                                        <p:tgtEl>
                                          <p:spTgt spid="148"/>
                                        </p:tgtEl>
                                        <p:attrNameLst>
                                          <p:attrName>ppt_y</p:attrName>
                                        </p:attrNameLst>
                                      </p:cBhvr>
                                      <p:tavLst>
                                        <p:tav tm="0">
                                          <p:val>
                                            <p:strVal val="1+#ppt_h/2"/>
                                          </p:val>
                                        </p:tav>
                                        <p:tav tm="100000">
                                          <p:val>
                                            <p:strVal val="#ppt_y"/>
                                          </p:val>
                                        </p:tav>
                                      </p:tavLst>
                                    </p:anim>
                                  </p:childTnLst>
                                </p:cTn>
                              </p:par>
                              <p:par>
                                <p:cTn id="107" presetID="2" presetClass="entr" presetSubtype="4" fill="hold" grpId="0" nodeType="withEffect">
                                  <p:stCondLst>
                                    <p:cond delay="0"/>
                                  </p:stCondLst>
                                  <p:childTnLst>
                                    <p:set>
                                      <p:cBhvr>
                                        <p:cTn id="108" dur="1" fill="hold">
                                          <p:stCondLst>
                                            <p:cond delay="0"/>
                                          </p:stCondLst>
                                        </p:cTn>
                                        <p:tgtEl>
                                          <p:spTgt spid="149"/>
                                        </p:tgtEl>
                                        <p:attrNameLst>
                                          <p:attrName>style.visibility</p:attrName>
                                        </p:attrNameLst>
                                      </p:cBhvr>
                                      <p:to>
                                        <p:strVal val="visible"/>
                                      </p:to>
                                    </p:set>
                                    <p:anim calcmode="lin" valueType="num">
                                      <p:cBhvr additive="base">
                                        <p:cTn id="109" dur="500" fill="hold"/>
                                        <p:tgtEl>
                                          <p:spTgt spid="149"/>
                                        </p:tgtEl>
                                        <p:attrNameLst>
                                          <p:attrName>ppt_x</p:attrName>
                                        </p:attrNameLst>
                                      </p:cBhvr>
                                      <p:tavLst>
                                        <p:tav tm="0">
                                          <p:val>
                                            <p:strVal val="#ppt_x"/>
                                          </p:val>
                                        </p:tav>
                                        <p:tav tm="100000">
                                          <p:val>
                                            <p:strVal val="#ppt_x"/>
                                          </p:val>
                                        </p:tav>
                                      </p:tavLst>
                                    </p:anim>
                                    <p:anim calcmode="lin" valueType="num">
                                      <p:cBhvr additive="base">
                                        <p:cTn id="110" dur="500" fill="hold"/>
                                        <p:tgtEl>
                                          <p:spTgt spid="149"/>
                                        </p:tgtEl>
                                        <p:attrNameLst>
                                          <p:attrName>ppt_y</p:attrName>
                                        </p:attrNameLst>
                                      </p:cBhvr>
                                      <p:tavLst>
                                        <p:tav tm="0">
                                          <p:val>
                                            <p:strVal val="1+#ppt_h/2"/>
                                          </p:val>
                                        </p:tav>
                                        <p:tav tm="100000">
                                          <p:val>
                                            <p:strVal val="#ppt_y"/>
                                          </p:val>
                                        </p:tav>
                                      </p:tavLst>
                                    </p:anim>
                                  </p:childTnLst>
                                </p:cTn>
                              </p:par>
                              <p:par>
                                <p:cTn id="111" presetID="2" presetClass="entr" presetSubtype="4" fill="hold" grpId="0" nodeType="withEffect">
                                  <p:stCondLst>
                                    <p:cond delay="0"/>
                                  </p:stCondLst>
                                  <p:childTnLst>
                                    <p:set>
                                      <p:cBhvr>
                                        <p:cTn id="112" dur="1" fill="hold">
                                          <p:stCondLst>
                                            <p:cond delay="0"/>
                                          </p:stCondLst>
                                        </p:cTn>
                                        <p:tgtEl>
                                          <p:spTgt spid="150"/>
                                        </p:tgtEl>
                                        <p:attrNameLst>
                                          <p:attrName>style.visibility</p:attrName>
                                        </p:attrNameLst>
                                      </p:cBhvr>
                                      <p:to>
                                        <p:strVal val="visible"/>
                                      </p:to>
                                    </p:set>
                                    <p:anim calcmode="lin" valueType="num">
                                      <p:cBhvr additive="base">
                                        <p:cTn id="113" dur="500" fill="hold"/>
                                        <p:tgtEl>
                                          <p:spTgt spid="150"/>
                                        </p:tgtEl>
                                        <p:attrNameLst>
                                          <p:attrName>ppt_x</p:attrName>
                                        </p:attrNameLst>
                                      </p:cBhvr>
                                      <p:tavLst>
                                        <p:tav tm="0">
                                          <p:val>
                                            <p:strVal val="#ppt_x"/>
                                          </p:val>
                                        </p:tav>
                                        <p:tav tm="100000">
                                          <p:val>
                                            <p:strVal val="#ppt_x"/>
                                          </p:val>
                                        </p:tav>
                                      </p:tavLst>
                                    </p:anim>
                                    <p:anim calcmode="lin" valueType="num">
                                      <p:cBhvr additive="base">
                                        <p:cTn id="114" dur="500" fill="hold"/>
                                        <p:tgtEl>
                                          <p:spTgt spid="150"/>
                                        </p:tgtEl>
                                        <p:attrNameLst>
                                          <p:attrName>ppt_y</p:attrName>
                                        </p:attrNameLst>
                                      </p:cBhvr>
                                      <p:tavLst>
                                        <p:tav tm="0">
                                          <p:val>
                                            <p:strVal val="1+#ppt_h/2"/>
                                          </p:val>
                                        </p:tav>
                                        <p:tav tm="100000">
                                          <p:val>
                                            <p:strVal val="#ppt_y"/>
                                          </p:val>
                                        </p:tav>
                                      </p:tavLst>
                                    </p:anim>
                                  </p:childTnLst>
                                </p:cTn>
                              </p:par>
                              <p:par>
                                <p:cTn id="115" presetID="2" presetClass="entr" presetSubtype="4" fill="hold" grpId="0" nodeType="withEffect">
                                  <p:stCondLst>
                                    <p:cond delay="0"/>
                                  </p:stCondLst>
                                  <p:childTnLst>
                                    <p:set>
                                      <p:cBhvr>
                                        <p:cTn id="116" dur="1" fill="hold">
                                          <p:stCondLst>
                                            <p:cond delay="0"/>
                                          </p:stCondLst>
                                        </p:cTn>
                                        <p:tgtEl>
                                          <p:spTgt spid="151"/>
                                        </p:tgtEl>
                                        <p:attrNameLst>
                                          <p:attrName>style.visibility</p:attrName>
                                        </p:attrNameLst>
                                      </p:cBhvr>
                                      <p:to>
                                        <p:strVal val="visible"/>
                                      </p:to>
                                    </p:set>
                                    <p:anim calcmode="lin" valueType="num">
                                      <p:cBhvr additive="base">
                                        <p:cTn id="117" dur="500" fill="hold"/>
                                        <p:tgtEl>
                                          <p:spTgt spid="151"/>
                                        </p:tgtEl>
                                        <p:attrNameLst>
                                          <p:attrName>ppt_x</p:attrName>
                                        </p:attrNameLst>
                                      </p:cBhvr>
                                      <p:tavLst>
                                        <p:tav tm="0">
                                          <p:val>
                                            <p:strVal val="#ppt_x"/>
                                          </p:val>
                                        </p:tav>
                                        <p:tav tm="100000">
                                          <p:val>
                                            <p:strVal val="#ppt_x"/>
                                          </p:val>
                                        </p:tav>
                                      </p:tavLst>
                                    </p:anim>
                                    <p:anim calcmode="lin" valueType="num">
                                      <p:cBhvr additive="base">
                                        <p:cTn id="118" dur="500" fill="hold"/>
                                        <p:tgtEl>
                                          <p:spTgt spid="151"/>
                                        </p:tgtEl>
                                        <p:attrNameLst>
                                          <p:attrName>ppt_y</p:attrName>
                                        </p:attrNameLst>
                                      </p:cBhvr>
                                      <p:tavLst>
                                        <p:tav tm="0">
                                          <p:val>
                                            <p:strVal val="1+#ppt_h/2"/>
                                          </p:val>
                                        </p:tav>
                                        <p:tav tm="100000">
                                          <p:val>
                                            <p:strVal val="#ppt_y"/>
                                          </p:val>
                                        </p:tav>
                                      </p:tavLst>
                                    </p:anim>
                                  </p:childTnLst>
                                </p:cTn>
                              </p:par>
                              <p:par>
                                <p:cTn id="119" presetID="2" presetClass="entr" presetSubtype="4" fill="hold" grpId="0" nodeType="withEffect">
                                  <p:stCondLst>
                                    <p:cond delay="0"/>
                                  </p:stCondLst>
                                  <p:childTnLst>
                                    <p:set>
                                      <p:cBhvr>
                                        <p:cTn id="120" dur="1" fill="hold">
                                          <p:stCondLst>
                                            <p:cond delay="0"/>
                                          </p:stCondLst>
                                        </p:cTn>
                                        <p:tgtEl>
                                          <p:spTgt spid="152"/>
                                        </p:tgtEl>
                                        <p:attrNameLst>
                                          <p:attrName>style.visibility</p:attrName>
                                        </p:attrNameLst>
                                      </p:cBhvr>
                                      <p:to>
                                        <p:strVal val="visible"/>
                                      </p:to>
                                    </p:set>
                                    <p:anim calcmode="lin" valueType="num">
                                      <p:cBhvr additive="base">
                                        <p:cTn id="121" dur="500" fill="hold"/>
                                        <p:tgtEl>
                                          <p:spTgt spid="152"/>
                                        </p:tgtEl>
                                        <p:attrNameLst>
                                          <p:attrName>ppt_x</p:attrName>
                                        </p:attrNameLst>
                                      </p:cBhvr>
                                      <p:tavLst>
                                        <p:tav tm="0">
                                          <p:val>
                                            <p:strVal val="#ppt_x"/>
                                          </p:val>
                                        </p:tav>
                                        <p:tav tm="100000">
                                          <p:val>
                                            <p:strVal val="#ppt_x"/>
                                          </p:val>
                                        </p:tav>
                                      </p:tavLst>
                                    </p:anim>
                                    <p:anim calcmode="lin" valueType="num">
                                      <p:cBhvr additive="base">
                                        <p:cTn id="122" dur="500" fill="hold"/>
                                        <p:tgtEl>
                                          <p:spTgt spid="152"/>
                                        </p:tgtEl>
                                        <p:attrNameLst>
                                          <p:attrName>ppt_y</p:attrName>
                                        </p:attrNameLst>
                                      </p:cBhvr>
                                      <p:tavLst>
                                        <p:tav tm="0">
                                          <p:val>
                                            <p:strVal val="1+#ppt_h/2"/>
                                          </p:val>
                                        </p:tav>
                                        <p:tav tm="100000">
                                          <p:val>
                                            <p:strVal val="#ppt_y"/>
                                          </p:val>
                                        </p:tav>
                                      </p:tavLst>
                                    </p:anim>
                                  </p:childTnLst>
                                </p:cTn>
                              </p:par>
                              <p:par>
                                <p:cTn id="123" presetID="2" presetClass="entr" presetSubtype="4" fill="hold" grpId="0" nodeType="withEffect">
                                  <p:stCondLst>
                                    <p:cond delay="0"/>
                                  </p:stCondLst>
                                  <p:childTnLst>
                                    <p:set>
                                      <p:cBhvr>
                                        <p:cTn id="124" dur="1" fill="hold">
                                          <p:stCondLst>
                                            <p:cond delay="0"/>
                                          </p:stCondLst>
                                        </p:cTn>
                                        <p:tgtEl>
                                          <p:spTgt spid="153"/>
                                        </p:tgtEl>
                                        <p:attrNameLst>
                                          <p:attrName>style.visibility</p:attrName>
                                        </p:attrNameLst>
                                      </p:cBhvr>
                                      <p:to>
                                        <p:strVal val="visible"/>
                                      </p:to>
                                    </p:set>
                                    <p:anim calcmode="lin" valueType="num">
                                      <p:cBhvr additive="base">
                                        <p:cTn id="125" dur="500" fill="hold"/>
                                        <p:tgtEl>
                                          <p:spTgt spid="153"/>
                                        </p:tgtEl>
                                        <p:attrNameLst>
                                          <p:attrName>ppt_x</p:attrName>
                                        </p:attrNameLst>
                                      </p:cBhvr>
                                      <p:tavLst>
                                        <p:tav tm="0">
                                          <p:val>
                                            <p:strVal val="#ppt_x"/>
                                          </p:val>
                                        </p:tav>
                                        <p:tav tm="100000">
                                          <p:val>
                                            <p:strVal val="#ppt_x"/>
                                          </p:val>
                                        </p:tav>
                                      </p:tavLst>
                                    </p:anim>
                                    <p:anim calcmode="lin" valueType="num">
                                      <p:cBhvr additive="base">
                                        <p:cTn id="126" dur="500" fill="hold"/>
                                        <p:tgtEl>
                                          <p:spTgt spid="153"/>
                                        </p:tgtEl>
                                        <p:attrNameLst>
                                          <p:attrName>ppt_y</p:attrName>
                                        </p:attrNameLst>
                                      </p:cBhvr>
                                      <p:tavLst>
                                        <p:tav tm="0">
                                          <p:val>
                                            <p:strVal val="1+#ppt_h/2"/>
                                          </p:val>
                                        </p:tav>
                                        <p:tav tm="100000">
                                          <p:val>
                                            <p:strVal val="#ppt_y"/>
                                          </p:val>
                                        </p:tav>
                                      </p:tavLst>
                                    </p:anim>
                                  </p:childTnLst>
                                </p:cTn>
                              </p:par>
                              <p:par>
                                <p:cTn id="127" presetID="2" presetClass="entr" presetSubtype="4" fill="hold" grpId="0" nodeType="withEffect">
                                  <p:stCondLst>
                                    <p:cond delay="0"/>
                                  </p:stCondLst>
                                  <p:childTnLst>
                                    <p:set>
                                      <p:cBhvr>
                                        <p:cTn id="128" dur="1" fill="hold">
                                          <p:stCondLst>
                                            <p:cond delay="0"/>
                                          </p:stCondLst>
                                        </p:cTn>
                                        <p:tgtEl>
                                          <p:spTgt spid="154"/>
                                        </p:tgtEl>
                                        <p:attrNameLst>
                                          <p:attrName>style.visibility</p:attrName>
                                        </p:attrNameLst>
                                      </p:cBhvr>
                                      <p:to>
                                        <p:strVal val="visible"/>
                                      </p:to>
                                    </p:set>
                                    <p:anim calcmode="lin" valueType="num">
                                      <p:cBhvr additive="base">
                                        <p:cTn id="129" dur="500" fill="hold"/>
                                        <p:tgtEl>
                                          <p:spTgt spid="154"/>
                                        </p:tgtEl>
                                        <p:attrNameLst>
                                          <p:attrName>ppt_x</p:attrName>
                                        </p:attrNameLst>
                                      </p:cBhvr>
                                      <p:tavLst>
                                        <p:tav tm="0">
                                          <p:val>
                                            <p:strVal val="#ppt_x"/>
                                          </p:val>
                                        </p:tav>
                                        <p:tav tm="100000">
                                          <p:val>
                                            <p:strVal val="#ppt_x"/>
                                          </p:val>
                                        </p:tav>
                                      </p:tavLst>
                                    </p:anim>
                                    <p:anim calcmode="lin" valueType="num">
                                      <p:cBhvr additive="base">
                                        <p:cTn id="130" dur="500" fill="hold"/>
                                        <p:tgtEl>
                                          <p:spTgt spid="154"/>
                                        </p:tgtEl>
                                        <p:attrNameLst>
                                          <p:attrName>ppt_y</p:attrName>
                                        </p:attrNameLst>
                                      </p:cBhvr>
                                      <p:tavLst>
                                        <p:tav tm="0">
                                          <p:val>
                                            <p:strVal val="1+#ppt_h/2"/>
                                          </p:val>
                                        </p:tav>
                                        <p:tav tm="100000">
                                          <p:val>
                                            <p:strVal val="#ppt_y"/>
                                          </p:val>
                                        </p:tav>
                                      </p:tavLst>
                                    </p:anim>
                                  </p:childTnLst>
                                </p:cTn>
                              </p:par>
                              <p:par>
                                <p:cTn id="131" presetID="2" presetClass="entr" presetSubtype="4" fill="hold" grpId="0" nodeType="withEffect">
                                  <p:stCondLst>
                                    <p:cond delay="0"/>
                                  </p:stCondLst>
                                  <p:childTnLst>
                                    <p:set>
                                      <p:cBhvr>
                                        <p:cTn id="132" dur="1" fill="hold">
                                          <p:stCondLst>
                                            <p:cond delay="0"/>
                                          </p:stCondLst>
                                        </p:cTn>
                                        <p:tgtEl>
                                          <p:spTgt spid="155"/>
                                        </p:tgtEl>
                                        <p:attrNameLst>
                                          <p:attrName>style.visibility</p:attrName>
                                        </p:attrNameLst>
                                      </p:cBhvr>
                                      <p:to>
                                        <p:strVal val="visible"/>
                                      </p:to>
                                    </p:set>
                                    <p:anim calcmode="lin" valueType="num">
                                      <p:cBhvr additive="base">
                                        <p:cTn id="133" dur="500" fill="hold"/>
                                        <p:tgtEl>
                                          <p:spTgt spid="155"/>
                                        </p:tgtEl>
                                        <p:attrNameLst>
                                          <p:attrName>ppt_x</p:attrName>
                                        </p:attrNameLst>
                                      </p:cBhvr>
                                      <p:tavLst>
                                        <p:tav tm="0">
                                          <p:val>
                                            <p:strVal val="#ppt_x"/>
                                          </p:val>
                                        </p:tav>
                                        <p:tav tm="100000">
                                          <p:val>
                                            <p:strVal val="#ppt_x"/>
                                          </p:val>
                                        </p:tav>
                                      </p:tavLst>
                                    </p:anim>
                                    <p:anim calcmode="lin" valueType="num">
                                      <p:cBhvr additive="base">
                                        <p:cTn id="134" dur="500" fill="hold"/>
                                        <p:tgtEl>
                                          <p:spTgt spid="155"/>
                                        </p:tgtEl>
                                        <p:attrNameLst>
                                          <p:attrName>ppt_y</p:attrName>
                                        </p:attrNameLst>
                                      </p:cBhvr>
                                      <p:tavLst>
                                        <p:tav tm="0">
                                          <p:val>
                                            <p:strVal val="1+#ppt_h/2"/>
                                          </p:val>
                                        </p:tav>
                                        <p:tav tm="100000">
                                          <p:val>
                                            <p:strVal val="#ppt_y"/>
                                          </p:val>
                                        </p:tav>
                                      </p:tavLst>
                                    </p:anim>
                                  </p:childTnLst>
                                </p:cTn>
                              </p:par>
                              <p:par>
                                <p:cTn id="135" presetID="2" presetClass="entr" presetSubtype="4" fill="hold" grpId="0" nodeType="withEffect">
                                  <p:stCondLst>
                                    <p:cond delay="0"/>
                                  </p:stCondLst>
                                  <p:childTnLst>
                                    <p:set>
                                      <p:cBhvr>
                                        <p:cTn id="136" dur="1" fill="hold">
                                          <p:stCondLst>
                                            <p:cond delay="0"/>
                                          </p:stCondLst>
                                        </p:cTn>
                                        <p:tgtEl>
                                          <p:spTgt spid="156"/>
                                        </p:tgtEl>
                                        <p:attrNameLst>
                                          <p:attrName>style.visibility</p:attrName>
                                        </p:attrNameLst>
                                      </p:cBhvr>
                                      <p:to>
                                        <p:strVal val="visible"/>
                                      </p:to>
                                    </p:set>
                                    <p:anim calcmode="lin" valueType="num">
                                      <p:cBhvr additive="base">
                                        <p:cTn id="137" dur="500" fill="hold"/>
                                        <p:tgtEl>
                                          <p:spTgt spid="156"/>
                                        </p:tgtEl>
                                        <p:attrNameLst>
                                          <p:attrName>ppt_x</p:attrName>
                                        </p:attrNameLst>
                                      </p:cBhvr>
                                      <p:tavLst>
                                        <p:tav tm="0">
                                          <p:val>
                                            <p:strVal val="#ppt_x"/>
                                          </p:val>
                                        </p:tav>
                                        <p:tav tm="100000">
                                          <p:val>
                                            <p:strVal val="#ppt_x"/>
                                          </p:val>
                                        </p:tav>
                                      </p:tavLst>
                                    </p:anim>
                                    <p:anim calcmode="lin" valueType="num">
                                      <p:cBhvr additive="base">
                                        <p:cTn id="138" dur="500" fill="hold"/>
                                        <p:tgtEl>
                                          <p:spTgt spid="15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 grpId="0" bldLvl="0" animBg="1"/>
      <p:bldP spid="81" grpId="1" animBg="1"/>
      <p:bldP spid="81" grpId="2" bldLvl="0" animBg="1"/>
      <p:bldP spid="79" grpId="0" bldLvl="0" animBg="1"/>
      <p:bldP spid="79" grpId="1" animBg="1"/>
      <p:bldP spid="79" grpId="2" bldLvl="0" animBg="1"/>
      <p:bldP spid="2" grpId="1"/>
      <p:bldP spid="5" grpId="1"/>
      <p:bldP spid="126" grpId="1"/>
      <p:bldP spid="127" grpId="1"/>
      <p:bldP spid="128" grpId="1"/>
      <p:bldP spid="129" grpId="1"/>
      <p:bldP spid="130" grpId="1"/>
      <p:bldP spid="131" grpId="1"/>
      <p:bldP spid="132" grpId="1"/>
      <p:bldP spid="133" grpId="1"/>
      <p:bldP spid="134" grpId="1"/>
      <p:bldP spid="135" grpId="1"/>
      <p:bldP spid="136" grpId="1"/>
      <p:bldP spid="137" grpId="1"/>
      <p:bldP spid="138" grpId="1"/>
      <p:bldP spid="143" grpId="1"/>
      <p:bldP spid="64" grpId="1"/>
      <p:bldP spid="66" grpId="0" animBg="1"/>
      <p:bldP spid="66" grpId="1" animBg="1"/>
      <p:bldP spid="68" grpId="1"/>
      <p:bldP spid="9" grpId="1"/>
      <p:bldP spid="10" grpId="1"/>
      <p:bldP spid="63" grpId="1"/>
      <p:bldP spid="69" grpId="1"/>
      <p:bldP spid="70" grpId="1"/>
      <p:bldP spid="71" grpId="1"/>
      <p:bldP spid="72" grpId="1"/>
      <p:bldP spid="73" grpId="1"/>
      <p:bldP spid="76" grpId="1"/>
      <p:bldP spid="77" grpId="1"/>
      <p:bldP spid="78" grpId="1"/>
      <p:bldP spid="80" grpId="0" bldLvl="0" animBg="1"/>
      <p:bldP spid="80" grpId="1" animBg="1"/>
      <p:bldP spid="82" grpId="0"/>
      <p:bldP spid="82" grpId="1"/>
      <p:bldP spid="83" grpId="0"/>
      <p:bldP spid="83" grpId="1"/>
      <p:bldP spid="84" grpId="0"/>
      <p:bldP spid="84" grpId="1"/>
      <p:bldP spid="85" grpId="0"/>
      <p:bldP spid="85" grpId="1"/>
      <p:bldP spid="86" grpId="0"/>
      <p:bldP spid="86" grpId="1"/>
      <p:bldP spid="89" grpId="0"/>
      <p:bldP spid="89" grpId="1"/>
      <p:bldP spid="90" grpId="0"/>
      <p:bldP spid="90" grpId="1"/>
      <p:bldP spid="91" grpId="0"/>
      <p:bldP spid="91" grpId="1"/>
      <p:bldP spid="92" grpId="0"/>
      <p:bldP spid="92" grpId="1"/>
      <p:bldP spid="102" grpId="0"/>
      <p:bldP spid="102" grpId="1"/>
      <p:bldP spid="115" grpId="0"/>
      <p:bldP spid="115" grpId="1"/>
      <p:bldP spid="140" grpId="0"/>
      <p:bldP spid="140" grpId="1"/>
      <p:bldP spid="141" grpId="0"/>
      <p:bldP spid="141" grpId="1"/>
      <p:bldP spid="144" grpId="0"/>
      <p:bldP spid="144" grpId="1"/>
      <p:bldP spid="145" grpId="0"/>
      <p:bldP spid="145" grpId="1"/>
      <p:bldP spid="146" grpId="0"/>
      <p:bldP spid="146" grpId="1"/>
      <p:bldP spid="147" grpId="0"/>
      <p:bldP spid="147" grpId="1"/>
      <p:bldP spid="148" grpId="0"/>
      <p:bldP spid="148" grpId="1"/>
      <p:bldP spid="149" grpId="0"/>
      <p:bldP spid="149" grpId="1"/>
      <p:bldP spid="150" grpId="0"/>
      <p:bldP spid="150" grpId="1"/>
      <p:bldP spid="151" grpId="0"/>
      <p:bldP spid="151" grpId="1"/>
      <p:bldP spid="152" grpId="0"/>
      <p:bldP spid="152" grpId="1"/>
      <p:bldP spid="153" grpId="0"/>
      <p:bldP spid="153" grpId="1"/>
      <p:bldP spid="154" grpId="0"/>
      <p:bldP spid="154" grpId="1"/>
      <p:bldP spid="155" grpId="0"/>
      <p:bldP spid="155" grpId="1"/>
      <p:bldP spid="156" grpId="0"/>
      <p:bldP spid="156" grpId="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8" name="文本框 7"/>
          <p:cNvSpPr txBox="1"/>
          <p:nvPr/>
        </p:nvSpPr>
        <p:spPr>
          <a:xfrm>
            <a:off x="179070" y="764540"/>
            <a:ext cx="2254250" cy="368300"/>
          </a:xfrm>
          <a:prstGeom prst="rect">
            <a:avLst/>
          </a:prstGeom>
          <a:noFill/>
        </p:spPr>
        <p:txBody>
          <a:bodyPr wrap="square" rtlCol="0">
            <a:spAutoFit/>
          </a:bodyPr>
          <a:lstStyle/>
          <a:p>
            <a:r>
              <a:rPr lang="zh-CN" altLang="en-US"/>
              <a:t>确定状态转移方程</a:t>
            </a:r>
            <a:endParaRPr lang="zh-CN" altLang="en-US"/>
          </a:p>
        </p:txBody>
      </p:sp>
      <p:sp>
        <p:nvSpPr>
          <p:cNvPr id="12" name="文本框 11"/>
          <p:cNvSpPr txBox="1"/>
          <p:nvPr/>
        </p:nvSpPr>
        <p:spPr>
          <a:xfrm>
            <a:off x="2610485" y="1484630"/>
            <a:ext cx="3404235" cy="499745"/>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rPr>
              <a:t>当前物品</a:t>
            </a:r>
            <a:r>
              <a:rPr lang="en-US" altLang="zh-CN">
                <a:solidFill>
                  <a:schemeClr val="tx1"/>
                </a:solidFill>
                <a:uFillTx/>
                <a:latin typeface="Times New Roman" panose="02020603050405020304" pitchFamily="18" charset="0"/>
              </a:rPr>
              <a:t>i</a:t>
            </a:r>
            <a:r>
              <a:rPr lang="zh-CN" altLang="en-US">
                <a:solidFill>
                  <a:schemeClr val="tx1"/>
                </a:solidFill>
                <a:uFillTx/>
                <a:latin typeface="Times New Roman" panose="02020603050405020304" pitchFamily="18" charset="0"/>
              </a:rPr>
              <a:t>能不能放入背包？</a:t>
            </a:r>
            <a:endParaRPr lang="zh-CN" altLang="en-US">
              <a:solidFill>
                <a:schemeClr val="tx1"/>
              </a:solidFill>
              <a:uFillTx/>
              <a:latin typeface="Times New Roman" panose="02020603050405020304" pitchFamily="18" charset="0"/>
            </a:endParaRPr>
          </a:p>
        </p:txBody>
      </p:sp>
      <p:cxnSp>
        <p:nvCxnSpPr>
          <p:cNvPr id="65" name="直接箭头连接符 64"/>
          <p:cNvCxnSpPr/>
          <p:nvPr/>
        </p:nvCxnSpPr>
        <p:spPr>
          <a:xfrm>
            <a:off x="4165600" y="1823720"/>
            <a:ext cx="677545" cy="669290"/>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cxnSp>
        <p:nvCxnSpPr>
          <p:cNvPr id="67" name="直接箭头连接符 66"/>
          <p:cNvCxnSpPr/>
          <p:nvPr/>
        </p:nvCxnSpPr>
        <p:spPr>
          <a:xfrm flipH="1">
            <a:off x="3572510" y="1835785"/>
            <a:ext cx="601980" cy="686435"/>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sp>
        <p:nvSpPr>
          <p:cNvPr id="94" name="文本框 93"/>
          <p:cNvSpPr txBox="1"/>
          <p:nvPr/>
        </p:nvSpPr>
        <p:spPr>
          <a:xfrm>
            <a:off x="2258695" y="2529205"/>
            <a:ext cx="1877695" cy="92075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rPr>
              <a:t>若放不下该物品，则该位置的价值</a:t>
            </a:r>
            <a:r>
              <a:rPr lang="en-US" altLang="zh-CN">
                <a:solidFill>
                  <a:schemeClr val="tx1"/>
                </a:solidFill>
                <a:uFillTx/>
                <a:latin typeface="Times New Roman" panose="02020603050405020304" pitchFamily="18" charset="0"/>
              </a:rPr>
              <a:t>dp[i-1][j]</a:t>
            </a:r>
            <a:endParaRPr lang="en-US" altLang="zh-CN">
              <a:solidFill>
                <a:schemeClr val="tx1"/>
              </a:solidFill>
              <a:uFillTx/>
              <a:latin typeface="Times New Roman" panose="02020603050405020304" pitchFamily="18" charset="0"/>
            </a:endParaRPr>
          </a:p>
        </p:txBody>
      </p:sp>
      <p:sp>
        <p:nvSpPr>
          <p:cNvPr id="95" name="文本框 94"/>
          <p:cNvSpPr txBox="1"/>
          <p:nvPr/>
        </p:nvSpPr>
        <p:spPr>
          <a:xfrm>
            <a:off x="4410710" y="2529205"/>
            <a:ext cx="1884045" cy="922020"/>
          </a:xfrm>
          <a:prstGeom prst="rect">
            <a:avLst/>
          </a:prstGeom>
          <a:noFill/>
        </p:spPr>
        <p:txBody>
          <a:bodyPr wrap="square" rtlCol="0">
            <a:spAutoFit/>
          </a:bodyPr>
          <a:lstStyle/>
          <a:p>
            <a:r>
              <a:rPr lang="zh-CN" altLang="en-US"/>
              <a:t>若放得下该物品，可以考虑选与不选</a:t>
            </a:r>
            <a:endParaRPr lang="zh-CN" altLang="en-US"/>
          </a:p>
        </p:txBody>
      </p:sp>
      <p:cxnSp>
        <p:nvCxnSpPr>
          <p:cNvPr id="96" name="直接箭头连接符 95"/>
          <p:cNvCxnSpPr/>
          <p:nvPr/>
        </p:nvCxnSpPr>
        <p:spPr>
          <a:xfrm>
            <a:off x="5274945" y="3354705"/>
            <a:ext cx="677545" cy="669290"/>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cxnSp>
        <p:nvCxnSpPr>
          <p:cNvPr id="97" name="直接箭头连接符 96"/>
          <p:cNvCxnSpPr/>
          <p:nvPr/>
        </p:nvCxnSpPr>
        <p:spPr>
          <a:xfrm flipH="1">
            <a:off x="4681855" y="3366770"/>
            <a:ext cx="601980" cy="686435"/>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sp>
        <p:nvSpPr>
          <p:cNvPr id="98" name="文本框 97"/>
          <p:cNvSpPr txBox="1"/>
          <p:nvPr/>
        </p:nvSpPr>
        <p:spPr>
          <a:xfrm>
            <a:off x="3763010" y="4088765"/>
            <a:ext cx="1429385" cy="357505"/>
          </a:xfrm>
          <a:prstGeom prst="rect">
            <a:avLst/>
          </a:prstGeom>
          <a:noFill/>
        </p:spPr>
        <p:txBody>
          <a:bodyPr wrap="square" rtlCol="0" anchor="t">
            <a:noAutofit/>
          </a:bodyPr>
          <a:lstStyle/>
          <a:p>
            <a:r>
              <a:rPr lang="zh-CN" altLang="en-US">
                <a:uFillTx/>
                <a:latin typeface="Times New Roman" panose="02020603050405020304" pitchFamily="18" charset="0"/>
                <a:sym typeface="+mn-ea"/>
              </a:rPr>
              <a:t>该位置的价值</a:t>
            </a:r>
            <a:r>
              <a:rPr lang="en-US" altLang="zh-CN">
                <a:uFillTx/>
                <a:latin typeface="Times New Roman" panose="02020603050405020304" pitchFamily="18" charset="0"/>
                <a:sym typeface="+mn-ea"/>
              </a:rPr>
              <a:t>dp[i-1][j]</a:t>
            </a:r>
            <a:endParaRPr lang="en-US" altLang="zh-CN">
              <a:uFillTx/>
              <a:latin typeface="Times New Roman" panose="02020603050405020304" pitchFamily="18" charset="0"/>
              <a:sym typeface="+mn-ea"/>
            </a:endParaRPr>
          </a:p>
        </p:txBody>
      </p:sp>
      <p:sp>
        <p:nvSpPr>
          <p:cNvPr id="99" name="文本框 98"/>
          <p:cNvSpPr txBox="1"/>
          <p:nvPr/>
        </p:nvSpPr>
        <p:spPr>
          <a:xfrm>
            <a:off x="4238625" y="3422650"/>
            <a:ext cx="810260" cy="300990"/>
          </a:xfrm>
          <a:prstGeom prst="rect">
            <a:avLst/>
          </a:prstGeom>
          <a:noFill/>
        </p:spPr>
        <p:txBody>
          <a:bodyPr wrap="square" rtlCol="0">
            <a:noAutofit/>
          </a:bodyPr>
          <a:lstStyle/>
          <a:p>
            <a:r>
              <a:rPr lang="zh-CN" altLang="en-US">
                <a:solidFill>
                  <a:schemeClr val="accent1"/>
                </a:solidFill>
              </a:rPr>
              <a:t>不选</a:t>
            </a:r>
            <a:endParaRPr lang="zh-CN" altLang="en-US">
              <a:solidFill>
                <a:schemeClr val="accent1"/>
              </a:solidFill>
            </a:endParaRPr>
          </a:p>
        </p:txBody>
      </p:sp>
      <p:sp>
        <p:nvSpPr>
          <p:cNvPr id="103" name="文本框 102"/>
          <p:cNvSpPr txBox="1"/>
          <p:nvPr/>
        </p:nvSpPr>
        <p:spPr>
          <a:xfrm>
            <a:off x="5661660" y="3422650"/>
            <a:ext cx="810260" cy="300990"/>
          </a:xfrm>
          <a:prstGeom prst="rect">
            <a:avLst/>
          </a:prstGeom>
          <a:noFill/>
        </p:spPr>
        <p:txBody>
          <a:bodyPr wrap="square" rtlCol="0">
            <a:noAutofit/>
          </a:bodyPr>
          <a:lstStyle/>
          <a:p>
            <a:r>
              <a:rPr lang="zh-CN" altLang="en-US">
                <a:solidFill>
                  <a:schemeClr val="accent1"/>
                </a:solidFill>
              </a:rPr>
              <a:t>选</a:t>
            </a:r>
            <a:endParaRPr lang="zh-CN" altLang="en-US">
              <a:solidFill>
                <a:schemeClr val="accent1"/>
              </a:solidFill>
            </a:endParaRPr>
          </a:p>
        </p:txBody>
      </p:sp>
      <p:sp>
        <p:nvSpPr>
          <p:cNvPr id="104" name="文本框 103"/>
          <p:cNvSpPr txBox="1"/>
          <p:nvPr/>
        </p:nvSpPr>
        <p:spPr>
          <a:xfrm>
            <a:off x="5259070" y="4107180"/>
            <a:ext cx="2051685" cy="1047750"/>
          </a:xfrm>
          <a:prstGeom prst="rect">
            <a:avLst/>
          </a:prstGeom>
          <a:noFill/>
        </p:spPr>
        <p:txBody>
          <a:bodyPr wrap="square" rtlCol="0" anchor="t">
            <a:noAutofit/>
          </a:bodyPr>
          <a:lstStyle/>
          <a:p>
            <a:r>
              <a:rPr lang="zh-CN" altLang="en-US">
                <a:uFillTx/>
                <a:latin typeface="Times New Roman" panose="02020603050405020304" pitchFamily="18" charset="0"/>
                <a:sym typeface="+mn-ea"/>
              </a:rPr>
              <a:t>加上该物品</a:t>
            </a:r>
            <a:r>
              <a:rPr lang="en-US" altLang="zh-CN">
                <a:uFillTx/>
                <a:latin typeface="Times New Roman" panose="02020603050405020304" pitchFamily="18" charset="0"/>
                <a:sym typeface="+mn-ea"/>
              </a:rPr>
              <a:t>i</a:t>
            </a:r>
            <a:r>
              <a:rPr lang="zh-CN" altLang="en-US">
                <a:uFillTx/>
                <a:latin typeface="Times New Roman" panose="02020603050405020304" pitchFamily="18" charset="0"/>
                <a:sym typeface="+mn-ea"/>
              </a:rPr>
              <a:t>价值，剩下空间为</a:t>
            </a:r>
            <a:r>
              <a:rPr lang="en-US" altLang="zh-CN">
                <a:uFillTx/>
                <a:latin typeface="Times New Roman" panose="02020603050405020304" pitchFamily="18" charset="0"/>
                <a:sym typeface="+mn-ea"/>
              </a:rPr>
              <a:t>j-w[i]</a:t>
            </a:r>
            <a:r>
              <a:rPr lang="zh-CN" altLang="en-US">
                <a:uFillTx/>
                <a:latin typeface="Times New Roman" panose="02020603050405020304" pitchFamily="18" charset="0"/>
                <a:sym typeface="+mn-ea"/>
              </a:rPr>
              <a:t>，也装上更大的价值也就是上一行</a:t>
            </a:r>
            <a:r>
              <a:rPr lang="en-US" altLang="zh-CN">
                <a:uFillTx/>
                <a:latin typeface="Times New Roman" panose="02020603050405020304" pitchFamily="18" charset="0"/>
                <a:sym typeface="+mn-ea"/>
              </a:rPr>
              <a:t>dp[i-1][j-w[i]]</a:t>
            </a:r>
            <a:r>
              <a:rPr lang="zh-CN" altLang="en-US">
                <a:uFillTx/>
                <a:latin typeface="Times New Roman" panose="02020603050405020304" pitchFamily="18" charset="0"/>
                <a:sym typeface="+mn-ea"/>
              </a:rPr>
              <a:t>。</a:t>
            </a:r>
            <a:endParaRPr lang="zh-CN" altLang="en-US">
              <a:uFillTx/>
              <a:latin typeface="Times New Roman" panose="02020603050405020304" pitchFamily="18" charset="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不断的更新表格，能够发现更新的状态转移方程</a:t>
            </a:r>
            <a:endParaRPr lang="zh-CN" altLang="en-US" sz="2200" dirty="0">
              <a:solidFill>
                <a:srgbClr val="080808"/>
              </a:solidFill>
              <a:uFillTx/>
              <a:latin typeface="Times New Roman" panose="02020603050405020304" pitchFamily="18" charset="0"/>
            </a:endParaRPr>
          </a:p>
        </p:txBody>
      </p:sp>
      <p:grpSp>
        <p:nvGrpSpPr>
          <p:cNvPr id="14" name="组合 13"/>
          <p:cNvGrpSpPr/>
          <p:nvPr/>
        </p:nvGrpSpPr>
        <p:grpSpPr>
          <a:xfrm>
            <a:off x="1187624" y="2132856"/>
            <a:ext cx="6120679" cy="889964"/>
            <a:chOff x="755576" y="2566065"/>
            <a:chExt cx="6120679" cy="889964"/>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981491" y="213285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235824" y="2648464"/>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①式表示如果当前的容量不能容下当前的物品，则直接不选择该物品，此时状态表中直接保存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110680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②式表示如果当前的容量能容下当前的物品，则有两种选择，选择该物品和不选择该物品，此时</a:t>
            </a:r>
            <a:r>
              <a:rPr kumimoji="1" lang="en-US" altLang="zh-CN" sz="2200" b="1">
                <a:solidFill>
                  <a:srgbClr val="080808"/>
                </a:solidFill>
                <a:uFillTx/>
                <a:latin typeface="Times New Roman" panose="02020603050405020304" pitchFamily="18" charset="0"/>
              </a:rPr>
              <a:t>dp[i][j]</a:t>
            </a:r>
            <a:r>
              <a:rPr kumimoji="1" lang="zh-CN" altLang="en-US" sz="2200">
                <a:solidFill>
                  <a:srgbClr val="080808"/>
                </a:solidFill>
                <a:uFillTx/>
                <a:latin typeface="Times New Roman" panose="02020603050405020304" pitchFamily="18" charset="0"/>
              </a:rPr>
              <a:t>选择最大的值作为最优选择。</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1187450" y="1484630"/>
            <a:ext cx="7355205" cy="2704465"/>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rPr>
              <a:t>def bag0_1(wight:list,value:list,V:int)-&gt;int: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 = [[0 for _ in range(V+1)] for _ in range(len(wight)+1)]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range(1,V+1):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j&lt;wight[i-1]: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dp[i-1][j]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max(dp[i-1][j],dp[i-1][j-wight[i-1]]+value[i-1])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dp[-1][-1]</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1259205" y="1116330"/>
            <a:ext cx="1577975" cy="368300"/>
          </a:xfrm>
          <a:prstGeom prst="rect">
            <a:avLst/>
          </a:prstGeom>
          <a:noFill/>
        </p:spPr>
        <p:txBody>
          <a:bodyPr wrap="square" rtlCol="0">
            <a:spAutoFit/>
          </a:bodyPr>
          <a:lstStyle/>
          <a:p>
            <a:r>
              <a:rPr lang="zh-CN" altLang="en-US"/>
              <a:t>代码实现：</a:t>
            </a:r>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回顾</a:t>
            </a:r>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背包问题，解题的流程是怎样的？</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347662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首先能够感觉这个问题可以用动态规划，怎么判断呢？该问题求最优解，且整体最优解是所有子问题最优解的组成，其实也就是判断动态规划核心思想符不符合该问题。</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然后</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1</a:t>
            </a:r>
            <a:r>
              <a:rPr kumimoji="1" lang="zh-CN" altLang="en-US" sz="2200">
                <a:solidFill>
                  <a:srgbClr val="080808"/>
                </a:solidFill>
                <a:uFillTx/>
                <a:latin typeface="Times New Roman" panose="02020603050405020304" pitchFamily="18" charset="0"/>
              </a:rPr>
              <a:t>）选择数组（或是其他存储结构）能够描述问题状态</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2</a:t>
            </a:r>
            <a:r>
              <a:rPr kumimoji="1" lang="zh-CN" altLang="en-US" sz="2200">
                <a:solidFill>
                  <a:srgbClr val="080808"/>
                </a:solidFill>
                <a:uFillTx/>
                <a:latin typeface="Times New Roman" panose="02020603050405020304" pitchFamily="18" charset="0"/>
              </a:rPr>
              <a:t>）通过状态转移表中不断的转移，找到递推关系</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3</a:t>
            </a:r>
            <a:r>
              <a:rPr kumimoji="1" lang="zh-CN" altLang="en-US" sz="2200">
                <a:solidFill>
                  <a:srgbClr val="080808"/>
                </a:solidFill>
                <a:uFillTx/>
                <a:latin typeface="Times New Roman" panose="02020603050405020304" pitchFamily="18" charset="0"/>
              </a:rPr>
              <a:t>）初始化边界</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这三步不是严格的顺序</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4</a:t>
            </a:r>
            <a:r>
              <a:rPr kumimoji="1" lang="zh-CN" altLang="en-US" sz="2200">
                <a:solidFill>
                  <a:srgbClr val="080808"/>
                </a:solidFill>
                <a:uFillTx/>
                <a:latin typeface="Times New Roman" panose="02020603050405020304" pitchFamily="18" charset="0"/>
              </a:rPr>
              <a:t>）更新结果，</a:t>
            </a:r>
            <a:r>
              <a:rPr kumimoji="1" lang="zh-CN" altLang="en-US" sz="2200">
                <a:solidFill>
                  <a:srgbClr val="080808"/>
                </a:solidFill>
                <a:uFillTx/>
                <a:latin typeface="Times New Roman" panose="02020603050405020304" pitchFamily="18" charset="0"/>
                <a:sym typeface="+mn-ea"/>
              </a:rPr>
              <a:t>获取结果（可能会重新遍历状态表）</a:t>
            </a:r>
            <a:endParaRPr kumimoji="1" lang="en-US" altLang="zh-CN" sz="2200">
              <a:solidFill>
                <a:srgbClr val="080808"/>
              </a:solidFill>
              <a:uFillTx/>
              <a:latin typeface="Times New Roman" panose="02020603050405020304" pitchFamily="18" charset="0"/>
            </a:endParaRPr>
          </a:p>
          <a:p>
            <a:endParaRPr kumimoji="1" lang="en-US" altLang="zh-CN" sz="2200">
              <a:solidFill>
                <a:srgbClr val="080808"/>
              </a:solidFill>
              <a:uFillTx/>
              <a:latin typeface="Times New Roman" panose="02020603050405020304" pitchFamily="18"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110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完全背包问题：有</a:t>
            </a:r>
            <a:r>
              <a:rPr lang="en-US" altLang="zh-CN" sz="2200">
                <a:solidFill>
                  <a:srgbClr val="080808"/>
                </a:solidFill>
                <a:uFillTx/>
                <a:latin typeface="Times New Roman" panose="02020603050405020304" pitchFamily="18" charset="0"/>
              </a:rPr>
              <a:t>n</a:t>
            </a:r>
            <a:r>
              <a:rPr lang="zh-CN" altLang="en-US" sz="2200">
                <a:solidFill>
                  <a:srgbClr val="080808"/>
                </a:solidFill>
                <a:uFillTx/>
                <a:latin typeface="Times New Roman" panose="02020603050405020304" pitchFamily="18" charset="0"/>
              </a:rPr>
              <a:t>种物品有质量和对应的价值。每种物品数量是无限的，背包称重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a:t>
            </a:r>
            <a:endParaRPr lang="zh-CN" altLang="en-US" sz="2200" dirty="0">
              <a:solidFill>
                <a:srgbClr val="080808"/>
              </a:solidFill>
              <a:uFillTx/>
              <a:latin typeface="Times New Roman" panose="02020603050405020304" pitchFamily="18" charset="0"/>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2132856"/>
            <a:ext cx="1911567" cy="79208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假设数组名为</a:t>
            </a:r>
            <a:r>
              <a:rPr kumimoji="1" lang="en-US" altLang="zh-CN" sz="2200">
                <a:solidFill>
                  <a:srgbClr val="080808"/>
                </a:solidFill>
                <a:uFillTx/>
                <a:latin typeface="Times New Roman" panose="02020603050405020304" pitchFamily="18" charset="0"/>
              </a:rPr>
              <a:t>dp</a:t>
            </a:r>
            <a:r>
              <a:rPr kumimoji="1" lang="zh-CN" altLang="en-US" sz="2200">
                <a:solidFill>
                  <a:srgbClr val="080808"/>
                </a:solidFill>
                <a:uFillTx/>
                <a:latin typeface="Times New Roman" panose="02020603050405020304" pitchFamily="18" charset="0"/>
              </a:rPr>
              <a:t>，那么完全背包问题如何更新状态表？</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不断的更新表格，能够发现更新的递推公式？</a:t>
            </a:r>
            <a:endParaRPr lang="zh-CN" altLang="en-US" sz="2200" dirty="0">
              <a:solidFill>
                <a:srgbClr val="080808"/>
              </a:solidFill>
              <a:uFillTx/>
              <a:latin typeface="Times New Roman" panose="02020603050405020304" pitchFamily="18" charset="0"/>
            </a:endParaRPr>
          </a:p>
        </p:txBody>
      </p:sp>
      <p:grpSp>
        <p:nvGrpSpPr>
          <p:cNvPr id="14" name="组合 13"/>
          <p:cNvGrpSpPr/>
          <p:nvPr/>
        </p:nvGrpSpPr>
        <p:grpSpPr>
          <a:xfrm>
            <a:off x="1113392" y="220665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max(dp[i-1][j-k*w[i]]+k*c[i],dp[i-1][j])</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zh-CN" altLang="en-US" b="1">
                  <a:latin typeface="Times New Roman" panose="02020603050405020304" pitchFamily="18" charset="0"/>
                  <a:cs typeface="Times New Roman" panose="02020603050405020304" pitchFamily="18" charset="0"/>
                </a:rPr>
                <a:t>其</a:t>
              </a:r>
              <a:r>
                <a:rPr lang="en-US" altLang="zh-CN" b="1">
                  <a:latin typeface="Times New Roman" panose="02020603050405020304" pitchFamily="18" charset="0"/>
                  <a:cs typeface="Times New Roman" panose="02020603050405020304" pitchFamily="18" charset="0"/>
                </a:rPr>
                <a:t>k</a:t>
              </a:r>
              <a:r>
                <a:rPr lang="zh-CN" altLang="en-US" b="1">
                  <a:latin typeface="Times New Roman" panose="02020603050405020304" pitchFamily="18" charset="0"/>
                  <a:cs typeface="Times New Roman" panose="02020603050405020304" pitchFamily="18" charset="0"/>
                </a:rPr>
                <a:t>取值范围 </a:t>
              </a:r>
              <a:r>
                <a:rPr lang="en-US" altLang="zh-CN" b="1">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209" y="2239105"/>
            <a:ext cx="382597"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380312" y="2682229"/>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①式表示如果当前的容量不能容下当前的物品，则直接不选择该物品，此时状态表中直接保存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②式表示如果当前的容量能容下当前的物品，</a:t>
            </a:r>
            <a:r>
              <a:rPr kumimoji="1" lang="en-US" altLang="zh-CN" sz="2200">
                <a:solidFill>
                  <a:srgbClr val="080808"/>
                </a:solidFill>
                <a:uFillTx/>
                <a:latin typeface="Times New Roman" panose="02020603050405020304" pitchFamily="18" charset="0"/>
              </a:rPr>
              <a:t>k</a:t>
            </a:r>
            <a:r>
              <a:rPr kumimoji="1" lang="zh-CN" altLang="en-US" sz="2200">
                <a:solidFill>
                  <a:srgbClr val="080808"/>
                </a:solidFill>
                <a:uFillTx/>
                <a:latin typeface="Times New Roman" panose="02020603050405020304" pitchFamily="18" charset="0"/>
              </a:rPr>
              <a:t>的值是多少就有多少种选择。选择最大的填充</a:t>
            </a:r>
            <a:r>
              <a:rPr kumimoji="1" lang="en-US" altLang="zh-CN" sz="2200" b="1">
                <a:solidFill>
                  <a:srgbClr val="080808"/>
                </a:solidFill>
                <a:uFillTx/>
                <a:latin typeface="Times New Roman" panose="02020603050405020304" pitchFamily="18" charset="0"/>
              </a:rPr>
              <a:t>dp[i][j]</a:t>
            </a:r>
            <a:endParaRPr kumimoji="1" lang="en-US" altLang="zh-CN" sz="2200" b="1">
              <a:solidFill>
                <a:srgbClr val="080808"/>
              </a:solidFill>
              <a:uFillTx/>
              <a:latin typeface="Times New Roman" panose="02020603050405020304" pitchFamily="18"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pSp>
        <p:nvGrpSpPr>
          <p:cNvPr id="14" name="组合 13"/>
          <p:cNvGrpSpPr/>
          <p:nvPr/>
        </p:nvGrpSpPr>
        <p:grpSpPr>
          <a:xfrm>
            <a:off x="1113392" y="91506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max(dp[i-1][j-k*w[i]]+k*c[i],dp[i-1][j])</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zh-CN" altLang="en-US" b="1">
                  <a:latin typeface="Times New Roman" panose="02020603050405020304" pitchFamily="18" charset="0"/>
                  <a:cs typeface="Times New Roman" panose="02020603050405020304" pitchFamily="18" charset="0"/>
                </a:rPr>
                <a:t>其</a:t>
              </a:r>
              <a:r>
                <a:rPr lang="en-US" altLang="zh-CN" b="1">
                  <a:latin typeface="Times New Roman" panose="02020603050405020304" pitchFamily="18" charset="0"/>
                  <a:cs typeface="Times New Roman" panose="02020603050405020304" pitchFamily="18" charset="0"/>
                </a:rPr>
                <a:t>k</a:t>
              </a:r>
              <a:r>
                <a:rPr lang="zh-CN" altLang="en-US" b="1">
                  <a:latin typeface="Times New Roman" panose="02020603050405020304" pitchFamily="18" charset="0"/>
                  <a:cs typeface="Times New Roman" panose="02020603050405020304" pitchFamily="18" charset="0"/>
                </a:rPr>
                <a:t>取值范围 </a:t>
              </a:r>
              <a:r>
                <a:rPr lang="en-US" altLang="zh-CN" b="1">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195" y="947420"/>
            <a:ext cx="1604010" cy="368300"/>
          </a:xfrm>
          <a:prstGeom prst="rect">
            <a:avLst/>
          </a:prstGeom>
          <a:noFill/>
        </p:spPr>
        <p:txBody>
          <a:bodyPr wrap="square" rtlCol="0">
            <a:spAutoFit/>
          </a:bodyPr>
          <a:lstStyle/>
          <a:p>
            <a:r>
              <a:rPr lang="zh-CN" altLang="en-US"/>
              <a:t>①</a:t>
            </a:r>
            <a:r>
              <a:rPr lang="en-US" altLang="zh-CN" b="1">
                <a:latin typeface="Times New Roman" panose="02020603050405020304" pitchFamily="18" charset="0"/>
                <a:cs typeface="Times New Roman" panose="02020603050405020304" pitchFamily="18" charset="0"/>
              </a:rPr>
              <a:t> k=0</a:t>
            </a:r>
            <a:endParaRPr lang="en-US" altLang="zh-CN" b="1">
              <a:latin typeface="Times New Roman" panose="02020603050405020304" pitchFamily="18" charset="0"/>
              <a:cs typeface="Times New Roman" panose="02020603050405020304" pitchFamily="18" charset="0"/>
            </a:endParaRPr>
          </a:p>
        </p:txBody>
      </p:sp>
      <p:sp>
        <p:nvSpPr>
          <p:cNvPr id="16" name="文本框 15"/>
          <p:cNvSpPr txBox="1"/>
          <p:nvPr/>
        </p:nvSpPr>
        <p:spPr>
          <a:xfrm>
            <a:off x="7380312" y="1390639"/>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251386" y="2085776"/>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这个转移方程很啰嗦</a:t>
            </a:r>
            <a:r>
              <a:rPr kumimoji="1" lang="en-US" altLang="zh-CN" sz="2200">
                <a:solidFill>
                  <a:srgbClr val="080808"/>
                </a:solidFill>
                <a:uFillTx/>
                <a:latin typeface="Times New Roman" panose="02020603050405020304" pitchFamily="18" charset="0"/>
              </a:rPr>
              <a:t>?</a:t>
            </a:r>
            <a:r>
              <a:rPr kumimoji="1" lang="zh-CN" altLang="en-US" sz="2200">
                <a:solidFill>
                  <a:srgbClr val="080808"/>
                </a:solidFill>
                <a:uFillTx/>
                <a:latin typeface="Times New Roman" panose="02020603050405020304" pitchFamily="18" charset="0"/>
              </a:rPr>
              <a:t>能否精简该状态转移方程呢？</a:t>
            </a:r>
            <a:endParaRPr kumimoji="1" lang="zh-CN" altLang="en-US" sz="2200">
              <a:solidFill>
                <a:srgbClr val="080808"/>
              </a:solidFill>
              <a:uFillTx/>
              <a:latin typeface="Times New Roman" panose="02020603050405020304" pitchFamily="18" charset="0"/>
            </a:endParaRPr>
          </a:p>
        </p:txBody>
      </p:sp>
      <p:sp>
        <p:nvSpPr>
          <p:cNvPr id="2" name="文本框 1"/>
          <p:cNvSpPr txBox="1"/>
          <p:nvPr/>
        </p:nvSpPr>
        <p:spPr>
          <a:xfrm>
            <a:off x="395605" y="2708910"/>
            <a:ext cx="7833995" cy="51308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(1)  dp[i][j] = max(max(dp[i-1][j-k*w[i]]+k*c[i]),dp[i-1][j])     1&lt;=k&lt;=j/w[i]</a:t>
            </a:r>
            <a:endParaRPr lang="en-US" altLang="zh-CN">
              <a:latin typeface="Times New Roman" panose="02020603050405020304" pitchFamily="18" charset="0"/>
              <a:cs typeface="Times New Roman" panose="02020603050405020304" pitchFamily="18" charset="0"/>
            </a:endParaRPr>
          </a:p>
        </p:txBody>
      </p:sp>
      <p:sp>
        <p:nvSpPr>
          <p:cNvPr id="3" name="文本框 2"/>
          <p:cNvSpPr txBox="1"/>
          <p:nvPr/>
        </p:nvSpPr>
        <p:spPr>
          <a:xfrm>
            <a:off x="485140" y="4725035"/>
            <a:ext cx="8407400" cy="772795"/>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可以把上述公式做一个变形：</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(3)  dp[i][j] = max(dp[i-1][</a:t>
            </a:r>
            <a:r>
              <a:rPr lang="en-US" altLang="zh-CN">
                <a:solidFill>
                  <a:schemeClr val="tx1"/>
                </a:solidFill>
                <a:latin typeface="Times New Roman" panose="02020603050405020304" pitchFamily="18" charset="0"/>
                <a:cs typeface="Times New Roman" panose="02020603050405020304" pitchFamily="18" charset="0"/>
              </a:rPr>
              <a:t>j</a:t>
            </a:r>
            <a:r>
              <a:rPr lang="en-US" altLang="zh-CN">
                <a:latin typeface="Times New Roman" panose="02020603050405020304" pitchFamily="18" charset="0"/>
                <a:cs typeface="Times New Roman" panose="02020603050405020304" pitchFamily="18" charset="0"/>
              </a:rPr>
              <a:t>-k*w[i]]+k*c[i])    0&lt;=k&lt;=j/w[i]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j = j-w[i]</a:t>
            </a:r>
            <a:r>
              <a:rPr lang="zh-CN" altLang="en-US">
                <a:latin typeface="Times New Roman" panose="02020603050405020304" pitchFamily="18" charset="0"/>
                <a:cs typeface="Times New Roman" panose="02020603050405020304" pitchFamily="18" charset="0"/>
              </a:rPr>
              <a:t>带入该方程</a:t>
            </a:r>
            <a:endParaRPr lang="zh-CN" altLang="en-US">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dp[i][j-w[i]] = max(dp[i-1][j-w[i]-k*w[i]]+k*c[i]) 0&lt;=k&lt;=j/w[i]-1</a:t>
            </a:r>
            <a:endParaRPr lang="en-US" altLang="zh-CN">
              <a:latin typeface="Times New Roman" panose="02020603050405020304" pitchFamily="18" charset="0"/>
              <a:cs typeface="Times New Roman" panose="02020603050405020304" pitchFamily="18" charset="0"/>
            </a:endParaRPr>
          </a:p>
        </p:txBody>
      </p:sp>
      <p:sp>
        <p:nvSpPr>
          <p:cNvPr id="5" name="文本框 4"/>
          <p:cNvSpPr txBox="1"/>
          <p:nvPr/>
        </p:nvSpPr>
        <p:spPr>
          <a:xfrm>
            <a:off x="467360" y="3629660"/>
            <a:ext cx="8407400" cy="772795"/>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可以把上述公式做一个变形：</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(2)  dp[i][j] = max(max(dp[i-1][</a:t>
            </a:r>
            <a:r>
              <a:rPr lang="en-US" altLang="zh-CN">
                <a:solidFill>
                  <a:srgbClr val="FF0000"/>
                </a:solidFill>
                <a:latin typeface="Times New Roman" panose="02020603050405020304" pitchFamily="18" charset="0"/>
                <a:cs typeface="Times New Roman" panose="02020603050405020304" pitchFamily="18" charset="0"/>
              </a:rPr>
              <a:t>j-w[i]</a:t>
            </a:r>
            <a:r>
              <a:rPr lang="en-US" altLang="zh-CN">
                <a:latin typeface="Times New Roman" panose="02020603050405020304" pitchFamily="18" charset="0"/>
                <a:cs typeface="Times New Roman" panose="02020603050405020304" pitchFamily="18" charset="0"/>
              </a:rPr>
              <a:t>-k*w[i]]+c[i]+k*c[i]),dp[i-1][j])     0&lt;=k&lt;=j/w[i]-1</a:t>
            </a:r>
            <a:endParaRPr lang="en-US" altLang="zh-CN">
              <a:latin typeface="Times New Roman" panose="02020603050405020304" pitchFamily="18" charset="0"/>
              <a:cs typeface="Times New Roman" panose="02020603050405020304" pitchFamily="18" charset="0"/>
            </a:endParaRPr>
          </a:p>
        </p:txBody>
      </p:sp>
      <p:sp>
        <p:nvSpPr>
          <p:cNvPr id="7" name="左弧形箭头 6"/>
          <p:cNvSpPr/>
          <p:nvPr/>
        </p:nvSpPr>
        <p:spPr>
          <a:xfrm flipV="1">
            <a:off x="179070" y="4058285"/>
            <a:ext cx="339725" cy="1723390"/>
          </a:xfrm>
          <a:prstGeom prst="curvedRight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右弧形箭头 7"/>
          <p:cNvSpPr/>
          <p:nvPr/>
        </p:nvSpPr>
        <p:spPr>
          <a:xfrm>
            <a:off x="6515735" y="4149090"/>
            <a:ext cx="431800" cy="2183130"/>
          </a:xfrm>
          <a:prstGeom prst="curvedLeft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文本框 8"/>
          <p:cNvSpPr txBox="1"/>
          <p:nvPr/>
        </p:nvSpPr>
        <p:spPr>
          <a:xfrm>
            <a:off x="1403350" y="6271895"/>
            <a:ext cx="6810375" cy="535305"/>
          </a:xfrm>
          <a:prstGeom prst="rect">
            <a:avLst/>
          </a:prstGeom>
          <a:noFill/>
        </p:spPr>
        <p:txBody>
          <a:bodyPr wrap="square" rtlCol="0" anchor="t">
            <a:noAutofit/>
          </a:bodyPr>
          <a:lstStyle/>
          <a:p>
            <a:r>
              <a:rPr lang="en-US" altLang="zh-CN">
                <a:solidFill>
                  <a:srgbClr val="FF0000"/>
                </a:solidFill>
                <a:latin typeface="Times New Roman" panose="02020603050405020304" pitchFamily="18" charset="0"/>
                <a:cs typeface="Times New Roman" panose="02020603050405020304" pitchFamily="18" charset="0"/>
                <a:sym typeface="+mn-ea"/>
              </a:rPr>
              <a:t>dp[i][j] = max(dp[i][j-w[i]]+c[i],dp[i-1][j])     0&lt;=k&lt;=j/w[i]-1</a:t>
            </a:r>
            <a:endParaRPr lang="en-US" altLang="zh-CN">
              <a:solidFill>
                <a:srgbClr val="FF0000"/>
              </a:solidFill>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回顾完全背包问题，发现和</a:t>
            </a:r>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背包问题有一样的解题流程</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246126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判断动态规划核心思想符不符合该问题。</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然后</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1</a:t>
            </a:r>
            <a:r>
              <a:rPr kumimoji="1" lang="zh-CN" altLang="en-US" sz="2200">
                <a:solidFill>
                  <a:srgbClr val="080808"/>
                </a:solidFill>
                <a:uFillTx/>
                <a:latin typeface="Times New Roman" panose="02020603050405020304" pitchFamily="18" charset="0"/>
              </a:rPr>
              <a:t>）选择数组描述状态</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2</a:t>
            </a:r>
            <a:r>
              <a:rPr kumimoji="1" lang="zh-CN" altLang="en-US" sz="2200">
                <a:solidFill>
                  <a:srgbClr val="080808"/>
                </a:solidFill>
                <a:uFillTx/>
                <a:latin typeface="Times New Roman" panose="02020603050405020304" pitchFamily="18" charset="0"/>
              </a:rPr>
              <a:t>）找到递推关系</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3</a:t>
            </a:r>
            <a:r>
              <a:rPr kumimoji="1" lang="zh-CN" altLang="en-US" sz="2200">
                <a:solidFill>
                  <a:srgbClr val="080808"/>
                </a:solidFill>
                <a:uFillTx/>
                <a:latin typeface="Times New Roman" panose="02020603050405020304" pitchFamily="18" charset="0"/>
              </a:rPr>
              <a:t>）初始化边界</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这三步不是严格的顺序</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4</a:t>
            </a:r>
            <a:r>
              <a:rPr kumimoji="1" lang="zh-CN" altLang="en-US" sz="2200">
                <a:solidFill>
                  <a:srgbClr val="080808"/>
                </a:solidFill>
                <a:uFillTx/>
                <a:latin typeface="Times New Roman" panose="02020603050405020304" pitchFamily="18" charset="0"/>
              </a:rPr>
              <a:t>）更新状态表，获取结果（可能会重新遍历状态表）</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完全背包问题代码实现：</a:t>
            </a:r>
            <a:endParaRPr kumimoji="1" lang="zh-CN" altLang="en-US" sz="2200">
              <a:solidFill>
                <a:srgbClr val="080808"/>
              </a:solidFill>
              <a:uFillTx/>
              <a:latin typeface="Times New Roman" panose="02020603050405020304" pitchFamily="18" charset="0"/>
            </a:endParaRPr>
          </a:p>
        </p:txBody>
      </p:sp>
      <p:sp>
        <p:nvSpPr>
          <p:cNvPr id="2" name="文本框 1"/>
          <p:cNvSpPr txBox="1"/>
          <p:nvPr/>
        </p:nvSpPr>
        <p:spPr>
          <a:xfrm>
            <a:off x="611505" y="3112770"/>
            <a:ext cx="8139430" cy="2658110"/>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rPr>
              <a:t>def Knapsack(wight:list,value:list,V:int)-&gt;int: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 = [[0 for _ in range(V+1)] for _ in range(len(wight)+1)]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range(1,V+1):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j&lt;wight[i-1]: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dp[i-1][j]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max(dp[i-1][j],dp[i][j-wight[i-1]]+value[i-1])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dp[-1][-1]</a:t>
            </a:r>
            <a:endParaRPr lang="en-US" altLang="zh-CN">
              <a:solidFill>
                <a:schemeClr val="tx1"/>
              </a:solidFill>
              <a:uFillTx/>
              <a:latin typeface="Times New Roman" panose="02020603050405020304" pitchFamily="18" charset="0"/>
            </a:endParaRPr>
          </a:p>
        </p:txBody>
      </p:sp>
      <p:grpSp>
        <p:nvGrpSpPr>
          <p:cNvPr id="14" name="组合 13"/>
          <p:cNvGrpSpPr/>
          <p:nvPr/>
        </p:nvGrpSpPr>
        <p:grpSpPr>
          <a:xfrm>
            <a:off x="755189" y="1628666"/>
            <a:ext cx="6120679" cy="888932"/>
            <a:chOff x="755576" y="2566065"/>
            <a:chExt cx="6120679" cy="888932"/>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a:t>
              </a:r>
              <a:r>
                <a:rPr lang="en-US" altLang="zh-CN" b="1">
                  <a:solidFill>
                    <a:srgbClr val="FF0000"/>
                  </a:solidFill>
                  <a:latin typeface="Times New Roman" panose="02020603050405020304" pitchFamily="18" charset="0"/>
                  <a:cs typeface="Times New Roman" panose="02020603050405020304" pitchFamily="18" charset="0"/>
                </a:rPr>
                <a:t>i</a:t>
              </a:r>
              <a:r>
                <a:rPr lang="en-US" altLang="zh-CN" b="1">
                  <a:latin typeface="Times New Roman" panose="02020603050405020304" pitchFamily="18" charset="0"/>
                  <a:cs typeface="Times New Roman" panose="02020603050405020304" pitchFamily="18" charset="0"/>
                </a:rPr>
                <a:t>][j-w[i]]+c[i],dp[i-1][j])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549056" y="162866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6803389" y="2144274"/>
            <a:ext cx="432519" cy="369332"/>
          </a:xfrm>
          <a:prstGeom prst="rect">
            <a:avLst/>
          </a:prstGeom>
          <a:noFill/>
        </p:spPr>
        <p:txBody>
          <a:bodyPr wrap="square" rtlCol="0">
            <a:spAutoFit/>
          </a:bodyPr>
          <a:lstStyle/>
          <a:p>
            <a:r>
              <a:rPr lang="zh-CN" altLang="en-US"/>
              <a:t>②</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323215" y="908685"/>
            <a:ext cx="4474845" cy="368300"/>
          </a:xfrm>
          <a:prstGeom prst="rect">
            <a:avLst/>
          </a:prstGeom>
          <a:noFill/>
        </p:spPr>
        <p:txBody>
          <a:bodyPr wrap="square" rtlCol="0">
            <a:spAutoFit/>
          </a:bodyPr>
          <a:lstStyle/>
          <a:p>
            <a:r>
              <a:rPr lang="zh-CN" altLang="en-US"/>
              <a:t>体会动态规划解题的边界问题？</a:t>
            </a:r>
            <a:endParaRPr lang="zh-CN" altLang="en-US"/>
          </a:p>
        </p:txBody>
      </p:sp>
      <p:sp>
        <p:nvSpPr>
          <p:cNvPr id="3" name="文本框 2"/>
          <p:cNvSpPr txBox="1"/>
          <p:nvPr/>
        </p:nvSpPr>
        <p:spPr>
          <a:xfrm>
            <a:off x="450215" y="1412240"/>
            <a:ext cx="7813040" cy="136144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rPr>
              <a:t>继续思考币种问题：给你一个整数数组</a:t>
            </a:r>
            <a:r>
              <a:rPr lang="en-US" altLang="zh-CN">
                <a:solidFill>
                  <a:schemeClr val="tx1"/>
                </a:solidFill>
                <a:uFillTx/>
                <a:latin typeface="Times New Roman" panose="02020603050405020304" pitchFamily="18" charset="0"/>
              </a:rPr>
              <a:t> coins </a:t>
            </a:r>
            <a:r>
              <a:rPr lang="zh-CN" altLang="en-US">
                <a:solidFill>
                  <a:schemeClr val="tx1"/>
                </a:solidFill>
                <a:uFillTx/>
                <a:latin typeface="Times New Roman" panose="02020603050405020304" pitchFamily="18" charset="0"/>
              </a:rPr>
              <a:t>，表示不同面额的硬币；以及一个整数</a:t>
            </a:r>
            <a:r>
              <a:rPr lang="en-US" altLang="zh-CN">
                <a:solidFill>
                  <a:schemeClr val="tx1"/>
                </a:solidFill>
                <a:uFillTx/>
                <a:latin typeface="Times New Roman" panose="02020603050405020304" pitchFamily="18" charset="0"/>
              </a:rPr>
              <a:t> amount </a:t>
            </a:r>
            <a:r>
              <a:rPr lang="zh-CN" altLang="en-US">
                <a:solidFill>
                  <a:schemeClr val="tx1"/>
                </a:solidFill>
                <a:uFillTx/>
                <a:latin typeface="Times New Roman" panose="02020603050405020304" pitchFamily="18" charset="0"/>
              </a:rPr>
              <a:t>，表示总金额。计算并返回可以凑成总金额所需的</a:t>
            </a:r>
            <a:r>
              <a:rPr lang="en-US" altLang="zh-CN">
                <a:solidFill>
                  <a:schemeClr val="tx1"/>
                </a:solidFill>
                <a:uFillTx/>
                <a:latin typeface="Times New Roman" panose="02020603050405020304" pitchFamily="18" charset="0"/>
              </a:rPr>
              <a:t> </a:t>
            </a:r>
            <a:r>
              <a:rPr lang="zh-CN" altLang="en-US">
                <a:solidFill>
                  <a:schemeClr val="tx1"/>
                </a:solidFill>
                <a:uFillTx/>
                <a:latin typeface="Times New Roman" panose="02020603050405020304" pitchFamily="18" charset="0"/>
              </a:rPr>
              <a:t>最少的硬币个数</a:t>
            </a:r>
            <a:r>
              <a:rPr lang="en-US" altLang="zh-CN">
                <a:solidFill>
                  <a:schemeClr val="tx1"/>
                </a:solidFill>
                <a:uFillTx/>
                <a:latin typeface="Times New Roman" panose="02020603050405020304" pitchFamily="18" charset="0"/>
              </a:rPr>
              <a:t> </a:t>
            </a:r>
            <a:r>
              <a:rPr lang="zh-CN" altLang="en-US">
                <a:solidFill>
                  <a:schemeClr val="tx1"/>
                </a:solidFill>
                <a:uFillTx/>
                <a:latin typeface="Times New Roman" panose="02020603050405020304" pitchFamily="18" charset="0"/>
              </a:rPr>
              <a:t>。如果没有任何一种硬币组合能组成总金额，返回</a:t>
            </a:r>
            <a:r>
              <a:rPr lang="en-US" altLang="zh-CN">
                <a:solidFill>
                  <a:schemeClr val="tx1"/>
                </a:solidFill>
                <a:uFillTx/>
                <a:latin typeface="Times New Roman" panose="02020603050405020304" pitchFamily="18" charset="0"/>
              </a:rPr>
              <a:t> -1 </a:t>
            </a:r>
            <a:r>
              <a:rPr lang="zh-CN" altLang="en-US">
                <a:solidFill>
                  <a:schemeClr val="tx1"/>
                </a:solidFill>
                <a:uFillTx/>
                <a:latin typeface="Times New Roman" panose="02020603050405020304" pitchFamily="18" charset="0"/>
              </a:rPr>
              <a:t>。你可以认为每种硬币的数量是无限的。例如：</a:t>
            </a:r>
            <a:r>
              <a:rPr lang="en-US" altLang="zh-CN">
                <a:solidFill>
                  <a:schemeClr val="tx1"/>
                </a:solidFill>
                <a:uFillTx/>
                <a:latin typeface="Times New Roman" panose="02020603050405020304" pitchFamily="18" charset="0"/>
              </a:rPr>
              <a:t>coins=[1,2,5]</a:t>
            </a:r>
            <a:r>
              <a:rPr lang="zh-CN" altLang="en-US">
                <a:solidFill>
                  <a:schemeClr val="tx1"/>
                </a:solidFill>
                <a:uFillTx/>
                <a:latin typeface="Times New Roman" panose="02020603050405020304" pitchFamily="18" charset="0"/>
              </a:rPr>
              <a:t>，</a:t>
            </a:r>
            <a:r>
              <a:rPr lang="en-US" altLang="zh-CN">
                <a:solidFill>
                  <a:schemeClr val="tx1"/>
                </a:solidFill>
                <a:uFillTx/>
                <a:latin typeface="Times New Roman" panose="02020603050405020304" pitchFamily="18" charset="0"/>
              </a:rPr>
              <a:t>amount=11</a:t>
            </a:r>
            <a:r>
              <a:rPr lang="zh-CN" altLang="en-US">
                <a:solidFill>
                  <a:schemeClr val="tx1"/>
                </a:solidFill>
                <a:uFillTx/>
                <a:latin typeface="Times New Roman" panose="02020603050405020304" pitchFamily="18" charset="0"/>
              </a:rPr>
              <a:t>。</a:t>
            </a:r>
            <a:endParaRPr lang="zh-CN" altLang="en-US">
              <a:solidFill>
                <a:schemeClr val="tx1"/>
              </a:solidFill>
              <a:uFillTx/>
              <a:latin typeface="Times New Roman" panose="02020603050405020304" pitchFamily="18" charset="0"/>
            </a:endParaRPr>
          </a:p>
        </p:txBody>
      </p:sp>
      <p:grpSp>
        <p:nvGrpSpPr>
          <p:cNvPr id="14" name="组合 13"/>
          <p:cNvGrpSpPr/>
          <p:nvPr/>
        </p:nvGrpSpPr>
        <p:grpSpPr>
          <a:xfrm>
            <a:off x="755824" y="4437906"/>
            <a:ext cx="6120679" cy="888932"/>
            <a:chOff x="755576" y="2566065"/>
            <a:chExt cx="6120679" cy="888932"/>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min(dp[</a:t>
              </a:r>
              <a:r>
                <a:rPr lang="en-US" altLang="zh-CN" b="1">
                  <a:solidFill>
                    <a:srgbClr val="FF0000"/>
                  </a:solidFill>
                  <a:latin typeface="Times New Roman" panose="02020603050405020304" pitchFamily="18" charset="0"/>
                  <a:cs typeface="Times New Roman" panose="02020603050405020304" pitchFamily="18" charset="0"/>
                </a:rPr>
                <a:t>i</a:t>
              </a:r>
              <a:r>
                <a:rPr lang="en-US" altLang="zh-CN" b="1">
                  <a:latin typeface="Times New Roman" panose="02020603050405020304" pitchFamily="18" charset="0"/>
                  <a:cs typeface="Times New Roman" panose="02020603050405020304" pitchFamily="18" charset="0"/>
                </a:rPr>
                <a:t>][j-w[i]]+1,dp[i-1][j])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765591" y="443790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6660514" y="4941449"/>
            <a:ext cx="432519" cy="369332"/>
          </a:xfrm>
          <a:prstGeom prst="rect">
            <a:avLst/>
          </a:prstGeom>
          <a:noFill/>
        </p:spPr>
        <p:txBody>
          <a:bodyPr wrap="square" rtlCol="0">
            <a:spAutoFit/>
          </a:bodyPr>
          <a:lstStyle/>
          <a:p>
            <a:r>
              <a:rPr lang="zh-CN" altLang="en-US"/>
              <a:t>②</a:t>
            </a:r>
            <a:endParaRPr lang="zh-CN" altLang="en-US"/>
          </a:p>
        </p:txBody>
      </p:sp>
      <p:grpSp>
        <p:nvGrpSpPr>
          <p:cNvPr id="6" name="组合 5"/>
          <p:cNvGrpSpPr/>
          <p:nvPr/>
        </p:nvGrpSpPr>
        <p:grpSpPr>
          <a:xfrm>
            <a:off x="755887" y="2961665"/>
            <a:ext cx="7779088" cy="1091998"/>
            <a:chOff x="755576" y="2639859"/>
            <a:chExt cx="6120679" cy="1091998"/>
          </a:xfrm>
        </p:grpSpPr>
        <p:sp>
          <p:nvSpPr>
            <p:cNvPr id="7" name="文本框 6"/>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8" name="文本框 7"/>
            <p:cNvSpPr txBox="1"/>
            <p:nvPr/>
          </p:nvSpPr>
          <p:spPr>
            <a:xfrm>
              <a:off x="1715427" y="2639859"/>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9" name="文本框 8"/>
            <p:cNvSpPr txBox="1"/>
            <p:nvPr/>
          </p:nvSpPr>
          <p:spPr>
            <a:xfrm>
              <a:off x="1719255" y="3086697"/>
              <a:ext cx="5157000" cy="64516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min(dp[i-1][j-k*w[i]]+k,dp[i-1][j])</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zh-CN" altLang="en-US" b="1">
                  <a:latin typeface="Times New Roman" panose="02020603050405020304" pitchFamily="18" charset="0"/>
                  <a:cs typeface="Times New Roman" panose="02020603050405020304" pitchFamily="18" charset="0"/>
                </a:rPr>
                <a:t>其</a:t>
              </a:r>
              <a:r>
                <a:rPr lang="en-US" altLang="zh-CN" b="1">
                  <a:latin typeface="Times New Roman" panose="02020603050405020304" pitchFamily="18" charset="0"/>
                  <a:cs typeface="Times New Roman" panose="02020603050405020304" pitchFamily="18" charset="0"/>
                </a:rPr>
                <a:t>k</a:t>
              </a:r>
              <a:r>
                <a:rPr lang="zh-CN" altLang="en-US" b="1">
                  <a:latin typeface="Times New Roman" panose="02020603050405020304" pitchFamily="18" charset="0"/>
                  <a:cs typeface="Times New Roman" panose="02020603050405020304" pitchFamily="18" charset="0"/>
                </a:rPr>
                <a:t>取值范围 </a:t>
              </a:r>
              <a:r>
                <a:rPr lang="en-US" altLang="zh-CN" b="1">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7" name="图片 16"/>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8" name="文本框 17"/>
          <p:cNvSpPr txBox="1"/>
          <p:nvPr/>
        </p:nvSpPr>
        <p:spPr>
          <a:xfrm>
            <a:off x="4377690" y="2994025"/>
            <a:ext cx="1604010" cy="368300"/>
          </a:xfrm>
          <a:prstGeom prst="rect">
            <a:avLst/>
          </a:prstGeom>
          <a:noFill/>
        </p:spPr>
        <p:txBody>
          <a:bodyPr wrap="square" rtlCol="0">
            <a:spAutoFit/>
          </a:bodyPr>
          <a:lstStyle/>
          <a:p>
            <a:r>
              <a:rPr lang="zh-CN" altLang="en-US"/>
              <a:t>①</a:t>
            </a:r>
            <a:r>
              <a:rPr lang="en-US" altLang="zh-CN" b="1">
                <a:latin typeface="Times New Roman" panose="02020603050405020304" pitchFamily="18" charset="0"/>
                <a:cs typeface="Times New Roman" panose="02020603050405020304" pitchFamily="18" charset="0"/>
              </a:rPr>
              <a:t> k=0</a:t>
            </a:r>
            <a:endParaRPr lang="en-US" altLang="zh-CN" b="1">
              <a:latin typeface="Times New Roman" panose="02020603050405020304" pitchFamily="18" charset="0"/>
              <a:cs typeface="Times New Roman" panose="02020603050405020304" pitchFamily="18" charset="0"/>
            </a:endParaRPr>
          </a:p>
        </p:txBody>
      </p:sp>
      <p:sp>
        <p:nvSpPr>
          <p:cNvPr id="19" name="文本框 18"/>
          <p:cNvSpPr txBox="1"/>
          <p:nvPr/>
        </p:nvSpPr>
        <p:spPr>
          <a:xfrm>
            <a:off x="7022807" y="3437244"/>
            <a:ext cx="432519" cy="369332"/>
          </a:xfrm>
          <a:prstGeom prst="rect">
            <a:avLst/>
          </a:prstGeom>
          <a:noFill/>
        </p:spPr>
        <p:txBody>
          <a:bodyPr wrap="square" rtlCol="0">
            <a:spAutoFit/>
          </a:bodyPr>
          <a:lstStyle/>
          <a:p>
            <a:r>
              <a:rPr lang="zh-CN" altLang="en-US"/>
              <a:t>②</a:t>
            </a:r>
            <a:endParaRPr lang="zh-CN" altLang="en-US"/>
          </a:p>
        </p:txBody>
      </p:sp>
      <p:sp>
        <p:nvSpPr>
          <p:cNvPr id="20" name="下弧形箭头 19"/>
          <p:cNvSpPr/>
          <p:nvPr/>
        </p:nvSpPr>
        <p:spPr>
          <a:xfrm rot="5400000">
            <a:off x="-422275" y="3875405"/>
            <a:ext cx="1892935" cy="544195"/>
          </a:xfrm>
          <a:prstGeom prst="curvedUp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524115" y="6497638"/>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pSp>
        <p:nvGrpSpPr>
          <p:cNvPr id="3" name="Group 4"/>
          <p:cNvGrpSpPr>
            <a:grpSpLocks noChangeAspect="1"/>
          </p:cNvGrpSpPr>
          <p:nvPr/>
        </p:nvGrpSpPr>
        <p:grpSpPr bwMode="auto">
          <a:xfrm>
            <a:off x="1363663" y="2425700"/>
            <a:ext cx="6416675" cy="2006600"/>
            <a:chOff x="859" y="1528"/>
            <a:chExt cx="4042" cy="1264"/>
          </a:xfrm>
        </p:grpSpPr>
        <p:sp>
          <p:nvSpPr>
            <p:cNvPr id="6" name="AutoShape 3"/>
            <p:cNvSpPr>
              <a:spLocks noChangeAspect="1" noChangeArrowheads="1" noTextEdit="1"/>
            </p:cNvSpPr>
            <p:nvPr/>
          </p:nvSpPr>
          <p:spPr bwMode="auto">
            <a:xfrm>
              <a:off x="859" y="1528"/>
              <a:ext cx="4042" cy="12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 name="Rectangle 5"/>
            <p:cNvSpPr>
              <a:spLocks noChangeArrowheads="1"/>
            </p:cNvSpPr>
            <p:nvPr/>
          </p:nvSpPr>
          <p:spPr bwMode="auto">
            <a:xfrm>
              <a:off x="1174"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 name="Rectangle 6"/>
            <p:cNvSpPr>
              <a:spLocks noChangeArrowheads="1"/>
            </p:cNvSpPr>
            <p:nvPr/>
          </p:nvSpPr>
          <p:spPr bwMode="auto">
            <a:xfrm>
              <a:off x="1484"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9" name="Rectangle 7"/>
            <p:cNvSpPr>
              <a:spLocks noChangeArrowheads="1"/>
            </p:cNvSpPr>
            <p:nvPr/>
          </p:nvSpPr>
          <p:spPr bwMode="auto">
            <a:xfrm>
              <a:off x="1794"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0" name="Rectangle 8"/>
            <p:cNvSpPr>
              <a:spLocks noChangeArrowheads="1"/>
            </p:cNvSpPr>
            <p:nvPr/>
          </p:nvSpPr>
          <p:spPr bwMode="auto">
            <a:xfrm>
              <a:off x="2104" y="1784"/>
              <a:ext cx="309"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Rectangle 9"/>
            <p:cNvSpPr>
              <a:spLocks noChangeArrowheads="1"/>
            </p:cNvSpPr>
            <p:nvPr/>
          </p:nvSpPr>
          <p:spPr bwMode="auto">
            <a:xfrm>
              <a:off x="241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2" name="Rectangle 10"/>
            <p:cNvSpPr>
              <a:spLocks noChangeArrowheads="1"/>
            </p:cNvSpPr>
            <p:nvPr/>
          </p:nvSpPr>
          <p:spPr bwMode="auto">
            <a:xfrm>
              <a:off x="272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Rectangle 11"/>
            <p:cNvSpPr>
              <a:spLocks noChangeArrowheads="1"/>
            </p:cNvSpPr>
            <p:nvPr/>
          </p:nvSpPr>
          <p:spPr bwMode="auto">
            <a:xfrm>
              <a:off x="303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 name="Rectangle 12"/>
            <p:cNvSpPr>
              <a:spLocks noChangeArrowheads="1"/>
            </p:cNvSpPr>
            <p:nvPr/>
          </p:nvSpPr>
          <p:spPr bwMode="auto">
            <a:xfrm>
              <a:off x="334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5" name="Rectangle 13"/>
            <p:cNvSpPr>
              <a:spLocks noChangeArrowheads="1"/>
            </p:cNvSpPr>
            <p:nvPr/>
          </p:nvSpPr>
          <p:spPr bwMode="auto">
            <a:xfrm>
              <a:off x="365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6" name="Rectangle 14"/>
            <p:cNvSpPr>
              <a:spLocks noChangeArrowheads="1"/>
            </p:cNvSpPr>
            <p:nvPr/>
          </p:nvSpPr>
          <p:spPr bwMode="auto">
            <a:xfrm>
              <a:off x="396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7" name="Rectangle 15"/>
            <p:cNvSpPr>
              <a:spLocks noChangeArrowheads="1"/>
            </p:cNvSpPr>
            <p:nvPr/>
          </p:nvSpPr>
          <p:spPr bwMode="auto">
            <a:xfrm>
              <a:off x="427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8" name="Rectangle 16"/>
            <p:cNvSpPr>
              <a:spLocks noChangeArrowheads="1"/>
            </p:cNvSpPr>
            <p:nvPr/>
          </p:nvSpPr>
          <p:spPr bwMode="auto">
            <a:xfrm>
              <a:off x="458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9" name="Rectangle 17"/>
            <p:cNvSpPr>
              <a:spLocks noChangeArrowheads="1"/>
            </p:cNvSpPr>
            <p:nvPr/>
          </p:nvSpPr>
          <p:spPr bwMode="auto">
            <a:xfrm>
              <a:off x="1174" y="202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0" name="Rectangle 18"/>
            <p:cNvSpPr>
              <a:spLocks noChangeArrowheads="1"/>
            </p:cNvSpPr>
            <p:nvPr/>
          </p:nvSpPr>
          <p:spPr bwMode="auto">
            <a:xfrm>
              <a:off x="1174" y="226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1" name="Rectangle 19"/>
            <p:cNvSpPr>
              <a:spLocks noChangeArrowheads="1"/>
            </p:cNvSpPr>
            <p:nvPr/>
          </p:nvSpPr>
          <p:spPr bwMode="auto">
            <a:xfrm>
              <a:off x="1174" y="250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2" name="Line 20"/>
            <p:cNvSpPr>
              <a:spLocks noChangeShapeType="1"/>
            </p:cNvSpPr>
            <p:nvPr/>
          </p:nvSpPr>
          <p:spPr bwMode="auto">
            <a:xfrm>
              <a:off x="117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21"/>
            <p:cNvSpPr>
              <a:spLocks noChangeShapeType="1"/>
            </p:cNvSpPr>
            <p:nvPr/>
          </p:nvSpPr>
          <p:spPr bwMode="auto">
            <a:xfrm>
              <a:off x="148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22"/>
            <p:cNvSpPr>
              <a:spLocks noChangeShapeType="1"/>
            </p:cNvSpPr>
            <p:nvPr/>
          </p:nvSpPr>
          <p:spPr bwMode="auto">
            <a:xfrm>
              <a:off x="179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23"/>
            <p:cNvSpPr>
              <a:spLocks noChangeShapeType="1"/>
            </p:cNvSpPr>
            <p:nvPr/>
          </p:nvSpPr>
          <p:spPr bwMode="auto">
            <a:xfrm>
              <a:off x="210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4"/>
            <p:cNvSpPr>
              <a:spLocks noChangeShapeType="1"/>
            </p:cNvSpPr>
            <p:nvPr/>
          </p:nvSpPr>
          <p:spPr bwMode="auto">
            <a:xfrm>
              <a:off x="2413"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5"/>
            <p:cNvSpPr>
              <a:spLocks noChangeShapeType="1"/>
            </p:cNvSpPr>
            <p:nvPr/>
          </p:nvSpPr>
          <p:spPr bwMode="auto">
            <a:xfrm>
              <a:off x="2723"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6"/>
            <p:cNvSpPr>
              <a:spLocks noChangeShapeType="1"/>
            </p:cNvSpPr>
            <p:nvPr/>
          </p:nvSpPr>
          <p:spPr bwMode="auto">
            <a:xfrm>
              <a:off x="303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7"/>
            <p:cNvSpPr>
              <a:spLocks noChangeShapeType="1"/>
            </p:cNvSpPr>
            <p:nvPr/>
          </p:nvSpPr>
          <p:spPr bwMode="auto">
            <a:xfrm>
              <a:off x="334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8"/>
            <p:cNvSpPr>
              <a:spLocks noChangeShapeType="1"/>
            </p:cNvSpPr>
            <p:nvPr/>
          </p:nvSpPr>
          <p:spPr bwMode="auto">
            <a:xfrm>
              <a:off x="365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9"/>
            <p:cNvSpPr>
              <a:spLocks noChangeShapeType="1"/>
            </p:cNvSpPr>
            <p:nvPr/>
          </p:nvSpPr>
          <p:spPr bwMode="auto">
            <a:xfrm>
              <a:off x="396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30"/>
            <p:cNvSpPr>
              <a:spLocks noChangeShapeType="1"/>
            </p:cNvSpPr>
            <p:nvPr/>
          </p:nvSpPr>
          <p:spPr bwMode="auto">
            <a:xfrm>
              <a:off x="427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31"/>
            <p:cNvSpPr>
              <a:spLocks noChangeShapeType="1"/>
            </p:cNvSpPr>
            <p:nvPr/>
          </p:nvSpPr>
          <p:spPr bwMode="auto">
            <a:xfrm>
              <a:off x="458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32"/>
            <p:cNvSpPr>
              <a:spLocks noChangeShapeType="1"/>
            </p:cNvSpPr>
            <p:nvPr/>
          </p:nvSpPr>
          <p:spPr bwMode="auto">
            <a:xfrm>
              <a:off x="860" y="178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Line 33"/>
            <p:cNvSpPr>
              <a:spLocks noChangeShapeType="1"/>
            </p:cNvSpPr>
            <p:nvPr/>
          </p:nvSpPr>
          <p:spPr bwMode="auto">
            <a:xfrm>
              <a:off x="860" y="202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6" name="Line 34"/>
            <p:cNvSpPr>
              <a:spLocks noChangeShapeType="1"/>
            </p:cNvSpPr>
            <p:nvPr/>
          </p:nvSpPr>
          <p:spPr bwMode="auto">
            <a:xfrm>
              <a:off x="860" y="226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7" name="Line 35"/>
            <p:cNvSpPr>
              <a:spLocks noChangeShapeType="1"/>
            </p:cNvSpPr>
            <p:nvPr/>
          </p:nvSpPr>
          <p:spPr bwMode="auto">
            <a:xfrm>
              <a:off x="860" y="250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8" name="Line 36"/>
            <p:cNvSpPr>
              <a:spLocks noChangeShapeType="1"/>
            </p:cNvSpPr>
            <p:nvPr/>
          </p:nvSpPr>
          <p:spPr bwMode="auto">
            <a:xfrm>
              <a:off x="86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9" name="Line 37"/>
            <p:cNvSpPr>
              <a:spLocks noChangeShapeType="1"/>
            </p:cNvSpPr>
            <p:nvPr/>
          </p:nvSpPr>
          <p:spPr bwMode="auto">
            <a:xfrm>
              <a:off x="489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0" name="Line 38"/>
            <p:cNvSpPr>
              <a:spLocks noChangeShapeType="1"/>
            </p:cNvSpPr>
            <p:nvPr/>
          </p:nvSpPr>
          <p:spPr bwMode="auto">
            <a:xfrm>
              <a:off x="860" y="154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1" name="Line 39"/>
            <p:cNvSpPr>
              <a:spLocks noChangeShapeType="1"/>
            </p:cNvSpPr>
            <p:nvPr/>
          </p:nvSpPr>
          <p:spPr bwMode="auto">
            <a:xfrm>
              <a:off x="860" y="274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2" name="Rectangle 40"/>
            <p:cNvSpPr>
              <a:spLocks noChangeArrowheads="1"/>
            </p:cNvSpPr>
            <p:nvPr/>
          </p:nvSpPr>
          <p:spPr bwMode="auto">
            <a:xfrm>
              <a:off x="4641" y="1580"/>
              <a:ext cx="205"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11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41"/>
            <p:cNvSpPr>
              <a:spLocks noChangeArrowheads="1"/>
            </p:cNvSpPr>
            <p:nvPr/>
          </p:nvSpPr>
          <p:spPr bwMode="auto">
            <a:xfrm>
              <a:off x="4331" y="1580"/>
              <a:ext cx="205"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42"/>
            <p:cNvSpPr>
              <a:spLocks noChangeArrowheads="1"/>
            </p:cNvSpPr>
            <p:nvPr/>
          </p:nvSpPr>
          <p:spPr bwMode="auto">
            <a:xfrm>
              <a:off x="4021"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43"/>
            <p:cNvSpPr>
              <a:spLocks noChangeArrowheads="1"/>
            </p:cNvSpPr>
            <p:nvPr/>
          </p:nvSpPr>
          <p:spPr bwMode="auto">
            <a:xfrm>
              <a:off x="371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4"/>
            <p:cNvSpPr>
              <a:spLocks noChangeArrowheads="1"/>
            </p:cNvSpPr>
            <p:nvPr/>
          </p:nvSpPr>
          <p:spPr bwMode="auto">
            <a:xfrm>
              <a:off x="340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5"/>
            <p:cNvSpPr>
              <a:spLocks noChangeArrowheads="1"/>
            </p:cNvSpPr>
            <p:nvPr/>
          </p:nvSpPr>
          <p:spPr bwMode="auto">
            <a:xfrm>
              <a:off x="309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6"/>
            <p:cNvSpPr>
              <a:spLocks noChangeArrowheads="1"/>
            </p:cNvSpPr>
            <p:nvPr/>
          </p:nvSpPr>
          <p:spPr bwMode="auto">
            <a:xfrm>
              <a:off x="278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7"/>
            <p:cNvSpPr>
              <a:spLocks noChangeArrowheads="1"/>
            </p:cNvSpPr>
            <p:nvPr/>
          </p:nvSpPr>
          <p:spPr bwMode="auto">
            <a:xfrm>
              <a:off x="247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8"/>
            <p:cNvSpPr>
              <a:spLocks noChangeArrowheads="1"/>
            </p:cNvSpPr>
            <p:nvPr/>
          </p:nvSpPr>
          <p:spPr bwMode="auto">
            <a:xfrm>
              <a:off x="2162"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9"/>
            <p:cNvSpPr>
              <a:spLocks noChangeArrowheads="1"/>
            </p:cNvSpPr>
            <p:nvPr/>
          </p:nvSpPr>
          <p:spPr bwMode="auto">
            <a:xfrm>
              <a:off x="1852"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50"/>
            <p:cNvSpPr>
              <a:spLocks noChangeArrowheads="1"/>
            </p:cNvSpPr>
            <p:nvPr/>
          </p:nvSpPr>
          <p:spPr bwMode="auto">
            <a:xfrm>
              <a:off x="1542"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51"/>
            <p:cNvSpPr>
              <a:spLocks noChangeArrowheads="1"/>
            </p:cNvSpPr>
            <p:nvPr/>
          </p:nvSpPr>
          <p:spPr bwMode="auto">
            <a:xfrm>
              <a:off x="1232"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6" name="Rectangle 64"/>
            <p:cNvSpPr>
              <a:spLocks noChangeArrowheads="1"/>
            </p:cNvSpPr>
            <p:nvPr/>
          </p:nvSpPr>
          <p:spPr bwMode="auto">
            <a:xfrm>
              <a:off x="922" y="1823"/>
              <a:ext cx="130" cy="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66"/>
            <p:cNvSpPr>
              <a:spLocks noChangeArrowheads="1"/>
            </p:cNvSpPr>
            <p:nvPr/>
          </p:nvSpPr>
          <p:spPr bwMode="auto">
            <a:xfrm>
              <a:off x="922" y="2063"/>
              <a:ext cx="130" cy="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68"/>
            <p:cNvSpPr>
              <a:spLocks noChangeArrowheads="1"/>
            </p:cNvSpPr>
            <p:nvPr/>
          </p:nvSpPr>
          <p:spPr bwMode="auto">
            <a:xfrm>
              <a:off x="922" y="2303"/>
              <a:ext cx="130" cy="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0"/>
            <p:cNvSpPr>
              <a:spLocks noChangeArrowheads="1"/>
            </p:cNvSpPr>
            <p:nvPr/>
          </p:nvSpPr>
          <p:spPr bwMode="auto">
            <a:xfrm>
              <a:off x="922" y="2543"/>
              <a:ext cx="136" cy="2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5" name="Rectangle 52"/>
          <p:cNvSpPr>
            <a:spLocks noChangeArrowheads="1"/>
          </p:cNvSpPr>
          <p:nvPr/>
        </p:nvSpPr>
        <p:spPr bwMode="auto">
          <a:xfrm>
            <a:off x="7367588"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53"/>
          <p:cNvSpPr>
            <a:spLocks noChangeArrowheads="1"/>
          </p:cNvSpPr>
          <p:nvPr/>
        </p:nvSpPr>
        <p:spPr bwMode="auto">
          <a:xfrm>
            <a:off x="6875463"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54"/>
          <p:cNvSpPr>
            <a:spLocks noChangeArrowheads="1"/>
          </p:cNvSpPr>
          <p:nvPr/>
        </p:nvSpPr>
        <p:spPr bwMode="auto">
          <a:xfrm>
            <a:off x="6383338"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55"/>
          <p:cNvSpPr>
            <a:spLocks noChangeArrowheads="1"/>
          </p:cNvSpPr>
          <p:nvPr/>
        </p:nvSpPr>
        <p:spPr bwMode="auto">
          <a:xfrm>
            <a:off x="5891213"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56"/>
          <p:cNvSpPr>
            <a:spLocks noChangeArrowheads="1"/>
          </p:cNvSpPr>
          <p:nvPr/>
        </p:nvSpPr>
        <p:spPr bwMode="auto">
          <a:xfrm>
            <a:off x="5399088"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57"/>
          <p:cNvSpPr>
            <a:spLocks noChangeArrowheads="1"/>
          </p:cNvSpPr>
          <p:nvPr/>
        </p:nvSpPr>
        <p:spPr bwMode="auto">
          <a:xfrm>
            <a:off x="4906963"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8" name="Rectangle 58"/>
          <p:cNvSpPr>
            <a:spLocks noChangeArrowheads="1"/>
          </p:cNvSpPr>
          <p:nvPr/>
        </p:nvSpPr>
        <p:spPr bwMode="auto">
          <a:xfrm>
            <a:off x="4414838"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59"/>
          <p:cNvSpPr>
            <a:spLocks noChangeArrowheads="1"/>
          </p:cNvSpPr>
          <p:nvPr/>
        </p:nvSpPr>
        <p:spPr bwMode="auto">
          <a:xfrm>
            <a:off x="3922713"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0" name="Rectangle 60"/>
          <p:cNvSpPr>
            <a:spLocks noChangeArrowheads="1"/>
          </p:cNvSpPr>
          <p:nvPr/>
        </p:nvSpPr>
        <p:spPr bwMode="auto">
          <a:xfrm>
            <a:off x="3432176"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1" name="Rectangle 61"/>
          <p:cNvSpPr>
            <a:spLocks noChangeArrowheads="1"/>
          </p:cNvSpPr>
          <p:nvPr/>
        </p:nvSpPr>
        <p:spPr bwMode="auto">
          <a:xfrm>
            <a:off x="2940051"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2" name="Rectangle 62"/>
          <p:cNvSpPr>
            <a:spLocks noChangeArrowheads="1"/>
          </p:cNvSpPr>
          <p:nvPr/>
        </p:nvSpPr>
        <p:spPr bwMode="auto">
          <a:xfrm>
            <a:off x="2447926"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63"/>
          <p:cNvSpPr>
            <a:spLocks noChangeArrowheads="1"/>
          </p:cNvSpPr>
          <p:nvPr/>
        </p:nvSpPr>
        <p:spPr bwMode="auto">
          <a:xfrm>
            <a:off x="1955800"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4" name="Rectangle 52"/>
          <p:cNvSpPr>
            <a:spLocks noChangeArrowheads="1"/>
          </p:cNvSpPr>
          <p:nvPr/>
        </p:nvSpPr>
        <p:spPr bwMode="auto">
          <a:xfrm>
            <a:off x="7445058"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5" name="Rectangle 53"/>
          <p:cNvSpPr>
            <a:spLocks noChangeArrowheads="1"/>
          </p:cNvSpPr>
          <p:nvPr/>
        </p:nvSpPr>
        <p:spPr bwMode="auto">
          <a:xfrm>
            <a:off x="6952933"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6" name="Rectangle 54"/>
          <p:cNvSpPr>
            <a:spLocks noChangeArrowheads="1"/>
          </p:cNvSpPr>
          <p:nvPr/>
        </p:nvSpPr>
        <p:spPr bwMode="auto">
          <a:xfrm>
            <a:off x="6460808"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7" name="Rectangle 55"/>
          <p:cNvSpPr>
            <a:spLocks noChangeArrowheads="1"/>
          </p:cNvSpPr>
          <p:nvPr/>
        </p:nvSpPr>
        <p:spPr bwMode="auto">
          <a:xfrm>
            <a:off x="5968683"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8" name="Rectangle 56"/>
          <p:cNvSpPr>
            <a:spLocks noChangeArrowheads="1"/>
          </p:cNvSpPr>
          <p:nvPr/>
        </p:nvSpPr>
        <p:spPr bwMode="auto">
          <a:xfrm>
            <a:off x="5476558"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9" name="Rectangle 57"/>
          <p:cNvSpPr>
            <a:spLocks noChangeArrowheads="1"/>
          </p:cNvSpPr>
          <p:nvPr/>
        </p:nvSpPr>
        <p:spPr bwMode="auto">
          <a:xfrm>
            <a:off x="4984433"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0" name="Rectangle 58"/>
          <p:cNvSpPr>
            <a:spLocks noChangeArrowheads="1"/>
          </p:cNvSpPr>
          <p:nvPr/>
        </p:nvSpPr>
        <p:spPr bwMode="auto">
          <a:xfrm>
            <a:off x="4492308"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1" name="Rectangle 59"/>
          <p:cNvSpPr>
            <a:spLocks noChangeArrowheads="1"/>
          </p:cNvSpPr>
          <p:nvPr/>
        </p:nvSpPr>
        <p:spPr bwMode="auto">
          <a:xfrm>
            <a:off x="4000183"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2" name="Rectangle 60"/>
          <p:cNvSpPr>
            <a:spLocks noChangeArrowheads="1"/>
          </p:cNvSpPr>
          <p:nvPr/>
        </p:nvSpPr>
        <p:spPr bwMode="auto">
          <a:xfrm>
            <a:off x="3509646"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3" name="Rectangle 61"/>
          <p:cNvSpPr>
            <a:spLocks noChangeArrowheads="1"/>
          </p:cNvSpPr>
          <p:nvPr/>
        </p:nvSpPr>
        <p:spPr bwMode="auto">
          <a:xfrm>
            <a:off x="3017521"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4" name="Rectangle 62"/>
          <p:cNvSpPr>
            <a:spLocks noChangeArrowheads="1"/>
          </p:cNvSpPr>
          <p:nvPr/>
        </p:nvSpPr>
        <p:spPr bwMode="auto">
          <a:xfrm>
            <a:off x="2525396"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5" name="Rectangle 63"/>
          <p:cNvSpPr>
            <a:spLocks noChangeArrowheads="1"/>
          </p:cNvSpPr>
          <p:nvPr/>
        </p:nvSpPr>
        <p:spPr bwMode="auto">
          <a:xfrm>
            <a:off x="2033270"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6" name="文本框 95"/>
          <p:cNvSpPr txBox="1"/>
          <p:nvPr/>
        </p:nvSpPr>
        <p:spPr>
          <a:xfrm>
            <a:off x="2030210" y="4958538"/>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min(dp[</a:t>
            </a:r>
            <a:r>
              <a:rPr lang="en-US" altLang="zh-CN" b="1">
                <a:solidFill>
                  <a:srgbClr val="FF0000"/>
                </a:solidFill>
                <a:latin typeface="Times New Roman" panose="02020603050405020304" pitchFamily="18" charset="0"/>
                <a:cs typeface="Times New Roman" panose="02020603050405020304" pitchFamily="18" charset="0"/>
              </a:rPr>
              <a:t>i</a:t>
            </a:r>
            <a:r>
              <a:rPr lang="en-US" altLang="zh-CN" b="1">
                <a:latin typeface="Times New Roman" panose="02020603050405020304" pitchFamily="18" charset="0"/>
                <a:cs typeface="Times New Roman" panose="02020603050405020304" pitchFamily="18" charset="0"/>
              </a:rPr>
              <a:t>][j-w[i]]+1,dp[i-1][j])</a:t>
            </a:r>
            <a:endParaRPr lang="zh-CN" altLang="en-US" b="1">
              <a:latin typeface="Times New Roman" panose="02020603050405020304" pitchFamily="18" charset="0"/>
              <a:cs typeface="Times New Roman" panose="02020603050405020304" pitchFamily="18" charset="0"/>
            </a:endParaRPr>
          </a:p>
        </p:txBody>
      </p:sp>
      <p:sp>
        <p:nvSpPr>
          <p:cNvPr id="97" name="Rectangle 65"/>
          <p:cNvSpPr>
            <a:spLocks noChangeArrowheads="1"/>
          </p:cNvSpPr>
          <p:nvPr/>
        </p:nvSpPr>
        <p:spPr bwMode="auto">
          <a:xfrm>
            <a:off x="1955800" y="3275013"/>
            <a:ext cx="206375"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8" name="Rectangle 67"/>
          <p:cNvSpPr>
            <a:spLocks noChangeArrowheads="1"/>
          </p:cNvSpPr>
          <p:nvPr/>
        </p:nvSpPr>
        <p:spPr bwMode="auto">
          <a:xfrm>
            <a:off x="1955800" y="3656013"/>
            <a:ext cx="206375"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9" name="Rectangle 69"/>
          <p:cNvSpPr>
            <a:spLocks noChangeArrowheads="1"/>
          </p:cNvSpPr>
          <p:nvPr/>
        </p:nvSpPr>
        <p:spPr bwMode="auto">
          <a:xfrm>
            <a:off x="1955800" y="4037013"/>
            <a:ext cx="215900" cy="327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65"/>
          <p:cNvSpPr>
            <a:spLocks noChangeArrowheads="1"/>
          </p:cNvSpPr>
          <p:nvPr/>
        </p:nvSpPr>
        <p:spPr bwMode="auto">
          <a:xfrm>
            <a:off x="1955165" y="3275013"/>
            <a:ext cx="192405"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ꝏ</a:t>
            </a:r>
            <a:endParaRPr kumimoji="0" lang="zh-CN" altLang="zh-CN"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endParaRPr>
          </a:p>
        </p:txBody>
      </p:sp>
      <p:sp>
        <p:nvSpPr>
          <p:cNvPr id="101" name="Rectangle 67"/>
          <p:cNvSpPr>
            <a:spLocks noChangeArrowheads="1"/>
          </p:cNvSpPr>
          <p:nvPr/>
        </p:nvSpPr>
        <p:spPr bwMode="auto">
          <a:xfrm>
            <a:off x="1955165" y="3656013"/>
            <a:ext cx="192405"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zh-CN" sz="1800">
                <a:ln>
                  <a:noFill/>
                </a:ln>
                <a:solidFill>
                  <a:srgbClr val="000000"/>
                </a:solidFill>
                <a:effectLst/>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2" name="Rectangle 69"/>
          <p:cNvSpPr>
            <a:spLocks noChangeArrowheads="1"/>
          </p:cNvSpPr>
          <p:nvPr/>
        </p:nvSpPr>
        <p:spPr bwMode="auto">
          <a:xfrm>
            <a:off x="1955165" y="4037013"/>
            <a:ext cx="192405"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zh-CN" sz="1800">
                <a:ln>
                  <a:noFill/>
                </a:ln>
                <a:solidFill>
                  <a:srgbClr val="000000"/>
                </a:solidFill>
                <a:effectLst/>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4"/>
                                        </p:tgtEl>
                                        <p:attrNameLst>
                                          <p:attrName>style.visibility</p:attrName>
                                        </p:attrNameLst>
                                      </p:cBhvr>
                                      <p:to>
                                        <p:strVal val="visible"/>
                                      </p:to>
                                    </p:set>
                                    <p:anim calcmode="lin" valueType="num">
                                      <p:cBhvr additive="base">
                                        <p:cTn id="7" dur="500" fill="hold"/>
                                        <p:tgtEl>
                                          <p:spTgt spid="84"/>
                                        </p:tgtEl>
                                        <p:attrNameLst>
                                          <p:attrName>ppt_x</p:attrName>
                                        </p:attrNameLst>
                                      </p:cBhvr>
                                      <p:tavLst>
                                        <p:tav tm="0">
                                          <p:val>
                                            <p:strVal val="#ppt_x"/>
                                          </p:val>
                                        </p:tav>
                                        <p:tav tm="100000">
                                          <p:val>
                                            <p:strVal val="#ppt_x"/>
                                          </p:val>
                                        </p:tav>
                                      </p:tavLst>
                                    </p:anim>
                                    <p:anim calcmode="lin" valueType="num">
                                      <p:cBhvr additive="base">
                                        <p:cTn id="8" dur="500" fill="hold"/>
                                        <p:tgtEl>
                                          <p:spTgt spid="8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85"/>
                                        </p:tgtEl>
                                        <p:attrNameLst>
                                          <p:attrName>style.visibility</p:attrName>
                                        </p:attrNameLst>
                                      </p:cBhvr>
                                      <p:to>
                                        <p:strVal val="visible"/>
                                      </p:to>
                                    </p:set>
                                    <p:anim calcmode="lin" valueType="num">
                                      <p:cBhvr additive="base">
                                        <p:cTn id="11" dur="500" fill="hold"/>
                                        <p:tgtEl>
                                          <p:spTgt spid="85"/>
                                        </p:tgtEl>
                                        <p:attrNameLst>
                                          <p:attrName>ppt_x</p:attrName>
                                        </p:attrNameLst>
                                      </p:cBhvr>
                                      <p:tavLst>
                                        <p:tav tm="0">
                                          <p:val>
                                            <p:strVal val="#ppt_x"/>
                                          </p:val>
                                        </p:tav>
                                        <p:tav tm="100000">
                                          <p:val>
                                            <p:strVal val="#ppt_x"/>
                                          </p:val>
                                        </p:tav>
                                      </p:tavLst>
                                    </p:anim>
                                    <p:anim calcmode="lin" valueType="num">
                                      <p:cBhvr additive="base">
                                        <p:cTn id="12" dur="500" fill="hold"/>
                                        <p:tgtEl>
                                          <p:spTgt spid="8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86"/>
                                        </p:tgtEl>
                                        <p:attrNameLst>
                                          <p:attrName>style.visibility</p:attrName>
                                        </p:attrNameLst>
                                      </p:cBhvr>
                                      <p:to>
                                        <p:strVal val="visible"/>
                                      </p:to>
                                    </p:set>
                                    <p:anim calcmode="lin" valueType="num">
                                      <p:cBhvr additive="base">
                                        <p:cTn id="15" dur="500" fill="hold"/>
                                        <p:tgtEl>
                                          <p:spTgt spid="86"/>
                                        </p:tgtEl>
                                        <p:attrNameLst>
                                          <p:attrName>ppt_x</p:attrName>
                                        </p:attrNameLst>
                                      </p:cBhvr>
                                      <p:tavLst>
                                        <p:tav tm="0">
                                          <p:val>
                                            <p:strVal val="#ppt_x"/>
                                          </p:val>
                                        </p:tav>
                                        <p:tav tm="100000">
                                          <p:val>
                                            <p:strVal val="#ppt_x"/>
                                          </p:val>
                                        </p:tav>
                                      </p:tavLst>
                                    </p:anim>
                                    <p:anim calcmode="lin" valueType="num">
                                      <p:cBhvr additive="base">
                                        <p:cTn id="16" dur="500" fill="hold"/>
                                        <p:tgtEl>
                                          <p:spTgt spid="86"/>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87"/>
                                        </p:tgtEl>
                                        <p:attrNameLst>
                                          <p:attrName>style.visibility</p:attrName>
                                        </p:attrNameLst>
                                      </p:cBhvr>
                                      <p:to>
                                        <p:strVal val="visible"/>
                                      </p:to>
                                    </p:set>
                                    <p:anim calcmode="lin" valueType="num">
                                      <p:cBhvr additive="base">
                                        <p:cTn id="19" dur="500" fill="hold"/>
                                        <p:tgtEl>
                                          <p:spTgt spid="87"/>
                                        </p:tgtEl>
                                        <p:attrNameLst>
                                          <p:attrName>ppt_x</p:attrName>
                                        </p:attrNameLst>
                                      </p:cBhvr>
                                      <p:tavLst>
                                        <p:tav tm="0">
                                          <p:val>
                                            <p:strVal val="#ppt_x"/>
                                          </p:val>
                                        </p:tav>
                                        <p:tav tm="100000">
                                          <p:val>
                                            <p:strVal val="#ppt_x"/>
                                          </p:val>
                                        </p:tav>
                                      </p:tavLst>
                                    </p:anim>
                                    <p:anim calcmode="lin" valueType="num">
                                      <p:cBhvr additive="base">
                                        <p:cTn id="20" dur="500" fill="hold"/>
                                        <p:tgtEl>
                                          <p:spTgt spid="87"/>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88"/>
                                        </p:tgtEl>
                                        <p:attrNameLst>
                                          <p:attrName>style.visibility</p:attrName>
                                        </p:attrNameLst>
                                      </p:cBhvr>
                                      <p:to>
                                        <p:strVal val="visible"/>
                                      </p:to>
                                    </p:set>
                                    <p:anim calcmode="lin" valueType="num">
                                      <p:cBhvr additive="base">
                                        <p:cTn id="23" dur="500" fill="hold"/>
                                        <p:tgtEl>
                                          <p:spTgt spid="88"/>
                                        </p:tgtEl>
                                        <p:attrNameLst>
                                          <p:attrName>ppt_x</p:attrName>
                                        </p:attrNameLst>
                                      </p:cBhvr>
                                      <p:tavLst>
                                        <p:tav tm="0">
                                          <p:val>
                                            <p:strVal val="#ppt_x"/>
                                          </p:val>
                                        </p:tav>
                                        <p:tav tm="100000">
                                          <p:val>
                                            <p:strVal val="#ppt_x"/>
                                          </p:val>
                                        </p:tav>
                                      </p:tavLst>
                                    </p:anim>
                                    <p:anim calcmode="lin" valueType="num">
                                      <p:cBhvr additive="base">
                                        <p:cTn id="24" dur="500" fill="hold"/>
                                        <p:tgtEl>
                                          <p:spTgt spid="88"/>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89"/>
                                        </p:tgtEl>
                                        <p:attrNameLst>
                                          <p:attrName>style.visibility</p:attrName>
                                        </p:attrNameLst>
                                      </p:cBhvr>
                                      <p:to>
                                        <p:strVal val="visible"/>
                                      </p:to>
                                    </p:set>
                                    <p:anim calcmode="lin" valueType="num">
                                      <p:cBhvr additive="base">
                                        <p:cTn id="27" dur="500" fill="hold"/>
                                        <p:tgtEl>
                                          <p:spTgt spid="89"/>
                                        </p:tgtEl>
                                        <p:attrNameLst>
                                          <p:attrName>ppt_x</p:attrName>
                                        </p:attrNameLst>
                                      </p:cBhvr>
                                      <p:tavLst>
                                        <p:tav tm="0">
                                          <p:val>
                                            <p:strVal val="#ppt_x"/>
                                          </p:val>
                                        </p:tav>
                                        <p:tav tm="100000">
                                          <p:val>
                                            <p:strVal val="#ppt_x"/>
                                          </p:val>
                                        </p:tav>
                                      </p:tavLst>
                                    </p:anim>
                                    <p:anim calcmode="lin" valueType="num">
                                      <p:cBhvr additive="base">
                                        <p:cTn id="28" dur="500" fill="hold"/>
                                        <p:tgtEl>
                                          <p:spTgt spid="89"/>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90"/>
                                        </p:tgtEl>
                                        <p:attrNameLst>
                                          <p:attrName>style.visibility</p:attrName>
                                        </p:attrNameLst>
                                      </p:cBhvr>
                                      <p:to>
                                        <p:strVal val="visible"/>
                                      </p:to>
                                    </p:set>
                                    <p:anim calcmode="lin" valueType="num">
                                      <p:cBhvr additive="base">
                                        <p:cTn id="31" dur="500" fill="hold"/>
                                        <p:tgtEl>
                                          <p:spTgt spid="90"/>
                                        </p:tgtEl>
                                        <p:attrNameLst>
                                          <p:attrName>ppt_x</p:attrName>
                                        </p:attrNameLst>
                                      </p:cBhvr>
                                      <p:tavLst>
                                        <p:tav tm="0">
                                          <p:val>
                                            <p:strVal val="#ppt_x"/>
                                          </p:val>
                                        </p:tav>
                                        <p:tav tm="100000">
                                          <p:val>
                                            <p:strVal val="#ppt_x"/>
                                          </p:val>
                                        </p:tav>
                                      </p:tavLst>
                                    </p:anim>
                                    <p:anim calcmode="lin" valueType="num">
                                      <p:cBhvr additive="base">
                                        <p:cTn id="32" dur="500" fill="hold"/>
                                        <p:tgtEl>
                                          <p:spTgt spid="90"/>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91"/>
                                        </p:tgtEl>
                                        <p:attrNameLst>
                                          <p:attrName>style.visibility</p:attrName>
                                        </p:attrNameLst>
                                      </p:cBhvr>
                                      <p:to>
                                        <p:strVal val="visible"/>
                                      </p:to>
                                    </p:set>
                                    <p:anim calcmode="lin" valueType="num">
                                      <p:cBhvr additive="base">
                                        <p:cTn id="35" dur="500" fill="hold"/>
                                        <p:tgtEl>
                                          <p:spTgt spid="91"/>
                                        </p:tgtEl>
                                        <p:attrNameLst>
                                          <p:attrName>ppt_x</p:attrName>
                                        </p:attrNameLst>
                                      </p:cBhvr>
                                      <p:tavLst>
                                        <p:tav tm="0">
                                          <p:val>
                                            <p:strVal val="#ppt_x"/>
                                          </p:val>
                                        </p:tav>
                                        <p:tav tm="100000">
                                          <p:val>
                                            <p:strVal val="#ppt_x"/>
                                          </p:val>
                                        </p:tav>
                                      </p:tavLst>
                                    </p:anim>
                                    <p:anim calcmode="lin" valueType="num">
                                      <p:cBhvr additive="base">
                                        <p:cTn id="36" dur="500" fill="hold"/>
                                        <p:tgtEl>
                                          <p:spTgt spid="91"/>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92"/>
                                        </p:tgtEl>
                                        <p:attrNameLst>
                                          <p:attrName>style.visibility</p:attrName>
                                        </p:attrNameLst>
                                      </p:cBhvr>
                                      <p:to>
                                        <p:strVal val="visible"/>
                                      </p:to>
                                    </p:set>
                                    <p:anim calcmode="lin" valueType="num">
                                      <p:cBhvr additive="base">
                                        <p:cTn id="39" dur="500" fill="hold"/>
                                        <p:tgtEl>
                                          <p:spTgt spid="92"/>
                                        </p:tgtEl>
                                        <p:attrNameLst>
                                          <p:attrName>ppt_x</p:attrName>
                                        </p:attrNameLst>
                                      </p:cBhvr>
                                      <p:tavLst>
                                        <p:tav tm="0">
                                          <p:val>
                                            <p:strVal val="#ppt_x"/>
                                          </p:val>
                                        </p:tav>
                                        <p:tav tm="100000">
                                          <p:val>
                                            <p:strVal val="#ppt_x"/>
                                          </p:val>
                                        </p:tav>
                                      </p:tavLst>
                                    </p:anim>
                                    <p:anim calcmode="lin" valueType="num">
                                      <p:cBhvr additive="base">
                                        <p:cTn id="40" dur="500" fill="hold"/>
                                        <p:tgtEl>
                                          <p:spTgt spid="92"/>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93"/>
                                        </p:tgtEl>
                                        <p:attrNameLst>
                                          <p:attrName>style.visibility</p:attrName>
                                        </p:attrNameLst>
                                      </p:cBhvr>
                                      <p:to>
                                        <p:strVal val="visible"/>
                                      </p:to>
                                    </p:set>
                                    <p:anim calcmode="lin" valueType="num">
                                      <p:cBhvr additive="base">
                                        <p:cTn id="43" dur="500" fill="hold"/>
                                        <p:tgtEl>
                                          <p:spTgt spid="93"/>
                                        </p:tgtEl>
                                        <p:attrNameLst>
                                          <p:attrName>ppt_x</p:attrName>
                                        </p:attrNameLst>
                                      </p:cBhvr>
                                      <p:tavLst>
                                        <p:tav tm="0">
                                          <p:val>
                                            <p:strVal val="#ppt_x"/>
                                          </p:val>
                                        </p:tav>
                                        <p:tav tm="100000">
                                          <p:val>
                                            <p:strVal val="#ppt_x"/>
                                          </p:val>
                                        </p:tav>
                                      </p:tavLst>
                                    </p:anim>
                                    <p:anim calcmode="lin" valueType="num">
                                      <p:cBhvr additive="base">
                                        <p:cTn id="44" dur="500" fill="hold"/>
                                        <p:tgtEl>
                                          <p:spTgt spid="93"/>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94"/>
                                        </p:tgtEl>
                                        <p:attrNameLst>
                                          <p:attrName>style.visibility</p:attrName>
                                        </p:attrNameLst>
                                      </p:cBhvr>
                                      <p:to>
                                        <p:strVal val="visible"/>
                                      </p:to>
                                    </p:set>
                                    <p:anim calcmode="lin" valueType="num">
                                      <p:cBhvr additive="base">
                                        <p:cTn id="47" dur="500" fill="hold"/>
                                        <p:tgtEl>
                                          <p:spTgt spid="94"/>
                                        </p:tgtEl>
                                        <p:attrNameLst>
                                          <p:attrName>ppt_x</p:attrName>
                                        </p:attrNameLst>
                                      </p:cBhvr>
                                      <p:tavLst>
                                        <p:tav tm="0">
                                          <p:val>
                                            <p:strVal val="#ppt_x"/>
                                          </p:val>
                                        </p:tav>
                                        <p:tav tm="100000">
                                          <p:val>
                                            <p:strVal val="#ppt_x"/>
                                          </p:val>
                                        </p:tav>
                                      </p:tavLst>
                                    </p:anim>
                                    <p:anim calcmode="lin" valueType="num">
                                      <p:cBhvr additive="base">
                                        <p:cTn id="48" dur="500" fill="hold"/>
                                        <p:tgtEl>
                                          <p:spTgt spid="94"/>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anim calcmode="lin" valueType="num">
                                      <p:cBhvr additive="base">
                                        <p:cTn id="51" dur="500" fill="hold"/>
                                        <p:tgtEl>
                                          <p:spTgt spid="95"/>
                                        </p:tgtEl>
                                        <p:attrNameLst>
                                          <p:attrName>ppt_x</p:attrName>
                                        </p:attrNameLst>
                                      </p:cBhvr>
                                      <p:tavLst>
                                        <p:tav tm="0">
                                          <p:val>
                                            <p:strVal val="#ppt_x"/>
                                          </p:val>
                                        </p:tav>
                                        <p:tav tm="100000">
                                          <p:val>
                                            <p:strVal val="#ppt_x"/>
                                          </p:val>
                                        </p:tav>
                                      </p:tavLst>
                                    </p:anim>
                                    <p:anim calcmode="lin" valueType="num">
                                      <p:cBhvr additive="base">
                                        <p:cTn id="52" dur="500" fill="hold"/>
                                        <p:tgtEl>
                                          <p:spTgt spid="95"/>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96"/>
                                        </p:tgtEl>
                                        <p:attrNameLst>
                                          <p:attrName>style.visibility</p:attrName>
                                        </p:attrNameLst>
                                      </p:cBhvr>
                                      <p:to>
                                        <p:strVal val="visible"/>
                                      </p:to>
                                    </p:set>
                                    <p:anim calcmode="lin" valueType="num">
                                      <p:cBhvr additive="base">
                                        <p:cTn id="57" dur="500" fill="hold"/>
                                        <p:tgtEl>
                                          <p:spTgt spid="96"/>
                                        </p:tgtEl>
                                        <p:attrNameLst>
                                          <p:attrName>ppt_x</p:attrName>
                                        </p:attrNameLst>
                                      </p:cBhvr>
                                      <p:tavLst>
                                        <p:tav tm="0">
                                          <p:val>
                                            <p:strVal val="#ppt_x"/>
                                          </p:val>
                                        </p:tav>
                                        <p:tav tm="100000">
                                          <p:val>
                                            <p:strVal val="#ppt_x"/>
                                          </p:val>
                                        </p:tav>
                                      </p:tavLst>
                                    </p:anim>
                                    <p:anim calcmode="lin" valueType="num">
                                      <p:cBhvr additive="base">
                                        <p:cTn id="58" dur="500" fill="hold"/>
                                        <p:tgtEl>
                                          <p:spTgt spid="96"/>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xit" presetSubtype="4" fill="hold" grpId="2" nodeType="clickEffect">
                                  <p:stCondLst>
                                    <p:cond delay="0"/>
                                  </p:stCondLst>
                                  <p:childTnLst>
                                    <p:anim calcmode="lin" valueType="num">
                                      <p:cBhvr additive="base">
                                        <p:cTn id="62" dur="500"/>
                                        <p:tgtEl>
                                          <p:spTgt spid="84"/>
                                        </p:tgtEl>
                                        <p:attrNameLst>
                                          <p:attrName>ppt_x</p:attrName>
                                        </p:attrNameLst>
                                      </p:cBhvr>
                                      <p:tavLst>
                                        <p:tav tm="0">
                                          <p:val>
                                            <p:strVal val="ppt_x"/>
                                          </p:val>
                                        </p:tav>
                                        <p:tav tm="100000">
                                          <p:val>
                                            <p:strVal val="ppt_x"/>
                                          </p:val>
                                        </p:tav>
                                      </p:tavLst>
                                    </p:anim>
                                    <p:anim calcmode="lin" valueType="num">
                                      <p:cBhvr additive="base">
                                        <p:cTn id="63" dur="500"/>
                                        <p:tgtEl>
                                          <p:spTgt spid="84"/>
                                        </p:tgtEl>
                                        <p:attrNameLst>
                                          <p:attrName>ppt_y</p:attrName>
                                        </p:attrNameLst>
                                      </p:cBhvr>
                                      <p:tavLst>
                                        <p:tav tm="0">
                                          <p:val>
                                            <p:strVal val="ppt_y"/>
                                          </p:val>
                                        </p:tav>
                                        <p:tav tm="100000">
                                          <p:val>
                                            <p:strVal val="1+ppt_h/2"/>
                                          </p:val>
                                        </p:tav>
                                      </p:tavLst>
                                    </p:anim>
                                    <p:set>
                                      <p:cBhvr>
                                        <p:cTn id="64" dur="1" fill="hold">
                                          <p:stCondLst>
                                            <p:cond delay="499"/>
                                          </p:stCondLst>
                                        </p:cTn>
                                        <p:tgtEl>
                                          <p:spTgt spid="84"/>
                                        </p:tgtEl>
                                        <p:attrNameLst>
                                          <p:attrName>style.visibility</p:attrName>
                                        </p:attrNameLst>
                                      </p:cBhvr>
                                      <p:to>
                                        <p:strVal val="hidden"/>
                                      </p:to>
                                    </p:set>
                                  </p:childTnLst>
                                </p:cTn>
                              </p:par>
                              <p:par>
                                <p:cTn id="65" presetID="2" presetClass="exit" presetSubtype="4" fill="hold" grpId="2" nodeType="withEffect">
                                  <p:stCondLst>
                                    <p:cond delay="0"/>
                                  </p:stCondLst>
                                  <p:childTnLst>
                                    <p:anim calcmode="lin" valueType="num">
                                      <p:cBhvr additive="base">
                                        <p:cTn id="66" dur="500"/>
                                        <p:tgtEl>
                                          <p:spTgt spid="85"/>
                                        </p:tgtEl>
                                        <p:attrNameLst>
                                          <p:attrName>ppt_x</p:attrName>
                                        </p:attrNameLst>
                                      </p:cBhvr>
                                      <p:tavLst>
                                        <p:tav tm="0">
                                          <p:val>
                                            <p:strVal val="ppt_x"/>
                                          </p:val>
                                        </p:tav>
                                        <p:tav tm="100000">
                                          <p:val>
                                            <p:strVal val="ppt_x"/>
                                          </p:val>
                                        </p:tav>
                                      </p:tavLst>
                                    </p:anim>
                                    <p:anim calcmode="lin" valueType="num">
                                      <p:cBhvr additive="base">
                                        <p:cTn id="67" dur="500"/>
                                        <p:tgtEl>
                                          <p:spTgt spid="85"/>
                                        </p:tgtEl>
                                        <p:attrNameLst>
                                          <p:attrName>ppt_y</p:attrName>
                                        </p:attrNameLst>
                                      </p:cBhvr>
                                      <p:tavLst>
                                        <p:tav tm="0">
                                          <p:val>
                                            <p:strVal val="ppt_y"/>
                                          </p:val>
                                        </p:tav>
                                        <p:tav tm="100000">
                                          <p:val>
                                            <p:strVal val="1+ppt_h/2"/>
                                          </p:val>
                                        </p:tav>
                                      </p:tavLst>
                                    </p:anim>
                                    <p:set>
                                      <p:cBhvr>
                                        <p:cTn id="68" dur="1" fill="hold">
                                          <p:stCondLst>
                                            <p:cond delay="499"/>
                                          </p:stCondLst>
                                        </p:cTn>
                                        <p:tgtEl>
                                          <p:spTgt spid="85"/>
                                        </p:tgtEl>
                                        <p:attrNameLst>
                                          <p:attrName>style.visibility</p:attrName>
                                        </p:attrNameLst>
                                      </p:cBhvr>
                                      <p:to>
                                        <p:strVal val="hidden"/>
                                      </p:to>
                                    </p:set>
                                  </p:childTnLst>
                                </p:cTn>
                              </p:par>
                              <p:par>
                                <p:cTn id="69" presetID="2" presetClass="exit" presetSubtype="4" fill="hold" grpId="2" nodeType="withEffect">
                                  <p:stCondLst>
                                    <p:cond delay="0"/>
                                  </p:stCondLst>
                                  <p:childTnLst>
                                    <p:anim calcmode="lin" valueType="num">
                                      <p:cBhvr additive="base">
                                        <p:cTn id="70" dur="500"/>
                                        <p:tgtEl>
                                          <p:spTgt spid="86"/>
                                        </p:tgtEl>
                                        <p:attrNameLst>
                                          <p:attrName>ppt_x</p:attrName>
                                        </p:attrNameLst>
                                      </p:cBhvr>
                                      <p:tavLst>
                                        <p:tav tm="0">
                                          <p:val>
                                            <p:strVal val="ppt_x"/>
                                          </p:val>
                                        </p:tav>
                                        <p:tav tm="100000">
                                          <p:val>
                                            <p:strVal val="ppt_x"/>
                                          </p:val>
                                        </p:tav>
                                      </p:tavLst>
                                    </p:anim>
                                    <p:anim calcmode="lin" valueType="num">
                                      <p:cBhvr additive="base">
                                        <p:cTn id="71" dur="500"/>
                                        <p:tgtEl>
                                          <p:spTgt spid="86"/>
                                        </p:tgtEl>
                                        <p:attrNameLst>
                                          <p:attrName>ppt_y</p:attrName>
                                        </p:attrNameLst>
                                      </p:cBhvr>
                                      <p:tavLst>
                                        <p:tav tm="0">
                                          <p:val>
                                            <p:strVal val="ppt_y"/>
                                          </p:val>
                                        </p:tav>
                                        <p:tav tm="100000">
                                          <p:val>
                                            <p:strVal val="1+ppt_h/2"/>
                                          </p:val>
                                        </p:tav>
                                      </p:tavLst>
                                    </p:anim>
                                    <p:set>
                                      <p:cBhvr>
                                        <p:cTn id="72" dur="1" fill="hold">
                                          <p:stCondLst>
                                            <p:cond delay="499"/>
                                          </p:stCondLst>
                                        </p:cTn>
                                        <p:tgtEl>
                                          <p:spTgt spid="86"/>
                                        </p:tgtEl>
                                        <p:attrNameLst>
                                          <p:attrName>style.visibility</p:attrName>
                                        </p:attrNameLst>
                                      </p:cBhvr>
                                      <p:to>
                                        <p:strVal val="hidden"/>
                                      </p:to>
                                    </p:set>
                                  </p:childTnLst>
                                </p:cTn>
                              </p:par>
                              <p:par>
                                <p:cTn id="73" presetID="2" presetClass="exit" presetSubtype="4" fill="hold" grpId="2" nodeType="withEffect">
                                  <p:stCondLst>
                                    <p:cond delay="0"/>
                                  </p:stCondLst>
                                  <p:childTnLst>
                                    <p:anim calcmode="lin" valueType="num">
                                      <p:cBhvr additive="base">
                                        <p:cTn id="74" dur="500"/>
                                        <p:tgtEl>
                                          <p:spTgt spid="87"/>
                                        </p:tgtEl>
                                        <p:attrNameLst>
                                          <p:attrName>ppt_x</p:attrName>
                                        </p:attrNameLst>
                                      </p:cBhvr>
                                      <p:tavLst>
                                        <p:tav tm="0">
                                          <p:val>
                                            <p:strVal val="ppt_x"/>
                                          </p:val>
                                        </p:tav>
                                        <p:tav tm="100000">
                                          <p:val>
                                            <p:strVal val="ppt_x"/>
                                          </p:val>
                                        </p:tav>
                                      </p:tavLst>
                                    </p:anim>
                                    <p:anim calcmode="lin" valueType="num">
                                      <p:cBhvr additive="base">
                                        <p:cTn id="75" dur="500"/>
                                        <p:tgtEl>
                                          <p:spTgt spid="87"/>
                                        </p:tgtEl>
                                        <p:attrNameLst>
                                          <p:attrName>ppt_y</p:attrName>
                                        </p:attrNameLst>
                                      </p:cBhvr>
                                      <p:tavLst>
                                        <p:tav tm="0">
                                          <p:val>
                                            <p:strVal val="ppt_y"/>
                                          </p:val>
                                        </p:tav>
                                        <p:tav tm="100000">
                                          <p:val>
                                            <p:strVal val="1+ppt_h/2"/>
                                          </p:val>
                                        </p:tav>
                                      </p:tavLst>
                                    </p:anim>
                                    <p:set>
                                      <p:cBhvr>
                                        <p:cTn id="76" dur="1" fill="hold">
                                          <p:stCondLst>
                                            <p:cond delay="499"/>
                                          </p:stCondLst>
                                        </p:cTn>
                                        <p:tgtEl>
                                          <p:spTgt spid="87"/>
                                        </p:tgtEl>
                                        <p:attrNameLst>
                                          <p:attrName>style.visibility</p:attrName>
                                        </p:attrNameLst>
                                      </p:cBhvr>
                                      <p:to>
                                        <p:strVal val="hidden"/>
                                      </p:to>
                                    </p:set>
                                  </p:childTnLst>
                                </p:cTn>
                              </p:par>
                              <p:par>
                                <p:cTn id="77" presetID="2" presetClass="exit" presetSubtype="4" fill="hold" grpId="2" nodeType="withEffect">
                                  <p:stCondLst>
                                    <p:cond delay="0"/>
                                  </p:stCondLst>
                                  <p:childTnLst>
                                    <p:anim calcmode="lin" valueType="num">
                                      <p:cBhvr additive="base">
                                        <p:cTn id="78" dur="500"/>
                                        <p:tgtEl>
                                          <p:spTgt spid="88"/>
                                        </p:tgtEl>
                                        <p:attrNameLst>
                                          <p:attrName>ppt_x</p:attrName>
                                        </p:attrNameLst>
                                      </p:cBhvr>
                                      <p:tavLst>
                                        <p:tav tm="0">
                                          <p:val>
                                            <p:strVal val="ppt_x"/>
                                          </p:val>
                                        </p:tav>
                                        <p:tav tm="100000">
                                          <p:val>
                                            <p:strVal val="ppt_x"/>
                                          </p:val>
                                        </p:tav>
                                      </p:tavLst>
                                    </p:anim>
                                    <p:anim calcmode="lin" valueType="num">
                                      <p:cBhvr additive="base">
                                        <p:cTn id="79" dur="500"/>
                                        <p:tgtEl>
                                          <p:spTgt spid="88"/>
                                        </p:tgtEl>
                                        <p:attrNameLst>
                                          <p:attrName>ppt_y</p:attrName>
                                        </p:attrNameLst>
                                      </p:cBhvr>
                                      <p:tavLst>
                                        <p:tav tm="0">
                                          <p:val>
                                            <p:strVal val="ppt_y"/>
                                          </p:val>
                                        </p:tav>
                                        <p:tav tm="100000">
                                          <p:val>
                                            <p:strVal val="1+ppt_h/2"/>
                                          </p:val>
                                        </p:tav>
                                      </p:tavLst>
                                    </p:anim>
                                    <p:set>
                                      <p:cBhvr>
                                        <p:cTn id="80" dur="1" fill="hold">
                                          <p:stCondLst>
                                            <p:cond delay="499"/>
                                          </p:stCondLst>
                                        </p:cTn>
                                        <p:tgtEl>
                                          <p:spTgt spid="88"/>
                                        </p:tgtEl>
                                        <p:attrNameLst>
                                          <p:attrName>style.visibility</p:attrName>
                                        </p:attrNameLst>
                                      </p:cBhvr>
                                      <p:to>
                                        <p:strVal val="hidden"/>
                                      </p:to>
                                    </p:set>
                                  </p:childTnLst>
                                </p:cTn>
                              </p:par>
                              <p:par>
                                <p:cTn id="81" presetID="2" presetClass="exit" presetSubtype="4" fill="hold" grpId="2" nodeType="withEffect">
                                  <p:stCondLst>
                                    <p:cond delay="0"/>
                                  </p:stCondLst>
                                  <p:childTnLst>
                                    <p:anim calcmode="lin" valueType="num">
                                      <p:cBhvr additive="base">
                                        <p:cTn id="82" dur="500"/>
                                        <p:tgtEl>
                                          <p:spTgt spid="89"/>
                                        </p:tgtEl>
                                        <p:attrNameLst>
                                          <p:attrName>ppt_x</p:attrName>
                                        </p:attrNameLst>
                                      </p:cBhvr>
                                      <p:tavLst>
                                        <p:tav tm="0">
                                          <p:val>
                                            <p:strVal val="ppt_x"/>
                                          </p:val>
                                        </p:tav>
                                        <p:tav tm="100000">
                                          <p:val>
                                            <p:strVal val="ppt_x"/>
                                          </p:val>
                                        </p:tav>
                                      </p:tavLst>
                                    </p:anim>
                                    <p:anim calcmode="lin" valueType="num">
                                      <p:cBhvr additive="base">
                                        <p:cTn id="83" dur="500"/>
                                        <p:tgtEl>
                                          <p:spTgt spid="89"/>
                                        </p:tgtEl>
                                        <p:attrNameLst>
                                          <p:attrName>ppt_y</p:attrName>
                                        </p:attrNameLst>
                                      </p:cBhvr>
                                      <p:tavLst>
                                        <p:tav tm="0">
                                          <p:val>
                                            <p:strVal val="ppt_y"/>
                                          </p:val>
                                        </p:tav>
                                        <p:tav tm="100000">
                                          <p:val>
                                            <p:strVal val="1+ppt_h/2"/>
                                          </p:val>
                                        </p:tav>
                                      </p:tavLst>
                                    </p:anim>
                                    <p:set>
                                      <p:cBhvr>
                                        <p:cTn id="84" dur="1" fill="hold">
                                          <p:stCondLst>
                                            <p:cond delay="499"/>
                                          </p:stCondLst>
                                        </p:cTn>
                                        <p:tgtEl>
                                          <p:spTgt spid="89"/>
                                        </p:tgtEl>
                                        <p:attrNameLst>
                                          <p:attrName>style.visibility</p:attrName>
                                        </p:attrNameLst>
                                      </p:cBhvr>
                                      <p:to>
                                        <p:strVal val="hidden"/>
                                      </p:to>
                                    </p:set>
                                  </p:childTnLst>
                                </p:cTn>
                              </p:par>
                              <p:par>
                                <p:cTn id="85" presetID="2" presetClass="exit" presetSubtype="4" fill="hold" grpId="2" nodeType="withEffect">
                                  <p:stCondLst>
                                    <p:cond delay="0"/>
                                  </p:stCondLst>
                                  <p:childTnLst>
                                    <p:anim calcmode="lin" valueType="num">
                                      <p:cBhvr additive="base">
                                        <p:cTn id="86" dur="500"/>
                                        <p:tgtEl>
                                          <p:spTgt spid="90"/>
                                        </p:tgtEl>
                                        <p:attrNameLst>
                                          <p:attrName>ppt_x</p:attrName>
                                        </p:attrNameLst>
                                      </p:cBhvr>
                                      <p:tavLst>
                                        <p:tav tm="0">
                                          <p:val>
                                            <p:strVal val="ppt_x"/>
                                          </p:val>
                                        </p:tav>
                                        <p:tav tm="100000">
                                          <p:val>
                                            <p:strVal val="ppt_x"/>
                                          </p:val>
                                        </p:tav>
                                      </p:tavLst>
                                    </p:anim>
                                    <p:anim calcmode="lin" valueType="num">
                                      <p:cBhvr additive="base">
                                        <p:cTn id="87" dur="500"/>
                                        <p:tgtEl>
                                          <p:spTgt spid="90"/>
                                        </p:tgtEl>
                                        <p:attrNameLst>
                                          <p:attrName>ppt_y</p:attrName>
                                        </p:attrNameLst>
                                      </p:cBhvr>
                                      <p:tavLst>
                                        <p:tav tm="0">
                                          <p:val>
                                            <p:strVal val="ppt_y"/>
                                          </p:val>
                                        </p:tav>
                                        <p:tav tm="100000">
                                          <p:val>
                                            <p:strVal val="1+ppt_h/2"/>
                                          </p:val>
                                        </p:tav>
                                      </p:tavLst>
                                    </p:anim>
                                    <p:set>
                                      <p:cBhvr>
                                        <p:cTn id="88" dur="1" fill="hold">
                                          <p:stCondLst>
                                            <p:cond delay="499"/>
                                          </p:stCondLst>
                                        </p:cTn>
                                        <p:tgtEl>
                                          <p:spTgt spid="90"/>
                                        </p:tgtEl>
                                        <p:attrNameLst>
                                          <p:attrName>style.visibility</p:attrName>
                                        </p:attrNameLst>
                                      </p:cBhvr>
                                      <p:to>
                                        <p:strVal val="hidden"/>
                                      </p:to>
                                    </p:set>
                                  </p:childTnLst>
                                </p:cTn>
                              </p:par>
                              <p:par>
                                <p:cTn id="89" presetID="2" presetClass="exit" presetSubtype="4" fill="hold" grpId="2" nodeType="withEffect">
                                  <p:stCondLst>
                                    <p:cond delay="0"/>
                                  </p:stCondLst>
                                  <p:childTnLst>
                                    <p:anim calcmode="lin" valueType="num">
                                      <p:cBhvr additive="base">
                                        <p:cTn id="90" dur="500"/>
                                        <p:tgtEl>
                                          <p:spTgt spid="91"/>
                                        </p:tgtEl>
                                        <p:attrNameLst>
                                          <p:attrName>ppt_x</p:attrName>
                                        </p:attrNameLst>
                                      </p:cBhvr>
                                      <p:tavLst>
                                        <p:tav tm="0">
                                          <p:val>
                                            <p:strVal val="ppt_x"/>
                                          </p:val>
                                        </p:tav>
                                        <p:tav tm="100000">
                                          <p:val>
                                            <p:strVal val="ppt_x"/>
                                          </p:val>
                                        </p:tav>
                                      </p:tavLst>
                                    </p:anim>
                                    <p:anim calcmode="lin" valueType="num">
                                      <p:cBhvr additive="base">
                                        <p:cTn id="91" dur="500"/>
                                        <p:tgtEl>
                                          <p:spTgt spid="91"/>
                                        </p:tgtEl>
                                        <p:attrNameLst>
                                          <p:attrName>ppt_y</p:attrName>
                                        </p:attrNameLst>
                                      </p:cBhvr>
                                      <p:tavLst>
                                        <p:tav tm="0">
                                          <p:val>
                                            <p:strVal val="ppt_y"/>
                                          </p:val>
                                        </p:tav>
                                        <p:tav tm="100000">
                                          <p:val>
                                            <p:strVal val="1+ppt_h/2"/>
                                          </p:val>
                                        </p:tav>
                                      </p:tavLst>
                                    </p:anim>
                                    <p:set>
                                      <p:cBhvr>
                                        <p:cTn id="92" dur="1" fill="hold">
                                          <p:stCondLst>
                                            <p:cond delay="499"/>
                                          </p:stCondLst>
                                        </p:cTn>
                                        <p:tgtEl>
                                          <p:spTgt spid="91"/>
                                        </p:tgtEl>
                                        <p:attrNameLst>
                                          <p:attrName>style.visibility</p:attrName>
                                        </p:attrNameLst>
                                      </p:cBhvr>
                                      <p:to>
                                        <p:strVal val="hidden"/>
                                      </p:to>
                                    </p:set>
                                  </p:childTnLst>
                                </p:cTn>
                              </p:par>
                              <p:par>
                                <p:cTn id="93" presetID="2" presetClass="exit" presetSubtype="4" fill="hold" grpId="2" nodeType="withEffect">
                                  <p:stCondLst>
                                    <p:cond delay="0"/>
                                  </p:stCondLst>
                                  <p:childTnLst>
                                    <p:anim calcmode="lin" valueType="num">
                                      <p:cBhvr additive="base">
                                        <p:cTn id="94" dur="500"/>
                                        <p:tgtEl>
                                          <p:spTgt spid="92"/>
                                        </p:tgtEl>
                                        <p:attrNameLst>
                                          <p:attrName>ppt_x</p:attrName>
                                        </p:attrNameLst>
                                      </p:cBhvr>
                                      <p:tavLst>
                                        <p:tav tm="0">
                                          <p:val>
                                            <p:strVal val="ppt_x"/>
                                          </p:val>
                                        </p:tav>
                                        <p:tav tm="100000">
                                          <p:val>
                                            <p:strVal val="ppt_x"/>
                                          </p:val>
                                        </p:tav>
                                      </p:tavLst>
                                    </p:anim>
                                    <p:anim calcmode="lin" valueType="num">
                                      <p:cBhvr additive="base">
                                        <p:cTn id="95" dur="500"/>
                                        <p:tgtEl>
                                          <p:spTgt spid="92"/>
                                        </p:tgtEl>
                                        <p:attrNameLst>
                                          <p:attrName>ppt_y</p:attrName>
                                        </p:attrNameLst>
                                      </p:cBhvr>
                                      <p:tavLst>
                                        <p:tav tm="0">
                                          <p:val>
                                            <p:strVal val="ppt_y"/>
                                          </p:val>
                                        </p:tav>
                                        <p:tav tm="100000">
                                          <p:val>
                                            <p:strVal val="1+ppt_h/2"/>
                                          </p:val>
                                        </p:tav>
                                      </p:tavLst>
                                    </p:anim>
                                    <p:set>
                                      <p:cBhvr>
                                        <p:cTn id="96" dur="1" fill="hold">
                                          <p:stCondLst>
                                            <p:cond delay="499"/>
                                          </p:stCondLst>
                                        </p:cTn>
                                        <p:tgtEl>
                                          <p:spTgt spid="92"/>
                                        </p:tgtEl>
                                        <p:attrNameLst>
                                          <p:attrName>style.visibility</p:attrName>
                                        </p:attrNameLst>
                                      </p:cBhvr>
                                      <p:to>
                                        <p:strVal val="hidden"/>
                                      </p:to>
                                    </p:set>
                                  </p:childTnLst>
                                </p:cTn>
                              </p:par>
                              <p:par>
                                <p:cTn id="97" presetID="2" presetClass="exit" presetSubtype="4" fill="hold" grpId="2" nodeType="withEffect">
                                  <p:stCondLst>
                                    <p:cond delay="0"/>
                                  </p:stCondLst>
                                  <p:childTnLst>
                                    <p:anim calcmode="lin" valueType="num">
                                      <p:cBhvr additive="base">
                                        <p:cTn id="98" dur="500"/>
                                        <p:tgtEl>
                                          <p:spTgt spid="93"/>
                                        </p:tgtEl>
                                        <p:attrNameLst>
                                          <p:attrName>ppt_x</p:attrName>
                                        </p:attrNameLst>
                                      </p:cBhvr>
                                      <p:tavLst>
                                        <p:tav tm="0">
                                          <p:val>
                                            <p:strVal val="ppt_x"/>
                                          </p:val>
                                        </p:tav>
                                        <p:tav tm="100000">
                                          <p:val>
                                            <p:strVal val="ppt_x"/>
                                          </p:val>
                                        </p:tav>
                                      </p:tavLst>
                                    </p:anim>
                                    <p:anim calcmode="lin" valueType="num">
                                      <p:cBhvr additive="base">
                                        <p:cTn id="99" dur="500"/>
                                        <p:tgtEl>
                                          <p:spTgt spid="93"/>
                                        </p:tgtEl>
                                        <p:attrNameLst>
                                          <p:attrName>ppt_y</p:attrName>
                                        </p:attrNameLst>
                                      </p:cBhvr>
                                      <p:tavLst>
                                        <p:tav tm="0">
                                          <p:val>
                                            <p:strVal val="ppt_y"/>
                                          </p:val>
                                        </p:tav>
                                        <p:tav tm="100000">
                                          <p:val>
                                            <p:strVal val="1+ppt_h/2"/>
                                          </p:val>
                                        </p:tav>
                                      </p:tavLst>
                                    </p:anim>
                                    <p:set>
                                      <p:cBhvr>
                                        <p:cTn id="100" dur="1" fill="hold">
                                          <p:stCondLst>
                                            <p:cond delay="499"/>
                                          </p:stCondLst>
                                        </p:cTn>
                                        <p:tgtEl>
                                          <p:spTgt spid="93"/>
                                        </p:tgtEl>
                                        <p:attrNameLst>
                                          <p:attrName>style.visibility</p:attrName>
                                        </p:attrNameLst>
                                      </p:cBhvr>
                                      <p:to>
                                        <p:strVal val="hidden"/>
                                      </p:to>
                                    </p:set>
                                  </p:childTnLst>
                                </p:cTn>
                              </p:par>
                              <p:par>
                                <p:cTn id="101" presetID="2" presetClass="exit" presetSubtype="4" fill="hold" grpId="2" nodeType="withEffect">
                                  <p:stCondLst>
                                    <p:cond delay="0"/>
                                  </p:stCondLst>
                                  <p:childTnLst>
                                    <p:anim calcmode="lin" valueType="num">
                                      <p:cBhvr additive="base">
                                        <p:cTn id="102" dur="500"/>
                                        <p:tgtEl>
                                          <p:spTgt spid="94"/>
                                        </p:tgtEl>
                                        <p:attrNameLst>
                                          <p:attrName>ppt_x</p:attrName>
                                        </p:attrNameLst>
                                      </p:cBhvr>
                                      <p:tavLst>
                                        <p:tav tm="0">
                                          <p:val>
                                            <p:strVal val="ppt_x"/>
                                          </p:val>
                                        </p:tav>
                                        <p:tav tm="100000">
                                          <p:val>
                                            <p:strVal val="ppt_x"/>
                                          </p:val>
                                        </p:tav>
                                      </p:tavLst>
                                    </p:anim>
                                    <p:anim calcmode="lin" valueType="num">
                                      <p:cBhvr additive="base">
                                        <p:cTn id="103" dur="500"/>
                                        <p:tgtEl>
                                          <p:spTgt spid="94"/>
                                        </p:tgtEl>
                                        <p:attrNameLst>
                                          <p:attrName>ppt_y</p:attrName>
                                        </p:attrNameLst>
                                      </p:cBhvr>
                                      <p:tavLst>
                                        <p:tav tm="0">
                                          <p:val>
                                            <p:strVal val="ppt_y"/>
                                          </p:val>
                                        </p:tav>
                                        <p:tav tm="100000">
                                          <p:val>
                                            <p:strVal val="1+ppt_h/2"/>
                                          </p:val>
                                        </p:tav>
                                      </p:tavLst>
                                    </p:anim>
                                    <p:set>
                                      <p:cBhvr>
                                        <p:cTn id="104" dur="1" fill="hold">
                                          <p:stCondLst>
                                            <p:cond delay="499"/>
                                          </p:stCondLst>
                                        </p:cTn>
                                        <p:tgtEl>
                                          <p:spTgt spid="94"/>
                                        </p:tgtEl>
                                        <p:attrNameLst>
                                          <p:attrName>style.visibility</p:attrName>
                                        </p:attrNameLst>
                                      </p:cBhvr>
                                      <p:to>
                                        <p:strVal val="hidden"/>
                                      </p:to>
                                    </p:set>
                                  </p:childTnLst>
                                </p:cTn>
                              </p:par>
                              <p:par>
                                <p:cTn id="105" presetID="2" presetClass="exit" presetSubtype="4" fill="hold" grpId="2" nodeType="withEffect">
                                  <p:stCondLst>
                                    <p:cond delay="0"/>
                                  </p:stCondLst>
                                  <p:childTnLst>
                                    <p:anim calcmode="lin" valueType="num">
                                      <p:cBhvr additive="base">
                                        <p:cTn id="106" dur="500"/>
                                        <p:tgtEl>
                                          <p:spTgt spid="95"/>
                                        </p:tgtEl>
                                        <p:attrNameLst>
                                          <p:attrName>ppt_x</p:attrName>
                                        </p:attrNameLst>
                                      </p:cBhvr>
                                      <p:tavLst>
                                        <p:tav tm="0">
                                          <p:val>
                                            <p:strVal val="ppt_x"/>
                                          </p:val>
                                        </p:tav>
                                        <p:tav tm="100000">
                                          <p:val>
                                            <p:strVal val="ppt_x"/>
                                          </p:val>
                                        </p:tav>
                                      </p:tavLst>
                                    </p:anim>
                                    <p:anim calcmode="lin" valueType="num">
                                      <p:cBhvr additive="base">
                                        <p:cTn id="107" dur="500"/>
                                        <p:tgtEl>
                                          <p:spTgt spid="95"/>
                                        </p:tgtEl>
                                        <p:attrNameLst>
                                          <p:attrName>ppt_y</p:attrName>
                                        </p:attrNameLst>
                                      </p:cBhvr>
                                      <p:tavLst>
                                        <p:tav tm="0">
                                          <p:val>
                                            <p:strVal val="ppt_y"/>
                                          </p:val>
                                        </p:tav>
                                        <p:tav tm="100000">
                                          <p:val>
                                            <p:strVal val="1+ppt_h/2"/>
                                          </p:val>
                                        </p:tav>
                                      </p:tavLst>
                                    </p:anim>
                                    <p:set>
                                      <p:cBhvr>
                                        <p:cTn id="108" dur="1" fill="hold">
                                          <p:stCondLst>
                                            <p:cond delay="499"/>
                                          </p:stCondLst>
                                        </p:cTn>
                                        <p:tgtEl>
                                          <p:spTgt spid="95"/>
                                        </p:tgtEl>
                                        <p:attrNameLst>
                                          <p:attrName>style.visibility</p:attrName>
                                        </p:attrNameLst>
                                      </p:cBhvr>
                                      <p:to>
                                        <p:strVal val="hidden"/>
                                      </p:to>
                                    </p:set>
                                  </p:childTnLst>
                                </p:cTn>
                              </p:par>
                            </p:childTnLst>
                          </p:cTn>
                        </p:par>
                      </p:childTnLst>
                    </p:cTn>
                  </p:par>
                  <p:par>
                    <p:cTn id="109" fill="hold">
                      <p:stCondLst>
                        <p:cond delay="indefinite"/>
                      </p:stCondLst>
                      <p:childTnLst>
                        <p:par>
                          <p:cTn id="110" fill="hold">
                            <p:stCondLst>
                              <p:cond delay="0"/>
                            </p:stCondLst>
                            <p:childTnLst>
                              <p:par>
                                <p:cTn id="111" presetID="2" presetClass="entr" presetSubtype="4" fill="hold" grpId="0" nodeType="clickEffect">
                                  <p:stCondLst>
                                    <p:cond delay="0"/>
                                  </p:stCondLst>
                                  <p:childTnLst>
                                    <p:set>
                                      <p:cBhvr>
                                        <p:cTn id="112" dur="1" fill="hold">
                                          <p:stCondLst>
                                            <p:cond delay="0"/>
                                          </p:stCondLst>
                                        </p:cTn>
                                        <p:tgtEl>
                                          <p:spTgt spid="5"/>
                                        </p:tgtEl>
                                        <p:attrNameLst>
                                          <p:attrName>style.visibility</p:attrName>
                                        </p:attrNameLst>
                                      </p:cBhvr>
                                      <p:to>
                                        <p:strVal val="visible"/>
                                      </p:to>
                                    </p:set>
                                    <p:anim calcmode="lin" valueType="num">
                                      <p:cBhvr additive="base">
                                        <p:cTn id="113" dur="500" fill="hold"/>
                                        <p:tgtEl>
                                          <p:spTgt spid="5"/>
                                        </p:tgtEl>
                                        <p:attrNameLst>
                                          <p:attrName>ppt_x</p:attrName>
                                        </p:attrNameLst>
                                      </p:cBhvr>
                                      <p:tavLst>
                                        <p:tav tm="0">
                                          <p:val>
                                            <p:strVal val="#ppt_x"/>
                                          </p:val>
                                        </p:tav>
                                        <p:tav tm="100000">
                                          <p:val>
                                            <p:strVal val="#ppt_x"/>
                                          </p:val>
                                        </p:tav>
                                      </p:tavLst>
                                    </p:anim>
                                    <p:anim calcmode="lin" valueType="num">
                                      <p:cBhvr additive="base">
                                        <p:cTn id="114" dur="500" fill="hold"/>
                                        <p:tgtEl>
                                          <p:spTgt spid="5"/>
                                        </p:tgtEl>
                                        <p:attrNameLst>
                                          <p:attrName>ppt_y</p:attrName>
                                        </p:attrNameLst>
                                      </p:cBhvr>
                                      <p:tavLst>
                                        <p:tav tm="0">
                                          <p:val>
                                            <p:strVal val="1+#ppt_h/2"/>
                                          </p:val>
                                        </p:tav>
                                        <p:tav tm="100000">
                                          <p:val>
                                            <p:strVal val="#ppt_y"/>
                                          </p:val>
                                        </p:tav>
                                      </p:tavLst>
                                    </p:anim>
                                  </p:childTnLst>
                                </p:cTn>
                              </p:par>
                              <p:par>
                                <p:cTn id="115" presetID="2" presetClass="entr" presetSubtype="4" fill="hold" grpId="0" nodeType="withEffect">
                                  <p:stCondLst>
                                    <p:cond delay="0"/>
                                  </p:stCondLst>
                                  <p:childTnLst>
                                    <p:set>
                                      <p:cBhvr>
                                        <p:cTn id="116" dur="1" fill="hold">
                                          <p:stCondLst>
                                            <p:cond delay="0"/>
                                          </p:stCondLst>
                                        </p:cTn>
                                        <p:tgtEl>
                                          <p:spTgt spid="73"/>
                                        </p:tgtEl>
                                        <p:attrNameLst>
                                          <p:attrName>style.visibility</p:attrName>
                                        </p:attrNameLst>
                                      </p:cBhvr>
                                      <p:to>
                                        <p:strVal val="visible"/>
                                      </p:to>
                                    </p:set>
                                    <p:anim calcmode="lin" valueType="num">
                                      <p:cBhvr additive="base">
                                        <p:cTn id="117" dur="500" fill="hold"/>
                                        <p:tgtEl>
                                          <p:spTgt spid="73"/>
                                        </p:tgtEl>
                                        <p:attrNameLst>
                                          <p:attrName>ppt_x</p:attrName>
                                        </p:attrNameLst>
                                      </p:cBhvr>
                                      <p:tavLst>
                                        <p:tav tm="0">
                                          <p:val>
                                            <p:strVal val="#ppt_x"/>
                                          </p:val>
                                        </p:tav>
                                        <p:tav tm="100000">
                                          <p:val>
                                            <p:strVal val="#ppt_x"/>
                                          </p:val>
                                        </p:tav>
                                      </p:tavLst>
                                    </p:anim>
                                    <p:anim calcmode="lin" valueType="num">
                                      <p:cBhvr additive="base">
                                        <p:cTn id="118" dur="500" fill="hold"/>
                                        <p:tgtEl>
                                          <p:spTgt spid="73"/>
                                        </p:tgtEl>
                                        <p:attrNameLst>
                                          <p:attrName>ppt_y</p:attrName>
                                        </p:attrNameLst>
                                      </p:cBhvr>
                                      <p:tavLst>
                                        <p:tav tm="0">
                                          <p:val>
                                            <p:strVal val="1+#ppt_h/2"/>
                                          </p:val>
                                        </p:tav>
                                        <p:tav tm="100000">
                                          <p:val>
                                            <p:strVal val="#ppt_y"/>
                                          </p:val>
                                        </p:tav>
                                      </p:tavLst>
                                    </p:anim>
                                  </p:childTnLst>
                                </p:cTn>
                              </p:par>
                              <p:par>
                                <p:cTn id="119" presetID="2" presetClass="entr" presetSubtype="4" fill="hold" grpId="0" nodeType="withEffect">
                                  <p:stCondLst>
                                    <p:cond delay="0"/>
                                  </p:stCondLst>
                                  <p:childTnLst>
                                    <p:set>
                                      <p:cBhvr>
                                        <p:cTn id="120" dur="1" fill="hold">
                                          <p:stCondLst>
                                            <p:cond delay="0"/>
                                          </p:stCondLst>
                                        </p:cTn>
                                        <p:tgtEl>
                                          <p:spTgt spid="74"/>
                                        </p:tgtEl>
                                        <p:attrNameLst>
                                          <p:attrName>style.visibility</p:attrName>
                                        </p:attrNameLst>
                                      </p:cBhvr>
                                      <p:to>
                                        <p:strVal val="visible"/>
                                      </p:to>
                                    </p:set>
                                    <p:anim calcmode="lin" valueType="num">
                                      <p:cBhvr additive="base">
                                        <p:cTn id="121" dur="500" fill="hold"/>
                                        <p:tgtEl>
                                          <p:spTgt spid="74"/>
                                        </p:tgtEl>
                                        <p:attrNameLst>
                                          <p:attrName>ppt_x</p:attrName>
                                        </p:attrNameLst>
                                      </p:cBhvr>
                                      <p:tavLst>
                                        <p:tav tm="0">
                                          <p:val>
                                            <p:strVal val="#ppt_x"/>
                                          </p:val>
                                        </p:tav>
                                        <p:tav tm="100000">
                                          <p:val>
                                            <p:strVal val="#ppt_x"/>
                                          </p:val>
                                        </p:tav>
                                      </p:tavLst>
                                    </p:anim>
                                    <p:anim calcmode="lin" valueType="num">
                                      <p:cBhvr additive="base">
                                        <p:cTn id="122" dur="500" fill="hold"/>
                                        <p:tgtEl>
                                          <p:spTgt spid="74"/>
                                        </p:tgtEl>
                                        <p:attrNameLst>
                                          <p:attrName>ppt_y</p:attrName>
                                        </p:attrNameLst>
                                      </p:cBhvr>
                                      <p:tavLst>
                                        <p:tav tm="0">
                                          <p:val>
                                            <p:strVal val="1+#ppt_h/2"/>
                                          </p:val>
                                        </p:tav>
                                        <p:tav tm="100000">
                                          <p:val>
                                            <p:strVal val="#ppt_y"/>
                                          </p:val>
                                        </p:tav>
                                      </p:tavLst>
                                    </p:anim>
                                  </p:childTnLst>
                                </p:cTn>
                              </p:par>
                              <p:par>
                                <p:cTn id="123" presetID="2" presetClass="entr" presetSubtype="4" fill="hold" grpId="0" nodeType="withEffect">
                                  <p:stCondLst>
                                    <p:cond delay="0"/>
                                  </p:stCondLst>
                                  <p:childTnLst>
                                    <p:set>
                                      <p:cBhvr>
                                        <p:cTn id="124" dur="1" fill="hold">
                                          <p:stCondLst>
                                            <p:cond delay="0"/>
                                          </p:stCondLst>
                                        </p:cTn>
                                        <p:tgtEl>
                                          <p:spTgt spid="75"/>
                                        </p:tgtEl>
                                        <p:attrNameLst>
                                          <p:attrName>style.visibility</p:attrName>
                                        </p:attrNameLst>
                                      </p:cBhvr>
                                      <p:to>
                                        <p:strVal val="visible"/>
                                      </p:to>
                                    </p:set>
                                    <p:anim calcmode="lin" valueType="num">
                                      <p:cBhvr additive="base">
                                        <p:cTn id="125" dur="500" fill="hold"/>
                                        <p:tgtEl>
                                          <p:spTgt spid="75"/>
                                        </p:tgtEl>
                                        <p:attrNameLst>
                                          <p:attrName>ppt_x</p:attrName>
                                        </p:attrNameLst>
                                      </p:cBhvr>
                                      <p:tavLst>
                                        <p:tav tm="0">
                                          <p:val>
                                            <p:strVal val="#ppt_x"/>
                                          </p:val>
                                        </p:tav>
                                        <p:tav tm="100000">
                                          <p:val>
                                            <p:strVal val="#ppt_x"/>
                                          </p:val>
                                        </p:tav>
                                      </p:tavLst>
                                    </p:anim>
                                    <p:anim calcmode="lin" valueType="num">
                                      <p:cBhvr additive="base">
                                        <p:cTn id="126" dur="500" fill="hold"/>
                                        <p:tgtEl>
                                          <p:spTgt spid="75"/>
                                        </p:tgtEl>
                                        <p:attrNameLst>
                                          <p:attrName>ppt_y</p:attrName>
                                        </p:attrNameLst>
                                      </p:cBhvr>
                                      <p:tavLst>
                                        <p:tav tm="0">
                                          <p:val>
                                            <p:strVal val="1+#ppt_h/2"/>
                                          </p:val>
                                        </p:tav>
                                        <p:tav tm="100000">
                                          <p:val>
                                            <p:strVal val="#ppt_y"/>
                                          </p:val>
                                        </p:tav>
                                      </p:tavLst>
                                    </p:anim>
                                  </p:childTnLst>
                                </p:cTn>
                              </p:par>
                              <p:par>
                                <p:cTn id="127" presetID="2" presetClass="entr" presetSubtype="4" fill="hold" grpId="0" nodeType="withEffect">
                                  <p:stCondLst>
                                    <p:cond delay="0"/>
                                  </p:stCondLst>
                                  <p:childTnLst>
                                    <p:set>
                                      <p:cBhvr>
                                        <p:cTn id="128" dur="1" fill="hold">
                                          <p:stCondLst>
                                            <p:cond delay="0"/>
                                          </p:stCondLst>
                                        </p:cTn>
                                        <p:tgtEl>
                                          <p:spTgt spid="76"/>
                                        </p:tgtEl>
                                        <p:attrNameLst>
                                          <p:attrName>style.visibility</p:attrName>
                                        </p:attrNameLst>
                                      </p:cBhvr>
                                      <p:to>
                                        <p:strVal val="visible"/>
                                      </p:to>
                                    </p:set>
                                    <p:anim calcmode="lin" valueType="num">
                                      <p:cBhvr additive="base">
                                        <p:cTn id="129" dur="500" fill="hold"/>
                                        <p:tgtEl>
                                          <p:spTgt spid="76"/>
                                        </p:tgtEl>
                                        <p:attrNameLst>
                                          <p:attrName>ppt_x</p:attrName>
                                        </p:attrNameLst>
                                      </p:cBhvr>
                                      <p:tavLst>
                                        <p:tav tm="0">
                                          <p:val>
                                            <p:strVal val="#ppt_x"/>
                                          </p:val>
                                        </p:tav>
                                        <p:tav tm="100000">
                                          <p:val>
                                            <p:strVal val="#ppt_x"/>
                                          </p:val>
                                        </p:tav>
                                      </p:tavLst>
                                    </p:anim>
                                    <p:anim calcmode="lin" valueType="num">
                                      <p:cBhvr additive="base">
                                        <p:cTn id="130" dur="500" fill="hold"/>
                                        <p:tgtEl>
                                          <p:spTgt spid="76"/>
                                        </p:tgtEl>
                                        <p:attrNameLst>
                                          <p:attrName>ppt_y</p:attrName>
                                        </p:attrNameLst>
                                      </p:cBhvr>
                                      <p:tavLst>
                                        <p:tav tm="0">
                                          <p:val>
                                            <p:strVal val="1+#ppt_h/2"/>
                                          </p:val>
                                        </p:tav>
                                        <p:tav tm="100000">
                                          <p:val>
                                            <p:strVal val="#ppt_y"/>
                                          </p:val>
                                        </p:tav>
                                      </p:tavLst>
                                    </p:anim>
                                  </p:childTnLst>
                                </p:cTn>
                              </p:par>
                              <p:par>
                                <p:cTn id="131" presetID="2" presetClass="entr" presetSubtype="4" fill="hold" grpId="0" nodeType="withEffect">
                                  <p:stCondLst>
                                    <p:cond delay="0"/>
                                  </p:stCondLst>
                                  <p:childTnLst>
                                    <p:set>
                                      <p:cBhvr>
                                        <p:cTn id="132" dur="1" fill="hold">
                                          <p:stCondLst>
                                            <p:cond delay="0"/>
                                          </p:stCondLst>
                                        </p:cTn>
                                        <p:tgtEl>
                                          <p:spTgt spid="77"/>
                                        </p:tgtEl>
                                        <p:attrNameLst>
                                          <p:attrName>style.visibility</p:attrName>
                                        </p:attrNameLst>
                                      </p:cBhvr>
                                      <p:to>
                                        <p:strVal val="visible"/>
                                      </p:to>
                                    </p:set>
                                    <p:anim calcmode="lin" valueType="num">
                                      <p:cBhvr additive="base">
                                        <p:cTn id="133" dur="500" fill="hold"/>
                                        <p:tgtEl>
                                          <p:spTgt spid="77"/>
                                        </p:tgtEl>
                                        <p:attrNameLst>
                                          <p:attrName>ppt_x</p:attrName>
                                        </p:attrNameLst>
                                      </p:cBhvr>
                                      <p:tavLst>
                                        <p:tav tm="0">
                                          <p:val>
                                            <p:strVal val="#ppt_x"/>
                                          </p:val>
                                        </p:tav>
                                        <p:tav tm="100000">
                                          <p:val>
                                            <p:strVal val="#ppt_x"/>
                                          </p:val>
                                        </p:tav>
                                      </p:tavLst>
                                    </p:anim>
                                    <p:anim calcmode="lin" valueType="num">
                                      <p:cBhvr additive="base">
                                        <p:cTn id="134" dur="500" fill="hold"/>
                                        <p:tgtEl>
                                          <p:spTgt spid="77"/>
                                        </p:tgtEl>
                                        <p:attrNameLst>
                                          <p:attrName>ppt_y</p:attrName>
                                        </p:attrNameLst>
                                      </p:cBhvr>
                                      <p:tavLst>
                                        <p:tav tm="0">
                                          <p:val>
                                            <p:strVal val="1+#ppt_h/2"/>
                                          </p:val>
                                        </p:tav>
                                        <p:tav tm="100000">
                                          <p:val>
                                            <p:strVal val="#ppt_y"/>
                                          </p:val>
                                        </p:tav>
                                      </p:tavLst>
                                    </p:anim>
                                  </p:childTnLst>
                                </p:cTn>
                              </p:par>
                              <p:par>
                                <p:cTn id="135" presetID="2" presetClass="entr" presetSubtype="4" fill="hold" grpId="0" nodeType="withEffect">
                                  <p:stCondLst>
                                    <p:cond delay="0"/>
                                  </p:stCondLst>
                                  <p:childTnLst>
                                    <p:set>
                                      <p:cBhvr>
                                        <p:cTn id="136" dur="1" fill="hold">
                                          <p:stCondLst>
                                            <p:cond delay="0"/>
                                          </p:stCondLst>
                                        </p:cTn>
                                        <p:tgtEl>
                                          <p:spTgt spid="78"/>
                                        </p:tgtEl>
                                        <p:attrNameLst>
                                          <p:attrName>style.visibility</p:attrName>
                                        </p:attrNameLst>
                                      </p:cBhvr>
                                      <p:to>
                                        <p:strVal val="visible"/>
                                      </p:to>
                                    </p:set>
                                    <p:anim calcmode="lin" valueType="num">
                                      <p:cBhvr additive="base">
                                        <p:cTn id="137" dur="500" fill="hold"/>
                                        <p:tgtEl>
                                          <p:spTgt spid="78"/>
                                        </p:tgtEl>
                                        <p:attrNameLst>
                                          <p:attrName>ppt_x</p:attrName>
                                        </p:attrNameLst>
                                      </p:cBhvr>
                                      <p:tavLst>
                                        <p:tav tm="0">
                                          <p:val>
                                            <p:strVal val="#ppt_x"/>
                                          </p:val>
                                        </p:tav>
                                        <p:tav tm="100000">
                                          <p:val>
                                            <p:strVal val="#ppt_x"/>
                                          </p:val>
                                        </p:tav>
                                      </p:tavLst>
                                    </p:anim>
                                    <p:anim calcmode="lin" valueType="num">
                                      <p:cBhvr additive="base">
                                        <p:cTn id="138" dur="500" fill="hold"/>
                                        <p:tgtEl>
                                          <p:spTgt spid="78"/>
                                        </p:tgtEl>
                                        <p:attrNameLst>
                                          <p:attrName>ppt_y</p:attrName>
                                        </p:attrNameLst>
                                      </p:cBhvr>
                                      <p:tavLst>
                                        <p:tav tm="0">
                                          <p:val>
                                            <p:strVal val="1+#ppt_h/2"/>
                                          </p:val>
                                        </p:tav>
                                        <p:tav tm="100000">
                                          <p:val>
                                            <p:strVal val="#ppt_y"/>
                                          </p:val>
                                        </p:tav>
                                      </p:tavLst>
                                    </p:anim>
                                  </p:childTnLst>
                                </p:cTn>
                              </p:par>
                              <p:par>
                                <p:cTn id="139" presetID="2" presetClass="entr" presetSubtype="4" fill="hold" grpId="0" nodeType="withEffect">
                                  <p:stCondLst>
                                    <p:cond delay="0"/>
                                  </p:stCondLst>
                                  <p:childTnLst>
                                    <p:set>
                                      <p:cBhvr>
                                        <p:cTn id="140" dur="1" fill="hold">
                                          <p:stCondLst>
                                            <p:cond delay="0"/>
                                          </p:stCondLst>
                                        </p:cTn>
                                        <p:tgtEl>
                                          <p:spTgt spid="79"/>
                                        </p:tgtEl>
                                        <p:attrNameLst>
                                          <p:attrName>style.visibility</p:attrName>
                                        </p:attrNameLst>
                                      </p:cBhvr>
                                      <p:to>
                                        <p:strVal val="visible"/>
                                      </p:to>
                                    </p:set>
                                    <p:anim calcmode="lin" valueType="num">
                                      <p:cBhvr additive="base">
                                        <p:cTn id="141" dur="500" fill="hold"/>
                                        <p:tgtEl>
                                          <p:spTgt spid="79"/>
                                        </p:tgtEl>
                                        <p:attrNameLst>
                                          <p:attrName>ppt_x</p:attrName>
                                        </p:attrNameLst>
                                      </p:cBhvr>
                                      <p:tavLst>
                                        <p:tav tm="0">
                                          <p:val>
                                            <p:strVal val="#ppt_x"/>
                                          </p:val>
                                        </p:tav>
                                        <p:tav tm="100000">
                                          <p:val>
                                            <p:strVal val="#ppt_x"/>
                                          </p:val>
                                        </p:tav>
                                      </p:tavLst>
                                    </p:anim>
                                    <p:anim calcmode="lin" valueType="num">
                                      <p:cBhvr additive="base">
                                        <p:cTn id="142" dur="500" fill="hold"/>
                                        <p:tgtEl>
                                          <p:spTgt spid="79"/>
                                        </p:tgtEl>
                                        <p:attrNameLst>
                                          <p:attrName>ppt_y</p:attrName>
                                        </p:attrNameLst>
                                      </p:cBhvr>
                                      <p:tavLst>
                                        <p:tav tm="0">
                                          <p:val>
                                            <p:strVal val="1+#ppt_h/2"/>
                                          </p:val>
                                        </p:tav>
                                        <p:tav tm="100000">
                                          <p:val>
                                            <p:strVal val="#ppt_y"/>
                                          </p:val>
                                        </p:tav>
                                      </p:tavLst>
                                    </p:anim>
                                  </p:childTnLst>
                                </p:cTn>
                              </p:par>
                              <p:par>
                                <p:cTn id="143" presetID="2" presetClass="entr" presetSubtype="4" fill="hold" grpId="0" nodeType="withEffect">
                                  <p:stCondLst>
                                    <p:cond delay="0"/>
                                  </p:stCondLst>
                                  <p:childTnLst>
                                    <p:set>
                                      <p:cBhvr>
                                        <p:cTn id="144" dur="1" fill="hold">
                                          <p:stCondLst>
                                            <p:cond delay="0"/>
                                          </p:stCondLst>
                                        </p:cTn>
                                        <p:tgtEl>
                                          <p:spTgt spid="80"/>
                                        </p:tgtEl>
                                        <p:attrNameLst>
                                          <p:attrName>style.visibility</p:attrName>
                                        </p:attrNameLst>
                                      </p:cBhvr>
                                      <p:to>
                                        <p:strVal val="visible"/>
                                      </p:to>
                                    </p:set>
                                    <p:anim calcmode="lin" valueType="num">
                                      <p:cBhvr additive="base">
                                        <p:cTn id="145" dur="500" fill="hold"/>
                                        <p:tgtEl>
                                          <p:spTgt spid="80"/>
                                        </p:tgtEl>
                                        <p:attrNameLst>
                                          <p:attrName>ppt_x</p:attrName>
                                        </p:attrNameLst>
                                      </p:cBhvr>
                                      <p:tavLst>
                                        <p:tav tm="0">
                                          <p:val>
                                            <p:strVal val="#ppt_x"/>
                                          </p:val>
                                        </p:tav>
                                        <p:tav tm="100000">
                                          <p:val>
                                            <p:strVal val="#ppt_x"/>
                                          </p:val>
                                        </p:tav>
                                      </p:tavLst>
                                    </p:anim>
                                    <p:anim calcmode="lin" valueType="num">
                                      <p:cBhvr additive="base">
                                        <p:cTn id="146" dur="500" fill="hold"/>
                                        <p:tgtEl>
                                          <p:spTgt spid="80"/>
                                        </p:tgtEl>
                                        <p:attrNameLst>
                                          <p:attrName>ppt_y</p:attrName>
                                        </p:attrNameLst>
                                      </p:cBhvr>
                                      <p:tavLst>
                                        <p:tav tm="0">
                                          <p:val>
                                            <p:strVal val="1+#ppt_h/2"/>
                                          </p:val>
                                        </p:tav>
                                        <p:tav tm="100000">
                                          <p:val>
                                            <p:strVal val="#ppt_y"/>
                                          </p:val>
                                        </p:tav>
                                      </p:tavLst>
                                    </p:anim>
                                  </p:childTnLst>
                                </p:cTn>
                              </p:par>
                              <p:par>
                                <p:cTn id="147" presetID="2" presetClass="entr" presetSubtype="4" fill="hold" grpId="0" nodeType="withEffect">
                                  <p:stCondLst>
                                    <p:cond delay="0"/>
                                  </p:stCondLst>
                                  <p:childTnLst>
                                    <p:set>
                                      <p:cBhvr>
                                        <p:cTn id="148" dur="1" fill="hold">
                                          <p:stCondLst>
                                            <p:cond delay="0"/>
                                          </p:stCondLst>
                                        </p:cTn>
                                        <p:tgtEl>
                                          <p:spTgt spid="81"/>
                                        </p:tgtEl>
                                        <p:attrNameLst>
                                          <p:attrName>style.visibility</p:attrName>
                                        </p:attrNameLst>
                                      </p:cBhvr>
                                      <p:to>
                                        <p:strVal val="visible"/>
                                      </p:to>
                                    </p:set>
                                    <p:anim calcmode="lin" valueType="num">
                                      <p:cBhvr additive="base">
                                        <p:cTn id="149" dur="500" fill="hold"/>
                                        <p:tgtEl>
                                          <p:spTgt spid="81"/>
                                        </p:tgtEl>
                                        <p:attrNameLst>
                                          <p:attrName>ppt_x</p:attrName>
                                        </p:attrNameLst>
                                      </p:cBhvr>
                                      <p:tavLst>
                                        <p:tav tm="0">
                                          <p:val>
                                            <p:strVal val="#ppt_x"/>
                                          </p:val>
                                        </p:tav>
                                        <p:tav tm="100000">
                                          <p:val>
                                            <p:strVal val="#ppt_x"/>
                                          </p:val>
                                        </p:tav>
                                      </p:tavLst>
                                    </p:anim>
                                    <p:anim calcmode="lin" valueType="num">
                                      <p:cBhvr additive="base">
                                        <p:cTn id="150" dur="500" fill="hold"/>
                                        <p:tgtEl>
                                          <p:spTgt spid="81"/>
                                        </p:tgtEl>
                                        <p:attrNameLst>
                                          <p:attrName>ppt_y</p:attrName>
                                        </p:attrNameLst>
                                      </p:cBhvr>
                                      <p:tavLst>
                                        <p:tav tm="0">
                                          <p:val>
                                            <p:strVal val="1+#ppt_h/2"/>
                                          </p:val>
                                        </p:tav>
                                        <p:tav tm="100000">
                                          <p:val>
                                            <p:strVal val="#ppt_y"/>
                                          </p:val>
                                        </p:tav>
                                      </p:tavLst>
                                    </p:anim>
                                  </p:childTnLst>
                                </p:cTn>
                              </p:par>
                              <p:par>
                                <p:cTn id="151" presetID="2" presetClass="entr" presetSubtype="4" fill="hold" grpId="0" nodeType="withEffect">
                                  <p:stCondLst>
                                    <p:cond delay="0"/>
                                  </p:stCondLst>
                                  <p:childTnLst>
                                    <p:set>
                                      <p:cBhvr>
                                        <p:cTn id="152" dur="1" fill="hold">
                                          <p:stCondLst>
                                            <p:cond delay="0"/>
                                          </p:stCondLst>
                                        </p:cTn>
                                        <p:tgtEl>
                                          <p:spTgt spid="82"/>
                                        </p:tgtEl>
                                        <p:attrNameLst>
                                          <p:attrName>style.visibility</p:attrName>
                                        </p:attrNameLst>
                                      </p:cBhvr>
                                      <p:to>
                                        <p:strVal val="visible"/>
                                      </p:to>
                                    </p:set>
                                    <p:anim calcmode="lin" valueType="num">
                                      <p:cBhvr additive="base">
                                        <p:cTn id="153" dur="500" fill="hold"/>
                                        <p:tgtEl>
                                          <p:spTgt spid="82"/>
                                        </p:tgtEl>
                                        <p:attrNameLst>
                                          <p:attrName>ppt_x</p:attrName>
                                        </p:attrNameLst>
                                      </p:cBhvr>
                                      <p:tavLst>
                                        <p:tav tm="0">
                                          <p:val>
                                            <p:strVal val="#ppt_x"/>
                                          </p:val>
                                        </p:tav>
                                        <p:tav tm="100000">
                                          <p:val>
                                            <p:strVal val="#ppt_x"/>
                                          </p:val>
                                        </p:tav>
                                      </p:tavLst>
                                    </p:anim>
                                    <p:anim calcmode="lin" valueType="num">
                                      <p:cBhvr additive="base">
                                        <p:cTn id="154" dur="500" fill="hold"/>
                                        <p:tgtEl>
                                          <p:spTgt spid="82"/>
                                        </p:tgtEl>
                                        <p:attrNameLst>
                                          <p:attrName>ppt_y</p:attrName>
                                        </p:attrNameLst>
                                      </p:cBhvr>
                                      <p:tavLst>
                                        <p:tav tm="0">
                                          <p:val>
                                            <p:strVal val="1+#ppt_h/2"/>
                                          </p:val>
                                        </p:tav>
                                        <p:tav tm="100000">
                                          <p:val>
                                            <p:strVal val="#ppt_y"/>
                                          </p:val>
                                        </p:tav>
                                      </p:tavLst>
                                    </p:anim>
                                  </p:childTnLst>
                                </p:cTn>
                              </p:par>
                              <p:par>
                                <p:cTn id="155" presetID="2" presetClass="entr" presetSubtype="4" fill="hold" grpId="0" nodeType="withEffect">
                                  <p:stCondLst>
                                    <p:cond delay="0"/>
                                  </p:stCondLst>
                                  <p:childTnLst>
                                    <p:set>
                                      <p:cBhvr>
                                        <p:cTn id="156" dur="1" fill="hold">
                                          <p:stCondLst>
                                            <p:cond delay="0"/>
                                          </p:stCondLst>
                                        </p:cTn>
                                        <p:tgtEl>
                                          <p:spTgt spid="83"/>
                                        </p:tgtEl>
                                        <p:attrNameLst>
                                          <p:attrName>style.visibility</p:attrName>
                                        </p:attrNameLst>
                                      </p:cBhvr>
                                      <p:to>
                                        <p:strVal val="visible"/>
                                      </p:to>
                                    </p:set>
                                    <p:anim calcmode="lin" valueType="num">
                                      <p:cBhvr additive="base">
                                        <p:cTn id="157" dur="500" fill="hold"/>
                                        <p:tgtEl>
                                          <p:spTgt spid="83"/>
                                        </p:tgtEl>
                                        <p:attrNameLst>
                                          <p:attrName>ppt_x</p:attrName>
                                        </p:attrNameLst>
                                      </p:cBhvr>
                                      <p:tavLst>
                                        <p:tav tm="0">
                                          <p:val>
                                            <p:strVal val="#ppt_x"/>
                                          </p:val>
                                        </p:tav>
                                        <p:tav tm="100000">
                                          <p:val>
                                            <p:strVal val="#ppt_x"/>
                                          </p:val>
                                        </p:tav>
                                      </p:tavLst>
                                    </p:anim>
                                    <p:anim calcmode="lin" valueType="num">
                                      <p:cBhvr additive="base">
                                        <p:cTn id="158" dur="500" fill="hold"/>
                                        <p:tgtEl>
                                          <p:spTgt spid="83"/>
                                        </p:tgtEl>
                                        <p:attrNameLst>
                                          <p:attrName>ppt_y</p:attrName>
                                        </p:attrNameLst>
                                      </p:cBhvr>
                                      <p:tavLst>
                                        <p:tav tm="0">
                                          <p:val>
                                            <p:strVal val="1+#ppt_h/2"/>
                                          </p:val>
                                        </p:tav>
                                        <p:tav tm="100000">
                                          <p:val>
                                            <p:strVal val="#ppt_y"/>
                                          </p:val>
                                        </p:tav>
                                      </p:tavLst>
                                    </p:anim>
                                  </p:childTnLst>
                                </p:cTn>
                              </p:par>
                            </p:childTnLst>
                          </p:cTn>
                        </p:par>
                      </p:childTnLst>
                    </p:cTn>
                  </p:par>
                  <p:par>
                    <p:cTn id="159" fill="hold">
                      <p:stCondLst>
                        <p:cond delay="indefinite"/>
                      </p:stCondLst>
                      <p:childTnLst>
                        <p:par>
                          <p:cTn id="160" fill="hold">
                            <p:stCondLst>
                              <p:cond delay="0"/>
                            </p:stCondLst>
                            <p:childTnLst>
                              <p:par>
                                <p:cTn id="161" presetID="2" presetClass="entr" presetSubtype="4" fill="hold" grpId="0" nodeType="clickEffect">
                                  <p:stCondLst>
                                    <p:cond delay="0"/>
                                  </p:stCondLst>
                                  <p:childTnLst>
                                    <p:set>
                                      <p:cBhvr>
                                        <p:cTn id="162" dur="1" fill="hold">
                                          <p:stCondLst>
                                            <p:cond delay="0"/>
                                          </p:stCondLst>
                                        </p:cTn>
                                        <p:tgtEl>
                                          <p:spTgt spid="100"/>
                                        </p:tgtEl>
                                        <p:attrNameLst>
                                          <p:attrName>style.visibility</p:attrName>
                                        </p:attrNameLst>
                                      </p:cBhvr>
                                      <p:to>
                                        <p:strVal val="visible"/>
                                      </p:to>
                                    </p:set>
                                    <p:anim calcmode="lin" valueType="num">
                                      <p:cBhvr additive="base">
                                        <p:cTn id="163" dur="500" fill="hold"/>
                                        <p:tgtEl>
                                          <p:spTgt spid="100"/>
                                        </p:tgtEl>
                                        <p:attrNameLst>
                                          <p:attrName>ppt_x</p:attrName>
                                        </p:attrNameLst>
                                      </p:cBhvr>
                                      <p:tavLst>
                                        <p:tav tm="0">
                                          <p:val>
                                            <p:strVal val="#ppt_x"/>
                                          </p:val>
                                        </p:tav>
                                        <p:tav tm="100000">
                                          <p:val>
                                            <p:strVal val="#ppt_x"/>
                                          </p:val>
                                        </p:tav>
                                      </p:tavLst>
                                    </p:anim>
                                    <p:anim calcmode="lin" valueType="num">
                                      <p:cBhvr additive="base">
                                        <p:cTn id="164" dur="500" fill="hold"/>
                                        <p:tgtEl>
                                          <p:spTgt spid="100"/>
                                        </p:tgtEl>
                                        <p:attrNameLst>
                                          <p:attrName>ppt_y</p:attrName>
                                        </p:attrNameLst>
                                      </p:cBhvr>
                                      <p:tavLst>
                                        <p:tav tm="0">
                                          <p:val>
                                            <p:strVal val="1+#ppt_h/2"/>
                                          </p:val>
                                        </p:tav>
                                        <p:tav tm="100000">
                                          <p:val>
                                            <p:strVal val="#ppt_y"/>
                                          </p:val>
                                        </p:tav>
                                      </p:tavLst>
                                    </p:anim>
                                  </p:childTnLst>
                                </p:cTn>
                              </p:par>
                              <p:par>
                                <p:cTn id="165" presetID="2" presetClass="entr" presetSubtype="4" fill="hold" grpId="0" nodeType="withEffect">
                                  <p:stCondLst>
                                    <p:cond delay="0"/>
                                  </p:stCondLst>
                                  <p:childTnLst>
                                    <p:set>
                                      <p:cBhvr>
                                        <p:cTn id="166" dur="1" fill="hold">
                                          <p:stCondLst>
                                            <p:cond delay="0"/>
                                          </p:stCondLst>
                                        </p:cTn>
                                        <p:tgtEl>
                                          <p:spTgt spid="101"/>
                                        </p:tgtEl>
                                        <p:attrNameLst>
                                          <p:attrName>style.visibility</p:attrName>
                                        </p:attrNameLst>
                                      </p:cBhvr>
                                      <p:to>
                                        <p:strVal val="visible"/>
                                      </p:to>
                                    </p:set>
                                    <p:anim calcmode="lin" valueType="num">
                                      <p:cBhvr additive="base">
                                        <p:cTn id="167" dur="500" fill="hold"/>
                                        <p:tgtEl>
                                          <p:spTgt spid="101"/>
                                        </p:tgtEl>
                                        <p:attrNameLst>
                                          <p:attrName>ppt_x</p:attrName>
                                        </p:attrNameLst>
                                      </p:cBhvr>
                                      <p:tavLst>
                                        <p:tav tm="0">
                                          <p:val>
                                            <p:strVal val="#ppt_x"/>
                                          </p:val>
                                        </p:tav>
                                        <p:tav tm="100000">
                                          <p:val>
                                            <p:strVal val="#ppt_x"/>
                                          </p:val>
                                        </p:tav>
                                      </p:tavLst>
                                    </p:anim>
                                    <p:anim calcmode="lin" valueType="num">
                                      <p:cBhvr additive="base">
                                        <p:cTn id="168" dur="500" fill="hold"/>
                                        <p:tgtEl>
                                          <p:spTgt spid="101"/>
                                        </p:tgtEl>
                                        <p:attrNameLst>
                                          <p:attrName>ppt_y</p:attrName>
                                        </p:attrNameLst>
                                      </p:cBhvr>
                                      <p:tavLst>
                                        <p:tav tm="0">
                                          <p:val>
                                            <p:strVal val="1+#ppt_h/2"/>
                                          </p:val>
                                        </p:tav>
                                        <p:tav tm="100000">
                                          <p:val>
                                            <p:strVal val="#ppt_y"/>
                                          </p:val>
                                        </p:tav>
                                      </p:tavLst>
                                    </p:anim>
                                  </p:childTnLst>
                                </p:cTn>
                              </p:par>
                              <p:par>
                                <p:cTn id="169" presetID="2" presetClass="entr" presetSubtype="4" fill="hold" grpId="0" nodeType="withEffect">
                                  <p:stCondLst>
                                    <p:cond delay="0"/>
                                  </p:stCondLst>
                                  <p:childTnLst>
                                    <p:set>
                                      <p:cBhvr>
                                        <p:cTn id="170" dur="1" fill="hold">
                                          <p:stCondLst>
                                            <p:cond delay="0"/>
                                          </p:stCondLst>
                                        </p:cTn>
                                        <p:tgtEl>
                                          <p:spTgt spid="102"/>
                                        </p:tgtEl>
                                        <p:attrNameLst>
                                          <p:attrName>style.visibility</p:attrName>
                                        </p:attrNameLst>
                                      </p:cBhvr>
                                      <p:to>
                                        <p:strVal val="visible"/>
                                      </p:to>
                                    </p:set>
                                    <p:anim calcmode="lin" valueType="num">
                                      <p:cBhvr additive="base">
                                        <p:cTn id="171" dur="500" fill="hold"/>
                                        <p:tgtEl>
                                          <p:spTgt spid="102"/>
                                        </p:tgtEl>
                                        <p:attrNameLst>
                                          <p:attrName>ppt_x</p:attrName>
                                        </p:attrNameLst>
                                      </p:cBhvr>
                                      <p:tavLst>
                                        <p:tav tm="0">
                                          <p:val>
                                            <p:strVal val="#ppt_x"/>
                                          </p:val>
                                        </p:tav>
                                        <p:tav tm="100000">
                                          <p:val>
                                            <p:strVal val="#ppt_x"/>
                                          </p:val>
                                        </p:tav>
                                      </p:tavLst>
                                    </p:anim>
                                    <p:anim calcmode="lin" valueType="num">
                                      <p:cBhvr additive="base">
                                        <p:cTn id="172" dur="500" fill="hold"/>
                                        <p:tgtEl>
                                          <p:spTgt spid="102"/>
                                        </p:tgtEl>
                                        <p:attrNameLst>
                                          <p:attrName>ppt_y</p:attrName>
                                        </p:attrNameLst>
                                      </p:cBhvr>
                                      <p:tavLst>
                                        <p:tav tm="0">
                                          <p:val>
                                            <p:strVal val="1+#ppt_h/2"/>
                                          </p:val>
                                        </p:tav>
                                        <p:tav tm="100000">
                                          <p:val>
                                            <p:strVal val="#ppt_y"/>
                                          </p:val>
                                        </p:tav>
                                      </p:tavLst>
                                    </p:anim>
                                  </p:childTnLst>
                                </p:cTn>
                              </p:par>
                            </p:childTnLst>
                          </p:cTn>
                        </p:par>
                      </p:childTnLst>
                    </p:cTn>
                  </p:par>
                  <p:par>
                    <p:cTn id="173" fill="hold">
                      <p:stCondLst>
                        <p:cond delay="indefinite"/>
                      </p:stCondLst>
                      <p:childTnLst>
                        <p:par>
                          <p:cTn id="174" fill="hold">
                            <p:stCondLst>
                              <p:cond delay="0"/>
                            </p:stCondLst>
                            <p:childTnLst>
                              <p:par>
                                <p:cTn id="175" presetID="2" presetClass="exit" presetSubtype="4" fill="hold" grpId="2" nodeType="clickEffect">
                                  <p:stCondLst>
                                    <p:cond delay="0"/>
                                  </p:stCondLst>
                                  <p:childTnLst>
                                    <p:anim calcmode="lin" valueType="num">
                                      <p:cBhvr additive="base">
                                        <p:cTn id="176" dur="500"/>
                                        <p:tgtEl>
                                          <p:spTgt spid="100"/>
                                        </p:tgtEl>
                                        <p:attrNameLst>
                                          <p:attrName>ppt_x</p:attrName>
                                        </p:attrNameLst>
                                      </p:cBhvr>
                                      <p:tavLst>
                                        <p:tav tm="0">
                                          <p:val>
                                            <p:strVal val="ppt_x"/>
                                          </p:val>
                                        </p:tav>
                                        <p:tav tm="100000">
                                          <p:val>
                                            <p:strVal val="ppt_x"/>
                                          </p:val>
                                        </p:tav>
                                      </p:tavLst>
                                    </p:anim>
                                    <p:anim calcmode="lin" valueType="num">
                                      <p:cBhvr additive="base">
                                        <p:cTn id="177" dur="500"/>
                                        <p:tgtEl>
                                          <p:spTgt spid="100"/>
                                        </p:tgtEl>
                                        <p:attrNameLst>
                                          <p:attrName>ppt_y</p:attrName>
                                        </p:attrNameLst>
                                      </p:cBhvr>
                                      <p:tavLst>
                                        <p:tav tm="0">
                                          <p:val>
                                            <p:strVal val="ppt_y"/>
                                          </p:val>
                                        </p:tav>
                                        <p:tav tm="100000">
                                          <p:val>
                                            <p:strVal val="1+ppt_h/2"/>
                                          </p:val>
                                        </p:tav>
                                      </p:tavLst>
                                    </p:anim>
                                    <p:set>
                                      <p:cBhvr>
                                        <p:cTn id="178" dur="1" fill="hold">
                                          <p:stCondLst>
                                            <p:cond delay="499"/>
                                          </p:stCondLst>
                                        </p:cTn>
                                        <p:tgtEl>
                                          <p:spTgt spid="100"/>
                                        </p:tgtEl>
                                        <p:attrNameLst>
                                          <p:attrName>style.visibility</p:attrName>
                                        </p:attrNameLst>
                                      </p:cBhvr>
                                      <p:to>
                                        <p:strVal val="hidden"/>
                                      </p:to>
                                    </p:set>
                                  </p:childTnLst>
                                </p:cTn>
                              </p:par>
                              <p:par>
                                <p:cTn id="179" presetID="2" presetClass="exit" presetSubtype="4" fill="hold" grpId="2" nodeType="withEffect">
                                  <p:stCondLst>
                                    <p:cond delay="0"/>
                                  </p:stCondLst>
                                  <p:childTnLst>
                                    <p:anim calcmode="lin" valueType="num">
                                      <p:cBhvr additive="base">
                                        <p:cTn id="180" dur="500"/>
                                        <p:tgtEl>
                                          <p:spTgt spid="101"/>
                                        </p:tgtEl>
                                        <p:attrNameLst>
                                          <p:attrName>ppt_x</p:attrName>
                                        </p:attrNameLst>
                                      </p:cBhvr>
                                      <p:tavLst>
                                        <p:tav tm="0">
                                          <p:val>
                                            <p:strVal val="ppt_x"/>
                                          </p:val>
                                        </p:tav>
                                        <p:tav tm="100000">
                                          <p:val>
                                            <p:strVal val="ppt_x"/>
                                          </p:val>
                                        </p:tav>
                                      </p:tavLst>
                                    </p:anim>
                                    <p:anim calcmode="lin" valueType="num">
                                      <p:cBhvr additive="base">
                                        <p:cTn id="181" dur="500"/>
                                        <p:tgtEl>
                                          <p:spTgt spid="101"/>
                                        </p:tgtEl>
                                        <p:attrNameLst>
                                          <p:attrName>ppt_y</p:attrName>
                                        </p:attrNameLst>
                                      </p:cBhvr>
                                      <p:tavLst>
                                        <p:tav tm="0">
                                          <p:val>
                                            <p:strVal val="ppt_y"/>
                                          </p:val>
                                        </p:tav>
                                        <p:tav tm="100000">
                                          <p:val>
                                            <p:strVal val="1+ppt_h/2"/>
                                          </p:val>
                                        </p:tav>
                                      </p:tavLst>
                                    </p:anim>
                                    <p:set>
                                      <p:cBhvr>
                                        <p:cTn id="182" dur="1" fill="hold">
                                          <p:stCondLst>
                                            <p:cond delay="499"/>
                                          </p:stCondLst>
                                        </p:cTn>
                                        <p:tgtEl>
                                          <p:spTgt spid="101"/>
                                        </p:tgtEl>
                                        <p:attrNameLst>
                                          <p:attrName>style.visibility</p:attrName>
                                        </p:attrNameLst>
                                      </p:cBhvr>
                                      <p:to>
                                        <p:strVal val="hidden"/>
                                      </p:to>
                                    </p:set>
                                  </p:childTnLst>
                                </p:cTn>
                              </p:par>
                              <p:par>
                                <p:cTn id="183" presetID="2" presetClass="exit" presetSubtype="4" fill="hold" grpId="2" nodeType="withEffect">
                                  <p:stCondLst>
                                    <p:cond delay="0"/>
                                  </p:stCondLst>
                                  <p:childTnLst>
                                    <p:anim calcmode="lin" valueType="num">
                                      <p:cBhvr additive="base">
                                        <p:cTn id="184" dur="500"/>
                                        <p:tgtEl>
                                          <p:spTgt spid="102"/>
                                        </p:tgtEl>
                                        <p:attrNameLst>
                                          <p:attrName>ppt_x</p:attrName>
                                        </p:attrNameLst>
                                      </p:cBhvr>
                                      <p:tavLst>
                                        <p:tav tm="0">
                                          <p:val>
                                            <p:strVal val="ppt_x"/>
                                          </p:val>
                                        </p:tav>
                                        <p:tav tm="100000">
                                          <p:val>
                                            <p:strVal val="ppt_x"/>
                                          </p:val>
                                        </p:tav>
                                      </p:tavLst>
                                    </p:anim>
                                    <p:anim calcmode="lin" valueType="num">
                                      <p:cBhvr additive="base">
                                        <p:cTn id="185" dur="500"/>
                                        <p:tgtEl>
                                          <p:spTgt spid="102"/>
                                        </p:tgtEl>
                                        <p:attrNameLst>
                                          <p:attrName>ppt_y</p:attrName>
                                        </p:attrNameLst>
                                      </p:cBhvr>
                                      <p:tavLst>
                                        <p:tav tm="0">
                                          <p:val>
                                            <p:strVal val="ppt_y"/>
                                          </p:val>
                                        </p:tav>
                                        <p:tav tm="100000">
                                          <p:val>
                                            <p:strVal val="1+ppt_h/2"/>
                                          </p:val>
                                        </p:tav>
                                      </p:tavLst>
                                    </p:anim>
                                    <p:set>
                                      <p:cBhvr>
                                        <p:cTn id="186" dur="1" fill="hold">
                                          <p:stCondLst>
                                            <p:cond delay="499"/>
                                          </p:stCondLst>
                                        </p:cTn>
                                        <p:tgtEl>
                                          <p:spTgt spid="102"/>
                                        </p:tgtEl>
                                        <p:attrNameLst>
                                          <p:attrName>style.visibility</p:attrName>
                                        </p:attrNameLst>
                                      </p:cBhvr>
                                      <p:to>
                                        <p:strVal val="hidden"/>
                                      </p:to>
                                    </p:set>
                                  </p:childTnLst>
                                </p:cTn>
                              </p:par>
                            </p:childTnLst>
                          </p:cTn>
                        </p:par>
                      </p:childTnLst>
                    </p:cTn>
                  </p:par>
                  <p:par>
                    <p:cTn id="187" fill="hold">
                      <p:stCondLst>
                        <p:cond delay="indefinite"/>
                      </p:stCondLst>
                      <p:childTnLst>
                        <p:par>
                          <p:cTn id="188" fill="hold">
                            <p:stCondLst>
                              <p:cond delay="0"/>
                            </p:stCondLst>
                            <p:childTnLst>
                              <p:par>
                                <p:cTn id="189" presetID="2" presetClass="entr" presetSubtype="4" fill="hold" grpId="0" nodeType="clickEffect">
                                  <p:stCondLst>
                                    <p:cond delay="0"/>
                                  </p:stCondLst>
                                  <p:childTnLst>
                                    <p:set>
                                      <p:cBhvr>
                                        <p:cTn id="190" dur="1" fill="hold">
                                          <p:stCondLst>
                                            <p:cond delay="0"/>
                                          </p:stCondLst>
                                        </p:cTn>
                                        <p:tgtEl>
                                          <p:spTgt spid="97"/>
                                        </p:tgtEl>
                                        <p:attrNameLst>
                                          <p:attrName>style.visibility</p:attrName>
                                        </p:attrNameLst>
                                      </p:cBhvr>
                                      <p:to>
                                        <p:strVal val="visible"/>
                                      </p:to>
                                    </p:set>
                                    <p:anim calcmode="lin" valueType="num">
                                      <p:cBhvr additive="base">
                                        <p:cTn id="191" dur="500" fill="hold"/>
                                        <p:tgtEl>
                                          <p:spTgt spid="97"/>
                                        </p:tgtEl>
                                        <p:attrNameLst>
                                          <p:attrName>ppt_x</p:attrName>
                                        </p:attrNameLst>
                                      </p:cBhvr>
                                      <p:tavLst>
                                        <p:tav tm="0">
                                          <p:val>
                                            <p:strVal val="#ppt_x"/>
                                          </p:val>
                                        </p:tav>
                                        <p:tav tm="100000">
                                          <p:val>
                                            <p:strVal val="#ppt_x"/>
                                          </p:val>
                                        </p:tav>
                                      </p:tavLst>
                                    </p:anim>
                                    <p:anim calcmode="lin" valueType="num">
                                      <p:cBhvr additive="base">
                                        <p:cTn id="192" dur="500" fill="hold"/>
                                        <p:tgtEl>
                                          <p:spTgt spid="97"/>
                                        </p:tgtEl>
                                        <p:attrNameLst>
                                          <p:attrName>ppt_y</p:attrName>
                                        </p:attrNameLst>
                                      </p:cBhvr>
                                      <p:tavLst>
                                        <p:tav tm="0">
                                          <p:val>
                                            <p:strVal val="1+#ppt_h/2"/>
                                          </p:val>
                                        </p:tav>
                                        <p:tav tm="100000">
                                          <p:val>
                                            <p:strVal val="#ppt_y"/>
                                          </p:val>
                                        </p:tav>
                                      </p:tavLst>
                                    </p:anim>
                                  </p:childTnLst>
                                </p:cTn>
                              </p:par>
                              <p:par>
                                <p:cTn id="193" presetID="2" presetClass="entr" presetSubtype="4" fill="hold" grpId="0" nodeType="withEffect">
                                  <p:stCondLst>
                                    <p:cond delay="0"/>
                                  </p:stCondLst>
                                  <p:childTnLst>
                                    <p:set>
                                      <p:cBhvr>
                                        <p:cTn id="194" dur="1" fill="hold">
                                          <p:stCondLst>
                                            <p:cond delay="0"/>
                                          </p:stCondLst>
                                        </p:cTn>
                                        <p:tgtEl>
                                          <p:spTgt spid="98"/>
                                        </p:tgtEl>
                                        <p:attrNameLst>
                                          <p:attrName>style.visibility</p:attrName>
                                        </p:attrNameLst>
                                      </p:cBhvr>
                                      <p:to>
                                        <p:strVal val="visible"/>
                                      </p:to>
                                    </p:set>
                                    <p:anim calcmode="lin" valueType="num">
                                      <p:cBhvr additive="base">
                                        <p:cTn id="195" dur="500" fill="hold"/>
                                        <p:tgtEl>
                                          <p:spTgt spid="98"/>
                                        </p:tgtEl>
                                        <p:attrNameLst>
                                          <p:attrName>ppt_x</p:attrName>
                                        </p:attrNameLst>
                                      </p:cBhvr>
                                      <p:tavLst>
                                        <p:tav tm="0">
                                          <p:val>
                                            <p:strVal val="#ppt_x"/>
                                          </p:val>
                                        </p:tav>
                                        <p:tav tm="100000">
                                          <p:val>
                                            <p:strVal val="#ppt_x"/>
                                          </p:val>
                                        </p:tav>
                                      </p:tavLst>
                                    </p:anim>
                                    <p:anim calcmode="lin" valueType="num">
                                      <p:cBhvr additive="base">
                                        <p:cTn id="196" dur="500" fill="hold"/>
                                        <p:tgtEl>
                                          <p:spTgt spid="98"/>
                                        </p:tgtEl>
                                        <p:attrNameLst>
                                          <p:attrName>ppt_y</p:attrName>
                                        </p:attrNameLst>
                                      </p:cBhvr>
                                      <p:tavLst>
                                        <p:tav tm="0">
                                          <p:val>
                                            <p:strVal val="1+#ppt_h/2"/>
                                          </p:val>
                                        </p:tav>
                                        <p:tav tm="100000">
                                          <p:val>
                                            <p:strVal val="#ppt_y"/>
                                          </p:val>
                                        </p:tav>
                                      </p:tavLst>
                                    </p:anim>
                                  </p:childTnLst>
                                </p:cTn>
                              </p:par>
                              <p:par>
                                <p:cTn id="197" presetID="2" presetClass="entr" presetSubtype="4" fill="hold" grpId="0" nodeType="withEffect">
                                  <p:stCondLst>
                                    <p:cond delay="0"/>
                                  </p:stCondLst>
                                  <p:childTnLst>
                                    <p:set>
                                      <p:cBhvr>
                                        <p:cTn id="198" dur="1" fill="hold">
                                          <p:stCondLst>
                                            <p:cond delay="0"/>
                                          </p:stCondLst>
                                        </p:cTn>
                                        <p:tgtEl>
                                          <p:spTgt spid="99"/>
                                        </p:tgtEl>
                                        <p:attrNameLst>
                                          <p:attrName>style.visibility</p:attrName>
                                        </p:attrNameLst>
                                      </p:cBhvr>
                                      <p:to>
                                        <p:strVal val="visible"/>
                                      </p:to>
                                    </p:set>
                                    <p:anim calcmode="lin" valueType="num">
                                      <p:cBhvr additive="base">
                                        <p:cTn id="199" dur="500" fill="hold"/>
                                        <p:tgtEl>
                                          <p:spTgt spid="99"/>
                                        </p:tgtEl>
                                        <p:attrNameLst>
                                          <p:attrName>ppt_x</p:attrName>
                                        </p:attrNameLst>
                                      </p:cBhvr>
                                      <p:tavLst>
                                        <p:tav tm="0">
                                          <p:val>
                                            <p:strVal val="#ppt_x"/>
                                          </p:val>
                                        </p:tav>
                                        <p:tav tm="100000">
                                          <p:val>
                                            <p:strVal val="#ppt_x"/>
                                          </p:val>
                                        </p:tav>
                                      </p:tavLst>
                                    </p:anim>
                                    <p:anim calcmode="lin" valueType="num">
                                      <p:cBhvr additive="base">
                                        <p:cTn id="200" dur="500" fill="hold"/>
                                        <p:tgtEl>
                                          <p:spTgt spid="99"/>
                                        </p:tgtEl>
                                        <p:attrNameLst>
                                          <p:attrName>ppt_y</p:attrName>
                                        </p:attrNameLst>
                                      </p:cBhvr>
                                      <p:tavLst>
                                        <p:tav tm="0">
                                          <p:val>
                                            <p:strVal val="1+#ppt_h/2"/>
                                          </p:val>
                                        </p:tav>
                                        <p:tav tm="100000">
                                          <p:val>
                                            <p:strVal val="#ppt_y"/>
                                          </p:val>
                                        </p:tav>
                                      </p:tavLst>
                                    </p:anim>
                                  </p:childTnLst>
                                </p:cTn>
                              </p:par>
                            </p:childTnLst>
                          </p:cTn>
                        </p:par>
                      </p:childTnLst>
                    </p:cTn>
                  </p:par>
                  <p:par>
                    <p:cTn id="201" fill="hold">
                      <p:stCondLst>
                        <p:cond delay="indefinite"/>
                      </p:stCondLst>
                      <p:childTnLst>
                        <p:par>
                          <p:cTn id="202" fill="hold">
                            <p:stCondLst>
                              <p:cond delay="0"/>
                            </p:stCondLst>
                            <p:childTnLst>
                              <p:par>
                                <p:cTn id="203" presetID="2" presetClass="exit" presetSubtype="4" fill="hold" grpId="2" nodeType="clickEffect">
                                  <p:stCondLst>
                                    <p:cond delay="0"/>
                                  </p:stCondLst>
                                  <p:childTnLst>
                                    <p:anim calcmode="lin" valueType="num">
                                      <p:cBhvr additive="base">
                                        <p:cTn id="204" dur="500"/>
                                        <p:tgtEl>
                                          <p:spTgt spid="97"/>
                                        </p:tgtEl>
                                        <p:attrNameLst>
                                          <p:attrName>ppt_x</p:attrName>
                                        </p:attrNameLst>
                                      </p:cBhvr>
                                      <p:tavLst>
                                        <p:tav tm="0">
                                          <p:val>
                                            <p:strVal val="ppt_x"/>
                                          </p:val>
                                        </p:tav>
                                        <p:tav tm="100000">
                                          <p:val>
                                            <p:strVal val="ppt_x"/>
                                          </p:val>
                                        </p:tav>
                                      </p:tavLst>
                                    </p:anim>
                                    <p:anim calcmode="lin" valueType="num">
                                      <p:cBhvr additive="base">
                                        <p:cTn id="205" dur="500"/>
                                        <p:tgtEl>
                                          <p:spTgt spid="97"/>
                                        </p:tgtEl>
                                        <p:attrNameLst>
                                          <p:attrName>ppt_y</p:attrName>
                                        </p:attrNameLst>
                                      </p:cBhvr>
                                      <p:tavLst>
                                        <p:tav tm="0">
                                          <p:val>
                                            <p:strVal val="ppt_y"/>
                                          </p:val>
                                        </p:tav>
                                        <p:tav tm="100000">
                                          <p:val>
                                            <p:strVal val="1+ppt_h/2"/>
                                          </p:val>
                                        </p:tav>
                                      </p:tavLst>
                                    </p:anim>
                                    <p:set>
                                      <p:cBhvr>
                                        <p:cTn id="206" dur="1" fill="hold">
                                          <p:stCondLst>
                                            <p:cond delay="499"/>
                                          </p:stCondLst>
                                        </p:cTn>
                                        <p:tgtEl>
                                          <p:spTgt spid="97"/>
                                        </p:tgtEl>
                                        <p:attrNameLst>
                                          <p:attrName>style.visibility</p:attrName>
                                        </p:attrNameLst>
                                      </p:cBhvr>
                                      <p:to>
                                        <p:strVal val="hidden"/>
                                      </p:to>
                                    </p:set>
                                  </p:childTnLst>
                                </p:cTn>
                              </p:par>
                              <p:par>
                                <p:cTn id="207" presetID="2" presetClass="exit" presetSubtype="4" fill="hold" grpId="2" nodeType="withEffect">
                                  <p:stCondLst>
                                    <p:cond delay="0"/>
                                  </p:stCondLst>
                                  <p:childTnLst>
                                    <p:anim calcmode="lin" valueType="num">
                                      <p:cBhvr additive="base">
                                        <p:cTn id="208" dur="500"/>
                                        <p:tgtEl>
                                          <p:spTgt spid="98"/>
                                        </p:tgtEl>
                                        <p:attrNameLst>
                                          <p:attrName>ppt_x</p:attrName>
                                        </p:attrNameLst>
                                      </p:cBhvr>
                                      <p:tavLst>
                                        <p:tav tm="0">
                                          <p:val>
                                            <p:strVal val="ppt_x"/>
                                          </p:val>
                                        </p:tav>
                                        <p:tav tm="100000">
                                          <p:val>
                                            <p:strVal val="ppt_x"/>
                                          </p:val>
                                        </p:tav>
                                      </p:tavLst>
                                    </p:anim>
                                    <p:anim calcmode="lin" valueType="num">
                                      <p:cBhvr additive="base">
                                        <p:cTn id="209" dur="500"/>
                                        <p:tgtEl>
                                          <p:spTgt spid="98"/>
                                        </p:tgtEl>
                                        <p:attrNameLst>
                                          <p:attrName>ppt_y</p:attrName>
                                        </p:attrNameLst>
                                      </p:cBhvr>
                                      <p:tavLst>
                                        <p:tav tm="0">
                                          <p:val>
                                            <p:strVal val="ppt_y"/>
                                          </p:val>
                                        </p:tav>
                                        <p:tav tm="100000">
                                          <p:val>
                                            <p:strVal val="1+ppt_h/2"/>
                                          </p:val>
                                        </p:tav>
                                      </p:tavLst>
                                    </p:anim>
                                    <p:set>
                                      <p:cBhvr>
                                        <p:cTn id="210" dur="1" fill="hold">
                                          <p:stCondLst>
                                            <p:cond delay="499"/>
                                          </p:stCondLst>
                                        </p:cTn>
                                        <p:tgtEl>
                                          <p:spTgt spid="98"/>
                                        </p:tgtEl>
                                        <p:attrNameLst>
                                          <p:attrName>style.visibility</p:attrName>
                                        </p:attrNameLst>
                                      </p:cBhvr>
                                      <p:to>
                                        <p:strVal val="hidden"/>
                                      </p:to>
                                    </p:set>
                                  </p:childTnLst>
                                </p:cTn>
                              </p:par>
                              <p:par>
                                <p:cTn id="211" presetID="2" presetClass="exit" presetSubtype="4" fill="hold" grpId="2" nodeType="withEffect">
                                  <p:stCondLst>
                                    <p:cond delay="0"/>
                                  </p:stCondLst>
                                  <p:childTnLst>
                                    <p:anim calcmode="lin" valueType="num">
                                      <p:cBhvr additive="base">
                                        <p:cTn id="212" dur="500"/>
                                        <p:tgtEl>
                                          <p:spTgt spid="99"/>
                                        </p:tgtEl>
                                        <p:attrNameLst>
                                          <p:attrName>ppt_x</p:attrName>
                                        </p:attrNameLst>
                                      </p:cBhvr>
                                      <p:tavLst>
                                        <p:tav tm="0">
                                          <p:val>
                                            <p:strVal val="ppt_x"/>
                                          </p:val>
                                        </p:tav>
                                        <p:tav tm="100000">
                                          <p:val>
                                            <p:strVal val="ppt_x"/>
                                          </p:val>
                                        </p:tav>
                                      </p:tavLst>
                                    </p:anim>
                                    <p:anim calcmode="lin" valueType="num">
                                      <p:cBhvr additive="base">
                                        <p:cTn id="213" dur="500"/>
                                        <p:tgtEl>
                                          <p:spTgt spid="99"/>
                                        </p:tgtEl>
                                        <p:attrNameLst>
                                          <p:attrName>ppt_y</p:attrName>
                                        </p:attrNameLst>
                                      </p:cBhvr>
                                      <p:tavLst>
                                        <p:tav tm="0">
                                          <p:val>
                                            <p:strVal val="ppt_y"/>
                                          </p:val>
                                        </p:tav>
                                        <p:tav tm="100000">
                                          <p:val>
                                            <p:strVal val="1+ppt_h/2"/>
                                          </p:val>
                                        </p:tav>
                                      </p:tavLst>
                                    </p:anim>
                                    <p:set>
                                      <p:cBhvr>
                                        <p:cTn id="214" dur="1" fill="hold">
                                          <p:stCondLst>
                                            <p:cond delay="499"/>
                                          </p:stCondLst>
                                        </p:cTn>
                                        <p:tgtEl>
                                          <p:spTgt spid="9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3" grpId="0"/>
      <p:bldP spid="74" grpId="0"/>
      <p:bldP spid="75" grpId="0"/>
      <p:bldP spid="76" grpId="0"/>
      <p:bldP spid="77" grpId="0"/>
      <p:bldP spid="78" grpId="0"/>
      <p:bldP spid="79" grpId="0"/>
      <p:bldP spid="80" grpId="0"/>
      <p:bldP spid="81" grpId="0"/>
      <p:bldP spid="82" grpId="0"/>
      <p:bldP spid="83" grpId="0"/>
      <p:bldP spid="5" grpId="1"/>
      <p:bldP spid="73" grpId="1"/>
      <p:bldP spid="74" grpId="1"/>
      <p:bldP spid="75" grpId="1"/>
      <p:bldP spid="76" grpId="1"/>
      <p:bldP spid="77" grpId="1"/>
      <p:bldP spid="78" grpId="1"/>
      <p:bldP spid="79" grpId="1"/>
      <p:bldP spid="80" grpId="1"/>
      <p:bldP spid="81" grpId="1"/>
      <p:bldP spid="82" grpId="1"/>
      <p:bldP spid="83" grpId="1"/>
      <p:bldP spid="84" grpId="0"/>
      <p:bldP spid="85" grpId="0"/>
      <p:bldP spid="86" grpId="0"/>
      <p:bldP spid="87" grpId="0"/>
      <p:bldP spid="88" grpId="0"/>
      <p:bldP spid="89" grpId="0"/>
      <p:bldP spid="90" grpId="0"/>
      <p:bldP spid="91" grpId="0"/>
      <p:bldP spid="92" grpId="0"/>
      <p:bldP spid="93" grpId="0"/>
      <p:bldP spid="94" grpId="0"/>
      <p:bldP spid="95" grpId="0"/>
      <p:bldP spid="84" grpId="1"/>
      <p:bldP spid="85" grpId="1"/>
      <p:bldP spid="86" grpId="1"/>
      <p:bldP spid="87" grpId="1"/>
      <p:bldP spid="88" grpId="1"/>
      <p:bldP spid="89" grpId="1"/>
      <p:bldP spid="90" grpId="1"/>
      <p:bldP spid="91" grpId="1"/>
      <p:bldP spid="92" grpId="1"/>
      <p:bldP spid="93" grpId="1"/>
      <p:bldP spid="94" grpId="1"/>
      <p:bldP spid="95" grpId="1"/>
      <p:bldP spid="84" grpId="2"/>
      <p:bldP spid="85" grpId="2"/>
      <p:bldP spid="86" grpId="2"/>
      <p:bldP spid="87" grpId="2"/>
      <p:bldP spid="88" grpId="2"/>
      <p:bldP spid="89" grpId="2"/>
      <p:bldP spid="90" grpId="2"/>
      <p:bldP spid="91" grpId="2"/>
      <p:bldP spid="92" grpId="2"/>
      <p:bldP spid="93" grpId="2"/>
      <p:bldP spid="94" grpId="2"/>
      <p:bldP spid="95" grpId="2"/>
      <p:bldP spid="96" grpId="0"/>
      <p:bldP spid="100" grpId="0"/>
      <p:bldP spid="101" grpId="0"/>
      <p:bldP spid="102" grpId="0"/>
      <p:bldP spid="100" grpId="1"/>
      <p:bldP spid="101" grpId="1"/>
      <p:bldP spid="102" grpId="1"/>
      <p:bldP spid="100" grpId="2"/>
      <p:bldP spid="101" grpId="2"/>
      <p:bldP spid="102" grpId="2"/>
      <p:bldP spid="97" grpId="0"/>
      <p:bldP spid="98" grpId="0"/>
      <p:bldP spid="99" grpId="0"/>
      <p:bldP spid="97" grpId="1"/>
      <p:bldP spid="98" grpId="1"/>
      <p:bldP spid="99" grpId="1"/>
      <p:bldP spid="97" grpId="2"/>
      <p:bldP spid="98" grpId="2"/>
      <p:bldP spid="99" grpId="2"/>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524115" y="6497638"/>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1259840" y="2060575"/>
            <a:ext cx="6601460" cy="3692525"/>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def coinChange(coins: list, amount: int) -&gt; 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 = len(coins)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dparr = [[</a:t>
            </a:r>
            <a:r>
              <a:rPr lang="en-US" altLang="zh-CN">
                <a:solidFill>
                  <a:srgbClr val="FF0000"/>
                </a:solidFill>
                <a:uFillTx/>
                <a:latin typeface="Times New Roman" panose="02020603050405020304" pitchFamily="18" charset="0"/>
              </a:rPr>
              <a:t>amount+1</a:t>
            </a:r>
            <a:r>
              <a:rPr lang="en-US" altLang="zh-CN">
                <a:solidFill>
                  <a:schemeClr val="tx1"/>
                </a:solidFill>
                <a:uFillTx/>
                <a:latin typeface="Times New Roman" panose="02020603050405020304" pitchFamily="18" charset="0"/>
              </a:rPr>
              <a:t> for _ in range(amount+1)] for _ in range(n+1)]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dparr[i][0]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print(dparr)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range(1,amount+1):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j&lt;coins[i-1]: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dparr[i][j] = dparr[i-1][j]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dparr[i][j] = min(dparr[i-1][j],dparr[i][j-coins[i-1]]+1)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-1 if dparr[-1][-1] == amount+1 else dparr[-1][-1]</a:t>
            </a:r>
            <a:endParaRPr lang="en-US" altLang="zh-CN">
              <a:solidFill>
                <a:schemeClr val="tx1"/>
              </a:solidFill>
              <a:uFillTx/>
              <a:latin typeface="Times New Roman" panose="02020603050405020304" pitchFamily="18" charset="0"/>
            </a:endParaRPr>
          </a:p>
        </p:txBody>
      </p:sp>
      <p:sp>
        <p:nvSpPr>
          <p:cNvPr id="54" name="文本框 53"/>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兑换</a:t>
            </a:r>
            <a:r>
              <a:rPr kumimoji="1" lang="zh-CN" altLang="en-US" sz="2200">
                <a:solidFill>
                  <a:srgbClr val="080808"/>
                </a:solidFill>
                <a:uFillTx/>
                <a:latin typeface="Times New Roman" panose="02020603050405020304" pitchFamily="18" charset="0"/>
              </a:rPr>
              <a:t>硬币问题代码实现：</a:t>
            </a:r>
            <a:endParaRPr kumimoji="1" lang="zh-CN" altLang="en-US" sz="220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54" name="文本框 53"/>
          <p:cNvSpPr txBox="1"/>
          <p:nvPr/>
        </p:nvSpPr>
        <p:spPr>
          <a:xfrm>
            <a:off x="468179" y="1412399"/>
            <a:ext cx="7812868" cy="429895"/>
          </a:xfrm>
          <a:prstGeom prst="rect">
            <a:avLst/>
          </a:prstGeom>
          <a:noFill/>
        </p:spPr>
        <p:txBody>
          <a:bodyPr wrap="square" rtlCol="0">
            <a:spAutoFit/>
          </a:bodyPr>
          <a:lstStyle/>
          <a:p>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背包问题的空间</a:t>
            </a:r>
            <a:r>
              <a:rPr kumimoji="1" lang="zh-CN" altLang="en-US" sz="2200">
                <a:solidFill>
                  <a:srgbClr val="080808"/>
                </a:solidFill>
                <a:uFillTx/>
                <a:latin typeface="Times New Roman" panose="02020603050405020304" pitchFamily="18" charset="0"/>
              </a:rPr>
              <a:t>压缩：</a:t>
            </a:r>
            <a:endParaRPr kumimoji="1" lang="zh-CN" altLang="en-US" sz="2200">
              <a:solidFill>
                <a:srgbClr val="080808"/>
              </a:solidFill>
              <a:uFillTx/>
              <a:latin typeface="Times New Roman" panose="02020603050405020304" pitchFamily="18" charset="0"/>
            </a:endParaRPr>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81" name="Rectangle 7"/>
          <p:cNvSpPr>
            <a:spLocks noChangeArrowheads="1"/>
          </p:cNvSpPr>
          <p:nvPr/>
        </p:nvSpPr>
        <p:spPr bwMode="auto">
          <a:xfrm>
            <a:off x="3282316" y="2799398"/>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9" name="Rectangle 7"/>
          <p:cNvSpPr>
            <a:spLocks noChangeArrowheads="1"/>
          </p:cNvSpPr>
          <p:nvPr/>
        </p:nvSpPr>
        <p:spPr bwMode="auto">
          <a:xfrm>
            <a:off x="4899661" y="2796223"/>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grpSp>
        <p:nvGrpSpPr>
          <p:cNvPr id="5" name="Group 4"/>
          <p:cNvGrpSpPr>
            <a:grpSpLocks noChangeAspect="1"/>
          </p:cNvGrpSpPr>
          <p:nvPr/>
        </p:nvGrpSpPr>
        <p:grpSpPr bwMode="auto">
          <a:xfrm>
            <a:off x="1103948" y="2060258"/>
            <a:ext cx="7058025" cy="2219325"/>
            <a:chOff x="657" y="1461"/>
            <a:chExt cx="4446" cy="1398"/>
          </a:xfrm>
        </p:grpSpPr>
        <p:sp>
          <p:nvSpPr>
            <p:cNvPr id="7" name="AutoShape 3"/>
            <p:cNvSpPr>
              <a:spLocks noChangeAspect="1" noChangeArrowheads="1" noTextEdit="1"/>
            </p:cNvSpPr>
            <p:nvPr/>
          </p:nvSpPr>
          <p:spPr bwMode="auto">
            <a:xfrm>
              <a:off x="657" y="1461"/>
              <a:ext cx="4446" cy="1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Line 8"/>
            <p:cNvSpPr>
              <a:spLocks noChangeShapeType="1"/>
            </p:cNvSpPr>
            <p:nvPr/>
          </p:nvSpPr>
          <p:spPr bwMode="auto">
            <a:xfrm>
              <a:off x="100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4" name="Line 9"/>
            <p:cNvSpPr>
              <a:spLocks noChangeShapeType="1"/>
            </p:cNvSpPr>
            <p:nvPr/>
          </p:nvSpPr>
          <p:spPr bwMode="auto">
            <a:xfrm>
              <a:off x="1345"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5" name="Line 10"/>
            <p:cNvSpPr>
              <a:spLocks noChangeShapeType="1"/>
            </p:cNvSpPr>
            <p:nvPr/>
          </p:nvSpPr>
          <p:spPr bwMode="auto">
            <a:xfrm>
              <a:off x="168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7" name="Line 11"/>
            <p:cNvSpPr>
              <a:spLocks noChangeShapeType="1"/>
            </p:cNvSpPr>
            <p:nvPr/>
          </p:nvSpPr>
          <p:spPr bwMode="auto">
            <a:xfrm>
              <a:off x="202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8" name="Line 12"/>
            <p:cNvSpPr>
              <a:spLocks noChangeShapeType="1"/>
            </p:cNvSpPr>
            <p:nvPr/>
          </p:nvSpPr>
          <p:spPr bwMode="auto">
            <a:xfrm>
              <a:off x="236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9" name="Line 13"/>
            <p:cNvSpPr>
              <a:spLocks noChangeShapeType="1"/>
            </p:cNvSpPr>
            <p:nvPr/>
          </p:nvSpPr>
          <p:spPr bwMode="auto">
            <a:xfrm>
              <a:off x="270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0" name="Line 14"/>
            <p:cNvSpPr>
              <a:spLocks noChangeShapeType="1"/>
            </p:cNvSpPr>
            <p:nvPr/>
          </p:nvSpPr>
          <p:spPr bwMode="auto">
            <a:xfrm>
              <a:off x="3048"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1" name="Line 15"/>
            <p:cNvSpPr>
              <a:spLocks noChangeShapeType="1"/>
            </p:cNvSpPr>
            <p:nvPr/>
          </p:nvSpPr>
          <p:spPr bwMode="auto">
            <a:xfrm>
              <a:off x="3389"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2" name="Line 16"/>
            <p:cNvSpPr>
              <a:spLocks noChangeShapeType="1"/>
            </p:cNvSpPr>
            <p:nvPr/>
          </p:nvSpPr>
          <p:spPr bwMode="auto">
            <a:xfrm>
              <a:off x="373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17"/>
            <p:cNvSpPr>
              <a:spLocks noChangeShapeType="1"/>
            </p:cNvSpPr>
            <p:nvPr/>
          </p:nvSpPr>
          <p:spPr bwMode="auto">
            <a:xfrm>
              <a:off x="407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18"/>
            <p:cNvSpPr>
              <a:spLocks noChangeShapeType="1"/>
            </p:cNvSpPr>
            <p:nvPr/>
          </p:nvSpPr>
          <p:spPr bwMode="auto">
            <a:xfrm>
              <a:off x="441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19"/>
            <p:cNvSpPr>
              <a:spLocks noChangeShapeType="1"/>
            </p:cNvSpPr>
            <p:nvPr/>
          </p:nvSpPr>
          <p:spPr bwMode="auto">
            <a:xfrm>
              <a:off x="475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0"/>
            <p:cNvSpPr>
              <a:spLocks noChangeShapeType="1"/>
            </p:cNvSpPr>
            <p:nvPr/>
          </p:nvSpPr>
          <p:spPr bwMode="auto">
            <a:xfrm>
              <a:off x="660" y="1698"/>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1"/>
            <p:cNvSpPr>
              <a:spLocks noChangeShapeType="1"/>
            </p:cNvSpPr>
            <p:nvPr/>
          </p:nvSpPr>
          <p:spPr bwMode="auto">
            <a:xfrm>
              <a:off x="660" y="1925"/>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2"/>
            <p:cNvSpPr>
              <a:spLocks noChangeShapeType="1"/>
            </p:cNvSpPr>
            <p:nvPr/>
          </p:nvSpPr>
          <p:spPr bwMode="auto">
            <a:xfrm>
              <a:off x="660" y="2153"/>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3"/>
            <p:cNvSpPr>
              <a:spLocks noChangeShapeType="1"/>
            </p:cNvSpPr>
            <p:nvPr/>
          </p:nvSpPr>
          <p:spPr bwMode="auto">
            <a:xfrm>
              <a:off x="660" y="2381"/>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4"/>
            <p:cNvSpPr>
              <a:spLocks noChangeShapeType="1"/>
            </p:cNvSpPr>
            <p:nvPr/>
          </p:nvSpPr>
          <p:spPr bwMode="auto">
            <a:xfrm>
              <a:off x="660" y="2609"/>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5"/>
            <p:cNvSpPr>
              <a:spLocks noChangeShapeType="1"/>
            </p:cNvSpPr>
            <p:nvPr/>
          </p:nvSpPr>
          <p:spPr bwMode="auto">
            <a:xfrm>
              <a:off x="66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26"/>
            <p:cNvSpPr>
              <a:spLocks noChangeShapeType="1"/>
            </p:cNvSpPr>
            <p:nvPr/>
          </p:nvSpPr>
          <p:spPr bwMode="auto">
            <a:xfrm>
              <a:off x="5092"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27"/>
            <p:cNvSpPr>
              <a:spLocks noChangeShapeType="1"/>
            </p:cNvSpPr>
            <p:nvPr/>
          </p:nvSpPr>
          <p:spPr bwMode="auto">
            <a:xfrm>
              <a:off x="660" y="1470"/>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28"/>
            <p:cNvSpPr>
              <a:spLocks noChangeShapeType="1"/>
            </p:cNvSpPr>
            <p:nvPr/>
          </p:nvSpPr>
          <p:spPr bwMode="auto">
            <a:xfrm>
              <a:off x="660" y="2837"/>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Rectangle 29"/>
            <p:cNvSpPr>
              <a:spLocks noChangeArrowheads="1"/>
            </p:cNvSpPr>
            <p:nvPr/>
          </p:nvSpPr>
          <p:spPr bwMode="auto">
            <a:xfrm>
              <a:off x="734" y="1526"/>
              <a:ext cx="1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W</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6" name="Rectangle 30"/>
            <p:cNvSpPr>
              <a:spLocks noChangeArrowheads="1"/>
            </p:cNvSpPr>
            <p:nvPr/>
          </p:nvSpPr>
          <p:spPr bwMode="auto">
            <a:xfrm>
              <a:off x="836"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7" name="Rectangle 31"/>
            <p:cNvSpPr>
              <a:spLocks noChangeArrowheads="1"/>
            </p:cNvSpPr>
            <p:nvPr/>
          </p:nvSpPr>
          <p:spPr bwMode="auto">
            <a:xfrm>
              <a:off x="1050" y="1526"/>
              <a:ext cx="127"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8" name="Rectangle 32"/>
            <p:cNvSpPr>
              <a:spLocks noChangeArrowheads="1"/>
            </p:cNvSpPr>
            <p:nvPr/>
          </p:nvSpPr>
          <p:spPr bwMode="auto">
            <a:xfrm>
              <a:off x="1129"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9" name="Rectangle 33"/>
            <p:cNvSpPr>
              <a:spLocks noChangeArrowheads="1"/>
            </p:cNvSpPr>
            <p:nvPr/>
          </p:nvSpPr>
          <p:spPr bwMode="auto">
            <a:xfrm>
              <a:off x="1391"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0" name="Rectangle 34"/>
            <p:cNvSpPr>
              <a:spLocks noChangeArrowheads="1"/>
            </p:cNvSpPr>
            <p:nvPr/>
          </p:nvSpPr>
          <p:spPr bwMode="auto">
            <a:xfrm>
              <a:off x="1445"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1" name="Rectangle 35"/>
            <p:cNvSpPr>
              <a:spLocks noChangeArrowheads="1"/>
            </p:cNvSpPr>
            <p:nvPr/>
          </p:nvSpPr>
          <p:spPr bwMode="auto">
            <a:xfrm>
              <a:off x="173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2" name="Rectangle 36"/>
            <p:cNvSpPr>
              <a:spLocks noChangeArrowheads="1"/>
            </p:cNvSpPr>
            <p:nvPr/>
          </p:nvSpPr>
          <p:spPr bwMode="auto">
            <a:xfrm>
              <a:off x="178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37"/>
            <p:cNvSpPr>
              <a:spLocks noChangeArrowheads="1"/>
            </p:cNvSpPr>
            <p:nvPr/>
          </p:nvSpPr>
          <p:spPr bwMode="auto">
            <a:xfrm>
              <a:off x="207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38"/>
            <p:cNvSpPr>
              <a:spLocks noChangeArrowheads="1"/>
            </p:cNvSpPr>
            <p:nvPr/>
          </p:nvSpPr>
          <p:spPr bwMode="auto">
            <a:xfrm>
              <a:off x="2156"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39"/>
            <p:cNvSpPr>
              <a:spLocks noChangeArrowheads="1"/>
            </p:cNvSpPr>
            <p:nvPr/>
          </p:nvSpPr>
          <p:spPr bwMode="auto">
            <a:xfrm>
              <a:off x="2413"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0"/>
            <p:cNvSpPr>
              <a:spLocks noChangeArrowheads="1"/>
            </p:cNvSpPr>
            <p:nvPr/>
          </p:nvSpPr>
          <p:spPr bwMode="auto">
            <a:xfrm>
              <a:off x="2497"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1"/>
            <p:cNvSpPr>
              <a:spLocks noChangeArrowheads="1"/>
            </p:cNvSpPr>
            <p:nvPr/>
          </p:nvSpPr>
          <p:spPr bwMode="auto">
            <a:xfrm>
              <a:off x="275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2"/>
            <p:cNvSpPr>
              <a:spLocks noChangeArrowheads="1"/>
            </p:cNvSpPr>
            <p:nvPr/>
          </p:nvSpPr>
          <p:spPr bwMode="auto">
            <a:xfrm>
              <a:off x="2838"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3"/>
            <p:cNvSpPr>
              <a:spLocks noChangeArrowheads="1"/>
            </p:cNvSpPr>
            <p:nvPr/>
          </p:nvSpPr>
          <p:spPr bwMode="auto">
            <a:xfrm>
              <a:off x="309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4"/>
            <p:cNvSpPr>
              <a:spLocks noChangeArrowheads="1"/>
            </p:cNvSpPr>
            <p:nvPr/>
          </p:nvSpPr>
          <p:spPr bwMode="auto">
            <a:xfrm>
              <a:off x="3148"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5"/>
            <p:cNvSpPr>
              <a:spLocks noChangeArrowheads="1"/>
            </p:cNvSpPr>
            <p:nvPr/>
          </p:nvSpPr>
          <p:spPr bwMode="auto">
            <a:xfrm>
              <a:off x="3435"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46"/>
            <p:cNvSpPr>
              <a:spLocks noChangeArrowheads="1"/>
            </p:cNvSpPr>
            <p:nvPr/>
          </p:nvSpPr>
          <p:spPr bwMode="auto">
            <a:xfrm>
              <a:off x="3489"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47"/>
            <p:cNvSpPr>
              <a:spLocks noChangeArrowheads="1"/>
            </p:cNvSpPr>
            <p:nvPr/>
          </p:nvSpPr>
          <p:spPr bwMode="auto">
            <a:xfrm>
              <a:off x="3775" y="1526"/>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 name="Rectangle 48"/>
            <p:cNvSpPr>
              <a:spLocks noChangeArrowheads="1"/>
            </p:cNvSpPr>
            <p:nvPr/>
          </p:nvSpPr>
          <p:spPr bwMode="auto">
            <a:xfrm>
              <a:off x="383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5" name="Rectangle 49"/>
            <p:cNvSpPr>
              <a:spLocks noChangeArrowheads="1"/>
            </p:cNvSpPr>
            <p:nvPr/>
          </p:nvSpPr>
          <p:spPr bwMode="auto">
            <a:xfrm>
              <a:off x="4116"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6" name="Rectangle 50"/>
            <p:cNvSpPr>
              <a:spLocks noChangeArrowheads="1"/>
            </p:cNvSpPr>
            <p:nvPr/>
          </p:nvSpPr>
          <p:spPr bwMode="auto">
            <a:xfrm>
              <a:off x="417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7" name="Rectangle 51"/>
            <p:cNvSpPr>
              <a:spLocks noChangeArrowheads="1"/>
            </p:cNvSpPr>
            <p:nvPr/>
          </p:nvSpPr>
          <p:spPr bwMode="auto">
            <a:xfrm>
              <a:off x="4457"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8" name="Rectangle 52"/>
            <p:cNvSpPr>
              <a:spLocks noChangeArrowheads="1"/>
            </p:cNvSpPr>
            <p:nvPr/>
          </p:nvSpPr>
          <p:spPr bwMode="auto">
            <a:xfrm>
              <a:off x="4511"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9" name="Rectangle 53"/>
            <p:cNvSpPr>
              <a:spLocks noChangeArrowheads="1"/>
            </p:cNvSpPr>
            <p:nvPr/>
          </p:nvSpPr>
          <p:spPr bwMode="auto">
            <a:xfrm>
              <a:off x="4797"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0" name="Rectangle 54"/>
            <p:cNvSpPr>
              <a:spLocks noChangeArrowheads="1"/>
            </p:cNvSpPr>
            <p:nvPr/>
          </p:nvSpPr>
          <p:spPr bwMode="auto">
            <a:xfrm>
              <a:off x="490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1" name="Rectangle 55"/>
            <p:cNvSpPr>
              <a:spLocks noChangeArrowheads="1"/>
            </p:cNvSpPr>
            <p:nvPr/>
          </p:nvSpPr>
          <p:spPr bwMode="auto">
            <a:xfrm>
              <a:off x="710" y="1752"/>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2" name="Rectangle 56"/>
            <p:cNvSpPr>
              <a:spLocks noChangeArrowheads="1"/>
            </p:cNvSpPr>
            <p:nvPr/>
          </p:nvSpPr>
          <p:spPr bwMode="auto">
            <a:xfrm>
              <a:off x="1050" y="1752"/>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68"/>
            <p:cNvSpPr>
              <a:spLocks noChangeArrowheads="1"/>
            </p:cNvSpPr>
            <p:nvPr/>
          </p:nvSpPr>
          <p:spPr bwMode="auto">
            <a:xfrm>
              <a:off x="710"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69"/>
            <p:cNvSpPr>
              <a:spLocks noChangeArrowheads="1"/>
            </p:cNvSpPr>
            <p:nvPr/>
          </p:nvSpPr>
          <p:spPr bwMode="auto">
            <a:xfrm>
              <a:off x="1050"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81"/>
            <p:cNvSpPr>
              <a:spLocks noChangeArrowheads="1"/>
            </p:cNvSpPr>
            <p:nvPr/>
          </p:nvSpPr>
          <p:spPr bwMode="auto">
            <a:xfrm>
              <a:off x="710"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8" name="Rectangle 82"/>
            <p:cNvSpPr>
              <a:spLocks noChangeArrowheads="1"/>
            </p:cNvSpPr>
            <p:nvPr/>
          </p:nvSpPr>
          <p:spPr bwMode="auto">
            <a:xfrm>
              <a:off x="1050"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3" name="Rectangle 87"/>
            <p:cNvSpPr>
              <a:spLocks noChangeArrowheads="1"/>
            </p:cNvSpPr>
            <p:nvPr/>
          </p:nvSpPr>
          <p:spPr bwMode="auto">
            <a:xfrm>
              <a:off x="275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94"/>
            <p:cNvSpPr>
              <a:spLocks noChangeArrowheads="1"/>
            </p:cNvSpPr>
            <p:nvPr/>
          </p:nvSpPr>
          <p:spPr bwMode="auto">
            <a:xfrm>
              <a:off x="710"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1" name="Rectangle 95"/>
            <p:cNvSpPr>
              <a:spLocks noChangeArrowheads="1"/>
            </p:cNvSpPr>
            <p:nvPr/>
          </p:nvSpPr>
          <p:spPr bwMode="auto">
            <a:xfrm>
              <a:off x="1050"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3" name="Rectangle 107"/>
            <p:cNvSpPr>
              <a:spLocks noChangeArrowheads="1"/>
            </p:cNvSpPr>
            <p:nvPr/>
          </p:nvSpPr>
          <p:spPr bwMode="auto">
            <a:xfrm>
              <a:off x="710"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4" name="Rectangle 108"/>
            <p:cNvSpPr>
              <a:spLocks noChangeArrowheads="1"/>
            </p:cNvSpPr>
            <p:nvPr/>
          </p:nvSpPr>
          <p:spPr bwMode="auto">
            <a:xfrm>
              <a:off x="1050"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8" name="Rectangle 57"/>
          <p:cNvSpPr>
            <a:spLocks noChangeArrowheads="1"/>
          </p:cNvSpPr>
          <p:nvPr/>
        </p:nvSpPr>
        <p:spPr bwMode="auto">
          <a:xfrm>
            <a:off x="2269173"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9" name="Rectangle 58"/>
          <p:cNvSpPr>
            <a:spLocks noChangeArrowheads="1"/>
          </p:cNvSpPr>
          <p:nvPr/>
        </p:nvSpPr>
        <p:spPr bwMode="auto">
          <a:xfrm>
            <a:off x="2810511"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6" name="Rectangle 59"/>
          <p:cNvSpPr>
            <a:spLocks noChangeArrowheads="1"/>
          </p:cNvSpPr>
          <p:nvPr/>
        </p:nvSpPr>
        <p:spPr bwMode="auto">
          <a:xfrm>
            <a:off x="3350261"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7" name="Rectangle 60"/>
          <p:cNvSpPr>
            <a:spLocks noChangeArrowheads="1"/>
          </p:cNvSpPr>
          <p:nvPr/>
        </p:nvSpPr>
        <p:spPr bwMode="auto">
          <a:xfrm>
            <a:off x="3891598"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8" name="Rectangle 61"/>
          <p:cNvSpPr>
            <a:spLocks noChangeArrowheads="1"/>
          </p:cNvSpPr>
          <p:nvPr/>
        </p:nvSpPr>
        <p:spPr bwMode="auto">
          <a:xfrm>
            <a:off x="4432936"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9" name="Rectangle 62"/>
          <p:cNvSpPr>
            <a:spLocks noChangeArrowheads="1"/>
          </p:cNvSpPr>
          <p:nvPr/>
        </p:nvSpPr>
        <p:spPr bwMode="auto">
          <a:xfrm>
            <a:off x="4972686"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0" name="Rectangle 63"/>
          <p:cNvSpPr>
            <a:spLocks noChangeArrowheads="1"/>
          </p:cNvSpPr>
          <p:nvPr/>
        </p:nvSpPr>
        <p:spPr bwMode="auto">
          <a:xfrm>
            <a:off x="5514023"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1" name="Rectangle 64"/>
          <p:cNvSpPr>
            <a:spLocks noChangeArrowheads="1"/>
          </p:cNvSpPr>
          <p:nvPr/>
        </p:nvSpPr>
        <p:spPr bwMode="auto">
          <a:xfrm>
            <a:off x="6053773" y="2522221"/>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2" name="Rectangle 65"/>
          <p:cNvSpPr>
            <a:spLocks noChangeArrowheads="1"/>
          </p:cNvSpPr>
          <p:nvPr/>
        </p:nvSpPr>
        <p:spPr bwMode="auto">
          <a:xfrm>
            <a:off x="6595111"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3" name="Rectangle 66"/>
          <p:cNvSpPr>
            <a:spLocks noChangeArrowheads="1"/>
          </p:cNvSpPr>
          <p:nvPr/>
        </p:nvSpPr>
        <p:spPr bwMode="auto">
          <a:xfrm>
            <a:off x="7136448"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4" name="Rectangle 67"/>
          <p:cNvSpPr>
            <a:spLocks noChangeArrowheads="1"/>
          </p:cNvSpPr>
          <p:nvPr/>
        </p:nvSpPr>
        <p:spPr bwMode="auto">
          <a:xfrm>
            <a:off x="7676198"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5" name="Rectangle 70"/>
          <p:cNvSpPr>
            <a:spLocks noChangeArrowheads="1"/>
          </p:cNvSpPr>
          <p:nvPr/>
        </p:nvSpPr>
        <p:spPr bwMode="auto">
          <a:xfrm>
            <a:off x="2269173"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6" name="Rectangle 83"/>
          <p:cNvSpPr>
            <a:spLocks noChangeArrowheads="1"/>
          </p:cNvSpPr>
          <p:nvPr/>
        </p:nvSpPr>
        <p:spPr bwMode="auto">
          <a:xfrm>
            <a:off x="2269173"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7" name="Rectangle 96"/>
          <p:cNvSpPr>
            <a:spLocks noChangeArrowheads="1"/>
          </p:cNvSpPr>
          <p:nvPr/>
        </p:nvSpPr>
        <p:spPr bwMode="auto">
          <a:xfrm>
            <a:off x="2269173"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8" name="Rectangle 109"/>
          <p:cNvSpPr>
            <a:spLocks noChangeArrowheads="1"/>
          </p:cNvSpPr>
          <p:nvPr/>
        </p:nvSpPr>
        <p:spPr bwMode="auto">
          <a:xfrm>
            <a:off x="2269173"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43" name="Rectangle 71"/>
          <p:cNvSpPr>
            <a:spLocks noChangeArrowheads="1"/>
          </p:cNvSpPr>
          <p:nvPr/>
        </p:nvSpPr>
        <p:spPr bwMode="auto">
          <a:xfrm>
            <a:off x="2810511"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72"/>
          <p:cNvSpPr>
            <a:spLocks noChangeArrowheads="1"/>
          </p:cNvSpPr>
          <p:nvPr/>
        </p:nvSpPr>
        <p:spPr bwMode="auto">
          <a:xfrm>
            <a:off x="3350261"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 name="Rectangle 73"/>
          <p:cNvSpPr>
            <a:spLocks noChangeArrowheads="1"/>
          </p:cNvSpPr>
          <p:nvPr/>
        </p:nvSpPr>
        <p:spPr bwMode="auto">
          <a:xfrm>
            <a:off x="3891598"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 name="Rectangle 74"/>
          <p:cNvSpPr>
            <a:spLocks noChangeArrowheads="1"/>
          </p:cNvSpPr>
          <p:nvPr/>
        </p:nvSpPr>
        <p:spPr bwMode="auto">
          <a:xfrm>
            <a:off x="4432936"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3" name="Rectangle 75"/>
          <p:cNvSpPr>
            <a:spLocks noChangeArrowheads="1"/>
          </p:cNvSpPr>
          <p:nvPr/>
        </p:nvSpPr>
        <p:spPr bwMode="auto">
          <a:xfrm>
            <a:off x="4972686"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9" name="Rectangle 76"/>
          <p:cNvSpPr>
            <a:spLocks noChangeArrowheads="1"/>
          </p:cNvSpPr>
          <p:nvPr/>
        </p:nvSpPr>
        <p:spPr bwMode="auto">
          <a:xfrm>
            <a:off x="5514023"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77"/>
          <p:cNvSpPr>
            <a:spLocks noChangeArrowheads="1"/>
          </p:cNvSpPr>
          <p:nvPr/>
        </p:nvSpPr>
        <p:spPr bwMode="auto">
          <a:xfrm>
            <a:off x="6053773" y="2884171"/>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1" name="Rectangle 78"/>
          <p:cNvSpPr>
            <a:spLocks noChangeArrowheads="1"/>
          </p:cNvSpPr>
          <p:nvPr/>
        </p:nvSpPr>
        <p:spPr bwMode="auto">
          <a:xfrm>
            <a:off x="6595111"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9"/>
          <p:cNvSpPr>
            <a:spLocks noChangeArrowheads="1"/>
          </p:cNvSpPr>
          <p:nvPr/>
        </p:nvSpPr>
        <p:spPr bwMode="auto">
          <a:xfrm>
            <a:off x="7136448"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80"/>
          <p:cNvSpPr>
            <a:spLocks noChangeArrowheads="1"/>
          </p:cNvSpPr>
          <p:nvPr/>
        </p:nvSpPr>
        <p:spPr bwMode="auto">
          <a:xfrm>
            <a:off x="7676198"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84"/>
          <p:cNvSpPr>
            <a:spLocks noChangeArrowheads="1"/>
          </p:cNvSpPr>
          <p:nvPr/>
        </p:nvSpPr>
        <p:spPr bwMode="auto">
          <a:xfrm>
            <a:off x="2810511"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85"/>
          <p:cNvSpPr>
            <a:spLocks noChangeArrowheads="1"/>
          </p:cNvSpPr>
          <p:nvPr/>
        </p:nvSpPr>
        <p:spPr bwMode="auto">
          <a:xfrm>
            <a:off x="3350261"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8" name="Rectangle 86"/>
          <p:cNvSpPr>
            <a:spLocks noChangeArrowheads="1"/>
          </p:cNvSpPr>
          <p:nvPr/>
        </p:nvSpPr>
        <p:spPr bwMode="auto">
          <a:xfrm>
            <a:off x="3891598"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2" name="Rectangle 88"/>
          <p:cNvSpPr>
            <a:spLocks noChangeArrowheads="1"/>
          </p:cNvSpPr>
          <p:nvPr/>
        </p:nvSpPr>
        <p:spPr bwMode="auto">
          <a:xfrm>
            <a:off x="4972686"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89"/>
          <p:cNvSpPr>
            <a:spLocks noChangeArrowheads="1"/>
          </p:cNvSpPr>
          <p:nvPr/>
        </p:nvSpPr>
        <p:spPr bwMode="auto">
          <a:xfrm>
            <a:off x="5514023"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4" name="Rectangle 90"/>
          <p:cNvSpPr>
            <a:spLocks noChangeArrowheads="1"/>
          </p:cNvSpPr>
          <p:nvPr/>
        </p:nvSpPr>
        <p:spPr bwMode="auto">
          <a:xfrm>
            <a:off x="6053773" y="3247708"/>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5" name="Rectangle 91"/>
          <p:cNvSpPr>
            <a:spLocks noChangeArrowheads="1"/>
          </p:cNvSpPr>
          <p:nvPr/>
        </p:nvSpPr>
        <p:spPr bwMode="auto">
          <a:xfrm>
            <a:off x="6595111"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92"/>
          <p:cNvSpPr>
            <a:spLocks noChangeArrowheads="1"/>
          </p:cNvSpPr>
          <p:nvPr/>
        </p:nvSpPr>
        <p:spPr bwMode="auto">
          <a:xfrm>
            <a:off x="7136448"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9" name="Rectangle 93"/>
          <p:cNvSpPr>
            <a:spLocks noChangeArrowheads="1"/>
          </p:cNvSpPr>
          <p:nvPr/>
        </p:nvSpPr>
        <p:spPr bwMode="auto">
          <a:xfrm>
            <a:off x="7676198"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0" name="Rectangle 97"/>
          <p:cNvSpPr>
            <a:spLocks noChangeArrowheads="1"/>
          </p:cNvSpPr>
          <p:nvPr/>
        </p:nvSpPr>
        <p:spPr bwMode="auto">
          <a:xfrm>
            <a:off x="2810511"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1" name="Rectangle 98"/>
          <p:cNvSpPr>
            <a:spLocks noChangeArrowheads="1"/>
          </p:cNvSpPr>
          <p:nvPr/>
        </p:nvSpPr>
        <p:spPr bwMode="auto">
          <a:xfrm>
            <a:off x="3350261"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2" name="Rectangle 99"/>
          <p:cNvSpPr>
            <a:spLocks noChangeArrowheads="1"/>
          </p:cNvSpPr>
          <p:nvPr/>
        </p:nvSpPr>
        <p:spPr bwMode="auto">
          <a:xfrm>
            <a:off x="3891598"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2" name="Rectangle 100"/>
          <p:cNvSpPr>
            <a:spLocks noChangeArrowheads="1"/>
          </p:cNvSpPr>
          <p:nvPr/>
        </p:nvSpPr>
        <p:spPr bwMode="auto">
          <a:xfrm>
            <a:off x="4432936"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5" name="Rectangle 101"/>
          <p:cNvSpPr>
            <a:spLocks noChangeArrowheads="1"/>
          </p:cNvSpPr>
          <p:nvPr/>
        </p:nvSpPr>
        <p:spPr bwMode="auto">
          <a:xfrm>
            <a:off x="4972686"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0" name="Rectangle 102"/>
          <p:cNvSpPr>
            <a:spLocks noChangeArrowheads="1"/>
          </p:cNvSpPr>
          <p:nvPr/>
        </p:nvSpPr>
        <p:spPr bwMode="auto">
          <a:xfrm>
            <a:off x="5514023"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1" name="Rectangle 103"/>
          <p:cNvSpPr>
            <a:spLocks noChangeArrowheads="1"/>
          </p:cNvSpPr>
          <p:nvPr/>
        </p:nvSpPr>
        <p:spPr bwMode="auto">
          <a:xfrm>
            <a:off x="6053773" y="3609658"/>
            <a:ext cx="889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en-US" altLang="zh-CN" sz="1400" b="0" i="0" u="none" strike="noStrike" cap="none" normalizeH="0" baseline="0">
                <a:ln>
                  <a:noFill/>
                </a:ln>
                <a:solidFill>
                  <a:srgbClr val="000000"/>
                </a:solidFill>
                <a:effectLst/>
                <a:latin typeface="Times New Roman" panose="02020603050405020304" pitchFamily="18" charset="0"/>
              </a:rPr>
              <a:t>8</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sp>
        <p:nvSpPr>
          <p:cNvPr id="144" name="Rectangle 104"/>
          <p:cNvSpPr>
            <a:spLocks noChangeArrowheads="1"/>
          </p:cNvSpPr>
          <p:nvPr/>
        </p:nvSpPr>
        <p:spPr bwMode="auto">
          <a:xfrm>
            <a:off x="6595111"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5" name="Rectangle 105"/>
          <p:cNvSpPr>
            <a:spLocks noChangeArrowheads="1"/>
          </p:cNvSpPr>
          <p:nvPr/>
        </p:nvSpPr>
        <p:spPr bwMode="auto">
          <a:xfrm>
            <a:off x="7136448"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6" name="Rectangle 106"/>
          <p:cNvSpPr>
            <a:spLocks noChangeArrowheads="1"/>
          </p:cNvSpPr>
          <p:nvPr/>
        </p:nvSpPr>
        <p:spPr bwMode="auto">
          <a:xfrm>
            <a:off x="7676198"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7" name="Rectangle 110"/>
          <p:cNvSpPr>
            <a:spLocks noChangeArrowheads="1"/>
          </p:cNvSpPr>
          <p:nvPr/>
        </p:nvSpPr>
        <p:spPr bwMode="auto">
          <a:xfrm>
            <a:off x="2810511"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8" name="Rectangle 111"/>
          <p:cNvSpPr>
            <a:spLocks noChangeArrowheads="1"/>
          </p:cNvSpPr>
          <p:nvPr/>
        </p:nvSpPr>
        <p:spPr bwMode="auto">
          <a:xfrm>
            <a:off x="3350261"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9" name="Rectangle 112"/>
          <p:cNvSpPr>
            <a:spLocks noChangeArrowheads="1"/>
          </p:cNvSpPr>
          <p:nvPr/>
        </p:nvSpPr>
        <p:spPr bwMode="auto">
          <a:xfrm>
            <a:off x="3891598"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0" name="Rectangle 113"/>
          <p:cNvSpPr>
            <a:spLocks noChangeArrowheads="1"/>
          </p:cNvSpPr>
          <p:nvPr/>
        </p:nvSpPr>
        <p:spPr bwMode="auto">
          <a:xfrm>
            <a:off x="4432936"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1" name="Rectangle 114"/>
          <p:cNvSpPr>
            <a:spLocks noChangeArrowheads="1"/>
          </p:cNvSpPr>
          <p:nvPr/>
        </p:nvSpPr>
        <p:spPr bwMode="auto">
          <a:xfrm>
            <a:off x="4972686"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2" name="Rectangle 115"/>
          <p:cNvSpPr>
            <a:spLocks noChangeArrowheads="1"/>
          </p:cNvSpPr>
          <p:nvPr/>
        </p:nvSpPr>
        <p:spPr bwMode="auto">
          <a:xfrm>
            <a:off x="5514023"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3" name="Rectangle 116"/>
          <p:cNvSpPr>
            <a:spLocks noChangeArrowheads="1"/>
          </p:cNvSpPr>
          <p:nvPr/>
        </p:nvSpPr>
        <p:spPr bwMode="auto">
          <a:xfrm>
            <a:off x="6053773" y="3968433"/>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4" name="Rectangle 117"/>
          <p:cNvSpPr>
            <a:spLocks noChangeArrowheads="1"/>
          </p:cNvSpPr>
          <p:nvPr/>
        </p:nvSpPr>
        <p:spPr bwMode="auto">
          <a:xfrm>
            <a:off x="6595111"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5" name="Rectangle 118"/>
          <p:cNvSpPr>
            <a:spLocks noChangeArrowheads="1"/>
          </p:cNvSpPr>
          <p:nvPr/>
        </p:nvSpPr>
        <p:spPr bwMode="auto">
          <a:xfrm>
            <a:off x="7136448" y="3968433"/>
            <a:ext cx="26670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6" name="Rectangle 119"/>
          <p:cNvSpPr>
            <a:spLocks noChangeArrowheads="1"/>
          </p:cNvSpPr>
          <p:nvPr/>
        </p:nvSpPr>
        <p:spPr bwMode="auto">
          <a:xfrm>
            <a:off x="7676198" y="3968433"/>
            <a:ext cx="1778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r>
              <a:rPr kumimoji="0" lang="en-US" altLang="zh-CN" sz="1400" b="0" i="0" u="none" strike="noStrike" cap="none" normalizeH="0" baseline="0">
                <a:ln>
                  <a:noFill/>
                </a:ln>
                <a:solidFill>
                  <a:srgbClr val="000000"/>
                </a:solidFill>
                <a:effectLst/>
                <a:latin typeface="Times New Roman" panose="02020603050405020304" pitchFamily="18" charset="0"/>
              </a:rPr>
              <a:t>2</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grpSp>
        <p:nvGrpSpPr>
          <p:cNvPr id="13" name="组合 12"/>
          <p:cNvGrpSpPr/>
          <p:nvPr/>
        </p:nvGrpSpPr>
        <p:grpSpPr>
          <a:xfrm>
            <a:off x="1115869" y="4724926"/>
            <a:ext cx="6120679" cy="889964"/>
            <a:chOff x="755576" y="2566065"/>
            <a:chExt cx="6120679" cy="889964"/>
          </a:xfrm>
        </p:grpSpPr>
        <p:sp>
          <p:nvSpPr>
            <p:cNvPr id="16" name="文本框 15"/>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64" name="文本框 63"/>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65" name="文本框 64"/>
            <p:cNvSpPr txBox="1"/>
            <p:nvPr/>
          </p:nvSpPr>
          <p:spPr>
            <a:xfrm>
              <a:off x="2029962" y="3086697"/>
              <a:ext cx="4846293"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67" name="图片 66"/>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94" name="文本框 93"/>
          <p:cNvSpPr txBox="1"/>
          <p:nvPr/>
        </p:nvSpPr>
        <p:spPr>
          <a:xfrm>
            <a:off x="4909736" y="4724926"/>
            <a:ext cx="216024" cy="369332"/>
          </a:xfrm>
          <a:prstGeom prst="rect">
            <a:avLst/>
          </a:prstGeom>
          <a:noFill/>
        </p:spPr>
        <p:txBody>
          <a:bodyPr wrap="square" rtlCol="0">
            <a:spAutoFit/>
          </a:bodyPr>
          <a:lstStyle/>
          <a:p>
            <a:r>
              <a:rPr lang="zh-CN" altLang="en-US"/>
              <a:t>①</a:t>
            </a:r>
            <a:endParaRPr lang="zh-CN" altLang="en-US"/>
          </a:p>
        </p:txBody>
      </p:sp>
      <p:sp>
        <p:nvSpPr>
          <p:cNvPr id="95" name="文本框 94"/>
          <p:cNvSpPr txBox="1"/>
          <p:nvPr/>
        </p:nvSpPr>
        <p:spPr>
          <a:xfrm>
            <a:off x="7164069" y="5240534"/>
            <a:ext cx="432519" cy="369332"/>
          </a:xfrm>
          <a:prstGeom prst="rect">
            <a:avLst/>
          </a:prstGeom>
          <a:noFill/>
        </p:spPr>
        <p:txBody>
          <a:bodyPr wrap="square" rtlCol="0">
            <a:spAutoFit/>
          </a:bodyPr>
          <a:lstStyle/>
          <a:p>
            <a:r>
              <a:rPr lang="zh-CN" altLang="en-US"/>
              <a:t>②</a:t>
            </a:r>
            <a:endParaRPr lang="zh-CN" altLang="en-US"/>
          </a:p>
        </p:txBody>
      </p:sp>
      <p:cxnSp>
        <p:nvCxnSpPr>
          <p:cNvPr id="96" name="直接箭头连接符 95"/>
          <p:cNvCxnSpPr>
            <a:endCxn id="71" idx="2"/>
          </p:cNvCxnSpPr>
          <p:nvPr/>
        </p:nvCxnSpPr>
        <p:spPr>
          <a:xfrm flipH="1" flipV="1">
            <a:off x="6680835" y="3152775"/>
            <a:ext cx="1549400" cy="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97" name="文本框 96"/>
          <p:cNvSpPr txBox="1"/>
          <p:nvPr/>
        </p:nvSpPr>
        <p:spPr>
          <a:xfrm>
            <a:off x="8289925" y="2708910"/>
            <a:ext cx="854075" cy="647065"/>
          </a:xfrm>
          <a:prstGeom prst="rect">
            <a:avLst/>
          </a:prstGeom>
          <a:noFill/>
        </p:spPr>
        <p:txBody>
          <a:bodyPr wrap="square" rtlCol="0">
            <a:noAutofit/>
          </a:bodyPr>
          <a:p>
            <a:r>
              <a:rPr lang="zh-CN" altLang="en-US"/>
              <a:t>更新</a:t>
            </a:r>
            <a:r>
              <a:rPr lang="zh-CN" altLang="en-US"/>
              <a:t>方向</a:t>
            </a:r>
            <a:endParaRPr lang="zh-CN" altLang="en-US"/>
          </a:p>
        </p:txBody>
      </p:sp>
      <p:grpSp>
        <p:nvGrpSpPr>
          <p:cNvPr id="98" name="组合 97"/>
          <p:cNvGrpSpPr/>
          <p:nvPr/>
        </p:nvGrpSpPr>
        <p:grpSpPr>
          <a:xfrm>
            <a:off x="1115869" y="4720481"/>
            <a:ext cx="6120679" cy="888932"/>
            <a:chOff x="755576" y="2566065"/>
            <a:chExt cx="6120679" cy="888932"/>
          </a:xfrm>
        </p:grpSpPr>
        <p:sp>
          <p:nvSpPr>
            <p:cNvPr id="99" name="文本框 98"/>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03" name="文本框 102"/>
            <p:cNvSpPr txBox="1"/>
            <p:nvPr/>
          </p:nvSpPr>
          <p:spPr>
            <a:xfrm>
              <a:off x="2029963" y="2566065"/>
              <a:ext cx="2520280"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dp[i][j]</a:t>
              </a:r>
              <a:endParaRPr lang="zh-CN" altLang="en-US" b="1">
                <a:latin typeface="Times New Roman" panose="02020603050405020304" pitchFamily="18" charset="0"/>
                <a:cs typeface="Times New Roman" panose="02020603050405020304" pitchFamily="18" charset="0"/>
              </a:endParaRPr>
            </a:p>
          </p:txBody>
        </p:sp>
        <p:sp>
          <p:nvSpPr>
            <p:cNvPr id="104" name="文本框 103"/>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max(dp[i][j-w[i]]+c[i],dp[i][j])</a:t>
              </a:r>
              <a:endParaRPr lang="zh-CN" altLang="en-US" b="1">
                <a:latin typeface="Times New Roman" panose="02020603050405020304" pitchFamily="18" charset="0"/>
                <a:cs typeface="Times New Roman" panose="02020603050405020304" pitchFamily="18" charset="0"/>
              </a:endParaRPr>
            </a:p>
          </p:txBody>
        </p:sp>
        <p:pic>
          <p:nvPicPr>
            <p:cNvPr id="105" name="图片 10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06" name="文本框 105"/>
          <p:cNvSpPr txBox="1"/>
          <p:nvPr/>
        </p:nvSpPr>
        <p:spPr>
          <a:xfrm>
            <a:off x="4909736" y="4720481"/>
            <a:ext cx="216024" cy="369332"/>
          </a:xfrm>
          <a:prstGeom prst="rect">
            <a:avLst/>
          </a:prstGeom>
          <a:noFill/>
        </p:spPr>
        <p:txBody>
          <a:bodyPr wrap="square" rtlCol="0">
            <a:spAutoFit/>
          </a:bodyPr>
          <a:lstStyle/>
          <a:p>
            <a:r>
              <a:rPr lang="zh-CN" altLang="en-US"/>
              <a:t>①</a:t>
            </a:r>
            <a:endParaRPr lang="zh-CN" altLang="en-US"/>
          </a:p>
        </p:txBody>
      </p:sp>
      <p:sp>
        <p:nvSpPr>
          <p:cNvPr id="107" name="文本框 106"/>
          <p:cNvSpPr txBox="1"/>
          <p:nvPr/>
        </p:nvSpPr>
        <p:spPr>
          <a:xfrm>
            <a:off x="7019924" y="5234184"/>
            <a:ext cx="432519" cy="369332"/>
          </a:xfrm>
          <a:prstGeom prst="rect">
            <a:avLst/>
          </a:prstGeom>
          <a:noFill/>
        </p:spPr>
        <p:txBody>
          <a:bodyPr wrap="square" rtlCol="0">
            <a:spAutoFit/>
          </a:bodyPr>
          <a:lstStyle/>
          <a:p>
            <a:r>
              <a:rPr lang="zh-CN" altLang="en-US"/>
              <a:t>②</a:t>
            </a:r>
            <a:endParaRPr lang="zh-CN" altLang="en-US"/>
          </a:p>
        </p:txBody>
      </p:sp>
      <p:grpSp>
        <p:nvGrpSpPr>
          <p:cNvPr id="108" name="组合 107"/>
          <p:cNvGrpSpPr/>
          <p:nvPr/>
        </p:nvGrpSpPr>
        <p:grpSpPr>
          <a:xfrm>
            <a:off x="1104439" y="4725561"/>
            <a:ext cx="6120679" cy="888932"/>
            <a:chOff x="755576" y="2566065"/>
            <a:chExt cx="6120679" cy="888932"/>
          </a:xfrm>
        </p:grpSpPr>
        <p:sp>
          <p:nvSpPr>
            <p:cNvPr id="109" name="文本框 108"/>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0" name="文本框 109"/>
            <p:cNvSpPr txBox="1"/>
            <p:nvPr/>
          </p:nvSpPr>
          <p:spPr>
            <a:xfrm>
              <a:off x="2029963" y="2566065"/>
              <a:ext cx="2520280"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dp[j]</a:t>
              </a:r>
              <a:endParaRPr lang="zh-CN" altLang="en-US" b="1">
                <a:latin typeface="Times New Roman" panose="02020603050405020304" pitchFamily="18" charset="0"/>
                <a:cs typeface="Times New Roman" panose="02020603050405020304" pitchFamily="18" charset="0"/>
              </a:endParaRPr>
            </a:p>
          </p:txBody>
        </p:sp>
        <p:sp>
          <p:nvSpPr>
            <p:cNvPr id="111" name="文本框 110"/>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a:t>
              </a:r>
              <a:r>
                <a:rPr lang="en-US" altLang="zh-CN" b="1">
                  <a:latin typeface="Times New Roman" panose="02020603050405020304" pitchFamily="18" charset="0"/>
                  <a:cs typeface="Times New Roman" panose="02020603050405020304" pitchFamily="18" charset="0"/>
                </a:rPr>
                <a:t>dp[j-w[i]]+c[i],dp[j])</a:t>
              </a:r>
              <a:endParaRPr lang="zh-CN" altLang="en-US" b="1">
                <a:latin typeface="Times New Roman" panose="02020603050405020304" pitchFamily="18" charset="0"/>
                <a:cs typeface="Times New Roman" panose="02020603050405020304" pitchFamily="18" charset="0"/>
              </a:endParaRPr>
            </a:p>
          </p:txBody>
        </p:sp>
        <p:pic>
          <p:nvPicPr>
            <p:cNvPr id="112" name="图片 111"/>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16" name="文本框 115"/>
          <p:cNvSpPr txBox="1"/>
          <p:nvPr/>
        </p:nvSpPr>
        <p:spPr>
          <a:xfrm>
            <a:off x="4898306" y="4725561"/>
            <a:ext cx="216024" cy="369332"/>
          </a:xfrm>
          <a:prstGeom prst="rect">
            <a:avLst/>
          </a:prstGeom>
          <a:noFill/>
        </p:spPr>
        <p:txBody>
          <a:bodyPr wrap="square" rtlCol="0">
            <a:spAutoFit/>
          </a:bodyPr>
          <a:lstStyle/>
          <a:p>
            <a:r>
              <a:rPr lang="zh-CN" altLang="en-US"/>
              <a:t>①</a:t>
            </a:r>
            <a:endParaRPr lang="zh-CN" altLang="en-US"/>
          </a:p>
        </p:txBody>
      </p:sp>
      <p:sp>
        <p:nvSpPr>
          <p:cNvPr id="117" name="文本框 116"/>
          <p:cNvSpPr txBox="1"/>
          <p:nvPr/>
        </p:nvSpPr>
        <p:spPr>
          <a:xfrm>
            <a:off x="7008494" y="5239264"/>
            <a:ext cx="432519" cy="369332"/>
          </a:xfrm>
          <a:prstGeom prst="rect">
            <a:avLst/>
          </a:prstGeom>
          <a:noFill/>
        </p:spPr>
        <p:txBody>
          <a:bodyPr wrap="square" rtlCol="0">
            <a:spAutoFit/>
          </a:bodyPr>
          <a:lstStyle/>
          <a:p>
            <a:r>
              <a:rPr lang="zh-CN" altLang="en-US"/>
              <a:t>②</a:t>
            </a:r>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ppt_x"/>
                                          </p:val>
                                        </p:tav>
                                        <p:tav tm="100000">
                                          <p:val>
                                            <p:strVal val="#ppt_x"/>
                                          </p:val>
                                        </p:tav>
                                      </p:tavLst>
                                    </p:anim>
                                    <p:anim calcmode="lin" valueType="num">
                                      <p:cBhvr additive="base">
                                        <p:cTn id="8" dur="500" fill="hold"/>
                                        <p:tgtEl>
                                          <p:spTgt spid="13"/>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94"/>
                                        </p:tgtEl>
                                        <p:attrNameLst>
                                          <p:attrName>style.visibility</p:attrName>
                                        </p:attrNameLst>
                                      </p:cBhvr>
                                      <p:to>
                                        <p:strVal val="visible"/>
                                      </p:to>
                                    </p:set>
                                    <p:anim calcmode="lin" valueType="num">
                                      <p:cBhvr additive="base">
                                        <p:cTn id="11" dur="500" fill="hold"/>
                                        <p:tgtEl>
                                          <p:spTgt spid="94"/>
                                        </p:tgtEl>
                                        <p:attrNameLst>
                                          <p:attrName>ppt_x</p:attrName>
                                        </p:attrNameLst>
                                      </p:cBhvr>
                                      <p:tavLst>
                                        <p:tav tm="0">
                                          <p:val>
                                            <p:strVal val="#ppt_x"/>
                                          </p:val>
                                        </p:tav>
                                        <p:tav tm="100000">
                                          <p:val>
                                            <p:strVal val="#ppt_x"/>
                                          </p:val>
                                        </p:tav>
                                      </p:tavLst>
                                    </p:anim>
                                    <p:anim calcmode="lin" valueType="num">
                                      <p:cBhvr additive="base">
                                        <p:cTn id="12" dur="500" fill="hold"/>
                                        <p:tgtEl>
                                          <p:spTgt spid="94"/>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95"/>
                                        </p:tgtEl>
                                        <p:attrNameLst>
                                          <p:attrName>style.visibility</p:attrName>
                                        </p:attrNameLst>
                                      </p:cBhvr>
                                      <p:to>
                                        <p:strVal val="visible"/>
                                      </p:to>
                                    </p:set>
                                    <p:anim calcmode="lin" valueType="num">
                                      <p:cBhvr additive="base">
                                        <p:cTn id="15" dur="500" fill="hold"/>
                                        <p:tgtEl>
                                          <p:spTgt spid="95"/>
                                        </p:tgtEl>
                                        <p:attrNameLst>
                                          <p:attrName>ppt_x</p:attrName>
                                        </p:attrNameLst>
                                      </p:cBhvr>
                                      <p:tavLst>
                                        <p:tav tm="0">
                                          <p:val>
                                            <p:strVal val="#ppt_x"/>
                                          </p:val>
                                        </p:tav>
                                        <p:tav tm="100000">
                                          <p:val>
                                            <p:strVal val="#ppt_x"/>
                                          </p:val>
                                        </p:tav>
                                      </p:tavLst>
                                    </p:anim>
                                    <p:anim calcmode="lin" valueType="num">
                                      <p:cBhvr additive="base">
                                        <p:cTn id="16" dur="500" fill="hold"/>
                                        <p:tgtEl>
                                          <p:spTgt spid="95"/>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xit" presetSubtype="4" fill="hold" nodeType="clickEffect">
                                  <p:stCondLst>
                                    <p:cond delay="0"/>
                                  </p:stCondLst>
                                  <p:childTnLst>
                                    <p:anim calcmode="lin" valueType="num">
                                      <p:cBhvr additive="base">
                                        <p:cTn id="20" dur="500"/>
                                        <p:tgtEl>
                                          <p:spTgt spid="13"/>
                                        </p:tgtEl>
                                        <p:attrNameLst>
                                          <p:attrName>ppt_x</p:attrName>
                                        </p:attrNameLst>
                                      </p:cBhvr>
                                      <p:tavLst>
                                        <p:tav tm="0">
                                          <p:val>
                                            <p:strVal val="ppt_x"/>
                                          </p:val>
                                        </p:tav>
                                        <p:tav tm="100000">
                                          <p:val>
                                            <p:strVal val="ppt_x"/>
                                          </p:val>
                                        </p:tav>
                                      </p:tavLst>
                                    </p:anim>
                                    <p:anim calcmode="lin" valueType="num">
                                      <p:cBhvr additive="base">
                                        <p:cTn id="21" dur="500"/>
                                        <p:tgtEl>
                                          <p:spTgt spid="13"/>
                                        </p:tgtEl>
                                        <p:attrNameLst>
                                          <p:attrName>ppt_y</p:attrName>
                                        </p:attrNameLst>
                                      </p:cBhvr>
                                      <p:tavLst>
                                        <p:tav tm="0">
                                          <p:val>
                                            <p:strVal val="ppt_y"/>
                                          </p:val>
                                        </p:tav>
                                        <p:tav tm="100000">
                                          <p:val>
                                            <p:strVal val="1+ppt_h/2"/>
                                          </p:val>
                                        </p:tav>
                                      </p:tavLst>
                                    </p:anim>
                                    <p:set>
                                      <p:cBhvr>
                                        <p:cTn id="22" dur="1" fill="hold">
                                          <p:stCondLst>
                                            <p:cond delay="499"/>
                                          </p:stCondLst>
                                        </p:cTn>
                                        <p:tgtEl>
                                          <p:spTgt spid="13"/>
                                        </p:tgtEl>
                                        <p:attrNameLst>
                                          <p:attrName>style.visibility</p:attrName>
                                        </p:attrNameLst>
                                      </p:cBhvr>
                                      <p:to>
                                        <p:strVal val="hidden"/>
                                      </p:to>
                                    </p:set>
                                  </p:childTnLst>
                                </p:cTn>
                              </p:par>
                              <p:par>
                                <p:cTn id="23" presetID="2" presetClass="exit" presetSubtype="4" fill="hold" grpId="2" nodeType="withEffect">
                                  <p:stCondLst>
                                    <p:cond delay="0"/>
                                  </p:stCondLst>
                                  <p:childTnLst>
                                    <p:anim calcmode="lin" valueType="num">
                                      <p:cBhvr additive="base">
                                        <p:cTn id="24" dur="500"/>
                                        <p:tgtEl>
                                          <p:spTgt spid="94"/>
                                        </p:tgtEl>
                                        <p:attrNameLst>
                                          <p:attrName>ppt_x</p:attrName>
                                        </p:attrNameLst>
                                      </p:cBhvr>
                                      <p:tavLst>
                                        <p:tav tm="0">
                                          <p:val>
                                            <p:strVal val="ppt_x"/>
                                          </p:val>
                                        </p:tav>
                                        <p:tav tm="100000">
                                          <p:val>
                                            <p:strVal val="ppt_x"/>
                                          </p:val>
                                        </p:tav>
                                      </p:tavLst>
                                    </p:anim>
                                    <p:anim calcmode="lin" valueType="num">
                                      <p:cBhvr additive="base">
                                        <p:cTn id="25" dur="500"/>
                                        <p:tgtEl>
                                          <p:spTgt spid="94"/>
                                        </p:tgtEl>
                                        <p:attrNameLst>
                                          <p:attrName>ppt_y</p:attrName>
                                        </p:attrNameLst>
                                      </p:cBhvr>
                                      <p:tavLst>
                                        <p:tav tm="0">
                                          <p:val>
                                            <p:strVal val="ppt_y"/>
                                          </p:val>
                                        </p:tav>
                                        <p:tav tm="100000">
                                          <p:val>
                                            <p:strVal val="1+ppt_h/2"/>
                                          </p:val>
                                        </p:tav>
                                      </p:tavLst>
                                    </p:anim>
                                    <p:set>
                                      <p:cBhvr>
                                        <p:cTn id="26" dur="1" fill="hold">
                                          <p:stCondLst>
                                            <p:cond delay="499"/>
                                          </p:stCondLst>
                                        </p:cTn>
                                        <p:tgtEl>
                                          <p:spTgt spid="94"/>
                                        </p:tgtEl>
                                        <p:attrNameLst>
                                          <p:attrName>style.visibility</p:attrName>
                                        </p:attrNameLst>
                                      </p:cBhvr>
                                      <p:to>
                                        <p:strVal val="hidden"/>
                                      </p:to>
                                    </p:set>
                                  </p:childTnLst>
                                </p:cTn>
                              </p:par>
                              <p:par>
                                <p:cTn id="27" presetID="2" presetClass="exit" presetSubtype="4" fill="hold" grpId="2" nodeType="withEffect">
                                  <p:stCondLst>
                                    <p:cond delay="0"/>
                                  </p:stCondLst>
                                  <p:childTnLst>
                                    <p:anim calcmode="lin" valueType="num">
                                      <p:cBhvr additive="base">
                                        <p:cTn id="28" dur="500"/>
                                        <p:tgtEl>
                                          <p:spTgt spid="95"/>
                                        </p:tgtEl>
                                        <p:attrNameLst>
                                          <p:attrName>ppt_x</p:attrName>
                                        </p:attrNameLst>
                                      </p:cBhvr>
                                      <p:tavLst>
                                        <p:tav tm="0">
                                          <p:val>
                                            <p:strVal val="ppt_x"/>
                                          </p:val>
                                        </p:tav>
                                        <p:tav tm="100000">
                                          <p:val>
                                            <p:strVal val="ppt_x"/>
                                          </p:val>
                                        </p:tav>
                                      </p:tavLst>
                                    </p:anim>
                                    <p:anim calcmode="lin" valueType="num">
                                      <p:cBhvr additive="base">
                                        <p:cTn id="29" dur="500"/>
                                        <p:tgtEl>
                                          <p:spTgt spid="95"/>
                                        </p:tgtEl>
                                        <p:attrNameLst>
                                          <p:attrName>ppt_y</p:attrName>
                                        </p:attrNameLst>
                                      </p:cBhvr>
                                      <p:tavLst>
                                        <p:tav tm="0">
                                          <p:val>
                                            <p:strVal val="ppt_y"/>
                                          </p:val>
                                        </p:tav>
                                        <p:tav tm="100000">
                                          <p:val>
                                            <p:strVal val="1+ppt_h/2"/>
                                          </p:val>
                                        </p:tav>
                                      </p:tavLst>
                                    </p:anim>
                                    <p:set>
                                      <p:cBhvr>
                                        <p:cTn id="30" dur="1" fill="hold">
                                          <p:stCondLst>
                                            <p:cond delay="499"/>
                                          </p:stCondLst>
                                        </p:cTn>
                                        <p:tgtEl>
                                          <p:spTgt spid="95"/>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2" fill="hold" nodeType="clickEffect">
                                  <p:stCondLst>
                                    <p:cond delay="0"/>
                                  </p:stCondLst>
                                  <p:childTnLst>
                                    <p:set>
                                      <p:cBhvr>
                                        <p:cTn id="34" dur="1" fill="hold">
                                          <p:stCondLst>
                                            <p:cond delay="0"/>
                                          </p:stCondLst>
                                        </p:cTn>
                                        <p:tgtEl>
                                          <p:spTgt spid="96"/>
                                        </p:tgtEl>
                                        <p:attrNameLst>
                                          <p:attrName>style.visibility</p:attrName>
                                        </p:attrNameLst>
                                      </p:cBhvr>
                                      <p:to>
                                        <p:strVal val="visible"/>
                                      </p:to>
                                    </p:set>
                                    <p:anim calcmode="lin" valueType="num">
                                      <p:cBhvr additive="base">
                                        <p:cTn id="35" dur="500" fill="hold"/>
                                        <p:tgtEl>
                                          <p:spTgt spid="96"/>
                                        </p:tgtEl>
                                        <p:attrNameLst>
                                          <p:attrName>ppt_x</p:attrName>
                                        </p:attrNameLst>
                                      </p:cBhvr>
                                      <p:tavLst>
                                        <p:tav tm="0">
                                          <p:val>
                                            <p:strVal val="1+#ppt_w/2"/>
                                          </p:val>
                                        </p:tav>
                                        <p:tav tm="100000">
                                          <p:val>
                                            <p:strVal val="#ppt_x"/>
                                          </p:val>
                                        </p:tav>
                                      </p:tavLst>
                                    </p:anim>
                                    <p:anim calcmode="lin" valueType="num">
                                      <p:cBhvr additive="base">
                                        <p:cTn id="36" dur="500" fill="hold"/>
                                        <p:tgtEl>
                                          <p:spTgt spid="96"/>
                                        </p:tgtEl>
                                        <p:attrNameLst>
                                          <p:attrName>ppt_y</p:attrName>
                                        </p:attrNameLst>
                                      </p:cBhvr>
                                      <p:tavLst>
                                        <p:tav tm="0">
                                          <p:val>
                                            <p:strVal val="#ppt_y"/>
                                          </p:val>
                                        </p:tav>
                                        <p:tav tm="100000">
                                          <p:val>
                                            <p:strVal val="#ppt_y"/>
                                          </p:val>
                                        </p:tav>
                                      </p:tavLst>
                                    </p:anim>
                                  </p:childTnLst>
                                </p:cTn>
                              </p:par>
                              <p:par>
                                <p:cTn id="37" presetID="2" presetClass="entr" presetSubtype="2" fill="hold" grpId="0" nodeType="withEffect">
                                  <p:stCondLst>
                                    <p:cond delay="0"/>
                                  </p:stCondLst>
                                  <p:childTnLst>
                                    <p:set>
                                      <p:cBhvr>
                                        <p:cTn id="38" dur="1" fill="hold">
                                          <p:stCondLst>
                                            <p:cond delay="0"/>
                                          </p:stCondLst>
                                        </p:cTn>
                                        <p:tgtEl>
                                          <p:spTgt spid="97"/>
                                        </p:tgtEl>
                                        <p:attrNameLst>
                                          <p:attrName>style.visibility</p:attrName>
                                        </p:attrNameLst>
                                      </p:cBhvr>
                                      <p:to>
                                        <p:strVal val="visible"/>
                                      </p:to>
                                    </p:set>
                                    <p:anim calcmode="lin" valueType="num">
                                      <p:cBhvr additive="base">
                                        <p:cTn id="39" dur="500" fill="hold"/>
                                        <p:tgtEl>
                                          <p:spTgt spid="97"/>
                                        </p:tgtEl>
                                        <p:attrNameLst>
                                          <p:attrName>ppt_x</p:attrName>
                                        </p:attrNameLst>
                                      </p:cBhvr>
                                      <p:tavLst>
                                        <p:tav tm="0">
                                          <p:val>
                                            <p:strVal val="1+#ppt_w/2"/>
                                          </p:val>
                                        </p:tav>
                                        <p:tav tm="100000">
                                          <p:val>
                                            <p:strVal val="#ppt_x"/>
                                          </p:val>
                                        </p:tav>
                                      </p:tavLst>
                                    </p:anim>
                                    <p:anim calcmode="lin" valueType="num">
                                      <p:cBhvr additive="base">
                                        <p:cTn id="40" dur="500" fill="hold"/>
                                        <p:tgtEl>
                                          <p:spTgt spid="97"/>
                                        </p:tgtEl>
                                        <p:attrNameLst>
                                          <p:attrName>ppt_y</p:attrName>
                                        </p:attrNameLst>
                                      </p:cBhvr>
                                      <p:tavLst>
                                        <p:tav tm="0">
                                          <p:val>
                                            <p:strVal val="#ppt_y"/>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98"/>
                                        </p:tgtEl>
                                        <p:attrNameLst>
                                          <p:attrName>style.visibility</p:attrName>
                                        </p:attrNameLst>
                                      </p:cBhvr>
                                      <p:to>
                                        <p:strVal val="visible"/>
                                      </p:to>
                                    </p:set>
                                    <p:anim calcmode="lin" valueType="num">
                                      <p:cBhvr additive="base">
                                        <p:cTn id="45" dur="500" fill="hold"/>
                                        <p:tgtEl>
                                          <p:spTgt spid="98"/>
                                        </p:tgtEl>
                                        <p:attrNameLst>
                                          <p:attrName>ppt_x</p:attrName>
                                        </p:attrNameLst>
                                      </p:cBhvr>
                                      <p:tavLst>
                                        <p:tav tm="0">
                                          <p:val>
                                            <p:strVal val="#ppt_x"/>
                                          </p:val>
                                        </p:tav>
                                        <p:tav tm="100000">
                                          <p:val>
                                            <p:strVal val="#ppt_x"/>
                                          </p:val>
                                        </p:tav>
                                      </p:tavLst>
                                    </p:anim>
                                    <p:anim calcmode="lin" valueType="num">
                                      <p:cBhvr additive="base">
                                        <p:cTn id="46" dur="500" fill="hold"/>
                                        <p:tgtEl>
                                          <p:spTgt spid="98"/>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106"/>
                                        </p:tgtEl>
                                        <p:attrNameLst>
                                          <p:attrName>style.visibility</p:attrName>
                                        </p:attrNameLst>
                                      </p:cBhvr>
                                      <p:to>
                                        <p:strVal val="visible"/>
                                      </p:to>
                                    </p:set>
                                    <p:anim calcmode="lin" valueType="num">
                                      <p:cBhvr additive="base">
                                        <p:cTn id="49" dur="500" fill="hold"/>
                                        <p:tgtEl>
                                          <p:spTgt spid="106"/>
                                        </p:tgtEl>
                                        <p:attrNameLst>
                                          <p:attrName>ppt_x</p:attrName>
                                        </p:attrNameLst>
                                      </p:cBhvr>
                                      <p:tavLst>
                                        <p:tav tm="0">
                                          <p:val>
                                            <p:strVal val="#ppt_x"/>
                                          </p:val>
                                        </p:tav>
                                        <p:tav tm="100000">
                                          <p:val>
                                            <p:strVal val="#ppt_x"/>
                                          </p:val>
                                        </p:tav>
                                      </p:tavLst>
                                    </p:anim>
                                    <p:anim calcmode="lin" valueType="num">
                                      <p:cBhvr additive="base">
                                        <p:cTn id="50" dur="500" fill="hold"/>
                                        <p:tgtEl>
                                          <p:spTgt spid="106"/>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107"/>
                                        </p:tgtEl>
                                        <p:attrNameLst>
                                          <p:attrName>style.visibility</p:attrName>
                                        </p:attrNameLst>
                                      </p:cBhvr>
                                      <p:to>
                                        <p:strVal val="visible"/>
                                      </p:to>
                                    </p:set>
                                    <p:anim calcmode="lin" valueType="num">
                                      <p:cBhvr additive="base">
                                        <p:cTn id="53" dur="500" fill="hold"/>
                                        <p:tgtEl>
                                          <p:spTgt spid="107"/>
                                        </p:tgtEl>
                                        <p:attrNameLst>
                                          <p:attrName>ppt_x</p:attrName>
                                        </p:attrNameLst>
                                      </p:cBhvr>
                                      <p:tavLst>
                                        <p:tav tm="0">
                                          <p:val>
                                            <p:strVal val="#ppt_x"/>
                                          </p:val>
                                        </p:tav>
                                        <p:tav tm="100000">
                                          <p:val>
                                            <p:strVal val="#ppt_x"/>
                                          </p:val>
                                        </p:tav>
                                      </p:tavLst>
                                    </p:anim>
                                    <p:anim calcmode="lin" valueType="num">
                                      <p:cBhvr additive="base">
                                        <p:cTn id="54" dur="500" fill="hold"/>
                                        <p:tgtEl>
                                          <p:spTgt spid="107"/>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xit" presetSubtype="4" fill="hold" nodeType="clickEffect">
                                  <p:stCondLst>
                                    <p:cond delay="0"/>
                                  </p:stCondLst>
                                  <p:childTnLst>
                                    <p:anim calcmode="lin" valueType="num">
                                      <p:cBhvr additive="base">
                                        <p:cTn id="58" dur="500"/>
                                        <p:tgtEl>
                                          <p:spTgt spid="98"/>
                                        </p:tgtEl>
                                        <p:attrNameLst>
                                          <p:attrName>ppt_x</p:attrName>
                                        </p:attrNameLst>
                                      </p:cBhvr>
                                      <p:tavLst>
                                        <p:tav tm="0">
                                          <p:val>
                                            <p:strVal val="ppt_x"/>
                                          </p:val>
                                        </p:tav>
                                        <p:tav tm="100000">
                                          <p:val>
                                            <p:strVal val="ppt_x"/>
                                          </p:val>
                                        </p:tav>
                                      </p:tavLst>
                                    </p:anim>
                                    <p:anim calcmode="lin" valueType="num">
                                      <p:cBhvr additive="base">
                                        <p:cTn id="59" dur="500"/>
                                        <p:tgtEl>
                                          <p:spTgt spid="98"/>
                                        </p:tgtEl>
                                        <p:attrNameLst>
                                          <p:attrName>ppt_y</p:attrName>
                                        </p:attrNameLst>
                                      </p:cBhvr>
                                      <p:tavLst>
                                        <p:tav tm="0">
                                          <p:val>
                                            <p:strVal val="ppt_y"/>
                                          </p:val>
                                        </p:tav>
                                        <p:tav tm="100000">
                                          <p:val>
                                            <p:strVal val="1+ppt_h/2"/>
                                          </p:val>
                                        </p:tav>
                                      </p:tavLst>
                                    </p:anim>
                                    <p:set>
                                      <p:cBhvr>
                                        <p:cTn id="60" dur="1" fill="hold">
                                          <p:stCondLst>
                                            <p:cond delay="499"/>
                                          </p:stCondLst>
                                        </p:cTn>
                                        <p:tgtEl>
                                          <p:spTgt spid="98"/>
                                        </p:tgtEl>
                                        <p:attrNameLst>
                                          <p:attrName>style.visibility</p:attrName>
                                        </p:attrNameLst>
                                      </p:cBhvr>
                                      <p:to>
                                        <p:strVal val="hidden"/>
                                      </p:to>
                                    </p:set>
                                  </p:childTnLst>
                                </p:cTn>
                              </p:par>
                              <p:par>
                                <p:cTn id="61" presetID="2" presetClass="exit" presetSubtype="4" fill="hold" grpId="1" nodeType="withEffect">
                                  <p:stCondLst>
                                    <p:cond delay="0"/>
                                  </p:stCondLst>
                                  <p:childTnLst>
                                    <p:anim calcmode="lin" valueType="num">
                                      <p:cBhvr additive="base">
                                        <p:cTn id="62" dur="500"/>
                                        <p:tgtEl>
                                          <p:spTgt spid="106"/>
                                        </p:tgtEl>
                                        <p:attrNameLst>
                                          <p:attrName>ppt_x</p:attrName>
                                        </p:attrNameLst>
                                      </p:cBhvr>
                                      <p:tavLst>
                                        <p:tav tm="0">
                                          <p:val>
                                            <p:strVal val="ppt_x"/>
                                          </p:val>
                                        </p:tav>
                                        <p:tav tm="100000">
                                          <p:val>
                                            <p:strVal val="ppt_x"/>
                                          </p:val>
                                        </p:tav>
                                      </p:tavLst>
                                    </p:anim>
                                    <p:anim calcmode="lin" valueType="num">
                                      <p:cBhvr additive="base">
                                        <p:cTn id="63" dur="500"/>
                                        <p:tgtEl>
                                          <p:spTgt spid="106"/>
                                        </p:tgtEl>
                                        <p:attrNameLst>
                                          <p:attrName>ppt_y</p:attrName>
                                        </p:attrNameLst>
                                      </p:cBhvr>
                                      <p:tavLst>
                                        <p:tav tm="0">
                                          <p:val>
                                            <p:strVal val="ppt_y"/>
                                          </p:val>
                                        </p:tav>
                                        <p:tav tm="100000">
                                          <p:val>
                                            <p:strVal val="1+ppt_h/2"/>
                                          </p:val>
                                        </p:tav>
                                      </p:tavLst>
                                    </p:anim>
                                    <p:set>
                                      <p:cBhvr>
                                        <p:cTn id="64" dur="1" fill="hold">
                                          <p:stCondLst>
                                            <p:cond delay="499"/>
                                          </p:stCondLst>
                                        </p:cTn>
                                        <p:tgtEl>
                                          <p:spTgt spid="106"/>
                                        </p:tgtEl>
                                        <p:attrNameLst>
                                          <p:attrName>style.visibility</p:attrName>
                                        </p:attrNameLst>
                                      </p:cBhvr>
                                      <p:to>
                                        <p:strVal val="hidden"/>
                                      </p:to>
                                    </p:set>
                                  </p:childTnLst>
                                </p:cTn>
                              </p:par>
                              <p:par>
                                <p:cTn id="65" presetID="2" presetClass="exit" presetSubtype="4" fill="hold" grpId="1" nodeType="withEffect">
                                  <p:stCondLst>
                                    <p:cond delay="0"/>
                                  </p:stCondLst>
                                  <p:childTnLst>
                                    <p:anim calcmode="lin" valueType="num">
                                      <p:cBhvr additive="base">
                                        <p:cTn id="66" dur="500"/>
                                        <p:tgtEl>
                                          <p:spTgt spid="107"/>
                                        </p:tgtEl>
                                        <p:attrNameLst>
                                          <p:attrName>ppt_x</p:attrName>
                                        </p:attrNameLst>
                                      </p:cBhvr>
                                      <p:tavLst>
                                        <p:tav tm="0">
                                          <p:val>
                                            <p:strVal val="ppt_x"/>
                                          </p:val>
                                        </p:tav>
                                        <p:tav tm="100000">
                                          <p:val>
                                            <p:strVal val="ppt_x"/>
                                          </p:val>
                                        </p:tav>
                                      </p:tavLst>
                                    </p:anim>
                                    <p:anim calcmode="lin" valueType="num">
                                      <p:cBhvr additive="base">
                                        <p:cTn id="67" dur="500"/>
                                        <p:tgtEl>
                                          <p:spTgt spid="107"/>
                                        </p:tgtEl>
                                        <p:attrNameLst>
                                          <p:attrName>ppt_y</p:attrName>
                                        </p:attrNameLst>
                                      </p:cBhvr>
                                      <p:tavLst>
                                        <p:tav tm="0">
                                          <p:val>
                                            <p:strVal val="ppt_y"/>
                                          </p:val>
                                        </p:tav>
                                        <p:tav tm="100000">
                                          <p:val>
                                            <p:strVal val="1+ppt_h/2"/>
                                          </p:val>
                                        </p:tav>
                                      </p:tavLst>
                                    </p:anim>
                                    <p:set>
                                      <p:cBhvr>
                                        <p:cTn id="68" dur="1" fill="hold">
                                          <p:stCondLst>
                                            <p:cond delay="499"/>
                                          </p:stCondLst>
                                        </p:cTn>
                                        <p:tgtEl>
                                          <p:spTgt spid="107"/>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nodeType="clickEffect">
                                  <p:stCondLst>
                                    <p:cond delay="0"/>
                                  </p:stCondLst>
                                  <p:childTnLst>
                                    <p:set>
                                      <p:cBhvr>
                                        <p:cTn id="72" dur="1" fill="hold">
                                          <p:stCondLst>
                                            <p:cond delay="0"/>
                                          </p:stCondLst>
                                        </p:cTn>
                                        <p:tgtEl>
                                          <p:spTgt spid="108"/>
                                        </p:tgtEl>
                                        <p:attrNameLst>
                                          <p:attrName>style.visibility</p:attrName>
                                        </p:attrNameLst>
                                      </p:cBhvr>
                                      <p:to>
                                        <p:strVal val="visible"/>
                                      </p:to>
                                    </p:set>
                                    <p:anim calcmode="lin" valueType="num">
                                      <p:cBhvr additive="base">
                                        <p:cTn id="73" dur="500" fill="hold"/>
                                        <p:tgtEl>
                                          <p:spTgt spid="108"/>
                                        </p:tgtEl>
                                        <p:attrNameLst>
                                          <p:attrName>ppt_x</p:attrName>
                                        </p:attrNameLst>
                                      </p:cBhvr>
                                      <p:tavLst>
                                        <p:tav tm="0">
                                          <p:val>
                                            <p:strVal val="#ppt_x"/>
                                          </p:val>
                                        </p:tav>
                                        <p:tav tm="100000">
                                          <p:val>
                                            <p:strVal val="#ppt_x"/>
                                          </p:val>
                                        </p:tav>
                                      </p:tavLst>
                                    </p:anim>
                                    <p:anim calcmode="lin" valueType="num">
                                      <p:cBhvr additive="base">
                                        <p:cTn id="74" dur="500" fill="hold"/>
                                        <p:tgtEl>
                                          <p:spTgt spid="108"/>
                                        </p:tgtEl>
                                        <p:attrNameLst>
                                          <p:attrName>ppt_y</p:attrName>
                                        </p:attrNameLst>
                                      </p:cBhvr>
                                      <p:tavLst>
                                        <p:tav tm="0">
                                          <p:val>
                                            <p:strVal val="1+#ppt_h/2"/>
                                          </p:val>
                                        </p:tav>
                                        <p:tav tm="100000">
                                          <p:val>
                                            <p:strVal val="#ppt_y"/>
                                          </p:val>
                                        </p:tav>
                                      </p:tavLst>
                                    </p:anim>
                                  </p:childTnLst>
                                </p:cTn>
                              </p:par>
                              <p:par>
                                <p:cTn id="75" presetID="2" presetClass="entr" presetSubtype="4" fill="hold" grpId="0" nodeType="withEffect">
                                  <p:stCondLst>
                                    <p:cond delay="0"/>
                                  </p:stCondLst>
                                  <p:childTnLst>
                                    <p:set>
                                      <p:cBhvr>
                                        <p:cTn id="76" dur="1" fill="hold">
                                          <p:stCondLst>
                                            <p:cond delay="0"/>
                                          </p:stCondLst>
                                        </p:cTn>
                                        <p:tgtEl>
                                          <p:spTgt spid="116"/>
                                        </p:tgtEl>
                                        <p:attrNameLst>
                                          <p:attrName>style.visibility</p:attrName>
                                        </p:attrNameLst>
                                      </p:cBhvr>
                                      <p:to>
                                        <p:strVal val="visible"/>
                                      </p:to>
                                    </p:set>
                                    <p:anim calcmode="lin" valueType="num">
                                      <p:cBhvr additive="base">
                                        <p:cTn id="77" dur="500" fill="hold"/>
                                        <p:tgtEl>
                                          <p:spTgt spid="116"/>
                                        </p:tgtEl>
                                        <p:attrNameLst>
                                          <p:attrName>ppt_x</p:attrName>
                                        </p:attrNameLst>
                                      </p:cBhvr>
                                      <p:tavLst>
                                        <p:tav tm="0">
                                          <p:val>
                                            <p:strVal val="#ppt_x"/>
                                          </p:val>
                                        </p:tav>
                                        <p:tav tm="100000">
                                          <p:val>
                                            <p:strVal val="#ppt_x"/>
                                          </p:val>
                                        </p:tav>
                                      </p:tavLst>
                                    </p:anim>
                                    <p:anim calcmode="lin" valueType="num">
                                      <p:cBhvr additive="base">
                                        <p:cTn id="78" dur="500" fill="hold"/>
                                        <p:tgtEl>
                                          <p:spTgt spid="116"/>
                                        </p:tgtEl>
                                        <p:attrNameLst>
                                          <p:attrName>ppt_y</p:attrName>
                                        </p:attrNameLst>
                                      </p:cBhvr>
                                      <p:tavLst>
                                        <p:tav tm="0">
                                          <p:val>
                                            <p:strVal val="1+#ppt_h/2"/>
                                          </p:val>
                                        </p:tav>
                                        <p:tav tm="100000">
                                          <p:val>
                                            <p:strVal val="#ppt_y"/>
                                          </p:val>
                                        </p:tav>
                                      </p:tavLst>
                                    </p:anim>
                                  </p:childTnLst>
                                </p:cTn>
                              </p:par>
                              <p:par>
                                <p:cTn id="79" presetID="2" presetClass="entr" presetSubtype="4" fill="hold" grpId="0" nodeType="withEffect">
                                  <p:stCondLst>
                                    <p:cond delay="0"/>
                                  </p:stCondLst>
                                  <p:childTnLst>
                                    <p:set>
                                      <p:cBhvr>
                                        <p:cTn id="80" dur="1" fill="hold">
                                          <p:stCondLst>
                                            <p:cond delay="0"/>
                                          </p:stCondLst>
                                        </p:cTn>
                                        <p:tgtEl>
                                          <p:spTgt spid="117"/>
                                        </p:tgtEl>
                                        <p:attrNameLst>
                                          <p:attrName>style.visibility</p:attrName>
                                        </p:attrNameLst>
                                      </p:cBhvr>
                                      <p:to>
                                        <p:strVal val="visible"/>
                                      </p:to>
                                    </p:set>
                                    <p:anim calcmode="lin" valueType="num">
                                      <p:cBhvr additive="base">
                                        <p:cTn id="81" dur="500" fill="hold"/>
                                        <p:tgtEl>
                                          <p:spTgt spid="117"/>
                                        </p:tgtEl>
                                        <p:attrNameLst>
                                          <p:attrName>ppt_x</p:attrName>
                                        </p:attrNameLst>
                                      </p:cBhvr>
                                      <p:tavLst>
                                        <p:tav tm="0">
                                          <p:val>
                                            <p:strVal val="#ppt_x"/>
                                          </p:val>
                                        </p:tav>
                                        <p:tav tm="100000">
                                          <p:val>
                                            <p:strVal val="#ppt_x"/>
                                          </p:val>
                                        </p:tav>
                                      </p:tavLst>
                                    </p:anim>
                                    <p:anim calcmode="lin" valueType="num">
                                      <p:cBhvr additive="base">
                                        <p:cTn id="82" dur="500" fill="hold"/>
                                        <p:tgtEl>
                                          <p:spTgt spid="117"/>
                                        </p:tgtEl>
                                        <p:attrNameLst>
                                          <p:attrName>ppt_y</p:attrName>
                                        </p:attrNameLst>
                                      </p:cBhvr>
                                      <p:tavLst>
                                        <p:tav tm="0">
                                          <p:val>
                                            <p:strVal val="1+#ppt_h/2"/>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xit" presetSubtype="4" fill="hold" nodeType="clickEffect">
                                  <p:stCondLst>
                                    <p:cond delay="0"/>
                                  </p:stCondLst>
                                  <p:childTnLst>
                                    <p:anim calcmode="lin" valueType="num">
                                      <p:cBhvr additive="base">
                                        <p:cTn id="86" dur="500"/>
                                        <p:tgtEl>
                                          <p:spTgt spid="108"/>
                                        </p:tgtEl>
                                        <p:attrNameLst>
                                          <p:attrName>ppt_x</p:attrName>
                                        </p:attrNameLst>
                                      </p:cBhvr>
                                      <p:tavLst>
                                        <p:tav tm="0">
                                          <p:val>
                                            <p:strVal val="ppt_x"/>
                                          </p:val>
                                        </p:tav>
                                        <p:tav tm="100000">
                                          <p:val>
                                            <p:strVal val="ppt_x"/>
                                          </p:val>
                                        </p:tav>
                                      </p:tavLst>
                                    </p:anim>
                                    <p:anim calcmode="lin" valueType="num">
                                      <p:cBhvr additive="base">
                                        <p:cTn id="87" dur="500"/>
                                        <p:tgtEl>
                                          <p:spTgt spid="108"/>
                                        </p:tgtEl>
                                        <p:attrNameLst>
                                          <p:attrName>ppt_y</p:attrName>
                                        </p:attrNameLst>
                                      </p:cBhvr>
                                      <p:tavLst>
                                        <p:tav tm="0">
                                          <p:val>
                                            <p:strVal val="ppt_y"/>
                                          </p:val>
                                        </p:tav>
                                        <p:tav tm="100000">
                                          <p:val>
                                            <p:strVal val="1+ppt_h/2"/>
                                          </p:val>
                                        </p:tav>
                                      </p:tavLst>
                                    </p:anim>
                                    <p:set>
                                      <p:cBhvr>
                                        <p:cTn id="88" dur="1" fill="hold">
                                          <p:stCondLst>
                                            <p:cond delay="499"/>
                                          </p:stCondLst>
                                        </p:cTn>
                                        <p:tgtEl>
                                          <p:spTgt spid="108"/>
                                        </p:tgtEl>
                                        <p:attrNameLst>
                                          <p:attrName>style.visibility</p:attrName>
                                        </p:attrNameLst>
                                      </p:cBhvr>
                                      <p:to>
                                        <p:strVal val="hidden"/>
                                      </p:to>
                                    </p:set>
                                  </p:childTnLst>
                                </p:cTn>
                              </p:par>
                              <p:par>
                                <p:cTn id="89" presetID="2" presetClass="exit" presetSubtype="4" fill="hold" grpId="1" nodeType="withEffect">
                                  <p:stCondLst>
                                    <p:cond delay="0"/>
                                  </p:stCondLst>
                                  <p:childTnLst>
                                    <p:anim calcmode="lin" valueType="num">
                                      <p:cBhvr additive="base">
                                        <p:cTn id="90" dur="500"/>
                                        <p:tgtEl>
                                          <p:spTgt spid="116"/>
                                        </p:tgtEl>
                                        <p:attrNameLst>
                                          <p:attrName>ppt_x</p:attrName>
                                        </p:attrNameLst>
                                      </p:cBhvr>
                                      <p:tavLst>
                                        <p:tav tm="0">
                                          <p:val>
                                            <p:strVal val="ppt_x"/>
                                          </p:val>
                                        </p:tav>
                                        <p:tav tm="100000">
                                          <p:val>
                                            <p:strVal val="ppt_x"/>
                                          </p:val>
                                        </p:tav>
                                      </p:tavLst>
                                    </p:anim>
                                    <p:anim calcmode="lin" valueType="num">
                                      <p:cBhvr additive="base">
                                        <p:cTn id="91" dur="500"/>
                                        <p:tgtEl>
                                          <p:spTgt spid="116"/>
                                        </p:tgtEl>
                                        <p:attrNameLst>
                                          <p:attrName>ppt_y</p:attrName>
                                        </p:attrNameLst>
                                      </p:cBhvr>
                                      <p:tavLst>
                                        <p:tav tm="0">
                                          <p:val>
                                            <p:strVal val="ppt_y"/>
                                          </p:val>
                                        </p:tav>
                                        <p:tav tm="100000">
                                          <p:val>
                                            <p:strVal val="1+ppt_h/2"/>
                                          </p:val>
                                        </p:tav>
                                      </p:tavLst>
                                    </p:anim>
                                    <p:set>
                                      <p:cBhvr>
                                        <p:cTn id="92" dur="1" fill="hold">
                                          <p:stCondLst>
                                            <p:cond delay="499"/>
                                          </p:stCondLst>
                                        </p:cTn>
                                        <p:tgtEl>
                                          <p:spTgt spid="116"/>
                                        </p:tgtEl>
                                        <p:attrNameLst>
                                          <p:attrName>style.visibility</p:attrName>
                                        </p:attrNameLst>
                                      </p:cBhvr>
                                      <p:to>
                                        <p:strVal val="hidden"/>
                                      </p:to>
                                    </p:set>
                                  </p:childTnLst>
                                </p:cTn>
                              </p:par>
                              <p:par>
                                <p:cTn id="93" presetID="2" presetClass="exit" presetSubtype="4" fill="hold" grpId="1" nodeType="withEffect">
                                  <p:stCondLst>
                                    <p:cond delay="0"/>
                                  </p:stCondLst>
                                  <p:childTnLst>
                                    <p:anim calcmode="lin" valueType="num">
                                      <p:cBhvr additive="base">
                                        <p:cTn id="94" dur="500"/>
                                        <p:tgtEl>
                                          <p:spTgt spid="117"/>
                                        </p:tgtEl>
                                        <p:attrNameLst>
                                          <p:attrName>ppt_x</p:attrName>
                                        </p:attrNameLst>
                                      </p:cBhvr>
                                      <p:tavLst>
                                        <p:tav tm="0">
                                          <p:val>
                                            <p:strVal val="ppt_x"/>
                                          </p:val>
                                        </p:tav>
                                        <p:tav tm="100000">
                                          <p:val>
                                            <p:strVal val="ppt_x"/>
                                          </p:val>
                                        </p:tav>
                                      </p:tavLst>
                                    </p:anim>
                                    <p:anim calcmode="lin" valueType="num">
                                      <p:cBhvr additive="base">
                                        <p:cTn id="95" dur="500"/>
                                        <p:tgtEl>
                                          <p:spTgt spid="117"/>
                                        </p:tgtEl>
                                        <p:attrNameLst>
                                          <p:attrName>ppt_y</p:attrName>
                                        </p:attrNameLst>
                                      </p:cBhvr>
                                      <p:tavLst>
                                        <p:tav tm="0">
                                          <p:val>
                                            <p:strVal val="ppt_y"/>
                                          </p:val>
                                        </p:tav>
                                        <p:tav tm="100000">
                                          <p:val>
                                            <p:strVal val="1+ppt_h/2"/>
                                          </p:val>
                                        </p:tav>
                                      </p:tavLst>
                                    </p:anim>
                                    <p:set>
                                      <p:cBhvr>
                                        <p:cTn id="96" dur="1" fill="hold">
                                          <p:stCondLst>
                                            <p:cond delay="499"/>
                                          </p:stCondLst>
                                        </p:cTn>
                                        <p:tgtEl>
                                          <p:spTgt spid="1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 grpId="1" animBg="1"/>
      <p:bldP spid="79" grpId="1" animBg="1"/>
      <p:bldP spid="8" grpId="1"/>
      <p:bldP spid="9" grpId="1"/>
      <p:bldP spid="126" grpId="1"/>
      <p:bldP spid="127" grpId="1"/>
      <p:bldP spid="128" grpId="1"/>
      <p:bldP spid="129" grpId="1"/>
      <p:bldP spid="130" grpId="1"/>
      <p:bldP spid="131" grpId="1"/>
      <p:bldP spid="132" grpId="1"/>
      <p:bldP spid="133" grpId="1"/>
      <p:bldP spid="134" grpId="1"/>
      <p:bldP spid="135" grpId="1"/>
      <p:bldP spid="136" grpId="1"/>
      <p:bldP spid="137" grpId="1"/>
      <p:bldP spid="138" grpId="1"/>
      <p:bldP spid="143" grpId="1"/>
      <p:bldP spid="68" grpId="1"/>
      <p:bldP spid="10" grpId="1"/>
      <p:bldP spid="12" grpId="1"/>
      <p:bldP spid="63" grpId="1"/>
      <p:bldP spid="69" grpId="1"/>
      <p:bldP spid="70" grpId="1"/>
      <p:bldP spid="71" grpId="1"/>
      <p:bldP spid="72" grpId="1"/>
      <p:bldP spid="73" grpId="1"/>
      <p:bldP spid="76" grpId="1"/>
      <p:bldP spid="77" grpId="1"/>
      <p:bldP spid="78" grpId="1"/>
      <p:bldP spid="82" grpId="1"/>
      <p:bldP spid="83" grpId="1"/>
      <p:bldP spid="84" grpId="1"/>
      <p:bldP spid="85" grpId="1"/>
      <p:bldP spid="86" grpId="1"/>
      <p:bldP spid="89" grpId="1"/>
      <p:bldP spid="90" grpId="1"/>
      <p:bldP spid="91" grpId="1"/>
      <p:bldP spid="92" grpId="1"/>
      <p:bldP spid="102" grpId="1"/>
      <p:bldP spid="115" grpId="1"/>
      <p:bldP spid="140" grpId="1"/>
      <p:bldP spid="141" grpId="1"/>
      <p:bldP spid="144" grpId="1"/>
      <p:bldP spid="145" grpId="1"/>
      <p:bldP spid="146" grpId="1"/>
      <p:bldP spid="147" grpId="1"/>
      <p:bldP spid="148" grpId="1"/>
      <p:bldP spid="149" grpId="1"/>
      <p:bldP spid="150" grpId="1"/>
      <p:bldP spid="151" grpId="1"/>
      <p:bldP spid="152" grpId="1"/>
      <p:bldP spid="153" grpId="1"/>
      <p:bldP spid="154" grpId="1"/>
      <p:bldP spid="155" grpId="1"/>
      <p:bldP spid="156" grpId="1"/>
      <p:bldP spid="94" grpId="0"/>
      <p:bldP spid="95" grpId="0"/>
      <p:bldP spid="94" grpId="1"/>
      <p:bldP spid="95" grpId="1"/>
      <p:bldP spid="94" grpId="2"/>
      <p:bldP spid="95" grpId="2"/>
      <p:bldP spid="106" grpId="0"/>
      <p:bldP spid="107" grpId="0"/>
      <p:bldP spid="106" grpId="1"/>
      <p:bldP spid="107" grpId="1"/>
      <p:bldP spid="97" grpId="0"/>
      <p:bldP spid="97" grpId="1"/>
      <p:bldP spid="116" grpId="0"/>
      <p:bldP spid="117" grpId="0"/>
      <p:bldP spid="116" grpId="1"/>
      <p:bldP spid="117" grpId="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2" name="文本框 1"/>
          <p:cNvSpPr txBox="1"/>
          <p:nvPr/>
        </p:nvSpPr>
        <p:spPr>
          <a:xfrm>
            <a:off x="827405" y="1484630"/>
            <a:ext cx="7487920" cy="1293495"/>
          </a:xfrm>
          <a:prstGeom prst="rect">
            <a:avLst/>
          </a:prstGeom>
        </p:spPr>
        <p:txBody>
          <a:bodyPr>
            <a:noAutofit/>
          </a:bodyPr>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给定一个整数数组，找出一个具有最大和的连续子数组（子数组最少包含一个元素，并且子数组是连续的），返回其最大和。</a:t>
            </a:r>
            <a:endParaRPr lang="zh-CN" altLang="en-US" sz="1600" b="1">
              <a:latin typeface="Times New Roman" panose="02020603050405020304"/>
              <a:ea typeface="宋体" panose="02010600030101010101" pitchFamily="2" charset="-122"/>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示例</a:t>
            </a:r>
            <a:r>
              <a:rPr lang="en-US" altLang="zh-CN" sz="1600" b="1">
                <a:latin typeface="Times New Roman" panose="02020603050405020304"/>
                <a:ea typeface="Times New Roman" panose="02020603050405020304"/>
              </a:rPr>
              <a:t>1</a:t>
            </a:r>
            <a:r>
              <a:rPr lang="zh-CN" altLang="en-US" sz="1600" b="1">
                <a:latin typeface="Times New Roman" panose="02020603050405020304"/>
                <a:ea typeface="宋体" panose="02010600030101010101" pitchFamily="2" charset="-122"/>
              </a:rPr>
              <a:t>：</a:t>
            </a:r>
            <a:endParaRPr lang="zh-CN" altLang="en-US" sz="1600" b="1">
              <a:latin typeface="Times New Roman" panose="02020603050405020304"/>
              <a:ea typeface="宋体" panose="02010600030101010101" pitchFamily="2" charset="-122"/>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输入：</a:t>
            </a:r>
            <a:r>
              <a:rPr lang="en-US" altLang="zh-CN" sz="1600" b="1">
                <a:latin typeface="Times New Roman" panose="02020603050405020304"/>
                <a:ea typeface="Times New Roman" panose="02020603050405020304"/>
              </a:rPr>
              <a:t>arr = [13,-3,-25,20,-3,-16,-23,18,20,-7,12,-5,-22,15,-4,7]</a:t>
            </a:r>
            <a:endParaRPr lang="en-US" altLang="zh-CN" sz="1600" b="1">
              <a:latin typeface="Times New Roman" panose="02020603050405020304"/>
              <a:ea typeface="Times New Roman" panose="02020603050405020304"/>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输出：</a:t>
            </a:r>
            <a:r>
              <a:rPr lang="en-US" altLang="zh-CN" sz="1600" b="1">
                <a:latin typeface="Times New Roman" panose="02020603050405020304"/>
                <a:ea typeface="Times New Roman" panose="02020603050405020304"/>
              </a:rPr>
              <a:t>43</a:t>
            </a:r>
            <a:endParaRPr lang="en-US" altLang="zh-CN" sz="1600" b="1">
              <a:latin typeface="Times New Roman" panose="02020603050405020304"/>
              <a:ea typeface="Times New Roman" panose="02020603050405020304"/>
            </a:endParaRPr>
          </a:p>
        </p:txBody>
      </p:sp>
      <p:sp>
        <p:nvSpPr>
          <p:cNvPr id="66" name="文本框 65"/>
          <p:cNvSpPr txBox="1"/>
          <p:nvPr/>
        </p:nvSpPr>
        <p:spPr>
          <a:xfrm>
            <a:off x="899795" y="2996565"/>
            <a:ext cx="5318125" cy="311150"/>
          </a:xfrm>
          <a:prstGeom prst="rect">
            <a:avLst/>
          </a:prstGeom>
          <a:noFill/>
        </p:spPr>
        <p:txBody>
          <a:bodyPr wrap="square" rtlCol="0">
            <a:noAutofit/>
          </a:bodyPr>
          <a:p>
            <a:r>
              <a:rPr lang="zh-CN" altLang="en-US"/>
              <a:t>如何将利用动态规划解决该</a:t>
            </a:r>
            <a:r>
              <a:rPr lang="zh-CN" altLang="en-US"/>
              <a:t>问题？</a:t>
            </a:r>
            <a:endParaRPr lang="zh-CN" altLang="en-US"/>
          </a:p>
        </p:txBody>
      </p:sp>
      <p:sp>
        <p:nvSpPr>
          <p:cNvPr id="119" name="文本框 118"/>
          <p:cNvSpPr txBox="1"/>
          <p:nvPr/>
        </p:nvSpPr>
        <p:spPr>
          <a:xfrm>
            <a:off x="971550" y="3717290"/>
            <a:ext cx="7498080" cy="1753235"/>
          </a:xfrm>
          <a:prstGeom prst="rect">
            <a:avLst/>
          </a:prstGeom>
          <a:noFill/>
        </p:spPr>
        <p:txBody>
          <a:bodyPr wrap="square" rtlCol="0" anchor="t">
            <a:spAutoFit/>
          </a:bodyPr>
          <a:p>
            <a:r>
              <a:rPr lang="en-US" altLang="zh-CN">
                <a:latin typeface="Times New Roman" panose="02020603050405020304" pitchFamily="18" charset="0"/>
                <a:cs typeface="Times New Roman" panose="02020603050405020304" pitchFamily="18" charset="0"/>
              </a:rPr>
              <a:t>def maxSubArray(nums: list) -&gt; int: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r>
              <a:rPr lang="en-US" altLang="zh-CN">
                <a:solidFill>
                  <a:srgbClr val="FF0000"/>
                </a:solidFill>
                <a:latin typeface="Times New Roman" panose="02020603050405020304" pitchFamily="18" charset="0"/>
                <a:cs typeface="Times New Roman" panose="02020603050405020304" pitchFamily="18" charset="0"/>
              </a:rPr>
              <a:t>current_max = [0] * len(nums)</a:t>
            </a:r>
            <a:endParaRPr lang="en-US" altLang="zh-CN">
              <a:solidFill>
                <a:srgbClr val="FF0000"/>
              </a:solidFill>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current_max[0] = nums[0]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 in range(1,len(nums)):</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current_max[i] = max(nums[i],current_max[i-1]+nums[i])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max(current_max)</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2" name="文本框 1"/>
          <p:cNvSpPr txBox="1"/>
          <p:nvPr/>
        </p:nvSpPr>
        <p:spPr>
          <a:xfrm>
            <a:off x="827405" y="1484630"/>
            <a:ext cx="7487920" cy="1293495"/>
          </a:xfrm>
          <a:prstGeom prst="rect">
            <a:avLst/>
          </a:prstGeom>
        </p:spPr>
        <p:txBody>
          <a:bodyPr>
            <a:noAutofit/>
          </a:bodyPr>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给定一个整数数组，找出一个具有最大和的连续子数组（子数组最少包含一个元素，并且子数组是连续的），返回其最大和。</a:t>
            </a:r>
            <a:endParaRPr lang="zh-CN" altLang="en-US" sz="1600" b="1">
              <a:latin typeface="Times New Roman" panose="02020603050405020304"/>
              <a:ea typeface="宋体" panose="02010600030101010101" pitchFamily="2" charset="-122"/>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示例</a:t>
            </a:r>
            <a:r>
              <a:rPr lang="en-US" altLang="zh-CN" sz="1600" b="1">
                <a:latin typeface="Times New Roman" panose="02020603050405020304"/>
                <a:ea typeface="Times New Roman" panose="02020603050405020304"/>
              </a:rPr>
              <a:t>1</a:t>
            </a:r>
            <a:r>
              <a:rPr lang="zh-CN" altLang="en-US" sz="1600" b="1">
                <a:latin typeface="Times New Roman" panose="02020603050405020304"/>
                <a:ea typeface="宋体" panose="02010600030101010101" pitchFamily="2" charset="-122"/>
              </a:rPr>
              <a:t>：</a:t>
            </a:r>
            <a:endParaRPr lang="zh-CN" altLang="en-US" sz="1600" b="1">
              <a:latin typeface="Times New Roman" panose="02020603050405020304"/>
              <a:ea typeface="宋体" panose="02010600030101010101" pitchFamily="2" charset="-122"/>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输入：</a:t>
            </a:r>
            <a:r>
              <a:rPr lang="en-US" altLang="zh-CN" sz="1600" b="1">
                <a:latin typeface="Times New Roman" panose="02020603050405020304"/>
                <a:ea typeface="Times New Roman" panose="02020603050405020304"/>
              </a:rPr>
              <a:t>arr = [13,-3,-25,20,-3,-16,-23,18,20,-7,12,-5,-22,15,-4,7]</a:t>
            </a:r>
            <a:endParaRPr lang="en-US" altLang="zh-CN" sz="1600" b="1">
              <a:latin typeface="Times New Roman" panose="02020603050405020304"/>
              <a:ea typeface="Times New Roman" panose="02020603050405020304"/>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输出：</a:t>
            </a:r>
            <a:r>
              <a:rPr lang="en-US" altLang="zh-CN" sz="1600" b="1">
                <a:latin typeface="Times New Roman" panose="02020603050405020304"/>
                <a:ea typeface="Times New Roman" panose="02020603050405020304"/>
              </a:rPr>
              <a:t>43</a:t>
            </a:r>
            <a:endParaRPr lang="en-US" altLang="zh-CN" sz="1600" b="1">
              <a:latin typeface="Times New Roman" panose="02020603050405020304"/>
              <a:ea typeface="Times New Roman" panose="02020603050405020304"/>
            </a:endParaRPr>
          </a:p>
        </p:txBody>
      </p:sp>
      <p:sp>
        <p:nvSpPr>
          <p:cNvPr id="66" name="文本框 65"/>
          <p:cNvSpPr txBox="1"/>
          <p:nvPr/>
        </p:nvSpPr>
        <p:spPr>
          <a:xfrm>
            <a:off x="899795" y="2996565"/>
            <a:ext cx="5318125" cy="311150"/>
          </a:xfrm>
          <a:prstGeom prst="rect">
            <a:avLst/>
          </a:prstGeom>
          <a:noFill/>
        </p:spPr>
        <p:txBody>
          <a:bodyPr wrap="square" rtlCol="0">
            <a:noAutofit/>
          </a:bodyPr>
          <a:p>
            <a:r>
              <a:rPr lang="zh-CN" altLang="en-US"/>
              <a:t>可以直接用两个变量，省略一个</a:t>
            </a:r>
            <a:r>
              <a:rPr lang="zh-CN" altLang="en-US"/>
              <a:t>数组。</a:t>
            </a:r>
            <a:endParaRPr lang="zh-CN" altLang="en-US"/>
          </a:p>
        </p:txBody>
      </p:sp>
      <p:sp>
        <p:nvSpPr>
          <p:cNvPr id="80" name="文本框 79"/>
          <p:cNvSpPr txBox="1"/>
          <p:nvPr/>
        </p:nvSpPr>
        <p:spPr>
          <a:xfrm>
            <a:off x="899795" y="3526155"/>
            <a:ext cx="6981190" cy="24320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class Solution:</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def maxSubArray(self, nums: list) -&gt; int: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current_max = nums[0]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global_max = nums[0]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 in range(1,len(nums)):</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current_max = max(nums[i],current_max+nums[i])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global_max = max(global_max,current_max)</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global_max</a:t>
            </a:r>
            <a:endParaRPr lang="en-US" altLang="zh-CN">
              <a:latin typeface="Times New Roman" panose="02020603050405020304" pitchFamily="18" charset="0"/>
              <a:cs typeface="Times New Roman" panose="02020603050405020304" pitchFamily="18" charset="0"/>
            </a:endParaRPr>
          </a:p>
        </p:txBody>
      </p:sp>
      <p:sp>
        <p:nvSpPr>
          <p:cNvPr id="5" name="文本框 4"/>
          <p:cNvSpPr txBox="1"/>
          <p:nvPr/>
        </p:nvSpPr>
        <p:spPr>
          <a:xfrm>
            <a:off x="899795" y="6165215"/>
            <a:ext cx="5318125" cy="311150"/>
          </a:xfrm>
          <a:prstGeom prst="rect">
            <a:avLst/>
          </a:prstGeom>
          <a:noFill/>
        </p:spPr>
        <p:txBody>
          <a:bodyPr wrap="square" rtlCol="0">
            <a:noAutofit/>
          </a:bodyPr>
          <a:p>
            <a:r>
              <a:rPr lang="zh-CN" altLang="en-US"/>
              <a:t>那么背包问题是否可以把数组空间压缩</a:t>
            </a:r>
            <a:r>
              <a:rPr lang="zh-CN" altLang="en-US"/>
              <a:t>呢？</a:t>
            </a:r>
            <a:endParaRPr lang="zh-CN" altLang="en-US"/>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54" name="文本框 53"/>
          <p:cNvSpPr txBox="1"/>
          <p:nvPr/>
        </p:nvSpPr>
        <p:spPr>
          <a:xfrm>
            <a:off x="468179" y="1412399"/>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完全背包问题的空间</a:t>
            </a:r>
            <a:r>
              <a:rPr kumimoji="1" lang="zh-CN" altLang="en-US" sz="2200">
                <a:solidFill>
                  <a:srgbClr val="080808"/>
                </a:solidFill>
                <a:uFillTx/>
                <a:latin typeface="Times New Roman" panose="02020603050405020304" pitchFamily="18" charset="0"/>
              </a:rPr>
              <a:t>压缩：</a:t>
            </a:r>
            <a:endParaRPr kumimoji="1" lang="zh-CN" altLang="en-US" sz="2200">
              <a:solidFill>
                <a:srgbClr val="080808"/>
              </a:solidFill>
              <a:uFillTx/>
              <a:latin typeface="Times New Roman" panose="02020603050405020304" pitchFamily="18" charset="0"/>
            </a:endParaRPr>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cxnSp>
        <p:nvCxnSpPr>
          <p:cNvPr id="96" name="直接箭头连接符 95"/>
          <p:cNvCxnSpPr/>
          <p:nvPr/>
        </p:nvCxnSpPr>
        <p:spPr>
          <a:xfrm flipV="1">
            <a:off x="6681470" y="3133090"/>
            <a:ext cx="1525905" cy="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97" name="文本框 96"/>
          <p:cNvSpPr txBox="1"/>
          <p:nvPr/>
        </p:nvSpPr>
        <p:spPr>
          <a:xfrm>
            <a:off x="8225790" y="2780665"/>
            <a:ext cx="854075" cy="647065"/>
          </a:xfrm>
          <a:prstGeom prst="rect">
            <a:avLst/>
          </a:prstGeom>
          <a:noFill/>
        </p:spPr>
        <p:txBody>
          <a:bodyPr wrap="square" rtlCol="0">
            <a:noAutofit/>
          </a:bodyPr>
          <a:p>
            <a:r>
              <a:rPr lang="zh-CN" altLang="en-US"/>
              <a:t>更新</a:t>
            </a:r>
            <a:r>
              <a:rPr lang="zh-CN" altLang="en-US"/>
              <a:t>方向</a:t>
            </a:r>
            <a:endParaRPr lang="zh-CN" altLang="en-US"/>
          </a:p>
        </p:txBody>
      </p:sp>
      <p:grpSp>
        <p:nvGrpSpPr>
          <p:cNvPr id="2" name="组合 1"/>
          <p:cNvGrpSpPr/>
          <p:nvPr/>
        </p:nvGrpSpPr>
        <p:grpSpPr>
          <a:xfrm>
            <a:off x="683434" y="4652536"/>
            <a:ext cx="6120679" cy="888932"/>
            <a:chOff x="755576" y="2566065"/>
            <a:chExt cx="6120679" cy="888932"/>
          </a:xfrm>
        </p:grpSpPr>
        <p:sp>
          <p:nvSpPr>
            <p:cNvPr id="66" name="文本框 65"/>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80" name="文本框 79"/>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18" name="文本框 117"/>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a:t>
              </a:r>
              <a:r>
                <a:rPr lang="en-US" altLang="zh-CN" b="1">
                  <a:solidFill>
                    <a:srgbClr val="FF0000"/>
                  </a:solidFill>
                  <a:latin typeface="Times New Roman" panose="02020603050405020304" pitchFamily="18" charset="0"/>
                  <a:cs typeface="Times New Roman" panose="02020603050405020304" pitchFamily="18" charset="0"/>
                </a:rPr>
                <a:t>i</a:t>
              </a:r>
              <a:r>
                <a:rPr lang="en-US" altLang="zh-CN" b="1">
                  <a:latin typeface="Times New Roman" panose="02020603050405020304" pitchFamily="18" charset="0"/>
                  <a:cs typeface="Times New Roman" panose="02020603050405020304" pitchFamily="18" charset="0"/>
                </a:rPr>
                <a:t>][j-w[i]]+c[i],dp[i-1][j])</a:t>
              </a:r>
              <a:endParaRPr lang="zh-CN" altLang="en-US" b="1">
                <a:latin typeface="Times New Roman" panose="02020603050405020304" pitchFamily="18" charset="0"/>
                <a:cs typeface="Times New Roman" panose="02020603050405020304" pitchFamily="18" charset="0"/>
              </a:endParaRPr>
            </a:p>
          </p:txBody>
        </p:sp>
        <p:pic>
          <p:nvPicPr>
            <p:cNvPr id="119" name="图片 118"/>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20" name="文本框 119"/>
          <p:cNvSpPr txBox="1"/>
          <p:nvPr/>
        </p:nvSpPr>
        <p:spPr>
          <a:xfrm>
            <a:off x="4477301" y="4652536"/>
            <a:ext cx="216024" cy="369332"/>
          </a:xfrm>
          <a:prstGeom prst="rect">
            <a:avLst/>
          </a:prstGeom>
          <a:noFill/>
        </p:spPr>
        <p:txBody>
          <a:bodyPr wrap="square" rtlCol="0">
            <a:spAutoFit/>
          </a:bodyPr>
          <a:lstStyle/>
          <a:p>
            <a:r>
              <a:rPr lang="zh-CN" altLang="en-US"/>
              <a:t>①</a:t>
            </a:r>
            <a:endParaRPr lang="zh-CN" altLang="en-US"/>
          </a:p>
        </p:txBody>
      </p:sp>
      <p:sp>
        <p:nvSpPr>
          <p:cNvPr id="121" name="文本框 120"/>
          <p:cNvSpPr txBox="1"/>
          <p:nvPr/>
        </p:nvSpPr>
        <p:spPr>
          <a:xfrm>
            <a:off x="6731634" y="5168144"/>
            <a:ext cx="432519" cy="369332"/>
          </a:xfrm>
          <a:prstGeom prst="rect">
            <a:avLst/>
          </a:prstGeom>
          <a:noFill/>
        </p:spPr>
        <p:txBody>
          <a:bodyPr wrap="square" rtlCol="0">
            <a:spAutoFit/>
          </a:bodyPr>
          <a:lstStyle/>
          <a:p>
            <a:r>
              <a:rPr lang="zh-CN" altLang="en-US"/>
              <a:t>②</a:t>
            </a:r>
            <a:endParaRPr lang="zh-CN" altLang="en-US"/>
          </a:p>
        </p:txBody>
      </p:sp>
      <p:graphicFrame>
        <p:nvGraphicFramePr>
          <p:cNvPr id="122" name="表格 121"/>
          <p:cNvGraphicFramePr>
            <a:graphicFrameLocks noGrp="1"/>
          </p:cNvGraphicFramePr>
          <p:nvPr/>
        </p:nvGraphicFramePr>
        <p:xfrm>
          <a:off x="1187624" y="206088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grpSp>
        <p:nvGrpSpPr>
          <p:cNvPr id="139" name="组合 138"/>
          <p:cNvGrpSpPr/>
          <p:nvPr/>
        </p:nvGrpSpPr>
        <p:grpSpPr>
          <a:xfrm>
            <a:off x="683434" y="4643011"/>
            <a:ext cx="6120679" cy="888932"/>
            <a:chOff x="755576" y="2566065"/>
            <a:chExt cx="6120679" cy="888932"/>
          </a:xfrm>
        </p:grpSpPr>
        <p:sp>
          <p:nvSpPr>
            <p:cNvPr id="142" name="文本框 141"/>
            <p:cNvSpPr txBox="1"/>
            <p:nvPr/>
          </p:nvSpPr>
          <p:spPr>
            <a:xfrm>
              <a:off x="755576" y="2852936"/>
              <a:ext cx="2520280"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dp[j] = </a:t>
              </a:r>
              <a:endParaRPr lang="zh-CN" altLang="en-US" b="1">
                <a:latin typeface="Times New Roman" panose="02020603050405020304" pitchFamily="18" charset="0"/>
                <a:cs typeface="Times New Roman" panose="02020603050405020304" pitchFamily="18" charset="0"/>
              </a:endParaRPr>
            </a:p>
          </p:txBody>
        </p:sp>
        <p:sp>
          <p:nvSpPr>
            <p:cNvPr id="157" name="文本框 156"/>
            <p:cNvSpPr txBox="1"/>
            <p:nvPr/>
          </p:nvSpPr>
          <p:spPr>
            <a:xfrm>
              <a:off x="2029963" y="2566065"/>
              <a:ext cx="2520280"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dp[j]</a:t>
              </a:r>
              <a:endParaRPr lang="zh-CN" altLang="en-US" b="1">
                <a:latin typeface="Times New Roman" panose="02020603050405020304" pitchFamily="18" charset="0"/>
                <a:cs typeface="Times New Roman" panose="02020603050405020304" pitchFamily="18" charset="0"/>
              </a:endParaRPr>
            </a:p>
          </p:txBody>
        </p:sp>
        <p:sp>
          <p:nvSpPr>
            <p:cNvPr id="158" name="文本框 157"/>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max(dp[j-w[i]]+c[i],dp[j])</a:t>
              </a:r>
              <a:endParaRPr lang="zh-CN" altLang="en-US" b="1">
                <a:latin typeface="Times New Roman" panose="02020603050405020304" pitchFamily="18" charset="0"/>
                <a:cs typeface="Times New Roman" panose="02020603050405020304" pitchFamily="18" charset="0"/>
              </a:endParaRPr>
            </a:p>
          </p:txBody>
        </p:sp>
        <p:pic>
          <p:nvPicPr>
            <p:cNvPr id="159" name="图片 158"/>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60" name="文本框 159"/>
          <p:cNvSpPr txBox="1"/>
          <p:nvPr/>
        </p:nvSpPr>
        <p:spPr>
          <a:xfrm>
            <a:off x="4477301" y="4643011"/>
            <a:ext cx="216024" cy="369332"/>
          </a:xfrm>
          <a:prstGeom prst="rect">
            <a:avLst/>
          </a:prstGeom>
          <a:noFill/>
        </p:spPr>
        <p:txBody>
          <a:bodyPr wrap="square" rtlCol="0">
            <a:spAutoFit/>
          </a:bodyPr>
          <a:lstStyle/>
          <a:p>
            <a:r>
              <a:rPr lang="zh-CN" altLang="en-US"/>
              <a:t>①</a:t>
            </a:r>
            <a:endParaRPr lang="zh-CN" altLang="en-US"/>
          </a:p>
        </p:txBody>
      </p:sp>
      <p:sp>
        <p:nvSpPr>
          <p:cNvPr id="161" name="文本框 160"/>
          <p:cNvSpPr txBox="1"/>
          <p:nvPr/>
        </p:nvSpPr>
        <p:spPr>
          <a:xfrm>
            <a:off x="6731634" y="5158619"/>
            <a:ext cx="432519" cy="369332"/>
          </a:xfrm>
          <a:prstGeom prst="rect">
            <a:avLst/>
          </a:prstGeom>
          <a:noFill/>
        </p:spPr>
        <p:txBody>
          <a:bodyPr wrap="square" rtlCol="0">
            <a:spAutoFit/>
          </a:bodyPr>
          <a:lstStyle/>
          <a:p>
            <a:r>
              <a:rPr lang="zh-CN" altLang="en-US"/>
              <a:t>②</a:t>
            </a:r>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96"/>
                                        </p:tgtEl>
                                        <p:attrNameLst>
                                          <p:attrName>style.visibility</p:attrName>
                                        </p:attrNameLst>
                                      </p:cBhvr>
                                      <p:to>
                                        <p:strVal val="visible"/>
                                      </p:to>
                                    </p:set>
                                    <p:anim calcmode="lin" valueType="num">
                                      <p:cBhvr additive="base">
                                        <p:cTn id="7" dur="500" fill="hold"/>
                                        <p:tgtEl>
                                          <p:spTgt spid="96"/>
                                        </p:tgtEl>
                                        <p:attrNameLst>
                                          <p:attrName>ppt_x</p:attrName>
                                        </p:attrNameLst>
                                      </p:cBhvr>
                                      <p:tavLst>
                                        <p:tav tm="0">
                                          <p:val>
                                            <p:strVal val="1+#ppt_w/2"/>
                                          </p:val>
                                        </p:tav>
                                        <p:tav tm="100000">
                                          <p:val>
                                            <p:strVal val="#ppt_x"/>
                                          </p:val>
                                        </p:tav>
                                      </p:tavLst>
                                    </p:anim>
                                    <p:anim calcmode="lin" valueType="num">
                                      <p:cBhvr additive="base">
                                        <p:cTn id="8" dur="500" fill="hold"/>
                                        <p:tgtEl>
                                          <p:spTgt spid="96"/>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97"/>
                                        </p:tgtEl>
                                        <p:attrNameLst>
                                          <p:attrName>style.visibility</p:attrName>
                                        </p:attrNameLst>
                                      </p:cBhvr>
                                      <p:to>
                                        <p:strVal val="visible"/>
                                      </p:to>
                                    </p:set>
                                    <p:anim calcmode="lin" valueType="num">
                                      <p:cBhvr additive="base">
                                        <p:cTn id="11" dur="500" fill="hold"/>
                                        <p:tgtEl>
                                          <p:spTgt spid="97"/>
                                        </p:tgtEl>
                                        <p:attrNameLst>
                                          <p:attrName>ppt_x</p:attrName>
                                        </p:attrNameLst>
                                      </p:cBhvr>
                                      <p:tavLst>
                                        <p:tav tm="0">
                                          <p:val>
                                            <p:strVal val="1+#ppt_w/2"/>
                                          </p:val>
                                        </p:tav>
                                        <p:tav tm="100000">
                                          <p:val>
                                            <p:strVal val="#ppt_x"/>
                                          </p:val>
                                        </p:tav>
                                      </p:tavLst>
                                    </p:anim>
                                    <p:anim calcmode="lin" valueType="num">
                                      <p:cBhvr additive="base">
                                        <p:cTn id="12" dur="500" fill="hold"/>
                                        <p:tgtEl>
                                          <p:spTgt spid="97"/>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additive="base">
                                        <p:cTn id="17" dur="500" fill="hold"/>
                                        <p:tgtEl>
                                          <p:spTgt spid="2"/>
                                        </p:tgtEl>
                                        <p:attrNameLst>
                                          <p:attrName>ppt_x</p:attrName>
                                        </p:attrNameLst>
                                      </p:cBhvr>
                                      <p:tavLst>
                                        <p:tav tm="0">
                                          <p:val>
                                            <p:strVal val="#ppt_x"/>
                                          </p:val>
                                        </p:tav>
                                        <p:tav tm="100000">
                                          <p:val>
                                            <p:strVal val="#ppt_x"/>
                                          </p:val>
                                        </p:tav>
                                      </p:tavLst>
                                    </p:anim>
                                    <p:anim calcmode="lin" valueType="num">
                                      <p:cBhvr additive="base">
                                        <p:cTn id="18" dur="500" fill="hold"/>
                                        <p:tgtEl>
                                          <p:spTgt spid="2"/>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20"/>
                                        </p:tgtEl>
                                        <p:attrNameLst>
                                          <p:attrName>style.visibility</p:attrName>
                                        </p:attrNameLst>
                                      </p:cBhvr>
                                      <p:to>
                                        <p:strVal val="visible"/>
                                      </p:to>
                                    </p:set>
                                    <p:anim calcmode="lin" valueType="num">
                                      <p:cBhvr additive="base">
                                        <p:cTn id="21" dur="500" fill="hold"/>
                                        <p:tgtEl>
                                          <p:spTgt spid="120"/>
                                        </p:tgtEl>
                                        <p:attrNameLst>
                                          <p:attrName>ppt_x</p:attrName>
                                        </p:attrNameLst>
                                      </p:cBhvr>
                                      <p:tavLst>
                                        <p:tav tm="0">
                                          <p:val>
                                            <p:strVal val="#ppt_x"/>
                                          </p:val>
                                        </p:tav>
                                        <p:tav tm="100000">
                                          <p:val>
                                            <p:strVal val="#ppt_x"/>
                                          </p:val>
                                        </p:tav>
                                      </p:tavLst>
                                    </p:anim>
                                    <p:anim calcmode="lin" valueType="num">
                                      <p:cBhvr additive="base">
                                        <p:cTn id="22" dur="500" fill="hold"/>
                                        <p:tgtEl>
                                          <p:spTgt spid="120"/>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121"/>
                                        </p:tgtEl>
                                        <p:attrNameLst>
                                          <p:attrName>style.visibility</p:attrName>
                                        </p:attrNameLst>
                                      </p:cBhvr>
                                      <p:to>
                                        <p:strVal val="visible"/>
                                      </p:to>
                                    </p:set>
                                    <p:anim calcmode="lin" valueType="num">
                                      <p:cBhvr additive="base">
                                        <p:cTn id="25" dur="500" fill="hold"/>
                                        <p:tgtEl>
                                          <p:spTgt spid="121"/>
                                        </p:tgtEl>
                                        <p:attrNameLst>
                                          <p:attrName>ppt_x</p:attrName>
                                        </p:attrNameLst>
                                      </p:cBhvr>
                                      <p:tavLst>
                                        <p:tav tm="0">
                                          <p:val>
                                            <p:strVal val="#ppt_x"/>
                                          </p:val>
                                        </p:tav>
                                        <p:tav tm="100000">
                                          <p:val>
                                            <p:strVal val="#ppt_x"/>
                                          </p:val>
                                        </p:tav>
                                      </p:tavLst>
                                    </p:anim>
                                    <p:anim calcmode="lin" valueType="num">
                                      <p:cBhvr additive="base">
                                        <p:cTn id="26" dur="500" fill="hold"/>
                                        <p:tgtEl>
                                          <p:spTgt spid="121"/>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xit" presetSubtype="4" fill="hold" nodeType="clickEffect">
                                  <p:stCondLst>
                                    <p:cond delay="0"/>
                                  </p:stCondLst>
                                  <p:childTnLst>
                                    <p:anim calcmode="lin" valueType="num">
                                      <p:cBhvr additive="base">
                                        <p:cTn id="30" dur="500"/>
                                        <p:tgtEl>
                                          <p:spTgt spid="2"/>
                                        </p:tgtEl>
                                        <p:attrNameLst>
                                          <p:attrName>ppt_x</p:attrName>
                                        </p:attrNameLst>
                                      </p:cBhvr>
                                      <p:tavLst>
                                        <p:tav tm="0">
                                          <p:val>
                                            <p:strVal val="ppt_x"/>
                                          </p:val>
                                        </p:tav>
                                        <p:tav tm="100000">
                                          <p:val>
                                            <p:strVal val="ppt_x"/>
                                          </p:val>
                                        </p:tav>
                                      </p:tavLst>
                                    </p:anim>
                                    <p:anim calcmode="lin" valueType="num">
                                      <p:cBhvr additive="base">
                                        <p:cTn id="31" dur="500"/>
                                        <p:tgtEl>
                                          <p:spTgt spid="2"/>
                                        </p:tgtEl>
                                        <p:attrNameLst>
                                          <p:attrName>ppt_y</p:attrName>
                                        </p:attrNameLst>
                                      </p:cBhvr>
                                      <p:tavLst>
                                        <p:tav tm="0">
                                          <p:val>
                                            <p:strVal val="ppt_y"/>
                                          </p:val>
                                        </p:tav>
                                        <p:tav tm="100000">
                                          <p:val>
                                            <p:strVal val="1+ppt_h/2"/>
                                          </p:val>
                                        </p:tav>
                                      </p:tavLst>
                                    </p:anim>
                                    <p:set>
                                      <p:cBhvr>
                                        <p:cTn id="32" dur="1" fill="hold">
                                          <p:stCondLst>
                                            <p:cond delay="499"/>
                                          </p:stCondLst>
                                        </p:cTn>
                                        <p:tgtEl>
                                          <p:spTgt spid="2"/>
                                        </p:tgtEl>
                                        <p:attrNameLst>
                                          <p:attrName>style.visibility</p:attrName>
                                        </p:attrNameLst>
                                      </p:cBhvr>
                                      <p:to>
                                        <p:strVal val="hidden"/>
                                      </p:to>
                                    </p:set>
                                  </p:childTnLst>
                                </p:cTn>
                              </p:par>
                              <p:par>
                                <p:cTn id="33" presetID="2" presetClass="exit" presetSubtype="4" fill="hold" grpId="2" nodeType="withEffect">
                                  <p:stCondLst>
                                    <p:cond delay="0"/>
                                  </p:stCondLst>
                                  <p:childTnLst>
                                    <p:anim calcmode="lin" valueType="num">
                                      <p:cBhvr additive="base">
                                        <p:cTn id="34" dur="500"/>
                                        <p:tgtEl>
                                          <p:spTgt spid="120"/>
                                        </p:tgtEl>
                                        <p:attrNameLst>
                                          <p:attrName>ppt_x</p:attrName>
                                        </p:attrNameLst>
                                      </p:cBhvr>
                                      <p:tavLst>
                                        <p:tav tm="0">
                                          <p:val>
                                            <p:strVal val="ppt_x"/>
                                          </p:val>
                                        </p:tav>
                                        <p:tav tm="100000">
                                          <p:val>
                                            <p:strVal val="ppt_x"/>
                                          </p:val>
                                        </p:tav>
                                      </p:tavLst>
                                    </p:anim>
                                    <p:anim calcmode="lin" valueType="num">
                                      <p:cBhvr additive="base">
                                        <p:cTn id="35" dur="500"/>
                                        <p:tgtEl>
                                          <p:spTgt spid="120"/>
                                        </p:tgtEl>
                                        <p:attrNameLst>
                                          <p:attrName>ppt_y</p:attrName>
                                        </p:attrNameLst>
                                      </p:cBhvr>
                                      <p:tavLst>
                                        <p:tav tm="0">
                                          <p:val>
                                            <p:strVal val="ppt_y"/>
                                          </p:val>
                                        </p:tav>
                                        <p:tav tm="100000">
                                          <p:val>
                                            <p:strVal val="1+ppt_h/2"/>
                                          </p:val>
                                        </p:tav>
                                      </p:tavLst>
                                    </p:anim>
                                    <p:set>
                                      <p:cBhvr>
                                        <p:cTn id="36" dur="1" fill="hold">
                                          <p:stCondLst>
                                            <p:cond delay="499"/>
                                          </p:stCondLst>
                                        </p:cTn>
                                        <p:tgtEl>
                                          <p:spTgt spid="120"/>
                                        </p:tgtEl>
                                        <p:attrNameLst>
                                          <p:attrName>style.visibility</p:attrName>
                                        </p:attrNameLst>
                                      </p:cBhvr>
                                      <p:to>
                                        <p:strVal val="hidden"/>
                                      </p:to>
                                    </p:set>
                                  </p:childTnLst>
                                </p:cTn>
                              </p:par>
                              <p:par>
                                <p:cTn id="37" presetID="2" presetClass="exit" presetSubtype="4" fill="hold" grpId="2" nodeType="withEffect">
                                  <p:stCondLst>
                                    <p:cond delay="0"/>
                                  </p:stCondLst>
                                  <p:childTnLst>
                                    <p:anim calcmode="lin" valueType="num">
                                      <p:cBhvr additive="base">
                                        <p:cTn id="38" dur="500"/>
                                        <p:tgtEl>
                                          <p:spTgt spid="121"/>
                                        </p:tgtEl>
                                        <p:attrNameLst>
                                          <p:attrName>ppt_x</p:attrName>
                                        </p:attrNameLst>
                                      </p:cBhvr>
                                      <p:tavLst>
                                        <p:tav tm="0">
                                          <p:val>
                                            <p:strVal val="ppt_x"/>
                                          </p:val>
                                        </p:tav>
                                        <p:tav tm="100000">
                                          <p:val>
                                            <p:strVal val="ppt_x"/>
                                          </p:val>
                                        </p:tav>
                                      </p:tavLst>
                                    </p:anim>
                                    <p:anim calcmode="lin" valueType="num">
                                      <p:cBhvr additive="base">
                                        <p:cTn id="39" dur="500"/>
                                        <p:tgtEl>
                                          <p:spTgt spid="121"/>
                                        </p:tgtEl>
                                        <p:attrNameLst>
                                          <p:attrName>ppt_y</p:attrName>
                                        </p:attrNameLst>
                                      </p:cBhvr>
                                      <p:tavLst>
                                        <p:tav tm="0">
                                          <p:val>
                                            <p:strVal val="ppt_y"/>
                                          </p:val>
                                        </p:tav>
                                        <p:tav tm="100000">
                                          <p:val>
                                            <p:strVal val="1+ppt_h/2"/>
                                          </p:val>
                                        </p:tav>
                                      </p:tavLst>
                                    </p:anim>
                                    <p:set>
                                      <p:cBhvr>
                                        <p:cTn id="40" dur="1" fill="hold">
                                          <p:stCondLst>
                                            <p:cond delay="499"/>
                                          </p:stCondLst>
                                        </p:cTn>
                                        <p:tgtEl>
                                          <p:spTgt spid="121"/>
                                        </p:tgtEl>
                                        <p:attrNameLst>
                                          <p:attrName>style.visibility</p:attrName>
                                        </p:attrNameLst>
                                      </p:cBhvr>
                                      <p:to>
                                        <p:strVal val="hidden"/>
                                      </p:to>
                                    </p:set>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139"/>
                                        </p:tgtEl>
                                        <p:attrNameLst>
                                          <p:attrName>style.visibility</p:attrName>
                                        </p:attrNameLst>
                                      </p:cBhvr>
                                      <p:to>
                                        <p:strVal val="visible"/>
                                      </p:to>
                                    </p:set>
                                    <p:anim calcmode="lin" valueType="num">
                                      <p:cBhvr additive="base">
                                        <p:cTn id="45" dur="500" fill="hold"/>
                                        <p:tgtEl>
                                          <p:spTgt spid="139"/>
                                        </p:tgtEl>
                                        <p:attrNameLst>
                                          <p:attrName>ppt_x</p:attrName>
                                        </p:attrNameLst>
                                      </p:cBhvr>
                                      <p:tavLst>
                                        <p:tav tm="0">
                                          <p:val>
                                            <p:strVal val="#ppt_x"/>
                                          </p:val>
                                        </p:tav>
                                        <p:tav tm="100000">
                                          <p:val>
                                            <p:strVal val="#ppt_x"/>
                                          </p:val>
                                        </p:tav>
                                      </p:tavLst>
                                    </p:anim>
                                    <p:anim calcmode="lin" valueType="num">
                                      <p:cBhvr additive="base">
                                        <p:cTn id="46" dur="500" fill="hold"/>
                                        <p:tgtEl>
                                          <p:spTgt spid="139"/>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160"/>
                                        </p:tgtEl>
                                        <p:attrNameLst>
                                          <p:attrName>style.visibility</p:attrName>
                                        </p:attrNameLst>
                                      </p:cBhvr>
                                      <p:to>
                                        <p:strVal val="visible"/>
                                      </p:to>
                                    </p:set>
                                    <p:anim calcmode="lin" valueType="num">
                                      <p:cBhvr additive="base">
                                        <p:cTn id="49" dur="500" fill="hold"/>
                                        <p:tgtEl>
                                          <p:spTgt spid="160"/>
                                        </p:tgtEl>
                                        <p:attrNameLst>
                                          <p:attrName>ppt_x</p:attrName>
                                        </p:attrNameLst>
                                      </p:cBhvr>
                                      <p:tavLst>
                                        <p:tav tm="0">
                                          <p:val>
                                            <p:strVal val="#ppt_x"/>
                                          </p:val>
                                        </p:tav>
                                        <p:tav tm="100000">
                                          <p:val>
                                            <p:strVal val="#ppt_x"/>
                                          </p:val>
                                        </p:tav>
                                      </p:tavLst>
                                    </p:anim>
                                    <p:anim calcmode="lin" valueType="num">
                                      <p:cBhvr additive="base">
                                        <p:cTn id="50" dur="500" fill="hold"/>
                                        <p:tgtEl>
                                          <p:spTgt spid="160"/>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161"/>
                                        </p:tgtEl>
                                        <p:attrNameLst>
                                          <p:attrName>style.visibility</p:attrName>
                                        </p:attrNameLst>
                                      </p:cBhvr>
                                      <p:to>
                                        <p:strVal val="visible"/>
                                      </p:to>
                                    </p:set>
                                    <p:anim calcmode="lin" valueType="num">
                                      <p:cBhvr additive="base">
                                        <p:cTn id="53" dur="500" fill="hold"/>
                                        <p:tgtEl>
                                          <p:spTgt spid="161"/>
                                        </p:tgtEl>
                                        <p:attrNameLst>
                                          <p:attrName>ppt_x</p:attrName>
                                        </p:attrNameLst>
                                      </p:cBhvr>
                                      <p:tavLst>
                                        <p:tav tm="0">
                                          <p:val>
                                            <p:strVal val="#ppt_x"/>
                                          </p:val>
                                        </p:tav>
                                        <p:tav tm="100000">
                                          <p:val>
                                            <p:strVal val="#ppt_x"/>
                                          </p:val>
                                        </p:tav>
                                      </p:tavLst>
                                    </p:anim>
                                    <p:anim calcmode="lin" valueType="num">
                                      <p:cBhvr additive="base">
                                        <p:cTn id="54" dur="500" fill="hold"/>
                                        <p:tgtEl>
                                          <p:spTgt spid="161"/>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xit" presetSubtype="4" fill="hold" nodeType="clickEffect">
                                  <p:stCondLst>
                                    <p:cond delay="0"/>
                                  </p:stCondLst>
                                  <p:childTnLst>
                                    <p:anim calcmode="lin" valueType="num">
                                      <p:cBhvr additive="base">
                                        <p:cTn id="58" dur="500"/>
                                        <p:tgtEl>
                                          <p:spTgt spid="139"/>
                                        </p:tgtEl>
                                        <p:attrNameLst>
                                          <p:attrName>ppt_x</p:attrName>
                                        </p:attrNameLst>
                                      </p:cBhvr>
                                      <p:tavLst>
                                        <p:tav tm="0">
                                          <p:val>
                                            <p:strVal val="ppt_x"/>
                                          </p:val>
                                        </p:tav>
                                        <p:tav tm="100000">
                                          <p:val>
                                            <p:strVal val="ppt_x"/>
                                          </p:val>
                                        </p:tav>
                                      </p:tavLst>
                                    </p:anim>
                                    <p:anim calcmode="lin" valueType="num">
                                      <p:cBhvr additive="base">
                                        <p:cTn id="59" dur="500"/>
                                        <p:tgtEl>
                                          <p:spTgt spid="139"/>
                                        </p:tgtEl>
                                        <p:attrNameLst>
                                          <p:attrName>ppt_y</p:attrName>
                                        </p:attrNameLst>
                                      </p:cBhvr>
                                      <p:tavLst>
                                        <p:tav tm="0">
                                          <p:val>
                                            <p:strVal val="ppt_y"/>
                                          </p:val>
                                        </p:tav>
                                        <p:tav tm="100000">
                                          <p:val>
                                            <p:strVal val="1+ppt_h/2"/>
                                          </p:val>
                                        </p:tav>
                                      </p:tavLst>
                                    </p:anim>
                                    <p:set>
                                      <p:cBhvr>
                                        <p:cTn id="60" dur="1" fill="hold">
                                          <p:stCondLst>
                                            <p:cond delay="499"/>
                                          </p:stCondLst>
                                        </p:cTn>
                                        <p:tgtEl>
                                          <p:spTgt spid="139"/>
                                        </p:tgtEl>
                                        <p:attrNameLst>
                                          <p:attrName>style.visibility</p:attrName>
                                        </p:attrNameLst>
                                      </p:cBhvr>
                                      <p:to>
                                        <p:strVal val="hidden"/>
                                      </p:to>
                                    </p:set>
                                  </p:childTnLst>
                                </p:cTn>
                              </p:par>
                              <p:par>
                                <p:cTn id="61" presetID="2" presetClass="exit" presetSubtype="4" fill="hold" grpId="2" nodeType="withEffect">
                                  <p:stCondLst>
                                    <p:cond delay="0"/>
                                  </p:stCondLst>
                                  <p:childTnLst>
                                    <p:anim calcmode="lin" valueType="num">
                                      <p:cBhvr additive="base">
                                        <p:cTn id="62" dur="500"/>
                                        <p:tgtEl>
                                          <p:spTgt spid="160"/>
                                        </p:tgtEl>
                                        <p:attrNameLst>
                                          <p:attrName>ppt_x</p:attrName>
                                        </p:attrNameLst>
                                      </p:cBhvr>
                                      <p:tavLst>
                                        <p:tav tm="0">
                                          <p:val>
                                            <p:strVal val="ppt_x"/>
                                          </p:val>
                                        </p:tav>
                                        <p:tav tm="100000">
                                          <p:val>
                                            <p:strVal val="ppt_x"/>
                                          </p:val>
                                        </p:tav>
                                      </p:tavLst>
                                    </p:anim>
                                    <p:anim calcmode="lin" valueType="num">
                                      <p:cBhvr additive="base">
                                        <p:cTn id="63" dur="500"/>
                                        <p:tgtEl>
                                          <p:spTgt spid="160"/>
                                        </p:tgtEl>
                                        <p:attrNameLst>
                                          <p:attrName>ppt_y</p:attrName>
                                        </p:attrNameLst>
                                      </p:cBhvr>
                                      <p:tavLst>
                                        <p:tav tm="0">
                                          <p:val>
                                            <p:strVal val="ppt_y"/>
                                          </p:val>
                                        </p:tav>
                                        <p:tav tm="100000">
                                          <p:val>
                                            <p:strVal val="1+ppt_h/2"/>
                                          </p:val>
                                        </p:tav>
                                      </p:tavLst>
                                    </p:anim>
                                    <p:set>
                                      <p:cBhvr>
                                        <p:cTn id="64" dur="1" fill="hold">
                                          <p:stCondLst>
                                            <p:cond delay="499"/>
                                          </p:stCondLst>
                                        </p:cTn>
                                        <p:tgtEl>
                                          <p:spTgt spid="160"/>
                                        </p:tgtEl>
                                        <p:attrNameLst>
                                          <p:attrName>style.visibility</p:attrName>
                                        </p:attrNameLst>
                                      </p:cBhvr>
                                      <p:to>
                                        <p:strVal val="hidden"/>
                                      </p:to>
                                    </p:set>
                                  </p:childTnLst>
                                </p:cTn>
                              </p:par>
                              <p:par>
                                <p:cTn id="65" presetID="2" presetClass="exit" presetSubtype="4" fill="hold" grpId="2" nodeType="withEffect">
                                  <p:stCondLst>
                                    <p:cond delay="0"/>
                                  </p:stCondLst>
                                  <p:childTnLst>
                                    <p:anim calcmode="lin" valueType="num">
                                      <p:cBhvr additive="base">
                                        <p:cTn id="66" dur="500"/>
                                        <p:tgtEl>
                                          <p:spTgt spid="161"/>
                                        </p:tgtEl>
                                        <p:attrNameLst>
                                          <p:attrName>ppt_x</p:attrName>
                                        </p:attrNameLst>
                                      </p:cBhvr>
                                      <p:tavLst>
                                        <p:tav tm="0">
                                          <p:val>
                                            <p:strVal val="ppt_x"/>
                                          </p:val>
                                        </p:tav>
                                        <p:tav tm="100000">
                                          <p:val>
                                            <p:strVal val="ppt_x"/>
                                          </p:val>
                                        </p:tav>
                                      </p:tavLst>
                                    </p:anim>
                                    <p:anim calcmode="lin" valueType="num">
                                      <p:cBhvr additive="base">
                                        <p:cTn id="67" dur="500"/>
                                        <p:tgtEl>
                                          <p:spTgt spid="161"/>
                                        </p:tgtEl>
                                        <p:attrNameLst>
                                          <p:attrName>ppt_y</p:attrName>
                                        </p:attrNameLst>
                                      </p:cBhvr>
                                      <p:tavLst>
                                        <p:tav tm="0">
                                          <p:val>
                                            <p:strVal val="ppt_y"/>
                                          </p:val>
                                        </p:tav>
                                        <p:tav tm="100000">
                                          <p:val>
                                            <p:strVal val="1+ppt_h/2"/>
                                          </p:val>
                                        </p:tav>
                                      </p:tavLst>
                                    </p:anim>
                                    <p:set>
                                      <p:cBhvr>
                                        <p:cTn id="68" dur="1" fill="hold">
                                          <p:stCondLst>
                                            <p:cond delay="499"/>
                                          </p:stCondLst>
                                        </p:cTn>
                                        <p:tgtEl>
                                          <p:spTgt spid="16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p:bldP spid="97" grpId="1"/>
      <p:bldP spid="120" grpId="0"/>
      <p:bldP spid="121" grpId="0"/>
      <p:bldP spid="120" grpId="1"/>
      <p:bldP spid="121" grpId="1"/>
      <p:bldP spid="120" grpId="2"/>
      <p:bldP spid="121" grpId="2"/>
      <p:bldP spid="160" grpId="0"/>
      <p:bldP spid="161" grpId="0"/>
      <p:bldP spid="160" grpId="1"/>
      <p:bldP spid="161" grpId="1"/>
      <p:bldP spid="160" grpId="2"/>
      <p:bldP spid="161" grpId="2"/>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9"/>
          <p:cNvSpPr txBox="1"/>
          <p:nvPr/>
        </p:nvSpPr>
        <p:spPr>
          <a:xfrm>
            <a:off x="1043305" y="4170045"/>
            <a:ext cx="5007610" cy="274955"/>
          </a:xfrm>
          <a:prstGeom prst="rect">
            <a:avLst/>
          </a:prstGeom>
          <a:solidFill>
            <a:schemeClr val="accent1"/>
          </a:solidFill>
        </p:spPr>
        <p:txBody>
          <a:bodyPr wrap="square" rtlCol="0">
            <a:noAutofit/>
          </a:bodyPr>
          <a:p>
            <a:endParaRPr lang="zh-CN" altLang="en-US"/>
          </a:p>
        </p:txBody>
      </p:sp>
      <p:sp>
        <p:nvSpPr>
          <p:cNvPr id="9" name="文本框 8"/>
          <p:cNvSpPr txBox="1"/>
          <p:nvPr/>
        </p:nvSpPr>
        <p:spPr>
          <a:xfrm>
            <a:off x="1043305" y="3898900"/>
            <a:ext cx="5007610" cy="274955"/>
          </a:xfrm>
          <a:prstGeom prst="rect">
            <a:avLst/>
          </a:prstGeom>
          <a:solidFill>
            <a:schemeClr val="accent1"/>
          </a:solidFill>
        </p:spPr>
        <p:txBody>
          <a:bodyPr wrap="square" rtlCol="0">
            <a:noAutofit/>
          </a:bodyPr>
          <a:p>
            <a:endParaRPr lang="zh-CN" altLang="en-US"/>
          </a:p>
        </p:txBody>
      </p:sp>
      <p:sp>
        <p:nvSpPr>
          <p:cNvPr id="8" name="文本框 7"/>
          <p:cNvSpPr txBox="1"/>
          <p:nvPr/>
        </p:nvSpPr>
        <p:spPr>
          <a:xfrm>
            <a:off x="1043305" y="3623945"/>
            <a:ext cx="5007610" cy="274955"/>
          </a:xfrm>
          <a:prstGeom prst="rect">
            <a:avLst/>
          </a:prstGeom>
          <a:solidFill>
            <a:schemeClr val="accent1"/>
          </a:solidFill>
        </p:spPr>
        <p:txBody>
          <a:bodyPr wrap="square" rtlCol="0">
            <a:noAutofit/>
          </a:bodyPr>
          <a:p>
            <a:endParaRPr lang="zh-CN" altLang="en-US"/>
          </a:p>
        </p:txBody>
      </p:sp>
      <p:sp>
        <p:nvSpPr>
          <p:cNvPr id="7" name="文本框 6"/>
          <p:cNvSpPr txBox="1"/>
          <p:nvPr/>
        </p:nvSpPr>
        <p:spPr>
          <a:xfrm>
            <a:off x="1043305" y="3347720"/>
            <a:ext cx="5007610" cy="274955"/>
          </a:xfrm>
          <a:prstGeom prst="rect">
            <a:avLst/>
          </a:prstGeom>
          <a:solidFill>
            <a:schemeClr val="accent1"/>
          </a:solidFill>
        </p:spPr>
        <p:txBody>
          <a:bodyPr wrap="square" rtlCol="0">
            <a:noAutofit/>
          </a:bodyPr>
          <a:p>
            <a:endParaRPr lang="zh-CN" altLang="en-US"/>
          </a:p>
        </p:txBody>
      </p:sp>
      <p:sp>
        <p:nvSpPr>
          <p:cNvPr id="6" name="文本框 5"/>
          <p:cNvSpPr txBox="1"/>
          <p:nvPr/>
        </p:nvSpPr>
        <p:spPr>
          <a:xfrm>
            <a:off x="1043305" y="3068955"/>
            <a:ext cx="5007610" cy="274955"/>
          </a:xfrm>
          <a:prstGeom prst="rect">
            <a:avLst/>
          </a:prstGeom>
          <a:solidFill>
            <a:schemeClr val="accent1"/>
          </a:solidFill>
        </p:spPr>
        <p:txBody>
          <a:bodyPr wrap="square" rtlCol="0">
            <a:noAutofit/>
          </a:bodyPr>
          <a:p>
            <a:endParaRPr lang="zh-CN" altLang="en-US"/>
          </a:p>
        </p:txBody>
      </p:sp>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54" name="文本框 53"/>
          <p:cNvSpPr txBox="1"/>
          <p:nvPr/>
        </p:nvSpPr>
        <p:spPr>
          <a:xfrm>
            <a:off x="468179" y="1412399"/>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完全背包问题的空间</a:t>
            </a:r>
            <a:r>
              <a:rPr kumimoji="1" lang="zh-CN" altLang="en-US" sz="2200">
                <a:solidFill>
                  <a:srgbClr val="080808"/>
                </a:solidFill>
                <a:uFillTx/>
                <a:latin typeface="Times New Roman" panose="02020603050405020304" pitchFamily="18" charset="0"/>
              </a:rPr>
              <a:t>压缩：</a:t>
            </a:r>
            <a:endParaRPr kumimoji="1" lang="zh-CN" altLang="en-US" sz="2200">
              <a:solidFill>
                <a:srgbClr val="080808"/>
              </a:solidFill>
              <a:uFillTx/>
              <a:latin typeface="Times New Roman" panose="02020603050405020304" pitchFamily="18" charset="0"/>
            </a:endParaRPr>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5" name="文本框 4"/>
          <p:cNvSpPr txBox="1"/>
          <p:nvPr/>
        </p:nvSpPr>
        <p:spPr>
          <a:xfrm>
            <a:off x="755650" y="1889760"/>
            <a:ext cx="6267450" cy="313817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cs typeface="Times New Roman" panose="02020603050405020304" pitchFamily="18" charset="0"/>
              </a:rPr>
              <a:t>def Knapsack_other(wight:list,value:list,V:int)-&gt;int: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dp = [0 for _ in range(V+1)]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 in range(1,len(wight)+1):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print(dp)</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j in range(1,V+1):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if j&lt;wight[i-1]: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dp[j] = dp[j]</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else: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dp[j] = max(dp[j],dp[j-wight[i-1]]+value[i-1])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print(dp)</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dp[-1]</a:t>
            </a:r>
            <a:endParaRPr lang="en-US" altLang="zh-CN">
              <a:solidFill>
                <a:schemeClr val="tx1"/>
              </a:solidFill>
              <a:uFillTx/>
              <a:latin typeface="Times New Roman" panose="02020603050405020304" pitchFamily="18" charset="0"/>
              <a:cs typeface="Times New Roman" panose="02020603050405020304" pitchFamily="18" charset="0"/>
            </a:endParaRPr>
          </a:p>
        </p:txBody>
      </p:sp>
      <p:sp>
        <p:nvSpPr>
          <p:cNvPr id="11" name="文本框 10"/>
          <p:cNvSpPr txBox="1"/>
          <p:nvPr/>
        </p:nvSpPr>
        <p:spPr>
          <a:xfrm>
            <a:off x="1043305" y="5372735"/>
            <a:ext cx="3231515" cy="339090"/>
          </a:xfrm>
          <a:prstGeom prst="rect">
            <a:avLst/>
          </a:prstGeom>
          <a:noFill/>
        </p:spPr>
        <p:txBody>
          <a:bodyPr wrap="square" rtlCol="0" anchor="t">
            <a:noAutofit/>
          </a:bodyPr>
          <a:p>
            <a:r>
              <a:rPr lang="en-US" altLang="zh-CN">
                <a:solidFill>
                  <a:schemeClr val="tx1"/>
                </a:solidFill>
                <a:uFillTx/>
                <a:latin typeface="Times New Roman" panose="02020603050405020304" pitchFamily="18" charset="0"/>
              </a:rPr>
              <a:t>dp=[0, 0, 1, 1, 2, 2, 3, 3, 4, 4, 5]</a:t>
            </a:r>
            <a:endParaRPr lang="en-US" altLang="zh-CN">
              <a:solidFill>
                <a:schemeClr val="tx1"/>
              </a:solidFill>
              <a:uFillTx/>
              <a:latin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2"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2"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2"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2"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2" nodeType="clickEffect">
                                  <p:stCondLst>
                                    <p:cond delay="0"/>
                                  </p:stCondLst>
                                  <p:childTnLst>
                                    <p:set>
                                      <p:cBhvr>
                                        <p:cTn id="42" dur="1" fill="hold">
                                          <p:stCondLst>
                                            <p:cond delay="0"/>
                                          </p:stCondLst>
                                        </p:cTn>
                                        <p:tgtEl>
                                          <p:spTgt spid="10"/>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11"/>
                                        </p:tgtEl>
                                        <p:attrNameLst>
                                          <p:attrName>style.visibility</p:attrName>
                                        </p:attrNameLst>
                                      </p:cBhvr>
                                      <p:to>
                                        <p:strVal val="visible"/>
                                      </p:to>
                                    </p:set>
                                    <p:anim calcmode="lin" valueType="num">
                                      <p:cBhvr additive="base">
                                        <p:cTn id="47" dur="500" fill="hold"/>
                                        <p:tgtEl>
                                          <p:spTgt spid="11"/>
                                        </p:tgtEl>
                                        <p:attrNameLst>
                                          <p:attrName>ppt_x</p:attrName>
                                        </p:attrNameLst>
                                      </p:cBhvr>
                                      <p:tavLst>
                                        <p:tav tm="0">
                                          <p:val>
                                            <p:strVal val="#ppt_x"/>
                                          </p:val>
                                        </p:tav>
                                        <p:tav tm="100000">
                                          <p:val>
                                            <p:strVal val="#ppt_x"/>
                                          </p:val>
                                        </p:tav>
                                      </p:tavLst>
                                    </p:anim>
                                    <p:anim calcmode="lin" valueType="num">
                                      <p:cBhvr additive="base">
                                        <p:cTn id="4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7" grpId="0" animBg="1"/>
      <p:bldP spid="7" grpId="1" animBg="1"/>
      <p:bldP spid="7" grpId="2" animBg="1"/>
      <p:bldP spid="8" grpId="0" animBg="1"/>
      <p:bldP spid="8" grpId="1" animBg="1"/>
      <p:bldP spid="8" grpId="2" animBg="1"/>
      <p:bldP spid="9" grpId="0" animBg="1"/>
      <p:bldP spid="9" grpId="1" animBg="1"/>
      <p:bldP spid="9" grpId="2" animBg="1"/>
      <p:bldP spid="10" grpId="0" animBg="1"/>
      <p:bldP spid="10" grpId="1" animBg="1"/>
      <p:bldP spid="10" grpId="2" animBg="1"/>
      <p:bldP spid="11" grpId="0"/>
      <p:bldP spid="11" grpId="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2" name="文本框 1"/>
          <p:cNvSpPr txBox="1"/>
          <p:nvPr/>
        </p:nvSpPr>
        <p:spPr>
          <a:xfrm>
            <a:off x="827405" y="2028825"/>
            <a:ext cx="6920230" cy="3538220"/>
          </a:xfrm>
          <a:prstGeom prst="rect">
            <a:avLst/>
          </a:prstGeom>
        </p:spPr>
        <p:txBody>
          <a:bodyPr wrap="square">
            <a:spAutoFit/>
          </a:bodyPr>
          <a:p>
            <a:pPr marL="0" indent="0"/>
            <a:r>
              <a:rPr lang="zh-CN" altLang="en-US" sz="1600" b="0" i="0">
                <a:solidFill>
                  <a:srgbClr val="262626"/>
                </a:solidFill>
                <a:uFillTx/>
                <a:latin typeface="Times New Roman" panose="02020603050405020304" pitchFamily="18" charset="0"/>
              </a:rPr>
              <a:t>有 </a:t>
            </a:r>
            <a:r>
              <a:rPr lang="en-US" altLang="zh-CN" sz="1600" b="0" i="0">
                <a:solidFill>
                  <a:srgbClr val="262626"/>
                </a:solidFill>
                <a:uFillTx/>
                <a:latin typeface="Times New Roman" panose="02020603050405020304" pitchFamily="18" charset="0"/>
              </a:rPr>
              <a:t>buckets </a:t>
            </a:r>
            <a:r>
              <a:rPr lang="zh-CN" altLang="en-US" sz="1600" b="0" i="0">
                <a:solidFill>
                  <a:srgbClr val="262626"/>
                </a:solidFill>
                <a:uFillTx/>
                <a:latin typeface="Times New Roman" panose="02020603050405020304" pitchFamily="18" charset="0"/>
              </a:rPr>
              <a:t>桶液体，其中</a:t>
            </a:r>
            <a:r>
              <a:rPr lang="en-US" altLang="zh-CN" sz="1600" b="0" i="0">
                <a:solidFill>
                  <a:srgbClr val="262626"/>
                </a:solidFill>
                <a:uFillTx/>
                <a:latin typeface="Times New Roman" panose="02020603050405020304" pitchFamily="18" charset="0"/>
              </a:rPr>
              <a:t> </a:t>
            </a:r>
            <a:r>
              <a:rPr lang="zh-CN" altLang="en-US" sz="1600" b="1" i="0">
                <a:solidFill>
                  <a:srgbClr val="262626"/>
                </a:solidFill>
                <a:uFillTx/>
                <a:latin typeface="Times New Roman" panose="02020603050405020304" pitchFamily="18" charset="0"/>
              </a:rPr>
              <a:t>正好有一桶</a:t>
            </a:r>
            <a:r>
              <a:rPr lang="en-US" altLang="zh-CN" sz="1600" b="0" i="0">
                <a:solidFill>
                  <a:srgbClr val="262626"/>
                </a:solidFill>
                <a:uFillTx/>
                <a:latin typeface="Times New Roman" panose="02020603050405020304" pitchFamily="18" charset="0"/>
              </a:rPr>
              <a:t> </a:t>
            </a:r>
            <a:r>
              <a:rPr lang="zh-CN" altLang="en-US" sz="1600" b="0" i="0">
                <a:solidFill>
                  <a:srgbClr val="262626"/>
                </a:solidFill>
                <a:uFillTx/>
                <a:latin typeface="Times New Roman" panose="02020603050405020304" pitchFamily="18" charset="0"/>
              </a:rPr>
              <a:t>含有毒药，其余装的都是水。它们从外观看起来都一样。为了弄清楚哪只水桶含有毒药，你可以喂一些猪喝，通过观察猪是否会死进行判断。不幸的是，你只有</a:t>
            </a:r>
            <a:r>
              <a:rPr lang="en-US" altLang="zh-CN" sz="1600" b="0" i="0">
                <a:solidFill>
                  <a:srgbClr val="262626"/>
                </a:solidFill>
                <a:uFillTx/>
                <a:latin typeface="Times New Roman" panose="02020603050405020304" pitchFamily="18" charset="0"/>
              </a:rPr>
              <a:t> minutesToTest </a:t>
            </a:r>
            <a:r>
              <a:rPr lang="zh-CN" altLang="en-US" sz="1600" b="0" i="0">
                <a:solidFill>
                  <a:srgbClr val="262626"/>
                </a:solidFill>
                <a:uFillTx/>
                <a:latin typeface="Times New Roman" panose="02020603050405020304" pitchFamily="18" charset="0"/>
              </a:rPr>
              <a:t>分钟时间来确定哪桶液体是有毒的。</a:t>
            </a:r>
            <a:endParaRPr lang="zh-CN" altLang="en-US" sz="1600" b="0" i="0">
              <a:solidFill>
                <a:srgbClr val="262626"/>
              </a:solidFill>
              <a:uFillTx/>
              <a:latin typeface="Times New Roman" panose="02020603050405020304" pitchFamily="18" charset="0"/>
            </a:endParaRPr>
          </a:p>
          <a:p>
            <a:pPr marL="0" indent="0"/>
            <a:r>
              <a:rPr lang="zh-CN" altLang="en-US" sz="1600" b="0" i="0">
                <a:solidFill>
                  <a:srgbClr val="262626"/>
                </a:solidFill>
                <a:uFillTx/>
                <a:latin typeface="Times New Roman" panose="02020603050405020304" pitchFamily="18" charset="0"/>
              </a:rPr>
              <a:t>喂猪的规则如下：</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选择若干活猪进行喂养</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可以允许小猪同时饮用任意数量的桶中的水，并且该过程不需要时间。</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小猪喝完水后，必须有</a:t>
            </a:r>
            <a:r>
              <a:rPr lang="en-US" altLang="zh-CN" sz="1600" b="0" i="0">
                <a:solidFill>
                  <a:srgbClr val="262626"/>
                </a:solidFill>
                <a:uFillTx/>
                <a:latin typeface="Times New Roman" panose="02020603050405020304" pitchFamily="18" charset="0"/>
              </a:rPr>
              <a:t> minutesToDie </a:t>
            </a:r>
            <a:r>
              <a:rPr lang="zh-CN" altLang="en-US" sz="1600" b="0" i="0">
                <a:solidFill>
                  <a:srgbClr val="262626"/>
                </a:solidFill>
                <a:uFillTx/>
                <a:latin typeface="Times New Roman" panose="02020603050405020304" pitchFamily="18" charset="0"/>
              </a:rPr>
              <a:t>分钟的冷却时间。在这段时间里，你只能观察，而不允许继续喂猪。</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过了</a:t>
            </a:r>
            <a:r>
              <a:rPr lang="en-US" altLang="zh-CN" sz="1600" b="0" i="0">
                <a:solidFill>
                  <a:srgbClr val="262626"/>
                </a:solidFill>
                <a:uFillTx/>
                <a:latin typeface="Times New Roman" panose="02020603050405020304" pitchFamily="18" charset="0"/>
              </a:rPr>
              <a:t> minutesToDie </a:t>
            </a:r>
            <a:r>
              <a:rPr lang="zh-CN" altLang="en-US" sz="1600" b="0" i="0">
                <a:solidFill>
                  <a:srgbClr val="262626"/>
                </a:solidFill>
                <a:uFillTx/>
                <a:latin typeface="Times New Roman" panose="02020603050405020304" pitchFamily="18" charset="0"/>
              </a:rPr>
              <a:t>分钟后，所有喝到毒药的猪都会死去，其他所有猪都会活下来。</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重复这一过程，直到时间用完。</a:t>
            </a:r>
            <a:endParaRPr lang="zh-CN" altLang="en-US" sz="1600" b="0" i="0">
              <a:solidFill>
                <a:srgbClr val="262626"/>
              </a:solidFill>
              <a:uFillTx/>
              <a:latin typeface="Times New Roman" panose="02020603050405020304" pitchFamily="18" charset="0"/>
            </a:endParaRPr>
          </a:p>
          <a:p>
            <a:pPr marL="0" indent="0"/>
            <a:r>
              <a:rPr lang="zh-CN" altLang="en-US" sz="1600" b="0" i="0">
                <a:solidFill>
                  <a:srgbClr val="262626"/>
                </a:solidFill>
                <a:uFillTx/>
                <a:latin typeface="Times New Roman" panose="02020603050405020304" pitchFamily="18" charset="0"/>
              </a:rPr>
              <a:t>给你桶的数目</a:t>
            </a:r>
            <a:r>
              <a:rPr lang="en-US" altLang="zh-CN" sz="1600" b="0" i="0">
                <a:solidFill>
                  <a:srgbClr val="262626"/>
                </a:solidFill>
                <a:uFillTx/>
                <a:latin typeface="Times New Roman" panose="02020603050405020304" pitchFamily="18" charset="0"/>
              </a:rPr>
              <a:t> buckets </a:t>
            </a:r>
            <a:r>
              <a:rPr lang="zh-CN" altLang="en-US" sz="1600" b="0" i="0">
                <a:solidFill>
                  <a:srgbClr val="262626"/>
                </a:solidFill>
                <a:uFillTx/>
                <a:latin typeface="Times New Roman" panose="02020603050405020304" pitchFamily="18" charset="0"/>
              </a:rPr>
              <a:t>，</a:t>
            </a:r>
            <a:r>
              <a:rPr lang="en-US" altLang="zh-CN" sz="1600" b="0" i="0">
                <a:solidFill>
                  <a:srgbClr val="262626"/>
                </a:solidFill>
                <a:uFillTx/>
                <a:latin typeface="Times New Roman" panose="02020603050405020304" pitchFamily="18" charset="0"/>
              </a:rPr>
              <a:t>minutesToDie </a:t>
            </a:r>
            <a:r>
              <a:rPr lang="zh-CN" altLang="en-US" sz="1600" b="0" i="0">
                <a:solidFill>
                  <a:srgbClr val="262626"/>
                </a:solidFill>
                <a:uFillTx/>
                <a:latin typeface="Times New Roman" panose="02020603050405020304" pitchFamily="18" charset="0"/>
              </a:rPr>
              <a:t>和</a:t>
            </a:r>
            <a:r>
              <a:rPr lang="en-US" altLang="zh-CN" sz="1600" b="0" i="0">
                <a:solidFill>
                  <a:srgbClr val="262626"/>
                </a:solidFill>
                <a:uFillTx/>
                <a:latin typeface="Times New Roman" panose="02020603050405020304" pitchFamily="18" charset="0"/>
              </a:rPr>
              <a:t> minutesToTest </a:t>
            </a:r>
            <a:r>
              <a:rPr lang="zh-CN" altLang="en-US" sz="1600" b="0" i="0">
                <a:solidFill>
                  <a:srgbClr val="262626"/>
                </a:solidFill>
                <a:uFillTx/>
                <a:latin typeface="Times New Roman" panose="02020603050405020304" pitchFamily="18" charset="0"/>
              </a:rPr>
              <a:t>，返回</a:t>
            </a:r>
            <a:r>
              <a:rPr lang="en-US" altLang="zh-CN" sz="1600" b="0" i="0">
                <a:solidFill>
                  <a:srgbClr val="262626"/>
                </a:solidFill>
                <a:uFillTx/>
                <a:latin typeface="Times New Roman" panose="02020603050405020304" pitchFamily="18" charset="0"/>
              </a:rPr>
              <a:t> </a:t>
            </a:r>
            <a:r>
              <a:rPr lang="zh-CN" altLang="en-US" sz="1600" b="0" i="0">
                <a:solidFill>
                  <a:srgbClr val="262626"/>
                </a:solidFill>
                <a:uFillTx/>
                <a:latin typeface="Times New Roman" panose="02020603050405020304" pitchFamily="18" charset="0"/>
              </a:rPr>
              <a:t>在规定时间内判断哪个桶有毒所需的</a:t>
            </a:r>
            <a:r>
              <a:rPr lang="en-US" altLang="zh-CN" sz="1600" b="0" i="0">
                <a:solidFill>
                  <a:srgbClr val="262626"/>
                </a:solidFill>
                <a:uFillTx/>
                <a:latin typeface="Times New Roman" panose="02020603050405020304" pitchFamily="18" charset="0"/>
              </a:rPr>
              <a:t> </a:t>
            </a:r>
            <a:r>
              <a:rPr lang="zh-CN" altLang="en-US" sz="1600" b="1" i="0">
                <a:solidFill>
                  <a:srgbClr val="262626"/>
                </a:solidFill>
                <a:uFillTx/>
                <a:latin typeface="Times New Roman" panose="02020603050405020304" pitchFamily="18" charset="0"/>
              </a:rPr>
              <a:t>最小</a:t>
            </a:r>
            <a:r>
              <a:rPr lang="en-US" altLang="zh-CN" sz="1600" b="0" i="0">
                <a:solidFill>
                  <a:srgbClr val="262626"/>
                </a:solidFill>
                <a:uFillTx/>
                <a:latin typeface="Times New Roman" panose="02020603050405020304" pitchFamily="18" charset="0"/>
              </a:rPr>
              <a:t> </a:t>
            </a:r>
            <a:r>
              <a:rPr lang="zh-CN" altLang="en-US" sz="1600" b="0" i="0">
                <a:solidFill>
                  <a:srgbClr val="262626"/>
                </a:solidFill>
                <a:uFillTx/>
                <a:latin typeface="Times New Roman" panose="02020603050405020304" pitchFamily="18" charset="0"/>
              </a:rPr>
              <a:t>猪数</a:t>
            </a:r>
            <a:r>
              <a:rPr lang="en-US" altLang="zh-CN" sz="1600" b="0" i="0">
                <a:solidFill>
                  <a:srgbClr val="262626"/>
                </a:solidFill>
                <a:uFillTx/>
                <a:latin typeface="Times New Roman" panose="02020603050405020304" pitchFamily="18" charset="0"/>
              </a:rPr>
              <a:t> </a:t>
            </a:r>
            <a:r>
              <a:rPr lang="zh-CN" altLang="en-US" sz="1600" b="0" i="0">
                <a:solidFill>
                  <a:srgbClr val="262626"/>
                </a:solidFill>
                <a:uFillTx/>
                <a:latin typeface="Times New Roman" panose="02020603050405020304" pitchFamily="18" charset="0"/>
              </a:rPr>
              <a:t>。</a:t>
            </a:r>
            <a:endParaRPr lang="zh-CN" altLang="en-US" sz="1600" b="0" i="0">
              <a:solidFill>
                <a:srgbClr val="262626"/>
              </a:solidFill>
              <a:uFillTx/>
              <a:latin typeface="Times New Roman" panose="02020603050405020304" pitchFamily="18" charset="0"/>
            </a:endParaRPr>
          </a:p>
        </p:txBody>
      </p:sp>
      <p:sp>
        <p:nvSpPr>
          <p:cNvPr id="12" name="文本框 11"/>
          <p:cNvSpPr txBox="1"/>
          <p:nvPr/>
        </p:nvSpPr>
        <p:spPr>
          <a:xfrm>
            <a:off x="611505" y="5567045"/>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14" name="文本框 13"/>
          <p:cNvSpPr txBox="1"/>
          <p:nvPr/>
        </p:nvSpPr>
        <p:spPr>
          <a:xfrm>
            <a:off x="862330" y="1604645"/>
            <a:ext cx="3709670" cy="368300"/>
          </a:xfrm>
          <a:prstGeom prst="rect">
            <a:avLst/>
          </a:prstGeom>
          <a:noFill/>
        </p:spPr>
        <p:txBody>
          <a:bodyPr wrap="square" rtlCol="0">
            <a:spAutoFit/>
          </a:bodyPr>
          <a:p>
            <a:r>
              <a:rPr lang="zh-CN" altLang="en-US"/>
              <a:t>脑筋</a:t>
            </a:r>
            <a:r>
              <a:rPr lang="zh-CN" altLang="en-US"/>
              <a:t>急转弯！！！</a:t>
            </a:r>
            <a:endParaRPr lang="zh-CN" altLang="en-US"/>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467360" y="1556385"/>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1</a:t>
            </a:r>
            <a:r>
              <a:rPr lang="zh-CN" altLang="en-US"/>
              <a:t>）暴力解法：</a:t>
            </a:r>
            <a:r>
              <a:rPr lang="en-US" altLang="zh-CN"/>
              <a:t>1000</a:t>
            </a:r>
            <a:r>
              <a:rPr lang="zh-CN" altLang="en-US"/>
              <a:t>个猪，</a:t>
            </a:r>
            <a:r>
              <a:rPr lang="en-US" altLang="zh-CN"/>
              <a:t>15</a:t>
            </a:r>
            <a:r>
              <a:rPr lang="zh-CN" altLang="en-US"/>
              <a:t>分钟确定哪一桶水有毒。</a:t>
            </a:r>
            <a:endParaRPr lang="en-US" altLang="zh-CN"/>
          </a:p>
        </p:txBody>
      </p:sp>
      <p:sp>
        <p:nvSpPr>
          <p:cNvPr id="6" name="文本框 5"/>
          <p:cNvSpPr txBox="1"/>
          <p:nvPr/>
        </p:nvSpPr>
        <p:spPr>
          <a:xfrm>
            <a:off x="467360" y="3149600"/>
            <a:ext cx="7647305" cy="577850"/>
          </a:xfrm>
          <a:prstGeom prst="rect">
            <a:avLst/>
          </a:prstGeom>
          <a:noFill/>
        </p:spPr>
        <p:txBody>
          <a:bodyPr wrap="square" rtlCol="0">
            <a:noAutofit/>
          </a:bodyPr>
          <a:p>
            <a:r>
              <a:rPr lang="zh-CN" altLang="en-US"/>
              <a:t>（</a:t>
            </a:r>
            <a:r>
              <a:rPr lang="en-US" altLang="zh-CN"/>
              <a:t>2</a:t>
            </a:r>
            <a:r>
              <a:rPr lang="zh-CN" altLang="en-US"/>
              <a:t>）分治方法是否</a:t>
            </a:r>
            <a:r>
              <a:rPr lang="zh-CN" altLang="en-US"/>
              <a:t>可以？</a:t>
            </a:r>
            <a:endParaRPr lang="zh-CN" altLang="en-US"/>
          </a:p>
        </p:txBody>
      </p:sp>
      <p:sp>
        <p:nvSpPr>
          <p:cNvPr id="7" name="文本框 6"/>
          <p:cNvSpPr txBox="1"/>
          <p:nvPr/>
        </p:nvSpPr>
        <p:spPr>
          <a:xfrm>
            <a:off x="683260" y="2708910"/>
            <a:ext cx="7647305" cy="577850"/>
          </a:xfrm>
          <a:prstGeom prst="rect">
            <a:avLst/>
          </a:prstGeom>
          <a:noFill/>
        </p:spPr>
        <p:txBody>
          <a:bodyPr wrap="square" rtlCol="0">
            <a:noAutofit/>
          </a:bodyPr>
          <a:p>
            <a:r>
              <a:rPr lang="zh-CN" altLang="en-US"/>
              <a:t>运用学习过的知识，是否还有更聪明的</a:t>
            </a:r>
            <a:r>
              <a:rPr lang="zh-CN" altLang="en-US"/>
              <a:t>方法？</a:t>
            </a:r>
            <a:endParaRPr lang="zh-CN" altLang="en-US"/>
          </a:p>
        </p:txBody>
      </p:sp>
      <p:sp>
        <p:nvSpPr>
          <p:cNvPr id="8" name="文本框 7"/>
          <p:cNvSpPr txBox="1"/>
          <p:nvPr/>
        </p:nvSpPr>
        <p:spPr>
          <a:xfrm>
            <a:off x="5580380" y="3149600"/>
            <a:ext cx="734060" cy="29464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1000</a:t>
            </a:r>
            <a:endParaRPr lang="en-US" altLang="zh-CN">
              <a:latin typeface="Times New Roman" panose="02020603050405020304" pitchFamily="18" charset="0"/>
              <a:cs typeface="Times New Roman" panose="02020603050405020304" pitchFamily="18" charset="0"/>
            </a:endParaRPr>
          </a:p>
        </p:txBody>
      </p:sp>
      <p:cxnSp>
        <p:nvCxnSpPr>
          <p:cNvPr id="9" name="直接连接符 8"/>
          <p:cNvCxnSpPr/>
          <p:nvPr/>
        </p:nvCxnSpPr>
        <p:spPr>
          <a:xfrm>
            <a:off x="5907405" y="3437255"/>
            <a:ext cx="0" cy="2762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0" name="直接连接符 9"/>
          <p:cNvCxnSpPr/>
          <p:nvPr/>
        </p:nvCxnSpPr>
        <p:spPr>
          <a:xfrm flipV="1">
            <a:off x="4601845" y="3707765"/>
            <a:ext cx="272859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1" name="直接箭头连接符 10"/>
          <p:cNvCxnSpPr/>
          <p:nvPr/>
        </p:nvCxnSpPr>
        <p:spPr>
          <a:xfrm flipH="1">
            <a:off x="7321550" y="370459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3" name="直接箭头连接符 12"/>
          <p:cNvCxnSpPr/>
          <p:nvPr/>
        </p:nvCxnSpPr>
        <p:spPr>
          <a:xfrm flipH="1">
            <a:off x="6804025" y="37134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5" name="直接箭头连接符 14"/>
          <p:cNvCxnSpPr/>
          <p:nvPr/>
        </p:nvCxnSpPr>
        <p:spPr>
          <a:xfrm flipH="1">
            <a:off x="6234430" y="37007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6" name="直接箭头连接符 15"/>
          <p:cNvCxnSpPr/>
          <p:nvPr/>
        </p:nvCxnSpPr>
        <p:spPr>
          <a:xfrm flipH="1">
            <a:off x="5552440" y="37007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7" name="直接箭头连接符 16"/>
          <p:cNvCxnSpPr/>
          <p:nvPr/>
        </p:nvCxnSpPr>
        <p:spPr>
          <a:xfrm flipH="1">
            <a:off x="4590415" y="370459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8" name="直接箭头连接符 17"/>
          <p:cNvCxnSpPr/>
          <p:nvPr/>
        </p:nvCxnSpPr>
        <p:spPr>
          <a:xfrm flipH="1">
            <a:off x="5003800" y="37134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19" name="文本框 18"/>
          <p:cNvSpPr txBox="1"/>
          <p:nvPr/>
        </p:nvSpPr>
        <p:spPr>
          <a:xfrm>
            <a:off x="4211955" y="4044950"/>
            <a:ext cx="3464560" cy="32575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167    167   167     166     167    166 </a:t>
            </a:r>
            <a:endParaRPr lang="en-US" altLang="zh-CN">
              <a:latin typeface="Times New Roman" panose="02020603050405020304" pitchFamily="18" charset="0"/>
              <a:cs typeface="Times New Roman" panose="02020603050405020304" pitchFamily="18" charset="0"/>
            </a:endParaRPr>
          </a:p>
        </p:txBody>
      </p:sp>
      <p:cxnSp>
        <p:nvCxnSpPr>
          <p:cNvPr id="20" name="直接连接符 19"/>
          <p:cNvCxnSpPr/>
          <p:nvPr/>
        </p:nvCxnSpPr>
        <p:spPr>
          <a:xfrm>
            <a:off x="6237605" y="4347845"/>
            <a:ext cx="0" cy="2762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1" name="直接连接符 20"/>
          <p:cNvCxnSpPr/>
          <p:nvPr/>
        </p:nvCxnSpPr>
        <p:spPr>
          <a:xfrm flipV="1">
            <a:off x="4932045" y="4618355"/>
            <a:ext cx="272859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箭头连接符 21"/>
          <p:cNvCxnSpPr/>
          <p:nvPr/>
        </p:nvCxnSpPr>
        <p:spPr>
          <a:xfrm flipH="1">
            <a:off x="7651750" y="46151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3" name="直接箭头连接符 22"/>
          <p:cNvCxnSpPr/>
          <p:nvPr/>
        </p:nvCxnSpPr>
        <p:spPr>
          <a:xfrm flipH="1">
            <a:off x="7134225" y="462407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4" name="直接箭头连接符 23"/>
          <p:cNvCxnSpPr/>
          <p:nvPr/>
        </p:nvCxnSpPr>
        <p:spPr>
          <a:xfrm flipH="1">
            <a:off x="6564630" y="461137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5" name="直接箭头连接符 24"/>
          <p:cNvCxnSpPr/>
          <p:nvPr/>
        </p:nvCxnSpPr>
        <p:spPr>
          <a:xfrm flipH="1">
            <a:off x="5882640" y="461137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6" name="直接箭头连接符 25"/>
          <p:cNvCxnSpPr/>
          <p:nvPr/>
        </p:nvCxnSpPr>
        <p:spPr>
          <a:xfrm flipH="1">
            <a:off x="4920615" y="46151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7" name="直接箭头连接符 26"/>
          <p:cNvCxnSpPr/>
          <p:nvPr/>
        </p:nvCxnSpPr>
        <p:spPr>
          <a:xfrm flipH="1">
            <a:off x="5334000" y="462407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8" name="文本框 27"/>
          <p:cNvSpPr txBox="1"/>
          <p:nvPr/>
        </p:nvSpPr>
        <p:spPr>
          <a:xfrm>
            <a:off x="4699635" y="4946015"/>
            <a:ext cx="3464560" cy="32575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27    27      28       28       28    28 </a:t>
            </a:r>
            <a:endParaRPr lang="en-US" altLang="zh-CN">
              <a:latin typeface="Times New Roman" panose="02020603050405020304" pitchFamily="18" charset="0"/>
              <a:cs typeface="Times New Roman" panose="02020603050405020304" pitchFamily="18" charset="0"/>
            </a:endParaRPr>
          </a:p>
        </p:txBody>
      </p:sp>
      <p:cxnSp>
        <p:nvCxnSpPr>
          <p:cNvPr id="29" name="直接连接符 28"/>
          <p:cNvCxnSpPr/>
          <p:nvPr/>
        </p:nvCxnSpPr>
        <p:spPr>
          <a:xfrm>
            <a:off x="5965825" y="5248910"/>
            <a:ext cx="0" cy="2762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0" name="直接连接符 29"/>
          <p:cNvCxnSpPr/>
          <p:nvPr/>
        </p:nvCxnSpPr>
        <p:spPr>
          <a:xfrm flipV="1">
            <a:off x="4660265" y="5519420"/>
            <a:ext cx="272859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箭头连接符 30"/>
          <p:cNvCxnSpPr/>
          <p:nvPr/>
        </p:nvCxnSpPr>
        <p:spPr>
          <a:xfrm flipH="1">
            <a:off x="7379970" y="551624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2" name="直接箭头连接符 31"/>
          <p:cNvCxnSpPr/>
          <p:nvPr/>
        </p:nvCxnSpPr>
        <p:spPr>
          <a:xfrm flipH="1">
            <a:off x="6862445" y="552513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3" name="直接箭头连接符 32"/>
          <p:cNvCxnSpPr/>
          <p:nvPr/>
        </p:nvCxnSpPr>
        <p:spPr>
          <a:xfrm flipH="1">
            <a:off x="6292850" y="551243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4" name="直接箭头连接符 33"/>
          <p:cNvCxnSpPr/>
          <p:nvPr/>
        </p:nvCxnSpPr>
        <p:spPr>
          <a:xfrm flipH="1">
            <a:off x="5610860" y="551243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5" name="直接箭头连接符 34"/>
          <p:cNvCxnSpPr/>
          <p:nvPr/>
        </p:nvCxnSpPr>
        <p:spPr>
          <a:xfrm flipH="1">
            <a:off x="4648835" y="551624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6" name="直接箭头连接符 35"/>
          <p:cNvCxnSpPr/>
          <p:nvPr/>
        </p:nvCxnSpPr>
        <p:spPr>
          <a:xfrm flipH="1">
            <a:off x="5062220" y="552513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7" name="文本框 36"/>
          <p:cNvSpPr txBox="1"/>
          <p:nvPr/>
        </p:nvSpPr>
        <p:spPr>
          <a:xfrm>
            <a:off x="4427855" y="5847080"/>
            <a:ext cx="3464560" cy="32575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5       5        5         5       4        4 </a:t>
            </a:r>
            <a:endParaRPr lang="en-US" altLang="zh-CN">
              <a:latin typeface="Times New Roman" panose="02020603050405020304" pitchFamily="18" charset="0"/>
              <a:cs typeface="Times New Roman" panose="02020603050405020304" pitchFamily="18" charset="0"/>
            </a:endParaRPr>
          </a:p>
        </p:txBody>
      </p:sp>
      <p:sp>
        <p:nvSpPr>
          <p:cNvPr id="39" name="左大括号 38"/>
          <p:cNvSpPr/>
          <p:nvPr/>
        </p:nvSpPr>
        <p:spPr>
          <a:xfrm>
            <a:off x="3973195" y="3528695"/>
            <a:ext cx="287655" cy="819150"/>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877695" y="3702685"/>
            <a:ext cx="22593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5</a:t>
            </a:r>
            <a:r>
              <a:rPr lang="zh-CN" altLang="en-US">
                <a:solidFill>
                  <a:schemeClr val="tx1"/>
                </a:solidFill>
                <a:uFillTx/>
                <a:latin typeface="Times New Roman" panose="02020603050405020304" pitchFamily="18" charset="0"/>
              </a:rPr>
              <a:t>头猪，使用</a:t>
            </a:r>
            <a:r>
              <a:rPr lang="en-US" altLang="zh-CN">
                <a:solidFill>
                  <a:schemeClr val="tx1"/>
                </a:solidFill>
                <a:uFillTx/>
                <a:latin typeface="Times New Roman" panose="02020603050405020304" pitchFamily="18" charset="0"/>
              </a:rPr>
              <a:t>15</a:t>
            </a:r>
            <a:r>
              <a:rPr lang="zh-CN" altLang="en-US">
                <a:solidFill>
                  <a:schemeClr val="tx1"/>
                </a:solidFill>
                <a:uFillTx/>
                <a:latin typeface="Times New Roman" panose="02020603050405020304" pitchFamily="18" charset="0"/>
              </a:rPr>
              <a:t>分钟</a:t>
            </a:r>
            <a:endParaRPr lang="zh-CN" altLang="en-US">
              <a:solidFill>
                <a:schemeClr val="tx1"/>
              </a:solidFill>
              <a:uFillTx/>
              <a:latin typeface="Times New Roman" panose="02020603050405020304" pitchFamily="18" charset="0"/>
            </a:endParaRPr>
          </a:p>
        </p:txBody>
      </p:sp>
      <p:sp>
        <p:nvSpPr>
          <p:cNvPr id="41" name="左大括号 40"/>
          <p:cNvSpPr/>
          <p:nvPr/>
        </p:nvSpPr>
        <p:spPr>
          <a:xfrm>
            <a:off x="4218940" y="4551045"/>
            <a:ext cx="287655" cy="819150"/>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2123440" y="4725035"/>
            <a:ext cx="22593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5</a:t>
            </a:r>
            <a:r>
              <a:rPr lang="zh-CN" altLang="en-US">
                <a:solidFill>
                  <a:schemeClr val="tx1"/>
                </a:solidFill>
                <a:uFillTx/>
                <a:latin typeface="Times New Roman" panose="02020603050405020304" pitchFamily="18" charset="0"/>
              </a:rPr>
              <a:t>头猪，使用</a:t>
            </a:r>
            <a:r>
              <a:rPr lang="en-US" altLang="zh-CN">
                <a:solidFill>
                  <a:schemeClr val="tx1"/>
                </a:solidFill>
                <a:uFillTx/>
                <a:latin typeface="Times New Roman" panose="02020603050405020304" pitchFamily="18" charset="0"/>
              </a:rPr>
              <a:t>15</a:t>
            </a:r>
            <a:r>
              <a:rPr lang="zh-CN" altLang="en-US">
                <a:solidFill>
                  <a:schemeClr val="tx1"/>
                </a:solidFill>
                <a:uFillTx/>
                <a:latin typeface="Times New Roman" panose="02020603050405020304" pitchFamily="18" charset="0"/>
              </a:rPr>
              <a:t>分钟</a:t>
            </a:r>
            <a:endParaRPr lang="zh-CN" altLang="en-US">
              <a:solidFill>
                <a:schemeClr val="tx1"/>
              </a:solidFill>
              <a:uFillTx/>
              <a:latin typeface="Times New Roman" panose="02020603050405020304" pitchFamily="18" charset="0"/>
            </a:endParaRPr>
          </a:p>
        </p:txBody>
      </p:sp>
      <p:sp>
        <p:nvSpPr>
          <p:cNvPr id="43" name="左大括号 42"/>
          <p:cNvSpPr/>
          <p:nvPr/>
        </p:nvSpPr>
        <p:spPr>
          <a:xfrm>
            <a:off x="4281805" y="5518150"/>
            <a:ext cx="287655" cy="819150"/>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4" name="文本框 43"/>
          <p:cNvSpPr txBox="1"/>
          <p:nvPr/>
        </p:nvSpPr>
        <p:spPr>
          <a:xfrm>
            <a:off x="2186305" y="5692140"/>
            <a:ext cx="22593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5</a:t>
            </a:r>
            <a:r>
              <a:rPr lang="zh-CN" altLang="en-US">
                <a:solidFill>
                  <a:schemeClr val="tx1"/>
                </a:solidFill>
                <a:uFillTx/>
                <a:latin typeface="Times New Roman" panose="02020603050405020304" pitchFamily="18" charset="0"/>
              </a:rPr>
              <a:t>头猪，使用</a:t>
            </a:r>
            <a:r>
              <a:rPr lang="en-US" altLang="zh-CN">
                <a:solidFill>
                  <a:schemeClr val="tx1"/>
                </a:solidFill>
                <a:uFillTx/>
                <a:latin typeface="Times New Roman" panose="02020603050405020304" pitchFamily="18" charset="0"/>
              </a:rPr>
              <a:t>15</a:t>
            </a:r>
            <a:r>
              <a:rPr lang="zh-CN" altLang="en-US">
                <a:solidFill>
                  <a:schemeClr val="tx1"/>
                </a:solidFill>
                <a:uFillTx/>
                <a:latin typeface="Times New Roman" panose="02020603050405020304" pitchFamily="18" charset="0"/>
              </a:rPr>
              <a:t>分钟</a:t>
            </a:r>
            <a:endParaRPr lang="zh-CN" altLang="en-US">
              <a:solidFill>
                <a:schemeClr val="tx1"/>
              </a:solidFill>
              <a:uFillTx/>
              <a:latin typeface="Times New Roman" panose="02020603050405020304" pitchFamily="18" charset="0"/>
            </a:endParaRPr>
          </a:p>
        </p:txBody>
      </p:sp>
      <p:sp>
        <p:nvSpPr>
          <p:cNvPr id="45" name="文本框 44"/>
          <p:cNvSpPr txBox="1"/>
          <p:nvPr/>
        </p:nvSpPr>
        <p:spPr>
          <a:xfrm>
            <a:off x="2339975" y="6308725"/>
            <a:ext cx="6084570" cy="368300"/>
          </a:xfrm>
          <a:prstGeom prst="rect">
            <a:avLst/>
          </a:prstGeom>
          <a:noFill/>
        </p:spPr>
        <p:txBody>
          <a:bodyPr wrap="square" rtlCol="0">
            <a:spAutoFit/>
          </a:bodyPr>
          <a:p>
            <a:r>
              <a:rPr lang="zh-CN" altLang="en-US">
                <a:solidFill>
                  <a:schemeClr val="tx1"/>
                </a:solidFill>
                <a:uFillTx/>
                <a:latin typeface="Times New Roman" panose="02020603050405020304" pitchFamily="18" charset="0"/>
              </a:rPr>
              <a:t>最后</a:t>
            </a:r>
            <a:r>
              <a:rPr lang="en-US" altLang="zh-CN">
                <a:solidFill>
                  <a:schemeClr val="tx1"/>
                </a:solidFill>
                <a:uFillTx/>
                <a:latin typeface="Times New Roman" panose="02020603050405020304" pitchFamily="18" charset="0"/>
              </a:rPr>
              <a:t>5</a:t>
            </a:r>
            <a:r>
              <a:rPr lang="zh-CN" altLang="en-US">
                <a:solidFill>
                  <a:schemeClr val="tx1"/>
                </a:solidFill>
                <a:uFillTx/>
                <a:latin typeface="Times New Roman" panose="02020603050405020304" pitchFamily="18" charset="0"/>
              </a:rPr>
              <a:t>桶水再用</a:t>
            </a:r>
            <a:r>
              <a:rPr lang="en-US" altLang="zh-CN">
                <a:solidFill>
                  <a:schemeClr val="tx1"/>
                </a:solidFill>
                <a:uFillTx/>
                <a:latin typeface="Times New Roman" panose="02020603050405020304" pitchFamily="18" charset="0"/>
              </a:rPr>
              <a:t>4</a:t>
            </a:r>
            <a:r>
              <a:rPr lang="zh-CN" altLang="en-US">
                <a:solidFill>
                  <a:schemeClr val="tx1"/>
                </a:solidFill>
                <a:uFillTx/>
                <a:latin typeface="Times New Roman" panose="02020603050405020304" pitchFamily="18" charset="0"/>
              </a:rPr>
              <a:t>头猪，使用</a:t>
            </a:r>
            <a:r>
              <a:rPr lang="en-US" altLang="zh-CN">
                <a:solidFill>
                  <a:schemeClr val="tx1"/>
                </a:solidFill>
                <a:uFillTx/>
                <a:latin typeface="Times New Roman" panose="02020603050405020304" pitchFamily="18" charset="0"/>
              </a:rPr>
              <a:t>15</a:t>
            </a:r>
            <a:r>
              <a:rPr lang="zh-CN" altLang="en-US">
                <a:solidFill>
                  <a:schemeClr val="tx1"/>
                </a:solidFill>
                <a:uFillTx/>
                <a:latin typeface="Times New Roman" panose="02020603050405020304" pitchFamily="18" charset="0"/>
              </a:rPr>
              <a:t>分钟，</a:t>
            </a:r>
            <a:r>
              <a:rPr lang="zh-CN" altLang="en-US">
                <a:solidFill>
                  <a:schemeClr val="tx1"/>
                </a:solidFill>
                <a:uFillTx/>
                <a:latin typeface="Times New Roman" panose="02020603050405020304" pitchFamily="18" charset="0"/>
              </a:rPr>
              <a:t>确定。</a:t>
            </a:r>
            <a:endParaRPr lang="zh-CN" altLang="en-US">
              <a:solidFill>
                <a:schemeClr val="tx1"/>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467360" y="1556385"/>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3</a:t>
            </a:r>
            <a:r>
              <a:rPr lang="zh-CN" altLang="en-US"/>
              <a:t>）是否还有更聪明的方法解决问题？若将桶组成一个矩阵会不会</a:t>
            </a:r>
            <a:r>
              <a:rPr lang="zh-CN" altLang="en-US"/>
              <a:t>更好？</a:t>
            </a:r>
            <a:endParaRPr lang="zh-CN" altLang="en-US"/>
          </a:p>
        </p:txBody>
      </p:sp>
      <p:sp>
        <p:nvSpPr>
          <p:cNvPr id="2" name="立方体 1"/>
          <p:cNvSpPr/>
          <p:nvPr/>
        </p:nvSpPr>
        <p:spPr>
          <a:xfrm>
            <a:off x="2051685" y="29965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立方体 13"/>
          <p:cNvSpPr/>
          <p:nvPr/>
        </p:nvSpPr>
        <p:spPr>
          <a:xfrm>
            <a:off x="2483485" y="29978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立方体 37"/>
          <p:cNvSpPr/>
          <p:nvPr/>
        </p:nvSpPr>
        <p:spPr>
          <a:xfrm>
            <a:off x="2942590" y="29978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6" name="立方体 45"/>
          <p:cNvSpPr/>
          <p:nvPr/>
        </p:nvSpPr>
        <p:spPr>
          <a:xfrm>
            <a:off x="3392805" y="2995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7" name="立方体 46"/>
          <p:cNvSpPr/>
          <p:nvPr/>
        </p:nvSpPr>
        <p:spPr>
          <a:xfrm>
            <a:off x="1907540"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立方体 47"/>
          <p:cNvSpPr/>
          <p:nvPr/>
        </p:nvSpPr>
        <p:spPr>
          <a:xfrm>
            <a:off x="2366645"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9" name="立方体 48"/>
          <p:cNvSpPr/>
          <p:nvPr/>
        </p:nvSpPr>
        <p:spPr>
          <a:xfrm>
            <a:off x="2815590"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立方体 49"/>
          <p:cNvSpPr/>
          <p:nvPr/>
        </p:nvSpPr>
        <p:spPr>
          <a:xfrm>
            <a:off x="3274695"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1" name="立方体 50"/>
          <p:cNvSpPr/>
          <p:nvPr/>
        </p:nvSpPr>
        <p:spPr>
          <a:xfrm>
            <a:off x="3850640" y="2995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2" name="立方体 51"/>
          <p:cNvSpPr/>
          <p:nvPr/>
        </p:nvSpPr>
        <p:spPr>
          <a:xfrm>
            <a:off x="3732530"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立方体 52"/>
          <p:cNvSpPr/>
          <p:nvPr/>
        </p:nvSpPr>
        <p:spPr>
          <a:xfrm>
            <a:off x="1792605" y="327914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立方体 53"/>
          <p:cNvSpPr/>
          <p:nvPr/>
        </p:nvSpPr>
        <p:spPr>
          <a:xfrm>
            <a:off x="2224405" y="32804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立方体 54"/>
          <p:cNvSpPr/>
          <p:nvPr/>
        </p:nvSpPr>
        <p:spPr>
          <a:xfrm>
            <a:off x="2683510" y="3280410"/>
            <a:ext cx="575945" cy="504190"/>
          </a:xfrm>
          <a:prstGeom prst="cub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立方体 55"/>
          <p:cNvSpPr/>
          <p:nvPr/>
        </p:nvSpPr>
        <p:spPr>
          <a:xfrm>
            <a:off x="3133725" y="32778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7" name="立方体 56"/>
          <p:cNvSpPr/>
          <p:nvPr/>
        </p:nvSpPr>
        <p:spPr>
          <a:xfrm>
            <a:off x="1648460"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8" name="立方体 57"/>
          <p:cNvSpPr/>
          <p:nvPr/>
        </p:nvSpPr>
        <p:spPr>
          <a:xfrm>
            <a:off x="2107565"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立方体 58"/>
          <p:cNvSpPr/>
          <p:nvPr/>
        </p:nvSpPr>
        <p:spPr>
          <a:xfrm>
            <a:off x="2556510"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0" name="立方体 59"/>
          <p:cNvSpPr/>
          <p:nvPr/>
        </p:nvSpPr>
        <p:spPr>
          <a:xfrm>
            <a:off x="3015615"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1" name="立方体 60"/>
          <p:cNvSpPr/>
          <p:nvPr/>
        </p:nvSpPr>
        <p:spPr>
          <a:xfrm>
            <a:off x="3591560" y="32778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立方体 61"/>
          <p:cNvSpPr/>
          <p:nvPr/>
        </p:nvSpPr>
        <p:spPr>
          <a:xfrm>
            <a:off x="3473450"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立方体 62"/>
          <p:cNvSpPr/>
          <p:nvPr/>
        </p:nvSpPr>
        <p:spPr>
          <a:xfrm>
            <a:off x="1517650"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立方体 63"/>
          <p:cNvSpPr/>
          <p:nvPr/>
        </p:nvSpPr>
        <p:spPr>
          <a:xfrm>
            <a:off x="1976755"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立方体 64"/>
          <p:cNvSpPr/>
          <p:nvPr/>
        </p:nvSpPr>
        <p:spPr>
          <a:xfrm>
            <a:off x="2425700"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立方体 65"/>
          <p:cNvSpPr/>
          <p:nvPr/>
        </p:nvSpPr>
        <p:spPr>
          <a:xfrm>
            <a:off x="2884805"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7" name="立方体 66"/>
          <p:cNvSpPr/>
          <p:nvPr/>
        </p:nvSpPr>
        <p:spPr>
          <a:xfrm>
            <a:off x="3342640"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69" name="直接箭头连接符 68"/>
          <p:cNvCxnSpPr/>
          <p:nvPr/>
        </p:nvCxnSpPr>
        <p:spPr>
          <a:xfrm flipV="1">
            <a:off x="2124075" y="2887980"/>
            <a:ext cx="2160905" cy="889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cxnSp>
        <p:nvCxnSpPr>
          <p:cNvPr id="70" name="直接箭头连接符 69"/>
          <p:cNvCxnSpPr/>
          <p:nvPr/>
        </p:nvCxnSpPr>
        <p:spPr>
          <a:xfrm flipH="1">
            <a:off x="1403985" y="2886710"/>
            <a:ext cx="739775" cy="79375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71" name="文本框 70"/>
          <p:cNvSpPr txBox="1"/>
          <p:nvPr/>
        </p:nvSpPr>
        <p:spPr>
          <a:xfrm>
            <a:off x="935355" y="4580890"/>
            <a:ext cx="7156450" cy="670560"/>
          </a:xfrm>
          <a:prstGeom prst="rect">
            <a:avLst/>
          </a:prstGeom>
          <a:noFill/>
        </p:spPr>
        <p:txBody>
          <a:bodyPr wrap="square" rtlCol="0">
            <a:noAutofit/>
          </a:bodyPr>
          <a:p>
            <a:r>
              <a:rPr lang="zh-CN" altLang="en-US"/>
              <a:t>如果有</a:t>
            </a:r>
            <a:r>
              <a:rPr lang="en-US" altLang="zh-CN"/>
              <a:t>25</a:t>
            </a:r>
            <a:r>
              <a:rPr lang="zh-CN" altLang="en-US"/>
              <a:t>桶水，</a:t>
            </a:r>
            <a:r>
              <a:rPr lang="en-US" altLang="zh-CN"/>
              <a:t>minutesToDie=15</a:t>
            </a:r>
            <a:r>
              <a:rPr lang="zh-CN" altLang="en-US"/>
              <a:t>，</a:t>
            </a:r>
            <a:r>
              <a:rPr lang="en-US" altLang="zh-CN"/>
              <a:t>minutesToTest=60</a:t>
            </a:r>
            <a:r>
              <a:rPr lang="zh-CN" altLang="en-US"/>
              <a:t>。则只需要二头猪就可以</a:t>
            </a:r>
            <a:r>
              <a:rPr lang="zh-CN" altLang="en-US"/>
              <a:t>确定。</a:t>
            </a:r>
            <a:endParaRPr lang="zh-CN" altLang="en-US"/>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467360" y="1556385"/>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3</a:t>
            </a:r>
            <a:r>
              <a:rPr lang="zh-CN" altLang="en-US"/>
              <a:t>）是否还有更聪明的方法解决问题？若将桶组成一个矩阵会不会</a:t>
            </a:r>
            <a:r>
              <a:rPr lang="zh-CN" altLang="en-US"/>
              <a:t>更好？</a:t>
            </a:r>
            <a:endParaRPr lang="zh-CN" altLang="en-US"/>
          </a:p>
        </p:txBody>
      </p:sp>
      <p:sp>
        <p:nvSpPr>
          <p:cNvPr id="2" name="立方体 1"/>
          <p:cNvSpPr/>
          <p:nvPr/>
        </p:nvSpPr>
        <p:spPr>
          <a:xfrm>
            <a:off x="3143250" y="43014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立方体 13"/>
          <p:cNvSpPr/>
          <p:nvPr/>
        </p:nvSpPr>
        <p:spPr>
          <a:xfrm>
            <a:off x="3575050" y="43027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立方体 37"/>
          <p:cNvSpPr/>
          <p:nvPr/>
        </p:nvSpPr>
        <p:spPr>
          <a:xfrm>
            <a:off x="4034155" y="43027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6" name="立方体 45"/>
          <p:cNvSpPr/>
          <p:nvPr/>
        </p:nvSpPr>
        <p:spPr>
          <a:xfrm>
            <a:off x="4484370" y="43002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7" name="立方体 46"/>
          <p:cNvSpPr/>
          <p:nvPr/>
        </p:nvSpPr>
        <p:spPr>
          <a:xfrm>
            <a:off x="2999105"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立方体 47"/>
          <p:cNvSpPr/>
          <p:nvPr/>
        </p:nvSpPr>
        <p:spPr>
          <a:xfrm>
            <a:off x="3458210"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9" name="立方体 48"/>
          <p:cNvSpPr/>
          <p:nvPr/>
        </p:nvSpPr>
        <p:spPr>
          <a:xfrm>
            <a:off x="3907155"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立方体 49"/>
          <p:cNvSpPr/>
          <p:nvPr/>
        </p:nvSpPr>
        <p:spPr>
          <a:xfrm>
            <a:off x="4366260"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1" name="立方体 50"/>
          <p:cNvSpPr/>
          <p:nvPr/>
        </p:nvSpPr>
        <p:spPr>
          <a:xfrm>
            <a:off x="4942205" y="43002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2" name="立方体 51"/>
          <p:cNvSpPr/>
          <p:nvPr/>
        </p:nvSpPr>
        <p:spPr>
          <a:xfrm>
            <a:off x="4824095"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立方体 52"/>
          <p:cNvSpPr/>
          <p:nvPr/>
        </p:nvSpPr>
        <p:spPr>
          <a:xfrm>
            <a:off x="2884170" y="45840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立方体 53"/>
          <p:cNvSpPr/>
          <p:nvPr/>
        </p:nvSpPr>
        <p:spPr>
          <a:xfrm>
            <a:off x="3315970" y="45853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立方体 54"/>
          <p:cNvSpPr/>
          <p:nvPr/>
        </p:nvSpPr>
        <p:spPr>
          <a:xfrm>
            <a:off x="3775075" y="4585335"/>
            <a:ext cx="575945" cy="504190"/>
          </a:xfrm>
          <a:prstGeom prst="cub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立方体 55"/>
          <p:cNvSpPr/>
          <p:nvPr/>
        </p:nvSpPr>
        <p:spPr>
          <a:xfrm>
            <a:off x="4225290" y="45827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7" name="立方体 56"/>
          <p:cNvSpPr/>
          <p:nvPr/>
        </p:nvSpPr>
        <p:spPr>
          <a:xfrm>
            <a:off x="2740025"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8" name="立方体 57"/>
          <p:cNvSpPr/>
          <p:nvPr/>
        </p:nvSpPr>
        <p:spPr>
          <a:xfrm>
            <a:off x="3199130"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立方体 58"/>
          <p:cNvSpPr/>
          <p:nvPr/>
        </p:nvSpPr>
        <p:spPr>
          <a:xfrm>
            <a:off x="3648075"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0" name="立方体 59"/>
          <p:cNvSpPr/>
          <p:nvPr/>
        </p:nvSpPr>
        <p:spPr>
          <a:xfrm>
            <a:off x="4107180"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1" name="立方体 60"/>
          <p:cNvSpPr/>
          <p:nvPr/>
        </p:nvSpPr>
        <p:spPr>
          <a:xfrm>
            <a:off x="4683125" y="45827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立方体 61"/>
          <p:cNvSpPr/>
          <p:nvPr/>
        </p:nvSpPr>
        <p:spPr>
          <a:xfrm>
            <a:off x="4565015"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立方体 62"/>
          <p:cNvSpPr/>
          <p:nvPr/>
        </p:nvSpPr>
        <p:spPr>
          <a:xfrm>
            <a:off x="2609215" y="486410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立方体 63"/>
          <p:cNvSpPr/>
          <p:nvPr/>
        </p:nvSpPr>
        <p:spPr>
          <a:xfrm>
            <a:off x="3068320" y="486410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立方体 64"/>
          <p:cNvSpPr/>
          <p:nvPr/>
        </p:nvSpPr>
        <p:spPr>
          <a:xfrm>
            <a:off x="3517265" y="486410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立方体 65"/>
          <p:cNvSpPr/>
          <p:nvPr/>
        </p:nvSpPr>
        <p:spPr>
          <a:xfrm>
            <a:off x="3976370" y="486410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7" name="立方体 66"/>
          <p:cNvSpPr/>
          <p:nvPr/>
        </p:nvSpPr>
        <p:spPr>
          <a:xfrm>
            <a:off x="4434205" y="4864100"/>
            <a:ext cx="575945" cy="504190"/>
          </a:xfrm>
          <a:prstGeom prst="cube">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69" name="直接箭头连接符 68"/>
          <p:cNvCxnSpPr/>
          <p:nvPr/>
        </p:nvCxnSpPr>
        <p:spPr>
          <a:xfrm flipV="1">
            <a:off x="5580380" y="4658360"/>
            <a:ext cx="2160905" cy="889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cxnSp>
        <p:nvCxnSpPr>
          <p:cNvPr id="70" name="直接箭头连接符 69"/>
          <p:cNvCxnSpPr/>
          <p:nvPr/>
        </p:nvCxnSpPr>
        <p:spPr>
          <a:xfrm flipH="1">
            <a:off x="4860290" y="4657090"/>
            <a:ext cx="739775" cy="79375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33" name="立方体 32"/>
          <p:cNvSpPr/>
          <p:nvPr/>
        </p:nvSpPr>
        <p:spPr>
          <a:xfrm>
            <a:off x="3148330" y="395478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4" name="立方体 33"/>
          <p:cNvSpPr/>
          <p:nvPr/>
        </p:nvSpPr>
        <p:spPr>
          <a:xfrm>
            <a:off x="3580130" y="395605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立方体 34"/>
          <p:cNvSpPr/>
          <p:nvPr/>
        </p:nvSpPr>
        <p:spPr>
          <a:xfrm>
            <a:off x="4039235" y="395605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立方体 35"/>
          <p:cNvSpPr/>
          <p:nvPr/>
        </p:nvSpPr>
        <p:spPr>
          <a:xfrm>
            <a:off x="4489450" y="39535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立方体 36"/>
          <p:cNvSpPr/>
          <p:nvPr/>
        </p:nvSpPr>
        <p:spPr>
          <a:xfrm>
            <a:off x="3004185"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9" name="立方体 38"/>
          <p:cNvSpPr/>
          <p:nvPr/>
        </p:nvSpPr>
        <p:spPr>
          <a:xfrm>
            <a:off x="3463290"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立方体 39"/>
          <p:cNvSpPr/>
          <p:nvPr/>
        </p:nvSpPr>
        <p:spPr>
          <a:xfrm>
            <a:off x="3912235"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立方体 40"/>
          <p:cNvSpPr/>
          <p:nvPr/>
        </p:nvSpPr>
        <p:spPr>
          <a:xfrm>
            <a:off x="4371340"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立方体 41"/>
          <p:cNvSpPr/>
          <p:nvPr/>
        </p:nvSpPr>
        <p:spPr>
          <a:xfrm>
            <a:off x="4947285" y="39535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3" name="立方体 42"/>
          <p:cNvSpPr/>
          <p:nvPr/>
        </p:nvSpPr>
        <p:spPr>
          <a:xfrm>
            <a:off x="4829175"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4" name="立方体 43"/>
          <p:cNvSpPr/>
          <p:nvPr/>
        </p:nvSpPr>
        <p:spPr>
          <a:xfrm>
            <a:off x="2889250" y="423735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5" name="立方体 44"/>
          <p:cNvSpPr/>
          <p:nvPr/>
        </p:nvSpPr>
        <p:spPr>
          <a:xfrm>
            <a:off x="3321050" y="423862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8" name="立方体 67"/>
          <p:cNvSpPr/>
          <p:nvPr/>
        </p:nvSpPr>
        <p:spPr>
          <a:xfrm>
            <a:off x="3780155" y="4238625"/>
            <a:ext cx="575945" cy="504190"/>
          </a:xfrm>
          <a:prstGeom prst="cube">
            <a:avLst/>
          </a:prstGeom>
          <a:solidFill>
            <a:schemeClr val="accent1"/>
          </a:solidFill>
          <a:ln w="28575" cap="flat" cmpd="sng" algn="ctr">
            <a:no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2" name="立方体 71"/>
          <p:cNvSpPr/>
          <p:nvPr/>
        </p:nvSpPr>
        <p:spPr>
          <a:xfrm>
            <a:off x="4230370" y="423608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3" name="立方体 72"/>
          <p:cNvSpPr/>
          <p:nvPr/>
        </p:nvSpPr>
        <p:spPr>
          <a:xfrm>
            <a:off x="2745105"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4" name="立方体 73"/>
          <p:cNvSpPr/>
          <p:nvPr/>
        </p:nvSpPr>
        <p:spPr>
          <a:xfrm>
            <a:off x="3204210"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5" name="立方体 74"/>
          <p:cNvSpPr/>
          <p:nvPr/>
        </p:nvSpPr>
        <p:spPr>
          <a:xfrm>
            <a:off x="3653155"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立方体 75"/>
          <p:cNvSpPr/>
          <p:nvPr/>
        </p:nvSpPr>
        <p:spPr>
          <a:xfrm>
            <a:off x="4112260"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立方体 76"/>
          <p:cNvSpPr/>
          <p:nvPr/>
        </p:nvSpPr>
        <p:spPr>
          <a:xfrm>
            <a:off x="4688205" y="423608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立方体 77"/>
          <p:cNvSpPr/>
          <p:nvPr/>
        </p:nvSpPr>
        <p:spPr>
          <a:xfrm>
            <a:off x="4570095"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立方体 78"/>
          <p:cNvSpPr/>
          <p:nvPr/>
        </p:nvSpPr>
        <p:spPr>
          <a:xfrm>
            <a:off x="2614295"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0" name="立方体 79"/>
          <p:cNvSpPr/>
          <p:nvPr/>
        </p:nvSpPr>
        <p:spPr>
          <a:xfrm>
            <a:off x="3073400"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立方体 80"/>
          <p:cNvSpPr/>
          <p:nvPr/>
        </p:nvSpPr>
        <p:spPr>
          <a:xfrm>
            <a:off x="3522345"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立方体 81"/>
          <p:cNvSpPr/>
          <p:nvPr/>
        </p:nvSpPr>
        <p:spPr>
          <a:xfrm>
            <a:off x="3981450"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3" name="立方体 82"/>
          <p:cNvSpPr/>
          <p:nvPr/>
        </p:nvSpPr>
        <p:spPr>
          <a:xfrm>
            <a:off x="4439285"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立方体 83"/>
          <p:cNvSpPr/>
          <p:nvPr/>
        </p:nvSpPr>
        <p:spPr>
          <a:xfrm>
            <a:off x="3148330" y="35915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5" name="立方体 84"/>
          <p:cNvSpPr/>
          <p:nvPr/>
        </p:nvSpPr>
        <p:spPr>
          <a:xfrm>
            <a:off x="3580130" y="359283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立方体 85"/>
          <p:cNvSpPr/>
          <p:nvPr/>
        </p:nvSpPr>
        <p:spPr>
          <a:xfrm>
            <a:off x="4039235" y="359283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7" name="立方体 86"/>
          <p:cNvSpPr/>
          <p:nvPr/>
        </p:nvSpPr>
        <p:spPr>
          <a:xfrm>
            <a:off x="4489450" y="35902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8" name="立方体 87"/>
          <p:cNvSpPr/>
          <p:nvPr/>
        </p:nvSpPr>
        <p:spPr>
          <a:xfrm>
            <a:off x="3004185"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9" name="立方体 88"/>
          <p:cNvSpPr/>
          <p:nvPr/>
        </p:nvSpPr>
        <p:spPr>
          <a:xfrm>
            <a:off x="3463290"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立方体 89"/>
          <p:cNvSpPr/>
          <p:nvPr/>
        </p:nvSpPr>
        <p:spPr>
          <a:xfrm>
            <a:off x="3912235"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1" name="立方体 90"/>
          <p:cNvSpPr/>
          <p:nvPr/>
        </p:nvSpPr>
        <p:spPr>
          <a:xfrm>
            <a:off x="4371340"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立方体 91"/>
          <p:cNvSpPr/>
          <p:nvPr/>
        </p:nvSpPr>
        <p:spPr>
          <a:xfrm>
            <a:off x="4947285" y="35902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立方体 92"/>
          <p:cNvSpPr/>
          <p:nvPr/>
        </p:nvSpPr>
        <p:spPr>
          <a:xfrm>
            <a:off x="4829175"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立方体 93"/>
          <p:cNvSpPr/>
          <p:nvPr/>
        </p:nvSpPr>
        <p:spPr>
          <a:xfrm>
            <a:off x="2889250" y="38741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5" name="立方体 94"/>
          <p:cNvSpPr/>
          <p:nvPr/>
        </p:nvSpPr>
        <p:spPr>
          <a:xfrm>
            <a:off x="3321050" y="387540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6" name="立方体 95"/>
          <p:cNvSpPr/>
          <p:nvPr/>
        </p:nvSpPr>
        <p:spPr>
          <a:xfrm>
            <a:off x="3780155" y="3875405"/>
            <a:ext cx="575945" cy="504190"/>
          </a:xfrm>
          <a:prstGeom prst="cube">
            <a:avLst/>
          </a:prstGeom>
          <a:solidFill>
            <a:schemeClr val="accent1"/>
          </a:solidFill>
          <a:ln w="28575" cap="flat" cmpd="sng" algn="ctr">
            <a:no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立方体 96"/>
          <p:cNvSpPr/>
          <p:nvPr/>
        </p:nvSpPr>
        <p:spPr>
          <a:xfrm>
            <a:off x="4230370" y="38728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8" name="立方体 97"/>
          <p:cNvSpPr/>
          <p:nvPr/>
        </p:nvSpPr>
        <p:spPr>
          <a:xfrm>
            <a:off x="2745105"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立方体 98"/>
          <p:cNvSpPr/>
          <p:nvPr/>
        </p:nvSpPr>
        <p:spPr>
          <a:xfrm>
            <a:off x="3204210"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0" name="立方体 99"/>
          <p:cNvSpPr/>
          <p:nvPr/>
        </p:nvSpPr>
        <p:spPr>
          <a:xfrm>
            <a:off x="3653155"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1" name="立方体 100"/>
          <p:cNvSpPr/>
          <p:nvPr/>
        </p:nvSpPr>
        <p:spPr>
          <a:xfrm>
            <a:off x="4112260"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2" name="立方体 101"/>
          <p:cNvSpPr/>
          <p:nvPr/>
        </p:nvSpPr>
        <p:spPr>
          <a:xfrm>
            <a:off x="4688205" y="38728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3" name="立方体 102"/>
          <p:cNvSpPr/>
          <p:nvPr/>
        </p:nvSpPr>
        <p:spPr>
          <a:xfrm>
            <a:off x="4570095"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4" name="立方体 103"/>
          <p:cNvSpPr/>
          <p:nvPr/>
        </p:nvSpPr>
        <p:spPr>
          <a:xfrm>
            <a:off x="2614295"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5" name="立方体 104"/>
          <p:cNvSpPr/>
          <p:nvPr/>
        </p:nvSpPr>
        <p:spPr>
          <a:xfrm>
            <a:off x="3073400"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6" name="立方体 105"/>
          <p:cNvSpPr/>
          <p:nvPr/>
        </p:nvSpPr>
        <p:spPr>
          <a:xfrm>
            <a:off x="3522345"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7" name="立方体 106"/>
          <p:cNvSpPr/>
          <p:nvPr/>
        </p:nvSpPr>
        <p:spPr>
          <a:xfrm>
            <a:off x="3981450"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8" name="立方体 107"/>
          <p:cNvSpPr/>
          <p:nvPr/>
        </p:nvSpPr>
        <p:spPr>
          <a:xfrm>
            <a:off x="4439285"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9" name="立方体 108"/>
          <p:cNvSpPr/>
          <p:nvPr/>
        </p:nvSpPr>
        <p:spPr>
          <a:xfrm>
            <a:off x="3148330" y="32124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0" name="立方体 109"/>
          <p:cNvSpPr/>
          <p:nvPr/>
        </p:nvSpPr>
        <p:spPr>
          <a:xfrm>
            <a:off x="3580130" y="32137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1" name="立方体 110"/>
          <p:cNvSpPr/>
          <p:nvPr/>
        </p:nvSpPr>
        <p:spPr>
          <a:xfrm>
            <a:off x="4039235" y="32137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2" name="立方体 111"/>
          <p:cNvSpPr/>
          <p:nvPr/>
        </p:nvSpPr>
        <p:spPr>
          <a:xfrm>
            <a:off x="4489450" y="32111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3" name="立方体 112"/>
          <p:cNvSpPr/>
          <p:nvPr/>
        </p:nvSpPr>
        <p:spPr>
          <a:xfrm>
            <a:off x="3004185"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4" name="立方体 113"/>
          <p:cNvSpPr/>
          <p:nvPr/>
        </p:nvSpPr>
        <p:spPr>
          <a:xfrm>
            <a:off x="3463290"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5" name="立方体 114"/>
          <p:cNvSpPr/>
          <p:nvPr/>
        </p:nvSpPr>
        <p:spPr>
          <a:xfrm>
            <a:off x="3912235"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6" name="立方体 115"/>
          <p:cNvSpPr/>
          <p:nvPr/>
        </p:nvSpPr>
        <p:spPr>
          <a:xfrm>
            <a:off x="4371340"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7" name="立方体 116"/>
          <p:cNvSpPr/>
          <p:nvPr/>
        </p:nvSpPr>
        <p:spPr>
          <a:xfrm>
            <a:off x="4947285" y="32111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8" name="立方体 117"/>
          <p:cNvSpPr/>
          <p:nvPr/>
        </p:nvSpPr>
        <p:spPr>
          <a:xfrm>
            <a:off x="4829175"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9" name="立方体 118"/>
          <p:cNvSpPr/>
          <p:nvPr/>
        </p:nvSpPr>
        <p:spPr>
          <a:xfrm>
            <a:off x="2889250" y="349504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0" name="立方体 119"/>
          <p:cNvSpPr/>
          <p:nvPr/>
        </p:nvSpPr>
        <p:spPr>
          <a:xfrm>
            <a:off x="3321050" y="34963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1" name="立方体 120"/>
          <p:cNvSpPr/>
          <p:nvPr/>
        </p:nvSpPr>
        <p:spPr>
          <a:xfrm>
            <a:off x="3780155" y="3496310"/>
            <a:ext cx="575945" cy="504190"/>
          </a:xfrm>
          <a:prstGeom prst="cube">
            <a:avLst/>
          </a:prstGeom>
          <a:solidFill>
            <a:schemeClr val="accent1"/>
          </a:solidFill>
          <a:ln w="28575" cap="flat" cmpd="sng" algn="ctr">
            <a:no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立方体 121"/>
          <p:cNvSpPr/>
          <p:nvPr/>
        </p:nvSpPr>
        <p:spPr>
          <a:xfrm>
            <a:off x="4230370" y="34937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3" name="立方体 122"/>
          <p:cNvSpPr/>
          <p:nvPr/>
        </p:nvSpPr>
        <p:spPr>
          <a:xfrm>
            <a:off x="2745105"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4" name="立方体 123"/>
          <p:cNvSpPr/>
          <p:nvPr/>
        </p:nvSpPr>
        <p:spPr>
          <a:xfrm>
            <a:off x="3204210"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立方体 124"/>
          <p:cNvSpPr/>
          <p:nvPr/>
        </p:nvSpPr>
        <p:spPr>
          <a:xfrm>
            <a:off x="3653155"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6" name="立方体 125"/>
          <p:cNvSpPr/>
          <p:nvPr/>
        </p:nvSpPr>
        <p:spPr>
          <a:xfrm>
            <a:off x="4112260"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7" name="立方体 126"/>
          <p:cNvSpPr/>
          <p:nvPr/>
        </p:nvSpPr>
        <p:spPr>
          <a:xfrm>
            <a:off x="4688205" y="34937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立方体 127"/>
          <p:cNvSpPr/>
          <p:nvPr/>
        </p:nvSpPr>
        <p:spPr>
          <a:xfrm>
            <a:off x="4570095"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9" name="立方体 128"/>
          <p:cNvSpPr/>
          <p:nvPr/>
        </p:nvSpPr>
        <p:spPr>
          <a:xfrm>
            <a:off x="2614295"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0" name="立方体 129"/>
          <p:cNvSpPr/>
          <p:nvPr/>
        </p:nvSpPr>
        <p:spPr>
          <a:xfrm>
            <a:off x="3073400"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1" name="立方体 130"/>
          <p:cNvSpPr/>
          <p:nvPr/>
        </p:nvSpPr>
        <p:spPr>
          <a:xfrm>
            <a:off x="3522345"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2" name="立方体 131"/>
          <p:cNvSpPr/>
          <p:nvPr/>
        </p:nvSpPr>
        <p:spPr>
          <a:xfrm>
            <a:off x="3981450"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3" name="立方体 132"/>
          <p:cNvSpPr/>
          <p:nvPr/>
        </p:nvSpPr>
        <p:spPr>
          <a:xfrm>
            <a:off x="4439285"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立方体 5"/>
          <p:cNvSpPr/>
          <p:nvPr/>
        </p:nvSpPr>
        <p:spPr>
          <a:xfrm>
            <a:off x="3143250" y="280860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立方体 6"/>
          <p:cNvSpPr/>
          <p:nvPr/>
        </p:nvSpPr>
        <p:spPr>
          <a:xfrm>
            <a:off x="3575050" y="28098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立方体 7"/>
          <p:cNvSpPr/>
          <p:nvPr/>
        </p:nvSpPr>
        <p:spPr>
          <a:xfrm>
            <a:off x="4034155" y="28098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 name="立方体 8"/>
          <p:cNvSpPr/>
          <p:nvPr/>
        </p:nvSpPr>
        <p:spPr>
          <a:xfrm>
            <a:off x="4484370" y="28073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立方体 9"/>
          <p:cNvSpPr/>
          <p:nvPr/>
        </p:nvSpPr>
        <p:spPr>
          <a:xfrm>
            <a:off x="2999105"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立方体 10"/>
          <p:cNvSpPr/>
          <p:nvPr/>
        </p:nvSpPr>
        <p:spPr>
          <a:xfrm>
            <a:off x="3458210"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 name="立方体 12"/>
          <p:cNvSpPr/>
          <p:nvPr/>
        </p:nvSpPr>
        <p:spPr>
          <a:xfrm>
            <a:off x="3907155"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立方体 14"/>
          <p:cNvSpPr/>
          <p:nvPr/>
        </p:nvSpPr>
        <p:spPr>
          <a:xfrm>
            <a:off x="4366260"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 name="立方体 15"/>
          <p:cNvSpPr/>
          <p:nvPr/>
        </p:nvSpPr>
        <p:spPr>
          <a:xfrm>
            <a:off x="4942205" y="28073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立方体 16"/>
          <p:cNvSpPr/>
          <p:nvPr/>
        </p:nvSpPr>
        <p:spPr>
          <a:xfrm>
            <a:off x="4824095"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立方体 17"/>
          <p:cNvSpPr/>
          <p:nvPr/>
        </p:nvSpPr>
        <p:spPr>
          <a:xfrm>
            <a:off x="2884170" y="309118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 name="立方体 18"/>
          <p:cNvSpPr/>
          <p:nvPr/>
        </p:nvSpPr>
        <p:spPr>
          <a:xfrm>
            <a:off x="3315970" y="309245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立方体 19"/>
          <p:cNvSpPr/>
          <p:nvPr/>
        </p:nvSpPr>
        <p:spPr>
          <a:xfrm>
            <a:off x="3775075" y="3092450"/>
            <a:ext cx="575945" cy="504190"/>
          </a:xfrm>
          <a:prstGeom prst="cube">
            <a:avLst/>
          </a:prstGeom>
          <a:solidFill>
            <a:schemeClr val="accent1"/>
          </a:solidFill>
          <a:ln w="28575" cap="flat" cmpd="sng" algn="ctr">
            <a:no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1" name="立方体 20"/>
          <p:cNvSpPr/>
          <p:nvPr/>
        </p:nvSpPr>
        <p:spPr>
          <a:xfrm>
            <a:off x="4225290" y="30899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2" name="立方体 21"/>
          <p:cNvSpPr/>
          <p:nvPr/>
        </p:nvSpPr>
        <p:spPr>
          <a:xfrm>
            <a:off x="2740025"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立方体 22"/>
          <p:cNvSpPr/>
          <p:nvPr/>
        </p:nvSpPr>
        <p:spPr>
          <a:xfrm>
            <a:off x="3199130"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4" name="立方体 23"/>
          <p:cNvSpPr/>
          <p:nvPr/>
        </p:nvSpPr>
        <p:spPr>
          <a:xfrm>
            <a:off x="3648075"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5" name="立方体 24"/>
          <p:cNvSpPr/>
          <p:nvPr/>
        </p:nvSpPr>
        <p:spPr>
          <a:xfrm>
            <a:off x="4107180"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6" name="立方体 25"/>
          <p:cNvSpPr/>
          <p:nvPr/>
        </p:nvSpPr>
        <p:spPr>
          <a:xfrm>
            <a:off x="4683125" y="30899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立方体 26"/>
          <p:cNvSpPr/>
          <p:nvPr/>
        </p:nvSpPr>
        <p:spPr>
          <a:xfrm>
            <a:off x="4565015"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立方体 27"/>
          <p:cNvSpPr/>
          <p:nvPr/>
        </p:nvSpPr>
        <p:spPr>
          <a:xfrm>
            <a:off x="2609215"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9" name="立方体 28"/>
          <p:cNvSpPr/>
          <p:nvPr/>
        </p:nvSpPr>
        <p:spPr>
          <a:xfrm>
            <a:off x="3068320"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0" name="立方体 29"/>
          <p:cNvSpPr/>
          <p:nvPr/>
        </p:nvSpPr>
        <p:spPr>
          <a:xfrm>
            <a:off x="3517265"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1" name="立方体 30"/>
          <p:cNvSpPr/>
          <p:nvPr/>
        </p:nvSpPr>
        <p:spPr>
          <a:xfrm>
            <a:off x="3976370"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立方体 31"/>
          <p:cNvSpPr/>
          <p:nvPr/>
        </p:nvSpPr>
        <p:spPr>
          <a:xfrm>
            <a:off x="4434205"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136" name="直接箭头连接符 135"/>
          <p:cNvCxnSpPr/>
          <p:nvPr/>
        </p:nvCxnSpPr>
        <p:spPr>
          <a:xfrm flipV="1">
            <a:off x="5580380" y="3091815"/>
            <a:ext cx="0" cy="159258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137" name="文本框 136"/>
          <p:cNvSpPr txBox="1"/>
          <p:nvPr/>
        </p:nvSpPr>
        <p:spPr>
          <a:xfrm>
            <a:off x="1187450" y="5805170"/>
            <a:ext cx="7156450" cy="670560"/>
          </a:xfrm>
          <a:prstGeom prst="rect">
            <a:avLst/>
          </a:prstGeom>
          <a:noFill/>
        </p:spPr>
        <p:txBody>
          <a:bodyPr wrap="square" rtlCol="0">
            <a:noAutofit/>
          </a:bodyPr>
          <a:p>
            <a:r>
              <a:rPr lang="zh-CN" altLang="en-US"/>
              <a:t>如果有</a:t>
            </a:r>
            <a:r>
              <a:rPr lang="en-US" altLang="zh-CN"/>
              <a:t>125</a:t>
            </a:r>
            <a:r>
              <a:rPr lang="zh-CN" altLang="en-US"/>
              <a:t>桶水，</a:t>
            </a:r>
            <a:r>
              <a:rPr lang="en-US" altLang="zh-CN"/>
              <a:t>minutesToDie=15</a:t>
            </a:r>
            <a:r>
              <a:rPr lang="zh-CN" altLang="en-US"/>
              <a:t>，</a:t>
            </a:r>
            <a:r>
              <a:rPr lang="en-US" altLang="zh-CN"/>
              <a:t>minutesToTest=60</a:t>
            </a:r>
            <a:r>
              <a:rPr lang="zh-CN" altLang="en-US"/>
              <a:t>。则只需要</a:t>
            </a:r>
            <a:r>
              <a:rPr lang="zh-CN" altLang="en-US"/>
              <a:t>三头猪就可以</a:t>
            </a:r>
            <a:r>
              <a:rPr lang="zh-CN" altLang="en-US"/>
              <a:t>确定。</a:t>
            </a:r>
            <a:endParaRPr lang="zh-CN" altLang="en-US"/>
          </a:p>
        </p:txBody>
      </p:sp>
      <p:sp>
        <p:nvSpPr>
          <p:cNvPr id="138" name="文本框 137"/>
          <p:cNvSpPr txBox="1"/>
          <p:nvPr/>
        </p:nvSpPr>
        <p:spPr>
          <a:xfrm>
            <a:off x="7741285" y="4572635"/>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X</a:t>
            </a:r>
            <a:endParaRPr lang="en-US" altLang="zh-CN">
              <a:latin typeface="Times New Roman" panose="02020603050405020304" pitchFamily="18" charset="0"/>
              <a:cs typeface="Times New Roman" panose="02020603050405020304" pitchFamily="18" charset="0"/>
            </a:endParaRPr>
          </a:p>
        </p:txBody>
      </p:sp>
      <p:sp>
        <p:nvSpPr>
          <p:cNvPr id="139" name="文本框 138"/>
          <p:cNvSpPr txBox="1"/>
          <p:nvPr/>
        </p:nvSpPr>
        <p:spPr>
          <a:xfrm>
            <a:off x="4932045" y="5300980"/>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Y</a:t>
            </a:r>
            <a:endParaRPr lang="en-US" altLang="zh-CN">
              <a:latin typeface="Times New Roman" panose="02020603050405020304" pitchFamily="18" charset="0"/>
              <a:cs typeface="Times New Roman" panose="02020603050405020304" pitchFamily="18" charset="0"/>
            </a:endParaRPr>
          </a:p>
        </p:txBody>
      </p:sp>
      <p:sp>
        <p:nvSpPr>
          <p:cNvPr id="140" name="文本框 139"/>
          <p:cNvSpPr txBox="1"/>
          <p:nvPr/>
        </p:nvSpPr>
        <p:spPr>
          <a:xfrm>
            <a:off x="5652135" y="2979420"/>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Z</a:t>
            </a:r>
            <a:endParaRPr lang="en-US" altLang="zh-CN">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683895" y="1557020"/>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3</a:t>
            </a:r>
            <a:r>
              <a:rPr lang="zh-CN" altLang="en-US"/>
              <a:t>）是否还有更聪明的方法解决问题？若将桶组成一个矩阵会不会</a:t>
            </a:r>
            <a:r>
              <a:rPr lang="zh-CN" altLang="en-US"/>
              <a:t>更好？</a:t>
            </a:r>
            <a:endParaRPr lang="zh-CN" altLang="en-US"/>
          </a:p>
        </p:txBody>
      </p:sp>
      <p:cxnSp>
        <p:nvCxnSpPr>
          <p:cNvPr id="69" name="直接箭头连接符 68"/>
          <p:cNvCxnSpPr/>
          <p:nvPr/>
        </p:nvCxnSpPr>
        <p:spPr>
          <a:xfrm flipV="1">
            <a:off x="6948805" y="3650615"/>
            <a:ext cx="589280" cy="5715"/>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cxnSp>
        <p:nvCxnSpPr>
          <p:cNvPr id="70" name="直接箭头连接符 69"/>
          <p:cNvCxnSpPr/>
          <p:nvPr/>
        </p:nvCxnSpPr>
        <p:spPr>
          <a:xfrm flipH="1">
            <a:off x="6733540" y="3646170"/>
            <a:ext cx="234950" cy="271145"/>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cxnSp>
        <p:nvCxnSpPr>
          <p:cNvPr id="136" name="直接箭头连接符 135"/>
          <p:cNvCxnSpPr/>
          <p:nvPr/>
        </p:nvCxnSpPr>
        <p:spPr>
          <a:xfrm flipV="1">
            <a:off x="6948805" y="3125470"/>
            <a:ext cx="635" cy="548005"/>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137" name="文本框 136"/>
          <p:cNvSpPr txBox="1"/>
          <p:nvPr/>
        </p:nvSpPr>
        <p:spPr>
          <a:xfrm>
            <a:off x="611505" y="4705350"/>
            <a:ext cx="7156450" cy="67056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如果有</a:t>
            </a:r>
            <a:r>
              <a:rPr lang="en-US" altLang="zh-CN">
                <a:solidFill>
                  <a:schemeClr val="tx1"/>
                </a:solidFill>
                <a:uFillTx/>
                <a:latin typeface="Times New Roman" panose="02020603050405020304" pitchFamily="18" charset="0"/>
              </a:rPr>
              <a:t>625</a:t>
            </a:r>
            <a:r>
              <a:rPr lang="zh-CN" altLang="en-US">
                <a:solidFill>
                  <a:schemeClr val="tx1"/>
                </a:solidFill>
                <a:uFillTx/>
                <a:latin typeface="Times New Roman" panose="02020603050405020304" pitchFamily="18" charset="0"/>
              </a:rPr>
              <a:t>桶水，</a:t>
            </a:r>
            <a:r>
              <a:rPr lang="en-US" altLang="zh-CN">
                <a:solidFill>
                  <a:schemeClr val="tx1"/>
                </a:solidFill>
                <a:uFillTx/>
                <a:latin typeface="Times New Roman" panose="02020603050405020304" pitchFamily="18" charset="0"/>
              </a:rPr>
              <a:t>minutesToDie=15</a:t>
            </a:r>
            <a:r>
              <a:rPr lang="zh-CN" altLang="en-US">
                <a:solidFill>
                  <a:schemeClr val="tx1"/>
                </a:solidFill>
                <a:uFillTx/>
                <a:latin typeface="Times New Roman" panose="02020603050405020304" pitchFamily="18" charset="0"/>
              </a:rPr>
              <a:t>，</a:t>
            </a:r>
            <a:r>
              <a:rPr lang="en-US" altLang="zh-CN">
                <a:solidFill>
                  <a:schemeClr val="tx1"/>
                </a:solidFill>
                <a:uFillTx/>
                <a:latin typeface="Times New Roman" panose="02020603050405020304" pitchFamily="18" charset="0"/>
              </a:rPr>
              <a:t>minutesToTest=60</a:t>
            </a:r>
            <a:r>
              <a:rPr lang="zh-CN" altLang="en-US">
                <a:solidFill>
                  <a:schemeClr val="tx1"/>
                </a:solidFill>
                <a:uFillTx/>
                <a:latin typeface="Times New Roman" panose="02020603050405020304" pitchFamily="18" charset="0"/>
              </a:rPr>
              <a:t>。则只需要四头猪就可以确定。</a:t>
            </a:r>
            <a:endParaRPr lang="zh-CN" altLang="en-US">
              <a:solidFill>
                <a:schemeClr val="tx1"/>
              </a:solidFill>
              <a:uFillTx/>
              <a:latin typeface="Times New Roman" panose="02020603050405020304" pitchFamily="18" charset="0"/>
            </a:endParaRPr>
          </a:p>
        </p:txBody>
      </p:sp>
      <p:sp>
        <p:nvSpPr>
          <p:cNvPr id="138" name="文本框 137"/>
          <p:cNvSpPr txBox="1"/>
          <p:nvPr/>
        </p:nvSpPr>
        <p:spPr>
          <a:xfrm>
            <a:off x="7457440" y="3500755"/>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X</a:t>
            </a:r>
            <a:endParaRPr lang="en-US" altLang="zh-CN">
              <a:latin typeface="Times New Roman" panose="02020603050405020304" pitchFamily="18" charset="0"/>
              <a:cs typeface="Times New Roman" panose="02020603050405020304" pitchFamily="18" charset="0"/>
            </a:endParaRPr>
          </a:p>
        </p:txBody>
      </p:sp>
      <p:sp>
        <p:nvSpPr>
          <p:cNvPr id="139" name="文本框 138"/>
          <p:cNvSpPr txBox="1"/>
          <p:nvPr/>
        </p:nvSpPr>
        <p:spPr>
          <a:xfrm>
            <a:off x="6705600" y="3860800"/>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Y</a:t>
            </a:r>
            <a:endParaRPr lang="en-US" altLang="zh-CN">
              <a:latin typeface="Times New Roman" panose="02020603050405020304" pitchFamily="18" charset="0"/>
              <a:cs typeface="Times New Roman" panose="02020603050405020304" pitchFamily="18" charset="0"/>
            </a:endParaRPr>
          </a:p>
        </p:txBody>
      </p:sp>
      <p:sp>
        <p:nvSpPr>
          <p:cNvPr id="140" name="文本框 139"/>
          <p:cNvSpPr txBox="1"/>
          <p:nvPr/>
        </p:nvSpPr>
        <p:spPr>
          <a:xfrm>
            <a:off x="6948170" y="2967990"/>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Z</a:t>
            </a:r>
            <a:endParaRPr lang="en-US" altLang="zh-CN">
              <a:latin typeface="Times New Roman" panose="02020603050405020304" pitchFamily="18" charset="0"/>
              <a:cs typeface="Times New Roman" panose="02020603050405020304" pitchFamily="18" charset="0"/>
            </a:endParaRPr>
          </a:p>
        </p:txBody>
      </p:sp>
      <p:pic>
        <p:nvPicPr>
          <p:cNvPr id="71" name="图片 70"/>
          <p:cNvPicPr>
            <a:picLocks noChangeAspect="1"/>
          </p:cNvPicPr>
          <p:nvPr/>
        </p:nvPicPr>
        <p:blipFill>
          <a:blip r:embed="rId1"/>
          <a:stretch>
            <a:fillRect/>
          </a:stretch>
        </p:blipFill>
        <p:spPr>
          <a:xfrm>
            <a:off x="827405" y="2993390"/>
            <a:ext cx="1071880" cy="960120"/>
          </a:xfrm>
          <a:prstGeom prst="rect">
            <a:avLst/>
          </a:prstGeom>
        </p:spPr>
      </p:pic>
      <p:pic>
        <p:nvPicPr>
          <p:cNvPr id="134" name="图片 133"/>
          <p:cNvPicPr>
            <a:picLocks noChangeAspect="1"/>
          </p:cNvPicPr>
          <p:nvPr/>
        </p:nvPicPr>
        <p:blipFill>
          <a:blip r:embed="rId1"/>
          <a:stretch>
            <a:fillRect/>
          </a:stretch>
        </p:blipFill>
        <p:spPr>
          <a:xfrm>
            <a:off x="3275965" y="2996565"/>
            <a:ext cx="1071880" cy="960120"/>
          </a:xfrm>
          <a:prstGeom prst="rect">
            <a:avLst/>
          </a:prstGeom>
        </p:spPr>
      </p:pic>
      <p:pic>
        <p:nvPicPr>
          <p:cNvPr id="135" name="图片 134"/>
          <p:cNvPicPr>
            <a:picLocks noChangeAspect="1"/>
          </p:cNvPicPr>
          <p:nvPr/>
        </p:nvPicPr>
        <p:blipFill>
          <a:blip r:embed="rId1"/>
          <a:stretch>
            <a:fillRect/>
          </a:stretch>
        </p:blipFill>
        <p:spPr>
          <a:xfrm>
            <a:off x="2051685" y="2996565"/>
            <a:ext cx="1071880" cy="960120"/>
          </a:xfrm>
          <a:prstGeom prst="rect">
            <a:avLst/>
          </a:prstGeom>
        </p:spPr>
      </p:pic>
      <p:pic>
        <p:nvPicPr>
          <p:cNvPr id="141" name="图片 140"/>
          <p:cNvPicPr>
            <a:picLocks noChangeAspect="1"/>
          </p:cNvPicPr>
          <p:nvPr/>
        </p:nvPicPr>
        <p:blipFill>
          <a:blip r:embed="rId1"/>
          <a:stretch>
            <a:fillRect/>
          </a:stretch>
        </p:blipFill>
        <p:spPr>
          <a:xfrm>
            <a:off x="4500245" y="2996565"/>
            <a:ext cx="1071880" cy="960120"/>
          </a:xfrm>
          <a:prstGeom prst="rect">
            <a:avLst/>
          </a:prstGeom>
        </p:spPr>
      </p:pic>
      <p:pic>
        <p:nvPicPr>
          <p:cNvPr id="142" name="图片 141"/>
          <p:cNvPicPr>
            <a:picLocks noChangeAspect="1"/>
          </p:cNvPicPr>
          <p:nvPr/>
        </p:nvPicPr>
        <p:blipFill>
          <a:blip r:embed="rId1"/>
          <a:stretch>
            <a:fillRect/>
          </a:stretch>
        </p:blipFill>
        <p:spPr>
          <a:xfrm>
            <a:off x="5579745" y="2993390"/>
            <a:ext cx="1071880" cy="960120"/>
          </a:xfrm>
          <a:prstGeom prst="rect">
            <a:avLst/>
          </a:prstGeom>
        </p:spPr>
      </p:pic>
      <p:cxnSp>
        <p:nvCxnSpPr>
          <p:cNvPr id="143" name="直接箭头连接符 142"/>
          <p:cNvCxnSpPr/>
          <p:nvPr/>
        </p:nvCxnSpPr>
        <p:spPr>
          <a:xfrm flipV="1">
            <a:off x="1068705" y="2924810"/>
            <a:ext cx="5519420" cy="5715"/>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144" name="文本框 143"/>
          <p:cNvSpPr txBox="1"/>
          <p:nvPr/>
        </p:nvSpPr>
        <p:spPr>
          <a:xfrm>
            <a:off x="1332865" y="2639695"/>
            <a:ext cx="122301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T</a:t>
            </a:r>
            <a:endParaRPr lang="en-US" altLang="zh-CN">
              <a:latin typeface="Times New Roman" panose="02020603050405020304" pitchFamily="18" charset="0"/>
              <a:cs typeface="Times New Roman" panose="02020603050405020304" pitchFamily="18" charset="0"/>
            </a:endParaRPr>
          </a:p>
        </p:txBody>
      </p:sp>
      <p:sp>
        <p:nvSpPr>
          <p:cNvPr id="145" name="文本框 144"/>
          <p:cNvSpPr txBox="1"/>
          <p:nvPr/>
        </p:nvSpPr>
        <p:spPr>
          <a:xfrm>
            <a:off x="611505" y="5301615"/>
            <a:ext cx="7156450" cy="1269365"/>
          </a:xfrm>
          <a:prstGeom prst="rect">
            <a:avLst/>
          </a:prstGeom>
          <a:noFill/>
        </p:spPr>
        <p:txBody>
          <a:bodyPr wrap="square" rtlCol="0">
            <a:noAutofit/>
          </a:bodyPr>
          <a:p>
            <a:r>
              <a:rPr lang="en-US">
                <a:solidFill>
                  <a:schemeClr val="tx1"/>
                </a:solidFill>
                <a:uFillTx/>
                <a:latin typeface="Times New Roman" panose="02020603050405020304" pitchFamily="18" charset="0"/>
              </a:rPr>
              <a:t>pig1,</a:t>
            </a:r>
            <a:r>
              <a:rPr lang="zh-CN" altLang="en-US">
                <a:solidFill>
                  <a:schemeClr val="tx1"/>
                </a:solidFill>
                <a:uFillTx/>
                <a:latin typeface="Times New Roman" panose="02020603050405020304" pitchFamily="18" charset="0"/>
              </a:rPr>
              <a:t>测第</a:t>
            </a:r>
            <a:r>
              <a:rPr lang="en-US" altLang="zh-CN">
                <a:solidFill>
                  <a:schemeClr val="tx1"/>
                </a:solidFill>
                <a:uFillTx/>
                <a:latin typeface="Times New Roman" panose="02020603050405020304" pitchFamily="18" charset="0"/>
              </a:rPr>
              <a:t>X</a:t>
            </a:r>
            <a:r>
              <a:rPr lang="zh-CN" altLang="en-US">
                <a:solidFill>
                  <a:schemeClr val="tx1"/>
                </a:solidFill>
                <a:uFillTx/>
                <a:latin typeface="Times New Roman" panose="02020603050405020304" pitchFamily="18" charset="0"/>
              </a:rPr>
              <a:t>层全部混合的</a:t>
            </a:r>
            <a:r>
              <a:rPr lang="en-US" altLang="zh-CN">
                <a:solidFill>
                  <a:schemeClr val="tx1"/>
                </a:solidFill>
                <a:uFillTx/>
                <a:latin typeface="Times New Roman" panose="02020603050405020304" pitchFamily="18" charset="0"/>
              </a:rPr>
              <a:t>125</a:t>
            </a:r>
            <a:r>
              <a:rPr lang="zh-CN" altLang="en-US">
                <a:solidFill>
                  <a:schemeClr val="tx1"/>
                </a:solidFill>
                <a:uFillTx/>
                <a:latin typeface="Times New Roman" panose="02020603050405020304" pitchFamily="18" charset="0"/>
              </a:rPr>
              <a:t>桶水</a:t>
            </a:r>
            <a:r>
              <a:rPr lang="en-US" altLang="zh-CN">
                <a:solidFill>
                  <a:schemeClr val="tx1"/>
                </a:solidFill>
                <a:uFillTx/>
                <a:latin typeface="Times New Roman" panose="02020603050405020304" pitchFamily="18" charset="0"/>
              </a:rPr>
              <a:t>/15min</a:t>
            </a:r>
            <a:endParaRPr lang="en-US" altLang="zh-CN">
              <a:solidFill>
                <a:schemeClr val="tx1"/>
              </a:solidFill>
              <a:uFillTx/>
              <a:latin typeface="Times New Roman" panose="02020603050405020304" pitchFamily="18" charset="0"/>
            </a:endParaRPr>
          </a:p>
          <a:p>
            <a:r>
              <a:rPr lang="en-US">
                <a:solidFill>
                  <a:schemeClr val="tx1"/>
                </a:solidFill>
                <a:uFillTx/>
                <a:latin typeface="Times New Roman" panose="02020603050405020304" pitchFamily="18" charset="0"/>
                <a:sym typeface="+mn-ea"/>
              </a:rPr>
              <a:t>pig2,</a:t>
            </a:r>
            <a:r>
              <a:rPr lang="zh-CN" altLang="en-US">
                <a:solidFill>
                  <a:schemeClr val="tx1"/>
                </a:solidFill>
                <a:uFillTx/>
                <a:latin typeface="Times New Roman" panose="02020603050405020304" pitchFamily="18" charset="0"/>
                <a:sym typeface="+mn-ea"/>
              </a:rPr>
              <a:t>测第</a:t>
            </a:r>
            <a:r>
              <a:rPr lang="en-US" altLang="zh-CN">
                <a:solidFill>
                  <a:schemeClr val="tx1"/>
                </a:solidFill>
                <a:uFillTx/>
                <a:latin typeface="Times New Roman" panose="02020603050405020304" pitchFamily="18" charset="0"/>
                <a:sym typeface="+mn-ea"/>
              </a:rPr>
              <a:t>Y</a:t>
            </a:r>
            <a:r>
              <a:rPr lang="zh-CN" altLang="en-US">
                <a:solidFill>
                  <a:schemeClr val="tx1"/>
                </a:solidFill>
                <a:uFillTx/>
                <a:latin typeface="Times New Roman" panose="02020603050405020304" pitchFamily="18" charset="0"/>
                <a:sym typeface="+mn-ea"/>
              </a:rPr>
              <a:t>层全部混合的</a:t>
            </a:r>
            <a:r>
              <a:rPr lang="en-US" altLang="zh-CN">
                <a:solidFill>
                  <a:schemeClr val="tx1"/>
                </a:solidFill>
                <a:uFillTx/>
                <a:latin typeface="Times New Roman" panose="02020603050405020304" pitchFamily="18" charset="0"/>
                <a:sym typeface="+mn-ea"/>
              </a:rPr>
              <a:t>125</a:t>
            </a:r>
            <a:r>
              <a:rPr lang="zh-CN" altLang="en-US">
                <a:solidFill>
                  <a:schemeClr val="tx1"/>
                </a:solidFill>
                <a:uFillTx/>
                <a:latin typeface="Times New Roman" panose="02020603050405020304" pitchFamily="18" charset="0"/>
                <a:sym typeface="+mn-ea"/>
              </a:rPr>
              <a:t>桶水</a:t>
            </a:r>
            <a:r>
              <a:rPr lang="en-US" altLang="zh-CN">
                <a:solidFill>
                  <a:schemeClr val="tx1"/>
                </a:solidFill>
                <a:uFillTx/>
                <a:latin typeface="Times New Roman" panose="02020603050405020304" pitchFamily="18" charset="0"/>
                <a:sym typeface="+mn-ea"/>
              </a:rPr>
              <a:t>/15min</a:t>
            </a:r>
            <a:endParaRPr lang="en-US" altLang="zh-CN">
              <a:solidFill>
                <a:schemeClr val="tx1"/>
              </a:solidFill>
              <a:uFillTx/>
              <a:latin typeface="Times New Roman" panose="02020603050405020304" pitchFamily="18" charset="0"/>
              <a:sym typeface="+mn-ea"/>
            </a:endParaRPr>
          </a:p>
          <a:p>
            <a:r>
              <a:rPr lang="en-US">
                <a:solidFill>
                  <a:schemeClr val="tx1"/>
                </a:solidFill>
                <a:uFillTx/>
                <a:latin typeface="Times New Roman" panose="02020603050405020304" pitchFamily="18" charset="0"/>
                <a:sym typeface="+mn-ea"/>
              </a:rPr>
              <a:t>pig3,</a:t>
            </a:r>
            <a:r>
              <a:rPr lang="zh-CN" altLang="en-US">
                <a:solidFill>
                  <a:schemeClr val="tx1"/>
                </a:solidFill>
                <a:uFillTx/>
                <a:latin typeface="Times New Roman" panose="02020603050405020304" pitchFamily="18" charset="0"/>
                <a:sym typeface="+mn-ea"/>
              </a:rPr>
              <a:t>测第</a:t>
            </a:r>
            <a:r>
              <a:rPr lang="en-US" altLang="zh-CN">
                <a:solidFill>
                  <a:schemeClr val="tx1"/>
                </a:solidFill>
                <a:uFillTx/>
                <a:latin typeface="Times New Roman" panose="02020603050405020304" pitchFamily="18" charset="0"/>
                <a:sym typeface="+mn-ea"/>
              </a:rPr>
              <a:t>Z</a:t>
            </a:r>
            <a:r>
              <a:rPr lang="zh-CN" altLang="en-US">
                <a:solidFill>
                  <a:schemeClr val="tx1"/>
                </a:solidFill>
                <a:uFillTx/>
                <a:latin typeface="Times New Roman" panose="02020603050405020304" pitchFamily="18" charset="0"/>
                <a:sym typeface="+mn-ea"/>
              </a:rPr>
              <a:t>层全部混合的</a:t>
            </a:r>
            <a:r>
              <a:rPr lang="en-US" altLang="zh-CN">
                <a:solidFill>
                  <a:schemeClr val="tx1"/>
                </a:solidFill>
                <a:uFillTx/>
                <a:latin typeface="Times New Roman" panose="02020603050405020304" pitchFamily="18" charset="0"/>
                <a:sym typeface="+mn-ea"/>
              </a:rPr>
              <a:t>125</a:t>
            </a:r>
            <a:r>
              <a:rPr lang="zh-CN" altLang="en-US">
                <a:solidFill>
                  <a:schemeClr val="tx1"/>
                </a:solidFill>
                <a:uFillTx/>
                <a:latin typeface="Times New Roman" panose="02020603050405020304" pitchFamily="18" charset="0"/>
                <a:sym typeface="+mn-ea"/>
              </a:rPr>
              <a:t>桶水</a:t>
            </a:r>
            <a:r>
              <a:rPr lang="en-US" altLang="zh-CN">
                <a:solidFill>
                  <a:schemeClr val="tx1"/>
                </a:solidFill>
                <a:uFillTx/>
                <a:latin typeface="Times New Roman" panose="02020603050405020304" pitchFamily="18" charset="0"/>
                <a:sym typeface="+mn-ea"/>
              </a:rPr>
              <a:t>/15min</a:t>
            </a:r>
            <a:endParaRPr lang="en-US" altLang="zh-CN">
              <a:solidFill>
                <a:schemeClr val="tx1"/>
              </a:solidFill>
              <a:uFillTx/>
              <a:latin typeface="Times New Roman" panose="02020603050405020304" pitchFamily="18" charset="0"/>
              <a:sym typeface="+mn-ea"/>
            </a:endParaRPr>
          </a:p>
          <a:p>
            <a:r>
              <a:rPr lang="en-US">
                <a:solidFill>
                  <a:schemeClr val="tx1"/>
                </a:solidFill>
                <a:uFillTx/>
                <a:latin typeface="Times New Roman" panose="02020603050405020304" pitchFamily="18" charset="0"/>
                <a:sym typeface="+mn-ea"/>
              </a:rPr>
              <a:t>pig4,</a:t>
            </a:r>
            <a:r>
              <a:rPr lang="zh-CN" altLang="en-US">
                <a:solidFill>
                  <a:schemeClr val="tx1"/>
                </a:solidFill>
                <a:uFillTx/>
                <a:latin typeface="Times New Roman" panose="02020603050405020304" pitchFamily="18" charset="0"/>
                <a:sym typeface="+mn-ea"/>
              </a:rPr>
              <a:t>测第</a:t>
            </a:r>
            <a:r>
              <a:rPr lang="en-US" altLang="zh-CN">
                <a:solidFill>
                  <a:schemeClr val="tx1"/>
                </a:solidFill>
                <a:uFillTx/>
                <a:latin typeface="Times New Roman" panose="02020603050405020304" pitchFamily="18" charset="0"/>
                <a:sym typeface="+mn-ea"/>
              </a:rPr>
              <a:t>T</a:t>
            </a:r>
            <a:r>
              <a:rPr lang="zh-CN" altLang="en-US">
                <a:solidFill>
                  <a:schemeClr val="tx1"/>
                </a:solidFill>
                <a:uFillTx/>
                <a:latin typeface="Times New Roman" panose="02020603050405020304" pitchFamily="18" charset="0"/>
                <a:sym typeface="+mn-ea"/>
              </a:rPr>
              <a:t>层全部混合的</a:t>
            </a:r>
            <a:r>
              <a:rPr lang="en-US" altLang="zh-CN">
                <a:solidFill>
                  <a:schemeClr val="tx1"/>
                </a:solidFill>
                <a:uFillTx/>
                <a:latin typeface="Times New Roman" panose="02020603050405020304" pitchFamily="18" charset="0"/>
                <a:sym typeface="+mn-ea"/>
              </a:rPr>
              <a:t>125</a:t>
            </a:r>
            <a:r>
              <a:rPr lang="zh-CN" altLang="en-US">
                <a:solidFill>
                  <a:schemeClr val="tx1"/>
                </a:solidFill>
                <a:uFillTx/>
                <a:latin typeface="Times New Roman" panose="02020603050405020304" pitchFamily="18" charset="0"/>
                <a:sym typeface="+mn-ea"/>
              </a:rPr>
              <a:t>桶水</a:t>
            </a:r>
            <a:r>
              <a:rPr lang="en-US" altLang="zh-CN">
                <a:solidFill>
                  <a:schemeClr val="tx1"/>
                </a:solidFill>
                <a:uFillTx/>
                <a:latin typeface="Times New Roman" panose="02020603050405020304" pitchFamily="18" charset="0"/>
                <a:sym typeface="+mn-ea"/>
              </a:rPr>
              <a:t>/15min</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150" name="矩形 149"/>
          <p:cNvSpPr/>
          <p:nvPr/>
        </p:nvSpPr>
        <p:spPr>
          <a:xfrm>
            <a:off x="5579110"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1" name="矩形 150"/>
          <p:cNvSpPr/>
          <p:nvPr/>
        </p:nvSpPr>
        <p:spPr>
          <a:xfrm>
            <a:off x="827405"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2" name="矩形 151"/>
          <p:cNvSpPr/>
          <p:nvPr/>
        </p:nvSpPr>
        <p:spPr>
          <a:xfrm>
            <a:off x="2051685"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矩形 152"/>
          <p:cNvSpPr/>
          <p:nvPr/>
        </p:nvSpPr>
        <p:spPr>
          <a:xfrm>
            <a:off x="3275965"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4" name="矩形 153"/>
          <p:cNvSpPr/>
          <p:nvPr/>
        </p:nvSpPr>
        <p:spPr>
          <a:xfrm>
            <a:off x="4499610"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5" name="文本框 154"/>
          <p:cNvSpPr txBox="1"/>
          <p:nvPr/>
        </p:nvSpPr>
        <p:spPr>
          <a:xfrm>
            <a:off x="467360" y="4146550"/>
            <a:ext cx="3453130" cy="368300"/>
          </a:xfrm>
          <a:prstGeom prst="rect">
            <a:avLst/>
          </a:prstGeom>
          <a:noFill/>
        </p:spPr>
        <p:txBody>
          <a:bodyPr wrap="square" rtlCol="0">
            <a:spAutoFit/>
          </a:bodyPr>
          <a:p>
            <a:r>
              <a:rPr lang="en-US" altLang="zh-CN"/>
              <a:t>x</a:t>
            </a:r>
            <a:r>
              <a:rPr lang="zh-CN" altLang="en-US"/>
              <a:t>方向测试</a:t>
            </a:r>
            <a:r>
              <a:rPr lang="zh-CN" altLang="en-US"/>
              <a:t>示意图：</a:t>
            </a:r>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1"/>
                                        </p:tgtEl>
                                        <p:attrNameLst>
                                          <p:attrName>style.visibility</p:attrName>
                                        </p:attrNameLst>
                                      </p:cBhvr>
                                      <p:to>
                                        <p:strVal val="visible"/>
                                      </p:to>
                                    </p:set>
                                    <p:anim calcmode="lin" valueType="num">
                                      <p:cBhvr additive="base">
                                        <p:cTn id="7" dur="500" fill="hold"/>
                                        <p:tgtEl>
                                          <p:spTgt spid="151"/>
                                        </p:tgtEl>
                                        <p:attrNameLst>
                                          <p:attrName>ppt_x</p:attrName>
                                        </p:attrNameLst>
                                      </p:cBhvr>
                                      <p:tavLst>
                                        <p:tav tm="0">
                                          <p:val>
                                            <p:strVal val="#ppt_x"/>
                                          </p:val>
                                        </p:tav>
                                        <p:tav tm="100000">
                                          <p:val>
                                            <p:strVal val="#ppt_x"/>
                                          </p:val>
                                        </p:tav>
                                      </p:tavLst>
                                    </p:anim>
                                    <p:anim calcmode="lin" valueType="num">
                                      <p:cBhvr additive="base">
                                        <p:cTn id="8" dur="500" fill="hold"/>
                                        <p:tgtEl>
                                          <p:spTgt spid="15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52"/>
                                        </p:tgtEl>
                                        <p:attrNameLst>
                                          <p:attrName>style.visibility</p:attrName>
                                        </p:attrNameLst>
                                      </p:cBhvr>
                                      <p:to>
                                        <p:strVal val="visible"/>
                                      </p:to>
                                    </p:set>
                                    <p:anim calcmode="lin" valueType="num">
                                      <p:cBhvr additive="base">
                                        <p:cTn id="11" dur="500" fill="hold"/>
                                        <p:tgtEl>
                                          <p:spTgt spid="152"/>
                                        </p:tgtEl>
                                        <p:attrNameLst>
                                          <p:attrName>ppt_x</p:attrName>
                                        </p:attrNameLst>
                                      </p:cBhvr>
                                      <p:tavLst>
                                        <p:tav tm="0">
                                          <p:val>
                                            <p:strVal val="#ppt_x"/>
                                          </p:val>
                                        </p:tav>
                                        <p:tav tm="100000">
                                          <p:val>
                                            <p:strVal val="#ppt_x"/>
                                          </p:val>
                                        </p:tav>
                                      </p:tavLst>
                                    </p:anim>
                                    <p:anim calcmode="lin" valueType="num">
                                      <p:cBhvr additive="base">
                                        <p:cTn id="12" dur="500" fill="hold"/>
                                        <p:tgtEl>
                                          <p:spTgt spid="152"/>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53"/>
                                        </p:tgtEl>
                                        <p:attrNameLst>
                                          <p:attrName>style.visibility</p:attrName>
                                        </p:attrNameLst>
                                      </p:cBhvr>
                                      <p:to>
                                        <p:strVal val="visible"/>
                                      </p:to>
                                    </p:set>
                                    <p:anim calcmode="lin" valueType="num">
                                      <p:cBhvr additive="base">
                                        <p:cTn id="15" dur="500" fill="hold"/>
                                        <p:tgtEl>
                                          <p:spTgt spid="153"/>
                                        </p:tgtEl>
                                        <p:attrNameLst>
                                          <p:attrName>ppt_x</p:attrName>
                                        </p:attrNameLst>
                                      </p:cBhvr>
                                      <p:tavLst>
                                        <p:tav tm="0">
                                          <p:val>
                                            <p:strVal val="#ppt_x"/>
                                          </p:val>
                                        </p:tav>
                                        <p:tav tm="100000">
                                          <p:val>
                                            <p:strVal val="#ppt_x"/>
                                          </p:val>
                                        </p:tav>
                                      </p:tavLst>
                                    </p:anim>
                                    <p:anim calcmode="lin" valueType="num">
                                      <p:cBhvr additive="base">
                                        <p:cTn id="16" dur="500" fill="hold"/>
                                        <p:tgtEl>
                                          <p:spTgt spid="153"/>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54"/>
                                        </p:tgtEl>
                                        <p:attrNameLst>
                                          <p:attrName>style.visibility</p:attrName>
                                        </p:attrNameLst>
                                      </p:cBhvr>
                                      <p:to>
                                        <p:strVal val="visible"/>
                                      </p:to>
                                    </p:set>
                                    <p:anim calcmode="lin" valueType="num">
                                      <p:cBhvr additive="base">
                                        <p:cTn id="19" dur="500" fill="hold"/>
                                        <p:tgtEl>
                                          <p:spTgt spid="154"/>
                                        </p:tgtEl>
                                        <p:attrNameLst>
                                          <p:attrName>ppt_x</p:attrName>
                                        </p:attrNameLst>
                                      </p:cBhvr>
                                      <p:tavLst>
                                        <p:tav tm="0">
                                          <p:val>
                                            <p:strVal val="#ppt_x"/>
                                          </p:val>
                                        </p:tav>
                                        <p:tav tm="100000">
                                          <p:val>
                                            <p:strVal val="#ppt_x"/>
                                          </p:val>
                                        </p:tav>
                                      </p:tavLst>
                                    </p:anim>
                                    <p:anim calcmode="lin" valueType="num">
                                      <p:cBhvr additive="base">
                                        <p:cTn id="20" dur="500" fill="hold"/>
                                        <p:tgtEl>
                                          <p:spTgt spid="1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55"/>
                                        </p:tgtEl>
                                        <p:attrNameLst>
                                          <p:attrName>style.visibility</p:attrName>
                                        </p:attrNameLst>
                                      </p:cBhvr>
                                      <p:to>
                                        <p:strVal val="visible"/>
                                      </p:to>
                                    </p:set>
                                    <p:anim calcmode="lin" valueType="num">
                                      <p:cBhvr additive="base">
                                        <p:cTn id="23" dur="500" fill="hold"/>
                                        <p:tgtEl>
                                          <p:spTgt spid="155"/>
                                        </p:tgtEl>
                                        <p:attrNameLst>
                                          <p:attrName>ppt_x</p:attrName>
                                        </p:attrNameLst>
                                      </p:cBhvr>
                                      <p:tavLst>
                                        <p:tav tm="0">
                                          <p:val>
                                            <p:strVal val="#ppt_x"/>
                                          </p:val>
                                        </p:tav>
                                        <p:tav tm="100000">
                                          <p:val>
                                            <p:strVal val="#ppt_x"/>
                                          </p:val>
                                        </p:tav>
                                      </p:tavLst>
                                    </p:anim>
                                    <p:anim calcmode="lin" valueType="num">
                                      <p:cBhvr additive="base">
                                        <p:cTn id="24" dur="500" fill="hold"/>
                                        <p:tgtEl>
                                          <p:spTgt spid="155"/>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50"/>
                                        </p:tgtEl>
                                        <p:attrNameLst>
                                          <p:attrName>style.visibility</p:attrName>
                                        </p:attrNameLst>
                                      </p:cBhvr>
                                      <p:to>
                                        <p:strVal val="visible"/>
                                      </p:to>
                                    </p:set>
                                    <p:anim calcmode="lin" valueType="num">
                                      <p:cBhvr additive="base">
                                        <p:cTn id="27" dur="500" fill="hold"/>
                                        <p:tgtEl>
                                          <p:spTgt spid="150"/>
                                        </p:tgtEl>
                                        <p:attrNameLst>
                                          <p:attrName>ppt_x</p:attrName>
                                        </p:attrNameLst>
                                      </p:cBhvr>
                                      <p:tavLst>
                                        <p:tav tm="0">
                                          <p:val>
                                            <p:strVal val="#ppt_x"/>
                                          </p:val>
                                        </p:tav>
                                        <p:tav tm="100000">
                                          <p:val>
                                            <p:strVal val="#ppt_x"/>
                                          </p:val>
                                        </p:tav>
                                      </p:tavLst>
                                    </p:anim>
                                    <p:anim calcmode="lin" valueType="num">
                                      <p:cBhvr additive="base">
                                        <p:cTn id="28" dur="500" fill="hold"/>
                                        <p:tgtEl>
                                          <p:spTgt spid="15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bldLvl="0" animBg="1"/>
      <p:bldP spid="152" grpId="0" bldLvl="0" animBg="1"/>
      <p:bldP spid="153" grpId="0" bldLvl="0" animBg="1"/>
      <p:bldP spid="154" grpId="0" bldLvl="0" animBg="1"/>
      <p:bldP spid="155" grpId="0"/>
      <p:bldP spid="150" grpId="0" bldLvl="0" animBg="1"/>
      <p:bldP spid="151" grpId="1" animBg="1"/>
      <p:bldP spid="152" grpId="1" animBg="1"/>
      <p:bldP spid="153" grpId="1" animBg="1"/>
      <p:bldP spid="154" grpId="1" animBg="1"/>
      <p:bldP spid="155" grpId="1"/>
      <p:bldP spid="150" grpId="1"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683895" y="1557020"/>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3</a:t>
            </a:r>
            <a:r>
              <a:rPr lang="zh-CN" altLang="en-US"/>
              <a:t>）是否还有更聪明的方法解决问题？若将桶组成一个矩阵会不会</a:t>
            </a:r>
            <a:r>
              <a:rPr lang="zh-CN" altLang="en-US"/>
              <a:t>更好？</a:t>
            </a:r>
            <a:endParaRPr lang="zh-CN" altLang="en-US"/>
          </a:p>
        </p:txBody>
      </p:sp>
      <p:sp>
        <p:nvSpPr>
          <p:cNvPr id="2" name="文本框 1"/>
          <p:cNvSpPr txBox="1"/>
          <p:nvPr/>
        </p:nvSpPr>
        <p:spPr>
          <a:xfrm>
            <a:off x="683895" y="2996565"/>
            <a:ext cx="5827395" cy="645160"/>
          </a:xfrm>
          <a:prstGeom prst="rect">
            <a:avLst/>
          </a:prstGeom>
          <a:noFill/>
        </p:spPr>
        <p:txBody>
          <a:bodyPr wrap="square" rtlCol="0">
            <a:spAutoFit/>
          </a:bodyPr>
          <a:p>
            <a:r>
              <a:rPr lang="zh-CN" altLang="en-US">
                <a:solidFill>
                  <a:schemeClr val="tx1"/>
                </a:solidFill>
                <a:uFillTx/>
                <a:latin typeface="Times New Roman" panose="02020603050405020304" pitchFamily="18" charset="0"/>
              </a:rPr>
              <a:t>最少</a:t>
            </a:r>
            <a:r>
              <a:rPr lang="en-US" altLang="zh-CN">
                <a:solidFill>
                  <a:schemeClr val="tx1"/>
                </a:solidFill>
                <a:uFillTx/>
                <a:latin typeface="Times New Roman" panose="02020603050405020304" pitchFamily="18" charset="0"/>
              </a:rPr>
              <a:t>n</a:t>
            </a:r>
            <a:r>
              <a:rPr lang="zh-CN" altLang="en-US">
                <a:solidFill>
                  <a:schemeClr val="tx1"/>
                </a:solidFill>
                <a:uFillTx/>
                <a:latin typeface="Times New Roman" panose="02020603050405020304" pitchFamily="18" charset="0"/>
              </a:rPr>
              <a:t>头猪，满足条件是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(minutesToTest/minutes</a:t>
            </a:r>
            <a:r>
              <a:rPr lang="en-US" altLang="zh-CN">
                <a:solidFill>
                  <a:schemeClr val="tx1"/>
                </a:solidFill>
                <a:uFillTx/>
                <a:latin typeface="Times New Roman" panose="02020603050405020304" pitchFamily="18" charset="0"/>
              </a:rPr>
              <a:t>ToDie)</a:t>
            </a:r>
            <a:r>
              <a:rPr lang="en-US" altLang="zh-CN" baseline="30000">
                <a:solidFill>
                  <a:schemeClr val="tx1"/>
                </a:solidFill>
                <a:uFillTx/>
                <a:latin typeface="Times New Roman" panose="02020603050405020304" pitchFamily="18" charset="0"/>
              </a:rPr>
              <a:t>n </a:t>
            </a:r>
            <a:r>
              <a:rPr lang="en-US" altLang="zh-CN">
                <a:solidFill>
                  <a:schemeClr val="tx1"/>
                </a:solidFill>
                <a:uFillTx/>
                <a:latin typeface="Times New Roman" panose="02020603050405020304" pitchFamily="18" charset="0"/>
              </a:rPr>
              <a:t>&gt;=buckets</a:t>
            </a:r>
            <a:endParaRPr lang="en-US" altLang="zh-CN">
              <a:solidFill>
                <a:schemeClr val="tx1"/>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latin typeface="Times New Roman" panose="02020603050405020304" pitchFamily="18" charset="0"/>
                <a:ea typeface="楷体" panose="02010609060101010101" pitchFamily="49" charset="-122"/>
              </a:rPr>
              <a:t>多重背包问题：有</a:t>
            </a:r>
            <a:r>
              <a:rPr lang="en-US" altLang="zh-CN" sz="2200">
                <a:solidFill>
                  <a:srgbClr val="080808"/>
                </a:solidFill>
                <a:latin typeface="Times New Roman" panose="02020603050405020304" pitchFamily="18" charset="0"/>
                <a:ea typeface="楷体" panose="02010609060101010101" pitchFamily="49" charset="-122"/>
              </a:rPr>
              <a:t>n</a:t>
            </a:r>
            <a:r>
              <a:rPr lang="zh-CN" altLang="en-US" sz="2200">
                <a:solidFill>
                  <a:srgbClr val="080808"/>
                </a:solidFill>
                <a:latin typeface="Times New Roman" panose="02020603050405020304" pitchFamily="18" charset="0"/>
                <a:ea typeface="楷体" panose="02010609060101010101" pitchFamily="49" charset="-122"/>
              </a:rPr>
              <a:t>种物品有质量和对应的价值。每种物品数量是</a:t>
            </a:r>
            <a:r>
              <a:rPr lang="en-US" altLang="zh-CN" sz="2200">
                <a:solidFill>
                  <a:srgbClr val="080808"/>
                </a:solidFill>
                <a:latin typeface="Times New Roman" panose="02020603050405020304" pitchFamily="18" charset="0"/>
                <a:ea typeface="楷体" panose="02010609060101010101" pitchFamily="49" charset="-122"/>
              </a:rPr>
              <a:t>S[i]={1,2,3,4}</a:t>
            </a:r>
            <a:r>
              <a:rPr lang="zh-CN" altLang="en-US" sz="2200">
                <a:solidFill>
                  <a:srgbClr val="080808"/>
                </a:solidFill>
                <a:latin typeface="Times New Roman" panose="02020603050405020304" pitchFamily="18" charset="0"/>
                <a:ea typeface="楷体" panose="02010609060101010101" pitchFamily="49" charset="-122"/>
              </a:rPr>
              <a:t>，背包称重</a:t>
            </a:r>
            <a:r>
              <a:rPr lang="en-US" altLang="zh-CN" sz="2200" dirty="0">
                <a:solidFill>
                  <a:srgbClr val="080808"/>
                </a:solidFill>
                <a:latin typeface="Times New Roman" panose="02020603050405020304" pitchFamily="18" charset="0"/>
                <a:ea typeface="楷体" panose="02010609060101010101" pitchFamily="49" charset="-122"/>
              </a:rPr>
              <a:t>M = 10kg,</a:t>
            </a:r>
            <a:r>
              <a:rPr lang="zh-CN" altLang="en-US" sz="2200">
                <a:solidFill>
                  <a:srgbClr val="080808"/>
                </a:solidFill>
                <a:latin typeface="Times New Roman" panose="02020603050405020304" pitchFamily="18" charset="0"/>
                <a:ea typeface="楷体" panose="02010609060101010101" pitchFamily="49" charset="-122"/>
              </a:rPr>
              <a:t>物品的重量</a:t>
            </a:r>
            <a:r>
              <a:rPr lang="en-US" altLang="zh-CN" sz="2200" dirty="0">
                <a:solidFill>
                  <a:srgbClr val="080808"/>
                </a:solidFill>
                <a:latin typeface="Times New Roman" panose="02020603050405020304" pitchFamily="18" charset="0"/>
                <a:ea typeface="楷体" panose="02010609060101010101" pitchFamily="49" charset="-122"/>
              </a:rPr>
              <a:t>W</a:t>
            </a:r>
            <a:r>
              <a:rPr lang="en-US" altLang="zh-CN" sz="2200" baseline="-25000" dirty="0">
                <a:solidFill>
                  <a:srgbClr val="080808"/>
                </a:solidFill>
                <a:latin typeface="Times New Roman" panose="02020603050405020304" pitchFamily="18" charset="0"/>
                <a:ea typeface="楷体" panose="02010609060101010101" pitchFamily="49" charset="-122"/>
              </a:rPr>
              <a:t>i</a:t>
            </a:r>
            <a:r>
              <a:rPr lang="en-US" altLang="zh-CN" sz="2200" dirty="0">
                <a:solidFill>
                  <a:srgbClr val="080808"/>
                </a:solidFill>
                <a:latin typeface="Times New Roman" panose="02020603050405020304" pitchFamily="18" charset="0"/>
                <a:ea typeface="楷体" panose="02010609060101010101" pitchFamily="49" charset="-122"/>
              </a:rPr>
              <a:t> = {2,3,4,7},</a:t>
            </a:r>
            <a:r>
              <a:rPr lang="zh-CN" altLang="en-US" sz="2200">
                <a:solidFill>
                  <a:srgbClr val="080808"/>
                </a:solidFill>
                <a:latin typeface="Times New Roman" panose="02020603050405020304" pitchFamily="18" charset="0"/>
                <a:ea typeface="楷体" panose="02010609060101010101" pitchFamily="49" charset="-122"/>
              </a:rPr>
              <a:t>价值为</a:t>
            </a:r>
            <a:r>
              <a:rPr lang="en-US" altLang="zh-CN" sz="2200" dirty="0">
                <a:solidFill>
                  <a:srgbClr val="080808"/>
                </a:solidFill>
                <a:latin typeface="Times New Roman" panose="02020603050405020304" pitchFamily="18" charset="0"/>
                <a:ea typeface="楷体" panose="02010609060101010101" pitchFamily="49" charset="-122"/>
              </a:rPr>
              <a:t>C</a:t>
            </a:r>
            <a:r>
              <a:rPr lang="en-US" altLang="zh-CN" sz="2200" baseline="-25000" dirty="0">
                <a:solidFill>
                  <a:srgbClr val="080808"/>
                </a:solidFill>
                <a:latin typeface="Times New Roman" panose="02020603050405020304" pitchFamily="18" charset="0"/>
                <a:ea typeface="楷体" panose="02010609060101010101" pitchFamily="49" charset="-122"/>
              </a:rPr>
              <a:t>i</a:t>
            </a:r>
            <a:r>
              <a:rPr lang="en-US" altLang="zh-CN" sz="2200" dirty="0">
                <a:solidFill>
                  <a:srgbClr val="080808"/>
                </a:solidFill>
                <a:latin typeface="Times New Roman" panose="02020603050405020304" pitchFamily="18" charset="0"/>
                <a:ea typeface="楷体" panose="02010609060101010101" pitchFamily="49" charset="-122"/>
              </a:rPr>
              <a:t> = {1,3,5,9},</a:t>
            </a:r>
            <a:r>
              <a:rPr lang="zh-CN" altLang="en-US" sz="2200">
                <a:solidFill>
                  <a:srgbClr val="080808"/>
                </a:solidFill>
                <a:latin typeface="Times New Roman" panose="02020603050405020304" pitchFamily="18" charset="0"/>
                <a:ea typeface="楷体" panose="02010609060101010101" pitchFamily="49" charset="-122"/>
              </a:rPr>
              <a:t>问最多能装价值多大？</a:t>
            </a:r>
            <a:endParaRPr lang="zh-CN" altLang="en-US" sz="2200" dirty="0">
              <a:solidFill>
                <a:srgbClr val="080808"/>
              </a:solidFill>
              <a:latin typeface="Times New Roman" panose="02020603050405020304" pitchFamily="18" charset="0"/>
              <a:ea typeface="楷体" panose="02010609060101010101" pitchFamily="49" charset="-122"/>
            </a:endParaRPr>
          </a:p>
        </p:txBody>
      </p:sp>
      <p:sp>
        <p:nvSpPr>
          <p:cNvPr id="2" name="文本框 1"/>
          <p:cNvSpPr txBox="1"/>
          <p:nvPr/>
        </p:nvSpPr>
        <p:spPr>
          <a:xfrm>
            <a:off x="611560" y="2996952"/>
            <a:ext cx="7560840" cy="2031325"/>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这个问题完全可以按照完全背包的思路解决，主要考虑的就是物品个数</a:t>
            </a:r>
            <a:r>
              <a:rPr lang="en-US" altLang="zh-CN">
                <a:latin typeface="Times New Roman" panose="02020603050405020304" pitchFamily="18" charset="0"/>
                <a:cs typeface="Times New Roman" panose="02020603050405020304" pitchFamily="18" charset="0"/>
              </a:rPr>
              <a:t>k</a:t>
            </a: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S[i]&gt;=j/w[i]</a:t>
            </a:r>
            <a:r>
              <a:rPr lang="zh-CN" altLang="en-US">
                <a:latin typeface="Times New Roman" panose="02020603050405020304" pitchFamily="18" charset="0"/>
                <a:cs typeface="Times New Roman" panose="02020603050405020304" pitchFamily="18" charset="0"/>
              </a:rPr>
              <a:t>时候就是完全背包问题，当</a:t>
            </a:r>
            <a:r>
              <a:rPr lang="en-US" altLang="zh-CN">
                <a:latin typeface="Times New Roman" panose="02020603050405020304" pitchFamily="18" charset="0"/>
                <a:cs typeface="Times New Roman" panose="02020603050405020304" pitchFamily="18" charset="0"/>
              </a:rPr>
              <a:t>s[i]&lt;j/w[i]</a:t>
            </a:r>
            <a:r>
              <a:rPr lang="zh-CN" altLang="en-US">
                <a:latin typeface="Times New Roman" panose="02020603050405020304" pitchFamily="18" charset="0"/>
                <a:cs typeface="Times New Roman" panose="02020603050405020304" pitchFamily="18" charset="0"/>
              </a:rPr>
              <a:t>时就后续的更新</a:t>
            </a:r>
            <a:r>
              <a:rPr lang="en-US" altLang="zh-CN">
                <a:latin typeface="Times New Roman" panose="02020603050405020304" pitchFamily="18" charset="0"/>
                <a:cs typeface="Times New Roman" panose="02020603050405020304" pitchFamily="18" charset="0"/>
              </a:rPr>
              <a:t>k</a:t>
            </a:r>
            <a:r>
              <a:rPr lang="zh-CN" altLang="en-US">
                <a:latin typeface="Times New Roman" panose="02020603050405020304" pitchFamily="18" charset="0"/>
                <a:cs typeface="Times New Roman" panose="02020603050405020304" pitchFamily="18" charset="0"/>
              </a:rPr>
              <a:t>的范围就是</a:t>
            </a:r>
            <a:r>
              <a:rPr lang="en-US" altLang="zh-CN">
                <a:latin typeface="Times New Roman" panose="02020603050405020304" pitchFamily="18" charset="0"/>
                <a:cs typeface="Times New Roman" panose="02020603050405020304" pitchFamily="18" charset="0"/>
              </a:rPr>
              <a:t>1&lt;=k&lt;=s[i]</a:t>
            </a:r>
            <a:r>
              <a:rPr lang="zh-CN" altLang="en-US">
                <a:latin typeface="Times New Roman" panose="02020603050405020304" pitchFamily="18" charset="0"/>
                <a:cs typeface="Times New Roman" panose="02020603050405020304" pitchFamily="18" charset="0"/>
              </a:rPr>
              <a:t>去更新状态表。</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r>
              <a:rPr lang="zh-CN" altLang="en-US">
                <a:solidFill>
                  <a:srgbClr val="FF0000"/>
                </a:solidFill>
                <a:latin typeface="Times New Roman" panose="02020603050405020304" pitchFamily="18" charset="0"/>
                <a:cs typeface="Times New Roman" panose="02020603050405020304" pitchFamily="18" charset="0"/>
              </a:rPr>
              <a:t>同学们想一想还有没有其他的解决方法？？？</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539552" y="908720"/>
            <a:ext cx="7560840" cy="923330"/>
          </a:xfrm>
          <a:prstGeom prst="rect">
            <a:avLst/>
          </a:prstGeom>
          <a:noFill/>
        </p:spPr>
        <p:txBody>
          <a:bodyPr wrap="square" rtlCol="0">
            <a:spAutoFit/>
          </a:bodyPr>
          <a:lstStyle/>
          <a:p>
            <a:endParaRPr lang="en-US" altLang="zh-CN">
              <a:latin typeface="Times New Roman" panose="02020603050405020304" pitchFamily="18" charset="0"/>
              <a:cs typeface="Times New Roman" panose="02020603050405020304" pitchFamily="18" charset="0"/>
            </a:endParaRPr>
          </a:p>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：将完全背包问题转换成</a:t>
            </a:r>
            <a:r>
              <a:rPr lang="en-US" altLang="zh-CN">
                <a:latin typeface="Times New Roman" panose="02020603050405020304" pitchFamily="18" charset="0"/>
                <a:cs typeface="Times New Roman" panose="02020603050405020304" pitchFamily="18" charset="0"/>
              </a:rPr>
              <a:t>0-1</a:t>
            </a:r>
            <a:r>
              <a:rPr lang="zh-CN" altLang="en-US">
                <a:latin typeface="Times New Roman" panose="02020603050405020304" pitchFamily="18" charset="0"/>
                <a:cs typeface="Times New Roman" panose="02020603050405020304" pitchFamily="18" charset="0"/>
              </a:rPr>
              <a:t>背包问题去解决。</a:t>
            </a:r>
            <a:endParaRPr lang="en-US" altLang="zh-CN">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graphicFrame>
        <p:nvGraphicFramePr>
          <p:cNvPr id="12" name="表格 11"/>
          <p:cNvGraphicFramePr>
            <a:graphicFrameLocks noGrp="1"/>
          </p:cNvGraphicFramePr>
          <p:nvPr/>
        </p:nvGraphicFramePr>
        <p:xfrm>
          <a:off x="683568" y="1916832"/>
          <a:ext cx="7020000" cy="432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769441"/>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将多重背包转换成完全背包和</a:t>
            </a:r>
            <a:r>
              <a:rPr kumimoji="1" lang="en-US" altLang="zh-CN" sz="2200">
                <a:solidFill>
                  <a:srgbClr val="080808"/>
                </a:solidFill>
                <a:latin typeface="Times New Roman" panose="02020603050405020304" pitchFamily="18" charset="0"/>
                <a:ea typeface="楷体" panose="02010609060101010101" pitchFamily="49" charset="-122"/>
              </a:rPr>
              <a:t>0-1</a:t>
            </a:r>
            <a:r>
              <a:rPr kumimoji="1" lang="zh-CN" altLang="en-US" sz="2200">
                <a:solidFill>
                  <a:srgbClr val="080808"/>
                </a:solidFill>
                <a:latin typeface="Times New Roman" panose="02020603050405020304" pitchFamily="18" charset="0"/>
                <a:ea typeface="楷体" panose="02010609060101010101" pitchFamily="49" charset="-122"/>
              </a:rPr>
              <a:t>背包问题之后，仍然是同样解题流程</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600298" y="4943255"/>
            <a:ext cx="7812868" cy="769441"/>
          </a:xfrm>
          <a:prstGeom prst="rect">
            <a:avLst/>
          </a:prstGeom>
          <a:noFill/>
        </p:spPr>
        <p:txBody>
          <a:bodyPr wrap="square" rtlCol="0">
            <a:spAutoFit/>
          </a:bodyPr>
          <a:lstStyle/>
          <a:p>
            <a:r>
              <a:rPr kumimoji="1" lang="zh-CN" altLang="en-US" sz="2200">
                <a:solidFill>
                  <a:srgbClr val="FF0000"/>
                </a:solidFill>
                <a:latin typeface="Times New Roman" panose="02020603050405020304" pitchFamily="18" charset="0"/>
                <a:ea typeface="楷体" panose="02010609060101010101" pitchFamily="49" charset="-122"/>
              </a:rPr>
              <a:t>到这里同学思考一下，上述的动态规划算法是否可以进行优化？回想一下我们考试时候同学做题的表现。</a:t>
            </a:r>
            <a:endParaRPr kumimoji="1" lang="en-US" altLang="zh-CN" sz="2200">
              <a:solidFill>
                <a:srgbClr val="FF0000"/>
              </a:solidFill>
              <a:latin typeface="Times New Roman" panose="02020603050405020304" pitchFamily="18" charset="0"/>
              <a:ea typeface="楷体" panose="02010609060101010101" pitchFamily="49" charset="-122"/>
            </a:endParaRPr>
          </a:p>
        </p:txBody>
      </p:sp>
      <p:sp>
        <p:nvSpPr>
          <p:cNvPr id="5" name="文本框 4"/>
          <p:cNvSpPr txBox="1"/>
          <p:nvPr/>
        </p:nvSpPr>
        <p:spPr>
          <a:xfrm>
            <a:off x="623285" y="1925216"/>
            <a:ext cx="7812868" cy="280076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判断动态规划核心思想符不符合该问题。</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然后</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1</a:t>
            </a:r>
            <a:r>
              <a:rPr kumimoji="1" lang="zh-CN" altLang="en-US" sz="2200">
                <a:solidFill>
                  <a:srgbClr val="080808"/>
                </a:solidFill>
                <a:latin typeface="Times New Roman" panose="02020603050405020304" pitchFamily="18" charset="0"/>
                <a:ea typeface="楷体" panose="02010609060101010101" pitchFamily="49" charset="-122"/>
              </a:rPr>
              <a:t>）选择数组描述状态</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2</a:t>
            </a:r>
            <a:r>
              <a:rPr kumimoji="1" lang="zh-CN" altLang="en-US" sz="2200">
                <a:solidFill>
                  <a:srgbClr val="080808"/>
                </a:solidFill>
                <a:latin typeface="Times New Roman" panose="02020603050405020304" pitchFamily="18" charset="0"/>
                <a:ea typeface="楷体" panose="02010609060101010101" pitchFamily="49" charset="-122"/>
              </a:rPr>
              <a:t>）找到递推关系</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3</a:t>
            </a:r>
            <a:r>
              <a:rPr kumimoji="1" lang="zh-CN" altLang="en-US" sz="2200">
                <a:solidFill>
                  <a:srgbClr val="080808"/>
                </a:solidFill>
                <a:latin typeface="Times New Roman" panose="02020603050405020304" pitchFamily="18" charset="0"/>
                <a:ea typeface="楷体" panose="02010609060101010101" pitchFamily="49" charset="-122"/>
              </a:rPr>
              <a:t>）初始化边界</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这三步不是严格的顺序</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4</a:t>
            </a:r>
            <a:r>
              <a:rPr kumimoji="1" lang="zh-CN" altLang="en-US" sz="2200">
                <a:solidFill>
                  <a:srgbClr val="080808"/>
                </a:solidFill>
                <a:latin typeface="Times New Roman" panose="02020603050405020304" pitchFamily="18" charset="0"/>
                <a:ea typeface="楷体" panose="02010609060101010101" pitchFamily="49" charset="-122"/>
              </a:rPr>
              <a:t>）确定计算顺序</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5</a:t>
            </a:r>
            <a:r>
              <a:rPr kumimoji="1" lang="zh-CN" altLang="en-US" sz="220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动态规划与分治方法的区别：</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两者都是通过组合子问题的解来求解原问题。不同的是，分治法适合处理能够将问题划分为互不相交的子问题的问题，通过递归地求解子问题来推出原问题的解。而动态规划适合应用于子问题重叠的情况，即不同的子问题具有公共的子问题。分治法则不适合，因为它会重复求解这些公共的子问题，而动态规划法则会把子问题的解保存下来，避免重复计算，可以说动态规划法是用空间来换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动态规划法的应用</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988840"/>
            <a:ext cx="80018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下面分别使用分治法和动态规划法来解决斐波那契数列问题。斐波那契数列</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的递推定义是：</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23528" y="1196752"/>
            <a:ext cx="2733441"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5.2.1</a:t>
            </a:r>
            <a:r>
              <a:rPr lang="zh-CN" altLang="zh-CN" sz="2400" b="1" kern="100" dirty="0">
                <a:latin typeface="Cambria" panose="02040503050406030204" pitchFamily="18" charset="0"/>
                <a:cs typeface="Times New Roman" panose="02020603050405020304" pitchFamily="18" charset="0"/>
              </a:rPr>
              <a:t>斐波那契数列</a:t>
            </a:r>
            <a:endParaRPr lang="zh-CN" altLang="zh-CN" sz="2400" b="1" kern="100" dirty="0">
              <a:effectLst/>
              <a:latin typeface="Cambria" panose="02040503050406030204" pitchFamily="18" charset="0"/>
              <a:cs typeface="Times New Roman" panose="02020603050405020304" pitchFamily="18" charset="0"/>
            </a:endParaRPr>
          </a:p>
        </p:txBody>
      </p:sp>
      <p:pic>
        <p:nvPicPr>
          <p:cNvPr id="3" name="图片 2"/>
          <p:cNvPicPr>
            <a:picLocks noChangeAspect="1"/>
          </p:cNvPicPr>
          <p:nvPr/>
        </p:nvPicPr>
        <p:blipFill>
          <a:blip r:embed="rId6"/>
          <a:stretch>
            <a:fillRect/>
          </a:stretch>
        </p:blipFill>
        <p:spPr>
          <a:xfrm>
            <a:off x="1259632" y="3032016"/>
            <a:ext cx="6120680" cy="1517524"/>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、分治法解题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如下图所示，先分解原问题，再递归地求解子问题退出原问题的解。斐波那契数列的递归设计如下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fib(int 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if(n == 1 || n == 2)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1;                      //</a:t>
            </a:r>
            <a:r>
              <a:rPr lang="zh-CN" altLang="en-US" sz="2400" dirty="0">
                <a:solidFill>
                  <a:srgbClr val="080808"/>
                </a:solidFill>
                <a:latin typeface="楷体" panose="02010609060101010101" pitchFamily="49" charset="-122"/>
                <a:ea typeface="楷体" panose="02010609060101010101" pitchFamily="49" charset="-122"/>
              </a:rPr>
              <a:t>递归出口</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else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fib(n-1) + fib(n-2);    //</a:t>
            </a:r>
            <a:r>
              <a:rPr lang="zh-CN" altLang="en-US" sz="2400" dirty="0">
                <a:solidFill>
                  <a:srgbClr val="080808"/>
                </a:solidFill>
                <a:latin typeface="楷体" panose="02010609060101010101" pitchFamily="49" charset="-122"/>
                <a:ea typeface="楷体" panose="02010609060101010101" pitchFamily="49" charset="-122"/>
              </a:rPr>
              <a:t>递归调用</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1907850" y="4697760"/>
            <a:ext cx="5328300" cy="216024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484784"/>
            <a:ext cx="8001880"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、动态规划法解题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为了解决分治法出现的问题，下面尝试使用动态规划法，动态规划法能够在问题的求解过程在，保存上一个子问题的解，这样能够重复求解子问题。在使用动态规划法求解斐波那契数列第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项的时候，需要保存的是</a:t>
            </a:r>
            <a:r>
              <a:rPr lang="en-US" altLang="zh-CN" sz="2400" dirty="0">
                <a:solidFill>
                  <a:srgbClr val="080808"/>
                </a:solidFill>
                <a:latin typeface="楷体" panose="02010609060101010101" pitchFamily="49" charset="-122"/>
                <a:ea typeface="楷体" panose="02010609060101010101" pitchFamily="49" charset="-122"/>
              </a:rPr>
              <a:t>fib(n-1)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fib(n-2)</a:t>
            </a:r>
            <a:r>
              <a:rPr lang="zh-CN" altLang="en-US" sz="2400" dirty="0">
                <a:solidFill>
                  <a:srgbClr val="080808"/>
                </a:solidFill>
                <a:latin typeface="楷体" panose="02010609060101010101" pitchFamily="49" charset="-122"/>
                <a:ea typeface="楷体" panose="02010609060101010101" pitchFamily="49" charset="-122"/>
              </a:rPr>
              <a:t>的值，这定义一个一维数组，用来存放斐波那契数列的各个项，能够提升运行效率。</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04933" y="2163102"/>
            <a:ext cx="4824536"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long fib1(int 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f[1]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f[2]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for(</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3;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n;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f[i-1] + f[i-2];</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858681" y="1844824"/>
            <a:ext cx="3960440" cy="4052877"/>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23528" y="1052736"/>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a:solidFill>
                  <a:srgbClr val="080808"/>
                </a:solidFill>
                <a:latin typeface="楷体" panose="02010609060101010101" pitchFamily="49" charset="-122"/>
                <a:ea typeface="楷体" panose="02010609060101010101" pitchFamily="49" charset="-122"/>
              </a:rPr>
              <a:t>3</a:t>
            </a:r>
            <a:r>
              <a:rPr lang="zh-CN" altLang="en-US" sz="2400">
                <a:solidFill>
                  <a:srgbClr val="080808"/>
                </a:solidFill>
                <a:latin typeface="楷体" panose="02010609060101010101" pitchFamily="49" charset="-122"/>
                <a:ea typeface="楷体" panose="02010609060101010101" pitchFamily="49" charset="-122"/>
              </a:rPr>
              <a:t>、</a:t>
            </a:r>
            <a:r>
              <a:rPr lang="zh-CN" altLang="en-US" sz="2400">
                <a:solidFill>
                  <a:srgbClr val="FF0000"/>
                </a:solidFill>
                <a:latin typeface="楷体" panose="02010609060101010101" pitchFamily="49" charset="-122"/>
                <a:ea typeface="楷体" panose="02010609060101010101" pitchFamily="49" charset="-122"/>
              </a:rPr>
              <a:t>动态规划</a:t>
            </a:r>
            <a:r>
              <a:rPr lang="zh-CN" altLang="en-US" sz="2400">
                <a:solidFill>
                  <a:srgbClr val="080808"/>
                </a:solidFill>
                <a:latin typeface="楷体" panose="02010609060101010101" pitchFamily="49" charset="-122"/>
                <a:ea typeface="楷体" panose="02010609060101010101" pitchFamily="49" charset="-122"/>
              </a:rPr>
              <a:t>和</a:t>
            </a:r>
            <a:r>
              <a:rPr lang="zh-CN" altLang="en-US" sz="2400">
                <a:solidFill>
                  <a:srgbClr val="FF0000"/>
                </a:solidFill>
                <a:latin typeface="楷体" panose="02010609060101010101" pitchFamily="49" charset="-122"/>
                <a:ea typeface="楷体" panose="02010609060101010101" pitchFamily="49" charset="-122"/>
              </a:rPr>
              <a:t>分治法</a:t>
            </a:r>
            <a:r>
              <a:rPr lang="zh-CN" altLang="en-US" sz="2400">
                <a:solidFill>
                  <a:srgbClr val="080808"/>
                </a:solidFill>
                <a:latin typeface="楷体" panose="02010609060101010101" pitchFamily="49" charset="-122"/>
                <a:ea typeface="楷体" panose="02010609060101010101" pitchFamily="49" charset="-122"/>
              </a:rPr>
              <a:t>对比</a:t>
            </a:r>
            <a:endParaRPr lang="en-US" altLang="zh-CN" sz="240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499992" y="2564904"/>
            <a:ext cx="4459091" cy="2376264"/>
          </a:xfrm>
          <a:prstGeom prst="rect">
            <a:avLst/>
          </a:prstGeom>
        </p:spPr>
      </p:pic>
      <p:pic>
        <p:nvPicPr>
          <p:cNvPr id="5" name="图片 4"/>
          <p:cNvPicPr>
            <a:picLocks noChangeAspect="1"/>
          </p:cNvPicPr>
          <p:nvPr/>
        </p:nvPicPr>
        <p:blipFill>
          <a:blip r:embed="rId7"/>
          <a:stretch>
            <a:fillRect/>
          </a:stretch>
        </p:blipFill>
        <p:spPr>
          <a:xfrm>
            <a:off x="251379" y="2345462"/>
            <a:ext cx="3960581" cy="2729863"/>
          </a:xfrm>
          <a:prstGeom prst="rect">
            <a:avLst/>
          </a:prstGeom>
        </p:spPr>
      </p:pic>
      <p:sp>
        <p:nvSpPr>
          <p:cNvPr id="7" name="Text Box 4"/>
          <p:cNvSpPr txBox="1">
            <a:spLocks noChangeArrowheads="1"/>
          </p:cNvSpPr>
          <p:nvPr/>
        </p:nvSpPr>
        <p:spPr bwMode="auto">
          <a:xfrm>
            <a:off x="827584" y="515719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a:solidFill>
                  <a:srgbClr val="080808"/>
                </a:solidFill>
                <a:latin typeface="楷体" panose="02010609060101010101" pitchFamily="49" charset="-122"/>
                <a:ea typeface="楷体" panose="02010609060101010101" pitchFamily="49" charset="-122"/>
              </a:rPr>
              <a:t>（</a:t>
            </a:r>
            <a:r>
              <a:rPr lang="en-US" altLang="zh-CN" sz="2400">
                <a:solidFill>
                  <a:srgbClr val="080808"/>
                </a:solidFill>
                <a:latin typeface="楷体" panose="02010609060101010101" pitchFamily="49" charset="-122"/>
                <a:ea typeface="楷体" panose="02010609060101010101" pitchFamily="49" charset="-122"/>
              </a:rPr>
              <a:t>a</a:t>
            </a:r>
            <a:r>
              <a:rPr lang="zh-CN" altLang="en-US" sz="2400">
                <a:solidFill>
                  <a:srgbClr val="080808"/>
                </a:solidFill>
                <a:latin typeface="楷体" panose="02010609060101010101" pitchFamily="49" charset="-122"/>
                <a:ea typeface="楷体" panose="02010609060101010101" pitchFamily="49" charset="-122"/>
              </a:rPr>
              <a:t>）动态规划处理流程           （</a:t>
            </a:r>
            <a:r>
              <a:rPr lang="en-US" altLang="zh-CN" sz="2400">
                <a:solidFill>
                  <a:srgbClr val="080808"/>
                </a:solidFill>
                <a:latin typeface="楷体" panose="02010609060101010101" pitchFamily="49" charset="-122"/>
                <a:ea typeface="楷体" panose="02010609060101010101" pitchFamily="49" charset="-122"/>
              </a:rPr>
              <a:t>b</a:t>
            </a:r>
            <a:r>
              <a:rPr lang="zh-CN" altLang="en-US" sz="2400">
                <a:solidFill>
                  <a:srgbClr val="080808"/>
                </a:solidFill>
                <a:latin typeface="楷体" panose="02010609060101010101" pitchFamily="49" charset="-122"/>
                <a:ea typeface="楷体" panose="02010609060101010101" pitchFamily="49" charset="-122"/>
              </a:rPr>
              <a:t>）分治法处理流程</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a:solidFill>
                  <a:srgbClr val="080808"/>
                </a:solidFill>
                <a:latin typeface="楷体" panose="02010609060101010101" pitchFamily="49" charset="-122"/>
                <a:ea typeface="楷体" panose="02010609060101010101" pitchFamily="49" charset="-122"/>
              </a:rPr>
              <a:t>3</a:t>
            </a:r>
            <a:r>
              <a:rPr lang="zh-CN" altLang="en-US" sz="2400">
                <a:solidFill>
                  <a:srgbClr val="080808"/>
                </a:solidFill>
                <a:latin typeface="楷体" panose="02010609060101010101" pitchFamily="49" charset="-122"/>
                <a:ea typeface="楷体" panose="02010609060101010101" pitchFamily="49" charset="-122"/>
              </a:rPr>
              <a:t>、</a:t>
            </a:r>
            <a:r>
              <a:rPr lang="zh-CN" altLang="en-US" sz="2400">
                <a:solidFill>
                  <a:srgbClr val="FF0000"/>
                </a:solidFill>
                <a:latin typeface="楷体" panose="02010609060101010101" pitchFamily="49" charset="-122"/>
                <a:ea typeface="楷体" panose="02010609060101010101" pitchFamily="49" charset="-122"/>
              </a:rPr>
              <a:t>动态规划</a:t>
            </a:r>
            <a:r>
              <a:rPr lang="zh-CN" altLang="en-US" sz="2400">
                <a:solidFill>
                  <a:srgbClr val="080808"/>
                </a:solidFill>
                <a:latin typeface="楷体" panose="02010609060101010101" pitchFamily="49" charset="-122"/>
                <a:ea typeface="楷体" panose="02010609060101010101" pitchFamily="49" charset="-122"/>
              </a:rPr>
              <a:t>和</a:t>
            </a:r>
            <a:r>
              <a:rPr lang="zh-CN" altLang="en-US" sz="2400">
                <a:solidFill>
                  <a:srgbClr val="FF0000"/>
                </a:solidFill>
                <a:latin typeface="楷体" panose="02010609060101010101" pitchFamily="49" charset="-122"/>
                <a:ea typeface="楷体" panose="02010609060101010101" pitchFamily="49" charset="-122"/>
              </a:rPr>
              <a:t>分治法</a:t>
            </a:r>
            <a:r>
              <a:rPr lang="zh-CN" altLang="en-US" sz="2400">
                <a:solidFill>
                  <a:srgbClr val="080808"/>
                </a:solidFill>
                <a:latin typeface="楷体" panose="02010609060101010101" pitchFamily="49" charset="-122"/>
                <a:ea typeface="楷体" panose="02010609060101010101" pitchFamily="49" charset="-122"/>
              </a:rPr>
              <a:t>对比</a:t>
            </a:r>
            <a:endParaRPr lang="en-US" altLang="zh-CN" sz="2400">
              <a:solidFill>
                <a:srgbClr val="080808"/>
              </a:solidFill>
              <a:latin typeface="楷体" panose="02010609060101010101" pitchFamily="49" charset="-122"/>
              <a:ea typeface="楷体" panose="02010609060101010101" pitchFamily="49" charset="-122"/>
            </a:endParaRPr>
          </a:p>
        </p:txBody>
      </p:sp>
      <p:graphicFrame>
        <p:nvGraphicFramePr>
          <p:cNvPr id="5" name="表格 4"/>
          <p:cNvGraphicFramePr>
            <a:graphicFrameLocks noGrp="1"/>
          </p:cNvGraphicFramePr>
          <p:nvPr/>
        </p:nvGraphicFramePr>
        <p:xfrm>
          <a:off x="1475656" y="2492896"/>
          <a:ext cx="6048672" cy="2304256"/>
        </p:xfrm>
        <a:graphic>
          <a:graphicData uri="http://schemas.openxmlformats.org/drawingml/2006/table">
            <a:tbl>
              <a:tblPr firstRow="1" firstCol="1" bandRow="1">
                <a:tableStyleId>{5940675A-B579-460E-94D1-54222C63F5DA}</a:tableStyleId>
              </a:tblPr>
              <a:tblGrid>
                <a:gridCol w="1605735"/>
                <a:gridCol w="2509035"/>
                <a:gridCol w="1933902"/>
              </a:tblGrid>
              <a:tr h="576064">
                <a:tc>
                  <a:txBody>
                    <a:bodyPr/>
                    <a:lstStyle/>
                    <a:p>
                      <a:pPr algn="ctr">
                        <a:spcAft>
                          <a:spcPts val="0"/>
                        </a:spcAft>
                      </a:pPr>
                      <a:endParaRPr lang="zh-CN" sz="1400"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a:solidFill>
                            <a:srgbClr val="FF0000"/>
                          </a:solidFill>
                          <a:effectLst/>
                          <a:latin typeface="Times New Roman" panose="02020603050405020304" pitchFamily="18" charset="0"/>
                          <a:cs typeface="Times New Roman" panose="02020603050405020304" pitchFamily="18" charset="0"/>
                        </a:rPr>
                        <a:t>动态规划</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分治法</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mpd="sng">
                      <a:noFill/>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576064">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子问题特点：</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子问题重叠</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子问题独立</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r>
              <a:tr h="576064">
                <a:tc rowSpan="2">
                  <a:txBody>
                    <a:body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子问题处理方式：</a:t>
                      </a:r>
                      <a:endParaRPr lang="zh-CN" alt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p>
                      <a:pPr algn="ctr">
                        <a:spcAft>
                          <a:spcPts val="0"/>
                        </a:spcAft>
                      </a:pP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存储子问题（记忆）</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不存储子问题</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r>
              <a:tr h="576064">
                <a:tc vMerge="1">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决策表（自底向上或自顶向下）</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递归分治</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64840" y="1475364"/>
            <a:ext cx="8558279"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问题描述：从数字塔的顶端出发，在经过的每一个结点处都可以选择向左走或向右走，一直走到最底端，请找出一条路径，要求经过路径上的数值和最大。</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95536" y="836712"/>
            <a:ext cx="2424062"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5.2.2</a:t>
            </a:r>
            <a:r>
              <a:rPr lang="zh-CN" altLang="en-US" sz="2400" b="1" kern="100" dirty="0">
                <a:latin typeface="Cambria" panose="02040503050406030204" pitchFamily="18" charset="0"/>
                <a:cs typeface="Times New Roman" panose="02020603050405020304" pitchFamily="18" charset="0"/>
              </a:rPr>
              <a:t>数字塔问题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1979712" y="2675693"/>
            <a:ext cx="5073094" cy="3973537"/>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251520" y="1124744"/>
            <a:ext cx="8820472"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解题思路：首先是问题分解，从五层数字塔的顶端</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出发走下面的哪一个分支主要取决于位于它下方的左右两个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层数字塔的最大数值和，如下图</a:t>
            </a:r>
            <a:r>
              <a:rPr lang="en-US" altLang="zh-CN" sz="2000" dirty="0">
                <a:solidFill>
                  <a:srgbClr val="080808"/>
                </a:solidFill>
                <a:latin typeface="楷体" panose="02010609060101010101" pitchFamily="49" charset="-122"/>
                <a:ea typeface="楷体" panose="02010609060101010101" pitchFamily="49" charset="-122"/>
              </a:rPr>
              <a:t>5.3</a:t>
            </a:r>
            <a:r>
              <a:rPr lang="zh-CN" altLang="en-US" sz="2000" dirty="0">
                <a:solidFill>
                  <a:srgbClr val="080808"/>
                </a:solidFill>
                <a:latin typeface="楷体" panose="02010609060101010101" pitchFamily="49" charset="-122"/>
                <a:ea typeface="楷体" panose="02010609060101010101" pitchFamily="49" charset="-122"/>
              </a:rPr>
              <a:t>所示，以此类推，每个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层数字塔的问题，而</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层数字塔的最大数值和就是其本身，进入问题求解过程。接下来求解下一阶段的子问题，第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层的求解是在最底层决策的基础上的，第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层的基础上的，第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层的基础上的，直到最后一个阶段：第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层求解是在第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层的基础上的，也是数字塔的整体最优解。</a:t>
            </a:r>
            <a:endParaRPr lang="en-US" altLang="zh-CN" sz="2000" dirty="0">
              <a:solidFill>
                <a:srgbClr val="080808"/>
              </a:solidFill>
              <a:latin typeface="楷体" panose="02010609060101010101" pitchFamily="49" charset="-122"/>
              <a:ea typeface="楷体" panose="02010609060101010101" pitchFamily="49" charset="-122"/>
            </a:endParaRPr>
          </a:p>
        </p:txBody>
      </p:sp>
      <p:grpSp>
        <p:nvGrpSpPr>
          <p:cNvPr id="6" name="组合 5"/>
          <p:cNvGrpSpPr/>
          <p:nvPr/>
        </p:nvGrpSpPr>
        <p:grpSpPr>
          <a:xfrm>
            <a:off x="1187624" y="3987066"/>
            <a:ext cx="7416824" cy="2582902"/>
            <a:chOff x="0" y="0"/>
            <a:chExt cx="4857750" cy="1727200"/>
          </a:xfrm>
        </p:grpSpPr>
        <p:pic>
          <p:nvPicPr>
            <p:cNvPr id="7" name="图片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2381250" cy="1727200"/>
            </a:xfrm>
            <a:prstGeom prst="rect">
              <a:avLst/>
            </a:prstGeom>
          </p:spPr>
        </p:pic>
        <p:pic>
          <p:nvPicPr>
            <p:cNvPr id="8" name="图片 7"/>
            <p:cNvPicPr/>
            <p:nvPr/>
          </p:nvPicPr>
          <p:blipFill>
            <a:blip r:embed="rId7">
              <a:extLst>
                <a:ext uri="{28A0092B-C50C-407E-A947-70E740481C1C}">
                  <a14:useLocalDpi xmlns:a14="http://schemas.microsoft.com/office/drawing/2010/main" val="0"/>
                </a:ext>
              </a:extLst>
            </a:blip>
            <a:stretch>
              <a:fillRect/>
            </a:stretch>
          </p:blipFill>
          <p:spPr>
            <a:xfrm>
              <a:off x="2476500" y="0"/>
              <a:ext cx="2381250" cy="1720850"/>
            </a:xfrm>
            <a:prstGeom prst="rect">
              <a:avLst/>
            </a:prstGeom>
          </p:spPr>
        </p:pic>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20399" y="2003311"/>
            <a:ext cx="8311969" cy="954107"/>
          </a:xfrm>
          <a:prstGeom prst="rect">
            <a:avLst/>
          </a:prstGeom>
        </p:spPr>
        <p:txBody>
          <a:bodyPr wrap="square">
            <a:spAutoFit/>
          </a:bodyPr>
          <a:lstStyle/>
          <a:p>
            <a:endParaRPr lang="en-US" altLang="zh-CN" b="1" dirty="0">
              <a:latin typeface="宋体" panose="02010600030101010101" pitchFamily="2" charset="-122"/>
            </a:endParaRPr>
          </a:p>
          <a:p>
            <a:r>
              <a:rPr lang="zh-CN" altLang="en-US" b="1" dirty="0">
                <a:solidFill>
                  <a:srgbClr val="0000FF"/>
                </a:solidFill>
                <a:latin typeface="宋体" panose="02010600030101010101" pitchFamily="2" charset="-122"/>
              </a:rPr>
              <a:t>例：现在有面值为</a:t>
            </a:r>
            <a:r>
              <a:rPr lang="en-US" altLang="zh-CN" b="1" dirty="0">
                <a:solidFill>
                  <a:srgbClr val="0000FF"/>
                </a:solidFill>
                <a:latin typeface="宋体" panose="02010600030101010101" pitchFamily="2" charset="-122"/>
              </a:rPr>
              <a:t>1</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en-US" altLang="zh-CN" b="1" dirty="0">
              <a:solidFill>
                <a:srgbClr val="0000FF"/>
              </a:solidFill>
              <a:latin typeface="宋体" panose="02010600030101010101" pitchFamily="2" charset="-122"/>
            </a:endParaRPr>
          </a:p>
          <a:p>
            <a:endParaRPr lang="zh-CN" altLang="en-US" sz="2000" b="1" dirty="0"/>
          </a:p>
        </p:txBody>
      </p:sp>
      <p:sp>
        <p:nvSpPr>
          <p:cNvPr id="6" name="矩形 5"/>
          <p:cNvSpPr/>
          <p:nvPr/>
        </p:nvSpPr>
        <p:spPr>
          <a:xfrm>
            <a:off x="220399" y="2643369"/>
            <a:ext cx="8613461" cy="1754326"/>
          </a:xfrm>
          <a:prstGeom prst="rect">
            <a:avLst/>
          </a:prstGeom>
        </p:spPr>
        <p:txBody>
          <a:bodyPr wrap="square">
            <a:spAutoFit/>
          </a:bodyPr>
          <a:lstStyle/>
          <a:p>
            <a:pPr>
              <a:lnSpc>
                <a:spcPct val="150000"/>
              </a:lnSpc>
            </a:pPr>
            <a:r>
              <a:rPr lang="zh-CN" altLang="en-US" b="1" dirty="0"/>
              <a:t>这道题给人的第一感觉是可以使用贪心算法，先选面值最大的，最多能够选一枚</a:t>
            </a:r>
            <a:r>
              <a:rPr lang="en-US" altLang="zh-CN" b="1" dirty="0"/>
              <a:t>5</a:t>
            </a:r>
            <a:r>
              <a:rPr lang="zh-CN" altLang="en-US" b="1" dirty="0"/>
              <a:t>元的硬币，目前是</a:t>
            </a:r>
            <a:r>
              <a:rPr lang="en-US" altLang="zh-CN" b="1" dirty="0"/>
              <a:t>5</a:t>
            </a:r>
            <a:r>
              <a:rPr lang="zh-CN" altLang="en-US" b="1" dirty="0"/>
              <a:t>元了，还差</a:t>
            </a:r>
            <a:r>
              <a:rPr lang="en-US" altLang="zh-CN" b="1" dirty="0"/>
              <a:t>4</a:t>
            </a:r>
            <a:r>
              <a:rPr lang="zh-CN" altLang="en-US" b="1" dirty="0"/>
              <a:t>元；接下来我们选取第</a:t>
            </a:r>
            <a:r>
              <a:rPr lang="en-US" altLang="zh-CN" b="1" dirty="0"/>
              <a:t>2</a:t>
            </a:r>
            <a:r>
              <a:rPr lang="zh-CN" altLang="en-US" b="1" dirty="0"/>
              <a:t>大的</a:t>
            </a:r>
            <a:r>
              <a:rPr lang="en-US" altLang="zh-CN" b="1" dirty="0"/>
              <a:t>3</a:t>
            </a:r>
            <a:r>
              <a:rPr lang="zh-CN" altLang="en-US" b="1" dirty="0"/>
              <a:t>元面值，最多能够选一枚，目前是</a:t>
            </a:r>
            <a:r>
              <a:rPr lang="en-US" altLang="zh-CN" b="1" dirty="0"/>
              <a:t>8</a:t>
            </a:r>
            <a:r>
              <a:rPr lang="zh-CN" altLang="en-US" b="1" dirty="0"/>
              <a:t>元了，还差</a:t>
            </a:r>
            <a:r>
              <a:rPr lang="en-US" altLang="zh-CN" b="1" dirty="0"/>
              <a:t>1</a:t>
            </a:r>
            <a:r>
              <a:rPr lang="zh-CN" altLang="en-US" b="1" dirty="0"/>
              <a:t>元；继续选第</a:t>
            </a:r>
            <a:r>
              <a:rPr lang="en-US" altLang="zh-CN" b="1" dirty="0"/>
              <a:t>3</a:t>
            </a:r>
            <a:r>
              <a:rPr lang="zh-CN" altLang="en-US" b="1" dirty="0"/>
              <a:t>大的硬币也就是</a:t>
            </a:r>
            <a:r>
              <a:rPr lang="en-US" altLang="zh-CN" b="1" dirty="0"/>
              <a:t>1</a:t>
            </a:r>
            <a:r>
              <a:rPr lang="zh-CN" altLang="en-US" b="1" dirty="0"/>
              <a:t>元面值，选一个就可以了，因此用</a:t>
            </a:r>
            <a:r>
              <a:rPr lang="en-US" altLang="zh-CN" b="1" dirty="0"/>
              <a:t>3</a:t>
            </a:r>
            <a:r>
              <a:rPr lang="zh-CN" altLang="en-US" b="1" dirty="0"/>
              <a:t>枚硬币凑够了</a:t>
            </a:r>
            <a:r>
              <a:rPr lang="en-US" altLang="zh-CN" b="1" dirty="0"/>
              <a:t>11</a:t>
            </a:r>
            <a:r>
              <a:rPr lang="zh-CN" altLang="en-US" b="1" dirty="0"/>
              <a:t>元</a:t>
            </a:r>
            <a:r>
              <a:rPr lang="zh-CN" altLang="en-US" b="1" dirty="0">
                <a:latin typeface="宋体" panose="02010600030101010101" pitchFamily="2" charset="-122"/>
              </a:rPr>
              <a:t>。</a:t>
            </a:r>
            <a:endParaRPr lang="en-US" altLang="zh-CN" b="1" dirty="0">
              <a:latin typeface="宋体" panose="02010600030101010101" pitchFamily="2" charset="-122"/>
            </a:endParaRPr>
          </a:p>
        </p:txBody>
      </p:sp>
      <p:sp>
        <p:nvSpPr>
          <p:cNvPr id="7" name="矩形 6"/>
          <p:cNvSpPr/>
          <p:nvPr/>
        </p:nvSpPr>
        <p:spPr>
          <a:xfrm>
            <a:off x="250081" y="4604135"/>
            <a:ext cx="8515200" cy="2104872"/>
          </a:xfrm>
          <a:prstGeom prst="rect">
            <a:avLst/>
          </a:prstGeom>
        </p:spPr>
        <p:txBody>
          <a:bodyPr wrap="square">
            <a:spAutoFit/>
          </a:bodyPr>
          <a:lstStyle/>
          <a:p>
            <a:pPr>
              <a:lnSpc>
                <a:spcPct val="150000"/>
              </a:lnSpc>
            </a:pPr>
            <a:r>
              <a:rPr lang="zh-CN" altLang="en-US" b="1" dirty="0">
                <a:latin typeface="宋体" panose="02010600030101010101" pitchFamily="2" charset="-122"/>
              </a:rPr>
              <a:t>这个问题还能否使用贪心法来求解呢？先尝试使用一下贪心策略，先选面值最大的，最多能够选一枚</a:t>
            </a:r>
            <a:r>
              <a:rPr lang="en-US" altLang="zh-CN" b="1" dirty="0">
                <a:latin typeface="宋体" panose="02010600030101010101" pitchFamily="2" charset="-122"/>
              </a:rPr>
              <a:t>5</a:t>
            </a:r>
            <a:r>
              <a:rPr lang="zh-CN" altLang="en-US" b="1" dirty="0">
                <a:latin typeface="宋体" panose="02010600030101010101" pitchFamily="2" charset="-122"/>
              </a:rPr>
              <a:t>元的硬币，目前是</a:t>
            </a:r>
            <a:r>
              <a:rPr lang="en-US" altLang="zh-CN" b="1" dirty="0">
                <a:latin typeface="宋体" panose="02010600030101010101" pitchFamily="2" charset="-122"/>
              </a:rPr>
              <a:t>5</a:t>
            </a:r>
            <a:r>
              <a:rPr lang="zh-CN" altLang="en-US" b="1" dirty="0">
                <a:latin typeface="宋体" panose="02010600030101010101" pitchFamily="2" charset="-122"/>
              </a:rPr>
              <a:t>元了，还差</a:t>
            </a:r>
            <a:r>
              <a:rPr lang="en-US" altLang="zh-CN" b="1" dirty="0">
                <a:latin typeface="宋体" panose="02010600030101010101" pitchFamily="2" charset="-122"/>
              </a:rPr>
              <a:t>4</a:t>
            </a:r>
            <a:r>
              <a:rPr lang="zh-CN" altLang="en-US" b="1" dirty="0">
                <a:latin typeface="宋体" panose="02010600030101010101" pitchFamily="2" charset="-122"/>
              </a:rPr>
              <a:t>元；接下来我们选取第</a:t>
            </a:r>
            <a:r>
              <a:rPr lang="en-US" altLang="zh-CN" b="1" dirty="0">
                <a:latin typeface="宋体" panose="02010600030101010101" pitchFamily="2" charset="-122"/>
              </a:rPr>
              <a:t>2</a:t>
            </a:r>
            <a:r>
              <a:rPr lang="zh-CN" altLang="en-US" b="1" dirty="0">
                <a:latin typeface="宋体" panose="02010600030101010101" pitchFamily="2" charset="-122"/>
              </a:rPr>
              <a:t>大的</a:t>
            </a:r>
            <a:r>
              <a:rPr lang="en-US" altLang="zh-CN" b="1" dirty="0">
                <a:latin typeface="宋体" panose="02010600030101010101" pitchFamily="2" charset="-122"/>
              </a:rPr>
              <a:t>3</a:t>
            </a:r>
            <a:r>
              <a:rPr lang="zh-CN" altLang="en-US" b="1" dirty="0">
                <a:latin typeface="宋体" panose="02010600030101010101" pitchFamily="2" charset="-122"/>
              </a:rPr>
              <a:t>元面值，最多能够选一枚，目前是</a:t>
            </a:r>
            <a:r>
              <a:rPr lang="en-US" altLang="zh-CN" b="1" dirty="0">
                <a:latin typeface="宋体" panose="02010600030101010101" pitchFamily="2" charset="-122"/>
              </a:rPr>
              <a:t>8</a:t>
            </a:r>
            <a:r>
              <a:rPr lang="zh-CN" altLang="en-US" b="1" dirty="0">
                <a:latin typeface="宋体" panose="02010600030101010101" pitchFamily="2" charset="-122"/>
              </a:rPr>
              <a:t>元了，还差</a:t>
            </a:r>
            <a:r>
              <a:rPr lang="en-US" altLang="zh-CN" b="1" dirty="0">
                <a:latin typeface="宋体" panose="02010600030101010101" pitchFamily="2" charset="-122"/>
              </a:rPr>
              <a:t>1</a:t>
            </a:r>
            <a:r>
              <a:rPr lang="zh-CN" altLang="en-US" b="1" dirty="0">
                <a:latin typeface="宋体" panose="02010600030101010101" pitchFamily="2" charset="-122"/>
              </a:rPr>
              <a:t>元；继续选第</a:t>
            </a:r>
            <a:r>
              <a:rPr lang="en-US" altLang="zh-CN" b="1" dirty="0">
                <a:latin typeface="宋体" panose="02010600030101010101" pitchFamily="2" charset="-122"/>
              </a:rPr>
              <a:t>3</a:t>
            </a:r>
            <a:r>
              <a:rPr lang="zh-CN" altLang="en-US" b="1" dirty="0">
                <a:latin typeface="宋体" panose="02010600030101010101" pitchFamily="2" charset="-122"/>
              </a:rPr>
              <a:t>大的硬币也就是</a:t>
            </a:r>
            <a:r>
              <a:rPr lang="en-US" altLang="zh-CN" b="1" dirty="0">
                <a:latin typeface="宋体" panose="02010600030101010101" pitchFamily="2" charset="-122"/>
              </a:rPr>
              <a:t>2</a:t>
            </a:r>
            <a:r>
              <a:rPr lang="zh-CN" altLang="en-US" b="1" dirty="0">
                <a:latin typeface="宋体" panose="02010600030101010101" pitchFamily="2" charset="-122"/>
              </a:rPr>
              <a:t>元面值，发现不行，这个时候用贪心方法怎么也凑不出</a:t>
            </a:r>
            <a:r>
              <a:rPr lang="en-US" altLang="zh-CN" b="1" dirty="0">
                <a:latin typeface="宋体" panose="02010600030101010101" pitchFamily="2" charset="-122"/>
              </a:rPr>
              <a:t>9</a:t>
            </a:r>
            <a:r>
              <a:rPr lang="zh-CN" altLang="en-US" b="1" dirty="0">
                <a:latin typeface="宋体" panose="02010600030101010101" pitchFamily="2" charset="-122"/>
              </a:rPr>
              <a:t>元。对于这个问题，贪心法失效了，可见对于凑硬币问题，它并不能够保证找出最优解。</a:t>
            </a:r>
            <a:endParaRPr lang="en-US" altLang="zh-CN" b="1" dirty="0">
              <a:latin typeface="宋体" panose="02010600030101010101" pitchFamily="2" charset="-122"/>
            </a:endParaRPr>
          </a:p>
        </p:txBody>
      </p:sp>
      <p:sp>
        <p:nvSpPr>
          <p:cNvPr id="8" name="矩形 7"/>
          <p:cNvSpPr/>
          <p:nvPr/>
        </p:nvSpPr>
        <p:spPr>
          <a:xfrm>
            <a:off x="166651" y="1404392"/>
            <a:ext cx="8613461" cy="869533"/>
          </a:xfrm>
          <a:prstGeom prst="rect">
            <a:avLst/>
          </a:prstGeom>
        </p:spPr>
        <p:txBody>
          <a:bodyPr wrap="square">
            <a:spAutoFit/>
          </a:bodyPr>
          <a:lstStyle/>
          <a:p>
            <a:pPr>
              <a:lnSpc>
                <a:spcPct val="150000"/>
              </a:lnSpc>
            </a:pPr>
            <a:r>
              <a:rPr lang="zh-CN" altLang="en-US" b="1" dirty="0">
                <a:latin typeface="宋体" panose="02010600030101010101" pitchFamily="2" charset="-122"/>
              </a:rPr>
              <a:t>问题描述：给定</a:t>
            </a:r>
            <a:r>
              <a:rPr lang="en-US" altLang="zh-CN" b="1" dirty="0">
                <a:latin typeface="宋体" panose="02010600030101010101" pitchFamily="2" charset="-122"/>
              </a:rPr>
              <a:t>n</a:t>
            </a:r>
            <a:r>
              <a:rPr lang="zh-CN" altLang="en-US" b="1" dirty="0">
                <a:latin typeface="宋体" panose="02010600030101010101" pitchFamily="2" charset="-122"/>
              </a:rPr>
              <a:t>种不同的硬币，面值分别为</a:t>
            </a:r>
            <a:r>
              <a:rPr lang="en-US" altLang="zh-CN" b="1" dirty="0">
                <a:latin typeface="宋体" panose="02010600030101010101" pitchFamily="2" charset="-122"/>
              </a:rPr>
              <a:t>{v1, v2, ..., </a:t>
            </a:r>
            <a:r>
              <a:rPr lang="en-US" altLang="zh-CN" b="1" dirty="0" err="1">
                <a:latin typeface="宋体" panose="02010600030101010101" pitchFamily="2" charset="-122"/>
              </a:rPr>
              <a:t>vn</a:t>
            </a:r>
            <a:r>
              <a:rPr lang="en-US" altLang="zh-CN" b="1" dirty="0">
                <a:latin typeface="宋体" panose="02010600030101010101" pitchFamily="2" charset="-122"/>
              </a:rPr>
              <a:t>}</a:t>
            </a:r>
            <a:r>
              <a:rPr lang="zh-CN" altLang="en-US" b="1" dirty="0">
                <a:latin typeface="宋体" panose="02010600030101010101" pitchFamily="2" charset="-122"/>
              </a:rPr>
              <a:t>，给出一个金额</a:t>
            </a:r>
            <a:r>
              <a:rPr lang="en-US" altLang="zh-CN" b="1" dirty="0">
                <a:latin typeface="宋体" panose="02010600030101010101" pitchFamily="2" charset="-122"/>
              </a:rPr>
              <a:t>y</a:t>
            </a:r>
            <a:r>
              <a:rPr lang="zh-CN" altLang="en-US" b="1" dirty="0">
                <a:latin typeface="宋体" panose="02010600030101010101" pitchFamily="2" charset="-122"/>
              </a:rPr>
              <a:t>，设计算法用最少的硬币凑出</a:t>
            </a:r>
            <a:r>
              <a:rPr lang="en-US" altLang="zh-CN" b="1" dirty="0">
                <a:latin typeface="宋体" panose="02010600030101010101" pitchFamily="2" charset="-122"/>
              </a:rPr>
              <a:t>y</a:t>
            </a:r>
            <a:r>
              <a:rPr lang="zh-CN" altLang="en-US" b="1" dirty="0">
                <a:latin typeface="宋体" panose="02010600030101010101" pitchFamily="2" charset="-122"/>
              </a:rPr>
              <a:t>。</a:t>
            </a:r>
            <a:endParaRPr lang="zh-CN" altLang="en-US" dirty="0"/>
          </a:p>
        </p:txBody>
      </p:sp>
      <p:sp>
        <p:nvSpPr>
          <p:cNvPr id="2" name="矩形 1"/>
          <p:cNvSpPr/>
          <p:nvPr/>
        </p:nvSpPr>
        <p:spPr>
          <a:xfrm>
            <a:off x="257925" y="4316718"/>
            <a:ext cx="8613460" cy="369332"/>
          </a:xfrm>
          <a:prstGeom prst="rect">
            <a:avLst/>
          </a:prstGeom>
        </p:spPr>
        <p:txBody>
          <a:bodyPr wrap="square">
            <a:spAutoFit/>
          </a:bodyPr>
          <a:lstStyle/>
          <a:p>
            <a:r>
              <a:rPr lang="zh-CN" altLang="en-US" b="1" dirty="0">
                <a:solidFill>
                  <a:srgbClr val="0000FF"/>
                </a:solidFill>
                <a:latin typeface="宋体" panose="02010600030101010101" pitchFamily="2" charset="-122"/>
              </a:rPr>
              <a:t>如果有面值为</a:t>
            </a:r>
            <a:r>
              <a:rPr lang="en-US" altLang="zh-CN" b="1" dirty="0">
                <a:solidFill>
                  <a:srgbClr val="0000FF"/>
                </a:solidFill>
                <a:latin typeface="宋体" panose="02010600030101010101" pitchFamily="2" charset="-122"/>
              </a:rPr>
              <a:t>2</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zh-CN" altLang="en-US" dirty="0"/>
          </a:p>
        </p:txBody>
      </p:sp>
      <p:sp>
        <p:nvSpPr>
          <p:cNvPr id="9" name="矩形 8"/>
          <p:cNvSpPr/>
          <p:nvPr/>
        </p:nvSpPr>
        <p:spPr>
          <a:xfrm>
            <a:off x="204940" y="804702"/>
            <a:ext cx="2491388"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5.2.3 </a:t>
            </a:r>
            <a:r>
              <a:rPr lang="zh-CN" altLang="en-US" sz="2400" b="1" kern="100" dirty="0">
                <a:latin typeface="Cambria" panose="02040503050406030204" pitchFamily="18" charset="0"/>
                <a:cs typeface="Times New Roman" panose="02020603050405020304" pitchFamily="18" charset="0"/>
              </a:rPr>
              <a:t>凑硬币问题</a:t>
            </a:r>
            <a:endParaRPr lang="zh-CN" altLang="zh-CN" sz="2400" b="1" kern="100" dirty="0">
              <a:effectLst/>
              <a:latin typeface="Cambria" panose="02040503050406030204" pitchFamily="18" charset="0"/>
              <a:cs typeface="Times New Roman" panose="02020603050405020304" pitchFamily="18" charset="0"/>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179512" y="1124744"/>
            <a:ext cx="8613461" cy="923330"/>
          </a:xfrm>
          <a:prstGeom prst="rect">
            <a:avLst/>
          </a:prstGeom>
        </p:spPr>
        <p:txBody>
          <a:bodyPr wrap="square">
            <a:spAutoFit/>
          </a:bodyPr>
          <a:lstStyle/>
          <a:p>
            <a:pPr>
              <a:lnSpc>
                <a:spcPct val="150000"/>
              </a:lnSpc>
            </a:pPr>
            <a:r>
              <a:rPr lang="zh-CN" altLang="en-US" b="1" dirty="0"/>
              <a:t>接下来用动态规划法来求解这个问题：。从问题的求解过程中，可以发现每一步都是从前一个步骤的最优解解集中选一个，然后再走一步即可，如下表所示：</a:t>
            </a:r>
            <a:endParaRPr lang="zh-CN" altLang="en-US" b="1" dirty="0"/>
          </a:p>
        </p:txBody>
      </p:sp>
      <p:pic>
        <p:nvPicPr>
          <p:cNvPr id="2" name="图片 1"/>
          <p:cNvPicPr>
            <a:picLocks noChangeAspect="1"/>
          </p:cNvPicPr>
          <p:nvPr/>
        </p:nvPicPr>
        <p:blipFill>
          <a:blip r:embed="rId1"/>
          <a:stretch>
            <a:fillRect/>
          </a:stretch>
        </p:blipFill>
        <p:spPr>
          <a:xfrm>
            <a:off x="1043608" y="2276872"/>
            <a:ext cx="7106214" cy="396044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323528" y="1628800"/>
            <a:ext cx="8699219" cy="3362524"/>
          </a:xfrm>
          <a:prstGeom prst="rect">
            <a:avLst/>
          </a:prstGeom>
        </p:spPr>
        <p:txBody>
          <a:bodyPr wrap="square">
            <a:spAutoFit/>
          </a:bodyPr>
          <a:lstStyle/>
          <a:p>
            <a:pPr>
              <a:lnSpc>
                <a:spcPct val="150000"/>
              </a:lnSpc>
            </a:pPr>
            <a:r>
              <a:rPr lang="zh-CN" altLang="en-US" b="1" dirty="0"/>
              <a:t>如上表所示，可以得到如下递推公式：</a:t>
            </a:r>
            <a:endParaRPr lang="zh-CN" altLang="en-US" b="1" dirty="0"/>
          </a:p>
          <a:p>
            <a:pPr>
              <a:lnSpc>
                <a:spcPct val="150000"/>
              </a:lnSpc>
            </a:pPr>
            <a:r>
              <a:rPr lang="en-US" altLang="zh-CN" b="1" dirty="0"/>
              <a:t>c(</a:t>
            </a:r>
            <a:r>
              <a:rPr lang="en-US" altLang="zh-CN" b="1" dirty="0" err="1"/>
              <a:t>i</a:t>
            </a:r>
            <a:r>
              <a:rPr lang="en-US" altLang="zh-CN" b="1" dirty="0"/>
              <a:t>) = min{ c(</a:t>
            </a:r>
            <a:r>
              <a:rPr lang="en-US" altLang="zh-CN" b="1" dirty="0" err="1"/>
              <a:t>i</a:t>
            </a:r>
            <a:r>
              <a:rPr lang="en-US" altLang="zh-CN" b="1" dirty="0"/>
              <a:t> - </a:t>
            </a:r>
            <a:r>
              <a:rPr lang="en-US" altLang="zh-CN" b="1" dirty="0" err="1"/>
              <a:t>vj</a:t>
            </a:r>
            <a:r>
              <a:rPr lang="en-US" altLang="zh-CN" b="1" dirty="0"/>
              <a:t>) + 1} ,</a:t>
            </a:r>
            <a:r>
              <a:rPr lang="en-US" altLang="zh-CN" b="1" dirty="0" err="1"/>
              <a:t>i</a:t>
            </a:r>
            <a:r>
              <a:rPr lang="en-US" altLang="zh-CN" b="1" dirty="0"/>
              <a:t> &gt;= </a:t>
            </a:r>
            <a:r>
              <a:rPr lang="en-US" altLang="zh-CN" b="1" dirty="0" err="1"/>
              <a:t>vj</a:t>
            </a:r>
            <a:endParaRPr lang="en-US" altLang="zh-CN" b="1" dirty="0"/>
          </a:p>
          <a:p>
            <a:pPr>
              <a:lnSpc>
                <a:spcPct val="150000"/>
              </a:lnSpc>
            </a:pPr>
            <a:r>
              <a:rPr lang="en-US" altLang="zh-CN" b="1" dirty="0"/>
              <a:t>c(</a:t>
            </a:r>
            <a:r>
              <a:rPr lang="en-US" altLang="zh-CN" b="1" dirty="0" err="1"/>
              <a:t>i</a:t>
            </a:r>
            <a:r>
              <a:rPr lang="en-US" altLang="zh-CN" b="1" dirty="0"/>
              <a:t>)</a:t>
            </a:r>
            <a:r>
              <a:rPr lang="zh-CN" altLang="en-US" b="1" dirty="0"/>
              <a:t>表示凑够</a:t>
            </a:r>
            <a:r>
              <a:rPr lang="en-US" altLang="zh-CN" b="1" dirty="0" err="1"/>
              <a:t>i</a:t>
            </a:r>
            <a:r>
              <a:rPr lang="zh-CN" altLang="en-US" b="1" dirty="0"/>
              <a:t>元需要的最少硬币数量，将它定义为该问题的</a:t>
            </a:r>
            <a:r>
              <a:rPr lang="en-US" altLang="zh-CN" b="1" dirty="0"/>
              <a:t>"</a:t>
            </a:r>
            <a:r>
              <a:rPr lang="zh-CN" altLang="en-US" b="1" dirty="0"/>
              <a:t>状态</a:t>
            </a:r>
            <a:r>
              <a:rPr lang="en-US" altLang="zh-CN" b="1" dirty="0"/>
              <a:t>"</a:t>
            </a:r>
            <a:r>
              <a:rPr lang="zh-CN" altLang="en-US" b="1" dirty="0"/>
              <a:t>，这个状态是根据子问题定义状态找出的，最终我们要求解的问题，可以用这个状态来表示：</a:t>
            </a:r>
            <a:r>
              <a:rPr lang="en-US" altLang="zh-CN" b="1" dirty="0"/>
              <a:t>c(9)</a:t>
            </a:r>
            <a:r>
              <a:rPr lang="zh-CN" altLang="en-US" b="1" dirty="0"/>
              <a:t>，即凑够</a:t>
            </a:r>
            <a:r>
              <a:rPr lang="en-US" altLang="zh-CN" b="1" dirty="0"/>
              <a:t>9</a:t>
            </a:r>
            <a:r>
              <a:rPr lang="zh-CN" altLang="en-US" b="1" dirty="0"/>
              <a:t>元最少需要多少个硬币。上面的递推公式叫做状态转移方程，用来描述状态之间是如何转移的。找出它们是动态规划法解题的关键，在分析问题的过程中，通常情况下是没有办法一眼就看出状态转移方程的，这需要实践积累的，这也是动态规划法的难点所在。</a:t>
            </a:r>
            <a:endParaRPr lang="zh-CN" altLang="en-US" b="1"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733192"/>
            <a:ext cx="8696479" cy="2800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问题描述：给定一个容量为</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的背包和</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种物品，已知物品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的重量是 </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，其价值为 </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，求解的问题是</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表示物品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装入背包的情况，即解向量：</a:t>
            </a:r>
            <a:r>
              <a:rPr lang="en-US" altLang="zh-CN" sz="2200" dirty="0">
                <a:solidFill>
                  <a:srgbClr val="080808"/>
                </a:solidFill>
                <a:latin typeface="楷体" panose="02010609060101010101" pitchFamily="49" charset="-122"/>
                <a:ea typeface="楷体" panose="02010609060101010101" pitchFamily="49" charset="-122"/>
              </a:rPr>
              <a:t>X=(x1,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则</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取值只有</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没被装入背包，当</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整个被装入背包。</a:t>
            </a:r>
            <a:endParaRPr lang="en-US" altLang="zh-CN"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）约束条件</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背包载重量是</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6549" y="1097697"/>
            <a:ext cx="2719014" cy="727571"/>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5.2.4  0-1</a:t>
            </a:r>
            <a:r>
              <a:rPr lang="zh-CN" altLang="en-US" sz="2400" b="1" kern="100" dirty="0">
                <a:latin typeface="Cambria" panose="02040503050406030204" pitchFamily="18" charset="0"/>
                <a:cs typeface="Times New Roman" panose="02020603050405020304" pitchFamily="18" charset="0"/>
              </a:rPr>
              <a:t>背包问题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6" name="Picture 4"/>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620248" y="4425638"/>
            <a:ext cx="1903501" cy="615414"/>
          </a:xfrm>
          <a:prstGeom prst="rect">
            <a:avLst/>
          </a:prstGeom>
          <a:solidFill>
            <a:srgbClr val="FFFFFF"/>
          </a:solidFill>
        </p:spPr>
      </p:pic>
      <p:sp>
        <p:nvSpPr>
          <p:cNvPr id="7" name="Text Box 4"/>
          <p:cNvSpPr txBox="1">
            <a:spLocks noChangeArrowheads="1"/>
          </p:cNvSpPr>
          <p:nvPr/>
        </p:nvSpPr>
        <p:spPr bwMode="auto">
          <a:xfrm>
            <a:off x="223760" y="5149373"/>
            <a:ext cx="869647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）问题的求解目标</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背包中的物品总价值最大，即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8" name="图片 7"/>
          <p:cNvPicPr/>
          <p:nvPr/>
        </p:nvPicPr>
        <p:blipFill>
          <a:blip r:embed="rId7">
            <a:extLst>
              <a:ext uri="{28A0092B-C50C-407E-A947-70E740481C1C}">
                <a14:useLocalDpi xmlns:a14="http://schemas.microsoft.com/office/drawing/2010/main" val="0"/>
              </a:ext>
            </a:extLst>
          </a:blip>
          <a:srcRect/>
          <a:stretch>
            <a:fillRect/>
          </a:stretch>
        </p:blipFill>
        <p:spPr bwMode="auto">
          <a:xfrm>
            <a:off x="3820627" y="5796903"/>
            <a:ext cx="1502746" cy="883140"/>
          </a:xfrm>
          <a:prstGeom prst="rect">
            <a:avLst/>
          </a:prstGeom>
          <a:noFill/>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79512" y="1478709"/>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使用动态规划法来求解。将</a:t>
            </a:r>
            <a:r>
              <a:rPr lang="en-US" altLang="zh-CN" sz="2200" dirty="0">
                <a:solidFill>
                  <a:srgbClr val="080808"/>
                </a:solidFill>
                <a:latin typeface="楷体" panose="02010609060101010101" pitchFamily="49" charset="-122"/>
                <a:ea typeface="楷体" panose="02010609060101010101" pitchFamily="49" charset="-122"/>
              </a:rPr>
              <a:t>0/1</a:t>
            </a:r>
            <a:r>
              <a:rPr lang="zh-CN" altLang="en-US" sz="2200" dirty="0">
                <a:solidFill>
                  <a:srgbClr val="080808"/>
                </a:solidFill>
                <a:latin typeface="楷体" panose="02010609060101010101" pitchFamily="49" charset="-122"/>
                <a:ea typeface="楷体" panose="02010609060101010101" pitchFamily="49" charset="-122"/>
              </a:rPr>
              <a:t>背包问题看作是一个决策序列</a:t>
            </a:r>
            <a:r>
              <a:rPr lang="en-US" altLang="zh-CN" sz="2200" dirty="0">
                <a:solidFill>
                  <a:srgbClr val="080808"/>
                </a:solidFill>
                <a:latin typeface="楷体" panose="02010609060101010101" pitchFamily="49" charset="-122"/>
                <a:ea typeface="楷体" panose="02010609060101010101" pitchFamily="49" charset="-122"/>
              </a:rPr>
              <a:t>(x1,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，对其中的</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的决策是取</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还是</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。在决策</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时，有以下两种状态：</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）背包装不下物品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，背包原价值不变；</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）背包可以装下物品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，背包价值增加了</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两种情况下背包价值的最大者就是对</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决策后的背包价值。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将</a:t>
            </a:r>
            <a:r>
              <a:rPr lang="en-US" altLang="zh-CN" sz="2200" dirty="0">
                <a:solidFill>
                  <a:srgbClr val="080808"/>
                </a:solidFill>
                <a:latin typeface="楷体" panose="02010609060101010101" pitchFamily="49" charset="-122"/>
                <a:ea typeface="楷体" panose="02010609060101010101" pitchFamily="49" charset="-122"/>
              </a:rPr>
              <a:t>V(</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j) </a:t>
            </a:r>
            <a:r>
              <a:rPr lang="zh-CN" altLang="en-US" sz="2200" dirty="0">
                <a:solidFill>
                  <a:srgbClr val="080808"/>
                </a:solidFill>
                <a:latin typeface="楷体" panose="02010609060101010101" pitchFamily="49" charset="-122"/>
                <a:ea typeface="楷体" panose="02010609060101010101" pitchFamily="49" charset="-122"/>
              </a:rPr>
              <a:t>定义为该问题的状态，表示前</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个物品中能够装入容量为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1≤j≤C</a:t>
            </a:r>
            <a:r>
              <a:rPr lang="zh-CN" altLang="en-US" sz="2200" dirty="0">
                <a:solidFill>
                  <a:srgbClr val="080808"/>
                </a:solidFill>
                <a:latin typeface="楷体" panose="02010609060101010101" pitchFamily="49" charset="-122"/>
                <a:ea typeface="楷体" panose="02010609060101010101" pitchFamily="49" charset="-122"/>
              </a:rPr>
              <a:t>）的背包获得的最大价值，则可以得到如下状态转移方程：</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4869160"/>
            <a:ext cx="7293251" cy="8978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11879" y="2636912"/>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&lt;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就不能装入背包；此时背包最大价值都不会发生变化。</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&gt;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可以装入背包，此时有两个选择：</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①物品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装入背包，此时背包的价值是把前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背包中的价值加上第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个物品的价值</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②物品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不装入背包，此时则背包的价值是把前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的背包中的价值。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取上述二者中价值较大者作为最优解。</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1484784"/>
            <a:ext cx="7293251" cy="8978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动态规划法分析与设计的基本步骤如下：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）确定状态。将问题发展到各个阶段的状态表示出来。</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）确定状态转移方程。状态转移方程表示如何根据上一阶段的状态和决策来导出本阶段的状态，可以通过分析相邻两个阶段的状态之间的关系来确定状态转移方程。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）采用以自底向上的方法来计算各个阶段的最优解，并通过这些解来构造问题的最优解。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5.3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动态规划法分析与设计</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286236"/>
            <a:ext cx="8604250" cy="2123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5.2】</a:t>
            </a:r>
            <a:r>
              <a:rPr lang="zh-CN" altLang="en-US" sz="2400" dirty="0">
                <a:solidFill>
                  <a:srgbClr val="080808"/>
                </a:solidFill>
                <a:latin typeface="楷体" panose="02010609060101010101" pitchFamily="49" charset="-122"/>
                <a:ea typeface="楷体" panose="02010609060101010101" pitchFamily="49" charset="-122"/>
              </a:rPr>
              <a:t>斐波那契数列。</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解题思路：</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475656" y="3373993"/>
            <a:ext cx="5449965" cy="1569589"/>
          </a:xfrm>
          <a:prstGeom prst="rect">
            <a:avLst/>
          </a:prstGeom>
        </p:spPr>
      </p:pic>
      <p:sp>
        <p:nvSpPr>
          <p:cNvPr id="5" name="Text Box 4"/>
          <p:cNvSpPr txBox="1">
            <a:spLocks noChangeArrowheads="1"/>
          </p:cNvSpPr>
          <p:nvPr/>
        </p:nvSpPr>
        <p:spPr bwMode="auto">
          <a:xfrm>
            <a:off x="269875" y="4712749"/>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a:picLocks noChangeAspect="1"/>
          </p:cNvPicPr>
          <p:nvPr/>
        </p:nvPicPr>
        <p:blipFill>
          <a:blip r:embed="rId7"/>
          <a:stretch>
            <a:fillRect/>
          </a:stretch>
        </p:blipFill>
        <p:spPr>
          <a:xfrm>
            <a:off x="495413" y="5328053"/>
            <a:ext cx="8153173" cy="981267"/>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340768"/>
            <a:ext cx="860425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5.3】</a:t>
            </a:r>
            <a:r>
              <a:rPr lang="zh-CN" altLang="en-US" sz="2400" dirty="0">
                <a:solidFill>
                  <a:srgbClr val="080808"/>
                </a:solidFill>
                <a:latin typeface="楷体" panose="02010609060101010101" pitchFamily="49" charset="-122"/>
                <a:ea typeface="楷体" panose="02010609060101010101" pitchFamily="49" charset="-122"/>
              </a:rPr>
              <a:t>求阶乘问题。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factorial (n)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5" name="Text Box 4"/>
          <p:cNvSpPr txBox="1">
            <a:spLocks noChangeArrowheads="1"/>
          </p:cNvSpPr>
          <p:nvPr/>
        </p:nvSpPr>
        <p:spPr bwMode="auto">
          <a:xfrm>
            <a:off x="267644" y="401842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115616" y="4797152"/>
            <a:ext cx="6646169" cy="1034545"/>
          </a:xfrm>
          <a:prstGeom prst="rect">
            <a:avLst/>
          </a:prstGeom>
        </p:spPr>
      </p:pic>
      <p:pic>
        <p:nvPicPr>
          <p:cNvPr id="6" name="图片 5"/>
          <p:cNvPicPr>
            <a:picLocks noChangeAspect="1"/>
          </p:cNvPicPr>
          <p:nvPr/>
        </p:nvPicPr>
        <p:blipFill>
          <a:blip r:embed="rId7"/>
          <a:stretch>
            <a:fillRect/>
          </a:stretch>
        </p:blipFill>
        <p:spPr>
          <a:xfrm>
            <a:off x="1721018" y="2970468"/>
            <a:ext cx="5435363" cy="8894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124744"/>
            <a:ext cx="8874125"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5.4】</a:t>
            </a:r>
            <a:r>
              <a:rPr lang="zh-CN" altLang="en-US" sz="2400" dirty="0">
                <a:solidFill>
                  <a:srgbClr val="080808"/>
                </a:solidFill>
                <a:latin typeface="楷体" panose="02010609060101010101" pitchFamily="49" charset="-122"/>
                <a:ea typeface="楷体" panose="02010609060101010101" pitchFamily="49" charset="-122"/>
              </a:rPr>
              <a:t>排队买票问题。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问题描述：本周末有一场电影首映，有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个观众在排队买票，一个人买一张票。售票处规定，一个人每次最多只能买两张票。设第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位歌迷买一张票的时间是</a:t>
            </a:r>
            <a:r>
              <a:rPr lang="en-US" altLang="zh-CN" sz="2400" dirty="0" err="1">
                <a:solidFill>
                  <a:srgbClr val="080808"/>
                </a:solidFill>
                <a:latin typeface="楷体" panose="02010609060101010101" pitchFamily="49" charset="-122"/>
                <a:ea typeface="楷体" panose="02010609060101010101" pitchFamily="49" charset="-122"/>
              </a:rPr>
              <a:t>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1≤i≤n</a:t>
            </a:r>
            <a:r>
              <a:rPr lang="zh-CN" altLang="en-US" sz="2400" dirty="0">
                <a:solidFill>
                  <a:srgbClr val="080808"/>
                </a:solidFill>
                <a:latin typeface="楷体" panose="02010609060101010101" pitchFamily="49" charset="-122"/>
                <a:ea typeface="楷体" panose="02010609060101010101" pitchFamily="49" charset="-122"/>
              </a:rPr>
              <a:t>），队伍里相邻的两位观众（设第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个人和第</a:t>
            </a:r>
            <a:r>
              <a:rPr lang="en-US" altLang="zh-CN" sz="2400" dirty="0">
                <a:solidFill>
                  <a:srgbClr val="080808"/>
                </a:solidFill>
                <a:latin typeface="楷体" panose="02010609060101010101" pitchFamily="49" charset="-122"/>
                <a:ea typeface="楷体" panose="02010609060101010101" pitchFamily="49" charset="-122"/>
              </a:rPr>
              <a:t>i+1</a:t>
            </a:r>
            <a:r>
              <a:rPr lang="zh-CN" altLang="en-US" sz="2400" dirty="0">
                <a:solidFill>
                  <a:srgbClr val="080808"/>
                </a:solidFill>
                <a:latin typeface="楷体" panose="02010609060101010101" pitchFamily="49" charset="-122"/>
                <a:ea typeface="楷体" panose="02010609060101010101" pitchFamily="49" charset="-122"/>
              </a:rPr>
              <a:t>个人）也可以由其中一个人一次买两张票，这样另一位就不用排队了，此时他们买两张票的时间就变成了</a:t>
            </a:r>
            <a:r>
              <a:rPr lang="en-US" altLang="zh-CN" sz="2400" dirty="0" err="1">
                <a:solidFill>
                  <a:srgbClr val="080808"/>
                </a:solidFill>
                <a:latin typeface="楷体" panose="02010609060101010101" pitchFamily="49" charset="-122"/>
                <a:ea typeface="楷体" panose="02010609060101010101" pitchFamily="49" charset="-122"/>
              </a:rPr>
              <a:t>ei</a:t>
            </a:r>
            <a:r>
              <a:rPr lang="zh-CN" altLang="en-US" sz="2400" dirty="0">
                <a:solidFill>
                  <a:srgbClr val="080808"/>
                </a:solidFill>
                <a:latin typeface="楷体" panose="02010609060101010101" pitchFamily="49" charset="-122"/>
                <a:ea typeface="楷体" panose="02010609060101010101" pitchFamily="49" charset="-122"/>
              </a:rPr>
              <a:t>，如果</a:t>
            </a:r>
            <a:r>
              <a:rPr lang="en-US" altLang="zh-CN" sz="2400" dirty="0" err="1">
                <a:solidFill>
                  <a:srgbClr val="080808"/>
                </a:solidFill>
                <a:latin typeface="楷体" panose="02010609060101010101" pitchFamily="49" charset="-122"/>
                <a:ea typeface="楷体" panose="02010609060101010101" pitchFamily="49" charset="-122"/>
              </a:rPr>
              <a:t>ei</a:t>
            </a:r>
            <a:r>
              <a:rPr lang="en-US" altLang="zh-CN" sz="2400" dirty="0">
                <a:solidFill>
                  <a:srgbClr val="080808"/>
                </a:solidFill>
                <a:latin typeface="楷体" panose="02010609060101010101" pitchFamily="49" charset="-122"/>
                <a:ea typeface="楷体" panose="02010609060101010101" pitchFamily="49" charset="-122"/>
              </a:rPr>
              <a:t>&lt;ti+ti+1</a:t>
            </a:r>
            <a:r>
              <a:rPr lang="zh-CN" altLang="en-US" sz="2400" dirty="0">
                <a:solidFill>
                  <a:srgbClr val="080808"/>
                </a:solidFill>
                <a:latin typeface="楷体" panose="02010609060101010101" pitchFamily="49" charset="-122"/>
                <a:ea typeface="楷体" panose="02010609060101010101" pitchFamily="49" charset="-122"/>
              </a:rPr>
              <a:t>，就能够缩短后面观众等待的时间，加快售票过程。设计算法求让每个人都买到票的最短时间。</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163470" y="4365010"/>
            <a:ext cx="8845591" cy="2492990"/>
          </a:xfrm>
          <a:prstGeom prst="rect">
            <a:avLst/>
          </a:prstGeom>
        </p:spPr>
        <p:txBody>
          <a:bodyPr wrap="square">
            <a:spAutoFit/>
          </a:bodyPr>
          <a:lstStyle/>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解题思路：</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1</a:t>
            </a:r>
            <a:r>
              <a:rPr kumimoji="1" lang="zh-CN" altLang="en-US" sz="2400" dirty="0">
                <a:solidFill>
                  <a:srgbClr val="080808"/>
                </a:solidFill>
                <a:latin typeface="楷体" panose="02010609060101010101" pitchFamily="49" charset="-122"/>
                <a:ea typeface="楷体" panose="02010609060101010101" pitchFamily="49" charset="-122"/>
              </a:rPr>
              <a:t>）用</a:t>
            </a:r>
            <a:r>
              <a:rPr kumimoji="1" lang="en-US" altLang="zh-CN" sz="2400" dirty="0">
                <a:solidFill>
                  <a:srgbClr val="080808"/>
                </a:solidFill>
                <a:latin typeface="楷体" panose="02010609060101010101" pitchFamily="49" charset="-122"/>
                <a:ea typeface="楷体" panose="02010609060101010101" pitchFamily="49" charset="-122"/>
              </a:rPr>
              <a:t>ticket(</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en-US" altLang="zh-CN" sz="2400" dirty="0">
                <a:solidFill>
                  <a:srgbClr val="080808"/>
                </a:solidFill>
                <a:latin typeface="楷体" panose="02010609060101010101" pitchFamily="49" charset="-122"/>
                <a:ea typeface="楷体" panose="02010609060101010101" pitchFamily="49" charset="-122"/>
              </a:rPr>
              <a:t>)</a:t>
            </a:r>
            <a:r>
              <a:rPr kumimoji="1" lang="zh-CN" altLang="en-US" sz="2400" dirty="0">
                <a:solidFill>
                  <a:srgbClr val="080808"/>
                </a:solidFill>
                <a:latin typeface="楷体" panose="02010609060101010101" pitchFamily="49" charset="-122"/>
                <a:ea typeface="楷体" panose="02010609060101010101" pitchFamily="49" charset="-122"/>
              </a:rPr>
              <a:t>表示前</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个人买票所需最短时间，有以下两种情况：</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a</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个人的票自己买；</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b</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个人的票由第</a:t>
            </a:r>
            <a:r>
              <a:rPr kumimoji="1" lang="en-US" altLang="zh-CN" sz="2400" dirty="0">
                <a:solidFill>
                  <a:srgbClr val="080808"/>
                </a:solidFill>
                <a:latin typeface="楷体" panose="02010609060101010101" pitchFamily="49" charset="-122"/>
                <a:ea typeface="楷体" panose="02010609060101010101" pitchFamily="49" charset="-122"/>
              </a:rPr>
              <a:t>i-1</a:t>
            </a:r>
            <a:r>
              <a:rPr kumimoji="1" lang="zh-CN" altLang="en-US" sz="2400" dirty="0">
                <a:solidFill>
                  <a:srgbClr val="080808"/>
                </a:solidFill>
                <a:latin typeface="楷体" panose="02010609060101010101" pitchFamily="49" charset="-122"/>
                <a:ea typeface="楷体" panose="02010609060101010101" pitchFamily="49" charset="-122"/>
              </a:rPr>
              <a:t>个人买。</a:t>
            </a:r>
            <a:endParaRPr kumimoji="1"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340768"/>
            <a:ext cx="645328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94211" y="2078370"/>
            <a:ext cx="8155577" cy="1374199"/>
          </a:xfrm>
          <a:prstGeom prst="rect">
            <a:avLst/>
          </a:prstGeom>
        </p:spPr>
      </p:pic>
      <p:sp>
        <p:nvSpPr>
          <p:cNvPr id="4" name="Text Box 4"/>
          <p:cNvSpPr txBox="1">
            <a:spLocks noChangeArrowheads="1"/>
          </p:cNvSpPr>
          <p:nvPr/>
        </p:nvSpPr>
        <p:spPr bwMode="auto">
          <a:xfrm>
            <a:off x="166715" y="373141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94218" y="1700808"/>
            <a:ext cx="895556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w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为从起点到达编号为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min(w(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)+1,w(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为石板编号，</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的因子</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1916832"/>
            <a:ext cx="8604250" cy="3816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5.7】</a:t>
            </a:r>
            <a:r>
              <a:rPr lang="zh-CN" altLang="en-US" sz="2200" dirty="0">
                <a:solidFill>
                  <a:srgbClr val="080808"/>
                </a:solidFill>
                <a:latin typeface="楷体" panose="02010609060101010101" pitchFamily="49" charset="-122"/>
                <a:ea typeface="楷体" panose="02010609060101010101" pitchFamily="49" charset="-122"/>
              </a:rPr>
              <a:t>跨楼梯问题。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问题描述：现有一段楼梯共</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级，假设每次只能往上走一级台阶或者二级台阶，如果要走上第</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级，请设计算法求出共有多少走法？</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设走到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种走法，按要求每次只能往上走一级或者二级台阶，那么要想走到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层，只有两种走法，一是从</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层跨一步上去，二是从</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层跨两步上去。设走到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种走法，到达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种走法，那么：</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k = k1 + k2</a:t>
            </a:r>
            <a:endParaRPr lang="en-US" altLang="zh-CN" sz="22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5.4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2970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从上面的式子中可以看出想要求走到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是依附于走到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的。一个问题的解依附于其子问题的解，这是使用动态规划法的明显特征。也就是说只要求出</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就能求出达</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了。同样的道理，</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层的走法可以由</a:t>
            </a:r>
            <a:r>
              <a:rPr lang="en-US" altLang="zh-CN" sz="2200" dirty="0">
                <a:solidFill>
                  <a:srgbClr val="080808"/>
                </a:solidFill>
                <a:latin typeface="楷体" panose="02010609060101010101" pitchFamily="49" charset="-122"/>
                <a:ea typeface="楷体" panose="02010609060101010101" pitchFamily="49" charset="-122"/>
              </a:rPr>
              <a:t>(n-1)-1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(n-1)-2</a:t>
            </a:r>
            <a:r>
              <a:rPr lang="zh-CN" altLang="en-US" sz="2200" dirty="0">
                <a:solidFill>
                  <a:srgbClr val="080808"/>
                </a:solidFill>
                <a:latin typeface="楷体" panose="02010609060101010101" pitchFamily="49" charset="-122"/>
                <a:ea typeface="楷体" panose="02010609060101010101" pitchFamily="49" charset="-122"/>
              </a:rPr>
              <a:t>层的走法求得，</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层的走法也可以从</a:t>
            </a:r>
            <a:r>
              <a:rPr lang="en-US" altLang="zh-CN" sz="2200" dirty="0">
                <a:solidFill>
                  <a:srgbClr val="080808"/>
                </a:solidFill>
                <a:latin typeface="楷体" panose="02010609060101010101" pitchFamily="49" charset="-122"/>
                <a:ea typeface="楷体" panose="02010609060101010101" pitchFamily="49" charset="-122"/>
              </a:rPr>
              <a:t>(n-2)-1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(n-2)-2</a:t>
            </a:r>
            <a:r>
              <a:rPr lang="zh-CN" altLang="en-US" sz="2200" dirty="0">
                <a:solidFill>
                  <a:srgbClr val="080808"/>
                </a:solidFill>
                <a:latin typeface="楷体" panose="02010609060101010101" pitchFamily="49" charset="-122"/>
                <a:ea typeface="楷体" panose="02010609060101010101" pitchFamily="49" charset="-122"/>
              </a:rPr>
              <a:t>层的走法求得。</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step (n)</a:t>
            </a:r>
            <a:r>
              <a:rPr lang="zh-CN" altLang="en-US" sz="2200" dirty="0">
                <a:solidFill>
                  <a:srgbClr val="080808"/>
                </a:solidFill>
                <a:latin typeface="楷体" panose="02010609060101010101" pitchFamily="49" charset="-122"/>
                <a:ea typeface="楷体" panose="02010609060101010101" pitchFamily="49" charset="-122"/>
              </a:rPr>
              <a:t>为每次只能往上走一级台阶或者二级台阶，走到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665214" y="4797152"/>
            <a:ext cx="7671681" cy="1153167"/>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43242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5.12】</a:t>
            </a:r>
            <a:r>
              <a:rPr lang="zh-CN" altLang="en-US" sz="2200" dirty="0">
                <a:solidFill>
                  <a:srgbClr val="080808"/>
                </a:solidFill>
                <a:latin typeface="楷体" panose="02010609060101010101" pitchFamily="49" charset="-122"/>
                <a:ea typeface="楷体" panose="02010609060101010101" pitchFamily="49" charset="-122"/>
              </a:rPr>
              <a:t>跳石板问题。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问题描述：有一条石板路，每块石板都有编号，依次是：</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，在这条石板路上前进需要根据特殊的规则：设当前所在石板的编号为</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，单次只能往前跳</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步（</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是</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的因子，但其中不含</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），即跳到</a:t>
            </a:r>
            <a:r>
              <a:rPr lang="en-US" altLang="zh-CN" sz="2200" dirty="0" err="1">
                <a:solidFill>
                  <a:srgbClr val="080808"/>
                </a:solidFill>
                <a:latin typeface="楷体" panose="02010609060101010101" pitchFamily="49" charset="-122"/>
                <a:ea typeface="楷体" panose="02010609060101010101" pitchFamily="49" charset="-122"/>
              </a:rPr>
              <a:t>h+t</a:t>
            </a:r>
            <a:r>
              <a:rPr lang="zh-CN" altLang="en-US" sz="2200" dirty="0">
                <a:solidFill>
                  <a:srgbClr val="080808"/>
                </a:solidFill>
                <a:latin typeface="楷体" panose="02010609060101010101" pitchFamily="49" charset="-122"/>
                <a:ea typeface="楷体" panose="02010609060101010101" pitchFamily="49" charset="-122"/>
              </a:rPr>
              <a:t>的位置。设当前所在石板的编号为</a:t>
            </a:r>
            <a:r>
              <a:rPr lang="en-US" altLang="zh-CN" sz="2200" dirty="0">
                <a:solidFill>
                  <a:srgbClr val="080808"/>
                </a:solidFill>
                <a:latin typeface="楷体" panose="02010609060101010101" pitchFamily="49" charset="-122"/>
                <a:ea typeface="楷体" panose="02010609060101010101" pitchFamily="49" charset="-122"/>
              </a:rPr>
              <a:t>s</a:t>
            </a:r>
            <a:r>
              <a:rPr lang="zh-CN" altLang="en-US" sz="2200" dirty="0">
                <a:solidFill>
                  <a:srgbClr val="080808"/>
                </a:solidFill>
                <a:latin typeface="楷体" panose="02010609060101010101" pitchFamily="49" charset="-122"/>
                <a:ea typeface="楷体" panose="02010609060101010101" pitchFamily="49" charset="-122"/>
              </a:rPr>
              <a:t>，请设计算法求出要想跳到编号为</a:t>
            </a:r>
            <a:r>
              <a:rPr lang="en-US" altLang="zh-CN" sz="2200" dirty="0">
                <a:solidFill>
                  <a:srgbClr val="080808"/>
                </a:solidFill>
                <a:latin typeface="楷体" panose="02010609060101010101" pitchFamily="49" charset="-122"/>
                <a:ea typeface="楷体" panose="02010609060101010101" pitchFamily="49" charset="-122"/>
              </a:rPr>
              <a:t>e</a:t>
            </a:r>
            <a:r>
              <a:rPr lang="zh-CN" altLang="en-US" sz="2200" dirty="0">
                <a:solidFill>
                  <a:srgbClr val="080808"/>
                </a:solidFill>
                <a:latin typeface="楷体" panose="02010609060101010101" pitchFamily="49" charset="-122"/>
                <a:ea typeface="楷体" panose="02010609060101010101" pitchFamily="49" charset="-122"/>
              </a:rPr>
              <a:t>的石板去，最少需要跳跃几次。</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s = 4</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e= 24</a:t>
            </a:r>
            <a:r>
              <a:rPr lang="zh-CN" altLang="en-US" sz="2200" dirty="0">
                <a:solidFill>
                  <a:srgbClr val="080808"/>
                </a:solidFill>
                <a:latin typeface="楷体" panose="02010609060101010101" pitchFamily="49" charset="-122"/>
                <a:ea typeface="楷体" panose="02010609060101010101" pitchFamily="49" charset="-122"/>
              </a:rPr>
              <a:t>时，跳跃路径为：</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4—6—8—12—18—24</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因此，从</a:t>
            </a:r>
            <a:r>
              <a:rPr lang="en-US" altLang="zh-CN" sz="2200" dirty="0">
                <a:solidFill>
                  <a:srgbClr val="080808"/>
                </a:solidFill>
                <a:latin typeface="楷体" panose="02010609060101010101" pitchFamily="49" charset="-122"/>
                <a:ea typeface="楷体" panose="02010609060101010101" pitchFamily="49" charset="-122"/>
              </a:rPr>
              <a:t>4</a:t>
            </a:r>
            <a:r>
              <a:rPr lang="zh-CN" altLang="en-US" sz="2200" dirty="0">
                <a:solidFill>
                  <a:srgbClr val="080808"/>
                </a:solidFill>
                <a:latin typeface="楷体" panose="02010609060101010101" pitchFamily="49" charset="-122"/>
                <a:ea typeface="楷体" panose="02010609060101010101" pitchFamily="49" charset="-122"/>
              </a:rPr>
              <a:t>号石板跳到</a:t>
            </a:r>
            <a:r>
              <a:rPr lang="en-US" altLang="zh-CN" sz="2200" dirty="0">
                <a:solidFill>
                  <a:srgbClr val="080808"/>
                </a:solidFill>
                <a:latin typeface="楷体" panose="02010609060101010101" pitchFamily="49" charset="-122"/>
                <a:ea typeface="楷体" panose="02010609060101010101" pitchFamily="49" charset="-122"/>
              </a:rPr>
              <a:t>24</a:t>
            </a:r>
            <a:r>
              <a:rPr lang="zh-CN" altLang="en-US" sz="2200" dirty="0">
                <a:solidFill>
                  <a:srgbClr val="080808"/>
                </a:solidFill>
                <a:latin typeface="楷体" panose="02010609060101010101" pitchFamily="49" charset="-122"/>
                <a:ea typeface="楷体" panose="02010609060101010101" pitchFamily="49" charset="-122"/>
              </a:rPr>
              <a:t>号石板最少需要跳跃</a:t>
            </a:r>
            <a:r>
              <a:rPr lang="en-US" altLang="zh-CN" sz="2200" dirty="0">
                <a:solidFill>
                  <a:srgbClr val="080808"/>
                </a:solidFill>
                <a:latin typeface="楷体" panose="02010609060101010101" pitchFamily="49" charset="-122"/>
                <a:ea typeface="楷体" panose="02010609060101010101" pitchFamily="49" charset="-122"/>
              </a:rPr>
              <a:t>5</a:t>
            </a:r>
            <a:r>
              <a:rPr lang="zh-CN" altLang="en-US" sz="2200" dirty="0">
                <a:solidFill>
                  <a:srgbClr val="080808"/>
                </a:solidFill>
                <a:latin typeface="楷体" panose="02010609060101010101" pitchFamily="49" charset="-122"/>
                <a:ea typeface="楷体" panose="02010609060101010101" pitchFamily="49" charset="-122"/>
              </a:rPr>
              <a:t>次。</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052736"/>
            <a:ext cx="8604250" cy="550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动态规划法需要存储各个子问题的解，因此定义一个数组</a:t>
            </a:r>
            <a:r>
              <a:rPr lang="en-US" altLang="zh-CN" sz="2200" dirty="0">
                <a:solidFill>
                  <a:srgbClr val="080808"/>
                </a:solidFill>
                <a:latin typeface="楷体" panose="02010609060101010101" pitchFamily="49" charset="-122"/>
                <a:ea typeface="楷体" panose="02010609060101010101" pitchFamily="49" charset="-122"/>
              </a:rPr>
              <a:t>w</a:t>
            </a:r>
            <a:r>
              <a:rPr lang="zh-CN" altLang="en-US" sz="2200" dirty="0">
                <a:solidFill>
                  <a:srgbClr val="080808"/>
                </a:solidFill>
                <a:latin typeface="楷体" panose="02010609060101010101" pitchFamily="49" charset="-122"/>
                <a:ea typeface="楷体" panose="02010609060101010101" pitchFamily="49" charset="-122"/>
              </a:rPr>
              <a:t>，长度为</a:t>
            </a:r>
            <a:r>
              <a:rPr lang="en-US" altLang="zh-CN" sz="2200" dirty="0">
                <a:solidFill>
                  <a:srgbClr val="080808"/>
                </a:solidFill>
                <a:latin typeface="楷体" panose="02010609060101010101" pitchFamily="49" charset="-122"/>
                <a:ea typeface="楷体" panose="02010609060101010101" pitchFamily="49" charset="-122"/>
              </a:rPr>
              <a:t>e-s+1</a:t>
            </a:r>
            <a:r>
              <a:rPr lang="zh-CN" altLang="en-US" sz="2200" dirty="0">
                <a:solidFill>
                  <a:srgbClr val="080808"/>
                </a:solidFill>
                <a:latin typeface="楷体" panose="02010609060101010101" pitchFamily="49" charset="-122"/>
                <a:ea typeface="楷体" panose="02010609060101010101" pitchFamily="49" charset="-122"/>
              </a:rPr>
              <a:t>，包括起点与终点，数组中的元素表示从起点到达该点所需的最小跳跃次数，初始状态下起点为</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，数组其他元素为</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，表示不可达；</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接下来要遍历每一块石板（即数组中的每一个元素）：先判断当前数组元素的值是否是</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如果是表示不可达，跳出当前循环，如果不是，表示可达，此时求解当前石板编号的因子集合，接着遍历当前石板编号的因子集合，计算从当前石板到每一个因数对应的下一块石板的最小跳跃次数（当然在求解之前需要先判断下一个石板的编号是否小于等于</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，如不满足则跳过本次循环），最小跳跃次数是对应下一个石板元素值与当前石板元素值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中的较小值，即如果要跳到的石板之前没有经过，则用当前石板元素值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即可，如果要跳到的石板之前经过，则比较之前经过该石板时的步数和当前石板元素值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的大小，取小者。</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700808"/>
            <a:ext cx="8604250" cy="144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w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为从起点到达编号为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）状态转移方程：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w(</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min(w(</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)+1, w (</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为石板编号，</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的因子</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tags/tag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4.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5.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6.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7.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8.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9.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0.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4.xml><?xml version="1.0" encoding="utf-8"?>
<p:tagLst xmlns:p="http://schemas.openxmlformats.org/presentationml/2006/main">
  <p:tag name="KSO_WM_DIAGRAM_VIRTUALLY_FRAME" val="{&quot;height&quot;:294.65,&quot;left&quot;:161.55,&quot;top&quot;:204.1,&quot;width&quot;:419}"/>
</p:tagLst>
</file>

<file path=ppt/tags/tag15.xml><?xml version="1.0" encoding="utf-8"?>
<p:tagLst xmlns:p="http://schemas.openxmlformats.org/presentationml/2006/main">
  <p:tag name="KSO_WM_DIAGRAM_VIRTUALLY_FRAME" val="{&quot;height&quot;:294.65,&quot;left&quot;:161.55,&quot;top&quot;:204.1,&quot;width&quot;:419}"/>
</p:tagLst>
</file>

<file path=ppt/tags/tag16.xml><?xml version="1.0" encoding="utf-8"?>
<p:tagLst xmlns:p="http://schemas.openxmlformats.org/presentationml/2006/main">
  <p:tag name="KSO_WM_DIAGRAM_VIRTUALLY_FRAME" val="{&quot;height&quot;:294.65,&quot;left&quot;:161.55,&quot;top&quot;:204.1,&quot;width&quot;:419}"/>
</p:tagLst>
</file>

<file path=ppt/tags/tag17.xml><?xml version="1.0" encoding="utf-8"?>
<p:tagLst xmlns:p="http://schemas.openxmlformats.org/presentationml/2006/main">
  <p:tag name="KSO_WM_DIAGRAM_VIRTUALLY_FRAME" val="{&quot;height&quot;:294.65,&quot;left&quot;:161.55,&quot;top&quot;:204.1,&quot;width&quot;:419}"/>
</p:tagLst>
</file>

<file path=ppt/tags/tag18.xml><?xml version="1.0" encoding="utf-8"?>
<p:tagLst xmlns:p="http://schemas.openxmlformats.org/presentationml/2006/main">
  <p:tag name="KSO_WM_DIAGRAM_VIRTUALLY_FRAME" val="{&quot;height&quot;:294.65,&quot;left&quot;:161.55,&quot;top&quot;:204.1,&quot;width&quot;:419}"/>
</p:tagLst>
</file>

<file path=ppt/tags/tag19.xml><?xml version="1.0" encoding="utf-8"?>
<p:tagLst xmlns:p="http://schemas.openxmlformats.org/presentationml/2006/main">
  <p:tag name="KSO_WM_DIAGRAM_VIRTUALLY_FRAME" val="{&quot;height&quot;:294.65,&quot;left&quot;:161.55,&quot;top&quot;:204.1,&quot;width&quot;:419}"/>
</p:tagLst>
</file>

<file path=ppt/tags/tag20.xml><?xml version="1.0" encoding="utf-8"?>
<p:tagLst xmlns:p="http://schemas.openxmlformats.org/presentationml/2006/main">
  <p:tag name="KSO_WM_DIAGRAM_VIRTUALLY_FRAME" val="{&quot;height&quot;:294.65,&quot;left&quot;:161.55,&quot;top&quot;:204.1,&quot;width&quot;:419}"/>
</p:tagLst>
</file>

<file path=ppt/tags/tag21.xml><?xml version="1.0" encoding="utf-8"?>
<p:tagLst xmlns:p="http://schemas.openxmlformats.org/presentationml/2006/main">
  <p:tag name="KSO_WM_DIAGRAM_VIRTUALLY_FRAME" val="{&quot;height&quot;:294.65,&quot;left&quot;:161.55,&quot;top&quot;:204.1,&quot;width&quot;:419}"/>
</p:tagLst>
</file>

<file path=ppt/tags/tag22.xml><?xml version="1.0" encoding="utf-8"?>
<p:tagLst xmlns:p="http://schemas.openxmlformats.org/presentationml/2006/main">
  <p:tag name="KSO_WM_DIAGRAM_VIRTUALLY_FRAME" val="{&quot;height&quot;:294.65,&quot;left&quot;:161.55,&quot;top&quot;:204.1,&quot;width&quot;:419}"/>
</p:tagLst>
</file>

<file path=ppt/tags/tag23.xml><?xml version="1.0" encoding="utf-8"?>
<p:tagLst xmlns:p="http://schemas.openxmlformats.org/presentationml/2006/main">
  <p:tag name="KSO_WM_DIAGRAM_VIRTUALLY_FRAME" val="{&quot;height&quot;:294.65,&quot;left&quot;:161.55,&quot;top&quot;:204.1,&quot;width&quot;:419}"/>
</p:tagLst>
</file>

<file path=ppt/tags/tag24.xml><?xml version="1.0" encoding="utf-8"?>
<p:tagLst xmlns:p="http://schemas.openxmlformats.org/presentationml/2006/main">
  <p:tag name="KSO_WM_DIAGRAM_VIRTUALLY_FRAME" val="{&quot;height&quot;:294.65,&quot;left&quot;:161.55,&quot;top&quot;:204.1,&quot;width&quot;:419}"/>
</p:tagLst>
</file>

<file path=ppt/tags/tag25.xml><?xml version="1.0" encoding="utf-8"?>
<p:tagLst xmlns:p="http://schemas.openxmlformats.org/presentationml/2006/main">
  <p:tag name="KSO_WM_DIAGRAM_VIRTUALLY_FRAME" val="{&quot;height&quot;:294.65,&quot;left&quot;:161.55,&quot;top&quot;:204.1,&quot;width&quot;:419}"/>
</p:tagLst>
</file>

<file path=ppt/tags/tag26.xml><?xml version="1.0" encoding="utf-8"?>
<p:tagLst xmlns:p="http://schemas.openxmlformats.org/presentationml/2006/main">
  <p:tag name="KSO_WM_DIAGRAM_VIRTUALLY_FRAME" val="{&quot;height&quot;:294.65,&quot;left&quot;:161.55,&quot;top&quot;:204.1,&quot;width&quot;:419}"/>
</p:tagLst>
</file>

<file path=ppt/tags/tag27.xml><?xml version="1.0" encoding="utf-8"?>
<p:tagLst xmlns:p="http://schemas.openxmlformats.org/presentationml/2006/main">
  <p:tag name="KSO_WM_DIAGRAM_VIRTUALLY_FRAME" val="{&quot;height&quot;:294.65,&quot;left&quot;:161.55,&quot;top&quot;:204.1,&quot;width&quot;:419}"/>
</p:tagLst>
</file>

<file path=ppt/tags/tag28.xml><?xml version="1.0" encoding="utf-8"?>
<p:tagLst xmlns:p="http://schemas.openxmlformats.org/presentationml/2006/main">
  <p:tag name="KSO_WM_DIAGRAM_VIRTUALLY_FRAME" val="{&quot;height&quot;:294.65,&quot;left&quot;:161.55,&quot;top&quot;:204.1,&quot;width&quot;:419}"/>
</p:tagLst>
</file>

<file path=ppt/tags/tag29.xml><?xml version="1.0" encoding="utf-8"?>
<p:tagLst xmlns:p="http://schemas.openxmlformats.org/presentationml/2006/main">
  <p:tag name="KSO_WM_DIAGRAM_VIRTUALLY_FRAME" val="{&quot;height&quot;:294.65,&quot;left&quot;:161.55,&quot;top&quot;:204.1,&quot;width&quot;:419}"/>
</p:tagLst>
</file>

<file path=ppt/tags/tag30.xml><?xml version="1.0" encoding="utf-8"?>
<p:tagLst xmlns:p="http://schemas.openxmlformats.org/presentationml/2006/main">
  <p:tag name="KSO_WM_DIAGRAM_VIRTUALLY_FRAME" val="{&quot;height&quot;:294.65,&quot;left&quot;:161.55,&quot;top&quot;:204.1,&quot;width&quot;:419}"/>
</p:tagLst>
</file>

<file path=ppt/tags/tag31.xml><?xml version="1.0" encoding="utf-8"?>
<p:tagLst xmlns:p="http://schemas.openxmlformats.org/presentationml/2006/main">
  <p:tag name="KSO_WM_DIAGRAM_VIRTUALLY_FRAME" val="{&quot;height&quot;:294.65,&quot;left&quot;:161.55,&quot;top&quot;:204.1,&quot;width&quot;:419}"/>
</p:tagLst>
</file>

<file path=ppt/tags/tag32.xml><?xml version="1.0" encoding="utf-8"?>
<p:tagLst xmlns:p="http://schemas.openxmlformats.org/presentationml/2006/main">
  <p:tag name="KSO_WM_DIAGRAM_VIRTUALLY_FRAME" val="{&quot;height&quot;:294.65,&quot;left&quot;:161.55,&quot;top&quot;:204.1,&quot;width&quot;:419}"/>
</p:tagLst>
</file>

<file path=ppt/tags/tag33.xml><?xml version="1.0" encoding="utf-8"?>
<p:tagLst xmlns:p="http://schemas.openxmlformats.org/presentationml/2006/main">
  <p:tag name="KSO_WM_DIAGRAM_VIRTUALLY_FRAME" val="{&quot;height&quot;:294.65,&quot;left&quot;:161.55,&quot;top&quot;:204.1,&quot;width&quot;:419}"/>
</p:tagLst>
</file>

<file path=ppt/tags/tag34.xml><?xml version="1.0" encoding="utf-8"?>
<p:tagLst xmlns:p="http://schemas.openxmlformats.org/presentationml/2006/main">
  <p:tag name="KSO_WM_DIAGRAM_VIRTUALLY_FRAME" val="{&quot;height&quot;:294.65,&quot;left&quot;:161.55,&quot;top&quot;:204.1,&quot;width&quot;:419}"/>
</p:tagLst>
</file>

<file path=ppt/tags/tag35.xml><?xml version="1.0" encoding="utf-8"?>
<p:tagLst xmlns:p="http://schemas.openxmlformats.org/presentationml/2006/main">
  <p:tag name="KSO_WM_DIAGRAM_VIRTUALLY_FRAME" val="{&quot;height&quot;:294.65,&quot;left&quot;:161.55,&quot;top&quot;:204.1,&quot;width&quot;:419}"/>
</p:tagLst>
</file>

<file path=ppt/tags/tag36.xml><?xml version="1.0" encoding="utf-8"?>
<p:tagLst xmlns:p="http://schemas.openxmlformats.org/presentationml/2006/main">
  <p:tag name="KSO_WM_DIAGRAM_VIRTUALLY_FRAME" val="{&quot;height&quot;:294.65,&quot;left&quot;:161.55,&quot;top&quot;:204.1,&quot;width&quot;:419}"/>
</p:tagLst>
</file>

<file path=ppt/tags/tag37.xml><?xml version="1.0" encoding="utf-8"?>
<p:tagLst xmlns:p="http://schemas.openxmlformats.org/presentationml/2006/main">
  <p:tag name="KSO_WM_DIAGRAM_VIRTUALLY_FRAME" val="{&quot;height&quot;:294.65,&quot;left&quot;:161.55,&quot;top&quot;:204.1,&quot;width&quot;:419}"/>
</p:tagLst>
</file>

<file path=ppt/tags/tag38.xml><?xml version="1.0" encoding="utf-8"?>
<p:tagLst xmlns:p="http://schemas.openxmlformats.org/presentationml/2006/main">
  <p:tag name="KSO_WM_DIAGRAM_VIRTUALLY_FRAME" val="{&quot;height&quot;:294.65,&quot;left&quot;:161.55,&quot;top&quot;:204.1,&quot;width&quot;:419}"/>
</p:tagLst>
</file>

<file path=ppt/tags/tag39.xml><?xml version="1.0" encoding="utf-8"?>
<p:tagLst xmlns:p="http://schemas.openxmlformats.org/presentationml/2006/main">
  <p:tag name="KSO_WM_DIAGRAM_VIRTUALLY_FRAME" val="{&quot;height&quot;:294.65,&quot;left&quot;:161.55,&quot;top&quot;:204.1,&quot;width&quot;:419}"/>
</p:tagLst>
</file>

<file path=ppt/tags/tag40.xml><?xml version="1.0" encoding="utf-8"?>
<p:tagLst xmlns:p="http://schemas.openxmlformats.org/presentationml/2006/main">
  <p:tag name="KSO_WM_DIAGRAM_VIRTUALLY_FRAME" val="{&quot;height&quot;:294.65,&quot;left&quot;:161.55,&quot;top&quot;:204.1,&quot;width&quot;:419}"/>
</p:tagLst>
</file>

<file path=ppt/tags/tag41.xml><?xml version="1.0" encoding="utf-8"?>
<p:tagLst xmlns:p="http://schemas.openxmlformats.org/presentationml/2006/main">
  <p:tag name="KSO_WM_DIAGRAM_VIRTUALLY_FRAME" val="{&quot;height&quot;:294.65,&quot;left&quot;:161.55,&quot;top&quot;:204.1,&quot;width&quot;:419}"/>
</p:tagLst>
</file>

<file path=ppt/tags/tag42.xml><?xml version="1.0" encoding="utf-8"?>
<p:tagLst xmlns:p="http://schemas.openxmlformats.org/presentationml/2006/main">
  <p:tag name="KSO_WM_DIAGRAM_VIRTUALLY_FRAME" val="{&quot;height&quot;:294.65,&quot;left&quot;:161.55,&quot;top&quot;:204.1,&quot;width&quot;:419}"/>
</p:tagLst>
</file>

<file path=ppt/tags/tag43.xml><?xml version="1.0" encoding="utf-8"?>
<p:tagLst xmlns:p="http://schemas.openxmlformats.org/presentationml/2006/main">
  <p:tag name="KSO_WM_DIAGRAM_VIRTUALLY_FRAME" val="{&quot;height&quot;:294.65,&quot;left&quot;:161.55,&quot;top&quot;:204.1,&quot;width&quot;:419}"/>
</p:tagLst>
</file>

<file path=ppt/tags/tag44.xml><?xml version="1.0" encoding="utf-8"?>
<p:tagLst xmlns:p="http://schemas.openxmlformats.org/presentationml/2006/main">
  <p:tag name="KSO_WM_DIAGRAM_VIRTUALLY_FRAME" val="{&quot;height&quot;:294.65,&quot;left&quot;:161.55,&quot;top&quot;:204.1,&quot;width&quot;:419}"/>
</p:tagLst>
</file>

<file path=ppt/tags/tag45.xml><?xml version="1.0" encoding="utf-8"?>
<p:tagLst xmlns:p="http://schemas.openxmlformats.org/presentationml/2006/main">
  <p:tag name="KSO_WM_DIAGRAM_VIRTUALLY_FRAME" val="{&quot;height&quot;:294.65,&quot;left&quot;:161.55,&quot;top&quot;:204.1,&quot;width&quot;:419}"/>
</p:tagLst>
</file>

<file path=ppt/tags/tag46.xml><?xml version="1.0" encoding="utf-8"?>
<p:tagLst xmlns:p="http://schemas.openxmlformats.org/presentationml/2006/main">
  <p:tag name="KSO_WM_DIAGRAM_VIRTUALLY_FRAME" val="{&quot;height&quot;:294.65,&quot;left&quot;:161.55,&quot;top&quot;:204.1,&quot;width&quot;:419}"/>
</p:tagLst>
</file>

<file path=ppt/tags/tag47.xml><?xml version="1.0" encoding="utf-8"?>
<p:tagLst xmlns:p="http://schemas.openxmlformats.org/presentationml/2006/main">
  <p:tag name="KSO_WM_DIAGRAM_VIRTUALLY_FRAME" val="{&quot;height&quot;:294.65,&quot;left&quot;:161.55,&quot;top&quot;:204.1,&quot;width&quot;:419}"/>
</p:tagLst>
</file>

<file path=ppt/tags/tag48.xml><?xml version="1.0" encoding="utf-8"?>
<p:tagLst xmlns:p="http://schemas.openxmlformats.org/presentationml/2006/main">
  <p:tag name="KSO_WM_DIAGRAM_VIRTUALLY_FRAME" val="{&quot;height&quot;:294.65,&quot;left&quot;:161.55,&quot;top&quot;:204.1,&quot;width&quot;:419}"/>
</p:tagLst>
</file>

<file path=ppt/tags/tag49.xml><?xml version="1.0" encoding="utf-8"?>
<p:tagLst xmlns:p="http://schemas.openxmlformats.org/presentationml/2006/main">
  <p:tag name="KSO_WM_DIAGRAM_VIRTUALLY_FRAME" val="{&quot;height&quot;:294.65,&quot;left&quot;:161.55,&quot;top&quot;:204.1,&quot;width&quot;:419}"/>
</p:tagLst>
</file>

<file path=ppt/tags/tag50.xml><?xml version="1.0" encoding="utf-8"?>
<p:tagLst xmlns:p="http://schemas.openxmlformats.org/presentationml/2006/main">
  <p:tag name="KSO_WM_DIAGRAM_VIRTUALLY_FRAME" val="{&quot;height&quot;:294.65,&quot;left&quot;:161.55,&quot;top&quot;:204.1,&quot;width&quot;:419}"/>
</p:tagLst>
</file>

<file path=ppt/tags/tag51.xml><?xml version="1.0" encoding="utf-8"?>
<p:tagLst xmlns:p="http://schemas.openxmlformats.org/presentationml/2006/main">
  <p:tag name="KSO_WM_DIAGRAM_VIRTUALLY_FRAME" val="{&quot;height&quot;:294.65,&quot;left&quot;:161.55,&quot;top&quot;:204.1,&quot;width&quot;:419}"/>
</p:tagLst>
</file>

<file path=ppt/tags/tag52.xml><?xml version="1.0" encoding="utf-8"?>
<p:tagLst xmlns:p="http://schemas.openxmlformats.org/presentationml/2006/main">
  <p:tag name="KSO_WM_DIAGRAM_VIRTUALLY_FRAME" val="{&quot;height&quot;:294.65,&quot;left&quot;:161.55,&quot;top&quot;:204.1,&quot;width&quot;:419}"/>
</p:tagLst>
</file>

<file path=ppt/tags/tag53.xml><?xml version="1.0" encoding="utf-8"?>
<p:tagLst xmlns:p="http://schemas.openxmlformats.org/presentationml/2006/main">
  <p:tag name="KSO_WM_DIAGRAM_VIRTUALLY_FRAME" val="{&quot;height&quot;:294.65,&quot;left&quot;:161.55,&quot;top&quot;:204.1,&quot;width&quot;:419}"/>
</p:tagLst>
</file>

<file path=ppt/tags/tag54.xml><?xml version="1.0" encoding="utf-8"?>
<p:tagLst xmlns:p="http://schemas.openxmlformats.org/presentationml/2006/main">
  <p:tag name="KSO_WM_DIAGRAM_VIRTUALLY_FRAME" val="{&quot;height&quot;:294.65,&quot;left&quot;:161.55,&quot;top&quot;:204.1,&quot;width&quot;:419}"/>
</p:tagLst>
</file>

<file path=ppt/tags/tag55.xml><?xml version="1.0" encoding="utf-8"?>
<p:tagLst xmlns:p="http://schemas.openxmlformats.org/presentationml/2006/main">
  <p:tag name="KSO_WM_DIAGRAM_VIRTUALLY_FRAME" val="{&quot;height&quot;:294.65,&quot;left&quot;:161.55,&quot;top&quot;:204.1,&quot;width&quot;:419}"/>
</p:tagLst>
</file>

<file path=ppt/tags/tag56.xml><?xml version="1.0" encoding="utf-8"?>
<p:tagLst xmlns:p="http://schemas.openxmlformats.org/presentationml/2006/main">
  <p:tag name="KSO_WM_DIAGRAM_VIRTUALLY_FRAME" val="{&quot;height&quot;:294.65,&quot;left&quot;:161.55,&quot;top&quot;:204.1,&quot;width&quot;:419}"/>
</p:tagLst>
</file>

<file path=ppt/tags/tag57.xml><?xml version="1.0" encoding="utf-8"?>
<p:tagLst xmlns:p="http://schemas.openxmlformats.org/presentationml/2006/main">
  <p:tag name="KSO_WM_DIAGRAM_VIRTUALLY_FRAME" val="{&quot;height&quot;:294.65,&quot;left&quot;:161.55,&quot;top&quot;:204.1,&quot;width&quot;:419}"/>
</p:tagLst>
</file>

<file path=ppt/tags/tag58.xml><?xml version="1.0" encoding="utf-8"?>
<p:tagLst xmlns:p="http://schemas.openxmlformats.org/presentationml/2006/main">
  <p:tag name="KSO_WM_DIAGRAM_VIRTUALLY_FRAME" val="{&quot;height&quot;:294.65,&quot;left&quot;:161.55,&quot;top&quot;:204.1,&quot;width&quot;:419}"/>
</p:tagLst>
</file>

<file path=ppt/tags/tag59.xml><?xml version="1.0" encoding="utf-8"?>
<p:tagLst xmlns:p="http://schemas.openxmlformats.org/presentationml/2006/main">
  <p:tag name="KSO_WM_DIAGRAM_VIRTUALLY_FRAME" val="{&quot;height&quot;:294.65,&quot;left&quot;:161.55,&quot;top&quot;:204.1,&quot;width&quot;:419}"/>
</p:tagLst>
</file>

<file path=ppt/tags/tag60.xml><?xml version="1.0" encoding="utf-8"?>
<p:tagLst xmlns:p="http://schemas.openxmlformats.org/presentationml/2006/main">
  <p:tag name="KSO_WM_DIAGRAM_VIRTUALLY_FRAME" val="{&quot;height&quot;:294.65,&quot;left&quot;:161.55,&quot;top&quot;:204.1,&quot;width&quot;:419}"/>
</p:tagLst>
</file>

<file path=ppt/tags/tag61.xml><?xml version="1.0" encoding="utf-8"?>
<p:tagLst xmlns:p="http://schemas.openxmlformats.org/presentationml/2006/main">
  <p:tag name="KSO_WM_DIAGRAM_VIRTUALLY_FRAME" val="{&quot;height&quot;:294.65,&quot;left&quot;:161.55,&quot;top&quot;:204.1,&quot;width&quot;:419}"/>
</p:tagLst>
</file>

<file path=ppt/tags/tag62.xml><?xml version="1.0" encoding="utf-8"?>
<p:tagLst xmlns:p="http://schemas.openxmlformats.org/presentationml/2006/main">
  <p:tag name="KSO_WM_DIAGRAM_VIRTUALLY_FRAME" val="{&quot;height&quot;:294.65,&quot;left&quot;:161.55,&quot;top&quot;:204.1,&quot;width&quot;:419}"/>
</p:tagLst>
</file>

<file path=ppt/tags/tag63.xml><?xml version="1.0" encoding="utf-8"?>
<p:tagLst xmlns:p="http://schemas.openxmlformats.org/presentationml/2006/main">
  <p:tag name="KSO_WM_DIAGRAM_VIRTUALLY_FRAME" val="{&quot;height&quot;:294.65,&quot;left&quot;:161.55,&quot;top&quot;:204.1,&quot;width&quot;:419}"/>
</p:tagLst>
</file>

<file path=ppt/tags/tag64.xml><?xml version="1.0" encoding="utf-8"?>
<p:tagLst xmlns:p="http://schemas.openxmlformats.org/presentationml/2006/main">
  <p:tag name="KSO_WM_DIAGRAM_VIRTUALLY_FRAME" val="{&quot;height&quot;:294.65,&quot;left&quot;:161.55,&quot;top&quot;:204.1,&quot;width&quot;:419}"/>
</p:tagLst>
</file>

<file path=ppt/tags/tag65.xml><?xml version="1.0" encoding="utf-8"?>
<p:tagLst xmlns:p="http://schemas.openxmlformats.org/presentationml/2006/main">
  <p:tag name="KSO_WM_DIAGRAM_VIRTUALLY_FRAME" val="{&quot;height&quot;:294.65,&quot;left&quot;:161.55,&quot;top&quot;:204.1,&quot;width&quot;:419}"/>
</p:tagLst>
</file>

<file path=ppt/tags/tag66.xml><?xml version="1.0" encoding="utf-8"?>
<p:tagLst xmlns:p="http://schemas.openxmlformats.org/presentationml/2006/main">
  <p:tag name="KSO_WM_DIAGRAM_VIRTUALLY_FRAME" val="{&quot;height&quot;:294.65,&quot;left&quot;:161.55,&quot;top&quot;:204.1,&quot;width&quot;:419}"/>
</p:tagLst>
</file>

<file path=ppt/tags/tag67.xml><?xml version="1.0" encoding="utf-8"?>
<p:tagLst xmlns:p="http://schemas.openxmlformats.org/presentationml/2006/main">
  <p:tag name="KSO_WM_DIAGRAM_VIRTUALLY_FRAME" val="{&quot;height&quot;:294.65,&quot;left&quot;:161.55,&quot;top&quot;:204.1,&quot;width&quot;:419}"/>
</p:tagLst>
</file>

<file path=ppt/tags/tag68.xml><?xml version="1.0" encoding="utf-8"?>
<p:tagLst xmlns:p="http://schemas.openxmlformats.org/presentationml/2006/main">
  <p:tag name="KSO_WM_DIAGRAM_VIRTUALLY_FRAME" val="{&quot;height&quot;:294.65,&quot;left&quot;:161.55,&quot;top&quot;:204.1,&quot;width&quot;:419}"/>
</p:tagLst>
</file>

<file path=ppt/tags/tag69.xml><?xml version="1.0" encoding="utf-8"?>
<p:tagLst xmlns:p="http://schemas.openxmlformats.org/presentationml/2006/main">
  <p:tag name="KSO_WM_DIAGRAM_VIRTUALLY_FRAME" val="{&quot;height&quot;:294.65,&quot;left&quot;:161.55,&quot;top&quot;:204.1,&quot;width&quot;:419}"/>
</p:tagLst>
</file>

<file path=ppt/tags/tag70.xml><?xml version="1.0" encoding="utf-8"?>
<p:tagLst xmlns:p="http://schemas.openxmlformats.org/presentationml/2006/main">
  <p:tag name="KSO_WM_DIAGRAM_VIRTUALLY_FRAME" val="{&quot;height&quot;:294.65,&quot;left&quot;:161.55,&quot;top&quot;:204.1,&quot;width&quot;:419}"/>
</p:tagLst>
</file>

<file path=ppt/tags/tag71.xml><?xml version="1.0" encoding="utf-8"?>
<p:tagLst xmlns:p="http://schemas.openxmlformats.org/presentationml/2006/main">
  <p:tag name="KSO_WM_DIAGRAM_VIRTUALLY_FRAME" val="{&quot;height&quot;:294.65,&quot;left&quot;:161.55,&quot;top&quot;:204.1,&quot;width&quot;:419}"/>
</p:tagLst>
</file>

<file path=ppt/tags/tag72.xml><?xml version="1.0" encoding="utf-8"?>
<p:tagLst xmlns:p="http://schemas.openxmlformats.org/presentationml/2006/main">
  <p:tag name="KSO_WM_DIAGRAM_VIRTUALLY_FRAME" val="{&quot;height&quot;:294.65,&quot;left&quot;:161.55,&quot;top&quot;:204.1,&quot;width&quot;:419}"/>
</p:tagLst>
</file>

<file path=ppt/tags/tag73.xml><?xml version="1.0" encoding="utf-8"?>
<p:tagLst xmlns:p="http://schemas.openxmlformats.org/presentationml/2006/main">
  <p:tag name="KSO_WM_DIAGRAM_VIRTUALLY_FRAME" val="{&quot;height&quot;:294.65,&quot;left&quot;:161.55,&quot;top&quot;:204.1,&quot;width&quot;:419}"/>
</p:tagLst>
</file>

<file path=ppt/tags/tag74.xml><?xml version="1.0" encoding="utf-8"?>
<p:tagLst xmlns:p="http://schemas.openxmlformats.org/presentationml/2006/main">
  <p:tag name="KSO_WM_DIAGRAM_VIRTUALLY_FRAME" val="{&quot;height&quot;:216,&quot;left&quot;:19.8,&quot;top&quot;:69.25,&quot;width&quot;:597.9}"/>
</p:tagLst>
</file>

<file path=ppt/tags/tag75.xml><?xml version="1.0" encoding="utf-8"?>
<p:tagLst xmlns:p="http://schemas.openxmlformats.org/presentationml/2006/main">
  <p:tag name="KSO_WM_DIAGRAM_VIRTUALLY_FRAME" val="{&quot;height&quot;:216,&quot;left&quot;:19.8,&quot;top&quot;:69.25,&quot;width&quot;:597.9}"/>
</p:tagLst>
</file>

<file path=ppt/tags/tag76.xml><?xml version="1.0" encoding="utf-8"?>
<p:tagLst xmlns:p="http://schemas.openxmlformats.org/presentationml/2006/main">
  <p:tag name="KSO_WM_DIAGRAM_VIRTUALLY_FRAME" val="{&quot;height&quot;:216,&quot;left&quot;:19.8,&quot;top&quot;:69.25,&quot;width&quot;:597.9}"/>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16146</Words>
  <Application>WPS 演示</Application>
  <PresentationFormat>全屏显示(4:3)</PresentationFormat>
  <Paragraphs>2118</Paragraphs>
  <Slides>72</Slides>
  <Notes>14</Notes>
  <HiddenSlides>0</HiddenSlides>
  <MMClips>0</MMClips>
  <ScaleCrop>false</ScaleCrop>
  <HeadingPairs>
    <vt:vector size="6" baseType="variant">
      <vt:variant>
        <vt:lpstr>已用的字体</vt:lpstr>
      </vt:variant>
      <vt:variant>
        <vt:i4>20</vt:i4>
      </vt:variant>
      <vt:variant>
        <vt:lpstr>主题</vt:lpstr>
      </vt:variant>
      <vt:variant>
        <vt:i4>1</vt:i4>
      </vt:variant>
      <vt:variant>
        <vt:lpstr>幻灯片标题</vt:lpstr>
      </vt:variant>
      <vt:variant>
        <vt:i4>72</vt:i4>
      </vt:variant>
    </vt:vector>
  </HeadingPairs>
  <TitlesOfParts>
    <vt:vector size="93"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隶书</vt:lpstr>
      <vt:lpstr>Tahoma</vt:lpstr>
      <vt:lpstr>Arial Unicode MS</vt:lpstr>
      <vt:lpstr>-apple-system</vt:lpstr>
      <vt:lpstr>Segoe Print</vt:lpstr>
      <vt:lpstr>楷体</vt:lpstr>
      <vt:lpstr>Times New Roman</vt:lpstr>
      <vt:lpstr>Cambria</vt:lpstr>
      <vt:lpstr>Be Happy</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430</cp:revision>
  <dcterms:created xsi:type="dcterms:W3CDTF">2010-09-23T08:30:00Z</dcterms:created>
  <dcterms:modified xsi:type="dcterms:W3CDTF">2025-11-24T15:52:01Z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0E8E802CEE794820AF70A8C9AFC251F8_12</vt:lpwstr>
  </property>
  <property fmtid="{D5CDD505-2E9C-101B-9397-08002B2CF9AE}" pid="4" name="KSOProductBuildVer">
    <vt:lpwstr>2052-12.1.0.23542</vt:lpwstr>
  </property>
</Properties>
</file>