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3"/>
  </p:handoutMasterIdLst>
  <p:sldIdLst>
    <p:sldId id="256" r:id="rId3"/>
    <p:sldId id="361" r:id="rId5"/>
    <p:sldId id="349" r:id="rId6"/>
    <p:sldId id="257" r:id="rId7"/>
    <p:sldId id="356" r:id="rId8"/>
    <p:sldId id="350" r:id="rId9"/>
    <p:sldId id="351" r:id="rId10"/>
    <p:sldId id="259" r:id="rId11"/>
    <p:sldId id="352" r:id="rId12"/>
    <p:sldId id="353" r:id="rId13"/>
    <p:sldId id="355" r:id="rId14"/>
    <p:sldId id="380" r:id="rId15"/>
    <p:sldId id="368" r:id="rId16"/>
    <p:sldId id="354" r:id="rId17"/>
    <p:sldId id="358" r:id="rId18"/>
    <p:sldId id="359" r:id="rId19"/>
    <p:sldId id="357" r:id="rId20"/>
    <p:sldId id="329" r:id="rId21"/>
    <p:sldId id="338" r:id="rId22"/>
    <p:sldId id="362" r:id="rId23"/>
    <p:sldId id="363" r:id="rId24"/>
    <p:sldId id="339" r:id="rId25"/>
    <p:sldId id="364" r:id="rId26"/>
    <p:sldId id="340" r:id="rId27"/>
    <p:sldId id="341" r:id="rId28"/>
    <p:sldId id="342" r:id="rId29"/>
    <p:sldId id="366" r:id="rId30"/>
    <p:sldId id="343" r:id="rId31"/>
    <p:sldId id="367" r:id="rId32"/>
    <p:sldId id="369" r:id="rId33"/>
    <p:sldId id="365" r:id="rId34"/>
    <p:sldId id="370" r:id="rId35"/>
    <p:sldId id="381" r:id="rId36"/>
    <p:sldId id="382" r:id="rId37"/>
    <p:sldId id="371" r:id="rId38"/>
    <p:sldId id="392" r:id="rId39"/>
    <p:sldId id="393" r:id="rId40"/>
    <p:sldId id="372" r:id="rId41"/>
    <p:sldId id="395" r:id="rId42"/>
    <p:sldId id="396" r:id="rId43"/>
    <p:sldId id="373" r:id="rId44"/>
    <p:sldId id="346" r:id="rId45"/>
    <p:sldId id="345" r:id="rId46"/>
    <p:sldId id="383" r:id="rId47"/>
    <p:sldId id="384" r:id="rId48"/>
    <p:sldId id="385" r:id="rId49"/>
    <p:sldId id="386" r:id="rId50"/>
    <p:sldId id="387" r:id="rId51"/>
    <p:sldId id="388" r:id="rId52"/>
    <p:sldId id="374" r:id="rId53"/>
    <p:sldId id="375" r:id="rId54"/>
    <p:sldId id="376" r:id="rId55"/>
    <p:sldId id="377" r:id="rId56"/>
    <p:sldId id="378" r:id="rId57"/>
    <p:sldId id="379" r:id="rId58"/>
    <p:sldId id="344" r:id="rId59"/>
    <p:sldId id="389" r:id="rId60"/>
    <p:sldId id="390" r:id="rId61"/>
    <p:sldId id="391" r:id="rId62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283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C01E"/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9" autoAdjust="0"/>
    <p:restoredTop sz="95126" autoAdjust="0"/>
  </p:normalViewPr>
  <p:slideViewPr>
    <p:cSldViewPr showGuides="1">
      <p:cViewPr varScale="1">
        <p:scale>
          <a:sx n="110" d="100"/>
          <a:sy n="110" d="100"/>
        </p:scale>
        <p:origin x="1800" y="78"/>
      </p:cViewPr>
      <p:guideLst>
        <p:guide orient="horz" pos="2115"/>
        <p:guide pos="28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7" Type="http://schemas.openxmlformats.org/officeDocument/2006/relationships/commentAuthors" Target="commentAuthors.xml"/><Relationship Id="rId66" Type="http://schemas.openxmlformats.org/officeDocument/2006/relationships/tableStyles" Target="tableStyles.xml"/><Relationship Id="rId65" Type="http://schemas.openxmlformats.org/officeDocument/2006/relationships/viewProps" Target="viewProps.xml"/><Relationship Id="rId64" Type="http://schemas.openxmlformats.org/officeDocument/2006/relationships/presProps" Target="presProps.xml"/><Relationship Id="rId63" Type="http://schemas.openxmlformats.org/officeDocument/2006/relationships/handoutMaster" Target="handoutMasters/handoutMaster1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我们在学习</a:t>
            </a:r>
            <a:r>
              <a:rPr lang="en-US" altLang="zh-CN"/>
              <a:t>C</a:t>
            </a:r>
            <a:r>
              <a:rPr lang="zh-CN" altLang="en-US"/>
              <a:t>语言的时候都已经写过简单，相信同学们已经对递归有了了解，这节课我们开始来学习递归和分治算法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76F6FC-157B-4160-B88F-123B3C4C0F2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zh-CN" altLang="en-US"/>
              <a:t>其实，动态规划与分治很类似，他们同时都需要一个形式，分治里面称递归式，动态规划里面是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8.png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1.png"/><Relationship Id="rId16" Type="http://schemas.openxmlformats.org/officeDocument/2006/relationships/tags" Target="../tags/tag13.xml"/><Relationship Id="rId15" Type="http://schemas.openxmlformats.org/officeDocument/2006/relationships/image" Target="../media/image10.png"/><Relationship Id="rId14" Type="http://schemas.openxmlformats.org/officeDocument/2006/relationships/tags" Target="../tags/tag12.xml"/><Relationship Id="rId13" Type="http://schemas.openxmlformats.org/officeDocument/2006/relationships/image" Target="../media/image9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43.xml"/><Relationship Id="rId3" Type="http://schemas.openxmlformats.org/officeDocument/2006/relationships/tags" Target="../tags/tag16.xml"/><Relationship Id="rId29" Type="http://schemas.openxmlformats.org/officeDocument/2006/relationships/tags" Target="../tags/tag42.xml"/><Relationship Id="rId28" Type="http://schemas.openxmlformats.org/officeDocument/2006/relationships/tags" Target="../tags/tag41.xml"/><Relationship Id="rId27" Type="http://schemas.openxmlformats.org/officeDocument/2006/relationships/tags" Target="../tags/tag40.xml"/><Relationship Id="rId26" Type="http://schemas.openxmlformats.org/officeDocument/2006/relationships/tags" Target="../tags/tag39.xml"/><Relationship Id="rId25" Type="http://schemas.openxmlformats.org/officeDocument/2006/relationships/tags" Target="../tags/tag38.xml"/><Relationship Id="rId24" Type="http://schemas.openxmlformats.org/officeDocument/2006/relationships/tags" Target="../tags/tag37.xml"/><Relationship Id="rId23" Type="http://schemas.openxmlformats.org/officeDocument/2006/relationships/tags" Target="../tags/tag36.xml"/><Relationship Id="rId22" Type="http://schemas.openxmlformats.org/officeDocument/2006/relationships/tags" Target="../tags/tag35.xml"/><Relationship Id="rId21" Type="http://schemas.openxmlformats.org/officeDocument/2006/relationships/tags" Target="../tags/tag34.xml"/><Relationship Id="rId20" Type="http://schemas.openxmlformats.org/officeDocument/2006/relationships/tags" Target="../tags/tag33.xml"/><Relationship Id="rId2" Type="http://schemas.openxmlformats.org/officeDocument/2006/relationships/tags" Target="../tags/tag15.xml"/><Relationship Id="rId19" Type="http://schemas.openxmlformats.org/officeDocument/2006/relationships/tags" Target="../tags/tag32.xml"/><Relationship Id="rId18" Type="http://schemas.openxmlformats.org/officeDocument/2006/relationships/tags" Target="../tags/tag31.xml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3" Type="http://schemas.openxmlformats.org/officeDocument/2006/relationships/notesSlide" Target="../notesSlides/notesSlide9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13.png"/><Relationship Id="rId30" Type="http://schemas.openxmlformats.org/officeDocument/2006/relationships/tags" Target="../tags/tag73.xml"/><Relationship Id="rId3" Type="http://schemas.openxmlformats.org/officeDocument/2006/relationships/tags" Target="../tags/tag46.xml"/><Relationship Id="rId29" Type="http://schemas.openxmlformats.org/officeDocument/2006/relationships/tags" Target="../tags/tag72.xml"/><Relationship Id="rId28" Type="http://schemas.openxmlformats.org/officeDocument/2006/relationships/tags" Target="../tags/tag71.xml"/><Relationship Id="rId27" Type="http://schemas.openxmlformats.org/officeDocument/2006/relationships/tags" Target="../tags/tag70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 dirty="0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5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章 动态规划法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itchFamily="2" charset="-122"/>
              <a:ea typeface="方正正大黑简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5" y="2564765"/>
            <a:ext cx="7077075" cy="3438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202690"/>
            <a:ext cx="7305675" cy="13620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18235" y="816610"/>
            <a:ext cx="2373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课后作业：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 New Roman" panose="02020603050405020304" pitchFamily="18" charset="0"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Freeform 6"/>
          <p:cNvSpPr/>
          <p:nvPr/>
        </p:nvSpPr>
        <p:spPr bwMode="auto">
          <a:xfrm>
            <a:off x="105925" y="1140429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Freeform 7"/>
          <p:cNvSpPr>
            <a:spLocks noEditPoints="1"/>
          </p:cNvSpPr>
          <p:nvPr/>
        </p:nvSpPr>
        <p:spPr bwMode="auto">
          <a:xfrm>
            <a:off x="566516" y="1497477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pitchFamily="18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150" y="1497330"/>
            <a:ext cx="6043295" cy="4983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/>
        </p:nvSpPr>
        <p:spPr bwMode="auto">
          <a:xfrm>
            <a:off x="0" y="1484784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Freeform 6"/>
          <p:cNvSpPr/>
          <p:nvPr/>
        </p:nvSpPr>
        <p:spPr bwMode="auto">
          <a:xfrm>
            <a:off x="105924" y="1574045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" name="Freeform 7"/>
          <p:cNvSpPr>
            <a:spLocks noEditPoints="1"/>
          </p:cNvSpPr>
          <p:nvPr/>
        </p:nvSpPr>
        <p:spPr bwMode="auto">
          <a:xfrm>
            <a:off x="566515" y="1931093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8"/>
          <p:cNvSpPr>
            <a:spLocks noEditPoints="1"/>
          </p:cNvSpPr>
          <p:nvPr/>
        </p:nvSpPr>
        <p:spPr bwMode="auto">
          <a:xfrm>
            <a:off x="595079" y="1495495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140569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9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3961463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7">
            <a:hlinkClick r:id="" action="ppaction://noaction"/>
          </p:cNvPr>
          <p:cNvSpPr/>
          <p:nvPr>
            <p:custDataLst>
              <p:tags r:id="rId3"/>
            </p:custDataLst>
          </p:nvPr>
        </p:nvSpPr>
        <p:spPr bwMode="auto">
          <a:xfrm>
            <a:off x="4075713" y="4796620"/>
            <a:ext cx="532002" cy="535572"/>
          </a:xfrm>
          <a:custGeom>
            <a:avLst/>
            <a:gdLst>
              <a:gd name="T0" fmla="*/ 91 w 865"/>
              <a:gd name="T1" fmla="*/ 0 h 866"/>
              <a:gd name="T2" fmla="*/ 774 w 865"/>
              <a:gd name="T3" fmla="*/ 0 h 866"/>
              <a:gd name="T4" fmla="*/ 865 w 865"/>
              <a:gd name="T5" fmla="*/ 91 h 866"/>
              <a:gd name="T6" fmla="*/ 865 w 865"/>
              <a:gd name="T7" fmla="*/ 775 h 866"/>
              <a:gd name="T8" fmla="*/ 774 w 865"/>
              <a:gd name="T9" fmla="*/ 866 h 866"/>
              <a:gd name="T10" fmla="*/ 91 w 865"/>
              <a:gd name="T11" fmla="*/ 866 h 866"/>
              <a:gd name="T12" fmla="*/ 0 w 865"/>
              <a:gd name="T13" fmla="*/ 775 h 866"/>
              <a:gd name="T14" fmla="*/ 0 w 865"/>
              <a:gd name="T15" fmla="*/ 91 h 866"/>
              <a:gd name="T16" fmla="*/ 91 w 865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5" h="866">
                <a:moveTo>
                  <a:pt x="91" y="0"/>
                </a:moveTo>
                <a:lnTo>
                  <a:pt x="774" y="0"/>
                </a:lnTo>
                <a:cubicBezTo>
                  <a:pt x="824" y="0"/>
                  <a:pt x="865" y="41"/>
                  <a:pt x="865" y="91"/>
                </a:cubicBezTo>
                <a:lnTo>
                  <a:pt x="865" y="775"/>
                </a:lnTo>
                <a:cubicBezTo>
                  <a:pt x="865" y="825"/>
                  <a:pt x="824" y="866"/>
                  <a:pt x="774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1" name="Freeform 28"/>
          <p:cNvSpPr/>
          <p:nvPr>
            <p:custDataLst>
              <p:tags r:id="rId4"/>
            </p:custDataLst>
          </p:nvPr>
        </p:nvSpPr>
        <p:spPr bwMode="auto">
          <a:xfrm>
            <a:off x="4660081" y="4796620"/>
            <a:ext cx="3567476" cy="535572"/>
          </a:xfrm>
          <a:custGeom>
            <a:avLst/>
            <a:gdLst>
              <a:gd name="T0" fmla="*/ 91 w 8683"/>
              <a:gd name="T1" fmla="*/ 0 h 866"/>
              <a:gd name="T2" fmla="*/ 8591 w 8683"/>
              <a:gd name="T3" fmla="*/ 0 h 866"/>
              <a:gd name="T4" fmla="*/ 8683 w 8683"/>
              <a:gd name="T5" fmla="*/ 91 h 866"/>
              <a:gd name="T6" fmla="*/ 8683 w 8683"/>
              <a:gd name="T7" fmla="*/ 775 h 866"/>
              <a:gd name="T8" fmla="*/ 8591 w 8683"/>
              <a:gd name="T9" fmla="*/ 866 h 866"/>
              <a:gd name="T10" fmla="*/ 91 w 8683"/>
              <a:gd name="T11" fmla="*/ 866 h 866"/>
              <a:gd name="T12" fmla="*/ 0 w 8683"/>
              <a:gd name="T13" fmla="*/ 775 h 866"/>
              <a:gd name="T14" fmla="*/ 0 w 8683"/>
              <a:gd name="T15" fmla="*/ 91 h 866"/>
              <a:gd name="T16" fmla="*/ 91 w 8683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6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5"/>
                </a:lnTo>
                <a:cubicBezTo>
                  <a:pt x="8683" y="825"/>
                  <a:pt x="8642" y="866"/>
                  <a:pt x="8591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3" name="TextBox 47"/>
          <p:cNvSpPr txBox="1"/>
          <p:nvPr>
            <p:custDataLst>
              <p:tags r:id="rId5"/>
            </p:custDataLst>
          </p:nvPr>
        </p:nvSpPr>
        <p:spPr>
          <a:xfrm>
            <a:off x="4784388" y="3189149"/>
            <a:ext cx="31369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5.1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动态规划法概述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48"/>
          <p:cNvSpPr txBox="1"/>
          <p:nvPr>
            <p:custDataLst>
              <p:tags r:id="rId6"/>
            </p:custDataLst>
          </p:nvPr>
        </p:nvSpPr>
        <p:spPr>
          <a:xfrm>
            <a:off x="4784388" y="4054686"/>
            <a:ext cx="313694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5.2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动态规划法的案例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49"/>
          <p:cNvSpPr txBox="1"/>
          <p:nvPr>
            <p:custDataLst>
              <p:tags r:id="rId7"/>
            </p:custDataLst>
          </p:nvPr>
        </p:nvSpPr>
        <p:spPr>
          <a:xfrm>
            <a:off x="4784388" y="4840885"/>
            <a:ext cx="3744416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动态规划法的练习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854504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reeform 41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4161356" y="3245642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9" name="Freeform 47"/>
          <p:cNvSpPr>
            <a:spLocks noEditPoints="1"/>
          </p:cNvSpPr>
          <p:nvPr>
            <p:custDataLst>
              <p:tags r:id="rId10"/>
            </p:custDataLst>
          </p:nvPr>
        </p:nvSpPr>
        <p:spPr bwMode="auto">
          <a:xfrm>
            <a:off x="4213508" y="4054685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9"/>
          <p:cNvSpPr>
            <a:spLocks noEditPoints="1"/>
          </p:cNvSpPr>
          <p:nvPr>
            <p:custDataLst>
              <p:tags r:id="rId11"/>
            </p:custDataLst>
          </p:nvPr>
        </p:nvSpPr>
        <p:spPr bwMode="auto">
          <a:xfrm>
            <a:off x="4177291" y="4892217"/>
            <a:ext cx="328843" cy="352023"/>
          </a:xfrm>
          <a:custGeom>
            <a:avLst/>
            <a:gdLst>
              <a:gd name="T0" fmla="*/ 150 w 500"/>
              <a:gd name="T1" fmla="*/ 82 h 533"/>
              <a:gd name="T2" fmla="*/ 327 w 500"/>
              <a:gd name="T3" fmla="*/ 59 h 533"/>
              <a:gd name="T4" fmla="*/ 264 w 500"/>
              <a:gd name="T5" fmla="*/ 37 h 533"/>
              <a:gd name="T6" fmla="*/ 191 w 500"/>
              <a:gd name="T7" fmla="*/ 37 h 533"/>
              <a:gd name="T8" fmla="*/ 128 w 500"/>
              <a:gd name="T9" fmla="*/ 59 h 533"/>
              <a:gd name="T10" fmla="*/ 411 w 500"/>
              <a:gd name="T11" fmla="*/ 462 h 533"/>
              <a:gd name="T12" fmla="*/ 418 w 500"/>
              <a:gd name="T13" fmla="*/ 446 h 533"/>
              <a:gd name="T14" fmla="*/ 389 w 500"/>
              <a:gd name="T15" fmla="*/ 346 h 533"/>
              <a:gd name="T16" fmla="*/ 371 w 500"/>
              <a:gd name="T17" fmla="*/ 346 h 533"/>
              <a:gd name="T18" fmla="*/ 371 w 500"/>
              <a:gd name="T19" fmla="*/ 423 h 533"/>
              <a:gd name="T20" fmla="*/ 371 w 500"/>
              <a:gd name="T21" fmla="*/ 425 h 533"/>
              <a:gd name="T22" fmla="*/ 372 w 500"/>
              <a:gd name="T23" fmla="*/ 426 h 533"/>
              <a:gd name="T24" fmla="*/ 373 w 500"/>
              <a:gd name="T25" fmla="*/ 428 h 533"/>
              <a:gd name="T26" fmla="*/ 476 w 500"/>
              <a:gd name="T27" fmla="*/ 352 h 533"/>
              <a:gd name="T28" fmla="*/ 380 w 500"/>
              <a:gd name="T29" fmla="*/ 301 h 533"/>
              <a:gd name="T30" fmla="*/ 358 w 500"/>
              <a:gd name="T31" fmla="*/ 531 h 533"/>
              <a:gd name="T32" fmla="*/ 494 w 500"/>
              <a:gd name="T33" fmla="*/ 439 h 533"/>
              <a:gd name="T34" fmla="*/ 476 w 500"/>
              <a:gd name="T35" fmla="*/ 436 h 533"/>
              <a:gd name="T36" fmla="*/ 380 w 500"/>
              <a:gd name="T37" fmla="*/ 515 h 533"/>
              <a:gd name="T38" fmla="*/ 284 w 500"/>
              <a:gd name="T39" fmla="*/ 399 h 533"/>
              <a:gd name="T40" fmla="*/ 398 w 500"/>
              <a:gd name="T41" fmla="*/ 321 h 533"/>
              <a:gd name="T42" fmla="*/ 476 w 500"/>
              <a:gd name="T43" fmla="*/ 436 h 533"/>
              <a:gd name="T44" fmla="*/ 167 w 500"/>
              <a:gd name="T45" fmla="*/ 435 h 533"/>
              <a:gd name="T46" fmla="*/ 286 w 500"/>
              <a:gd name="T47" fmla="*/ 317 h 533"/>
              <a:gd name="T48" fmla="*/ 310 w 500"/>
              <a:gd name="T49" fmla="*/ 298 h 533"/>
              <a:gd name="T50" fmla="*/ 431 w 500"/>
              <a:gd name="T51" fmla="*/ 181 h 533"/>
              <a:gd name="T52" fmla="*/ 436 w 500"/>
              <a:gd name="T53" fmla="*/ 292 h 533"/>
              <a:gd name="T54" fmla="*/ 455 w 500"/>
              <a:gd name="T55" fmla="*/ 298 h 533"/>
              <a:gd name="T56" fmla="*/ 455 w 500"/>
              <a:gd name="T57" fmla="*/ 123 h 533"/>
              <a:gd name="T58" fmla="*/ 23 w 500"/>
              <a:gd name="T59" fmla="*/ 99 h 533"/>
              <a:gd name="T60" fmla="*/ 0 w 500"/>
              <a:gd name="T61" fmla="*/ 186 h 533"/>
              <a:gd name="T62" fmla="*/ 0 w 500"/>
              <a:gd name="T63" fmla="*/ 317 h 533"/>
              <a:gd name="T64" fmla="*/ 0 w 500"/>
              <a:gd name="T65" fmla="*/ 444 h 533"/>
              <a:gd name="T66" fmla="*/ 252 w 500"/>
              <a:gd name="T67" fmla="*/ 467 h 533"/>
              <a:gd name="T68" fmla="*/ 18 w 500"/>
              <a:gd name="T69" fmla="*/ 186 h 533"/>
              <a:gd name="T70" fmla="*/ 23 w 500"/>
              <a:gd name="T71" fmla="*/ 181 h 533"/>
              <a:gd name="T72" fmla="*/ 149 w 500"/>
              <a:gd name="T73" fmla="*/ 298 h 533"/>
              <a:gd name="T74" fmla="*/ 18 w 500"/>
              <a:gd name="T75" fmla="*/ 186 h 533"/>
              <a:gd name="T76" fmla="*/ 149 w 500"/>
              <a:gd name="T77" fmla="*/ 317 h 533"/>
              <a:gd name="T78" fmla="*/ 23 w 500"/>
              <a:gd name="T79" fmla="*/ 435 h 533"/>
              <a:gd name="T80" fmla="*/ 18 w 500"/>
              <a:gd name="T81" fmla="*/ 317 h 533"/>
              <a:gd name="T82" fmla="*/ 167 w 500"/>
              <a:gd name="T83" fmla="*/ 298 h 533"/>
              <a:gd name="T84" fmla="*/ 167 w 500"/>
              <a:gd name="T85" fmla="*/ 181 h 533"/>
              <a:gd name="T86" fmla="*/ 292 w 500"/>
              <a:gd name="T87" fmla="*/ 298 h 533"/>
              <a:gd name="T88" fmla="*/ 301 w 500"/>
              <a:gd name="T89" fmla="*/ 123 h 533"/>
              <a:gd name="T90" fmla="*/ 317 w 500"/>
              <a:gd name="T91" fmla="*/ 139 h 533"/>
              <a:gd name="T92" fmla="*/ 285 w 500"/>
              <a:gd name="T93" fmla="*/ 139 h 533"/>
              <a:gd name="T94" fmla="*/ 158 w 500"/>
              <a:gd name="T95" fmla="*/ 123 h 533"/>
              <a:gd name="T96" fmla="*/ 174 w 500"/>
              <a:gd name="T97" fmla="*/ 139 h 533"/>
              <a:gd name="T98" fmla="*/ 142 w 500"/>
              <a:gd name="T99" fmla="*/ 139 h 5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500" h="533">
                <a:moveTo>
                  <a:pt x="128" y="59"/>
                </a:moveTo>
                <a:cubicBezTo>
                  <a:pt x="128" y="72"/>
                  <a:pt x="138" y="82"/>
                  <a:pt x="150" y="82"/>
                </a:cubicBezTo>
                <a:lnTo>
                  <a:pt x="305" y="82"/>
                </a:lnTo>
                <a:cubicBezTo>
                  <a:pt x="317" y="82"/>
                  <a:pt x="327" y="72"/>
                  <a:pt x="327" y="59"/>
                </a:cubicBezTo>
                <a:cubicBezTo>
                  <a:pt x="327" y="47"/>
                  <a:pt x="317" y="37"/>
                  <a:pt x="305" y="37"/>
                </a:cubicBezTo>
                <a:lnTo>
                  <a:pt x="264" y="37"/>
                </a:lnTo>
                <a:cubicBezTo>
                  <a:pt x="264" y="17"/>
                  <a:pt x="247" y="0"/>
                  <a:pt x="227" y="0"/>
                </a:cubicBezTo>
                <a:cubicBezTo>
                  <a:pt x="207" y="0"/>
                  <a:pt x="191" y="17"/>
                  <a:pt x="191" y="37"/>
                </a:cubicBezTo>
                <a:lnTo>
                  <a:pt x="150" y="37"/>
                </a:lnTo>
                <a:cubicBezTo>
                  <a:pt x="138" y="37"/>
                  <a:pt x="128" y="47"/>
                  <a:pt x="128" y="59"/>
                </a:cubicBezTo>
                <a:close/>
                <a:moveTo>
                  <a:pt x="405" y="459"/>
                </a:moveTo>
                <a:cubicBezTo>
                  <a:pt x="406" y="461"/>
                  <a:pt x="409" y="462"/>
                  <a:pt x="411" y="462"/>
                </a:cubicBezTo>
                <a:cubicBezTo>
                  <a:pt x="414" y="462"/>
                  <a:pt x="416" y="461"/>
                  <a:pt x="418" y="459"/>
                </a:cubicBezTo>
                <a:cubicBezTo>
                  <a:pt x="421" y="456"/>
                  <a:pt x="421" y="450"/>
                  <a:pt x="418" y="446"/>
                </a:cubicBezTo>
                <a:lnTo>
                  <a:pt x="389" y="417"/>
                </a:lnTo>
                <a:lnTo>
                  <a:pt x="389" y="346"/>
                </a:lnTo>
                <a:cubicBezTo>
                  <a:pt x="389" y="341"/>
                  <a:pt x="385" y="337"/>
                  <a:pt x="380" y="337"/>
                </a:cubicBezTo>
                <a:cubicBezTo>
                  <a:pt x="375" y="337"/>
                  <a:pt x="371" y="341"/>
                  <a:pt x="371" y="346"/>
                </a:cubicBezTo>
                <a:lnTo>
                  <a:pt x="371" y="421"/>
                </a:lnTo>
                <a:cubicBezTo>
                  <a:pt x="371" y="422"/>
                  <a:pt x="371" y="423"/>
                  <a:pt x="371" y="423"/>
                </a:cubicBezTo>
                <a:cubicBezTo>
                  <a:pt x="371" y="423"/>
                  <a:pt x="371" y="424"/>
                  <a:pt x="371" y="424"/>
                </a:cubicBezTo>
                <a:cubicBezTo>
                  <a:pt x="371" y="424"/>
                  <a:pt x="371" y="425"/>
                  <a:pt x="371" y="425"/>
                </a:cubicBezTo>
                <a:cubicBezTo>
                  <a:pt x="371" y="425"/>
                  <a:pt x="372" y="425"/>
                  <a:pt x="372" y="426"/>
                </a:cubicBezTo>
                <a:cubicBezTo>
                  <a:pt x="372" y="426"/>
                  <a:pt x="372" y="426"/>
                  <a:pt x="372" y="426"/>
                </a:cubicBezTo>
                <a:cubicBezTo>
                  <a:pt x="372" y="427"/>
                  <a:pt x="373" y="427"/>
                  <a:pt x="373" y="428"/>
                </a:cubicBezTo>
                <a:cubicBezTo>
                  <a:pt x="373" y="428"/>
                  <a:pt x="373" y="428"/>
                  <a:pt x="373" y="428"/>
                </a:cubicBezTo>
                <a:lnTo>
                  <a:pt x="405" y="459"/>
                </a:lnTo>
                <a:close/>
                <a:moveTo>
                  <a:pt x="476" y="352"/>
                </a:moveTo>
                <a:cubicBezTo>
                  <a:pt x="458" y="327"/>
                  <a:pt x="432" y="309"/>
                  <a:pt x="402" y="303"/>
                </a:cubicBezTo>
                <a:cubicBezTo>
                  <a:pt x="394" y="302"/>
                  <a:pt x="387" y="301"/>
                  <a:pt x="380" y="301"/>
                </a:cubicBezTo>
                <a:cubicBezTo>
                  <a:pt x="324" y="301"/>
                  <a:pt x="276" y="341"/>
                  <a:pt x="266" y="396"/>
                </a:cubicBezTo>
                <a:cubicBezTo>
                  <a:pt x="254" y="458"/>
                  <a:pt x="295" y="519"/>
                  <a:pt x="358" y="531"/>
                </a:cubicBezTo>
                <a:cubicBezTo>
                  <a:pt x="365" y="533"/>
                  <a:pt x="373" y="533"/>
                  <a:pt x="380" y="533"/>
                </a:cubicBezTo>
                <a:cubicBezTo>
                  <a:pt x="435" y="533"/>
                  <a:pt x="483" y="494"/>
                  <a:pt x="494" y="439"/>
                </a:cubicBezTo>
                <a:cubicBezTo>
                  <a:pt x="500" y="409"/>
                  <a:pt x="493" y="378"/>
                  <a:pt x="476" y="352"/>
                </a:cubicBezTo>
                <a:close/>
                <a:moveTo>
                  <a:pt x="476" y="436"/>
                </a:moveTo>
                <a:lnTo>
                  <a:pt x="476" y="436"/>
                </a:lnTo>
                <a:cubicBezTo>
                  <a:pt x="467" y="482"/>
                  <a:pt x="427" y="515"/>
                  <a:pt x="380" y="515"/>
                </a:cubicBezTo>
                <a:cubicBezTo>
                  <a:pt x="374" y="515"/>
                  <a:pt x="368" y="515"/>
                  <a:pt x="361" y="514"/>
                </a:cubicBezTo>
                <a:cubicBezTo>
                  <a:pt x="308" y="503"/>
                  <a:pt x="273" y="452"/>
                  <a:pt x="284" y="399"/>
                </a:cubicBezTo>
                <a:cubicBezTo>
                  <a:pt x="292" y="353"/>
                  <a:pt x="333" y="319"/>
                  <a:pt x="380" y="319"/>
                </a:cubicBezTo>
                <a:cubicBezTo>
                  <a:pt x="386" y="319"/>
                  <a:pt x="392" y="320"/>
                  <a:pt x="398" y="321"/>
                </a:cubicBezTo>
                <a:cubicBezTo>
                  <a:pt x="424" y="326"/>
                  <a:pt x="446" y="341"/>
                  <a:pt x="461" y="362"/>
                </a:cubicBezTo>
                <a:cubicBezTo>
                  <a:pt x="476" y="384"/>
                  <a:pt x="481" y="410"/>
                  <a:pt x="476" y="436"/>
                </a:cubicBezTo>
                <a:close/>
                <a:moveTo>
                  <a:pt x="243" y="435"/>
                </a:moveTo>
                <a:lnTo>
                  <a:pt x="167" y="435"/>
                </a:lnTo>
                <a:lnTo>
                  <a:pt x="167" y="317"/>
                </a:lnTo>
                <a:lnTo>
                  <a:pt x="286" y="317"/>
                </a:lnTo>
                <a:cubicBezTo>
                  <a:pt x="293" y="310"/>
                  <a:pt x="302" y="304"/>
                  <a:pt x="311" y="298"/>
                </a:cubicBezTo>
                <a:lnTo>
                  <a:pt x="310" y="298"/>
                </a:lnTo>
                <a:lnTo>
                  <a:pt x="310" y="181"/>
                </a:lnTo>
                <a:lnTo>
                  <a:pt x="431" y="181"/>
                </a:lnTo>
                <a:cubicBezTo>
                  <a:pt x="434" y="181"/>
                  <a:pt x="436" y="183"/>
                  <a:pt x="436" y="186"/>
                </a:cubicBezTo>
                <a:lnTo>
                  <a:pt x="436" y="292"/>
                </a:lnTo>
                <a:cubicBezTo>
                  <a:pt x="443" y="295"/>
                  <a:pt x="449" y="298"/>
                  <a:pt x="455" y="302"/>
                </a:cubicBezTo>
                <a:lnTo>
                  <a:pt x="455" y="298"/>
                </a:lnTo>
                <a:lnTo>
                  <a:pt x="455" y="186"/>
                </a:lnTo>
                <a:lnTo>
                  <a:pt x="455" y="123"/>
                </a:lnTo>
                <a:cubicBezTo>
                  <a:pt x="455" y="110"/>
                  <a:pt x="444" y="99"/>
                  <a:pt x="431" y="99"/>
                </a:cubicBezTo>
                <a:lnTo>
                  <a:pt x="23" y="99"/>
                </a:lnTo>
                <a:cubicBezTo>
                  <a:pt x="10" y="99"/>
                  <a:pt x="0" y="110"/>
                  <a:pt x="0" y="123"/>
                </a:cubicBezTo>
                <a:lnTo>
                  <a:pt x="0" y="186"/>
                </a:lnTo>
                <a:lnTo>
                  <a:pt x="0" y="298"/>
                </a:lnTo>
                <a:lnTo>
                  <a:pt x="0" y="317"/>
                </a:lnTo>
                <a:lnTo>
                  <a:pt x="0" y="430"/>
                </a:lnTo>
                <a:lnTo>
                  <a:pt x="0" y="444"/>
                </a:lnTo>
                <a:cubicBezTo>
                  <a:pt x="0" y="457"/>
                  <a:pt x="10" y="467"/>
                  <a:pt x="23" y="467"/>
                </a:cubicBezTo>
                <a:lnTo>
                  <a:pt x="252" y="467"/>
                </a:lnTo>
                <a:cubicBezTo>
                  <a:pt x="247" y="457"/>
                  <a:pt x="245" y="446"/>
                  <a:pt x="243" y="435"/>
                </a:cubicBezTo>
                <a:close/>
                <a:moveTo>
                  <a:pt x="18" y="186"/>
                </a:moveTo>
                <a:lnTo>
                  <a:pt x="18" y="186"/>
                </a:lnTo>
                <a:cubicBezTo>
                  <a:pt x="18" y="183"/>
                  <a:pt x="21" y="181"/>
                  <a:pt x="23" y="181"/>
                </a:cubicBezTo>
                <a:lnTo>
                  <a:pt x="149" y="181"/>
                </a:lnTo>
                <a:lnTo>
                  <a:pt x="149" y="298"/>
                </a:lnTo>
                <a:lnTo>
                  <a:pt x="18" y="298"/>
                </a:lnTo>
                <a:lnTo>
                  <a:pt x="18" y="186"/>
                </a:lnTo>
                <a:close/>
                <a:moveTo>
                  <a:pt x="149" y="317"/>
                </a:moveTo>
                <a:lnTo>
                  <a:pt x="149" y="317"/>
                </a:lnTo>
                <a:lnTo>
                  <a:pt x="149" y="435"/>
                </a:lnTo>
                <a:lnTo>
                  <a:pt x="23" y="435"/>
                </a:lnTo>
                <a:cubicBezTo>
                  <a:pt x="21" y="435"/>
                  <a:pt x="18" y="432"/>
                  <a:pt x="18" y="430"/>
                </a:cubicBezTo>
                <a:lnTo>
                  <a:pt x="18" y="317"/>
                </a:lnTo>
                <a:lnTo>
                  <a:pt x="149" y="317"/>
                </a:lnTo>
                <a:close/>
                <a:moveTo>
                  <a:pt x="167" y="298"/>
                </a:moveTo>
                <a:lnTo>
                  <a:pt x="167" y="298"/>
                </a:lnTo>
                <a:lnTo>
                  <a:pt x="167" y="181"/>
                </a:lnTo>
                <a:lnTo>
                  <a:pt x="292" y="181"/>
                </a:lnTo>
                <a:lnTo>
                  <a:pt x="292" y="298"/>
                </a:lnTo>
                <a:lnTo>
                  <a:pt x="167" y="298"/>
                </a:lnTo>
                <a:close/>
                <a:moveTo>
                  <a:pt x="301" y="123"/>
                </a:moveTo>
                <a:lnTo>
                  <a:pt x="301" y="123"/>
                </a:lnTo>
                <a:cubicBezTo>
                  <a:pt x="310" y="123"/>
                  <a:pt x="317" y="130"/>
                  <a:pt x="317" y="139"/>
                </a:cubicBezTo>
                <a:cubicBezTo>
                  <a:pt x="317" y="148"/>
                  <a:pt x="310" y="155"/>
                  <a:pt x="301" y="155"/>
                </a:cubicBezTo>
                <a:cubicBezTo>
                  <a:pt x="292" y="155"/>
                  <a:pt x="285" y="148"/>
                  <a:pt x="285" y="139"/>
                </a:cubicBezTo>
                <a:cubicBezTo>
                  <a:pt x="285" y="130"/>
                  <a:pt x="292" y="123"/>
                  <a:pt x="301" y="123"/>
                </a:cubicBezTo>
                <a:close/>
                <a:moveTo>
                  <a:pt x="158" y="123"/>
                </a:moveTo>
                <a:lnTo>
                  <a:pt x="158" y="123"/>
                </a:lnTo>
                <a:cubicBezTo>
                  <a:pt x="167" y="123"/>
                  <a:pt x="174" y="130"/>
                  <a:pt x="174" y="139"/>
                </a:cubicBezTo>
                <a:cubicBezTo>
                  <a:pt x="174" y="148"/>
                  <a:pt x="167" y="155"/>
                  <a:pt x="158" y="155"/>
                </a:cubicBezTo>
                <a:cubicBezTo>
                  <a:pt x="149" y="155"/>
                  <a:pt x="142" y="148"/>
                  <a:pt x="142" y="139"/>
                </a:cubicBezTo>
                <a:cubicBezTo>
                  <a:pt x="142" y="130"/>
                  <a:pt x="149" y="123"/>
                  <a:pt x="158" y="1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896498" y="4782203"/>
            <a:ext cx="558000" cy="56276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72355" y="3950247"/>
            <a:ext cx="558000" cy="55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885235" y="3140569"/>
            <a:ext cx="558000" cy="5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395605" y="1988820"/>
            <a:ext cx="6981825" cy="2147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①明白什么是重复子问题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②明白什么是最优子结构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③明白动态规划的状态转移方程和状态表（决策表）是什么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④分清动态规划与分治法的区别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⑤分清动态规划与贪心算法的区别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067810" y="177228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1955" y="180784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2854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4296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761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203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25469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5577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68808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69887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2379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3458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0648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0756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3902075" y="235077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4787900" y="234886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3030220" y="322516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3817620" y="323405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5407025" y="3231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5580380" y="3240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268220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279015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3409315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420110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2751455" y="423989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2924810" y="424878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251460" y="1772285"/>
            <a:ext cx="3679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再次思考斐波那契数列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79705" y="5588635"/>
            <a:ext cx="8774430" cy="725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仔细观察这颗二叉树的每一个节点，有重复的节点。而在分治法中则忽略了这些性质，只是让他们当作独立子问题求解。而这些重复的节点就是</a:t>
            </a:r>
            <a:r>
              <a:rPr lang="zh-CN" altLang="en-US">
                <a:solidFill>
                  <a:srgbClr val="FF0000"/>
                </a:solidFill>
              </a:rPr>
              <a:t>重叠子问题。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76454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5.1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动态规划法概述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24355" y="165290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68500" y="168846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0420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861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8327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9768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3035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143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144462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45542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268033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69113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8214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8322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1658620" y="223139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2544445" y="222948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786765" y="310578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1574165" y="311467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3163570" y="311213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3336925" y="312102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4765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5560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165860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76655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508000" y="4120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681355" y="4129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323850" y="980440"/>
            <a:ext cx="7533005" cy="470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显然可以利用重叠子问题的性质，那就是保存下来，不要做重复计算！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311650" y="1412240"/>
            <a:ext cx="507492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Fib[1000]; //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全局变量数组保存重叠子问题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fibonacci(int n)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(n &lt;= 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return n;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int tempL = Fib[n-1], tempR = Fib[n-2];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(tempL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tempL = fibonacci(n-1);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Fib[n-1] = tempL;//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(tempR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tempR = fibonacci(n-2);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Fib[n-2] = tempR;//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tempL + tempR;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3850" y="5640070"/>
            <a:ext cx="3949700" cy="655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恭喜同学们会了记忆化搜索！若让你把这个代码改成循环，该怎么办？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3895" y="1484630"/>
            <a:ext cx="352234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动态规划思想是什么？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530" y="1934210"/>
            <a:ext cx="7865110" cy="105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动态规划就是待求解的问题按照阶段</a:t>
            </a:r>
            <a:r>
              <a:rPr lang="zh-CN" altLang="en-US">
                <a:solidFill>
                  <a:srgbClr val="FF0000"/>
                </a:solidFill>
              </a:rPr>
              <a:t>分解</a:t>
            </a:r>
            <a:r>
              <a:rPr lang="zh-CN" altLang="en-US"/>
              <a:t>成若干个子问题，其中各个子问题的解都是当前状态下所得的最优解，</a:t>
            </a:r>
            <a:r>
              <a:rPr lang="zh-CN" altLang="en-US">
                <a:solidFill>
                  <a:srgbClr val="FF0000"/>
                </a:solidFill>
              </a:rPr>
              <a:t>整个问题的最优解就是由各个子问题的最优解组成的。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153" name="图片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70" y="4371023"/>
            <a:ext cx="7239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4" name="云形标注 17"/>
          <p:cNvSpPr>
            <a:spLocks noChangeArrowheads="1"/>
          </p:cNvSpPr>
          <p:nvPr/>
        </p:nvSpPr>
        <p:spPr bwMode="auto">
          <a:xfrm>
            <a:off x="1115695" y="3574098"/>
            <a:ext cx="1296988" cy="854075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6155" name="文本框 20"/>
          <p:cNvSpPr txBox="1">
            <a:spLocks noChangeArrowheads="1"/>
          </p:cNvSpPr>
          <p:nvPr/>
        </p:nvSpPr>
        <p:spPr bwMode="auto">
          <a:xfrm>
            <a:off x="1218883" y="3748723"/>
            <a:ext cx="11938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400" b="1">
                <a:solidFill>
                  <a:schemeClr val="tx1"/>
                </a:solidFill>
                <a:ea typeface="宋体" panose="02010600030101010101" pitchFamily="2" charset="-122"/>
              </a:rPr>
              <a:t>与分治和贪心雷同？</a:t>
            </a:r>
            <a:endParaRPr lang="zh-CN" altLang="en-US" sz="1400" b="1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55875" y="3356610"/>
            <a:ext cx="6124575" cy="859155"/>
          </a:xfrm>
          <a:prstGeom prst="rect">
            <a:avLst/>
          </a:prstGeom>
          <a:noFill/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①将一个大问题拆分成若干子问题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②整个问题最优是由各个子问题最优解合并组成。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9465" y="5451475"/>
            <a:ext cx="7880985" cy="8489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当然，定义中还缺少动态规划的一些描述，例如</a:t>
            </a:r>
            <a:r>
              <a:rPr lang="zh-CN" altLang="en-US">
                <a:solidFill>
                  <a:srgbClr val="FF0000"/>
                </a:solidFill>
              </a:rPr>
              <a:t>状态转移方程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状态表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最优子结构，重叠子问题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波形 3"/>
          <p:cNvSpPr/>
          <p:nvPr/>
        </p:nvSpPr>
        <p:spPr>
          <a:xfrm>
            <a:off x="2484120" y="2924810"/>
            <a:ext cx="5406390" cy="2258695"/>
          </a:xfrm>
          <a:prstGeom prst="wav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2140" y="81407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683895" y="217741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750" y="1196340"/>
            <a:ext cx="7623175" cy="831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算法初始时候，定义一个记忆数组。但是又需要记忆数组有两项相邻的数斐波那契数才能循环下去，那么初始化最初两项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0,1</a:t>
            </a:r>
            <a:r>
              <a:rPr lang="zh-CN" altLang="en-US">
                <a:solidFill>
                  <a:srgbClr val="FF0000"/>
                </a:solidFill>
              </a:rPr>
              <a:t>可以满足循环要求。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67360" y="5300980"/>
            <a:ext cx="8603615" cy="1092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动态规划处理子问题是有较多重复，可以把重叠子问题保存下来，供下个问题抉择直接使用。分治法则是独立处理重复的子问题。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此时：为了解决斐波那契数列问题借助的数组就是称为状态表。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由子问题推导到父问题的转换方程就是状态转移方程，如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83895" y="3140710"/>
            <a:ext cx="7478395" cy="490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然后根据斐波那契数递归方程，持续循环。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7297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6" name="上弧形箭头 35"/>
          <p:cNvSpPr/>
          <p:nvPr/>
        </p:nvSpPr>
        <p:spPr>
          <a:xfrm>
            <a:off x="850265" y="194754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上弧形箭头 36"/>
          <p:cNvSpPr/>
          <p:nvPr/>
        </p:nvSpPr>
        <p:spPr>
          <a:xfrm flipV="1">
            <a:off x="1505585" y="256476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上弧形箭头 39"/>
          <p:cNvSpPr/>
          <p:nvPr/>
        </p:nvSpPr>
        <p:spPr>
          <a:xfrm>
            <a:off x="1619885" y="19551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上弧形箭头 40"/>
          <p:cNvSpPr/>
          <p:nvPr/>
        </p:nvSpPr>
        <p:spPr>
          <a:xfrm flipV="1">
            <a:off x="2275205" y="25723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1592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上弧形箭头 42"/>
          <p:cNvSpPr/>
          <p:nvPr/>
        </p:nvSpPr>
        <p:spPr>
          <a:xfrm>
            <a:off x="2339975" y="195072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上弧形箭头 43"/>
          <p:cNvSpPr/>
          <p:nvPr/>
        </p:nvSpPr>
        <p:spPr>
          <a:xfrm flipV="1">
            <a:off x="2995295" y="256794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3636010" y="217741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6" name="上弧形箭头 45"/>
          <p:cNvSpPr/>
          <p:nvPr/>
        </p:nvSpPr>
        <p:spPr>
          <a:xfrm>
            <a:off x="3060065" y="193675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上弧形箭头 46"/>
          <p:cNvSpPr/>
          <p:nvPr/>
        </p:nvSpPr>
        <p:spPr>
          <a:xfrm flipV="1">
            <a:off x="3715385" y="255397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56100" y="216344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470535" y="3474085"/>
            <a:ext cx="45720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fib[0] = 0;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fib[1] = 1;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(int i = 2; i &lt;= n; i++)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{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fib[i] = fib[i-1] + fib[i-2];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40" grpId="0" bldLvl="0" animBg="1"/>
      <p:bldP spid="40" grpId="1" animBg="1"/>
      <p:bldP spid="40" grpId="2" bldLvl="0" animBg="1"/>
      <p:bldP spid="40" grpId="3" bldLvl="0" animBg="1"/>
      <p:bldP spid="40" grpId="4" bldLvl="0" animBg="1"/>
      <p:bldP spid="40" grpId="5" animBg="1"/>
      <p:bldP spid="41" grpId="0" bldLvl="0" animBg="1"/>
      <p:bldP spid="41" grpId="1" animBg="1"/>
      <p:bldP spid="41" grpId="2" bldLvl="0" animBg="1"/>
      <p:bldP spid="41" grpId="3" bldLvl="0" animBg="1"/>
      <p:bldP spid="41" grpId="4" bldLvl="0" animBg="1"/>
      <p:bldP spid="41" grpId="5" animBg="1"/>
      <p:bldP spid="42" grpId="0"/>
      <p:bldP spid="42" grpId="1"/>
      <p:bldP spid="43" grpId="0" bldLvl="0" animBg="1"/>
      <p:bldP spid="43" grpId="1" animBg="1"/>
      <p:bldP spid="43" grpId="2" bldLvl="0" animBg="1"/>
      <p:bldP spid="43" grpId="3" bldLvl="0" animBg="1"/>
      <p:bldP spid="43" grpId="4" bldLvl="0" animBg="1"/>
      <p:bldP spid="43" grpId="5" bldLvl="0" animBg="1"/>
      <p:bldP spid="44" grpId="0" bldLvl="0" animBg="1"/>
      <p:bldP spid="44" grpId="1" animBg="1"/>
      <p:bldP spid="44" grpId="2" bldLvl="0" animBg="1"/>
      <p:bldP spid="44" grpId="3" bldLvl="0" animBg="1"/>
      <p:bldP spid="44" grpId="4" bldLvl="0" animBg="1"/>
      <p:bldP spid="44" grpId="5" bldLvl="0" animBg="1"/>
      <p:bldP spid="45" grpId="0"/>
      <p:bldP spid="45" grpId="1"/>
      <p:bldP spid="46" grpId="0" bldLvl="0" animBg="1"/>
      <p:bldP spid="46" grpId="1" animBg="1"/>
      <p:bldP spid="46" grpId="2" bldLvl="0" animBg="1"/>
      <p:bldP spid="46" grpId="3" bldLvl="0" animBg="1"/>
      <p:bldP spid="46" grpId="4" bldLvl="0" animBg="1"/>
      <p:bldP spid="46" grpId="5" bldLvl="0" animBg="1"/>
      <p:bldP spid="47" grpId="0" bldLvl="0" animBg="1"/>
      <p:bldP spid="47" grpId="1" animBg="1"/>
      <p:bldP spid="47" grpId="2" bldLvl="0" animBg="1"/>
      <p:bldP spid="47" grpId="3" bldLvl="0" animBg="1"/>
      <p:bldP spid="47" grpId="4" bldLvl="0" animBg="1"/>
      <p:bldP spid="47" grpId="5" bldLvl="0" animBg="1"/>
      <p:bldP spid="48" grpId="0"/>
      <p:bldP spid="4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70535" y="836930"/>
            <a:ext cx="7500620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动态规划为何可以利用</a:t>
            </a:r>
            <a:r>
              <a:rPr lang="zh-CN" altLang="en-US">
                <a:solidFill>
                  <a:srgbClr val="FF0000"/>
                </a:solidFill>
              </a:rPr>
              <a:t>最优子结构</a:t>
            </a:r>
            <a:r>
              <a:rPr lang="zh-CN" altLang="en-US">
                <a:solidFill>
                  <a:schemeClr val="tx1"/>
                </a:solidFill>
              </a:rPr>
              <a:t>来求解组合优化问题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1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2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3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4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5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6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</p:cNvCxnSpPr>
          <p:nvPr>
            <p:custDataLst>
              <p:tags r:id="rId7"/>
            </p:custDataLst>
          </p:nvPr>
        </p:nvCxnSpPr>
        <p:spPr>
          <a:xfrm flipH="1">
            <a:off x="3996055" y="3366770"/>
            <a:ext cx="781050" cy="4222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8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9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0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771900" y="378904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470535" y="5480685"/>
            <a:ext cx="8227695" cy="570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如果用贪心算法是否可以求解？贪心求解最长路径是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r>
            <a:r>
              <a:rPr lang="zh-CN" altLang="en-US"/>
              <a:t>，很显然能找到一个反例推翻，例如紫色路径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zh-CN" altLang="en-US"/>
              <a:t>，比贪心算法更优。</a:t>
            </a:r>
            <a:endParaRPr lang="zh-CN" altLang="en-US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5022215" y="1923415"/>
            <a:ext cx="557530" cy="2089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2" name="直接箭头连接符 81"/>
          <p:cNvCxnSpPr/>
          <p:nvPr/>
        </p:nvCxnSpPr>
        <p:spPr>
          <a:xfrm flipH="1">
            <a:off x="4859655" y="2607310"/>
            <a:ext cx="432435" cy="2451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3" name="直接箭头连接符 82"/>
          <p:cNvCxnSpPr/>
          <p:nvPr/>
        </p:nvCxnSpPr>
        <p:spPr>
          <a:xfrm>
            <a:off x="4775200" y="3423920"/>
            <a:ext cx="485140" cy="27368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4" name="直接箭头连接符 83"/>
          <p:cNvCxnSpPr/>
          <p:nvPr/>
        </p:nvCxnSpPr>
        <p:spPr>
          <a:xfrm flipH="1">
            <a:off x="5022215" y="4220845"/>
            <a:ext cx="413385" cy="20066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5" name="直接箭头连接符 84"/>
          <p:cNvCxnSpPr/>
          <p:nvPr/>
        </p:nvCxnSpPr>
        <p:spPr>
          <a:xfrm flipH="1">
            <a:off x="3928745" y="1932940"/>
            <a:ext cx="482600" cy="20129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7" name="直接箭头连接符 86"/>
          <p:cNvCxnSpPr/>
          <p:nvPr/>
        </p:nvCxnSpPr>
        <p:spPr>
          <a:xfrm flipH="1">
            <a:off x="3203575" y="2636520"/>
            <a:ext cx="504190" cy="2882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8" name="直接箭头连接符 87"/>
          <p:cNvCxnSpPr/>
          <p:nvPr/>
        </p:nvCxnSpPr>
        <p:spPr>
          <a:xfrm>
            <a:off x="3203575" y="3429000"/>
            <a:ext cx="648335" cy="28765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9" name="直接箭头连接符 88"/>
          <p:cNvCxnSpPr/>
          <p:nvPr/>
        </p:nvCxnSpPr>
        <p:spPr>
          <a:xfrm flipH="1">
            <a:off x="3419475" y="4149090"/>
            <a:ext cx="432435" cy="2159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圆角矩形 26"/>
          <p:cNvSpPr/>
          <p:nvPr>
            <p:custDataLst>
              <p:tags r:id="rId1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80238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4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5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6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7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  <a:endCxn id="27" idx="0"/>
          </p:cNvCxnSpPr>
          <p:nvPr>
            <p:custDataLst>
              <p:tags r:id="rId8"/>
            </p:custDataLst>
          </p:nvPr>
        </p:nvCxnSpPr>
        <p:spPr>
          <a:xfrm flipH="1">
            <a:off x="4053205" y="3366770"/>
            <a:ext cx="72390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9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10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07950" y="836295"/>
            <a:ext cx="8398510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如何利用动态规划的思想：首先将问题拆分成各个阶段的小问题。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4960" y="4139565"/>
            <a:ext cx="8648700" cy="11334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8475" y="3362960"/>
            <a:ext cx="8648700" cy="11334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4485" y="2592070"/>
            <a:ext cx="8648700" cy="11334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23215" y="5372735"/>
            <a:ext cx="8398510" cy="7632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当将问题拆分到最后一个阶段，则可以直接获得到当前阶段的最大路径。当</a:t>
            </a:r>
            <a:r>
              <a:rPr lang="zh-CN" altLang="en-US">
                <a:solidFill>
                  <a:srgbClr val="FF0000"/>
                </a:solidFill>
              </a:rPr>
              <a:t>子问题考虑完所有情况</a:t>
            </a:r>
            <a:r>
              <a:rPr lang="zh-CN" altLang="en-US"/>
              <a:t>之后，选择最优的保存。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77444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5907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94576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48119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7090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124075" y="386080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7190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22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20509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652895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4757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06006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27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631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461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19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14960" y="6236970"/>
            <a:ext cx="7880350" cy="370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该问题的最优解通过每一步的最优解组合获得，说明具有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最优子结构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19710" y="1558290"/>
            <a:ext cx="2382520" cy="812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sym typeface="+mn-ea"/>
              </a:rPr>
              <a:t>那么同学们这个问题的状态转移方程和状态表能找出来吗？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53" grpId="0"/>
      <p:bldP spid="53" grpId="1"/>
      <p:bldP spid="55" grpId="0"/>
      <p:bldP spid="56" grpId="0"/>
      <p:bldP spid="57" grpId="0"/>
      <p:bldP spid="58" grpId="0"/>
      <p:bldP spid="60" grpId="0"/>
      <p:bldP spid="60" grpId="1"/>
      <p:bldP spid="61" grpId="0"/>
      <p:bldP spid="61" grpId="1"/>
      <p:bldP spid="66" grpId="0"/>
      <p:bldP spid="66" grpId="1"/>
      <p:bldP spid="67" grpId="0"/>
      <p:bldP spid="68" grpId="0"/>
      <p:bldP spid="68" grpId="1"/>
      <p:bldP spid="69" grpId="0"/>
      <p:bldP spid="69" grpId="1"/>
      <p:bldP spid="79" grpId="0"/>
      <p:bldP spid="79" grpId="1"/>
      <p:bldP spid="6" grpId="0"/>
      <p:bldP spid="6" grpId="1"/>
      <p:bldP spid="8" grpId="0"/>
      <p:bldP spid="8" grpId="1"/>
      <p:bldP spid="10" grpId="0"/>
      <p:bldP spid="10" grpId="1"/>
      <p:bldP spid="15" grpId="0"/>
      <p:bldP spid="17" grpId="0"/>
      <p:bldP spid="19" grpId="0"/>
      <p:bldP spid="20" grpId="0"/>
      <p:bldP spid="29" grpId="0"/>
      <p:bldP spid="34" grpId="0"/>
      <p:bldP spid="40" grpId="0"/>
      <p:bldP spid="40" grpId="1"/>
      <p:bldP spid="41" grpId="1"/>
      <p:bldP spid="42" grpId="0"/>
      <p:bldP spid="43" grpId="0"/>
      <p:bldP spid="43" grpId="1"/>
      <p:bldP spid="44" grpId="0"/>
      <p:bldP spid="44" grpId="1"/>
      <p:bldP spid="45" grpId="0"/>
      <p:bldP spid="45" grpId="1"/>
      <p:bldP spid="23" grpId="0"/>
      <p:bldP spid="23" grpId="1"/>
      <p:bldP spid="30" grpId="0"/>
      <p:bldP spid="3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879475"/>
            <a:ext cx="2208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树塔的算法实现：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39545" y="1701165"/>
            <a:ext cx="6264910" cy="3746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tower_math(tower:list)-&gt;int: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res = tower[:]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range(1,len(tower)):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range(len(tower[i])):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找到两个方向的路劲，要判断是否只有一条路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 == 0: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tower[i][j]+res[i-1][j]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elif j == len(tower[i])-1: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res[i][j]=tower[i][j]+res[i-1][j-1]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tower[i][j]+max(res[i-1][j],res[i-1][j-1])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max(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res[-1]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75590" y="1083945"/>
            <a:ext cx="30861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动态规划与分治法类比：</a:t>
            </a: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99160" y="1689100"/>
          <a:ext cx="692975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/>
                <a:gridCol w="2774738"/>
                <a:gridCol w="2133177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动态规划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分治法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子问题重叠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子问题独立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子问题处理方式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存储子问题（状态表中）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独立递归处理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处理顺序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自底向上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递归分治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251460" y="334518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动态规划与分治法雷同处：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均需要找递推方程（动态规划状态转移方程），需要递归出口（动态规划状态表边界）均需要将大问题拆分成子问题。</a:t>
            </a:r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23215" y="458089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动态规划与贪心法完全不同：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动态规划能够得出最优解，是因为动态规划解决问题时候已经筛选所有子问题的最优解，也就是最优子结构。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95" y="1412875"/>
            <a:ext cx="6981825" cy="1688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①确定状态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②找到状态转移方程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③确定边界，然后自底向上迭代。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④更新状态，获取结果。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3101340"/>
            <a:ext cx="8409940" cy="90297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青蛙跳台阶问题是指一只青蛙可以一次跳一个台阶或者两个台阶，问当青蛙跳上第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个台阶的时候，可以有多少种跳法？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2124075" y="414909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54200" y="447103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369185" y="447103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62355" y="497522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54200" y="497522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862580" y="497522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072765" y="497522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305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623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09090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27655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17245" y="525970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97380" y="526034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17470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490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3854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481705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208530" y="414909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619885" y="465328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827655" y="466217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27405" y="526859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97380" y="525970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2627630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491865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95605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259840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4716145" y="3933190"/>
            <a:ext cx="394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S(n) = S(n-1)+S(n-2)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915410" y="4653280"/>
            <a:ext cx="5043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状态转移方程只有一个变量，用一维表表示状态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5697855" y="4221480"/>
            <a:ext cx="26035" cy="42037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4" name="表格 73"/>
          <p:cNvGraphicFramePr/>
          <p:nvPr/>
        </p:nvGraphicFramePr>
        <p:xfrm>
          <a:off x="4211955" y="556323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5" name="文本框 74"/>
          <p:cNvSpPr txBox="1"/>
          <p:nvPr/>
        </p:nvSpPr>
        <p:spPr>
          <a:xfrm>
            <a:off x="570103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6" name="上弧形箭头 75"/>
          <p:cNvSpPr/>
          <p:nvPr/>
        </p:nvSpPr>
        <p:spPr>
          <a:xfrm>
            <a:off x="4378325" y="53333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上弧形箭头 76"/>
          <p:cNvSpPr/>
          <p:nvPr/>
        </p:nvSpPr>
        <p:spPr>
          <a:xfrm flipV="1">
            <a:off x="5033645" y="59505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上弧形箭头 77"/>
          <p:cNvSpPr/>
          <p:nvPr/>
        </p:nvSpPr>
        <p:spPr>
          <a:xfrm>
            <a:off x="5147945" y="534098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上弧形箭头 78"/>
          <p:cNvSpPr/>
          <p:nvPr/>
        </p:nvSpPr>
        <p:spPr>
          <a:xfrm flipV="1">
            <a:off x="5803265" y="595820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44398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上弧形箭头 80"/>
          <p:cNvSpPr/>
          <p:nvPr/>
        </p:nvSpPr>
        <p:spPr>
          <a:xfrm>
            <a:off x="5868035" y="533654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上弧形箭头 81"/>
          <p:cNvSpPr/>
          <p:nvPr/>
        </p:nvSpPr>
        <p:spPr>
          <a:xfrm flipV="1">
            <a:off x="6523355" y="595376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7164070" y="556323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4" name="上弧形箭头 83"/>
          <p:cNvSpPr/>
          <p:nvPr/>
        </p:nvSpPr>
        <p:spPr>
          <a:xfrm>
            <a:off x="6588125" y="532257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上弧形箭头 84"/>
          <p:cNvSpPr/>
          <p:nvPr/>
        </p:nvSpPr>
        <p:spPr>
          <a:xfrm flipV="1">
            <a:off x="7243445" y="593979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7884160" y="554926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11955" y="6236970"/>
            <a:ext cx="41935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2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7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000"/>
                            </p:stCondLst>
                            <p:childTnLst>
                              <p:par>
                                <p:cTn id="12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0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0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000"/>
                            </p:stCondLst>
                            <p:childTnLst>
                              <p:par>
                                <p:cTn id="16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6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1" grpId="0" animBg="1"/>
      <p:bldP spid="11" grpId="1" animBg="1"/>
      <p:bldP spid="19" grpId="0" animBg="1"/>
      <p:bldP spid="19" grpId="1" animBg="1"/>
      <p:bldP spid="20" grpId="0" animBg="1"/>
      <p:bldP spid="20" grpId="1" animBg="1"/>
      <p:bldP spid="27" grpId="0" animBg="1"/>
      <p:bldP spid="27" grpId="1" animBg="1"/>
      <p:bldP spid="28" grpId="0" animBg="1"/>
      <p:bldP spid="28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43" grpId="0"/>
      <p:bldP spid="43" grpId="1"/>
      <p:bldP spid="44" grpId="0"/>
      <p:bldP spid="44" grpId="1"/>
      <p:bldP spid="75" grpId="0"/>
      <p:bldP spid="75" grpId="1"/>
      <p:bldP spid="76" grpId="0" bldLvl="0" animBg="1"/>
      <p:bldP spid="76" grpId="1" animBg="1"/>
      <p:bldP spid="76" grpId="2" bldLvl="0" animBg="1"/>
      <p:bldP spid="76" grpId="3" bldLvl="0" animBg="1"/>
      <p:bldP spid="76" grpId="4" bldLvl="0" animBg="1"/>
      <p:bldP spid="76" grpId="5" bldLvl="0" animBg="1"/>
      <p:bldP spid="77" grpId="0" bldLvl="0" animBg="1"/>
      <p:bldP spid="77" grpId="1" animBg="1"/>
      <p:bldP spid="77" grpId="2" bldLvl="0" animBg="1"/>
      <p:bldP spid="77" grpId="3" bldLvl="0" animBg="1"/>
      <p:bldP spid="77" grpId="4" bldLvl="0" animBg="1"/>
      <p:bldP spid="77" grpId="5" bldLvl="0" animBg="1"/>
      <p:bldP spid="78" grpId="0" bldLvl="0" animBg="1"/>
      <p:bldP spid="78" grpId="1" animBg="1"/>
      <p:bldP spid="78" grpId="2" bldLvl="0" animBg="1"/>
      <p:bldP spid="78" grpId="3" bldLvl="0" animBg="1"/>
      <p:bldP spid="78" grpId="4" bldLvl="0" animBg="1"/>
      <p:bldP spid="78" grpId="5" bldLvl="0" animBg="1"/>
      <p:bldP spid="79" grpId="0" bldLvl="0" animBg="1"/>
      <p:bldP spid="79" grpId="1" animBg="1"/>
      <p:bldP spid="79" grpId="2" bldLvl="0" animBg="1"/>
      <p:bldP spid="79" grpId="3" bldLvl="0" animBg="1"/>
      <p:bldP spid="79" grpId="4" bldLvl="0" animBg="1"/>
      <p:bldP spid="79" grpId="5" bldLvl="0" animBg="1"/>
      <p:bldP spid="80" grpId="0"/>
      <p:bldP spid="80" grpId="1"/>
      <p:bldP spid="81" grpId="0" bldLvl="0" animBg="1"/>
      <p:bldP spid="81" grpId="1" animBg="1"/>
      <p:bldP spid="81" grpId="2" bldLvl="0" animBg="1"/>
      <p:bldP spid="81" grpId="3" bldLvl="0" animBg="1"/>
      <p:bldP spid="81" grpId="4" bldLvl="0" animBg="1"/>
      <p:bldP spid="81" grpId="5" bldLvl="0" animBg="1"/>
      <p:bldP spid="82" grpId="0" bldLvl="0" animBg="1"/>
      <p:bldP spid="82" grpId="1" animBg="1"/>
      <p:bldP spid="82" grpId="2" bldLvl="0" animBg="1"/>
      <p:bldP spid="82" grpId="3" bldLvl="0" animBg="1"/>
      <p:bldP spid="82" grpId="4" bldLvl="0" animBg="1"/>
      <p:bldP spid="82" grpId="5" bldLvl="0" animBg="1"/>
      <p:bldP spid="83" grpId="0"/>
      <p:bldP spid="83" grpId="1"/>
      <p:bldP spid="84" grpId="0" bldLvl="0" animBg="1"/>
      <p:bldP spid="84" grpId="1" animBg="1"/>
      <p:bldP spid="84" grpId="2" bldLvl="0" animBg="1"/>
      <p:bldP spid="84" grpId="3" bldLvl="0" animBg="1"/>
      <p:bldP spid="84" grpId="4" bldLvl="0" animBg="1"/>
      <p:bldP spid="84" grpId="5" bldLvl="0" animBg="1"/>
      <p:bldP spid="85" grpId="0" bldLvl="0" animBg="1"/>
      <p:bldP spid="85" grpId="1" animBg="1"/>
      <p:bldP spid="85" grpId="2" bldLvl="0" animBg="1"/>
      <p:bldP spid="85" grpId="3" bldLvl="0" animBg="1"/>
      <p:bldP spid="85" grpId="4" bldLvl="0" animBg="1"/>
      <p:bldP spid="85" grpId="5" bldLvl="0" animBg="1"/>
      <p:bldP spid="86" grpId="0"/>
      <p:bldP spid="86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pic>
        <p:nvPicPr>
          <p:cNvPr id="4" name="图片 -2147482500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585" y="2132965"/>
            <a:ext cx="4276090" cy="186118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圆角矩形 4"/>
          <p:cNvSpPr/>
          <p:nvPr/>
        </p:nvSpPr>
        <p:spPr>
          <a:xfrm>
            <a:off x="2159000" y="42208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89125" y="4542790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404110" y="4542790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97280" y="5046980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89125" y="5046980"/>
            <a:ext cx="241935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931795" y="5046980"/>
            <a:ext cx="175895" cy="259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107690" y="5046980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654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972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44015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62580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52170" y="53314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45945" y="5332095"/>
            <a:ext cx="569595" cy="35687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32075" y="5306695"/>
            <a:ext cx="598805" cy="36893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839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4203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516630" y="533717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161540" y="4211320"/>
            <a:ext cx="501015" cy="331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56908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59410" y="6030595"/>
            <a:ext cx="702310" cy="330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(i-3,j)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115695" y="6030595"/>
            <a:ext cx="855980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(i-2,j-1)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77685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7025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(i-2,j)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15770" y="531114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524760" y="530225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2582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(i,j-2)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99390" y="4174490"/>
            <a:ext cx="1330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抽象成树：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43755" y="5013325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  <p:bldP spid="5" grpId="0" animBg="1"/>
      <p:bldP spid="5" grpId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3" grpId="0" bldLvl="0" animBg="1"/>
      <p:bldP spid="33" grpId="1" animBg="1"/>
      <p:bldP spid="34" grpId="0" bldLvl="0" animBg="1"/>
      <p:bldP spid="34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43" grpId="0"/>
      <p:bldP spid="43" grpId="1"/>
      <p:bldP spid="44" grpId="0"/>
      <p:bldP spid="44" grpId="1"/>
      <p:bldP spid="6" grpId="0"/>
      <p:bldP spid="6" grpId="1"/>
      <p:bldP spid="7" grpId="0"/>
      <p:bldP spid="7" grpId="1"/>
      <p:bldP spid="8" grpId="0"/>
      <p:bldP spid="8" grpId="1"/>
      <p:bldP spid="9" grpId="0"/>
      <p:bldP spid="9" grpId="1"/>
      <p:bldP spid="10" grpId="0"/>
      <p:bldP spid="10" grpId="1"/>
      <p:bldP spid="13" grpId="0"/>
      <p:bldP spid="13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7995" y="2493010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87045" y="3357245"/>
            <a:ext cx="8049260" cy="3765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状态转移方程有两个变量，用二维表表示状态。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2339975" y="2925445"/>
            <a:ext cx="8255" cy="4318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V="1">
            <a:off x="2339975" y="2781300"/>
            <a:ext cx="935990" cy="5759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7" name="表格 16"/>
          <p:cNvGraphicFramePr/>
          <p:nvPr/>
        </p:nvGraphicFramePr>
        <p:xfrm>
          <a:off x="544830" y="4478655"/>
          <a:ext cx="6396990" cy="193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65"/>
                <a:gridCol w="1066165"/>
                <a:gridCol w="1066165"/>
                <a:gridCol w="1066165"/>
                <a:gridCol w="1066165"/>
                <a:gridCol w="1066165"/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五角星 17"/>
          <p:cNvSpPr/>
          <p:nvPr/>
        </p:nvSpPr>
        <p:spPr>
          <a:xfrm>
            <a:off x="899795" y="4471035"/>
            <a:ext cx="360045" cy="360045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06095" y="3954145"/>
            <a:ext cx="507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那么黄色的边界如何初始化？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979930" y="4509135"/>
            <a:ext cx="462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1               1                 1                  1                1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99795" y="494157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4080" y="5328285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99795" y="571500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899795" y="605409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705" y="692785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51460" y="1772920"/>
            <a:ext cx="866902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总结：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①确定状态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用数组当状态表，数组中存放的值的含义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②找到状态转移方程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（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可以通过将问题抽象成树结构，然后可以直观了解子问题与父问题如何转移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③确定边界，然后自底向上迭代。（</a:t>
            </a:r>
            <a:r>
              <a:rPr lang="zh-CN" altLang="en-US">
                <a:solidFill>
                  <a:srgbClr val="FF0000"/>
                </a:solidFill>
              </a:rPr>
              <a:t>类比分治法的递归出口，动态规划需要确定边界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④更新状态（注意顺序自底向上更新），获取结果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有的问题在更新完状态表之后不可能直接获得答案，需要遍历一遍获取答案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95605" y="1818005"/>
            <a:ext cx="86106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627784" y="2924944"/>
          <a:ext cx="3687445" cy="106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67130"/>
                <a:gridCol w="1260475"/>
                <a:gridCol w="1259840"/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物品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重量（</a:t>
                      </a: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kg</a:t>
                      </a: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价值（万元）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3335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相机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2120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扫描仪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笔记本电脑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zh-CN" altLang="en-US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打印机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10776" y="4581262"/>
            <a:ext cx="835292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解题思路：如果用暴力解法如何求解，能否将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背包问题抽象成一棵树？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66929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5.2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动态规划法案例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10845" y="126492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0-1背包问题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284221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2" name="Rectangle 5"/>
          <p:cNvSpPr>
            <a:spLocks noChangeArrowheads="1"/>
          </p:cNvSpPr>
          <p:nvPr/>
        </p:nvSpPr>
        <p:spPr bwMode="auto">
          <a:xfrm>
            <a:off x="2747328" y="3882073"/>
            <a:ext cx="541338" cy="3619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755650" y="5805170"/>
            <a:ext cx="2515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j&lt;w[i]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表明装不下该物品，则不考虑该物品的最大值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3707130" y="5445125"/>
            <a:ext cx="4631055" cy="1971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表明可以装该物品，那么就可以考虑两个情况，①不考虑该物品的价值，②考虑该物品，该物品的价值，加上剩下空间存放之前物品存放的价值。两种情况选择最大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标注 64"/>
          <p:cNvSpPr/>
          <p:nvPr/>
        </p:nvSpPr>
        <p:spPr>
          <a:xfrm>
            <a:off x="327533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2598420" y="205994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7" name="矩形标注 66"/>
          <p:cNvSpPr/>
          <p:nvPr/>
        </p:nvSpPr>
        <p:spPr>
          <a:xfrm>
            <a:off x="385191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86"/>
          <p:cNvSpPr>
            <a:spLocks noChangeArrowheads="1"/>
          </p:cNvSpPr>
          <p:nvPr/>
        </p:nvSpPr>
        <p:spPr bwMode="auto">
          <a:xfrm>
            <a:off x="4473258" y="431958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5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1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4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35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  <p:bldP spid="8" grpId="1" animBg="1"/>
      <p:bldP spid="8" grpId="2" bldLvl="0" animBg="1"/>
      <p:bldP spid="8" grpId="3" bldLvl="0" animBg="1"/>
      <p:bldP spid="8" grpId="4" animBg="1"/>
      <p:bldP spid="142" grpId="0" bldLvl="0" animBg="1"/>
      <p:bldP spid="142" grpId="1" animBg="1"/>
      <p:bldP spid="142" grpId="2" bldLvl="0" animBg="1"/>
      <p:bldP spid="142" grpId="3" bldLvl="0" animBg="1"/>
      <p:bldP spid="142" grpId="4" bldLvl="0" animBg="1"/>
      <p:bldP spid="2" grpId="0"/>
      <p:bldP spid="2" grpId="1"/>
      <p:bldP spid="5" grpId="0"/>
      <p:bldP spid="5" grpId="1"/>
      <p:bldP spid="126" grpId="0"/>
      <p:bldP spid="126" grpId="1"/>
      <p:bldP spid="127" grpId="0"/>
      <p:bldP spid="127" grpId="1"/>
      <p:bldP spid="128" grpId="0"/>
      <p:bldP spid="128" grpId="1"/>
      <p:bldP spid="129" grpId="0"/>
      <p:bldP spid="129" grpId="1"/>
      <p:bldP spid="130" grpId="0"/>
      <p:bldP spid="130" grpId="1"/>
      <p:bldP spid="131" grpId="0"/>
      <p:bldP spid="131" grpId="1"/>
      <p:bldP spid="132" grpId="0"/>
      <p:bldP spid="132" grpId="1"/>
      <p:bldP spid="133" grpId="0"/>
      <p:bldP spid="133" grpId="1"/>
      <p:bldP spid="134" grpId="0"/>
      <p:bldP spid="134" grpId="1"/>
      <p:bldP spid="135" grpId="0"/>
      <p:bldP spid="135" grpId="1"/>
      <p:bldP spid="136" grpId="0"/>
      <p:bldP spid="136" grpId="1"/>
      <p:bldP spid="137" grpId="0"/>
      <p:bldP spid="137" grpId="1"/>
      <p:bldP spid="138" grpId="0"/>
      <p:bldP spid="138" grpId="1"/>
      <p:bldP spid="139" grpId="0"/>
      <p:bldP spid="139" grpId="1"/>
      <p:bldP spid="143" grpId="0"/>
      <p:bldP spid="143" grpId="1"/>
      <p:bldP spid="64" grpId="0"/>
      <p:bldP spid="64" grpId="1"/>
      <p:bldP spid="65" grpId="0" bldLvl="0" animBg="1"/>
      <p:bldP spid="65" grpId="1" animBg="1"/>
      <p:bldP spid="65" grpId="2" animBg="1"/>
      <p:bldP spid="66" grpId="0" bldLvl="0" animBg="1"/>
      <p:bldP spid="66" grpId="1" animBg="1"/>
      <p:bldP spid="66" grpId="2" bldLvl="0" animBg="1"/>
      <p:bldP spid="67" grpId="0" bldLvl="0" animBg="1"/>
      <p:bldP spid="67" grpId="1" animBg="1"/>
      <p:bldP spid="67" grpId="2" bldLvl="0" animBg="1"/>
      <p:bldP spid="68" grpId="0"/>
      <p:bldP spid="68" grpId="1"/>
      <p:bldP spid="9" grpId="0"/>
      <p:bldP spid="9" grpId="1"/>
      <p:bldP spid="10" grpId="0"/>
      <p:bldP spid="10" grpId="1"/>
      <p:bldP spid="63" grpId="0"/>
      <p:bldP spid="63" grpId="1"/>
      <p:bldP spid="69" grpId="0"/>
      <p:bldP spid="69" grpId="1"/>
      <p:bldP spid="70" grpId="0"/>
      <p:bldP spid="70" grpId="1"/>
      <p:bldP spid="71" grpId="0"/>
      <p:bldP spid="71" grpId="1"/>
      <p:bldP spid="72" grpId="0"/>
      <p:bldP spid="72" grpId="1"/>
      <p:bldP spid="73" grpId="0"/>
      <p:bldP spid="73" grpId="1"/>
      <p:bldP spid="76" grpId="0"/>
      <p:bldP spid="76" grpId="1"/>
      <p:bldP spid="77" grpId="0"/>
      <p:bldP spid="77" grpId="1"/>
      <p:bldP spid="78" grpId="0"/>
      <p:bldP spid="78" grpId="1"/>
      <p:bldP spid="79" grpId="0"/>
      <p:bldP spid="79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93746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911091" y="38788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1127125" y="5362575"/>
            <a:ext cx="7047865" cy="2054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，②考虑该物品的价值，加上剩下空间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，能存放的价值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。然后两者选择最大的值。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3676015" y="234696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1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矩形标注 79"/>
          <p:cNvSpPr/>
          <p:nvPr/>
        </p:nvSpPr>
        <p:spPr>
          <a:xfrm>
            <a:off x="5452745" y="249174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84116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2545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65203" y="433038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6065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4787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876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219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6169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9030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4436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8411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2545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65203" y="4692333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6065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4787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876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219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6169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903028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4436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8411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2545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65203" y="50511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6065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47878" y="5051108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87628" y="5051108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bldLvl="0" animBg="1"/>
      <p:bldP spid="81" grpId="1" animBg="1"/>
      <p:bldP spid="81" grpId="2" bldLvl="0" animBg="1"/>
      <p:bldP spid="79" grpId="0" bldLvl="0" animBg="1"/>
      <p:bldP spid="79" grpId="1" animBg="1"/>
      <p:bldP spid="79" grpId="2" bldLvl="0" animBg="1"/>
      <p:bldP spid="2" grpId="1"/>
      <p:bldP spid="5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4" grpId="1"/>
      <p:bldP spid="66" grpId="0" animBg="1"/>
      <p:bldP spid="66" grpId="1" animBg="1"/>
      <p:bldP spid="68" grpId="1"/>
      <p:bldP spid="9" grpId="1"/>
      <p:bldP spid="10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80" grpId="0" bldLvl="0" animBg="1"/>
      <p:bldP spid="80" grpId="1" animBg="1"/>
      <p:bldP spid="82" grpId="0"/>
      <p:bldP spid="82" grpId="1"/>
      <p:bldP spid="83" grpId="0"/>
      <p:bldP spid="83" grpId="1"/>
      <p:bldP spid="84" grpId="0"/>
      <p:bldP spid="84" grpId="1"/>
      <p:bldP spid="85" grpId="0"/>
      <p:bldP spid="85" grpId="1"/>
      <p:bldP spid="86" grpId="0"/>
      <p:bldP spid="86" grpId="1"/>
      <p:bldP spid="89" grpId="0"/>
      <p:bldP spid="89" grpId="1"/>
      <p:bldP spid="90" grpId="0"/>
      <p:bldP spid="90" grpId="1"/>
      <p:bldP spid="91" grpId="0"/>
      <p:bldP spid="91" grpId="1"/>
      <p:bldP spid="92" grpId="0"/>
      <p:bldP spid="92" grpId="1"/>
      <p:bldP spid="102" grpId="0"/>
      <p:bldP spid="102" grpId="1"/>
      <p:bldP spid="115" grpId="0"/>
      <p:bldP spid="115" grpId="1"/>
      <p:bldP spid="140" grpId="0"/>
      <p:bldP spid="140" grpId="1"/>
      <p:bldP spid="141" grpId="0"/>
      <p:bldP spid="141" grpId="1"/>
      <p:bldP spid="144" grpId="0"/>
      <p:bldP spid="144" grpId="1"/>
      <p:bldP spid="145" grpId="0"/>
      <p:bldP spid="145" grpId="1"/>
      <p:bldP spid="146" grpId="0"/>
      <p:bldP spid="146" grpId="1"/>
      <p:bldP spid="147" grpId="0"/>
      <p:bldP spid="147" grpId="1"/>
      <p:bldP spid="148" grpId="0"/>
      <p:bldP spid="148" grpId="1"/>
      <p:bldP spid="149" grpId="0"/>
      <p:bldP spid="149" grpId="1"/>
      <p:bldP spid="150" grpId="0"/>
      <p:bldP spid="150" grpId="1"/>
      <p:bldP spid="151" grpId="0"/>
      <p:bldP spid="151" grpId="1"/>
      <p:bldP spid="152" grpId="0"/>
      <p:bldP spid="152" grpId="1"/>
      <p:bldP spid="153" grpId="0"/>
      <p:bldP spid="153" grpId="1"/>
      <p:bldP spid="154" grpId="0"/>
      <p:bldP spid="154" grpId="1"/>
      <p:bldP spid="155" grpId="0"/>
      <p:bldP spid="155" grpId="1"/>
      <p:bldP spid="156" grpId="0"/>
      <p:bldP spid="156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8" name="文本框 7"/>
          <p:cNvSpPr txBox="1"/>
          <p:nvPr/>
        </p:nvSpPr>
        <p:spPr>
          <a:xfrm>
            <a:off x="179070" y="764540"/>
            <a:ext cx="2254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确定状态转移方程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10485" y="1484630"/>
            <a:ext cx="3404235" cy="499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当前物品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能不能放入背包？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165600" y="1823720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7" name="直接箭头连接符 66"/>
          <p:cNvCxnSpPr/>
          <p:nvPr/>
        </p:nvCxnSpPr>
        <p:spPr>
          <a:xfrm flipH="1">
            <a:off x="3572510" y="1835785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4" name="文本框 93"/>
          <p:cNvSpPr txBox="1"/>
          <p:nvPr/>
        </p:nvSpPr>
        <p:spPr>
          <a:xfrm>
            <a:off x="2258695" y="2529205"/>
            <a:ext cx="1877695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若放不下该物品，则该位置的价值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410710" y="2529205"/>
            <a:ext cx="1884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若放得下该物品，可以考虑选与不选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>
            <a:off x="5274945" y="3354705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7" name="直接箭头连接符 96"/>
          <p:cNvCxnSpPr/>
          <p:nvPr/>
        </p:nvCxnSpPr>
        <p:spPr>
          <a:xfrm flipH="1">
            <a:off x="4681855" y="3366770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8" name="文本框 97"/>
          <p:cNvSpPr txBox="1"/>
          <p:nvPr/>
        </p:nvSpPr>
        <p:spPr>
          <a:xfrm>
            <a:off x="3763010" y="408876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该位置的价值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dp[i-1][j]</a:t>
            </a:r>
            <a:endParaRPr lang="en-US" altLang="zh-CN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238625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5661660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5259070" y="4107180"/>
            <a:ext cx="2051685" cy="1047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加上该物品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价值，剩下空间为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j-w[i]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，也装上更大的价值也就是上一行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dp[i-1][j-w[i]]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5166995" y="4817745"/>
            <a:ext cx="322580" cy="230822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43755" y="616521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选择最大值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50540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不能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473575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不断的更新表格，能够发现更新的状态转移方程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87624" y="2132856"/>
            <a:ext cx="6120679" cy="889964"/>
            <a:chOff x="755576" y="2566065"/>
            <a:chExt cx="6120679" cy="889964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981491" y="213285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235824" y="26484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②式表示如果当前的容量能容下当前的物品，则有两种选择，选择该物品和不选择该物品，此时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选择最大的值作为最优选择。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1187450" y="1484630"/>
            <a:ext cx="7355205" cy="2704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bag0_1(wight:list,value:list,V:int)-&gt;int: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max(dp[i-1][j],dp[i-1][j-wight[i-1]]+value[i-1])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59205" y="1116330"/>
            <a:ext cx="1577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代码实现：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背包问题，解题的流程是怎样的？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3476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首先能够感觉这个问题可以用动态规划，怎么判断呢？该问题求最优解，且整体最优解是所有子问题最优解的组成，其实也就是判断动态规划核心思想符不符合该问题。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）选择数组（或是其他存储结构）能够描述问题状态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）通过状态转移表中不断的转移，找到递推关系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）更新结果，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获取结果（可能会重新遍历状态表）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87624" y="319245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106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种物品有质量和对应的价值。每种物品数量是无限的，背包称重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8" name="直接箭头连接符 7"/>
          <p:cNvCxnSpPr/>
          <p:nvPr/>
        </p:nvCxnSpPr>
        <p:spPr bwMode="auto">
          <a:xfrm>
            <a:off x="2721549" y="2878559"/>
            <a:ext cx="774488" cy="116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云形 8"/>
          <p:cNvSpPr/>
          <p:nvPr/>
        </p:nvSpPr>
        <p:spPr bwMode="auto">
          <a:xfrm>
            <a:off x="1584469" y="2132856"/>
            <a:ext cx="1911567" cy="792088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84470" y="2229108"/>
            <a:ext cx="20597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如何更新值？</a:t>
            </a:r>
            <a:endParaRPr kumimoji="1" lang="zh-CN" altLang="en-US" sz="2200">
              <a:solidFill>
                <a:srgbClr val="080808"/>
              </a:solidFill>
              <a:latin typeface="Times New Roman" panose="02020603050405020304" pitchFamily="18" charset="0"/>
              <a:ea typeface="楷体" panose="02010609060101010101" pitchFamily="49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 bwMode="auto">
          <a:xfrm>
            <a:off x="2721549" y="2878559"/>
            <a:ext cx="774488" cy="15585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接箭头连接符 13"/>
          <p:cNvCxnSpPr/>
          <p:nvPr/>
        </p:nvCxnSpPr>
        <p:spPr bwMode="auto">
          <a:xfrm>
            <a:off x="2721549" y="2878559"/>
            <a:ext cx="2354507" cy="147633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本框 18"/>
          <p:cNvSpPr txBox="1"/>
          <p:nvPr/>
        </p:nvSpPr>
        <p:spPr>
          <a:xfrm>
            <a:off x="1186856" y="5735381"/>
            <a:ext cx="7488832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假设数组名为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，那么完全背包问题如何更新状态表？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不断的更新表格，能够发现更新的递推公式？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13392" y="220665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209" y="2239105"/>
            <a:ext cx="382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380312" y="268222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k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的值是多少就有多少种选择。选择最大的填充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endParaRPr kumimoji="1" lang="en-US" altLang="zh-CN" sz="2200" b="1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14" name="组合 13"/>
          <p:cNvGrpSpPr/>
          <p:nvPr/>
        </p:nvGrpSpPr>
        <p:grpSpPr>
          <a:xfrm>
            <a:off x="1113392" y="91506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195" y="947420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380312" y="139063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1386" y="2085776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这个转移方程很啰嗦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?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能否精简该状态转移方程呢？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5605" y="2708910"/>
            <a:ext cx="7833995" cy="51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(1)  dp[i][j] = max(max(dp[i-1][j-k*w[i]]+k*c[i]),dp[i-1][j])     1&lt;=k&lt;=j/w[i]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140" y="4725035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(3)  dp[i][j] = max(dp[i-1][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-k*w[i]]+k*c[i])    0&lt;=k&lt;=j/w[i]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 = j-w[i]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带入该方程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dp[i][j-w[i]] = max(dp[i-1][j-w[i]-k*w[i]]+k*c[i])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629660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(2)  dp[i][j] = max(max(dp[i-1][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j-w[i]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-k*w[i]]+c[i]+k*c[i]),dp[i-1][j])    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左弧形箭头 6"/>
          <p:cNvSpPr/>
          <p:nvPr/>
        </p:nvSpPr>
        <p:spPr>
          <a:xfrm flipV="1">
            <a:off x="179070" y="4058285"/>
            <a:ext cx="339725" cy="1723390"/>
          </a:xfrm>
          <a:prstGeom prst="curved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右弧形箭头 7"/>
          <p:cNvSpPr/>
          <p:nvPr/>
        </p:nvSpPr>
        <p:spPr>
          <a:xfrm>
            <a:off x="6515735" y="4149090"/>
            <a:ext cx="431800" cy="2183130"/>
          </a:xfrm>
          <a:prstGeom prst="curvedLef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403350" y="6271895"/>
            <a:ext cx="6810375" cy="535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dp[i][j] = max(dp[i][j-w[i]]+c[i],dp[i-1][j])     0&lt;=k&lt;=j/w[i]-1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回顾完全背包问题，发现和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背包问题有一样的解题流程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）选择数组描述状态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）更新状态表，获取结果（可能会重新遍历状态表）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3112770"/>
            <a:ext cx="8139430" cy="26581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Knapsack(wight:list,value:list,V:int)-&gt;int: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189" y="162866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549056" y="162866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803389" y="214427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323215" y="908685"/>
            <a:ext cx="4474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体会动态规划解题的边界问题？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50215" y="1412240"/>
            <a:ext cx="7813040" cy="1361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继续思考币种问题：给你一个整数数组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coins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，表示不同面额的硬币；以及一个整数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amount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，表示总金额。计算并返回可以凑成总金额所需的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最少的硬币个数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。如果没有任何一种硬币组合能组成总金额，返回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-1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。你可以认为每种硬币的数量是无限的。例如：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coins=[1,2,5]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amount=11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824" y="443790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min(dp[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][j-w[i]]+1,dp[i-1][j])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65591" y="443790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660514" y="494144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755887" y="2961665"/>
            <a:ext cx="7779088" cy="1091998"/>
            <a:chOff x="755576" y="2639859"/>
            <a:chExt cx="6120679" cy="1091998"/>
          </a:xfrm>
        </p:grpSpPr>
        <p:sp>
          <p:nvSpPr>
            <p:cNvPr id="7" name="文本框 6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19255" y="3086697"/>
              <a:ext cx="515700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min(dp[i-1][j-k*w[i]]+k,dp[i-1][j])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4377690" y="2994025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022807" y="34372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20" name="下弧形箭头 19"/>
          <p:cNvSpPr/>
          <p:nvPr/>
        </p:nvSpPr>
        <p:spPr>
          <a:xfrm rot="5400000">
            <a:off x="-422275" y="3875405"/>
            <a:ext cx="1892935" cy="544195"/>
          </a:xfrm>
          <a:prstGeom prst="curved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363663" y="2425700"/>
            <a:ext cx="6416675" cy="2006600"/>
            <a:chOff x="859" y="1528"/>
            <a:chExt cx="4042" cy="126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9" y="1528"/>
              <a:ext cx="4042" cy="1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117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148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79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2104" y="1784"/>
              <a:ext cx="309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241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72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03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34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365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396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>
              <a:off x="427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Rectangle 16"/>
            <p:cNvSpPr>
              <a:spLocks noChangeArrowheads="1"/>
            </p:cNvSpPr>
            <p:nvPr/>
          </p:nvSpPr>
          <p:spPr bwMode="auto">
            <a:xfrm>
              <a:off x="458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7"/>
            <p:cNvSpPr>
              <a:spLocks noChangeArrowheads="1"/>
            </p:cNvSpPr>
            <p:nvPr/>
          </p:nvSpPr>
          <p:spPr bwMode="auto">
            <a:xfrm>
              <a:off x="1174" y="202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174" y="226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1174" y="250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20"/>
            <p:cNvSpPr>
              <a:spLocks noChangeShapeType="1"/>
            </p:cNvSpPr>
            <p:nvPr/>
          </p:nvSpPr>
          <p:spPr bwMode="auto">
            <a:xfrm>
              <a:off x="117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21"/>
            <p:cNvSpPr>
              <a:spLocks noChangeShapeType="1"/>
            </p:cNvSpPr>
            <p:nvPr/>
          </p:nvSpPr>
          <p:spPr bwMode="auto">
            <a:xfrm>
              <a:off x="148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2"/>
            <p:cNvSpPr>
              <a:spLocks noChangeShapeType="1"/>
            </p:cNvSpPr>
            <p:nvPr/>
          </p:nvSpPr>
          <p:spPr bwMode="auto">
            <a:xfrm>
              <a:off x="179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3"/>
            <p:cNvSpPr>
              <a:spLocks noChangeShapeType="1"/>
            </p:cNvSpPr>
            <p:nvPr/>
          </p:nvSpPr>
          <p:spPr bwMode="auto">
            <a:xfrm>
              <a:off x="210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4"/>
            <p:cNvSpPr>
              <a:spLocks noChangeShapeType="1"/>
            </p:cNvSpPr>
            <p:nvPr/>
          </p:nvSpPr>
          <p:spPr bwMode="auto">
            <a:xfrm>
              <a:off x="241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272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303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7"/>
            <p:cNvSpPr>
              <a:spLocks noChangeShapeType="1"/>
            </p:cNvSpPr>
            <p:nvPr/>
          </p:nvSpPr>
          <p:spPr bwMode="auto">
            <a:xfrm>
              <a:off x="334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8"/>
            <p:cNvSpPr>
              <a:spLocks noChangeShapeType="1"/>
            </p:cNvSpPr>
            <p:nvPr/>
          </p:nvSpPr>
          <p:spPr bwMode="auto">
            <a:xfrm>
              <a:off x="365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9"/>
            <p:cNvSpPr>
              <a:spLocks noChangeShapeType="1"/>
            </p:cNvSpPr>
            <p:nvPr/>
          </p:nvSpPr>
          <p:spPr bwMode="auto">
            <a:xfrm>
              <a:off x="396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30"/>
            <p:cNvSpPr>
              <a:spLocks noChangeShapeType="1"/>
            </p:cNvSpPr>
            <p:nvPr/>
          </p:nvSpPr>
          <p:spPr bwMode="auto">
            <a:xfrm>
              <a:off x="427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31"/>
            <p:cNvSpPr>
              <a:spLocks noChangeShapeType="1"/>
            </p:cNvSpPr>
            <p:nvPr/>
          </p:nvSpPr>
          <p:spPr bwMode="auto">
            <a:xfrm>
              <a:off x="458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860" y="178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Line 33"/>
            <p:cNvSpPr>
              <a:spLocks noChangeShapeType="1"/>
            </p:cNvSpPr>
            <p:nvPr/>
          </p:nvSpPr>
          <p:spPr bwMode="auto">
            <a:xfrm>
              <a:off x="860" y="202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860" y="226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860" y="250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Line 36"/>
            <p:cNvSpPr>
              <a:spLocks noChangeShapeType="1"/>
            </p:cNvSpPr>
            <p:nvPr/>
          </p:nvSpPr>
          <p:spPr bwMode="auto">
            <a:xfrm>
              <a:off x="86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Line 37"/>
            <p:cNvSpPr>
              <a:spLocks noChangeShapeType="1"/>
            </p:cNvSpPr>
            <p:nvPr/>
          </p:nvSpPr>
          <p:spPr bwMode="auto">
            <a:xfrm>
              <a:off x="489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Line 38"/>
            <p:cNvSpPr>
              <a:spLocks noChangeShapeType="1"/>
            </p:cNvSpPr>
            <p:nvPr/>
          </p:nvSpPr>
          <p:spPr bwMode="auto">
            <a:xfrm>
              <a:off x="860" y="15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860" y="27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Rectangle 40"/>
            <p:cNvSpPr>
              <a:spLocks noChangeArrowheads="1"/>
            </p:cNvSpPr>
            <p:nvPr/>
          </p:nvSpPr>
          <p:spPr bwMode="auto">
            <a:xfrm>
              <a:off x="464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41"/>
            <p:cNvSpPr>
              <a:spLocks noChangeArrowheads="1"/>
            </p:cNvSpPr>
            <p:nvPr/>
          </p:nvSpPr>
          <p:spPr bwMode="auto">
            <a:xfrm>
              <a:off x="433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42"/>
            <p:cNvSpPr>
              <a:spLocks noChangeArrowheads="1"/>
            </p:cNvSpPr>
            <p:nvPr/>
          </p:nvSpPr>
          <p:spPr bwMode="auto">
            <a:xfrm>
              <a:off x="4021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43"/>
            <p:cNvSpPr>
              <a:spLocks noChangeArrowheads="1"/>
            </p:cNvSpPr>
            <p:nvPr/>
          </p:nvSpPr>
          <p:spPr bwMode="auto">
            <a:xfrm>
              <a:off x="371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4"/>
            <p:cNvSpPr>
              <a:spLocks noChangeArrowheads="1"/>
            </p:cNvSpPr>
            <p:nvPr/>
          </p:nvSpPr>
          <p:spPr bwMode="auto">
            <a:xfrm>
              <a:off x="340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5"/>
            <p:cNvSpPr>
              <a:spLocks noChangeArrowheads="1"/>
            </p:cNvSpPr>
            <p:nvPr/>
          </p:nvSpPr>
          <p:spPr bwMode="auto">
            <a:xfrm>
              <a:off x="309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278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247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8"/>
            <p:cNvSpPr>
              <a:spLocks noChangeArrowheads="1"/>
            </p:cNvSpPr>
            <p:nvPr/>
          </p:nvSpPr>
          <p:spPr bwMode="auto">
            <a:xfrm>
              <a:off x="216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9"/>
            <p:cNvSpPr>
              <a:spLocks noChangeArrowheads="1"/>
            </p:cNvSpPr>
            <p:nvPr/>
          </p:nvSpPr>
          <p:spPr bwMode="auto">
            <a:xfrm>
              <a:off x="185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50"/>
            <p:cNvSpPr>
              <a:spLocks noChangeArrowheads="1"/>
            </p:cNvSpPr>
            <p:nvPr/>
          </p:nvSpPr>
          <p:spPr bwMode="auto">
            <a:xfrm>
              <a:off x="154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51"/>
            <p:cNvSpPr>
              <a:spLocks noChangeArrowheads="1"/>
            </p:cNvSpPr>
            <p:nvPr/>
          </p:nvSpPr>
          <p:spPr bwMode="auto">
            <a:xfrm>
              <a:off x="123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6" name="Rectangle 64"/>
            <p:cNvSpPr>
              <a:spLocks noChangeArrowheads="1"/>
            </p:cNvSpPr>
            <p:nvPr/>
          </p:nvSpPr>
          <p:spPr bwMode="auto">
            <a:xfrm>
              <a:off x="922" y="182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Rectangle 66"/>
            <p:cNvSpPr>
              <a:spLocks noChangeArrowheads="1"/>
            </p:cNvSpPr>
            <p:nvPr/>
          </p:nvSpPr>
          <p:spPr bwMode="auto">
            <a:xfrm>
              <a:off x="922" y="206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0" name="Rectangle 68"/>
            <p:cNvSpPr>
              <a:spLocks noChangeArrowheads="1"/>
            </p:cNvSpPr>
            <p:nvPr/>
          </p:nvSpPr>
          <p:spPr bwMode="auto">
            <a:xfrm>
              <a:off x="922" y="230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2" name="Rectangle 70"/>
            <p:cNvSpPr>
              <a:spLocks noChangeArrowheads="1"/>
            </p:cNvSpPr>
            <p:nvPr/>
          </p:nvSpPr>
          <p:spPr bwMode="auto">
            <a:xfrm>
              <a:off x="922" y="2543"/>
              <a:ext cx="136" cy="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52"/>
          <p:cNvSpPr>
            <a:spLocks noChangeArrowheads="1"/>
          </p:cNvSpPr>
          <p:nvPr/>
        </p:nvSpPr>
        <p:spPr bwMode="auto">
          <a:xfrm>
            <a:off x="73675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53"/>
          <p:cNvSpPr>
            <a:spLocks noChangeArrowheads="1"/>
          </p:cNvSpPr>
          <p:nvPr/>
        </p:nvSpPr>
        <p:spPr bwMode="auto">
          <a:xfrm>
            <a:off x="68754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54"/>
          <p:cNvSpPr>
            <a:spLocks noChangeArrowheads="1"/>
          </p:cNvSpPr>
          <p:nvPr/>
        </p:nvSpPr>
        <p:spPr bwMode="auto">
          <a:xfrm>
            <a:off x="63833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55"/>
          <p:cNvSpPr>
            <a:spLocks noChangeArrowheads="1"/>
          </p:cNvSpPr>
          <p:nvPr/>
        </p:nvSpPr>
        <p:spPr bwMode="auto">
          <a:xfrm>
            <a:off x="58912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56"/>
          <p:cNvSpPr>
            <a:spLocks noChangeArrowheads="1"/>
          </p:cNvSpPr>
          <p:nvPr/>
        </p:nvSpPr>
        <p:spPr bwMode="auto">
          <a:xfrm>
            <a:off x="53990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57"/>
          <p:cNvSpPr>
            <a:spLocks noChangeArrowheads="1"/>
          </p:cNvSpPr>
          <p:nvPr/>
        </p:nvSpPr>
        <p:spPr bwMode="auto">
          <a:xfrm>
            <a:off x="49069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58"/>
          <p:cNvSpPr>
            <a:spLocks noChangeArrowheads="1"/>
          </p:cNvSpPr>
          <p:nvPr/>
        </p:nvSpPr>
        <p:spPr bwMode="auto">
          <a:xfrm>
            <a:off x="44148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59"/>
          <p:cNvSpPr>
            <a:spLocks noChangeArrowheads="1"/>
          </p:cNvSpPr>
          <p:nvPr/>
        </p:nvSpPr>
        <p:spPr bwMode="auto">
          <a:xfrm>
            <a:off x="39227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60"/>
          <p:cNvSpPr>
            <a:spLocks noChangeArrowheads="1"/>
          </p:cNvSpPr>
          <p:nvPr/>
        </p:nvSpPr>
        <p:spPr bwMode="auto">
          <a:xfrm>
            <a:off x="343217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61"/>
          <p:cNvSpPr>
            <a:spLocks noChangeArrowheads="1"/>
          </p:cNvSpPr>
          <p:nvPr/>
        </p:nvSpPr>
        <p:spPr bwMode="auto">
          <a:xfrm>
            <a:off x="2940051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62"/>
          <p:cNvSpPr>
            <a:spLocks noChangeArrowheads="1"/>
          </p:cNvSpPr>
          <p:nvPr/>
        </p:nvSpPr>
        <p:spPr bwMode="auto">
          <a:xfrm>
            <a:off x="244792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63"/>
          <p:cNvSpPr>
            <a:spLocks noChangeArrowheads="1"/>
          </p:cNvSpPr>
          <p:nvPr/>
        </p:nvSpPr>
        <p:spPr bwMode="auto">
          <a:xfrm>
            <a:off x="1955800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52"/>
          <p:cNvSpPr>
            <a:spLocks noChangeArrowheads="1"/>
          </p:cNvSpPr>
          <p:nvPr/>
        </p:nvSpPr>
        <p:spPr bwMode="auto">
          <a:xfrm>
            <a:off x="74450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5" name="Rectangle 53"/>
          <p:cNvSpPr>
            <a:spLocks noChangeArrowheads="1"/>
          </p:cNvSpPr>
          <p:nvPr/>
        </p:nvSpPr>
        <p:spPr bwMode="auto">
          <a:xfrm>
            <a:off x="69529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6" name="Rectangle 54"/>
          <p:cNvSpPr>
            <a:spLocks noChangeArrowheads="1"/>
          </p:cNvSpPr>
          <p:nvPr/>
        </p:nvSpPr>
        <p:spPr bwMode="auto">
          <a:xfrm>
            <a:off x="64608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7" name="Rectangle 55"/>
          <p:cNvSpPr>
            <a:spLocks noChangeArrowheads="1"/>
          </p:cNvSpPr>
          <p:nvPr/>
        </p:nvSpPr>
        <p:spPr bwMode="auto">
          <a:xfrm>
            <a:off x="59686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8" name="Rectangle 56"/>
          <p:cNvSpPr>
            <a:spLocks noChangeArrowheads="1"/>
          </p:cNvSpPr>
          <p:nvPr/>
        </p:nvSpPr>
        <p:spPr bwMode="auto">
          <a:xfrm>
            <a:off x="54765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9" name="Rectangle 57"/>
          <p:cNvSpPr>
            <a:spLocks noChangeArrowheads="1"/>
          </p:cNvSpPr>
          <p:nvPr/>
        </p:nvSpPr>
        <p:spPr bwMode="auto">
          <a:xfrm>
            <a:off x="49844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0" name="Rectangle 58"/>
          <p:cNvSpPr>
            <a:spLocks noChangeArrowheads="1"/>
          </p:cNvSpPr>
          <p:nvPr/>
        </p:nvSpPr>
        <p:spPr bwMode="auto">
          <a:xfrm>
            <a:off x="44923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1" name="Rectangle 59"/>
          <p:cNvSpPr>
            <a:spLocks noChangeArrowheads="1"/>
          </p:cNvSpPr>
          <p:nvPr/>
        </p:nvSpPr>
        <p:spPr bwMode="auto">
          <a:xfrm>
            <a:off x="40001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2" name="Rectangle 60"/>
          <p:cNvSpPr>
            <a:spLocks noChangeArrowheads="1"/>
          </p:cNvSpPr>
          <p:nvPr/>
        </p:nvSpPr>
        <p:spPr bwMode="auto">
          <a:xfrm>
            <a:off x="350964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3" name="Rectangle 61"/>
          <p:cNvSpPr>
            <a:spLocks noChangeArrowheads="1"/>
          </p:cNvSpPr>
          <p:nvPr/>
        </p:nvSpPr>
        <p:spPr bwMode="auto">
          <a:xfrm>
            <a:off x="3017521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Rectangle 62"/>
          <p:cNvSpPr>
            <a:spLocks noChangeArrowheads="1"/>
          </p:cNvSpPr>
          <p:nvPr/>
        </p:nvSpPr>
        <p:spPr bwMode="auto">
          <a:xfrm>
            <a:off x="252539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5" name="Rectangle 63"/>
          <p:cNvSpPr>
            <a:spLocks noChangeArrowheads="1"/>
          </p:cNvSpPr>
          <p:nvPr/>
        </p:nvSpPr>
        <p:spPr bwMode="auto">
          <a:xfrm>
            <a:off x="2033270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6" name="文本框 95"/>
          <p:cNvSpPr txBox="1"/>
          <p:nvPr/>
        </p:nvSpPr>
        <p:spPr>
          <a:xfrm>
            <a:off x="2030210" y="4958538"/>
            <a:ext cx="484629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j&gt;=w[i]          min(dp[</a:t>
            </a:r>
            <a:r>
              <a:rPr lang="en-US" altLang="zh-CN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][j-w[i]]+1,dp[i-1][j])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Rectangle 65"/>
          <p:cNvSpPr>
            <a:spLocks noChangeArrowheads="1"/>
          </p:cNvSpPr>
          <p:nvPr/>
        </p:nvSpPr>
        <p:spPr bwMode="auto">
          <a:xfrm>
            <a:off x="1955800" y="3275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8" name="Rectangle 67"/>
          <p:cNvSpPr>
            <a:spLocks noChangeArrowheads="1"/>
          </p:cNvSpPr>
          <p:nvPr/>
        </p:nvSpPr>
        <p:spPr bwMode="auto">
          <a:xfrm>
            <a:off x="1955800" y="3656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69"/>
          <p:cNvSpPr>
            <a:spLocks noChangeArrowheads="1"/>
          </p:cNvSpPr>
          <p:nvPr/>
        </p:nvSpPr>
        <p:spPr bwMode="auto">
          <a:xfrm>
            <a:off x="1955800" y="4037013"/>
            <a:ext cx="21590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0" name="Rectangle 65"/>
          <p:cNvSpPr>
            <a:spLocks noChangeArrowheads="1"/>
          </p:cNvSpPr>
          <p:nvPr/>
        </p:nvSpPr>
        <p:spPr bwMode="auto">
          <a:xfrm>
            <a:off x="1955165" y="3275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Rectangle 67"/>
          <p:cNvSpPr>
            <a:spLocks noChangeArrowheads="1"/>
          </p:cNvSpPr>
          <p:nvPr/>
        </p:nvSpPr>
        <p:spPr bwMode="auto">
          <a:xfrm>
            <a:off x="1955165" y="3656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69"/>
          <p:cNvSpPr>
            <a:spLocks noChangeArrowheads="1"/>
          </p:cNvSpPr>
          <p:nvPr/>
        </p:nvSpPr>
        <p:spPr bwMode="auto">
          <a:xfrm>
            <a:off x="1955165" y="4037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4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73" grpId="0"/>
      <p:bldP spid="73" grpId="1"/>
      <p:bldP spid="74" grpId="0"/>
      <p:bldP spid="74" grpId="1"/>
      <p:bldP spid="75" grpId="0"/>
      <p:bldP spid="75" grpId="1"/>
      <p:bldP spid="76" grpId="0"/>
      <p:bldP spid="76" grpId="1"/>
      <p:bldP spid="77" grpId="0"/>
      <p:bldP spid="77" grpId="1"/>
      <p:bldP spid="78" grpId="0"/>
      <p:bldP spid="78" grpId="1"/>
      <p:bldP spid="79" grpId="0"/>
      <p:bldP spid="79" grpId="1"/>
      <p:bldP spid="80" grpId="0"/>
      <p:bldP spid="80" grpId="1"/>
      <p:bldP spid="81" grpId="0"/>
      <p:bldP spid="81" grpId="1"/>
      <p:bldP spid="82" grpId="0"/>
      <p:bldP spid="82" grpId="1"/>
      <p:bldP spid="83" grpId="0"/>
      <p:bldP spid="83" grpId="1"/>
      <p:bldP spid="84" grpId="0"/>
      <p:bldP spid="84" grpId="1"/>
      <p:bldP spid="84" grpId="2"/>
      <p:bldP spid="85" grpId="0"/>
      <p:bldP spid="85" grpId="1"/>
      <p:bldP spid="85" grpId="2"/>
      <p:bldP spid="86" grpId="0"/>
      <p:bldP spid="86" grpId="1"/>
      <p:bldP spid="86" grpId="2"/>
      <p:bldP spid="87" grpId="0"/>
      <p:bldP spid="87" grpId="1"/>
      <p:bldP spid="87" grpId="2"/>
      <p:bldP spid="88" grpId="0"/>
      <p:bldP spid="88" grpId="1"/>
      <p:bldP spid="88" grpId="2"/>
      <p:bldP spid="89" grpId="0"/>
      <p:bldP spid="89" grpId="1"/>
      <p:bldP spid="89" grpId="2"/>
      <p:bldP spid="90" grpId="0"/>
      <p:bldP spid="90" grpId="1"/>
      <p:bldP spid="90" grpId="2"/>
      <p:bldP spid="91" grpId="0"/>
      <p:bldP spid="91" grpId="1"/>
      <p:bldP spid="91" grpId="2"/>
      <p:bldP spid="92" grpId="0"/>
      <p:bldP spid="92" grpId="1"/>
      <p:bldP spid="92" grpId="2"/>
      <p:bldP spid="93" grpId="0"/>
      <p:bldP spid="93" grpId="1"/>
      <p:bldP spid="93" grpId="2"/>
      <p:bldP spid="94" grpId="0"/>
      <p:bldP spid="94" grpId="1"/>
      <p:bldP spid="94" grpId="2"/>
      <p:bldP spid="95" grpId="0"/>
      <p:bldP spid="95" grpId="1"/>
      <p:bldP spid="95" grpId="2"/>
      <p:bldP spid="96" grpId="0"/>
      <p:bldP spid="97" grpId="0"/>
      <p:bldP spid="97" grpId="1"/>
      <p:bldP spid="97" grpId="2"/>
      <p:bldP spid="98" grpId="0"/>
      <p:bldP spid="98" grpId="1"/>
      <p:bldP spid="98" grpId="2"/>
      <p:bldP spid="99" grpId="0"/>
      <p:bldP spid="99" grpId="1"/>
      <p:bldP spid="99" grpId="2"/>
      <p:bldP spid="100" grpId="0"/>
      <p:bldP spid="100" grpId="1"/>
      <p:bldP spid="100" grpId="2"/>
      <p:bldP spid="101" grpId="0"/>
      <p:bldP spid="101" grpId="1"/>
      <p:bldP spid="101" grpId="2"/>
      <p:bldP spid="102" grpId="0"/>
      <p:bldP spid="102" grpId="1"/>
      <p:bldP spid="102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259840" y="2060575"/>
            <a:ext cx="66014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coinChange(coins: list, amount: int) -&gt; 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n = len(coins)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dparr = [[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amount+1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for _ in range(amount+1)] for _ in range(n+1)]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dparr[i][0] = 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print(dparr)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range(1,amount+1):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j&lt;coins[i-1]: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dparr[i-1][j]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min(dparr[i-1][j],dparr[i][j-coins[i-1]]+1)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-1 if dparr[-1][-1] == amount+1 else dparr[-1][-1]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兑换硬币问题代码实现：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如何将利用动态规划解决该问题？</a:t>
            </a:r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971550" y="3717290"/>
            <a:ext cx="749808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maxSubArray(nums: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current_max = [0] * len(nums)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current_max[0]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current_max[i] = max(nums[i],current_max[i-1]+nums[i])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max(current_max)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可以直接用两个变量，省略一个数组。</a:t>
            </a:r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99795" y="3526155"/>
            <a:ext cx="6981190" cy="24320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class Solution: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def maxSubArray(self, 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global_max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current_max = max(nums[i],current_max+nums[i])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global_max = max(global_max,current_max)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return global_max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9795" y="616521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那么背包问题是否可以把数组空间压缩呢？</a:t>
            </a:r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82316" y="27993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899661" y="279622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103948" y="2060258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8" name="Rectangle 57"/>
          <p:cNvSpPr>
            <a:spLocks noChangeArrowheads="1"/>
          </p:cNvSpPr>
          <p:nvPr/>
        </p:nvSpPr>
        <p:spPr bwMode="auto">
          <a:xfrm>
            <a:off x="226917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" name="Rectangle 58"/>
          <p:cNvSpPr>
            <a:spLocks noChangeArrowheads="1"/>
          </p:cNvSpPr>
          <p:nvPr/>
        </p:nvSpPr>
        <p:spPr bwMode="auto">
          <a:xfrm>
            <a:off x="28105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5026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8915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3293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7268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1402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53773" y="252222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5951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3644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761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6917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6917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6917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6917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105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5026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3"/>
          <p:cNvSpPr>
            <a:spLocks noChangeArrowheads="1"/>
          </p:cNvSpPr>
          <p:nvPr/>
        </p:nvSpPr>
        <p:spPr bwMode="auto">
          <a:xfrm>
            <a:off x="38915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4"/>
          <p:cNvSpPr>
            <a:spLocks noChangeArrowheads="1"/>
          </p:cNvSpPr>
          <p:nvPr/>
        </p:nvSpPr>
        <p:spPr bwMode="auto">
          <a:xfrm>
            <a:off x="443293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7268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1402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53773" y="288417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5951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3644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761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105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5026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8915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72686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1402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53773" y="32477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5951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3644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761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105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5026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8915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3293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7268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1402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53773" y="3609658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5951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3644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761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105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5026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891598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3293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7268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1402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53773" y="396843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5951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36448" y="3968433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76198" y="3968433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115869" y="4724926"/>
            <a:ext cx="6120679" cy="889964"/>
            <a:chOff x="755576" y="2566065"/>
            <a:chExt cx="6120679" cy="889964"/>
          </a:xfrm>
        </p:grpSpPr>
        <p:sp>
          <p:nvSpPr>
            <p:cNvPr id="16" name="文本框 1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96" name="直接箭头连接符 95"/>
          <p:cNvCxnSpPr>
            <a:endCxn id="71" idx="2"/>
          </p:cNvCxnSpPr>
          <p:nvPr/>
        </p:nvCxnSpPr>
        <p:spPr>
          <a:xfrm flipH="1" flipV="1">
            <a:off x="6680835" y="315277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89925" y="270891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04439" y="472556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animBg="1"/>
      <p:bldP spid="79" grpId="1" animBg="1"/>
      <p:bldP spid="8" grpId="1"/>
      <p:bldP spid="9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8" grpId="1"/>
      <p:bldP spid="10" grpId="1"/>
      <p:bldP spid="12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78" grpId="1"/>
      <p:bldP spid="82" grpId="1"/>
      <p:bldP spid="83" grpId="1"/>
      <p:bldP spid="84" grpId="1"/>
      <p:bldP spid="85" grpId="1"/>
      <p:bldP spid="86" grpId="1"/>
      <p:bldP spid="89" grpId="1"/>
      <p:bldP spid="90" grpId="1"/>
      <p:bldP spid="91" grpId="1"/>
      <p:bldP spid="92" grpId="1"/>
      <p:bldP spid="102" grpId="1"/>
      <p:bldP spid="115" grpId="1"/>
      <p:bldP spid="140" grpId="1"/>
      <p:bldP spid="141" grpId="1"/>
      <p:bldP spid="144" grpId="1"/>
      <p:bldP spid="145" grpId="1"/>
      <p:bldP spid="146" grpId="1"/>
      <p:bldP spid="147" grpId="1"/>
      <p:bldP spid="148" grpId="1"/>
      <p:bldP spid="149" grpId="1"/>
      <p:bldP spid="150" grpId="1"/>
      <p:bldP spid="151" grpId="1"/>
      <p:bldP spid="152" grpId="1"/>
      <p:bldP spid="153" grpId="1"/>
      <p:bldP spid="154" grpId="1"/>
      <p:bldP spid="155" grpId="1"/>
      <p:bldP spid="156" grpId="1"/>
      <p:bldP spid="94" grpId="0"/>
      <p:bldP spid="94" grpId="1"/>
      <p:bldP spid="94" grpId="2"/>
      <p:bldP spid="95" grpId="0"/>
      <p:bldP spid="95" grpId="1"/>
      <p:bldP spid="95" grpId="2"/>
      <p:bldP spid="97" grpId="0"/>
      <p:bldP spid="9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87624" y="479668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cxnSp>
        <p:nvCxnSpPr>
          <p:cNvPr id="197" name="直接箭头连接符 196"/>
          <p:cNvCxnSpPr/>
          <p:nvPr/>
        </p:nvCxnSpPr>
        <p:spPr>
          <a:xfrm flipH="1" flipV="1">
            <a:off x="6142990" y="214439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8" name="文本框 197"/>
          <p:cNvSpPr txBox="1"/>
          <p:nvPr/>
        </p:nvSpPr>
        <p:spPr>
          <a:xfrm>
            <a:off x="7752080" y="170053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314450" y="2363788"/>
            <a:ext cx="6515100" cy="847725"/>
            <a:chOff x="828" y="1893"/>
            <a:chExt cx="4104" cy="53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28" y="1893"/>
              <a:ext cx="4104" cy="5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4262" y="2139"/>
              <a:ext cx="31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4573" y="2139"/>
              <a:ext cx="35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Line 7"/>
            <p:cNvSpPr>
              <a:spLocks noChangeShapeType="1"/>
            </p:cNvSpPr>
            <p:nvPr/>
          </p:nvSpPr>
          <p:spPr bwMode="auto">
            <a:xfrm>
              <a:off x="1144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45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9"/>
            <p:cNvSpPr>
              <a:spLocks noChangeShapeType="1"/>
            </p:cNvSpPr>
            <p:nvPr/>
          </p:nvSpPr>
          <p:spPr bwMode="auto">
            <a:xfrm>
              <a:off x="176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Line 10"/>
            <p:cNvSpPr>
              <a:spLocks noChangeShapeType="1"/>
            </p:cNvSpPr>
            <p:nvPr/>
          </p:nvSpPr>
          <p:spPr bwMode="auto">
            <a:xfrm>
              <a:off x="2079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>
              <a:off x="2391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2"/>
            <p:cNvSpPr>
              <a:spLocks noChangeShapeType="1"/>
            </p:cNvSpPr>
            <p:nvPr/>
          </p:nvSpPr>
          <p:spPr bwMode="auto">
            <a:xfrm>
              <a:off x="270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3015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4"/>
            <p:cNvSpPr>
              <a:spLocks noChangeShapeType="1"/>
            </p:cNvSpPr>
            <p:nvPr/>
          </p:nvSpPr>
          <p:spPr bwMode="auto">
            <a:xfrm>
              <a:off x="332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>
              <a:off x="363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6"/>
            <p:cNvSpPr>
              <a:spLocks noChangeShapeType="1"/>
            </p:cNvSpPr>
            <p:nvPr/>
          </p:nvSpPr>
          <p:spPr bwMode="auto">
            <a:xfrm>
              <a:off x="3950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7"/>
            <p:cNvSpPr>
              <a:spLocks noChangeShapeType="1"/>
            </p:cNvSpPr>
            <p:nvPr/>
          </p:nvSpPr>
          <p:spPr bwMode="auto">
            <a:xfrm>
              <a:off x="426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57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828" y="213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0"/>
            <p:cNvSpPr>
              <a:spLocks noChangeShapeType="1"/>
            </p:cNvSpPr>
            <p:nvPr/>
          </p:nvSpPr>
          <p:spPr bwMode="auto">
            <a:xfrm>
              <a:off x="83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4924" y="1905"/>
              <a:ext cx="0" cy="47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828" y="1908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828" y="237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Rectangle 24"/>
            <p:cNvSpPr>
              <a:spLocks noChangeArrowheads="1"/>
            </p:cNvSpPr>
            <p:nvPr/>
          </p:nvSpPr>
          <p:spPr bwMode="auto">
            <a:xfrm>
              <a:off x="4631" y="1943"/>
              <a:ext cx="29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5"/>
            <p:cNvSpPr>
              <a:spLocks noChangeArrowheads="1"/>
            </p:cNvSpPr>
            <p:nvPr/>
          </p:nvSpPr>
          <p:spPr bwMode="auto">
            <a:xfrm>
              <a:off x="4320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0" name="Rectangle 26"/>
            <p:cNvSpPr>
              <a:spLocks noChangeArrowheads="1"/>
            </p:cNvSpPr>
            <p:nvPr/>
          </p:nvSpPr>
          <p:spPr bwMode="auto">
            <a:xfrm>
              <a:off x="4008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1" name="Rectangle 27"/>
            <p:cNvSpPr>
              <a:spLocks noChangeArrowheads="1"/>
            </p:cNvSpPr>
            <p:nvPr/>
          </p:nvSpPr>
          <p:spPr bwMode="auto">
            <a:xfrm>
              <a:off x="369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384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3" name="Rectangle 29"/>
            <p:cNvSpPr>
              <a:spLocks noChangeArrowheads="1"/>
            </p:cNvSpPr>
            <p:nvPr/>
          </p:nvSpPr>
          <p:spPr bwMode="auto">
            <a:xfrm>
              <a:off x="3073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4" name="Rectangle 30"/>
            <p:cNvSpPr>
              <a:spLocks noChangeArrowheads="1"/>
            </p:cNvSpPr>
            <p:nvPr/>
          </p:nvSpPr>
          <p:spPr bwMode="auto">
            <a:xfrm>
              <a:off x="2761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5" name="Rectangle 31"/>
            <p:cNvSpPr>
              <a:spLocks noChangeArrowheads="1"/>
            </p:cNvSpPr>
            <p:nvPr/>
          </p:nvSpPr>
          <p:spPr bwMode="auto">
            <a:xfrm>
              <a:off x="2449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2"/>
            <p:cNvSpPr>
              <a:spLocks noChangeArrowheads="1"/>
            </p:cNvSpPr>
            <p:nvPr/>
          </p:nvSpPr>
          <p:spPr bwMode="auto">
            <a:xfrm>
              <a:off x="2137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3"/>
            <p:cNvSpPr>
              <a:spLocks noChangeArrowheads="1"/>
            </p:cNvSpPr>
            <p:nvPr/>
          </p:nvSpPr>
          <p:spPr bwMode="auto">
            <a:xfrm>
              <a:off x="182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4"/>
            <p:cNvSpPr>
              <a:spLocks noChangeArrowheads="1"/>
            </p:cNvSpPr>
            <p:nvPr/>
          </p:nvSpPr>
          <p:spPr bwMode="auto">
            <a:xfrm>
              <a:off x="1514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5"/>
            <p:cNvSpPr>
              <a:spLocks noChangeArrowheads="1"/>
            </p:cNvSpPr>
            <p:nvPr/>
          </p:nvSpPr>
          <p:spPr bwMode="auto">
            <a:xfrm>
              <a:off x="1202" y="1946"/>
              <a:ext cx="126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6"/>
            <p:cNvSpPr>
              <a:spLocks noChangeArrowheads="1"/>
            </p:cNvSpPr>
            <p:nvPr/>
          </p:nvSpPr>
          <p:spPr bwMode="auto">
            <a:xfrm>
              <a:off x="1267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7"/>
            <p:cNvSpPr>
              <a:spLocks noChangeArrowheads="1"/>
            </p:cNvSpPr>
            <p:nvPr/>
          </p:nvSpPr>
          <p:spPr bwMode="auto">
            <a:xfrm>
              <a:off x="890" y="1946"/>
              <a:ext cx="168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8"/>
            <p:cNvSpPr>
              <a:spLocks noChangeArrowheads="1"/>
            </p:cNvSpPr>
            <p:nvPr/>
          </p:nvSpPr>
          <p:spPr bwMode="auto">
            <a:xfrm>
              <a:off x="996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1826" y="2178"/>
              <a:ext cx="129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9"/>
            <p:cNvSpPr>
              <a:spLocks noChangeArrowheads="1"/>
            </p:cNvSpPr>
            <p:nvPr/>
          </p:nvSpPr>
          <p:spPr bwMode="auto">
            <a:xfrm>
              <a:off x="1514" y="2178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39750" y="2778125"/>
            <a:ext cx="488950" cy="312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3636010" y="141224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8" name="Rectangle 50"/>
          <p:cNvSpPr>
            <a:spLocks noChangeArrowheads="1"/>
          </p:cNvSpPr>
          <p:nvPr/>
        </p:nvSpPr>
        <p:spPr bwMode="auto">
          <a:xfrm>
            <a:off x="19081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1"/>
          <p:cNvSpPr>
            <a:spLocks noChangeArrowheads="1"/>
          </p:cNvSpPr>
          <p:nvPr/>
        </p:nvSpPr>
        <p:spPr bwMode="auto">
          <a:xfrm>
            <a:off x="14128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2" name="Rectangle 50"/>
          <p:cNvSpPr>
            <a:spLocks noChangeArrowheads="1"/>
          </p:cNvSpPr>
          <p:nvPr/>
        </p:nvSpPr>
        <p:spPr bwMode="auto">
          <a:xfrm>
            <a:off x="19081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3" name="Rectangle 51"/>
          <p:cNvSpPr>
            <a:spLocks noChangeArrowheads="1"/>
          </p:cNvSpPr>
          <p:nvPr/>
        </p:nvSpPr>
        <p:spPr bwMode="auto">
          <a:xfrm>
            <a:off x="14128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6" name="左大括号 65"/>
          <p:cNvSpPr/>
          <p:nvPr/>
        </p:nvSpPr>
        <p:spPr>
          <a:xfrm rot="5400000">
            <a:off x="7430135" y="2779395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6732270" y="3427730"/>
            <a:ext cx="1604010" cy="356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/>
              <a:t>不</a:t>
            </a:r>
            <a:r>
              <a:rPr lang="zh-CN" altLang="en-US" sz="1200">
                <a:sym typeface="+mn-ea"/>
              </a:rPr>
              <a:t>选：</a:t>
            </a:r>
            <a:r>
              <a:rPr lang="en-US" altLang="zh-CN" sz="1200">
                <a:sym typeface="+mn-ea"/>
              </a:rPr>
              <a:t>              </a:t>
            </a:r>
            <a:r>
              <a:rPr lang="zh-CN" altLang="en-US" sz="1200">
                <a:sym typeface="+mn-ea"/>
              </a:rPr>
              <a:t>选：</a:t>
            </a:r>
            <a:endParaRPr lang="en-US" altLang="zh-CN" sz="1200">
              <a:sym typeface="+mn-ea"/>
            </a:endParaRPr>
          </a:p>
        </p:txBody>
      </p:sp>
      <p:sp>
        <p:nvSpPr>
          <p:cNvPr id="69" name="Rectangle 39"/>
          <p:cNvSpPr>
            <a:spLocks noChangeArrowheads="1"/>
          </p:cNvSpPr>
          <p:nvPr/>
        </p:nvSpPr>
        <p:spPr bwMode="auto">
          <a:xfrm>
            <a:off x="7351713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8020050" y="3374390"/>
            <a:ext cx="8439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宋体" panose="02010600030101010101" pitchFamily="2" charset="-122"/>
              </a:rPr>
              <a:t>1+</a:t>
            </a:r>
            <a:endParaRPr lang="en-US" altLang="zh-CN">
              <a:latin typeface="宋体" panose="02010600030101010101" pitchFamily="2" charset="-122"/>
            </a:endParaRPr>
          </a:p>
        </p:txBody>
      </p:sp>
      <p:sp>
        <p:nvSpPr>
          <p:cNvPr id="76" name="Rectangle 42"/>
          <p:cNvSpPr>
            <a:spLocks noChangeArrowheads="1"/>
          </p:cNvSpPr>
          <p:nvPr/>
        </p:nvSpPr>
        <p:spPr bwMode="auto">
          <a:xfrm>
            <a:off x="7379970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8" name="Rectangle 44"/>
          <p:cNvSpPr>
            <a:spLocks noChangeArrowheads="1"/>
          </p:cNvSpPr>
          <p:nvPr/>
        </p:nvSpPr>
        <p:spPr bwMode="auto">
          <a:xfrm>
            <a:off x="4878388" y="2816226"/>
            <a:ext cx="204788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45"/>
          <p:cNvSpPr>
            <a:spLocks noChangeArrowheads="1"/>
          </p:cNvSpPr>
          <p:nvPr/>
        </p:nvSpPr>
        <p:spPr bwMode="auto">
          <a:xfrm>
            <a:off x="43830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46"/>
          <p:cNvSpPr>
            <a:spLocks noChangeArrowheads="1"/>
          </p:cNvSpPr>
          <p:nvPr/>
        </p:nvSpPr>
        <p:spPr bwMode="auto">
          <a:xfrm>
            <a:off x="38877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47"/>
          <p:cNvSpPr>
            <a:spLocks noChangeArrowheads="1"/>
          </p:cNvSpPr>
          <p:nvPr/>
        </p:nvSpPr>
        <p:spPr bwMode="auto">
          <a:xfrm>
            <a:off x="33924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43"/>
          <p:cNvSpPr>
            <a:spLocks noChangeArrowheads="1"/>
          </p:cNvSpPr>
          <p:nvPr/>
        </p:nvSpPr>
        <p:spPr bwMode="auto">
          <a:xfrm>
            <a:off x="543877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3" name="Rectangle 44"/>
          <p:cNvSpPr>
            <a:spLocks noChangeArrowheads="1"/>
          </p:cNvSpPr>
          <p:nvPr/>
        </p:nvSpPr>
        <p:spPr bwMode="auto">
          <a:xfrm>
            <a:off x="487902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4" name="Rectangle 45"/>
          <p:cNvSpPr>
            <a:spLocks noChangeArrowheads="1"/>
          </p:cNvSpPr>
          <p:nvPr/>
        </p:nvSpPr>
        <p:spPr bwMode="auto">
          <a:xfrm>
            <a:off x="438372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5" name="Rectangle 46"/>
          <p:cNvSpPr>
            <a:spLocks noChangeArrowheads="1"/>
          </p:cNvSpPr>
          <p:nvPr/>
        </p:nvSpPr>
        <p:spPr bwMode="auto">
          <a:xfrm>
            <a:off x="388842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6" name="Rectangle 47"/>
          <p:cNvSpPr>
            <a:spLocks noChangeArrowheads="1"/>
          </p:cNvSpPr>
          <p:nvPr/>
        </p:nvSpPr>
        <p:spPr bwMode="auto">
          <a:xfrm>
            <a:off x="339312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7" name="Rectangle 41"/>
          <p:cNvSpPr>
            <a:spLocks noChangeArrowheads="1"/>
          </p:cNvSpPr>
          <p:nvPr/>
        </p:nvSpPr>
        <p:spPr bwMode="auto">
          <a:xfrm>
            <a:off x="644461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41"/>
          <p:cNvSpPr>
            <a:spLocks noChangeArrowheads="1"/>
          </p:cNvSpPr>
          <p:nvPr/>
        </p:nvSpPr>
        <p:spPr bwMode="auto">
          <a:xfrm>
            <a:off x="644842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42"/>
          <p:cNvSpPr>
            <a:spLocks noChangeArrowheads="1"/>
          </p:cNvSpPr>
          <p:nvPr/>
        </p:nvSpPr>
        <p:spPr bwMode="auto">
          <a:xfrm>
            <a:off x="59340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43"/>
          <p:cNvSpPr>
            <a:spLocks noChangeArrowheads="1"/>
          </p:cNvSpPr>
          <p:nvPr/>
        </p:nvSpPr>
        <p:spPr bwMode="auto">
          <a:xfrm>
            <a:off x="54387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3" name="Rectangle 40"/>
          <p:cNvSpPr>
            <a:spLocks noChangeArrowheads="1"/>
          </p:cNvSpPr>
          <p:nvPr/>
        </p:nvSpPr>
        <p:spPr bwMode="auto">
          <a:xfrm>
            <a:off x="6858000" y="2795906"/>
            <a:ext cx="204788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6" name="Rectangle 43"/>
          <p:cNvSpPr>
            <a:spLocks noChangeArrowheads="1"/>
          </p:cNvSpPr>
          <p:nvPr/>
        </p:nvSpPr>
        <p:spPr bwMode="auto">
          <a:xfrm>
            <a:off x="6444615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7" name="Rectangle 44"/>
          <p:cNvSpPr>
            <a:spLocks noChangeArrowheads="1"/>
          </p:cNvSpPr>
          <p:nvPr/>
        </p:nvSpPr>
        <p:spPr bwMode="auto">
          <a:xfrm>
            <a:off x="5940108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8" name="Rectangle 43"/>
          <p:cNvSpPr>
            <a:spLocks noChangeArrowheads="1"/>
          </p:cNvSpPr>
          <p:nvPr/>
        </p:nvSpPr>
        <p:spPr bwMode="auto">
          <a:xfrm>
            <a:off x="6858000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59722 0.0872222 " pathEditMode="relative" rAng="0" ptsTypes="">
                                      <p:cBhvr>
                                        <p:cTn id="38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" y="3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18056 -0.0144444 C 0.0253473 -0.0328704 0.0524306 -0.095926 0.0909028 -0.0999075 C 0.129375 -0.103889 0.177639 -0.0715741 0.204098 -0.0344445 C 0.230556 0.00268514 0.221598 0.0630555 0.223125 0.0857405 " pathEditMode="relative" rAng="0" ptsTypes="">
                                      <p:cBhvr>
                                        <p:cTn id="48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6" y="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1"/>
      <p:bldP spid="95" grpId="1"/>
      <p:bldP spid="198" grpId="0"/>
      <p:bldP spid="198" grpId="1"/>
      <p:bldP spid="58" grpId="0"/>
      <p:bldP spid="59" grpId="0"/>
      <p:bldP spid="58" grpId="1"/>
      <p:bldP spid="59" grpId="1"/>
      <p:bldP spid="62" grpId="0"/>
      <p:bldP spid="63" grpId="0"/>
      <p:bldP spid="62" grpId="1"/>
      <p:bldP spid="63" grpId="1"/>
      <p:bldP spid="69" grpId="0"/>
      <p:bldP spid="66" grpId="0" animBg="1"/>
      <p:bldP spid="68" grpId="0"/>
      <p:bldP spid="66" grpId="1" animBg="1"/>
      <p:bldP spid="68" grpId="1"/>
      <p:bldP spid="70" grpId="0"/>
      <p:bldP spid="70" grpId="1"/>
      <p:bldP spid="76" grpId="0"/>
      <p:bldP spid="76" grpId="1"/>
      <p:bldP spid="78" grpId="0"/>
      <p:bldP spid="79" grpId="0"/>
      <p:bldP spid="80" grpId="0"/>
      <p:bldP spid="81" grpId="0"/>
      <p:bldP spid="78" grpId="1"/>
      <p:bldP spid="79" grpId="1"/>
      <p:bldP spid="80" grpId="1"/>
      <p:bldP spid="81" grpId="1"/>
      <p:bldP spid="82" grpId="0"/>
      <p:bldP spid="83" grpId="0"/>
      <p:bldP spid="84" grpId="0"/>
      <p:bldP spid="85" grpId="0"/>
      <p:bldP spid="86" grpId="0"/>
      <p:bldP spid="82" grpId="1"/>
      <p:bldP spid="83" grpId="1"/>
      <p:bldP spid="84" grpId="1"/>
      <p:bldP spid="85" grpId="1"/>
      <p:bldP spid="86" grpId="1"/>
      <p:bldP spid="87" grpId="0"/>
      <p:bldP spid="91" grpId="0"/>
      <p:bldP spid="92" grpId="0"/>
      <p:bldP spid="91" grpId="1"/>
      <p:bldP spid="92" grpId="1"/>
      <p:bldP spid="93" grpId="0"/>
      <p:bldP spid="93" grpId="1"/>
      <p:bldP spid="90" grpId="0"/>
      <p:bldP spid="90" grpId="1"/>
      <p:bldP spid="96" grpId="0"/>
      <p:bldP spid="97" grpId="0"/>
      <p:bldP spid="96" grpId="1"/>
      <p:bldP spid="97" grpId="1"/>
      <p:bldP spid="98" grpId="0"/>
      <p:bldP spid="98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87624" y="479668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cxnSp>
        <p:nvCxnSpPr>
          <p:cNvPr id="197" name="直接箭头连接符 196"/>
          <p:cNvCxnSpPr/>
          <p:nvPr/>
        </p:nvCxnSpPr>
        <p:spPr>
          <a:xfrm flipH="1" flipV="1">
            <a:off x="6142990" y="214439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8" name="文本框 197"/>
          <p:cNvSpPr txBox="1"/>
          <p:nvPr/>
        </p:nvSpPr>
        <p:spPr>
          <a:xfrm>
            <a:off x="7752080" y="170053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314450" y="2363788"/>
            <a:ext cx="6515100" cy="847725"/>
            <a:chOff x="828" y="1893"/>
            <a:chExt cx="4104" cy="53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28" y="1893"/>
              <a:ext cx="4104" cy="5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4262" y="2139"/>
              <a:ext cx="31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4573" y="2139"/>
              <a:ext cx="35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Line 7"/>
            <p:cNvSpPr>
              <a:spLocks noChangeShapeType="1"/>
            </p:cNvSpPr>
            <p:nvPr/>
          </p:nvSpPr>
          <p:spPr bwMode="auto">
            <a:xfrm>
              <a:off x="1144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45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9"/>
            <p:cNvSpPr>
              <a:spLocks noChangeShapeType="1"/>
            </p:cNvSpPr>
            <p:nvPr/>
          </p:nvSpPr>
          <p:spPr bwMode="auto">
            <a:xfrm>
              <a:off x="176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Line 10"/>
            <p:cNvSpPr>
              <a:spLocks noChangeShapeType="1"/>
            </p:cNvSpPr>
            <p:nvPr/>
          </p:nvSpPr>
          <p:spPr bwMode="auto">
            <a:xfrm>
              <a:off x="2079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>
              <a:off x="2391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2"/>
            <p:cNvSpPr>
              <a:spLocks noChangeShapeType="1"/>
            </p:cNvSpPr>
            <p:nvPr/>
          </p:nvSpPr>
          <p:spPr bwMode="auto">
            <a:xfrm>
              <a:off x="270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3015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4"/>
            <p:cNvSpPr>
              <a:spLocks noChangeShapeType="1"/>
            </p:cNvSpPr>
            <p:nvPr/>
          </p:nvSpPr>
          <p:spPr bwMode="auto">
            <a:xfrm>
              <a:off x="332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>
              <a:off x="363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6"/>
            <p:cNvSpPr>
              <a:spLocks noChangeShapeType="1"/>
            </p:cNvSpPr>
            <p:nvPr/>
          </p:nvSpPr>
          <p:spPr bwMode="auto">
            <a:xfrm>
              <a:off x="3950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7"/>
            <p:cNvSpPr>
              <a:spLocks noChangeShapeType="1"/>
            </p:cNvSpPr>
            <p:nvPr/>
          </p:nvSpPr>
          <p:spPr bwMode="auto">
            <a:xfrm>
              <a:off x="426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57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828" y="213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0"/>
            <p:cNvSpPr>
              <a:spLocks noChangeShapeType="1"/>
            </p:cNvSpPr>
            <p:nvPr/>
          </p:nvSpPr>
          <p:spPr bwMode="auto">
            <a:xfrm>
              <a:off x="83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4924" y="1905"/>
              <a:ext cx="0" cy="47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828" y="1908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828" y="237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Rectangle 24"/>
            <p:cNvSpPr>
              <a:spLocks noChangeArrowheads="1"/>
            </p:cNvSpPr>
            <p:nvPr/>
          </p:nvSpPr>
          <p:spPr bwMode="auto">
            <a:xfrm>
              <a:off x="4631" y="1943"/>
              <a:ext cx="29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5"/>
            <p:cNvSpPr>
              <a:spLocks noChangeArrowheads="1"/>
            </p:cNvSpPr>
            <p:nvPr/>
          </p:nvSpPr>
          <p:spPr bwMode="auto">
            <a:xfrm>
              <a:off x="4320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0" name="Rectangle 26"/>
            <p:cNvSpPr>
              <a:spLocks noChangeArrowheads="1"/>
            </p:cNvSpPr>
            <p:nvPr/>
          </p:nvSpPr>
          <p:spPr bwMode="auto">
            <a:xfrm>
              <a:off x="4008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1" name="Rectangle 27"/>
            <p:cNvSpPr>
              <a:spLocks noChangeArrowheads="1"/>
            </p:cNvSpPr>
            <p:nvPr/>
          </p:nvSpPr>
          <p:spPr bwMode="auto">
            <a:xfrm>
              <a:off x="369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384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3" name="Rectangle 29"/>
            <p:cNvSpPr>
              <a:spLocks noChangeArrowheads="1"/>
            </p:cNvSpPr>
            <p:nvPr/>
          </p:nvSpPr>
          <p:spPr bwMode="auto">
            <a:xfrm>
              <a:off x="3073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4" name="Rectangle 30"/>
            <p:cNvSpPr>
              <a:spLocks noChangeArrowheads="1"/>
            </p:cNvSpPr>
            <p:nvPr/>
          </p:nvSpPr>
          <p:spPr bwMode="auto">
            <a:xfrm>
              <a:off x="2761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5" name="Rectangle 31"/>
            <p:cNvSpPr>
              <a:spLocks noChangeArrowheads="1"/>
            </p:cNvSpPr>
            <p:nvPr/>
          </p:nvSpPr>
          <p:spPr bwMode="auto">
            <a:xfrm>
              <a:off x="2449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2"/>
            <p:cNvSpPr>
              <a:spLocks noChangeArrowheads="1"/>
            </p:cNvSpPr>
            <p:nvPr/>
          </p:nvSpPr>
          <p:spPr bwMode="auto">
            <a:xfrm>
              <a:off x="2137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3"/>
            <p:cNvSpPr>
              <a:spLocks noChangeArrowheads="1"/>
            </p:cNvSpPr>
            <p:nvPr/>
          </p:nvSpPr>
          <p:spPr bwMode="auto">
            <a:xfrm>
              <a:off x="182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4"/>
            <p:cNvSpPr>
              <a:spLocks noChangeArrowheads="1"/>
            </p:cNvSpPr>
            <p:nvPr/>
          </p:nvSpPr>
          <p:spPr bwMode="auto">
            <a:xfrm>
              <a:off x="1514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5"/>
            <p:cNvSpPr>
              <a:spLocks noChangeArrowheads="1"/>
            </p:cNvSpPr>
            <p:nvPr/>
          </p:nvSpPr>
          <p:spPr bwMode="auto">
            <a:xfrm>
              <a:off x="1202" y="1946"/>
              <a:ext cx="126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6"/>
            <p:cNvSpPr>
              <a:spLocks noChangeArrowheads="1"/>
            </p:cNvSpPr>
            <p:nvPr/>
          </p:nvSpPr>
          <p:spPr bwMode="auto">
            <a:xfrm>
              <a:off x="1267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7"/>
            <p:cNvSpPr>
              <a:spLocks noChangeArrowheads="1"/>
            </p:cNvSpPr>
            <p:nvPr/>
          </p:nvSpPr>
          <p:spPr bwMode="auto">
            <a:xfrm>
              <a:off x="890" y="1946"/>
              <a:ext cx="168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8"/>
            <p:cNvSpPr>
              <a:spLocks noChangeArrowheads="1"/>
            </p:cNvSpPr>
            <p:nvPr/>
          </p:nvSpPr>
          <p:spPr bwMode="auto">
            <a:xfrm>
              <a:off x="996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1826" y="2178"/>
              <a:ext cx="129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9"/>
            <p:cNvSpPr>
              <a:spLocks noChangeArrowheads="1"/>
            </p:cNvSpPr>
            <p:nvPr/>
          </p:nvSpPr>
          <p:spPr bwMode="auto">
            <a:xfrm>
              <a:off x="1514" y="2178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39750" y="2778125"/>
            <a:ext cx="488950" cy="312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3636010" y="141224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8" name="Rectangle 50"/>
          <p:cNvSpPr>
            <a:spLocks noChangeArrowheads="1"/>
          </p:cNvSpPr>
          <p:nvPr/>
        </p:nvSpPr>
        <p:spPr bwMode="auto">
          <a:xfrm>
            <a:off x="1908175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9" name="Rectangle 51"/>
          <p:cNvSpPr>
            <a:spLocks noChangeArrowheads="1"/>
          </p:cNvSpPr>
          <p:nvPr/>
        </p:nvSpPr>
        <p:spPr bwMode="auto">
          <a:xfrm>
            <a:off x="1412875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2" name="Rectangle 50"/>
          <p:cNvSpPr>
            <a:spLocks noChangeArrowheads="1"/>
          </p:cNvSpPr>
          <p:nvPr/>
        </p:nvSpPr>
        <p:spPr bwMode="auto">
          <a:xfrm>
            <a:off x="190817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3" name="Rectangle 51"/>
          <p:cNvSpPr>
            <a:spLocks noChangeArrowheads="1"/>
          </p:cNvSpPr>
          <p:nvPr/>
        </p:nvSpPr>
        <p:spPr bwMode="auto">
          <a:xfrm>
            <a:off x="1423670" y="280225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6" name="左大括号 65"/>
          <p:cNvSpPr/>
          <p:nvPr/>
        </p:nvSpPr>
        <p:spPr>
          <a:xfrm rot="5400000">
            <a:off x="7430135" y="2779395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6732270" y="3427730"/>
            <a:ext cx="1604010" cy="3562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/>
              <a:t>不</a:t>
            </a:r>
            <a:r>
              <a:rPr lang="zh-CN" altLang="en-US" sz="1200">
                <a:sym typeface="+mn-ea"/>
              </a:rPr>
              <a:t>选：</a:t>
            </a:r>
            <a:r>
              <a:rPr lang="en-US" altLang="zh-CN" sz="1200">
                <a:sym typeface="+mn-ea"/>
              </a:rPr>
              <a:t>              </a:t>
            </a:r>
            <a:r>
              <a:rPr lang="zh-CN" altLang="en-US" sz="1200">
                <a:sym typeface="+mn-ea"/>
              </a:rPr>
              <a:t>选：</a:t>
            </a:r>
            <a:endParaRPr lang="en-US" altLang="zh-CN" sz="1200">
              <a:sym typeface="+mn-ea"/>
            </a:endParaRPr>
          </a:p>
        </p:txBody>
      </p:sp>
      <p:sp>
        <p:nvSpPr>
          <p:cNvPr id="69" name="Rectangle 39"/>
          <p:cNvSpPr>
            <a:spLocks noChangeArrowheads="1"/>
          </p:cNvSpPr>
          <p:nvPr/>
        </p:nvSpPr>
        <p:spPr bwMode="auto">
          <a:xfrm>
            <a:off x="735171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8020050" y="3374390"/>
            <a:ext cx="8439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宋体" panose="02010600030101010101" pitchFamily="2" charset="-122"/>
              </a:rPr>
              <a:t>3+</a:t>
            </a:r>
            <a:endParaRPr lang="en-US" altLang="zh-CN">
              <a:latin typeface="宋体" panose="02010600030101010101" pitchFamily="2" charset="-122"/>
            </a:endParaRPr>
          </a:p>
        </p:txBody>
      </p:sp>
      <p:sp>
        <p:nvSpPr>
          <p:cNvPr id="76" name="Rectangle 42"/>
          <p:cNvSpPr>
            <a:spLocks noChangeArrowheads="1"/>
          </p:cNvSpPr>
          <p:nvPr/>
        </p:nvSpPr>
        <p:spPr bwMode="auto">
          <a:xfrm>
            <a:off x="7380605" y="281368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8" name="Rectangle 44"/>
          <p:cNvSpPr>
            <a:spLocks noChangeArrowheads="1"/>
          </p:cNvSpPr>
          <p:nvPr/>
        </p:nvSpPr>
        <p:spPr bwMode="auto">
          <a:xfrm>
            <a:off x="48783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9" name="Rectangle 45"/>
          <p:cNvSpPr>
            <a:spLocks noChangeArrowheads="1"/>
          </p:cNvSpPr>
          <p:nvPr/>
        </p:nvSpPr>
        <p:spPr bwMode="auto">
          <a:xfrm>
            <a:off x="43830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0" name="Rectangle 46"/>
          <p:cNvSpPr>
            <a:spLocks noChangeArrowheads="1"/>
          </p:cNvSpPr>
          <p:nvPr/>
        </p:nvSpPr>
        <p:spPr bwMode="auto">
          <a:xfrm>
            <a:off x="38877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1" name="Rectangle 47"/>
          <p:cNvSpPr>
            <a:spLocks noChangeArrowheads="1"/>
          </p:cNvSpPr>
          <p:nvPr/>
        </p:nvSpPr>
        <p:spPr bwMode="auto">
          <a:xfrm>
            <a:off x="33924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2" name="Rectangle 43"/>
          <p:cNvSpPr>
            <a:spLocks noChangeArrowheads="1"/>
          </p:cNvSpPr>
          <p:nvPr/>
        </p:nvSpPr>
        <p:spPr bwMode="auto">
          <a:xfrm>
            <a:off x="5439410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3" name="Rectangle 44"/>
          <p:cNvSpPr>
            <a:spLocks noChangeArrowheads="1"/>
          </p:cNvSpPr>
          <p:nvPr/>
        </p:nvSpPr>
        <p:spPr bwMode="auto">
          <a:xfrm>
            <a:off x="4878388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4" name="Rectangle 45"/>
          <p:cNvSpPr>
            <a:spLocks noChangeArrowheads="1"/>
          </p:cNvSpPr>
          <p:nvPr/>
        </p:nvSpPr>
        <p:spPr bwMode="auto">
          <a:xfrm>
            <a:off x="4383088" y="279590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5" name="Rectangle 46"/>
          <p:cNvSpPr>
            <a:spLocks noChangeArrowheads="1"/>
          </p:cNvSpPr>
          <p:nvPr/>
        </p:nvSpPr>
        <p:spPr bwMode="auto">
          <a:xfrm>
            <a:off x="3901123" y="280860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6" name="Rectangle 47"/>
          <p:cNvSpPr>
            <a:spLocks noChangeArrowheads="1"/>
          </p:cNvSpPr>
          <p:nvPr/>
        </p:nvSpPr>
        <p:spPr bwMode="auto">
          <a:xfrm>
            <a:off x="3389313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7" name="Rectangle 41"/>
          <p:cNvSpPr>
            <a:spLocks noChangeArrowheads="1"/>
          </p:cNvSpPr>
          <p:nvPr/>
        </p:nvSpPr>
        <p:spPr bwMode="auto">
          <a:xfrm>
            <a:off x="644461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0" name="Rectangle 41"/>
          <p:cNvSpPr>
            <a:spLocks noChangeArrowheads="1"/>
          </p:cNvSpPr>
          <p:nvPr/>
        </p:nvSpPr>
        <p:spPr bwMode="auto">
          <a:xfrm>
            <a:off x="644461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1" name="Rectangle 42"/>
          <p:cNvSpPr>
            <a:spLocks noChangeArrowheads="1"/>
          </p:cNvSpPr>
          <p:nvPr/>
        </p:nvSpPr>
        <p:spPr bwMode="auto">
          <a:xfrm>
            <a:off x="593407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2" name="Rectangle 43"/>
          <p:cNvSpPr>
            <a:spLocks noChangeArrowheads="1"/>
          </p:cNvSpPr>
          <p:nvPr/>
        </p:nvSpPr>
        <p:spPr bwMode="auto">
          <a:xfrm>
            <a:off x="543877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3" name="Rectangle 40"/>
          <p:cNvSpPr>
            <a:spLocks noChangeArrowheads="1"/>
          </p:cNvSpPr>
          <p:nvPr/>
        </p:nvSpPr>
        <p:spPr bwMode="auto">
          <a:xfrm>
            <a:off x="6858000" y="279590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6" name="Rectangle 43"/>
          <p:cNvSpPr>
            <a:spLocks noChangeArrowheads="1"/>
          </p:cNvSpPr>
          <p:nvPr/>
        </p:nvSpPr>
        <p:spPr bwMode="auto">
          <a:xfrm>
            <a:off x="6444615" y="281368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7" name="Rectangle 44"/>
          <p:cNvSpPr>
            <a:spLocks noChangeArrowheads="1"/>
          </p:cNvSpPr>
          <p:nvPr/>
        </p:nvSpPr>
        <p:spPr bwMode="auto">
          <a:xfrm>
            <a:off x="594010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8" name="Rectangle 43"/>
          <p:cNvSpPr>
            <a:spLocks noChangeArrowheads="1"/>
          </p:cNvSpPr>
          <p:nvPr/>
        </p:nvSpPr>
        <p:spPr bwMode="auto">
          <a:xfrm>
            <a:off x="6876415" y="279590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59722 0.0872222 " pathEditMode="relative" rAng="0" ptsTypes="">
                                      <p:cBhvr>
                                        <p:cTn id="38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" y="3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18056 -0.0144444 C 0.0253473 -0.0328704 0.0524306 -0.095926 0.0909028 -0.0999075 C 0.129375 -0.103889 0.177639 -0.0715741 0.204098 -0.0344445 C 0.230556 0.00268514 0.221598 0.0630555 0.223125 0.0857405 " pathEditMode="relative" rAng="0" ptsTypes="">
                                      <p:cBhvr>
                                        <p:cTn id="48" dur="2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6" y="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1"/>
      <p:bldP spid="95" grpId="1"/>
      <p:bldP spid="198" grpId="0"/>
      <p:bldP spid="198" grpId="1"/>
      <p:bldP spid="58" grpId="0"/>
      <p:bldP spid="59" grpId="0"/>
      <p:bldP spid="58" grpId="1"/>
      <p:bldP spid="59" grpId="1"/>
      <p:bldP spid="62" grpId="0"/>
      <p:bldP spid="63" grpId="0"/>
      <p:bldP spid="62" grpId="1"/>
      <p:bldP spid="63" grpId="1"/>
      <p:bldP spid="69" grpId="0"/>
      <p:bldP spid="66" grpId="0" bldLvl="0" animBg="1"/>
      <p:bldP spid="68" grpId="0"/>
      <p:bldP spid="66" grpId="1" animBg="1"/>
      <p:bldP spid="68" grpId="1"/>
      <p:bldP spid="70" grpId="0"/>
      <p:bldP spid="70" grpId="1"/>
      <p:bldP spid="76" grpId="0"/>
      <p:bldP spid="76" grpId="1"/>
      <p:bldP spid="78" grpId="0"/>
      <p:bldP spid="79" grpId="0"/>
      <p:bldP spid="80" grpId="0"/>
      <p:bldP spid="81" grpId="0"/>
      <p:bldP spid="78" grpId="1"/>
      <p:bldP spid="79" grpId="1"/>
      <p:bldP spid="80" grpId="1"/>
      <p:bldP spid="81" grpId="1"/>
      <p:bldP spid="82" grpId="0"/>
      <p:bldP spid="83" grpId="0"/>
      <p:bldP spid="84" grpId="0"/>
      <p:bldP spid="85" grpId="0"/>
      <p:bldP spid="86" grpId="0"/>
      <p:bldP spid="82" grpId="1"/>
      <p:bldP spid="83" grpId="1"/>
      <p:bldP spid="84" grpId="1"/>
      <p:bldP spid="85" grpId="1"/>
      <p:bldP spid="86" grpId="1"/>
      <p:bldP spid="87" grpId="0"/>
      <p:bldP spid="91" grpId="0"/>
      <p:bldP spid="92" grpId="0"/>
      <p:bldP spid="91" grpId="1"/>
      <p:bldP spid="92" grpId="1"/>
      <p:bldP spid="93" grpId="0"/>
      <p:bldP spid="93" grpId="1"/>
      <p:bldP spid="90" grpId="0"/>
      <p:bldP spid="90" grpId="1"/>
      <p:bldP spid="96" grpId="0"/>
      <p:bldP spid="97" grpId="0"/>
      <p:bldP spid="96" grpId="1"/>
      <p:bldP spid="97" grpId="1"/>
      <p:bldP spid="98" grpId="0"/>
      <p:bldP spid="98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96" name="直接箭头连接符 95"/>
          <p:cNvCxnSpPr/>
          <p:nvPr/>
        </p:nvCxnSpPr>
        <p:spPr>
          <a:xfrm flipV="1">
            <a:off x="6681470" y="3133090"/>
            <a:ext cx="152590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25790" y="2780665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683434" y="4652536"/>
            <a:ext cx="6120679" cy="888932"/>
            <a:chOff x="755576" y="2566065"/>
            <a:chExt cx="6120679" cy="888932"/>
          </a:xfrm>
        </p:grpSpPr>
        <p:sp>
          <p:nvSpPr>
            <p:cNvPr id="66" name="文本框 6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本框 79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9" name="图片 11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20" name="文本框 119"/>
          <p:cNvSpPr txBox="1"/>
          <p:nvPr/>
        </p:nvSpPr>
        <p:spPr>
          <a:xfrm>
            <a:off x="4477301" y="465253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6731634" y="51681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aphicFrame>
        <p:nvGraphicFramePr>
          <p:cNvPr id="122" name="表格 121"/>
          <p:cNvGraphicFramePr>
            <a:graphicFrameLocks noGrp="1"/>
          </p:cNvGraphicFramePr>
          <p:nvPr/>
        </p:nvGraphicFramePr>
        <p:xfrm>
          <a:off x="1187624" y="206088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139" name="组合 138"/>
          <p:cNvGrpSpPr/>
          <p:nvPr/>
        </p:nvGrpSpPr>
        <p:grpSpPr>
          <a:xfrm>
            <a:off x="683434" y="4653171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0" name="文本框 159"/>
          <p:cNvSpPr txBox="1"/>
          <p:nvPr/>
        </p:nvSpPr>
        <p:spPr>
          <a:xfrm>
            <a:off x="4477301" y="464301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1" name="文本框 160"/>
          <p:cNvSpPr txBox="1"/>
          <p:nvPr/>
        </p:nvSpPr>
        <p:spPr>
          <a:xfrm>
            <a:off x="6731634" y="515861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5" name="左大括号 4"/>
          <p:cNvSpPr/>
          <p:nvPr/>
        </p:nvSpPr>
        <p:spPr>
          <a:xfrm>
            <a:off x="539750" y="5949315"/>
            <a:ext cx="143510" cy="648335"/>
          </a:xfrm>
          <a:prstGeom prst="leftBrace">
            <a:avLst/>
          </a:prstGeom>
          <a:solidFill>
            <a:srgbClr val="000000">
              <a:alpha val="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5650" y="5949315"/>
            <a:ext cx="78460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6kg                    dp[i-1][6]               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1+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dp[i-1][4]      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2+dp[i-1][2]      3+dp[i-1][0]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8kg 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dp[i-1][6] 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1+0+dp[i-1][6]   1+1+dp[i-1][4]   1+2+dp[i-1][2]  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1+3+dp[i-1][0]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9445" y="5581015"/>
            <a:ext cx="8397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              0                        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1                       2                         3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66445" y="6525260"/>
            <a:ext cx="8397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        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0                    1                         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2                       3                         4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/>
      <p:bldP spid="97" grpId="1"/>
      <p:bldP spid="120" grpId="0"/>
      <p:bldP spid="120" grpId="1"/>
      <p:bldP spid="120" grpId="2"/>
      <p:bldP spid="121" grpId="0"/>
      <p:bldP spid="121" grpId="1"/>
      <p:bldP spid="121" grpId="2"/>
      <p:bldP spid="160" grpId="0"/>
      <p:bldP spid="160" grpId="1"/>
      <p:bldP spid="161" grpId="0"/>
      <p:bldP spid="161" grpId="1"/>
      <p:bldP spid="7" grpId="0"/>
      <p:bldP spid="6" grpId="0"/>
      <p:bldP spid="8" grpId="0"/>
      <p:bldP spid="5" grpId="0" animBg="1"/>
      <p:bldP spid="7" grpId="1"/>
      <p:bldP spid="6" grpId="1"/>
      <p:bldP spid="8" grpId="1"/>
      <p:bldP spid="5" grpId="1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197" name="直接箭头连接符 196"/>
          <p:cNvCxnSpPr/>
          <p:nvPr/>
        </p:nvCxnSpPr>
        <p:spPr>
          <a:xfrm flipV="1">
            <a:off x="6323965" y="2204720"/>
            <a:ext cx="127254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8" name="文本框 197"/>
          <p:cNvSpPr txBox="1"/>
          <p:nvPr/>
        </p:nvSpPr>
        <p:spPr>
          <a:xfrm>
            <a:off x="7752080" y="170053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314450" y="2363788"/>
            <a:ext cx="6515100" cy="847725"/>
            <a:chOff x="828" y="1893"/>
            <a:chExt cx="4104" cy="53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28" y="1893"/>
              <a:ext cx="4104" cy="5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4262" y="2139"/>
              <a:ext cx="31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4573" y="2139"/>
              <a:ext cx="351" cy="240"/>
            </a:xfrm>
            <a:prstGeom prst="rect">
              <a:avLst/>
            </a:prstGeom>
            <a:solidFill>
              <a:srgbClr val="6FC01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Line 7"/>
            <p:cNvSpPr>
              <a:spLocks noChangeShapeType="1"/>
            </p:cNvSpPr>
            <p:nvPr/>
          </p:nvSpPr>
          <p:spPr bwMode="auto">
            <a:xfrm>
              <a:off x="1144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45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9"/>
            <p:cNvSpPr>
              <a:spLocks noChangeShapeType="1"/>
            </p:cNvSpPr>
            <p:nvPr/>
          </p:nvSpPr>
          <p:spPr bwMode="auto">
            <a:xfrm>
              <a:off x="176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Line 10"/>
            <p:cNvSpPr>
              <a:spLocks noChangeShapeType="1"/>
            </p:cNvSpPr>
            <p:nvPr/>
          </p:nvSpPr>
          <p:spPr bwMode="auto">
            <a:xfrm>
              <a:off x="2079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>
              <a:off x="2391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2"/>
            <p:cNvSpPr>
              <a:spLocks noChangeShapeType="1"/>
            </p:cNvSpPr>
            <p:nvPr/>
          </p:nvSpPr>
          <p:spPr bwMode="auto">
            <a:xfrm>
              <a:off x="270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3015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4"/>
            <p:cNvSpPr>
              <a:spLocks noChangeShapeType="1"/>
            </p:cNvSpPr>
            <p:nvPr/>
          </p:nvSpPr>
          <p:spPr bwMode="auto">
            <a:xfrm>
              <a:off x="332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>
              <a:off x="363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6"/>
            <p:cNvSpPr>
              <a:spLocks noChangeShapeType="1"/>
            </p:cNvSpPr>
            <p:nvPr/>
          </p:nvSpPr>
          <p:spPr bwMode="auto">
            <a:xfrm>
              <a:off x="3950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7"/>
            <p:cNvSpPr>
              <a:spLocks noChangeShapeType="1"/>
            </p:cNvSpPr>
            <p:nvPr/>
          </p:nvSpPr>
          <p:spPr bwMode="auto">
            <a:xfrm>
              <a:off x="426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57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828" y="213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0"/>
            <p:cNvSpPr>
              <a:spLocks noChangeShapeType="1"/>
            </p:cNvSpPr>
            <p:nvPr/>
          </p:nvSpPr>
          <p:spPr bwMode="auto">
            <a:xfrm>
              <a:off x="83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4924" y="1905"/>
              <a:ext cx="0" cy="47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828" y="1908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828" y="237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Rectangle 24"/>
            <p:cNvSpPr>
              <a:spLocks noChangeArrowheads="1"/>
            </p:cNvSpPr>
            <p:nvPr/>
          </p:nvSpPr>
          <p:spPr bwMode="auto">
            <a:xfrm>
              <a:off x="4631" y="1943"/>
              <a:ext cx="29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5"/>
            <p:cNvSpPr>
              <a:spLocks noChangeArrowheads="1"/>
            </p:cNvSpPr>
            <p:nvPr/>
          </p:nvSpPr>
          <p:spPr bwMode="auto">
            <a:xfrm>
              <a:off x="4320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0" name="Rectangle 26"/>
            <p:cNvSpPr>
              <a:spLocks noChangeArrowheads="1"/>
            </p:cNvSpPr>
            <p:nvPr/>
          </p:nvSpPr>
          <p:spPr bwMode="auto">
            <a:xfrm>
              <a:off x="4008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1" name="Rectangle 27"/>
            <p:cNvSpPr>
              <a:spLocks noChangeArrowheads="1"/>
            </p:cNvSpPr>
            <p:nvPr/>
          </p:nvSpPr>
          <p:spPr bwMode="auto">
            <a:xfrm>
              <a:off x="369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384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3" name="Rectangle 29"/>
            <p:cNvSpPr>
              <a:spLocks noChangeArrowheads="1"/>
            </p:cNvSpPr>
            <p:nvPr/>
          </p:nvSpPr>
          <p:spPr bwMode="auto">
            <a:xfrm>
              <a:off x="3073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4" name="Rectangle 30"/>
            <p:cNvSpPr>
              <a:spLocks noChangeArrowheads="1"/>
            </p:cNvSpPr>
            <p:nvPr/>
          </p:nvSpPr>
          <p:spPr bwMode="auto">
            <a:xfrm>
              <a:off x="2761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5" name="Rectangle 31"/>
            <p:cNvSpPr>
              <a:spLocks noChangeArrowheads="1"/>
            </p:cNvSpPr>
            <p:nvPr/>
          </p:nvSpPr>
          <p:spPr bwMode="auto">
            <a:xfrm>
              <a:off x="2449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2"/>
            <p:cNvSpPr>
              <a:spLocks noChangeArrowheads="1"/>
            </p:cNvSpPr>
            <p:nvPr/>
          </p:nvSpPr>
          <p:spPr bwMode="auto">
            <a:xfrm>
              <a:off x="2137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3"/>
            <p:cNvSpPr>
              <a:spLocks noChangeArrowheads="1"/>
            </p:cNvSpPr>
            <p:nvPr/>
          </p:nvSpPr>
          <p:spPr bwMode="auto">
            <a:xfrm>
              <a:off x="182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4"/>
            <p:cNvSpPr>
              <a:spLocks noChangeArrowheads="1"/>
            </p:cNvSpPr>
            <p:nvPr/>
          </p:nvSpPr>
          <p:spPr bwMode="auto">
            <a:xfrm>
              <a:off x="1514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5"/>
            <p:cNvSpPr>
              <a:spLocks noChangeArrowheads="1"/>
            </p:cNvSpPr>
            <p:nvPr/>
          </p:nvSpPr>
          <p:spPr bwMode="auto">
            <a:xfrm>
              <a:off x="1202" y="1946"/>
              <a:ext cx="126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6"/>
            <p:cNvSpPr>
              <a:spLocks noChangeArrowheads="1"/>
            </p:cNvSpPr>
            <p:nvPr/>
          </p:nvSpPr>
          <p:spPr bwMode="auto">
            <a:xfrm>
              <a:off x="1267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7"/>
            <p:cNvSpPr>
              <a:spLocks noChangeArrowheads="1"/>
            </p:cNvSpPr>
            <p:nvPr/>
          </p:nvSpPr>
          <p:spPr bwMode="auto">
            <a:xfrm>
              <a:off x="890" y="1946"/>
              <a:ext cx="168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8"/>
            <p:cNvSpPr>
              <a:spLocks noChangeArrowheads="1"/>
            </p:cNvSpPr>
            <p:nvPr/>
          </p:nvSpPr>
          <p:spPr bwMode="auto">
            <a:xfrm>
              <a:off x="996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1826" y="2178"/>
              <a:ext cx="129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39750" y="2778125"/>
            <a:ext cx="488950" cy="312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3636010" y="141224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8" name="Rectangle 50"/>
          <p:cNvSpPr>
            <a:spLocks noChangeArrowheads="1"/>
          </p:cNvSpPr>
          <p:nvPr/>
        </p:nvSpPr>
        <p:spPr bwMode="auto">
          <a:xfrm>
            <a:off x="19081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1"/>
          <p:cNvSpPr>
            <a:spLocks noChangeArrowheads="1"/>
          </p:cNvSpPr>
          <p:nvPr/>
        </p:nvSpPr>
        <p:spPr bwMode="auto">
          <a:xfrm>
            <a:off x="14128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2" name="Rectangle 50"/>
          <p:cNvSpPr>
            <a:spLocks noChangeArrowheads="1"/>
          </p:cNvSpPr>
          <p:nvPr/>
        </p:nvSpPr>
        <p:spPr bwMode="auto">
          <a:xfrm>
            <a:off x="19081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3" name="Rectangle 51"/>
          <p:cNvSpPr>
            <a:spLocks noChangeArrowheads="1"/>
          </p:cNvSpPr>
          <p:nvPr/>
        </p:nvSpPr>
        <p:spPr bwMode="auto">
          <a:xfrm>
            <a:off x="14128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6" name="左大括号 65"/>
          <p:cNvSpPr/>
          <p:nvPr/>
        </p:nvSpPr>
        <p:spPr>
          <a:xfrm rot="5400000">
            <a:off x="2411730" y="2726055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412875" y="3357245"/>
            <a:ext cx="2242820" cy="461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>
                <a:sym typeface="+mn-ea"/>
              </a:rPr>
              <a:t>不选（</a:t>
            </a:r>
            <a:r>
              <a:rPr lang="en-US" altLang="zh-CN" sz="1200">
                <a:sym typeface="+mn-ea"/>
              </a:rPr>
              <a:t>0</a:t>
            </a:r>
            <a:r>
              <a:rPr lang="zh-CN" altLang="en-US" sz="1200">
                <a:sym typeface="+mn-ea"/>
              </a:rPr>
              <a:t>）：</a:t>
            </a:r>
            <a:r>
              <a:rPr lang="en-US" altLang="zh-CN" sz="1200">
                <a:sym typeface="+mn-ea"/>
              </a:rPr>
              <a:t>        </a:t>
            </a:r>
            <a:r>
              <a:rPr lang="zh-CN" altLang="en-US" sz="1200">
                <a:sym typeface="+mn-ea"/>
              </a:rPr>
              <a:t>选（</a:t>
            </a:r>
            <a:r>
              <a:rPr lang="en-US" altLang="zh-CN" sz="1200">
                <a:sym typeface="+mn-ea"/>
              </a:rPr>
              <a:t>1-k</a:t>
            </a:r>
            <a:r>
              <a:rPr lang="zh-CN" altLang="en-US" sz="1200">
                <a:sym typeface="+mn-ea"/>
              </a:rPr>
              <a:t>）</a:t>
            </a:r>
            <a:r>
              <a:rPr lang="zh-CN" altLang="en-US" sz="1200">
                <a:sym typeface="+mn-ea"/>
              </a:rPr>
              <a:t>：</a:t>
            </a:r>
            <a:endParaRPr lang="en-US" altLang="zh-CN" sz="1200">
              <a:sym typeface="+mn-ea"/>
            </a:endParaRPr>
          </a:p>
        </p:txBody>
      </p:sp>
      <p:sp>
        <p:nvSpPr>
          <p:cNvPr id="69" name="Rectangle 39"/>
          <p:cNvSpPr>
            <a:spLocks noChangeArrowheads="1"/>
          </p:cNvSpPr>
          <p:nvPr/>
        </p:nvSpPr>
        <p:spPr bwMode="auto">
          <a:xfrm>
            <a:off x="7351713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44"/>
          <p:cNvSpPr>
            <a:spLocks noChangeArrowheads="1"/>
          </p:cNvSpPr>
          <p:nvPr/>
        </p:nvSpPr>
        <p:spPr bwMode="auto">
          <a:xfrm>
            <a:off x="4878388" y="2816226"/>
            <a:ext cx="204788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7" name="Rectangle 41"/>
          <p:cNvSpPr>
            <a:spLocks noChangeArrowheads="1"/>
          </p:cNvSpPr>
          <p:nvPr/>
        </p:nvSpPr>
        <p:spPr bwMode="auto">
          <a:xfrm>
            <a:off x="644461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42"/>
          <p:cNvSpPr>
            <a:spLocks noChangeArrowheads="1"/>
          </p:cNvSpPr>
          <p:nvPr/>
        </p:nvSpPr>
        <p:spPr bwMode="auto">
          <a:xfrm>
            <a:off x="59340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3" name="Rectangle 40"/>
          <p:cNvSpPr>
            <a:spLocks noChangeArrowheads="1"/>
          </p:cNvSpPr>
          <p:nvPr/>
        </p:nvSpPr>
        <p:spPr bwMode="auto">
          <a:xfrm>
            <a:off x="6858000" y="2795906"/>
            <a:ext cx="204788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139" name="组合 138"/>
          <p:cNvGrpSpPr/>
          <p:nvPr/>
        </p:nvGrpSpPr>
        <p:grpSpPr>
          <a:xfrm>
            <a:off x="1314624" y="4724926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" name="文本框 15"/>
          <p:cNvSpPr txBox="1"/>
          <p:nvPr/>
        </p:nvSpPr>
        <p:spPr>
          <a:xfrm>
            <a:off x="3328670" y="3372485"/>
            <a:ext cx="5238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无</a:t>
            </a:r>
            <a:endParaRPr lang="zh-CN" altLang="en-US" sz="1200"/>
          </a:p>
        </p:txBody>
      </p:sp>
      <p:sp>
        <p:nvSpPr>
          <p:cNvPr id="43" name="Rectangle 49"/>
          <p:cNvSpPr>
            <a:spLocks noChangeArrowheads="1"/>
          </p:cNvSpPr>
          <p:nvPr/>
        </p:nvSpPr>
        <p:spPr bwMode="auto">
          <a:xfrm>
            <a:off x="24034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9"/>
          <p:cNvSpPr>
            <a:spLocks noChangeArrowheads="1"/>
          </p:cNvSpPr>
          <p:nvPr/>
        </p:nvSpPr>
        <p:spPr bwMode="auto">
          <a:xfrm>
            <a:off x="24034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5400000">
            <a:off x="3347720" y="2720975"/>
            <a:ext cx="215900" cy="108712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2340610" y="3354070"/>
            <a:ext cx="2074545" cy="4635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>
                <a:sym typeface="+mn-ea"/>
              </a:rPr>
              <a:t>不选（</a:t>
            </a:r>
            <a:r>
              <a:rPr lang="en-US" altLang="zh-CN" sz="1200">
                <a:sym typeface="+mn-ea"/>
              </a:rPr>
              <a:t>0</a:t>
            </a:r>
            <a:r>
              <a:rPr lang="zh-CN" altLang="en-US" sz="1200">
                <a:sym typeface="+mn-ea"/>
              </a:rPr>
              <a:t>）：</a:t>
            </a:r>
            <a:r>
              <a:rPr lang="en-US" altLang="zh-CN" sz="1200">
                <a:sym typeface="+mn-ea"/>
              </a:rPr>
              <a:t>        </a:t>
            </a:r>
            <a:r>
              <a:rPr lang="zh-CN" altLang="en-US" sz="1200">
                <a:sym typeface="+mn-ea"/>
              </a:rPr>
              <a:t>选（</a:t>
            </a:r>
            <a:r>
              <a:rPr lang="en-US" altLang="zh-CN" sz="1200">
                <a:sym typeface="+mn-ea"/>
              </a:rPr>
              <a:t>1</a:t>
            </a:r>
            <a:r>
              <a:rPr lang="zh-CN" altLang="en-US" sz="1200">
                <a:sym typeface="+mn-ea"/>
              </a:rPr>
              <a:t>）</a:t>
            </a:r>
            <a:r>
              <a:rPr lang="zh-CN" altLang="en-US" sz="1200">
                <a:sym typeface="+mn-ea"/>
              </a:rPr>
              <a:t>：</a:t>
            </a:r>
            <a:endParaRPr lang="en-US" altLang="zh-CN" sz="1200"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4264660" y="3370580"/>
            <a:ext cx="5238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1+</a:t>
            </a:r>
            <a:endParaRPr lang="en-US" altLang="zh-CN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 47"/>
          <p:cNvSpPr>
            <a:spLocks noChangeArrowheads="1"/>
          </p:cNvSpPr>
          <p:nvPr/>
        </p:nvSpPr>
        <p:spPr bwMode="auto">
          <a:xfrm>
            <a:off x="33924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6"/>
          <p:cNvSpPr>
            <a:spLocks noChangeArrowheads="1"/>
          </p:cNvSpPr>
          <p:nvPr/>
        </p:nvSpPr>
        <p:spPr bwMode="auto">
          <a:xfrm>
            <a:off x="2382203" y="279590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46"/>
          <p:cNvSpPr>
            <a:spLocks noChangeArrowheads="1"/>
          </p:cNvSpPr>
          <p:nvPr/>
        </p:nvSpPr>
        <p:spPr bwMode="auto">
          <a:xfrm>
            <a:off x="38877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1" name="Rectangle 45"/>
          <p:cNvSpPr>
            <a:spLocks noChangeArrowheads="1"/>
          </p:cNvSpPr>
          <p:nvPr/>
        </p:nvSpPr>
        <p:spPr bwMode="auto">
          <a:xfrm>
            <a:off x="3889058" y="281114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5" name="左大括号 64"/>
          <p:cNvSpPr/>
          <p:nvPr/>
        </p:nvSpPr>
        <p:spPr>
          <a:xfrm rot="5400000">
            <a:off x="4356100" y="2726055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5273040" y="3372485"/>
            <a:ext cx="5238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1+</a:t>
            </a:r>
            <a:endParaRPr lang="en-US" altLang="zh-CN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3340735" y="3372485"/>
            <a:ext cx="2242820" cy="461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>
                <a:sym typeface="+mn-ea"/>
              </a:rPr>
              <a:t>不选（</a:t>
            </a:r>
            <a:r>
              <a:rPr lang="en-US" altLang="zh-CN" sz="1200">
                <a:sym typeface="+mn-ea"/>
              </a:rPr>
              <a:t>0</a:t>
            </a:r>
            <a:r>
              <a:rPr lang="zh-CN" altLang="en-US" sz="1200">
                <a:sym typeface="+mn-ea"/>
              </a:rPr>
              <a:t>）：</a:t>
            </a:r>
            <a:r>
              <a:rPr lang="en-US" altLang="zh-CN" sz="1200">
                <a:sym typeface="+mn-ea"/>
              </a:rPr>
              <a:t>        </a:t>
            </a:r>
            <a:r>
              <a:rPr lang="zh-CN" altLang="en-US" sz="1200">
                <a:sym typeface="+mn-ea"/>
              </a:rPr>
              <a:t>选（</a:t>
            </a:r>
            <a:r>
              <a:rPr lang="en-US" altLang="zh-CN" sz="1200">
                <a:sym typeface="+mn-ea"/>
              </a:rPr>
              <a:t>1-2</a:t>
            </a:r>
            <a:r>
              <a:rPr lang="zh-CN" altLang="en-US" sz="1200">
                <a:sym typeface="+mn-ea"/>
              </a:rPr>
              <a:t>）</a:t>
            </a:r>
            <a:r>
              <a:rPr lang="zh-CN" altLang="en-US" sz="1200">
                <a:sym typeface="+mn-ea"/>
              </a:rPr>
              <a:t>：</a:t>
            </a:r>
            <a:endParaRPr lang="en-US" altLang="zh-CN" sz="1200">
              <a:sym typeface="+mn-ea"/>
            </a:endParaRPr>
          </a:p>
        </p:txBody>
      </p:sp>
      <p:sp>
        <p:nvSpPr>
          <p:cNvPr id="72" name="Rectangle 45"/>
          <p:cNvSpPr>
            <a:spLocks noChangeArrowheads="1"/>
          </p:cNvSpPr>
          <p:nvPr/>
        </p:nvSpPr>
        <p:spPr bwMode="auto">
          <a:xfrm>
            <a:off x="3419793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3" name="Rectangle 45"/>
          <p:cNvSpPr>
            <a:spLocks noChangeArrowheads="1"/>
          </p:cNvSpPr>
          <p:nvPr/>
        </p:nvSpPr>
        <p:spPr bwMode="auto">
          <a:xfrm>
            <a:off x="3392488" y="27806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4" name="Rectangle 45"/>
          <p:cNvSpPr>
            <a:spLocks noChangeArrowheads="1"/>
          </p:cNvSpPr>
          <p:nvPr/>
        </p:nvSpPr>
        <p:spPr bwMode="auto">
          <a:xfrm>
            <a:off x="4383088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43"/>
          <p:cNvSpPr>
            <a:spLocks noChangeArrowheads="1"/>
          </p:cNvSpPr>
          <p:nvPr/>
        </p:nvSpPr>
        <p:spPr bwMode="auto">
          <a:xfrm>
            <a:off x="54387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8" name="Rectangle 43"/>
          <p:cNvSpPr>
            <a:spLocks noChangeArrowheads="1"/>
          </p:cNvSpPr>
          <p:nvPr/>
        </p:nvSpPr>
        <p:spPr bwMode="auto">
          <a:xfrm>
            <a:off x="4415155" y="279590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40972 0.0821296 " pathEditMode="relative" rAng="0" ptsTypes="">
                                      <p:cBhvr>
                                        <p:cTn id="28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" y="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416667 -0.00731481 L -0.0199306 0.0756482 " pathEditMode="relative" rAng="0" ptsTypes="">
                                      <p:cBhvr>
                                        <p:cTn id="66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" y="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0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56944 -0.00490749 C 0.0016667 -0.0294445 -0.00923611 -0.126018 0.0382639 -0.10824 C 0.0857639 -0.0904625 0.196389 0.0434255 0.234931 0.0839815 " pathEditMode="relative" rAng="0" ptsTypes="">
                                      <p:cBhvr>
                                        <p:cTn id="73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9" y="-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21528 0.0766667 " pathEditMode="relative" rAng="0" ptsTypes="">
                                      <p:cBhvr>
                                        <p:cTn id="115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" y="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0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50701 -0.00392166 C 0.0126253 -0.0328815 0.0228273 -0.144836 0.0701848 -0.127537 C 0.117544 -0.110239 0.206869 0.0379647 0.239381 0.082377 " pathEditMode="relative" rAng="0" ptsTypes="">
                                      <p:cBhvr>
                                        <p:cTn id="122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" y="-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1"/>
      <p:bldP spid="95" grpId="1"/>
      <p:bldP spid="198" grpId="0"/>
      <p:bldP spid="198" grpId="1"/>
      <p:bldP spid="58" grpId="0"/>
      <p:bldP spid="59" grpId="0"/>
      <p:bldP spid="58" grpId="1"/>
      <p:bldP spid="59" grpId="1"/>
      <p:bldP spid="62" grpId="0"/>
      <p:bldP spid="63" grpId="0"/>
      <p:bldP spid="62" grpId="1"/>
      <p:bldP spid="63" grpId="1"/>
      <p:bldP spid="78" grpId="1"/>
      <p:bldP spid="91" grpId="1"/>
      <p:bldP spid="93" grpId="1"/>
      <p:bldP spid="43" grpId="0"/>
      <p:bldP spid="44" grpId="1"/>
      <p:bldP spid="66" grpId="0" animBg="1"/>
      <p:bldP spid="68" grpId="0"/>
      <p:bldP spid="16" grpId="0"/>
      <p:bldP spid="66" grpId="1" animBg="1"/>
      <p:bldP spid="68" grpId="1"/>
      <p:bldP spid="16" grpId="1"/>
      <p:bldP spid="45" grpId="0" bldLvl="0" animBg="1"/>
      <p:bldP spid="46" grpId="0"/>
      <p:bldP spid="47" grpId="0"/>
      <p:bldP spid="45" grpId="1" animBg="1"/>
      <p:bldP spid="46" grpId="1"/>
      <p:bldP spid="47" grpId="1"/>
      <p:bldP spid="16" grpId="2"/>
      <p:bldP spid="43" grpId="1"/>
      <p:bldP spid="44" grpId="2"/>
      <p:bldP spid="48" grpId="0"/>
      <p:bldP spid="50" grpId="0"/>
      <p:bldP spid="50" grpId="1"/>
      <p:bldP spid="56" grpId="0"/>
      <p:bldP spid="56" grpId="1"/>
      <p:bldP spid="61" grpId="0"/>
      <p:bldP spid="61" grpId="1"/>
      <p:bldP spid="72" grpId="0"/>
      <p:bldP spid="72" grpId="1"/>
      <p:bldP spid="73" grpId="1"/>
      <p:bldP spid="74" grpId="0"/>
      <p:bldP spid="47" grpId="2"/>
      <p:bldP spid="46" grpId="2"/>
      <p:bldP spid="45" grpId="2" animBg="1"/>
      <p:bldP spid="48" grpId="1"/>
      <p:bldP spid="50" grpId="2"/>
      <p:bldP spid="65" grpId="0" bldLvl="0" animBg="1"/>
      <p:bldP spid="67" grpId="0"/>
      <p:bldP spid="71" grpId="0"/>
      <p:bldP spid="65" grpId="1" animBg="1"/>
      <p:bldP spid="67" grpId="1"/>
      <p:bldP spid="71" grpId="1"/>
      <p:bldP spid="73" grpId="2"/>
      <p:bldP spid="73" grpId="3"/>
      <p:bldP spid="8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197" name="直接箭头连接符 196"/>
          <p:cNvCxnSpPr/>
          <p:nvPr/>
        </p:nvCxnSpPr>
        <p:spPr>
          <a:xfrm flipV="1">
            <a:off x="6323965" y="2204720"/>
            <a:ext cx="127254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8" name="文本框 197"/>
          <p:cNvSpPr txBox="1"/>
          <p:nvPr/>
        </p:nvSpPr>
        <p:spPr>
          <a:xfrm>
            <a:off x="7752080" y="170053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更新方向</a:t>
            </a:r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314450" y="2363788"/>
            <a:ext cx="6515100" cy="847725"/>
            <a:chOff x="828" y="1893"/>
            <a:chExt cx="4104" cy="53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28" y="1893"/>
              <a:ext cx="4104" cy="5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Line 7"/>
            <p:cNvSpPr>
              <a:spLocks noChangeShapeType="1"/>
            </p:cNvSpPr>
            <p:nvPr/>
          </p:nvSpPr>
          <p:spPr bwMode="auto">
            <a:xfrm>
              <a:off x="1144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45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9"/>
            <p:cNvSpPr>
              <a:spLocks noChangeShapeType="1"/>
            </p:cNvSpPr>
            <p:nvPr/>
          </p:nvSpPr>
          <p:spPr bwMode="auto">
            <a:xfrm>
              <a:off x="176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Line 10"/>
            <p:cNvSpPr>
              <a:spLocks noChangeShapeType="1"/>
            </p:cNvSpPr>
            <p:nvPr/>
          </p:nvSpPr>
          <p:spPr bwMode="auto">
            <a:xfrm>
              <a:off x="2079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>
              <a:off x="2391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2"/>
            <p:cNvSpPr>
              <a:spLocks noChangeShapeType="1"/>
            </p:cNvSpPr>
            <p:nvPr/>
          </p:nvSpPr>
          <p:spPr bwMode="auto">
            <a:xfrm>
              <a:off x="270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3015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4"/>
            <p:cNvSpPr>
              <a:spLocks noChangeShapeType="1"/>
            </p:cNvSpPr>
            <p:nvPr/>
          </p:nvSpPr>
          <p:spPr bwMode="auto">
            <a:xfrm>
              <a:off x="3326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>
              <a:off x="3638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6"/>
            <p:cNvSpPr>
              <a:spLocks noChangeShapeType="1"/>
            </p:cNvSpPr>
            <p:nvPr/>
          </p:nvSpPr>
          <p:spPr bwMode="auto">
            <a:xfrm>
              <a:off x="3950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7"/>
            <p:cNvSpPr>
              <a:spLocks noChangeShapeType="1"/>
            </p:cNvSpPr>
            <p:nvPr/>
          </p:nvSpPr>
          <p:spPr bwMode="auto">
            <a:xfrm>
              <a:off x="426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573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828" y="213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0"/>
            <p:cNvSpPr>
              <a:spLocks noChangeShapeType="1"/>
            </p:cNvSpPr>
            <p:nvPr/>
          </p:nvSpPr>
          <p:spPr bwMode="auto">
            <a:xfrm>
              <a:off x="832" y="1904"/>
              <a:ext cx="0" cy="47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4924" y="1905"/>
              <a:ext cx="0" cy="47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828" y="1908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828" y="2379"/>
              <a:ext cx="4100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Rectangle 24"/>
            <p:cNvSpPr>
              <a:spLocks noChangeArrowheads="1"/>
            </p:cNvSpPr>
            <p:nvPr/>
          </p:nvSpPr>
          <p:spPr bwMode="auto">
            <a:xfrm>
              <a:off x="4631" y="1943"/>
              <a:ext cx="29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29" name="Rectangle 25"/>
            <p:cNvSpPr>
              <a:spLocks noChangeArrowheads="1"/>
            </p:cNvSpPr>
            <p:nvPr/>
          </p:nvSpPr>
          <p:spPr bwMode="auto">
            <a:xfrm>
              <a:off x="4320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0" name="Rectangle 26"/>
            <p:cNvSpPr>
              <a:spLocks noChangeArrowheads="1"/>
            </p:cNvSpPr>
            <p:nvPr/>
          </p:nvSpPr>
          <p:spPr bwMode="auto">
            <a:xfrm>
              <a:off x="4008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1" name="Rectangle 27"/>
            <p:cNvSpPr>
              <a:spLocks noChangeArrowheads="1"/>
            </p:cNvSpPr>
            <p:nvPr/>
          </p:nvSpPr>
          <p:spPr bwMode="auto">
            <a:xfrm>
              <a:off x="369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384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3" name="Rectangle 29"/>
            <p:cNvSpPr>
              <a:spLocks noChangeArrowheads="1"/>
            </p:cNvSpPr>
            <p:nvPr/>
          </p:nvSpPr>
          <p:spPr bwMode="auto">
            <a:xfrm>
              <a:off x="3073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4" name="Rectangle 30"/>
            <p:cNvSpPr>
              <a:spLocks noChangeArrowheads="1"/>
            </p:cNvSpPr>
            <p:nvPr/>
          </p:nvSpPr>
          <p:spPr bwMode="auto">
            <a:xfrm>
              <a:off x="2761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5" name="Rectangle 31"/>
            <p:cNvSpPr>
              <a:spLocks noChangeArrowheads="1"/>
            </p:cNvSpPr>
            <p:nvPr/>
          </p:nvSpPr>
          <p:spPr bwMode="auto">
            <a:xfrm>
              <a:off x="2449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2"/>
            <p:cNvSpPr>
              <a:spLocks noChangeArrowheads="1"/>
            </p:cNvSpPr>
            <p:nvPr/>
          </p:nvSpPr>
          <p:spPr bwMode="auto">
            <a:xfrm>
              <a:off x="2137" y="1943"/>
              <a:ext cx="239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3"/>
            <p:cNvSpPr>
              <a:spLocks noChangeArrowheads="1"/>
            </p:cNvSpPr>
            <p:nvPr/>
          </p:nvSpPr>
          <p:spPr bwMode="auto">
            <a:xfrm>
              <a:off x="1826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4"/>
            <p:cNvSpPr>
              <a:spLocks noChangeArrowheads="1"/>
            </p:cNvSpPr>
            <p:nvPr/>
          </p:nvSpPr>
          <p:spPr bwMode="auto">
            <a:xfrm>
              <a:off x="1514" y="1943"/>
              <a:ext cx="238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5"/>
            <p:cNvSpPr>
              <a:spLocks noChangeArrowheads="1"/>
            </p:cNvSpPr>
            <p:nvPr/>
          </p:nvSpPr>
          <p:spPr bwMode="auto">
            <a:xfrm>
              <a:off x="1202" y="1946"/>
              <a:ext cx="126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6"/>
            <p:cNvSpPr>
              <a:spLocks noChangeArrowheads="1"/>
            </p:cNvSpPr>
            <p:nvPr/>
          </p:nvSpPr>
          <p:spPr bwMode="auto">
            <a:xfrm>
              <a:off x="1267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7"/>
            <p:cNvSpPr>
              <a:spLocks noChangeArrowheads="1"/>
            </p:cNvSpPr>
            <p:nvPr/>
          </p:nvSpPr>
          <p:spPr bwMode="auto">
            <a:xfrm>
              <a:off x="890" y="1946"/>
              <a:ext cx="168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8"/>
            <p:cNvSpPr>
              <a:spLocks noChangeArrowheads="1"/>
            </p:cNvSpPr>
            <p:nvPr/>
          </p:nvSpPr>
          <p:spPr bwMode="auto">
            <a:xfrm>
              <a:off x="996" y="2023"/>
              <a:ext cx="68" cy="1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2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1826" y="2178"/>
              <a:ext cx="129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539750" y="2778125"/>
            <a:ext cx="488950" cy="3124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57" name="文本框 56"/>
          <p:cNvSpPr txBox="1"/>
          <p:nvPr/>
        </p:nvSpPr>
        <p:spPr>
          <a:xfrm>
            <a:off x="3636010" y="1412240"/>
            <a:ext cx="457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62" name="Rectangle 50"/>
          <p:cNvSpPr>
            <a:spLocks noChangeArrowheads="1"/>
          </p:cNvSpPr>
          <p:nvPr/>
        </p:nvSpPr>
        <p:spPr bwMode="auto">
          <a:xfrm>
            <a:off x="19081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3" name="Rectangle 51"/>
          <p:cNvSpPr>
            <a:spLocks noChangeArrowheads="1"/>
          </p:cNvSpPr>
          <p:nvPr/>
        </p:nvSpPr>
        <p:spPr bwMode="auto">
          <a:xfrm>
            <a:off x="1412875" y="281876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9" name="组合 138"/>
          <p:cNvGrpSpPr/>
          <p:nvPr/>
        </p:nvGrpSpPr>
        <p:grpSpPr>
          <a:xfrm>
            <a:off x="1314624" y="4724926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43" name="Rectangle 49"/>
          <p:cNvSpPr>
            <a:spLocks noChangeArrowheads="1"/>
          </p:cNvSpPr>
          <p:nvPr/>
        </p:nvSpPr>
        <p:spPr bwMode="auto">
          <a:xfrm>
            <a:off x="2403475" y="28162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7"/>
          <p:cNvSpPr>
            <a:spLocks noChangeArrowheads="1"/>
          </p:cNvSpPr>
          <p:nvPr/>
        </p:nvSpPr>
        <p:spPr bwMode="auto">
          <a:xfrm>
            <a:off x="33924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5" name="左大括号 64"/>
          <p:cNvSpPr/>
          <p:nvPr/>
        </p:nvSpPr>
        <p:spPr>
          <a:xfrm rot="5400000">
            <a:off x="4356100" y="2709545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5343525" y="3357880"/>
            <a:ext cx="5238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1+</a:t>
            </a:r>
            <a:endParaRPr lang="en-US" altLang="zh-CN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3340735" y="3355975"/>
            <a:ext cx="2242820" cy="461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>
                <a:sym typeface="+mn-ea"/>
              </a:rPr>
              <a:t>不选（</a:t>
            </a:r>
            <a:r>
              <a:rPr lang="en-US" altLang="zh-CN" sz="1200">
                <a:sym typeface="+mn-ea"/>
              </a:rPr>
              <a:t>0</a:t>
            </a:r>
            <a:r>
              <a:rPr lang="zh-CN" altLang="en-US" sz="1200">
                <a:sym typeface="+mn-ea"/>
              </a:rPr>
              <a:t>）：</a:t>
            </a:r>
            <a:r>
              <a:rPr lang="en-US" altLang="zh-CN" sz="1200">
                <a:sym typeface="+mn-ea"/>
              </a:rPr>
              <a:t>        </a:t>
            </a:r>
            <a:r>
              <a:rPr lang="zh-CN" altLang="en-US" sz="1200">
                <a:sym typeface="+mn-ea"/>
              </a:rPr>
              <a:t>选（</a:t>
            </a:r>
            <a:r>
              <a:rPr lang="en-US" altLang="zh-CN" sz="1200">
                <a:sym typeface="+mn-ea"/>
              </a:rPr>
              <a:t>1-2</a:t>
            </a:r>
            <a:r>
              <a:rPr lang="zh-CN" altLang="en-US" sz="1200">
                <a:sym typeface="+mn-ea"/>
              </a:rPr>
              <a:t>）</a:t>
            </a:r>
            <a:r>
              <a:rPr lang="zh-CN" altLang="en-US" sz="1200">
                <a:sym typeface="+mn-ea"/>
              </a:rPr>
              <a:t>：</a:t>
            </a:r>
            <a:endParaRPr lang="en-US" altLang="zh-CN" sz="1200">
              <a:sym typeface="+mn-ea"/>
            </a:endParaRPr>
          </a:p>
        </p:txBody>
      </p:sp>
      <p:sp>
        <p:nvSpPr>
          <p:cNvPr id="13" name="Rectangle 44"/>
          <p:cNvSpPr>
            <a:spLocks noChangeArrowheads="1"/>
          </p:cNvSpPr>
          <p:nvPr/>
        </p:nvSpPr>
        <p:spPr bwMode="auto">
          <a:xfrm>
            <a:off x="4878388" y="2816226"/>
            <a:ext cx="204788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6"/>
          <p:cNvSpPr>
            <a:spLocks noChangeArrowheads="1"/>
          </p:cNvSpPr>
          <p:nvPr/>
        </p:nvSpPr>
        <p:spPr bwMode="auto">
          <a:xfrm>
            <a:off x="38877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imes New Roman" panose="02020603050405020304" pitchFamily="18" charset="0"/>
              </a:rPr>
              <a:t>1</a:t>
            </a:r>
            <a:endParaRPr kumimoji="0" lang="en-US" altLang="zh-CN" sz="1800" b="0" i="0" baseline="0">
              <a:ln>
                <a:noFill/>
              </a:ln>
              <a:solidFill>
                <a:schemeClr val="tx1"/>
              </a:solidFill>
              <a:effectLst/>
              <a:uFillTx/>
              <a:latin typeface="Times New Roman" panose="02020603050405020304" pitchFamily="18" charset="0"/>
            </a:endParaRPr>
          </a:p>
        </p:txBody>
      </p:sp>
      <p:sp>
        <p:nvSpPr>
          <p:cNvPr id="51" name="Rectangle 46"/>
          <p:cNvSpPr>
            <a:spLocks noChangeArrowheads="1"/>
          </p:cNvSpPr>
          <p:nvPr/>
        </p:nvSpPr>
        <p:spPr bwMode="auto">
          <a:xfrm>
            <a:off x="5644833" y="3357881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imes New Roman" panose="02020603050405020304" pitchFamily="18" charset="0"/>
              </a:rPr>
              <a:t>1</a:t>
            </a:r>
            <a:endParaRPr kumimoji="0" lang="en-US" altLang="zh-CN" sz="1800" b="0" i="0" baseline="0">
              <a:ln>
                <a:noFill/>
              </a:ln>
              <a:solidFill>
                <a:schemeClr val="tx1"/>
              </a:solidFill>
              <a:effectLst/>
              <a:uFillTx/>
              <a:latin typeface="Times New Roman" panose="02020603050405020304" pitchFamily="18" charset="0"/>
            </a:endParaRPr>
          </a:p>
        </p:txBody>
      </p:sp>
      <p:sp>
        <p:nvSpPr>
          <p:cNvPr id="55" name="Rectangle 43"/>
          <p:cNvSpPr>
            <a:spLocks noChangeArrowheads="1"/>
          </p:cNvSpPr>
          <p:nvPr/>
        </p:nvSpPr>
        <p:spPr bwMode="auto">
          <a:xfrm>
            <a:off x="4211955" y="3357881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43"/>
          <p:cNvSpPr>
            <a:spLocks noChangeArrowheads="1"/>
          </p:cNvSpPr>
          <p:nvPr/>
        </p:nvSpPr>
        <p:spPr bwMode="auto">
          <a:xfrm>
            <a:off x="5438775" y="28035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Rectangle 43"/>
          <p:cNvSpPr>
            <a:spLocks noChangeArrowheads="1"/>
          </p:cNvSpPr>
          <p:nvPr/>
        </p:nvSpPr>
        <p:spPr bwMode="auto">
          <a:xfrm>
            <a:off x="4894580" y="281114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70" name="左大括号 69"/>
          <p:cNvSpPr/>
          <p:nvPr/>
        </p:nvSpPr>
        <p:spPr>
          <a:xfrm rot="5400000">
            <a:off x="5363845" y="2707640"/>
            <a:ext cx="215900" cy="10801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6351270" y="3355975"/>
            <a:ext cx="5238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pitchFamily="18" charset="0"/>
                <a:cs typeface="Times New Roman" panose="02020603050405020304" pitchFamily="18" charset="0"/>
              </a:rPr>
              <a:t>1+</a:t>
            </a:r>
            <a:endParaRPr lang="en-US" altLang="zh-CN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4348480" y="3354070"/>
            <a:ext cx="2242820" cy="461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>
                <a:sym typeface="+mn-ea"/>
              </a:rPr>
              <a:t>不选（</a:t>
            </a:r>
            <a:r>
              <a:rPr lang="en-US" altLang="zh-CN" sz="1200">
                <a:sym typeface="+mn-ea"/>
              </a:rPr>
              <a:t>0</a:t>
            </a:r>
            <a:r>
              <a:rPr lang="zh-CN" altLang="en-US" sz="1200">
                <a:sym typeface="+mn-ea"/>
              </a:rPr>
              <a:t>）：</a:t>
            </a:r>
            <a:r>
              <a:rPr lang="en-US" altLang="zh-CN" sz="1200">
                <a:sym typeface="+mn-ea"/>
              </a:rPr>
              <a:t>        </a:t>
            </a:r>
            <a:r>
              <a:rPr lang="zh-CN" altLang="en-US" sz="1200">
                <a:sym typeface="+mn-ea"/>
              </a:rPr>
              <a:t>选（</a:t>
            </a:r>
            <a:r>
              <a:rPr lang="en-US" altLang="zh-CN" sz="1200">
                <a:sym typeface="+mn-ea"/>
              </a:rPr>
              <a:t>1-3</a:t>
            </a:r>
            <a:r>
              <a:rPr lang="zh-CN" altLang="en-US" sz="1200">
                <a:sym typeface="+mn-ea"/>
              </a:rPr>
              <a:t>）</a:t>
            </a:r>
            <a:r>
              <a:rPr lang="zh-CN" altLang="en-US" sz="1200">
                <a:sym typeface="+mn-ea"/>
              </a:rPr>
              <a:t>：</a:t>
            </a:r>
            <a:endParaRPr lang="en-US" altLang="zh-CN" sz="1200">
              <a:sym typeface="+mn-ea"/>
            </a:endParaRPr>
          </a:p>
        </p:txBody>
      </p:sp>
      <p:sp>
        <p:nvSpPr>
          <p:cNvPr id="81" name="Rectangle 45"/>
          <p:cNvSpPr>
            <a:spLocks noChangeArrowheads="1"/>
          </p:cNvSpPr>
          <p:nvPr/>
        </p:nvSpPr>
        <p:spPr bwMode="auto">
          <a:xfrm>
            <a:off x="4383088" y="28162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4" name="Rectangle 42"/>
          <p:cNvSpPr>
            <a:spLocks noChangeArrowheads="1"/>
          </p:cNvSpPr>
          <p:nvPr/>
        </p:nvSpPr>
        <p:spPr bwMode="auto">
          <a:xfrm>
            <a:off x="5438775" y="28035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6" name="Rectangle 42"/>
          <p:cNvSpPr>
            <a:spLocks noChangeArrowheads="1"/>
          </p:cNvSpPr>
          <p:nvPr/>
        </p:nvSpPr>
        <p:spPr bwMode="auto">
          <a:xfrm>
            <a:off x="4383405" y="281114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9" name="Rectangle 42"/>
          <p:cNvSpPr>
            <a:spLocks noChangeArrowheads="1"/>
          </p:cNvSpPr>
          <p:nvPr/>
        </p:nvSpPr>
        <p:spPr bwMode="auto">
          <a:xfrm>
            <a:off x="5940425" y="279590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41"/>
          <p:cNvSpPr>
            <a:spLocks noChangeArrowheads="1"/>
          </p:cNvSpPr>
          <p:nvPr/>
        </p:nvSpPr>
        <p:spPr bwMode="auto">
          <a:xfrm>
            <a:off x="5940425" y="27781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6" name="Rectangle 42"/>
          <p:cNvSpPr>
            <a:spLocks noChangeArrowheads="1"/>
          </p:cNvSpPr>
          <p:nvPr/>
        </p:nvSpPr>
        <p:spPr bwMode="auto">
          <a:xfrm>
            <a:off x="6876415" y="278066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7" name="Rectangle 41"/>
          <p:cNvSpPr>
            <a:spLocks noChangeArrowheads="1"/>
          </p:cNvSpPr>
          <p:nvPr/>
        </p:nvSpPr>
        <p:spPr bwMode="auto">
          <a:xfrm>
            <a:off x="6876415" y="27781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8" name="Rectangle 42"/>
          <p:cNvSpPr>
            <a:spLocks noChangeArrowheads="1"/>
          </p:cNvSpPr>
          <p:nvPr/>
        </p:nvSpPr>
        <p:spPr bwMode="auto">
          <a:xfrm>
            <a:off x="6384925" y="278066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41"/>
          <p:cNvSpPr>
            <a:spLocks noChangeArrowheads="1"/>
          </p:cNvSpPr>
          <p:nvPr/>
        </p:nvSpPr>
        <p:spPr bwMode="auto">
          <a:xfrm>
            <a:off x="6384925" y="27781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00" name="Rectangle 42"/>
          <p:cNvSpPr>
            <a:spLocks noChangeArrowheads="1"/>
          </p:cNvSpPr>
          <p:nvPr/>
        </p:nvSpPr>
        <p:spPr bwMode="auto">
          <a:xfrm>
            <a:off x="7352030" y="2778126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Rectangle 41"/>
          <p:cNvSpPr>
            <a:spLocks noChangeArrowheads="1"/>
          </p:cNvSpPr>
          <p:nvPr/>
        </p:nvSpPr>
        <p:spPr bwMode="auto">
          <a:xfrm>
            <a:off x="7352030" y="2778126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236111 0.0734259 " pathEditMode="relative" ptsTypes="">
                                      <p:cBhvr>
                                        <p:cTn id="34" dur="2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01674 -0.00840271 C 0.0184369 -0.0361027 0.0458938 -0.143699 0.0955335 -0.126206 C 0.145173 -0.10871 0.222067 0.0356276 0.25135 0.0790751 " pathEditMode="relative" rAng="0" ptsTypes="">
                                      <p:cBhvr>
                                        <p:cTn id="41" dur="2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4" y="-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1"/>
      <p:bldP spid="95" grpId="1"/>
      <p:bldP spid="198" grpId="1"/>
      <p:bldP spid="62" grpId="1"/>
      <p:bldP spid="63" grpId="1"/>
      <p:bldP spid="65" grpId="1" animBg="1"/>
      <p:bldP spid="67" grpId="1"/>
      <p:bldP spid="71" grpId="1"/>
      <p:bldP spid="13" grpId="0"/>
      <p:bldP spid="64" grpId="0"/>
      <p:bldP spid="65" grpId="2" animBg="1"/>
      <p:bldP spid="67" grpId="2"/>
      <p:bldP spid="71" grpId="2"/>
      <p:bldP spid="51" grpId="0"/>
      <p:bldP spid="55" grpId="0"/>
      <p:bldP spid="70" grpId="1" animBg="1"/>
      <p:bldP spid="75" grpId="1"/>
      <p:bldP spid="76" grpId="1"/>
      <p:bldP spid="70" grpId="2" bldLvl="0" animBg="1"/>
      <p:bldP spid="75" grpId="2"/>
      <p:bldP spid="76" grpId="2"/>
      <p:bldP spid="60" grpId="0"/>
      <p:bldP spid="84" grpId="0"/>
      <p:bldP spid="86" grpId="0"/>
      <p:bldP spid="86" grpId="1"/>
      <p:bldP spid="89" grpId="0"/>
      <p:bldP spid="92" grpId="0"/>
      <p:bldP spid="96" grpId="0"/>
      <p:bldP spid="97" grpId="0"/>
      <p:bldP spid="98" grpId="0"/>
      <p:bldP spid="99" grpId="0"/>
      <p:bldP spid="100" grpId="0"/>
      <p:bldP spid="10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1043305" y="41700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3305" y="389890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3305" y="36239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3305" y="334772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43305" y="306895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889760"/>
            <a:ext cx="6267450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def Knapsack_other(wight:list,value:list,V:int)-&gt;int: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dp = [0 for _ in range(V+1)]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dp[j]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max(dp[j],dp[j-wight[i-1]]+value[i-1])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3305" y="5372735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1, 2, 2, 3, 3, 4, 4, 5]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43305" y="5938520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3, 3, 4, 6, 6, 7, 9, 9]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79705" y="5383530"/>
            <a:ext cx="1177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第一次：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第二次：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0" grpId="2" animBg="1"/>
      <p:bldP spid="9" grpId="0" animBg="1"/>
      <p:bldP spid="9" grpId="1" animBg="1"/>
      <p:bldP spid="9" grpId="2" animBg="1"/>
      <p:bldP spid="8" grpId="0" animBg="1"/>
      <p:bldP spid="8" grpId="1" animBg="1"/>
      <p:bldP spid="8" grpId="2" animBg="1"/>
      <p:bldP spid="7" grpId="0" animBg="1"/>
      <p:bldP spid="7" grpId="1" animBg="1"/>
      <p:bldP spid="7" grpId="2" animBg="1"/>
      <p:bldP spid="6" grpId="0" animBg="1"/>
      <p:bldP spid="6" grpId="1" animBg="1"/>
      <p:bldP spid="6" grpId="2" animBg="1"/>
      <p:bldP spid="11" grpId="0"/>
      <p:bldP spid="11" grpId="1"/>
      <p:bldP spid="2" grpId="0"/>
      <p:bldP spid="2" grpId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614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多重背包问题：有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...S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，背包称重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示例：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={6,3,3},W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={2,6,3},V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={1,10,6},W=10kg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60" y="2996952"/>
            <a:ext cx="75608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当然可以把每个相同的物品都看作的是独立的，将多重背包问题转换成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背包问题，然后就可以按照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背包问题求解。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9468" y="836062"/>
          <a:ext cx="7020000" cy="504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539552" y="908720"/>
            <a:ext cx="75608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实现：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Multiple_Knapsack(wight:list,value:list,number:list,V:int)-&gt;int: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dp = [0]*(V+1)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range(len(number)):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k in range(number[i]):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 j in range(V,1,-1):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 j&gt;=wight[i]: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dp[j] = max(dp[j],dp[j-wight[i]]+value[i])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是否还有更好的方法优化多重背包问题？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7665" y="1503680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二进制方法：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467360" y="242062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73075" y="3068955"/>
            <a:ext cx="62744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一组二进制数列，可以表示任何一个数字：</a:t>
            </a:r>
            <a:endParaRPr lang="zh-CN" altLang="en-US"/>
          </a:p>
          <a:p>
            <a:r>
              <a:rPr lang="zh-CN" altLang="en-US"/>
              <a:t>例如</a:t>
            </a:r>
            <a:r>
              <a:rPr lang="en-US" altLang="zh-CN"/>
              <a:t>:</a:t>
            </a:r>
            <a:r>
              <a:rPr lang="zh-CN" altLang="en-US"/>
              <a:t>组合成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73075" y="378904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73075" y="458089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115" y="4191000"/>
            <a:ext cx="620585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只需要将该位置标记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>
                <a:sym typeface="+mn-ea"/>
              </a:rPr>
              <a:t>，表示该数字组合需要选择</a:t>
            </a:r>
            <a:endParaRPr lang="zh-CN" altLang="en-US"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6885" y="5346065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可以用二进制方法组合任意想要的数字。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427855" y="908685"/>
            <a:ext cx="4224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回顾一下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Pow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函数的二进制实现方法？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将二进制方法利用到多重背包中：假设第一个物品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23523" y="1763162"/>
          <a:ext cx="7020000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99415" y="4159885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，所以只需要四行就可以表示所有种情况，但是最后一行必须做一个必须做一个特殊处理，为什么呢？</a:t>
            </a:r>
            <a:endParaRPr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35560" y="764540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，所以只需要四行就可以表示所有种情况，但是最后一行必须做一个必须做一个特殊处理，为什么呢？</a:t>
            </a:r>
            <a:endParaRPr lang="zh-CN" altLang="en-US"/>
          </a:p>
        </p:txBody>
      </p:sp>
      <p:sp>
        <p:nvSpPr>
          <p:cNvPr id="3" name="圆角矩形 2"/>
          <p:cNvSpPr/>
          <p:nvPr/>
        </p:nvSpPr>
        <p:spPr>
          <a:xfrm>
            <a:off x="4140835" y="170053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3" idx="2"/>
            <a:endCxn id="11" idx="0"/>
          </p:cNvCxnSpPr>
          <p:nvPr/>
        </p:nvCxnSpPr>
        <p:spPr>
          <a:xfrm flipH="1">
            <a:off x="3870960" y="202247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3" idx="2"/>
            <a:endCxn id="19" idx="0"/>
          </p:cNvCxnSpPr>
          <p:nvPr/>
        </p:nvCxnSpPr>
        <p:spPr>
          <a:xfrm>
            <a:off x="4385945" y="202247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3079115" y="252666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3870960" y="252666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4879340" y="252666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5089525" y="252666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39" idx="2"/>
            <a:endCxn id="10" idx="0"/>
          </p:cNvCxnSpPr>
          <p:nvPr/>
        </p:nvCxnSpPr>
        <p:spPr>
          <a:xfrm flipH="1">
            <a:off x="2507615" y="3123565"/>
            <a:ext cx="599440" cy="377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15" idx="0"/>
          </p:cNvCxnSpPr>
          <p:nvPr/>
        </p:nvCxnSpPr>
        <p:spPr>
          <a:xfrm>
            <a:off x="3079115" y="3133090"/>
            <a:ext cx="18415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3625850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844415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2834005" y="28111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3914140" y="28117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4634230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5498465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225290" y="170053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636645" y="220472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4844415" y="221361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844165" y="282003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914140" y="28111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644390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508625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23761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313182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>
            <a:stCxn id="40" idx="2"/>
            <a:endCxn id="18" idx="0"/>
          </p:cNvCxnSpPr>
          <p:nvPr/>
        </p:nvCxnSpPr>
        <p:spPr>
          <a:xfrm flipH="1">
            <a:off x="3743325" y="3114675"/>
            <a:ext cx="43370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40" idx="2"/>
            <a:endCxn id="29" idx="0"/>
          </p:cNvCxnSpPr>
          <p:nvPr/>
        </p:nvCxnSpPr>
        <p:spPr>
          <a:xfrm>
            <a:off x="4177030" y="3114675"/>
            <a:ext cx="17716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圆角矩形 17"/>
          <p:cNvSpPr/>
          <p:nvPr/>
        </p:nvSpPr>
        <p:spPr>
          <a:xfrm>
            <a:off x="361188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22275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连接符 29"/>
          <p:cNvCxnSpPr>
            <a:stCxn id="41" idx="2"/>
            <a:endCxn id="46" idx="0"/>
          </p:cNvCxnSpPr>
          <p:nvPr/>
        </p:nvCxnSpPr>
        <p:spPr>
          <a:xfrm flipH="1">
            <a:off x="4704080" y="3129915"/>
            <a:ext cx="2032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直接连接符 44"/>
          <p:cNvCxnSpPr>
            <a:stCxn id="41" idx="2"/>
            <a:endCxn id="47" idx="0"/>
          </p:cNvCxnSpPr>
          <p:nvPr/>
        </p:nvCxnSpPr>
        <p:spPr>
          <a:xfrm>
            <a:off x="4907280" y="3129915"/>
            <a:ext cx="2286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圆角矩形 45"/>
          <p:cNvSpPr/>
          <p:nvPr/>
        </p:nvSpPr>
        <p:spPr>
          <a:xfrm>
            <a:off x="45726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0044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8" name="直接连接符 47"/>
          <p:cNvCxnSpPr>
            <a:stCxn id="42" idx="2"/>
            <a:endCxn id="50" idx="0"/>
          </p:cNvCxnSpPr>
          <p:nvPr/>
        </p:nvCxnSpPr>
        <p:spPr>
          <a:xfrm flipH="1">
            <a:off x="5423535" y="3129915"/>
            <a:ext cx="34798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42" idx="2"/>
            <a:endCxn id="51" idx="0"/>
          </p:cNvCxnSpPr>
          <p:nvPr/>
        </p:nvCxnSpPr>
        <p:spPr>
          <a:xfrm>
            <a:off x="5771515" y="3129915"/>
            <a:ext cx="4445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圆角矩形 49"/>
          <p:cNvSpPr/>
          <p:nvPr/>
        </p:nvSpPr>
        <p:spPr>
          <a:xfrm>
            <a:off x="529209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845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连接符 51"/>
          <p:cNvCxnSpPr>
            <a:stCxn id="10" idx="2"/>
            <a:endCxn id="54" idx="0"/>
          </p:cNvCxnSpPr>
          <p:nvPr/>
        </p:nvCxnSpPr>
        <p:spPr>
          <a:xfrm flipH="1">
            <a:off x="2183765" y="3747135"/>
            <a:ext cx="3238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直接连接符 52"/>
          <p:cNvCxnSpPr>
            <a:stCxn id="10" idx="2"/>
            <a:endCxn id="55" idx="0"/>
          </p:cNvCxnSpPr>
          <p:nvPr/>
        </p:nvCxnSpPr>
        <p:spPr>
          <a:xfrm>
            <a:off x="2507615" y="3747135"/>
            <a:ext cx="1079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圆角矩形 53"/>
          <p:cNvSpPr/>
          <p:nvPr/>
        </p:nvSpPr>
        <p:spPr>
          <a:xfrm>
            <a:off x="20523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24841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6" name="直接连接符 55"/>
          <p:cNvCxnSpPr>
            <a:stCxn id="15" idx="2"/>
            <a:endCxn id="58" idx="0"/>
          </p:cNvCxnSpPr>
          <p:nvPr/>
        </p:nvCxnSpPr>
        <p:spPr>
          <a:xfrm flipH="1">
            <a:off x="2917190" y="3747135"/>
            <a:ext cx="3460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" name="直接连接符 56"/>
          <p:cNvCxnSpPr>
            <a:stCxn id="15" idx="2"/>
            <a:endCxn id="59" idx="0"/>
          </p:cNvCxnSpPr>
          <p:nvPr/>
        </p:nvCxnSpPr>
        <p:spPr>
          <a:xfrm>
            <a:off x="3263265" y="3747135"/>
            <a:ext cx="7239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圆角矩形 57"/>
          <p:cNvSpPr/>
          <p:nvPr/>
        </p:nvSpPr>
        <p:spPr>
          <a:xfrm>
            <a:off x="278574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320421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0" name="直接连接符 59"/>
          <p:cNvCxnSpPr>
            <a:stCxn id="18" idx="2"/>
            <a:endCxn id="62" idx="0"/>
          </p:cNvCxnSpPr>
          <p:nvPr/>
        </p:nvCxnSpPr>
        <p:spPr>
          <a:xfrm flipH="1">
            <a:off x="3637280" y="3747135"/>
            <a:ext cx="10604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直接连接符 60"/>
          <p:cNvCxnSpPr>
            <a:stCxn id="18" idx="2"/>
            <a:endCxn id="63" idx="0"/>
          </p:cNvCxnSpPr>
          <p:nvPr/>
        </p:nvCxnSpPr>
        <p:spPr>
          <a:xfrm>
            <a:off x="3743325" y="3747135"/>
            <a:ext cx="32575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圆角矩形 61"/>
          <p:cNvSpPr/>
          <p:nvPr/>
        </p:nvSpPr>
        <p:spPr>
          <a:xfrm>
            <a:off x="35058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39376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4" name="直接连接符 63"/>
          <p:cNvCxnSpPr>
            <a:stCxn id="29" idx="2"/>
            <a:endCxn id="66" idx="0"/>
          </p:cNvCxnSpPr>
          <p:nvPr/>
        </p:nvCxnSpPr>
        <p:spPr>
          <a:xfrm>
            <a:off x="4354195" y="3747135"/>
            <a:ext cx="254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直接连接符 64"/>
          <p:cNvCxnSpPr>
            <a:stCxn id="29" idx="2"/>
            <a:endCxn id="67" idx="0"/>
          </p:cNvCxnSpPr>
          <p:nvPr/>
        </p:nvCxnSpPr>
        <p:spPr>
          <a:xfrm>
            <a:off x="4354195" y="3747135"/>
            <a:ext cx="4222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" name="圆角矩形 65"/>
          <p:cNvSpPr/>
          <p:nvPr/>
        </p:nvSpPr>
        <p:spPr>
          <a:xfrm>
            <a:off x="422529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圆角矩形 66"/>
          <p:cNvSpPr/>
          <p:nvPr/>
        </p:nvSpPr>
        <p:spPr>
          <a:xfrm>
            <a:off x="464502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连接符 67"/>
          <p:cNvCxnSpPr/>
          <p:nvPr/>
        </p:nvCxnSpPr>
        <p:spPr>
          <a:xfrm flipV="1">
            <a:off x="1434465" y="206057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直接连接符 68"/>
          <p:cNvCxnSpPr/>
          <p:nvPr/>
        </p:nvCxnSpPr>
        <p:spPr>
          <a:xfrm flipV="1">
            <a:off x="1434465" y="270891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直接连接符 69"/>
          <p:cNvCxnSpPr/>
          <p:nvPr/>
        </p:nvCxnSpPr>
        <p:spPr>
          <a:xfrm flipV="1">
            <a:off x="1434465" y="331724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直接连接符 70"/>
          <p:cNvCxnSpPr/>
          <p:nvPr/>
        </p:nvCxnSpPr>
        <p:spPr>
          <a:xfrm flipV="1">
            <a:off x="1434465" y="386080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/>
          <p:nvPr/>
        </p:nvCxnSpPr>
        <p:spPr>
          <a:xfrm flipV="1">
            <a:off x="1434465" y="450913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文本框 72"/>
          <p:cNvSpPr txBox="1"/>
          <p:nvPr/>
        </p:nvSpPr>
        <p:spPr>
          <a:xfrm>
            <a:off x="1454150" y="23406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454150" y="29248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1434465" y="35007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1434465" y="407670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372225" y="23488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372225" y="29330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352540" y="35090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352540" y="40849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3150235" y="1657985"/>
            <a:ext cx="2654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选</a:t>
            </a:r>
            <a:r>
              <a:rPr lang="en-US" altLang="zh-CN"/>
              <a:t>                          </a:t>
            </a:r>
            <a:r>
              <a:rPr lang="zh-CN" altLang="en-US"/>
              <a:t>不</a:t>
            </a:r>
            <a:r>
              <a:rPr lang="zh-CN" altLang="en-US">
                <a:sym typeface="+mn-ea"/>
              </a:rPr>
              <a:t>选</a:t>
            </a:r>
            <a:endParaRPr lang="en-US" altLang="zh-CN"/>
          </a:p>
        </p:txBody>
      </p:sp>
      <p:sp>
        <p:nvSpPr>
          <p:cNvPr id="91" name="任意多边形 90"/>
          <p:cNvSpPr/>
          <p:nvPr/>
        </p:nvSpPr>
        <p:spPr>
          <a:xfrm>
            <a:off x="1901825" y="1522095"/>
            <a:ext cx="2134870" cy="2839085"/>
          </a:xfrm>
          <a:custGeom>
            <a:avLst/>
            <a:gdLst>
              <a:gd name="connisteX0" fmla="*/ 2106295 w 2134909"/>
              <a:gd name="connsiteY0" fmla="*/ 0 h 2839085"/>
              <a:gd name="connisteX1" fmla="*/ 2078990 w 2134909"/>
              <a:gd name="connsiteY1" fmla="*/ 467360 h 2839085"/>
              <a:gd name="connisteX2" fmla="*/ 1584325 w 2134909"/>
              <a:gd name="connsiteY2" fmla="*/ 613410 h 2839085"/>
              <a:gd name="connisteX3" fmla="*/ 1538605 w 2134909"/>
              <a:gd name="connsiteY3" fmla="*/ 925195 h 2839085"/>
              <a:gd name="connisteX4" fmla="*/ 934085 w 2134909"/>
              <a:gd name="connsiteY4" fmla="*/ 1199515 h 2839085"/>
              <a:gd name="connisteX5" fmla="*/ 842645 w 2134909"/>
              <a:gd name="connsiteY5" fmla="*/ 1602740 h 2839085"/>
              <a:gd name="connisteX6" fmla="*/ 503555 w 2134909"/>
              <a:gd name="connsiteY6" fmla="*/ 1804035 h 2839085"/>
              <a:gd name="connisteX7" fmla="*/ 375285 w 2134909"/>
              <a:gd name="connsiteY7" fmla="*/ 2216150 h 2839085"/>
              <a:gd name="connisteX8" fmla="*/ 73025 w 2134909"/>
              <a:gd name="connsiteY8" fmla="*/ 2573655 h 2839085"/>
              <a:gd name="connisteX9" fmla="*/ 0 w 2134909"/>
              <a:gd name="connsiteY9" fmla="*/ 2839085 h 283908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</a:cxnLst>
            <a:rect l="l" t="t" r="r" b="b"/>
            <a:pathLst>
              <a:path w="2134910" h="2839085">
                <a:moveTo>
                  <a:pt x="2106295" y="0"/>
                </a:moveTo>
                <a:cubicBezTo>
                  <a:pt x="2110740" y="90805"/>
                  <a:pt x="2183130" y="344805"/>
                  <a:pt x="2078990" y="467360"/>
                </a:cubicBezTo>
                <a:cubicBezTo>
                  <a:pt x="1974850" y="589915"/>
                  <a:pt x="1692275" y="521970"/>
                  <a:pt x="1584325" y="613410"/>
                </a:cubicBezTo>
                <a:cubicBezTo>
                  <a:pt x="1476375" y="704850"/>
                  <a:pt x="1668780" y="807720"/>
                  <a:pt x="1538605" y="925195"/>
                </a:cubicBezTo>
                <a:cubicBezTo>
                  <a:pt x="1408430" y="1042670"/>
                  <a:pt x="1073150" y="1064260"/>
                  <a:pt x="934085" y="1199515"/>
                </a:cubicBezTo>
                <a:cubicBezTo>
                  <a:pt x="795020" y="1334770"/>
                  <a:pt x="929005" y="1482090"/>
                  <a:pt x="842645" y="1602740"/>
                </a:cubicBezTo>
                <a:cubicBezTo>
                  <a:pt x="756285" y="1723390"/>
                  <a:pt x="596900" y="1681480"/>
                  <a:pt x="503555" y="1804035"/>
                </a:cubicBezTo>
                <a:cubicBezTo>
                  <a:pt x="410210" y="1926590"/>
                  <a:pt x="461645" y="2062480"/>
                  <a:pt x="375285" y="2216150"/>
                </a:cubicBezTo>
                <a:cubicBezTo>
                  <a:pt x="288925" y="2369820"/>
                  <a:pt x="147955" y="2449195"/>
                  <a:pt x="73025" y="2573655"/>
                </a:cubicBezTo>
                <a:cubicBezTo>
                  <a:pt x="-1905" y="2698115"/>
                  <a:pt x="8255" y="2793365"/>
                  <a:pt x="0" y="2839085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任意多边形 91"/>
          <p:cNvSpPr/>
          <p:nvPr/>
        </p:nvSpPr>
        <p:spPr>
          <a:xfrm>
            <a:off x="3505835" y="2530475"/>
            <a:ext cx="425450" cy="1914525"/>
          </a:xfrm>
          <a:custGeom>
            <a:avLst/>
            <a:gdLst>
              <a:gd name="connisteX0" fmla="*/ 342615 w 425165"/>
              <a:gd name="connsiteY0" fmla="*/ 0 h 1757966"/>
              <a:gd name="connisteX1" fmla="*/ 425165 w 425165"/>
              <a:gd name="connsiteY1" fmla="*/ 182880 h 1757966"/>
              <a:gd name="connisteX2" fmla="*/ 342615 w 425165"/>
              <a:gd name="connsiteY2" fmla="*/ 274320 h 1757966"/>
              <a:gd name="connisteX3" fmla="*/ 361030 w 425165"/>
              <a:gd name="connsiteY3" fmla="*/ 530860 h 1757966"/>
              <a:gd name="connisteX4" fmla="*/ 342615 w 425165"/>
              <a:gd name="connsiteY4" fmla="*/ 686435 h 1757966"/>
              <a:gd name="connisteX5" fmla="*/ 77185 w 425165"/>
              <a:gd name="connsiteY5" fmla="*/ 888365 h 1757966"/>
              <a:gd name="connisteX6" fmla="*/ 67660 w 425165"/>
              <a:gd name="connsiteY6" fmla="*/ 1199515 h 1757966"/>
              <a:gd name="connisteX7" fmla="*/ 3525 w 425165"/>
              <a:gd name="connsiteY7" fmla="*/ 1694180 h 1757966"/>
              <a:gd name="connisteX8" fmla="*/ 13050 w 425165"/>
              <a:gd name="connsiteY8" fmla="*/ 1739900 h 175796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25165" h="1757967">
                <a:moveTo>
                  <a:pt x="342615" y="0"/>
                </a:moveTo>
                <a:cubicBezTo>
                  <a:pt x="361030" y="34925"/>
                  <a:pt x="425165" y="128270"/>
                  <a:pt x="425165" y="182880"/>
                </a:cubicBezTo>
                <a:cubicBezTo>
                  <a:pt x="425165" y="237490"/>
                  <a:pt x="355315" y="204470"/>
                  <a:pt x="342615" y="274320"/>
                </a:cubicBezTo>
                <a:cubicBezTo>
                  <a:pt x="329915" y="344170"/>
                  <a:pt x="361030" y="448310"/>
                  <a:pt x="361030" y="530860"/>
                </a:cubicBezTo>
                <a:cubicBezTo>
                  <a:pt x="361030" y="613410"/>
                  <a:pt x="399130" y="614680"/>
                  <a:pt x="342615" y="686435"/>
                </a:cubicBezTo>
                <a:cubicBezTo>
                  <a:pt x="286100" y="758190"/>
                  <a:pt x="132430" y="785495"/>
                  <a:pt x="77185" y="888365"/>
                </a:cubicBezTo>
                <a:cubicBezTo>
                  <a:pt x="21940" y="991235"/>
                  <a:pt x="82265" y="1038225"/>
                  <a:pt x="67660" y="1199515"/>
                </a:cubicBezTo>
                <a:cubicBezTo>
                  <a:pt x="53055" y="1360805"/>
                  <a:pt x="14320" y="1586230"/>
                  <a:pt x="3525" y="1694180"/>
                </a:cubicBezTo>
                <a:cubicBezTo>
                  <a:pt x="-7270" y="1802130"/>
                  <a:pt x="9875" y="1740535"/>
                  <a:pt x="13050" y="1739900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67360" y="4810125"/>
            <a:ext cx="8103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如果，不是剩下物品数量，则会出现超出物品数量情况。因此最后一行一定要表示最后剩余的物品数量。</a:t>
            </a:r>
            <a:endParaRPr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107315" y="962660"/>
            <a:ext cx="8330565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按照二进制思路，解决</a:t>
            </a:r>
            <a:r>
              <a:rPr lang="zh-CN" altLang="en-US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示例：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S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={6,3,3},W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={2,6,3},V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={1,10,6},W=10kg</a:t>
            </a:r>
            <a:endParaRPr lang="en-US" altLang="zh-CN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971858" y="1772052"/>
          <a:ext cx="7020000" cy="35909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51155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74370" y="5350510"/>
            <a:ext cx="756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关键就是重构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数组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467360" y="672465"/>
            <a:ext cx="894270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Multiple_Knapsack_Advanced(wight:list,value:list,number:list,V:int)-&gt;int: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[0]*(V+1) #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w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v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range(len(number)):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对每个物品进行二进制转化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s = number[i]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k = 1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while k&lt;s:#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若该行可以进行进行二进制转换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将质量和价值更新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w.append(k*wight[i])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v.append(k*value[i])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s-=k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k*=2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if s&gt;=0:#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剩下的物品数量则单列一行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w.append(s*wight[i])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v.append(s*value[i])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range(len(w)):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range(V,1,-1):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j&gt;=w[i]: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dp[j] = max(dp[j],dp[j-w[i]]+v[i])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2028825"/>
            <a:ext cx="6920230" cy="3538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有 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桶液体，其中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正好有一桶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含有毒药，其余装的都是水。它们从外观看起来都一样。为了弄清楚哪只水桶含有毒药，你可以喂一些猪喝，通过观察猪是否会死进行判断。不幸的是，你只有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分钟时间来确定哪桶液体是有毒的。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喂猪的规则如下：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选择若干活猪进行喂养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可以允许小猪同时饮用任意数量的桶中的水，并且该过程不需要时间。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小猪喝完水后，必须有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分钟的冷却时间。在这段时间里，你只能观察，而不允许继续喂猪。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过了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分钟后，所有喝到毒药的猪都会死去，其他所有猪都会活下来。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重复这一过程，直到时间用完。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给你桶的数目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，返回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在规定时间内判断哪个桶有毒所需的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最小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猪数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1505" y="556704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2330" y="1604645"/>
            <a:ext cx="37096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娱乐一下：脑筋急转弯！！！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）暴力解法：</a:t>
            </a:r>
            <a:r>
              <a:rPr lang="en-US" altLang="zh-CN"/>
              <a:t>1000</a:t>
            </a:r>
            <a:r>
              <a:rPr lang="zh-CN" altLang="en-US"/>
              <a:t>个猪，</a:t>
            </a:r>
            <a:r>
              <a:rPr lang="en-US" altLang="zh-CN"/>
              <a:t>15</a:t>
            </a:r>
            <a:r>
              <a:rPr lang="zh-CN" altLang="en-US"/>
              <a:t>分钟确定哪一桶水有毒。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467360" y="314960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）分治方法是否可以？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3260" y="270891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运用学习过的知识，是否还有更聪明的方法？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580380" y="3149600"/>
            <a:ext cx="734060" cy="2946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907405" y="343725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直接连接符 9"/>
          <p:cNvCxnSpPr/>
          <p:nvPr/>
        </p:nvCxnSpPr>
        <p:spPr>
          <a:xfrm flipV="1">
            <a:off x="4601845" y="370776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直接箭头连接符 10"/>
          <p:cNvCxnSpPr/>
          <p:nvPr/>
        </p:nvCxnSpPr>
        <p:spPr>
          <a:xfrm flipH="1">
            <a:off x="7321550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直接箭头连接符 12"/>
          <p:cNvCxnSpPr/>
          <p:nvPr/>
        </p:nvCxnSpPr>
        <p:spPr>
          <a:xfrm flipH="1">
            <a:off x="6804025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H="1">
            <a:off x="623443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/>
          <p:nvPr/>
        </p:nvCxnSpPr>
        <p:spPr>
          <a:xfrm flipH="1">
            <a:off x="555244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7" name="直接箭头连接符 16"/>
          <p:cNvCxnSpPr/>
          <p:nvPr/>
        </p:nvCxnSpPr>
        <p:spPr>
          <a:xfrm flipH="1">
            <a:off x="4590415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8" name="直接箭头连接符 17"/>
          <p:cNvCxnSpPr/>
          <p:nvPr/>
        </p:nvCxnSpPr>
        <p:spPr>
          <a:xfrm flipH="1">
            <a:off x="5003800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" name="文本框 18"/>
          <p:cNvSpPr txBox="1"/>
          <p:nvPr/>
        </p:nvSpPr>
        <p:spPr>
          <a:xfrm>
            <a:off x="4211955" y="404495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167    167   167     166     167    166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237605" y="434784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/>
          <p:nvPr/>
        </p:nvCxnSpPr>
        <p:spPr>
          <a:xfrm flipV="1">
            <a:off x="4932045" y="461835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箭头连接符 21"/>
          <p:cNvCxnSpPr/>
          <p:nvPr/>
        </p:nvCxnSpPr>
        <p:spPr>
          <a:xfrm flipH="1">
            <a:off x="7651750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3" name="直接箭头连接符 22"/>
          <p:cNvCxnSpPr/>
          <p:nvPr/>
        </p:nvCxnSpPr>
        <p:spPr>
          <a:xfrm flipH="1">
            <a:off x="7134225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4" name="直接箭头连接符 23"/>
          <p:cNvCxnSpPr/>
          <p:nvPr/>
        </p:nvCxnSpPr>
        <p:spPr>
          <a:xfrm flipH="1">
            <a:off x="656463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5" name="直接箭头连接符 24"/>
          <p:cNvCxnSpPr/>
          <p:nvPr/>
        </p:nvCxnSpPr>
        <p:spPr>
          <a:xfrm flipH="1">
            <a:off x="588264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/>
          <p:nvPr/>
        </p:nvCxnSpPr>
        <p:spPr>
          <a:xfrm flipH="1">
            <a:off x="4920615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直接箭头连接符 26"/>
          <p:cNvCxnSpPr/>
          <p:nvPr/>
        </p:nvCxnSpPr>
        <p:spPr>
          <a:xfrm flipH="1">
            <a:off x="5334000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8" name="文本框 27"/>
          <p:cNvSpPr txBox="1"/>
          <p:nvPr/>
        </p:nvSpPr>
        <p:spPr>
          <a:xfrm>
            <a:off x="4699635" y="4946015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27    27      28       28       28    28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5965825" y="5248910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/>
          <p:nvPr/>
        </p:nvCxnSpPr>
        <p:spPr>
          <a:xfrm flipV="1">
            <a:off x="4660265" y="5519420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箭头连接符 30"/>
          <p:cNvCxnSpPr/>
          <p:nvPr/>
        </p:nvCxnSpPr>
        <p:spPr>
          <a:xfrm flipH="1">
            <a:off x="7379970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直接箭头连接符 31"/>
          <p:cNvCxnSpPr/>
          <p:nvPr/>
        </p:nvCxnSpPr>
        <p:spPr>
          <a:xfrm flipH="1">
            <a:off x="6862445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直接箭头连接符 32"/>
          <p:cNvCxnSpPr/>
          <p:nvPr/>
        </p:nvCxnSpPr>
        <p:spPr>
          <a:xfrm flipH="1">
            <a:off x="629285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直接箭头连接符 33"/>
          <p:cNvCxnSpPr/>
          <p:nvPr/>
        </p:nvCxnSpPr>
        <p:spPr>
          <a:xfrm flipH="1">
            <a:off x="561086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5" name="直接箭头连接符 34"/>
          <p:cNvCxnSpPr/>
          <p:nvPr/>
        </p:nvCxnSpPr>
        <p:spPr>
          <a:xfrm flipH="1">
            <a:off x="4648835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6" name="直接箭头连接符 35"/>
          <p:cNvCxnSpPr/>
          <p:nvPr/>
        </p:nvCxnSpPr>
        <p:spPr>
          <a:xfrm flipH="1">
            <a:off x="5062220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7" name="文本框 36"/>
          <p:cNvSpPr txBox="1"/>
          <p:nvPr/>
        </p:nvSpPr>
        <p:spPr>
          <a:xfrm>
            <a:off x="4427855" y="584708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5       5        5         5       4        4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3973195" y="352869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77695" y="370268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4218940" y="455104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23440" y="472503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3" name="左大括号 42"/>
          <p:cNvSpPr/>
          <p:nvPr/>
        </p:nvSpPr>
        <p:spPr>
          <a:xfrm>
            <a:off x="4281805" y="5518150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186305" y="569214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2339975" y="6308725"/>
            <a:ext cx="608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桶水再用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分钟，确定。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2051685" y="29965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2483485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2942590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3392805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190754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236664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281559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327469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3850640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373253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1792605" y="32791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2224405" y="32804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2683510" y="328041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3133725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164846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210756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255651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301561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3591560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347345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151765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197675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242570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288480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334264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2124075" y="288798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1403985" y="288671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71" name="文本框 70"/>
          <p:cNvSpPr txBox="1"/>
          <p:nvPr/>
        </p:nvSpPr>
        <p:spPr>
          <a:xfrm>
            <a:off x="935355" y="458089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buckets =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。则只需要二头猪就可以确定。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3143250" y="43014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3575050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4034155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4484370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299910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345821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390715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436626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4942205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482409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2884170" y="45840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3315970" y="4585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3775075" y="4585335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4225290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274002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319913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364807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410718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4683125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456501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260921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306832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351726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397637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4434205" y="486410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5580380" y="465836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4860290" y="465709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3" name="立方体 32"/>
          <p:cNvSpPr/>
          <p:nvPr/>
        </p:nvSpPr>
        <p:spPr>
          <a:xfrm>
            <a:off x="3148330" y="39547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立方体 33"/>
          <p:cNvSpPr/>
          <p:nvPr/>
        </p:nvSpPr>
        <p:spPr>
          <a:xfrm>
            <a:off x="3580130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立方体 34"/>
          <p:cNvSpPr/>
          <p:nvPr/>
        </p:nvSpPr>
        <p:spPr>
          <a:xfrm>
            <a:off x="4039235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立方体 35"/>
          <p:cNvSpPr/>
          <p:nvPr/>
        </p:nvSpPr>
        <p:spPr>
          <a:xfrm>
            <a:off x="4489450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立方体 36"/>
          <p:cNvSpPr/>
          <p:nvPr/>
        </p:nvSpPr>
        <p:spPr>
          <a:xfrm>
            <a:off x="300418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9" name="立方体 38"/>
          <p:cNvSpPr/>
          <p:nvPr/>
        </p:nvSpPr>
        <p:spPr>
          <a:xfrm>
            <a:off x="346329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立方体 39"/>
          <p:cNvSpPr/>
          <p:nvPr/>
        </p:nvSpPr>
        <p:spPr>
          <a:xfrm>
            <a:off x="391223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立方体 40"/>
          <p:cNvSpPr/>
          <p:nvPr/>
        </p:nvSpPr>
        <p:spPr>
          <a:xfrm>
            <a:off x="437134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立方体 41"/>
          <p:cNvSpPr/>
          <p:nvPr/>
        </p:nvSpPr>
        <p:spPr>
          <a:xfrm>
            <a:off x="4947285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3" name="立方体 42"/>
          <p:cNvSpPr/>
          <p:nvPr/>
        </p:nvSpPr>
        <p:spPr>
          <a:xfrm>
            <a:off x="482917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立方体 43"/>
          <p:cNvSpPr/>
          <p:nvPr/>
        </p:nvSpPr>
        <p:spPr>
          <a:xfrm>
            <a:off x="2889250" y="423735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立方体 44"/>
          <p:cNvSpPr/>
          <p:nvPr/>
        </p:nvSpPr>
        <p:spPr>
          <a:xfrm>
            <a:off x="3321050" y="423862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立方体 67"/>
          <p:cNvSpPr/>
          <p:nvPr/>
        </p:nvSpPr>
        <p:spPr>
          <a:xfrm>
            <a:off x="3780155" y="423862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2" name="立方体 71"/>
          <p:cNvSpPr/>
          <p:nvPr/>
        </p:nvSpPr>
        <p:spPr>
          <a:xfrm>
            <a:off x="4230370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3" name="立方体 72"/>
          <p:cNvSpPr/>
          <p:nvPr/>
        </p:nvSpPr>
        <p:spPr>
          <a:xfrm>
            <a:off x="274510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4" name="立方体 73"/>
          <p:cNvSpPr/>
          <p:nvPr/>
        </p:nvSpPr>
        <p:spPr>
          <a:xfrm>
            <a:off x="320421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立方体 74"/>
          <p:cNvSpPr/>
          <p:nvPr/>
        </p:nvSpPr>
        <p:spPr>
          <a:xfrm>
            <a:off x="365315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6" name="立方体 75"/>
          <p:cNvSpPr/>
          <p:nvPr/>
        </p:nvSpPr>
        <p:spPr>
          <a:xfrm>
            <a:off x="411226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立方体 76"/>
          <p:cNvSpPr/>
          <p:nvPr/>
        </p:nvSpPr>
        <p:spPr>
          <a:xfrm>
            <a:off x="4688205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立方体 77"/>
          <p:cNvSpPr/>
          <p:nvPr/>
        </p:nvSpPr>
        <p:spPr>
          <a:xfrm>
            <a:off x="457009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立方体 78"/>
          <p:cNvSpPr/>
          <p:nvPr/>
        </p:nvSpPr>
        <p:spPr>
          <a:xfrm>
            <a:off x="261429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立方体 79"/>
          <p:cNvSpPr/>
          <p:nvPr/>
        </p:nvSpPr>
        <p:spPr>
          <a:xfrm>
            <a:off x="307340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1" name="立方体 80"/>
          <p:cNvSpPr/>
          <p:nvPr/>
        </p:nvSpPr>
        <p:spPr>
          <a:xfrm>
            <a:off x="352234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立方体 81"/>
          <p:cNvSpPr/>
          <p:nvPr/>
        </p:nvSpPr>
        <p:spPr>
          <a:xfrm>
            <a:off x="398145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立方体 82"/>
          <p:cNvSpPr/>
          <p:nvPr/>
        </p:nvSpPr>
        <p:spPr>
          <a:xfrm>
            <a:off x="443928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4" name="立方体 83"/>
          <p:cNvSpPr/>
          <p:nvPr/>
        </p:nvSpPr>
        <p:spPr>
          <a:xfrm>
            <a:off x="3148330" y="35915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立方体 84"/>
          <p:cNvSpPr/>
          <p:nvPr/>
        </p:nvSpPr>
        <p:spPr>
          <a:xfrm>
            <a:off x="3580130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立方体 85"/>
          <p:cNvSpPr/>
          <p:nvPr/>
        </p:nvSpPr>
        <p:spPr>
          <a:xfrm>
            <a:off x="4039235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7" name="立方体 86"/>
          <p:cNvSpPr/>
          <p:nvPr/>
        </p:nvSpPr>
        <p:spPr>
          <a:xfrm>
            <a:off x="4489450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8" name="立方体 87"/>
          <p:cNvSpPr/>
          <p:nvPr/>
        </p:nvSpPr>
        <p:spPr>
          <a:xfrm>
            <a:off x="300418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9" name="立方体 88"/>
          <p:cNvSpPr/>
          <p:nvPr/>
        </p:nvSpPr>
        <p:spPr>
          <a:xfrm>
            <a:off x="346329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0" name="立方体 89"/>
          <p:cNvSpPr/>
          <p:nvPr/>
        </p:nvSpPr>
        <p:spPr>
          <a:xfrm>
            <a:off x="391223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1" name="立方体 90"/>
          <p:cNvSpPr/>
          <p:nvPr/>
        </p:nvSpPr>
        <p:spPr>
          <a:xfrm>
            <a:off x="437134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立方体 91"/>
          <p:cNvSpPr/>
          <p:nvPr/>
        </p:nvSpPr>
        <p:spPr>
          <a:xfrm>
            <a:off x="4947285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立方体 92"/>
          <p:cNvSpPr/>
          <p:nvPr/>
        </p:nvSpPr>
        <p:spPr>
          <a:xfrm>
            <a:off x="482917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4" name="立方体 93"/>
          <p:cNvSpPr/>
          <p:nvPr/>
        </p:nvSpPr>
        <p:spPr>
          <a:xfrm>
            <a:off x="2889250" y="38741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5" name="立方体 94"/>
          <p:cNvSpPr/>
          <p:nvPr/>
        </p:nvSpPr>
        <p:spPr>
          <a:xfrm>
            <a:off x="3321050" y="38754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6" name="立方体 95"/>
          <p:cNvSpPr/>
          <p:nvPr/>
        </p:nvSpPr>
        <p:spPr>
          <a:xfrm>
            <a:off x="3780155" y="387540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7" name="立方体 96"/>
          <p:cNvSpPr/>
          <p:nvPr/>
        </p:nvSpPr>
        <p:spPr>
          <a:xfrm>
            <a:off x="4230370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8" name="立方体 97"/>
          <p:cNvSpPr/>
          <p:nvPr/>
        </p:nvSpPr>
        <p:spPr>
          <a:xfrm>
            <a:off x="274510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9" name="立方体 98"/>
          <p:cNvSpPr/>
          <p:nvPr/>
        </p:nvSpPr>
        <p:spPr>
          <a:xfrm>
            <a:off x="320421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0" name="立方体 99"/>
          <p:cNvSpPr/>
          <p:nvPr/>
        </p:nvSpPr>
        <p:spPr>
          <a:xfrm>
            <a:off x="365315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1" name="立方体 100"/>
          <p:cNvSpPr/>
          <p:nvPr/>
        </p:nvSpPr>
        <p:spPr>
          <a:xfrm>
            <a:off x="411226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2" name="立方体 101"/>
          <p:cNvSpPr/>
          <p:nvPr/>
        </p:nvSpPr>
        <p:spPr>
          <a:xfrm>
            <a:off x="4688205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3" name="立方体 102"/>
          <p:cNvSpPr/>
          <p:nvPr/>
        </p:nvSpPr>
        <p:spPr>
          <a:xfrm>
            <a:off x="457009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4" name="立方体 103"/>
          <p:cNvSpPr/>
          <p:nvPr/>
        </p:nvSpPr>
        <p:spPr>
          <a:xfrm>
            <a:off x="261429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5" name="立方体 104"/>
          <p:cNvSpPr/>
          <p:nvPr/>
        </p:nvSpPr>
        <p:spPr>
          <a:xfrm>
            <a:off x="307340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6" name="立方体 105"/>
          <p:cNvSpPr/>
          <p:nvPr/>
        </p:nvSpPr>
        <p:spPr>
          <a:xfrm>
            <a:off x="352234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7" name="立方体 106"/>
          <p:cNvSpPr/>
          <p:nvPr/>
        </p:nvSpPr>
        <p:spPr>
          <a:xfrm>
            <a:off x="398145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8" name="立方体 107"/>
          <p:cNvSpPr/>
          <p:nvPr/>
        </p:nvSpPr>
        <p:spPr>
          <a:xfrm>
            <a:off x="443928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9" name="立方体 108"/>
          <p:cNvSpPr/>
          <p:nvPr/>
        </p:nvSpPr>
        <p:spPr>
          <a:xfrm>
            <a:off x="3148330" y="32124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0" name="立方体 109"/>
          <p:cNvSpPr/>
          <p:nvPr/>
        </p:nvSpPr>
        <p:spPr>
          <a:xfrm>
            <a:off x="3580130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1" name="立方体 110"/>
          <p:cNvSpPr/>
          <p:nvPr/>
        </p:nvSpPr>
        <p:spPr>
          <a:xfrm>
            <a:off x="4039235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2" name="立方体 111"/>
          <p:cNvSpPr/>
          <p:nvPr/>
        </p:nvSpPr>
        <p:spPr>
          <a:xfrm>
            <a:off x="4489450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3" name="立方体 112"/>
          <p:cNvSpPr/>
          <p:nvPr/>
        </p:nvSpPr>
        <p:spPr>
          <a:xfrm>
            <a:off x="300418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4" name="立方体 113"/>
          <p:cNvSpPr/>
          <p:nvPr/>
        </p:nvSpPr>
        <p:spPr>
          <a:xfrm>
            <a:off x="346329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5" name="立方体 114"/>
          <p:cNvSpPr/>
          <p:nvPr/>
        </p:nvSpPr>
        <p:spPr>
          <a:xfrm>
            <a:off x="391223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6" name="立方体 115"/>
          <p:cNvSpPr/>
          <p:nvPr/>
        </p:nvSpPr>
        <p:spPr>
          <a:xfrm>
            <a:off x="437134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7" name="立方体 116"/>
          <p:cNvSpPr/>
          <p:nvPr/>
        </p:nvSpPr>
        <p:spPr>
          <a:xfrm>
            <a:off x="4947285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8" name="立方体 117"/>
          <p:cNvSpPr/>
          <p:nvPr/>
        </p:nvSpPr>
        <p:spPr>
          <a:xfrm>
            <a:off x="482917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9" name="立方体 118"/>
          <p:cNvSpPr/>
          <p:nvPr/>
        </p:nvSpPr>
        <p:spPr>
          <a:xfrm>
            <a:off x="2889250" y="34950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0" name="立方体 119"/>
          <p:cNvSpPr/>
          <p:nvPr/>
        </p:nvSpPr>
        <p:spPr>
          <a:xfrm>
            <a:off x="3321050" y="34963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1" name="立方体 120"/>
          <p:cNvSpPr/>
          <p:nvPr/>
        </p:nvSpPr>
        <p:spPr>
          <a:xfrm>
            <a:off x="3780155" y="349631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2" name="立方体 121"/>
          <p:cNvSpPr/>
          <p:nvPr/>
        </p:nvSpPr>
        <p:spPr>
          <a:xfrm>
            <a:off x="4230370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3" name="立方体 122"/>
          <p:cNvSpPr/>
          <p:nvPr/>
        </p:nvSpPr>
        <p:spPr>
          <a:xfrm>
            <a:off x="274510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4" name="立方体 123"/>
          <p:cNvSpPr/>
          <p:nvPr/>
        </p:nvSpPr>
        <p:spPr>
          <a:xfrm>
            <a:off x="320421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5" name="立方体 124"/>
          <p:cNvSpPr/>
          <p:nvPr/>
        </p:nvSpPr>
        <p:spPr>
          <a:xfrm>
            <a:off x="365315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6" name="立方体 125"/>
          <p:cNvSpPr/>
          <p:nvPr/>
        </p:nvSpPr>
        <p:spPr>
          <a:xfrm>
            <a:off x="411226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7" name="立方体 126"/>
          <p:cNvSpPr/>
          <p:nvPr/>
        </p:nvSpPr>
        <p:spPr>
          <a:xfrm>
            <a:off x="4688205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8" name="立方体 127"/>
          <p:cNvSpPr/>
          <p:nvPr/>
        </p:nvSpPr>
        <p:spPr>
          <a:xfrm>
            <a:off x="457009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9" name="立方体 128"/>
          <p:cNvSpPr/>
          <p:nvPr/>
        </p:nvSpPr>
        <p:spPr>
          <a:xfrm>
            <a:off x="261429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0" name="立方体 129"/>
          <p:cNvSpPr/>
          <p:nvPr/>
        </p:nvSpPr>
        <p:spPr>
          <a:xfrm>
            <a:off x="307340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1" name="立方体 130"/>
          <p:cNvSpPr/>
          <p:nvPr/>
        </p:nvSpPr>
        <p:spPr>
          <a:xfrm>
            <a:off x="352234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2" name="立方体 131"/>
          <p:cNvSpPr/>
          <p:nvPr/>
        </p:nvSpPr>
        <p:spPr>
          <a:xfrm>
            <a:off x="398145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3" name="立方体 132"/>
          <p:cNvSpPr/>
          <p:nvPr/>
        </p:nvSpPr>
        <p:spPr>
          <a:xfrm>
            <a:off x="443928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3143250" y="28086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3575050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立方体 7"/>
          <p:cNvSpPr/>
          <p:nvPr/>
        </p:nvSpPr>
        <p:spPr>
          <a:xfrm>
            <a:off x="4034155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立方体 8"/>
          <p:cNvSpPr/>
          <p:nvPr/>
        </p:nvSpPr>
        <p:spPr>
          <a:xfrm>
            <a:off x="4484370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299910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立方体 10"/>
          <p:cNvSpPr/>
          <p:nvPr/>
        </p:nvSpPr>
        <p:spPr>
          <a:xfrm>
            <a:off x="345821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立方体 12"/>
          <p:cNvSpPr/>
          <p:nvPr/>
        </p:nvSpPr>
        <p:spPr>
          <a:xfrm>
            <a:off x="390715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立方体 14"/>
          <p:cNvSpPr/>
          <p:nvPr/>
        </p:nvSpPr>
        <p:spPr>
          <a:xfrm>
            <a:off x="436626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立方体 15"/>
          <p:cNvSpPr/>
          <p:nvPr/>
        </p:nvSpPr>
        <p:spPr>
          <a:xfrm>
            <a:off x="4942205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立方体 16"/>
          <p:cNvSpPr/>
          <p:nvPr/>
        </p:nvSpPr>
        <p:spPr>
          <a:xfrm>
            <a:off x="482409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立方体 17"/>
          <p:cNvSpPr/>
          <p:nvPr/>
        </p:nvSpPr>
        <p:spPr>
          <a:xfrm>
            <a:off x="2884170" y="30911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立方体 18"/>
          <p:cNvSpPr/>
          <p:nvPr/>
        </p:nvSpPr>
        <p:spPr>
          <a:xfrm>
            <a:off x="3315970" y="30924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立方体 19"/>
          <p:cNvSpPr/>
          <p:nvPr/>
        </p:nvSpPr>
        <p:spPr>
          <a:xfrm>
            <a:off x="3775075" y="309245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立方体 20"/>
          <p:cNvSpPr/>
          <p:nvPr/>
        </p:nvSpPr>
        <p:spPr>
          <a:xfrm>
            <a:off x="4225290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立方体 21"/>
          <p:cNvSpPr/>
          <p:nvPr/>
        </p:nvSpPr>
        <p:spPr>
          <a:xfrm>
            <a:off x="274002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立方体 22"/>
          <p:cNvSpPr/>
          <p:nvPr/>
        </p:nvSpPr>
        <p:spPr>
          <a:xfrm>
            <a:off x="319913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立方体 23"/>
          <p:cNvSpPr/>
          <p:nvPr/>
        </p:nvSpPr>
        <p:spPr>
          <a:xfrm>
            <a:off x="364807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5" name="立方体 24"/>
          <p:cNvSpPr/>
          <p:nvPr/>
        </p:nvSpPr>
        <p:spPr>
          <a:xfrm>
            <a:off x="410718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6" name="立方体 25"/>
          <p:cNvSpPr/>
          <p:nvPr/>
        </p:nvSpPr>
        <p:spPr>
          <a:xfrm>
            <a:off x="4683125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立方体 26"/>
          <p:cNvSpPr/>
          <p:nvPr/>
        </p:nvSpPr>
        <p:spPr>
          <a:xfrm>
            <a:off x="456501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立方体 27"/>
          <p:cNvSpPr/>
          <p:nvPr/>
        </p:nvSpPr>
        <p:spPr>
          <a:xfrm>
            <a:off x="260921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立方体 28"/>
          <p:cNvSpPr/>
          <p:nvPr/>
        </p:nvSpPr>
        <p:spPr>
          <a:xfrm>
            <a:off x="306832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立方体 29"/>
          <p:cNvSpPr/>
          <p:nvPr/>
        </p:nvSpPr>
        <p:spPr>
          <a:xfrm>
            <a:off x="351726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1" name="立方体 30"/>
          <p:cNvSpPr/>
          <p:nvPr/>
        </p:nvSpPr>
        <p:spPr>
          <a:xfrm>
            <a:off x="397637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2" name="立方体 31"/>
          <p:cNvSpPr/>
          <p:nvPr/>
        </p:nvSpPr>
        <p:spPr>
          <a:xfrm>
            <a:off x="443420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36" name="直接箭头连接符 135"/>
          <p:cNvCxnSpPr/>
          <p:nvPr/>
        </p:nvCxnSpPr>
        <p:spPr>
          <a:xfrm flipV="1">
            <a:off x="5580380" y="3091815"/>
            <a:ext cx="0" cy="159258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1187450" y="580517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如果有</a:t>
            </a:r>
            <a:r>
              <a:rPr lang="en-US" altLang="zh-CN"/>
              <a:t>125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。则只需要三头猪就可以确定。</a:t>
            </a:r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7741285" y="457263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4932045" y="530098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5652135" y="297942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）是否还有更聪明的方法解决问题？若将桶组成一个矩阵会不会更好？</a:t>
            </a:r>
            <a:endParaRPr lang="zh-CN" altLang="en-US"/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6948805" y="3650615"/>
            <a:ext cx="58928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6733540" y="3646170"/>
            <a:ext cx="234950" cy="27114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6" name="直接箭头连接符 135"/>
          <p:cNvCxnSpPr/>
          <p:nvPr/>
        </p:nvCxnSpPr>
        <p:spPr>
          <a:xfrm flipV="1">
            <a:off x="6948805" y="3125470"/>
            <a:ext cx="635" cy="5480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611505" y="470535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。则只需要四头猪就可以确定。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7457440" y="350075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6705600" y="386080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6948170" y="296799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405" y="2993390"/>
            <a:ext cx="1071880" cy="960120"/>
          </a:xfrm>
          <a:prstGeom prst="rect">
            <a:avLst/>
          </a:prstGeom>
        </p:spPr>
      </p:pic>
      <p:pic>
        <p:nvPicPr>
          <p:cNvPr id="134" name="图片 1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5965" y="2996565"/>
            <a:ext cx="1071880" cy="960120"/>
          </a:xfrm>
          <a:prstGeom prst="rect">
            <a:avLst/>
          </a:prstGeom>
        </p:spPr>
      </p:pic>
      <p:pic>
        <p:nvPicPr>
          <p:cNvPr id="135" name="图片 1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1685" y="2996565"/>
            <a:ext cx="1071880" cy="960120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245" y="2996565"/>
            <a:ext cx="1071880" cy="960120"/>
          </a:xfrm>
          <a:prstGeom prst="rect">
            <a:avLst/>
          </a:prstGeom>
        </p:spPr>
      </p:pic>
      <p:pic>
        <p:nvPicPr>
          <p:cNvPr id="142" name="图片 1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9745" y="2993390"/>
            <a:ext cx="1071880" cy="960120"/>
          </a:xfrm>
          <a:prstGeom prst="rect">
            <a:avLst/>
          </a:prstGeom>
        </p:spPr>
      </p:pic>
      <p:cxnSp>
        <p:nvCxnSpPr>
          <p:cNvPr id="143" name="直接箭头连接符 142"/>
          <p:cNvCxnSpPr/>
          <p:nvPr/>
        </p:nvCxnSpPr>
        <p:spPr>
          <a:xfrm flipV="1">
            <a:off x="1068705" y="2924810"/>
            <a:ext cx="551942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4" name="文本框 143"/>
          <p:cNvSpPr txBox="1"/>
          <p:nvPr/>
        </p:nvSpPr>
        <p:spPr>
          <a:xfrm>
            <a:off x="1332865" y="2639695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611505" y="5301615"/>
            <a:ext cx="7156450" cy="1269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pig1,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X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pig2,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Y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pig3,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Z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pig4,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5791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2740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205168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327596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4996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467360" y="4146550"/>
            <a:ext cx="345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</a:t>
            </a:r>
            <a:r>
              <a:rPr lang="zh-CN" altLang="en-US"/>
              <a:t>方向测试示意图：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bldLvl="0" animBg="1"/>
      <p:bldP spid="150" grpId="1" animBg="1"/>
      <p:bldP spid="151" grpId="0" bldLvl="0" animBg="1"/>
      <p:bldP spid="151" grpId="1" animBg="1"/>
      <p:bldP spid="152" grpId="0" bldLvl="0" animBg="1"/>
      <p:bldP spid="152" grpId="1" animBg="1"/>
      <p:bldP spid="153" grpId="0" bldLvl="0" animBg="1"/>
      <p:bldP spid="153" grpId="1" animBg="1"/>
      <p:bldP spid="154" grpId="0" bldLvl="0" animBg="1"/>
      <p:bldP spid="154" grpId="1" animBg="1"/>
      <p:bldP spid="155" grpId="0"/>
      <p:bldP spid="155" grpId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）是否还有更聪明的方法解决问题？若将桶组成一个矩阵会不会更好？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683895" y="2996565"/>
            <a:ext cx="5827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头猪，满足条件是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(minutesToTest/minutesToDie)</a:t>
            </a:r>
            <a:r>
              <a:rPr lang="en-US" altLang="zh-CN" baseline="30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&gt;=buckets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179070" y="1412240"/>
            <a:ext cx="756666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总结：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indent="45720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状态转移方程更新，如何将空间压缩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）完全背包问题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如何将状态转移方程进行化简，如何进行空间压缩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）多重背包问题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多重背包转换成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背包，多重背包的二进制解法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484630"/>
            <a:ext cx="4533900" cy="9213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）计数类型的动态规划</a:t>
            </a:r>
            <a:endParaRPr lang="zh-CN" altLang="en-US"/>
          </a:p>
          <a:p>
            <a:r>
              <a:rPr lang="zh-CN" altLang="en-US"/>
              <a:t>①青蛙跳台阶</a:t>
            </a:r>
            <a:endParaRPr lang="zh-CN" altLang="en-US"/>
          </a:p>
          <a:p>
            <a:r>
              <a:rPr lang="zh-CN" altLang="en-US"/>
              <a:t>②青蛙到达重点的不同路径</a:t>
            </a:r>
            <a:endParaRPr lang="zh-CN" altLang="en-US"/>
          </a:p>
        </p:txBody>
      </p:sp>
      <p:grpSp>
        <p:nvGrpSpPr>
          <p:cNvPr id="10" name="组合 9"/>
          <p:cNvGrpSpPr/>
          <p:nvPr/>
        </p:nvGrpSpPr>
        <p:grpSpPr>
          <a:xfrm>
            <a:off x="1027430" y="2924810"/>
            <a:ext cx="3990340" cy="1733550"/>
            <a:chOff x="1643" y="3925"/>
            <a:chExt cx="6284" cy="2730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43" y="3925"/>
              <a:ext cx="6285" cy="2730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20" y="5215"/>
              <a:ext cx="354" cy="364"/>
            </a:xfrm>
            <a:prstGeom prst="rect">
              <a:avLst/>
            </a:prstGeom>
          </p:spPr>
        </p:pic>
      </p:grpSp>
      <p:sp>
        <p:nvSpPr>
          <p:cNvPr id="11" name="文本框 10"/>
          <p:cNvSpPr txBox="1"/>
          <p:nvPr/>
        </p:nvSpPr>
        <p:spPr>
          <a:xfrm>
            <a:off x="1187450" y="2564765"/>
            <a:ext cx="6144895" cy="3721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如果青蛙的路径上有障碍物不可通过，路径有多少情况</a:t>
            </a:r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899160" y="486918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）类背包问题</a:t>
            </a:r>
            <a:endParaRPr lang="zh-CN" altLang="en-US"/>
          </a:p>
          <a:p>
            <a:r>
              <a:rPr lang="zh-CN" altLang="en-US"/>
              <a:t>①给你一个</a:t>
            </a:r>
            <a:r>
              <a:rPr lang="en-US" altLang="zh-CN"/>
              <a:t> </a:t>
            </a:r>
            <a:r>
              <a:rPr lang="zh-CN" altLang="en-US"/>
              <a:t>只包含正整数的非空数组</a:t>
            </a:r>
            <a:r>
              <a:rPr lang="en-US" altLang="zh-CN"/>
              <a:t>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 </a:t>
            </a:r>
            <a:r>
              <a:rPr lang="zh-CN" altLang="en-US"/>
              <a:t>。请你判断是否可以将这个数组分割成两个子集，使得两个子集的元素和相等。</a:t>
            </a:r>
            <a:endParaRPr lang="zh-CN" altLang="en-US"/>
          </a:p>
          <a:p>
            <a:r>
              <a:rPr lang="zh-CN" altLang="en-US"/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nums={1,5,11,5}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755650" y="2636520"/>
          <a:ext cx="6628765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870"/>
                <a:gridCol w="408940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nums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T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2727960" cy="545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5.3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动态规划练习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1412240"/>
            <a:ext cx="7556500" cy="1574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）类背包问题</a:t>
            </a:r>
            <a:endParaRPr lang="zh-CN" altLang="en-US"/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②考试题目一共有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道题，每道题的正确率是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p1,p2,p3...pn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，要想达到准确率是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50%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通过考试，求出通过考试的概率。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p=[0.6,0.6,0.6,0.6]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2843530" y="2636520"/>
          <a:ext cx="6628765" cy="18002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38480"/>
                <a:gridCol w="481330"/>
                <a:gridCol w="509905"/>
                <a:gridCol w="509905"/>
                <a:gridCol w="509905"/>
                <a:gridCol w="509905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0.4</a:t>
                      </a:r>
                      <a:r>
                        <a:rPr lang="en-US" altLang="zh-CN" sz="1400" kern="100" baseline="300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  <a:sym typeface="+mn-ea"/>
                        </a:rPr>
                        <a:t>2</a:t>
                      </a:r>
                      <a:endParaRPr 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0.4</a:t>
                      </a:r>
                      <a:r>
                        <a:rPr lang="en-US" altLang="zh-CN" sz="1400" kern="100" baseline="300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 baseline="300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1331595" y="4725035"/>
            <a:ext cx="6898005" cy="9747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考虑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道题正确，如果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i&lt;j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，则该题目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道题正确的概率就是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i&gt;=j,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则有两种情况第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道题不正确有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个正确，第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道题正确有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j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个正确。推导出状态转移方程：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043940" y="5988050"/>
            <a:ext cx="102933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dp[i][j] = 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0" name="左大括号 9"/>
          <p:cNvSpPr/>
          <p:nvPr/>
        </p:nvSpPr>
        <p:spPr>
          <a:xfrm>
            <a:off x="2123440" y="5732780"/>
            <a:ext cx="221615" cy="86423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411730" y="5619750"/>
            <a:ext cx="474535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                               j&gt;i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395220" y="6308725"/>
            <a:ext cx="556006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dp[i-1][j]*(1-p) +dp[i-1][j-1]*(p)                              j&lt;=i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4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5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6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7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8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9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0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4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5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6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7.xml><?xml version="1.0" encoding="utf-8"?>
<p:tagLst xmlns:p="http://schemas.openxmlformats.org/presentationml/2006/main">
  <p:tag name="TABLE_ENDDRAG_ORIGIN_RECT" val="521*175"/>
  <p:tag name="TABLE_ENDDRAG_RECT" val="48*201*521*175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15028</Words>
  <Application>WPS 演示</Application>
  <PresentationFormat>全屏显示(4:3)</PresentationFormat>
  <Paragraphs>2913</Paragraphs>
  <Slides>59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59</vt:i4>
      </vt:variant>
    </vt:vector>
  </HeadingPairs>
  <TitlesOfParts>
    <vt:vector size="78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隶书</vt:lpstr>
      <vt:lpstr>Tahoma</vt:lpstr>
      <vt:lpstr>Arial Unicode MS</vt:lpstr>
      <vt:lpstr>-apple-system</vt:lpstr>
      <vt:lpstr>Segoe Print</vt:lpstr>
      <vt:lpstr>楷体</vt:lpstr>
      <vt:lpstr>Times New Roman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446</cp:revision>
  <dcterms:created xsi:type="dcterms:W3CDTF">2010-09-23T08:30:00Z</dcterms:created>
  <dcterms:modified xsi:type="dcterms:W3CDTF">2025-12-02T05:57:11Z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0E8E802CEE794820AF70A8C9AFC251F8_12</vt:lpwstr>
  </property>
  <property fmtid="{D5CDD505-2E9C-101B-9397-08002B2CF9AE}" pid="4" name="KSOProductBuildVer">
    <vt:lpwstr>2052-12.1.0.23542</vt:lpwstr>
  </property>
</Properties>
</file>