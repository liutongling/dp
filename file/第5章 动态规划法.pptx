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9"/>
  </p:handoutMasterIdLst>
  <p:sldIdLst>
    <p:sldId id="256" r:id="rId3"/>
    <p:sldId id="361" r:id="rId5"/>
    <p:sldId id="349" r:id="rId6"/>
    <p:sldId id="257" r:id="rId7"/>
    <p:sldId id="356" r:id="rId8"/>
    <p:sldId id="350" r:id="rId9"/>
    <p:sldId id="351" r:id="rId10"/>
    <p:sldId id="259" r:id="rId11"/>
    <p:sldId id="352" r:id="rId12"/>
    <p:sldId id="353" r:id="rId13"/>
    <p:sldId id="355" r:id="rId14"/>
    <p:sldId id="380" r:id="rId15"/>
    <p:sldId id="368" r:id="rId16"/>
    <p:sldId id="354" r:id="rId17"/>
    <p:sldId id="358" r:id="rId18"/>
    <p:sldId id="359" r:id="rId19"/>
    <p:sldId id="357" r:id="rId20"/>
    <p:sldId id="329" r:id="rId21"/>
    <p:sldId id="338" r:id="rId22"/>
    <p:sldId id="362" r:id="rId23"/>
    <p:sldId id="363" r:id="rId24"/>
    <p:sldId id="339" r:id="rId25"/>
    <p:sldId id="364" r:id="rId26"/>
    <p:sldId id="340" r:id="rId27"/>
    <p:sldId id="341" r:id="rId28"/>
    <p:sldId id="342" r:id="rId29"/>
    <p:sldId id="366" r:id="rId30"/>
    <p:sldId id="343" r:id="rId31"/>
    <p:sldId id="367" r:id="rId32"/>
    <p:sldId id="369" r:id="rId33"/>
    <p:sldId id="365" r:id="rId34"/>
    <p:sldId id="370" r:id="rId35"/>
    <p:sldId id="381" r:id="rId36"/>
    <p:sldId id="382" r:id="rId37"/>
    <p:sldId id="371" r:id="rId38"/>
    <p:sldId id="372" r:id="rId39"/>
    <p:sldId id="373" r:id="rId40"/>
    <p:sldId id="346" r:id="rId41"/>
    <p:sldId id="345" r:id="rId42"/>
    <p:sldId id="383" r:id="rId43"/>
    <p:sldId id="384" r:id="rId44"/>
    <p:sldId id="385" r:id="rId45"/>
    <p:sldId id="386" r:id="rId46"/>
    <p:sldId id="387" r:id="rId47"/>
    <p:sldId id="388" r:id="rId48"/>
    <p:sldId id="374" r:id="rId49"/>
    <p:sldId id="375" r:id="rId50"/>
    <p:sldId id="376" r:id="rId51"/>
    <p:sldId id="377" r:id="rId52"/>
    <p:sldId id="378" r:id="rId53"/>
    <p:sldId id="379" r:id="rId54"/>
    <p:sldId id="344" r:id="rId55"/>
    <p:sldId id="389" r:id="rId56"/>
    <p:sldId id="390" r:id="rId57"/>
    <p:sldId id="391" r:id="rId58"/>
  </p:sldIdLst>
  <p:sldSz cx="9144000" cy="6858000" type="screen4x3"/>
  <p:notesSz cx="6858000" cy="9144000"/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70" userDrawn="1">
          <p15:clr>
            <a:srgbClr val="A4A3A4"/>
          </p15:clr>
        </p15:guide>
        <p15:guide id="2" pos="2802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jg" initials="t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FC01E"/>
    <a:srgbClr val="0000FF"/>
    <a:srgbClr val="FF33CC"/>
    <a:srgbClr val="FF3399"/>
    <a:srgbClr val="0066FF"/>
    <a:srgbClr val="FF6600"/>
    <a:srgbClr val="55B70C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919" autoAdjust="0"/>
    <p:restoredTop sz="95126" autoAdjust="0"/>
  </p:normalViewPr>
  <p:slideViewPr>
    <p:cSldViewPr showGuides="1">
      <p:cViewPr varScale="1">
        <p:scale>
          <a:sx n="110" d="100"/>
          <a:sy n="110" d="100"/>
        </p:scale>
        <p:origin x="1800" y="78"/>
      </p:cViewPr>
      <p:guideLst>
        <p:guide orient="horz" pos="2070"/>
        <p:guide pos="280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10" d="100"/>
        <a:sy n="110" d="100"/>
      </p:scale>
      <p:origin x="0" y="0"/>
    </p:cViewPr>
  </p:sorterViewPr>
  <p:notesViewPr>
    <p:cSldViewPr>
      <p:cViewPr varScale="1">
        <p:scale>
          <a:sx n="55" d="100"/>
          <a:sy n="55" d="100"/>
        </p:scale>
        <p:origin x="2880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3" Type="http://schemas.openxmlformats.org/officeDocument/2006/relationships/commentAuthors" Target="commentAuthors.xml"/><Relationship Id="rId62" Type="http://schemas.openxmlformats.org/officeDocument/2006/relationships/tableStyles" Target="tableStyles.xml"/><Relationship Id="rId61" Type="http://schemas.openxmlformats.org/officeDocument/2006/relationships/viewProps" Target="viewProps.xml"/><Relationship Id="rId60" Type="http://schemas.openxmlformats.org/officeDocument/2006/relationships/presProps" Target="presProps.xml"/><Relationship Id="rId6" Type="http://schemas.openxmlformats.org/officeDocument/2006/relationships/slide" Target="slides/slide3.xml"/><Relationship Id="rId59" Type="http://schemas.openxmlformats.org/officeDocument/2006/relationships/handoutMaster" Target="handoutMasters/handoutMaster1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2B9A6F-649B-40E0-9235-15314CCF5F2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7AA538-38B4-4B93-A9C9-F579F75A06F5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222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1134E214-E3C0-4F75-A783-D0C3FCB417FE}" type="datetimeFigureOut">
              <a:rPr lang="zh-CN" altLang="en-US"/>
            </a:fld>
            <a:endParaRPr lang="en-US" altLang="zh-CN"/>
          </a:p>
        </p:txBody>
      </p:sp>
      <p:sp>
        <p:nvSpPr>
          <p:cNvPr id="41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222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 noProof="0"/>
              <a:t>单击此处编辑母版文本样式</a:t>
            </a:r>
            <a:endParaRPr lang="zh-CN" altLang="en-US" noProof="0"/>
          </a:p>
          <a:p>
            <a:pPr lvl="1"/>
            <a:r>
              <a:rPr lang="zh-CN" altLang="en-US" noProof="0"/>
              <a:t>第二级</a:t>
            </a:r>
            <a:endParaRPr lang="zh-CN" altLang="en-US" noProof="0"/>
          </a:p>
          <a:p>
            <a:pPr lvl="2"/>
            <a:r>
              <a:rPr lang="zh-CN" altLang="en-US" noProof="0"/>
              <a:t>第三级</a:t>
            </a:r>
            <a:endParaRPr lang="zh-CN" altLang="en-US" noProof="0"/>
          </a:p>
          <a:p>
            <a:pPr lvl="3"/>
            <a:r>
              <a:rPr lang="zh-CN" altLang="en-US" noProof="0"/>
              <a:t>第四级</a:t>
            </a:r>
            <a:endParaRPr lang="zh-CN" altLang="en-US" noProof="0"/>
          </a:p>
          <a:p>
            <a:pPr lvl="4"/>
            <a:r>
              <a:rPr lang="zh-CN" altLang="en-US" noProof="0"/>
              <a:t>第五级</a:t>
            </a:r>
            <a:endParaRPr lang="zh-CN" altLang="en-US" noProof="0"/>
          </a:p>
        </p:txBody>
      </p:sp>
      <p:sp>
        <p:nvSpPr>
          <p:cNvPr id="5223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223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AB76F6FC-157B-4160-B88F-123B3C4C0F29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我们在学习</a:t>
            </a:r>
            <a:r>
              <a:rPr lang="en-US" altLang="zh-CN"/>
              <a:t>C</a:t>
            </a:r>
            <a:r>
              <a:rPr lang="zh-CN" altLang="en-US"/>
              <a:t>语言的时候都已经写过简单，相信同学们已经对递归有了了解，这节课我们开始来学习递归和分治算法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76F6FC-157B-4160-B88F-123B3C4C0F29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zh-CN" altLang="en-US"/>
              <a:t>其实，动态规划与分治很类似，他们同时都需要一个形式，分治里面称递归式，动态规划里面是</a:t>
            </a:r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0163" y="-20638"/>
            <a:ext cx="9174163" cy="6878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1" name="Rectangle 27"/>
          <p:cNvSpPr>
            <a:spLocks noGrp="1" noChangeArrowheads="1"/>
          </p:cNvSpPr>
          <p:nvPr>
            <p:ph type="ctrTitle"/>
          </p:nvPr>
        </p:nvSpPr>
        <p:spPr>
          <a:xfrm>
            <a:off x="468313" y="2470150"/>
            <a:ext cx="5399087" cy="107950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</a:lstStyle>
          <a:p>
            <a:r>
              <a:rPr lang="zh-CN"/>
              <a:t>单击此处编辑母版标题样式</a:t>
            </a:r>
            <a:endParaRPr lang="zh-CN"/>
          </a:p>
        </p:txBody>
      </p:sp>
      <p:sp>
        <p:nvSpPr>
          <p:cNvPr id="2052" name="Rectangle 31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68313" y="3549650"/>
            <a:ext cx="5400675" cy="600075"/>
          </a:xfrm>
          <a:prstGeom prst="rect">
            <a:avLst/>
          </a:prstGeom>
        </p:spPr>
        <p:txBody>
          <a:bodyPr/>
          <a:lstStyle>
            <a:lvl1pPr marL="0" indent="0">
              <a:buFont typeface="Wingdings" panose="05000000000000000000" pitchFamily="2" charset="2"/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zh-CN"/>
              <a:t>单击添加署名或公司信息</a:t>
            </a:r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68313" y="1125538"/>
            <a:ext cx="8207375" cy="516255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D5D6385-73FF-48F7-8DDA-F02439D7B60D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68313" y="1125538"/>
            <a:ext cx="4027487" cy="516255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125538"/>
            <a:ext cx="4027488" cy="516255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145E1E5F-9D19-4FC7-A71A-24AB39712209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01DEBBD1-2960-4502-95D3-F1444E13883A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3FFE5EB4-F84A-4001-AC86-DD5EEB2060DD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1FA65F22-8AC8-411F-B820-478F7DB776C2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8A7D3370-EE2E-49E3-B92B-CC864B084AD2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8FF81DA7-16D0-41E8-A52E-04703233FF3D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68313" y="1125538"/>
            <a:ext cx="8207375" cy="516255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85395485-1E7F-4AEF-8259-7171D9A6624F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4638" y="315913"/>
            <a:ext cx="2051050" cy="5972175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68313" y="315913"/>
            <a:ext cx="6003925" cy="59721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7EFF9BE1-89C5-461A-8080-0860368CA4E7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468313" y="1125538"/>
            <a:ext cx="8207375" cy="5162550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C8FEDC41-C8C7-4EFD-A6DE-BC4A4069D4EC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preserve="1">
  <p:cSld name="标题和图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表占位符 2"/>
          <p:cNvSpPr>
            <a:spLocks noGrp="1"/>
          </p:cNvSpPr>
          <p:nvPr>
            <p:ph type="chart" idx="1"/>
          </p:nvPr>
        </p:nvSpPr>
        <p:spPr>
          <a:xfrm>
            <a:off x="468313" y="1125538"/>
            <a:ext cx="8207375" cy="5162550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6FF87EDD-D88C-44D8-97FB-6009DD6ED59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5" Type="http://schemas.openxmlformats.org/officeDocument/2006/relationships/image" Target="../media/image3.png"/><Relationship Id="rId14" Type="http://schemas.openxmlformats.org/officeDocument/2006/relationships/image" Target="../media/image2.jpeg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bg2"/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80513" cy="50131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235825" y="6453188"/>
            <a:ext cx="1439863" cy="1968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defRPr sz="1000" b="1">
                <a:ea typeface="华文细黑" panose="02010600040101010101" pitchFamily="2" charset="-122"/>
              </a:defRPr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B8F227BD-8E81-48D9-8EB2-264A8CA59D9A}" type="slidenum">
              <a:rPr lang="zh-CN" altLang="en-US" smtClean="0"/>
            </a:fld>
            <a:endParaRPr lang="en-US" altLang="zh-CN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-1" y="6619981"/>
            <a:ext cx="9180513" cy="409419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n"/>
        <a:defRPr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16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Font typeface="Wingdings" panose="05000000000000000000" pitchFamily="2" charset="2"/>
        <a:buChar char="n"/>
        <a:defRPr sz="14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image" Target="../media/image8.png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8" Type="http://schemas.openxmlformats.org/officeDocument/2006/relationships/slideLayout" Target="../slideLayouts/slideLayout2.xml"/><Relationship Id="rId17" Type="http://schemas.openxmlformats.org/officeDocument/2006/relationships/image" Target="../media/image11.png"/><Relationship Id="rId16" Type="http://schemas.openxmlformats.org/officeDocument/2006/relationships/tags" Target="../tags/tag13.xml"/><Relationship Id="rId15" Type="http://schemas.openxmlformats.org/officeDocument/2006/relationships/image" Target="../media/image10.png"/><Relationship Id="rId14" Type="http://schemas.openxmlformats.org/officeDocument/2006/relationships/tags" Target="../tags/tag12.xml"/><Relationship Id="rId13" Type="http://schemas.openxmlformats.org/officeDocument/2006/relationships/image" Target="../media/image9.png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22.xml"/><Relationship Id="rId8" Type="http://schemas.openxmlformats.org/officeDocument/2006/relationships/tags" Target="../tags/tag21.xml"/><Relationship Id="rId7" Type="http://schemas.openxmlformats.org/officeDocument/2006/relationships/tags" Target="../tags/tag20.xml"/><Relationship Id="rId6" Type="http://schemas.openxmlformats.org/officeDocument/2006/relationships/tags" Target="../tags/tag19.xml"/><Relationship Id="rId5" Type="http://schemas.openxmlformats.org/officeDocument/2006/relationships/tags" Target="../tags/tag18.xml"/><Relationship Id="rId4" Type="http://schemas.openxmlformats.org/officeDocument/2006/relationships/tags" Target="../tags/tag17.xml"/><Relationship Id="rId32" Type="http://schemas.openxmlformats.org/officeDocument/2006/relationships/notesSlide" Target="../notesSlides/notesSlide8.xml"/><Relationship Id="rId31" Type="http://schemas.openxmlformats.org/officeDocument/2006/relationships/slideLayout" Target="../slideLayouts/slideLayout2.xml"/><Relationship Id="rId30" Type="http://schemas.openxmlformats.org/officeDocument/2006/relationships/tags" Target="../tags/tag43.xml"/><Relationship Id="rId3" Type="http://schemas.openxmlformats.org/officeDocument/2006/relationships/tags" Target="../tags/tag16.xml"/><Relationship Id="rId29" Type="http://schemas.openxmlformats.org/officeDocument/2006/relationships/tags" Target="../tags/tag42.xml"/><Relationship Id="rId28" Type="http://schemas.openxmlformats.org/officeDocument/2006/relationships/tags" Target="../tags/tag41.xml"/><Relationship Id="rId27" Type="http://schemas.openxmlformats.org/officeDocument/2006/relationships/tags" Target="../tags/tag40.xml"/><Relationship Id="rId26" Type="http://schemas.openxmlformats.org/officeDocument/2006/relationships/tags" Target="../tags/tag39.xml"/><Relationship Id="rId25" Type="http://schemas.openxmlformats.org/officeDocument/2006/relationships/tags" Target="../tags/tag38.xml"/><Relationship Id="rId24" Type="http://schemas.openxmlformats.org/officeDocument/2006/relationships/tags" Target="../tags/tag37.xml"/><Relationship Id="rId23" Type="http://schemas.openxmlformats.org/officeDocument/2006/relationships/tags" Target="../tags/tag36.xml"/><Relationship Id="rId22" Type="http://schemas.openxmlformats.org/officeDocument/2006/relationships/tags" Target="../tags/tag35.xml"/><Relationship Id="rId21" Type="http://schemas.openxmlformats.org/officeDocument/2006/relationships/tags" Target="../tags/tag34.xml"/><Relationship Id="rId20" Type="http://schemas.openxmlformats.org/officeDocument/2006/relationships/tags" Target="../tags/tag33.xml"/><Relationship Id="rId2" Type="http://schemas.openxmlformats.org/officeDocument/2006/relationships/tags" Target="../tags/tag15.xml"/><Relationship Id="rId19" Type="http://schemas.openxmlformats.org/officeDocument/2006/relationships/tags" Target="../tags/tag32.xml"/><Relationship Id="rId18" Type="http://schemas.openxmlformats.org/officeDocument/2006/relationships/tags" Target="../tags/tag31.xml"/><Relationship Id="rId17" Type="http://schemas.openxmlformats.org/officeDocument/2006/relationships/tags" Target="../tags/tag30.xml"/><Relationship Id="rId16" Type="http://schemas.openxmlformats.org/officeDocument/2006/relationships/tags" Target="../tags/tag29.xml"/><Relationship Id="rId15" Type="http://schemas.openxmlformats.org/officeDocument/2006/relationships/tags" Target="../tags/tag28.xml"/><Relationship Id="rId14" Type="http://schemas.openxmlformats.org/officeDocument/2006/relationships/tags" Target="../tags/tag27.xml"/><Relationship Id="rId13" Type="http://schemas.openxmlformats.org/officeDocument/2006/relationships/tags" Target="../tags/tag26.xml"/><Relationship Id="rId12" Type="http://schemas.openxmlformats.org/officeDocument/2006/relationships/tags" Target="../tags/tag25.xml"/><Relationship Id="rId11" Type="http://schemas.openxmlformats.org/officeDocument/2006/relationships/tags" Target="../tags/tag24.xml"/><Relationship Id="rId10" Type="http://schemas.openxmlformats.org/officeDocument/2006/relationships/tags" Target="../tags/tag23.xml"/><Relationship Id="rId1" Type="http://schemas.openxmlformats.org/officeDocument/2006/relationships/tags" Target="../tags/tag14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52.xml"/><Relationship Id="rId8" Type="http://schemas.openxmlformats.org/officeDocument/2006/relationships/tags" Target="../tags/tag51.xml"/><Relationship Id="rId7" Type="http://schemas.openxmlformats.org/officeDocument/2006/relationships/tags" Target="../tags/tag50.xml"/><Relationship Id="rId6" Type="http://schemas.openxmlformats.org/officeDocument/2006/relationships/tags" Target="../tags/tag49.xml"/><Relationship Id="rId5" Type="http://schemas.openxmlformats.org/officeDocument/2006/relationships/tags" Target="../tags/tag48.xml"/><Relationship Id="rId4" Type="http://schemas.openxmlformats.org/officeDocument/2006/relationships/tags" Target="../tags/tag47.xml"/><Relationship Id="rId33" Type="http://schemas.openxmlformats.org/officeDocument/2006/relationships/notesSlide" Target="../notesSlides/notesSlide9.xml"/><Relationship Id="rId32" Type="http://schemas.openxmlformats.org/officeDocument/2006/relationships/slideLayout" Target="../slideLayouts/slideLayout2.xml"/><Relationship Id="rId31" Type="http://schemas.openxmlformats.org/officeDocument/2006/relationships/image" Target="../media/image13.png"/><Relationship Id="rId30" Type="http://schemas.openxmlformats.org/officeDocument/2006/relationships/tags" Target="../tags/tag73.xml"/><Relationship Id="rId3" Type="http://schemas.openxmlformats.org/officeDocument/2006/relationships/tags" Target="../tags/tag46.xml"/><Relationship Id="rId29" Type="http://schemas.openxmlformats.org/officeDocument/2006/relationships/tags" Target="../tags/tag72.xml"/><Relationship Id="rId28" Type="http://schemas.openxmlformats.org/officeDocument/2006/relationships/tags" Target="../tags/tag71.xml"/><Relationship Id="rId27" Type="http://schemas.openxmlformats.org/officeDocument/2006/relationships/tags" Target="../tags/tag70.xml"/><Relationship Id="rId26" Type="http://schemas.openxmlformats.org/officeDocument/2006/relationships/tags" Target="../tags/tag69.xml"/><Relationship Id="rId25" Type="http://schemas.openxmlformats.org/officeDocument/2006/relationships/tags" Target="../tags/tag68.xml"/><Relationship Id="rId24" Type="http://schemas.openxmlformats.org/officeDocument/2006/relationships/tags" Target="../tags/tag67.xml"/><Relationship Id="rId23" Type="http://schemas.openxmlformats.org/officeDocument/2006/relationships/tags" Target="../tags/tag66.xml"/><Relationship Id="rId22" Type="http://schemas.openxmlformats.org/officeDocument/2006/relationships/tags" Target="../tags/tag65.xml"/><Relationship Id="rId21" Type="http://schemas.openxmlformats.org/officeDocument/2006/relationships/tags" Target="../tags/tag64.xml"/><Relationship Id="rId20" Type="http://schemas.openxmlformats.org/officeDocument/2006/relationships/tags" Target="../tags/tag63.xml"/><Relationship Id="rId2" Type="http://schemas.openxmlformats.org/officeDocument/2006/relationships/tags" Target="../tags/tag45.xml"/><Relationship Id="rId19" Type="http://schemas.openxmlformats.org/officeDocument/2006/relationships/tags" Target="../tags/tag62.xml"/><Relationship Id="rId18" Type="http://schemas.openxmlformats.org/officeDocument/2006/relationships/tags" Target="../tags/tag61.xml"/><Relationship Id="rId17" Type="http://schemas.openxmlformats.org/officeDocument/2006/relationships/tags" Target="../tags/tag60.xml"/><Relationship Id="rId16" Type="http://schemas.openxmlformats.org/officeDocument/2006/relationships/tags" Target="../tags/tag59.xml"/><Relationship Id="rId15" Type="http://schemas.openxmlformats.org/officeDocument/2006/relationships/tags" Target="../tags/tag58.xml"/><Relationship Id="rId14" Type="http://schemas.openxmlformats.org/officeDocument/2006/relationships/tags" Target="../tags/tag57.xml"/><Relationship Id="rId13" Type="http://schemas.openxmlformats.org/officeDocument/2006/relationships/tags" Target="../tags/tag56.xml"/><Relationship Id="rId12" Type="http://schemas.openxmlformats.org/officeDocument/2006/relationships/tags" Target="../tags/tag55.xml"/><Relationship Id="rId11" Type="http://schemas.openxmlformats.org/officeDocument/2006/relationships/tags" Target="../tags/tag54.xml"/><Relationship Id="rId10" Type="http://schemas.openxmlformats.org/officeDocument/2006/relationships/tags" Target="../tags/tag53.xml"/><Relationship Id="rId1" Type="http://schemas.openxmlformats.org/officeDocument/2006/relationships/tags" Target="../tags/tag4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6.xml"/><Relationship Id="rId2" Type="http://schemas.openxmlformats.org/officeDocument/2006/relationships/tags" Target="../tags/tag75.xml"/><Relationship Id="rId1" Type="http://schemas.openxmlformats.org/officeDocument/2006/relationships/tags" Target="../tags/tag7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4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26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1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3.png"/><Relationship Id="rId1" Type="http://schemas.openxmlformats.org/officeDocument/2006/relationships/image" Target="../media/image22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588"/>
            <a:ext cx="9142413" cy="6856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4" name="Text Box 8"/>
          <p:cNvSpPr txBox="1">
            <a:spLocks noChangeArrowheads="1"/>
          </p:cNvSpPr>
          <p:nvPr/>
        </p:nvSpPr>
        <p:spPr bwMode="auto">
          <a:xfrm>
            <a:off x="250825" y="6226175"/>
            <a:ext cx="184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zh-CN" sz="2400" b="1" dirty="0">
              <a:latin typeface="Verdana" panose="020B0604030504040204" pitchFamily="34" charset="0"/>
            </a:endParaRPr>
          </a:p>
        </p:txBody>
      </p:sp>
      <p:sp>
        <p:nvSpPr>
          <p:cNvPr id="5" name="Rectangle 7"/>
          <p:cNvSpPr>
            <a:spLocks noChangeArrowheads="1"/>
          </p:cNvSpPr>
          <p:nvPr/>
        </p:nvSpPr>
        <p:spPr bwMode="auto">
          <a:xfrm>
            <a:off x="900113" y="2349500"/>
            <a:ext cx="7772400" cy="147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pPr algn="ctr" eaLnBrk="1" hangingPunct="1">
              <a:defRPr/>
            </a:pPr>
            <a:r>
              <a:rPr lang="zh-CN" altLang="en-US" sz="6000" b="1" dirty="0">
                <a:ln w="11430"/>
                <a:gradFill>
                  <a:gsLst>
                    <a:gs pos="0">
                      <a:srgbClr val="F79646">
                        <a:tint val="90000"/>
                        <a:satMod val="120000"/>
                      </a:srgbClr>
                    </a:gs>
                    <a:gs pos="25000">
                      <a:srgbClr val="F79646">
                        <a:tint val="93000"/>
                        <a:satMod val="120000"/>
                      </a:srgbClr>
                    </a:gs>
                    <a:gs pos="50000">
                      <a:srgbClr val="F79646">
                        <a:shade val="89000"/>
                        <a:satMod val="110000"/>
                      </a:srgbClr>
                    </a:gs>
                    <a:gs pos="75000">
                      <a:srgbClr val="F79646">
                        <a:tint val="93000"/>
                        <a:satMod val="120000"/>
                      </a:srgbClr>
                    </a:gs>
                    <a:gs pos="100000">
                      <a:srgbClr val="F79646">
                        <a:tint val="90000"/>
                        <a:satMod val="120000"/>
                      </a:srgbClr>
                    </a:gs>
                  </a:gsLst>
                  <a:lin ang="5400000"/>
                </a:gra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方正正大黑简体" pitchFamily="2" charset="-122"/>
                <a:ea typeface="方正正大黑简体" pitchFamily="2" charset="-122"/>
              </a:rPr>
              <a:t>第</a:t>
            </a:r>
            <a:r>
              <a:rPr lang="en-US" altLang="zh-CN" sz="6000" b="1" dirty="0">
                <a:ln w="11430"/>
                <a:gradFill>
                  <a:gsLst>
                    <a:gs pos="0">
                      <a:srgbClr val="F79646">
                        <a:tint val="90000"/>
                        <a:satMod val="120000"/>
                      </a:srgbClr>
                    </a:gs>
                    <a:gs pos="25000">
                      <a:srgbClr val="F79646">
                        <a:tint val="93000"/>
                        <a:satMod val="120000"/>
                      </a:srgbClr>
                    </a:gs>
                    <a:gs pos="50000">
                      <a:srgbClr val="F79646">
                        <a:shade val="89000"/>
                        <a:satMod val="110000"/>
                      </a:srgbClr>
                    </a:gs>
                    <a:gs pos="75000">
                      <a:srgbClr val="F79646">
                        <a:tint val="93000"/>
                        <a:satMod val="120000"/>
                      </a:srgbClr>
                    </a:gs>
                    <a:gs pos="100000">
                      <a:srgbClr val="F79646">
                        <a:tint val="90000"/>
                        <a:satMod val="120000"/>
                      </a:srgbClr>
                    </a:gs>
                  </a:gsLst>
                  <a:lin ang="5400000"/>
                </a:gra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方正正大黑简体" pitchFamily="2" charset="-122"/>
                <a:ea typeface="方正正大黑简体" pitchFamily="2" charset="-122"/>
              </a:rPr>
              <a:t>5</a:t>
            </a:r>
            <a:r>
              <a:rPr lang="zh-CN" altLang="en-US" sz="6000" b="1" dirty="0">
                <a:ln w="11430"/>
                <a:gradFill>
                  <a:gsLst>
                    <a:gs pos="0">
                      <a:srgbClr val="F79646">
                        <a:tint val="90000"/>
                        <a:satMod val="120000"/>
                      </a:srgbClr>
                    </a:gs>
                    <a:gs pos="25000">
                      <a:srgbClr val="F79646">
                        <a:tint val="93000"/>
                        <a:satMod val="120000"/>
                      </a:srgbClr>
                    </a:gs>
                    <a:gs pos="50000">
                      <a:srgbClr val="F79646">
                        <a:shade val="89000"/>
                        <a:satMod val="110000"/>
                      </a:srgbClr>
                    </a:gs>
                    <a:gs pos="75000">
                      <a:srgbClr val="F79646">
                        <a:tint val="93000"/>
                        <a:satMod val="120000"/>
                      </a:srgbClr>
                    </a:gs>
                    <a:gs pos="100000">
                      <a:srgbClr val="F79646">
                        <a:tint val="90000"/>
                        <a:satMod val="120000"/>
                      </a:srgbClr>
                    </a:gs>
                  </a:gsLst>
                  <a:lin ang="5400000"/>
                </a:gra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方正正大黑简体" pitchFamily="2" charset="-122"/>
                <a:ea typeface="方正正大黑简体" pitchFamily="2" charset="-122"/>
              </a:rPr>
              <a:t>章 动态规划法</a:t>
            </a:r>
            <a:endParaRPr lang="zh-CN" altLang="en-US" sz="6000" b="1" dirty="0">
              <a:ln w="11430"/>
              <a:gradFill>
                <a:gsLst>
                  <a:gs pos="0">
                    <a:srgbClr val="F79646">
                      <a:tint val="90000"/>
                      <a:satMod val="120000"/>
                    </a:srgbClr>
                  </a:gs>
                  <a:gs pos="25000">
                    <a:srgbClr val="F79646">
                      <a:tint val="93000"/>
                      <a:satMod val="120000"/>
                    </a:srgbClr>
                  </a:gs>
                  <a:gs pos="50000">
                    <a:srgbClr val="F79646">
                      <a:shade val="89000"/>
                      <a:satMod val="110000"/>
                    </a:srgbClr>
                  </a:gs>
                  <a:gs pos="75000">
                    <a:srgbClr val="F79646">
                      <a:tint val="93000"/>
                      <a:satMod val="120000"/>
                    </a:srgbClr>
                  </a:gs>
                  <a:gs pos="100000">
                    <a:srgbClr val="F79646">
                      <a:tint val="90000"/>
                      <a:satMod val="120000"/>
                    </a:srgbClr>
                  </a:gs>
                </a:gsLst>
                <a:lin ang="5400000"/>
              </a:gra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latin typeface="方正正大黑简体" pitchFamily="2" charset="-122"/>
              <a:ea typeface="方正正大黑简体" pitchFamily="2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005" y="2564765"/>
            <a:ext cx="7077075" cy="3438525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450" y="1202690"/>
            <a:ext cx="7305675" cy="1362075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118235" y="816610"/>
            <a:ext cx="23736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课后</a:t>
            </a:r>
            <a:r>
              <a:rPr lang="zh-CN" altLang="en-US"/>
              <a:t>作业：</a:t>
            </a:r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1" y="1051168"/>
            <a:ext cx="521290" cy="624834"/>
          </a:xfrm>
          <a:prstGeom prst="rect">
            <a:avLst/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buFont typeface="Times New Roman" panose="02020603050405020304" pitchFamily="18" charset="0"/>
              <a:buNone/>
            </a:pP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Freeform 6"/>
          <p:cNvSpPr/>
          <p:nvPr/>
        </p:nvSpPr>
        <p:spPr bwMode="auto">
          <a:xfrm>
            <a:off x="105925" y="1140429"/>
            <a:ext cx="397513" cy="501058"/>
          </a:xfrm>
          <a:custGeom>
            <a:avLst/>
            <a:gdLst>
              <a:gd name="T0" fmla="*/ 510720 w 1173"/>
              <a:gd name="T1" fmla="*/ 242556 h 1472"/>
              <a:gd name="T2" fmla="*/ 494464 w 1173"/>
              <a:gd name="T3" fmla="*/ 21309 h 1472"/>
              <a:gd name="T4" fmla="*/ 481820 w 1173"/>
              <a:gd name="T5" fmla="*/ 24482 h 1472"/>
              <a:gd name="T6" fmla="*/ 452920 w 1173"/>
              <a:gd name="T7" fmla="*/ 30830 h 1472"/>
              <a:gd name="T8" fmla="*/ 414988 w 1173"/>
              <a:gd name="T9" fmla="*/ 24482 h 1472"/>
              <a:gd name="T10" fmla="*/ 284035 w 1173"/>
              <a:gd name="T11" fmla="*/ 2267 h 1472"/>
              <a:gd name="T12" fmla="*/ 0 w 1173"/>
              <a:gd name="T13" fmla="*/ 348193 h 1472"/>
              <a:gd name="T14" fmla="*/ 290356 w 1173"/>
              <a:gd name="T15" fmla="*/ 665102 h 1472"/>
              <a:gd name="T16" fmla="*/ 529686 w 1173"/>
              <a:gd name="T17" fmla="*/ 492366 h 1472"/>
              <a:gd name="T18" fmla="*/ 491303 w 1173"/>
              <a:gd name="T19" fmla="*/ 469697 h 1472"/>
              <a:gd name="T20" fmla="*/ 312483 w 1173"/>
              <a:gd name="T21" fmla="*/ 620671 h 1472"/>
              <a:gd name="T22" fmla="*/ 130954 w 1173"/>
              <a:gd name="T23" fmla="*/ 328697 h 1472"/>
              <a:gd name="T24" fmla="*/ 290356 w 1173"/>
              <a:gd name="T25" fmla="*/ 47151 h 1472"/>
              <a:gd name="T26" fmla="*/ 472337 w 1173"/>
              <a:gd name="T27" fmla="*/ 258424 h 1472"/>
              <a:gd name="T28" fmla="*/ 510720 w 1173"/>
              <a:gd name="T29" fmla="*/ 242556 h 1472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</a:gdLst>
            <a:ahLst/>
            <a:cxnLst>
              <a:cxn ang="T30">
                <a:pos x="T0" y="T1"/>
              </a:cxn>
              <a:cxn ang="T31">
                <a:pos x="T2" y="T3"/>
              </a:cxn>
              <a:cxn ang="T32">
                <a:pos x="T4" y="T5"/>
              </a:cxn>
              <a:cxn ang="T33">
                <a:pos x="T6" y="T7"/>
              </a:cxn>
              <a:cxn ang="T34">
                <a:pos x="T8" y="T9"/>
              </a:cxn>
              <a:cxn ang="T35">
                <a:pos x="T10" y="T11"/>
              </a:cxn>
              <a:cxn ang="T36">
                <a:pos x="T12" y="T13"/>
              </a:cxn>
              <a:cxn ang="T37">
                <a:pos x="T14" y="T15"/>
              </a:cxn>
              <a:cxn ang="T38">
                <a:pos x="T16" y="T17"/>
              </a:cxn>
              <a:cxn ang="T39">
                <a:pos x="T18" y="T19"/>
              </a:cxn>
              <a:cxn ang="T40">
                <a:pos x="T20" y="T21"/>
              </a:cxn>
              <a:cxn ang="T41">
                <a:pos x="T22" y="T23"/>
              </a:cxn>
              <a:cxn ang="T42">
                <a:pos x="T24" y="T25"/>
              </a:cxn>
              <a:cxn ang="T43">
                <a:pos x="T26" y="T27"/>
              </a:cxn>
              <a:cxn ang="T44">
                <a:pos x="T28" y="T29"/>
              </a:cxn>
            </a:cxnLst>
            <a:rect l="0" t="0" r="r" b="b"/>
            <a:pathLst>
              <a:path w="1173" h="1472">
                <a:moveTo>
                  <a:pt x="1131" y="535"/>
                </a:moveTo>
                <a:lnTo>
                  <a:pt x="1095" y="47"/>
                </a:lnTo>
                <a:cubicBezTo>
                  <a:pt x="1090" y="47"/>
                  <a:pt x="1081" y="49"/>
                  <a:pt x="1067" y="54"/>
                </a:cubicBezTo>
                <a:cubicBezTo>
                  <a:pt x="1043" y="64"/>
                  <a:pt x="1022" y="68"/>
                  <a:pt x="1003" y="68"/>
                </a:cubicBezTo>
                <a:cubicBezTo>
                  <a:pt x="975" y="68"/>
                  <a:pt x="947" y="64"/>
                  <a:pt x="919" y="54"/>
                </a:cubicBezTo>
                <a:cubicBezTo>
                  <a:pt x="810" y="17"/>
                  <a:pt x="714" y="0"/>
                  <a:pt x="629" y="5"/>
                </a:cubicBezTo>
                <a:cubicBezTo>
                  <a:pt x="214" y="24"/>
                  <a:pt x="5" y="278"/>
                  <a:pt x="0" y="768"/>
                </a:cubicBezTo>
                <a:cubicBezTo>
                  <a:pt x="5" y="1225"/>
                  <a:pt x="219" y="1458"/>
                  <a:pt x="643" y="1467"/>
                </a:cubicBezTo>
                <a:cubicBezTo>
                  <a:pt x="912" y="1472"/>
                  <a:pt x="1088" y="1345"/>
                  <a:pt x="1173" y="1086"/>
                </a:cubicBezTo>
                <a:lnTo>
                  <a:pt x="1088" y="1036"/>
                </a:lnTo>
                <a:cubicBezTo>
                  <a:pt x="999" y="1258"/>
                  <a:pt x="867" y="1369"/>
                  <a:pt x="692" y="1369"/>
                </a:cubicBezTo>
                <a:cubicBezTo>
                  <a:pt x="424" y="1359"/>
                  <a:pt x="290" y="1145"/>
                  <a:pt x="290" y="725"/>
                </a:cubicBezTo>
                <a:cubicBezTo>
                  <a:pt x="290" y="316"/>
                  <a:pt x="408" y="108"/>
                  <a:pt x="643" y="104"/>
                </a:cubicBezTo>
                <a:cubicBezTo>
                  <a:pt x="827" y="94"/>
                  <a:pt x="961" y="250"/>
                  <a:pt x="1046" y="570"/>
                </a:cubicBezTo>
                <a:lnTo>
                  <a:pt x="1131" y="53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Freeform 7"/>
          <p:cNvSpPr>
            <a:spLocks noEditPoints="1"/>
          </p:cNvSpPr>
          <p:nvPr/>
        </p:nvSpPr>
        <p:spPr bwMode="auto">
          <a:xfrm>
            <a:off x="566516" y="1497477"/>
            <a:ext cx="742660" cy="151151"/>
          </a:xfrm>
          <a:custGeom>
            <a:avLst/>
            <a:gdLst>
              <a:gd name="T0" fmla="*/ 22141 w 2195"/>
              <a:gd name="T1" fmla="*/ 126007 h 445"/>
              <a:gd name="T2" fmla="*/ 113870 w 2195"/>
              <a:gd name="T3" fmla="*/ 125101 h 445"/>
              <a:gd name="T4" fmla="*/ 68684 w 2195"/>
              <a:gd name="T5" fmla="*/ 200795 h 445"/>
              <a:gd name="T6" fmla="*/ 70491 w 2195"/>
              <a:gd name="T7" fmla="*/ 47593 h 445"/>
              <a:gd name="T8" fmla="*/ 68684 w 2195"/>
              <a:gd name="T9" fmla="*/ 200795 h 445"/>
              <a:gd name="T10" fmla="*/ 300490 w 2195"/>
              <a:gd name="T11" fmla="*/ 196716 h 445"/>
              <a:gd name="T12" fmla="*/ 279253 w 2195"/>
              <a:gd name="T13" fmla="*/ 106064 h 445"/>
              <a:gd name="T14" fmla="*/ 201532 w 2195"/>
              <a:gd name="T15" fmla="*/ 106970 h 445"/>
              <a:gd name="T16" fmla="*/ 180746 w 2195"/>
              <a:gd name="T17" fmla="*/ 197623 h 445"/>
              <a:gd name="T18" fmla="*/ 201532 w 2195"/>
              <a:gd name="T19" fmla="*/ 50312 h 445"/>
              <a:gd name="T20" fmla="*/ 249881 w 2195"/>
              <a:gd name="T21" fmla="*/ 46233 h 445"/>
              <a:gd name="T22" fmla="*/ 405323 w 2195"/>
              <a:gd name="T23" fmla="*/ 184478 h 445"/>
              <a:gd name="T24" fmla="*/ 387248 w 2195"/>
              <a:gd name="T25" fmla="*/ 199889 h 445"/>
              <a:gd name="T26" fmla="*/ 356973 w 2195"/>
              <a:gd name="T27" fmla="*/ 68443 h 445"/>
              <a:gd name="T28" fmla="*/ 336640 w 2195"/>
              <a:gd name="T29" fmla="*/ 50312 h 445"/>
              <a:gd name="T30" fmla="*/ 356973 w 2195"/>
              <a:gd name="T31" fmla="*/ 10878 h 445"/>
              <a:gd name="T32" fmla="*/ 378211 w 2195"/>
              <a:gd name="T33" fmla="*/ 50312 h 445"/>
              <a:gd name="T34" fmla="*/ 405323 w 2195"/>
              <a:gd name="T35" fmla="*/ 68443 h 445"/>
              <a:gd name="T36" fmla="*/ 378211 w 2195"/>
              <a:gd name="T37" fmla="*/ 167707 h 445"/>
              <a:gd name="T38" fmla="*/ 405323 w 2195"/>
              <a:gd name="T39" fmla="*/ 184478 h 445"/>
              <a:gd name="T40" fmla="*/ 548564 w 2195"/>
              <a:gd name="T41" fmla="*/ 112862 h 445"/>
              <a:gd name="T42" fmla="*/ 460902 w 2195"/>
              <a:gd name="T43" fmla="*/ 112862 h 445"/>
              <a:gd name="T44" fmla="*/ 570706 w 2195"/>
              <a:gd name="T45" fmla="*/ 157282 h 445"/>
              <a:gd name="T46" fmla="*/ 436502 w 2195"/>
              <a:gd name="T47" fmla="*/ 126007 h 445"/>
              <a:gd name="T48" fmla="*/ 571609 w 2195"/>
              <a:gd name="T49" fmla="*/ 126007 h 445"/>
              <a:gd name="T50" fmla="*/ 459999 w 2195"/>
              <a:gd name="T51" fmla="*/ 130993 h 445"/>
              <a:gd name="T52" fmla="*/ 548564 w 2195"/>
              <a:gd name="T53" fmla="*/ 151390 h 445"/>
              <a:gd name="T54" fmla="*/ 734733 w 2195"/>
              <a:gd name="T55" fmla="*/ 196716 h 445"/>
              <a:gd name="T56" fmla="*/ 713947 w 2195"/>
              <a:gd name="T57" fmla="*/ 106064 h 445"/>
              <a:gd name="T58" fmla="*/ 636226 w 2195"/>
              <a:gd name="T59" fmla="*/ 106970 h 445"/>
              <a:gd name="T60" fmla="*/ 614988 w 2195"/>
              <a:gd name="T61" fmla="*/ 197623 h 445"/>
              <a:gd name="T62" fmla="*/ 636226 w 2195"/>
              <a:gd name="T63" fmla="*/ 50312 h 445"/>
              <a:gd name="T64" fmla="*/ 684576 w 2195"/>
              <a:gd name="T65" fmla="*/ 46233 h 445"/>
              <a:gd name="T66" fmla="*/ 840017 w 2195"/>
              <a:gd name="T67" fmla="*/ 184478 h 445"/>
              <a:gd name="T68" fmla="*/ 821491 w 2195"/>
              <a:gd name="T69" fmla="*/ 199889 h 445"/>
              <a:gd name="T70" fmla="*/ 791668 w 2195"/>
              <a:gd name="T71" fmla="*/ 68443 h 445"/>
              <a:gd name="T72" fmla="*/ 771334 w 2195"/>
              <a:gd name="T73" fmla="*/ 50312 h 445"/>
              <a:gd name="T74" fmla="*/ 791668 w 2195"/>
              <a:gd name="T75" fmla="*/ 10878 h 445"/>
              <a:gd name="T76" fmla="*/ 812454 w 2195"/>
              <a:gd name="T77" fmla="*/ 50312 h 445"/>
              <a:gd name="T78" fmla="*/ 840017 w 2195"/>
              <a:gd name="T79" fmla="*/ 68443 h 445"/>
              <a:gd name="T80" fmla="*/ 812454 w 2195"/>
              <a:gd name="T81" fmla="*/ 167707 h 445"/>
              <a:gd name="T82" fmla="*/ 840017 w 2195"/>
              <a:gd name="T83" fmla="*/ 184478 h 445"/>
              <a:gd name="T84" fmla="*/ 985066 w 2195"/>
              <a:gd name="T85" fmla="*/ 85667 h 445"/>
              <a:gd name="T86" fmla="*/ 875263 w 2195"/>
              <a:gd name="T87" fmla="*/ 87933 h 445"/>
              <a:gd name="T88" fmla="*/ 968799 w 2195"/>
              <a:gd name="T89" fmla="*/ 159549 h 445"/>
              <a:gd name="T90" fmla="*/ 890174 w 2195"/>
              <a:gd name="T91" fmla="*/ 151390 h 445"/>
              <a:gd name="T92" fmla="*/ 931746 w 2195"/>
              <a:gd name="T93" fmla="*/ 200795 h 445"/>
              <a:gd name="T94" fmla="*/ 937620 w 2195"/>
              <a:gd name="T95" fmla="*/ 114222 h 445"/>
              <a:gd name="T96" fmla="*/ 929487 w 2195"/>
              <a:gd name="T97" fmla="*/ 65723 h 445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0" t="0" r="r" b="b"/>
            <a:pathLst>
              <a:path w="2195" h="445">
                <a:moveTo>
                  <a:pt x="154" y="142"/>
                </a:moveTo>
                <a:cubicBezTo>
                  <a:pt x="86" y="144"/>
                  <a:pt x="51" y="189"/>
                  <a:pt x="49" y="278"/>
                </a:cubicBezTo>
                <a:cubicBezTo>
                  <a:pt x="51" y="361"/>
                  <a:pt x="86" y="405"/>
                  <a:pt x="154" y="407"/>
                </a:cubicBezTo>
                <a:cubicBezTo>
                  <a:pt x="218" y="405"/>
                  <a:pt x="251" y="361"/>
                  <a:pt x="252" y="276"/>
                </a:cubicBezTo>
                <a:cubicBezTo>
                  <a:pt x="248" y="193"/>
                  <a:pt x="215" y="148"/>
                  <a:pt x="154" y="142"/>
                </a:cubicBezTo>
                <a:close/>
                <a:moveTo>
                  <a:pt x="152" y="443"/>
                </a:moveTo>
                <a:cubicBezTo>
                  <a:pt x="55" y="437"/>
                  <a:pt x="5" y="383"/>
                  <a:pt x="0" y="280"/>
                </a:cubicBezTo>
                <a:cubicBezTo>
                  <a:pt x="3" y="166"/>
                  <a:pt x="55" y="107"/>
                  <a:pt x="156" y="105"/>
                </a:cubicBezTo>
                <a:cubicBezTo>
                  <a:pt x="250" y="109"/>
                  <a:pt x="299" y="165"/>
                  <a:pt x="303" y="274"/>
                </a:cubicBezTo>
                <a:cubicBezTo>
                  <a:pt x="302" y="385"/>
                  <a:pt x="251" y="442"/>
                  <a:pt x="152" y="443"/>
                </a:cubicBezTo>
                <a:close/>
                <a:moveTo>
                  <a:pt x="665" y="227"/>
                </a:moveTo>
                <a:lnTo>
                  <a:pt x="665" y="434"/>
                </a:lnTo>
                <a:lnTo>
                  <a:pt x="618" y="434"/>
                </a:lnTo>
                <a:lnTo>
                  <a:pt x="618" y="234"/>
                </a:lnTo>
                <a:cubicBezTo>
                  <a:pt x="616" y="174"/>
                  <a:pt x="591" y="144"/>
                  <a:pt x="542" y="142"/>
                </a:cubicBezTo>
                <a:cubicBezTo>
                  <a:pt x="484" y="150"/>
                  <a:pt x="452" y="181"/>
                  <a:pt x="446" y="236"/>
                </a:cubicBezTo>
                <a:lnTo>
                  <a:pt x="446" y="434"/>
                </a:lnTo>
                <a:lnTo>
                  <a:pt x="400" y="436"/>
                </a:lnTo>
                <a:lnTo>
                  <a:pt x="400" y="111"/>
                </a:lnTo>
                <a:lnTo>
                  <a:pt x="446" y="111"/>
                </a:lnTo>
                <a:lnTo>
                  <a:pt x="446" y="160"/>
                </a:lnTo>
                <a:cubicBezTo>
                  <a:pt x="472" y="123"/>
                  <a:pt x="507" y="104"/>
                  <a:pt x="553" y="102"/>
                </a:cubicBezTo>
                <a:cubicBezTo>
                  <a:pt x="628" y="102"/>
                  <a:pt x="665" y="144"/>
                  <a:pt x="665" y="227"/>
                </a:cubicBezTo>
                <a:close/>
                <a:moveTo>
                  <a:pt x="897" y="407"/>
                </a:moveTo>
                <a:lnTo>
                  <a:pt x="906" y="432"/>
                </a:lnTo>
                <a:cubicBezTo>
                  <a:pt x="891" y="438"/>
                  <a:pt x="875" y="441"/>
                  <a:pt x="857" y="441"/>
                </a:cubicBezTo>
                <a:cubicBezTo>
                  <a:pt x="811" y="442"/>
                  <a:pt x="788" y="419"/>
                  <a:pt x="790" y="370"/>
                </a:cubicBezTo>
                <a:lnTo>
                  <a:pt x="790" y="151"/>
                </a:lnTo>
                <a:lnTo>
                  <a:pt x="745" y="151"/>
                </a:lnTo>
                <a:lnTo>
                  <a:pt x="745" y="111"/>
                </a:lnTo>
                <a:lnTo>
                  <a:pt x="790" y="111"/>
                </a:lnTo>
                <a:lnTo>
                  <a:pt x="790" y="24"/>
                </a:lnTo>
                <a:lnTo>
                  <a:pt x="837" y="0"/>
                </a:lnTo>
                <a:lnTo>
                  <a:pt x="837" y="111"/>
                </a:lnTo>
                <a:lnTo>
                  <a:pt x="897" y="111"/>
                </a:lnTo>
                <a:lnTo>
                  <a:pt x="897" y="151"/>
                </a:lnTo>
                <a:lnTo>
                  <a:pt x="837" y="151"/>
                </a:lnTo>
                <a:lnTo>
                  <a:pt x="837" y="370"/>
                </a:lnTo>
                <a:cubicBezTo>
                  <a:pt x="835" y="398"/>
                  <a:pt x="847" y="411"/>
                  <a:pt x="872" y="410"/>
                </a:cubicBezTo>
                <a:cubicBezTo>
                  <a:pt x="881" y="410"/>
                  <a:pt x="890" y="409"/>
                  <a:pt x="897" y="407"/>
                </a:cubicBezTo>
                <a:close/>
                <a:moveTo>
                  <a:pt x="1020" y="249"/>
                </a:moveTo>
                <a:lnTo>
                  <a:pt x="1214" y="249"/>
                </a:lnTo>
                <a:cubicBezTo>
                  <a:pt x="1211" y="184"/>
                  <a:pt x="1179" y="150"/>
                  <a:pt x="1118" y="147"/>
                </a:cubicBezTo>
                <a:cubicBezTo>
                  <a:pt x="1057" y="153"/>
                  <a:pt x="1024" y="187"/>
                  <a:pt x="1020" y="249"/>
                </a:cubicBezTo>
                <a:close/>
                <a:moveTo>
                  <a:pt x="1214" y="334"/>
                </a:moveTo>
                <a:lnTo>
                  <a:pt x="1263" y="347"/>
                </a:lnTo>
                <a:cubicBezTo>
                  <a:pt x="1245" y="413"/>
                  <a:pt x="1198" y="445"/>
                  <a:pt x="1120" y="443"/>
                </a:cubicBezTo>
                <a:cubicBezTo>
                  <a:pt x="1021" y="439"/>
                  <a:pt x="969" y="384"/>
                  <a:pt x="966" y="278"/>
                </a:cubicBezTo>
                <a:cubicBezTo>
                  <a:pt x="971" y="167"/>
                  <a:pt x="1021" y="109"/>
                  <a:pt x="1118" y="105"/>
                </a:cubicBezTo>
                <a:cubicBezTo>
                  <a:pt x="1213" y="107"/>
                  <a:pt x="1262" y="165"/>
                  <a:pt x="1265" y="278"/>
                </a:cubicBezTo>
                <a:cubicBezTo>
                  <a:pt x="1265" y="284"/>
                  <a:pt x="1265" y="288"/>
                  <a:pt x="1265" y="289"/>
                </a:cubicBezTo>
                <a:lnTo>
                  <a:pt x="1018" y="289"/>
                </a:lnTo>
                <a:cubicBezTo>
                  <a:pt x="1021" y="362"/>
                  <a:pt x="1054" y="401"/>
                  <a:pt x="1118" y="405"/>
                </a:cubicBezTo>
                <a:cubicBezTo>
                  <a:pt x="1169" y="405"/>
                  <a:pt x="1200" y="382"/>
                  <a:pt x="1214" y="334"/>
                </a:cubicBezTo>
                <a:close/>
                <a:moveTo>
                  <a:pt x="1626" y="227"/>
                </a:moveTo>
                <a:lnTo>
                  <a:pt x="1626" y="434"/>
                </a:lnTo>
                <a:lnTo>
                  <a:pt x="1580" y="434"/>
                </a:lnTo>
                <a:lnTo>
                  <a:pt x="1580" y="234"/>
                </a:lnTo>
                <a:cubicBezTo>
                  <a:pt x="1578" y="174"/>
                  <a:pt x="1553" y="144"/>
                  <a:pt x="1504" y="142"/>
                </a:cubicBezTo>
                <a:cubicBezTo>
                  <a:pt x="1446" y="150"/>
                  <a:pt x="1414" y="181"/>
                  <a:pt x="1408" y="236"/>
                </a:cubicBezTo>
                <a:lnTo>
                  <a:pt x="1408" y="434"/>
                </a:lnTo>
                <a:lnTo>
                  <a:pt x="1361" y="436"/>
                </a:lnTo>
                <a:lnTo>
                  <a:pt x="1361" y="111"/>
                </a:lnTo>
                <a:lnTo>
                  <a:pt x="1408" y="111"/>
                </a:lnTo>
                <a:lnTo>
                  <a:pt x="1408" y="160"/>
                </a:lnTo>
                <a:cubicBezTo>
                  <a:pt x="1433" y="123"/>
                  <a:pt x="1469" y="104"/>
                  <a:pt x="1515" y="102"/>
                </a:cubicBezTo>
                <a:cubicBezTo>
                  <a:pt x="1589" y="102"/>
                  <a:pt x="1626" y="144"/>
                  <a:pt x="1626" y="227"/>
                </a:cubicBezTo>
                <a:close/>
                <a:moveTo>
                  <a:pt x="1859" y="407"/>
                </a:moveTo>
                <a:lnTo>
                  <a:pt x="1868" y="432"/>
                </a:lnTo>
                <a:cubicBezTo>
                  <a:pt x="1853" y="438"/>
                  <a:pt x="1836" y="441"/>
                  <a:pt x="1818" y="441"/>
                </a:cubicBezTo>
                <a:cubicBezTo>
                  <a:pt x="1772" y="442"/>
                  <a:pt x="1750" y="419"/>
                  <a:pt x="1752" y="370"/>
                </a:cubicBezTo>
                <a:lnTo>
                  <a:pt x="1752" y="151"/>
                </a:lnTo>
                <a:lnTo>
                  <a:pt x="1707" y="151"/>
                </a:lnTo>
                <a:lnTo>
                  <a:pt x="1707" y="111"/>
                </a:lnTo>
                <a:lnTo>
                  <a:pt x="1752" y="111"/>
                </a:lnTo>
                <a:lnTo>
                  <a:pt x="1752" y="24"/>
                </a:lnTo>
                <a:lnTo>
                  <a:pt x="1798" y="0"/>
                </a:lnTo>
                <a:lnTo>
                  <a:pt x="1798" y="111"/>
                </a:lnTo>
                <a:lnTo>
                  <a:pt x="1859" y="111"/>
                </a:lnTo>
                <a:lnTo>
                  <a:pt x="1859" y="151"/>
                </a:lnTo>
                <a:lnTo>
                  <a:pt x="1798" y="151"/>
                </a:lnTo>
                <a:lnTo>
                  <a:pt x="1798" y="370"/>
                </a:lnTo>
                <a:cubicBezTo>
                  <a:pt x="1797" y="398"/>
                  <a:pt x="1809" y="411"/>
                  <a:pt x="1834" y="410"/>
                </a:cubicBezTo>
                <a:cubicBezTo>
                  <a:pt x="1843" y="410"/>
                  <a:pt x="1851" y="409"/>
                  <a:pt x="1859" y="407"/>
                </a:cubicBezTo>
                <a:close/>
                <a:moveTo>
                  <a:pt x="2131" y="203"/>
                </a:moveTo>
                <a:lnTo>
                  <a:pt x="2180" y="189"/>
                </a:lnTo>
                <a:cubicBezTo>
                  <a:pt x="2167" y="133"/>
                  <a:pt x="2125" y="104"/>
                  <a:pt x="2055" y="102"/>
                </a:cubicBezTo>
                <a:cubicBezTo>
                  <a:pt x="1982" y="105"/>
                  <a:pt x="1943" y="136"/>
                  <a:pt x="1937" y="194"/>
                </a:cubicBezTo>
                <a:cubicBezTo>
                  <a:pt x="1934" y="249"/>
                  <a:pt x="1976" y="281"/>
                  <a:pt x="2062" y="292"/>
                </a:cubicBezTo>
                <a:cubicBezTo>
                  <a:pt x="2118" y="302"/>
                  <a:pt x="2146" y="322"/>
                  <a:pt x="2144" y="352"/>
                </a:cubicBezTo>
                <a:cubicBezTo>
                  <a:pt x="2143" y="387"/>
                  <a:pt x="2115" y="406"/>
                  <a:pt x="2062" y="407"/>
                </a:cubicBezTo>
                <a:cubicBezTo>
                  <a:pt x="2013" y="409"/>
                  <a:pt x="1982" y="384"/>
                  <a:pt x="1970" y="334"/>
                </a:cubicBezTo>
                <a:lnTo>
                  <a:pt x="1924" y="347"/>
                </a:lnTo>
                <a:cubicBezTo>
                  <a:pt x="1941" y="413"/>
                  <a:pt x="1988" y="445"/>
                  <a:pt x="2062" y="443"/>
                </a:cubicBezTo>
                <a:cubicBezTo>
                  <a:pt x="2148" y="442"/>
                  <a:pt x="2192" y="410"/>
                  <a:pt x="2193" y="350"/>
                </a:cubicBezTo>
                <a:cubicBezTo>
                  <a:pt x="2195" y="298"/>
                  <a:pt x="2155" y="265"/>
                  <a:pt x="2075" y="252"/>
                </a:cubicBezTo>
                <a:cubicBezTo>
                  <a:pt x="2014" y="241"/>
                  <a:pt x="1985" y="222"/>
                  <a:pt x="1986" y="194"/>
                </a:cubicBezTo>
                <a:cubicBezTo>
                  <a:pt x="1990" y="162"/>
                  <a:pt x="2014" y="146"/>
                  <a:pt x="2057" y="145"/>
                </a:cubicBezTo>
                <a:cubicBezTo>
                  <a:pt x="2097" y="145"/>
                  <a:pt x="2122" y="164"/>
                  <a:pt x="2131" y="203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21335" y="1124585"/>
            <a:ext cx="15157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黑体" panose="02010609060101010101" charset="-122"/>
                <a:ea typeface="黑体" panose="02010609060101010101" charset="-122"/>
                <a:cs typeface="Times New Roman" panose="02020603050405020304" pitchFamily="18" charset="0"/>
              </a:rPr>
              <a:t>本章概要</a:t>
            </a:r>
            <a:endParaRPr lang="zh-CN" altLang="en-US">
              <a:latin typeface="黑体" panose="02010609060101010101" charset="-122"/>
              <a:ea typeface="黑体" panose="02010609060101010101" charset="-122"/>
              <a:cs typeface="Times New Roman" panose="02020603050405020304" pitchFamily="18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5150" y="1497330"/>
            <a:ext cx="6043295" cy="498348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5"/>
          <p:cNvSpPr>
            <a:spLocks noChangeArrowheads="1"/>
          </p:cNvSpPr>
          <p:nvPr/>
        </p:nvSpPr>
        <p:spPr bwMode="auto">
          <a:xfrm>
            <a:off x="0" y="1484784"/>
            <a:ext cx="521290" cy="624834"/>
          </a:xfrm>
          <a:prstGeom prst="rect">
            <a:avLst/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buFont typeface="Arial" panose="020B0604020202020204" pitchFamily="34" charset="0"/>
              <a:buNone/>
            </a:pPr>
            <a:endParaRPr lang="zh-CN" altLang="en-US"/>
          </a:p>
        </p:txBody>
      </p:sp>
      <p:sp>
        <p:nvSpPr>
          <p:cNvPr id="4" name="Freeform 6"/>
          <p:cNvSpPr/>
          <p:nvPr/>
        </p:nvSpPr>
        <p:spPr bwMode="auto">
          <a:xfrm>
            <a:off x="105924" y="1574045"/>
            <a:ext cx="397513" cy="501058"/>
          </a:xfrm>
          <a:custGeom>
            <a:avLst/>
            <a:gdLst>
              <a:gd name="T0" fmla="*/ 510720 w 1173"/>
              <a:gd name="T1" fmla="*/ 242556 h 1472"/>
              <a:gd name="T2" fmla="*/ 494464 w 1173"/>
              <a:gd name="T3" fmla="*/ 21309 h 1472"/>
              <a:gd name="T4" fmla="*/ 481820 w 1173"/>
              <a:gd name="T5" fmla="*/ 24482 h 1472"/>
              <a:gd name="T6" fmla="*/ 452920 w 1173"/>
              <a:gd name="T7" fmla="*/ 30830 h 1472"/>
              <a:gd name="T8" fmla="*/ 414988 w 1173"/>
              <a:gd name="T9" fmla="*/ 24482 h 1472"/>
              <a:gd name="T10" fmla="*/ 284035 w 1173"/>
              <a:gd name="T11" fmla="*/ 2267 h 1472"/>
              <a:gd name="T12" fmla="*/ 0 w 1173"/>
              <a:gd name="T13" fmla="*/ 348193 h 1472"/>
              <a:gd name="T14" fmla="*/ 290356 w 1173"/>
              <a:gd name="T15" fmla="*/ 665102 h 1472"/>
              <a:gd name="T16" fmla="*/ 529686 w 1173"/>
              <a:gd name="T17" fmla="*/ 492366 h 1472"/>
              <a:gd name="T18" fmla="*/ 491303 w 1173"/>
              <a:gd name="T19" fmla="*/ 469697 h 1472"/>
              <a:gd name="T20" fmla="*/ 312483 w 1173"/>
              <a:gd name="T21" fmla="*/ 620671 h 1472"/>
              <a:gd name="T22" fmla="*/ 130954 w 1173"/>
              <a:gd name="T23" fmla="*/ 328697 h 1472"/>
              <a:gd name="T24" fmla="*/ 290356 w 1173"/>
              <a:gd name="T25" fmla="*/ 47151 h 1472"/>
              <a:gd name="T26" fmla="*/ 472337 w 1173"/>
              <a:gd name="T27" fmla="*/ 258424 h 1472"/>
              <a:gd name="T28" fmla="*/ 510720 w 1173"/>
              <a:gd name="T29" fmla="*/ 242556 h 1472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</a:gdLst>
            <a:ahLst/>
            <a:cxnLst>
              <a:cxn ang="T30">
                <a:pos x="T0" y="T1"/>
              </a:cxn>
              <a:cxn ang="T31">
                <a:pos x="T2" y="T3"/>
              </a:cxn>
              <a:cxn ang="T32">
                <a:pos x="T4" y="T5"/>
              </a:cxn>
              <a:cxn ang="T33">
                <a:pos x="T6" y="T7"/>
              </a:cxn>
              <a:cxn ang="T34">
                <a:pos x="T8" y="T9"/>
              </a:cxn>
              <a:cxn ang="T35">
                <a:pos x="T10" y="T11"/>
              </a:cxn>
              <a:cxn ang="T36">
                <a:pos x="T12" y="T13"/>
              </a:cxn>
              <a:cxn ang="T37">
                <a:pos x="T14" y="T15"/>
              </a:cxn>
              <a:cxn ang="T38">
                <a:pos x="T16" y="T17"/>
              </a:cxn>
              <a:cxn ang="T39">
                <a:pos x="T18" y="T19"/>
              </a:cxn>
              <a:cxn ang="T40">
                <a:pos x="T20" y="T21"/>
              </a:cxn>
              <a:cxn ang="T41">
                <a:pos x="T22" y="T23"/>
              </a:cxn>
              <a:cxn ang="T42">
                <a:pos x="T24" y="T25"/>
              </a:cxn>
              <a:cxn ang="T43">
                <a:pos x="T26" y="T27"/>
              </a:cxn>
              <a:cxn ang="T44">
                <a:pos x="T28" y="T29"/>
              </a:cxn>
            </a:cxnLst>
            <a:rect l="0" t="0" r="r" b="b"/>
            <a:pathLst>
              <a:path w="1173" h="1472">
                <a:moveTo>
                  <a:pt x="1131" y="535"/>
                </a:moveTo>
                <a:lnTo>
                  <a:pt x="1095" y="47"/>
                </a:lnTo>
                <a:cubicBezTo>
                  <a:pt x="1090" y="47"/>
                  <a:pt x="1081" y="49"/>
                  <a:pt x="1067" y="54"/>
                </a:cubicBezTo>
                <a:cubicBezTo>
                  <a:pt x="1043" y="64"/>
                  <a:pt x="1022" y="68"/>
                  <a:pt x="1003" y="68"/>
                </a:cubicBezTo>
                <a:cubicBezTo>
                  <a:pt x="975" y="68"/>
                  <a:pt x="947" y="64"/>
                  <a:pt x="919" y="54"/>
                </a:cubicBezTo>
                <a:cubicBezTo>
                  <a:pt x="810" y="17"/>
                  <a:pt x="714" y="0"/>
                  <a:pt x="629" y="5"/>
                </a:cubicBezTo>
                <a:cubicBezTo>
                  <a:pt x="214" y="24"/>
                  <a:pt x="5" y="278"/>
                  <a:pt x="0" y="768"/>
                </a:cubicBezTo>
                <a:cubicBezTo>
                  <a:pt x="5" y="1225"/>
                  <a:pt x="219" y="1458"/>
                  <a:pt x="643" y="1467"/>
                </a:cubicBezTo>
                <a:cubicBezTo>
                  <a:pt x="912" y="1472"/>
                  <a:pt x="1088" y="1345"/>
                  <a:pt x="1173" y="1086"/>
                </a:cubicBezTo>
                <a:lnTo>
                  <a:pt x="1088" y="1036"/>
                </a:lnTo>
                <a:cubicBezTo>
                  <a:pt x="999" y="1258"/>
                  <a:pt x="867" y="1369"/>
                  <a:pt x="692" y="1369"/>
                </a:cubicBezTo>
                <a:cubicBezTo>
                  <a:pt x="424" y="1359"/>
                  <a:pt x="290" y="1145"/>
                  <a:pt x="290" y="725"/>
                </a:cubicBezTo>
                <a:cubicBezTo>
                  <a:pt x="290" y="316"/>
                  <a:pt x="408" y="108"/>
                  <a:pt x="643" y="104"/>
                </a:cubicBezTo>
                <a:cubicBezTo>
                  <a:pt x="827" y="94"/>
                  <a:pt x="961" y="250"/>
                  <a:pt x="1046" y="570"/>
                </a:cubicBezTo>
                <a:lnTo>
                  <a:pt x="1131" y="53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6" name="Freeform 7"/>
          <p:cNvSpPr>
            <a:spLocks noEditPoints="1"/>
          </p:cNvSpPr>
          <p:nvPr/>
        </p:nvSpPr>
        <p:spPr bwMode="auto">
          <a:xfrm>
            <a:off x="566515" y="1931093"/>
            <a:ext cx="742660" cy="151151"/>
          </a:xfrm>
          <a:custGeom>
            <a:avLst/>
            <a:gdLst>
              <a:gd name="T0" fmla="*/ 22141 w 2195"/>
              <a:gd name="T1" fmla="*/ 126007 h 445"/>
              <a:gd name="T2" fmla="*/ 113870 w 2195"/>
              <a:gd name="T3" fmla="*/ 125101 h 445"/>
              <a:gd name="T4" fmla="*/ 68684 w 2195"/>
              <a:gd name="T5" fmla="*/ 200795 h 445"/>
              <a:gd name="T6" fmla="*/ 70491 w 2195"/>
              <a:gd name="T7" fmla="*/ 47593 h 445"/>
              <a:gd name="T8" fmla="*/ 68684 w 2195"/>
              <a:gd name="T9" fmla="*/ 200795 h 445"/>
              <a:gd name="T10" fmla="*/ 300490 w 2195"/>
              <a:gd name="T11" fmla="*/ 196716 h 445"/>
              <a:gd name="T12" fmla="*/ 279253 w 2195"/>
              <a:gd name="T13" fmla="*/ 106064 h 445"/>
              <a:gd name="T14" fmla="*/ 201532 w 2195"/>
              <a:gd name="T15" fmla="*/ 106970 h 445"/>
              <a:gd name="T16" fmla="*/ 180746 w 2195"/>
              <a:gd name="T17" fmla="*/ 197623 h 445"/>
              <a:gd name="T18" fmla="*/ 201532 w 2195"/>
              <a:gd name="T19" fmla="*/ 50312 h 445"/>
              <a:gd name="T20" fmla="*/ 249881 w 2195"/>
              <a:gd name="T21" fmla="*/ 46233 h 445"/>
              <a:gd name="T22" fmla="*/ 405323 w 2195"/>
              <a:gd name="T23" fmla="*/ 184478 h 445"/>
              <a:gd name="T24" fmla="*/ 387248 w 2195"/>
              <a:gd name="T25" fmla="*/ 199889 h 445"/>
              <a:gd name="T26" fmla="*/ 356973 w 2195"/>
              <a:gd name="T27" fmla="*/ 68443 h 445"/>
              <a:gd name="T28" fmla="*/ 336640 w 2195"/>
              <a:gd name="T29" fmla="*/ 50312 h 445"/>
              <a:gd name="T30" fmla="*/ 356973 w 2195"/>
              <a:gd name="T31" fmla="*/ 10878 h 445"/>
              <a:gd name="T32" fmla="*/ 378211 w 2195"/>
              <a:gd name="T33" fmla="*/ 50312 h 445"/>
              <a:gd name="T34" fmla="*/ 405323 w 2195"/>
              <a:gd name="T35" fmla="*/ 68443 h 445"/>
              <a:gd name="T36" fmla="*/ 378211 w 2195"/>
              <a:gd name="T37" fmla="*/ 167707 h 445"/>
              <a:gd name="T38" fmla="*/ 405323 w 2195"/>
              <a:gd name="T39" fmla="*/ 184478 h 445"/>
              <a:gd name="T40" fmla="*/ 548564 w 2195"/>
              <a:gd name="T41" fmla="*/ 112862 h 445"/>
              <a:gd name="T42" fmla="*/ 460902 w 2195"/>
              <a:gd name="T43" fmla="*/ 112862 h 445"/>
              <a:gd name="T44" fmla="*/ 570706 w 2195"/>
              <a:gd name="T45" fmla="*/ 157282 h 445"/>
              <a:gd name="T46" fmla="*/ 436502 w 2195"/>
              <a:gd name="T47" fmla="*/ 126007 h 445"/>
              <a:gd name="T48" fmla="*/ 571609 w 2195"/>
              <a:gd name="T49" fmla="*/ 126007 h 445"/>
              <a:gd name="T50" fmla="*/ 459999 w 2195"/>
              <a:gd name="T51" fmla="*/ 130993 h 445"/>
              <a:gd name="T52" fmla="*/ 548564 w 2195"/>
              <a:gd name="T53" fmla="*/ 151390 h 445"/>
              <a:gd name="T54" fmla="*/ 734733 w 2195"/>
              <a:gd name="T55" fmla="*/ 196716 h 445"/>
              <a:gd name="T56" fmla="*/ 713947 w 2195"/>
              <a:gd name="T57" fmla="*/ 106064 h 445"/>
              <a:gd name="T58" fmla="*/ 636226 w 2195"/>
              <a:gd name="T59" fmla="*/ 106970 h 445"/>
              <a:gd name="T60" fmla="*/ 614988 w 2195"/>
              <a:gd name="T61" fmla="*/ 197623 h 445"/>
              <a:gd name="T62" fmla="*/ 636226 w 2195"/>
              <a:gd name="T63" fmla="*/ 50312 h 445"/>
              <a:gd name="T64" fmla="*/ 684576 w 2195"/>
              <a:gd name="T65" fmla="*/ 46233 h 445"/>
              <a:gd name="T66" fmla="*/ 840017 w 2195"/>
              <a:gd name="T67" fmla="*/ 184478 h 445"/>
              <a:gd name="T68" fmla="*/ 821491 w 2195"/>
              <a:gd name="T69" fmla="*/ 199889 h 445"/>
              <a:gd name="T70" fmla="*/ 791668 w 2195"/>
              <a:gd name="T71" fmla="*/ 68443 h 445"/>
              <a:gd name="T72" fmla="*/ 771334 w 2195"/>
              <a:gd name="T73" fmla="*/ 50312 h 445"/>
              <a:gd name="T74" fmla="*/ 791668 w 2195"/>
              <a:gd name="T75" fmla="*/ 10878 h 445"/>
              <a:gd name="T76" fmla="*/ 812454 w 2195"/>
              <a:gd name="T77" fmla="*/ 50312 h 445"/>
              <a:gd name="T78" fmla="*/ 840017 w 2195"/>
              <a:gd name="T79" fmla="*/ 68443 h 445"/>
              <a:gd name="T80" fmla="*/ 812454 w 2195"/>
              <a:gd name="T81" fmla="*/ 167707 h 445"/>
              <a:gd name="T82" fmla="*/ 840017 w 2195"/>
              <a:gd name="T83" fmla="*/ 184478 h 445"/>
              <a:gd name="T84" fmla="*/ 985066 w 2195"/>
              <a:gd name="T85" fmla="*/ 85667 h 445"/>
              <a:gd name="T86" fmla="*/ 875263 w 2195"/>
              <a:gd name="T87" fmla="*/ 87933 h 445"/>
              <a:gd name="T88" fmla="*/ 968799 w 2195"/>
              <a:gd name="T89" fmla="*/ 159549 h 445"/>
              <a:gd name="T90" fmla="*/ 890174 w 2195"/>
              <a:gd name="T91" fmla="*/ 151390 h 445"/>
              <a:gd name="T92" fmla="*/ 931746 w 2195"/>
              <a:gd name="T93" fmla="*/ 200795 h 445"/>
              <a:gd name="T94" fmla="*/ 937620 w 2195"/>
              <a:gd name="T95" fmla="*/ 114222 h 445"/>
              <a:gd name="T96" fmla="*/ 929487 w 2195"/>
              <a:gd name="T97" fmla="*/ 65723 h 445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0" t="0" r="r" b="b"/>
            <a:pathLst>
              <a:path w="2195" h="445">
                <a:moveTo>
                  <a:pt x="154" y="142"/>
                </a:moveTo>
                <a:cubicBezTo>
                  <a:pt x="86" y="144"/>
                  <a:pt x="51" y="189"/>
                  <a:pt x="49" y="278"/>
                </a:cubicBezTo>
                <a:cubicBezTo>
                  <a:pt x="51" y="361"/>
                  <a:pt x="86" y="405"/>
                  <a:pt x="154" y="407"/>
                </a:cubicBezTo>
                <a:cubicBezTo>
                  <a:pt x="218" y="405"/>
                  <a:pt x="251" y="361"/>
                  <a:pt x="252" y="276"/>
                </a:cubicBezTo>
                <a:cubicBezTo>
                  <a:pt x="248" y="193"/>
                  <a:pt x="215" y="148"/>
                  <a:pt x="154" y="142"/>
                </a:cubicBezTo>
                <a:close/>
                <a:moveTo>
                  <a:pt x="152" y="443"/>
                </a:moveTo>
                <a:cubicBezTo>
                  <a:pt x="55" y="437"/>
                  <a:pt x="5" y="383"/>
                  <a:pt x="0" y="280"/>
                </a:cubicBezTo>
                <a:cubicBezTo>
                  <a:pt x="3" y="166"/>
                  <a:pt x="55" y="107"/>
                  <a:pt x="156" y="105"/>
                </a:cubicBezTo>
                <a:cubicBezTo>
                  <a:pt x="250" y="109"/>
                  <a:pt x="299" y="165"/>
                  <a:pt x="303" y="274"/>
                </a:cubicBezTo>
                <a:cubicBezTo>
                  <a:pt x="302" y="385"/>
                  <a:pt x="251" y="442"/>
                  <a:pt x="152" y="443"/>
                </a:cubicBezTo>
                <a:close/>
                <a:moveTo>
                  <a:pt x="665" y="227"/>
                </a:moveTo>
                <a:lnTo>
                  <a:pt x="665" y="434"/>
                </a:lnTo>
                <a:lnTo>
                  <a:pt x="618" y="434"/>
                </a:lnTo>
                <a:lnTo>
                  <a:pt x="618" y="234"/>
                </a:lnTo>
                <a:cubicBezTo>
                  <a:pt x="616" y="174"/>
                  <a:pt x="591" y="144"/>
                  <a:pt x="542" y="142"/>
                </a:cubicBezTo>
                <a:cubicBezTo>
                  <a:pt x="484" y="150"/>
                  <a:pt x="452" y="181"/>
                  <a:pt x="446" y="236"/>
                </a:cubicBezTo>
                <a:lnTo>
                  <a:pt x="446" y="434"/>
                </a:lnTo>
                <a:lnTo>
                  <a:pt x="400" y="436"/>
                </a:lnTo>
                <a:lnTo>
                  <a:pt x="400" y="111"/>
                </a:lnTo>
                <a:lnTo>
                  <a:pt x="446" y="111"/>
                </a:lnTo>
                <a:lnTo>
                  <a:pt x="446" y="160"/>
                </a:lnTo>
                <a:cubicBezTo>
                  <a:pt x="472" y="123"/>
                  <a:pt x="507" y="104"/>
                  <a:pt x="553" y="102"/>
                </a:cubicBezTo>
                <a:cubicBezTo>
                  <a:pt x="628" y="102"/>
                  <a:pt x="665" y="144"/>
                  <a:pt x="665" y="227"/>
                </a:cubicBezTo>
                <a:close/>
                <a:moveTo>
                  <a:pt x="897" y="407"/>
                </a:moveTo>
                <a:lnTo>
                  <a:pt x="906" y="432"/>
                </a:lnTo>
                <a:cubicBezTo>
                  <a:pt x="891" y="438"/>
                  <a:pt x="875" y="441"/>
                  <a:pt x="857" y="441"/>
                </a:cubicBezTo>
                <a:cubicBezTo>
                  <a:pt x="811" y="442"/>
                  <a:pt x="788" y="419"/>
                  <a:pt x="790" y="370"/>
                </a:cubicBezTo>
                <a:lnTo>
                  <a:pt x="790" y="151"/>
                </a:lnTo>
                <a:lnTo>
                  <a:pt x="745" y="151"/>
                </a:lnTo>
                <a:lnTo>
                  <a:pt x="745" y="111"/>
                </a:lnTo>
                <a:lnTo>
                  <a:pt x="790" y="111"/>
                </a:lnTo>
                <a:lnTo>
                  <a:pt x="790" y="24"/>
                </a:lnTo>
                <a:lnTo>
                  <a:pt x="837" y="0"/>
                </a:lnTo>
                <a:lnTo>
                  <a:pt x="837" y="111"/>
                </a:lnTo>
                <a:lnTo>
                  <a:pt x="897" y="111"/>
                </a:lnTo>
                <a:lnTo>
                  <a:pt x="897" y="151"/>
                </a:lnTo>
                <a:lnTo>
                  <a:pt x="837" y="151"/>
                </a:lnTo>
                <a:lnTo>
                  <a:pt x="837" y="370"/>
                </a:lnTo>
                <a:cubicBezTo>
                  <a:pt x="835" y="398"/>
                  <a:pt x="847" y="411"/>
                  <a:pt x="872" y="410"/>
                </a:cubicBezTo>
                <a:cubicBezTo>
                  <a:pt x="881" y="410"/>
                  <a:pt x="890" y="409"/>
                  <a:pt x="897" y="407"/>
                </a:cubicBezTo>
                <a:close/>
                <a:moveTo>
                  <a:pt x="1020" y="249"/>
                </a:moveTo>
                <a:lnTo>
                  <a:pt x="1214" y="249"/>
                </a:lnTo>
                <a:cubicBezTo>
                  <a:pt x="1211" y="184"/>
                  <a:pt x="1179" y="150"/>
                  <a:pt x="1118" y="147"/>
                </a:cubicBezTo>
                <a:cubicBezTo>
                  <a:pt x="1057" y="153"/>
                  <a:pt x="1024" y="187"/>
                  <a:pt x="1020" y="249"/>
                </a:cubicBezTo>
                <a:close/>
                <a:moveTo>
                  <a:pt x="1214" y="334"/>
                </a:moveTo>
                <a:lnTo>
                  <a:pt x="1263" y="347"/>
                </a:lnTo>
                <a:cubicBezTo>
                  <a:pt x="1245" y="413"/>
                  <a:pt x="1198" y="445"/>
                  <a:pt x="1120" y="443"/>
                </a:cubicBezTo>
                <a:cubicBezTo>
                  <a:pt x="1021" y="439"/>
                  <a:pt x="969" y="384"/>
                  <a:pt x="966" y="278"/>
                </a:cubicBezTo>
                <a:cubicBezTo>
                  <a:pt x="971" y="167"/>
                  <a:pt x="1021" y="109"/>
                  <a:pt x="1118" y="105"/>
                </a:cubicBezTo>
                <a:cubicBezTo>
                  <a:pt x="1213" y="107"/>
                  <a:pt x="1262" y="165"/>
                  <a:pt x="1265" y="278"/>
                </a:cubicBezTo>
                <a:cubicBezTo>
                  <a:pt x="1265" y="284"/>
                  <a:pt x="1265" y="288"/>
                  <a:pt x="1265" y="289"/>
                </a:cubicBezTo>
                <a:lnTo>
                  <a:pt x="1018" y="289"/>
                </a:lnTo>
                <a:cubicBezTo>
                  <a:pt x="1021" y="362"/>
                  <a:pt x="1054" y="401"/>
                  <a:pt x="1118" y="405"/>
                </a:cubicBezTo>
                <a:cubicBezTo>
                  <a:pt x="1169" y="405"/>
                  <a:pt x="1200" y="382"/>
                  <a:pt x="1214" y="334"/>
                </a:cubicBezTo>
                <a:close/>
                <a:moveTo>
                  <a:pt x="1626" y="227"/>
                </a:moveTo>
                <a:lnTo>
                  <a:pt x="1626" y="434"/>
                </a:lnTo>
                <a:lnTo>
                  <a:pt x="1580" y="434"/>
                </a:lnTo>
                <a:lnTo>
                  <a:pt x="1580" y="234"/>
                </a:lnTo>
                <a:cubicBezTo>
                  <a:pt x="1578" y="174"/>
                  <a:pt x="1553" y="144"/>
                  <a:pt x="1504" y="142"/>
                </a:cubicBezTo>
                <a:cubicBezTo>
                  <a:pt x="1446" y="150"/>
                  <a:pt x="1414" y="181"/>
                  <a:pt x="1408" y="236"/>
                </a:cubicBezTo>
                <a:lnTo>
                  <a:pt x="1408" y="434"/>
                </a:lnTo>
                <a:lnTo>
                  <a:pt x="1361" y="436"/>
                </a:lnTo>
                <a:lnTo>
                  <a:pt x="1361" y="111"/>
                </a:lnTo>
                <a:lnTo>
                  <a:pt x="1408" y="111"/>
                </a:lnTo>
                <a:lnTo>
                  <a:pt x="1408" y="160"/>
                </a:lnTo>
                <a:cubicBezTo>
                  <a:pt x="1433" y="123"/>
                  <a:pt x="1469" y="104"/>
                  <a:pt x="1515" y="102"/>
                </a:cubicBezTo>
                <a:cubicBezTo>
                  <a:pt x="1589" y="102"/>
                  <a:pt x="1626" y="144"/>
                  <a:pt x="1626" y="227"/>
                </a:cubicBezTo>
                <a:close/>
                <a:moveTo>
                  <a:pt x="1859" y="407"/>
                </a:moveTo>
                <a:lnTo>
                  <a:pt x="1868" y="432"/>
                </a:lnTo>
                <a:cubicBezTo>
                  <a:pt x="1853" y="438"/>
                  <a:pt x="1836" y="441"/>
                  <a:pt x="1818" y="441"/>
                </a:cubicBezTo>
                <a:cubicBezTo>
                  <a:pt x="1772" y="442"/>
                  <a:pt x="1750" y="419"/>
                  <a:pt x="1752" y="370"/>
                </a:cubicBezTo>
                <a:lnTo>
                  <a:pt x="1752" y="151"/>
                </a:lnTo>
                <a:lnTo>
                  <a:pt x="1707" y="151"/>
                </a:lnTo>
                <a:lnTo>
                  <a:pt x="1707" y="111"/>
                </a:lnTo>
                <a:lnTo>
                  <a:pt x="1752" y="111"/>
                </a:lnTo>
                <a:lnTo>
                  <a:pt x="1752" y="24"/>
                </a:lnTo>
                <a:lnTo>
                  <a:pt x="1798" y="0"/>
                </a:lnTo>
                <a:lnTo>
                  <a:pt x="1798" y="111"/>
                </a:lnTo>
                <a:lnTo>
                  <a:pt x="1859" y="111"/>
                </a:lnTo>
                <a:lnTo>
                  <a:pt x="1859" y="151"/>
                </a:lnTo>
                <a:lnTo>
                  <a:pt x="1798" y="151"/>
                </a:lnTo>
                <a:lnTo>
                  <a:pt x="1798" y="370"/>
                </a:lnTo>
                <a:cubicBezTo>
                  <a:pt x="1797" y="398"/>
                  <a:pt x="1809" y="411"/>
                  <a:pt x="1834" y="410"/>
                </a:cubicBezTo>
                <a:cubicBezTo>
                  <a:pt x="1843" y="410"/>
                  <a:pt x="1851" y="409"/>
                  <a:pt x="1859" y="407"/>
                </a:cubicBezTo>
                <a:close/>
                <a:moveTo>
                  <a:pt x="2131" y="203"/>
                </a:moveTo>
                <a:lnTo>
                  <a:pt x="2180" y="189"/>
                </a:lnTo>
                <a:cubicBezTo>
                  <a:pt x="2167" y="133"/>
                  <a:pt x="2125" y="104"/>
                  <a:pt x="2055" y="102"/>
                </a:cubicBezTo>
                <a:cubicBezTo>
                  <a:pt x="1982" y="105"/>
                  <a:pt x="1943" y="136"/>
                  <a:pt x="1937" y="194"/>
                </a:cubicBezTo>
                <a:cubicBezTo>
                  <a:pt x="1934" y="249"/>
                  <a:pt x="1976" y="281"/>
                  <a:pt x="2062" y="292"/>
                </a:cubicBezTo>
                <a:cubicBezTo>
                  <a:pt x="2118" y="302"/>
                  <a:pt x="2146" y="322"/>
                  <a:pt x="2144" y="352"/>
                </a:cubicBezTo>
                <a:cubicBezTo>
                  <a:pt x="2143" y="387"/>
                  <a:pt x="2115" y="406"/>
                  <a:pt x="2062" y="407"/>
                </a:cubicBezTo>
                <a:cubicBezTo>
                  <a:pt x="2013" y="409"/>
                  <a:pt x="1982" y="384"/>
                  <a:pt x="1970" y="334"/>
                </a:cubicBezTo>
                <a:lnTo>
                  <a:pt x="1924" y="347"/>
                </a:lnTo>
                <a:cubicBezTo>
                  <a:pt x="1941" y="413"/>
                  <a:pt x="1988" y="445"/>
                  <a:pt x="2062" y="443"/>
                </a:cubicBezTo>
                <a:cubicBezTo>
                  <a:pt x="2148" y="442"/>
                  <a:pt x="2192" y="410"/>
                  <a:pt x="2193" y="350"/>
                </a:cubicBezTo>
                <a:cubicBezTo>
                  <a:pt x="2195" y="298"/>
                  <a:pt x="2155" y="265"/>
                  <a:pt x="2075" y="252"/>
                </a:cubicBezTo>
                <a:cubicBezTo>
                  <a:pt x="2014" y="241"/>
                  <a:pt x="1985" y="222"/>
                  <a:pt x="1986" y="194"/>
                </a:cubicBezTo>
                <a:cubicBezTo>
                  <a:pt x="1990" y="162"/>
                  <a:pt x="2014" y="146"/>
                  <a:pt x="2057" y="145"/>
                </a:cubicBezTo>
                <a:cubicBezTo>
                  <a:pt x="2097" y="145"/>
                  <a:pt x="2122" y="164"/>
                  <a:pt x="2131" y="203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7" name="Freeform 8"/>
          <p:cNvSpPr>
            <a:spLocks noEditPoints="1"/>
          </p:cNvSpPr>
          <p:nvPr/>
        </p:nvSpPr>
        <p:spPr bwMode="auto">
          <a:xfrm>
            <a:off x="595079" y="1495495"/>
            <a:ext cx="714096" cy="335625"/>
          </a:xfrm>
          <a:custGeom>
            <a:avLst/>
            <a:gdLst>
              <a:gd name="T0" fmla="*/ 345008 w 2109"/>
              <a:gd name="T1" fmla="*/ 0 h 986"/>
              <a:gd name="T2" fmla="*/ 305269 w 2109"/>
              <a:gd name="T3" fmla="*/ 447253 h 986"/>
              <a:gd name="T4" fmla="*/ 37933 w 2109"/>
              <a:gd name="T5" fmla="*/ 409150 h 986"/>
              <a:gd name="T6" fmla="*/ 0 w 2109"/>
              <a:gd name="T7" fmla="*/ 447253 h 986"/>
              <a:gd name="T8" fmla="*/ 37933 w 2109"/>
              <a:gd name="T9" fmla="*/ 36288 h 986"/>
              <a:gd name="T10" fmla="*/ 305269 w 2109"/>
              <a:gd name="T11" fmla="*/ 126555 h 986"/>
              <a:gd name="T12" fmla="*/ 37933 w 2109"/>
              <a:gd name="T13" fmla="*/ 36288 h 986"/>
              <a:gd name="T14" fmla="*/ 37933 w 2109"/>
              <a:gd name="T15" fmla="*/ 376944 h 986"/>
              <a:gd name="T16" fmla="*/ 305269 w 2109"/>
              <a:gd name="T17" fmla="*/ 284863 h 986"/>
              <a:gd name="T18" fmla="*/ 37933 w 2109"/>
              <a:gd name="T19" fmla="*/ 160576 h 986"/>
              <a:gd name="T20" fmla="*/ 305269 w 2109"/>
              <a:gd name="T21" fmla="*/ 252657 h 986"/>
              <a:gd name="T22" fmla="*/ 37933 w 2109"/>
              <a:gd name="T23" fmla="*/ 160576 h 986"/>
              <a:gd name="T24" fmla="*/ 912645 w 2109"/>
              <a:gd name="T25" fmla="*/ 250843 h 986"/>
              <a:gd name="T26" fmla="*/ 808781 w 2109"/>
              <a:gd name="T27" fmla="*/ 314801 h 986"/>
              <a:gd name="T28" fmla="*/ 926644 w 2109"/>
              <a:gd name="T29" fmla="*/ 415047 h 986"/>
              <a:gd name="T30" fmla="*/ 731109 w 2109"/>
              <a:gd name="T31" fmla="*/ 371048 h 986"/>
              <a:gd name="T32" fmla="*/ 605118 w 2109"/>
              <a:gd name="T33" fmla="*/ 441356 h 986"/>
              <a:gd name="T34" fmla="*/ 658856 w 2109"/>
              <a:gd name="T35" fmla="*/ 403253 h 986"/>
              <a:gd name="T36" fmla="*/ 694983 w 2109"/>
              <a:gd name="T37" fmla="*/ 202761 h 986"/>
              <a:gd name="T38" fmla="*/ 477321 w 2109"/>
              <a:gd name="T39" fmla="*/ 170555 h 986"/>
              <a:gd name="T40" fmla="*/ 834973 w 2109"/>
              <a:gd name="T41" fmla="*/ 118391 h 986"/>
              <a:gd name="T42" fmla="*/ 537381 w 2109"/>
              <a:gd name="T43" fmla="*/ 86185 h 986"/>
              <a:gd name="T44" fmla="*/ 834973 w 2109"/>
              <a:gd name="T45" fmla="*/ 34020 h 986"/>
              <a:gd name="T46" fmla="*/ 529253 w 2109"/>
              <a:gd name="T47" fmla="*/ 2268 h 986"/>
              <a:gd name="T48" fmla="*/ 872454 w 2109"/>
              <a:gd name="T49" fmla="*/ 170555 h 986"/>
              <a:gd name="T50" fmla="*/ 948771 w 2109"/>
              <a:gd name="T51" fmla="*/ 202761 h 986"/>
              <a:gd name="T52" fmla="*/ 731109 w 2109"/>
              <a:gd name="T53" fmla="*/ 218637 h 986"/>
              <a:gd name="T54" fmla="*/ 886453 w 2109"/>
              <a:gd name="T55" fmla="*/ 218637 h 986"/>
              <a:gd name="T56" fmla="*/ 675113 w 2109"/>
              <a:gd name="T57" fmla="*/ 293028 h 986"/>
              <a:gd name="T58" fmla="*/ 485449 w 2109"/>
              <a:gd name="T59" fmla="*/ 403253 h 986"/>
              <a:gd name="T60" fmla="*/ 537381 w 2109"/>
              <a:gd name="T61" fmla="*/ 214554 h 986"/>
              <a:gd name="T62" fmla="*/ 631310 w 2109"/>
              <a:gd name="T63" fmla="*/ 276698 h 986"/>
              <a:gd name="T64" fmla="*/ 549122 w 2109"/>
              <a:gd name="T65" fmla="*/ 266719 h 986"/>
              <a:gd name="T66" fmla="*/ 537381 w 2109"/>
              <a:gd name="T67" fmla="*/ 214554 h 98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</a:gdLst>
            <a:ahLst/>
            <a:cxnLst>
              <a:cxn ang="T68">
                <a:pos x="T0" y="T1"/>
              </a:cxn>
              <a:cxn ang="T69">
                <a:pos x="T2" y="T3"/>
              </a:cxn>
              <a:cxn ang="T70">
                <a:pos x="T4" y="T5"/>
              </a:cxn>
              <a:cxn ang="T71">
                <a:pos x="T6" y="T7"/>
              </a:cxn>
              <a:cxn ang="T72">
                <a:pos x="T8" y="T9"/>
              </a:cxn>
              <a:cxn ang="T73">
                <a:pos x="T10" y="T11"/>
              </a:cxn>
              <a:cxn ang="T74">
                <a:pos x="T12" y="T13"/>
              </a:cxn>
              <a:cxn ang="T75">
                <a:pos x="T14" y="T15"/>
              </a:cxn>
              <a:cxn ang="T76">
                <a:pos x="T16" y="T17"/>
              </a:cxn>
              <a:cxn ang="T77">
                <a:pos x="T18" y="T19"/>
              </a:cxn>
              <a:cxn ang="T78">
                <a:pos x="T20" y="T21"/>
              </a:cxn>
              <a:cxn ang="T79">
                <a:pos x="T22" y="T23"/>
              </a:cxn>
              <a:cxn ang="T80">
                <a:pos x="T24" y="T25"/>
              </a:cxn>
              <a:cxn ang="T81">
                <a:pos x="T26" y="T27"/>
              </a:cxn>
              <a:cxn ang="T82">
                <a:pos x="T28" y="T29"/>
              </a:cxn>
              <a:cxn ang="T83">
                <a:pos x="T30" y="T31"/>
              </a:cxn>
              <a:cxn ang="T84">
                <a:pos x="T32" y="T33"/>
              </a:cxn>
              <a:cxn ang="T85">
                <a:pos x="T34" y="T35"/>
              </a:cxn>
              <a:cxn ang="T86">
                <a:pos x="T36" y="T37"/>
              </a:cxn>
              <a:cxn ang="T87">
                <a:pos x="T38" y="T39"/>
              </a:cxn>
              <a:cxn ang="T88">
                <a:pos x="T40" y="T41"/>
              </a:cxn>
              <a:cxn ang="T89">
                <a:pos x="T42" y="T43"/>
              </a:cxn>
              <a:cxn ang="T90">
                <a:pos x="T44" y="T45"/>
              </a:cxn>
              <a:cxn ang="T91">
                <a:pos x="T46" y="T47"/>
              </a:cxn>
              <a:cxn ang="T92">
                <a:pos x="T48" y="T49"/>
              </a:cxn>
              <a:cxn ang="T93">
                <a:pos x="T50" y="T51"/>
              </a:cxn>
              <a:cxn ang="T94">
                <a:pos x="T52" y="T53"/>
              </a:cxn>
              <a:cxn ang="T95">
                <a:pos x="T54" y="T55"/>
              </a:cxn>
              <a:cxn ang="T96">
                <a:pos x="T56" y="T57"/>
              </a:cxn>
              <a:cxn ang="T97">
                <a:pos x="T58" y="T59"/>
              </a:cxn>
              <a:cxn ang="T98">
                <a:pos x="T60" y="T61"/>
              </a:cxn>
              <a:cxn ang="T99">
                <a:pos x="T62" y="T63"/>
              </a:cxn>
              <a:cxn ang="T100">
                <a:pos x="T64" y="T65"/>
              </a:cxn>
              <a:cxn ang="T101">
                <a:pos x="T66" y="T67"/>
              </a:cxn>
            </a:cxnLst>
            <a:rect l="0" t="0" r="r" b="b"/>
            <a:pathLst>
              <a:path w="2109" h="986">
                <a:moveTo>
                  <a:pt x="0" y="0"/>
                </a:moveTo>
                <a:lnTo>
                  <a:pt x="764" y="0"/>
                </a:lnTo>
                <a:lnTo>
                  <a:pt x="764" y="986"/>
                </a:lnTo>
                <a:lnTo>
                  <a:pt x="676" y="986"/>
                </a:lnTo>
                <a:lnTo>
                  <a:pt x="676" y="902"/>
                </a:lnTo>
                <a:lnTo>
                  <a:pt x="84" y="902"/>
                </a:lnTo>
                <a:lnTo>
                  <a:pt x="84" y="986"/>
                </a:lnTo>
                <a:lnTo>
                  <a:pt x="0" y="986"/>
                </a:lnTo>
                <a:lnTo>
                  <a:pt x="0" y="0"/>
                </a:lnTo>
                <a:close/>
                <a:moveTo>
                  <a:pt x="84" y="80"/>
                </a:moveTo>
                <a:lnTo>
                  <a:pt x="84" y="279"/>
                </a:lnTo>
                <a:lnTo>
                  <a:pt x="676" y="279"/>
                </a:lnTo>
                <a:lnTo>
                  <a:pt x="676" y="80"/>
                </a:lnTo>
                <a:lnTo>
                  <a:pt x="84" y="80"/>
                </a:lnTo>
                <a:close/>
                <a:moveTo>
                  <a:pt x="84" y="628"/>
                </a:moveTo>
                <a:lnTo>
                  <a:pt x="84" y="831"/>
                </a:lnTo>
                <a:lnTo>
                  <a:pt x="676" y="831"/>
                </a:lnTo>
                <a:lnTo>
                  <a:pt x="676" y="628"/>
                </a:lnTo>
                <a:lnTo>
                  <a:pt x="84" y="628"/>
                </a:lnTo>
                <a:close/>
                <a:moveTo>
                  <a:pt x="84" y="354"/>
                </a:moveTo>
                <a:lnTo>
                  <a:pt x="84" y="557"/>
                </a:lnTo>
                <a:lnTo>
                  <a:pt x="676" y="557"/>
                </a:lnTo>
                <a:lnTo>
                  <a:pt x="676" y="354"/>
                </a:lnTo>
                <a:lnTo>
                  <a:pt x="84" y="354"/>
                </a:lnTo>
                <a:close/>
                <a:moveTo>
                  <a:pt x="1963" y="482"/>
                </a:moveTo>
                <a:lnTo>
                  <a:pt x="2021" y="553"/>
                </a:lnTo>
                <a:cubicBezTo>
                  <a:pt x="2000" y="568"/>
                  <a:pt x="1958" y="594"/>
                  <a:pt x="1893" y="632"/>
                </a:cubicBezTo>
                <a:cubicBezTo>
                  <a:pt x="1849" y="659"/>
                  <a:pt x="1815" y="679"/>
                  <a:pt x="1791" y="694"/>
                </a:cubicBezTo>
                <a:cubicBezTo>
                  <a:pt x="1859" y="753"/>
                  <a:pt x="1965" y="800"/>
                  <a:pt x="2109" y="836"/>
                </a:cubicBezTo>
                <a:cubicBezTo>
                  <a:pt x="2089" y="856"/>
                  <a:pt x="2070" y="883"/>
                  <a:pt x="2052" y="915"/>
                </a:cubicBezTo>
                <a:cubicBezTo>
                  <a:pt x="1849" y="856"/>
                  <a:pt x="1704" y="756"/>
                  <a:pt x="1619" y="615"/>
                </a:cubicBezTo>
                <a:lnTo>
                  <a:pt x="1619" y="818"/>
                </a:lnTo>
                <a:cubicBezTo>
                  <a:pt x="1624" y="924"/>
                  <a:pt x="1573" y="976"/>
                  <a:pt x="1464" y="973"/>
                </a:cubicBezTo>
                <a:cubicBezTo>
                  <a:pt x="1423" y="973"/>
                  <a:pt x="1381" y="973"/>
                  <a:pt x="1340" y="973"/>
                </a:cubicBezTo>
                <a:cubicBezTo>
                  <a:pt x="1337" y="937"/>
                  <a:pt x="1331" y="908"/>
                  <a:pt x="1322" y="884"/>
                </a:cubicBezTo>
                <a:cubicBezTo>
                  <a:pt x="1358" y="887"/>
                  <a:pt x="1403" y="889"/>
                  <a:pt x="1459" y="889"/>
                </a:cubicBezTo>
                <a:cubicBezTo>
                  <a:pt x="1515" y="892"/>
                  <a:pt x="1542" y="867"/>
                  <a:pt x="1539" y="814"/>
                </a:cubicBezTo>
                <a:lnTo>
                  <a:pt x="1539" y="447"/>
                </a:lnTo>
                <a:lnTo>
                  <a:pt x="1057" y="447"/>
                </a:lnTo>
                <a:lnTo>
                  <a:pt x="1057" y="376"/>
                </a:lnTo>
                <a:lnTo>
                  <a:pt x="1849" y="376"/>
                </a:lnTo>
                <a:lnTo>
                  <a:pt x="1849" y="261"/>
                </a:lnTo>
                <a:lnTo>
                  <a:pt x="1190" y="261"/>
                </a:lnTo>
                <a:lnTo>
                  <a:pt x="1190" y="190"/>
                </a:lnTo>
                <a:lnTo>
                  <a:pt x="1849" y="190"/>
                </a:lnTo>
                <a:lnTo>
                  <a:pt x="1849" y="75"/>
                </a:lnTo>
                <a:lnTo>
                  <a:pt x="1172" y="75"/>
                </a:lnTo>
                <a:lnTo>
                  <a:pt x="1172" y="5"/>
                </a:lnTo>
                <a:lnTo>
                  <a:pt x="1932" y="5"/>
                </a:lnTo>
                <a:lnTo>
                  <a:pt x="1932" y="376"/>
                </a:lnTo>
                <a:lnTo>
                  <a:pt x="2101" y="376"/>
                </a:lnTo>
                <a:lnTo>
                  <a:pt x="2101" y="447"/>
                </a:lnTo>
                <a:lnTo>
                  <a:pt x="1619" y="447"/>
                </a:lnTo>
                <a:lnTo>
                  <a:pt x="1619" y="482"/>
                </a:lnTo>
                <a:cubicBezTo>
                  <a:pt x="1654" y="544"/>
                  <a:pt x="1692" y="597"/>
                  <a:pt x="1733" y="641"/>
                </a:cubicBezTo>
                <a:cubicBezTo>
                  <a:pt x="1822" y="582"/>
                  <a:pt x="1899" y="529"/>
                  <a:pt x="1963" y="482"/>
                </a:cubicBezTo>
                <a:close/>
                <a:moveTo>
                  <a:pt x="1044" y="814"/>
                </a:moveTo>
                <a:cubicBezTo>
                  <a:pt x="1168" y="772"/>
                  <a:pt x="1318" y="716"/>
                  <a:pt x="1495" y="646"/>
                </a:cubicBezTo>
                <a:cubicBezTo>
                  <a:pt x="1501" y="672"/>
                  <a:pt x="1507" y="699"/>
                  <a:pt x="1513" y="725"/>
                </a:cubicBezTo>
                <a:cubicBezTo>
                  <a:pt x="1351" y="784"/>
                  <a:pt x="1205" y="839"/>
                  <a:pt x="1075" y="889"/>
                </a:cubicBezTo>
                <a:lnTo>
                  <a:pt x="1044" y="814"/>
                </a:lnTo>
                <a:close/>
                <a:moveTo>
                  <a:pt x="1190" y="473"/>
                </a:moveTo>
                <a:cubicBezTo>
                  <a:pt x="1202" y="482"/>
                  <a:pt x="1218" y="492"/>
                  <a:pt x="1238" y="504"/>
                </a:cubicBezTo>
                <a:cubicBezTo>
                  <a:pt x="1303" y="545"/>
                  <a:pt x="1356" y="581"/>
                  <a:pt x="1398" y="610"/>
                </a:cubicBezTo>
                <a:lnTo>
                  <a:pt x="1349" y="681"/>
                </a:lnTo>
                <a:cubicBezTo>
                  <a:pt x="1317" y="658"/>
                  <a:pt x="1272" y="627"/>
                  <a:pt x="1216" y="588"/>
                </a:cubicBezTo>
                <a:cubicBezTo>
                  <a:pt x="1184" y="565"/>
                  <a:pt x="1159" y="547"/>
                  <a:pt x="1141" y="535"/>
                </a:cubicBezTo>
                <a:lnTo>
                  <a:pt x="1190" y="47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8" name="Freeform 24"/>
          <p:cNvSpPr/>
          <p:nvPr>
            <p:custDataLst>
              <p:tags r:id="rId1"/>
            </p:custDataLst>
          </p:nvPr>
        </p:nvSpPr>
        <p:spPr bwMode="auto">
          <a:xfrm>
            <a:off x="4660081" y="3140569"/>
            <a:ext cx="3567476" cy="535572"/>
          </a:xfrm>
          <a:custGeom>
            <a:avLst/>
            <a:gdLst>
              <a:gd name="T0" fmla="*/ 91 w 8683"/>
              <a:gd name="T1" fmla="*/ 0 h 865"/>
              <a:gd name="T2" fmla="*/ 8591 w 8683"/>
              <a:gd name="T3" fmla="*/ 0 h 865"/>
              <a:gd name="T4" fmla="*/ 8683 w 8683"/>
              <a:gd name="T5" fmla="*/ 91 h 865"/>
              <a:gd name="T6" fmla="*/ 8683 w 8683"/>
              <a:gd name="T7" fmla="*/ 774 h 865"/>
              <a:gd name="T8" fmla="*/ 8591 w 8683"/>
              <a:gd name="T9" fmla="*/ 865 h 865"/>
              <a:gd name="T10" fmla="*/ 91 w 8683"/>
              <a:gd name="T11" fmla="*/ 865 h 865"/>
              <a:gd name="T12" fmla="*/ 0 w 8683"/>
              <a:gd name="T13" fmla="*/ 774 h 865"/>
              <a:gd name="T14" fmla="*/ 0 w 8683"/>
              <a:gd name="T15" fmla="*/ 91 h 865"/>
              <a:gd name="T16" fmla="*/ 91 w 8683"/>
              <a:gd name="T17" fmla="*/ 0 h 86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683" h="865">
                <a:moveTo>
                  <a:pt x="91" y="0"/>
                </a:moveTo>
                <a:lnTo>
                  <a:pt x="8591" y="0"/>
                </a:lnTo>
                <a:cubicBezTo>
                  <a:pt x="8642" y="0"/>
                  <a:pt x="8683" y="41"/>
                  <a:pt x="8683" y="91"/>
                </a:cubicBezTo>
                <a:lnTo>
                  <a:pt x="8683" y="774"/>
                </a:lnTo>
                <a:cubicBezTo>
                  <a:pt x="8683" y="824"/>
                  <a:pt x="8642" y="865"/>
                  <a:pt x="8591" y="865"/>
                </a:cubicBezTo>
                <a:lnTo>
                  <a:pt x="91" y="865"/>
                </a:lnTo>
                <a:cubicBezTo>
                  <a:pt x="41" y="865"/>
                  <a:pt x="0" y="824"/>
                  <a:pt x="0" y="774"/>
                </a:cubicBezTo>
                <a:lnTo>
                  <a:pt x="0" y="91"/>
                </a:lnTo>
                <a:cubicBezTo>
                  <a:pt x="0" y="41"/>
                  <a:pt x="41" y="0"/>
                  <a:pt x="91" y="0"/>
                </a:cubicBezTo>
                <a:close/>
              </a:path>
            </a:pathLst>
          </a:custGeom>
          <a:solidFill>
            <a:srgbClr val="FFFFFF"/>
          </a:solidFill>
          <a:ln w="9525" cap="flat">
            <a:solidFill>
              <a:schemeClr val="tx1">
                <a:lumMod val="50000"/>
                <a:lumOff val="50000"/>
              </a:schemeClr>
            </a:solidFill>
            <a:prstDash val="solid"/>
            <a:miter lim="800000"/>
          </a:ln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9" name="Freeform 26"/>
          <p:cNvSpPr/>
          <p:nvPr>
            <p:custDataLst>
              <p:tags r:id="rId2"/>
            </p:custDataLst>
          </p:nvPr>
        </p:nvSpPr>
        <p:spPr bwMode="auto">
          <a:xfrm>
            <a:off x="4660081" y="3961463"/>
            <a:ext cx="3567476" cy="535572"/>
          </a:xfrm>
          <a:custGeom>
            <a:avLst/>
            <a:gdLst>
              <a:gd name="T0" fmla="*/ 91 w 8683"/>
              <a:gd name="T1" fmla="*/ 0 h 865"/>
              <a:gd name="T2" fmla="*/ 8591 w 8683"/>
              <a:gd name="T3" fmla="*/ 0 h 865"/>
              <a:gd name="T4" fmla="*/ 8683 w 8683"/>
              <a:gd name="T5" fmla="*/ 91 h 865"/>
              <a:gd name="T6" fmla="*/ 8683 w 8683"/>
              <a:gd name="T7" fmla="*/ 774 h 865"/>
              <a:gd name="T8" fmla="*/ 8591 w 8683"/>
              <a:gd name="T9" fmla="*/ 865 h 865"/>
              <a:gd name="T10" fmla="*/ 91 w 8683"/>
              <a:gd name="T11" fmla="*/ 865 h 865"/>
              <a:gd name="T12" fmla="*/ 0 w 8683"/>
              <a:gd name="T13" fmla="*/ 774 h 865"/>
              <a:gd name="T14" fmla="*/ 0 w 8683"/>
              <a:gd name="T15" fmla="*/ 91 h 865"/>
              <a:gd name="T16" fmla="*/ 91 w 8683"/>
              <a:gd name="T17" fmla="*/ 0 h 86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683" h="865">
                <a:moveTo>
                  <a:pt x="91" y="0"/>
                </a:moveTo>
                <a:lnTo>
                  <a:pt x="8591" y="0"/>
                </a:lnTo>
                <a:cubicBezTo>
                  <a:pt x="8642" y="0"/>
                  <a:pt x="8683" y="41"/>
                  <a:pt x="8683" y="91"/>
                </a:cubicBezTo>
                <a:lnTo>
                  <a:pt x="8683" y="774"/>
                </a:lnTo>
                <a:cubicBezTo>
                  <a:pt x="8683" y="824"/>
                  <a:pt x="8642" y="865"/>
                  <a:pt x="8591" y="865"/>
                </a:cubicBezTo>
                <a:lnTo>
                  <a:pt x="91" y="865"/>
                </a:lnTo>
                <a:cubicBezTo>
                  <a:pt x="41" y="865"/>
                  <a:pt x="0" y="824"/>
                  <a:pt x="0" y="774"/>
                </a:cubicBezTo>
                <a:lnTo>
                  <a:pt x="0" y="91"/>
                </a:lnTo>
                <a:cubicBezTo>
                  <a:pt x="0" y="41"/>
                  <a:pt x="41" y="0"/>
                  <a:pt x="91" y="0"/>
                </a:cubicBezTo>
                <a:close/>
              </a:path>
            </a:pathLst>
          </a:custGeom>
          <a:solidFill>
            <a:srgbClr val="FFFFFF"/>
          </a:solidFill>
          <a:ln w="9525" cap="flat">
            <a:solidFill>
              <a:schemeClr val="tx1">
                <a:lumMod val="50000"/>
                <a:lumOff val="50000"/>
              </a:schemeClr>
            </a:solidFill>
            <a:prstDash val="solid"/>
            <a:miter lim="800000"/>
          </a:ln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10" name="Freeform 27">
            <a:hlinkClick r:id="" action="ppaction://noaction"/>
          </p:cNvPr>
          <p:cNvSpPr/>
          <p:nvPr>
            <p:custDataLst>
              <p:tags r:id="rId3"/>
            </p:custDataLst>
          </p:nvPr>
        </p:nvSpPr>
        <p:spPr bwMode="auto">
          <a:xfrm>
            <a:off x="4075713" y="4796620"/>
            <a:ext cx="532002" cy="535572"/>
          </a:xfrm>
          <a:custGeom>
            <a:avLst/>
            <a:gdLst>
              <a:gd name="T0" fmla="*/ 91 w 865"/>
              <a:gd name="T1" fmla="*/ 0 h 866"/>
              <a:gd name="T2" fmla="*/ 774 w 865"/>
              <a:gd name="T3" fmla="*/ 0 h 866"/>
              <a:gd name="T4" fmla="*/ 865 w 865"/>
              <a:gd name="T5" fmla="*/ 91 h 866"/>
              <a:gd name="T6" fmla="*/ 865 w 865"/>
              <a:gd name="T7" fmla="*/ 775 h 866"/>
              <a:gd name="T8" fmla="*/ 774 w 865"/>
              <a:gd name="T9" fmla="*/ 866 h 866"/>
              <a:gd name="T10" fmla="*/ 91 w 865"/>
              <a:gd name="T11" fmla="*/ 866 h 866"/>
              <a:gd name="T12" fmla="*/ 0 w 865"/>
              <a:gd name="T13" fmla="*/ 775 h 866"/>
              <a:gd name="T14" fmla="*/ 0 w 865"/>
              <a:gd name="T15" fmla="*/ 91 h 866"/>
              <a:gd name="T16" fmla="*/ 91 w 865"/>
              <a:gd name="T17" fmla="*/ 0 h 8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65" h="866">
                <a:moveTo>
                  <a:pt x="91" y="0"/>
                </a:moveTo>
                <a:lnTo>
                  <a:pt x="774" y="0"/>
                </a:lnTo>
                <a:cubicBezTo>
                  <a:pt x="824" y="0"/>
                  <a:pt x="865" y="41"/>
                  <a:pt x="865" y="91"/>
                </a:cubicBezTo>
                <a:lnTo>
                  <a:pt x="865" y="775"/>
                </a:lnTo>
                <a:cubicBezTo>
                  <a:pt x="865" y="825"/>
                  <a:pt x="824" y="866"/>
                  <a:pt x="774" y="866"/>
                </a:cubicBezTo>
                <a:lnTo>
                  <a:pt x="91" y="866"/>
                </a:lnTo>
                <a:cubicBezTo>
                  <a:pt x="41" y="866"/>
                  <a:pt x="0" y="825"/>
                  <a:pt x="0" y="775"/>
                </a:cubicBezTo>
                <a:lnTo>
                  <a:pt x="0" y="91"/>
                </a:lnTo>
                <a:cubicBezTo>
                  <a:pt x="0" y="41"/>
                  <a:pt x="41" y="0"/>
                  <a:pt x="9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11" name="Freeform 28"/>
          <p:cNvSpPr/>
          <p:nvPr>
            <p:custDataLst>
              <p:tags r:id="rId4"/>
            </p:custDataLst>
          </p:nvPr>
        </p:nvSpPr>
        <p:spPr bwMode="auto">
          <a:xfrm>
            <a:off x="4660081" y="4796620"/>
            <a:ext cx="3567476" cy="535572"/>
          </a:xfrm>
          <a:custGeom>
            <a:avLst/>
            <a:gdLst>
              <a:gd name="T0" fmla="*/ 91 w 8683"/>
              <a:gd name="T1" fmla="*/ 0 h 866"/>
              <a:gd name="T2" fmla="*/ 8591 w 8683"/>
              <a:gd name="T3" fmla="*/ 0 h 866"/>
              <a:gd name="T4" fmla="*/ 8683 w 8683"/>
              <a:gd name="T5" fmla="*/ 91 h 866"/>
              <a:gd name="T6" fmla="*/ 8683 w 8683"/>
              <a:gd name="T7" fmla="*/ 775 h 866"/>
              <a:gd name="T8" fmla="*/ 8591 w 8683"/>
              <a:gd name="T9" fmla="*/ 866 h 866"/>
              <a:gd name="T10" fmla="*/ 91 w 8683"/>
              <a:gd name="T11" fmla="*/ 866 h 866"/>
              <a:gd name="T12" fmla="*/ 0 w 8683"/>
              <a:gd name="T13" fmla="*/ 775 h 866"/>
              <a:gd name="T14" fmla="*/ 0 w 8683"/>
              <a:gd name="T15" fmla="*/ 91 h 866"/>
              <a:gd name="T16" fmla="*/ 91 w 8683"/>
              <a:gd name="T17" fmla="*/ 0 h 8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683" h="866">
                <a:moveTo>
                  <a:pt x="91" y="0"/>
                </a:moveTo>
                <a:lnTo>
                  <a:pt x="8591" y="0"/>
                </a:lnTo>
                <a:cubicBezTo>
                  <a:pt x="8642" y="0"/>
                  <a:pt x="8683" y="41"/>
                  <a:pt x="8683" y="91"/>
                </a:cubicBezTo>
                <a:lnTo>
                  <a:pt x="8683" y="775"/>
                </a:lnTo>
                <a:cubicBezTo>
                  <a:pt x="8683" y="825"/>
                  <a:pt x="8642" y="866"/>
                  <a:pt x="8591" y="866"/>
                </a:cubicBezTo>
                <a:lnTo>
                  <a:pt x="91" y="866"/>
                </a:lnTo>
                <a:cubicBezTo>
                  <a:pt x="41" y="866"/>
                  <a:pt x="0" y="825"/>
                  <a:pt x="0" y="775"/>
                </a:cubicBezTo>
                <a:lnTo>
                  <a:pt x="0" y="91"/>
                </a:lnTo>
                <a:cubicBezTo>
                  <a:pt x="0" y="41"/>
                  <a:pt x="41" y="0"/>
                  <a:pt x="91" y="0"/>
                </a:cubicBezTo>
                <a:close/>
              </a:path>
            </a:pathLst>
          </a:custGeom>
          <a:solidFill>
            <a:srgbClr val="FFFFFF"/>
          </a:solidFill>
          <a:ln w="9525" cap="flat">
            <a:solidFill>
              <a:schemeClr val="tx1">
                <a:lumMod val="50000"/>
                <a:lumOff val="50000"/>
              </a:schemeClr>
            </a:solidFill>
            <a:prstDash val="solid"/>
            <a:miter lim="800000"/>
          </a:ln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13" name="TextBox 47"/>
          <p:cNvSpPr txBox="1"/>
          <p:nvPr>
            <p:custDataLst>
              <p:tags r:id="rId5"/>
            </p:custDataLst>
          </p:nvPr>
        </p:nvSpPr>
        <p:spPr>
          <a:xfrm>
            <a:off x="4784388" y="3189149"/>
            <a:ext cx="313694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5.1 </a:t>
            </a:r>
            <a:r>
              <a:rPr lang="zh-CN" altLang="en-US" sz="22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动态规划法概述</a:t>
            </a:r>
            <a:endParaRPr lang="zh-CN" altLang="en-US" sz="2200" b="1" dirty="0">
              <a:solidFill>
                <a:schemeClr val="tx2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TextBox 48"/>
          <p:cNvSpPr txBox="1"/>
          <p:nvPr>
            <p:custDataLst>
              <p:tags r:id="rId6"/>
            </p:custDataLst>
          </p:nvPr>
        </p:nvSpPr>
        <p:spPr>
          <a:xfrm>
            <a:off x="4784388" y="4054686"/>
            <a:ext cx="3136940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3200" b="1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sz="22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5.2 </a:t>
            </a:r>
            <a:r>
              <a:rPr lang="zh-CN" altLang="en-US" sz="22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动态规划法的案例</a:t>
            </a:r>
            <a:endParaRPr lang="zh-CN" altLang="en-US" sz="2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" name="TextBox 49"/>
          <p:cNvSpPr txBox="1"/>
          <p:nvPr>
            <p:custDataLst>
              <p:tags r:id="rId7"/>
            </p:custDataLst>
          </p:nvPr>
        </p:nvSpPr>
        <p:spPr>
          <a:xfrm>
            <a:off x="4784388" y="4840885"/>
            <a:ext cx="3744416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3200" b="1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sz="22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5.3 </a:t>
            </a:r>
            <a:r>
              <a:rPr lang="zh-CN" altLang="en-US" sz="22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动态规划法的练习</a:t>
            </a:r>
            <a:endParaRPr lang="zh-CN" altLang="en-US" sz="2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7" name="Picture 2" descr="E:\我的文档\Nipic_6852949_20110401101000478152.png"/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589" y="2854504"/>
            <a:ext cx="2680498" cy="29473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Freeform 41"/>
          <p:cNvSpPr>
            <a:spLocks noEditPoints="1"/>
          </p:cNvSpPr>
          <p:nvPr>
            <p:custDataLst>
              <p:tags r:id="rId9"/>
            </p:custDataLst>
          </p:nvPr>
        </p:nvSpPr>
        <p:spPr bwMode="auto">
          <a:xfrm>
            <a:off x="4161356" y="3245642"/>
            <a:ext cx="360714" cy="356368"/>
          </a:xfrm>
          <a:custGeom>
            <a:avLst/>
            <a:gdLst>
              <a:gd name="T0" fmla="*/ 471 w 549"/>
              <a:gd name="T1" fmla="*/ 540 h 540"/>
              <a:gd name="T2" fmla="*/ 335 w 549"/>
              <a:gd name="T3" fmla="*/ 436 h 540"/>
              <a:gd name="T4" fmla="*/ 0 w 549"/>
              <a:gd name="T5" fmla="*/ 231 h 540"/>
              <a:gd name="T6" fmla="*/ 461 w 549"/>
              <a:gd name="T7" fmla="*/ 231 h 540"/>
              <a:gd name="T8" fmla="*/ 521 w 549"/>
              <a:gd name="T9" fmla="*/ 419 h 540"/>
              <a:gd name="T10" fmla="*/ 297 w 549"/>
              <a:gd name="T11" fmla="*/ 262 h 540"/>
              <a:gd name="T12" fmla="*/ 284 w 549"/>
              <a:gd name="T13" fmla="*/ 259 h 540"/>
              <a:gd name="T14" fmla="*/ 273 w 549"/>
              <a:gd name="T15" fmla="*/ 311 h 540"/>
              <a:gd name="T16" fmla="*/ 297 w 549"/>
              <a:gd name="T17" fmla="*/ 318 h 540"/>
              <a:gd name="T18" fmla="*/ 291 w 549"/>
              <a:gd name="T19" fmla="*/ 336 h 540"/>
              <a:gd name="T20" fmla="*/ 234 w 549"/>
              <a:gd name="T21" fmla="*/ 351 h 540"/>
              <a:gd name="T22" fmla="*/ 230 w 549"/>
              <a:gd name="T23" fmla="*/ 350 h 540"/>
              <a:gd name="T24" fmla="*/ 168 w 549"/>
              <a:gd name="T25" fmla="*/ 327 h 540"/>
              <a:gd name="T26" fmla="*/ 191 w 549"/>
              <a:gd name="T27" fmla="*/ 312 h 540"/>
              <a:gd name="T28" fmla="*/ 208 w 549"/>
              <a:gd name="T29" fmla="*/ 281 h 540"/>
              <a:gd name="T30" fmla="*/ 180 w 549"/>
              <a:gd name="T31" fmla="*/ 260 h 540"/>
              <a:gd name="T32" fmla="*/ 168 w 549"/>
              <a:gd name="T33" fmla="*/ 236 h 540"/>
              <a:gd name="T34" fmla="*/ 178 w 549"/>
              <a:gd name="T35" fmla="*/ 228 h 540"/>
              <a:gd name="T36" fmla="*/ 288 w 549"/>
              <a:gd name="T37" fmla="*/ 229 h 540"/>
              <a:gd name="T38" fmla="*/ 297 w 549"/>
              <a:gd name="T39" fmla="*/ 237 h 540"/>
              <a:gd name="T40" fmla="*/ 386 w 549"/>
              <a:gd name="T41" fmla="*/ 289 h 540"/>
              <a:gd name="T42" fmla="*/ 317 w 549"/>
              <a:gd name="T43" fmla="*/ 215 h 540"/>
              <a:gd name="T44" fmla="*/ 306 w 549"/>
              <a:gd name="T45" fmla="*/ 209 h 540"/>
              <a:gd name="T46" fmla="*/ 164 w 549"/>
              <a:gd name="T47" fmla="*/ 208 h 540"/>
              <a:gd name="T48" fmla="*/ 150 w 549"/>
              <a:gd name="T49" fmla="*/ 214 h 540"/>
              <a:gd name="T50" fmla="*/ 81 w 549"/>
              <a:gd name="T51" fmla="*/ 288 h 540"/>
              <a:gd name="T52" fmla="*/ 78 w 549"/>
              <a:gd name="T53" fmla="*/ 318 h 540"/>
              <a:gd name="T54" fmla="*/ 102 w 549"/>
              <a:gd name="T55" fmla="*/ 333 h 540"/>
              <a:gd name="T56" fmla="*/ 156 w 549"/>
              <a:gd name="T57" fmla="*/ 320 h 540"/>
              <a:gd name="T58" fmla="*/ 164 w 549"/>
              <a:gd name="T59" fmla="*/ 369 h 540"/>
              <a:gd name="T60" fmla="*/ 310 w 549"/>
              <a:gd name="T61" fmla="*/ 361 h 540"/>
              <a:gd name="T62" fmla="*/ 362 w 549"/>
              <a:gd name="T63" fmla="*/ 333 h 540"/>
              <a:gd name="T64" fmla="*/ 366 w 549"/>
              <a:gd name="T65" fmla="*/ 334 h 540"/>
              <a:gd name="T66" fmla="*/ 386 w 549"/>
              <a:gd name="T67" fmla="*/ 289 h 540"/>
              <a:gd name="T68" fmla="*/ 295 w 549"/>
              <a:gd name="T69" fmla="*/ 138 h 540"/>
              <a:gd name="T70" fmla="*/ 171 w 549"/>
              <a:gd name="T71" fmla="*/ 138 h 540"/>
              <a:gd name="T72" fmla="*/ 231 w 549"/>
              <a:gd name="T73" fmla="*/ 432 h 540"/>
              <a:gd name="T74" fmla="*/ 432 w 549"/>
              <a:gd name="T75" fmla="*/ 231 h 540"/>
              <a:gd name="T76" fmla="*/ 29 w 549"/>
              <a:gd name="T77" fmla="*/ 231 h 54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549" h="540">
                <a:moveTo>
                  <a:pt x="521" y="520"/>
                </a:moveTo>
                <a:cubicBezTo>
                  <a:pt x="507" y="534"/>
                  <a:pt x="489" y="540"/>
                  <a:pt x="471" y="540"/>
                </a:cubicBezTo>
                <a:cubicBezTo>
                  <a:pt x="452" y="540"/>
                  <a:pt x="434" y="534"/>
                  <a:pt x="420" y="520"/>
                </a:cubicBezTo>
                <a:lnTo>
                  <a:pt x="335" y="436"/>
                </a:lnTo>
                <a:cubicBezTo>
                  <a:pt x="304" y="452"/>
                  <a:pt x="268" y="462"/>
                  <a:pt x="231" y="462"/>
                </a:cubicBezTo>
                <a:cubicBezTo>
                  <a:pt x="103" y="462"/>
                  <a:pt x="0" y="358"/>
                  <a:pt x="0" y="231"/>
                </a:cubicBezTo>
                <a:cubicBezTo>
                  <a:pt x="0" y="103"/>
                  <a:pt x="103" y="0"/>
                  <a:pt x="231" y="0"/>
                </a:cubicBezTo>
                <a:cubicBezTo>
                  <a:pt x="358" y="0"/>
                  <a:pt x="461" y="103"/>
                  <a:pt x="461" y="231"/>
                </a:cubicBezTo>
                <a:cubicBezTo>
                  <a:pt x="461" y="269"/>
                  <a:pt x="452" y="304"/>
                  <a:pt x="436" y="336"/>
                </a:cubicBezTo>
                <a:lnTo>
                  <a:pt x="521" y="419"/>
                </a:lnTo>
                <a:cubicBezTo>
                  <a:pt x="549" y="447"/>
                  <a:pt x="549" y="492"/>
                  <a:pt x="521" y="520"/>
                </a:cubicBezTo>
                <a:close/>
                <a:moveTo>
                  <a:pt x="297" y="262"/>
                </a:moveTo>
                <a:lnTo>
                  <a:pt x="286" y="260"/>
                </a:lnTo>
                <a:cubicBezTo>
                  <a:pt x="285" y="259"/>
                  <a:pt x="285" y="259"/>
                  <a:pt x="284" y="259"/>
                </a:cubicBezTo>
                <a:cubicBezTo>
                  <a:pt x="272" y="258"/>
                  <a:pt x="260" y="267"/>
                  <a:pt x="257" y="281"/>
                </a:cubicBezTo>
                <a:cubicBezTo>
                  <a:pt x="255" y="294"/>
                  <a:pt x="261" y="307"/>
                  <a:pt x="273" y="311"/>
                </a:cubicBezTo>
                <a:cubicBezTo>
                  <a:pt x="273" y="312"/>
                  <a:pt x="274" y="312"/>
                  <a:pt x="274" y="312"/>
                </a:cubicBezTo>
                <a:lnTo>
                  <a:pt x="297" y="318"/>
                </a:lnTo>
                <a:lnTo>
                  <a:pt x="297" y="328"/>
                </a:lnTo>
                <a:cubicBezTo>
                  <a:pt x="297" y="331"/>
                  <a:pt x="295" y="335"/>
                  <a:pt x="291" y="336"/>
                </a:cubicBezTo>
                <a:lnTo>
                  <a:pt x="236" y="351"/>
                </a:lnTo>
                <a:cubicBezTo>
                  <a:pt x="235" y="351"/>
                  <a:pt x="234" y="351"/>
                  <a:pt x="234" y="351"/>
                </a:cubicBezTo>
                <a:cubicBezTo>
                  <a:pt x="233" y="351"/>
                  <a:pt x="232" y="351"/>
                  <a:pt x="231" y="351"/>
                </a:cubicBezTo>
                <a:cubicBezTo>
                  <a:pt x="231" y="351"/>
                  <a:pt x="230" y="351"/>
                  <a:pt x="230" y="350"/>
                </a:cubicBezTo>
                <a:lnTo>
                  <a:pt x="174" y="335"/>
                </a:lnTo>
                <a:cubicBezTo>
                  <a:pt x="171" y="334"/>
                  <a:pt x="168" y="331"/>
                  <a:pt x="168" y="327"/>
                </a:cubicBezTo>
                <a:lnTo>
                  <a:pt x="168" y="318"/>
                </a:lnTo>
                <a:lnTo>
                  <a:pt x="191" y="312"/>
                </a:lnTo>
                <a:cubicBezTo>
                  <a:pt x="192" y="312"/>
                  <a:pt x="192" y="312"/>
                  <a:pt x="193" y="311"/>
                </a:cubicBezTo>
                <a:cubicBezTo>
                  <a:pt x="204" y="307"/>
                  <a:pt x="211" y="294"/>
                  <a:pt x="208" y="281"/>
                </a:cubicBezTo>
                <a:cubicBezTo>
                  <a:pt x="205" y="267"/>
                  <a:pt x="193" y="258"/>
                  <a:pt x="181" y="259"/>
                </a:cubicBezTo>
                <a:cubicBezTo>
                  <a:pt x="181" y="259"/>
                  <a:pt x="180" y="259"/>
                  <a:pt x="180" y="260"/>
                </a:cubicBezTo>
                <a:lnTo>
                  <a:pt x="168" y="262"/>
                </a:lnTo>
                <a:lnTo>
                  <a:pt x="168" y="236"/>
                </a:lnTo>
                <a:cubicBezTo>
                  <a:pt x="168" y="233"/>
                  <a:pt x="169" y="231"/>
                  <a:pt x="171" y="229"/>
                </a:cubicBezTo>
                <a:cubicBezTo>
                  <a:pt x="173" y="228"/>
                  <a:pt x="176" y="227"/>
                  <a:pt x="178" y="228"/>
                </a:cubicBezTo>
                <a:lnTo>
                  <a:pt x="234" y="243"/>
                </a:lnTo>
                <a:lnTo>
                  <a:pt x="288" y="229"/>
                </a:lnTo>
                <a:cubicBezTo>
                  <a:pt x="290" y="228"/>
                  <a:pt x="292" y="228"/>
                  <a:pt x="294" y="230"/>
                </a:cubicBezTo>
                <a:cubicBezTo>
                  <a:pt x="296" y="232"/>
                  <a:pt x="297" y="234"/>
                  <a:pt x="297" y="237"/>
                </a:cubicBezTo>
                <a:lnTo>
                  <a:pt x="297" y="262"/>
                </a:lnTo>
                <a:close/>
                <a:moveTo>
                  <a:pt x="386" y="289"/>
                </a:moveTo>
                <a:cubicBezTo>
                  <a:pt x="385" y="289"/>
                  <a:pt x="385" y="288"/>
                  <a:pt x="385" y="288"/>
                </a:cubicBezTo>
                <a:lnTo>
                  <a:pt x="317" y="215"/>
                </a:lnTo>
                <a:cubicBezTo>
                  <a:pt x="316" y="215"/>
                  <a:pt x="316" y="214"/>
                  <a:pt x="316" y="214"/>
                </a:cubicBezTo>
                <a:cubicBezTo>
                  <a:pt x="313" y="211"/>
                  <a:pt x="309" y="210"/>
                  <a:pt x="306" y="209"/>
                </a:cubicBezTo>
                <a:cubicBezTo>
                  <a:pt x="305" y="208"/>
                  <a:pt x="304" y="208"/>
                  <a:pt x="302" y="208"/>
                </a:cubicBezTo>
                <a:lnTo>
                  <a:pt x="164" y="208"/>
                </a:lnTo>
                <a:cubicBezTo>
                  <a:pt x="163" y="208"/>
                  <a:pt x="163" y="208"/>
                  <a:pt x="163" y="208"/>
                </a:cubicBezTo>
                <a:cubicBezTo>
                  <a:pt x="158" y="209"/>
                  <a:pt x="153" y="211"/>
                  <a:pt x="150" y="214"/>
                </a:cubicBezTo>
                <a:cubicBezTo>
                  <a:pt x="149" y="214"/>
                  <a:pt x="149" y="215"/>
                  <a:pt x="149" y="215"/>
                </a:cubicBezTo>
                <a:lnTo>
                  <a:pt x="81" y="288"/>
                </a:lnTo>
                <a:cubicBezTo>
                  <a:pt x="81" y="288"/>
                  <a:pt x="80" y="289"/>
                  <a:pt x="80" y="289"/>
                </a:cubicBezTo>
                <a:cubicBezTo>
                  <a:pt x="74" y="297"/>
                  <a:pt x="73" y="309"/>
                  <a:pt x="78" y="318"/>
                </a:cubicBezTo>
                <a:cubicBezTo>
                  <a:pt x="82" y="327"/>
                  <a:pt x="90" y="334"/>
                  <a:pt x="99" y="334"/>
                </a:cubicBezTo>
                <a:cubicBezTo>
                  <a:pt x="100" y="334"/>
                  <a:pt x="101" y="334"/>
                  <a:pt x="102" y="333"/>
                </a:cubicBezTo>
                <a:cubicBezTo>
                  <a:pt x="103" y="333"/>
                  <a:pt x="103" y="333"/>
                  <a:pt x="104" y="333"/>
                </a:cubicBezTo>
                <a:lnTo>
                  <a:pt x="156" y="320"/>
                </a:lnTo>
                <a:lnTo>
                  <a:pt x="156" y="361"/>
                </a:lnTo>
                <a:cubicBezTo>
                  <a:pt x="156" y="365"/>
                  <a:pt x="160" y="369"/>
                  <a:pt x="164" y="369"/>
                </a:cubicBezTo>
                <a:lnTo>
                  <a:pt x="302" y="369"/>
                </a:lnTo>
                <a:cubicBezTo>
                  <a:pt x="307" y="369"/>
                  <a:pt x="310" y="365"/>
                  <a:pt x="310" y="361"/>
                </a:cubicBezTo>
                <a:lnTo>
                  <a:pt x="310" y="321"/>
                </a:lnTo>
                <a:lnTo>
                  <a:pt x="362" y="333"/>
                </a:lnTo>
                <a:cubicBezTo>
                  <a:pt x="362" y="333"/>
                  <a:pt x="363" y="333"/>
                  <a:pt x="363" y="333"/>
                </a:cubicBezTo>
                <a:cubicBezTo>
                  <a:pt x="364" y="334"/>
                  <a:pt x="365" y="334"/>
                  <a:pt x="366" y="334"/>
                </a:cubicBezTo>
                <a:cubicBezTo>
                  <a:pt x="374" y="334"/>
                  <a:pt x="381" y="329"/>
                  <a:pt x="386" y="322"/>
                </a:cubicBezTo>
                <a:cubicBezTo>
                  <a:pt x="393" y="312"/>
                  <a:pt x="393" y="299"/>
                  <a:pt x="386" y="289"/>
                </a:cubicBezTo>
                <a:close/>
                <a:moveTo>
                  <a:pt x="233" y="204"/>
                </a:moveTo>
                <a:cubicBezTo>
                  <a:pt x="267" y="204"/>
                  <a:pt x="295" y="174"/>
                  <a:pt x="295" y="138"/>
                </a:cubicBezTo>
                <a:cubicBezTo>
                  <a:pt x="295" y="101"/>
                  <a:pt x="267" y="71"/>
                  <a:pt x="233" y="71"/>
                </a:cubicBezTo>
                <a:cubicBezTo>
                  <a:pt x="198" y="71"/>
                  <a:pt x="171" y="101"/>
                  <a:pt x="171" y="138"/>
                </a:cubicBezTo>
                <a:cubicBezTo>
                  <a:pt x="171" y="174"/>
                  <a:pt x="198" y="204"/>
                  <a:pt x="233" y="204"/>
                </a:cubicBezTo>
                <a:close/>
                <a:moveTo>
                  <a:pt x="231" y="432"/>
                </a:moveTo>
                <a:lnTo>
                  <a:pt x="231" y="432"/>
                </a:lnTo>
                <a:cubicBezTo>
                  <a:pt x="342" y="432"/>
                  <a:pt x="432" y="342"/>
                  <a:pt x="432" y="231"/>
                </a:cubicBezTo>
                <a:cubicBezTo>
                  <a:pt x="432" y="120"/>
                  <a:pt x="342" y="30"/>
                  <a:pt x="231" y="30"/>
                </a:cubicBezTo>
                <a:cubicBezTo>
                  <a:pt x="119" y="30"/>
                  <a:pt x="29" y="120"/>
                  <a:pt x="29" y="231"/>
                </a:cubicBezTo>
                <a:cubicBezTo>
                  <a:pt x="29" y="342"/>
                  <a:pt x="119" y="432"/>
                  <a:pt x="231" y="432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19" name="Freeform 47"/>
          <p:cNvSpPr>
            <a:spLocks noEditPoints="1"/>
          </p:cNvSpPr>
          <p:nvPr>
            <p:custDataLst>
              <p:tags r:id="rId10"/>
            </p:custDataLst>
          </p:nvPr>
        </p:nvSpPr>
        <p:spPr bwMode="auto">
          <a:xfrm>
            <a:off x="4213508" y="4054685"/>
            <a:ext cx="308562" cy="349125"/>
          </a:xfrm>
          <a:custGeom>
            <a:avLst/>
            <a:gdLst>
              <a:gd name="T0" fmla="*/ 298 w 467"/>
              <a:gd name="T1" fmla="*/ 66 h 528"/>
              <a:gd name="T2" fmla="*/ 232 w 467"/>
              <a:gd name="T3" fmla="*/ 132 h 528"/>
              <a:gd name="T4" fmla="*/ 166 w 467"/>
              <a:gd name="T5" fmla="*/ 132 h 528"/>
              <a:gd name="T6" fmla="*/ 100 w 467"/>
              <a:gd name="T7" fmla="*/ 66 h 528"/>
              <a:gd name="T8" fmla="*/ 166 w 467"/>
              <a:gd name="T9" fmla="*/ 0 h 528"/>
              <a:gd name="T10" fmla="*/ 232 w 467"/>
              <a:gd name="T11" fmla="*/ 0 h 528"/>
              <a:gd name="T12" fmla="*/ 298 w 467"/>
              <a:gd name="T13" fmla="*/ 66 h 528"/>
              <a:gd name="T14" fmla="*/ 330 w 467"/>
              <a:gd name="T15" fmla="*/ 66 h 528"/>
              <a:gd name="T16" fmla="*/ 331 w 467"/>
              <a:gd name="T17" fmla="*/ 81 h 528"/>
              <a:gd name="T18" fmla="*/ 248 w 467"/>
              <a:gd name="T19" fmla="*/ 164 h 528"/>
              <a:gd name="T20" fmla="*/ 149 w 467"/>
              <a:gd name="T21" fmla="*/ 164 h 528"/>
              <a:gd name="T22" fmla="*/ 66 w 467"/>
              <a:gd name="T23" fmla="*/ 81 h 528"/>
              <a:gd name="T24" fmla="*/ 68 w 467"/>
              <a:gd name="T25" fmla="*/ 66 h 528"/>
              <a:gd name="T26" fmla="*/ 0 w 467"/>
              <a:gd name="T27" fmla="*/ 147 h 528"/>
              <a:gd name="T28" fmla="*/ 0 w 467"/>
              <a:gd name="T29" fmla="*/ 445 h 528"/>
              <a:gd name="T30" fmla="*/ 83 w 467"/>
              <a:gd name="T31" fmla="*/ 528 h 528"/>
              <a:gd name="T32" fmla="*/ 303 w 467"/>
              <a:gd name="T33" fmla="*/ 528 h 528"/>
              <a:gd name="T34" fmla="*/ 213 w 467"/>
              <a:gd name="T35" fmla="*/ 392 h 528"/>
              <a:gd name="T36" fmla="*/ 361 w 467"/>
              <a:gd name="T37" fmla="*/ 244 h 528"/>
              <a:gd name="T38" fmla="*/ 397 w 467"/>
              <a:gd name="T39" fmla="*/ 248 h 528"/>
              <a:gd name="T40" fmla="*/ 397 w 467"/>
              <a:gd name="T41" fmla="*/ 147 h 528"/>
              <a:gd name="T42" fmla="*/ 330 w 467"/>
              <a:gd name="T43" fmla="*/ 66 h 528"/>
              <a:gd name="T44" fmla="*/ 186 w 467"/>
              <a:gd name="T45" fmla="*/ 331 h 528"/>
              <a:gd name="T46" fmla="*/ 186 w 467"/>
              <a:gd name="T47" fmla="*/ 331 h 528"/>
              <a:gd name="T48" fmla="*/ 83 w 467"/>
              <a:gd name="T49" fmla="*/ 331 h 528"/>
              <a:gd name="T50" fmla="*/ 66 w 467"/>
              <a:gd name="T51" fmla="*/ 314 h 528"/>
              <a:gd name="T52" fmla="*/ 83 w 467"/>
              <a:gd name="T53" fmla="*/ 298 h 528"/>
              <a:gd name="T54" fmla="*/ 186 w 467"/>
              <a:gd name="T55" fmla="*/ 298 h 528"/>
              <a:gd name="T56" fmla="*/ 203 w 467"/>
              <a:gd name="T57" fmla="*/ 314 h 528"/>
              <a:gd name="T58" fmla="*/ 186 w 467"/>
              <a:gd name="T59" fmla="*/ 331 h 528"/>
              <a:gd name="T60" fmla="*/ 219 w 467"/>
              <a:gd name="T61" fmla="*/ 264 h 528"/>
              <a:gd name="T62" fmla="*/ 219 w 467"/>
              <a:gd name="T63" fmla="*/ 264 h 528"/>
              <a:gd name="T64" fmla="*/ 83 w 467"/>
              <a:gd name="T65" fmla="*/ 264 h 528"/>
              <a:gd name="T66" fmla="*/ 66 w 467"/>
              <a:gd name="T67" fmla="*/ 248 h 528"/>
              <a:gd name="T68" fmla="*/ 83 w 467"/>
              <a:gd name="T69" fmla="*/ 231 h 528"/>
              <a:gd name="T70" fmla="*/ 219 w 467"/>
              <a:gd name="T71" fmla="*/ 231 h 528"/>
              <a:gd name="T72" fmla="*/ 236 w 467"/>
              <a:gd name="T73" fmla="*/ 248 h 528"/>
              <a:gd name="T74" fmla="*/ 219 w 467"/>
              <a:gd name="T75" fmla="*/ 264 h 528"/>
              <a:gd name="T76" fmla="*/ 388 w 467"/>
              <a:gd name="T77" fmla="*/ 289 h 528"/>
              <a:gd name="T78" fmla="*/ 362 w 467"/>
              <a:gd name="T79" fmla="*/ 286 h 528"/>
              <a:gd name="T80" fmla="*/ 257 w 467"/>
              <a:gd name="T81" fmla="*/ 391 h 528"/>
              <a:gd name="T82" fmla="*/ 340 w 467"/>
              <a:gd name="T83" fmla="*/ 494 h 528"/>
              <a:gd name="T84" fmla="*/ 362 w 467"/>
              <a:gd name="T85" fmla="*/ 497 h 528"/>
              <a:gd name="T86" fmla="*/ 467 w 467"/>
              <a:gd name="T87" fmla="*/ 391 h 528"/>
              <a:gd name="T88" fmla="*/ 388 w 467"/>
              <a:gd name="T89" fmla="*/ 289 h 528"/>
              <a:gd name="T90" fmla="*/ 422 w 467"/>
              <a:gd name="T91" fmla="*/ 376 h 528"/>
              <a:gd name="T92" fmla="*/ 422 w 467"/>
              <a:gd name="T93" fmla="*/ 376 h 528"/>
              <a:gd name="T94" fmla="*/ 388 w 467"/>
              <a:gd name="T95" fmla="*/ 410 h 528"/>
              <a:gd name="T96" fmla="*/ 362 w 467"/>
              <a:gd name="T97" fmla="*/ 436 h 528"/>
              <a:gd name="T98" fmla="*/ 332 w 467"/>
              <a:gd name="T99" fmla="*/ 436 h 528"/>
              <a:gd name="T100" fmla="*/ 302 w 467"/>
              <a:gd name="T101" fmla="*/ 406 h 528"/>
              <a:gd name="T102" fmla="*/ 302 w 467"/>
              <a:gd name="T103" fmla="*/ 376 h 528"/>
              <a:gd name="T104" fmla="*/ 332 w 467"/>
              <a:gd name="T105" fmla="*/ 376 h 528"/>
              <a:gd name="T106" fmla="*/ 347 w 467"/>
              <a:gd name="T107" fmla="*/ 391 h 528"/>
              <a:gd name="T108" fmla="*/ 388 w 467"/>
              <a:gd name="T109" fmla="*/ 350 h 528"/>
              <a:gd name="T110" fmla="*/ 392 w 467"/>
              <a:gd name="T111" fmla="*/ 346 h 528"/>
              <a:gd name="T112" fmla="*/ 422 w 467"/>
              <a:gd name="T113" fmla="*/ 346 h 528"/>
              <a:gd name="T114" fmla="*/ 422 w 467"/>
              <a:gd name="T115" fmla="*/ 376 h 52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467" h="528">
                <a:moveTo>
                  <a:pt x="298" y="66"/>
                </a:moveTo>
                <a:cubicBezTo>
                  <a:pt x="298" y="103"/>
                  <a:pt x="268" y="132"/>
                  <a:pt x="232" y="132"/>
                </a:cubicBezTo>
                <a:lnTo>
                  <a:pt x="166" y="132"/>
                </a:lnTo>
                <a:cubicBezTo>
                  <a:pt x="129" y="132"/>
                  <a:pt x="100" y="103"/>
                  <a:pt x="100" y="66"/>
                </a:cubicBezTo>
                <a:cubicBezTo>
                  <a:pt x="100" y="29"/>
                  <a:pt x="129" y="0"/>
                  <a:pt x="166" y="0"/>
                </a:cubicBezTo>
                <a:lnTo>
                  <a:pt x="232" y="0"/>
                </a:lnTo>
                <a:cubicBezTo>
                  <a:pt x="268" y="0"/>
                  <a:pt x="298" y="29"/>
                  <a:pt x="298" y="66"/>
                </a:cubicBezTo>
                <a:close/>
                <a:moveTo>
                  <a:pt x="330" y="66"/>
                </a:moveTo>
                <a:cubicBezTo>
                  <a:pt x="331" y="71"/>
                  <a:pt x="331" y="76"/>
                  <a:pt x="331" y="81"/>
                </a:cubicBezTo>
                <a:cubicBezTo>
                  <a:pt x="331" y="127"/>
                  <a:pt x="294" y="164"/>
                  <a:pt x="248" y="164"/>
                </a:cubicBezTo>
                <a:lnTo>
                  <a:pt x="149" y="164"/>
                </a:lnTo>
                <a:cubicBezTo>
                  <a:pt x="103" y="164"/>
                  <a:pt x="66" y="127"/>
                  <a:pt x="66" y="81"/>
                </a:cubicBezTo>
                <a:cubicBezTo>
                  <a:pt x="66" y="76"/>
                  <a:pt x="67" y="71"/>
                  <a:pt x="68" y="66"/>
                </a:cubicBezTo>
                <a:cubicBezTo>
                  <a:pt x="29" y="73"/>
                  <a:pt x="0" y="107"/>
                  <a:pt x="0" y="147"/>
                </a:cubicBezTo>
                <a:lnTo>
                  <a:pt x="0" y="445"/>
                </a:lnTo>
                <a:cubicBezTo>
                  <a:pt x="0" y="491"/>
                  <a:pt x="37" y="528"/>
                  <a:pt x="83" y="528"/>
                </a:cubicBezTo>
                <a:lnTo>
                  <a:pt x="303" y="528"/>
                </a:lnTo>
                <a:cubicBezTo>
                  <a:pt x="250" y="505"/>
                  <a:pt x="213" y="453"/>
                  <a:pt x="213" y="392"/>
                </a:cubicBezTo>
                <a:cubicBezTo>
                  <a:pt x="213" y="310"/>
                  <a:pt x="279" y="244"/>
                  <a:pt x="361" y="244"/>
                </a:cubicBezTo>
                <a:cubicBezTo>
                  <a:pt x="374" y="244"/>
                  <a:pt x="386" y="245"/>
                  <a:pt x="397" y="248"/>
                </a:cubicBezTo>
                <a:lnTo>
                  <a:pt x="397" y="147"/>
                </a:lnTo>
                <a:cubicBezTo>
                  <a:pt x="397" y="107"/>
                  <a:pt x="368" y="73"/>
                  <a:pt x="330" y="66"/>
                </a:cubicBezTo>
                <a:close/>
                <a:moveTo>
                  <a:pt x="186" y="331"/>
                </a:moveTo>
                <a:lnTo>
                  <a:pt x="186" y="331"/>
                </a:lnTo>
                <a:lnTo>
                  <a:pt x="83" y="331"/>
                </a:lnTo>
                <a:cubicBezTo>
                  <a:pt x="74" y="331"/>
                  <a:pt x="66" y="323"/>
                  <a:pt x="66" y="314"/>
                </a:cubicBezTo>
                <a:cubicBezTo>
                  <a:pt x="66" y="305"/>
                  <a:pt x="74" y="298"/>
                  <a:pt x="83" y="298"/>
                </a:cubicBezTo>
                <a:lnTo>
                  <a:pt x="186" y="298"/>
                </a:lnTo>
                <a:cubicBezTo>
                  <a:pt x="195" y="298"/>
                  <a:pt x="203" y="305"/>
                  <a:pt x="203" y="314"/>
                </a:cubicBezTo>
                <a:cubicBezTo>
                  <a:pt x="203" y="323"/>
                  <a:pt x="195" y="331"/>
                  <a:pt x="186" y="331"/>
                </a:cubicBezTo>
                <a:close/>
                <a:moveTo>
                  <a:pt x="219" y="264"/>
                </a:moveTo>
                <a:lnTo>
                  <a:pt x="219" y="264"/>
                </a:lnTo>
                <a:lnTo>
                  <a:pt x="83" y="264"/>
                </a:lnTo>
                <a:cubicBezTo>
                  <a:pt x="74" y="264"/>
                  <a:pt x="66" y="257"/>
                  <a:pt x="66" y="248"/>
                </a:cubicBezTo>
                <a:cubicBezTo>
                  <a:pt x="66" y="239"/>
                  <a:pt x="74" y="231"/>
                  <a:pt x="83" y="231"/>
                </a:cubicBezTo>
                <a:lnTo>
                  <a:pt x="219" y="231"/>
                </a:lnTo>
                <a:cubicBezTo>
                  <a:pt x="229" y="231"/>
                  <a:pt x="236" y="239"/>
                  <a:pt x="236" y="248"/>
                </a:cubicBezTo>
                <a:cubicBezTo>
                  <a:pt x="236" y="257"/>
                  <a:pt x="229" y="264"/>
                  <a:pt x="219" y="264"/>
                </a:cubicBezTo>
                <a:close/>
                <a:moveTo>
                  <a:pt x="388" y="289"/>
                </a:moveTo>
                <a:cubicBezTo>
                  <a:pt x="380" y="287"/>
                  <a:pt x="371" y="286"/>
                  <a:pt x="362" y="286"/>
                </a:cubicBezTo>
                <a:cubicBezTo>
                  <a:pt x="304" y="286"/>
                  <a:pt x="257" y="333"/>
                  <a:pt x="257" y="391"/>
                </a:cubicBezTo>
                <a:cubicBezTo>
                  <a:pt x="257" y="442"/>
                  <a:pt x="292" y="484"/>
                  <a:pt x="340" y="494"/>
                </a:cubicBezTo>
                <a:cubicBezTo>
                  <a:pt x="347" y="496"/>
                  <a:pt x="354" y="497"/>
                  <a:pt x="362" y="497"/>
                </a:cubicBezTo>
                <a:cubicBezTo>
                  <a:pt x="420" y="497"/>
                  <a:pt x="467" y="449"/>
                  <a:pt x="467" y="391"/>
                </a:cubicBezTo>
                <a:cubicBezTo>
                  <a:pt x="467" y="342"/>
                  <a:pt x="434" y="301"/>
                  <a:pt x="388" y="289"/>
                </a:cubicBezTo>
                <a:close/>
                <a:moveTo>
                  <a:pt x="422" y="376"/>
                </a:moveTo>
                <a:lnTo>
                  <a:pt x="422" y="376"/>
                </a:lnTo>
                <a:lnTo>
                  <a:pt x="388" y="410"/>
                </a:lnTo>
                <a:lnTo>
                  <a:pt x="362" y="436"/>
                </a:lnTo>
                <a:cubicBezTo>
                  <a:pt x="354" y="444"/>
                  <a:pt x="340" y="444"/>
                  <a:pt x="332" y="436"/>
                </a:cubicBezTo>
                <a:lnTo>
                  <a:pt x="302" y="406"/>
                </a:lnTo>
                <a:cubicBezTo>
                  <a:pt x="294" y="398"/>
                  <a:pt x="294" y="384"/>
                  <a:pt x="302" y="376"/>
                </a:cubicBezTo>
                <a:cubicBezTo>
                  <a:pt x="311" y="368"/>
                  <a:pt x="324" y="368"/>
                  <a:pt x="332" y="376"/>
                </a:cubicBezTo>
                <a:lnTo>
                  <a:pt x="347" y="391"/>
                </a:lnTo>
                <a:lnTo>
                  <a:pt x="388" y="350"/>
                </a:lnTo>
                <a:lnTo>
                  <a:pt x="392" y="346"/>
                </a:lnTo>
                <a:cubicBezTo>
                  <a:pt x="400" y="338"/>
                  <a:pt x="413" y="338"/>
                  <a:pt x="422" y="346"/>
                </a:cubicBezTo>
                <a:cubicBezTo>
                  <a:pt x="430" y="355"/>
                  <a:pt x="430" y="368"/>
                  <a:pt x="422" y="376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20" name="Freeform 49"/>
          <p:cNvSpPr>
            <a:spLocks noEditPoints="1"/>
          </p:cNvSpPr>
          <p:nvPr>
            <p:custDataLst>
              <p:tags r:id="rId11"/>
            </p:custDataLst>
          </p:nvPr>
        </p:nvSpPr>
        <p:spPr bwMode="auto">
          <a:xfrm>
            <a:off x="4177291" y="4892217"/>
            <a:ext cx="328843" cy="352023"/>
          </a:xfrm>
          <a:custGeom>
            <a:avLst/>
            <a:gdLst>
              <a:gd name="T0" fmla="*/ 150 w 500"/>
              <a:gd name="T1" fmla="*/ 82 h 533"/>
              <a:gd name="T2" fmla="*/ 327 w 500"/>
              <a:gd name="T3" fmla="*/ 59 h 533"/>
              <a:gd name="T4" fmla="*/ 264 w 500"/>
              <a:gd name="T5" fmla="*/ 37 h 533"/>
              <a:gd name="T6" fmla="*/ 191 w 500"/>
              <a:gd name="T7" fmla="*/ 37 h 533"/>
              <a:gd name="T8" fmla="*/ 128 w 500"/>
              <a:gd name="T9" fmla="*/ 59 h 533"/>
              <a:gd name="T10" fmla="*/ 411 w 500"/>
              <a:gd name="T11" fmla="*/ 462 h 533"/>
              <a:gd name="T12" fmla="*/ 418 w 500"/>
              <a:gd name="T13" fmla="*/ 446 h 533"/>
              <a:gd name="T14" fmla="*/ 389 w 500"/>
              <a:gd name="T15" fmla="*/ 346 h 533"/>
              <a:gd name="T16" fmla="*/ 371 w 500"/>
              <a:gd name="T17" fmla="*/ 346 h 533"/>
              <a:gd name="T18" fmla="*/ 371 w 500"/>
              <a:gd name="T19" fmla="*/ 423 h 533"/>
              <a:gd name="T20" fmla="*/ 371 w 500"/>
              <a:gd name="T21" fmla="*/ 425 h 533"/>
              <a:gd name="T22" fmla="*/ 372 w 500"/>
              <a:gd name="T23" fmla="*/ 426 h 533"/>
              <a:gd name="T24" fmla="*/ 373 w 500"/>
              <a:gd name="T25" fmla="*/ 428 h 533"/>
              <a:gd name="T26" fmla="*/ 476 w 500"/>
              <a:gd name="T27" fmla="*/ 352 h 533"/>
              <a:gd name="T28" fmla="*/ 380 w 500"/>
              <a:gd name="T29" fmla="*/ 301 h 533"/>
              <a:gd name="T30" fmla="*/ 358 w 500"/>
              <a:gd name="T31" fmla="*/ 531 h 533"/>
              <a:gd name="T32" fmla="*/ 494 w 500"/>
              <a:gd name="T33" fmla="*/ 439 h 533"/>
              <a:gd name="T34" fmla="*/ 476 w 500"/>
              <a:gd name="T35" fmla="*/ 436 h 533"/>
              <a:gd name="T36" fmla="*/ 380 w 500"/>
              <a:gd name="T37" fmla="*/ 515 h 533"/>
              <a:gd name="T38" fmla="*/ 284 w 500"/>
              <a:gd name="T39" fmla="*/ 399 h 533"/>
              <a:gd name="T40" fmla="*/ 398 w 500"/>
              <a:gd name="T41" fmla="*/ 321 h 533"/>
              <a:gd name="T42" fmla="*/ 476 w 500"/>
              <a:gd name="T43" fmla="*/ 436 h 533"/>
              <a:gd name="T44" fmla="*/ 167 w 500"/>
              <a:gd name="T45" fmla="*/ 435 h 533"/>
              <a:gd name="T46" fmla="*/ 286 w 500"/>
              <a:gd name="T47" fmla="*/ 317 h 533"/>
              <a:gd name="T48" fmla="*/ 310 w 500"/>
              <a:gd name="T49" fmla="*/ 298 h 533"/>
              <a:gd name="T50" fmla="*/ 431 w 500"/>
              <a:gd name="T51" fmla="*/ 181 h 533"/>
              <a:gd name="T52" fmla="*/ 436 w 500"/>
              <a:gd name="T53" fmla="*/ 292 h 533"/>
              <a:gd name="T54" fmla="*/ 455 w 500"/>
              <a:gd name="T55" fmla="*/ 298 h 533"/>
              <a:gd name="T56" fmla="*/ 455 w 500"/>
              <a:gd name="T57" fmla="*/ 123 h 533"/>
              <a:gd name="T58" fmla="*/ 23 w 500"/>
              <a:gd name="T59" fmla="*/ 99 h 533"/>
              <a:gd name="T60" fmla="*/ 0 w 500"/>
              <a:gd name="T61" fmla="*/ 186 h 533"/>
              <a:gd name="T62" fmla="*/ 0 w 500"/>
              <a:gd name="T63" fmla="*/ 317 h 533"/>
              <a:gd name="T64" fmla="*/ 0 w 500"/>
              <a:gd name="T65" fmla="*/ 444 h 533"/>
              <a:gd name="T66" fmla="*/ 252 w 500"/>
              <a:gd name="T67" fmla="*/ 467 h 533"/>
              <a:gd name="T68" fmla="*/ 18 w 500"/>
              <a:gd name="T69" fmla="*/ 186 h 533"/>
              <a:gd name="T70" fmla="*/ 23 w 500"/>
              <a:gd name="T71" fmla="*/ 181 h 533"/>
              <a:gd name="T72" fmla="*/ 149 w 500"/>
              <a:gd name="T73" fmla="*/ 298 h 533"/>
              <a:gd name="T74" fmla="*/ 18 w 500"/>
              <a:gd name="T75" fmla="*/ 186 h 533"/>
              <a:gd name="T76" fmla="*/ 149 w 500"/>
              <a:gd name="T77" fmla="*/ 317 h 533"/>
              <a:gd name="T78" fmla="*/ 23 w 500"/>
              <a:gd name="T79" fmla="*/ 435 h 533"/>
              <a:gd name="T80" fmla="*/ 18 w 500"/>
              <a:gd name="T81" fmla="*/ 317 h 533"/>
              <a:gd name="T82" fmla="*/ 167 w 500"/>
              <a:gd name="T83" fmla="*/ 298 h 533"/>
              <a:gd name="T84" fmla="*/ 167 w 500"/>
              <a:gd name="T85" fmla="*/ 181 h 533"/>
              <a:gd name="T86" fmla="*/ 292 w 500"/>
              <a:gd name="T87" fmla="*/ 298 h 533"/>
              <a:gd name="T88" fmla="*/ 301 w 500"/>
              <a:gd name="T89" fmla="*/ 123 h 533"/>
              <a:gd name="T90" fmla="*/ 317 w 500"/>
              <a:gd name="T91" fmla="*/ 139 h 533"/>
              <a:gd name="T92" fmla="*/ 285 w 500"/>
              <a:gd name="T93" fmla="*/ 139 h 533"/>
              <a:gd name="T94" fmla="*/ 158 w 500"/>
              <a:gd name="T95" fmla="*/ 123 h 533"/>
              <a:gd name="T96" fmla="*/ 174 w 500"/>
              <a:gd name="T97" fmla="*/ 139 h 533"/>
              <a:gd name="T98" fmla="*/ 142 w 500"/>
              <a:gd name="T99" fmla="*/ 139 h 53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500" h="533">
                <a:moveTo>
                  <a:pt x="128" y="59"/>
                </a:moveTo>
                <a:cubicBezTo>
                  <a:pt x="128" y="72"/>
                  <a:pt x="138" y="82"/>
                  <a:pt x="150" y="82"/>
                </a:cubicBezTo>
                <a:lnTo>
                  <a:pt x="305" y="82"/>
                </a:lnTo>
                <a:cubicBezTo>
                  <a:pt x="317" y="82"/>
                  <a:pt x="327" y="72"/>
                  <a:pt x="327" y="59"/>
                </a:cubicBezTo>
                <a:cubicBezTo>
                  <a:pt x="327" y="47"/>
                  <a:pt x="317" y="37"/>
                  <a:pt x="305" y="37"/>
                </a:cubicBezTo>
                <a:lnTo>
                  <a:pt x="264" y="37"/>
                </a:lnTo>
                <a:cubicBezTo>
                  <a:pt x="264" y="17"/>
                  <a:pt x="247" y="0"/>
                  <a:pt x="227" y="0"/>
                </a:cubicBezTo>
                <a:cubicBezTo>
                  <a:pt x="207" y="0"/>
                  <a:pt x="191" y="17"/>
                  <a:pt x="191" y="37"/>
                </a:cubicBezTo>
                <a:lnTo>
                  <a:pt x="150" y="37"/>
                </a:lnTo>
                <a:cubicBezTo>
                  <a:pt x="138" y="37"/>
                  <a:pt x="128" y="47"/>
                  <a:pt x="128" y="59"/>
                </a:cubicBezTo>
                <a:close/>
                <a:moveTo>
                  <a:pt x="405" y="459"/>
                </a:moveTo>
                <a:cubicBezTo>
                  <a:pt x="406" y="461"/>
                  <a:pt x="409" y="462"/>
                  <a:pt x="411" y="462"/>
                </a:cubicBezTo>
                <a:cubicBezTo>
                  <a:pt x="414" y="462"/>
                  <a:pt x="416" y="461"/>
                  <a:pt x="418" y="459"/>
                </a:cubicBezTo>
                <a:cubicBezTo>
                  <a:pt x="421" y="456"/>
                  <a:pt x="421" y="450"/>
                  <a:pt x="418" y="446"/>
                </a:cubicBezTo>
                <a:lnTo>
                  <a:pt x="389" y="417"/>
                </a:lnTo>
                <a:lnTo>
                  <a:pt x="389" y="346"/>
                </a:lnTo>
                <a:cubicBezTo>
                  <a:pt x="389" y="341"/>
                  <a:pt x="385" y="337"/>
                  <a:pt x="380" y="337"/>
                </a:cubicBezTo>
                <a:cubicBezTo>
                  <a:pt x="375" y="337"/>
                  <a:pt x="371" y="341"/>
                  <a:pt x="371" y="346"/>
                </a:cubicBezTo>
                <a:lnTo>
                  <a:pt x="371" y="421"/>
                </a:lnTo>
                <a:cubicBezTo>
                  <a:pt x="371" y="422"/>
                  <a:pt x="371" y="423"/>
                  <a:pt x="371" y="423"/>
                </a:cubicBezTo>
                <a:cubicBezTo>
                  <a:pt x="371" y="423"/>
                  <a:pt x="371" y="424"/>
                  <a:pt x="371" y="424"/>
                </a:cubicBezTo>
                <a:cubicBezTo>
                  <a:pt x="371" y="424"/>
                  <a:pt x="371" y="425"/>
                  <a:pt x="371" y="425"/>
                </a:cubicBezTo>
                <a:cubicBezTo>
                  <a:pt x="371" y="425"/>
                  <a:pt x="372" y="425"/>
                  <a:pt x="372" y="426"/>
                </a:cubicBezTo>
                <a:cubicBezTo>
                  <a:pt x="372" y="426"/>
                  <a:pt x="372" y="426"/>
                  <a:pt x="372" y="426"/>
                </a:cubicBezTo>
                <a:cubicBezTo>
                  <a:pt x="372" y="427"/>
                  <a:pt x="373" y="427"/>
                  <a:pt x="373" y="428"/>
                </a:cubicBezTo>
                <a:cubicBezTo>
                  <a:pt x="373" y="428"/>
                  <a:pt x="373" y="428"/>
                  <a:pt x="373" y="428"/>
                </a:cubicBezTo>
                <a:lnTo>
                  <a:pt x="405" y="459"/>
                </a:lnTo>
                <a:close/>
                <a:moveTo>
                  <a:pt x="476" y="352"/>
                </a:moveTo>
                <a:cubicBezTo>
                  <a:pt x="458" y="327"/>
                  <a:pt x="432" y="309"/>
                  <a:pt x="402" y="303"/>
                </a:cubicBezTo>
                <a:cubicBezTo>
                  <a:pt x="394" y="302"/>
                  <a:pt x="387" y="301"/>
                  <a:pt x="380" y="301"/>
                </a:cubicBezTo>
                <a:cubicBezTo>
                  <a:pt x="324" y="301"/>
                  <a:pt x="276" y="341"/>
                  <a:pt x="266" y="396"/>
                </a:cubicBezTo>
                <a:cubicBezTo>
                  <a:pt x="254" y="458"/>
                  <a:pt x="295" y="519"/>
                  <a:pt x="358" y="531"/>
                </a:cubicBezTo>
                <a:cubicBezTo>
                  <a:pt x="365" y="533"/>
                  <a:pt x="373" y="533"/>
                  <a:pt x="380" y="533"/>
                </a:cubicBezTo>
                <a:cubicBezTo>
                  <a:pt x="435" y="533"/>
                  <a:pt x="483" y="494"/>
                  <a:pt x="494" y="439"/>
                </a:cubicBezTo>
                <a:cubicBezTo>
                  <a:pt x="500" y="409"/>
                  <a:pt x="493" y="378"/>
                  <a:pt x="476" y="352"/>
                </a:cubicBezTo>
                <a:close/>
                <a:moveTo>
                  <a:pt x="476" y="436"/>
                </a:moveTo>
                <a:lnTo>
                  <a:pt x="476" y="436"/>
                </a:lnTo>
                <a:cubicBezTo>
                  <a:pt x="467" y="482"/>
                  <a:pt x="427" y="515"/>
                  <a:pt x="380" y="515"/>
                </a:cubicBezTo>
                <a:cubicBezTo>
                  <a:pt x="374" y="515"/>
                  <a:pt x="368" y="515"/>
                  <a:pt x="361" y="514"/>
                </a:cubicBezTo>
                <a:cubicBezTo>
                  <a:pt x="308" y="503"/>
                  <a:pt x="273" y="452"/>
                  <a:pt x="284" y="399"/>
                </a:cubicBezTo>
                <a:cubicBezTo>
                  <a:pt x="292" y="353"/>
                  <a:pt x="333" y="319"/>
                  <a:pt x="380" y="319"/>
                </a:cubicBezTo>
                <a:cubicBezTo>
                  <a:pt x="386" y="319"/>
                  <a:pt x="392" y="320"/>
                  <a:pt x="398" y="321"/>
                </a:cubicBezTo>
                <a:cubicBezTo>
                  <a:pt x="424" y="326"/>
                  <a:pt x="446" y="341"/>
                  <a:pt x="461" y="362"/>
                </a:cubicBezTo>
                <a:cubicBezTo>
                  <a:pt x="476" y="384"/>
                  <a:pt x="481" y="410"/>
                  <a:pt x="476" y="436"/>
                </a:cubicBezTo>
                <a:close/>
                <a:moveTo>
                  <a:pt x="243" y="435"/>
                </a:moveTo>
                <a:lnTo>
                  <a:pt x="167" y="435"/>
                </a:lnTo>
                <a:lnTo>
                  <a:pt x="167" y="317"/>
                </a:lnTo>
                <a:lnTo>
                  <a:pt x="286" y="317"/>
                </a:lnTo>
                <a:cubicBezTo>
                  <a:pt x="293" y="310"/>
                  <a:pt x="302" y="304"/>
                  <a:pt x="311" y="298"/>
                </a:cubicBezTo>
                <a:lnTo>
                  <a:pt x="310" y="298"/>
                </a:lnTo>
                <a:lnTo>
                  <a:pt x="310" y="181"/>
                </a:lnTo>
                <a:lnTo>
                  <a:pt x="431" y="181"/>
                </a:lnTo>
                <a:cubicBezTo>
                  <a:pt x="434" y="181"/>
                  <a:pt x="436" y="183"/>
                  <a:pt x="436" y="186"/>
                </a:cubicBezTo>
                <a:lnTo>
                  <a:pt x="436" y="292"/>
                </a:lnTo>
                <a:cubicBezTo>
                  <a:pt x="443" y="295"/>
                  <a:pt x="449" y="298"/>
                  <a:pt x="455" y="302"/>
                </a:cubicBezTo>
                <a:lnTo>
                  <a:pt x="455" y="298"/>
                </a:lnTo>
                <a:lnTo>
                  <a:pt x="455" y="186"/>
                </a:lnTo>
                <a:lnTo>
                  <a:pt x="455" y="123"/>
                </a:lnTo>
                <a:cubicBezTo>
                  <a:pt x="455" y="110"/>
                  <a:pt x="444" y="99"/>
                  <a:pt x="431" y="99"/>
                </a:cubicBezTo>
                <a:lnTo>
                  <a:pt x="23" y="99"/>
                </a:lnTo>
                <a:cubicBezTo>
                  <a:pt x="10" y="99"/>
                  <a:pt x="0" y="110"/>
                  <a:pt x="0" y="123"/>
                </a:cubicBezTo>
                <a:lnTo>
                  <a:pt x="0" y="186"/>
                </a:lnTo>
                <a:lnTo>
                  <a:pt x="0" y="298"/>
                </a:lnTo>
                <a:lnTo>
                  <a:pt x="0" y="317"/>
                </a:lnTo>
                <a:lnTo>
                  <a:pt x="0" y="430"/>
                </a:lnTo>
                <a:lnTo>
                  <a:pt x="0" y="444"/>
                </a:lnTo>
                <a:cubicBezTo>
                  <a:pt x="0" y="457"/>
                  <a:pt x="10" y="467"/>
                  <a:pt x="23" y="467"/>
                </a:cubicBezTo>
                <a:lnTo>
                  <a:pt x="252" y="467"/>
                </a:lnTo>
                <a:cubicBezTo>
                  <a:pt x="247" y="457"/>
                  <a:pt x="245" y="446"/>
                  <a:pt x="243" y="435"/>
                </a:cubicBezTo>
                <a:close/>
                <a:moveTo>
                  <a:pt x="18" y="186"/>
                </a:moveTo>
                <a:lnTo>
                  <a:pt x="18" y="186"/>
                </a:lnTo>
                <a:cubicBezTo>
                  <a:pt x="18" y="183"/>
                  <a:pt x="21" y="181"/>
                  <a:pt x="23" y="181"/>
                </a:cubicBezTo>
                <a:lnTo>
                  <a:pt x="149" y="181"/>
                </a:lnTo>
                <a:lnTo>
                  <a:pt x="149" y="298"/>
                </a:lnTo>
                <a:lnTo>
                  <a:pt x="18" y="298"/>
                </a:lnTo>
                <a:lnTo>
                  <a:pt x="18" y="186"/>
                </a:lnTo>
                <a:close/>
                <a:moveTo>
                  <a:pt x="149" y="317"/>
                </a:moveTo>
                <a:lnTo>
                  <a:pt x="149" y="317"/>
                </a:lnTo>
                <a:lnTo>
                  <a:pt x="149" y="435"/>
                </a:lnTo>
                <a:lnTo>
                  <a:pt x="23" y="435"/>
                </a:lnTo>
                <a:cubicBezTo>
                  <a:pt x="21" y="435"/>
                  <a:pt x="18" y="432"/>
                  <a:pt x="18" y="430"/>
                </a:cubicBezTo>
                <a:lnTo>
                  <a:pt x="18" y="317"/>
                </a:lnTo>
                <a:lnTo>
                  <a:pt x="149" y="317"/>
                </a:lnTo>
                <a:close/>
                <a:moveTo>
                  <a:pt x="167" y="298"/>
                </a:moveTo>
                <a:lnTo>
                  <a:pt x="167" y="298"/>
                </a:lnTo>
                <a:lnTo>
                  <a:pt x="167" y="181"/>
                </a:lnTo>
                <a:lnTo>
                  <a:pt x="292" y="181"/>
                </a:lnTo>
                <a:lnTo>
                  <a:pt x="292" y="298"/>
                </a:lnTo>
                <a:lnTo>
                  <a:pt x="167" y="298"/>
                </a:lnTo>
                <a:close/>
                <a:moveTo>
                  <a:pt x="301" y="123"/>
                </a:moveTo>
                <a:lnTo>
                  <a:pt x="301" y="123"/>
                </a:lnTo>
                <a:cubicBezTo>
                  <a:pt x="310" y="123"/>
                  <a:pt x="317" y="130"/>
                  <a:pt x="317" y="139"/>
                </a:cubicBezTo>
                <a:cubicBezTo>
                  <a:pt x="317" y="148"/>
                  <a:pt x="310" y="155"/>
                  <a:pt x="301" y="155"/>
                </a:cubicBezTo>
                <a:cubicBezTo>
                  <a:pt x="292" y="155"/>
                  <a:pt x="285" y="148"/>
                  <a:pt x="285" y="139"/>
                </a:cubicBezTo>
                <a:cubicBezTo>
                  <a:pt x="285" y="130"/>
                  <a:pt x="292" y="123"/>
                  <a:pt x="301" y="123"/>
                </a:cubicBezTo>
                <a:close/>
                <a:moveTo>
                  <a:pt x="158" y="123"/>
                </a:moveTo>
                <a:lnTo>
                  <a:pt x="158" y="123"/>
                </a:lnTo>
                <a:cubicBezTo>
                  <a:pt x="167" y="123"/>
                  <a:pt x="174" y="130"/>
                  <a:pt x="174" y="139"/>
                </a:cubicBezTo>
                <a:cubicBezTo>
                  <a:pt x="174" y="148"/>
                  <a:pt x="167" y="155"/>
                  <a:pt x="158" y="155"/>
                </a:cubicBezTo>
                <a:cubicBezTo>
                  <a:pt x="149" y="155"/>
                  <a:pt x="142" y="148"/>
                  <a:pt x="142" y="139"/>
                </a:cubicBezTo>
                <a:cubicBezTo>
                  <a:pt x="142" y="130"/>
                  <a:pt x="149" y="123"/>
                  <a:pt x="158" y="123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pic>
        <p:nvPicPr>
          <p:cNvPr id="21" name="图片 20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3896498" y="4782203"/>
            <a:ext cx="558000" cy="562768"/>
          </a:xfrm>
          <a:prstGeom prst="rect">
            <a:avLst/>
          </a:prstGeom>
        </p:spPr>
      </p:pic>
      <p:pic>
        <p:nvPicPr>
          <p:cNvPr id="22" name="图片 21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3872355" y="3950247"/>
            <a:ext cx="558000" cy="558000"/>
          </a:xfrm>
          <a:prstGeom prst="rect">
            <a:avLst/>
          </a:prstGeom>
        </p:spPr>
      </p:pic>
      <p:pic>
        <p:nvPicPr>
          <p:cNvPr id="23" name="图片 22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3885235" y="3140569"/>
            <a:ext cx="558000" cy="5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395605" y="1988820"/>
            <a:ext cx="6981825" cy="21475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本小节学习目标：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①明白什么是重复子问题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②明白什么是最优子结构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③明白动态规划的状态转移方程和状态表（决策表）是什么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④分清动态规划与分治法的区别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⑤分清动态规划与贪心算法的区别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51460" y="11963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5.1.1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什么是动态规划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/>
          <p:cNvSpPr/>
          <p:nvPr/>
        </p:nvSpPr>
        <p:spPr>
          <a:xfrm>
            <a:off x="4067810" y="1772285"/>
            <a:ext cx="1176020" cy="5638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211955" y="1807845"/>
            <a:ext cx="1136650" cy="5429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fib(5)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3" name="圆角矩形 2"/>
          <p:cNvSpPr/>
          <p:nvPr/>
        </p:nvSpPr>
        <p:spPr>
          <a:xfrm>
            <a:off x="3285490" y="285242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3429635" y="285242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fib(4)</a:t>
            </a:r>
            <a:endParaRPr lang="zh-CN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5076190" y="285242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5220335" y="285242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7030A0"/>
                </a:solidFill>
                <a:uFillTx/>
                <a:latin typeface="Times New Roman" panose="02020603050405020304" pitchFamily="18" charset="0"/>
                <a:sym typeface="+mn-ea"/>
              </a:rPr>
              <a:t>fib(3)</a:t>
            </a:r>
            <a:endParaRPr lang="en-US" altLang="zh-CN" sz="1400">
              <a:solidFill>
                <a:srgbClr val="7030A0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12" name="圆角矩形 11"/>
          <p:cNvSpPr/>
          <p:nvPr/>
        </p:nvSpPr>
        <p:spPr>
          <a:xfrm>
            <a:off x="2546985" y="386080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2557780" y="386080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fib(3)</a:t>
            </a:r>
            <a:endParaRPr lang="en-US" altLang="zh-CN" sz="140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3688080" y="386080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698875" y="386080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fib(2)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圆角矩形 15"/>
          <p:cNvSpPr/>
          <p:nvPr/>
        </p:nvSpPr>
        <p:spPr>
          <a:xfrm>
            <a:off x="4923790" y="386080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934585" y="386080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fib(2)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8" name="圆角矩形 17"/>
          <p:cNvSpPr/>
          <p:nvPr/>
        </p:nvSpPr>
        <p:spPr>
          <a:xfrm>
            <a:off x="6064885" y="386080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6075680" y="386080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0066FF"/>
                </a:solidFill>
                <a:uFillTx/>
                <a:latin typeface="Times New Roman" panose="02020603050405020304" pitchFamily="18" charset="0"/>
                <a:sym typeface="+mn-ea"/>
              </a:rPr>
              <a:t>fib(1)</a:t>
            </a:r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</p:txBody>
      </p:sp>
      <p:cxnSp>
        <p:nvCxnSpPr>
          <p:cNvPr id="21" name="直接连接符 20"/>
          <p:cNvCxnSpPr>
            <a:stCxn id="6" idx="2"/>
            <a:endCxn id="8" idx="0"/>
          </p:cNvCxnSpPr>
          <p:nvPr/>
        </p:nvCxnSpPr>
        <p:spPr>
          <a:xfrm flipH="1">
            <a:off x="3902075" y="2350770"/>
            <a:ext cx="878205" cy="50165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endCxn id="10" idx="0"/>
          </p:cNvCxnSpPr>
          <p:nvPr/>
        </p:nvCxnSpPr>
        <p:spPr>
          <a:xfrm>
            <a:off x="4787900" y="2348865"/>
            <a:ext cx="904875" cy="50355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" name="直接连接符 22"/>
          <p:cNvCxnSpPr>
            <a:endCxn id="13" idx="0"/>
          </p:cNvCxnSpPr>
          <p:nvPr/>
        </p:nvCxnSpPr>
        <p:spPr>
          <a:xfrm flipH="1">
            <a:off x="3030220" y="3225165"/>
            <a:ext cx="787400" cy="63563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endCxn id="15" idx="0"/>
          </p:cNvCxnSpPr>
          <p:nvPr/>
        </p:nvCxnSpPr>
        <p:spPr>
          <a:xfrm>
            <a:off x="3817620" y="3234055"/>
            <a:ext cx="353695" cy="6267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endCxn id="17" idx="0"/>
          </p:cNvCxnSpPr>
          <p:nvPr/>
        </p:nvCxnSpPr>
        <p:spPr>
          <a:xfrm flipH="1">
            <a:off x="5407025" y="3231515"/>
            <a:ext cx="173355" cy="62928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endCxn id="20" idx="0"/>
          </p:cNvCxnSpPr>
          <p:nvPr/>
        </p:nvCxnSpPr>
        <p:spPr>
          <a:xfrm>
            <a:off x="5580380" y="3240405"/>
            <a:ext cx="967740" cy="6203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" name="圆角矩形 26"/>
          <p:cNvSpPr/>
          <p:nvPr/>
        </p:nvSpPr>
        <p:spPr>
          <a:xfrm>
            <a:off x="2268220" y="486918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2279015" y="486918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fib(2)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9" name="圆角矩形 28"/>
          <p:cNvSpPr/>
          <p:nvPr/>
        </p:nvSpPr>
        <p:spPr>
          <a:xfrm>
            <a:off x="3409315" y="486918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3420110" y="486918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0066FF"/>
                </a:solidFill>
                <a:uFillTx/>
                <a:latin typeface="Times New Roman" panose="02020603050405020304" pitchFamily="18" charset="0"/>
                <a:sym typeface="+mn-ea"/>
              </a:rPr>
              <a:t>fib(1)</a:t>
            </a:r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</p:txBody>
      </p:sp>
      <p:cxnSp>
        <p:nvCxnSpPr>
          <p:cNvPr id="31" name="直接连接符 30"/>
          <p:cNvCxnSpPr>
            <a:endCxn id="28" idx="0"/>
          </p:cNvCxnSpPr>
          <p:nvPr/>
        </p:nvCxnSpPr>
        <p:spPr>
          <a:xfrm flipH="1">
            <a:off x="2751455" y="4239895"/>
            <a:ext cx="173355" cy="62928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endCxn id="30" idx="0"/>
          </p:cNvCxnSpPr>
          <p:nvPr/>
        </p:nvCxnSpPr>
        <p:spPr>
          <a:xfrm>
            <a:off x="2924810" y="4248785"/>
            <a:ext cx="967740" cy="6203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" name="文本框 32"/>
          <p:cNvSpPr txBox="1"/>
          <p:nvPr/>
        </p:nvSpPr>
        <p:spPr>
          <a:xfrm>
            <a:off x="251460" y="1772285"/>
            <a:ext cx="36798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再次思考斐波那契数列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179705" y="5588635"/>
            <a:ext cx="8774430" cy="7251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仔细观察这颗二叉树的每一个节点，有重复的节点。而在分治法中则忽略了这些性质，只是让他们当作独立子问题求解。而这些重复的节点就是</a:t>
            </a:r>
            <a:r>
              <a:rPr lang="zh-CN" altLang="en-US">
                <a:solidFill>
                  <a:srgbClr val="FF0000"/>
                </a:solidFill>
              </a:rPr>
              <a:t>重叠子问题。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11" name="Text Box 6"/>
          <p:cNvSpPr txBox="1">
            <a:spLocks noChangeArrowheads="1"/>
          </p:cNvSpPr>
          <p:nvPr/>
        </p:nvSpPr>
        <p:spPr bwMode="auto">
          <a:xfrm>
            <a:off x="2771775" y="764540"/>
            <a:ext cx="4375150" cy="583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eaLnBrk="1" hangingPunct="1">
              <a:spcBef>
                <a:spcPct val="50000"/>
              </a:spcBef>
              <a:defRPr/>
            </a:pPr>
            <a:r>
              <a:rPr lang="en-US" altLang="zh-CN" sz="3200" dirty="0">
                <a:ln w="18000">
                  <a:solidFill>
                    <a:schemeClr val="accent2">
                      <a:satMod val="140000"/>
                    </a:schemeClr>
                  </a:solidFill>
                  <a:prstDash val="solid"/>
                  <a:miter lim="800000"/>
                </a:ln>
                <a:solidFill>
                  <a:schemeClr val="accent2"/>
                </a:solidFill>
                <a:effectLst>
                  <a:outerShdw blurRad="25500" dist="23000" dir="7020000" algn="tl">
                    <a:srgbClr val="000000">
                      <a:alpha val="50000"/>
                    </a:srgbClr>
                  </a:outerShdw>
                </a:effectLst>
                <a:latin typeface="Times New Roman" panose="02020603050405020304" pitchFamily="18" charset="0"/>
                <a:ea typeface="隶书" panose="02010509060101010101" pitchFamily="49" charset="-122"/>
                <a:cs typeface="Times New Roman" panose="02020603050405020304" pitchFamily="18" charset="0"/>
              </a:rPr>
              <a:t>5.1  </a:t>
            </a:r>
            <a:r>
              <a:rPr lang="zh-CN" altLang="en-US" sz="3200" dirty="0">
                <a:ln w="18000">
                  <a:solidFill>
                    <a:schemeClr val="accent2">
                      <a:satMod val="140000"/>
                    </a:schemeClr>
                  </a:solidFill>
                  <a:prstDash val="solid"/>
                  <a:miter lim="800000"/>
                </a:ln>
                <a:solidFill>
                  <a:schemeClr val="accent2"/>
                </a:solidFill>
                <a:effectLst>
                  <a:outerShdw blurRad="25500" dist="23000" dir="7020000" algn="tl">
                    <a:srgbClr val="000000">
                      <a:alpha val="50000"/>
                    </a:srgbClr>
                  </a:outerShdw>
                </a:effectLst>
                <a:latin typeface="Times New Roman" panose="02020603050405020304" pitchFamily="18" charset="0"/>
                <a:ea typeface="隶书" panose="02010509060101010101" pitchFamily="49" charset="-122"/>
                <a:cs typeface="Times New Roman" panose="02020603050405020304" pitchFamily="18" charset="0"/>
                <a:sym typeface="+mn-ea"/>
              </a:rPr>
              <a:t>动态规划法概述</a:t>
            </a:r>
            <a:endParaRPr lang="zh-CN" altLang="en-US" sz="3200" dirty="0">
              <a:ln w="18000">
                <a:solidFill>
                  <a:schemeClr val="accent2">
                    <a:satMod val="140000"/>
                  </a:schemeClr>
                </a:solidFill>
                <a:prstDash val="solid"/>
                <a:miter lim="800000"/>
              </a:ln>
              <a:solidFill>
                <a:schemeClr val="accent2"/>
              </a:solidFill>
              <a:effectLst>
                <a:outerShdw blurRad="25500" dist="23000" dir="7020000" algn="tl">
                  <a:srgbClr val="000000">
                    <a:alpha val="50000"/>
                  </a:srgbClr>
                </a:outerShdw>
              </a:effectLst>
              <a:latin typeface="Times New Roman" panose="02020603050405020304" pitchFamily="18" charset="0"/>
              <a:ea typeface="隶书" panose="020105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51460" y="11963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5.1.1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什么是动态规划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/>
          <p:cNvSpPr/>
          <p:nvPr/>
        </p:nvSpPr>
        <p:spPr>
          <a:xfrm>
            <a:off x="1824355" y="1652905"/>
            <a:ext cx="1176020" cy="5638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968500" y="1688465"/>
            <a:ext cx="1136650" cy="5429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fib(5)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3" name="圆角矩形 2"/>
          <p:cNvSpPr/>
          <p:nvPr/>
        </p:nvSpPr>
        <p:spPr>
          <a:xfrm>
            <a:off x="1042035" y="273304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186180" y="273304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fib(4)</a:t>
            </a:r>
            <a:endParaRPr lang="zh-CN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2832735" y="273304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2976880" y="273304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7030A0"/>
                </a:solidFill>
                <a:uFillTx/>
                <a:latin typeface="Times New Roman" panose="02020603050405020304" pitchFamily="18" charset="0"/>
                <a:sym typeface="+mn-ea"/>
              </a:rPr>
              <a:t>fib(3)</a:t>
            </a:r>
            <a:endParaRPr lang="en-US" altLang="zh-CN" sz="1400">
              <a:solidFill>
                <a:srgbClr val="7030A0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12" name="圆角矩形 11"/>
          <p:cNvSpPr/>
          <p:nvPr/>
        </p:nvSpPr>
        <p:spPr>
          <a:xfrm>
            <a:off x="303530" y="374142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314325" y="374142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fib(3)</a:t>
            </a:r>
            <a:endParaRPr lang="en-US" altLang="zh-CN" sz="140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1444625" y="374142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1455420" y="374142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fib(2)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圆角矩形 15"/>
          <p:cNvSpPr/>
          <p:nvPr/>
        </p:nvSpPr>
        <p:spPr>
          <a:xfrm>
            <a:off x="2680335" y="374142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2691130" y="374142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fib(2)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8" name="圆角矩形 17"/>
          <p:cNvSpPr/>
          <p:nvPr/>
        </p:nvSpPr>
        <p:spPr>
          <a:xfrm>
            <a:off x="3821430" y="374142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3832225" y="374142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0066FF"/>
                </a:solidFill>
                <a:uFillTx/>
                <a:latin typeface="Times New Roman" panose="02020603050405020304" pitchFamily="18" charset="0"/>
                <a:sym typeface="+mn-ea"/>
              </a:rPr>
              <a:t>fib(1)</a:t>
            </a:r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</p:txBody>
      </p:sp>
      <p:cxnSp>
        <p:nvCxnSpPr>
          <p:cNvPr id="21" name="直接连接符 20"/>
          <p:cNvCxnSpPr>
            <a:stCxn id="6" idx="2"/>
            <a:endCxn id="8" idx="0"/>
          </p:cNvCxnSpPr>
          <p:nvPr/>
        </p:nvCxnSpPr>
        <p:spPr>
          <a:xfrm flipH="1">
            <a:off x="1658620" y="2231390"/>
            <a:ext cx="878205" cy="50165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endCxn id="10" idx="0"/>
          </p:cNvCxnSpPr>
          <p:nvPr/>
        </p:nvCxnSpPr>
        <p:spPr>
          <a:xfrm>
            <a:off x="2544445" y="2229485"/>
            <a:ext cx="904875" cy="50355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" name="直接连接符 22"/>
          <p:cNvCxnSpPr>
            <a:endCxn id="13" idx="0"/>
          </p:cNvCxnSpPr>
          <p:nvPr/>
        </p:nvCxnSpPr>
        <p:spPr>
          <a:xfrm flipH="1">
            <a:off x="786765" y="3105785"/>
            <a:ext cx="787400" cy="63563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endCxn id="15" idx="0"/>
          </p:cNvCxnSpPr>
          <p:nvPr/>
        </p:nvCxnSpPr>
        <p:spPr>
          <a:xfrm>
            <a:off x="1574165" y="3114675"/>
            <a:ext cx="353695" cy="6267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endCxn id="17" idx="0"/>
          </p:cNvCxnSpPr>
          <p:nvPr/>
        </p:nvCxnSpPr>
        <p:spPr>
          <a:xfrm flipH="1">
            <a:off x="3163570" y="3112135"/>
            <a:ext cx="173355" cy="62928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endCxn id="20" idx="0"/>
          </p:cNvCxnSpPr>
          <p:nvPr/>
        </p:nvCxnSpPr>
        <p:spPr>
          <a:xfrm>
            <a:off x="3336925" y="3121025"/>
            <a:ext cx="967740" cy="6203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" name="圆角矩形 26"/>
          <p:cNvSpPr/>
          <p:nvPr/>
        </p:nvSpPr>
        <p:spPr>
          <a:xfrm>
            <a:off x="24765" y="474980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35560" y="474980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fib(2)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9" name="圆角矩形 28"/>
          <p:cNvSpPr/>
          <p:nvPr/>
        </p:nvSpPr>
        <p:spPr>
          <a:xfrm>
            <a:off x="1165860" y="474980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1176655" y="474980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0066FF"/>
                </a:solidFill>
                <a:uFillTx/>
                <a:latin typeface="Times New Roman" panose="02020603050405020304" pitchFamily="18" charset="0"/>
                <a:sym typeface="+mn-ea"/>
              </a:rPr>
              <a:t>fib(1)</a:t>
            </a:r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</p:txBody>
      </p:sp>
      <p:cxnSp>
        <p:nvCxnSpPr>
          <p:cNvPr id="31" name="直接连接符 30"/>
          <p:cNvCxnSpPr>
            <a:endCxn id="28" idx="0"/>
          </p:cNvCxnSpPr>
          <p:nvPr/>
        </p:nvCxnSpPr>
        <p:spPr>
          <a:xfrm flipH="1">
            <a:off x="508000" y="4120515"/>
            <a:ext cx="173355" cy="62928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endCxn id="30" idx="0"/>
          </p:cNvCxnSpPr>
          <p:nvPr/>
        </p:nvCxnSpPr>
        <p:spPr>
          <a:xfrm>
            <a:off x="681355" y="4129405"/>
            <a:ext cx="967740" cy="6203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" name="文本框 32"/>
          <p:cNvSpPr txBox="1"/>
          <p:nvPr/>
        </p:nvSpPr>
        <p:spPr>
          <a:xfrm>
            <a:off x="323850" y="980440"/>
            <a:ext cx="7533005" cy="4705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显然可以利用重叠子问题的性质，那就是保存下来，不要做重复计算！</a:t>
            </a:r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4311650" y="1412240"/>
            <a:ext cx="5074920" cy="50774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int Fib[1000]; //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全局变量数组保存重叠子问题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int fibonacci(int n)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{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if (n &lt;= 1)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return n;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int tempL = Fib[n-1], tempR = Fib[n-2];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if (tempL == 0)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{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tempL = fibonacci(n-1);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Fib[n-1] = tempL;//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每次计算完成都进行保存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}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if (tempR == 0)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{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tempR = fibonacci(n-2);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Fib[n-2] = tempR;//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每次计算完成都进行保存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}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return tempL + tempR;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}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23850" y="5640070"/>
            <a:ext cx="3949700" cy="6553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恭喜同学们会了记忆化搜索！若让你把这个代码改成循环，该怎么办？</a:t>
            </a:r>
            <a:endParaRPr lang="zh-CN" alt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683895" y="1484630"/>
            <a:ext cx="3522345" cy="3352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动态规划思想是什么？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84530" y="1934210"/>
            <a:ext cx="7865110" cy="10541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动态规划就是待求解的问题按照阶段</a:t>
            </a:r>
            <a:r>
              <a:rPr lang="zh-CN" altLang="en-US">
                <a:solidFill>
                  <a:srgbClr val="FF0000"/>
                </a:solidFill>
              </a:rPr>
              <a:t>分解</a:t>
            </a:r>
            <a:r>
              <a:rPr lang="zh-CN" altLang="en-US"/>
              <a:t>成若干个子问题，其中各个子问题的解都是当前状态下所得的最优解，</a:t>
            </a:r>
            <a:r>
              <a:rPr lang="zh-CN" altLang="en-US">
                <a:solidFill>
                  <a:srgbClr val="FF0000"/>
                </a:solidFill>
              </a:rPr>
              <a:t>整个问题的最优解就是由各个子问题的最优解组成的。</a:t>
            </a:r>
            <a:endParaRPr lang="zh-CN" altLang="en-US">
              <a:solidFill>
                <a:srgbClr val="FF0000"/>
              </a:solidFill>
            </a:endParaRPr>
          </a:p>
        </p:txBody>
      </p:sp>
      <p:pic>
        <p:nvPicPr>
          <p:cNvPr id="6153" name="图片 1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570" y="4371023"/>
            <a:ext cx="723900" cy="657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154" name="云形标注 17"/>
          <p:cNvSpPr>
            <a:spLocks noChangeArrowheads="1"/>
          </p:cNvSpPr>
          <p:nvPr/>
        </p:nvSpPr>
        <p:spPr bwMode="auto">
          <a:xfrm>
            <a:off x="1115695" y="3574098"/>
            <a:ext cx="1296988" cy="854075"/>
          </a:xfrm>
          <a:prstGeom prst="cloudCallout">
            <a:avLst>
              <a:gd name="adj1" fmla="val -20833"/>
              <a:gd name="adj2" fmla="val 62500"/>
            </a:avLst>
          </a:prstGeom>
          <a:solidFill>
            <a:schemeClr val="accent1"/>
          </a:solidFill>
          <a:ln w="9525" algn="ctr">
            <a:solidFill>
              <a:schemeClr val="tx1"/>
            </a:solidFill>
            <a:round/>
          </a:ln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rgbClr val="333399"/>
                </a:solidFill>
                <a:latin typeface="Arial" panose="020B0604020202020204" pitchFamily="34" charset="0"/>
                <a:ea typeface="黑体" panose="02010609060101010101" charset="-122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 typeface="Arial" panose="020B0604020202020204" pitchFamily="34" charset="0"/>
              <a:buNone/>
            </a:pPr>
            <a:endParaRPr lang="zh-CN" altLang="en-US" sz="18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6155" name="文本框 20"/>
          <p:cNvSpPr txBox="1">
            <a:spLocks noChangeArrowheads="1"/>
          </p:cNvSpPr>
          <p:nvPr/>
        </p:nvSpPr>
        <p:spPr bwMode="auto">
          <a:xfrm>
            <a:off x="1218883" y="3748723"/>
            <a:ext cx="1193800" cy="5219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rgbClr val="333399"/>
                </a:solidFill>
                <a:latin typeface="Arial" panose="020B0604020202020204" pitchFamily="34" charset="0"/>
                <a:ea typeface="黑体" panose="02010609060101010101" charset="-122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1400" b="1">
                <a:solidFill>
                  <a:schemeClr val="tx1"/>
                </a:solidFill>
                <a:ea typeface="宋体" panose="02010600030101010101" pitchFamily="2" charset="-122"/>
              </a:rPr>
              <a:t>与分治和贪心雷同？</a:t>
            </a:r>
            <a:endParaRPr lang="zh-CN" altLang="en-US" sz="1400" b="1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2555875" y="3356610"/>
            <a:ext cx="6124575" cy="859155"/>
          </a:xfrm>
          <a:prstGeom prst="rect">
            <a:avLst/>
          </a:prstGeom>
          <a:noFill/>
        </p:spPr>
        <p:txBody>
          <a:bodyPr>
            <a:noAutofit/>
          </a:bodyPr>
          <a:lstStyle/>
          <a:p>
            <a:pPr>
              <a:defRPr/>
            </a:pP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①将一个大问题拆分成若干子问题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endParaRPr lang="en-US" altLang="zh-CN">
              <a:solidFill>
                <a:srgbClr val="FF0000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②整个问题最优是由各个子问题最优解合并组成。</a:t>
            </a:r>
            <a:endParaRPr lang="en-US" altLang="zh-CN">
              <a:solidFill>
                <a:srgbClr val="FF0000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799465" y="5451475"/>
            <a:ext cx="7880985" cy="8489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</a:rPr>
              <a:t>当然，定义中还缺少动态规划的一些描述，例如</a:t>
            </a:r>
            <a:r>
              <a:rPr lang="zh-CN" altLang="en-US">
                <a:solidFill>
                  <a:srgbClr val="FF0000"/>
                </a:solidFill>
              </a:rPr>
              <a:t>状态转移方程</a:t>
            </a:r>
            <a:r>
              <a:rPr lang="zh-CN" altLang="en-US">
                <a:solidFill>
                  <a:schemeClr val="tx1"/>
                </a:solidFill>
              </a:rPr>
              <a:t>，</a:t>
            </a:r>
            <a:r>
              <a:rPr lang="zh-CN" altLang="en-US">
                <a:solidFill>
                  <a:srgbClr val="FF0000"/>
                </a:solidFill>
              </a:rPr>
              <a:t>状态表</a:t>
            </a:r>
            <a:r>
              <a:rPr lang="zh-CN" altLang="en-US">
                <a:solidFill>
                  <a:schemeClr val="tx1"/>
                </a:solidFill>
              </a:rPr>
              <a:t>，</a:t>
            </a:r>
            <a:r>
              <a:rPr lang="zh-CN" altLang="en-US">
                <a:solidFill>
                  <a:srgbClr val="FF0000"/>
                </a:solidFill>
              </a:rPr>
              <a:t>最优子结构，重叠子问题</a:t>
            </a:r>
            <a:r>
              <a:rPr lang="zh-CN" altLang="en-US">
                <a:solidFill>
                  <a:schemeClr val="tx1"/>
                </a:solidFill>
              </a:rPr>
              <a:t>。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" name="波形 3"/>
          <p:cNvSpPr/>
          <p:nvPr/>
        </p:nvSpPr>
        <p:spPr>
          <a:xfrm>
            <a:off x="2484120" y="2924810"/>
            <a:ext cx="5406390" cy="2258695"/>
          </a:xfrm>
          <a:prstGeom prst="wave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12140" y="81407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5.1.1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什么是动态规划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/>
          <p:cNvGraphicFramePr/>
          <p:nvPr/>
        </p:nvGraphicFramePr>
        <p:xfrm>
          <a:off x="683895" y="2177415"/>
          <a:ext cx="6400165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0565"/>
                <a:gridCol w="710565"/>
                <a:gridCol w="710565"/>
                <a:gridCol w="710565"/>
                <a:gridCol w="710565"/>
                <a:gridCol w="710565"/>
              </a:tblGrid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b="0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 b="0">
                        <a:ln>
                          <a:noFill/>
                        </a:ln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b="0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 b="0">
                        <a:ln>
                          <a:noFill/>
                        </a:ln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 b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 b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文本框 10"/>
          <p:cNvSpPr txBox="1"/>
          <p:nvPr/>
        </p:nvSpPr>
        <p:spPr>
          <a:xfrm>
            <a:off x="539750" y="1196340"/>
            <a:ext cx="7623175" cy="8312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算法初始时候，定义一个记忆数组。但是又需要记忆数组有两项相邻的数斐波那契数才能循环下去，那么初始化最初两项</a:t>
            </a:r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0,1</a:t>
            </a:r>
            <a:r>
              <a:rPr lang="zh-CN" altLang="en-US">
                <a:solidFill>
                  <a:srgbClr val="FF0000"/>
                </a:solidFill>
              </a:rPr>
              <a:t>可以满足循环要求。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67360" y="5300980"/>
            <a:ext cx="8603615" cy="1092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</a:rPr>
              <a:t>动态规划处理子问题是有较多重复，可以把重叠子问题保存下来，供下个问题抉择直接使用。分治法则是独立处理重复的子问题。</a:t>
            </a:r>
            <a:endParaRPr lang="zh-CN" altLang="en-US">
              <a:solidFill>
                <a:schemeClr val="tx1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此时：为了解决斐波那契数列问题借助的数组就是称为状态表。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由子问题推导到父问题的转换方程就是状态转移方程，如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  <a:sym typeface="+mn-ea"/>
              </a:rPr>
              <a:t>fib(n) = fib(n-1)+fib(n-2)</a:t>
            </a:r>
            <a:endParaRPr lang="en-US" altLang="zh-CN">
              <a:solidFill>
                <a:srgbClr val="FF0000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683895" y="3140710"/>
            <a:ext cx="7478395" cy="4902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uFillTx/>
                <a:latin typeface="Times New Roman" panose="02020603050405020304" pitchFamily="18" charset="0"/>
                <a:sym typeface="+mn-ea"/>
              </a:rPr>
              <a:t>fib(n) = fib(n-1)+fib(n-2)</a:t>
            </a:r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然后根据斐波那契数递归方程，持续循环。</a:t>
            </a:r>
            <a:endParaRPr lang="zh-CN" altLang="en-US"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2172970" y="2181860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6" name="上弧形箭头 35"/>
          <p:cNvSpPr/>
          <p:nvPr/>
        </p:nvSpPr>
        <p:spPr>
          <a:xfrm>
            <a:off x="850265" y="1947545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7" name="上弧形箭头 36"/>
          <p:cNvSpPr/>
          <p:nvPr/>
        </p:nvSpPr>
        <p:spPr>
          <a:xfrm flipV="1">
            <a:off x="1505585" y="2564765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0" name="上弧形箭头 39"/>
          <p:cNvSpPr/>
          <p:nvPr/>
        </p:nvSpPr>
        <p:spPr>
          <a:xfrm>
            <a:off x="1619885" y="1955165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1" name="上弧形箭头 40"/>
          <p:cNvSpPr/>
          <p:nvPr/>
        </p:nvSpPr>
        <p:spPr>
          <a:xfrm flipV="1">
            <a:off x="2275205" y="2572385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2915920" y="2181860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3" name="上弧形箭头 42"/>
          <p:cNvSpPr/>
          <p:nvPr/>
        </p:nvSpPr>
        <p:spPr>
          <a:xfrm>
            <a:off x="2339975" y="1950720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4" name="上弧形箭头 43"/>
          <p:cNvSpPr/>
          <p:nvPr/>
        </p:nvSpPr>
        <p:spPr>
          <a:xfrm flipV="1">
            <a:off x="2995295" y="2567940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3636010" y="2177415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3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6" name="上弧形箭头 45"/>
          <p:cNvSpPr/>
          <p:nvPr/>
        </p:nvSpPr>
        <p:spPr>
          <a:xfrm>
            <a:off x="3060065" y="1936750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7" name="上弧形箭头 46"/>
          <p:cNvSpPr/>
          <p:nvPr/>
        </p:nvSpPr>
        <p:spPr>
          <a:xfrm flipV="1">
            <a:off x="3715385" y="2553970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356100" y="2163445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0" name="文本框 49"/>
          <p:cNvSpPr txBox="1"/>
          <p:nvPr/>
        </p:nvSpPr>
        <p:spPr>
          <a:xfrm>
            <a:off x="470535" y="3474085"/>
            <a:ext cx="4572000" cy="17532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fib[0] = 0;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fib[1] = 1;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for (int i = 2; i &lt;= n; i++)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{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fib[i] = fib[i-1] + fib[i-2];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}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2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4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7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9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45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47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50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52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78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80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1000"/>
                            </p:stCondLst>
                            <p:childTnLst>
                              <p:par>
                                <p:cTn id="82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83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85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11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13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15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16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18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5" grpId="1"/>
      <p:bldP spid="36" grpId="0" animBg="1"/>
      <p:bldP spid="36" grpId="1" animBg="1"/>
      <p:bldP spid="36" grpId="2" animBg="1"/>
      <p:bldP spid="36" grpId="3" animBg="1"/>
      <p:bldP spid="36" grpId="4" animBg="1"/>
      <p:bldP spid="36" grpId="5" animBg="1"/>
      <p:bldP spid="37" grpId="0" animBg="1"/>
      <p:bldP spid="37" grpId="1" animBg="1"/>
      <p:bldP spid="37" grpId="2" animBg="1"/>
      <p:bldP spid="37" grpId="3" animBg="1"/>
      <p:bldP spid="37" grpId="4" animBg="1"/>
      <p:bldP spid="37" grpId="5" animBg="1"/>
      <p:bldP spid="40" grpId="0" bldLvl="0" animBg="1"/>
      <p:bldP spid="40" grpId="1" animBg="1"/>
      <p:bldP spid="40" grpId="2" bldLvl="0" animBg="1"/>
      <p:bldP spid="40" grpId="3" bldLvl="0" animBg="1"/>
      <p:bldP spid="40" grpId="4" bldLvl="0" animBg="1"/>
      <p:bldP spid="40" grpId="5" animBg="1"/>
      <p:bldP spid="41" grpId="0" bldLvl="0" animBg="1"/>
      <p:bldP spid="41" grpId="1" animBg="1"/>
      <p:bldP spid="41" grpId="2" bldLvl="0" animBg="1"/>
      <p:bldP spid="41" grpId="3" bldLvl="0" animBg="1"/>
      <p:bldP spid="41" grpId="4" bldLvl="0" animBg="1"/>
      <p:bldP spid="41" grpId="5" animBg="1"/>
      <p:bldP spid="42" grpId="0"/>
      <p:bldP spid="42" grpId="1"/>
      <p:bldP spid="43" grpId="0" bldLvl="0" animBg="1"/>
      <p:bldP spid="43" grpId="1" animBg="1"/>
      <p:bldP spid="43" grpId="2" bldLvl="0" animBg="1"/>
      <p:bldP spid="43" grpId="3" bldLvl="0" animBg="1"/>
      <p:bldP spid="43" grpId="4" bldLvl="0" animBg="1"/>
      <p:bldP spid="43" grpId="5" bldLvl="0" animBg="1"/>
      <p:bldP spid="44" grpId="0" bldLvl="0" animBg="1"/>
      <p:bldP spid="44" grpId="1" animBg="1"/>
      <p:bldP spid="44" grpId="2" bldLvl="0" animBg="1"/>
      <p:bldP spid="44" grpId="3" bldLvl="0" animBg="1"/>
      <p:bldP spid="44" grpId="4" bldLvl="0" animBg="1"/>
      <p:bldP spid="44" grpId="5" bldLvl="0" animBg="1"/>
      <p:bldP spid="45" grpId="0"/>
      <p:bldP spid="45" grpId="1"/>
      <p:bldP spid="46" grpId="0" bldLvl="0" animBg="1"/>
      <p:bldP spid="46" grpId="1" animBg="1"/>
      <p:bldP spid="46" grpId="2" bldLvl="0" animBg="1"/>
      <p:bldP spid="46" grpId="3" bldLvl="0" animBg="1"/>
      <p:bldP spid="46" grpId="4" bldLvl="0" animBg="1"/>
      <p:bldP spid="46" grpId="5" bldLvl="0" animBg="1"/>
      <p:bldP spid="47" grpId="0" bldLvl="0" animBg="1"/>
      <p:bldP spid="47" grpId="1" animBg="1"/>
      <p:bldP spid="47" grpId="2" bldLvl="0" animBg="1"/>
      <p:bldP spid="47" grpId="3" bldLvl="0" animBg="1"/>
      <p:bldP spid="47" grpId="4" bldLvl="0" animBg="1"/>
      <p:bldP spid="47" grpId="5" bldLvl="0" animBg="1"/>
      <p:bldP spid="48" grpId="0"/>
      <p:bldP spid="48" grpId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 txBox="1"/>
          <p:nvPr/>
        </p:nvSpPr>
        <p:spPr>
          <a:xfrm>
            <a:off x="470535" y="836930"/>
            <a:ext cx="7500620" cy="3702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</a:rPr>
              <a:t>动态规划为何可以利用</a:t>
            </a:r>
            <a:r>
              <a:rPr lang="zh-CN" altLang="en-US">
                <a:solidFill>
                  <a:srgbClr val="FF0000"/>
                </a:solidFill>
              </a:rPr>
              <a:t>最优子结构</a:t>
            </a:r>
            <a:r>
              <a:rPr lang="zh-CN" altLang="en-US">
                <a:solidFill>
                  <a:schemeClr val="tx1"/>
                </a:solidFill>
              </a:rPr>
              <a:t>来求解组合优化问题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5" name="圆角矩形 4"/>
          <p:cNvSpPr/>
          <p:nvPr/>
        </p:nvSpPr>
        <p:spPr>
          <a:xfrm>
            <a:off x="3491865" y="22040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5089525" y="22040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" name="圆角矩形 11"/>
          <p:cNvSpPr/>
          <p:nvPr>
            <p:custDataLst>
              <p:tags r:id="rId1"/>
            </p:custDataLst>
          </p:nvPr>
        </p:nvSpPr>
        <p:spPr>
          <a:xfrm>
            <a:off x="2771775" y="29787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4" name="圆角矩形 13"/>
          <p:cNvSpPr/>
          <p:nvPr>
            <p:custDataLst>
              <p:tags r:id="rId2"/>
            </p:custDataLst>
          </p:nvPr>
        </p:nvSpPr>
        <p:spPr>
          <a:xfrm>
            <a:off x="4348480" y="29787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6" name="圆角矩形 15"/>
          <p:cNvSpPr/>
          <p:nvPr>
            <p:custDataLst>
              <p:tags r:id="rId3"/>
            </p:custDataLst>
          </p:nvPr>
        </p:nvSpPr>
        <p:spPr>
          <a:xfrm>
            <a:off x="5796280" y="29787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8" name="圆角矩形 17"/>
          <p:cNvSpPr/>
          <p:nvPr>
            <p:custDataLst>
              <p:tags r:id="rId4"/>
            </p:custDataLst>
          </p:nvPr>
        </p:nvSpPr>
        <p:spPr>
          <a:xfrm>
            <a:off x="2051685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21" name="直接连接符 20"/>
          <p:cNvCxnSpPr>
            <a:stCxn id="7" idx="2"/>
            <a:endCxn id="5" idx="0"/>
          </p:cNvCxnSpPr>
          <p:nvPr/>
        </p:nvCxnSpPr>
        <p:spPr>
          <a:xfrm flipH="1">
            <a:off x="3920490" y="1918970"/>
            <a:ext cx="792480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stCxn id="7" idx="2"/>
            <a:endCxn id="9" idx="0"/>
          </p:cNvCxnSpPr>
          <p:nvPr/>
        </p:nvCxnSpPr>
        <p:spPr>
          <a:xfrm>
            <a:off x="4712970" y="1918970"/>
            <a:ext cx="805180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stCxn id="9" idx="2"/>
            <a:endCxn id="14" idx="0"/>
          </p:cNvCxnSpPr>
          <p:nvPr>
            <p:custDataLst>
              <p:tags r:id="rId5"/>
            </p:custDataLst>
          </p:nvPr>
        </p:nvCxnSpPr>
        <p:spPr>
          <a:xfrm flipH="1">
            <a:off x="4777105" y="2592070"/>
            <a:ext cx="74104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stCxn id="5" idx="2"/>
            <a:endCxn id="14" idx="0"/>
          </p:cNvCxnSpPr>
          <p:nvPr>
            <p:custDataLst>
              <p:tags r:id="rId6"/>
            </p:custDataLst>
          </p:nvPr>
        </p:nvCxnSpPr>
        <p:spPr>
          <a:xfrm>
            <a:off x="3920490" y="2592070"/>
            <a:ext cx="85661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stCxn id="14" idx="2"/>
          </p:cNvCxnSpPr>
          <p:nvPr>
            <p:custDataLst>
              <p:tags r:id="rId7"/>
            </p:custDataLst>
          </p:nvPr>
        </p:nvCxnSpPr>
        <p:spPr>
          <a:xfrm flipH="1">
            <a:off x="3996055" y="3366770"/>
            <a:ext cx="781050" cy="42227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" name="直接连接符 30"/>
          <p:cNvCxnSpPr>
            <a:stCxn id="5" idx="2"/>
            <a:endCxn id="12" idx="0"/>
          </p:cNvCxnSpPr>
          <p:nvPr>
            <p:custDataLst>
              <p:tags r:id="rId8"/>
            </p:custDataLst>
          </p:nvPr>
        </p:nvCxnSpPr>
        <p:spPr>
          <a:xfrm flipH="1">
            <a:off x="3200400" y="2592070"/>
            <a:ext cx="72009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stCxn id="9" idx="2"/>
            <a:endCxn id="16" idx="0"/>
          </p:cNvCxnSpPr>
          <p:nvPr>
            <p:custDataLst>
              <p:tags r:id="rId9"/>
            </p:custDataLst>
          </p:nvPr>
        </p:nvCxnSpPr>
        <p:spPr>
          <a:xfrm>
            <a:off x="5518150" y="2592070"/>
            <a:ext cx="70675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圆角矩形 6"/>
          <p:cNvSpPr/>
          <p:nvPr/>
        </p:nvSpPr>
        <p:spPr>
          <a:xfrm>
            <a:off x="4284345" y="15309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7" name="圆角矩形 26"/>
          <p:cNvSpPr/>
          <p:nvPr>
            <p:custDataLst>
              <p:tags r:id="rId10"/>
            </p:custDataLst>
          </p:nvPr>
        </p:nvSpPr>
        <p:spPr>
          <a:xfrm>
            <a:off x="3624580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圆角矩形 27"/>
          <p:cNvSpPr/>
          <p:nvPr>
            <p:custDataLst>
              <p:tags r:id="rId11"/>
            </p:custDataLst>
          </p:nvPr>
        </p:nvSpPr>
        <p:spPr>
          <a:xfrm>
            <a:off x="5041900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3" name="圆角矩形 32"/>
          <p:cNvSpPr/>
          <p:nvPr>
            <p:custDataLst>
              <p:tags r:id="rId12"/>
            </p:custDataLst>
          </p:nvPr>
        </p:nvSpPr>
        <p:spPr>
          <a:xfrm>
            <a:off x="6516370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38" name="直接连接符 37"/>
          <p:cNvCxnSpPr>
            <a:stCxn id="12" idx="2"/>
            <a:endCxn id="18" idx="0"/>
          </p:cNvCxnSpPr>
          <p:nvPr>
            <p:custDataLst>
              <p:tags r:id="rId13"/>
            </p:custDataLst>
          </p:nvPr>
        </p:nvCxnSpPr>
        <p:spPr>
          <a:xfrm flipH="1">
            <a:off x="2480310" y="3366770"/>
            <a:ext cx="72009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" name="直接连接符 38"/>
          <p:cNvCxnSpPr>
            <a:stCxn id="12" idx="2"/>
            <a:endCxn id="27" idx="0"/>
          </p:cNvCxnSpPr>
          <p:nvPr>
            <p:custDataLst>
              <p:tags r:id="rId14"/>
            </p:custDataLst>
          </p:nvPr>
        </p:nvCxnSpPr>
        <p:spPr>
          <a:xfrm>
            <a:off x="3200400" y="3366770"/>
            <a:ext cx="85280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" name="直接连接符 48"/>
          <p:cNvCxnSpPr>
            <a:stCxn id="14" idx="2"/>
            <a:endCxn id="28" idx="0"/>
          </p:cNvCxnSpPr>
          <p:nvPr>
            <p:custDataLst>
              <p:tags r:id="rId15"/>
            </p:custDataLst>
          </p:nvPr>
        </p:nvCxnSpPr>
        <p:spPr>
          <a:xfrm>
            <a:off x="4777105" y="3366770"/>
            <a:ext cx="69342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" name="直接连接符 50"/>
          <p:cNvCxnSpPr>
            <a:stCxn id="16" idx="2"/>
            <a:endCxn id="28" idx="0"/>
          </p:cNvCxnSpPr>
          <p:nvPr>
            <p:custDataLst>
              <p:tags r:id="rId16"/>
            </p:custDataLst>
          </p:nvPr>
        </p:nvCxnSpPr>
        <p:spPr>
          <a:xfrm flipH="1">
            <a:off x="5470525" y="3366770"/>
            <a:ext cx="75438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" name="直接连接符 51"/>
          <p:cNvCxnSpPr>
            <a:stCxn id="16" idx="2"/>
            <a:endCxn id="33" idx="0"/>
          </p:cNvCxnSpPr>
          <p:nvPr>
            <p:custDataLst>
              <p:tags r:id="rId17"/>
            </p:custDataLst>
          </p:nvPr>
        </p:nvCxnSpPr>
        <p:spPr>
          <a:xfrm>
            <a:off x="6224905" y="3366770"/>
            <a:ext cx="72009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文本框 12"/>
          <p:cNvSpPr txBox="1"/>
          <p:nvPr/>
        </p:nvSpPr>
        <p:spPr>
          <a:xfrm>
            <a:off x="4580255" y="155829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3771900" y="22498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6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5292090" y="22498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9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5" name="文本框 54"/>
          <p:cNvSpPr txBox="1"/>
          <p:nvPr/>
        </p:nvSpPr>
        <p:spPr>
          <a:xfrm>
            <a:off x="2987675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8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4563110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6012180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2195830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4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9" name="文本框 58"/>
          <p:cNvSpPr txBox="1"/>
          <p:nvPr/>
        </p:nvSpPr>
        <p:spPr>
          <a:xfrm>
            <a:off x="3771900" y="378904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6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5259070" y="37858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7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6689725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3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2" name="圆角矩形 61"/>
          <p:cNvSpPr/>
          <p:nvPr>
            <p:custDataLst>
              <p:tags r:id="rId18"/>
            </p:custDataLst>
          </p:nvPr>
        </p:nvSpPr>
        <p:spPr>
          <a:xfrm>
            <a:off x="1372870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3" name="圆角矩形 62"/>
          <p:cNvSpPr/>
          <p:nvPr>
            <p:custDataLst>
              <p:tags r:id="rId19"/>
            </p:custDataLst>
          </p:nvPr>
        </p:nvSpPr>
        <p:spPr>
          <a:xfrm>
            <a:off x="2945765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4" name="圆角矩形 63"/>
          <p:cNvSpPr/>
          <p:nvPr>
            <p:custDataLst>
              <p:tags r:id="rId20"/>
            </p:custDataLst>
          </p:nvPr>
        </p:nvSpPr>
        <p:spPr>
          <a:xfrm>
            <a:off x="4363085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5" name="圆角矩形 64"/>
          <p:cNvSpPr/>
          <p:nvPr>
            <p:custDataLst>
              <p:tags r:id="rId21"/>
            </p:custDataLst>
          </p:nvPr>
        </p:nvSpPr>
        <p:spPr>
          <a:xfrm>
            <a:off x="5837555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1517015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6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3093085" y="451231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8" name="文本框 67"/>
          <p:cNvSpPr txBox="1"/>
          <p:nvPr/>
        </p:nvSpPr>
        <p:spPr>
          <a:xfrm>
            <a:off x="4580255" y="450913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9" name="文本框 68"/>
          <p:cNvSpPr txBox="1"/>
          <p:nvPr/>
        </p:nvSpPr>
        <p:spPr>
          <a:xfrm>
            <a:off x="6010910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70" name="圆角矩形 69"/>
          <p:cNvSpPr/>
          <p:nvPr>
            <p:custDataLst>
              <p:tags r:id="rId22"/>
            </p:custDataLst>
          </p:nvPr>
        </p:nvSpPr>
        <p:spPr>
          <a:xfrm>
            <a:off x="7595870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71" name="直接连接符 70"/>
          <p:cNvCxnSpPr>
            <a:stCxn id="18" idx="2"/>
            <a:endCxn id="62" idx="0"/>
          </p:cNvCxnSpPr>
          <p:nvPr>
            <p:custDataLst>
              <p:tags r:id="rId23"/>
            </p:custDataLst>
          </p:nvPr>
        </p:nvCxnSpPr>
        <p:spPr>
          <a:xfrm flipH="1">
            <a:off x="1801495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" name="直接连接符 71"/>
          <p:cNvCxnSpPr>
            <a:stCxn id="18" idx="2"/>
            <a:endCxn id="63" idx="0"/>
          </p:cNvCxnSpPr>
          <p:nvPr>
            <p:custDataLst>
              <p:tags r:id="rId24"/>
            </p:custDataLst>
          </p:nvPr>
        </p:nvCxnSpPr>
        <p:spPr>
          <a:xfrm>
            <a:off x="2480310" y="4141470"/>
            <a:ext cx="894080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3" name="直接连接符 72"/>
          <p:cNvCxnSpPr>
            <a:stCxn id="27" idx="2"/>
            <a:endCxn id="63" idx="0"/>
          </p:cNvCxnSpPr>
          <p:nvPr>
            <p:custDataLst>
              <p:tags r:id="rId25"/>
            </p:custDataLst>
          </p:nvPr>
        </p:nvCxnSpPr>
        <p:spPr>
          <a:xfrm flipH="1">
            <a:off x="3374390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" name="直接连接符 73"/>
          <p:cNvCxnSpPr>
            <a:stCxn id="27" idx="2"/>
            <a:endCxn id="64" idx="0"/>
          </p:cNvCxnSpPr>
          <p:nvPr>
            <p:custDataLst>
              <p:tags r:id="rId26"/>
            </p:custDataLst>
          </p:nvPr>
        </p:nvCxnSpPr>
        <p:spPr>
          <a:xfrm>
            <a:off x="4053205" y="4141470"/>
            <a:ext cx="73850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5" name="直接连接符 74"/>
          <p:cNvCxnSpPr>
            <a:stCxn id="28" idx="2"/>
            <a:endCxn id="64" idx="0"/>
          </p:cNvCxnSpPr>
          <p:nvPr>
            <p:custDataLst>
              <p:tags r:id="rId27"/>
            </p:custDataLst>
          </p:nvPr>
        </p:nvCxnSpPr>
        <p:spPr>
          <a:xfrm flipH="1">
            <a:off x="4791710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" name="直接连接符 75"/>
          <p:cNvCxnSpPr>
            <a:stCxn id="28" idx="2"/>
            <a:endCxn id="65" idx="0"/>
          </p:cNvCxnSpPr>
          <p:nvPr>
            <p:custDataLst>
              <p:tags r:id="rId28"/>
            </p:custDataLst>
          </p:nvPr>
        </p:nvCxnSpPr>
        <p:spPr>
          <a:xfrm>
            <a:off x="5470525" y="4141470"/>
            <a:ext cx="79565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7" name="直接连接符 76"/>
          <p:cNvCxnSpPr>
            <a:stCxn id="33" idx="2"/>
            <a:endCxn id="65" idx="0"/>
          </p:cNvCxnSpPr>
          <p:nvPr>
            <p:custDataLst>
              <p:tags r:id="rId29"/>
            </p:custDataLst>
          </p:nvPr>
        </p:nvCxnSpPr>
        <p:spPr>
          <a:xfrm flipH="1">
            <a:off x="6266180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" name="直接连接符 77"/>
          <p:cNvCxnSpPr>
            <a:stCxn id="33" idx="2"/>
            <a:endCxn id="70" idx="0"/>
          </p:cNvCxnSpPr>
          <p:nvPr>
            <p:custDataLst>
              <p:tags r:id="rId30"/>
            </p:custDataLst>
          </p:nvPr>
        </p:nvCxnSpPr>
        <p:spPr>
          <a:xfrm>
            <a:off x="6944995" y="4141470"/>
            <a:ext cx="1079500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" name="文本框 78"/>
          <p:cNvSpPr txBox="1"/>
          <p:nvPr/>
        </p:nvSpPr>
        <p:spPr>
          <a:xfrm>
            <a:off x="7740015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470535" y="5480685"/>
            <a:ext cx="8227695" cy="5702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如果用贪心算法是否可以求解？贪心求解最长路径是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22</a:t>
            </a:r>
            <a:r>
              <a:rPr lang="zh-CN" altLang="en-US"/>
              <a:t>，很显然能找到一个反例推翻，例如紫色路径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r>
            <a:r>
              <a:rPr lang="zh-CN" altLang="en-US"/>
              <a:t>，比贪心算法更优。</a:t>
            </a:r>
            <a:endParaRPr lang="zh-CN" altLang="en-US"/>
          </a:p>
        </p:txBody>
      </p:sp>
      <p:cxnSp>
        <p:nvCxnSpPr>
          <p:cNvPr id="81" name="直接箭头连接符 80"/>
          <p:cNvCxnSpPr/>
          <p:nvPr/>
        </p:nvCxnSpPr>
        <p:spPr>
          <a:xfrm>
            <a:off x="5022215" y="1923415"/>
            <a:ext cx="557530" cy="208915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2" name="直接箭头连接符 81"/>
          <p:cNvCxnSpPr/>
          <p:nvPr/>
        </p:nvCxnSpPr>
        <p:spPr>
          <a:xfrm flipH="1">
            <a:off x="4859655" y="2607310"/>
            <a:ext cx="432435" cy="24511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3" name="直接箭头连接符 82"/>
          <p:cNvCxnSpPr/>
          <p:nvPr/>
        </p:nvCxnSpPr>
        <p:spPr>
          <a:xfrm>
            <a:off x="4775200" y="3423920"/>
            <a:ext cx="485140" cy="273685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4" name="直接箭头连接符 83"/>
          <p:cNvCxnSpPr/>
          <p:nvPr/>
        </p:nvCxnSpPr>
        <p:spPr>
          <a:xfrm flipH="1">
            <a:off x="5022215" y="4220845"/>
            <a:ext cx="413385" cy="20066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5" name="直接箭头连接符 84"/>
          <p:cNvCxnSpPr/>
          <p:nvPr/>
        </p:nvCxnSpPr>
        <p:spPr>
          <a:xfrm flipH="1">
            <a:off x="3928745" y="1932940"/>
            <a:ext cx="482600" cy="201295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7030A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7" name="直接箭头连接符 86"/>
          <p:cNvCxnSpPr/>
          <p:nvPr/>
        </p:nvCxnSpPr>
        <p:spPr>
          <a:xfrm flipH="1">
            <a:off x="3203575" y="2636520"/>
            <a:ext cx="504190" cy="28829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7030A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8" name="直接箭头连接符 87"/>
          <p:cNvCxnSpPr/>
          <p:nvPr/>
        </p:nvCxnSpPr>
        <p:spPr>
          <a:xfrm>
            <a:off x="3203575" y="3429000"/>
            <a:ext cx="648335" cy="287655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7030A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9" name="直接箭头连接符 88"/>
          <p:cNvCxnSpPr/>
          <p:nvPr/>
        </p:nvCxnSpPr>
        <p:spPr>
          <a:xfrm flipH="1">
            <a:off x="3419475" y="4149090"/>
            <a:ext cx="432435" cy="21590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7030A0"/>
            </a:solidFill>
            <a:prstDash val="solid"/>
            <a:round/>
            <a:headEnd type="none" w="med" len="med"/>
            <a:tailEnd type="arrow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圆角矩形 26"/>
          <p:cNvSpPr/>
          <p:nvPr>
            <p:custDataLst>
              <p:tags r:id="rId1"/>
            </p:custDataLst>
          </p:nvPr>
        </p:nvSpPr>
        <p:spPr>
          <a:xfrm>
            <a:off x="3624580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3802380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6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" name="圆角矩形 4"/>
          <p:cNvSpPr/>
          <p:nvPr/>
        </p:nvSpPr>
        <p:spPr>
          <a:xfrm>
            <a:off x="3491865" y="22040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5089525" y="22040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" name="圆角矩形 11"/>
          <p:cNvSpPr/>
          <p:nvPr>
            <p:custDataLst>
              <p:tags r:id="rId2"/>
            </p:custDataLst>
          </p:nvPr>
        </p:nvSpPr>
        <p:spPr>
          <a:xfrm>
            <a:off x="2771775" y="29787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4" name="圆角矩形 13"/>
          <p:cNvSpPr/>
          <p:nvPr>
            <p:custDataLst>
              <p:tags r:id="rId3"/>
            </p:custDataLst>
          </p:nvPr>
        </p:nvSpPr>
        <p:spPr>
          <a:xfrm>
            <a:off x="4348480" y="29787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6" name="圆角矩形 15"/>
          <p:cNvSpPr/>
          <p:nvPr>
            <p:custDataLst>
              <p:tags r:id="rId4"/>
            </p:custDataLst>
          </p:nvPr>
        </p:nvSpPr>
        <p:spPr>
          <a:xfrm>
            <a:off x="5796280" y="29787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8" name="圆角矩形 17"/>
          <p:cNvSpPr/>
          <p:nvPr>
            <p:custDataLst>
              <p:tags r:id="rId5"/>
            </p:custDataLst>
          </p:nvPr>
        </p:nvSpPr>
        <p:spPr>
          <a:xfrm>
            <a:off x="2051685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21" name="直接连接符 20"/>
          <p:cNvCxnSpPr>
            <a:stCxn id="7" idx="2"/>
            <a:endCxn id="5" idx="0"/>
          </p:cNvCxnSpPr>
          <p:nvPr/>
        </p:nvCxnSpPr>
        <p:spPr>
          <a:xfrm flipH="1">
            <a:off x="3920490" y="1918970"/>
            <a:ext cx="792480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stCxn id="7" idx="2"/>
            <a:endCxn id="9" idx="0"/>
          </p:cNvCxnSpPr>
          <p:nvPr/>
        </p:nvCxnSpPr>
        <p:spPr>
          <a:xfrm>
            <a:off x="4712970" y="1918970"/>
            <a:ext cx="805180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stCxn id="9" idx="2"/>
            <a:endCxn id="14" idx="0"/>
          </p:cNvCxnSpPr>
          <p:nvPr>
            <p:custDataLst>
              <p:tags r:id="rId6"/>
            </p:custDataLst>
          </p:nvPr>
        </p:nvCxnSpPr>
        <p:spPr>
          <a:xfrm flipH="1">
            <a:off x="4777105" y="2592070"/>
            <a:ext cx="74104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stCxn id="5" idx="2"/>
            <a:endCxn id="14" idx="0"/>
          </p:cNvCxnSpPr>
          <p:nvPr>
            <p:custDataLst>
              <p:tags r:id="rId7"/>
            </p:custDataLst>
          </p:nvPr>
        </p:nvCxnSpPr>
        <p:spPr>
          <a:xfrm>
            <a:off x="3920490" y="2592070"/>
            <a:ext cx="85661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stCxn id="14" idx="2"/>
            <a:endCxn id="27" idx="0"/>
          </p:cNvCxnSpPr>
          <p:nvPr>
            <p:custDataLst>
              <p:tags r:id="rId8"/>
            </p:custDataLst>
          </p:nvPr>
        </p:nvCxnSpPr>
        <p:spPr>
          <a:xfrm flipH="1">
            <a:off x="4053205" y="3366770"/>
            <a:ext cx="72390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" name="直接连接符 30"/>
          <p:cNvCxnSpPr>
            <a:stCxn id="5" idx="2"/>
            <a:endCxn id="12" idx="0"/>
          </p:cNvCxnSpPr>
          <p:nvPr>
            <p:custDataLst>
              <p:tags r:id="rId9"/>
            </p:custDataLst>
          </p:nvPr>
        </p:nvCxnSpPr>
        <p:spPr>
          <a:xfrm flipH="1">
            <a:off x="3200400" y="2592070"/>
            <a:ext cx="72009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stCxn id="9" idx="2"/>
            <a:endCxn id="16" idx="0"/>
          </p:cNvCxnSpPr>
          <p:nvPr>
            <p:custDataLst>
              <p:tags r:id="rId10"/>
            </p:custDataLst>
          </p:nvPr>
        </p:nvCxnSpPr>
        <p:spPr>
          <a:xfrm>
            <a:off x="5518150" y="2592070"/>
            <a:ext cx="70675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圆角矩形 6"/>
          <p:cNvSpPr/>
          <p:nvPr/>
        </p:nvSpPr>
        <p:spPr>
          <a:xfrm>
            <a:off x="4284345" y="15309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圆角矩形 27"/>
          <p:cNvSpPr/>
          <p:nvPr>
            <p:custDataLst>
              <p:tags r:id="rId11"/>
            </p:custDataLst>
          </p:nvPr>
        </p:nvSpPr>
        <p:spPr>
          <a:xfrm>
            <a:off x="5041900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3" name="圆角矩形 32"/>
          <p:cNvSpPr/>
          <p:nvPr>
            <p:custDataLst>
              <p:tags r:id="rId12"/>
            </p:custDataLst>
          </p:nvPr>
        </p:nvSpPr>
        <p:spPr>
          <a:xfrm>
            <a:off x="6516370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38" name="直接连接符 37"/>
          <p:cNvCxnSpPr>
            <a:stCxn id="12" idx="2"/>
            <a:endCxn id="18" idx="0"/>
          </p:cNvCxnSpPr>
          <p:nvPr>
            <p:custDataLst>
              <p:tags r:id="rId13"/>
            </p:custDataLst>
          </p:nvPr>
        </p:nvCxnSpPr>
        <p:spPr>
          <a:xfrm flipH="1">
            <a:off x="2480310" y="3366770"/>
            <a:ext cx="72009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" name="直接连接符 38"/>
          <p:cNvCxnSpPr>
            <a:stCxn id="12" idx="2"/>
            <a:endCxn id="27" idx="0"/>
          </p:cNvCxnSpPr>
          <p:nvPr>
            <p:custDataLst>
              <p:tags r:id="rId14"/>
            </p:custDataLst>
          </p:nvPr>
        </p:nvCxnSpPr>
        <p:spPr>
          <a:xfrm>
            <a:off x="3200400" y="3366770"/>
            <a:ext cx="85280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" name="直接连接符 48"/>
          <p:cNvCxnSpPr>
            <a:stCxn id="14" idx="2"/>
            <a:endCxn id="28" idx="0"/>
          </p:cNvCxnSpPr>
          <p:nvPr>
            <p:custDataLst>
              <p:tags r:id="rId15"/>
            </p:custDataLst>
          </p:nvPr>
        </p:nvCxnSpPr>
        <p:spPr>
          <a:xfrm>
            <a:off x="4777105" y="3366770"/>
            <a:ext cx="69342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" name="直接连接符 50"/>
          <p:cNvCxnSpPr>
            <a:stCxn id="16" idx="2"/>
            <a:endCxn id="28" idx="0"/>
          </p:cNvCxnSpPr>
          <p:nvPr>
            <p:custDataLst>
              <p:tags r:id="rId16"/>
            </p:custDataLst>
          </p:nvPr>
        </p:nvCxnSpPr>
        <p:spPr>
          <a:xfrm flipH="1">
            <a:off x="5470525" y="3366770"/>
            <a:ext cx="75438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" name="直接连接符 51"/>
          <p:cNvCxnSpPr>
            <a:stCxn id="16" idx="2"/>
            <a:endCxn id="33" idx="0"/>
          </p:cNvCxnSpPr>
          <p:nvPr>
            <p:custDataLst>
              <p:tags r:id="rId17"/>
            </p:custDataLst>
          </p:nvPr>
        </p:nvCxnSpPr>
        <p:spPr>
          <a:xfrm>
            <a:off x="6224905" y="3366770"/>
            <a:ext cx="72009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文本框 12"/>
          <p:cNvSpPr txBox="1"/>
          <p:nvPr/>
        </p:nvSpPr>
        <p:spPr>
          <a:xfrm>
            <a:off x="4580255" y="155829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3771900" y="22498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6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5292090" y="22498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9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5" name="文本框 54"/>
          <p:cNvSpPr txBox="1"/>
          <p:nvPr/>
        </p:nvSpPr>
        <p:spPr>
          <a:xfrm>
            <a:off x="2987675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8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4563110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6012180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2195830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4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5259070" y="37858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7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6689725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3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2" name="圆角矩形 61"/>
          <p:cNvSpPr/>
          <p:nvPr>
            <p:custDataLst>
              <p:tags r:id="rId18"/>
            </p:custDataLst>
          </p:nvPr>
        </p:nvSpPr>
        <p:spPr>
          <a:xfrm>
            <a:off x="1372870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3" name="圆角矩形 62"/>
          <p:cNvSpPr/>
          <p:nvPr>
            <p:custDataLst>
              <p:tags r:id="rId19"/>
            </p:custDataLst>
          </p:nvPr>
        </p:nvSpPr>
        <p:spPr>
          <a:xfrm>
            <a:off x="2945765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4" name="圆角矩形 63"/>
          <p:cNvSpPr/>
          <p:nvPr>
            <p:custDataLst>
              <p:tags r:id="rId20"/>
            </p:custDataLst>
          </p:nvPr>
        </p:nvSpPr>
        <p:spPr>
          <a:xfrm>
            <a:off x="4363085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5" name="圆角矩形 64"/>
          <p:cNvSpPr/>
          <p:nvPr>
            <p:custDataLst>
              <p:tags r:id="rId21"/>
            </p:custDataLst>
          </p:nvPr>
        </p:nvSpPr>
        <p:spPr>
          <a:xfrm>
            <a:off x="5837555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1517015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6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3093085" y="451231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8" name="文本框 67"/>
          <p:cNvSpPr txBox="1"/>
          <p:nvPr/>
        </p:nvSpPr>
        <p:spPr>
          <a:xfrm>
            <a:off x="4580255" y="450913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9" name="文本框 68"/>
          <p:cNvSpPr txBox="1"/>
          <p:nvPr/>
        </p:nvSpPr>
        <p:spPr>
          <a:xfrm>
            <a:off x="6010910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70" name="圆角矩形 69"/>
          <p:cNvSpPr/>
          <p:nvPr>
            <p:custDataLst>
              <p:tags r:id="rId22"/>
            </p:custDataLst>
          </p:nvPr>
        </p:nvSpPr>
        <p:spPr>
          <a:xfrm>
            <a:off x="7595870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71" name="直接连接符 70"/>
          <p:cNvCxnSpPr>
            <a:stCxn id="18" idx="2"/>
            <a:endCxn id="62" idx="0"/>
          </p:cNvCxnSpPr>
          <p:nvPr>
            <p:custDataLst>
              <p:tags r:id="rId23"/>
            </p:custDataLst>
          </p:nvPr>
        </p:nvCxnSpPr>
        <p:spPr>
          <a:xfrm flipH="1">
            <a:off x="1801495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" name="直接连接符 71"/>
          <p:cNvCxnSpPr>
            <a:stCxn id="18" idx="2"/>
            <a:endCxn id="63" idx="0"/>
          </p:cNvCxnSpPr>
          <p:nvPr>
            <p:custDataLst>
              <p:tags r:id="rId24"/>
            </p:custDataLst>
          </p:nvPr>
        </p:nvCxnSpPr>
        <p:spPr>
          <a:xfrm>
            <a:off x="2480310" y="4141470"/>
            <a:ext cx="894080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3" name="直接连接符 72"/>
          <p:cNvCxnSpPr>
            <a:stCxn id="27" idx="2"/>
            <a:endCxn id="63" idx="0"/>
          </p:cNvCxnSpPr>
          <p:nvPr>
            <p:custDataLst>
              <p:tags r:id="rId25"/>
            </p:custDataLst>
          </p:nvPr>
        </p:nvCxnSpPr>
        <p:spPr>
          <a:xfrm flipH="1">
            <a:off x="3374390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" name="直接连接符 73"/>
          <p:cNvCxnSpPr>
            <a:stCxn id="27" idx="2"/>
            <a:endCxn id="64" idx="0"/>
          </p:cNvCxnSpPr>
          <p:nvPr>
            <p:custDataLst>
              <p:tags r:id="rId26"/>
            </p:custDataLst>
          </p:nvPr>
        </p:nvCxnSpPr>
        <p:spPr>
          <a:xfrm>
            <a:off x="4053205" y="4141470"/>
            <a:ext cx="73850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5" name="直接连接符 74"/>
          <p:cNvCxnSpPr>
            <a:stCxn id="28" idx="2"/>
            <a:endCxn id="64" idx="0"/>
          </p:cNvCxnSpPr>
          <p:nvPr>
            <p:custDataLst>
              <p:tags r:id="rId27"/>
            </p:custDataLst>
          </p:nvPr>
        </p:nvCxnSpPr>
        <p:spPr>
          <a:xfrm flipH="1">
            <a:off x="4791710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" name="直接连接符 75"/>
          <p:cNvCxnSpPr>
            <a:stCxn id="28" idx="2"/>
            <a:endCxn id="65" idx="0"/>
          </p:cNvCxnSpPr>
          <p:nvPr>
            <p:custDataLst>
              <p:tags r:id="rId28"/>
            </p:custDataLst>
          </p:nvPr>
        </p:nvCxnSpPr>
        <p:spPr>
          <a:xfrm>
            <a:off x="5470525" y="4141470"/>
            <a:ext cx="79565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7" name="直接连接符 76"/>
          <p:cNvCxnSpPr>
            <a:stCxn id="33" idx="2"/>
            <a:endCxn id="65" idx="0"/>
          </p:cNvCxnSpPr>
          <p:nvPr>
            <p:custDataLst>
              <p:tags r:id="rId29"/>
            </p:custDataLst>
          </p:nvPr>
        </p:nvCxnSpPr>
        <p:spPr>
          <a:xfrm flipH="1">
            <a:off x="6266180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" name="直接连接符 77"/>
          <p:cNvCxnSpPr>
            <a:stCxn id="33" idx="2"/>
            <a:endCxn id="70" idx="0"/>
          </p:cNvCxnSpPr>
          <p:nvPr>
            <p:custDataLst>
              <p:tags r:id="rId30"/>
            </p:custDataLst>
          </p:nvPr>
        </p:nvCxnSpPr>
        <p:spPr>
          <a:xfrm>
            <a:off x="6944995" y="4141470"/>
            <a:ext cx="1079500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" name="文本框 78"/>
          <p:cNvSpPr txBox="1"/>
          <p:nvPr/>
        </p:nvSpPr>
        <p:spPr>
          <a:xfrm>
            <a:off x="7740015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07950" y="836295"/>
            <a:ext cx="8398510" cy="4292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如何利用动态规划的思想：首先将问题拆分成各个阶段的小问题。</a:t>
            </a:r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4960" y="4139565"/>
            <a:ext cx="8648700" cy="1133475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98475" y="3362960"/>
            <a:ext cx="8648700" cy="113347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24485" y="2592070"/>
            <a:ext cx="8648700" cy="113347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323215" y="5372735"/>
            <a:ext cx="8398510" cy="7632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当将问题拆分到最后一个阶段，则可以直接获得到当前阶段的最大路径。当</a:t>
            </a:r>
            <a:r>
              <a:rPr lang="zh-CN" altLang="en-US">
                <a:solidFill>
                  <a:srgbClr val="FF0000"/>
                </a:solidFill>
              </a:rPr>
              <a:t>子问题考虑完所有情况</a:t>
            </a:r>
            <a:r>
              <a:rPr lang="zh-CN" altLang="en-US"/>
              <a:t>之后，选择最优的保存。</a:t>
            </a:r>
            <a:endParaRPr lang="zh-CN" altLang="en-US"/>
          </a:p>
          <a:p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3774440" y="22498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8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5259070" y="22498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11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945765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16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481195" y="302958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13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5970905" y="302958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11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2124075" y="386080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20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3771900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22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5205095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20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6652895" y="37858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14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1475740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26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060065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27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4563110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24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5946140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21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7740015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19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314960" y="6236970"/>
            <a:ext cx="7880350" cy="3702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>
                <a:sym typeface="+mn-ea"/>
              </a:rPr>
              <a:t>该问题的最优解通过每一步的最优解组合获得，说明具有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最优子结构</a:t>
            </a:r>
            <a:r>
              <a:rPr lang="zh-CN" altLang="en-US">
                <a:sym typeface="+mn-ea"/>
              </a:rPr>
              <a:t>。</a:t>
            </a:r>
            <a:endParaRPr lang="zh-CN" altLang="en-US">
              <a:sym typeface="+mn-ea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219710" y="1558290"/>
            <a:ext cx="2382520" cy="8121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  <a:sym typeface="+mn-ea"/>
              </a:rPr>
              <a:t>那么同学们这个问题的状态转移方程和状态表能找出来吗？</a:t>
            </a:r>
            <a:endParaRPr lang="zh-CN" altLang="en-US">
              <a:solidFill>
                <a:srgbClr val="FF0000"/>
              </a:solidFill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37" grpId="1"/>
      <p:bldP spid="53" grpId="0"/>
      <p:bldP spid="53" grpId="1"/>
      <p:bldP spid="55" grpId="0"/>
      <p:bldP spid="56" grpId="0"/>
      <p:bldP spid="57" grpId="0"/>
      <p:bldP spid="58" grpId="0"/>
      <p:bldP spid="60" grpId="0"/>
      <p:bldP spid="60" grpId="1"/>
      <p:bldP spid="61" grpId="0"/>
      <p:bldP spid="61" grpId="1"/>
      <p:bldP spid="66" grpId="0"/>
      <p:bldP spid="66" grpId="1"/>
      <p:bldP spid="67" grpId="0"/>
      <p:bldP spid="68" grpId="0"/>
      <p:bldP spid="68" grpId="1"/>
      <p:bldP spid="69" grpId="0"/>
      <p:bldP spid="69" grpId="1"/>
      <p:bldP spid="79" grpId="0"/>
      <p:bldP spid="79" grpId="1"/>
      <p:bldP spid="6" grpId="0"/>
      <p:bldP spid="6" grpId="1"/>
      <p:bldP spid="8" grpId="0"/>
      <p:bldP spid="8" grpId="1"/>
      <p:bldP spid="10" grpId="0"/>
      <p:bldP spid="10" grpId="1"/>
      <p:bldP spid="15" grpId="0"/>
      <p:bldP spid="17" grpId="0"/>
      <p:bldP spid="19" grpId="0"/>
      <p:bldP spid="20" grpId="0"/>
      <p:bldP spid="29" grpId="0"/>
      <p:bldP spid="34" grpId="0"/>
      <p:bldP spid="40" grpId="0"/>
      <p:bldP spid="40" grpId="1"/>
      <p:bldP spid="41" grpId="1"/>
      <p:bldP spid="42" grpId="0"/>
      <p:bldP spid="43" grpId="0"/>
      <p:bldP spid="43" grpId="1"/>
      <p:bldP spid="44" grpId="0"/>
      <p:bldP spid="44" grpId="1"/>
      <p:bldP spid="45" grpId="0"/>
      <p:bldP spid="45" grpId="1"/>
      <p:bldP spid="23" grpId="0"/>
      <p:bldP spid="23" grpId="1"/>
      <p:bldP spid="30" grpId="0"/>
      <p:bldP spid="30" grpId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275590" y="879475"/>
            <a:ext cx="22085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树塔的算法实现：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1439545" y="1701165"/>
            <a:ext cx="6264910" cy="37465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def tower_math(tower:list)-&gt;int: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res = tower[:]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range(1,len(tower)):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for j in range(len(tower[i])):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找到两个方向的路劲，要判断是否只有一条路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if j == 0: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res[i][j] = tower[i][j]+res[i-1][j]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elif j == len(tower[i])-1: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res[i][j]=tower[i][j]+res[i-1][j-1]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else: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res[i][j] = tower[i][j]+max(res[i-1][j],res[i-1][j-1])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return 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max(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  <a:sym typeface="+mn-ea"/>
              </a:rPr>
              <a:t>res[-1]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)</a:t>
            </a:r>
            <a:endParaRPr lang="en-US" altLang="zh-CN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/>
          </a:p>
        </p:txBody>
      </p:sp>
      <p:sp>
        <p:nvSpPr>
          <p:cNvPr id="5" name="文本框 4"/>
          <p:cNvSpPr txBox="1"/>
          <p:nvPr>
            <p:custDataLst>
              <p:tags r:id="rId1"/>
            </p:custDataLst>
          </p:nvPr>
        </p:nvSpPr>
        <p:spPr>
          <a:xfrm>
            <a:off x="275590" y="1083945"/>
            <a:ext cx="3086100" cy="4546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动态规划与分治法类比：</a:t>
            </a:r>
            <a:endParaRPr lang="zh-CN" altLang="en-US"/>
          </a:p>
        </p:txBody>
      </p:sp>
      <p:graphicFrame>
        <p:nvGraphicFramePr>
          <p:cNvPr id="2" name="表格 1"/>
          <p:cNvGraphicFramePr/>
          <p:nvPr/>
        </p:nvGraphicFramePr>
        <p:xfrm>
          <a:off x="899160" y="1689100"/>
          <a:ext cx="6929755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1840"/>
                <a:gridCol w="2774738"/>
                <a:gridCol w="2133177"/>
              </a:tblGrid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动态规划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分治法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子问题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子问题重叠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子问题独立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子问题处理方式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存储子问题（状态表中）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独立递归处理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处理顺序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自底向上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递归分治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3" name="文本框 2"/>
          <p:cNvSpPr txBox="1"/>
          <p:nvPr>
            <p:custDataLst>
              <p:tags r:id="rId2"/>
            </p:custDataLst>
          </p:nvPr>
        </p:nvSpPr>
        <p:spPr>
          <a:xfrm>
            <a:off x="251460" y="3345180"/>
            <a:ext cx="7593330" cy="9118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动态规划与分治法雷同处：</a:t>
            </a:r>
            <a:endParaRPr lang="zh-CN" altLang="en-US"/>
          </a:p>
          <a:p>
            <a:r>
              <a:rPr lang="en-US" altLang="zh-CN"/>
              <a:t>        </a:t>
            </a:r>
            <a:r>
              <a:rPr lang="zh-CN" altLang="en-US"/>
              <a:t>均需要找递推方程（动态规划状态转移方程），需要递归出口（动态规划状态表边界）均需要将大问题拆分成子问题。</a:t>
            </a:r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323215" y="4580890"/>
            <a:ext cx="7593330" cy="9118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动态规划与贪心法完全不同：</a:t>
            </a:r>
            <a:endParaRPr lang="zh-CN" altLang="en-US"/>
          </a:p>
          <a:p>
            <a:r>
              <a:rPr lang="en-US" altLang="zh-CN"/>
              <a:t>        </a:t>
            </a:r>
            <a:r>
              <a:rPr lang="zh-CN" altLang="en-US"/>
              <a:t>动态规划能够得出最优解，是因为动态规划解决问题时候已经筛选所有子问题的最优解，也就是最优子结构。</a:t>
            </a:r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179705" y="764540"/>
            <a:ext cx="3679190" cy="44704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动态规划基本步骤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67995" y="1412875"/>
            <a:ext cx="6981825" cy="16884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本小节学习目标：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①确定状态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②找到状态转移方程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③确定边界，然后自底向上迭代。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④更新状态，获取结果。</a:t>
            </a:r>
            <a:endParaRPr lang="zh-CN" altLang="en-US">
              <a:solidFill>
                <a:srgbClr val="FF0000"/>
              </a:solidFill>
            </a:endParaRPr>
          </a:p>
          <a:p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67995" y="3101340"/>
            <a:ext cx="8409940" cy="902970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indent="0"/>
            <a:r>
              <a:rPr lang="zh-CN" altLang="en-US" sz="1600" b="0" i="0">
                <a:solidFill>
                  <a:srgbClr val="262626"/>
                </a:solidFill>
                <a:latin typeface="-apple-system"/>
                <a:ea typeface="-apple-system"/>
              </a:rPr>
              <a:t>问题：</a:t>
            </a:r>
            <a:r>
              <a:rPr lang="zh-CN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青蛙跳台阶问题是指一只青蛙可以一次跳一个台阶或者两个台阶，问当青蛙跳上第</a:t>
            </a:r>
            <a:r>
              <a:rPr lang="en-US" altLang="zh-CN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n</a:t>
            </a:r>
            <a:r>
              <a:rPr lang="zh-CN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个台阶的时候，可以有多少种跳法？</a:t>
            </a:r>
            <a:endParaRPr lang="zh-CN" altLang="en-US" sz="1600" b="0" i="0">
              <a:solidFill>
                <a:srgbClr val="262626"/>
              </a:solidFill>
              <a:latin typeface="Times New Roman" panose="02020603050405020304" pitchFamily="18" charset="0"/>
              <a:ea typeface="-apple-system"/>
              <a:cs typeface="Times New Roman" panose="02020603050405020304" pitchFamily="18" charset="0"/>
            </a:endParaRPr>
          </a:p>
        </p:txBody>
      </p:sp>
      <p:sp>
        <p:nvSpPr>
          <p:cNvPr id="4" name="圆角矩形 3"/>
          <p:cNvSpPr/>
          <p:nvPr/>
        </p:nvSpPr>
        <p:spPr>
          <a:xfrm>
            <a:off x="2124075" y="414909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21" name="直接连接符 20"/>
          <p:cNvCxnSpPr>
            <a:stCxn id="4" idx="2"/>
            <a:endCxn id="11" idx="0"/>
          </p:cNvCxnSpPr>
          <p:nvPr/>
        </p:nvCxnSpPr>
        <p:spPr>
          <a:xfrm flipH="1">
            <a:off x="1854200" y="4471035"/>
            <a:ext cx="514985" cy="1822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stCxn id="4" idx="2"/>
            <a:endCxn id="19" idx="0"/>
          </p:cNvCxnSpPr>
          <p:nvPr/>
        </p:nvCxnSpPr>
        <p:spPr>
          <a:xfrm>
            <a:off x="2369185" y="4471035"/>
            <a:ext cx="703580" cy="1822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" name="直接连接符 22"/>
          <p:cNvCxnSpPr>
            <a:stCxn id="11" idx="2"/>
            <a:endCxn id="20" idx="0"/>
          </p:cNvCxnSpPr>
          <p:nvPr/>
        </p:nvCxnSpPr>
        <p:spPr>
          <a:xfrm flipH="1">
            <a:off x="1062355" y="4975225"/>
            <a:ext cx="791845" cy="2844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stCxn id="11" idx="2"/>
            <a:endCxn id="27" idx="0"/>
          </p:cNvCxnSpPr>
          <p:nvPr/>
        </p:nvCxnSpPr>
        <p:spPr>
          <a:xfrm>
            <a:off x="1854200" y="4975225"/>
            <a:ext cx="288290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stCxn id="19" idx="2"/>
            <a:endCxn id="28" idx="0"/>
          </p:cNvCxnSpPr>
          <p:nvPr/>
        </p:nvCxnSpPr>
        <p:spPr>
          <a:xfrm flipH="1">
            <a:off x="2862580" y="4975225"/>
            <a:ext cx="210185" cy="2901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stCxn id="19" idx="2"/>
            <a:endCxn id="35" idx="0"/>
          </p:cNvCxnSpPr>
          <p:nvPr/>
        </p:nvCxnSpPr>
        <p:spPr>
          <a:xfrm>
            <a:off x="3072765" y="4975225"/>
            <a:ext cx="654050" cy="2901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" name="直接连接符 30"/>
          <p:cNvCxnSpPr>
            <a:stCxn id="20" idx="2"/>
            <a:endCxn id="34" idx="0"/>
          </p:cNvCxnSpPr>
          <p:nvPr/>
        </p:nvCxnSpPr>
        <p:spPr>
          <a:xfrm flipH="1">
            <a:off x="630555" y="5581650"/>
            <a:ext cx="431800" cy="3676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stCxn id="20" idx="2"/>
            <a:endCxn id="33" idx="0"/>
          </p:cNvCxnSpPr>
          <p:nvPr/>
        </p:nvCxnSpPr>
        <p:spPr>
          <a:xfrm>
            <a:off x="1062355" y="5581650"/>
            <a:ext cx="431800" cy="3676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圆角矩形 10"/>
          <p:cNvSpPr/>
          <p:nvPr/>
        </p:nvSpPr>
        <p:spPr>
          <a:xfrm>
            <a:off x="1609090" y="465328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2827655" y="465328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0" name="圆角矩形 19"/>
          <p:cNvSpPr/>
          <p:nvPr/>
        </p:nvSpPr>
        <p:spPr>
          <a:xfrm>
            <a:off x="817245" y="525970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7" name="圆角矩形 26"/>
          <p:cNvSpPr/>
          <p:nvPr/>
        </p:nvSpPr>
        <p:spPr>
          <a:xfrm>
            <a:off x="1897380" y="526034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2617470" y="526542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3" name="圆角矩形 32"/>
          <p:cNvSpPr/>
          <p:nvPr/>
        </p:nvSpPr>
        <p:spPr>
          <a:xfrm>
            <a:off x="1249045" y="594931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385445" y="594931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3481705" y="526542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2208530" y="4149090"/>
            <a:ext cx="321310" cy="3168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1619885" y="4653280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2827655" y="4662170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827405" y="526859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897380" y="525970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n-3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2627630" y="527494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n-3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491865" y="527494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n-4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395605" y="5958840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n-3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1259840" y="5958840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n-4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文本框 70"/>
          <p:cNvSpPr txBox="1"/>
          <p:nvPr/>
        </p:nvSpPr>
        <p:spPr>
          <a:xfrm>
            <a:off x="4716145" y="3933190"/>
            <a:ext cx="39490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S(n) = S(n-1)+S(n-2)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3915410" y="4653280"/>
            <a:ext cx="50438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状态转移方程只有一个变量，用一维表表示状态</a:t>
            </a:r>
            <a:endParaRPr lang="zh-CN" altLang="en-US"/>
          </a:p>
        </p:txBody>
      </p:sp>
      <p:cxnSp>
        <p:nvCxnSpPr>
          <p:cNvPr id="73" name="直接箭头连接符 72"/>
          <p:cNvCxnSpPr/>
          <p:nvPr/>
        </p:nvCxnSpPr>
        <p:spPr>
          <a:xfrm flipV="1">
            <a:off x="5697855" y="4221480"/>
            <a:ext cx="26035" cy="42037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74" name="表格 73"/>
          <p:cNvGraphicFramePr/>
          <p:nvPr/>
        </p:nvGraphicFramePr>
        <p:xfrm>
          <a:off x="4211955" y="5563235"/>
          <a:ext cx="6400165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0565"/>
                <a:gridCol w="710565"/>
                <a:gridCol w="710565"/>
                <a:gridCol w="710565"/>
                <a:gridCol w="710565"/>
                <a:gridCol w="710565"/>
              </a:tblGrid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b="0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 b="0">
                        <a:ln>
                          <a:noFill/>
                        </a:ln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b="0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 b="0">
                        <a:ln>
                          <a:noFill/>
                        </a:ln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 b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 b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5" name="文本框 74"/>
          <p:cNvSpPr txBox="1"/>
          <p:nvPr/>
        </p:nvSpPr>
        <p:spPr>
          <a:xfrm>
            <a:off x="5701030" y="5567680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76" name="上弧形箭头 75"/>
          <p:cNvSpPr/>
          <p:nvPr/>
        </p:nvSpPr>
        <p:spPr>
          <a:xfrm>
            <a:off x="4378325" y="5333365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7" name="上弧形箭头 76"/>
          <p:cNvSpPr/>
          <p:nvPr/>
        </p:nvSpPr>
        <p:spPr>
          <a:xfrm flipV="1">
            <a:off x="5033645" y="5950585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8" name="上弧形箭头 77"/>
          <p:cNvSpPr/>
          <p:nvPr/>
        </p:nvSpPr>
        <p:spPr>
          <a:xfrm>
            <a:off x="5147945" y="5340985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9" name="上弧形箭头 78"/>
          <p:cNvSpPr/>
          <p:nvPr/>
        </p:nvSpPr>
        <p:spPr>
          <a:xfrm flipV="1">
            <a:off x="5803265" y="5958205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6443980" y="5567680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3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1" name="上弧形箭头 80"/>
          <p:cNvSpPr/>
          <p:nvPr/>
        </p:nvSpPr>
        <p:spPr>
          <a:xfrm>
            <a:off x="5868035" y="5336540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2" name="上弧形箭头 81"/>
          <p:cNvSpPr/>
          <p:nvPr/>
        </p:nvSpPr>
        <p:spPr>
          <a:xfrm flipV="1">
            <a:off x="6523355" y="5953760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3" name="文本框 82"/>
          <p:cNvSpPr txBox="1"/>
          <p:nvPr/>
        </p:nvSpPr>
        <p:spPr>
          <a:xfrm>
            <a:off x="7164070" y="5563235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4" name="上弧形箭头 83"/>
          <p:cNvSpPr/>
          <p:nvPr/>
        </p:nvSpPr>
        <p:spPr>
          <a:xfrm>
            <a:off x="6588125" y="5322570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5" name="上弧形箭头 84"/>
          <p:cNvSpPr/>
          <p:nvPr/>
        </p:nvSpPr>
        <p:spPr>
          <a:xfrm flipV="1">
            <a:off x="7243445" y="5939790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6" name="文本框 85"/>
          <p:cNvSpPr txBox="1"/>
          <p:nvPr/>
        </p:nvSpPr>
        <p:spPr>
          <a:xfrm>
            <a:off x="7884160" y="5549265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8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211955" y="6236970"/>
            <a:ext cx="419354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0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阶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        1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阶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        2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阶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      3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阶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      4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阶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      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阶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6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9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5" dur="2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8" dur="2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1" dur="2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4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7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0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3" dur="2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6" dur="2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9" dur="2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2" dur="2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5" dur="2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8" dur="2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1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4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7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0" dur="2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3" dur="2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6" dur="2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9" dur="2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82" dur="2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92" dur="10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94" dur="1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1000"/>
                            </p:stCondLst>
                            <p:childTnLst>
                              <p:par>
                                <p:cTn id="96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97" dur="10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99" dur="1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25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27" dur="1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1000"/>
                            </p:stCondLst>
                            <p:childTnLst>
                              <p:par>
                                <p:cTn id="129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30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32" dur="1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58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60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1000"/>
                            </p:stCondLst>
                            <p:childTnLst>
                              <p:par>
                                <p:cTn id="162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63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4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65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6" fill="hold">
                      <p:stCondLst>
                        <p:cond delay="indefinite"/>
                      </p:stCondLst>
                      <p:childTnLst>
                        <p:par>
                          <p:cTn id="177" fill="hold">
                            <p:stCondLst>
                              <p:cond delay="0"/>
                            </p:stCondLst>
                            <p:childTnLst>
                              <p:par>
                                <p:cTn id="178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8" fill="hold">
                      <p:stCondLst>
                        <p:cond delay="indefinite"/>
                      </p:stCondLst>
                      <p:childTnLst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id="190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91" dur="1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2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93" dur="10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4" fill="hold">
                            <p:stCondLst>
                              <p:cond delay="1000"/>
                            </p:stCondLst>
                            <p:childTnLst>
                              <p:par>
                                <p:cTn id="195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96" dur="1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98" dur="10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9" fill="hold">
                      <p:stCondLst>
                        <p:cond delay="indefinite"/>
                      </p:stCondLst>
                      <p:childTnLst>
                        <p:par>
                          <p:cTn id="200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>
                      <p:stCondLst>
                        <p:cond delay="indefinite"/>
                      </p:stCondLst>
                      <p:childTnLst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9" fill="hold">
                      <p:stCondLst>
                        <p:cond delay="indefinite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id="211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11" grpId="0" animBg="1"/>
      <p:bldP spid="11" grpId="1" animBg="1"/>
      <p:bldP spid="19" grpId="0" animBg="1"/>
      <p:bldP spid="19" grpId="1" animBg="1"/>
      <p:bldP spid="20" grpId="0" animBg="1"/>
      <p:bldP spid="20" grpId="1" animBg="1"/>
      <p:bldP spid="27" grpId="0" animBg="1"/>
      <p:bldP spid="27" grpId="1" animBg="1"/>
      <p:bldP spid="28" grpId="0" animBg="1"/>
      <p:bldP spid="28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/>
      <p:bldP spid="36" grpId="1"/>
      <p:bldP spid="37" grpId="0"/>
      <p:bldP spid="37" grpId="1"/>
      <p:bldP spid="38" grpId="0"/>
      <p:bldP spid="38" grpId="1"/>
      <p:bldP spid="39" grpId="0"/>
      <p:bldP spid="39" grpId="1"/>
      <p:bldP spid="40" grpId="0"/>
      <p:bldP spid="40" grpId="1"/>
      <p:bldP spid="41" grpId="0"/>
      <p:bldP spid="41" grpId="1"/>
      <p:bldP spid="42" grpId="0"/>
      <p:bldP spid="42" grpId="1"/>
      <p:bldP spid="43" grpId="0"/>
      <p:bldP spid="43" grpId="1"/>
      <p:bldP spid="44" grpId="0"/>
      <p:bldP spid="44" grpId="1"/>
      <p:bldP spid="75" grpId="0"/>
      <p:bldP spid="75" grpId="1"/>
      <p:bldP spid="76" grpId="0" bldLvl="0" animBg="1"/>
      <p:bldP spid="76" grpId="1" animBg="1"/>
      <p:bldP spid="76" grpId="2" bldLvl="0" animBg="1"/>
      <p:bldP spid="76" grpId="3" bldLvl="0" animBg="1"/>
      <p:bldP spid="76" grpId="4" bldLvl="0" animBg="1"/>
      <p:bldP spid="76" grpId="5" bldLvl="0" animBg="1"/>
      <p:bldP spid="77" grpId="0" bldLvl="0" animBg="1"/>
      <p:bldP spid="77" grpId="1" animBg="1"/>
      <p:bldP spid="77" grpId="2" bldLvl="0" animBg="1"/>
      <p:bldP spid="77" grpId="3" bldLvl="0" animBg="1"/>
      <p:bldP spid="77" grpId="4" bldLvl="0" animBg="1"/>
      <p:bldP spid="77" grpId="5" bldLvl="0" animBg="1"/>
      <p:bldP spid="78" grpId="0" bldLvl="0" animBg="1"/>
      <p:bldP spid="78" grpId="1" animBg="1"/>
      <p:bldP spid="78" grpId="2" bldLvl="0" animBg="1"/>
      <p:bldP spid="78" grpId="3" bldLvl="0" animBg="1"/>
      <p:bldP spid="78" grpId="4" bldLvl="0" animBg="1"/>
      <p:bldP spid="78" grpId="5" bldLvl="0" animBg="1"/>
      <p:bldP spid="79" grpId="0" bldLvl="0" animBg="1"/>
      <p:bldP spid="79" grpId="1" animBg="1"/>
      <p:bldP spid="79" grpId="2" bldLvl="0" animBg="1"/>
      <p:bldP spid="79" grpId="3" bldLvl="0" animBg="1"/>
      <p:bldP spid="79" grpId="4" bldLvl="0" animBg="1"/>
      <p:bldP spid="79" grpId="5" bldLvl="0" animBg="1"/>
      <p:bldP spid="80" grpId="0"/>
      <p:bldP spid="80" grpId="1"/>
      <p:bldP spid="81" grpId="0" bldLvl="0" animBg="1"/>
      <p:bldP spid="81" grpId="1" animBg="1"/>
      <p:bldP spid="81" grpId="2" bldLvl="0" animBg="1"/>
      <p:bldP spid="81" grpId="3" bldLvl="0" animBg="1"/>
      <p:bldP spid="81" grpId="4" bldLvl="0" animBg="1"/>
      <p:bldP spid="81" grpId="5" bldLvl="0" animBg="1"/>
      <p:bldP spid="82" grpId="0" bldLvl="0" animBg="1"/>
      <p:bldP spid="82" grpId="1" animBg="1"/>
      <p:bldP spid="82" grpId="2" bldLvl="0" animBg="1"/>
      <p:bldP spid="82" grpId="3" bldLvl="0" animBg="1"/>
      <p:bldP spid="82" grpId="4" bldLvl="0" animBg="1"/>
      <p:bldP spid="82" grpId="5" bldLvl="0" animBg="1"/>
      <p:bldP spid="83" grpId="0"/>
      <p:bldP spid="83" grpId="1"/>
      <p:bldP spid="84" grpId="0" bldLvl="0" animBg="1"/>
      <p:bldP spid="84" grpId="1" animBg="1"/>
      <p:bldP spid="84" grpId="2" bldLvl="0" animBg="1"/>
      <p:bldP spid="84" grpId="3" bldLvl="0" animBg="1"/>
      <p:bldP spid="84" grpId="4" bldLvl="0" animBg="1"/>
      <p:bldP spid="84" grpId="5" bldLvl="0" animBg="1"/>
      <p:bldP spid="85" grpId="0" bldLvl="0" animBg="1"/>
      <p:bldP spid="85" grpId="1" animBg="1"/>
      <p:bldP spid="85" grpId="2" bldLvl="0" animBg="1"/>
      <p:bldP spid="85" grpId="3" bldLvl="0" animBg="1"/>
      <p:bldP spid="85" grpId="4" bldLvl="0" animBg="1"/>
      <p:bldP spid="85" grpId="5" bldLvl="0" animBg="1"/>
      <p:bldP spid="86" grpId="0"/>
      <p:bldP spid="86" grpId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179705" y="764540"/>
            <a:ext cx="3679190" cy="44704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5.1.2 </a:t>
            </a:r>
            <a:r>
              <a:rPr lang="zh-CN" altLang="en-US" sz="2400" b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动态规划基本步骤</a:t>
            </a:r>
            <a:endParaRPr lang="zh-CN" altLang="en-US" sz="2400" b="1" kern="0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67995" y="1513205"/>
            <a:ext cx="8458200" cy="608965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indent="0"/>
            <a:r>
              <a:rPr lang="zh-CN" altLang="en-US" sz="1600" b="0" i="0">
                <a:solidFill>
                  <a:srgbClr val="262626"/>
                </a:solidFill>
                <a:latin typeface="-apple-system"/>
                <a:ea typeface="-apple-system"/>
              </a:rPr>
              <a:t>问题：</a:t>
            </a:r>
            <a:r>
              <a:rPr lang="zh-CN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现在青蛙位于一个</a:t>
            </a:r>
            <a:r>
              <a:rPr lang="en-US" altLang="zh-CN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m</a:t>
            </a:r>
            <a:r>
              <a:rPr lang="en-US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×</a:t>
            </a:r>
            <a:r>
              <a:rPr lang="en-US" altLang="zh-CN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n</a:t>
            </a:r>
            <a:r>
              <a:rPr lang="zh-CN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的网格左上角，青蛙每次只能向下或者向右移动一步。青蛙试图到达网格右下角。问总共由多少条不同的路径到达终点？</a:t>
            </a:r>
            <a:endParaRPr lang="zh-CN" altLang="en-US" sz="1600" b="0" i="0">
              <a:solidFill>
                <a:srgbClr val="262626"/>
              </a:solidFill>
              <a:latin typeface="Times New Roman" panose="02020603050405020304" pitchFamily="18" charset="0"/>
              <a:ea typeface="-apple-system"/>
              <a:cs typeface="Times New Roman" panose="02020603050405020304" pitchFamily="18" charset="0"/>
            </a:endParaRPr>
          </a:p>
        </p:txBody>
      </p:sp>
      <p:pic>
        <p:nvPicPr>
          <p:cNvPr id="4" name="图片 -2147482500" descr="IMG_25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67585" y="2132965"/>
            <a:ext cx="4276090" cy="186118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" name="圆角矩形 4"/>
          <p:cNvSpPr/>
          <p:nvPr/>
        </p:nvSpPr>
        <p:spPr>
          <a:xfrm>
            <a:off x="2159000" y="422084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21" name="直接连接符 20"/>
          <p:cNvCxnSpPr>
            <a:stCxn id="4" idx="2"/>
            <a:endCxn id="11" idx="0"/>
          </p:cNvCxnSpPr>
          <p:nvPr/>
        </p:nvCxnSpPr>
        <p:spPr>
          <a:xfrm flipH="1">
            <a:off x="1889125" y="4542790"/>
            <a:ext cx="514985" cy="1822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stCxn id="4" idx="2"/>
            <a:endCxn id="19" idx="0"/>
          </p:cNvCxnSpPr>
          <p:nvPr/>
        </p:nvCxnSpPr>
        <p:spPr>
          <a:xfrm>
            <a:off x="2404110" y="4542790"/>
            <a:ext cx="703580" cy="1822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" name="直接连接符 22"/>
          <p:cNvCxnSpPr>
            <a:stCxn id="11" idx="2"/>
            <a:endCxn id="20" idx="0"/>
          </p:cNvCxnSpPr>
          <p:nvPr/>
        </p:nvCxnSpPr>
        <p:spPr>
          <a:xfrm flipH="1">
            <a:off x="1097280" y="5046980"/>
            <a:ext cx="791845" cy="2844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stCxn id="11" idx="2"/>
            <a:endCxn id="27" idx="0"/>
          </p:cNvCxnSpPr>
          <p:nvPr/>
        </p:nvCxnSpPr>
        <p:spPr>
          <a:xfrm>
            <a:off x="1889125" y="5046980"/>
            <a:ext cx="241935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stCxn id="19" idx="2"/>
            <a:endCxn id="28" idx="0"/>
          </p:cNvCxnSpPr>
          <p:nvPr/>
        </p:nvCxnSpPr>
        <p:spPr>
          <a:xfrm flipH="1">
            <a:off x="2931795" y="5046980"/>
            <a:ext cx="175895" cy="259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stCxn id="19" idx="2"/>
            <a:endCxn id="35" idx="0"/>
          </p:cNvCxnSpPr>
          <p:nvPr/>
        </p:nvCxnSpPr>
        <p:spPr>
          <a:xfrm>
            <a:off x="3107690" y="5046980"/>
            <a:ext cx="654050" cy="2901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" name="直接连接符 30"/>
          <p:cNvCxnSpPr>
            <a:stCxn id="20" idx="2"/>
            <a:endCxn id="34" idx="0"/>
          </p:cNvCxnSpPr>
          <p:nvPr/>
        </p:nvCxnSpPr>
        <p:spPr>
          <a:xfrm flipH="1">
            <a:off x="665480" y="5653405"/>
            <a:ext cx="431800" cy="3676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stCxn id="20" idx="2"/>
            <a:endCxn id="33" idx="0"/>
          </p:cNvCxnSpPr>
          <p:nvPr/>
        </p:nvCxnSpPr>
        <p:spPr>
          <a:xfrm>
            <a:off x="1097280" y="5653405"/>
            <a:ext cx="431800" cy="3676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圆角矩形 10"/>
          <p:cNvSpPr/>
          <p:nvPr/>
        </p:nvSpPr>
        <p:spPr>
          <a:xfrm>
            <a:off x="1644015" y="472503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2862580" y="472503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0" name="圆角矩形 19"/>
          <p:cNvSpPr/>
          <p:nvPr/>
        </p:nvSpPr>
        <p:spPr>
          <a:xfrm>
            <a:off x="852170" y="533146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7" name="圆角矩形 26"/>
          <p:cNvSpPr/>
          <p:nvPr/>
        </p:nvSpPr>
        <p:spPr>
          <a:xfrm>
            <a:off x="1845945" y="5332095"/>
            <a:ext cx="569595" cy="35687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2632075" y="5306695"/>
            <a:ext cx="598805" cy="36893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3" name="圆角矩形 32"/>
          <p:cNvSpPr/>
          <p:nvPr/>
        </p:nvSpPr>
        <p:spPr>
          <a:xfrm>
            <a:off x="1283970" y="602107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420370" y="602107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3516630" y="533717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2161540" y="4211320"/>
            <a:ext cx="501015" cy="3314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(i,j)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1569085" y="4725035"/>
            <a:ext cx="652780" cy="3175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(i-1,j)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359410" y="6030595"/>
            <a:ext cx="702310" cy="330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(i-3,j)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1115695" y="6030595"/>
            <a:ext cx="855980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(i-2,j-1)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2776855" y="4725035"/>
            <a:ext cx="652780" cy="3175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(i,j-1)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770255" y="5326380"/>
            <a:ext cx="652780" cy="3175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(i-2,j)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715770" y="5311140"/>
            <a:ext cx="838200" cy="4191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(i-1,j-1)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2524760" y="5302250"/>
            <a:ext cx="838200" cy="4191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(i-1,j-1)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425825" y="5326380"/>
            <a:ext cx="652780" cy="3175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(i,j-2)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199390" y="4174490"/>
            <a:ext cx="13303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抽象成树：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643755" y="5013325"/>
            <a:ext cx="4345305" cy="3530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状态转移方程：</a:t>
            </a:r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F(i,j)=F(i-1,j)+F(i,j-1)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6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9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5" dur="2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8" dur="2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1" dur="2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4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7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0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3" dur="2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6" dur="2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9" dur="2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2" dur="2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5" dur="2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8" dur="2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1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4" dur="2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7" dur="2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0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3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6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8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85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ldLvl="0" animBg="1"/>
      <p:bldP spid="4" grpId="1" animBg="1"/>
      <p:bldP spid="5" grpId="0" animBg="1"/>
      <p:bldP spid="5" grpId="1"/>
      <p:bldP spid="11" grpId="0" bldLvl="0" animBg="1"/>
      <p:bldP spid="11" grpId="1" animBg="1"/>
      <p:bldP spid="19" grpId="0" bldLvl="0" animBg="1"/>
      <p:bldP spid="19" grpId="1" animBg="1"/>
      <p:bldP spid="20" grpId="0" bldLvl="0" animBg="1"/>
      <p:bldP spid="20" grpId="1" animBg="1"/>
      <p:bldP spid="27" grpId="0" bldLvl="0" animBg="1"/>
      <p:bldP spid="27" grpId="1" animBg="1"/>
      <p:bldP spid="28" grpId="0" bldLvl="0" animBg="1"/>
      <p:bldP spid="28" grpId="1" animBg="1"/>
      <p:bldP spid="33" grpId="0" bldLvl="0" animBg="1"/>
      <p:bldP spid="33" grpId="1" animBg="1"/>
      <p:bldP spid="34" grpId="0" bldLvl="0" animBg="1"/>
      <p:bldP spid="34" grpId="1" animBg="1"/>
      <p:bldP spid="35" grpId="0" bldLvl="0" animBg="1"/>
      <p:bldP spid="35" grpId="1" animBg="1"/>
      <p:bldP spid="36" grpId="0"/>
      <p:bldP spid="36" grpId="1"/>
      <p:bldP spid="37" grpId="0"/>
      <p:bldP spid="37" grpId="1"/>
      <p:bldP spid="43" grpId="0"/>
      <p:bldP spid="43" grpId="1"/>
      <p:bldP spid="44" grpId="0"/>
      <p:bldP spid="44" grpId="1"/>
      <p:bldP spid="6" grpId="0"/>
      <p:bldP spid="6" grpId="1"/>
      <p:bldP spid="8" grpId="0"/>
      <p:bldP spid="8" grpId="1"/>
      <p:bldP spid="9" grpId="0"/>
      <p:bldP spid="9" grpId="1"/>
      <p:bldP spid="10" grpId="0"/>
      <p:bldP spid="10" grpId="1"/>
      <p:bldP spid="7" grpId="0"/>
      <p:bldP spid="7" grpId="1"/>
      <p:bldP spid="13" grpId="0"/>
      <p:bldP spid="13" grpId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179705" y="764540"/>
            <a:ext cx="3679190" cy="44704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5.1.2 </a:t>
            </a:r>
            <a:r>
              <a:rPr lang="zh-CN" altLang="en-US" sz="2400" b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动态规划基本步骤</a:t>
            </a:r>
            <a:endParaRPr lang="zh-CN" altLang="en-US" sz="2400" b="1" kern="0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67995" y="1513205"/>
            <a:ext cx="8458200" cy="608965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indent="0"/>
            <a:r>
              <a:rPr lang="zh-CN" altLang="en-US" sz="1600" b="0" i="0">
                <a:solidFill>
                  <a:srgbClr val="262626"/>
                </a:solidFill>
                <a:latin typeface="-apple-system"/>
                <a:ea typeface="-apple-system"/>
              </a:rPr>
              <a:t>问题：</a:t>
            </a:r>
            <a:r>
              <a:rPr lang="zh-CN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现在青蛙位于一个</a:t>
            </a:r>
            <a:r>
              <a:rPr lang="en-US" altLang="zh-CN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m</a:t>
            </a:r>
            <a:r>
              <a:rPr lang="en-US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×</a:t>
            </a:r>
            <a:r>
              <a:rPr lang="en-US" altLang="zh-CN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n</a:t>
            </a:r>
            <a:r>
              <a:rPr lang="zh-CN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的网格左上角，青蛙每次只能向下或者向右移动一步。青蛙试图到达网格右下角。问总共由多少条不同的路径到达终点？</a:t>
            </a:r>
            <a:endParaRPr lang="zh-CN" altLang="en-US" sz="1600" b="0" i="0">
              <a:solidFill>
                <a:srgbClr val="262626"/>
              </a:solidFill>
              <a:latin typeface="Times New Roman" panose="02020603050405020304" pitchFamily="18" charset="0"/>
              <a:ea typeface="-apple-system"/>
              <a:cs typeface="Times New Roman" panose="02020603050405020304" pitchFamily="18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67995" y="2493010"/>
            <a:ext cx="4345305" cy="3530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状态转移方程：</a:t>
            </a:r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F(i,j)=F(i-1,j)+F(i,j-1)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487045" y="3357245"/>
            <a:ext cx="8049260" cy="3765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状态转移方程有两个变量，用二维表表示状态。</a:t>
            </a:r>
            <a:endParaRPr lang="zh-CN" altLang="en-US"/>
          </a:p>
        </p:txBody>
      </p:sp>
      <p:cxnSp>
        <p:nvCxnSpPr>
          <p:cNvPr id="73" name="直接箭头连接符 72"/>
          <p:cNvCxnSpPr/>
          <p:nvPr/>
        </p:nvCxnSpPr>
        <p:spPr>
          <a:xfrm flipV="1">
            <a:off x="2339975" y="2925445"/>
            <a:ext cx="8255" cy="4318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5" name="直接箭头连接符 14"/>
          <p:cNvCxnSpPr/>
          <p:nvPr/>
        </p:nvCxnSpPr>
        <p:spPr>
          <a:xfrm flipV="1">
            <a:off x="2339975" y="2781300"/>
            <a:ext cx="935990" cy="57594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17" name="表格 16"/>
          <p:cNvGraphicFramePr/>
          <p:nvPr/>
        </p:nvGraphicFramePr>
        <p:xfrm>
          <a:off x="544830" y="4478655"/>
          <a:ext cx="6396990" cy="1935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165"/>
                <a:gridCol w="1066165"/>
                <a:gridCol w="1066165"/>
                <a:gridCol w="1066165"/>
                <a:gridCol w="1066165"/>
                <a:gridCol w="1066165"/>
              </a:tblGrid>
              <a:tr h="41148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8" name="五角星 17"/>
          <p:cNvSpPr/>
          <p:nvPr/>
        </p:nvSpPr>
        <p:spPr>
          <a:xfrm>
            <a:off x="899795" y="4471035"/>
            <a:ext cx="360045" cy="360045"/>
          </a:xfrm>
          <a:prstGeom prst="star5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506095" y="3954145"/>
            <a:ext cx="50711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那么黄色的边界如何初始化？</a:t>
            </a:r>
            <a:endParaRPr lang="zh-CN" altLang="en-US"/>
          </a:p>
        </p:txBody>
      </p:sp>
      <p:sp>
        <p:nvSpPr>
          <p:cNvPr id="30" name="文本框 29"/>
          <p:cNvSpPr txBox="1"/>
          <p:nvPr/>
        </p:nvSpPr>
        <p:spPr>
          <a:xfrm>
            <a:off x="1979930" y="4509135"/>
            <a:ext cx="46240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1               1                 1                  1                1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899795" y="4941570"/>
            <a:ext cx="702310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894080" y="5328285"/>
            <a:ext cx="702310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899795" y="5715000"/>
            <a:ext cx="702310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899795" y="6054090"/>
            <a:ext cx="702310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0" grpId="1"/>
      <p:bldP spid="38" grpId="0"/>
      <p:bldP spid="38" grpId="1"/>
      <p:bldP spid="39" grpId="0"/>
      <p:bldP spid="39" grpId="1"/>
      <p:bldP spid="40" grpId="0"/>
      <p:bldP spid="40" grpId="1"/>
      <p:bldP spid="41" grpId="0"/>
      <p:bldP spid="41" grpId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79705" y="692785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5.1.2 </a:t>
            </a:r>
            <a:r>
              <a:rPr lang="zh-CN" altLang="en-US" sz="2400" b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动态规划基本步骤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251460" y="1772920"/>
            <a:ext cx="8669020" cy="28867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</a:rPr>
              <a:t>总结：</a:t>
            </a:r>
            <a:endParaRPr lang="zh-CN" altLang="en-US">
              <a:solidFill>
                <a:schemeClr val="tx1"/>
              </a:solidFill>
            </a:endParaRPr>
          </a:p>
          <a:p>
            <a:endParaRPr lang="zh-CN" altLang="en-US">
              <a:solidFill>
                <a:schemeClr val="tx1"/>
              </a:solidFill>
            </a:endParaRPr>
          </a:p>
          <a:p>
            <a:r>
              <a:rPr lang="zh-CN" altLang="en-US">
                <a:solidFill>
                  <a:schemeClr val="tx1"/>
                </a:solidFill>
              </a:rPr>
              <a:t>①确定状态</a:t>
            </a:r>
            <a:r>
              <a:rPr lang="en-US" altLang="zh-CN">
                <a:solidFill>
                  <a:schemeClr val="tx1"/>
                </a:solidFill>
              </a:rPr>
              <a:t> </a:t>
            </a:r>
            <a:r>
              <a:rPr lang="zh-CN" altLang="en-US">
                <a:solidFill>
                  <a:schemeClr val="tx1"/>
                </a:solidFill>
              </a:rPr>
              <a:t>（</a:t>
            </a:r>
            <a:r>
              <a:rPr lang="zh-CN" altLang="en-US">
                <a:solidFill>
                  <a:srgbClr val="FF0000"/>
                </a:solidFill>
              </a:rPr>
              <a:t>用数组当状态表，数组中存放的值的含义</a:t>
            </a:r>
            <a:r>
              <a:rPr lang="zh-CN" altLang="en-US">
                <a:solidFill>
                  <a:schemeClr val="tx1"/>
                </a:solidFill>
              </a:rPr>
              <a:t>）</a:t>
            </a:r>
            <a:endParaRPr lang="zh-CN" altLang="en-US">
              <a:solidFill>
                <a:schemeClr val="tx1"/>
              </a:solidFill>
            </a:endParaRPr>
          </a:p>
          <a:p>
            <a:r>
              <a:rPr lang="zh-CN" altLang="en-US">
                <a:solidFill>
                  <a:schemeClr val="tx1"/>
                </a:solidFill>
              </a:rPr>
              <a:t>②找到状态转移方程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（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可以通过将问题抽象成树结构，然后可以直观了解子问题与父问题如何转移</a:t>
            </a:r>
            <a:r>
              <a:rPr lang="zh-CN" altLang="en-US">
                <a:sym typeface="+mn-ea"/>
              </a:rPr>
              <a:t>）</a:t>
            </a:r>
            <a:endParaRPr lang="zh-CN" altLang="en-US">
              <a:solidFill>
                <a:schemeClr val="tx1"/>
              </a:solidFill>
            </a:endParaRPr>
          </a:p>
          <a:p>
            <a:r>
              <a:rPr lang="zh-CN" altLang="en-US">
                <a:solidFill>
                  <a:schemeClr val="tx1"/>
                </a:solidFill>
              </a:rPr>
              <a:t>③确定边界，然后自底向上迭代。（</a:t>
            </a:r>
            <a:r>
              <a:rPr lang="zh-CN" altLang="en-US">
                <a:solidFill>
                  <a:srgbClr val="FF0000"/>
                </a:solidFill>
              </a:rPr>
              <a:t>类比分治法的递归出口，动态规划需要确定边界</a:t>
            </a:r>
            <a:r>
              <a:rPr lang="zh-CN" altLang="en-US">
                <a:solidFill>
                  <a:schemeClr val="tx1"/>
                </a:solidFill>
              </a:rPr>
              <a:t>）</a:t>
            </a:r>
            <a:endParaRPr lang="zh-CN" altLang="en-US">
              <a:solidFill>
                <a:schemeClr val="tx1"/>
              </a:solidFill>
            </a:endParaRPr>
          </a:p>
          <a:p>
            <a:r>
              <a:rPr lang="zh-CN" altLang="en-US">
                <a:solidFill>
                  <a:schemeClr val="tx1"/>
                </a:solidFill>
              </a:rPr>
              <a:t>④更新状态（注意顺序自底向上更新），获取结果</a:t>
            </a:r>
            <a:r>
              <a:rPr lang="en-US" altLang="zh-CN">
                <a:solidFill>
                  <a:schemeClr val="tx1"/>
                </a:solidFill>
              </a:rPr>
              <a:t> </a:t>
            </a:r>
            <a:r>
              <a:rPr lang="zh-CN" altLang="en-US">
                <a:solidFill>
                  <a:schemeClr val="tx1"/>
                </a:solidFill>
              </a:rPr>
              <a:t>（</a:t>
            </a:r>
            <a:r>
              <a:rPr lang="zh-CN" altLang="en-US">
                <a:solidFill>
                  <a:srgbClr val="FF0000"/>
                </a:solidFill>
              </a:rPr>
              <a:t>有的问题在更新完状态表之后不可能直接获得答案，需要遍历一遍获取答案</a:t>
            </a:r>
            <a:r>
              <a:rPr lang="zh-CN" altLang="en-US">
                <a:solidFill>
                  <a:schemeClr val="tx1"/>
                </a:solidFill>
              </a:rPr>
              <a:t>）</a:t>
            </a:r>
            <a:endParaRPr lang="zh-CN" altLang="en-US">
              <a:solidFill>
                <a:schemeClr val="tx1"/>
              </a:solidFill>
            </a:endParaRPr>
          </a:p>
          <a:p>
            <a:endParaRPr lang="zh-CN" altLang="en-US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4"/>
          <p:cNvSpPr txBox="1">
            <a:spLocks noChangeArrowheads="1"/>
          </p:cNvSpPr>
          <p:nvPr/>
        </p:nvSpPr>
        <p:spPr bwMode="auto">
          <a:xfrm>
            <a:off x="395605" y="1818005"/>
            <a:ext cx="861060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背包称重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M = 10kg,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物品的重量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 = {2,3,4,7},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价值为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C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 = {1,3,5,9},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问最多能装价值多大（物品每次只能选择一次）？</a:t>
            </a:r>
            <a:endParaRPr lang="zh-CN" altLang="en-US" sz="2200" dirty="0">
              <a:solidFill>
                <a:srgbClr val="080808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/>
        </p:nvGraphicFramePr>
        <p:xfrm>
          <a:off x="2627784" y="2924944"/>
          <a:ext cx="3687445" cy="10668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1167130"/>
                <a:gridCol w="1260475"/>
                <a:gridCol w="1259840"/>
              </a:tblGrid>
              <a:tr h="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400" kern="100">
                          <a:effectLst/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物品</a:t>
                      </a:r>
                      <a:endParaRPr lang="zh-CN" sz="1400" kern="100"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400" kern="100">
                          <a:solidFill>
                            <a:schemeClr val="tx1"/>
                          </a:solidFill>
                          <a:effectLst/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重量（</a:t>
                      </a: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kg</a:t>
                      </a:r>
                      <a:r>
                        <a:rPr lang="zh-CN" sz="1400" kern="100">
                          <a:solidFill>
                            <a:schemeClr val="tx1"/>
                          </a:solidFill>
                          <a:effectLst/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400" kern="100">
                          <a:solidFill>
                            <a:schemeClr val="tx1"/>
                          </a:solidFill>
                          <a:effectLst/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价值（万元）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13335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400" kern="100">
                          <a:effectLst/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相机</a:t>
                      </a:r>
                      <a:endParaRPr lang="zh-CN" sz="1400" kern="100"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21209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400" kern="100">
                          <a:effectLst/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扫描仪</a:t>
                      </a:r>
                      <a:endParaRPr lang="zh-CN" sz="1400" kern="100"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400" kern="100">
                          <a:effectLst/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笔记本电脑</a:t>
                      </a:r>
                      <a:endParaRPr lang="zh-CN" sz="1400" kern="100"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lang="zh-CN" altLang="en-US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打印机</a:t>
                      </a: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en-US" alt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sp>
        <p:nvSpPr>
          <p:cNvPr id="5" name="Text Box 4"/>
          <p:cNvSpPr txBox="1">
            <a:spLocks noChangeArrowheads="1"/>
          </p:cNvSpPr>
          <p:nvPr/>
        </p:nvSpPr>
        <p:spPr bwMode="auto">
          <a:xfrm>
            <a:off x="410776" y="4581262"/>
            <a:ext cx="8352928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解题思路：如果用暴力解法如何求解，能否将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0-1</a:t>
            </a:r>
            <a:r>
              <a:rPr lang="zh-CN" altLang="en-US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背包问题抽象成一棵树？</a:t>
            </a:r>
            <a:endParaRPr lang="zh-CN" altLang="en-US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1" name="Text Box 6"/>
          <p:cNvSpPr txBox="1">
            <a:spLocks noChangeArrowheads="1"/>
          </p:cNvSpPr>
          <p:nvPr/>
        </p:nvSpPr>
        <p:spPr bwMode="auto">
          <a:xfrm>
            <a:off x="2771775" y="669290"/>
            <a:ext cx="4375150" cy="583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eaLnBrk="1" hangingPunct="1">
              <a:spcBef>
                <a:spcPct val="50000"/>
              </a:spcBef>
              <a:defRPr/>
            </a:pPr>
            <a:r>
              <a:rPr lang="en-US" altLang="zh-CN" sz="3200" dirty="0">
                <a:ln w="18000">
                  <a:solidFill>
                    <a:schemeClr val="accent2">
                      <a:satMod val="140000"/>
                    </a:schemeClr>
                  </a:solidFill>
                  <a:prstDash val="solid"/>
                  <a:miter lim="800000"/>
                </a:ln>
                <a:solidFill>
                  <a:schemeClr val="accent2"/>
                </a:solidFill>
                <a:effectLst>
                  <a:outerShdw blurRad="25500" dist="23000" dir="7020000" algn="tl">
                    <a:srgbClr val="000000">
                      <a:alpha val="50000"/>
                    </a:srgbClr>
                  </a:outerShdw>
                </a:effectLst>
                <a:latin typeface="Times New Roman" panose="02020603050405020304" pitchFamily="18" charset="0"/>
                <a:ea typeface="隶书" panose="02010509060101010101" pitchFamily="49" charset="-122"/>
                <a:cs typeface="Times New Roman" panose="02020603050405020304" pitchFamily="18" charset="0"/>
              </a:rPr>
              <a:t>5.2  </a:t>
            </a:r>
            <a:r>
              <a:rPr lang="zh-CN" altLang="en-US" sz="3200" dirty="0">
                <a:ln w="18000">
                  <a:solidFill>
                    <a:schemeClr val="accent2">
                      <a:satMod val="140000"/>
                    </a:schemeClr>
                  </a:solidFill>
                  <a:prstDash val="solid"/>
                  <a:miter lim="800000"/>
                </a:ln>
                <a:solidFill>
                  <a:schemeClr val="accent2"/>
                </a:solidFill>
                <a:effectLst>
                  <a:outerShdw blurRad="25500" dist="23000" dir="7020000" algn="tl">
                    <a:srgbClr val="000000">
                      <a:alpha val="50000"/>
                    </a:srgbClr>
                  </a:outerShdw>
                </a:effectLst>
                <a:latin typeface="Times New Roman" panose="02020603050405020304" pitchFamily="18" charset="0"/>
                <a:ea typeface="隶书" panose="02010509060101010101" pitchFamily="49" charset="-122"/>
                <a:cs typeface="Times New Roman" panose="02020603050405020304" pitchFamily="18" charset="0"/>
                <a:sym typeface="+mn-ea"/>
              </a:rPr>
              <a:t>动态规划法案例</a:t>
            </a:r>
            <a:endParaRPr lang="zh-CN" altLang="en-US" sz="3200" dirty="0">
              <a:ln w="18000">
                <a:solidFill>
                  <a:schemeClr val="accent2">
                    <a:satMod val="140000"/>
                  </a:schemeClr>
                </a:solidFill>
                <a:prstDash val="solid"/>
                <a:miter lim="800000"/>
              </a:ln>
              <a:solidFill>
                <a:schemeClr val="accent2"/>
              </a:solidFill>
              <a:effectLst>
                <a:outerShdw blurRad="25500" dist="23000" dir="7020000" algn="tl">
                  <a:srgbClr val="000000">
                    <a:alpha val="50000"/>
                  </a:srgbClr>
                </a:outerShdw>
              </a:effectLst>
              <a:latin typeface="Times New Roman" panose="02020603050405020304" pitchFamily="18" charset="0"/>
              <a:ea typeface="隶书" panose="02010509060101010101" pitchFamily="49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10845" y="126492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5.2.1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0-1背包问题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3284221" y="3882073"/>
            <a:ext cx="541338" cy="361950"/>
          </a:xfrm>
          <a:prstGeom prst="rect">
            <a:avLst/>
          </a:prstGeom>
          <a:solidFill>
            <a:srgbClr val="6FC01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142" name="Rectangle 5"/>
          <p:cNvSpPr>
            <a:spLocks noChangeArrowheads="1"/>
          </p:cNvSpPr>
          <p:nvPr/>
        </p:nvSpPr>
        <p:spPr bwMode="auto">
          <a:xfrm>
            <a:off x="2747328" y="3882073"/>
            <a:ext cx="541338" cy="36195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07504" y="1124744"/>
            <a:ext cx="8856984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背包称重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M = 10kg,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物品的重量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= {2,3,4,7},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价值为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C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= {1,3,5,9},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问最多能装价值多大（物品每次只能选择一次）？</a:t>
            </a:r>
            <a:endParaRPr lang="zh-CN" altLang="en-US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grpSp>
        <p:nvGrpSpPr>
          <p:cNvPr id="3" name="Group 4"/>
          <p:cNvGrpSpPr>
            <a:grpSpLocks noChangeAspect="1"/>
          </p:cNvGrpSpPr>
          <p:nvPr/>
        </p:nvGrpSpPr>
        <p:grpSpPr bwMode="auto">
          <a:xfrm>
            <a:off x="1115378" y="3142933"/>
            <a:ext cx="7058025" cy="2219325"/>
            <a:chOff x="657" y="1461"/>
            <a:chExt cx="4446" cy="1398"/>
          </a:xfrm>
        </p:grpSpPr>
        <p:sp>
          <p:nvSpPr>
            <p:cNvPr id="7" name="AutoShape 3"/>
            <p:cNvSpPr>
              <a:spLocks noChangeAspect="1" noChangeArrowheads="1" noTextEdit="1"/>
            </p:cNvSpPr>
            <p:nvPr/>
          </p:nvSpPr>
          <p:spPr bwMode="auto">
            <a:xfrm>
              <a:off x="657" y="1461"/>
              <a:ext cx="4446" cy="13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Line 8"/>
            <p:cNvSpPr>
              <a:spLocks noChangeShapeType="1"/>
            </p:cNvSpPr>
            <p:nvPr/>
          </p:nvSpPr>
          <p:spPr bwMode="auto">
            <a:xfrm>
              <a:off x="1004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>
              <a:off x="1345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Line 10"/>
            <p:cNvSpPr>
              <a:spLocks noChangeShapeType="1"/>
            </p:cNvSpPr>
            <p:nvPr/>
          </p:nvSpPr>
          <p:spPr bwMode="auto">
            <a:xfrm>
              <a:off x="1686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Line 11"/>
            <p:cNvSpPr>
              <a:spLocks noChangeShapeType="1"/>
            </p:cNvSpPr>
            <p:nvPr/>
          </p:nvSpPr>
          <p:spPr bwMode="auto">
            <a:xfrm>
              <a:off x="2026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Line 12"/>
            <p:cNvSpPr>
              <a:spLocks noChangeShapeType="1"/>
            </p:cNvSpPr>
            <p:nvPr/>
          </p:nvSpPr>
          <p:spPr bwMode="auto">
            <a:xfrm>
              <a:off x="2367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Line 13"/>
            <p:cNvSpPr>
              <a:spLocks noChangeShapeType="1"/>
            </p:cNvSpPr>
            <p:nvPr/>
          </p:nvSpPr>
          <p:spPr bwMode="auto">
            <a:xfrm>
              <a:off x="2707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Line 14"/>
            <p:cNvSpPr>
              <a:spLocks noChangeShapeType="1"/>
            </p:cNvSpPr>
            <p:nvPr/>
          </p:nvSpPr>
          <p:spPr bwMode="auto">
            <a:xfrm>
              <a:off x="3048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Line 15"/>
            <p:cNvSpPr>
              <a:spLocks noChangeShapeType="1"/>
            </p:cNvSpPr>
            <p:nvPr/>
          </p:nvSpPr>
          <p:spPr bwMode="auto">
            <a:xfrm>
              <a:off x="3389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Line 16"/>
            <p:cNvSpPr>
              <a:spLocks noChangeShapeType="1"/>
            </p:cNvSpPr>
            <p:nvPr/>
          </p:nvSpPr>
          <p:spPr bwMode="auto">
            <a:xfrm>
              <a:off x="3730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Line 17"/>
            <p:cNvSpPr>
              <a:spLocks noChangeShapeType="1"/>
            </p:cNvSpPr>
            <p:nvPr/>
          </p:nvSpPr>
          <p:spPr bwMode="auto">
            <a:xfrm>
              <a:off x="4070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Line 18"/>
            <p:cNvSpPr>
              <a:spLocks noChangeShapeType="1"/>
            </p:cNvSpPr>
            <p:nvPr/>
          </p:nvSpPr>
          <p:spPr bwMode="auto">
            <a:xfrm>
              <a:off x="4411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Line 19"/>
            <p:cNvSpPr>
              <a:spLocks noChangeShapeType="1"/>
            </p:cNvSpPr>
            <p:nvPr/>
          </p:nvSpPr>
          <p:spPr bwMode="auto">
            <a:xfrm>
              <a:off x="4751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Line 20"/>
            <p:cNvSpPr>
              <a:spLocks noChangeShapeType="1"/>
            </p:cNvSpPr>
            <p:nvPr/>
          </p:nvSpPr>
          <p:spPr bwMode="auto">
            <a:xfrm>
              <a:off x="660" y="1698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Line 21"/>
            <p:cNvSpPr>
              <a:spLocks noChangeShapeType="1"/>
            </p:cNvSpPr>
            <p:nvPr/>
          </p:nvSpPr>
          <p:spPr bwMode="auto">
            <a:xfrm>
              <a:off x="660" y="1925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8" name="Line 22"/>
            <p:cNvSpPr>
              <a:spLocks noChangeShapeType="1"/>
            </p:cNvSpPr>
            <p:nvPr/>
          </p:nvSpPr>
          <p:spPr bwMode="auto">
            <a:xfrm>
              <a:off x="660" y="2153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9" name="Line 23"/>
            <p:cNvSpPr>
              <a:spLocks noChangeShapeType="1"/>
            </p:cNvSpPr>
            <p:nvPr/>
          </p:nvSpPr>
          <p:spPr bwMode="auto">
            <a:xfrm>
              <a:off x="660" y="2381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0" name="Line 24"/>
            <p:cNvSpPr>
              <a:spLocks noChangeShapeType="1"/>
            </p:cNvSpPr>
            <p:nvPr/>
          </p:nvSpPr>
          <p:spPr bwMode="auto">
            <a:xfrm>
              <a:off x="660" y="2609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1" name="Line 25"/>
            <p:cNvSpPr>
              <a:spLocks noChangeShapeType="1"/>
            </p:cNvSpPr>
            <p:nvPr/>
          </p:nvSpPr>
          <p:spPr bwMode="auto">
            <a:xfrm>
              <a:off x="664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2" name="Line 26"/>
            <p:cNvSpPr>
              <a:spLocks noChangeShapeType="1"/>
            </p:cNvSpPr>
            <p:nvPr/>
          </p:nvSpPr>
          <p:spPr bwMode="auto">
            <a:xfrm>
              <a:off x="5092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3" name="Line 27"/>
            <p:cNvSpPr>
              <a:spLocks noChangeShapeType="1"/>
            </p:cNvSpPr>
            <p:nvPr/>
          </p:nvSpPr>
          <p:spPr bwMode="auto">
            <a:xfrm>
              <a:off x="660" y="1470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" name="Line 28"/>
            <p:cNvSpPr>
              <a:spLocks noChangeShapeType="1"/>
            </p:cNvSpPr>
            <p:nvPr/>
          </p:nvSpPr>
          <p:spPr bwMode="auto">
            <a:xfrm>
              <a:off x="660" y="2837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" name="Rectangle 29"/>
            <p:cNvSpPr>
              <a:spLocks noChangeArrowheads="1"/>
            </p:cNvSpPr>
            <p:nvPr/>
          </p:nvSpPr>
          <p:spPr bwMode="auto">
            <a:xfrm>
              <a:off x="734" y="1526"/>
              <a:ext cx="162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W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6" name="Rectangle 30"/>
            <p:cNvSpPr>
              <a:spLocks noChangeArrowheads="1"/>
            </p:cNvSpPr>
            <p:nvPr/>
          </p:nvSpPr>
          <p:spPr bwMode="auto">
            <a:xfrm>
              <a:off x="836" y="1586"/>
              <a:ext cx="48" cy="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9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7" name="Rectangle 31"/>
            <p:cNvSpPr>
              <a:spLocks noChangeArrowheads="1"/>
            </p:cNvSpPr>
            <p:nvPr/>
          </p:nvSpPr>
          <p:spPr bwMode="auto">
            <a:xfrm>
              <a:off x="1050" y="1526"/>
              <a:ext cx="127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C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8" name="Rectangle 32"/>
            <p:cNvSpPr>
              <a:spLocks noChangeArrowheads="1"/>
            </p:cNvSpPr>
            <p:nvPr/>
          </p:nvSpPr>
          <p:spPr bwMode="auto">
            <a:xfrm>
              <a:off x="1129" y="1586"/>
              <a:ext cx="48" cy="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9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9" name="Rectangle 33"/>
            <p:cNvSpPr>
              <a:spLocks noChangeArrowheads="1"/>
            </p:cNvSpPr>
            <p:nvPr/>
          </p:nvSpPr>
          <p:spPr bwMode="auto">
            <a:xfrm>
              <a:off x="1391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0" name="Rectangle 34"/>
            <p:cNvSpPr>
              <a:spLocks noChangeArrowheads="1"/>
            </p:cNvSpPr>
            <p:nvPr/>
          </p:nvSpPr>
          <p:spPr bwMode="auto">
            <a:xfrm>
              <a:off x="1445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1" name="Rectangle 35"/>
            <p:cNvSpPr>
              <a:spLocks noChangeArrowheads="1"/>
            </p:cNvSpPr>
            <p:nvPr/>
          </p:nvSpPr>
          <p:spPr bwMode="auto">
            <a:xfrm>
              <a:off x="1732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2" name="Rectangle 36"/>
            <p:cNvSpPr>
              <a:spLocks noChangeArrowheads="1"/>
            </p:cNvSpPr>
            <p:nvPr/>
          </p:nvSpPr>
          <p:spPr bwMode="auto">
            <a:xfrm>
              <a:off x="1786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3" name="Rectangle 37"/>
            <p:cNvSpPr>
              <a:spLocks noChangeArrowheads="1"/>
            </p:cNvSpPr>
            <p:nvPr/>
          </p:nvSpPr>
          <p:spPr bwMode="auto">
            <a:xfrm>
              <a:off x="2072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4" name="Rectangle 38"/>
            <p:cNvSpPr>
              <a:spLocks noChangeArrowheads="1"/>
            </p:cNvSpPr>
            <p:nvPr/>
          </p:nvSpPr>
          <p:spPr bwMode="auto">
            <a:xfrm>
              <a:off x="2156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5" name="Rectangle 39"/>
            <p:cNvSpPr>
              <a:spLocks noChangeArrowheads="1"/>
            </p:cNvSpPr>
            <p:nvPr/>
          </p:nvSpPr>
          <p:spPr bwMode="auto">
            <a:xfrm>
              <a:off x="2413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6" name="Rectangle 40"/>
            <p:cNvSpPr>
              <a:spLocks noChangeArrowheads="1"/>
            </p:cNvSpPr>
            <p:nvPr/>
          </p:nvSpPr>
          <p:spPr bwMode="auto">
            <a:xfrm>
              <a:off x="2497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7" name="Rectangle 41"/>
            <p:cNvSpPr>
              <a:spLocks noChangeArrowheads="1"/>
            </p:cNvSpPr>
            <p:nvPr/>
          </p:nvSpPr>
          <p:spPr bwMode="auto">
            <a:xfrm>
              <a:off x="2754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8" name="Rectangle 42"/>
            <p:cNvSpPr>
              <a:spLocks noChangeArrowheads="1"/>
            </p:cNvSpPr>
            <p:nvPr/>
          </p:nvSpPr>
          <p:spPr bwMode="auto">
            <a:xfrm>
              <a:off x="2838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9" name="Rectangle 43"/>
            <p:cNvSpPr>
              <a:spLocks noChangeArrowheads="1"/>
            </p:cNvSpPr>
            <p:nvPr/>
          </p:nvSpPr>
          <p:spPr bwMode="auto">
            <a:xfrm>
              <a:off x="3094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0" name="Rectangle 44"/>
            <p:cNvSpPr>
              <a:spLocks noChangeArrowheads="1"/>
            </p:cNvSpPr>
            <p:nvPr/>
          </p:nvSpPr>
          <p:spPr bwMode="auto">
            <a:xfrm>
              <a:off x="3148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1" name="Rectangle 45"/>
            <p:cNvSpPr>
              <a:spLocks noChangeArrowheads="1"/>
            </p:cNvSpPr>
            <p:nvPr/>
          </p:nvSpPr>
          <p:spPr bwMode="auto">
            <a:xfrm>
              <a:off x="3435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6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2" name="Rectangle 46"/>
            <p:cNvSpPr>
              <a:spLocks noChangeArrowheads="1"/>
            </p:cNvSpPr>
            <p:nvPr/>
          </p:nvSpPr>
          <p:spPr bwMode="auto">
            <a:xfrm>
              <a:off x="3489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3" name="Rectangle 47"/>
            <p:cNvSpPr>
              <a:spLocks noChangeArrowheads="1"/>
            </p:cNvSpPr>
            <p:nvPr/>
          </p:nvSpPr>
          <p:spPr bwMode="auto">
            <a:xfrm>
              <a:off x="3775" y="1526"/>
              <a:ext cx="10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4" name="Rectangle 48"/>
            <p:cNvSpPr>
              <a:spLocks noChangeArrowheads="1"/>
            </p:cNvSpPr>
            <p:nvPr/>
          </p:nvSpPr>
          <p:spPr bwMode="auto">
            <a:xfrm>
              <a:off x="3830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5" name="Rectangle 49"/>
            <p:cNvSpPr>
              <a:spLocks noChangeArrowheads="1"/>
            </p:cNvSpPr>
            <p:nvPr/>
          </p:nvSpPr>
          <p:spPr bwMode="auto">
            <a:xfrm>
              <a:off x="4116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8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6" name="Rectangle 50"/>
            <p:cNvSpPr>
              <a:spLocks noChangeArrowheads="1"/>
            </p:cNvSpPr>
            <p:nvPr/>
          </p:nvSpPr>
          <p:spPr bwMode="auto">
            <a:xfrm>
              <a:off x="4170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7" name="Rectangle 51"/>
            <p:cNvSpPr>
              <a:spLocks noChangeArrowheads="1"/>
            </p:cNvSpPr>
            <p:nvPr/>
          </p:nvSpPr>
          <p:spPr bwMode="auto">
            <a:xfrm>
              <a:off x="4457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8" name="Rectangle 52"/>
            <p:cNvSpPr>
              <a:spLocks noChangeArrowheads="1"/>
            </p:cNvSpPr>
            <p:nvPr/>
          </p:nvSpPr>
          <p:spPr bwMode="auto">
            <a:xfrm>
              <a:off x="4511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9" name="Rectangle 53"/>
            <p:cNvSpPr>
              <a:spLocks noChangeArrowheads="1"/>
            </p:cNvSpPr>
            <p:nvPr/>
          </p:nvSpPr>
          <p:spPr bwMode="auto">
            <a:xfrm>
              <a:off x="4797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0" name="Rectangle 54"/>
            <p:cNvSpPr>
              <a:spLocks noChangeArrowheads="1"/>
            </p:cNvSpPr>
            <p:nvPr/>
          </p:nvSpPr>
          <p:spPr bwMode="auto">
            <a:xfrm>
              <a:off x="4906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1" name="Rectangle 55"/>
            <p:cNvSpPr>
              <a:spLocks noChangeArrowheads="1"/>
            </p:cNvSpPr>
            <p:nvPr/>
          </p:nvSpPr>
          <p:spPr bwMode="auto">
            <a:xfrm>
              <a:off x="710" y="1752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2" name="Rectangle 56"/>
            <p:cNvSpPr>
              <a:spLocks noChangeArrowheads="1"/>
            </p:cNvSpPr>
            <p:nvPr/>
          </p:nvSpPr>
          <p:spPr bwMode="auto">
            <a:xfrm>
              <a:off x="1050" y="1752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4" name="Rectangle 68"/>
            <p:cNvSpPr>
              <a:spLocks noChangeArrowheads="1"/>
            </p:cNvSpPr>
            <p:nvPr/>
          </p:nvSpPr>
          <p:spPr bwMode="auto">
            <a:xfrm>
              <a:off x="710" y="1980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5" name="Rectangle 69"/>
            <p:cNvSpPr>
              <a:spLocks noChangeArrowheads="1"/>
            </p:cNvSpPr>
            <p:nvPr/>
          </p:nvSpPr>
          <p:spPr bwMode="auto">
            <a:xfrm>
              <a:off x="1050" y="1980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7" name="Rectangle 81"/>
            <p:cNvSpPr>
              <a:spLocks noChangeArrowheads="1"/>
            </p:cNvSpPr>
            <p:nvPr/>
          </p:nvSpPr>
          <p:spPr bwMode="auto">
            <a:xfrm>
              <a:off x="710" y="2209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8" name="Rectangle 82"/>
            <p:cNvSpPr>
              <a:spLocks noChangeArrowheads="1"/>
            </p:cNvSpPr>
            <p:nvPr/>
          </p:nvSpPr>
          <p:spPr bwMode="auto">
            <a:xfrm>
              <a:off x="1050" y="2209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0" name="Rectangle 94"/>
            <p:cNvSpPr>
              <a:spLocks noChangeArrowheads="1"/>
            </p:cNvSpPr>
            <p:nvPr/>
          </p:nvSpPr>
          <p:spPr bwMode="auto">
            <a:xfrm>
              <a:off x="710" y="2437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1" name="Rectangle 95"/>
            <p:cNvSpPr>
              <a:spLocks noChangeArrowheads="1"/>
            </p:cNvSpPr>
            <p:nvPr/>
          </p:nvSpPr>
          <p:spPr bwMode="auto">
            <a:xfrm>
              <a:off x="1050" y="2437"/>
              <a:ext cx="10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3" name="Rectangle 107"/>
            <p:cNvSpPr>
              <a:spLocks noChangeArrowheads="1"/>
            </p:cNvSpPr>
            <p:nvPr/>
          </p:nvSpPr>
          <p:spPr bwMode="auto">
            <a:xfrm>
              <a:off x="710" y="2663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4" name="Rectangle 108"/>
            <p:cNvSpPr>
              <a:spLocks noChangeArrowheads="1"/>
            </p:cNvSpPr>
            <p:nvPr/>
          </p:nvSpPr>
          <p:spPr bwMode="auto">
            <a:xfrm>
              <a:off x="1050" y="2663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2" name="Rectangle 57"/>
          <p:cNvSpPr>
            <a:spLocks noChangeArrowheads="1"/>
          </p:cNvSpPr>
          <p:nvPr/>
        </p:nvSpPr>
        <p:spPr bwMode="auto">
          <a:xfrm>
            <a:off x="2280603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5" name="Rectangle 58"/>
          <p:cNvSpPr>
            <a:spLocks noChangeArrowheads="1"/>
          </p:cNvSpPr>
          <p:nvPr/>
        </p:nvSpPr>
        <p:spPr bwMode="auto">
          <a:xfrm>
            <a:off x="2821941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6" name="Rectangle 59"/>
          <p:cNvSpPr>
            <a:spLocks noChangeArrowheads="1"/>
          </p:cNvSpPr>
          <p:nvPr/>
        </p:nvSpPr>
        <p:spPr bwMode="auto">
          <a:xfrm>
            <a:off x="3361691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7" name="Rectangle 60"/>
          <p:cNvSpPr>
            <a:spLocks noChangeArrowheads="1"/>
          </p:cNvSpPr>
          <p:nvPr/>
        </p:nvSpPr>
        <p:spPr bwMode="auto">
          <a:xfrm>
            <a:off x="3903028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8" name="Rectangle 61"/>
          <p:cNvSpPr>
            <a:spLocks noChangeArrowheads="1"/>
          </p:cNvSpPr>
          <p:nvPr/>
        </p:nvSpPr>
        <p:spPr bwMode="auto">
          <a:xfrm>
            <a:off x="4444366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9" name="Rectangle 62"/>
          <p:cNvSpPr>
            <a:spLocks noChangeArrowheads="1"/>
          </p:cNvSpPr>
          <p:nvPr/>
        </p:nvSpPr>
        <p:spPr bwMode="auto">
          <a:xfrm>
            <a:off x="4984116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0" name="Rectangle 63"/>
          <p:cNvSpPr>
            <a:spLocks noChangeArrowheads="1"/>
          </p:cNvSpPr>
          <p:nvPr/>
        </p:nvSpPr>
        <p:spPr bwMode="auto">
          <a:xfrm>
            <a:off x="5525453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1" name="Rectangle 64"/>
          <p:cNvSpPr>
            <a:spLocks noChangeArrowheads="1"/>
          </p:cNvSpPr>
          <p:nvPr/>
        </p:nvSpPr>
        <p:spPr bwMode="auto">
          <a:xfrm>
            <a:off x="6065203" y="3604896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2" name="Rectangle 65"/>
          <p:cNvSpPr>
            <a:spLocks noChangeArrowheads="1"/>
          </p:cNvSpPr>
          <p:nvPr/>
        </p:nvSpPr>
        <p:spPr bwMode="auto">
          <a:xfrm>
            <a:off x="6606541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3" name="Rectangle 66"/>
          <p:cNvSpPr>
            <a:spLocks noChangeArrowheads="1"/>
          </p:cNvSpPr>
          <p:nvPr/>
        </p:nvSpPr>
        <p:spPr bwMode="auto">
          <a:xfrm>
            <a:off x="7147878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4" name="Rectangle 67"/>
          <p:cNvSpPr>
            <a:spLocks noChangeArrowheads="1"/>
          </p:cNvSpPr>
          <p:nvPr/>
        </p:nvSpPr>
        <p:spPr bwMode="auto">
          <a:xfrm>
            <a:off x="7687628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5" name="Rectangle 70"/>
          <p:cNvSpPr>
            <a:spLocks noChangeArrowheads="1"/>
          </p:cNvSpPr>
          <p:nvPr/>
        </p:nvSpPr>
        <p:spPr bwMode="auto">
          <a:xfrm>
            <a:off x="2280603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6" name="Rectangle 83"/>
          <p:cNvSpPr>
            <a:spLocks noChangeArrowheads="1"/>
          </p:cNvSpPr>
          <p:nvPr/>
        </p:nvSpPr>
        <p:spPr bwMode="auto">
          <a:xfrm>
            <a:off x="2280603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7" name="Rectangle 96"/>
          <p:cNvSpPr>
            <a:spLocks noChangeArrowheads="1"/>
          </p:cNvSpPr>
          <p:nvPr/>
        </p:nvSpPr>
        <p:spPr bwMode="auto">
          <a:xfrm>
            <a:off x="2280603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8" name="Rectangle 109"/>
          <p:cNvSpPr>
            <a:spLocks noChangeArrowheads="1"/>
          </p:cNvSpPr>
          <p:nvPr/>
        </p:nvSpPr>
        <p:spPr bwMode="auto">
          <a:xfrm>
            <a:off x="2280603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9" name="文本框 138"/>
          <p:cNvSpPr txBox="1"/>
          <p:nvPr/>
        </p:nvSpPr>
        <p:spPr>
          <a:xfrm>
            <a:off x="755650" y="5805170"/>
            <a:ext cx="251523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j&lt;w[i]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表明装不下该物品，则不考虑该物品的最大值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3" name="Rectangle 71"/>
          <p:cNvSpPr>
            <a:spLocks noChangeArrowheads="1"/>
          </p:cNvSpPr>
          <p:nvPr/>
        </p:nvSpPr>
        <p:spPr bwMode="auto">
          <a:xfrm>
            <a:off x="2821941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4" name="文本框 63"/>
          <p:cNvSpPr txBox="1"/>
          <p:nvPr/>
        </p:nvSpPr>
        <p:spPr>
          <a:xfrm>
            <a:off x="3707130" y="5445125"/>
            <a:ext cx="4631055" cy="19716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j&gt;=w[i]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表明可以装该物品，那么就可以考虑两个情况，①不考虑该物品的价值，②考虑该物品，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该物品的价值，加上剩下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空间存放之前物品存放的价值。两种情况选择最大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矩形标注 64"/>
          <p:cNvSpPr/>
          <p:nvPr/>
        </p:nvSpPr>
        <p:spPr>
          <a:xfrm>
            <a:off x="3275330" y="2204720"/>
            <a:ext cx="1273175" cy="613410"/>
          </a:xfrm>
          <a:prstGeom prst="wedgeRectCallout">
            <a:avLst>
              <a:gd name="adj1" fmla="val -72344"/>
              <a:gd name="adj2" fmla="val 190786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不考虑该物品则在上一行，直接获取结果。</a:t>
            </a:r>
            <a:endParaRPr kumimoji="0" lang="zh-CN" altLang="en-US" sz="12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宋体" panose="02010600030101010101" pitchFamily="2" charset="-122"/>
            </a:endParaRPr>
          </a:p>
        </p:txBody>
      </p:sp>
      <p:sp>
        <p:nvSpPr>
          <p:cNvPr id="66" name="矩形标注 65"/>
          <p:cNvSpPr/>
          <p:nvPr/>
        </p:nvSpPr>
        <p:spPr>
          <a:xfrm>
            <a:off x="2598420" y="2059940"/>
            <a:ext cx="1308100" cy="758190"/>
          </a:xfrm>
          <a:prstGeom prst="wedgeRectCallout">
            <a:avLst>
              <a:gd name="adj1" fmla="val -63932"/>
              <a:gd name="adj2" fmla="val 167839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考虑该物品，剩余空间为</a:t>
            </a:r>
            <a:r>
              <a:rPr kumimoji="0" lang="en-US" altLang="zh-CN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j-w[i],</a:t>
            </a: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它能盛放最大价值为。</a:t>
            </a:r>
            <a:endParaRPr kumimoji="0" lang="zh-CN" altLang="en-US" sz="12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宋体" panose="02010600030101010101" pitchFamily="2" charset="-122"/>
            </a:endParaRPr>
          </a:p>
        </p:txBody>
      </p:sp>
      <p:sp>
        <p:nvSpPr>
          <p:cNvPr id="67" name="矩形标注 66"/>
          <p:cNvSpPr/>
          <p:nvPr/>
        </p:nvSpPr>
        <p:spPr>
          <a:xfrm>
            <a:off x="3851910" y="2204720"/>
            <a:ext cx="1273175" cy="613410"/>
          </a:xfrm>
          <a:prstGeom prst="wedgeRectCallout">
            <a:avLst>
              <a:gd name="adj1" fmla="val -72344"/>
              <a:gd name="adj2" fmla="val 190786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不考虑该物品则在上一行，直接获取结果。</a:t>
            </a:r>
            <a:endParaRPr kumimoji="0" lang="zh-CN" altLang="en-US" sz="12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宋体" panose="02010600030101010101" pitchFamily="2" charset="-122"/>
            </a:endParaRPr>
          </a:p>
        </p:txBody>
      </p:sp>
      <p:sp>
        <p:nvSpPr>
          <p:cNvPr id="68" name="Rectangle 72"/>
          <p:cNvSpPr>
            <a:spLocks noChangeArrowheads="1"/>
          </p:cNvSpPr>
          <p:nvPr/>
        </p:nvSpPr>
        <p:spPr bwMode="auto">
          <a:xfrm>
            <a:off x="3361691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73"/>
          <p:cNvSpPr>
            <a:spLocks noChangeArrowheads="1"/>
          </p:cNvSpPr>
          <p:nvPr/>
        </p:nvSpPr>
        <p:spPr bwMode="auto">
          <a:xfrm>
            <a:off x="3903028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Rectangle 74"/>
          <p:cNvSpPr>
            <a:spLocks noChangeArrowheads="1"/>
          </p:cNvSpPr>
          <p:nvPr/>
        </p:nvSpPr>
        <p:spPr bwMode="auto">
          <a:xfrm>
            <a:off x="4444366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3" name="Rectangle 75"/>
          <p:cNvSpPr>
            <a:spLocks noChangeArrowheads="1"/>
          </p:cNvSpPr>
          <p:nvPr/>
        </p:nvSpPr>
        <p:spPr bwMode="auto">
          <a:xfrm>
            <a:off x="4984116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9" name="Rectangle 76"/>
          <p:cNvSpPr>
            <a:spLocks noChangeArrowheads="1"/>
          </p:cNvSpPr>
          <p:nvPr/>
        </p:nvSpPr>
        <p:spPr bwMode="auto">
          <a:xfrm>
            <a:off x="5525453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0" name="Rectangle 77"/>
          <p:cNvSpPr>
            <a:spLocks noChangeArrowheads="1"/>
          </p:cNvSpPr>
          <p:nvPr/>
        </p:nvSpPr>
        <p:spPr bwMode="auto">
          <a:xfrm>
            <a:off x="6065203" y="3966846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1" name="Rectangle 78"/>
          <p:cNvSpPr>
            <a:spLocks noChangeArrowheads="1"/>
          </p:cNvSpPr>
          <p:nvPr/>
        </p:nvSpPr>
        <p:spPr bwMode="auto">
          <a:xfrm>
            <a:off x="6606541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2" name="Rectangle 79"/>
          <p:cNvSpPr>
            <a:spLocks noChangeArrowheads="1"/>
          </p:cNvSpPr>
          <p:nvPr/>
        </p:nvSpPr>
        <p:spPr bwMode="auto">
          <a:xfrm>
            <a:off x="7147878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3" name="Rectangle 80"/>
          <p:cNvSpPr>
            <a:spLocks noChangeArrowheads="1"/>
          </p:cNvSpPr>
          <p:nvPr/>
        </p:nvSpPr>
        <p:spPr bwMode="auto">
          <a:xfrm>
            <a:off x="7687628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6" name="Rectangle 84"/>
          <p:cNvSpPr>
            <a:spLocks noChangeArrowheads="1"/>
          </p:cNvSpPr>
          <p:nvPr/>
        </p:nvSpPr>
        <p:spPr bwMode="auto">
          <a:xfrm>
            <a:off x="2821941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7" name="Rectangle 85"/>
          <p:cNvSpPr>
            <a:spLocks noChangeArrowheads="1"/>
          </p:cNvSpPr>
          <p:nvPr/>
        </p:nvSpPr>
        <p:spPr bwMode="auto">
          <a:xfrm>
            <a:off x="3361691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8" name="Rectangle 86"/>
          <p:cNvSpPr>
            <a:spLocks noChangeArrowheads="1"/>
          </p:cNvSpPr>
          <p:nvPr/>
        </p:nvSpPr>
        <p:spPr bwMode="auto">
          <a:xfrm>
            <a:off x="3903028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9" name="Rectangle 86"/>
          <p:cNvSpPr>
            <a:spLocks noChangeArrowheads="1"/>
          </p:cNvSpPr>
          <p:nvPr/>
        </p:nvSpPr>
        <p:spPr bwMode="auto">
          <a:xfrm>
            <a:off x="4473258" y="431958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35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41" dur="1000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00"/>
                            </p:stCondLst>
                            <p:childTnLst>
                              <p:par>
                                <p:cTn id="43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44" dur="1000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7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00"/>
                            </p:stCondLst>
                            <p:childTnLst>
                              <p:par>
                                <p:cTn id="77" presetID="35" presetClass="emph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7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3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1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5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6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9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0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5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6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9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0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3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4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7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8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ldLvl="0" animBg="1"/>
      <p:bldP spid="8" grpId="1" animBg="1"/>
      <p:bldP spid="8" grpId="2" bldLvl="0" animBg="1"/>
      <p:bldP spid="8" grpId="3" bldLvl="0" animBg="1"/>
      <p:bldP spid="8" grpId="4" animBg="1"/>
      <p:bldP spid="142" grpId="0" bldLvl="0" animBg="1"/>
      <p:bldP spid="142" grpId="1" animBg="1"/>
      <p:bldP spid="142" grpId="2" bldLvl="0" animBg="1"/>
      <p:bldP spid="142" grpId="3" bldLvl="0" animBg="1"/>
      <p:bldP spid="142" grpId="4" bldLvl="0" animBg="1"/>
      <p:bldP spid="2" grpId="0"/>
      <p:bldP spid="2" grpId="1"/>
      <p:bldP spid="5" grpId="0"/>
      <p:bldP spid="5" grpId="1"/>
      <p:bldP spid="126" grpId="0"/>
      <p:bldP spid="126" grpId="1"/>
      <p:bldP spid="127" grpId="0"/>
      <p:bldP spid="127" grpId="1"/>
      <p:bldP spid="128" grpId="0"/>
      <p:bldP spid="128" grpId="1"/>
      <p:bldP spid="129" grpId="0"/>
      <p:bldP spid="129" grpId="1"/>
      <p:bldP spid="130" grpId="0"/>
      <p:bldP spid="130" grpId="1"/>
      <p:bldP spid="131" grpId="0"/>
      <p:bldP spid="131" grpId="1"/>
      <p:bldP spid="132" grpId="0"/>
      <p:bldP spid="132" grpId="1"/>
      <p:bldP spid="133" grpId="0"/>
      <p:bldP spid="133" grpId="1"/>
      <p:bldP spid="134" grpId="0"/>
      <p:bldP spid="134" grpId="1"/>
      <p:bldP spid="135" grpId="0"/>
      <p:bldP spid="135" grpId="1"/>
      <p:bldP spid="136" grpId="0"/>
      <p:bldP spid="136" grpId="1"/>
      <p:bldP spid="137" grpId="0"/>
      <p:bldP spid="137" grpId="1"/>
      <p:bldP spid="138" grpId="0"/>
      <p:bldP spid="138" grpId="1"/>
      <p:bldP spid="139" grpId="0"/>
      <p:bldP spid="139" grpId="1"/>
      <p:bldP spid="143" grpId="0"/>
      <p:bldP spid="143" grpId="1"/>
      <p:bldP spid="64" grpId="0"/>
      <p:bldP spid="64" grpId="1"/>
      <p:bldP spid="65" grpId="0" bldLvl="0" animBg="1"/>
      <p:bldP spid="65" grpId="1" animBg="1"/>
      <p:bldP spid="65" grpId="2" animBg="1"/>
      <p:bldP spid="66" grpId="0" bldLvl="0" animBg="1"/>
      <p:bldP spid="66" grpId="1" animBg="1"/>
      <p:bldP spid="66" grpId="2" bldLvl="0" animBg="1"/>
      <p:bldP spid="67" grpId="0" bldLvl="0" animBg="1"/>
      <p:bldP spid="67" grpId="1" animBg="1"/>
      <p:bldP spid="67" grpId="2" bldLvl="0" animBg="1"/>
      <p:bldP spid="68" grpId="0"/>
      <p:bldP spid="68" grpId="1"/>
      <p:bldP spid="9" grpId="0"/>
      <p:bldP spid="9" grpId="1"/>
      <p:bldP spid="10" grpId="0"/>
      <p:bldP spid="10" grpId="1"/>
      <p:bldP spid="63" grpId="0"/>
      <p:bldP spid="63" grpId="1"/>
      <p:bldP spid="69" grpId="0"/>
      <p:bldP spid="69" grpId="1"/>
      <p:bldP spid="70" grpId="0"/>
      <p:bldP spid="70" grpId="1"/>
      <p:bldP spid="71" grpId="0"/>
      <p:bldP spid="71" grpId="1"/>
      <p:bldP spid="72" grpId="0"/>
      <p:bldP spid="72" grpId="1"/>
      <p:bldP spid="73" grpId="0"/>
      <p:bldP spid="73" grpId="1"/>
      <p:bldP spid="76" grpId="0"/>
      <p:bldP spid="76" grpId="1"/>
      <p:bldP spid="77" grpId="0"/>
      <p:bldP spid="77" grpId="1"/>
      <p:bldP spid="79" grpId="0"/>
      <p:bldP spid="78" grpId="0"/>
      <p:bldP spid="79" grpId="1"/>
      <p:bldP spid="78" grpId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ectangle 7"/>
          <p:cNvSpPr>
            <a:spLocks noChangeArrowheads="1"/>
          </p:cNvSpPr>
          <p:nvPr/>
        </p:nvSpPr>
        <p:spPr bwMode="auto">
          <a:xfrm>
            <a:off x="3293746" y="3882073"/>
            <a:ext cx="541338" cy="361950"/>
          </a:xfrm>
          <a:prstGeom prst="rect">
            <a:avLst/>
          </a:prstGeom>
          <a:solidFill>
            <a:srgbClr val="6FC01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79" name="Rectangle 7"/>
          <p:cNvSpPr>
            <a:spLocks noChangeArrowheads="1"/>
          </p:cNvSpPr>
          <p:nvPr/>
        </p:nvSpPr>
        <p:spPr bwMode="auto">
          <a:xfrm>
            <a:off x="4911091" y="3878898"/>
            <a:ext cx="541338" cy="361950"/>
          </a:xfrm>
          <a:prstGeom prst="rect">
            <a:avLst/>
          </a:prstGeom>
          <a:solidFill>
            <a:srgbClr val="6FC01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07504" y="1124744"/>
            <a:ext cx="8856984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背包称重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M = 10kg,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物品的重量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= {2,3,4,7},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价值为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C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= {1,3,5,9},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问最多能装价值多大（物品每次只能选择一次）？</a:t>
            </a:r>
            <a:endParaRPr lang="zh-CN" altLang="en-US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grpSp>
        <p:nvGrpSpPr>
          <p:cNvPr id="3" name="Group 4"/>
          <p:cNvGrpSpPr>
            <a:grpSpLocks noChangeAspect="1"/>
          </p:cNvGrpSpPr>
          <p:nvPr/>
        </p:nvGrpSpPr>
        <p:grpSpPr bwMode="auto">
          <a:xfrm>
            <a:off x="1115378" y="3142933"/>
            <a:ext cx="7058025" cy="2219325"/>
            <a:chOff x="657" y="1461"/>
            <a:chExt cx="4446" cy="1398"/>
          </a:xfrm>
        </p:grpSpPr>
        <p:sp>
          <p:nvSpPr>
            <p:cNvPr id="7" name="AutoShape 3"/>
            <p:cNvSpPr>
              <a:spLocks noChangeAspect="1" noChangeArrowheads="1" noTextEdit="1"/>
            </p:cNvSpPr>
            <p:nvPr/>
          </p:nvSpPr>
          <p:spPr bwMode="auto">
            <a:xfrm>
              <a:off x="657" y="1461"/>
              <a:ext cx="4446" cy="13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Line 8"/>
            <p:cNvSpPr>
              <a:spLocks noChangeShapeType="1"/>
            </p:cNvSpPr>
            <p:nvPr/>
          </p:nvSpPr>
          <p:spPr bwMode="auto">
            <a:xfrm>
              <a:off x="1004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>
              <a:off x="1345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Line 10"/>
            <p:cNvSpPr>
              <a:spLocks noChangeShapeType="1"/>
            </p:cNvSpPr>
            <p:nvPr/>
          </p:nvSpPr>
          <p:spPr bwMode="auto">
            <a:xfrm>
              <a:off x="1686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Line 11"/>
            <p:cNvSpPr>
              <a:spLocks noChangeShapeType="1"/>
            </p:cNvSpPr>
            <p:nvPr/>
          </p:nvSpPr>
          <p:spPr bwMode="auto">
            <a:xfrm>
              <a:off x="2026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Line 12"/>
            <p:cNvSpPr>
              <a:spLocks noChangeShapeType="1"/>
            </p:cNvSpPr>
            <p:nvPr/>
          </p:nvSpPr>
          <p:spPr bwMode="auto">
            <a:xfrm>
              <a:off x="2367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Line 13"/>
            <p:cNvSpPr>
              <a:spLocks noChangeShapeType="1"/>
            </p:cNvSpPr>
            <p:nvPr/>
          </p:nvSpPr>
          <p:spPr bwMode="auto">
            <a:xfrm>
              <a:off x="2707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Line 14"/>
            <p:cNvSpPr>
              <a:spLocks noChangeShapeType="1"/>
            </p:cNvSpPr>
            <p:nvPr/>
          </p:nvSpPr>
          <p:spPr bwMode="auto">
            <a:xfrm>
              <a:off x="3048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Line 15"/>
            <p:cNvSpPr>
              <a:spLocks noChangeShapeType="1"/>
            </p:cNvSpPr>
            <p:nvPr/>
          </p:nvSpPr>
          <p:spPr bwMode="auto">
            <a:xfrm>
              <a:off x="3389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Line 16"/>
            <p:cNvSpPr>
              <a:spLocks noChangeShapeType="1"/>
            </p:cNvSpPr>
            <p:nvPr/>
          </p:nvSpPr>
          <p:spPr bwMode="auto">
            <a:xfrm>
              <a:off x="3730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Line 17"/>
            <p:cNvSpPr>
              <a:spLocks noChangeShapeType="1"/>
            </p:cNvSpPr>
            <p:nvPr/>
          </p:nvSpPr>
          <p:spPr bwMode="auto">
            <a:xfrm>
              <a:off x="4070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Line 18"/>
            <p:cNvSpPr>
              <a:spLocks noChangeShapeType="1"/>
            </p:cNvSpPr>
            <p:nvPr/>
          </p:nvSpPr>
          <p:spPr bwMode="auto">
            <a:xfrm>
              <a:off x="4411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Line 19"/>
            <p:cNvSpPr>
              <a:spLocks noChangeShapeType="1"/>
            </p:cNvSpPr>
            <p:nvPr/>
          </p:nvSpPr>
          <p:spPr bwMode="auto">
            <a:xfrm>
              <a:off x="4751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Line 20"/>
            <p:cNvSpPr>
              <a:spLocks noChangeShapeType="1"/>
            </p:cNvSpPr>
            <p:nvPr/>
          </p:nvSpPr>
          <p:spPr bwMode="auto">
            <a:xfrm>
              <a:off x="660" y="1698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Line 21"/>
            <p:cNvSpPr>
              <a:spLocks noChangeShapeType="1"/>
            </p:cNvSpPr>
            <p:nvPr/>
          </p:nvSpPr>
          <p:spPr bwMode="auto">
            <a:xfrm>
              <a:off x="660" y="1925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8" name="Line 22"/>
            <p:cNvSpPr>
              <a:spLocks noChangeShapeType="1"/>
            </p:cNvSpPr>
            <p:nvPr/>
          </p:nvSpPr>
          <p:spPr bwMode="auto">
            <a:xfrm>
              <a:off x="660" y="2153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9" name="Line 23"/>
            <p:cNvSpPr>
              <a:spLocks noChangeShapeType="1"/>
            </p:cNvSpPr>
            <p:nvPr/>
          </p:nvSpPr>
          <p:spPr bwMode="auto">
            <a:xfrm>
              <a:off x="660" y="2381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0" name="Line 24"/>
            <p:cNvSpPr>
              <a:spLocks noChangeShapeType="1"/>
            </p:cNvSpPr>
            <p:nvPr/>
          </p:nvSpPr>
          <p:spPr bwMode="auto">
            <a:xfrm>
              <a:off x="660" y="2609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1" name="Line 25"/>
            <p:cNvSpPr>
              <a:spLocks noChangeShapeType="1"/>
            </p:cNvSpPr>
            <p:nvPr/>
          </p:nvSpPr>
          <p:spPr bwMode="auto">
            <a:xfrm>
              <a:off x="664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2" name="Line 26"/>
            <p:cNvSpPr>
              <a:spLocks noChangeShapeType="1"/>
            </p:cNvSpPr>
            <p:nvPr/>
          </p:nvSpPr>
          <p:spPr bwMode="auto">
            <a:xfrm>
              <a:off x="5092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3" name="Line 27"/>
            <p:cNvSpPr>
              <a:spLocks noChangeShapeType="1"/>
            </p:cNvSpPr>
            <p:nvPr/>
          </p:nvSpPr>
          <p:spPr bwMode="auto">
            <a:xfrm>
              <a:off x="660" y="1470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" name="Line 28"/>
            <p:cNvSpPr>
              <a:spLocks noChangeShapeType="1"/>
            </p:cNvSpPr>
            <p:nvPr/>
          </p:nvSpPr>
          <p:spPr bwMode="auto">
            <a:xfrm>
              <a:off x="660" y="2837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" name="Rectangle 29"/>
            <p:cNvSpPr>
              <a:spLocks noChangeArrowheads="1"/>
            </p:cNvSpPr>
            <p:nvPr/>
          </p:nvSpPr>
          <p:spPr bwMode="auto">
            <a:xfrm>
              <a:off x="734" y="1526"/>
              <a:ext cx="162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W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6" name="Rectangle 30"/>
            <p:cNvSpPr>
              <a:spLocks noChangeArrowheads="1"/>
            </p:cNvSpPr>
            <p:nvPr/>
          </p:nvSpPr>
          <p:spPr bwMode="auto">
            <a:xfrm>
              <a:off x="836" y="1586"/>
              <a:ext cx="48" cy="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9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7" name="Rectangle 31"/>
            <p:cNvSpPr>
              <a:spLocks noChangeArrowheads="1"/>
            </p:cNvSpPr>
            <p:nvPr/>
          </p:nvSpPr>
          <p:spPr bwMode="auto">
            <a:xfrm>
              <a:off x="1050" y="1526"/>
              <a:ext cx="127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C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8" name="Rectangle 32"/>
            <p:cNvSpPr>
              <a:spLocks noChangeArrowheads="1"/>
            </p:cNvSpPr>
            <p:nvPr/>
          </p:nvSpPr>
          <p:spPr bwMode="auto">
            <a:xfrm>
              <a:off x="1129" y="1586"/>
              <a:ext cx="48" cy="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9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9" name="Rectangle 33"/>
            <p:cNvSpPr>
              <a:spLocks noChangeArrowheads="1"/>
            </p:cNvSpPr>
            <p:nvPr/>
          </p:nvSpPr>
          <p:spPr bwMode="auto">
            <a:xfrm>
              <a:off x="1391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0" name="Rectangle 34"/>
            <p:cNvSpPr>
              <a:spLocks noChangeArrowheads="1"/>
            </p:cNvSpPr>
            <p:nvPr/>
          </p:nvSpPr>
          <p:spPr bwMode="auto">
            <a:xfrm>
              <a:off x="1445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1" name="Rectangle 35"/>
            <p:cNvSpPr>
              <a:spLocks noChangeArrowheads="1"/>
            </p:cNvSpPr>
            <p:nvPr/>
          </p:nvSpPr>
          <p:spPr bwMode="auto">
            <a:xfrm>
              <a:off x="1732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2" name="Rectangle 36"/>
            <p:cNvSpPr>
              <a:spLocks noChangeArrowheads="1"/>
            </p:cNvSpPr>
            <p:nvPr/>
          </p:nvSpPr>
          <p:spPr bwMode="auto">
            <a:xfrm>
              <a:off x="1786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3" name="Rectangle 37"/>
            <p:cNvSpPr>
              <a:spLocks noChangeArrowheads="1"/>
            </p:cNvSpPr>
            <p:nvPr/>
          </p:nvSpPr>
          <p:spPr bwMode="auto">
            <a:xfrm>
              <a:off x="2072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4" name="Rectangle 38"/>
            <p:cNvSpPr>
              <a:spLocks noChangeArrowheads="1"/>
            </p:cNvSpPr>
            <p:nvPr/>
          </p:nvSpPr>
          <p:spPr bwMode="auto">
            <a:xfrm>
              <a:off x="2156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5" name="Rectangle 39"/>
            <p:cNvSpPr>
              <a:spLocks noChangeArrowheads="1"/>
            </p:cNvSpPr>
            <p:nvPr/>
          </p:nvSpPr>
          <p:spPr bwMode="auto">
            <a:xfrm>
              <a:off x="2413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6" name="Rectangle 40"/>
            <p:cNvSpPr>
              <a:spLocks noChangeArrowheads="1"/>
            </p:cNvSpPr>
            <p:nvPr/>
          </p:nvSpPr>
          <p:spPr bwMode="auto">
            <a:xfrm>
              <a:off x="2497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7" name="Rectangle 41"/>
            <p:cNvSpPr>
              <a:spLocks noChangeArrowheads="1"/>
            </p:cNvSpPr>
            <p:nvPr/>
          </p:nvSpPr>
          <p:spPr bwMode="auto">
            <a:xfrm>
              <a:off x="2754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8" name="Rectangle 42"/>
            <p:cNvSpPr>
              <a:spLocks noChangeArrowheads="1"/>
            </p:cNvSpPr>
            <p:nvPr/>
          </p:nvSpPr>
          <p:spPr bwMode="auto">
            <a:xfrm>
              <a:off x="2838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9" name="Rectangle 43"/>
            <p:cNvSpPr>
              <a:spLocks noChangeArrowheads="1"/>
            </p:cNvSpPr>
            <p:nvPr/>
          </p:nvSpPr>
          <p:spPr bwMode="auto">
            <a:xfrm>
              <a:off x="3094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0" name="Rectangle 44"/>
            <p:cNvSpPr>
              <a:spLocks noChangeArrowheads="1"/>
            </p:cNvSpPr>
            <p:nvPr/>
          </p:nvSpPr>
          <p:spPr bwMode="auto">
            <a:xfrm>
              <a:off x="3148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1" name="Rectangle 45"/>
            <p:cNvSpPr>
              <a:spLocks noChangeArrowheads="1"/>
            </p:cNvSpPr>
            <p:nvPr/>
          </p:nvSpPr>
          <p:spPr bwMode="auto">
            <a:xfrm>
              <a:off x="3435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6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2" name="Rectangle 46"/>
            <p:cNvSpPr>
              <a:spLocks noChangeArrowheads="1"/>
            </p:cNvSpPr>
            <p:nvPr/>
          </p:nvSpPr>
          <p:spPr bwMode="auto">
            <a:xfrm>
              <a:off x="3489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3" name="Rectangle 47"/>
            <p:cNvSpPr>
              <a:spLocks noChangeArrowheads="1"/>
            </p:cNvSpPr>
            <p:nvPr/>
          </p:nvSpPr>
          <p:spPr bwMode="auto">
            <a:xfrm>
              <a:off x="3775" y="1526"/>
              <a:ext cx="10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4" name="Rectangle 48"/>
            <p:cNvSpPr>
              <a:spLocks noChangeArrowheads="1"/>
            </p:cNvSpPr>
            <p:nvPr/>
          </p:nvSpPr>
          <p:spPr bwMode="auto">
            <a:xfrm>
              <a:off x="3830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5" name="Rectangle 49"/>
            <p:cNvSpPr>
              <a:spLocks noChangeArrowheads="1"/>
            </p:cNvSpPr>
            <p:nvPr/>
          </p:nvSpPr>
          <p:spPr bwMode="auto">
            <a:xfrm>
              <a:off x="4116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8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6" name="Rectangle 50"/>
            <p:cNvSpPr>
              <a:spLocks noChangeArrowheads="1"/>
            </p:cNvSpPr>
            <p:nvPr/>
          </p:nvSpPr>
          <p:spPr bwMode="auto">
            <a:xfrm>
              <a:off x="4170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7" name="Rectangle 51"/>
            <p:cNvSpPr>
              <a:spLocks noChangeArrowheads="1"/>
            </p:cNvSpPr>
            <p:nvPr/>
          </p:nvSpPr>
          <p:spPr bwMode="auto">
            <a:xfrm>
              <a:off x="4457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8" name="Rectangle 52"/>
            <p:cNvSpPr>
              <a:spLocks noChangeArrowheads="1"/>
            </p:cNvSpPr>
            <p:nvPr/>
          </p:nvSpPr>
          <p:spPr bwMode="auto">
            <a:xfrm>
              <a:off x="4511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9" name="Rectangle 53"/>
            <p:cNvSpPr>
              <a:spLocks noChangeArrowheads="1"/>
            </p:cNvSpPr>
            <p:nvPr/>
          </p:nvSpPr>
          <p:spPr bwMode="auto">
            <a:xfrm>
              <a:off x="4797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0" name="Rectangle 54"/>
            <p:cNvSpPr>
              <a:spLocks noChangeArrowheads="1"/>
            </p:cNvSpPr>
            <p:nvPr/>
          </p:nvSpPr>
          <p:spPr bwMode="auto">
            <a:xfrm>
              <a:off x="4906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1" name="Rectangle 55"/>
            <p:cNvSpPr>
              <a:spLocks noChangeArrowheads="1"/>
            </p:cNvSpPr>
            <p:nvPr/>
          </p:nvSpPr>
          <p:spPr bwMode="auto">
            <a:xfrm>
              <a:off x="710" y="1752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2" name="Rectangle 56"/>
            <p:cNvSpPr>
              <a:spLocks noChangeArrowheads="1"/>
            </p:cNvSpPr>
            <p:nvPr/>
          </p:nvSpPr>
          <p:spPr bwMode="auto">
            <a:xfrm>
              <a:off x="1050" y="1752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4" name="Rectangle 68"/>
            <p:cNvSpPr>
              <a:spLocks noChangeArrowheads="1"/>
            </p:cNvSpPr>
            <p:nvPr/>
          </p:nvSpPr>
          <p:spPr bwMode="auto">
            <a:xfrm>
              <a:off x="710" y="1980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5" name="Rectangle 69"/>
            <p:cNvSpPr>
              <a:spLocks noChangeArrowheads="1"/>
            </p:cNvSpPr>
            <p:nvPr/>
          </p:nvSpPr>
          <p:spPr bwMode="auto">
            <a:xfrm>
              <a:off x="1050" y="1980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7" name="Rectangle 81"/>
            <p:cNvSpPr>
              <a:spLocks noChangeArrowheads="1"/>
            </p:cNvSpPr>
            <p:nvPr/>
          </p:nvSpPr>
          <p:spPr bwMode="auto">
            <a:xfrm>
              <a:off x="710" y="2209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8" name="Rectangle 82"/>
            <p:cNvSpPr>
              <a:spLocks noChangeArrowheads="1"/>
            </p:cNvSpPr>
            <p:nvPr/>
          </p:nvSpPr>
          <p:spPr bwMode="auto">
            <a:xfrm>
              <a:off x="1050" y="2209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93" name="Rectangle 87"/>
            <p:cNvSpPr>
              <a:spLocks noChangeArrowheads="1"/>
            </p:cNvSpPr>
            <p:nvPr/>
          </p:nvSpPr>
          <p:spPr bwMode="auto">
            <a:xfrm>
              <a:off x="2754" y="2209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0" name="Rectangle 94"/>
            <p:cNvSpPr>
              <a:spLocks noChangeArrowheads="1"/>
            </p:cNvSpPr>
            <p:nvPr/>
          </p:nvSpPr>
          <p:spPr bwMode="auto">
            <a:xfrm>
              <a:off x="710" y="2437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1" name="Rectangle 95"/>
            <p:cNvSpPr>
              <a:spLocks noChangeArrowheads="1"/>
            </p:cNvSpPr>
            <p:nvPr/>
          </p:nvSpPr>
          <p:spPr bwMode="auto">
            <a:xfrm>
              <a:off x="1050" y="2437"/>
              <a:ext cx="10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3" name="Rectangle 107"/>
            <p:cNvSpPr>
              <a:spLocks noChangeArrowheads="1"/>
            </p:cNvSpPr>
            <p:nvPr/>
          </p:nvSpPr>
          <p:spPr bwMode="auto">
            <a:xfrm>
              <a:off x="710" y="2663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4" name="Rectangle 108"/>
            <p:cNvSpPr>
              <a:spLocks noChangeArrowheads="1"/>
            </p:cNvSpPr>
            <p:nvPr/>
          </p:nvSpPr>
          <p:spPr bwMode="auto">
            <a:xfrm>
              <a:off x="1050" y="2663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2" name="Rectangle 57"/>
          <p:cNvSpPr>
            <a:spLocks noChangeArrowheads="1"/>
          </p:cNvSpPr>
          <p:nvPr/>
        </p:nvSpPr>
        <p:spPr bwMode="auto">
          <a:xfrm>
            <a:off x="2280603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5" name="Rectangle 58"/>
          <p:cNvSpPr>
            <a:spLocks noChangeArrowheads="1"/>
          </p:cNvSpPr>
          <p:nvPr/>
        </p:nvSpPr>
        <p:spPr bwMode="auto">
          <a:xfrm>
            <a:off x="2821941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6" name="Rectangle 59"/>
          <p:cNvSpPr>
            <a:spLocks noChangeArrowheads="1"/>
          </p:cNvSpPr>
          <p:nvPr/>
        </p:nvSpPr>
        <p:spPr bwMode="auto">
          <a:xfrm>
            <a:off x="3361691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7" name="Rectangle 60"/>
          <p:cNvSpPr>
            <a:spLocks noChangeArrowheads="1"/>
          </p:cNvSpPr>
          <p:nvPr/>
        </p:nvSpPr>
        <p:spPr bwMode="auto">
          <a:xfrm>
            <a:off x="3903028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8" name="Rectangle 61"/>
          <p:cNvSpPr>
            <a:spLocks noChangeArrowheads="1"/>
          </p:cNvSpPr>
          <p:nvPr/>
        </p:nvSpPr>
        <p:spPr bwMode="auto">
          <a:xfrm>
            <a:off x="4444366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9" name="Rectangle 62"/>
          <p:cNvSpPr>
            <a:spLocks noChangeArrowheads="1"/>
          </p:cNvSpPr>
          <p:nvPr/>
        </p:nvSpPr>
        <p:spPr bwMode="auto">
          <a:xfrm>
            <a:off x="4984116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0" name="Rectangle 63"/>
          <p:cNvSpPr>
            <a:spLocks noChangeArrowheads="1"/>
          </p:cNvSpPr>
          <p:nvPr/>
        </p:nvSpPr>
        <p:spPr bwMode="auto">
          <a:xfrm>
            <a:off x="5525453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1" name="Rectangle 64"/>
          <p:cNvSpPr>
            <a:spLocks noChangeArrowheads="1"/>
          </p:cNvSpPr>
          <p:nvPr/>
        </p:nvSpPr>
        <p:spPr bwMode="auto">
          <a:xfrm>
            <a:off x="6065203" y="3604896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2" name="Rectangle 65"/>
          <p:cNvSpPr>
            <a:spLocks noChangeArrowheads="1"/>
          </p:cNvSpPr>
          <p:nvPr/>
        </p:nvSpPr>
        <p:spPr bwMode="auto">
          <a:xfrm>
            <a:off x="6606541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3" name="Rectangle 66"/>
          <p:cNvSpPr>
            <a:spLocks noChangeArrowheads="1"/>
          </p:cNvSpPr>
          <p:nvPr/>
        </p:nvSpPr>
        <p:spPr bwMode="auto">
          <a:xfrm>
            <a:off x="7147878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4" name="Rectangle 67"/>
          <p:cNvSpPr>
            <a:spLocks noChangeArrowheads="1"/>
          </p:cNvSpPr>
          <p:nvPr/>
        </p:nvSpPr>
        <p:spPr bwMode="auto">
          <a:xfrm>
            <a:off x="7687628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5" name="Rectangle 70"/>
          <p:cNvSpPr>
            <a:spLocks noChangeArrowheads="1"/>
          </p:cNvSpPr>
          <p:nvPr/>
        </p:nvSpPr>
        <p:spPr bwMode="auto">
          <a:xfrm>
            <a:off x="2280603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6" name="Rectangle 83"/>
          <p:cNvSpPr>
            <a:spLocks noChangeArrowheads="1"/>
          </p:cNvSpPr>
          <p:nvPr/>
        </p:nvSpPr>
        <p:spPr bwMode="auto">
          <a:xfrm>
            <a:off x="2280603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7" name="Rectangle 96"/>
          <p:cNvSpPr>
            <a:spLocks noChangeArrowheads="1"/>
          </p:cNvSpPr>
          <p:nvPr/>
        </p:nvSpPr>
        <p:spPr bwMode="auto">
          <a:xfrm>
            <a:off x="2280603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8" name="Rectangle 109"/>
          <p:cNvSpPr>
            <a:spLocks noChangeArrowheads="1"/>
          </p:cNvSpPr>
          <p:nvPr/>
        </p:nvSpPr>
        <p:spPr bwMode="auto">
          <a:xfrm>
            <a:off x="2280603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43" name="Rectangle 71"/>
          <p:cNvSpPr>
            <a:spLocks noChangeArrowheads="1"/>
          </p:cNvSpPr>
          <p:nvPr/>
        </p:nvSpPr>
        <p:spPr bwMode="auto">
          <a:xfrm>
            <a:off x="2821941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4" name="文本框 63"/>
          <p:cNvSpPr txBox="1"/>
          <p:nvPr/>
        </p:nvSpPr>
        <p:spPr>
          <a:xfrm>
            <a:off x="1127125" y="5362575"/>
            <a:ext cx="7047865" cy="20542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j&gt;=w[i]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表明可以装该物品，那么就可以考虑两个情况，①不考虑该物品的价值是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，②考虑该物品的价值，加上剩下空间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，能存放的价值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。然后两者选择最大的值。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矩形标注 65"/>
          <p:cNvSpPr/>
          <p:nvPr/>
        </p:nvSpPr>
        <p:spPr>
          <a:xfrm>
            <a:off x="3676015" y="2346960"/>
            <a:ext cx="1308100" cy="758190"/>
          </a:xfrm>
          <a:prstGeom prst="wedgeRectCallout">
            <a:avLst>
              <a:gd name="adj1" fmla="val -63932"/>
              <a:gd name="adj2" fmla="val 167839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考虑该物品，剩余空间为</a:t>
            </a:r>
            <a:r>
              <a:rPr kumimoji="0" lang="en-US" altLang="zh-CN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j-w[i],</a:t>
            </a: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它能盛放最大价值为</a:t>
            </a:r>
            <a:r>
              <a:rPr kumimoji="0" lang="en-US" altLang="zh-CN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1</a:t>
            </a: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。</a:t>
            </a:r>
            <a:endParaRPr kumimoji="0" lang="zh-CN" altLang="en-US" sz="12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宋体" panose="02010600030101010101" pitchFamily="2" charset="-122"/>
            </a:endParaRPr>
          </a:p>
        </p:txBody>
      </p:sp>
      <p:sp>
        <p:nvSpPr>
          <p:cNvPr id="68" name="Rectangle 72"/>
          <p:cNvSpPr>
            <a:spLocks noChangeArrowheads="1"/>
          </p:cNvSpPr>
          <p:nvPr/>
        </p:nvSpPr>
        <p:spPr bwMode="auto">
          <a:xfrm>
            <a:off x="3361691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73"/>
          <p:cNvSpPr>
            <a:spLocks noChangeArrowheads="1"/>
          </p:cNvSpPr>
          <p:nvPr/>
        </p:nvSpPr>
        <p:spPr bwMode="auto">
          <a:xfrm>
            <a:off x="3903028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Rectangle 74"/>
          <p:cNvSpPr>
            <a:spLocks noChangeArrowheads="1"/>
          </p:cNvSpPr>
          <p:nvPr/>
        </p:nvSpPr>
        <p:spPr bwMode="auto">
          <a:xfrm>
            <a:off x="4444366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3" name="Rectangle 75"/>
          <p:cNvSpPr>
            <a:spLocks noChangeArrowheads="1"/>
          </p:cNvSpPr>
          <p:nvPr/>
        </p:nvSpPr>
        <p:spPr bwMode="auto">
          <a:xfrm>
            <a:off x="4984116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9" name="Rectangle 76"/>
          <p:cNvSpPr>
            <a:spLocks noChangeArrowheads="1"/>
          </p:cNvSpPr>
          <p:nvPr/>
        </p:nvSpPr>
        <p:spPr bwMode="auto">
          <a:xfrm>
            <a:off x="5525453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0" name="Rectangle 77"/>
          <p:cNvSpPr>
            <a:spLocks noChangeArrowheads="1"/>
          </p:cNvSpPr>
          <p:nvPr/>
        </p:nvSpPr>
        <p:spPr bwMode="auto">
          <a:xfrm>
            <a:off x="6065203" y="3966846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1" name="Rectangle 78"/>
          <p:cNvSpPr>
            <a:spLocks noChangeArrowheads="1"/>
          </p:cNvSpPr>
          <p:nvPr/>
        </p:nvSpPr>
        <p:spPr bwMode="auto">
          <a:xfrm>
            <a:off x="6606541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2" name="Rectangle 79"/>
          <p:cNvSpPr>
            <a:spLocks noChangeArrowheads="1"/>
          </p:cNvSpPr>
          <p:nvPr/>
        </p:nvSpPr>
        <p:spPr bwMode="auto">
          <a:xfrm>
            <a:off x="7147878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3" name="Rectangle 80"/>
          <p:cNvSpPr>
            <a:spLocks noChangeArrowheads="1"/>
          </p:cNvSpPr>
          <p:nvPr/>
        </p:nvSpPr>
        <p:spPr bwMode="auto">
          <a:xfrm>
            <a:off x="7687628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6" name="Rectangle 84"/>
          <p:cNvSpPr>
            <a:spLocks noChangeArrowheads="1"/>
          </p:cNvSpPr>
          <p:nvPr/>
        </p:nvSpPr>
        <p:spPr bwMode="auto">
          <a:xfrm>
            <a:off x="2821941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7" name="Rectangle 85"/>
          <p:cNvSpPr>
            <a:spLocks noChangeArrowheads="1"/>
          </p:cNvSpPr>
          <p:nvPr/>
        </p:nvSpPr>
        <p:spPr bwMode="auto">
          <a:xfrm>
            <a:off x="3361691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0" name="矩形标注 79"/>
          <p:cNvSpPr/>
          <p:nvPr/>
        </p:nvSpPr>
        <p:spPr>
          <a:xfrm>
            <a:off x="5452745" y="2491740"/>
            <a:ext cx="1273175" cy="613410"/>
          </a:xfrm>
          <a:prstGeom prst="wedgeRectCallout">
            <a:avLst>
              <a:gd name="adj1" fmla="val -72344"/>
              <a:gd name="adj2" fmla="val 190786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不考虑该物品则在上一行，直接获取结果。</a:t>
            </a:r>
            <a:endParaRPr kumimoji="0" lang="zh-CN" altLang="en-US" sz="12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宋体" panose="02010600030101010101" pitchFamily="2" charset="-122"/>
            </a:endParaRPr>
          </a:p>
        </p:txBody>
      </p:sp>
      <p:sp>
        <p:nvSpPr>
          <p:cNvPr id="82" name="Rectangle 88"/>
          <p:cNvSpPr>
            <a:spLocks noChangeArrowheads="1"/>
          </p:cNvSpPr>
          <p:nvPr/>
        </p:nvSpPr>
        <p:spPr bwMode="auto">
          <a:xfrm>
            <a:off x="4984116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3" name="Rectangle 89"/>
          <p:cNvSpPr>
            <a:spLocks noChangeArrowheads="1"/>
          </p:cNvSpPr>
          <p:nvPr/>
        </p:nvSpPr>
        <p:spPr bwMode="auto">
          <a:xfrm>
            <a:off x="5525453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4" name="Rectangle 90"/>
          <p:cNvSpPr>
            <a:spLocks noChangeArrowheads="1"/>
          </p:cNvSpPr>
          <p:nvPr/>
        </p:nvSpPr>
        <p:spPr bwMode="auto">
          <a:xfrm>
            <a:off x="6065203" y="4330383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5" name="Rectangle 91"/>
          <p:cNvSpPr>
            <a:spLocks noChangeArrowheads="1"/>
          </p:cNvSpPr>
          <p:nvPr/>
        </p:nvSpPr>
        <p:spPr bwMode="auto">
          <a:xfrm>
            <a:off x="6606541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6" name="Rectangle 92"/>
          <p:cNvSpPr>
            <a:spLocks noChangeArrowheads="1"/>
          </p:cNvSpPr>
          <p:nvPr/>
        </p:nvSpPr>
        <p:spPr bwMode="auto">
          <a:xfrm>
            <a:off x="7147878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9" name="Rectangle 93"/>
          <p:cNvSpPr>
            <a:spLocks noChangeArrowheads="1"/>
          </p:cNvSpPr>
          <p:nvPr/>
        </p:nvSpPr>
        <p:spPr bwMode="auto">
          <a:xfrm>
            <a:off x="7687628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0" name="Rectangle 97"/>
          <p:cNvSpPr>
            <a:spLocks noChangeArrowheads="1"/>
          </p:cNvSpPr>
          <p:nvPr/>
        </p:nvSpPr>
        <p:spPr bwMode="auto">
          <a:xfrm>
            <a:off x="2821941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1" name="Rectangle 98"/>
          <p:cNvSpPr>
            <a:spLocks noChangeArrowheads="1"/>
          </p:cNvSpPr>
          <p:nvPr/>
        </p:nvSpPr>
        <p:spPr bwMode="auto">
          <a:xfrm>
            <a:off x="3361691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2" name="Rectangle 99"/>
          <p:cNvSpPr>
            <a:spLocks noChangeArrowheads="1"/>
          </p:cNvSpPr>
          <p:nvPr/>
        </p:nvSpPr>
        <p:spPr bwMode="auto">
          <a:xfrm>
            <a:off x="3903028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2" name="Rectangle 100"/>
          <p:cNvSpPr>
            <a:spLocks noChangeArrowheads="1"/>
          </p:cNvSpPr>
          <p:nvPr/>
        </p:nvSpPr>
        <p:spPr bwMode="auto">
          <a:xfrm>
            <a:off x="4444366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5" name="Rectangle 101"/>
          <p:cNvSpPr>
            <a:spLocks noChangeArrowheads="1"/>
          </p:cNvSpPr>
          <p:nvPr/>
        </p:nvSpPr>
        <p:spPr bwMode="auto">
          <a:xfrm>
            <a:off x="4984116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0" name="Rectangle 102"/>
          <p:cNvSpPr>
            <a:spLocks noChangeArrowheads="1"/>
          </p:cNvSpPr>
          <p:nvPr/>
        </p:nvSpPr>
        <p:spPr bwMode="auto">
          <a:xfrm>
            <a:off x="5525453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6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1" name="Rectangle 103"/>
          <p:cNvSpPr>
            <a:spLocks noChangeArrowheads="1"/>
          </p:cNvSpPr>
          <p:nvPr/>
        </p:nvSpPr>
        <p:spPr bwMode="auto">
          <a:xfrm>
            <a:off x="6065203" y="4692333"/>
            <a:ext cx="88900" cy="2152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8</a:t>
            </a:r>
            <a:endParaRPr kumimoji="0" lang="en-US" altLang="zh-CN" sz="14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44" name="Rectangle 104"/>
          <p:cNvSpPr>
            <a:spLocks noChangeArrowheads="1"/>
          </p:cNvSpPr>
          <p:nvPr/>
        </p:nvSpPr>
        <p:spPr bwMode="auto">
          <a:xfrm>
            <a:off x="6606541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8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5" name="Rectangle 105"/>
          <p:cNvSpPr>
            <a:spLocks noChangeArrowheads="1"/>
          </p:cNvSpPr>
          <p:nvPr/>
        </p:nvSpPr>
        <p:spPr bwMode="auto">
          <a:xfrm>
            <a:off x="7147878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6" name="Rectangle 106"/>
          <p:cNvSpPr>
            <a:spLocks noChangeArrowheads="1"/>
          </p:cNvSpPr>
          <p:nvPr/>
        </p:nvSpPr>
        <p:spPr bwMode="auto">
          <a:xfrm>
            <a:off x="7687628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7" name="Rectangle 110"/>
          <p:cNvSpPr>
            <a:spLocks noChangeArrowheads="1"/>
          </p:cNvSpPr>
          <p:nvPr/>
        </p:nvSpPr>
        <p:spPr bwMode="auto">
          <a:xfrm>
            <a:off x="2821941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8" name="Rectangle 111"/>
          <p:cNvSpPr>
            <a:spLocks noChangeArrowheads="1"/>
          </p:cNvSpPr>
          <p:nvPr/>
        </p:nvSpPr>
        <p:spPr bwMode="auto">
          <a:xfrm>
            <a:off x="3361691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9" name="Rectangle 112"/>
          <p:cNvSpPr>
            <a:spLocks noChangeArrowheads="1"/>
          </p:cNvSpPr>
          <p:nvPr/>
        </p:nvSpPr>
        <p:spPr bwMode="auto">
          <a:xfrm>
            <a:off x="3903028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0" name="Rectangle 113"/>
          <p:cNvSpPr>
            <a:spLocks noChangeArrowheads="1"/>
          </p:cNvSpPr>
          <p:nvPr/>
        </p:nvSpPr>
        <p:spPr bwMode="auto">
          <a:xfrm>
            <a:off x="4444366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1" name="Rectangle 114"/>
          <p:cNvSpPr>
            <a:spLocks noChangeArrowheads="1"/>
          </p:cNvSpPr>
          <p:nvPr/>
        </p:nvSpPr>
        <p:spPr bwMode="auto">
          <a:xfrm>
            <a:off x="4984116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2" name="Rectangle 115"/>
          <p:cNvSpPr>
            <a:spLocks noChangeArrowheads="1"/>
          </p:cNvSpPr>
          <p:nvPr/>
        </p:nvSpPr>
        <p:spPr bwMode="auto">
          <a:xfrm>
            <a:off x="5525453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6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3" name="Rectangle 116"/>
          <p:cNvSpPr>
            <a:spLocks noChangeArrowheads="1"/>
          </p:cNvSpPr>
          <p:nvPr/>
        </p:nvSpPr>
        <p:spPr bwMode="auto">
          <a:xfrm>
            <a:off x="6065203" y="5051108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4" name="Rectangle 117"/>
          <p:cNvSpPr>
            <a:spLocks noChangeArrowheads="1"/>
          </p:cNvSpPr>
          <p:nvPr/>
        </p:nvSpPr>
        <p:spPr bwMode="auto">
          <a:xfrm>
            <a:off x="6606541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5" name="Rectangle 118"/>
          <p:cNvSpPr>
            <a:spLocks noChangeArrowheads="1"/>
          </p:cNvSpPr>
          <p:nvPr/>
        </p:nvSpPr>
        <p:spPr bwMode="auto">
          <a:xfrm>
            <a:off x="7147878" y="5051108"/>
            <a:ext cx="26670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6" name="Rectangle 119"/>
          <p:cNvSpPr>
            <a:spLocks noChangeArrowheads="1"/>
          </p:cNvSpPr>
          <p:nvPr/>
        </p:nvSpPr>
        <p:spPr bwMode="auto">
          <a:xfrm>
            <a:off x="7687628" y="5051108"/>
            <a:ext cx="177800" cy="2152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r>
              <a:rPr kumimoji="0" lang="en-US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2</a:t>
            </a:r>
            <a:endParaRPr kumimoji="0" lang="en-US" altLang="zh-CN" sz="14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8" name="Rectangle 86"/>
          <p:cNvSpPr>
            <a:spLocks noChangeArrowheads="1"/>
          </p:cNvSpPr>
          <p:nvPr/>
        </p:nvSpPr>
        <p:spPr bwMode="auto">
          <a:xfrm>
            <a:off x="3903028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9" dur="1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9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22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1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1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3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" grpId="0" bldLvl="0" animBg="1"/>
      <p:bldP spid="81" grpId="1" animBg="1"/>
      <p:bldP spid="81" grpId="2" bldLvl="0" animBg="1"/>
      <p:bldP spid="79" grpId="0" bldLvl="0" animBg="1"/>
      <p:bldP spid="79" grpId="1" animBg="1"/>
      <p:bldP spid="79" grpId="2" bldLvl="0" animBg="1"/>
      <p:bldP spid="2" grpId="1"/>
      <p:bldP spid="5" grpId="1"/>
      <p:bldP spid="126" grpId="1"/>
      <p:bldP spid="127" grpId="1"/>
      <p:bldP spid="128" grpId="1"/>
      <p:bldP spid="129" grpId="1"/>
      <p:bldP spid="130" grpId="1"/>
      <p:bldP spid="131" grpId="1"/>
      <p:bldP spid="132" grpId="1"/>
      <p:bldP spid="133" grpId="1"/>
      <p:bldP spid="134" grpId="1"/>
      <p:bldP spid="135" grpId="1"/>
      <p:bldP spid="136" grpId="1"/>
      <p:bldP spid="137" grpId="1"/>
      <p:bldP spid="138" grpId="1"/>
      <p:bldP spid="143" grpId="1"/>
      <p:bldP spid="64" grpId="1"/>
      <p:bldP spid="66" grpId="0" animBg="1"/>
      <p:bldP spid="66" grpId="1" animBg="1"/>
      <p:bldP spid="68" grpId="1"/>
      <p:bldP spid="9" grpId="1"/>
      <p:bldP spid="10" grpId="1"/>
      <p:bldP spid="63" grpId="1"/>
      <p:bldP spid="69" grpId="1"/>
      <p:bldP spid="70" grpId="1"/>
      <p:bldP spid="71" grpId="1"/>
      <p:bldP spid="72" grpId="1"/>
      <p:bldP spid="73" grpId="1"/>
      <p:bldP spid="76" grpId="1"/>
      <p:bldP spid="77" grpId="1"/>
      <p:bldP spid="80" grpId="0" bldLvl="0" animBg="1"/>
      <p:bldP spid="80" grpId="1" animBg="1"/>
      <p:bldP spid="82" grpId="0"/>
      <p:bldP spid="82" grpId="1"/>
      <p:bldP spid="83" grpId="0"/>
      <p:bldP spid="83" grpId="1"/>
      <p:bldP spid="84" grpId="0"/>
      <p:bldP spid="84" grpId="1"/>
      <p:bldP spid="85" grpId="0"/>
      <p:bldP spid="85" grpId="1"/>
      <p:bldP spid="86" grpId="0"/>
      <p:bldP spid="86" grpId="1"/>
      <p:bldP spid="89" grpId="0"/>
      <p:bldP spid="89" grpId="1"/>
      <p:bldP spid="90" grpId="0"/>
      <p:bldP spid="90" grpId="1"/>
      <p:bldP spid="91" grpId="0"/>
      <p:bldP spid="91" grpId="1"/>
      <p:bldP spid="92" grpId="0"/>
      <p:bldP spid="92" grpId="1"/>
      <p:bldP spid="102" grpId="0"/>
      <p:bldP spid="102" grpId="1"/>
      <p:bldP spid="115" grpId="0"/>
      <p:bldP spid="115" grpId="1"/>
      <p:bldP spid="140" grpId="0"/>
      <p:bldP spid="140" grpId="1"/>
      <p:bldP spid="141" grpId="0"/>
      <p:bldP spid="141" grpId="1"/>
      <p:bldP spid="144" grpId="0"/>
      <p:bldP spid="144" grpId="1"/>
      <p:bldP spid="145" grpId="0"/>
      <p:bldP spid="145" grpId="1"/>
      <p:bldP spid="146" grpId="0"/>
      <p:bldP spid="146" grpId="1"/>
      <p:bldP spid="147" grpId="0"/>
      <p:bldP spid="147" grpId="1"/>
      <p:bldP spid="148" grpId="0"/>
      <p:bldP spid="148" grpId="1"/>
      <p:bldP spid="149" grpId="0"/>
      <p:bldP spid="149" grpId="1"/>
      <p:bldP spid="150" grpId="0"/>
      <p:bldP spid="150" grpId="1"/>
      <p:bldP spid="151" grpId="0"/>
      <p:bldP spid="151" grpId="1"/>
      <p:bldP spid="152" grpId="0"/>
      <p:bldP spid="152" grpId="1"/>
      <p:bldP spid="153" grpId="0"/>
      <p:bldP spid="153" grpId="1"/>
      <p:bldP spid="154" grpId="0"/>
      <p:bldP spid="154" grpId="1"/>
      <p:bldP spid="155" grpId="0"/>
      <p:bldP spid="155" grpId="1"/>
      <p:bldP spid="156" grpId="0"/>
      <p:bldP spid="156" grpId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8" name="文本框 7"/>
          <p:cNvSpPr txBox="1"/>
          <p:nvPr/>
        </p:nvSpPr>
        <p:spPr>
          <a:xfrm>
            <a:off x="179070" y="764540"/>
            <a:ext cx="2254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确定状态转移方程</a:t>
            </a:r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2610485" y="1484630"/>
            <a:ext cx="3404235" cy="4997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当前物品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能不能放入背包？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cxnSp>
        <p:nvCxnSpPr>
          <p:cNvPr id="65" name="直接箭头连接符 64"/>
          <p:cNvCxnSpPr/>
          <p:nvPr/>
        </p:nvCxnSpPr>
        <p:spPr>
          <a:xfrm>
            <a:off x="4165600" y="1823720"/>
            <a:ext cx="677545" cy="669290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67" name="直接箭头连接符 66"/>
          <p:cNvCxnSpPr/>
          <p:nvPr/>
        </p:nvCxnSpPr>
        <p:spPr>
          <a:xfrm flipH="1">
            <a:off x="3572510" y="1835785"/>
            <a:ext cx="601980" cy="686435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94" name="文本框 93"/>
          <p:cNvSpPr txBox="1"/>
          <p:nvPr/>
        </p:nvSpPr>
        <p:spPr>
          <a:xfrm>
            <a:off x="2258695" y="2529205"/>
            <a:ext cx="1877695" cy="9207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若放不下该物品，则该位置的价值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dp[i-1][j]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4410710" y="2529205"/>
            <a:ext cx="188404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若放得下该物品，可以考虑选与不选</a:t>
            </a:r>
            <a:endParaRPr lang="zh-CN" altLang="en-US"/>
          </a:p>
        </p:txBody>
      </p:sp>
      <p:cxnSp>
        <p:nvCxnSpPr>
          <p:cNvPr id="96" name="直接箭头连接符 95"/>
          <p:cNvCxnSpPr/>
          <p:nvPr/>
        </p:nvCxnSpPr>
        <p:spPr>
          <a:xfrm>
            <a:off x="5274945" y="3354705"/>
            <a:ext cx="677545" cy="669290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97" name="直接箭头连接符 96"/>
          <p:cNvCxnSpPr/>
          <p:nvPr/>
        </p:nvCxnSpPr>
        <p:spPr>
          <a:xfrm flipH="1">
            <a:off x="4681855" y="3366770"/>
            <a:ext cx="601980" cy="686435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98" name="文本框 97"/>
          <p:cNvSpPr txBox="1"/>
          <p:nvPr/>
        </p:nvSpPr>
        <p:spPr>
          <a:xfrm>
            <a:off x="3763010" y="4088765"/>
            <a:ext cx="1429385" cy="3575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该位置的价值</a:t>
            </a:r>
            <a:r>
              <a:rPr lang="en-US" altLang="zh-CN">
                <a:uFillTx/>
                <a:latin typeface="Times New Roman" panose="02020603050405020304" pitchFamily="18" charset="0"/>
                <a:sym typeface="+mn-ea"/>
              </a:rPr>
              <a:t>dp[i-1][j]</a:t>
            </a:r>
            <a:endParaRPr lang="en-US" altLang="zh-CN"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99" name="文本框 98"/>
          <p:cNvSpPr txBox="1"/>
          <p:nvPr/>
        </p:nvSpPr>
        <p:spPr>
          <a:xfrm>
            <a:off x="4238625" y="3422650"/>
            <a:ext cx="810260" cy="3009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不选</a:t>
            </a:r>
            <a:endParaRPr lang="zh-CN" altLang="en-US">
              <a:solidFill>
                <a:schemeClr val="accent1"/>
              </a:solidFill>
            </a:endParaRPr>
          </a:p>
        </p:txBody>
      </p:sp>
      <p:sp>
        <p:nvSpPr>
          <p:cNvPr id="103" name="文本框 102"/>
          <p:cNvSpPr txBox="1"/>
          <p:nvPr/>
        </p:nvSpPr>
        <p:spPr>
          <a:xfrm>
            <a:off x="5661660" y="3422650"/>
            <a:ext cx="810260" cy="3009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选</a:t>
            </a:r>
            <a:endParaRPr lang="zh-CN" altLang="en-US">
              <a:solidFill>
                <a:schemeClr val="accent1"/>
              </a:solidFill>
            </a:endParaRPr>
          </a:p>
        </p:txBody>
      </p:sp>
      <p:sp>
        <p:nvSpPr>
          <p:cNvPr id="104" name="文本框 103"/>
          <p:cNvSpPr txBox="1"/>
          <p:nvPr/>
        </p:nvSpPr>
        <p:spPr>
          <a:xfrm>
            <a:off x="5259070" y="4107180"/>
            <a:ext cx="2051685" cy="10477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加上该物品</a:t>
            </a:r>
            <a:r>
              <a:rPr lang="en-US" altLang="zh-CN"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价值，剩下空间为</a:t>
            </a:r>
            <a:r>
              <a:rPr lang="en-US" altLang="zh-CN">
                <a:uFillTx/>
                <a:latin typeface="Times New Roman" panose="02020603050405020304" pitchFamily="18" charset="0"/>
                <a:sym typeface="+mn-ea"/>
              </a:rPr>
              <a:t>j-w[i]</a:t>
            </a:r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，也装上更大的价值也就是上一行</a:t>
            </a:r>
            <a:r>
              <a:rPr lang="en-US" altLang="zh-CN">
                <a:uFillTx/>
                <a:latin typeface="Times New Roman" panose="02020603050405020304" pitchFamily="18" charset="0"/>
                <a:sym typeface="+mn-ea"/>
              </a:rPr>
              <a:t>dp[i-1][j-w[i]]</a:t>
            </a:r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。</a:t>
            </a:r>
            <a:endParaRPr lang="zh-CN" altLang="en-US"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2" name="左大括号 1"/>
          <p:cNvSpPr/>
          <p:nvPr/>
        </p:nvSpPr>
        <p:spPr>
          <a:xfrm rot="16200000">
            <a:off x="5166995" y="4817745"/>
            <a:ext cx="322580" cy="2308225"/>
          </a:xfrm>
          <a:prstGeom prst="leftBrac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643755" y="6165215"/>
            <a:ext cx="1429385" cy="3575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选择</a:t>
            </a:r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最大值</a:t>
            </a:r>
            <a:endParaRPr lang="zh-CN" altLang="en-US"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050540" y="1916430"/>
            <a:ext cx="810260" cy="3009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不</a:t>
            </a:r>
            <a:r>
              <a:rPr lang="zh-CN" altLang="en-US">
                <a:solidFill>
                  <a:schemeClr val="accent1"/>
                </a:solidFill>
              </a:rPr>
              <a:t>能</a:t>
            </a:r>
            <a:endParaRPr lang="zh-CN" altLang="en-US">
              <a:solidFill>
                <a:schemeClr val="accent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473575" y="1916430"/>
            <a:ext cx="810260" cy="3009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能</a:t>
            </a:r>
            <a:endParaRPr lang="zh-CN" altLang="en-US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07504" y="1124744"/>
            <a:ext cx="8856984" cy="4298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不断的更新表格，能够发现更新的状态转移方程</a:t>
            </a:r>
            <a:endParaRPr lang="zh-CN" altLang="en-US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grpSp>
        <p:nvGrpSpPr>
          <p:cNvPr id="14" name="组合 13"/>
          <p:cNvGrpSpPr/>
          <p:nvPr/>
        </p:nvGrpSpPr>
        <p:grpSpPr>
          <a:xfrm>
            <a:off x="1187624" y="2132856"/>
            <a:ext cx="6120679" cy="889964"/>
            <a:chOff x="755576" y="2566065"/>
            <a:chExt cx="6120679" cy="889964"/>
          </a:xfrm>
        </p:grpSpPr>
        <p:sp>
          <p:nvSpPr>
            <p:cNvPr id="10" name="文本框 9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029963" y="2566065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29962" y="3086697"/>
              <a:ext cx="484629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max(dp[i-1][j-w[i]]+c[i],dp[i-1][j])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15" name="文本框 14"/>
          <p:cNvSpPr txBox="1"/>
          <p:nvPr/>
        </p:nvSpPr>
        <p:spPr>
          <a:xfrm>
            <a:off x="4981491" y="2132856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7235824" y="2648464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755576" y="3778051"/>
            <a:ext cx="7812868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①式表示如果当前的容量不能容下当前的物品，则直接不选择该物品，此时状态表中直接保存</a:t>
            </a:r>
            <a:r>
              <a:rPr kumimoji="1" lang="en-US" altLang="zh-CN" sz="2200" b="1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dp[i-1][j]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的值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755576" y="4547492"/>
            <a:ext cx="7812868" cy="11068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②式表示如果当前的容量能容下当前的物品，则有两种选择，选择该物品和不选择该物品，此时</a:t>
            </a:r>
            <a:r>
              <a:rPr kumimoji="1" lang="en-US" altLang="zh-CN" sz="2200" b="1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dp[i][j]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选择最大的值作为最优选择。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1187450" y="1484630"/>
            <a:ext cx="7355205" cy="2704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def bag0_1(wight:list,value:list,V:int)-&gt;int: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dp = [[0 for _ in range(V+1)] for _ in range(len(wight)+1)]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range(1,len(wight)+1):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for j in range(1,V+1):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if j&lt;wight[i-1]: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dp[i][j] = dp[i-1][j]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else: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dp[i][j] = max(dp[i-1][j],dp[i-1][j-wight[i-1]]+value[i-1])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return dp[-1][-1]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259205" y="1116330"/>
            <a:ext cx="1577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代码实现：</a:t>
            </a:r>
            <a:endParaRPr lang="zh-CN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17" name="文本框 16"/>
          <p:cNvSpPr txBox="1"/>
          <p:nvPr/>
        </p:nvSpPr>
        <p:spPr>
          <a:xfrm>
            <a:off x="467544" y="1124744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回顾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0-1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背包问题，解题的流程是怎样的？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70885" y="1772816"/>
            <a:ext cx="7812868" cy="34766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首先能够感觉这个问题可以用动态规划，怎么判断呢？该问题求最优解，且整体最优解是所有子问题最优解的组成，其实也就是判断动态规划核心思想符不符合该问题。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然后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1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）选择数组（或是其他存储结构）能够描述问题状态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2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）通过状态转移表中不断的转移，找到递推关系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3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）初始化边界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这三步不是严格的顺序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4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）更新结果，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获取结果（可能会重新遍历状态表）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1187624" y="3192454"/>
          <a:ext cx="7020000" cy="21600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</a:tblGrid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W</a:t>
                      </a:r>
                      <a:r>
                        <a:rPr lang="en-US" sz="1400" kern="100" baseline="-25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  <a:r>
                        <a:rPr lang="en-US" altLang="zh-CN" sz="1400" kern="100" baseline="-250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0kg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>
                          <a:effectLst/>
                        </a:rPr>
                        <a:t> </a:t>
                      </a:r>
                      <a:r>
                        <a:rPr lang="en-US" altLang="zh-CN" sz="1400" kern="100">
                          <a:effectLst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>
                          <a:effectLst/>
                        </a:rPr>
                        <a:t> </a:t>
                      </a:r>
                      <a:r>
                        <a:rPr lang="en-US" altLang="zh-CN" sz="1400" kern="100">
                          <a:effectLst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</a:rPr>
                        <a:t>3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11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12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07504" y="1124744"/>
            <a:ext cx="8856984" cy="11068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完全背包问题：有</a:t>
            </a:r>
            <a:r>
              <a:rPr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n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种物品有质量和对应的价值。每种物品数量是无限的，背包称重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M = 10kg,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物品的重量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= {2,3,4,7},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价值为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C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= {1,3,5,9},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问最多能装价值多大？</a:t>
            </a:r>
            <a:endParaRPr lang="zh-CN" altLang="en-US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cxnSp>
        <p:nvCxnSpPr>
          <p:cNvPr id="8" name="直接箭头连接符 7"/>
          <p:cNvCxnSpPr/>
          <p:nvPr/>
        </p:nvCxnSpPr>
        <p:spPr bwMode="auto">
          <a:xfrm>
            <a:off x="2721549" y="2878559"/>
            <a:ext cx="774488" cy="116243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9" name="云形 8"/>
          <p:cNvSpPr/>
          <p:nvPr/>
        </p:nvSpPr>
        <p:spPr bwMode="auto">
          <a:xfrm>
            <a:off x="1584469" y="2132856"/>
            <a:ext cx="1911567" cy="792088"/>
          </a:xfrm>
          <a:prstGeom prst="cloud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1584470" y="2229108"/>
            <a:ext cx="205973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latin typeface="Times New Roman" panose="02020603050405020304" pitchFamily="18" charset="0"/>
                <a:ea typeface="楷体" panose="02010609060101010101" pitchFamily="49" charset="-122"/>
              </a:rPr>
              <a:t>如何更新值？</a:t>
            </a:r>
            <a:endParaRPr kumimoji="1" lang="zh-CN" altLang="en-US" sz="2200">
              <a:solidFill>
                <a:srgbClr val="080808"/>
              </a:solidFill>
              <a:latin typeface="Times New Roman" panose="02020603050405020304" pitchFamily="18" charset="0"/>
              <a:ea typeface="楷体" panose="02010609060101010101" pitchFamily="49" charset="-122"/>
            </a:endParaRPr>
          </a:p>
        </p:txBody>
      </p:sp>
      <p:cxnSp>
        <p:nvCxnSpPr>
          <p:cNvPr id="11" name="直接箭头连接符 10"/>
          <p:cNvCxnSpPr/>
          <p:nvPr/>
        </p:nvCxnSpPr>
        <p:spPr bwMode="auto">
          <a:xfrm>
            <a:off x="2721549" y="2878559"/>
            <a:ext cx="774488" cy="155855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4" name="直接箭头连接符 13"/>
          <p:cNvCxnSpPr/>
          <p:nvPr/>
        </p:nvCxnSpPr>
        <p:spPr bwMode="auto">
          <a:xfrm>
            <a:off x="2721549" y="2878559"/>
            <a:ext cx="2354507" cy="147633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9" name="文本框 18"/>
          <p:cNvSpPr txBox="1"/>
          <p:nvPr/>
        </p:nvSpPr>
        <p:spPr>
          <a:xfrm>
            <a:off x="1186856" y="5735381"/>
            <a:ext cx="7488832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假设数组名为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dp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，那么完全背包问题如何更新状态表？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07504" y="1124744"/>
            <a:ext cx="8856984" cy="4298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不断的更新表格，能够发现更新的递推公式？</a:t>
            </a:r>
            <a:endParaRPr lang="zh-CN" altLang="en-US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grpSp>
        <p:nvGrpSpPr>
          <p:cNvPr id="14" name="组合 13"/>
          <p:cNvGrpSpPr/>
          <p:nvPr/>
        </p:nvGrpSpPr>
        <p:grpSpPr>
          <a:xfrm>
            <a:off x="1113392" y="2206650"/>
            <a:ext cx="7779088" cy="1093169"/>
            <a:chOff x="755576" y="2639859"/>
            <a:chExt cx="6120679" cy="1093169"/>
          </a:xfrm>
        </p:grpSpPr>
        <p:sp>
          <p:nvSpPr>
            <p:cNvPr id="10" name="文本框 9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1715427" y="2639859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719255" y="3086697"/>
              <a:ext cx="5157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max(dp[i-1][j-k*w[i]]+k*c[i],dp[i-1][j])</a:t>
              </a:r>
              <a:endPara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      </a:t>
              </a:r>
              <a:r>
                <a:rPr lang="zh-CN" altLang="en-US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其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k</a:t>
              </a:r>
              <a:r>
                <a:rPr lang="zh-CN" altLang="en-US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取值范围 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1&lt;= k&lt;= j/w[i]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38279" y="2750731"/>
              <a:ext cx="180975" cy="619125"/>
            </a:xfrm>
            <a:prstGeom prst="rect">
              <a:avLst/>
            </a:prstGeom>
          </p:spPr>
        </p:pic>
      </p:grpSp>
      <p:sp>
        <p:nvSpPr>
          <p:cNvPr id="15" name="文本框 14"/>
          <p:cNvSpPr txBox="1"/>
          <p:nvPr/>
        </p:nvSpPr>
        <p:spPr>
          <a:xfrm>
            <a:off x="4735209" y="2239105"/>
            <a:ext cx="3825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7380312" y="2682229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755576" y="3778051"/>
            <a:ext cx="7812868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①式表示如果当前的容量不能容下当前的物品，则直接不选择该物品，此时状态表中直接保存</a:t>
            </a:r>
            <a:r>
              <a:rPr kumimoji="1" lang="en-US" altLang="zh-CN" sz="2200" b="1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dp[i-1][j]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的值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755576" y="4547492"/>
            <a:ext cx="7812868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②式表示如果当前的容量能容下当前的物品，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k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的值是多少就有多少种选择。选择最大的填充</a:t>
            </a:r>
            <a:r>
              <a:rPr kumimoji="1" lang="en-US" altLang="zh-CN" sz="2200" b="1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dp[i][j]</a:t>
            </a:r>
            <a:endParaRPr kumimoji="1" lang="en-US" altLang="zh-CN" sz="2200" b="1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grpSp>
        <p:nvGrpSpPr>
          <p:cNvPr id="14" name="组合 13"/>
          <p:cNvGrpSpPr/>
          <p:nvPr/>
        </p:nvGrpSpPr>
        <p:grpSpPr>
          <a:xfrm>
            <a:off x="1113392" y="915060"/>
            <a:ext cx="7779088" cy="1093169"/>
            <a:chOff x="755576" y="2639859"/>
            <a:chExt cx="6120679" cy="1093169"/>
          </a:xfrm>
        </p:grpSpPr>
        <p:sp>
          <p:nvSpPr>
            <p:cNvPr id="10" name="文本框 9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1715427" y="2639859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719255" y="3086697"/>
              <a:ext cx="5157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max(dp[i-1][j-k*w[i]]+k*c[i],dp[i-1][j])</a:t>
              </a:r>
              <a:endPara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      </a:t>
              </a:r>
              <a:r>
                <a:rPr lang="zh-CN" altLang="en-US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其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k</a:t>
              </a:r>
              <a:r>
                <a:rPr lang="zh-CN" altLang="en-US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取值范围 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1&lt;= k&lt;= j/w[i]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38279" y="2750731"/>
              <a:ext cx="180975" cy="619125"/>
            </a:xfrm>
            <a:prstGeom prst="rect">
              <a:avLst/>
            </a:prstGeom>
          </p:spPr>
        </p:pic>
      </p:grpSp>
      <p:sp>
        <p:nvSpPr>
          <p:cNvPr id="15" name="文本框 14"/>
          <p:cNvSpPr txBox="1"/>
          <p:nvPr/>
        </p:nvSpPr>
        <p:spPr>
          <a:xfrm>
            <a:off x="4735195" y="947420"/>
            <a:ext cx="16040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r>
              <a: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rPr>
              <a:t> k=0</a:t>
            </a:r>
            <a:endParaRPr lang="en-US" altLang="zh-CN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7380312" y="1390639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251386" y="2085776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这个转移方程很啰嗦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?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能否精简该状态转移方程呢？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95605" y="2708910"/>
            <a:ext cx="7833995" cy="5130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(1)  dp[i][j] = max(max(dp[i-1][j-k*w[i]]+k*c[i]),dp[i-1][j])     1&lt;=k&lt;=j/w[i]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85140" y="4725035"/>
            <a:ext cx="8407400" cy="7727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可以把上述公式做一个变形：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(3)  dp[i][j] = max(dp[i-1][</a:t>
            </a:r>
            <a:r>
              <a:rPr lang="en-US" altLang="zh-CN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-k*w[i]]+k*c[i])    0&lt;=k&lt;=j/w[i]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j = j-w[i]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带入该方程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dp[i][j-w[i]] = max(dp[i-1][j-w[i]-k*w[i]]+k*c[i]) 0&lt;=k&lt;=j/w[i]-1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67360" y="3629660"/>
            <a:ext cx="8407400" cy="7727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可以把上述公式做一个变形：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(2)  dp[i][j] = max(max(dp[i-1][</a:t>
            </a:r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j-w[i]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-k*w[i]]+c[i]+k*c[i]),dp[i-1][j])     0&lt;=k&lt;=j/w[i]-1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左弧形箭头 6"/>
          <p:cNvSpPr/>
          <p:nvPr/>
        </p:nvSpPr>
        <p:spPr>
          <a:xfrm flipV="1">
            <a:off x="179070" y="4058285"/>
            <a:ext cx="339725" cy="1723390"/>
          </a:xfrm>
          <a:prstGeom prst="curvedRight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" name="右弧形箭头 7"/>
          <p:cNvSpPr/>
          <p:nvPr/>
        </p:nvSpPr>
        <p:spPr>
          <a:xfrm>
            <a:off x="6515735" y="4149090"/>
            <a:ext cx="431800" cy="2183130"/>
          </a:xfrm>
          <a:prstGeom prst="curvedLeft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403350" y="6271895"/>
            <a:ext cx="6810375" cy="5353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dp[i][j] = max(dp[i][j-w[i]]+c[i],dp[i-1][j])     0&lt;=k&lt;=j/w[i]-1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17" name="文本框 16"/>
          <p:cNvSpPr txBox="1"/>
          <p:nvPr/>
        </p:nvSpPr>
        <p:spPr>
          <a:xfrm>
            <a:off x="467544" y="1124744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回顾完全背包问题，发现和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0-1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背包问题有一样的解题流程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70885" y="1772816"/>
            <a:ext cx="7812868" cy="24612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判断动态规划核心思想符不符合该问题。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然后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1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）选择数组描述状态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2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）找到递推关系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3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）初始化边界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这三步不是严格的顺序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4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）更新状态表，获取结果（可能会重新遍历状态表）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17" name="文本框 16"/>
          <p:cNvSpPr txBox="1"/>
          <p:nvPr/>
        </p:nvSpPr>
        <p:spPr>
          <a:xfrm>
            <a:off x="467544" y="1124744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完全背包问题代码实现：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11505" y="3112770"/>
            <a:ext cx="8139430" cy="265811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def Knapsack(wight:list,value:list,V:int)-&gt;int: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dp = [[0 for _ in range(V+1)] for _ in range(len(wight)+1)]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range(1,len(wight)+1):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for j in range(1,V+1):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if j&lt;wight[i-1]: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dp[i][j] = dp[i-1][j]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else: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dp[i][j] = max(dp[i-1][j],dp[i][j-wight[i-1]]+value[i-1])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return dp[-1][-1]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grpSp>
        <p:nvGrpSpPr>
          <p:cNvPr id="14" name="组合 13"/>
          <p:cNvGrpSpPr/>
          <p:nvPr/>
        </p:nvGrpSpPr>
        <p:grpSpPr>
          <a:xfrm>
            <a:off x="755189" y="1628666"/>
            <a:ext cx="6120679" cy="888932"/>
            <a:chOff x="755576" y="2566065"/>
            <a:chExt cx="6120679" cy="888932"/>
          </a:xfrm>
        </p:grpSpPr>
        <p:sp>
          <p:nvSpPr>
            <p:cNvPr id="10" name="文本框 9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029963" y="2566065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29962" y="3086697"/>
              <a:ext cx="4846293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max(dp[</a:t>
              </a:r>
              <a:r>
                <a:rPr lang="en-US" altLang="zh-CN" b="1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][j-w[i]]+c[i],dp[i-1][j])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15" name="文本框 14"/>
          <p:cNvSpPr txBox="1"/>
          <p:nvPr/>
        </p:nvSpPr>
        <p:spPr>
          <a:xfrm>
            <a:off x="4549056" y="1628666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6803389" y="2144274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2" name="文本框 1"/>
          <p:cNvSpPr txBox="1"/>
          <p:nvPr/>
        </p:nvSpPr>
        <p:spPr>
          <a:xfrm>
            <a:off x="323215" y="908685"/>
            <a:ext cx="44748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体会动态规划解题的边界问题？</a:t>
            </a:r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450215" y="1412240"/>
            <a:ext cx="7813040" cy="1361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继续思考币种问题：给你一个整数数组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coins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，表示不同面额的硬币；以及一个整数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amount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，表示总金额。计算并返回可以凑成总金额所需的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最少的硬币个数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。如果没有任何一种硬币组合能组成总金额，返回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-1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。你可以认为每种硬币的数量是无限的。例如：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coins=[1,2,5]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amount=11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。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grpSp>
        <p:nvGrpSpPr>
          <p:cNvPr id="14" name="组合 13"/>
          <p:cNvGrpSpPr/>
          <p:nvPr/>
        </p:nvGrpSpPr>
        <p:grpSpPr>
          <a:xfrm>
            <a:off x="755824" y="4437906"/>
            <a:ext cx="6120679" cy="888932"/>
            <a:chOff x="755576" y="2566065"/>
            <a:chExt cx="6120679" cy="888932"/>
          </a:xfrm>
        </p:grpSpPr>
        <p:sp>
          <p:nvSpPr>
            <p:cNvPr id="10" name="文本框 9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029963" y="2566065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29962" y="3086697"/>
              <a:ext cx="4846293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min(dp[</a:t>
              </a:r>
              <a:r>
                <a:rPr lang="en-US" altLang="zh-CN" b="1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][j-w[i]]+1,dp[i-1][j])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15" name="文本框 14"/>
          <p:cNvSpPr txBox="1"/>
          <p:nvPr/>
        </p:nvSpPr>
        <p:spPr>
          <a:xfrm>
            <a:off x="4765591" y="4437906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6660514" y="4941449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grpSp>
        <p:nvGrpSpPr>
          <p:cNvPr id="6" name="组合 5"/>
          <p:cNvGrpSpPr/>
          <p:nvPr/>
        </p:nvGrpSpPr>
        <p:grpSpPr>
          <a:xfrm>
            <a:off x="755887" y="2961665"/>
            <a:ext cx="7779088" cy="1091998"/>
            <a:chOff x="755576" y="2639859"/>
            <a:chExt cx="6120679" cy="1091998"/>
          </a:xfrm>
        </p:grpSpPr>
        <p:sp>
          <p:nvSpPr>
            <p:cNvPr id="7" name="文本框 6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1715427" y="2639859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719255" y="3086697"/>
              <a:ext cx="5157000" cy="6451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min(dp[i-1][j-k*w[i]]+k,dp[i-1][j])</a:t>
              </a:r>
              <a:endPara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      </a:t>
              </a:r>
              <a:r>
                <a:rPr lang="zh-CN" altLang="en-US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其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k</a:t>
              </a:r>
              <a:r>
                <a:rPr lang="zh-CN" altLang="en-US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取值范围 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1&lt;= k&lt;= j/w[i]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图片 16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38279" y="2750731"/>
              <a:ext cx="180975" cy="619125"/>
            </a:xfrm>
            <a:prstGeom prst="rect">
              <a:avLst/>
            </a:prstGeom>
          </p:spPr>
        </p:pic>
      </p:grpSp>
      <p:sp>
        <p:nvSpPr>
          <p:cNvPr id="18" name="文本框 17"/>
          <p:cNvSpPr txBox="1"/>
          <p:nvPr/>
        </p:nvSpPr>
        <p:spPr>
          <a:xfrm>
            <a:off x="4377690" y="2994025"/>
            <a:ext cx="16040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r>
              <a: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rPr>
              <a:t> k=0</a:t>
            </a:r>
            <a:endParaRPr lang="en-US" altLang="zh-CN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7022807" y="3437244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sp>
        <p:nvSpPr>
          <p:cNvPr id="20" name="下弧形箭头 19"/>
          <p:cNvSpPr/>
          <p:nvPr/>
        </p:nvSpPr>
        <p:spPr>
          <a:xfrm rot="5400000">
            <a:off x="-422275" y="3875405"/>
            <a:ext cx="1892935" cy="544195"/>
          </a:xfrm>
          <a:prstGeom prst="curvedUp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524115" y="6497638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grpSp>
        <p:nvGrpSpPr>
          <p:cNvPr id="3" name="Group 4"/>
          <p:cNvGrpSpPr>
            <a:grpSpLocks noChangeAspect="1"/>
          </p:cNvGrpSpPr>
          <p:nvPr/>
        </p:nvGrpSpPr>
        <p:grpSpPr bwMode="auto">
          <a:xfrm>
            <a:off x="1363663" y="2425700"/>
            <a:ext cx="6416675" cy="2006600"/>
            <a:chOff x="859" y="1528"/>
            <a:chExt cx="4042" cy="1264"/>
          </a:xfrm>
        </p:grpSpPr>
        <p:sp>
          <p:nvSpPr>
            <p:cNvPr id="6" name="AutoShape 3"/>
            <p:cNvSpPr>
              <a:spLocks noChangeAspect="1" noChangeArrowheads="1" noTextEdit="1"/>
            </p:cNvSpPr>
            <p:nvPr/>
          </p:nvSpPr>
          <p:spPr bwMode="auto">
            <a:xfrm>
              <a:off x="859" y="1528"/>
              <a:ext cx="4042" cy="12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" name="Rectangle 5"/>
            <p:cNvSpPr>
              <a:spLocks noChangeArrowheads="1"/>
            </p:cNvSpPr>
            <p:nvPr/>
          </p:nvSpPr>
          <p:spPr bwMode="auto">
            <a:xfrm>
              <a:off x="1174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" name="Rectangle 6"/>
            <p:cNvSpPr>
              <a:spLocks noChangeArrowheads="1"/>
            </p:cNvSpPr>
            <p:nvPr/>
          </p:nvSpPr>
          <p:spPr bwMode="auto">
            <a:xfrm>
              <a:off x="1484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" name="Rectangle 7"/>
            <p:cNvSpPr>
              <a:spLocks noChangeArrowheads="1"/>
            </p:cNvSpPr>
            <p:nvPr/>
          </p:nvSpPr>
          <p:spPr bwMode="auto">
            <a:xfrm>
              <a:off x="1794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" name="Rectangle 8"/>
            <p:cNvSpPr>
              <a:spLocks noChangeArrowheads="1"/>
            </p:cNvSpPr>
            <p:nvPr/>
          </p:nvSpPr>
          <p:spPr bwMode="auto">
            <a:xfrm>
              <a:off x="2104" y="1784"/>
              <a:ext cx="309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Rectangle 9"/>
            <p:cNvSpPr>
              <a:spLocks noChangeArrowheads="1"/>
            </p:cNvSpPr>
            <p:nvPr/>
          </p:nvSpPr>
          <p:spPr bwMode="auto">
            <a:xfrm>
              <a:off x="241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Rectangle 10"/>
            <p:cNvSpPr>
              <a:spLocks noChangeArrowheads="1"/>
            </p:cNvSpPr>
            <p:nvPr/>
          </p:nvSpPr>
          <p:spPr bwMode="auto">
            <a:xfrm>
              <a:off x="272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Rectangle 11"/>
            <p:cNvSpPr>
              <a:spLocks noChangeArrowheads="1"/>
            </p:cNvSpPr>
            <p:nvPr/>
          </p:nvSpPr>
          <p:spPr bwMode="auto">
            <a:xfrm>
              <a:off x="303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Rectangle 12"/>
            <p:cNvSpPr>
              <a:spLocks noChangeArrowheads="1"/>
            </p:cNvSpPr>
            <p:nvPr/>
          </p:nvSpPr>
          <p:spPr bwMode="auto">
            <a:xfrm>
              <a:off x="334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Rectangle 13"/>
            <p:cNvSpPr>
              <a:spLocks noChangeArrowheads="1"/>
            </p:cNvSpPr>
            <p:nvPr/>
          </p:nvSpPr>
          <p:spPr bwMode="auto">
            <a:xfrm>
              <a:off x="365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Rectangle 14"/>
            <p:cNvSpPr>
              <a:spLocks noChangeArrowheads="1"/>
            </p:cNvSpPr>
            <p:nvPr/>
          </p:nvSpPr>
          <p:spPr bwMode="auto">
            <a:xfrm>
              <a:off x="396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Rectangle 15"/>
            <p:cNvSpPr>
              <a:spLocks noChangeArrowheads="1"/>
            </p:cNvSpPr>
            <p:nvPr/>
          </p:nvSpPr>
          <p:spPr bwMode="auto">
            <a:xfrm>
              <a:off x="427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Rectangle 16"/>
            <p:cNvSpPr>
              <a:spLocks noChangeArrowheads="1"/>
            </p:cNvSpPr>
            <p:nvPr/>
          </p:nvSpPr>
          <p:spPr bwMode="auto">
            <a:xfrm>
              <a:off x="458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Rectangle 17"/>
            <p:cNvSpPr>
              <a:spLocks noChangeArrowheads="1"/>
            </p:cNvSpPr>
            <p:nvPr/>
          </p:nvSpPr>
          <p:spPr bwMode="auto">
            <a:xfrm>
              <a:off x="1174" y="202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Rectangle 18"/>
            <p:cNvSpPr>
              <a:spLocks noChangeArrowheads="1"/>
            </p:cNvSpPr>
            <p:nvPr/>
          </p:nvSpPr>
          <p:spPr bwMode="auto">
            <a:xfrm>
              <a:off x="1174" y="226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Rectangle 19"/>
            <p:cNvSpPr>
              <a:spLocks noChangeArrowheads="1"/>
            </p:cNvSpPr>
            <p:nvPr/>
          </p:nvSpPr>
          <p:spPr bwMode="auto">
            <a:xfrm>
              <a:off x="1174" y="250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Line 20"/>
            <p:cNvSpPr>
              <a:spLocks noChangeShapeType="1"/>
            </p:cNvSpPr>
            <p:nvPr/>
          </p:nvSpPr>
          <p:spPr bwMode="auto">
            <a:xfrm>
              <a:off x="1174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Line 21"/>
            <p:cNvSpPr>
              <a:spLocks noChangeShapeType="1"/>
            </p:cNvSpPr>
            <p:nvPr/>
          </p:nvSpPr>
          <p:spPr bwMode="auto">
            <a:xfrm>
              <a:off x="1484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Line 22"/>
            <p:cNvSpPr>
              <a:spLocks noChangeShapeType="1"/>
            </p:cNvSpPr>
            <p:nvPr/>
          </p:nvSpPr>
          <p:spPr bwMode="auto">
            <a:xfrm>
              <a:off x="1794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Line 23"/>
            <p:cNvSpPr>
              <a:spLocks noChangeShapeType="1"/>
            </p:cNvSpPr>
            <p:nvPr/>
          </p:nvSpPr>
          <p:spPr bwMode="auto">
            <a:xfrm>
              <a:off x="2104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Line 24"/>
            <p:cNvSpPr>
              <a:spLocks noChangeShapeType="1"/>
            </p:cNvSpPr>
            <p:nvPr/>
          </p:nvSpPr>
          <p:spPr bwMode="auto">
            <a:xfrm>
              <a:off x="2413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Line 25"/>
            <p:cNvSpPr>
              <a:spLocks noChangeShapeType="1"/>
            </p:cNvSpPr>
            <p:nvPr/>
          </p:nvSpPr>
          <p:spPr bwMode="auto">
            <a:xfrm>
              <a:off x="2723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8" name="Line 26"/>
            <p:cNvSpPr>
              <a:spLocks noChangeShapeType="1"/>
            </p:cNvSpPr>
            <p:nvPr/>
          </p:nvSpPr>
          <p:spPr bwMode="auto">
            <a:xfrm>
              <a:off x="303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9" name="Line 27"/>
            <p:cNvSpPr>
              <a:spLocks noChangeShapeType="1"/>
            </p:cNvSpPr>
            <p:nvPr/>
          </p:nvSpPr>
          <p:spPr bwMode="auto">
            <a:xfrm>
              <a:off x="334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0" name="Line 28"/>
            <p:cNvSpPr>
              <a:spLocks noChangeShapeType="1"/>
            </p:cNvSpPr>
            <p:nvPr/>
          </p:nvSpPr>
          <p:spPr bwMode="auto">
            <a:xfrm>
              <a:off x="365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1" name="Line 29"/>
            <p:cNvSpPr>
              <a:spLocks noChangeShapeType="1"/>
            </p:cNvSpPr>
            <p:nvPr/>
          </p:nvSpPr>
          <p:spPr bwMode="auto">
            <a:xfrm>
              <a:off x="396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2" name="Line 30"/>
            <p:cNvSpPr>
              <a:spLocks noChangeShapeType="1"/>
            </p:cNvSpPr>
            <p:nvPr/>
          </p:nvSpPr>
          <p:spPr bwMode="auto">
            <a:xfrm>
              <a:off x="427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3" name="Line 31"/>
            <p:cNvSpPr>
              <a:spLocks noChangeShapeType="1"/>
            </p:cNvSpPr>
            <p:nvPr/>
          </p:nvSpPr>
          <p:spPr bwMode="auto">
            <a:xfrm>
              <a:off x="458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" name="Line 32"/>
            <p:cNvSpPr>
              <a:spLocks noChangeShapeType="1"/>
            </p:cNvSpPr>
            <p:nvPr/>
          </p:nvSpPr>
          <p:spPr bwMode="auto">
            <a:xfrm>
              <a:off x="860" y="1784"/>
              <a:ext cx="4037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" name="Line 33"/>
            <p:cNvSpPr>
              <a:spLocks noChangeShapeType="1"/>
            </p:cNvSpPr>
            <p:nvPr/>
          </p:nvSpPr>
          <p:spPr bwMode="auto">
            <a:xfrm>
              <a:off x="860" y="2024"/>
              <a:ext cx="4037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6" name="Line 34"/>
            <p:cNvSpPr>
              <a:spLocks noChangeShapeType="1"/>
            </p:cNvSpPr>
            <p:nvPr/>
          </p:nvSpPr>
          <p:spPr bwMode="auto">
            <a:xfrm>
              <a:off x="860" y="2264"/>
              <a:ext cx="4037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7" name="Line 35"/>
            <p:cNvSpPr>
              <a:spLocks noChangeShapeType="1"/>
            </p:cNvSpPr>
            <p:nvPr/>
          </p:nvSpPr>
          <p:spPr bwMode="auto">
            <a:xfrm>
              <a:off x="860" y="2504"/>
              <a:ext cx="4037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8" name="Line 36"/>
            <p:cNvSpPr>
              <a:spLocks noChangeShapeType="1"/>
            </p:cNvSpPr>
            <p:nvPr/>
          </p:nvSpPr>
          <p:spPr bwMode="auto">
            <a:xfrm>
              <a:off x="864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9" name="Line 37"/>
            <p:cNvSpPr>
              <a:spLocks noChangeShapeType="1"/>
            </p:cNvSpPr>
            <p:nvPr/>
          </p:nvSpPr>
          <p:spPr bwMode="auto">
            <a:xfrm>
              <a:off x="489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0" name="Line 38"/>
            <p:cNvSpPr>
              <a:spLocks noChangeShapeType="1"/>
            </p:cNvSpPr>
            <p:nvPr/>
          </p:nvSpPr>
          <p:spPr bwMode="auto">
            <a:xfrm>
              <a:off x="860" y="1544"/>
              <a:ext cx="4037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1" name="Line 39"/>
            <p:cNvSpPr>
              <a:spLocks noChangeShapeType="1"/>
            </p:cNvSpPr>
            <p:nvPr/>
          </p:nvSpPr>
          <p:spPr bwMode="auto">
            <a:xfrm>
              <a:off x="860" y="2744"/>
              <a:ext cx="4037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2" name="Rectangle 40"/>
            <p:cNvSpPr>
              <a:spLocks noChangeArrowheads="1"/>
            </p:cNvSpPr>
            <p:nvPr/>
          </p:nvSpPr>
          <p:spPr bwMode="auto">
            <a:xfrm>
              <a:off x="4641" y="1580"/>
              <a:ext cx="205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3" name="Rectangle 41"/>
            <p:cNvSpPr>
              <a:spLocks noChangeArrowheads="1"/>
            </p:cNvSpPr>
            <p:nvPr/>
          </p:nvSpPr>
          <p:spPr bwMode="auto">
            <a:xfrm>
              <a:off x="4331" y="1580"/>
              <a:ext cx="205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4" name="Rectangle 42"/>
            <p:cNvSpPr>
              <a:spLocks noChangeArrowheads="1"/>
            </p:cNvSpPr>
            <p:nvPr/>
          </p:nvSpPr>
          <p:spPr bwMode="auto">
            <a:xfrm>
              <a:off x="4021" y="1580"/>
              <a:ext cx="133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5" name="Rectangle 43"/>
            <p:cNvSpPr>
              <a:spLocks noChangeArrowheads="1"/>
            </p:cNvSpPr>
            <p:nvPr/>
          </p:nvSpPr>
          <p:spPr bwMode="auto">
            <a:xfrm>
              <a:off x="3711" y="1580"/>
              <a:ext cx="134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8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6" name="Rectangle 44"/>
            <p:cNvSpPr>
              <a:spLocks noChangeArrowheads="1"/>
            </p:cNvSpPr>
            <p:nvPr/>
          </p:nvSpPr>
          <p:spPr bwMode="auto">
            <a:xfrm>
              <a:off x="3401" y="1580"/>
              <a:ext cx="134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7" name="Rectangle 45"/>
            <p:cNvSpPr>
              <a:spLocks noChangeArrowheads="1"/>
            </p:cNvSpPr>
            <p:nvPr/>
          </p:nvSpPr>
          <p:spPr bwMode="auto">
            <a:xfrm>
              <a:off x="3091" y="1580"/>
              <a:ext cx="134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6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8" name="Rectangle 46"/>
            <p:cNvSpPr>
              <a:spLocks noChangeArrowheads="1"/>
            </p:cNvSpPr>
            <p:nvPr/>
          </p:nvSpPr>
          <p:spPr bwMode="auto">
            <a:xfrm>
              <a:off x="2781" y="1580"/>
              <a:ext cx="134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9" name="Rectangle 47"/>
            <p:cNvSpPr>
              <a:spLocks noChangeArrowheads="1"/>
            </p:cNvSpPr>
            <p:nvPr/>
          </p:nvSpPr>
          <p:spPr bwMode="auto">
            <a:xfrm>
              <a:off x="2471" y="1580"/>
              <a:ext cx="134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0" name="Rectangle 48"/>
            <p:cNvSpPr>
              <a:spLocks noChangeArrowheads="1"/>
            </p:cNvSpPr>
            <p:nvPr/>
          </p:nvSpPr>
          <p:spPr bwMode="auto">
            <a:xfrm>
              <a:off x="2162" y="1580"/>
              <a:ext cx="133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1" name="Rectangle 49"/>
            <p:cNvSpPr>
              <a:spLocks noChangeArrowheads="1"/>
            </p:cNvSpPr>
            <p:nvPr/>
          </p:nvSpPr>
          <p:spPr bwMode="auto">
            <a:xfrm>
              <a:off x="1852" y="1580"/>
              <a:ext cx="133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2" name="Rectangle 50"/>
            <p:cNvSpPr>
              <a:spLocks noChangeArrowheads="1"/>
            </p:cNvSpPr>
            <p:nvPr/>
          </p:nvSpPr>
          <p:spPr bwMode="auto">
            <a:xfrm>
              <a:off x="1542" y="1580"/>
              <a:ext cx="133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3" name="Rectangle 51"/>
            <p:cNvSpPr>
              <a:spLocks noChangeArrowheads="1"/>
            </p:cNvSpPr>
            <p:nvPr/>
          </p:nvSpPr>
          <p:spPr bwMode="auto">
            <a:xfrm>
              <a:off x="1232" y="1580"/>
              <a:ext cx="133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6" name="Rectangle 64"/>
            <p:cNvSpPr>
              <a:spLocks noChangeArrowheads="1"/>
            </p:cNvSpPr>
            <p:nvPr/>
          </p:nvSpPr>
          <p:spPr bwMode="auto">
            <a:xfrm>
              <a:off x="922" y="1823"/>
              <a:ext cx="130" cy="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8" name="Rectangle 66"/>
            <p:cNvSpPr>
              <a:spLocks noChangeArrowheads="1"/>
            </p:cNvSpPr>
            <p:nvPr/>
          </p:nvSpPr>
          <p:spPr bwMode="auto">
            <a:xfrm>
              <a:off x="922" y="2063"/>
              <a:ext cx="130" cy="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0" name="Rectangle 68"/>
            <p:cNvSpPr>
              <a:spLocks noChangeArrowheads="1"/>
            </p:cNvSpPr>
            <p:nvPr/>
          </p:nvSpPr>
          <p:spPr bwMode="auto">
            <a:xfrm>
              <a:off x="922" y="2303"/>
              <a:ext cx="130" cy="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2" name="Rectangle 70"/>
            <p:cNvSpPr>
              <a:spLocks noChangeArrowheads="1"/>
            </p:cNvSpPr>
            <p:nvPr/>
          </p:nvSpPr>
          <p:spPr bwMode="auto">
            <a:xfrm>
              <a:off x="922" y="2543"/>
              <a:ext cx="136" cy="2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5" name="Rectangle 52"/>
          <p:cNvSpPr>
            <a:spLocks noChangeArrowheads="1"/>
          </p:cNvSpPr>
          <p:nvPr/>
        </p:nvSpPr>
        <p:spPr bwMode="auto">
          <a:xfrm>
            <a:off x="7367588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3" name="Rectangle 53"/>
          <p:cNvSpPr>
            <a:spLocks noChangeArrowheads="1"/>
          </p:cNvSpPr>
          <p:nvPr/>
        </p:nvSpPr>
        <p:spPr bwMode="auto">
          <a:xfrm>
            <a:off x="6875463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4" name="Rectangle 54"/>
          <p:cNvSpPr>
            <a:spLocks noChangeArrowheads="1"/>
          </p:cNvSpPr>
          <p:nvPr/>
        </p:nvSpPr>
        <p:spPr bwMode="auto">
          <a:xfrm>
            <a:off x="6383338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5" name="Rectangle 55"/>
          <p:cNvSpPr>
            <a:spLocks noChangeArrowheads="1"/>
          </p:cNvSpPr>
          <p:nvPr/>
        </p:nvSpPr>
        <p:spPr bwMode="auto">
          <a:xfrm>
            <a:off x="5891213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6" name="Rectangle 56"/>
          <p:cNvSpPr>
            <a:spLocks noChangeArrowheads="1"/>
          </p:cNvSpPr>
          <p:nvPr/>
        </p:nvSpPr>
        <p:spPr bwMode="auto">
          <a:xfrm>
            <a:off x="5399088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7" name="Rectangle 57"/>
          <p:cNvSpPr>
            <a:spLocks noChangeArrowheads="1"/>
          </p:cNvSpPr>
          <p:nvPr/>
        </p:nvSpPr>
        <p:spPr bwMode="auto">
          <a:xfrm>
            <a:off x="4906963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8" name="Rectangle 58"/>
          <p:cNvSpPr>
            <a:spLocks noChangeArrowheads="1"/>
          </p:cNvSpPr>
          <p:nvPr/>
        </p:nvSpPr>
        <p:spPr bwMode="auto">
          <a:xfrm>
            <a:off x="4414838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9" name="Rectangle 59"/>
          <p:cNvSpPr>
            <a:spLocks noChangeArrowheads="1"/>
          </p:cNvSpPr>
          <p:nvPr/>
        </p:nvSpPr>
        <p:spPr bwMode="auto">
          <a:xfrm>
            <a:off x="3922713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0" name="Rectangle 60"/>
          <p:cNvSpPr>
            <a:spLocks noChangeArrowheads="1"/>
          </p:cNvSpPr>
          <p:nvPr/>
        </p:nvSpPr>
        <p:spPr bwMode="auto">
          <a:xfrm>
            <a:off x="3432176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1" name="Rectangle 61"/>
          <p:cNvSpPr>
            <a:spLocks noChangeArrowheads="1"/>
          </p:cNvSpPr>
          <p:nvPr/>
        </p:nvSpPr>
        <p:spPr bwMode="auto">
          <a:xfrm>
            <a:off x="2940051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2" name="Rectangle 62"/>
          <p:cNvSpPr>
            <a:spLocks noChangeArrowheads="1"/>
          </p:cNvSpPr>
          <p:nvPr/>
        </p:nvSpPr>
        <p:spPr bwMode="auto">
          <a:xfrm>
            <a:off x="2447926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3" name="Rectangle 63"/>
          <p:cNvSpPr>
            <a:spLocks noChangeArrowheads="1"/>
          </p:cNvSpPr>
          <p:nvPr/>
        </p:nvSpPr>
        <p:spPr bwMode="auto">
          <a:xfrm>
            <a:off x="1955800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4" name="Rectangle 52"/>
          <p:cNvSpPr>
            <a:spLocks noChangeArrowheads="1"/>
          </p:cNvSpPr>
          <p:nvPr/>
        </p:nvSpPr>
        <p:spPr bwMode="auto">
          <a:xfrm>
            <a:off x="7445058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5" name="Rectangle 53"/>
          <p:cNvSpPr>
            <a:spLocks noChangeArrowheads="1"/>
          </p:cNvSpPr>
          <p:nvPr/>
        </p:nvSpPr>
        <p:spPr bwMode="auto">
          <a:xfrm>
            <a:off x="6952933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6" name="Rectangle 54"/>
          <p:cNvSpPr>
            <a:spLocks noChangeArrowheads="1"/>
          </p:cNvSpPr>
          <p:nvPr/>
        </p:nvSpPr>
        <p:spPr bwMode="auto">
          <a:xfrm>
            <a:off x="6460808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7" name="Rectangle 55"/>
          <p:cNvSpPr>
            <a:spLocks noChangeArrowheads="1"/>
          </p:cNvSpPr>
          <p:nvPr/>
        </p:nvSpPr>
        <p:spPr bwMode="auto">
          <a:xfrm>
            <a:off x="5968683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8" name="Rectangle 56"/>
          <p:cNvSpPr>
            <a:spLocks noChangeArrowheads="1"/>
          </p:cNvSpPr>
          <p:nvPr/>
        </p:nvSpPr>
        <p:spPr bwMode="auto">
          <a:xfrm>
            <a:off x="5476558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9" name="Rectangle 57"/>
          <p:cNvSpPr>
            <a:spLocks noChangeArrowheads="1"/>
          </p:cNvSpPr>
          <p:nvPr/>
        </p:nvSpPr>
        <p:spPr bwMode="auto">
          <a:xfrm>
            <a:off x="4984433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0" name="Rectangle 58"/>
          <p:cNvSpPr>
            <a:spLocks noChangeArrowheads="1"/>
          </p:cNvSpPr>
          <p:nvPr/>
        </p:nvSpPr>
        <p:spPr bwMode="auto">
          <a:xfrm>
            <a:off x="4492308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1" name="Rectangle 59"/>
          <p:cNvSpPr>
            <a:spLocks noChangeArrowheads="1"/>
          </p:cNvSpPr>
          <p:nvPr/>
        </p:nvSpPr>
        <p:spPr bwMode="auto">
          <a:xfrm>
            <a:off x="4000183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2" name="Rectangle 60"/>
          <p:cNvSpPr>
            <a:spLocks noChangeArrowheads="1"/>
          </p:cNvSpPr>
          <p:nvPr/>
        </p:nvSpPr>
        <p:spPr bwMode="auto">
          <a:xfrm>
            <a:off x="3509646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3" name="Rectangle 61"/>
          <p:cNvSpPr>
            <a:spLocks noChangeArrowheads="1"/>
          </p:cNvSpPr>
          <p:nvPr/>
        </p:nvSpPr>
        <p:spPr bwMode="auto">
          <a:xfrm>
            <a:off x="3017521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4" name="Rectangle 62"/>
          <p:cNvSpPr>
            <a:spLocks noChangeArrowheads="1"/>
          </p:cNvSpPr>
          <p:nvPr/>
        </p:nvSpPr>
        <p:spPr bwMode="auto">
          <a:xfrm>
            <a:off x="2525396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5" name="Rectangle 63"/>
          <p:cNvSpPr>
            <a:spLocks noChangeArrowheads="1"/>
          </p:cNvSpPr>
          <p:nvPr/>
        </p:nvSpPr>
        <p:spPr bwMode="auto">
          <a:xfrm>
            <a:off x="2033270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6" name="文本框 95"/>
          <p:cNvSpPr txBox="1"/>
          <p:nvPr/>
        </p:nvSpPr>
        <p:spPr>
          <a:xfrm>
            <a:off x="2030210" y="4958538"/>
            <a:ext cx="484629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rPr>
              <a:t>j&gt;=w[i]          min(dp[</a:t>
            </a:r>
            <a:r>
              <a:rPr lang="en-US" altLang="zh-CN" b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rPr>
              <a:t>][j-w[i]]+1,dp[i-1][j])</a:t>
            </a:r>
            <a:endParaRPr lang="zh-CN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Rectangle 65"/>
          <p:cNvSpPr>
            <a:spLocks noChangeArrowheads="1"/>
          </p:cNvSpPr>
          <p:nvPr/>
        </p:nvSpPr>
        <p:spPr bwMode="auto">
          <a:xfrm>
            <a:off x="1955800" y="3275013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8" name="Rectangle 67"/>
          <p:cNvSpPr>
            <a:spLocks noChangeArrowheads="1"/>
          </p:cNvSpPr>
          <p:nvPr/>
        </p:nvSpPr>
        <p:spPr bwMode="auto">
          <a:xfrm>
            <a:off x="1955800" y="3656013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9" name="Rectangle 69"/>
          <p:cNvSpPr>
            <a:spLocks noChangeArrowheads="1"/>
          </p:cNvSpPr>
          <p:nvPr/>
        </p:nvSpPr>
        <p:spPr bwMode="auto">
          <a:xfrm>
            <a:off x="1955800" y="4037013"/>
            <a:ext cx="215900" cy="327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0" name="Rectangle 65"/>
          <p:cNvSpPr>
            <a:spLocks noChangeArrowheads="1"/>
          </p:cNvSpPr>
          <p:nvPr/>
        </p:nvSpPr>
        <p:spPr bwMode="auto">
          <a:xfrm>
            <a:off x="1955165" y="3275013"/>
            <a:ext cx="192405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Rectangle 67"/>
          <p:cNvSpPr>
            <a:spLocks noChangeArrowheads="1"/>
          </p:cNvSpPr>
          <p:nvPr/>
        </p:nvSpPr>
        <p:spPr bwMode="auto">
          <a:xfrm>
            <a:off x="1955165" y="3656013"/>
            <a:ext cx="192405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zh-CN" sz="180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2" name="Rectangle 69"/>
          <p:cNvSpPr>
            <a:spLocks noChangeArrowheads="1"/>
          </p:cNvSpPr>
          <p:nvPr/>
        </p:nvSpPr>
        <p:spPr bwMode="auto">
          <a:xfrm>
            <a:off x="1955165" y="4037013"/>
            <a:ext cx="192405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zh-CN" sz="180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exit" presetSubtype="4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6" dur="500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0" dur="500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4" dur="500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8" dur="500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82" dur="500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86" dur="500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90" dur="500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94" dur="500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98" dur="500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00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2" dur="500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6" dur="500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00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3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1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5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6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9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0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3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4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7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3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4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7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8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1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3" fill="hold">
                      <p:stCondLst>
                        <p:cond delay="indefinite"/>
                      </p:stCondLst>
                      <p:childTnLst>
                        <p:par>
                          <p:cTn id="174" fill="hold">
                            <p:stCondLst>
                              <p:cond delay="0"/>
                            </p:stCondLst>
                            <p:childTnLst>
                              <p:par>
                                <p:cTn id="175" presetID="2" presetClass="exit" presetSubtype="4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76" dur="500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7" dur="500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80" dur="500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500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84" dur="500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5" dur="500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indefinite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1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2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5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6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9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0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1" fill="hold">
                      <p:stCondLst>
                        <p:cond delay="indefinite"/>
                      </p:stCondLst>
                      <p:childTnLst>
                        <p:par>
                          <p:cTn id="202" fill="hold">
                            <p:stCondLst>
                              <p:cond delay="0"/>
                            </p:stCondLst>
                            <p:childTnLst>
                              <p:par>
                                <p:cTn id="203" presetID="2" presetClass="exit" presetSubtype="4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4" dur="500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5" dur="500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8" dur="500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9" dur="500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12" dur="500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3" dur="500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3" grpId="0"/>
      <p:bldP spid="74" grpId="0"/>
      <p:bldP spid="75" grpId="0"/>
      <p:bldP spid="76" grpId="0"/>
      <p:bldP spid="77" grpId="0"/>
      <p:bldP spid="78" grpId="0"/>
      <p:bldP spid="79" grpId="0"/>
      <p:bldP spid="80" grpId="0"/>
      <p:bldP spid="81" grpId="0"/>
      <p:bldP spid="82" grpId="0"/>
      <p:bldP spid="83" grpId="0"/>
      <p:bldP spid="5" grpId="1"/>
      <p:bldP spid="73" grpId="1"/>
      <p:bldP spid="74" grpId="1"/>
      <p:bldP spid="75" grpId="1"/>
      <p:bldP spid="76" grpId="1"/>
      <p:bldP spid="77" grpId="1"/>
      <p:bldP spid="78" grpId="1"/>
      <p:bldP spid="79" grpId="1"/>
      <p:bldP spid="80" grpId="1"/>
      <p:bldP spid="81" grpId="1"/>
      <p:bldP spid="82" grpId="1"/>
      <p:bldP spid="83" grpId="1"/>
      <p:bldP spid="84" grpId="0"/>
      <p:bldP spid="85" grpId="0"/>
      <p:bldP spid="86" grpId="0"/>
      <p:bldP spid="87" grpId="0"/>
      <p:bldP spid="88" grpId="0"/>
      <p:bldP spid="89" grpId="0"/>
      <p:bldP spid="90" grpId="0"/>
      <p:bldP spid="91" grpId="0"/>
      <p:bldP spid="92" grpId="0"/>
      <p:bldP spid="93" grpId="0"/>
      <p:bldP spid="94" grpId="0"/>
      <p:bldP spid="95" grpId="0"/>
      <p:bldP spid="84" grpId="1"/>
      <p:bldP spid="85" grpId="1"/>
      <p:bldP spid="86" grpId="1"/>
      <p:bldP spid="87" grpId="1"/>
      <p:bldP spid="88" grpId="1"/>
      <p:bldP spid="89" grpId="1"/>
      <p:bldP spid="90" grpId="1"/>
      <p:bldP spid="91" grpId="1"/>
      <p:bldP spid="92" grpId="1"/>
      <p:bldP spid="93" grpId="1"/>
      <p:bldP spid="94" grpId="1"/>
      <p:bldP spid="95" grpId="1"/>
      <p:bldP spid="84" grpId="2"/>
      <p:bldP spid="85" grpId="2"/>
      <p:bldP spid="86" grpId="2"/>
      <p:bldP spid="87" grpId="2"/>
      <p:bldP spid="88" grpId="2"/>
      <p:bldP spid="89" grpId="2"/>
      <p:bldP spid="90" grpId="2"/>
      <p:bldP spid="91" grpId="2"/>
      <p:bldP spid="92" grpId="2"/>
      <p:bldP spid="93" grpId="2"/>
      <p:bldP spid="94" grpId="2"/>
      <p:bldP spid="95" grpId="2"/>
      <p:bldP spid="96" grpId="0"/>
      <p:bldP spid="100" grpId="0"/>
      <p:bldP spid="101" grpId="0"/>
      <p:bldP spid="102" grpId="0"/>
      <p:bldP spid="100" grpId="1"/>
      <p:bldP spid="101" grpId="1"/>
      <p:bldP spid="102" grpId="1"/>
      <p:bldP spid="100" grpId="2"/>
      <p:bldP spid="101" grpId="2"/>
      <p:bldP spid="102" grpId="2"/>
      <p:bldP spid="97" grpId="0"/>
      <p:bldP spid="98" grpId="0"/>
      <p:bldP spid="99" grpId="0"/>
      <p:bldP spid="97" grpId="1"/>
      <p:bldP spid="98" grpId="1"/>
      <p:bldP spid="99" grpId="1"/>
      <p:bldP spid="97" grpId="2"/>
      <p:bldP spid="98" grpId="2"/>
      <p:bldP spid="99" grpId="2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524115" y="6497638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2" name="文本框 1"/>
          <p:cNvSpPr txBox="1"/>
          <p:nvPr/>
        </p:nvSpPr>
        <p:spPr>
          <a:xfrm>
            <a:off x="1259840" y="2060575"/>
            <a:ext cx="6601460" cy="369252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def coinChange(coins: list, amount: int) -&gt; int: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n = len(coins)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dparr = [[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amount+1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for _ in range(amount+1)] for _ in range(n+1)]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range(n+1):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dparr[i][0] = 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print(dparr)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range(1,n+1):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for j in range(1,amount+1):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if j&lt;coins[i-1]: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dparr[i][j] = dparr[i-1][j]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else: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dparr[i][j] = min(dparr[i-1][j],dparr[i][j-coins[i-1]]+1)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return -1 if dparr[-1][-1] == amount+1 else dparr[-1][-1]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467544" y="1124744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兑换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硬币问题代码实现：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827405" y="1484630"/>
            <a:ext cx="7487920" cy="1293495"/>
          </a:xfrm>
          <a:prstGeom prst="rect">
            <a:avLst/>
          </a:prstGeom>
        </p:spPr>
        <p:txBody>
          <a:bodyPr>
            <a:no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给定一个整数数组，找出一个具有最大和的连续子数组（子数组最少包含一个元素，并且子数组是连续的），返回其最大和。</a:t>
            </a:r>
            <a:endParaRPr lang="zh-CN" altLang="en-US" sz="1600" b="1">
              <a:latin typeface="Times New Roman" panose="02020603050405020304"/>
              <a:ea typeface="宋体" panose="02010600030101010101" pitchFamily="2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示例</a:t>
            </a:r>
            <a:r>
              <a:rPr lang="en-US" altLang="zh-CN" sz="1600" b="1">
                <a:latin typeface="Times New Roman" panose="02020603050405020304"/>
                <a:ea typeface="Times New Roman" panose="02020603050405020304"/>
              </a:rPr>
              <a:t>1</a:t>
            </a: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：</a:t>
            </a:r>
            <a:endParaRPr lang="zh-CN" altLang="en-US" sz="1600" b="1">
              <a:latin typeface="Times New Roman" panose="02020603050405020304"/>
              <a:ea typeface="宋体" panose="02010600030101010101" pitchFamily="2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输入：</a:t>
            </a:r>
            <a:r>
              <a:rPr lang="en-US" altLang="zh-CN" sz="1600" b="1">
                <a:latin typeface="Times New Roman" panose="02020603050405020304"/>
                <a:ea typeface="Times New Roman" panose="02020603050405020304"/>
              </a:rPr>
              <a:t>arr = [13,-3,-25,20,-3,-16,-23,18,20,-7,12,-5,-22,15,-4,7]</a:t>
            </a:r>
            <a:endParaRPr lang="en-US" altLang="zh-CN" sz="1600" b="1">
              <a:latin typeface="Times New Roman" panose="02020603050405020304"/>
              <a:ea typeface="Times New Roman" panose="02020603050405020304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输出：</a:t>
            </a:r>
            <a:r>
              <a:rPr lang="en-US" altLang="zh-CN" sz="1600" b="1">
                <a:latin typeface="Times New Roman" panose="02020603050405020304"/>
                <a:ea typeface="Times New Roman" panose="02020603050405020304"/>
              </a:rPr>
              <a:t>43</a:t>
            </a:r>
            <a:endParaRPr lang="en-US" altLang="zh-CN" sz="1600" b="1"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899795" y="2996565"/>
            <a:ext cx="5318125" cy="3111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如何将利用动态规划解决该</a:t>
            </a:r>
            <a:r>
              <a:rPr lang="zh-CN" altLang="en-US"/>
              <a:t>问题？</a:t>
            </a:r>
            <a:endParaRPr lang="zh-CN" altLang="en-US"/>
          </a:p>
        </p:txBody>
      </p:sp>
      <p:sp>
        <p:nvSpPr>
          <p:cNvPr id="119" name="文本框 118"/>
          <p:cNvSpPr txBox="1"/>
          <p:nvPr/>
        </p:nvSpPr>
        <p:spPr>
          <a:xfrm>
            <a:off x="971550" y="3717290"/>
            <a:ext cx="7498080" cy="17532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def maxSubArray(nums: list) -&gt; int: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current_max = [0] * len(nums)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current_max[0] = nums[0]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for i in range(1,len(nums)):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current_max[i] = max(nums[i],current_max[i-1]+nums[i])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return max(current_max)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827405" y="1484630"/>
            <a:ext cx="7487920" cy="1293495"/>
          </a:xfrm>
          <a:prstGeom prst="rect">
            <a:avLst/>
          </a:prstGeom>
        </p:spPr>
        <p:txBody>
          <a:bodyPr>
            <a:no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给定一个整数数组，找出一个具有最大和的连续子数组（子数组最少包含一个元素，并且子数组是连续的），返回其最大和。</a:t>
            </a:r>
            <a:endParaRPr lang="zh-CN" altLang="en-US" sz="1600" b="1">
              <a:latin typeface="Times New Roman" panose="02020603050405020304"/>
              <a:ea typeface="宋体" panose="02010600030101010101" pitchFamily="2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示例</a:t>
            </a:r>
            <a:r>
              <a:rPr lang="en-US" altLang="zh-CN" sz="1600" b="1">
                <a:latin typeface="Times New Roman" panose="02020603050405020304"/>
                <a:ea typeface="Times New Roman" panose="02020603050405020304"/>
              </a:rPr>
              <a:t>1</a:t>
            </a: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：</a:t>
            </a:r>
            <a:endParaRPr lang="zh-CN" altLang="en-US" sz="1600" b="1">
              <a:latin typeface="Times New Roman" panose="02020603050405020304"/>
              <a:ea typeface="宋体" panose="02010600030101010101" pitchFamily="2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输入：</a:t>
            </a:r>
            <a:r>
              <a:rPr lang="en-US" altLang="zh-CN" sz="1600" b="1">
                <a:latin typeface="Times New Roman" panose="02020603050405020304"/>
                <a:ea typeface="Times New Roman" panose="02020603050405020304"/>
              </a:rPr>
              <a:t>arr = [13,-3,-25,20,-3,-16,-23,18,20,-7,12,-5,-22,15,-4,7]</a:t>
            </a:r>
            <a:endParaRPr lang="en-US" altLang="zh-CN" sz="1600" b="1">
              <a:latin typeface="Times New Roman" panose="02020603050405020304"/>
              <a:ea typeface="Times New Roman" panose="02020603050405020304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输出：</a:t>
            </a:r>
            <a:r>
              <a:rPr lang="en-US" altLang="zh-CN" sz="1600" b="1">
                <a:latin typeface="Times New Roman" panose="02020603050405020304"/>
                <a:ea typeface="Times New Roman" panose="02020603050405020304"/>
              </a:rPr>
              <a:t>43</a:t>
            </a:r>
            <a:endParaRPr lang="en-US" altLang="zh-CN" sz="1600" b="1"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899795" y="2996565"/>
            <a:ext cx="5318125" cy="3111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可以直接用两个变量，省略一个</a:t>
            </a:r>
            <a:r>
              <a:rPr lang="zh-CN" altLang="en-US"/>
              <a:t>数组。</a:t>
            </a:r>
            <a:endParaRPr lang="zh-CN" altLang="en-US"/>
          </a:p>
        </p:txBody>
      </p:sp>
      <p:sp>
        <p:nvSpPr>
          <p:cNvPr id="80" name="文本框 79"/>
          <p:cNvSpPr txBox="1"/>
          <p:nvPr/>
        </p:nvSpPr>
        <p:spPr>
          <a:xfrm>
            <a:off x="899795" y="3526155"/>
            <a:ext cx="6981190" cy="24320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class Solution: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def maxSubArray(self, nums: list) -&gt; int: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current_max = nums[0]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global_max = nums[0]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for i in range(1,len(nums)):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current_max = max(nums[i],current_max+nums[i])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global_max = max(global_max,current_max)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return global_max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899795" y="6165215"/>
            <a:ext cx="5318125" cy="3111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那么背包问题是否可以把数组空间压缩</a:t>
            </a:r>
            <a:r>
              <a:rPr lang="zh-CN" altLang="en-US"/>
              <a:t>呢？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54" name="文本框 53"/>
          <p:cNvSpPr txBox="1"/>
          <p:nvPr/>
        </p:nvSpPr>
        <p:spPr>
          <a:xfrm>
            <a:off x="468179" y="1412399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0-1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背包问题的空间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压缩：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1" name="Rectangle 7"/>
          <p:cNvSpPr>
            <a:spLocks noChangeArrowheads="1"/>
          </p:cNvSpPr>
          <p:nvPr/>
        </p:nvSpPr>
        <p:spPr bwMode="auto">
          <a:xfrm>
            <a:off x="3282316" y="2799398"/>
            <a:ext cx="541338" cy="361950"/>
          </a:xfrm>
          <a:prstGeom prst="rect">
            <a:avLst/>
          </a:prstGeom>
          <a:solidFill>
            <a:srgbClr val="6FC01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79" name="Rectangle 7"/>
          <p:cNvSpPr>
            <a:spLocks noChangeArrowheads="1"/>
          </p:cNvSpPr>
          <p:nvPr/>
        </p:nvSpPr>
        <p:spPr bwMode="auto">
          <a:xfrm>
            <a:off x="4899661" y="2796223"/>
            <a:ext cx="541338" cy="361950"/>
          </a:xfrm>
          <a:prstGeom prst="rect">
            <a:avLst/>
          </a:prstGeom>
          <a:solidFill>
            <a:srgbClr val="6FC01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grpSp>
        <p:nvGrpSpPr>
          <p:cNvPr id="5" name="Group 4"/>
          <p:cNvGrpSpPr>
            <a:grpSpLocks noChangeAspect="1"/>
          </p:cNvGrpSpPr>
          <p:nvPr/>
        </p:nvGrpSpPr>
        <p:grpSpPr bwMode="auto">
          <a:xfrm>
            <a:off x="1103948" y="2060258"/>
            <a:ext cx="7058025" cy="2219325"/>
            <a:chOff x="657" y="1461"/>
            <a:chExt cx="4446" cy="1398"/>
          </a:xfrm>
        </p:grpSpPr>
        <p:sp>
          <p:nvSpPr>
            <p:cNvPr id="7" name="AutoShape 3"/>
            <p:cNvSpPr>
              <a:spLocks noChangeAspect="1" noChangeArrowheads="1" noTextEdit="1"/>
            </p:cNvSpPr>
            <p:nvPr/>
          </p:nvSpPr>
          <p:spPr bwMode="auto">
            <a:xfrm>
              <a:off x="657" y="1461"/>
              <a:ext cx="4446" cy="13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Line 8"/>
            <p:cNvSpPr>
              <a:spLocks noChangeShapeType="1"/>
            </p:cNvSpPr>
            <p:nvPr/>
          </p:nvSpPr>
          <p:spPr bwMode="auto">
            <a:xfrm>
              <a:off x="1004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>
              <a:off x="1345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Line 10"/>
            <p:cNvSpPr>
              <a:spLocks noChangeShapeType="1"/>
            </p:cNvSpPr>
            <p:nvPr/>
          </p:nvSpPr>
          <p:spPr bwMode="auto">
            <a:xfrm>
              <a:off x="1686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Line 11"/>
            <p:cNvSpPr>
              <a:spLocks noChangeShapeType="1"/>
            </p:cNvSpPr>
            <p:nvPr/>
          </p:nvSpPr>
          <p:spPr bwMode="auto">
            <a:xfrm>
              <a:off x="2026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Line 12"/>
            <p:cNvSpPr>
              <a:spLocks noChangeShapeType="1"/>
            </p:cNvSpPr>
            <p:nvPr/>
          </p:nvSpPr>
          <p:spPr bwMode="auto">
            <a:xfrm>
              <a:off x="2367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Line 13"/>
            <p:cNvSpPr>
              <a:spLocks noChangeShapeType="1"/>
            </p:cNvSpPr>
            <p:nvPr/>
          </p:nvSpPr>
          <p:spPr bwMode="auto">
            <a:xfrm>
              <a:off x="2707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Line 14"/>
            <p:cNvSpPr>
              <a:spLocks noChangeShapeType="1"/>
            </p:cNvSpPr>
            <p:nvPr/>
          </p:nvSpPr>
          <p:spPr bwMode="auto">
            <a:xfrm>
              <a:off x="3048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Line 15"/>
            <p:cNvSpPr>
              <a:spLocks noChangeShapeType="1"/>
            </p:cNvSpPr>
            <p:nvPr/>
          </p:nvSpPr>
          <p:spPr bwMode="auto">
            <a:xfrm>
              <a:off x="3389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Line 16"/>
            <p:cNvSpPr>
              <a:spLocks noChangeShapeType="1"/>
            </p:cNvSpPr>
            <p:nvPr/>
          </p:nvSpPr>
          <p:spPr bwMode="auto">
            <a:xfrm>
              <a:off x="3730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Line 17"/>
            <p:cNvSpPr>
              <a:spLocks noChangeShapeType="1"/>
            </p:cNvSpPr>
            <p:nvPr/>
          </p:nvSpPr>
          <p:spPr bwMode="auto">
            <a:xfrm>
              <a:off x="4070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Line 18"/>
            <p:cNvSpPr>
              <a:spLocks noChangeShapeType="1"/>
            </p:cNvSpPr>
            <p:nvPr/>
          </p:nvSpPr>
          <p:spPr bwMode="auto">
            <a:xfrm>
              <a:off x="4411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Line 19"/>
            <p:cNvSpPr>
              <a:spLocks noChangeShapeType="1"/>
            </p:cNvSpPr>
            <p:nvPr/>
          </p:nvSpPr>
          <p:spPr bwMode="auto">
            <a:xfrm>
              <a:off x="4751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Line 20"/>
            <p:cNvSpPr>
              <a:spLocks noChangeShapeType="1"/>
            </p:cNvSpPr>
            <p:nvPr/>
          </p:nvSpPr>
          <p:spPr bwMode="auto">
            <a:xfrm>
              <a:off x="660" y="1698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Line 21"/>
            <p:cNvSpPr>
              <a:spLocks noChangeShapeType="1"/>
            </p:cNvSpPr>
            <p:nvPr/>
          </p:nvSpPr>
          <p:spPr bwMode="auto">
            <a:xfrm>
              <a:off x="660" y="1925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8" name="Line 22"/>
            <p:cNvSpPr>
              <a:spLocks noChangeShapeType="1"/>
            </p:cNvSpPr>
            <p:nvPr/>
          </p:nvSpPr>
          <p:spPr bwMode="auto">
            <a:xfrm>
              <a:off x="660" y="2153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9" name="Line 23"/>
            <p:cNvSpPr>
              <a:spLocks noChangeShapeType="1"/>
            </p:cNvSpPr>
            <p:nvPr/>
          </p:nvSpPr>
          <p:spPr bwMode="auto">
            <a:xfrm>
              <a:off x="660" y="2381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0" name="Line 24"/>
            <p:cNvSpPr>
              <a:spLocks noChangeShapeType="1"/>
            </p:cNvSpPr>
            <p:nvPr/>
          </p:nvSpPr>
          <p:spPr bwMode="auto">
            <a:xfrm>
              <a:off x="660" y="2609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1" name="Line 25"/>
            <p:cNvSpPr>
              <a:spLocks noChangeShapeType="1"/>
            </p:cNvSpPr>
            <p:nvPr/>
          </p:nvSpPr>
          <p:spPr bwMode="auto">
            <a:xfrm>
              <a:off x="664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2" name="Line 26"/>
            <p:cNvSpPr>
              <a:spLocks noChangeShapeType="1"/>
            </p:cNvSpPr>
            <p:nvPr/>
          </p:nvSpPr>
          <p:spPr bwMode="auto">
            <a:xfrm>
              <a:off x="5092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3" name="Line 27"/>
            <p:cNvSpPr>
              <a:spLocks noChangeShapeType="1"/>
            </p:cNvSpPr>
            <p:nvPr/>
          </p:nvSpPr>
          <p:spPr bwMode="auto">
            <a:xfrm>
              <a:off x="660" y="1470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" name="Line 28"/>
            <p:cNvSpPr>
              <a:spLocks noChangeShapeType="1"/>
            </p:cNvSpPr>
            <p:nvPr/>
          </p:nvSpPr>
          <p:spPr bwMode="auto">
            <a:xfrm>
              <a:off x="660" y="2837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" name="Rectangle 29"/>
            <p:cNvSpPr>
              <a:spLocks noChangeArrowheads="1"/>
            </p:cNvSpPr>
            <p:nvPr/>
          </p:nvSpPr>
          <p:spPr bwMode="auto">
            <a:xfrm>
              <a:off x="734" y="1526"/>
              <a:ext cx="162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W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6" name="Rectangle 30"/>
            <p:cNvSpPr>
              <a:spLocks noChangeArrowheads="1"/>
            </p:cNvSpPr>
            <p:nvPr/>
          </p:nvSpPr>
          <p:spPr bwMode="auto">
            <a:xfrm>
              <a:off x="836" y="1586"/>
              <a:ext cx="48" cy="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9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7" name="Rectangle 31"/>
            <p:cNvSpPr>
              <a:spLocks noChangeArrowheads="1"/>
            </p:cNvSpPr>
            <p:nvPr/>
          </p:nvSpPr>
          <p:spPr bwMode="auto">
            <a:xfrm>
              <a:off x="1050" y="1526"/>
              <a:ext cx="127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C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8" name="Rectangle 32"/>
            <p:cNvSpPr>
              <a:spLocks noChangeArrowheads="1"/>
            </p:cNvSpPr>
            <p:nvPr/>
          </p:nvSpPr>
          <p:spPr bwMode="auto">
            <a:xfrm>
              <a:off x="1129" y="1586"/>
              <a:ext cx="48" cy="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9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9" name="Rectangle 33"/>
            <p:cNvSpPr>
              <a:spLocks noChangeArrowheads="1"/>
            </p:cNvSpPr>
            <p:nvPr/>
          </p:nvSpPr>
          <p:spPr bwMode="auto">
            <a:xfrm>
              <a:off x="1391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0" name="Rectangle 34"/>
            <p:cNvSpPr>
              <a:spLocks noChangeArrowheads="1"/>
            </p:cNvSpPr>
            <p:nvPr/>
          </p:nvSpPr>
          <p:spPr bwMode="auto">
            <a:xfrm>
              <a:off x="1445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1" name="Rectangle 35"/>
            <p:cNvSpPr>
              <a:spLocks noChangeArrowheads="1"/>
            </p:cNvSpPr>
            <p:nvPr/>
          </p:nvSpPr>
          <p:spPr bwMode="auto">
            <a:xfrm>
              <a:off x="1732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2" name="Rectangle 36"/>
            <p:cNvSpPr>
              <a:spLocks noChangeArrowheads="1"/>
            </p:cNvSpPr>
            <p:nvPr/>
          </p:nvSpPr>
          <p:spPr bwMode="auto">
            <a:xfrm>
              <a:off x="1786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3" name="Rectangle 37"/>
            <p:cNvSpPr>
              <a:spLocks noChangeArrowheads="1"/>
            </p:cNvSpPr>
            <p:nvPr/>
          </p:nvSpPr>
          <p:spPr bwMode="auto">
            <a:xfrm>
              <a:off x="2072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4" name="Rectangle 38"/>
            <p:cNvSpPr>
              <a:spLocks noChangeArrowheads="1"/>
            </p:cNvSpPr>
            <p:nvPr/>
          </p:nvSpPr>
          <p:spPr bwMode="auto">
            <a:xfrm>
              <a:off x="2156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5" name="Rectangle 39"/>
            <p:cNvSpPr>
              <a:spLocks noChangeArrowheads="1"/>
            </p:cNvSpPr>
            <p:nvPr/>
          </p:nvSpPr>
          <p:spPr bwMode="auto">
            <a:xfrm>
              <a:off x="2413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6" name="Rectangle 40"/>
            <p:cNvSpPr>
              <a:spLocks noChangeArrowheads="1"/>
            </p:cNvSpPr>
            <p:nvPr/>
          </p:nvSpPr>
          <p:spPr bwMode="auto">
            <a:xfrm>
              <a:off x="2497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7" name="Rectangle 41"/>
            <p:cNvSpPr>
              <a:spLocks noChangeArrowheads="1"/>
            </p:cNvSpPr>
            <p:nvPr/>
          </p:nvSpPr>
          <p:spPr bwMode="auto">
            <a:xfrm>
              <a:off x="2754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8" name="Rectangle 42"/>
            <p:cNvSpPr>
              <a:spLocks noChangeArrowheads="1"/>
            </p:cNvSpPr>
            <p:nvPr/>
          </p:nvSpPr>
          <p:spPr bwMode="auto">
            <a:xfrm>
              <a:off x="2838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9" name="Rectangle 43"/>
            <p:cNvSpPr>
              <a:spLocks noChangeArrowheads="1"/>
            </p:cNvSpPr>
            <p:nvPr/>
          </p:nvSpPr>
          <p:spPr bwMode="auto">
            <a:xfrm>
              <a:off x="3094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0" name="Rectangle 44"/>
            <p:cNvSpPr>
              <a:spLocks noChangeArrowheads="1"/>
            </p:cNvSpPr>
            <p:nvPr/>
          </p:nvSpPr>
          <p:spPr bwMode="auto">
            <a:xfrm>
              <a:off x="3148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1" name="Rectangle 45"/>
            <p:cNvSpPr>
              <a:spLocks noChangeArrowheads="1"/>
            </p:cNvSpPr>
            <p:nvPr/>
          </p:nvSpPr>
          <p:spPr bwMode="auto">
            <a:xfrm>
              <a:off x="3435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6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2" name="Rectangle 46"/>
            <p:cNvSpPr>
              <a:spLocks noChangeArrowheads="1"/>
            </p:cNvSpPr>
            <p:nvPr/>
          </p:nvSpPr>
          <p:spPr bwMode="auto">
            <a:xfrm>
              <a:off x="3489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3" name="Rectangle 47"/>
            <p:cNvSpPr>
              <a:spLocks noChangeArrowheads="1"/>
            </p:cNvSpPr>
            <p:nvPr/>
          </p:nvSpPr>
          <p:spPr bwMode="auto">
            <a:xfrm>
              <a:off x="3775" y="1526"/>
              <a:ext cx="10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" name="Rectangle 48"/>
            <p:cNvSpPr>
              <a:spLocks noChangeArrowheads="1"/>
            </p:cNvSpPr>
            <p:nvPr/>
          </p:nvSpPr>
          <p:spPr bwMode="auto">
            <a:xfrm>
              <a:off x="3830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5" name="Rectangle 49"/>
            <p:cNvSpPr>
              <a:spLocks noChangeArrowheads="1"/>
            </p:cNvSpPr>
            <p:nvPr/>
          </p:nvSpPr>
          <p:spPr bwMode="auto">
            <a:xfrm>
              <a:off x="4116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8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6" name="Rectangle 50"/>
            <p:cNvSpPr>
              <a:spLocks noChangeArrowheads="1"/>
            </p:cNvSpPr>
            <p:nvPr/>
          </p:nvSpPr>
          <p:spPr bwMode="auto">
            <a:xfrm>
              <a:off x="4170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7" name="Rectangle 51"/>
            <p:cNvSpPr>
              <a:spLocks noChangeArrowheads="1"/>
            </p:cNvSpPr>
            <p:nvPr/>
          </p:nvSpPr>
          <p:spPr bwMode="auto">
            <a:xfrm>
              <a:off x="4457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8" name="Rectangle 52"/>
            <p:cNvSpPr>
              <a:spLocks noChangeArrowheads="1"/>
            </p:cNvSpPr>
            <p:nvPr/>
          </p:nvSpPr>
          <p:spPr bwMode="auto">
            <a:xfrm>
              <a:off x="4511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9" name="Rectangle 53"/>
            <p:cNvSpPr>
              <a:spLocks noChangeArrowheads="1"/>
            </p:cNvSpPr>
            <p:nvPr/>
          </p:nvSpPr>
          <p:spPr bwMode="auto">
            <a:xfrm>
              <a:off x="4797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0" name="Rectangle 54"/>
            <p:cNvSpPr>
              <a:spLocks noChangeArrowheads="1"/>
            </p:cNvSpPr>
            <p:nvPr/>
          </p:nvSpPr>
          <p:spPr bwMode="auto">
            <a:xfrm>
              <a:off x="4906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1" name="Rectangle 55"/>
            <p:cNvSpPr>
              <a:spLocks noChangeArrowheads="1"/>
            </p:cNvSpPr>
            <p:nvPr/>
          </p:nvSpPr>
          <p:spPr bwMode="auto">
            <a:xfrm>
              <a:off x="710" y="1752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2" name="Rectangle 56"/>
            <p:cNvSpPr>
              <a:spLocks noChangeArrowheads="1"/>
            </p:cNvSpPr>
            <p:nvPr/>
          </p:nvSpPr>
          <p:spPr bwMode="auto">
            <a:xfrm>
              <a:off x="1050" y="1752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4" name="Rectangle 68"/>
            <p:cNvSpPr>
              <a:spLocks noChangeArrowheads="1"/>
            </p:cNvSpPr>
            <p:nvPr/>
          </p:nvSpPr>
          <p:spPr bwMode="auto">
            <a:xfrm>
              <a:off x="710" y="1980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5" name="Rectangle 69"/>
            <p:cNvSpPr>
              <a:spLocks noChangeArrowheads="1"/>
            </p:cNvSpPr>
            <p:nvPr/>
          </p:nvSpPr>
          <p:spPr bwMode="auto">
            <a:xfrm>
              <a:off x="1050" y="1980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7" name="Rectangle 81"/>
            <p:cNvSpPr>
              <a:spLocks noChangeArrowheads="1"/>
            </p:cNvSpPr>
            <p:nvPr/>
          </p:nvSpPr>
          <p:spPr bwMode="auto">
            <a:xfrm>
              <a:off x="710" y="2209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8" name="Rectangle 82"/>
            <p:cNvSpPr>
              <a:spLocks noChangeArrowheads="1"/>
            </p:cNvSpPr>
            <p:nvPr/>
          </p:nvSpPr>
          <p:spPr bwMode="auto">
            <a:xfrm>
              <a:off x="1050" y="2209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93" name="Rectangle 87"/>
            <p:cNvSpPr>
              <a:spLocks noChangeArrowheads="1"/>
            </p:cNvSpPr>
            <p:nvPr/>
          </p:nvSpPr>
          <p:spPr bwMode="auto">
            <a:xfrm>
              <a:off x="2754" y="2209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0" name="Rectangle 94"/>
            <p:cNvSpPr>
              <a:spLocks noChangeArrowheads="1"/>
            </p:cNvSpPr>
            <p:nvPr/>
          </p:nvSpPr>
          <p:spPr bwMode="auto">
            <a:xfrm>
              <a:off x="710" y="2437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1" name="Rectangle 95"/>
            <p:cNvSpPr>
              <a:spLocks noChangeArrowheads="1"/>
            </p:cNvSpPr>
            <p:nvPr/>
          </p:nvSpPr>
          <p:spPr bwMode="auto">
            <a:xfrm>
              <a:off x="1050" y="2437"/>
              <a:ext cx="10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3" name="Rectangle 107"/>
            <p:cNvSpPr>
              <a:spLocks noChangeArrowheads="1"/>
            </p:cNvSpPr>
            <p:nvPr/>
          </p:nvSpPr>
          <p:spPr bwMode="auto">
            <a:xfrm>
              <a:off x="710" y="2663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4" name="Rectangle 108"/>
            <p:cNvSpPr>
              <a:spLocks noChangeArrowheads="1"/>
            </p:cNvSpPr>
            <p:nvPr/>
          </p:nvSpPr>
          <p:spPr bwMode="auto">
            <a:xfrm>
              <a:off x="1050" y="2663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8" name="Rectangle 57"/>
          <p:cNvSpPr>
            <a:spLocks noChangeArrowheads="1"/>
          </p:cNvSpPr>
          <p:nvPr/>
        </p:nvSpPr>
        <p:spPr bwMode="auto">
          <a:xfrm>
            <a:off x="2269173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9" name="Rectangle 58"/>
          <p:cNvSpPr>
            <a:spLocks noChangeArrowheads="1"/>
          </p:cNvSpPr>
          <p:nvPr/>
        </p:nvSpPr>
        <p:spPr bwMode="auto">
          <a:xfrm>
            <a:off x="2810511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6" name="Rectangle 59"/>
          <p:cNvSpPr>
            <a:spLocks noChangeArrowheads="1"/>
          </p:cNvSpPr>
          <p:nvPr/>
        </p:nvSpPr>
        <p:spPr bwMode="auto">
          <a:xfrm>
            <a:off x="3350261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7" name="Rectangle 60"/>
          <p:cNvSpPr>
            <a:spLocks noChangeArrowheads="1"/>
          </p:cNvSpPr>
          <p:nvPr/>
        </p:nvSpPr>
        <p:spPr bwMode="auto">
          <a:xfrm>
            <a:off x="3891598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8" name="Rectangle 61"/>
          <p:cNvSpPr>
            <a:spLocks noChangeArrowheads="1"/>
          </p:cNvSpPr>
          <p:nvPr/>
        </p:nvSpPr>
        <p:spPr bwMode="auto">
          <a:xfrm>
            <a:off x="4432936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9" name="Rectangle 62"/>
          <p:cNvSpPr>
            <a:spLocks noChangeArrowheads="1"/>
          </p:cNvSpPr>
          <p:nvPr/>
        </p:nvSpPr>
        <p:spPr bwMode="auto">
          <a:xfrm>
            <a:off x="4972686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0" name="Rectangle 63"/>
          <p:cNvSpPr>
            <a:spLocks noChangeArrowheads="1"/>
          </p:cNvSpPr>
          <p:nvPr/>
        </p:nvSpPr>
        <p:spPr bwMode="auto">
          <a:xfrm>
            <a:off x="5514023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1" name="Rectangle 64"/>
          <p:cNvSpPr>
            <a:spLocks noChangeArrowheads="1"/>
          </p:cNvSpPr>
          <p:nvPr/>
        </p:nvSpPr>
        <p:spPr bwMode="auto">
          <a:xfrm>
            <a:off x="6053773" y="2522221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2" name="Rectangle 65"/>
          <p:cNvSpPr>
            <a:spLocks noChangeArrowheads="1"/>
          </p:cNvSpPr>
          <p:nvPr/>
        </p:nvSpPr>
        <p:spPr bwMode="auto">
          <a:xfrm>
            <a:off x="6595111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3" name="Rectangle 66"/>
          <p:cNvSpPr>
            <a:spLocks noChangeArrowheads="1"/>
          </p:cNvSpPr>
          <p:nvPr/>
        </p:nvSpPr>
        <p:spPr bwMode="auto">
          <a:xfrm>
            <a:off x="7136448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4" name="Rectangle 67"/>
          <p:cNvSpPr>
            <a:spLocks noChangeArrowheads="1"/>
          </p:cNvSpPr>
          <p:nvPr/>
        </p:nvSpPr>
        <p:spPr bwMode="auto">
          <a:xfrm>
            <a:off x="7676198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5" name="Rectangle 70"/>
          <p:cNvSpPr>
            <a:spLocks noChangeArrowheads="1"/>
          </p:cNvSpPr>
          <p:nvPr/>
        </p:nvSpPr>
        <p:spPr bwMode="auto">
          <a:xfrm>
            <a:off x="2269173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6" name="Rectangle 83"/>
          <p:cNvSpPr>
            <a:spLocks noChangeArrowheads="1"/>
          </p:cNvSpPr>
          <p:nvPr/>
        </p:nvSpPr>
        <p:spPr bwMode="auto">
          <a:xfrm>
            <a:off x="2269173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7" name="Rectangle 96"/>
          <p:cNvSpPr>
            <a:spLocks noChangeArrowheads="1"/>
          </p:cNvSpPr>
          <p:nvPr/>
        </p:nvSpPr>
        <p:spPr bwMode="auto">
          <a:xfrm>
            <a:off x="2269173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8" name="Rectangle 109"/>
          <p:cNvSpPr>
            <a:spLocks noChangeArrowheads="1"/>
          </p:cNvSpPr>
          <p:nvPr/>
        </p:nvSpPr>
        <p:spPr bwMode="auto">
          <a:xfrm>
            <a:off x="2269173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43" name="Rectangle 71"/>
          <p:cNvSpPr>
            <a:spLocks noChangeArrowheads="1"/>
          </p:cNvSpPr>
          <p:nvPr/>
        </p:nvSpPr>
        <p:spPr bwMode="auto">
          <a:xfrm>
            <a:off x="2810511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8" name="Rectangle 72"/>
          <p:cNvSpPr>
            <a:spLocks noChangeArrowheads="1"/>
          </p:cNvSpPr>
          <p:nvPr/>
        </p:nvSpPr>
        <p:spPr bwMode="auto">
          <a:xfrm>
            <a:off x="3350261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Rectangle 73"/>
          <p:cNvSpPr>
            <a:spLocks noChangeArrowheads="1"/>
          </p:cNvSpPr>
          <p:nvPr/>
        </p:nvSpPr>
        <p:spPr bwMode="auto">
          <a:xfrm>
            <a:off x="3891598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" name="Rectangle 74"/>
          <p:cNvSpPr>
            <a:spLocks noChangeArrowheads="1"/>
          </p:cNvSpPr>
          <p:nvPr/>
        </p:nvSpPr>
        <p:spPr bwMode="auto">
          <a:xfrm>
            <a:off x="4432936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3" name="Rectangle 75"/>
          <p:cNvSpPr>
            <a:spLocks noChangeArrowheads="1"/>
          </p:cNvSpPr>
          <p:nvPr/>
        </p:nvSpPr>
        <p:spPr bwMode="auto">
          <a:xfrm>
            <a:off x="4972686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9" name="Rectangle 76"/>
          <p:cNvSpPr>
            <a:spLocks noChangeArrowheads="1"/>
          </p:cNvSpPr>
          <p:nvPr/>
        </p:nvSpPr>
        <p:spPr bwMode="auto">
          <a:xfrm>
            <a:off x="5514023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0" name="Rectangle 77"/>
          <p:cNvSpPr>
            <a:spLocks noChangeArrowheads="1"/>
          </p:cNvSpPr>
          <p:nvPr/>
        </p:nvSpPr>
        <p:spPr bwMode="auto">
          <a:xfrm>
            <a:off x="6053773" y="2884171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1" name="Rectangle 78"/>
          <p:cNvSpPr>
            <a:spLocks noChangeArrowheads="1"/>
          </p:cNvSpPr>
          <p:nvPr/>
        </p:nvSpPr>
        <p:spPr bwMode="auto">
          <a:xfrm>
            <a:off x="6595111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2" name="Rectangle 79"/>
          <p:cNvSpPr>
            <a:spLocks noChangeArrowheads="1"/>
          </p:cNvSpPr>
          <p:nvPr/>
        </p:nvSpPr>
        <p:spPr bwMode="auto">
          <a:xfrm>
            <a:off x="7136448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3" name="Rectangle 80"/>
          <p:cNvSpPr>
            <a:spLocks noChangeArrowheads="1"/>
          </p:cNvSpPr>
          <p:nvPr/>
        </p:nvSpPr>
        <p:spPr bwMode="auto">
          <a:xfrm>
            <a:off x="7676198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6" name="Rectangle 84"/>
          <p:cNvSpPr>
            <a:spLocks noChangeArrowheads="1"/>
          </p:cNvSpPr>
          <p:nvPr/>
        </p:nvSpPr>
        <p:spPr bwMode="auto">
          <a:xfrm>
            <a:off x="2810511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7" name="Rectangle 85"/>
          <p:cNvSpPr>
            <a:spLocks noChangeArrowheads="1"/>
          </p:cNvSpPr>
          <p:nvPr/>
        </p:nvSpPr>
        <p:spPr bwMode="auto">
          <a:xfrm>
            <a:off x="3350261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8" name="Rectangle 86"/>
          <p:cNvSpPr>
            <a:spLocks noChangeArrowheads="1"/>
          </p:cNvSpPr>
          <p:nvPr/>
        </p:nvSpPr>
        <p:spPr bwMode="auto">
          <a:xfrm>
            <a:off x="3891598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2" name="Rectangle 88"/>
          <p:cNvSpPr>
            <a:spLocks noChangeArrowheads="1"/>
          </p:cNvSpPr>
          <p:nvPr/>
        </p:nvSpPr>
        <p:spPr bwMode="auto">
          <a:xfrm>
            <a:off x="4972686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3" name="Rectangle 89"/>
          <p:cNvSpPr>
            <a:spLocks noChangeArrowheads="1"/>
          </p:cNvSpPr>
          <p:nvPr/>
        </p:nvSpPr>
        <p:spPr bwMode="auto">
          <a:xfrm>
            <a:off x="5514023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4" name="Rectangle 90"/>
          <p:cNvSpPr>
            <a:spLocks noChangeArrowheads="1"/>
          </p:cNvSpPr>
          <p:nvPr/>
        </p:nvSpPr>
        <p:spPr bwMode="auto">
          <a:xfrm>
            <a:off x="6053773" y="3247708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5" name="Rectangle 91"/>
          <p:cNvSpPr>
            <a:spLocks noChangeArrowheads="1"/>
          </p:cNvSpPr>
          <p:nvPr/>
        </p:nvSpPr>
        <p:spPr bwMode="auto">
          <a:xfrm>
            <a:off x="6595111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6" name="Rectangle 92"/>
          <p:cNvSpPr>
            <a:spLocks noChangeArrowheads="1"/>
          </p:cNvSpPr>
          <p:nvPr/>
        </p:nvSpPr>
        <p:spPr bwMode="auto">
          <a:xfrm>
            <a:off x="7136448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9" name="Rectangle 93"/>
          <p:cNvSpPr>
            <a:spLocks noChangeArrowheads="1"/>
          </p:cNvSpPr>
          <p:nvPr/>
        </p:nvSpPr>
        <p:spPr bwMode="auto">
          <a:xfrm>
            <a:off x="7676198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0" name="Rectangle 97"/>
          <p:cNvSpPr>
            <a:spLocks noChangeArrowheads="1"/>
          </p:cNvSpPr>
          <p:nvPr/>
        </p:nvSpPr>
        <p:spPr bwMode="auto">
          <a:xfrm>
            <a:off x="2810511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1" name="Rectangle 98"/>
          <p:cNvSpPr>
            <a:spLocks noChangeArrowheads="1"/>
          </p:cNvSpPr>
          <p:nvPr/>
        </p:nvSpPr>
        <p:spPr bwMode="auto">
          <a:xfrm>
            <a:off x="3350261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2" name="Rectangle 99"/>
          <p:cNvSpPr>
            <a:spLocks noChangeArrowheads="1"/>
          </p:cNvSpPr>
          <p:nvPr/>
        </p:nvSpPr>
        <p:spPr bwMode="auto">
          <a:xfrm>
            <a:off x="3891598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2" name="Rectangle 100"/>
          <p:cNvSpPr>
            <a:spLocks noChangeArrowheads="1"/>
          </p:cNvSpPr>
          <p:nvPr/>
        </p:nvSpPr>
        <p:spPr bwMode="auto">
          <a:xfrm>
            <a:off x="4432936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5" name="Rectangle 101"/>
          <p:cNvSpPr>
            <a:spLocks noChangeArrowheads="1"/>
          </p:cNvSpPr>
          <p:nvPr/>
        </p:nvSpPr>
        <p:spPr bwMode="auto">
          <a:xfrm>
            <a:off x="4972686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0" name="Rectangle 102"/>
          <p:cNvSpPr>
            <a:spLocks noChangeArrowheads="1"/>
          </p:cNvSpPr>
          <p:nvPr/>
        </p:nvSpPr>
        <p:spPr bwMode="auto">
          <a:xfrm>
            <a:off x="5514023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6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1" name="Rectangle 103"/>
          <p:cNvSpPr>
            <a:spLocks noChangeArrowheads="1"/>
          </p:cNvSpPr>
          <p:nvPr/>
        </p:nvSpPr>
        <p:spPr bwMode="auto">
          <a:xfrm>
            <a:off x="6053773" y="3609658"/>
            <a:ext cx="88900" cy="2152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8</a:t>
            </a:r>
            <a:endParaRPr kumimoji="0" lang="en-US" altLang="zh-CN" sz="14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44" name="Rectangle 104"/>
          <p:cNvSpPr>
            <a:spLocks noChangeArrowheads="1"/>
          </p:cNvSpPr>
          <p:nvPr/>
        </p:nvSpPr>
        <p:spPr bwMode="auto">
          <a:xfrm>
            <a:off x="6595111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8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5" name="Rectangle 105"/>
          <p:cNvSpPr>
            <a:spLocks noChangeArrowheads="1"/>
          </p:cNvSpPr>
          <p:nvPr/>
        </p:nvSpPr>
        <p:spPr bwMode="auto">
          <a:xfrm>
            <a:off x="7136448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6" name="Rectangle 106"/>
          <p:cNvSpPr>
            <a:spLocks noChangeArrowheads="1"/>
          </p:cNvSpPr>
          <p:nvPr/>
        </p:nvSpPr>
        <p:spPr bwMode="auto">
          <a:xfrm>
            <a:off x="7676198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7" name="Rectangle 110"/>
          <p:cNvSpPr>
            <a:spLocks noChangeArrowheads="1"/>
          </p:cNvSpPr>
          <p:nvPr/>
        </p:nvSpPr>
        <p:spPr bwMode="auto">
          <a:xfrm>
            <a:off x="2810511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8" name="Rectangle 111"/>
          <p:cNvSpPr>
            <a:spLocks noChangeArrowheads="1"/>
          </p:cNvSpPr>
          <p:nvPr/>
        </p:nvSpPr>
        <p:spPr bwMode="auto">
          <a:xfrm>
            <a:off x="3350261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9" name="Rectangle 112"/>
          <p:cNvSpPr>
            <a:spLocks noChangeArrowheads="1"/>
          </p:cNvSpPr>
          <p:nvPr/>
        </p:nvSpPr>
        <p:spPr bwMode="auto">
          <a:xfrm>
            <a:off x="3891598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0" name="Rectangle 113"/>
          <p:cNvSpPr>
            <a:spLocks noChangeArrowheads="1"/>
          </p:cNvSpPr>
          <p:nvPr/>
        </p:nvSpPr>
        <p:spPr bwMode="auto">
          <a:xfrm>
            <a:off x="4432936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1" name="Rectangle 114"/>
          <p:cNvSpPr>
            <a:spLocks noChangeArrowheads="1"/>
          </p:cNvSpPr>
          <p:nvPr/>
        </p:nvSpPr>
        <p:spPr bwMode="auto">
          <a:xfrm>
            <a:off x="4972686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2" name="Rectangle 115"/>
          <p:cNvSpPr>
            <a:spLocks noChangeArrowheads="1"/>
          </p:cNvSpPr>
          <p:nvPr/>
        </p:nvSpPr>
        <p:spPr bwMode="auto">
          <a:xfrm>
            <a:off x="5514023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6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3" name="Rectangle 116"/>
          <p:cNvSpPr>
            <a:spLocks noChangeArrowheads="1"/>
          </p:cNvSpPr>
          <p:nvPr/>
        </p:nvSpPr>
        <p:spPr bwMode="auto">
          <a:xfrm>
            <a:off x="6053773" y="3968433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4" name="Rectangle 117"/>
          <p:cNvSpPr>
            <a:spLocks noChangeArrowheads="1"/>
          </p:cNvSpPr>
          <p:nvPr/>
        </p:nvSpPr>
        <p:spPr bwMode="auto">
          <a:xfrm>
            <a:off x="6595111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5" name="Rectangle 118"/>
          <p:cNvSpPr>
            <a:spLocks noChangeArrowheads="1"/>
          </p:cNvSpPr>
          <p:nvPr/>
        </p:nvSpPr>
        <p:spPr bwMode="auto">
          <a:xfrm>
            <a:off x="7136448" y="3968433"/>
            <a:ext cx="26670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6" name="Rectangle 119"/>
          <p:cNvSpPr>
            <a:spLocks noChangeArrowheads="1"/>
          </p:cNvSpPr>
          <p:nvPr/>
        </p:nvSpPr>
        <p:spPr bwMode="auto">
          <a:xfrm>
            <a:off x="7676198" y="3968433"/>
            <a:ext cx="177800" cy="2152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r>
              <a:rPr kumimoji="0" lang="en-US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2</a:t>
            </a:r>
            <a:endParaRPr kumimoji="0" lang="en-US" altLang="zh-CN" sz="14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1115869" y="4724926"/>
            <a:ext cx="6120679" cy="889964"/>
            <a:chOff x="755576" y="2566065"/>
            <a:chExt cx="6120679" cy="889964"/>
          </a:xfrm>
        </p:grpSpPr>
        <p:sp>
          <p:nvSpPr>
            <p:cNvPr id="16" name="文本框 15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2029963" y="2566065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2029962" y="3086697"/>
              <a:ext cx="484629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max(dp[i-1][j-w[i]]+c[i],dp[i-1][j])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67" name="图片 66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94" name="文本框 93"/>
          <p:cNvSpPr txBox="1"/>
          <p:nvPr/>
        </p:nvSpPr>
        <p:spPr>
          <a:xfrm>
            <a:off x="4909736" y="4724926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95" name="文本框 94"/>
          <p:cNvSpPr txBox="1"/>
          <p:nvPr/>
        </p:nvSpPr>
        <p:spPr>
          <a:xfrm>
            <a:off x="7164069" y="5240534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cxnSp>
        <p:nvCxnSpPr>
          <p:cNvPr id="96" name="直接箭头连接符 95"/>
          <p:cNvCxnSpPr>
            <a:endCxn id="71" idx="2"/>
          </p:cNvCxnSpPr>
          <p:nvPr/>
        </p:nvCxnSpPr>
        <p:spPr>
          <a:xfrm flipH="1" flipV="1">
            <a:off x="6680835" y="3152775"/>
            <a:ext cx="1549400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97" name="文本框 96"/>
          <p:cNvSpPr txBox="1"/>
          <p:nvPr/>
        </p:nvSpPr>
        <p:spPr>
          <a:xfrm>
            <a:off x="8289925" y="2708910"/>
            <a:ext cx="85407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更新</a:t>
            </a:r>
            <a:r>
              <a:rPr lang="zh-CN" altLang="en-US"/>
              <a:t>方向</a:t>
            </a:r>
            <a:endParaRPr lang="zh-CN" altLang="en-US"/>
          </a:p>
        </p:txBody>
      </p:sp>
      <p:grpSp>
        <p:nvGrpSpPr>
          <p:cNvPr id="98" name="组合 97"/>
          <p:cNvGrpSpPr/>
          <p:nvPr/>
        </p:nvGrpSpPr>
        <p:grpSpPr>
          <a:xfrm>
            <a:off x="1115869" y="4720481"/>
            <a:ext cx="6120679" cy="888932"/>
            <a:chOff x="755576" y="2566065"/>
            <a:chExt cx="6120679" cy="888932"/>
          </a:xfrm>
        </p:grpSpPr>
        <p:sp>
          <p:nvSpPr>
            <p:cNvPr id="99" name="文本框 98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2029963" y="2566065"/>
              <a:ext cx="252028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文本框 103"/>
            <p:cNvSpPr txBox="1"/>
            <p:nvPr/>
          </p:nvSpPr>
          <p:spPr>
            <a:xfrm>
              <a:off x="2029962" y="3086697"/>
              <a:ext cx="4846293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max(dp[i][j-w[i]]+c[i],dp[i][j])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05" name="图片 104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106" name="文本框 105"/>
          <p:cNvSpPr txBox="1"/>
          <p:nvPr/>
        </p:nvSpPr>
        <p:spPr>
          <a:xfrm>
            <a:off x="4909736" y="4720481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07" name="文本框 106"/>
          <p:cNvSpPr txBox="1"/>
          <p:nvPr/>
        </p:nvSpPr>
        <p:spPr>
          <a:xfrm>
            <a:off x="7019924" y="5234184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grpSp>
        <p:nvGrpSpPr>
          <p:cNvPr id="108" name="组合 107"/>
          <p:cNvGrpSpPr/>
          <p:nvPr/>
        </p:nvGrpSpPr>
        <p:grpSpPr>
          <a:xfrm>
            <a:off x="1104439" y="4725561"/>
            <a:ext cx="6120679" cy="888932"/>
            <a:chOff x="755576" y="2566065"/>
            <a:chExt cx="6120679" cy="888932"/>
          </a:xfrm>
        </p:grpSpPr>
        <p:sp>
          <p:nvSpPr>
            <p:cNvPr id="109" name="文本框 108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0" name="文本框 109"/>
            <p:cNvSpPr txBox="1"/>
            <p:nvPr/>
          </p:nvSpPr>
          <p:spPr>
            <a:xfrm>
              <a:off x="2029963" y="2566065"/>
              <a:ext cx="252028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1" name="文本框 110"/>
            <p:cNvSpPr txBox="1"/>
            <p:nvPr/>
          </p:nvSpPr>
          <p:spPr>
            <a:xfrm>
              <a:off x="2029962" y="3086697"/>
              <a:ext cx="4846293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dp[j-w[i]]+c[i],dp[j])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12" name="图片 111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116" name="文本框 115"/>
          <p:cNvSpPr txBox="1"/>
          <p:nvPr/>
        </p:nvSpPr>
        <p:spPr>
          <a:xfrm>
            <a:off x="4898306" y="4725561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17" name="文本框 116"/>
          <p:cNvSpPr txBox="1"/>
          <p:nvPr/>
        </p:nvSpPr>
        <p:spPr>
          <a:xfrm>
            <a:off x="7008494" y="5239264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8" dur="500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6" dur="500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86" dur="5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90" dur="500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94" dur="500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" grpId="1" animBg="1"/>
      <p:bldP spid="79" grpId="1" animBg="1"/>
      <p:bldP spid="8" grpId="1"/>
      <p:bldP spid="9" grpId="1"/>
      <p:bldP spid="126" grpId="1"/>
      <p:bldP spid="127" grpId="1"/>
      <p:bldP spid="128" grpId="1"/>
      <p:bldP spid="129" grpId="1"/>
      <p:bldP spid="130" grpId="1"/>
      <p:bldP spid="131" grpId="1"/>
      <p:bldP spid="132" grpId="1"/>
      <p:bldP spid="133" grpId="1"/>
      <p:bldP spid="134" grpId="1"/>
      <p:bldP spid="135" grpId="1"/>
      <p:bldP spid="136" grpId="1"/>
      <p:bldP spid="137" grpId="1"/>
      <p:bldP spid="138" grpId="1"/>
      <p:bldP spid="143" grpId="1"/>
      <p:bldP spid="68" grpId="1"/>
      <p:bldP spid="10" grpId="1"/>
      <p:bldP spid="12" grpId="1"/>
      <p:bldP spid="63" grpId="1"/>
      <p:bldP spid="69" grpId="1"/>
      <p:bldP spid="70" grpId="1"/>
      <p:bldP spid="71" grpId="1"/>
      <p:bldP spid="72" grpId="1"/>
      <p:bldP spid="73" grpId="1"/>
      <p:bldP spid="76" grpId="1"/>
      <p:bldP spid="77" grpId="1"/>
      <p:bldP spid="78" grpId="1"/>
      <p:bldP spid="82" grpId="1"/>
      <p:bldP spid="83" grpId="1"/>
      <p:bldP spid="84" grpId="1"/>
      <p:bldP spid="85" grpId="1"/>
      <p:bldP spid="86" grpId="1"/>
      <p:bldP spid="89" grpId="1"/>
      <p:bldP spid="90" grpId="1"/>
      <p:bldP spid="91" grpId="1"/>
      <p:bldP spid="92" grpId="1"/>
      <p:bldP spid="102" grpId="1"/>
      <p:bldP spid="115" grpId="1"/>
      <p:bldP spid="140" grpId="1"/>
      <p:bldP spid="141" grpId="1"/>
      <p:bldP spid="144" grpId="1"/>
      <p:bldP spid="145" grpId="1"/>
      <p:bldP spid="146" grpId="1"/>
      <p:bldP spid="147" grpId="1"/>
      <p:bldP spid="148" grpId="1"/>
      <p:bldP spid="149" grpId="1"/>
      <p:bldP spid="150" grpId="1"/>
      <p:bldP spid="151" grpId="1"/>
      <p:bldP spid="152" grpId="1"/>
      <p:bldP spid="153" grpId="1"/>
      <p:bldP spid="154" grpId="1"/>
      <p:bldP spid="155" grpId="1"/>
      <p:bldP spid="156" grpId="1"/>
      <p:bldP spid="94" grpId="0"/>
      <p:bldP spid="95" grpId="0"/>
      <p:bldP spid="94" grpId="1"/>
      <p:bldP spid="95" grpId="1"/>
      <p:bldP spid="94" grpId="2"/>
      <p:bldP spid="95" grpId="2"/>
      <p:bldP spid="106" grpId="0"/>
      <p:bldP spid="107" grpId="0"/>
      <p:bldP spid="106" grpId="1"/>
      <p:bldP spid="107" grpId="1"/>
      <p:bldP spid="97" grpId="0"/>
      <p:bldP spid="97" grpId="1"/>
      <p:bldP spid="116" grpId="0"/>
      <p:bldP spid="117" grpId="0"/>
      <p:bldP spid="116" grpId="1"/>
      <p:bldP spid="117" grpId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54" name="文本框 53"/>
          <p:cNvSpPr txBox="1"/>
          <p:nvPr/>
        </p:nvSpPr>
        <p:spPr>
          <a:xfrm>
            <a:off x="468179" y="1412399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完全背包问题的空间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压缩：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cxnSp>
        <p:nvCxnSpPr>
          <p:cNvPr id="96" name="直接箭头连接符 95"/>
          <p:cNvCxnSpPr/>
          <p:nvPr/>
        </p:nvCxnSpPr>
        <p:spPr>
          <a:xfrm flipV="1">
            <a:off x="6681470" y="3133090"/>
            <a:ext cx="1525905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97" name="文本框 96"/>
          <p:cNvSpPr txBox="1"/>
          <p:nvPr/>
        </p:nvSpPr>
        <p:spPr>
          <a:xfrm>
            <a:off x="8225790" y="2780665"/>
            <a:ext cx="85407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更新</a:t>
            </a:r>
            <a:r>
              <a:rPr lang="zh-CN" altLang="en-US"/>
              <a:t>方向</a:t>
            </a:r>
            <a:endParaRPr lang="zh-CN" altLang="en-US"/>
          </a:p>
        </p:txBody>
      </p:sp>
      <p:grpSp>
        <p:nvGrpSpPr>
          <p:cNvPr id="2" name="组合 1"/>
          <p:cNvGrpSpPr/>
          <p:nvPr/>
        </p:nvGrpSpPr>
        <p:grpSpPr>
          <a:xfrm>
            <a:off x="683434" y="4652536"/>
            <a:ext cx="6120679" cy="888932"/>
            <a:chOff x="755576" y="2566065"/>
            <a:chExt cx="6120679" cy="888932"/>
          </a:xfrm>
        </p:grpSpPr>
        <p:sp>
          <p:nvSpPr>
            <p:cNvPr id="66" name="文本框 65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0" name="文本框 79"/>
            <p:cNvSpPr txBox="1"/>
            <p:nvPr/>
          </p:nvSpPr>
          <p:spPr>
            <a:xfrm>
              <a:off x="2029963" y="2566065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8" name="文本框 117"/>
            <p:cNvSpPr txBox="1"/>
            <p:nvPr/>
          </p:nvSpPr>
          <p:spPr>
            <a:xfrm>
              <a:off x="2029962" y="3086697"/>
              <a:ext cx="4846293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max(dp[</a:t>
              </a:r>
              <a:r>
                <a:rPr lang="en-US" altLang="zh-CN" b="1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][j-w[i]]+c[i],dp[i-1][j])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19" name="图片 118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120" name="文本框 119"/>
          <p:cNvSpPr txBox="1"/>
          <p:nvPr/>
        </p:nvSpPr>
        <p:spPr>
          <a:xfrm>
            <a:off x="4477301" y="4652536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21" name="文本框 120"/>
          <p:cNvSpPr txBox="1"/>
          <p:nvPr/>
        </p:nvSpPr>
        <p:spPr>
          <a:xfrm>
            <a:off x="6731634" y="5168144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graphicFrame>
        <p:nvGraphicFramePr>
          <p:cNvPr id="122" name="表格 121"/>
          <p:cNvGraphicFramePr>
            <a:graphicFrameLocks noGrp="1"/>
          </p:cNvGraphicFramePr>
          <p:nvPr/>
        </p:nvGraphicFramePr>
        <p:xfrm>
          <a:off x="1187624" y="2060884"/>
          <a:ext cx="7020000" cy="21600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</a:tblGrid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W</a:t>
                      </a:r>
                      <a:r>
                        <a:rPr lang="en-US" sz="1400" kern="100" baseline="-25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  <a:r>
                        <a:rPr lang="en-US" altLang="zh-CN" sz="1400" kern="100" baseline="-250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0kg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>
                          <a:effectLst/>
                        </a:rPr>
                        <a:t> </a:t>
                      </a:r>
                      <a:r>
                        <a:rPr lang="en-US" altLang="zh-CN" sz="1400" kern="100">
                          <a:effectLst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>
                          <a:effectLst/>
                        </a:rPr>
                        <a:t> </a:t>
                      </a:r>
                      <a:r>
                        <a:rPr lang="en-US" altLang="zh-CN" sz="1400" kern="100">
                          <a:effectLst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</a:rPr>
                        <a:t>3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11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12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grpSp>
        <p:nvGrpSpPr>
          <p:cNvPr id="139" name="组合 138"/>
          <p:cNvGrpSpPr/>
          <p:nvPr/>
        </p:nvGrpSpPr>
        <p:grpSpPr>
          <a:xfrm>
            <a:off x="683434" y="4643011"/>
            <a:ext cx="6120679" cy="888932"/>
            <a:chOff x="755576" y="2566065"/>
            <a:chExt cx="6120679" cy="888932"/>
          </a:xfrm>
        </p:grpSpPr>
        <p:sp>
          <p:nvSpPr>
            <p:cNvPr id="142" name="文本框 141"/>
            <p:cNvSpPr txBox="1"/>
            <p:nvPr/>
          </p:nvSpPr>
          <p:spPr>
            <a:xfrm>
              <a:off x="755576" y="2852936"/>
              <a:ext cx="252028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7" name="文本框 156"/>
            <p:cNvSpPr txBox="1"/>
            <p:nvPr/>
          </p:nvSpPr>
          <p:spPr>
            <a:xfrm>
              <a:off x="2029963" y="2566065"/>
              <a:ext cx="252028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8" name="文本框 157"/>
            <p:cNvSpPr txBox="1"/>
            <p:nvPr/>
          </p:nvSpPr>
          <p:spPr>
            <a:xfrm>
              <a:off x="2029962" y="3086697"/>
              <a:ext cx="4846293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max(dp[j-w[i]]+c[i],dp[j])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59" name="图片 158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160" name="文本框 159"/>
          <p:cNvSpPr txBox="1"/>
          <p:nvPr/>
        </p:nvSpPr>
        <p:spPr>
          <a:xfrm>
            <a:off x="4477301" y="4643011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61" name="文本框 160"/>
          <p:cNvSpPr txBox="1"/>
          <p:nvPr/>
        </p:nvSpPr>
        <p:spPr>
          <a:xfrm>
            <a:off x="6731634" y="5158619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4" dur="500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6"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" grpId="0"/>
      <p:bldP spid="97" grpId="1"/>
      <p:bldP spid="120" grpId="0"/>
      <p:bldP spid="121" grpId="0"/>
      <p:bldP spid="120" grpId="1"/>
      <p:bldP spid="121" grpId="1"/>
      <p:bldP spid="120" grpId="2"/>
      <p:bldP spid="121" grpId="2"/>
      <p:bldP spid="160" grpId="0"/>
      <p:bldP spid="161" grpId="0"/>
      <p:bldP spid="160" grpId="1"/>
      <p:bldP spid="161" grpId="1"/>
      <p:bldP spid="160" grpId="2"/>
      <p:bldP spid="161" grpId="2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框 9"/>
          <p:cNvSpPr txBox="1"/>
          <p:nvPr/>
        </p:nvSpPr>
        <p:spPr>
          <a:xfrm>
            <a:off x="1043305" y="4170045"/>
            <a:ext cx="5007610" cy="27495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3305" y="3898900"/>
            <a:ext cx="5007610" cy="27495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1043305" y="3623945"/>
            <a:ext cx="5007610" cy="27495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3305" y="3347720"/>
            <a:ext cx="5007610" cy="27495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1043305" y="3068955"/>
            <a:ext cx="5007610" cy="27495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54" name="文本框 53"/>
          <p:cNvSpPr txBox="1"/>
          <p:nvPr/>
        </p:nvSpPr>
        <p:spPr>
          <a:xfrm>
            <a:off x="468179" y="1412399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完全背包问题的空间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压缩：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755650" y="1889760"/>
            <a:ext cx="6267450" cy="31381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def Knapsack_other(wight:list,value:list,V:int)-&gt;int: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dp = [0 for _ in range(V+1)]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for i in range(1,len(wight)+1):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    print(dp)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    for j in range(1,V+1):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        if j&lt;wight[i-1]: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dp[j] = dp[j]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        else: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dp[j] = max(dp[j],dp[j-wight[i-1]]+value[i-1])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print(dp)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return dp[-1]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1043305" y="5372735"/>
            <a:ext cx="3231515" cy="3390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dp=[0, 0, 1, 1, 2, 2, 3, 3, 4, 4, 5]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6" grpId="2" animBg="1"/>
      <p:bldP spid="7" grpId="0" animBg="1"/>
      <p:bldP spid="7" grpId="1" animBg="1"/>
      <p:bldP spid="7" grpId="2" animBg="1"/>
      <p:bldP spid="8" grpId="0" animBg="1"/>
      <p:bldP spid="8" grpId="1" animBg="1"/>
      <p:bldP spid="8" grpId="2" animBg="1"/>
      <p:bldP spid="9" grpId="0" animBg="1"/>
      <p:bldP spid="9" grpId="1" animBg="1"/>
      <p:bldP spid="9" grpId="2" animBg="1"/>
      <p:bldP spid="10" grpId="0" animBg="1"/>
      <p:bldP spid="10" grpId="1" animBg="1"/>
      <p:bldP spid="10" grpId="2" animBg="1"/>
      <p:bldP spid="11" grpId="0"/>
      <p:bldP spid="11" grpId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07504" y="1124744"/>
            <a:ext cx="8856984" cy="16148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多重背包问题：有</a:t>
            </a:r>
            <a:r>
              <a:rPr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n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种物品有质量和对应的价值。每种物品数量是</a:t>
            </a:r>
            <a:r>
              <a:rPr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S</a:t>
            </a:r>
            <a:r>
              <a:rPr lang="en-US" altLang="zh-CN" sz="2200" baseline="-250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1</a:t>
            </a:r>
            <a:r>
              <a:rPr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,S</a:t>
            </a:r>
            <a:r>
              <a:rPr lang="en-US" altLang="zh-CN" sz="2200" baseline="-250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2</a:t>
            </a:r>
            <a:r>
              <a:rPr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...S</a:t>
            </a:r>
            <a:r>
              <a:rPr lang="en-US" altLang="zh-CN" sz="2200" baseline="-250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n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，背包称重</a:t>
            </a:r>
            <a:r>
              <a:rPr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W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物品的重量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，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，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价值为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V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，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V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 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，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V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 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问最多能装价值多大？</a:t>
            </a:r>
            <a:endParaRPr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示例：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S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={6,3,3},W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={2,6,3},V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={1,10,6},W=10kg</a:t>
            </a:r>
            <a:endParaRPr lang="en-US" altLang="zh-CN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11560" y="2996952"/>
            <a:ext cx="756084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思路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1: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当然可以把每个相同的物品都看作的是独立的，将多重背包问题转换成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0-1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背包问题，然后就可以按照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0-1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背包问题求解。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zh-CN" altLang="en-US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graphicFrame>
        <p:nvGraphicFramePr>
          <p:cNvPr id="12" name="表格 11"/>
          <p:cNvGraphicFramePr>
            <a:graphicFrameLocks noGrp="1"/>
          </p:cNvGraphicFramePr>
          <p:nvPr/>
        </p:nvGraphicFramePr>
        <p:xfrm>
          <a:off x="899468" y="836062"/>
          <a:ext cx="7020000" cy="50400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39750"/>
                <a:gridCol w="540250"/>
                <a:gridCol w="540000"/>
                <a:gridCol w="540000"/>
                <a:gridCol w="540000"/>
                <a:gridCol w="540000"/>
              </a:tblGrid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W</a:t>
                      </a:r>
                      <a:r>
                        <a:rPr lang="en-US" sz="1400" kern="100" baseline="-25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  <a:r>
                        <a:rPr lang="en-US" altLang="zh-CN" sz="1400" kern="100" baseline="-250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0kg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2" name="文本框 1"/>
          <p:cNvSpPr txBox="1"/>
          <p:nvPr/>
        </p:nvSpPr>
        <p:spPr>
          <a:xfrm>
            <a:off x="539552" y="908720"/>
            <a:ext cx="7560840" cy="3415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思路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实现：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def Multiple_Knapsack(wight:list,value:list,number:list,V:int)-&gt;int: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dp = [0]*(V+1)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for i in range(len(number)):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for k in range(number[i]):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for j in range(V,1,-1):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if j&gt;=wight[i]: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dp[j] = max(dp[j],dp[j-wight[i]]+value[i])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return dp[-1]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2" name="文本框 1"/>
          <p:cNvSpPr txBox="1"/>
          <p:nvPr/>
        </p:nvSpPr>
        <p:spPr>
          <a:xfrm>
            <a:off x="178872" y="908720"/>
            <a:ext cx="75608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是否还有更好的方法优化多重背包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问题？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67665" y="1503680"/>
            <a:ext cx="46361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二进制</a:t>
            </a:r>
            <a:r>
              <a:rPr lang="zh-CN" altLang="en-US"/>
              <a:t>方法：</a:t>
            </a:r>
            <a:endParaRPr lang="zh-CN" altLang="en-US"/>
          </a:p>
        </p:txBody>
      </p:sp>
      <p:graphicFrame>
        <p:nvGraphicFramePr>
          <p:cNvPr id="5" name="表格 4"/>
          <p:cNvGraphicFramePr/>
          <p:nvPr/>
        </p:nvGraphicFramePr>
        <p:xfrm>
          <a:off x="467360" y="2420620"/>
          <a:ext cx="6400165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256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文本框 6"/>
          <p:cNvSpPr txBox="1"/>
          <p:nvPr/>
        </p:nvSpPr>
        <p:spPr>
          <a:xfrm>
            <a:off x="473075" y="3068955"/>
            <a:ext cx="627443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一组二进制数列，可以表示任何一个</a:t>
            </a:r>
            <a:r>
              <a:rPr lang="zh-CN" altLang="en-US"/>
              <a:t>数字：</a:t>
            </a:r>
            <a:endParaRPr lang="zh-CN" altLang="en-US"/>
          </a:p>
          <a:p>
            <a:r>
              <a:rPr lang="zh-CN" altLang="en-US"/>
              <a:t>例如</a:t>
            </a:r>
            <a:r>
              <a:rPr lang="en-US" altLang="zh-CN"/>
              <a:t>:</a:t>
            </a:r>
            <a:r>
              <a:rPr lang="zh-CN" altLang="en-US"/>
              <a:t>组合成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8" name="表格 7"/>
          <p:cNvGraphicFramePr/>
          <p:nvPr/>
        </p:nvGraphicFramePr>
        <p:xfrm>
          <a:off x="473075" y="3789045"/>
          <a:ext cx="6400165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256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0" name="表格 9"/>
          <p:cNvGraphicFramePr/>
          <p:nvPr/>
        </p:nvGraphicFramePr>
        <p:xfrm>
          <a:off x="473075" y="4580890"/>
          <a:ext cx="6400165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文本框 10"/>
          <p:cNvSpPr txBox="1"/>
          <p:nvPr/>
        </p:nvSpPr>
        <p:spPr>
          <a:xfrm>
            <a:off x="539115" y="4191000"/>
            <a:ext cx="6205855" cy="46037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ym typeface="+mn-ea"/>
              </a:rPr>
              <a:t>只需要将该位置标记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</a:t>
            </a:r>
            <a:r>
              <a:rPr lang="zh-CN" altLang="en-US">
                <a:sym typeface="+mn-ea"/>
              </a:rPr>
              <a:t>，表示该数字组合需要</a:t>
            </a:r>
            <a:r>
              <a:rPr lang="zh-CN" altLang="en-US">
                <a:sym typeface="+mn-ea"/>
              </a:rPr>
              <a:t>选择</a:t>
            </a:r>
            <a:endParaRPr lang="zh-CN" altLang="en-US"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76885" y="5346065"/>
            <a:ext cx="46361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可以用二进制方法组合任意想要的</a:t>
            </a:r>
            <a:r>
              <a:rPr lang="zh-CN" altLang="en-US"/>
              <a:t>数字。</a:t>
            </a:r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4427855" y="908685"/>
            <a:ext cx="4224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回顾一下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Pow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函数的二进制实现方法？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2" name="文本框 1"/>
          <p:cNvSpPr txBox="1"/>
          <p:nvPr/>
        </p:nvSpPr>
        <p:spPr>
          <a:xfrm>
            <a:off x="178872" y="908720"/>
            <a:ext cx="75608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将二进制方法利用到多重背包中：假设第一个物品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US" altLang="zh-CN" baseline="-2500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=1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altLang="zh-CN" baseline="-2500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=1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altLang="zh-CN" baseline="-2500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=10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6" name="表格 5"/>
          <p:cNvGraphicFramePr>
            <a:graphicFrameLocks noGrp="1"/>
          </p:cNvGraphicFramePr>
          <p:nvPr/>
        </p:nvGraphicFramePr>
        <p:xfrm>
          <a:off x="323523" y="1763162"/>
          <a:ext cx="7020000" cy="216027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39750"/>
                <a:gridCol w="540250"/>
                <a:gridCol w="540000"/>
                <a:gridCol w="540000"/>
                <a:gridCol w="540000"/>
                <a:gridCol w="540000"/>
              </a:tblGrid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W</a:t>
                      </a:r>
                      <a:r>
                        <a:rPr lang="en-US" sz="1400" kern="100" baseline="-25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  <a:r>
                        <a:rPr lang="en-US" altLang="zh-CN" sz="1400" kern="100" baseline="-250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0kg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9" name="文本框 8"/>
          <p:cNvSpPr txBox="1"/>
          <p:nvPr/>
        </p:nvSpPr>
        <p:spPr>
          <a:xfrm>
            <a:off x="399415" y="4159885"/>
            <a:ext cx="69088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第一个物品数量是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S</a:t>
            </a:r>
            <a:r>
              <a:rPr lang="en-US" altLang="zh-CN" baseline="-250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= 10</a:t>
            </a:r>
            <a:r>
              <a:rPr lang="zh-CN" altLang="en-US"/>
              <a:t>，所以只需要四行就可以表示所有种情况，但是最后一行必须做一个必须做一个特殊处理，为什么</a:t>
            </a:r>
            <a:r>
              <a:rPr lang="zh-CN" altLang="en-US"/>
              <a:t>呢？</a:t>
            </a:r>
            <a:endParaRPr lang="zh-CN" alt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9" name="文本框 8"/>
          <p:cNvSpPr txBox="1"/>
          <p:nvPr/>
        </p:nvSpPr>
        <p:spPr>
          <a:xfrm>
            <a:off x="35560" y="764540"/>
            <a:ext cx="69088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第一个物品数量是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S</a:t>
            </a:r>
            <a:r>
              <a:rPr lang="en-US" altLang="zh-CN" baseline="-250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= 10</a:t>
            </a:r>
            <a:r>
              <a:rPr lang="zh-CN" altLang="en-US"/>
              <a:t>，所以只需要四行就可以表示所有种情况，但是最后一行必须做一个必须做一个特殊处理，为什么</a:t>
            </a:r>
            <a:r>
              <a:rPr lang="zh-CN" altLang="en-US"/>
              <a:t>呢？</a:t>
            </a:r>
            <a:endParaRPr lang="zh-CN" altLang="en-US"/>
          </a:p>
        </p:txBody>
      </p:sp>
      <p:sp>
        <p:nvSpPr>
          <p:cNvPr id="3" name="圆角矩形 2"/>
          <p:cNvSpPr/>
          <p:nvPr/>
        </p:nvSpPr>
        <p:spPr>
          <a:xfrm>
            <a:off x="4140835" y="170053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21" name="直接连接符 20"/>
          <p:cNvCxnSpPr>
            <a:stCxn id="3" idx="2"/>
            <a:endCxn id="11" idx="0"/>
          </p:cNvCxnSpPr>
          <p:nvPr/>
        </p:nvCxnSpPr>
        <p:spPr>
          <a:xfrm flipH="1">
            <a:off x="3870960" y="2022475"/>
            <a:ext cx="514985" cy="1822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stCxn id="3" idx="2"/>
            <a:endCxn id="19" idx="0"/>
          </p:cNvCxnSpPr>
          <p:nvPr/>
        </p:nvCxnSpPr>
        <p:spPr>
          <a:xfrm>
            <a:off x="4385945" y="2022475"/>
            <a:ext cx="703580" cy="1822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" name="直接连接符 22"/>
          <p:cNvCxnSpPr>
            <a:stCxn id="11" idx="2"/>
            <a:endCxn id="20" idx="0"/>
          </p:cNvCxnSpPr>
          <p:nvPr/>
        </p:nvCxnSpPr>
        <p:spPr>
          <a:xfrm flipH="1">
            <a:off x="3079115" y="2526665"/>
            <a:ext cx="791845" cy="2844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stCxn id="11" idx="2"/>
            <a:endCxn id="27" idx="0"/>
          </p:cNvCxnSpPr>
          <p:nvPr/>
        </p:nvCxnSpPr>
        <p:spPr>
          <a:xfrm>
            <a:off x="3870960" y="2526665"/>
            <a:ext cx="288290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stCxn id="19" idx="2"/>
            <a:endCxn id="28" idx="0"/>
          </p:cNvCxnSpPr>
          <p:nvPr/>
        </p:nvCxnSpPr>
        <p:spPr>
          <a:xfrm flipH="1">
            <a:off x="4879340" y="2526665"/>
            <a:ext cx="210185" cy="2901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stCxn id="19" idx="2"/>
            <a:endCxn id="35" idx="0"/>
          </p:cNvCxnSpPr>
          <p:nvPr/>
        </p:nvCxnSpPr>
        <p:spPr>
          <a:xfrm>
            <a:off x="5089525" y="2526665"/>
            <a:ext cx="654050" cy="2901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" name="直接连接符 30"/>
          <p:cNvCxnSpPr>
            <a:stCxn id="39" idx="2"/>
            <a:endCxn id="10" idx="0"/>
          </p:cNvCxnSpPr>
          <p:nvPr/>
        </p:nvCxnSpPr>
        <p:spPr>
          <a:xfrm flipH="1">
            <a:off x="2507615" y="3123565"/>
            <a:ext cx="599440" cy="37719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stCxn id="20" idx="2"/>
            <a:endCxn id="15" idx="0"/>
          </p:cNvCxnSpPr>
          <p:nvPr/>
        </p:nvCxnSpPr>
        <p:spPr>
          <a:xfrm>
            <a:off x="3079115" y="3133090"/>
            <a:ext cx="184150" cy="3676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圆角矩形 10"/>
          <p:cNvSpPr/>
          <p:nvPr/>
        </p:nvSpPr>
        <p:spPr>
          <a:xfrm>
            <a:off x="3625850" y="220472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4844415" y="220472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0" name="圆角矩形 19"/>
          <p:cNvSpPr/>
          <p:nvPr/>
        </p:nvSpPr>
        <p:spPr>
          <a:xfrm>
            <a:off x="2834005" y="281114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7" name="圆角矩形 26"/>
          <p:cNvSpPr/>
          <p:nvPr/>
        </p:nvSpPr>
        <p:spPr>
          <a:xfrm>
            <a:off x="3914140" y="281178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4634230" y="281686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5498465" y="281686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4225290" y="1700530"/>
            <a:ext cx="321310" cy="3168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3636645" y="2204720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4844415" y="2213610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2844165" y="282003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3914140" y="281114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4644390" y="282638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5508625" y="282638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圆角矩形 9"/>
          <p:cNvSpPr/>
          <p:nvPr/>
        </p:nvSpPr>
        <p:spPr>
          <a:xfrm>
            <a:off x="2376170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5" name="圆角矩形 14"/>
          <p:cNvSpPr/>
          <p:nvPr/>
        </p:nvSpPr>
        <p:spPr>
          <a:xfrm>
            <a:off x="3131820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6" name="直接连接符 15"/>
          <p:cNvCxnSpPr>
            <a:stCxn id="40" idx="2"/>
            <a:endCxn id="18" idx="0"/>
          </p:cNvCxnSpPr>
          <p:nvPr/>
        </p:nvCxnSpPr>
        <p:spPr>
          <a:xfrm flipH="1">
            <a:off x="3743325" y="3114675"/>
            <a:ext cx="433705" cy="3860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" name="直接连接符 16"/>
          <p:cNvCxnSpPr>
            <a:stCxn id="40" idx="2"/>
            <a:endCxn id="29" idx="0"/>
          </p:cNvCxnSpPr>
          <p:nvPr/>
        </p:nvCxnSpPr>
        <p:spPr>
          <a:xfrm>
            <a:off x="4177030" y="3114675"/>
            <a:ext cx="177165" cy="3860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圆角矩形 17"/>
          <p:cNvSpPr/>
          <p:nvPr/>
        </p:nvSpPr>
        <p:spPr>
          <a:xfrm>
            <a:off x="3611880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圆角矩形 28"/>
          <p:cNvSpPr/>
          <p:nvPr/>
        </p:nvSpPr>
        <p:spPr>
          <a:xfrm>
            <a:off x="4222750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0" name="直接连接符 29"/>
          <p:cNvCxnSpPr>
            <a:stCxn id="41" idx="2"/>
            <a:endCxn id="46" idx="0"/>
          </p:cNvCxnSpPr>
          <p:nvPr/>
        </p:nvCxnSpPr>
        <p:spPr>
          <a:xfrm flipH="1">
            <a:off x="4704080" y="3129915"/>
            <a:ext cx="203200" cy="37084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" name="直接连接符 44"/>
          <p:cNvCxnSpPr>
            <a:stCxn id="41" idx="2"/>
            <a:endCxn id="47" idx="0"/>
          </p:cNvCxnSpPr>
          <p:nvPr/>
        </p:nvCxnSpPr>
        <p:spPr>
          <a:xfrm>
            <a:off x="4907280" y="3129915"/>
            <a:ext cx="228600" cy="37084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" name="圆角矩形 45"/>
          <p:cNvSpPr/>
          <p:nvPr/>
        </p:nvSpPr>
        <p:spPr>
          <a:xfrm>
            <a:off x="4572635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7" name="圆角矩形 46"/>
          <p:cNvSpPr/>
          <p:nvPr/>
        </p:nvSpPr>
        <p:spPr>
          <a:xfrm>
            <a:off x="5004435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8" name="直接连接符 47"/>
          <p:cNvCxnSpPr>
            <a:stCxn id="42" idx="2"/>
            <a:endCxn id="50" idx="0"/>
          </p:cNvCxnSpPr>
          <p:nvPr/>
        </p:nvCxnSpPr>
        <p:spPr>
          <a:xfrm flipH="1">
            <a:off x="5423535" y="3129915"/>
            <a:ext cx="347980" cy="37084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" name="直接连接符 48"/>
          <p:cNvCxnSpPr>
            <a:stCxn id="42" idx="2"/>
            <a:endCxn id="51" idx="0"/>
          </p:cNvCxnSpPr>
          <p:nvPr/>
        </p:nvCxnSpPr>
        <p:spPr>
          <a:xfrm>
            <a:off x="5771515" y="3129915"/>
            <a:ext cx="444500" cy="37084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" name="圆角矩形 49"/>
          <p:cNvSpPr/>
          <p:nvPr/>
        </p:nvSpPr>
        <p:spPr>
          <a:xfrm>
            <a:off x="5292090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1" name="圆角矩形 50"/>
          <p:cNvSpPr/>
          <p:nvPr/>
        </p:nvSpPr>
        <p:spPr>
          <a:xfrm>
            <a:off x="6084570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52" name="直接连接符 51"/>
          <p:cNvCxnSpPr>
            <a:stCxn id="10" idx="2"/>
            <a:endCxn id="54" idx="0"/>
          </p:cNvCxnSpPr>
          <p:nvPr/>
        </p:nvCxnSpPr>
        <p:spPr>
          <a:xfrm flipH="1">
            <a:off x="2183765" y="3747135"/>
            <a:ext cx="323850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" name="直接连接符 52"/>
          <p:cNvCxnSpPr>
            <a:stCxn id="10" idx="2"/>
            <a:endCxn id="55" idx="0"/>
          </p:cNvCxnSpPr>
          <p:nvPr/>
        </p:nvCxnSpPr>
        <p:spPr>
          <a:xfrm>
            <a:off x="2507615" y="3747135"/>
            <a:ext cx="107950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" name="圆角矩形 53"/>
          <p:cNvSpPr/>
          <p:nvPr/>
        </p:nvSpPr>
        <p:spPr>
          <a:xfrm>
            <a:off x="2052320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5" name="圆角矩形 54"/>
          <p:cNvSpPr/>
          <p:nvPr/>
        </p:nvSpPr>
        <p:spPr>
          <a:xfrm>
            <a:off x="2484120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56" name="直接连接符 55"/>
          <p:cNvCxnSpPr>
            <a:stCxn id="15" idx="2"/>
            <a:endCxn id="58" idx="0"/>
          </p:cNvCxnSpPr>
          <p:nvPr/>
        </p:nvCxnSpPr>
        <p:spPr>
          <a:xfrm flipH="1">
            <a:off x="2917190" y="3747135"/>
            <a:ext cx="346075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" name="直接连接符 56"/>
          <p:cNvCxnSpPr>
            <a:stCxn id="15" idx="2"/>
            <a:endCxn id="59" idx="0"/>
          </p:cNvCxnSpPr>
          <p:nvPr/>
        </p:nvCxnSpPr>
        <p:spPr>
          <a:xfrm>
            <a:off x="3263265" y="3747135"/>
            <a:ext cx="72390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" name="圆角矩形 57"/>
          <p:cNvSpPr/>
          <p:nvPr/>
        </p:nvSpPr>
        <p:spPr>
          <a:xfrm>
            <a:off x="2785745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圆角矩形 58"/>
          <p:cNvSpPr/>
          <p:nvPr/>
        </p:nvSpPr>
        <p:spPr>
          <a:xfrm>
            <a:off x="3204210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0" name="直接连接符 59"/>
          <p:cNvCxnSpPr>
            <a:stCxn id="18" idx="2"/>
            <a:endCxn id="62" idx="0"/>
          </p:cNvCxnSpPr>
          <p:nvPr/>
        </p:nvCxnSpPr>
        <p:spPr>
          <a:xfrm flipH="1">
            <a:off x="3637280" y="3747135"/>
            <a:ext cx="106045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" name="直接连接符 60"/>
          <p:cNvCxnSpPr>
            <a:stCxn id="18" idx="2"/>
            <a:endCxn id="63" idx="0"/>
          </p:cNvCxnSpPr>
          <p:nvPr/>
        </p:nvCxnSpPr>
        <p:spPr>
          <a:xfrm>
            <a:off x="3743325" y="3747135"/>
            <a:ext cx="325755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" name="圆角矩形 61"/>
          <p:cNvSpPr/>
          <p:nvPr/>
        </p:nvSpPr>
        <p:spPr>
          <a:xfrm>
            <a:off x="3505835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3" name="圆角矩形 62"/>
          <p:cNvSpPr/>
          <p:nvPr/>
        </p:nvSpPr>
        <p:spPr>
          <a:xfrm>
            <a:off x="3937635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4" name="直接连接符 63"/>
          <p:cNvCxnSpPr>
            <a:stCxn id="29" idx="2"/>
            <a:endCxn id="66" idx="0"/>
          </p:cNvCxnSpPr>
          <p:nvPr/>
        </p:nvCxnSpPr>
        <p:spPr>
          <a:xfrm>
            <a:off x="4354195" y="3747135"/>
            <a:ext cx="2540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" name="直接连接符 64"/>
          <p:cNvCxnSpPr>
            <a:stCxn id="29" idx="2"/>
            <a:endCxn id="67" idx="0"/>
          </p:cNvCxnSpPr>
          <p:nvPr/>
        </p:nvCxnSpPr>
        <p:spPr>
          <a:xfrm>
            <a:off x="4354195" y="3747135"/>
            <a:ext cx="422275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" name="圆角矩形 65"/>
          <p:cNvSpPr/>
          <p:nvPr/>
        </p:nvSpPr>
        <p:spPr>
          <a:xfrm>
            <a:off x="4225290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7" name="圆角矩形 66"/>
          <p:cNvSpPr/>
          <p:nvPr/>
        </p:nvSpPr>
        <p:spPr>
          <a:xfrm>
            <a:off x="4645025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8" name="直接连接符 67"/>
          <p:cNvCxnSpPr/>
          <p:nvPr/>
        </p:nvCxnSpPr>
        <p:spPr>
          <a:xfrm flipV="1">
            <a:off x="1434465" y="2060575"/>
            <a:ext cx="5585460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" name="直接连接符 68"/>
          <p:cNvCxnSpPr/>
          <p:nvPr/>
        </p:nvCxnSpPr>
        <p:spPr>
          <a:xfrm flipV="1">
            <a:off x="1434465" y="2708910"/>
            <a:ext cx="5585460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" name="直接连接符 69"/>
          <p:cNvCxnSpPr/>
          <p:nvPr/>
        </p:nvCxnSpPr>
        <p:spPr>
          <a:xfrm flipV="1">
            <a:off x="1434465" y="3317240"/>
            <a:ext cx="5585460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" name="直接连接符 70"/>
          <p:cNvCxnSpPr/>
          <p:nvPr/>
        </p:nvCxnSpPr>
        <p:spPr>
          <a:xfrm flipV="1">
            <a:off x="1434465" y="3860800"/>
            <a:ext cx="5585460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" name="直接连接符 71"/>
          <p:cNvCxnSpPr/>
          <p:nvPr/>
        </p:nvCxnSpPr>
        <p:spPr>
          <a:xfrm flipV="1">
            <a:off x="1434465" y="4509135"/>
            <a:ext cx="5585460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3" name="文本框 72"/>
          <p:cNvSpPr txBox="1"/>
          <p:nvPr/>
        </p:nvSpPr>
        <p:spPr>
          <a:xfrm>
            <a:off x="1454150" y="2340610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文本框 73"/>
          <p:cNvSpPr txBox="1"/>
          <p:nvPr/>
        </p:nvSpPr>
        <p:spPr>
          <a:xfrm>
            <a:off x="1454150" y="2924810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/>
          <p:cNvSpPr txBox="1"/>
          <p:nvPr/>
        </p:nvSpPr>
        <p:spPr>
          <a:xfrm>
            <a:off x="1434465" y="3500755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文本框 75"/>
          <p:cNvSpPr txBox="1"/>
          <p:nvPr/>
        </p:nvSpPr>
        <p:spPr>
          <a:xfrm>
            <a:off x="1434465" y="4076700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文本框 76"/>
          <p:cNvSpPr txBox="1"/>
          <p:nvPr/>
        </p:nvSpPr>
        <p:spPr>
          <a:xfrm>
            <a:off x="6372225" y="2348865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文本框 77"/>
          <p:cNvSpPr txBox="1"/>
          <p:nvPr/>
        </p:nvSpPr>
        <p:spPr>
          <a:xfrm>
            <a:off x="6372225" y="2933065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文本框 78"/>
          <p:cNvSpPr txBox="1"/>
          <p:nvPr/>
        </p:nvSpPr>
        <p:spPr>
          <a:xfrm>
            <a:off x="6352540" y="3509010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6352540" y="4084955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文本框 80"/>
          <p:cNvSpPr txBox="1"/>
          <p:nvPr/>
        </p:nvSpPr>
        <p:spPr>
          <a:xfrm>
            <a:off x="3150235" y="1657985"/>
            <a:ext cx="26543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选</a:t>
            </a:r>
            <a:r>
              <a:rPr lang="en-US" altLang="zh-CN"/>
              <a:t>                          </a:t>
            </a:r>
            <a:r>
              <a:rPr lang="zh-CN" altLang="en-US"/>
              <a:t>不</a:t>
            </a:r>
            <a:r>
              <a:rPr lang="zh-CN" altLang="en-US">
                <a:sym typeface="+mn-ea"/>
              </a:rPr>
              <a:t>选</a:t>
            </a:r>
            <a:endParaRPr lang="en-US" altLang="zh-CN"/>
          </a:p>
        </p:txBody>
      </p:sp>
      <p:sp>
        <p:nvSpPr>
          <p:cNvPr id="91" name="任意多边形 90"/>
          <p:cNvSpPr/>
          <p:nvPr/>
        </p:nvSpPr>
        <p:spPr>
          <a:xfrm>
            <a:off x="1901825" y="1522095"/>
            <a:ext cx="2134870" cy="2839085"/>
          </a:xfrm>
          <a:custGeom>
            <a:avLst/>
            <a:gdLst>
              <a:gd name="connisteX0" fmla="*/ 2106295 w 2134909"/>
              <a:gd name="connsiteY0" fmla="*/ 0 h 2839085"/>
              <a:gd name="connisteX1" fmla="*/ 2078990 w 2134909"/>
              <a:gd name="connsiteY1" fmla="*/ 467360 h 2839085"/>
              <a:gd name="connisteX2" fmla="*/ 1584325 w 2134909"/>
              <a:gd name="connsiteY2" fmla="*/ 613410 h 2839085"/>
              <a:gd name="connisteX3" fmla="*/ 1538605 w 2134909"/>
              <a:gd name="connsiteY3" fmla="*/ 925195 h 2839085"/>
              <a:gd name="connisteX4" fmla="*/ 934085 w 2134909"/>
              <a:gd name="connsiteY4" fmla="*/ 1199515 h 2839085"/>
              <a:gd name="connisteX5" fmla="*/ 842645 w 2134909"/>
              <a:gd name="connsiteY5" fmla="*/ 1602740 h 2839085"/>
              <a:gd name="connisteX6" fmla="*/ 503555 w 2134909"/>
              <a:gd name="connsiteY6" fmla="*/ 1804035 h 2839085"/>
              <a:gd name="connisteX7" fmla="*/ 375285 w 2134909"/>
              <a:gd name="connsiteY7" fmla="*/ 2216150 h 2839085"/>
              <a:gd name="connisteX8" fmla="*/ 73025 w 2134909"/>
              <a:gd name="connsiteY8" fmla="*/ 2573655 h 2839085"/>
              <a:gd name="connisteX9" fmla="*/ 0 w 2134909"/>
              <a:gd name="connsiteY9" fmla="*/ 2839085 h 283908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  <a:cxn ang="0">
                <a:pos x="connisteX9" y="connsiteY9"/>
              </a:cxn>
            </a:cxnLst>
            <a:rect l="l" t="t" r="r" b="b"/>
            <a:pathLst>
              <a:path w="2134910" h="2839085">
                <a:moveTo>
                  <a:pt x="2106295" y="0"/>
                </a:moveTo>
                <a:cubicBezTo>
                  <a:pt x="2110740" y="90805"/>
                  <a:pt x="2183130" y="344805"/>
                  <a:pt x="2078990" y="467360"/>
                </a:cubicBezTo>
                <a:cubicBezTo>
                  <a:pt x="1974850" y="589915"/>
                  <a:pt x="1692275" y="521970"/>
                  <a:pt x="1584325" y="613410"/>
                </a:cubicBezTo>
                <a:cubicBezTo>
                  <a:pt x="1476375" y="704850"/>
                  <a:pt x="1668780" y="807720"/>
                  <a:pt x="1538605" y="925195"/>
                </a:cubicBezTo>
                <a:cubicBezTo>
                  <a:pt x="1408430" y="1042670"/>
                  <a:pt x="1073150" y="1064260"/>
                  <a:pt x="934085" y="1199515"/>
                </a:cubicBezTo>
                <a:cubicBezTo>
                  <a:pt x="795020" y="1334770"/>
                  <a:pt x="929005" y="1482090"/>
                  <a:pt x="842645" y="1602740"/>
                </a:cubicBezTo>
                <a:cubicBezTo>
                  <a:pt x="756285" y="1723390"/>
                  <a:pt x="596900" y="1681480"/>
                  <a:pt x="503555" y="1804035"/>
                </a:cubicBezTo>
                <a:cubicBezTo>
                  <a:pt x="410210" y="1926590"/>
                  <a:pt x="461645" y="2062480"/>
                  <a:pt x="375285" y="2216150"/>
                </a:cubicBezTo>
                <a:cubicBezTo>
                  <a:pt x="288925" y="2369820"/>
                  <a:pt x="147955" y="2449195"/>
                  <a:pt x="73025" y="2573655"/>
                </a:cubicBezTo>
                <a:cubicBezTo>
                  <a:pt x="-1905" y="2698115"/>
                  <a:pt x="8255" y="2793365"/>
                  <a:pt x="0" y="2839085"/>
                </a:cubicBezTo>
              </a:path>
            </a:pathLst>
          </a:custGeom>
          <a:noFill/>
          <a:ln w="38100" cap="flat" cmpd="sng" algn="ctr">
            <a:solidFill>
              <a:srgbClr val="FF3399"/>
            </a:solidFill>
            <a:prstDash val="solid"/>
            <a:round/>
            <a:headEnd type="none" w="med" len="med"/>
            <a:tailEnd type="stealth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2" name="任意多边形 91"/>
          <p:cNvSpPr/>
          <p:nvPr/>
        </p:nvSpPr>
        <p:spPr>
          <a:xfrm>
            <a:off x="3505835" y="2530475"/>
            <a:ext cx="425450" cy="1914525"/>
          </a:xfrm>
          <a:custGeom>
            <a:avLst/>
            <a:gdLst>
              <a:gd name="connisteX0" fmla="*/ 342615 w 425165"/>
              <a:gd name="connsiteY0" fmla="*/ 0 h 1757966"/>
              <a:gd name="connisteX1" fmla="*/ 425165 w 425165"/>
              <a:gd name="connsiteY1" fmla="*/ 182880 h 1757966"/>
              <a:gd name="connisteX2" fmla="*/ 342615 w 425165"/>
              <a:gd name="connsiteY2" fmla="*/ 274320 h 1757966"/>
              <a:gd name="connisteX3" fmla="*/ 361030 w 425165"/>
              <a:gd name="connsiteY3" fmla="*/ 530860 h 1757966"/>
              <a:gd name="connisteX4" fmla="*/ 342615 w 425165"/>
              <a:gd name="connsiteY4" fmla="*/ 686435 h 1757966"/>
              <a:gd name="connisteX5" fmla="*/ 77185 w 425165"/>
              <a:gd name="connsiteY5" fmla="*/ 888365 h 1757966"/>
              <a:gd name="connisteX6" fmla="*/ 67660 w 425165"/>
              <a:gd name="connsiteY6" fmla="*/ 1199515 h 1757966"/>
              <a:gd name="connisteX7" fmla="*/ 3525 w 425165"/>
              <a:gd name="connsiteY7" fmla="*/ 1694180 h 1757966"/>
              <a:gd name="connisteX8" fmla="*/ 13050 w 425165"/>
              <a:gd name="connsiteY8" fmla="*/ 1739900 h 1757966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l" t="t" r="r" b="b"/>
            <a:pathLst>
              <a:path w="425165" h="1757967">
                <a:moveTo>
                  <a:pt x="342615" y="0"/>
                </a:moveTo>
                <a:cubicBezTo>
                  <a:pt x="361030" y="34925"/>
                  <a:pt x="425165" y="128270"/>
                  <a:pt x="425165" y="182880"/>
                </a:cubicBezTo>
                <a:cubicBezTo>
                  <a:pt x="425165" y="237490"/>
                  <a:pt x="355315" y="204470"/>
                  <a:pt x="342615" y="274320"/>
                </a:cubicBezTo>
                <a:cubicBezTo>
                  <a:pt x="329915" y="344170"/>
                  <a:pt x="361030" y="448310"/>
                  <a:pt x="361030" y="530860"/>
                </a:cubicBezTo>
                <a:cubicBezTo>
                  <a:pt x="361030" y="613410"/>
                  <a:pt x="399130" y="614680"/>
                  <a:pt x="342615" y="686435"/>
                </a:cubicBezTo>
                <a:cubicBezTo>
                  <a:pt x="286100" y="758190"/>
                  <a:pt x="132430" y="785495"/>
                  <a:pt x="77185" y="888365"/>
                </a:cubicBezTo>
                <a:cubicBezTo>
                  <a:pt x="21940" y="991235"/>
                  <a:pt x="82265" y="1038225"/>
                  <a:pt x="67660" y="1199515"/>
                </a:cubicBezTo>
                <a:cubicBezTo>
                  <a:pt x="53055" y="1360805"/>
                  <a:pt x="14320" y="1586230"/>
                  <a:pt x="3525" y="1694180"/>
                </a:cubicBezTo>
                <a:cubicBezTo>
                  <a:pt x="-7270" y="1802130"/>
                  <a:pt x="9875" y="1740535"/>
                  <a:pt x="13050" y="1739900"/>
                </a:cubicBezTo>
              </a:path>
            </a:pathLst>
          </a:custGeom>
          <a:noFill/>
          <a:ln w="38100" cap="flat" cmpd="sng" algn="ctr">
            <a:solidFill>
              <a:srgbClr val="FF3399"/>
            </a:solidFill>
            <a:prstDash val="solid"/>
            <a:round/>
            <a:headEnd type="none" w="med" len="med"/>
            <a:tailEnd type="stealth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3" name="文本框 92"/>
          <p:cNvSpPr txBox="1"/>
          <p:nvPr/>
        </p:nvSpPr>
        <p:spPr>
          <a:xfrm>
            <a:off x="467360" y="4810125"/>
            <a:ext cx="810323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如果，不是剩下物品数量，则会出现超出物品数量情况。因此最后一行一定要表示最后剩余的物品</a:t>
            </a:r>
            <a:r>
              <a:rPr lang="zh-CN" altLang="en-US"/>
              <a:t>数量。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6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9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5" dur="2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8" dur="2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1" dur="2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4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7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0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3" dur="2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6" dur="2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9" dur="2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2" dur="2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5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8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1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4" dur="2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7" dur="2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0" dur="2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3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6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9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8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85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88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91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94" dur="2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9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0" dur="2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3" dur="2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6" dur="2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9" dur="2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12" dur="2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15" dur="2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18" dur="2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1" dur="2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4" dur="2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7" dur="2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0" dur="2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3" dur="2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6" dur="2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9" dur="2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42" dur="2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45" dur="2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48" dur="2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51" dur="2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54" dur="2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57" dur="2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60" dur="2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ldLvl="0" animBg="1"/>
      <p:bldP spid="3" grpId="1" animBg="1"/>
      <p:bldP spid="11" grpId="0" bldLvl="0" animBg="1"/>
      <p:bldP spid="11" grpId="1" animBg="1"/>
      <p:bldP spid="19" grpId="0" bldLvl="0" animBg="1"/>
      <p:bldP spid="19" grpId="1" animBg="1"/>
      <p:bldP spid="20" grpId="0" bldLvl="0" animBg="1"/>
      <p:bldP spid="20" grpId="1" animBg="1"/>
      <p:bldP spid="27" grpId="0" bldLvl="0" animBg="1"/>
      <p:bldP spid="27" grpId="1" animBg="1"/>
      <p:bldP spid="28" grpId="0" bldLvl="0" animBg="1"/>
      <p:bldP spid="28" grpId="1" animBg="1"/>
      <p:bldP spid="35" grpId="0" bldLvl="0" animBg="1"/>
      <p:bldP spid="35" grpId="1" animBg="1"/>
      <p:bldP spid="36" grpId="0"/>
      <p:bldP spid="36" grpId="1"/>
      <p:bldP spid="37" grpId="0"/>
      <p:bldP spid="37" grpId="1"/>
      <p:bldP spid="38" grpId="0"/>
      <p:bldP spid="38" grpId="1"/>
      <p:bldP spid="39" grpId="0"/>
      <p:bldP spid="39" grpId="1"/>
      <p:bldP spid="40" grpId="0"/>
      <p:bldP spid="40" grpId="1"/>
      <p:bldP spid="41" grpId="0"/>
      <p:bldP spid="41" grpId="1"/>
      <p:bldP spid="42" grpId="0"/>
      <p:bldP spid="42" grpId="1"/>
      <p:bldP spid="10" grpId="0" bldLvl="0" animBg="1"/>
      <p:bldP spid="10" grpId="1" animBg="1"/>
      <p:bldP spid="15" grpId="0" bldLvl="0" animBg="1"/>
      <p:bldP spid="15" grpId="1" animBg="1"/>
      <p:bldP spid="18" grpId="0" bldLvl="0" animBg="1"/>
      <p:bldP spid="18" grpId="1" animBg="1"/>
      <p:bldP spid="29" grpId="0" bldLvl="0" animBg="1"/>
      <p:bldP spid="29" grpId="1" animBg="1"/>
      <p:bldP spid="46" grpId="0" bldLvl="0" animBg="1"/>
      <p:bldP spid="46" grpId="1" animBg="1"/>
      <p:bldP spid="47" grpId="0" bldLvl="0" animBg="1"/>
      <p:bldP spid="47" grpId="1" animBg="1"/>
      <p:bldP spid="50" grpId="0" bldLvl="0" animBg="1"/>
      <p:bldP spid="50" grpId="1" animBg="1"/>
      <p:bldP spid="51" grpId="0" bldLvl="0" animBg="1"/>
      <p:bldP spid="51" grpId="1" animBg="1"/>
      <p:bldP spid="54" grpId="0" bldLvl="0" animBg="1"/>
      <p:bldP spid="54" grpId="1" animBg="1"/>
      <p:bldP spid="55" grpId="0" bldLvl="0" animBg="1"/>
      <p:bldP spid="55" grpId="1" animBg="1"/>
      <p:bldP spid="58" grpId="0" bldLvl="0" animBg="1"/>
      <p:bldP spid="58" grpId="1" animBg="1"/>
      <p:bldP spid="59" grpId="0" bldLvl="0" animBg="1"/>
      <p:bldP spid="59" grpId="1" animBg="1"/>
      <p:bldP spid="62" grpId="0" bldLvl="0" animBg="1"/>
      <p:bldP spid="62" grpId="1" animBg="1"/>
      <p:bldP spid="63" grpId="0" bldLvl="0" animBg="1"/>
      <p:bldP spid="63" grpId="1" animBg="1"/>
      <p:bldP spid="66" grpId="0" bldLvl="0" animBg="1"/>
      <p:bldP spid="66" grpId="1" animBg="1"/>
      <p:bldP spid="67" grpId="0" bldLvl="0" animBg="1"/>
      <p:bldP spid="67" grpId="1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9" name="文本框 8"/>
          <p:cNvSpPr txBox="1"/>
          <p:nvPr/>
        </p:nvSpPr>
        <p:spPr>
          <a:xfrm>
            <a:off x="107315" y="962660"/>
            <a:ext cx="8330565" cy="8096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按照二进制思路，解决</a:t>
            </a:r>
            <a:r>
              <a:rPr lang="zh-CN" altLang="en-US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示例：</a:t>
            </a:r>
            <a:r>
              <a:rPr lang="en-US" altLang="zh-CN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S</a:t>
            </a:r>
            <a:r>
              <a:rPr lang="en-US" altLang="zh-CN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={6,3,3},W</a:t>
            </a:r>
            <a:r>
              <a:rPr lang="en-US" altLang="zh-CN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={2,6,3},V</a:t>
            </a:r>
            <a:r>
              <a:rPr lang="en-US" altLang="zh-CN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={1,10,6},W=10k</a:t>
            </a:r>
            <a:r>
              <a:rPr lang="en-US" altLang="zh-CN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g</a:t>
            </a:r>
            <a:endParaRPr lang="en-US" altLang="zh-CN" dirty="0">
              <a:solidFill>
                <a:srgbClr val="080808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  <p:graphicFrame>
        <p:nvGraphicFramePr>
          <p:cNvPr id="12" name="表格 11"/>
          <p:cNvGraphicFramePr>
            <a:graphicFrameLocks noGrp="1"/>
          </p:cNvGraphicFramePr>
          <p:nvPr/>
        </p:nvGraphicFramePr>
        <p:xfrm>
          <a:off x="971858" y="1772052"/>
          <a:ext cx="7020000" cy="3590925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39750"/>
                <a:gridCol w="540250"/>
                <a:gridCol w="540000"/>
                <a:gridCol w="540000"/>
                <a:gridCol w="540000"/>
                <a:gridCol w="540000"/>
              </a:tblGrid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W</a:t>
                      </a:r>
                      <a:r>
                        <a:rPr lang="en-US" sz="1400" kern="100" baseline="-25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  <a:r>
                        <a:rPr lang="en-US" altLang="zh-CN" sz="1400" kern="100" baseline="-250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0kg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</a:tr>
              <a:tr h="351155"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5" name="文本框 4"/>
          <p:cNvSpPr txBox="1"/>
          <p:nvPr/>
        </p:nvSpPr>
        <p:spPr>
          <a:xfrm>
            <a:off x="674370" y="5350510"/>
            <a:ext cx="75698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关键就是重构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W</a:t>
            </a:r>
            <a:r>
              <a:rPr lang="en-US" altLang="zh-CN" baseline="-25000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V</a:t>
            </a:r>
            <a:r>
              <a:rPr lang="en-US" altLang="zh-CN" baseline="-25000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数组</a:t>
            </a:r>
            <a:r>
              <a:rPr lang="zh-CN" altLang="en-US"/>
              <a:t>。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467360" y="672465"/>
            <a:ext cx="8942705" cy="61855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def Multiple_Knapsack_Advanced(wight:list,value:list,number:list,V:int)-&gt;int: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dp = [0]*(V+1) #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w = []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v = []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range(len(number)):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对每个物品进行二进制转化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s = number[i]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k = 1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while k&lt;s:#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若该行可以进行进行二进制转换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将质量和价值更新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w.append(k*wight[i])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v.append(k*value[i])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s-=k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k*=2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if s&gt;=0:#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剩下的物品数量则单列一行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w.append(s*wight[i])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v.append(s*value[i])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range(len(w)):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for j in range(V,1,-1):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if j&gt;=w[i]: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dp[j] = max(dp[j],dp[j-w[i]]+v[i])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return dp[-1]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827405" y="2028825"/>
            <a:ext cx="6920230" cy="353822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有 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buckets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桶液体，其中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</a:t>
            </a:r>
            <a:r>
              <a:rPr lang="zh-CN" altLang="en-US" sz="1600" b="1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正好有一桶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含有毒药，其余装的都是水。它们从外观看起来都一样。为了弄清楚哪只水桶含有毒药，你可以喂一些猪喝，通过观察猪是否会死进行判断。不幸的是，你只有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minutesToTest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分钟时间来确定哪桶液体是有毒的。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/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喂猪的规则如下：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>
              <a:buAutoNum type="arabicPeriod"/>
            </a:pP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选择若干活猪进行喂养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>
              <a:buAutoNum type="arabicPeriod"/>
            </a:pP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可以允许小猪同时饮用任意数量的桶中的水，并且该过程不需要时间。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>
              <a:buAutoNum type="arabicPeriod"/>
            </a:pP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小猪喝完水后，必须有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minutesToDie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分钟的冷却时间。在这段时间里，你只能观察，而不允许继续喂猪。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>
              <a:buAutoNum type="arabicPeriod"/>
            </a:pP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过了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minutesToDie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分钟后，所有喝到毒药的猪都会死去，其他所有猪都会活下来。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>
              <a:buAutoNum type="arabicPeriod"/>
            </a:pP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重复这一过程，直到时间用完。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/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给你桶的数目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buckets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，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minutesToDie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和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minutesToTest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，返回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在规定时间内判断哪个桶有毒所需的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</a:t>
            </a:r>
            <a:r>
              <a:rPr lang="zh-CN" altLang="en-US" sz="1600" b="1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最小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猪数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。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1505" y="5567045"/>
            <a:ext cx="7406640" cy="4527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buckets = 1000, minutesToDie = 15, minutesToTest = 60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862330" y="1604645"/>
            <a:ext cx="37096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rgbClr val="FF0000"/>
                </a:solidFill>
              </a:rPr>
              <a:t>娱乐一下：脑筋急转弯！！！</a:t>
            </a:r>
            <a:endParaRPr lang="zh-CN" altLang="en-US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67360" y="1556385"/>
            <a:ext cx="7406640" cy="4527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buckets = 1000, minutesToDie = 15, minutesToTest = 60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39750" y="208026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1</a:t>
            </a:r>
            <a:r>
              <a:rPr lang="zh-CN" altLang="en-US"/>
              <a:t>）暴力解法：</a:t>
            </a:r>
            <a:r>
              <a:rPr lang="en-US" altLang="zh-CN"/>
              <a:t>1000</a:t>
            </a:r>
            <a:r>
              <a:rPr lang="zh-CN" altLang="en-US"/>
              <a:t>个猪，</a:t>
            </a:r>
            <a:r>
              <a:rPr lang="en-US" altLang="zh-CN"/>
              <a:t>15</a:t>
            </a:r>
            <a:r>
              <a:rPr lang="zh-CN" altLang="en-US"/>
              <a:t>分钟确定哪一桶水有毒。</a:t>
            </a:r>
            <a:endParaRPr lang="en-US" altLang="zh-CN"/>
          </a:p>
        </p:txBody>
      </p:sp>
      <p:sp>
        <p:nvSpPr>
          <p:cNvPr id="6" name="文本框 5"/>
          <p:cNvSpPr txBox="1"/>
          <p:nvPr/>
        </p:nvSpPr>
        <p:spPr>
          <a:xfrm>
            <a:off x="467360" y="314960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）分治方法是否</a:t>
            </a:r>
            <a:r>
              <a:rPr lang="zh-CN" altLang="en-US"/>
              <a:t>可以？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83260" y="270891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运用学习过的知识，是否还有更聪明的</a:t>
            </a:r>
            <a:r>
              <a:rPr lang="zh-CN" altLang="en-US"/>
              <a:t>方法？</a:t>
            </a:r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5580380" y="3149600"/>
            <a:ext cx="734060" cy="294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1000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5907405" y="3437255"/>
            <a:ext cx="0" cy="27622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" name="直接连接符 9"/>
          <p:cNvCxnSpPr/>
          <p:nvPr/>
        </p:nvCxnSpPr>
        <p:spPr>
          <a:xfrm flipV="1">
            <a:off x="4601845" y="3707765"/>
            <a:ext cx="2728595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" name="直接箭头连接符 10"/>
          <p:cNvCxnSpPr/>
          <p:nvPr/>
        </p:nvCxnSpPr>
        <p:spPr>
          <a:xfrm flipH="1">
            <a:off x="7321550" y="370459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3" name="直接箭头连接符 12"/>
          <p:cNvCxnSpPr/>
          <p:nvPr/>
        </p:nvCxnSpPr>
        <p:spPr>
          <a:xfrm flipH="1">
            <a:off x="6804025" y="371348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5" name="直接箭头连接符 14"/>
          <p:cNvCxnSpPr/>
          <p:nvPr/>
        </p:nvCxnSpPr>
        <p:spPr>
          <a:xfrm flipH="1">
            <a:off x="6234430" y="370078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6" name="直接箭头连接符 15"/>
          <p:cNvCxnSpPr/>
          <p:nvPr/>
        </p:nvCxnSpPr>
        <p:spPr>
          <a:xfrm flipH="1">
            <a:off x="5552440" y="370078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7" name="直接箭头连接符 16"/>
          <p:cNvCxnSpPr/>
          <p:nvPr/>
        </p:nvCxnSpPr>
        <p:spPr>
          <a:xfrm flipH="1">
            <a:off x="4590415" y="370459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8" name="直接箭头连接符 17"/>
          <p:cNvCxnSpPr/>
          <p:nvPr/>
        </p:nvCxnSpPr>
        <p:spPr>
          <a:xfrm flipH="1">
            <a:off x="5003800" y="371348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19" name="文本框 18"/>
          <p:cNvSpPr txBox="1"/>
          <p:nvPr/>
        </p:nvSpPr>
        <p:spPr>
          <a:xfrm>
            <a:off x="4211955" y="4044950"/>
            <a:ext cx="3464560" cy="3257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167    167   167     166     167    166 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直接连接符 19"/>
          <p:cNvCxnSpPr/>
          <p:nvPr/>
        </p:nvCxnSpPr>
        <p:spPr>
          <a:xfrm>
            <a:off x="6237605" y="4347845"/>
            <a:ext cx="0" cy="27622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" name="直接连接符 20"/>
          <p:cNvCxnSpPr/>
          <p:nvPr/>
        </p:nvCxnSpPr>
        <p:spPr>
          <a:xfrm flipV="1">
            <a:off x="4932045" y="4618355"/>
            <a:ext cx="2728595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箭头连接符 21"/>
          <p:cNvCxnSpPr/>
          <p:nvPr/>
        </p:nvCxnSpPr>
        <p:spPr>
          <a:xfrm flipH="1">
            <a:off x="7651750" y="461518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3" name="直接箭头连接符 22"/>
          <p:cNvCxnSpPr/>
          <p:nvPr/>
        </p:nvCxnSpPr>
        <p:spPr>
          <a:xfrm flipH="1">
            <a:off x="7134225" y="462407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4" name="直接箭头连接符 23"/>
          <p:cNvCxnSpPr/>
          <p:nvPr/>
        </p:nvCxnSpPr>
        <p:spPr>
          <a:xfrm flipH="1">
            <a:off x="6564630" y="461137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5" name="直接箭头连接符 24"/>
          <p:cNvCxnSpPr/>
          <p:nvPr/>
        </p:nvCxnSpPr>
        <p:spPr>
          <a:xfrm flipH="1">
            <a:off x="5882640" y="461137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6" name="直接箭头连接符 25"/>
          <p:cNvCxnSpPr/>
          <p:nvPr/>
        </p:nvCxnSpPr>
        <p:spPr>
          <a:xfrm flipH="1">
            <a:off x="4920615" y="461518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7" name="直接箭头连接符 26"/>
          <p:cNvCxnSpPr/>
          <p:nvPr/>
        </p:nvCxnSpPr>
        <p:spPr>
          <a:xfrm flipH="1">
            <a:off x="5334000" y="462407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28" name="文本框 27"/>
          <p:cNvSpPr txBox="1"/>
          <p:nvPr/>
        </p:nvSpPr>
        <p:spPr>
          <a:xfrm>
            <a:off x="4699635" y="4946015"/>
            <a:ext cx="3464560" cy="3257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27    27      28       28       28    28 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连接符 28"/>
          <p:cNvCxnSpPr/>
          <p:nvPr/>
        </p:nvCxnSpPr>
        <p:spPr>
          <a:xfrm>
            <a:off x="5965825" y="5248910"/>
            <a:ext cx="0" cy="27622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" name="直接连接符 29"/>
          <p:cNvCxnSpPr/>
          <p:nvPr/>
        </p:nvCxnSpPr>
        <p:spPr>
          <a:xfrm flipV="1">
            <a:off x="4660265" y="5519420"/>
            <a:ext cx="2728595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" name="直接箭头连接符 30"/>
          <p:cNvCxnSpPr/>
          <p:nvPr/>
        </p:nvCxnSpPr>
        <p:spPr>
          <a:xfrm flipH="1">
            <a:off x="7379970" y="5516245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2" name="直接箭头连接符 31"/>
          <p:cNvCxnSpPr/>
          <p:nvPr/>
        </p:nvCxnSpPr>
        <p:spPr>
          <a:xfrm flipH="1">
            <a:off x="6862445" y="5525135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3" name="直接箭头连接符 32"/>
          <p:cNvCxnSpPr/>
          <p:nvPr/>
        </p:nvCxnSpPr>
        <p:spPr>
          <a:xfrm flipH="1">
            <a:off x="6292850" y="5512435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4" name="直接箭头连接符 33"/>
          <p:cNvCxnSpPr/>
          <p:nvPr/>
        </p:nvCxnSpPr>
        <p:spPr>
          <a:xfrm flipH="1">
            <a:off x="5610860" y="5512435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5" name="直接箭头连接符 34"/>
          <p:cNvCxnSpPr/>
          <p:nvPr/>
        </p:nvCxnSpPr>
        <p:spPr>
          <a:xfrm flipH="1">
            <a:off x="4648835" y="5516245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6" name="直接箭头连接符 35"/>
          <p:cNvCxnSpPr/>
          <p:nvPr/>
        </p:nvCxnSpPr>
        <p:spPr>
          <a:xfrm flipH="1">
            <a:off x="5062220" y="5525135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37" name="文本框 36"/>
          <p:cNvSpPr txBox="1"/>
          <p:nvPr/>
        </p:nvSpPr>
        <p:spPr>
          <a:xfrm>
            <a:off x="4427855" y="5847080"/>
            <a:ext cx="3464560" cy="3257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5       5        5         5       4        4 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左大括号 38"/>
          <p:cNvSpPr/>
          <p:nvPr/>
        </p:nvSpPr>
        <p:spPr>
          <a:xfrm>
            <a:off x="3973195" y="3528695"/>
            <a:ext cx="287655" cy="819150"/>
          </a:xfrm>
          <a:prstGeom prst="leftBrac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877695" y="3702685"/>
            <a:ext cx="22593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头猪，使用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15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分钟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41" name="左大括号 40"/>
          <p:cNvSpPr/>
          <p:nvPr/>
        </p:nvSpPr>
        <p:spPr>
          <a:xfrm>
            <a:off x="4218940" y="4551045"/>
            <a:ext cx="287655" cy="819150"/>
          </a:xfrm>
          <a:prstGeom prst="leftBrac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2123440" y="4725035"/>
            <a:ext cx="22593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头猪，使用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15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分钟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43" name="左大括号 42"/>
          <p:cNvSpPr/>
          <p:nvPr/>
        </p:nvSpPr>
        <p:spPr>
          <a:xfrm>
            <a:off x="4281805" y="5518150"/>
            <a:ext cx="287655" cy="819150"/>
          </a:xfrm>
          <a:prstGeom prst="leftBrac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2186305" y="5692140"/>
            <a:ext cx="22593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头猪，使用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15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分钟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2339975" y="6308725"/>
            <a:ext cx="60845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最后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桶水再用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4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头猪，使用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15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分钟，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确定。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67360" y="1556385"/>
            <a:ext cx="7406640" cy="4527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buckets = 1000, minutesToDie = 15, minutesToTest = 60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39750" y="208026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）是否还有更聪明的方法解决问题？若将桶组成一个矩阵会不会</a:t>
            </a:r>
            <a:r>
              <a:rPr lang="zh-CN" altLang="en-US"/>
              <a:t>更好？</a:t>
            </a:r>
            <a:endParaRPr lang="zh-CN" altLang="en-US"/>
          </a:p>
        </p:txBody>
      </p:sp>
      <p:sp>
        <p:nvSpPr>
          <p:cNvPr id="2" name="立方体 1"/>
          <p:cNvSpPr/>
          <p:nvPr/>
        </p:nvSpPr>
        <p:spPr>
          <a:xfrm>
            <a:off x="2051685" y="299656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4" name="立方体 13"/>
          <p:cNvSpPr/>
          <p:nvPr/>
        </p:nvSpPr>
        <p:spPr>
          <a:xfrm>
            <a:off x="2483485" y="29978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8" name="立方体 37"/>
          <p:cNvSpPr/>
          <p:nvPr/>
        </p:nvSpPr>
        <p:spPr>
          <a:xfrm>
            <a:off x="2942590" y="29978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6" name="立方体 45"/>
          <p:cNvSpPr/>
          <p:nvPr/>
        </p:nvSpPr>
        <p:spPr>
          <a:xfrm>
            <a:off x="3392805" y="2995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7" name="立方体 46"/>
          <p:cNvSpPr/>
          <p:nvPr/>
        </p:nvSpPr>
        <p:spPr>
          <a:xfrm>
            <a:off x="1907540" y="31318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8" name="立方体 47"/>
          <p:cNvSpPr/>
          <p:nvPr/>
        </p:nvSpPr>
        <p:spPr>
          <a:xfrm>
            <a:off x="2366645" y="31318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9" name="立方体 48"/>
          <p:cNvSpPr/>
          <p:nvPr/>
        </p:nvSpPr>
        <p:spPr>
          <a:xfrm>
            <a:off x="2815590" y="31318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0" name="立方体 49"/>
          <p:cNvSpPr/>
          <p:nvPr/>
        </p:nvSpPr>
        <p:spPr>
          <a:xfrm>
            <a:off x="3274695" y="31318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1" name="立方体 50"/>
          <p:cNvSpPr/>
          <p:nvPr/>
        </p:nvSpPr>
        <p:spPr>
          <a:xfrm>
            <a:off x="3850640" y="2995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2" name="立方体 51"/>
          <p:cNvSpPr/>
          <p:nvPr/>
        </p:nvSpPr>
        <p:spPr>
          <a:xfrm>
            <a:off x="3732530" y="31318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3" name="立方体 52"/>
          <p:cNvSpPr/>
          <p:nvPr/>
        </p:nvSpPr>
        <p:spPr>
          <a:xfrm>
            <a:off x="1792605" y="327914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4" name="立方体 53"/>
          <p:cNvSpPr/>
          <p:nvPr/>
        </p:nvSpPr>
        <p:spPr>
          <a:xfrm>
            <a:off x="2224405" y="32804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5" name="立方体 54"/>
          <p:cNvSpPr/>
          <p:nvPr/>
        </p:nvSpPr>
        <p:spPr>
          <a:xfrm>
            <a:off x="2683510" y="3280410"/>
            <a:ext cx="575945" cy="504190"/>
          </a:xfrm>
          <a:prstGeom prst="cube">
            <a:avLst/>
          </a:prstGeom>
          <a:solidFill>
            <a:srgbClr val="FF0000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6" name="立方体 55"/>
          <p:cNvSpPr/>
          <p:nvPr/>
        </p:nvSpPr>
        <p:spPr>
          <a:xfrm>
            <a:off x="3133725" y="32778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7" name="立方体 56"/>
          <p:cNvSpPr/>
          <p:nvPr/>
        </p:nvSpPr>
        <p:spPr>
          <a:xfrm>
            <a:off x="1648460" y="34143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8" name="立方体 57"/>
          <p:cNvSpPr/>
          <p:nvPr/>
        </p:nvSpPr>
        <p:spPr>
          <a:xfrm>
            <a:off x="2107565" y="34143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9" name="立方体 58"/>
          <p:cNvSpPr/>
          <p:nvPr/>
        </p:nvSpPr>
        <p:spPr>
          <a:xfrm>
            <a:off x="2556510" y="34143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0" name="立方体 59"/>
          <p:cNvSpPr/>
          <p:nvPr/>
        </p:nvSpPr>
        <p:spPr>
          <a:xfrm>
            <a:off x="3015615" y="34143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1" name="立方体 60"/>
          <p:cNvSpPr/>
          <p:nvPr/>
        </p:nvSpPr>
        <p:spPr>
          <a:xfrm>
            <a:off x="3591560" y="32778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2" name="立方体 61"/>
          <p:cNvSpPr/>
          <p:nvPr/>
        </p:nvSpPr>
        <p:spPr>
          <a:xfrm>
            <a:off x="3473450" y="34143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3" name="立方体 62"/>
          <p:cNvSpPr/>
          <p:nvPr/>
        </p:nvSpPr>
        <p:spPr>
          <a:xfrm>
            <a:off x="1517650" y="35591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4" name="立方体 63"/>
          <p:cNvSpPr/>
          <p:nvPr/>
        </p:nvSpPr>
        <p:spPr>
          <a:xfrm>
            <a:off x="1976755" y="35591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5" name="立方体 64"/>
          <p:cNvSpPr/>
          <p:nvPr/>
        </p:nvSpPr>
        <p:spPr>
          <a:xfrm>
            <a:off x="2425700" y="35591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6" name="立方体 65"/>
          <p:cNvSpPr/>
          <p:nvPr/>
        </p:nvSpPr>
        <p:spPr>
          <a:xfrm>
            <a:off x="2884805" y="35591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7" name="立方体 66"/>
          <p:cNvSpPr/>
          <p:nvPr/>
        </p:nvSpPr>
        <p:spPr>
          <a:xfrm>
            <a:off x="3342640" y="35591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69" name="直接箭头连接符 68"/>
          <p:cNvCxnSpPr/>
          <p:nvPr/>
        </p:nvCxnSpPr>
        <p:spPr>
          <a:xfrm flipV="1">
            <a:off x="2124075" y="2887980"/>
            <a:ext cx="2160905" cy="889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70" name="直接箭头连接符 69"/>
          <p:cNvCxnSpPr/>
          <p:nvPr/>
        </p:nvCxnSpPr>
        <p:spPr>
          <a:xfrm flipH="1">
            <a:off x="1403985" y="2886710"/>
            <a:ext cx="739775" cy="79375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71" name="文本框 70"/>
          <p:cNvSpPr txBox="1"/>
          <p:nvPr/>
        </p:nvSpPr>
        <p:spPr>
          <a:xfrm>
            <a:off x="935355" y="4580890"/>
            <a:ext cx="7156450" cy="6705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如果有</a:t>
            </a:r>
            <a:r>
              <a:rPr lang="en-US" altLang="zh-CN"/>
              <a:t>25</a:t>
            </a:r>
            <a:r>
              <a:rPr lang="zh-CN" altLang="en-US"/>
              <a:t>桶水，</a:t>
            </a:r>
            <a:r>
              <a:rPr lang="en-US" altLang="zh-CN"/>
              <a:t>minutesToDie=15</a:t>
            </a:r>
            <a:r>
              <a:rPr lang="zh-CN" altLang="en-US"/>
              <a:t>，</a:t>
            </a:r>
            <a:r>
              <a:rPr lang="en-US" altLang="zh-CN"/>
              <a:t>minutesToTest=60</a:t>
            </a:r>
            <a:r>
              <a:rPr lang="zh-CN" altLang="en-US"/>
              <a:t>。则只需要二头猪就可以</a:t>
            </a:r>
            <a:r>
              <a:rPr lang="zh-CN" altLang="en-US"/>
              <a:t>确定。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67360" y="1556385"/>
            <a:ext cx="7406640" cy="4527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buckets = 1000, minutesToDie = 15, minutesToTest = 60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39750" y="208026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）是否还有更聪明的方法解决问题？若将桶组成一个矩阵会不会</a:t>
            </a:r>
            <a:r>
              <a:rPr lang="zh-CN" altLang="en-US"/>
              <a:t>更好？</a:t>
            </a:r>
            <a:endParaRPr lang="zh-CN" altLang="en-US"/>
          </a:p>
        </p:txBody>
      </p:sp>
      <p:sp>
        <p:nvSpPr>
          <p:cNvPr id="2" name="立方体 1"/>
          <p:cNvSpPr/>
          <p:nvPr/>
        </p:nvSpPr>
        <p:spPr>
          <a:xfrm>
            <a:off x="3143250" y="43014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4" name="立方体 13"/>
          <p:cNvSpPr/>
          <p:nvPr/>
        </p:nvSpPr>
        <p:spPr>
          <a:xfrm>
            <a:off x="3575050" y="43027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8" name="立方体 37"/>
          <p:cNvSpPr/>
          <p:nvPr/>
        </p:nvSpPr>
        <p:spPr>
          <a:xfrm>
            <a:off x="4034155" y="43027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6" name="立方体 45"/>
          <p:cNvSpPr/>
          <p:nvPr/>
        </p:nvSpPr>
        <p:spPr>
          <a:xfrm>
            <a:off x="4484370" y="43002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7" name="立方体 46"/>
          <p:cNvSpPr/>
          <p:nvPr/>
        </p:nvSpPr>
        <p:spPr>
          <a:xfrm>
            <a:off x="2999105" y="443674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8" name="立方体 47"/>
          <p:cNvSpPr/>
          <p:nvPr/>
        </p:nvSpPr>
        <p:spPr>
          <a:xfrm>
            <a:off x="3458210" y="443674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9" name="立方体 48"/>
          <p:cNvSpPr/>
          <p:nvPr/>
        </p:nvSpPr>
        <p:spPr>
          <a:xfrm>
            <a:off x="3907155" y="443674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0" name="立方体 49"/>
          <p:cNvSpPr/>
          <p:nvPr/>
        </p:nvSpPr>
        <p:spPr>
          <a:xfrm>
            <a:off x="4366260" y="443674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1" name="立方体 50"/>
          <p:cNvSpPr/>
          <p:nvPr/>
        </p:nvSpPr>
        <p:spPr>
          <a:xfrm>
            <a:off x="4942205" y="43002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2" name="立方体 51"/>
          <p:cNvSpPr/>
          <p:nvPr/>
        </p:nvSpPr>
        <p:spPr>
          <a:xfrm>
            <a:off x="4824095" y="443674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3" name="立方体 52"/>
          <p:cNvSpPr/>
          <p:nvPr/>
        </p:nvSpPr>
        <p:spPr>
          <a:xfrm>
            <a:off x="2884170" y="458406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4" name="立方体 53"/>
          <p:cNvSpPr/>
          <p:nvPr/>
        </p:nvSpPr>
        <p:spPr>
          <a:xfrm>
            <a:off x="3315970" y="45853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5" name="立方体 54"/>
          <p:cNvSpPr/>
          <p:nvPr/>
        </p:nvSpPr>
        <p:spPr>
          <a:xfrm>
            <a:off x="3775075" y="4585335"/>
            <a:ext cx="575945" cy="504190"/>
          </a:xfrm>
          <a:prstGeom prst="cube">
            <a:avLst/>
          </a:prstGeom>
          <a:solidFill>
            <a:srgbClr val="FF0000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6" name="立方体 55"/>
          <p:cNvSpPr/>
          <p:nvPr/>
        </p:nvSpPr>
        <p:spPr>
          <a:xfrm>
            <a:off x="4225290" y="45827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7" name="立方体 56"/>
          <p:cNvSpPr/>
          <p:nvPr/>
        </p:nvSpPr>
        <p:spPr>
          <a:xfrm>
            <a:off x="2740025" y="47193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8" name="立方体 57"/>
          <p:cNvSpPr/>
          <p:nvPr/>
        </p:nvSpPr>
        <p:spPr>
          <a:xfrm>
            <a:off x="3199130" y="47193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9" name="立方体 58"/>
          <p:cNvSpPr/>
          <p:nvPr/>
        </p:nvSpPr>
        <p:spPr>
          <a:xfrm>
            <a:off x="3648075" y="47193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0" name="立方体 59"/>
          <p:cNvSpPr/>
          <p:nvPr/>
        </p:nvSpPr>
        <p:spPr>
          <a:xfrm>
            <a:off x="4107180" y="47193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1" name="立方体 60"/>
          <p:cNvSpPr/>
          <p:nvPr/>
        </p:nvSpPr>
        <p:spPr>
          <a:xfrm>
            <a:off x="4683125" y="45827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2" name="立方体 61"/>
          <p:cNvSpPr/>
          <p:nvPr/>
        </p:nvSpPr>
        <p:spPr>
          <a:xfrm>
            <a:off x="4565015" y="47193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3" name="立方体 62"/>
          <p:cNvSpPr/>
          <p:nvPr/>
        </p:nvSpPr>
        <p:spPr>
          <a:xfrm>
            <a:off x="2609215" y="486410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4" name="立方体 63"/>
          <p:cNvSpPr/>
          <p:nvPr/>
        </p:nvSpPr>
        <p:spPr>
          <a:xfrm>
            <a:off x="3068320" y="486410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5" name="立方体 64"/>
          <p:cNvSpPr/>
          <p:nvPr/>
        </p:nvSpPr>
        <p:spPr>
          <a:xfrm>
            <a:off x="3517265" y="486410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6" name="立方体 65"/>
          <p:cNvSpPr/>
          <p:nvPr/>
        </p:nvSpPr>
        <p:spPr>
          <a:xfrm>
            <a:off x="3976370" y="486410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7" name="立方体 66"/>
          <p:cNvSpPr/>
          <p:nvPr/>
        </p:nvSpPr>
        <p:spPr>
          <a:xfrm>
            <a:off x="4434205" y="4864100"/>
            <a:ext cx="575945" cy="504190"/>
          </a:xfrm>
          <a:prstGeom prst="cube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69" name="直接箭头连接符 68"/>
          <p:cNvCxnSpPr/>
          <p:nvPr/>
        </p:nvCxnSpPr>
        <p:spPr>
          <a:xfrm flipV="1">
            <a:off x="5580380" y="4658360"/>
            <a:ext cx="2160905" cy="889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70" name="直接箭头连接符 69"/>
          <p:cNvCxnSpPr/>
          <p:nvPr/>
        </p:nvCxnSpPr>
        <p:spPr>
          <a:xfrm flipH="1">
            <a:off x="4860290" y="4657090"/>
            <a:ext cx="739775" cy="79375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33" name="立方体 32"/>
          <p:cNvSpPr/>
          <p:nvPr/>
        </p:nvSpPr>
        <p:spPr>
          <a:xfrm>
            <a:off x="3148330" y="395478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4" name="立方体 33"/>
          <p:cNvSpPr/>
          <p:nvPr/>
        </p:nvSpPr>
        <p:spPr>
          <a:xfrm>
            <a:off x="3580130" y="395605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5" name="立方体 34"/>
          <p:cNvSpPr/>
          <p:nvPr/>
        </p:nvSpPr>
        <p:spPr>
          <a:xfrm>
            <a:off x="4039235" y="395605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6" name="立方体 35"/>
          <p:cNvSpPr/>
          <p:nvPr/>
        </p:nvSpPr>
        <p:spPr>
          <a:xfrm>
            <a:off x="4489450" y="39535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7" name="立方体 36"/>
          <p:cNvSpPr/>
          <p:nvPr/>
        </p:nvSpPr>
        <p:spPr>
          <a:xfrm>
            <a:off x="3004185" y="40900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9" name="立方体 38"/>
          <p:cNvSpPr/>
          <p:nvPr/>
        </p:nvSpPr>
        <p:spPr>
          <a:xfrm>
            <a:off x="3463290" y="40900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0" name="立方体 39"/>
          <p:cNvSpPr/>
          <p:nvPr/>
        </p:nvSpPr>
        <p:spPr>
          <a:xfrm>
            <a:off x="3912235" y="40900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1" name="立方体 40"/>
          <p:cNvSpPr/>
          <p:nvPr/>
        </p:nvSpPr>
        <p:spPr>
          <a:xfrm>
            <a:off x="4371340" y="40900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2" name="立方体 41"/>
          <p:cNvSpPr/>
          <p:nvPr/>
        </p:nvSpPr>
        <p:spPr>
          <a:xfrm>
            <a:off x="4947285" y="39535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3" name="立方体 42"/>
          <p:cNvSpPr/>
          <p:nvPr/>
        </p:nvSpPr>
        <p:spPr>
          <a:xfrm>
            <a:off x="4829175" y="40900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4" name="立方体 43"/>
          <p:cNvSpPr/>
          <p:nvPr/>
        </p:nvSpPr>
        <p:spPr>
          <a:xfrm>
            <a:off x="2889250" y="423735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5" name="立方体 44"/>
          <p:cNvSpPr/>
          <p:nvPr/>
        </p:nvSpPr>
        <p:spPr>
          <a:xfrm>
            <a:off x="3321050" y="423862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8" name="立方体 67"/>
          <p:cNvSpPr/>
          <p:nvPr/>
        </p:nvSpPr>
        <p:spPr>
          <a:xfrm>
            <a:off x="3780155" y="4238625"/>
            <a:ext cx="575945" cy="504190"/>
          </a:xfrm>
          <a:prstGeom prst="cube">
            <a:avLst/>
          </a:prstGeom>
          <a:solidFill>
            <a:schemeClr val="accent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2" name="立方体 71"/>
          <p:cNvSpPr/>
          <p:nvPr/>
        </p:nvSpPr>
        <p:spPr>
          <a:xfrm>
            <a:off x="4230370" y="423608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3" name="立方体 72"/>
          <p:cNvSpPr/>
          <p:nvPr/>
        </p:nvSpPr>
        <p:spPr>
          <a:xfrm>
            <a:off x="2745105" y="43726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4" name="立方体 73"/>
          <p:cNvSpPr/>
          <p:nvPr/>
        </p:nvSpPr>
        <p:spPr>
          <a:xfrm>
            <a:off x="3204210" y="43726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5" name="立方体 74"/>
          <p:cNvSpPr/>
          <p:nvPr/>
        </p:nvSpPr>
        <p:spPr>
          <a:xfrm>
            <a:off x="3653155" y="43726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6" name="立方体 75"/>
          <p:cNvSpPr/>
          <p:nvPr/>
        </p:nvSpPr>
        <p:spPr>
          <a:xfrm>
            <a:off x="4112260" y="43726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7" name="立方体 76"/>
          <p:cNvSpPr/>
          <p:nvPr/>
        </p:nvSpPr>
        <p:spPr>
          <a:xfrm>
            <a:off x="4688205" y="423608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8" name="立方体 77"/>
          <p:cNvSpPr/>
          <p:nvPr/>
        </p:nvSpPr>
        <p:spPr>
          <a:xfrm>
            <a:off x="4570095" y="43726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9" name="立方体 78"/>
          <p:cNvSpPr/>
          <p:nvPr/>
        </p:nvSpPr>
        <p:spPr>
          <a:xfrm>
            <a:off x="2614295" y="4517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0" name="立方体 79"/>
          <p:cNvSpPr/>
          <p:nvPr/>
        </p:nvSpPr>
        <p:spPr>
          <a:xfrm>
            <a:off x="3073400" y="4517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1" name="立方体 80"/>
          <p:cNvSpPr/>
          <p:nvPr/>
        </p:nvSpPr>
        <p:spPr>
          <a:xfrm>
            <a:off x="3522345" y="4517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2" name="立方体 81"/>
          <p:cNvSpPr/>
          <p:nvPr/>
        </p:nvSpPr>
        <p:spPr>
          <a:xfrm>
            <a:off x="3981450" y="4517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3" name="立方体 82"/>
          <p:cNvSpPr/>
          <p:nvPr/>
        </p:nvSpPr>
        <p:spPr>
          <a:xfrm>
            <a:off x="4439285" y="4517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4" name="立方体 83"/>
          <p:cNvSpPr/>
          <p:nvPr/>
        </p:nvSpPr>
        <p:spPr>
          <a:xfrm>
            <a:off x="3148330" y="35915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5" name="立方体 84"/>
          <p:cNvSpPr/>
          <p:nvPr/>
        </p:nvSpPr>
        <p:spPr>
          <a:xfrm>
            <a:off x="3580130" y="359283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6" name="立方体 85"/>
          <p:cNvSpPr/>
          <p:nvPr/>
        </p:nvSpPr>
        <p:spPr>
          <a:xfrm>
            <a:off x="4039235" y="359283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7" name="立方体 86"/>
          <p:cNvSpPr/>
          <p:nvPr/>
        </p:nvSpPr>
        <p:spPr>
          <a:xfrm>
            <a:off x="4489450" y="35902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8" name="立方体 87"/>
          <p:cNvSpPr/>
          <p:nvPr/>
        </p:nvSpPr>
        <p:spPr>
          <a:xfrm>
            <a:off x="3004185" y="37268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9" name="立方体 88"/>
          <p:cNvSpPr/>
          <p:nvPr/>
        </p:nvSpPr>
        <p:spPr>
          <a:xfrm>
            <a:off x="3463290" y="37268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0" name="立方体 89"/>
          <p:cNvSpPr/>
          <p:nvPr/>
        </p:nvSpPr>
        <p:spPr>
          <a:xfrm>
            <a:off x="3912235" y="37268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1" name="立方体 90"/>
          <p:cNvSpPr/>
          <p:nvPr/>
        </p:nvSpPr>
        <p:spPr>
          <a:xfrm>
            <a:off x="4371340" y="37268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2" name="立方体 91"/>
          <p:cNvSpPr/>
          <p:nvPr/>
        </p:nvSpPr>
        <p:spPr>
          <a:xfrm>
            <a:off x="4947285" y="35902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3" name="立方体 92"/>
          <p:cNvSpPr/>
          <p:nvPr/>
        </p:nvSpPr>
        <p:spPr>
          <a:xfrm>
            <a:off x="4829175" y="37268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4" name="立方体 93"/>
          <p:cNvSpPr/>
          <p:nvPr/>
        </p:nvSpPr>
        <p:spPr>
          <a:xfrm>
            <a:off x="2889250" y="38741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5" name="立方体 94"/>
          <p:cNvSpPr/>
          <p:nvPr/>
        </p:nvSpPr>
        <p:spPr>
          <a:xfrm>
            <a:off x="3321050" y="387540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6" name="立方体 95"/>
          <p:cNvSpPr/>
          <p:nvPr/>
        </p:nvSpPr>
        <p:spPr>
          <a:xfrm>
            <a:off x="3780155" y="3875405"/>
            <a:ext cx="575945" cy="504190"/>
          </a:xfrm>
          <a:prstGeom prst="cube">
            <a:avLst/>
          </a:prstGeom>
          <a:solidFill>
            <a:schemeClr val="accent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7" name="立方体 96"/>
          <p:cNvSpPr/>
          <p:nvPr/>
        </p:nvSpPr>
        <p:spPr>
          <a:xfrm>
            <a:off x="4230370" y="387286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8" name="立方体 97"/>
          <p:cNvSpPr/>
          <p:nvPr/>
        </p:nvSpPr>
        <p:spPr>
          <a:xfrm>
            <a:off x="2745105" y="4009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9" name="立方体 98"/>
          <p:cNvSpPr/>
          <p:nvPr/>
        </p:nvSpPr>
        <p:spPr>
          <a:xfrm>
            <a:off x="3204210" y="4009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0" name="立方体 99"/>
          <p:cNvSpPr/>
          <p:nvPr/>
        </p:nvSpPr>
        <p:spPr>
          <a:xfrm>
            <a:off x="3653155" y="4009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1" name="立方体 100"/>
          <p:cNvSpPr/>
          <p:nvPr/>
        </p:nvSpPr>
        <p:spPr>
          <a:xfrm>
            <a:off x="4112260" y="4009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2" name="立方体 101"/>
          <p:cNvSpPr/>
          <p:nvPr/>
        </p:nvSpPr>
        <p:spPr>
          <a:xfrm>
            <a:off x="4688205" y="387286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3" name="立方体 102"/>
          <p:cNvSpPr/>
          <p:nvPr/>
        </p:nvSpPr>
        <p:spPr>
          <a:xfrm>
            <a:off x="4570095" y="4009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4" name="立方体 103"/>
          <p:cNvSpPr/>
          <p:nvPr/>
        </p:nvSpPr>
        <p:spPr>
          <a:xfrm>
            <a:off x="2614295" y="41541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5" name="立方体 104"/>
          <p:cNvSpPr/>
          <p:nvPr/>
        </p:nvSpPr>
        <p:spPr>
          <a:xfrm>
            <a:off x="3073400" y="41541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6" name="立方体 105"/>
          <p:cNvSpPr/>
          <p:nvPr/>
        </p:nvSpPr>
        <p:spPr>
          <a:xfrm>
            <a:off x="3522345" y="41541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7" name="立方体 106"/>
          <p:cNvSpPr/>
          <p:nvPr/>
        </p:nvSpPr>
        <p:spPr>
          <a:xfrm>
            <a:off x="3981450" y="41541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8" name="立方体 107"/>
          <p:cNvSpPr/>
          <p:nvPr/>
        </p:nvSpPr>
        <p:spPr>
          <a:xfrm>
            <a:off x="4439285" y="41541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9" name="立方体 108"/>
          <p:cNvSpPr/>
          <p:nvPr/>
        </p:nvSpPr>
        <p:spPr>
          <a:xfrm>
            <a:off x="3148330" y="321246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0" name="立方体 109"/>
          <p:cNvSpPr/>
          <p:nvPr/>
        </p:nvSpPr>
        <p:spPr>
          <a:xfrm>
            <a:off x="3580130" y="32137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1" name="立方体 110"/>
          <p:cNvSpPr/>
          <p:nvPr/>
        </p:nvSpPr>
        <p:spPr>
          <a:xfrm>
            <a:off x="4039235" y="32137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2" name="立方体 111"/>
          <p:cNvSpPr/>
          <p:nvPr/>
        </p:nvSpPr>
        <p:spPr>
          <a:xfrm>
            <a:off x="4489450" y="32111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3" name="立方体 112"/>
          <p:cNvSpPr/>
          <p:nvPr/>
        </p:nvSpPr>
        <p:spPr>
          <a:xfrm>
            <a:off x="3004185" y="33477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4" name="立方体 113"/>
          <p:cNvSpPr/>
          <p:nvPr/>
        </p:nvSpPr>
        <p:spPr>
          <a:xfrm>
            <a:off x="3463290" y="33477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5" name="立方体 114"/>
          <p:cNvSpPr/>
          <p:nvPr/>
        </p:nvSpPr>
        <p:spPr>
          <a:xfrm>
            <a:off x="3912235" y="33477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6" name="立方体 115"/>
          <p:cNvSpPr/>
          <p:nvPr/>
        </p:nvSpPr>
        <p:spPr>
          <a:xfrm>
            <a:off x="4371340" y="33477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7" name="立方体 116"/>
          <p:cNvSpPr/>
          <p:nvPr/>
        </p:nvSpPr>
        <p:spPr>
          <a:xfrm>
            <a:off x="4947285" y="32111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8" name="立方体 117"/>
          <p:cNvSpPr/>
          <p:nvPr/>
        </p:nvSpPr>
        <p:spPr>
          <a:xfrm>
            <a:off x="4829175" y="33477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9" name="立方体 118"/>
          <p:cNvSpPr/>
          <p:nvPr/>
        </p:nvSpPr>
        <p:spPr>
          <a:xfrm>
            <a:off x="2889250" y="349504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0" name="立方体 119"/>
          <p:cNvSpPr/>
          <p:nvPr/>
        </p:nvSpPr>
        <p:spPr>
          <a:xfrm>
            <a:off x="3321050" y="34963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1" name="立方体 120"/>
          <p:cNvSpPr/>
          <p:nvPr/>
        </p:nvSpPr>
        <p:spPr>
          <a:xfrm>
            <a:off x="3780155" y="3496310"/>
            <a:ext cx="575945" cy="504190"/>
          </a:xfrm>
          <a:prstGeom prst="cube">
            <a:avLst/>
          </a:prstGeom>
          <a:solidFill>
            <a:schemeClr val="accent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2" name="立方体 121"/>
          <p:cNvSpPr/>
          <p:nvPr/>
        </p:nvSpPr>
        <p:spPr>
          <a:xfrm>
            <a:off x="4230370" y="34937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3" name="立方体 122"/>
          <p:cNvSpPr/>
          <p:nvPr/>
        </p:nvSpPr>
        <p:spPr>
          <a:xfrm>
            <a:off x="2745105" y="3630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4" name="立方体 123"/>
          <p:cNvSpPr/>
          <p:nvPr/>
        </p:nvSpPr>
        <p:spPr>
          <a:xfrm>
            <a:off x="3204210" y="3630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5" name="立方体 124"/>
          <p:cNvSpPr/>
          <p:nvPr/>
        </p:nvSpPr>
        <p:spPr>
          <a:xfrm>
            <a:off x="3653155" y="3630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6" name="立方体 125"/>
          <p:cNvSpPr/>
          <p:nvPr/>
        </p:nvSpPr>
        <p:spPr>
          <a:xfrm>
            <a:off x="4112260" y="3630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7" name="立方体 126"/>
          <p:cNvSpPr/>
          <p:nvPr/>
        </p:nvSpPr>
        <p:spPr>
          <a:xfrm>
            <a:off x="4688205" y="34937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8" name="立方体 127"/>
          <p:cNvSpPr/>
          <p:nvPr/>
        </p:nvSpPr>
        <p:spPr>
          <a:xfrm>
            <a:off x="4570095" y="3630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9" name="立方体 128"/>
          <p:cNvSpPr/>
          <p:nvPr/>
        </p:nvSpPr>
        <p:spPr>
          <a:xfrm>
            <a:off x="2614295" y="37750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0" name="立方体 129"/>
          <p:cNvSpPr/>
          <p:nvPr/>
        </p:nvSpPr>
        <p:spPr>
          <a:xfrm>
            <a:off x="3073400" y="37750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1" name="立方体 130"/>
          <p:cNvSpPr/>
          <p:nvPr/>
        </p:nvSpPr>
        <p:spPr>
          <a:xfrm>
            <a:off x="3522345" y="37750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2" name="立方体 131"/>
          <p:cNvSpPr/>
          <p:nvPr/>
        </p:nvSpPr>
        <p:spPr>
          <a:xfrm>
            <a:off x="3981450" y="37750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3" name="立方体 132"/>
          <p:cNvSpPr/>
          <p:nvPr/>
        </p:nvSpPr>
        <p:spPr>
          <a:xfrm>
            <a:off x="4439285" y="37750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" name="立方体 5"/>
          <p:cNvSpPr/>
          <p:nvPr/>
        </p:nvSpPr>
        <p:spPr>
          <a:xfrm>
            <a:off x="3143250" y="280860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" name="立方体 6"/>
          <p:cNvSpPr/>
          <p:nvPr/>
        </p:nvSpPr>
        <p:spPr>
          <a:xfrm>
            <a:off x="3575050" y="28098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" name="立方体 7"/>
          <p:cNvSpPr/>
          <p:nvPr/>
        </p:nvSpPr>
        <p:spPr>
          <a:xfrm>
            <a:off x="4034155" y="28098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" name="立方体 8"/>
          <p:cNvSpPr/>
          <p:nvPr/>
        </p:nvSpPr>
        <p:spPr>
          <a:xfrm>
            <a:off x="4484370" y="28073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" name="立方体 9"/>
          <p:cNvSpPr/>
          <p:nvPr/>
        </p:nvSpPr>
        <p:spPr>
          <a:xfrm>
            <a:off x="2999105" y="29438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" name="立方体 10"/>
          <p:cNvSpPr/>
          <p:nvPr/>
        </p:nvSpPr>
        <p:spPr>
          <a:xfrm>
            <a:off x="3458210" y="29438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" name="立方体 12"/>
          <p:cNvSpPr/>
          <p:nvPr/>
        </p:nvSpPr>
        <p:spPr>
          <a:xfrm>
            <a:off x="3907155" y="29438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" name="立方体 14"/>
          <p:cNvSpPr/>
          <p:nvPr/>
        </p:nvSpPr>
        <p:spPr>
          <a:xfrm>
            <a:off x="4366260" y="29438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6" name="立方体 15"/>
          <p:cNvSpPr/>
          <p:nvPr/>
        </p:nvSpPr>
        <p:spPr>
          <a:xfrm>
            <a:off x="4942205" y="28073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7" name="立方体 16"/>
          <p:cNvSpPr/>
          <p:nvPr/>
        </p:nvSpPr>
        <p:spPr>
          <a:xfrm>
            <a:off x="4824095" y="29438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8" name="立方体 17"/>
          <p:cNvSpPr/>
          <p:nvPr/>
        </p:nvSpPr>
        <p:spPr>
          <a:xfrm>
            <a:off x="2884170" y="309118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9" name="立方体 18"/>
          <p:cNvSpPr/>
          <p:nvPr/>
        </p:nvSpPr>
        <p:spPr>
          <a:xfrm>
            <a:off x="3315970" y="309245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0" name="立方体 19"/>
          <p:cNvSpPr/>
          <p:nvPr/>
        </p:nvSpPr>
        <p:spPr>
          <a:xfrm>
            <a:off x="3775075" y="3092450"/>
            <a:ext cx="575945" cy="504190"/>
          </a:xfrm>
          <a:prstGeom prst="cube">
            <a:avLst/>
          </a:prstGeom>
          <a:solidFill>
            <a:schemeClr val="accent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1" name="立方体 20"/>
          <p:cNvSpPr/>
          <p:nvPr/>
        </p:nvSpPr>
        <p:spPr>
          <a:xfrm>
            <a:off x="4225290" y="30899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2" name="立方体 21"/>
          <p:cNvSpPr/>
          <p:nvPr/>
        </p:nvSpPr>
        <p:spPr>
          <a:xfrm>
            <a:off x="2740025" y="32264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3" name="立方体 22"/>
          <p:cNvSpPr/>
          <p:nvPr/>
        </p:nvSpPr>
        <p:spPr>
          <a:xfrm>
            <a:off x="3199130" y="32264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4" name="立方体 23"/>
          <p:cNvSpPr/>
          <p:nvPr/>
        </p:nvSpPr>
        <p:spPr>
          <a:xfrm>
            <a:off x="3648075" y="32264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5" name="立方体 24"/>
          <p:cNvSpPr/>
          <p:nvPr/>
        </p:nvSpPr>
        <p:spPr>
          <a:xfrm>
            <a:off x="4107180" y="32264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6" name="立方体 25"/>
          <p:cNvSpPr/>
          <p:nvPr/>
        </p:nvSpPr>
        <p:spPr>
          <a:xfrm>
            <a:off x="4683125" y="30899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7" name="立方体 26"/>
          <p:cNvSpPr/>
          <p:nvPr/>
        </p:nvSpPr>
        <p:spPr>
          <a:xfrm>
            <a:off x="4565015" y="32264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立方体 27"/>
          <p:cNvSpPr/>
          <p:nvPr/>
        </p:nvSpPr>
        <p:spPr>
          <a:xfrm>
            <a:off x="2609215" y="33712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9" name="立方体 28"/>
          <p:cNvSpPr/>
          <p:nvPr/>
        </p:nvSpPr>
        <p:spPr>
          <a:xfrm>
            <a:off x="3068320" y="33712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0" name="立方体 29"/>
          <p:cNvSpPr/>
          <p:nvPr/>
        </p:nvSpPr>
        <p:spPr>
          <a:xfrm>
            <a:off x="3517265" y="33712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1" name="立方体 30"/>
          <p:cNvSpPr/>
          <p:nvPr/>
        </p:nvSpPr>
        <p:spPr>
          <a:xfrm>
            <a:off x="3976370" y="33712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2" name="立方体 31"/>
          <p:cNvSpPr/>
          <p:nvPr/>
        </p:nvSpPr>
        <p:spPr>
          <a:xfrm>
            <a:off x="4434205" y="33712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136" name="直接箭头连接符 135"/>
          <p:cNvCxnSpPr/>
          <p:nvPr/>
        </p:nvCxnSpPr>
        <p:spPr>
          <a:xfrm flipV="1">
            <a:off x="5580380" y="3091815"/>
            <a:ext cx="0" cy="159258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137" name="文本框 136"/>
          <p:cNvSpPr txBox="1"/>
          <p:nvPr/>
        </p:nvSpPr>
        <p:spPr>
          <a:xfrm>
            <a:off x="1187450" y="5805170"/>
            <a:ext cx="7156450" cy="6705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如果有</a:t>
            </a:r>
            <a:r>
              <a:rPr lang="en-US" altLang="zh-CN"/>
              <a:t>125</a:t>
            </a:r>
            <a:r>
              <a:rPr lang="zh-CN" altLang="en-US"/>
              <a:t>桶水，</a:t>
            </a:r>
            <a:r>
              <a:rPr lang="en-US" altLang="zh-CN"/>
              <a:t>minutesToDie=15</a:t>
            </a:r>
            <a:r>
              <a:rPr lang="zh-CN" altLang="en-US"/>
              <a:t>，</a:t>
            </a:r>
            <a:r>
              <a:rPr lang="en-US" altLang="zh-CN"/>
              <a:t>minutesToTest=60</a:t>
            </a:r>
            <a:r>
              <a:rPr lang="zh-CN" altLang="en-US"/>
              <a:t>。则只需要</a:t>
            </a:r>
            <a:r>
              <a:rPr lang="zh-CN" altLang="en-US"/>
              <a:t>三头猪就可以</a:t>
            </a:r>
            <a:r>
              <a:rPr lang="zh-CN" altLang="en-US"/>
              <a:t>确定。</a:t>
            </a:r>
            <a:endParaRPr lang="zh-CN" altLang="en-US"/>
          </a:p>
        </p:txBody>
      </p:sp>
      <p:sp>
        <p:nvSpPr>
          <p:cNvPr id="138" name="文本框 137"/>
          <p:cNvSpPr txBox="1"/>
          <p:nvPr/>
        </p:nvSpPr>
        <p:spPr>
          <a:xfrm>
            <a:off x="7741285" y="4572635"/>
            <a:ext cx="5092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9" name="文本框 138"/>
          <p:cNvSpPr txBox="1"/>
          <p:nvPr/>
        </p:nvSpPr>
        <p:spPr>
          <a:xfrm>
            <a:off x="4932045" y="5300980"/>
            <a:ext cx="5092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0" name="文本框 139"/>
          <p:cNvSpPr txBox="1"/>
          <p:nvPr/>
        </p:nvSpPr>
        <p:spPr>
          <a:xfrm>
            <a:off x="5652135" y="2979420"/>
            <a:ext cx="5092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83895" y="1557020"/>
            <a:ext cx="7406640" cy="4527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buckets = 1000, minutesToDie = 15, minutesToTest = 60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39750" y="208026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）是否还有更聪明的方法解决问题？若将桶组成一个矩阵会不会</a:t>
            </a:r>
            <a:r>
              <a:rPr lang="zh-CN" altLang="en-US"/>
              <a:t>更好？</a:t>
            </a:r>
            <a:endParaRPr lang="zh-CN" altLang="en-US"/>
          </a:p>
        </p:txBody>
      </p:sp>
      <p:cxnSp>
        <p:nvCxnSpPr>
          <p:cNvPr id="69" name="直接箭头连接符 68"/>
          <p:cNvCxnSpPr/>
          <p:nvPr/>
        </p:nvCxnSpPr>
        <p:spPr>
          <a:xfrm flipV="1">
            <a:off x="6948805" y="3650615"/>
            <a:ext cx="589280" cy="571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70" name="直接箭头连接符 69"/>
          <p:cNvCxnSpPr/>
          <p:nvPr/>
        </p:nvCxnSpPr>
        <p:spPr>
          <a:xfrm flipH="1">
            <a:off x="6733540" y="3646170"/>
            <a:ext cx="234950" cy="27114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36" name="直接箭头连接符 135"/>
          <p:cNvCxnSpPr/>
          <p:nvPr/>
        </p:nvCxnSpPr>
        <p:spPr>
          <a:xfrm flipV="1">
            <a:off x="6948805" y="3125470"/>
            <a:ext cx="635" cy="54800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137" name="文本框 136"/>
          <p:cNvSpPr txBox="1"/>
          <p:nvPr/>
        </p:nvSpPr>
        <p:spPr>
          <a:xfrm>
            <a:off x="611505" y="4705350"/>
            <a:ext cx="7156450" cy="6705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如果有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625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桶水，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minutesToDie=15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minutesToTest=60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。则只需要四头猪就可以确定。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38" name="文本框 137"/>
          <p:cNvSpPr txBox="1"/>
          <p:nvPr/>
        </p:nvSpPr>
        <p:spPr>
          <a:xfrm>
            <a:off x="7457440" y="3500755"/>
            <a:ext cx="5092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9" name="文本框 138"/>
          <p:cNvSpPr txBox="1"/>
          <p:nvPr/>
        </p:nvSpPr>
        <p:spPr>
          <a:xfrm>
            <a:off x="6705600" y="3860800"/>
            <a:ext cx="5092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0" name="文本框 139"/>
          <p:cNvSpPr txBox="1"/>
          <p:nvPr/>
        </p:nvSpPr>
        <p:spPr>
          <a:xfrm>
            <a:off x="6948170" y="2967990"/>
            <a:ext cx="5092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1" name="图片 7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405" y="2993390"/>
            <a:ext cx="1071880" cy="960120"/>
          </a:xfrm>
          <a:prstGeom prst="rect">
            <a:avLst/>
          </a:prstGeom>
        </p:spPr>
      </p:pic>
      <p:pic>
        <p:nvPicPr>
          <p:cNvPr id="134" name="图片 13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75965" y="2996565"/>
            <a:ext cx="1071880" cy="960120"/>
          </a:xfrm>
          <a:prstGeom prst="rect">
            <a:avLst/>
          </a:prstGeom>
        </p:spPr>
      </p:pic>
      <p:pic>
        <p:nvPicPr>
          <p:cNvPr id="135" name="图片 13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1685" y="2996565"/>
            <a:ext cx="1071880" cy="960120"/>
          </a:xfrm>
          <a:prstGeom prst="rect">
            <a:avLst/>
          </a:prstGeom>
        </p:spPr>
      </p:pic>
      <p:pic>
        <p:nvPicPr>
          <p:cNvPr id="141" name="图片 14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00245" y="2996565"/>
            <a:ext cx="1071880" cy="960120"/>
          </a:xfrm>
          <a:prstGeom prst="rect">
            <a:avLst/>
          </a:prstGeom>
        </p:spPr>
      </p:pic>
      <p:pic>
        <p:nvPicPr>
          <p:cNvPr id="142" name="图片 14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9745" y="2993390"/>
            <a:ext cx="1071880" cy="960120"/>
          </a:xfrm>
          <a:prstGeom prst="rect">
            <a:avLst/>
          </a:prstGeom>
        </p:spPr>
      </p:pic>
      <p:cxnSp>
        <p:nvCxnSpPr>
          <p:cNvPr id="143" name="直接箭头连接符 142"/>
          <p:cNvCxnSpPr/>
          <p:nvPr/>
        </p:nvCxnSpPr>
        <p:spPr>
          <a:xfrm flipV="1">
            <a:off x="1068705" y="2924810"/>
            <a:ext cx="5519420" cy="571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144" name="文本框 143"/>
          <p:cNvSpPr txBox="1"/>
          <p:nvPr/>
        </p:nvSpPr>
        <p:spPr>
          <a:xfrm>
            <a:off x="1332865" y="2639695"/>
            <a:ext cx="12230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5" name="文本框 144"/>
          <p:cNvSpPr txBox="1"/>
          <p:nvPr/>
        </p:nvSpPr>
        <p:spPr>
          <a:xfrm>
            <a:off x="611505" y="5301615"/>
            <a:ext cx="7156450" cy="12693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pig1,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测第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X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层全部混合的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125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桶水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/15min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pig2,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测第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Y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层全部混合的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125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桶水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/15min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sym typeface="+mn-ea"/>
            </a:endParaRPr>
          </a:p>
          <a:p>
            <a:r>
              <a:rPr 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pig3,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测第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Z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层全部混合的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125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桶水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/15min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sym typeface="+mn-ea"/>
            </a:endParaRPr>
          </a:p>
          <a:p>
            <a:r>
              <a:rPr 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pig4,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测第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T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层全部混合的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125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桶水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/15min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50" name="矩形 149"/>
          <p:cNvSpPr/>
          <p:nvPr/>
        </p:nvSpPr>
        <p:spPr>
          <a:xfrm>
            <a:off x="5579110" y="3235960"/>
            <a:ext cx="215900" cy="72009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1" name="矩形 150"/>
          <p:cNvSpPr/>
          <p:nvPr/>
        </p:nvSpPr>
        <p:spPr>
          <a:xfrm>
            <a:off x="827405" y="3235960"/>
            <a:ext cx="215900" cy="72009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2" name="矩形 151"/>
          <p:cNvSpPr/>
          <p:nvPr/>
        </p:nvSpPr>
        <p:spPr>
          <a:xfrm>
            <a:off x="2051685" y="3235960"/>
            <a:ext cx="215900" cy="72009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3" name="矩形 152"/>
          <p:cNvSpPr/>
          <p:nvPr/>
        </p:nvSpPr>
        <p:spPr>
          <a:xfrm>
            <a:off x="3275965" y="3235960"/>
            <a:ext cx="215900" cy="72009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4" name="矩形 153"/>
          <p:cNvSpPr/>
          <p:nvPr/>
        </p:nvSpPr>
        <p:spPr>
          <a:xfrm>
            <a:off x="4499610" y="3235960"/>
            <a:ext cx="215900" cy="72009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5" name="文本框 154"/>
          <p:cNvSpPr txBox="1"/>
          <p:nvPr/>
        </p:nvSpPr>
        <p:spPr>
          <a:xfrm>
            <a:off x="467360" y="4146550"/>
            <a:ext cx="34531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x</a:t>
            </a:r>
            <a:r>
              <a:rPr lang="zh-CN" altLang="en-US"/>
              <a:t>方向测试</a:t>
            </a:r>
            <a:r>
              <a:rPr lang="zh-CN" altLang="en-US"/>
              <a:t>示意图：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1" grpId="0" bldLvl="0" animBg="1"/>
      <p:bldP spid="152" grpId="0" bldLvl="0" animBg="1"/>
      <p:bldP spid="153" grpId="0" bldLvl="0" animBg="1"/>
      <p:bldP spid="154" grpId="0" bldLvl="0" animBg="1"/>
      <p:bldP spid="155" grpId="0"/>
      <p:bldP spid="150" grpId="0" bldLvl="0" animBg="1"/>
      <p:bldP spid="151" grpId="1" animBg="1"/>
      <p:bldP spid="152" grpId="1" animBg="1"/>
      <p:bldP spid="153" grpId="1" animBg="1"/>
      <p:bldP spid="154" grpId="1" animBg="1"/>
      <p:bldP spid="155" grpId="1"/>
      <p:bldP spid="150" grpId="1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83895" y="1557020"/>
            <a:ext cx="7406640" cy="4527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buckets = 1000, minutesToDie = 15, minutesToTest = 60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39750" y="208026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）是否还有更聪明的方法解决问题？若将桶组成一个矩阵会不会</a:t>
            </a:r>
            <a:r>
              <a:rPr lang="zh-CN" altLang="en-US"/>
              <a:t>更好？</a:t>
            </a:r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683895" y="2996565"/>
            <a:ext cx="58273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最少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n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头猪，满足条件是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(minutesToTest/minutes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ToDie)</a:t>
            </a:r>
            <a:r>
              <a:rPr lang="en-US" altLang="zh-CN" baseline="30000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n 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&gt;=buckets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7" name="文本框 6"/>
          <p:cNvSpPr txBox="1"/>
          <p:nvPr/>
        </p:nvSpPr>
        <p:spPr>
          <a:xfrm>
            <a:off x="179070" y="1412240"/>
            <a:ext cx="7566660" cy="28867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总结：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1</a:t>
            </a: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）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0-1</a:t>
            </a: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背包问题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pPr indent="457200"/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状态转移方程更新，如何将空间压缩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pPr marL="0" indent="0" latinLnBrk="0"/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2</a:t>
            </a: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）完全背包问题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pPr marL="0" indent="457200" latinLnBrk="0"/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如何将状态转移方程进行化简，如何进行空间压缩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pPr marL="0" indent="0" latinLnBrk="0"/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3</a:t>
            </a: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）多重背包问题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pPr marL="0" indent="457200" latinLnBrk="0"/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多重背包转换成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0-1</a:t>
            </a: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背包，多重背包的二进制解法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2727960" cy="545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5.3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动态规划练习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755650" y="1484630"/>
            <a:ext cx="4533900" cy="9213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1</a:t>
            </a:r>
            <a:r>
              <a:rPr lang="zh-CN" altLang="en-US"/>
              <a:t>）计数类型的动态</a:t>
            </a:r>
            <a:r>
              <a:rPr lang="zh-CN" altLang="en-US"/>
              <a:t>规划</a:t>
            </a:r>
            <a:endParaRPr lang="zh-CN" altLang="en-US"/>
          </a:p>
          <a:p>
            <a:r>
              <a:rPr lang="zh-CN" altLang="en-US"/>
              <a:t>①青蛙</a:t>
            </a:r>
            <a:r>
              <a:rPr lang="zh-CN" altLang="en-US"/>
              <a:t>跳台阶</a:t>
            </a:r>
            <a:endParaRPr lang="zh-CN" altLang="en-US"/>
          </a:p>
          <a:p>
            <a:r>
              <a:rPr lang="zh-CN" altLang="en-US"/>
              <a:t>②青蛙到达重点的不同</a:t>
            </a:r>
            <a:r>
              <a:rPr lang="zh-CN" altLang="en-US"/>
              <a:t>路径</a:t>
            </a:r>
            <a:endParaRPr lang="zh-CN" altLang="en-US"/>
          </a:p>
        </p:txBody>
      </p:sp>
      <p:grpSp>
        <p:nvGrpSpPr>
          <p:cNvPr id="10" name="组合 9"/>
          <p:cNvGrpSpPr/>
          <p:nvPr/>
        </p:nvGrpSpPr>
        <p:grpSpPr>
          <a:xfrm>
            <a:off x="1027430" y="2924810"/>
            <a:ext cx="3990340" cy="1733550"/>
            <a:chOff x="1643" y="3925"/>
            <a:chExt cx="6284" cy="2730"/>
          </a:xfrm>
        </p:grpSpPr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43" y="3925"/>
              <a:ext cx="6285" cy="2730"/>
            </a:xfrm>
            <a:prstGeom prst="rect">
              <a:avLst/>
            </a:prstGeom>
          </p:spPr>
        </p:pic>
        <p:pic>
          <p:nvPicPr>
            <p:cNvPr id="9" name="图片 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20" y="5215"/>
              <a:ext cx="354" cy="364"/>
            </a:xfrm>
            <a:prstGeom prst="rect">
              <a:avLst/>
            </a:prstGeom>
          </p:spPr>
        </p:pic>
      </p:grpSp>
      <p:sp>
        <p:nvSpPr>
          <p:cNvPr id="11" name="文本框 10"/>
          <p:cNvSpPr txBox="1"/>
          <p:nvPr/>
        </p:nvSpPr>
        <p:spPr>
          <a:xfrm>
            <a:off x="1187450" y="2564765"/>
            <a:ext cx="6144895" cy="3721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如果青蛙的路径上有障碍物不可通过，路径有多少情况</a:t>
            </a:r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13" name="文本框 12"/>
          <p:cNvSpPr txBox="1"/>
          <p:nvPr/>
        </p:nvSpPr>
        <p:spPr>
          <a:xfrm>
            <a:off x="899160" y="4869180"/>
            <a:ext cx="7556500" cy="15748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）类背包</a:t>
            </a:r>
            <a:r>
              <a:rPr lang="zh-CN" altLang="en-US"/>
              <a:t>问题</a:t>
            </a:r>
            <a:endParaRPr lang="zh-CN" altLang="en-US"/>
          </a:p>
          <a:p>
            <a:r>
              <a:rPr lang="zh-CN" altLang="en-US"/>
              <a:t>①给你一个</a:t>
            </a:r>
            <a:r>
              <a:rPr lang="en-US" altLang="zh-CN"/>
              <a:t> </a:t>
            </a:r>
            <a:r>
              <a:rPr lang="zh-CN" altLang="en-US"/>
              <a:t>只包含正整数的非空数组</a:t>
            </a:r>
            <a:r>
              <a:rPr lang="en-US" altLang="zh-CN"/>
              <a:t> 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nums </a:t>
            </a:r>
            <a:r>
              <a:rPr lang="zh-CN" altLang="en-US"/>
              <a:t>。请你判断是否可以将这个数组分割成两个子集，使得两个子集的元素和相等。</a:t>
            </a:r>
            <a:endParaRPr lang="zh-CN" altLang="en-US"/>
          </a:p>
          <a:p>
            <a:r>
              <a:rPr lang="zh-CN" altLang="en-US"/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nums={1,5,11,5}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2727960" cy="545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5.3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动态规划练习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11505" y="1412240"/>
            <a:ext cx="7556500" cy="15748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）类背包</a:t>
            </a:r>
            <a:r>
              <a:rPr lang="zh-CN" altLang="en-US"/>
              <a:t>问题</a:t>
            </a:r>
            <a:endParaRPr lang="zh-CN" altLang="en-US"/>
          </a:p>
          <a:p>
            <a:r>
              <a:rPr lang="zh-CN" altLang="en-US"/>
              <a:t>①给你一个</a:t>
            </a:r>
            <a:r>
              <a:rPr lang="en-US" altLang="zh-CN"/>
              <a:t> </a:t>
            </a:r>
            <a:r>
              <a:rPr lang="zh-CN" altLang="en-US"/>
              <a:t>只包含正整数的非空数组</a:t>
            </a:r>
            <a:r>
              <a:rPr lang="en-US" altLang="zh-CN"/>
              <a:t> 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nums </a:t>
            </a:r>
            <a:r>
              <a:rPr lang="zh-CN" altLang="en-US"/>
              <a:t>。请你判断是否可以将这个数组分割成两个子集，使得两个子集的元素和相等。</a:t>
            </a:r>
            <a:endParaRPr lang="zh-CN" altLang="en-US"/>
          </a:p>
          <a:p>
            <a:r>
              <a:rPr lang="zh-CN" altLang="en-US"/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nums={1,5,11,5}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755650" y="2636520"/>
          <a:ext cx="6628765" cy="216027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0870"/>
                <a:gridCol w="408940"/>
                <a:gridCol w="509905"/>
                <a:gridCol w="509905"/>
                <a:gridCol w="509905"/>
                <a:gridCol w="509905"/>
                <a:gridCol w="509905"/>
                <a:gridCol w="509905"/>
                <a:gridCol w="509905"/>
                <a:gridCol w="509905"/>
                <a:gridCol w="509905"/>
                <a:gridCol w="509905"/>
                <a:gridCol w="509905"/>
              </a:tblGrid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nums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11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T</a:t>
                      </a:r>
                      <a:endParaRPr lang="en-US" alt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T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T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T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T</a:t>
                      </a:r>
                      <a:endParaRPr lang="en-US" alt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en-US" alt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2727960" cy="545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5.3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动态规划练习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11505" y="1412240"/>
            <a:ext cx="7556500" cy="15748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）类背包</a:t>
            </a:r>
            <a:r>
              <a:rPr lang="zh-CN" altLang="en-US"/>
              <a:t>问题</a:t>
            </a:r>
            <a:endParaRPr lang="zh-CN" altLang="en-US"/>
          </a:p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②考试题目一共有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n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道题，每道题的正确率是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p1,p2,p3...pn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，要想达到准确率是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5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0%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通过考试，求出通过考试的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概率。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p=[0.6,0.6,0.6,0.6]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2843530" y="2636520"/>
          <a:ext cx="6628765" cy="1800225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38480"/>
                <a:gridCol w="481330"/>
                <a:gridCol w="509905"/>
                <a:gridCol w="509905"/>
                <a:gridCol w="509905"/>
                <a:gridCol w="509905"/>
              </a:tblGrid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0.4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  <a:sym typeface="+mn-ea"/>
                        </a:rPr>
                        <a:t>0.4</a:t>
                      </a:r>
                      <a:r>
                        <a:rPr lang="en-US" altLang="zh-CN" sz="1400" kern="100" baseline="300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  <a:sym typeface="+mn-ea"/>
                        </a:rPr>
                        <a:t>2</a:t>
                      </a:r>
                      <a:endParaRPr lang="zh-CN" sz="1400" kern="100" baseline="300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0.4</a:t>
                      </a:r>
                      <a:r>
                        <a:rPr lang="en-US" altLang="zh-CN" sz="1400" kern="100" baseline="300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en-US" altLang="zh-CN" sz="1400" kern="100" baseline="300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8" name="文本框 7"/>
          <p:cNvSpPr txBox="1"/>
          <p:nvPr/>
        </p:nvSpPr>
        <p:spPr>
          <a:xfrm>
            <a:off x="1331595" y="4725035"/>
            <a:ext cx="6898005" cy="9747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考虑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j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道题正确，如果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i&lt;j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，则该题目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j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道题正确的概率就是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如果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i&gt;=j,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则有两种情况第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道题不正确有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j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个正确，第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道题正确有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j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个正确。推导出状态转移方程：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043940" y="5988050"/>
            <a:ext cx="102933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dp[i][j] = 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10" name="左大括号 9"/>
          <p:cNvSpPr/>
          <p:nvPr/>
        </p:nvSpPr>
        <p:spPr>
          <a:xfrm>
            <a:off x="2123440" y="5732780"/>
            <a:ext cx="221615" cy="864235"/>
          </a:xfrm>
          <a:prstGeom prst="leftBrac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2411730" y="5619750"/>
            <a:ext cx="474535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dp[i-1][j]                               j&gt;i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395220" y="6308725"/>
            <a:ext cx="556006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dp[i-1][j]*(1-p) +dp[i-1][j-1]*(p)                              j&lt;=i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2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3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4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5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6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7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8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9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10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11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12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13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14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15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16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17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18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19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0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1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2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3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4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5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6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7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8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9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0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1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2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3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4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5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6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7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8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9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0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1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2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3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4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5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6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7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8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9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0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1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2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3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4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5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6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7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8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9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0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1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2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3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4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5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6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7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8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9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70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71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72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73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74.xml><?xml version="1.0" encoding="utf-8"?>
<p:tagLst xmlns:p="http://schemas.openxmlformats.org/presentationml/2006/main">
  <p:tag name="KSO_WM_DIAGRAM_VIRTUALLY_FRAME" val="{&quot;height&quot;:216,&quot;left&quot;:19.8,&quot;top&quot;:69.25,&quot;width&quot;:597.9}"/>
</p:tagLst>
</file>

<file path=ppt/tags/tag75.xml><?xml version="1.0" encoding="utf-8"?>
<p:tagLst xmlns:p="http://schemas.openxmlformats.org/presentationml/2006/main">
  <p:tag name="KSO_WM_DIAGRAM_VIRTUALLY_FRAME" val="{&quot;height&quot;:216,&quot;left&quot;:19.8,&quot;top&quot;:69.25,&quot;width&quot;:597.9}"/>
</p:tagLst>
</file>

<file path=ppt/tags/tag76.xml><?xml version="1.0" encoding="utf-8"?>
<p:tagLst xmlns:p="http://schemas.openxmlformats.org/presentationml/2006/main">
  <p:tag name="KSO_WM_DIAGRAM_VIRTUALLY_FRAME" val="{&quot;height&quot;:216,&quot;left&quot;:19.8,&quot;top&quot;:69.25,&quot;width&quot;:597.9}"/>
</p:tagLst>
</file>

<file path=ppt/tags/tag77.xml><?xml version="1.0" encoding="utf-8"?>
<p:tagLst xmlns:p="http://schemas.openxmlformats.org/presentationml/2006/main">
  <p:tag name="TABLE_ENDDRAG_ORIGIN_RECT" val="521*175"/>
  <p:tag name="TABLE_ENDDRAG_RECT" val="48*201*521*175"/>
</p:tagLst>
</file>

<file path=ppt/theme/theme1.xml><?xml version="1.0" encoding="utf-8"?>
<a:theme xmlns:a="http://schemas.openxmlformats.org/drawingml/2006/main" name="第一PPT：www.1ppt.com">
  <a:themeElements>
    <a:clrScheme name="演示设计 8">
      <a:dk1>
        <a:srgbClr val="000000"/>
      </a:dk1>
      <a:lt1>
        <a:srgbClr val="FFFFFF"/>
      </a:lt1>
      <a:dk2>
        <a:srgbClr val="000000"/>
      </a:dk2>
      <a:lt2>
        <a:srgbClr val="C0C0C0"/>
      </a:lt2>
      <a:accent1>
        <a:srgbClr val="6FC01E"/>
      </a:accent1>
      <a:accent2>
        <a:srgbClr val="4F7913"/>
      </a:accent2>
      <a:accent3>
        <a:srgbClr val="FFFFFF"/>
      </a:accent3>
      <a:accent4>
        <a:srgbClr val="000000"/>
      </a:accent4>
      <a:accent5>
        <a:srgbClr val="BBDCAB"/>
      </a:accent5>
      <a:accent6>
        <a:srgbClr val="476D10"/>
      </a:accent6>
      <a:hlink>
        <a:srgbClr val="26420A"/>
      </a:hlink>
      <a:folHlink>
        <a:srgbClr val="7BD520"/>
      </a:folHlink>
    </a:clrScheme>
    <a:fontScheme name="演示设计">
      <a:majorFont>
        <a:latin typeface="Arial"/>
        <a:ea typeface="华文细黑"/>
        <a:cs typeface=""/>
      </a:majorFont>
      <a:minorFont>
        <a:latin typeface="Arial"/>
        <a:ea typeface="华文细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sz="1800" b="0" i="1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华文细黑" panose="0201060004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sz="1800" b="0" i="1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华文细黑" panose="02010600040101010101" pitchFamily="2" charset="-122"/>
          </a:defRPr>
        </a:defPPr>
      </a:lstStyle>
    </a:lnDef>
  </a:objectDefaults>
  <a:extraClrSchemeLst>
    <a:extraClrScheme>
      <a:clrScheme name="演示设计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00"/>
        </a:accent1>
        <a:accent2>
          <a:srgbClr val="FF9933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E78A2D"/>
        </a:accent6>
        <a:hlink>
          <a:srgbClr val="463900"/>
        </a:hlink>
        <a:folHlink>
          <a:srgbClr val="FFE67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9021"/>
        </a:accent1>
        <a:accent2>
          <a:srgbClr val="DA5800"/>
        </a:accent2>
        <a:accent3>
          <a:srgbClr val="FFFFFF"/>
        </a:accent3>
        <a:accent4>
          <a:srgbClr val="000000"/>
        </a:accent4>
        <a:accent5>
          <a:srgbClr val="FFC6AB"/>
        </a:accent5>
        <a:accent6>
          <a:srgbClr val="C54F00"/>
        </a:accent6>
        <a:hlink>
          <a:srgbClr val="963D00"/>
        </a:hlink>
        <a:folHlink>
          <a:srgbClr val="FFAD5B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3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5B8CC1"/>
        </a:accent1>
        <a:accent2>
          <a:srgbClr val="2A5682"/>
        </a:accent2>
        <a:accent3>
          <a:srgbClr val="FFFFFF"/>
        </a:accent3>
        <a:accent4>
          <a:srgbClr val="000000"/>
        </a:accent4>
        <a:accent5>
          <a:srgbClr val="B5C5DD"/>
        </a:accent5>
        <a:accent6>
          <a:srgbClr val="254D75"/>
        </a:accent6>
        <a:hlink>
          <a:srgbClr val="002850"/>
        </a:hlink>
        <a:folHlink>
          <a:srgbClr val="2A94F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4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B2B2B2"/>
        </a:accent1>
        <a:accent2>
          <a:srgbClr val="5F5F5F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555555"/>
        </a:accent6>
        <a:hlink>
          <a:srgbClr val="1C1C1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5">
        <a:dk1>
          <a:srgbClr val="000000"/>
        </a:dk1>
        <a:lt1>
          <a:srgbClr val="FFFFFF"/>
        </a:lt1>
        <a:dk2>
          <a:srgbClr val="000000"/>
        </a:dk2>
        <a:lt2>
          <a:srgbClr val="B2B2B2"/>
        </a:lt2>
        <a:accent1>
          <a:srgbClr val="BF59B8"/>
        </a:accent1>
        <a:accent2>
          <a:srgbClr val="884183"/>
        </a:accent2>
        <a:accent3>
          <a:srgbClr val="FFFFFF"/>
        </a:accent3>
        <a:accent4>
          <a:srgbClr val="000000"/>
        </a:accent4>
        <a:accent5>
          <a:srgbClr val="DCB5D8"/>
        </a:accent5>
        <a:accent6>
          <a:srgbClr val="7B3A76"/>
        </a:accent6>
        <a:hlink>
          <a:srgbClr val="371535"/>
        </a:hlink>
        <a:folHlink>
          <a:srgbClr val="C468B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6">
        <a:dk1>
          <a:srgbClr val="000000"/>
        </a:dk1>
        <a:lt1>
          <a:srgbClr val="FFFFFF"/>
        </a:lt1>
        <a:dk2>
          <a:srgbClr val="000000"/>
        </a:dk2>
        <a:lt2>
          <a:srgbClr val="B2B2B2"/>
        </a:lt2>
        <a:accent1>
          <a:srgbClr val="FF0517"/>
        </a:accent1>
        <a:accent2>
          <a:srgbClr val="BC000D"/>
        </a:accent2>
        <a:accent3>
          <a:srgbClr val="FFFFFF"/>
        </a:accent3>
        <a:accent4>
          <a:srgbClr val="000000"/>
        </a:accent4>
        <a:accent5>
          <a:srgbClr val="FFAAAB"/>
        </a:accent5>
        <a:accent6>
          <a:srgbClr val="AA000B"/>
        </a:accent6>
        <a:hlink>
          <a:srgbClr val="3A0004"/>
        </a:hlink>
        <a:folHlink>
          <a:srgbClr val="FF3B3B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7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DFE0BE"/>
        </a:accent1>
        <a:accent2>
          <a:srgbClr val="D1D46B"/>
        </a:accent2>
        <a:accent3>
          <a:srgbClr val="FFFFFF"/>
        </a:accent3>
        <a:accent4>
          <a:srgbClr val="000000"/>
        </a:accent4>
        <a:accent5>
          <a:srgbClr val="ECEDDB"/>
        </a:accent5>
        <a:accent6>
          <a:srgbClr val="BDC060"/>
        </a:accent6>
        <a:hlink>
          <a:srgbClr val="3A3B11"/>
        </a:hlink>
        <a:folHlink>
          <a:srgbClr val="DDDF9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8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6FC01E"/>
        </a:accent1>
        <a:accent2>
          <a:srgbClr val="4F7913"/>
        </a:accent2>
        <a:accent3>
          <a:srgbClr val="FFFFFF"/>
        </a:accent3>
        <a:accent4>
          <a:srgbClr val="000000"/>
        </a:accent4>
        <a:accent5>
          <a:srgbClr val="BBDCAB"/>
        </a:accent5>
        <a:accent6>
          <a:srgbClr val="476D10"/>
        </a:accent6>
        <a:hlink>
          <a:srgbClr val="26420A"/>
        </a:hlink>
        <a:folHlink>
          <a:srgbClr val="7BD52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13698</Words>
  <Application>WPS 演示</Application>
  <PresentationFormat>全屏显示(4:3)</PresentationFormat>
  <Paragraphs>2491</Paragraphs>
  <Slides>55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55</vt:i4>
      </vt:variant>
    </vt:vector>
  </HeadingPairs>
  <TitlesOfParts>
    <vt:vector size="75" baseType="lpstr">
      <vt:lpstr>Arial</vt:lpstr>
      <vt:lpstr>宋体</vt:lpstr>
      <vt:lpstr>Wingdings</vt:lpstr>
      <vt:lpstr>华文细黑</vt:lpstr>
      <vt:lpstr>MS UI Gothic</vt:lpstr>
      <vt:lpstr>Calibri</vt:lpstr>
      <vt:lpstr>Verdana</vt:lpstr>
      <vt:lpstr>方正正大黑简体</vt:lpstr>
      <vt:lpstr>黑体</vt:lpstr>
      <vt:lpstr>Times New Roman</vt:lpstr>
      <vt:lpstr>微软雅黑</vt:lpstr>
      <vt:lpstr>隶书</vt:lpstr>
      <vt:lpstr>Tahoma</vt:lpstr>
      <vt:lpstr>Arial Unicode MS</vt:lpstr>
      <vt:lpstr>-apple-system</vt:lpstr>
      <vt:lpstr>Segoe Print</vt:lpstr>
      <vt:lpstr>楷体</vt:lpstr>
      <vt:lpstr>Times New Roman</vt:lpstr>
      <vt:lpstr>Be Happy</vt:lpstr>
      <vt:lpstr>第一PPT：www.1ppt.com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第一PPT模板网：www.1ppt.com</dc:title>
  <dc:creator>第一PPT模板网：www.1ppt.com</dc:creator>
  <cp:lastModifiedBy>时间矿泉水</cp:lastModifiedBy>
  <cp:revision>438</cp:revision>
  <dcterms:created xsi:type="dcterms:W3CDTF">2010-09-23T08:30:00Z</dcterms:created>
  <dcterms:modified xsi:type="dcterms:W3CDTF">2025-11-30T15:07:29Z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模板">
    <vt:lpwstr>www.1ppt.com</vt:lpwstr>
  </property>
  <property fmtid="{D5CDD505-2E9C-101B-9397-08002B2CF9AE}" pid="3" name="ICV">
    <vt:lpwstr>0E8E802CEE794820AF70A8C9AFC251F8_12</vt:lpwstr>
  </property>
  <property fmtid="{D5CDD505-2E9C-101B-9397-08002B2CF9AE}" pid="4" name="KSOProductBuildVer">
    <vt:lpwstr>2052-12.1.0.23542</vt:lpwstr>
  </property>
</Properties>
</file>