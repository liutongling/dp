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jpeg" ContentType="image/jpeg"/>
  <Default Extension="JPG" ContentType="image/.jpg"/>
  <Default Extension="png" ContentType="image/png"/>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70"/>
  </p:handoutMasterIdLst>
  <p:sldIdLst>
    <p:sldId id="351" r:id="rId3"/>
    <p:sldId id="369" r:id="rId5"/>
    <p:sldId id="258" r:id="rId6"/>
    <p:sldId id="257" r:id="rId7"/>
    <p:sldId id="370" r:id="rId8"/>
    <p:sldId id="371" r:id="rId9"/>
    <p:sldId id="259" r:id="rId10"/>
    <p:sldId id="374" r:id="rId11"/>
    <p:sldId id="375" r:id="rId12"/>
    <p:sldId id="377" r:id="rId13"/>
    <p:sldId id="378" r:id="rId14"/>
    <p:sldId id="379" r:id="rId15"/>
    <p:sldId id="380" r:id="rId16"/>
    <p:sldId id="376" r:id="rId17"/>
    <p:sldId id="383" r:id="rId18"/>
    <p:sldId id="384" r:id="rId19"/>
    <p:sldId id="381" r:id="rId20"/>
    <p:sldId id="266" r:id="rId21"/>
    <p:sldId id="284" r:id="rId22"/>
    <p:sldId id="366" r:id="rId23"/>
    <p:sldId id="362" r:id="rId24"/>
    <p:sldId id="361" r:id="rId25"/>
    <p:sldId id="285" r:id="rId26"/>
    <p:sldId id="286" r:id="rId27"/>
    <p:sldId id="287" r:id="rId28"/>
    <p:sldId id="401" r:id="rId29"/>
    <p:sldId id="402" r:id="rId30"/>
    <p:sldId id="288" r:id="rId31"/>
    <p:sldId id="386" r:id="rId32"/>
    <p:sldId id="389" r:id="rId33"/>
    <p:sldId id="390" r:id="rId34"/>
    <p:sldId id="391" r:id="rId35"/>
    <p:sldId id="393" r:id="rId36"/>
    <p:sldId id="404" r:id="rId37"/>
    <p:sldId id="394" r:id="rId38"/>
    <p:sldId id="399" r:id="rId39"/>
    <p:sldId id="354" r:id="rId40"/>
    <p:sldId id="400" r:id="rId41"/>
    <p:sldId id="292" r:id="rId42"/>
    <p:sldId id="367" r:id="rId43"/>
    <p:sldId id="406" r:id="rId44"/>
    <p:sldId id="407" r:id="rId45"/>
    <p:sldId id="408" r:id="rId46"/>
    <p:sldId id="409" r:id="rId47"/>
    <p:sldId id="410" r:id="rId48"/>
    <p:sldId id="411" r:id="rId49"/>
    <p:sldId id="412" r:id="rId50"/>
    <p:sldId id="413" r:id="rId51"/>
    <p:sldId id="405" r:id="rId52"/>
    <p:sldId id="414" r:id="rId53"/>
    <p:sldId id="415" r:id="rId54"/>
    <p:sldId id="416" r:id="rId55"/>
    <p:sldId id="418" r:id="rId56"/>
    <p:sldId id="417" r:id="rId57"/>
    <p:sldId id="419" r:id="rId58"/>
    <p:sldId id="420" r:id="rId59"/>
    <p:sldId id="421" r:id="rId60"/>
    <p:sldId id="422" r:id="rId61"/>
    <p:sldId id="423" r:id="rId62"/>
    <p:sldId id="424" r:id="rId63"/>
    <p:sldId id="426" r:id="rId64"/>
    <p:sldId id="425" r:id="rId65"/>
    <p:sldId id="427" r:id="rId66"/>
    <p:sldId id="301" r:id="rId67"/>
    <p:sldId id="429" r:id="rId68"/>
    <p:sldId id="430" r:id="rId69"/>
  </p:sldIdLst>
  <p:sldSz cx="9144000" cy="6858000" type="screen4x3"/>
  <p:notesSz cx="6858000" cy="9144000"/>
  <p:custDataLst>
    <p:tags r:id="rId75"/>
  </p:custDataLst>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242" userDrawn="1">
          <p15:clr>
            <a:srgbClr val="A4A3A4"/>
          </p15:clr>
        </p15:guide>
        <p15:guide id="2" pos="2835"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FF33CC"/>
    <a:srgbClr val="0000FF"/>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048" autoAdjust="0"/>
    <p:restoredTop sz="95126" autoAdjust="0"/>
  </p:normalViewPr>
  <p:slideViewPr>
    <p:cSldViewPr showGuides="1">
      <p:cViewPr varScale="1">
        <p:scale>
          <a:sx n="113" d="100"/>
          <a:sy n="113" d="100"/>
        </p:scale>
        <p:origin x="822" y="84"/>
      </p:cViewPr>
      <p:guideLst>
        <p:guide orient="horz" pos="2242"/>
        <p:guide pos="2835"/>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5" Type="http://schemas.openxmlformats.org/officeDocument/2006/relationships/tags" Target="tags/tag24.xml"/><Relationship Id="rId74" Type="http://schemas.openxmlformats.org/officeDocument/2006/relationships/commentAuthors" Target="commentAuthors.xml"/><Relationship Id="rId73" Type="http://schemas.openxmlformats.org/officeDocument/2006/relationships/tableStyles" Target="tableStyles.xml"/><Relationship Id="rId72" Type="http://schemas.openxmlformats.org/officeDocument/2006/relationships/viewProps" Target="viewProps.xml"/><Relationship Id="rId71" Type="http://schemas.openxmlformats.org/officeDocument/2006/relationships/presProps" Target="presProps.xml"/><Relationship Id="rId70" Type="http://schemas.openxmlformats.org/officeDocument/2006/relationships/handoutMaster" Target="handoutMasters/handoutMaster1.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9" Type="http://schemas.openxmlformats.org/officeDocument/2006/relationships/image" Target="../media/image21.wmf"/><Relationship Id="rId8" Type="http://schemas.openxmlformats.org/officeDocument/2006/relationships/image" Target="../media/image20.wmf"/><Relationship Id="rId7" Type="http://schemas.openxmlformats.org/officeDocument/2006/relationships/image" Target="../media/image19.wmf"/><Relationship Id="rId6" Type="http://schemas.openxmlformats.org/officeDocument/2006/relationships/image" Target="../media/image18.wmf"/><Relationship Id="rId5" Type="http://schemas.openxmlformats.org/officeDocument/2006/relationships/image" Target="../media/image17.wmf"/><Relationship Id="rId4" Type="http://schemas.openxmlformats.org/officeDocument/2006/relationships/image" Target="../media/image16.wmf"/><Relationship Id="rId3" Type="http://schemas.openxmlformats.org/officeDocument/2006/relationships/image" Target="../media/image15.wmf"/><Relationship Id="rId2" Type="http://schemas.openxmlformats.org/officeDocument/2006/relationships/image" Target="../media/image14.wmf"/><Relationship Id="rId1" Type="http://schemas.openxmlformats.org/officeDocument/2006/relationships/image" Target="../media/image13.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latin typeface="Times New Roman" panose="02020603050405020304" pitchFamily="18" charset="0"/>
              <a:cs typeface="Times New Roman" panose="02020603050405020304" pitchFamily="18" charset="0"/>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latin typeface="Times New Roman" panose="02020603050405020304" pitchFamily="18" charset="0"/>
                <a:cs typeface="Times New Roman" panose="02020603050405020304" pitchFamily="18" charset="0"/>
              </a:rPr>
            </a:fld>
            <a:endParaRPr lang="zh-CN" altLang="en-US">
              <a:latin typeface="Times New Roman" panose="02020603050405020304" pitchFamily="18" charset="0"/>
              <a:cs typeface="Times New Roman" panose="02020603050405020304" pitchFamily="18" charset="0"/>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latin typeface="Times New Roman" panose="02020603050405020304" pitchFamily="18" charset="0"/>
              <a:cs typeface="Times New Roman" panose="02020603050405020304" pitchFamily="18" charset="0"/>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latin typeface="Times New Roman" panose="02020603050405020304" pitchFamily="18" charset="0"/>
                <a:cs typeface="Times New Roman" panose="02020603050405020304" pitchFamily="18" charset="0"/>
              </a:rPr>
            </a:fld>
            <a:endParaRPr lang="zh-CN" altLang="en-US">
              <a:latin typeface="Times New Roman" panose="02020603050405020304" pitchFamily="18" charset="0"/>
              <a:cs typeface="Times New Roman" panose="02020603050405020304" pitchFamily="18" charset="0"/>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cs typeface="Times New Roman" panose="02020603050405020304" pitchFamily="18"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cs typeface="Times New Roman" panose="02020603050405020304" pitchFamily="18"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cs typeface="Times New Roman" panose="02020603050405020304" pitchFamily="18"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cs typeface="Times New Roman" panose="02020603050405020304" pitchFamily="18"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Times New Roman" panose="02020603050405020304" pitchFamily="18" charset="0"/>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Times New Roman" panose="02020603050405020304" pitchFamily="18" charset="0"/>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Times New Roman" panose="02020603050405020304" pitchFamily="18" charset="0"/>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Times New Roman" panose="02020603050405020304" pitchFamily="18" charset="0"/>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Times New Roman" panose="02020603050405020304" pitchFamily="18"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我们在学习</a:t>
            </a:r>
            <a:r>
              <a:rPr lang="en-US" altLang="zh-CN"/>
              <a:t>C</a:t>
            </a:r>
            <a:r>
              <a:rPr lang="zh-CN" altLang="en-US"/>
              <a:t>语言的时候都已经写过简单，相信同学们已经对递归有了了解，这节课我们开始来学习递归和分治算法</a:t>
            </a:r>
            <a:endParaRPr lang="zh-CN" altLang="en-US"/>
          </a:p>
        </p:txBody>
      </p:sp>
      <p:sp>
        <p:nvSpPr>
          <p:cNvPr id="4" name="灯片编号占位符 3"/>
          <p:cNvSpPr>
            <a:spLocks noGrp="1"/>
          </p:cNvSpPr>
          <p:nvPr>
            <p:ph type="sldNum" sz="quarter" idx="10"/>
          </p:nvPr>
        </p:nvSpPr>
        <p:spPr/>
        <p:txBody>
          <a:bodyPr/>
          <a:lstStyle/>
          <a:p>
            <a:pPr>
              <a:defRPr/>
            </a:pPr>
            <a:fld id="{AB76F6FC-157B-4160-B88F-123B3C4C0F29}" type="slidenum">
              <a:rPr lang="zh-CN" altLang="en-US" smtClean="0"/>
            </a:fld>
            <a:endParaRPr lang="en-US" altLang="zh-C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幻灯片图像占位符 1"/>
          <p:cNvSpPr>
            <a:spLocks noGrp="1" noRot="1" noChangeAspect="1" noTextEdit="1"/>
          </p:cNvSpPr>
          <p:nvPr>
            <p:ph type="sldImg"/>
          </p:nvPr>
        </p:nvSpPr>
        <p:spPr/>
      </p:sp>
      <p:sp>
        <p:nvSpPr>
          <p:cNvPr id="9219" name="备注占位符 2"/>
          <p:cNvSpPr>
            <a:spLocks noGrp="1"/>
          </p:cNvSpPr>
          <p:nvPr>
            <p:ph type="body" idx="1"/>
          </p:nvPr>
        </p:nvSpPr>
        <p:spPr/>
        <p:txBody>
          <a:bodyPr wrap="square" lIns="91440" tIns="45720" rIns="91440" bIns="45720" anchor="ctr" anchorCtr="0"/>
          <a:lstStyle/>
          <a:p>
            <a:pPr lvl="0"/>
            <a:r>
              <a:rPr lang="zh-CN" altLang="en-US" dirty="0"/>
              <a:t>来我们把我们的数据元素构建成一个大顶堆，直观的感受一下堆，猛的一看就是一个二叉树嘛。但是仔细一看我们发现每一个子节点的值都没有父节点的值大。此树我们就可以称为一个堆。</a:t>
            </a:r>
            <a:endParaRPr lang="zh-CN" altLang="en-US" dirty="0"/>
          </a:p>
        </p:txBody>
      </p:sp>
      <p:sp>
        <p:nvSpPr>
          <p:cNvPr id="9220"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lstStyle/>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p:txBody>
          <a:bodyPr wrap="square" lIns="91440" tIns="45720" rIns="91440" bIns="45720" anchor="ctr" anchorCtr="0"/>
          <a:lstStyle/>
          <a:p>
            <a:pPr lvl="0"/>
            <a:r>
              <a:rPr lang="zh-CN" altLang="en-US" dirty="0"/>
              <a:t>如果我们把一个大顶堆按照从顶到下，从左到右放到一个数组中。用数组的索引当作节点</a:t>
            </a:r>
            <a:r>
              <a:rPr lang="en-US" altLang="zh-CN" dirty="0"/>
              <a:t>ID</a:t>
            </a:r>
            <a:r>
              <a:rPr lang="zh-CN" altLang="en-US" dirty="0"/>
              <a:t>用二叉树的性质来验证，发现依然可以使用二叉树的性质来搜索左右节点和父节点。因此我们完全可以用数组来用堆。同学们现在是不是有点懵怎么还是在数组里面。虽然是数组但是我们完全是不同的数据结构。不用管它实现的具体形式，只要方便好用即可，这也是计算机工程人所追求的简洁。</a:t>
            </a:r>
            <a:endParaRPr lang="zh-CN" altLang="en-US" dirty="0"/>
          </a:p>
        </p:txBody>
      </p:sp>
      <p:sp>
        <p:nvSpPr>
          <p:cNvPr id="11268"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lstStyle/>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幻灯片图像占位符 1"/>
          <p:cNvSpPr>
            <a:spLocks noGrp="1" noRot="1" noChangeAspect="1" noTextEdit="1"/>
          </p:cNvSpPr>
          <p:nvPr>
            <p:ph type="sldImg"/>
          </p:nvPr>
        </p:nvSpPr>
        <p:spPr/>
      </p:sp>
      <p:sp>
        <p:nvSpPr>
          <p:cNvPr id="13315" name="备注占位符 2"/>
          <p:cNvSpPr>
            <a:spLocks noGrp="1"/>
          </p:cNvSpPr>
          <p:nvPr>
            <p:ph type="body" idx="1"/>
          </p:nvPr>
        </p:nvSpPr>
        <p:spPr/>
        <p:txBody>
          <a:bodyPr wrap="square" lIns="91440" tIns="45720" rIns="91440" bIns="45720" anchor="ctr" anchorCtr="0"/>
          <a:lstStyle/>
          <a:p>
            <a:pPr lvl="0"/>
            <a:r>
              <a:rPr lang="zh-CN" altLang="en-US" dirty="0"/>
              <a:t>我们采用方法是逐个节点插入，通过比较子节点与父节点的值来判断是否交换值，从而满足大顶堆性质。可能有的同学会问我们是在一个已经存在的堆结构上插入，但是数组中没有这个结构该怎么插入呢？同学们我们是有 这样的一个前提堆只有一个元素的时候就是大顶堆，所以我们可以在这个基础之上进行逐个插入。来看看我们具体的做法，</a:t>
            </a:r>
            <a:r>
              <a:rPr lang="en-US" altLang="zh-CN" dirty="0"/>
              <a:t>18</a:t>
            </a:r>
            <a:r>
              <a:rPr lang="zh-CN" altLang="en-US" dirty="0"/>
              <a:t>这个子节点插入之后我们通过与父节点进行比较发现其值比父节点大，不满足其大顶堆的性质，然后我们将其进行交换。</a:t>
            </a:r>
            <a:endParaRPr lang="zh-CN" altLang="en-US" dirty="0"/>
          </a:p>
        </p:txBody>
      </p:sp>
      <p:sp>
        <p:nvSpPr>
          <p:cNvPr id="13316"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lstStyle/>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幻灯片图像占位符 1"/>
          <p:cNvSpPr>
            <a:spLocks noGrp="1" noRot="1" noChangeAspect="1" noTextEdit="1"/>
          </p:cNvSpPr>
          <p:nvPr>
            <p:ph type="sldImg"/>
          </p:nvPr>
        </p:nvSpPr>
        <p:spPr/>
      </p:sp>
      <p:sp>
        <p:nvSpPr>
          <p:cNvPr id="17411" name="备注占位符 2"/>
          <p:cNvSpPr>
            <a:spLocks noGrp="1"/>
          </p:cNvSpPr>
          <p:nvPr>
            <p:ph type="body" idx="1"/>
          </p:nvPr>
        </p:nvSpPr>
        <p:spPr/>
        <p:txBody>
          <a:bodyPr wrap="square" lIns="91440" tIns="45720" rIns="91440" bIns="45720" anchor="ctr" anchorCtr="0"/>
          <a:lstStyle/>
          <a:p>
            <a:pPr lvl="0"/>
            <a:r>
              <a:rPr lang="zh-CN" altLang="en-US" dirty="0"/>
              <a:t>我们把刚才的思想用代码和流程图表示，直观的感受。首先就是判断数组的长度是否等于</a:t>
            </a:r>
            <a:r>
              <a:rPr lang="en-US" altLang="zh-CN" dirty="0"/>
              <a:t>1</a:t>
            </a:r>
            <a:r>
              <a:rPr lang="zh-CN" altLang="en-US" dirty="0"/>
              <a:t>如果是则直接返回结果，如果不是，我们则是从第二个节点开始插入，因为第一个节点已经是一个大顶堆了，所以 </a:t>
            </a:r>
            <a:r>
              <a:rPr lang="en-US" altLang="zh-CN" dirty="0"/>
              <a:t>k = 1 ,</a:t>
            </a:r>
            <a:r>
              <a:rPr lang="zh-CN" altLang="en-US" dirty="0"/>
              <a:t>此时我们进入一个循环，进入循环之后表示我们从底往上进行子节点与父节点的值比较，不满足堆的性质则开始交换。然后将父节点索引赋值给</a:t>
            </a:r>
            <a:r>
              <a:rPr lang="en-US" altLang="zh-CN" dirty="0"/>
              <a:t>i</a:t>
            </a:r>
            <a:r>
              <a:rPr lang="zh-CN" altLang="en-US" dirty="0"/>
              <a:t>继续往上进行交换。循环结束</a:t>
            </a:r>
            <a:r>
              <a:rPr lang="en-US" altLang="zh-CN" dirty="0"/>
              <a:t>k</a:t>
            </a:r>
            <a:r>
              <a:rPr lang="zh-CN" altLang="en-US" dirty="0"/>
              <a:t>自加</a:t>
            </a:r>
            <a:r>
              <a:rPr lang="en-US" altLang="zh-CN" dirty="0"/>
              <a:t>1</a:t>
            </a:r>
            <a:r>
              <a:rPr lang="zh-CN" altLang="en-US" dirty="0"/>
              <a:t>表示继续插入下一个子节点。</a:t>
            </a:r>
            <a:endParaRPr lang="zh-CN" altLang="en-US" dirty="0"/>
          </a:p>
        </p:txBody>
      </p:sp>
      <p:sp>
        <p:nvSpPr>
          <p:cNvPr id="17412"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lstStyle/>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幻灯片图像占位符 1"/>
          <p:cNvSpPr>
            <a:spLocks noGrp="1" noRot="1" noChangeAspect="1" noTextEdit="1"/>
          </p:cNvSpPr>
          <p:nvPr>
            <p:ph type="sldImg"/>
          </p:nvPr>
        </p:nvSpPr>
        <p:spPr/>
      </p:sp>
      <p:sp>
        <p:nvSpPr>
          <p:cNvPr id="13315" name="备注占位符 2"/>
          <p:cNvSpPr>
            <a:spLocks noGrp="1"/>
          </p:cNvSpPr>
          <p:nvPr>
            <p:ph type="body" idx="1"/>
          </p:nvPr>
        </p:nvSpPr>
        <p:spPr/>
        <p:txBody>
          <a:bodyPr wrap="square" lIns="91440" tIns="45720" rIns="91440" bIns="45720" anchor="ctr" anchorCtr="0"/>
          <a:lstStyle/>
          <a:p>
            <a:pPr lvl="0"/>
            <a:r>
              <a:rPr lang="zh-CN" altLang="en-US" dirty="0"/>
              <a:t>我们采用方法是逐个节点插入，通过比较子节点与父节点的值来判断是否交换值，从而满足大顶堆性质。可能有的同学会问我们是在一个已经存在的堆结构上插入，但是数组中没有这个结构该怎么插入呢？同学们我们是有 这样的一个前提堆只有一个元素的时候就是大顶堆，所以我们可以在这个基础之上进行逐个插入。来看看我们具体的做法，</a:t>
            </a:r>
            <a:r>
              <a:rPr lang="en-US" altLang="zh-CN" dirty="0"/>
              <a:t>18</a:t>
            </a:r>
            <a:r>
              <a:rPr lang="zh-CN" altLang="en-US" dirty="0"/>
              <a:t>这个子节点插入之后我们通过与父节点进行比较发现其值比父节点大，不满足其大顶堆的性质，然后我们将其进行交换。</a:t>
            </a:r>
            <a:endParaRPr lang="zh-CN" altLang="en-US" dirty="0"/>
          </a:p>
        </p:txBody>
      </p:sp>
      <p:sp>
        <p:nvSpPr>
          <p:cNvPr id="13316"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lstStyle/>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幻灯片图像占位符 1"/>
          <p:cNvSpPr>
            <a:spLocks noGrp="1" noRot="1" noChangeAspect="1" noTextEdit="1"/>
          </p:cNvSpPr>
          <p:nvPr>
            <p:ph type="sldImg"/>
          </p:nvPr>
        </p:nvSpPr>
        <p:spPr/>
      </p:sp>
      <p:sp>
        <p:nvSpPr>
          <p:cNvPr id="19459" name="备注占位符 2"/>
          <p:cNvSpPr>
            <a:spLocks noGrp="1"/>
          </p:cNvSpPr>
          <p:nvPr>
            <p:ph type="body" idx="1"/>
          </p:nvPr>
        </p:nvSpPr>
        <p:spPr/>
        <p:txBody>
          <a:bodyPr wrap="square" lIns="91440" tIns="45720" rIns="91440" bIns="45720" anchor="ctr" anchorCtr="0"/>
          <a:lstStyle/>
          <a:p>
            <a:pPr lvl="0"/>
            <a:r>
              <a:rPr lang="zh-CN" altLang="en-US" dirty="0"/>
              <a:t>如何用堆进行排序呢，？但具体怎么实现呢？来我们一起来看看，我已经知道根节点就是最大值所以我们完成最大值的排序就有两个步骤，断开尾节点，然后替换根节点，此时就完成了最大值的排序。</a:t>
            </a:r>
            <a:endParaRPr lang="zh-CN" altLang="en-US" dirty="0"/>
          </a:p>
        </p:txBody>
      </p:sp>
      <p:sp>
        <p:nvSpPr>
          <p:cNvPr id="19460"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lstStyle/>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幻灯片图像占位符 1"/>
          <p:cNvSpPr>
            <a:spLocks noGrp="1" noRot="1" noChangeAspect="1" noTextEdit="1"/>
          </p:cNvSpPr>
          <p:nvPr>
            <p:ph type="sldImg"/>
          </p:nvPr>
        </p:nvSpPr>
        <p:spPr/>
      </p:sp>
      <p:sp>
        <p:nvSpPr>
          <p:cNvPr id="29699" name="备注占位符 2"/>
          <p:cNvSpPr>
            <a:spLocks noGrp="1"/>
          </p:cNvSpPr>
          <p:nvPr>
            <p:ph type="body" idx="1"/>
          </p:nvPr>
        </p:nvSpPr>
        <p:spPr/>
        <p:txBody>
          <a:bodyPr wrap="square" lIns="91440" tIns="45720" rIns="91440" bIns="45720" anchor="ctr" anchorCtr="0"/>
          <a:lstStyle/>
          <a:p>
            <a:pPr lvl="0"/>
            <a:r>
              <a:rPr lang="zh-CN" altLang="en-US" dirty="0"/>
              <a:t>根据流程图和代码来直观的感受一下算法的具体实现，这里完成其实不难，只是比较绕的地方是替换根节点之后重构堆。首先我们看堆排序的函数，这里面其实很好理解，首先判断长度是否大于</a:t>
            </a:r>
            <a:r>
              <a:rPr lang="en-US" altLang="zh-CN" dirty="0"/>
              <a:t>1</a:t>
            </a:r>
            <a:r>
              <a:rPr lang="zh-CN" altLang="en-US" dirty="0"/>
              <a:t>若是则尾巴节点与头节点的值进行替换，然后堆的长度自减</a:t>
            </a:r>
            <a:r>
              <a:rPr lang="en-US" altLang="zh-CN" dirty="0"/>
              <a:t>1</a:t>
            </a:r>
            <a:r>
              <a:rPr lang="zh-CN" altLang="en-US" dirty="0"/>
              <a:t>，然后重构堆。看着很复杂其实很简单，我们首先进入一个循环，这个循环就是表示根节点自顶到下的交换操作，然后找到最大的比父节点值大的节点然后进行交换重构。</a:t>
            </a:r>
            <a:endParaRPr lang="zh-CN" altLang="en-US" dirty="0"/>
          </a:p>
        </p:txBody>
      </p:sp>
      <p:sp>
        <p:nvSpPr>
          <p:cNvPr id="29700"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lstStyle/>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cs typeface="Times New Roman" panose="02020603050405020304" pitchFamily="18" charset="0"/>
              </a:defRPr>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cs typeface="Times New Roman" panose="02020603050405020304" pitchFamily="18" charset="0"/>
              </a:defRPr>
            </a:lvl1pPr>
          </a:lstStyle>
          <a:p>
            <a:r>
              <a:rPr lang="zh-CN"/>
              <a:t>单击添加署名或公司信息</a:t>
            </a:r>
            <a:endParaRPr lang="zh-CN"/>
          </a:p>
        </p:txBody>
      </p:sp>
    </p:spTree>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lvl1pPr>
              <a:defRPr>
                <a:cs typeface="Times New Roman" panose="02020603050405020304" pitchFamily="18" charset="0"/>
              </a:defRPr>
            </a:lvl1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cs typeface="Times New Roman" panose="02020603050405020304" pitchFamily="18" charset="0"/>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cs typeface="Times New Roman" panose="02020603050405020304" pitchFamily="18" charset="0"/>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cs typeface="Times New Roman" panose="02020603050405020304" pitchFamily="18" charset="0"/>
              </a:defRPr>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cs typeface="Times New Roman" panose="02020603050405020304" pitchFamily="18" charset="0"/>
              </a:defRPr>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cs typeface="Times New Roman" panose="02020603050405020304" pitchFamily="18"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cs typeface="Times New Roman" panose="02020603050405020304" pitchFamily="18" charset="0"/>
              </a:defRPr>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cs typeface="Times New Roman" panose="02020603050405020304" pitchFamily="18"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cs typeface="Times New Roman" panose="02020603050405020304" pitchFamily="18" charset="0"/>
              </a:defRPr>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Tree>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cs typeface="Times New Roman" panose="02020603050405020304" pitchFamily="18" charset="0"/>
              </a:defRPr>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cs typeface="Times New Roman" panose="02020603050405020304" pitchFamily="18" charset="0"/>
              </a:defRPr>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cs typeface="Times New Roman" panose="02020603050405020304"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Tree>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cs typeface="Times New Roman" panose="02020603050405020304" pitchFamily="18" charset="0"/>
              </a:defRPr>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cs typeface="Times New Roman" panose="02020603050405020304"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Tree>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lvl1pPr>
              <a:defRPr>
                <a:cs typeface="Times New Roman" panose="02020603050405020304" pitchFamily="18" charset="0"/>
              </a:defRPr>
            </a:lvl1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lvl1pPr>
              <a:defRPr>
                <a:cs typeface="Times New Roman" panose="02020603050405020304" pitchFamily="18" charset="0"/>
              </a:defRPr>
            </a:lvl1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Tree>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Tree>
  </p:cSld>
  <p:clrMapOvr>
    <a:masterClrMapping/>
  </p:clrMapOvr>
  <p:transition/>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ransition/>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9" Type="http://schemas.openxmlformats.org/officeDocument/2006/relationships/image" Target="../media/image6.png"/><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slide" Target="slide1.xml"/><Relationship Id="rId2" Type="http://schemas.openxmlformats.org/officeDocument/2006/relationships/tags" Target="../tags/tag2.xml"/><Relationship Id="rId19" Type="http://schemas.openxmlformats.org/officeDocument/2006/relationships/slideLayout" Target="../slideLayouts/slideLayout2.xml"/><Relationship Id="rId18" Type="http://schemas.openxmlformats.org/officeDocument/2006/relationships/image" Target="../media/image9.png"/><Relationship Id="rId17" Type="http://schemas.openxmlformats.org/officeDocument/2006/relationships/tags" Target="../tags/tag13.xml"/><Relationship Id="rId16" Type="http://schemas.openxmlformats.org/officeDocument/2006/relationships/image" Target="../media/image8.png"/><Relationship Id="rId15" Type="http://schemas.openxmlformats.org/officeDocument/2006/relationships/tags" Target="../tags/tag12.xml"/><Relationship Id="rId14" Type="http://schemas.openxmlformats.org/officeDocument/2006/relationships/image" Target="../media/image7.png"/><Relationship Id="rId13" Type="http://schemas.openxmlformats.org/officeDocument/2006/relationships/tags" Target="../tags/tag11.xml"/><Relationship Id="rId12" Type="http://schemas.openxmlformats.org/officeDocument/2006/relationships/tags" Target="../tags/tag10.xml"/><Relationship Id="rId11" Type="http://schemas.openxmlformats.org/officeDocument/2006/relationships/tags" Target="../tags/tag9.xml"/><Relationship Id="rId10" Type="http://schemas.openxmlformats.org/officeDocument/2006/relationships/tags" Target="../tags/tag8.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1.png"/><Relationship Id="rId1"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9" Type="http://schemas.openxmlformats.org/officeDocument/2006/relationships/oleObject" Target="../embeddings/oleObject5.bin"/><Relationship Id="rId8" Type="http://schemas.openxmlformats.org/officeDocument/2006/relationships/image" Target="../media/image16.wmf"/><Relationship Id="rId7" Type="http://schemas.openxmlformats.org/officeDocument/2006/relationships/oleObject" Target="../embeddings/oleObject4.bin"/><Relationship Id="rId6" Type="http://schemas.openxmlformats.org/officeDocument/2006/relationships/image" Target="../media/image15.wmf"/><Relationship Id="rId5" Type="http://schemas.openxmlformats.org/officeDocument/2006/relationships/oleObject" Target="../embeddings/oleObject3.bin"/><Relationship Id="rId4" Type="http://schemas.openxmlformats.org/officeDocument/2006/relationships/image" Target="../media/image14.wmf"/><Relationship Id="rId3" Type="http://schemas.openxmlformats.org/officeDocument/2006/relationships/oleObject" Target="../embeddings/oleObject2.bin"/><Relationship Id="rId20" Type="http://schemas.openxmlformats.org/officeDocument/2006/relationships/vmlDrawing" Target="../drawings/vmlDrawing1.vml"/><Relationship Id="rId2" Type="http://schemas.openxmlformats.org/officeDocument/2006/relationships/image" Target="../media/image13.wmf"/><Relationship Id="rId19" Type="http://schemas.openxmlformats.org/officeDocument/2006/relationships/slideLayout" Target="../slideLayouts/slideLayout2.xml"/><Relationship Id="rId18" Type="http://schemas.openxmlformats.org/officeDocument/2006/relationships/image" Target="../media/image21.wmf"/><Relationship Id="rId17" Type="http://schemas.openxmlformats.org/officeDocument/2006/relationships/oleObject" Target="../embeddings/oleObject9.bin"/><Relationship Id="rId16" Type="http://schemas.openxmlformats.org/officeDocument/2006/relationships/image" Target="../media/image20.wmf"/><Relationship Id="rId15" Type="http://schemas.openxmlformats.org/officeDocument/2006/relationships/oleObject" Target="../embeddings/oleObject8.bin"/><Relationship Id="rId14" Type="http://schemas.openxmlformats.org/officeDocument/2006/relationships/image" Target="../media/image19.wmf"/><Relationship Id="rId13" Type="http://schemas.openxmlformats.org/officeDocument/2006/relationships/oleObject" Target="../embeddings/oleObject7.bin"/><Relationship Id="rId12" Type="http://schemas.openxmlformats.org/officeDocument/2006/relationships/image" Target="../media/image18.wmf"/><Relationship Id="rId11" Type="http://schemas.openxmlformats.org/officeDocument/2006/relationships/oleObject" Target="../embeddings/oleObject6.bin"/><Relationship Id="rId10" Type="http://schemas.openxmlformats.org/officeDocument/2006/relationships/image" Target="../media/image17.wmf"/><Relationship Id="rId1" Type="http://schemas.openxmlformats.org/officeDocument/2006/relationships/oleObject" Target="../embeddings/oleObject1.bin"/></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hyperlink" Target="https://link.springer.com/chapter/10.1007/3-540-56939-1_69" TargetMode="External"/><Relationship Id="rId4" Type="http://schemas.openxmlformats.org/officeDocument/2006/relationships/tags" Target="../tags/tag17.xml"/><Relationship Id="rId3" Type="http://schemas.openxmlformats.org/officeDocument/2006/relationships/tags" Target="../tags/tag16.xml"/><Relationship Id="rId2" Type="http://schemas.openxmlformats.org/officeDocument/2006/relationships/tags" Target="../tags/tag15.xml"/><Relationship Id="rId1" Type="http://schemas.openxmlformats.org/officeDocument/2006/relationships/tags" Target="../tags/tag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2.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22.png"/><Relationship Id="rId1" Type="http://schemas.openxmlformats.org/officeDocument/2006/relationships/image" Target="../media/image23.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23.png"/><Relationship Id="rId1"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5.w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27.png"/></Relationships>
</file>

<file path=ppt/slides/_rels/slide31.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2.xml"/><Relationship Id="rId2" Type="http://schemas.openxmlformats.org/officeDocument/2006/relationships/image" Target="../media/image29.png"/><Relationship Id="rId1" Type="http://schemas.openxmlformats.org/officeDocument/2006/relationships/image" Target="../media/image28.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30.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2.xml"/><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image" Target="../media/image3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1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tags" Target="../tags/tag23.xml"/><Relationship Id="rId4" Type="http://schemas.openxmlformats.org/officeDocument/2006/relationships/tags" Target="../tags/tag22.xml"/><Relationship Id="rId3" Type="http://schemas.openxmlformats.org/officeDocument/2006/relationships/tags" Target="../tags/tag21.xml"/><Relationship Id="rId2" Type="http://schemas.openxmlformats.org/officeDocument/2006/relationships/tags" Target="../tags/tag20.xml"/><Relationship Id="rId1" Type="http://schemas.openxmlformats.org/officeDocument/2006/relationships/tags" Target="../tags/tag1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a:latin typeface="Verdana" panose="020B0604030504040204" pitchFamily="34" charset="0"/>
              <a:cs typeface="Times New Roman" panose="02020603050405020304" pitchFamily="18" charset="0"/>
            </a:endParaRPr>
          </a:p>
        </p:txBody>
      </p:sp>
      <p:sp>
        <p:nvSpPr>
          <p:cNvPr id="6" name="Rectangle 7"/>
          <p:cNvSpPr>
            <a:spLocks noChangeArrowheads="1"/>
          </p:cNvSpPr>
          <p:nvPr/>
        </p:nvSpPr>
        <p:spPr bwMode="auto">
          <a:xfrm>
            <a:off x="1043608" y="2780928"/>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cs typeface="Times New Roman" panose="02020603050405020304" pitchFamily="18" charset="0"/>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cs typeface="Times New Roman" panose="02020603050405020304" pitchFamily="18" charset="0"/>
              </a:rPr>
              <a:t>4</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cs typeface="Times New Roman" panose="02020603050405020304" pitchFamily="18" charset="0"/>
              </a:rPr>
              <a:t>章 贪心法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cs typeface="Times New Roman" panose="02020603050405020304" pitchFamily="18" charset="0"/>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Times New Roman" panose="02020603050405020304" pitchFamily="18" charset="0"/>
              <a:buNone/>
            </a:pPr>
            <a:endParaRPr lang="zh-CN" altLang="en-US">
              <a:latin typeface="Times New Roman" panose="02020603050405020304" pitchFamily="18" charset="0"/>
              <a:cs typeface="Times New Roman" panose="02020603050405020304" pitchFamily="18" charset="0"/>
            </a:endParaRPr>
          </a:p>
        </p:txBody>
      </p:sp>
      <p:sp>
        <p:nvSpPr>
          <p:cNvPr id="9"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0"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2" name="文本框 1"/>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pic>
        <p:nvPicPr>
          <p:cNvPr id="3" name="图片 2"/>
          <p:cNvPicPr>
            <a:picLocks noChangeAspect="1"/>
          </p:cNvPicPr>
          <p:nvPr/>
        </p:nvPicPr>
        <p:blipFill>
          <a:blip r:embed="rId1"/>
          <a:stretch>
            <a:fillRect/>
          </a:stretch>
        </p:blipFill>
        <p:spPr>
          <a:xfrm>
            <a:off x="1309370" y="1772285"/>
            <a:ext cx="6950075" cy="4740275"/>
          </a:xfrm>
          <a:prstGeom prst="rect">
            <a:avLst/>
          </a:prstGeom>
        </p:spPr>
      </p:pic>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5"/>
          <p:cNvSpPr>
            <a:spLocks noChangeArrowheads="1"/>
          </p:cNvSpPr>
          <p:nvPr/>
        </p:nvSpPr>
        <p:spPr bwMode="auto">
          <a:xfrm>
            <a:off x="0" y="13407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Times New Roman" panose="02020603050405020304" pitchFamily="18" charset="0"/>
              <a:buNone/>
            </a:pPr>
            <a:endParaRPr lang="zh-CN" altLang="en-US">
              <a:latin typeface="Times New Roman" panose="02020603050405020304" pitchFamily="18" charset="0"/>
              <a:cs typeface="Times New Roman" panose="02020603050405020304" pitchFamily="18" charset="0"/>
            </a:endParaRPr>
          </a:p>
        </p:txBody>
      </p:sp>
      <p:sp>
        <p:nvSpPr>
          <p:cNvPr id="11" name="Freeform 6"/>
          <p:cNvSpPr/>
          <p:nvPr/>
        </p:nvSpPr>
        <p:spPr bwMode="auto">
          <a:xfrm>
            <a:off x="105924" y="14300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2" name="Freeform 7"/>
          <p:cNvSpPr>
            <a:spLocks noEditPoints="1"/>
          </p:cNvSpPr>
          <p:nvPr/>
        </p:nvSpPr>
        <p:spPr bwMode="auto">
          <a:xfrm>
            <a:off x="566515" y="17870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3" name="Freeform 8"/>
          <p:cNvSpPr>
            <a:spLocks noEditPoints="1"/>
          </p:cNvSpPr>
          <p:nvPr/>
        </p:nvSpPr>
        <p:spPr bwMode="auto">
          <a:xfrm>
            <a:off x="595079" y="1351479"/>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4" name="Freeform 24"/>
          <p:cNvSpPr/>
          <p:nvPr>
            <p:custDataLst>
              <p:tags r:id="rId1"/>
            </p:custDataLst>
          </p:nvPr>
        </p:nvSpPr>
        <p:spPr bwMode="auto">
          <a:xfrm>
            <a:off x="4660081" y="3053068"/>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15" name="Freeform 26"/>
          <p:cNvSpPr/>
          <p:nvPr>
            <p:custDataLst>
              <p:tags r:id="rId2"/>
            </p:custDataLst>
          </p:nvPr>
        </p:nvSpPr>
        <p:spPr bwMode="auto">
          <a:xfrm>
            <a:off x="4660081" y="3873962"/>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16" name="Freeform 27">
            <a:hlinkClick r:id="rId3" action="ppaction://hlinksldjump"/>
          </p:cNvPr>
          <p:cNvSpPr/>
          <p:nvPr>
            <p:custDataLst>
              <p:tags r:id="rId4"/>
            </p:custDataLst>
          </p:nvPr>
        </p:nvSpPr>
        <p:spPr bwMode="auto">
          <a:xfrm>
            <a:off x="4075713" y="4709119"/>
            <a:ext cx="532002" cy="535572"/>
          </a:xfrm>
          <a:custGeom>
            <a:avLst/>
            <a:gdLst>
              <a:gd name="T0" fmla="*/ 91 w 865"/>
              <a:gd name="T1" fmla="*/ 0 h 866"/>
              <a:gd name="T2" fmla="*/ 774 w 865"/>
              <a:gd name="T3" fmla="*/ 0 h 866"/>
              <a:gd name="T4" fmla="*/ 865 w 865"/>
              <a:gd name="T5" fmla="*/ 91 h 866"/>
              <a:gd name="T6" fmla="*/ 865 w 865"/>
              <a:gd name="T7" fmla="*/ 775 h 866"/>
              <a:gd name="T8" fmla="*/ 774 w 865"/>
              <a:gd name="T9" fmla="*/ 866 h 866"/>
              <a:gd name="T10" fmla="*/ 91 w 865"/>
              <a:gd name="T11" fmla="*/ 866 h 866"/>
              <a:gd name="T12" fmla="*/ 0 w 865"/>
              <a:gd name="T13" fmla="*/ 775 h 866"/>
              <a:gd name="T14" fmla="*/ 0 w 865"/>
              <a:gd name="T15" fmla="*/ 91 h 866"/>
              <a:gd name="T16" fmla="*/ 91 w 865"/>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5" h="866">
                <a:moveTo>
                  <a:pt x="91" y="0"/>
                </a:moveTo>
                <a:lnTo>
                  <a:pt x="774" y="0"/>
                </a:lnTo>
                <a:cubicBezTo>
                  <a:pt x="824" y="0"/>
                  <a:pt x="865" y="41"/>
                  <a:pt x="865" y="91"/>
                </a:cubicBezTo>
                <a:lnTo>
                  <a:pt x="865" y="775"/>
                </a:lnTo>
                <a:cubicBezTo>
                  <a:pt x="865" y="825"/>
                  <a:pt x="824" y="866"/>
                  <a:pt x="774" y="866"/>
                </a:cubicBezTo>
                <a:lnTo>
                  <a:pt x="91" y="866"/>
                </a:lnTo>
                <a:cubicBezTo>
                  <a:pt x="41" y="866"/>
                  <a:pt x="0" y="825"/>
                  <a:pt x="0" y="775"/>
                </a:cubicBezTo>
                <a:lnTo>
                  <a:pt x="0" y="91"/>
                </a:lnTo>
                <a:cubicBezTo>
                  <a:pt x="0" y="41"/>
                  <a:pt x="41" y="0"/>
                  <a:pt x="91" y="0"/>
                </a:cubicBezTo>
                <a:close/>
              </a:path>
            </a:pathLst>
          </a:custGeom>
          <a:solidFill>
            <a:schemeClr val="bg1"/>
          </a:solidFill>
          <a:ln>
            <a:noFill/>
          </a:ln>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17" name="Freeform 28"/>
          <p:cNvSpPr/>
          <p:nvPr>
            <p:custDataLst>
              <p:tags r:id="rId5"/>
            </p:custDataLst>
          </p:nvPr>
        </p:nvSpPr>
        <p:spPr bwMode="auto">
          <a:xfrm>
            <a:off x="4660081" y="4709119"/>
            <a:ext cx="3361660" cy="535572"/>
          </a:xfrm>
          <a:custGeom>
            <a:avLst/>
            <a:gdLst>
              <a:gd name="T0" fmla="*/ 91 w 8683"/>
              <a:gd name="T1" fmla="*/ 0 h 866"/>
              <a:gd name="T2" fmla="*/ 8591 w 8683"/>
              <a:gd name="T3" fmla="*/ 0 h 866"/>
              <a:gd name="T4" fmla="*/ 8683 w 8683"/>
              <a:gd name="T5" fmla="*/ 91 h 866"/>
              <a:gd name="T6" fmla="*/ 8683 w 8683"/>
              <a:gd name="T7" fmla="*/ 775 h 866"/>
              <a:gd name="T8" fmla="*/ 8591 w 8683"/>
              <a:gd name="T9" fmla="*/ 866 h 866"/>
              <a:gd name="T10" fmla="*/ 91 w 8683"/>
              <a:gd name="T11" fmla="*/ 866 h 866"/>
              <a:gd name="T12" fmla="*/ 0 w 8683"/>
              <a:gd name="T13" fmla="*/ 775 h 866"/>
              <a:gd name="T14" fmla="*/ 0 w 8683"/>
              <a:gd name="T15" fmla="*/ 91 h 866"/>
              <a:gd name="T16" fmla="*/ 91 w 8683"/>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6">
                <a:moveTo>
                  <a:pt x="91" y="0"/>
                </a:moveTo>
                <a:lnTo>
                  <a:pt x="8591" y="0"/>
                </a:lnTo>
                <a:cubicBezTo>
                  <a:pt x="8642" y="0"/>
                  <a:pt x="8683" y="41"/>
                  <a:pt x="8683" y="91"/>
                </a:cubicBezTo>
                <a:lnTo>
                  <a:pt x="8683" y="775"/>
                </a:lnTo>
                <a:cubicBezTo>
                  <a:pt x="8683" y="825"/>
                  <a:pt x="8642" y="866"/>
                  <a:pt x="8591" y="866"/>
                </a:cubicBezTo>
                <a:lnTo>
                  <a:pt x="91" y="866"/>
                </a:lnTo>
                <a:cubicBezTo>
                  <a:pt x="41" y="866"/>
                  <a:pt x="0" y="825"/>
                  <a:pt x="0" y="775"/>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19" name="TextBox 47"/>
          <p:cNvSpPr txBox="1"/>
          <p:nvPr>
            <p:custDataLst>
              <p:tags r:id="rId6"/>
            </p:custDataLst>
          </p:nvPr>
        </p:nvSpPr>
        <p:spPr>
          <a:xfrm>
            <a:off x="4784388" y="3101648"/>
            <a:ext cx="2955963" cy="430887"/>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cs typeface="Times New Roman" panose="02020603050405020304" pitchFamily="18" charset="0"/>
              </a:rPr>
              <a:t>4.1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cs typeface="Times New Roman" panose="02020603050405020304" pitchFamily="18" charset="0"/>
              </a:rPr>
              <a:t>贪心法概述</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20" name="TextBox 48"/>
          <p:cNvSpPr txBox="1"/>
          <p:nvPr>
            <p:custDataLst>
              <p:tags r:id="rId7"/>
            </p:custDataLst>
          </p:nvPr>
        </p:nvSpPr>
        <p:spPr>
          <a:xfrm>
            <a:off x="4784388" y="3967185"/>
            <a:ext cx="2955963" cy="430887"/>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cs typeface="Times New Roman" panose="02020603050405020304" pitchFamily="18" charset="0"/>
              </a:rPr>
              <a:t>4.2 </a:t>
            </a:r>
            <a:r>
              <a:rPr lang="zh-CN" altLang="en-US" sz="2200" dirty="0">
                <a:solidFill>
                  <a:schemeClr val="tx2">
                    <a:lumMod val="75000"/>
                    <a:lumOff val="25000"/>
                  </a:schemeClr>
                </a:solidFill>
                <a:cs typeface="Times New Roman" panose="02020603050405020304" pitchFamily="18" charset="0"/>
              </a:rPr>
              <a:t>贪心法的应用</a:t>
            </a:r>
            <a:endParaRPr lang="zh-CN" altLang="en-US" sz="2200" dirty="0">
              <a:solidFill>
                <a:schemeClr val="tx2">
                  <a:lumMod val="75000"/>
                  <a:lumOff val="25000"/>
                </a:schemeClr>
              </a:solidFill>
              <a:cs typeface="Times New Roman" panose="02020603050405020304" pitchFamily="18" charset="0"/>
            </a:endParaRPr>
          </a:p>
        </p:txBody>
      </p:sp>
      <p:sp>
        <p:nvSpPr>
          <p:cNvPr id="21" name="TextBox 49"/>
          <p:cNvSpPr txBox="1"/>
          <p:nvPr>
            <p:custDataLst>
              <p:tags r:id="rId8"/>
            </p:custDataLst>
          </p:nvPr>
        </p:nvSpPr>
        <p:spPr>
          <a:xfrm>
            <a:off x="4784388" y="4753384"/>
            <a:ext cx="2955963" cy="430887"/>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cs typeface="Times New Roman" panose="02020603050405020304" pitchFamily="18" charset="0"/>
              </a:rPr>
              <a:t>4.3 </a:t>
            </a:r>
            <a:r>
              <a:rPr lang="zh-CN" altLang="en-US" sz="2200" dirty="0">
                <a:solidFill>
                  <a:schemeClr val="tx2">
                    <a:lumMod val="75000"/>
                    <a:lumOff val="25000"/>
                  </a:schemeClr>
                </a:solidFill>
                <a:cs typeface="Times New Roman" panose="02020603050405020304" pitchFamily="18" charset="0"/>
              </a:rPr>
              <a:t>贪心法分析与设计</a:t>
            </a:r>
            <a:endParaRPr lang="zh-CN" altLang="en-US" sz="2200" dirty="0">
              <a:solidFill>
                <a:schemeClr val="tx2">
                  <a:lumMod val="75000"/>
                  <a:lumOff val="25000"/>
                </a:schemeClr>
              </a:solidFill>
              <a:cs typeface="Times New Roman" panose="02020603050405020304" pitchFamily="18" charset="0"/>
            </a:endParaRPr>
          </a:p>
        </p:txBody>
      </p:sp>
      <p:pic>
        <p:nvPicPr>
          <p:cNvPr id="23" name="Picture 2" descr="E:\我的文档\Nipic_6852949_20110401101000478152.png"/>
          <p:cNvPicPr>
            <a:picLocks noChangeAspect="1" noChangeArrowheads="1"/>
          </p:cNvPicPr>
          <p:nvPr/>
        </p:nvPicPr>
        <p:blipFill rotWithShape="1">
          <a:blip r:embed="rId9" cstate="print">
            <a:extLst>
              <a:ext uri="{28A0092B-C50C-407E-A947-70E740481C1C}">
                <a14:useLocalDpi xmlns:a14="http://schemas.microsoft.com/office/drawing/2010/main" val="0"/>
              </a:ext>
            </a:extLst>
          </a:blip>
          <a:srcRect/>
          <a:stretch>
            <a:fillRect/>
          </a:stretch>
        </p:blipFill>
        <p:spPr bwMode="auto">
          <a:xfrm>
            <a:off x="582589" y="2710488"/>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4" name="Freeform 41"/>
          <p:cNvSpPr>
            <a:spLocks noEditPoints="1"/>
          </p:cNvSpPr>
          <p:nvPr>
            <p:custDataLst>
              <p:tags r:id="rId10"/>
            </p:custDataLst>
          </p:nvPr>
        </p:nvSpPr>
        <p:spPr bwMode="auto">
          <a:xfrm>
            <a:off x="4161356" y="3158141"/>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25" name="Freeform 47"/>
          <p:cNvSpPr>
            <a:spLocks noEditPoints="1"/>
          </p:cNvSpPr>
          <p:nvPr>
            <p:custDataLst>
              <p:tags r:id="rId11"/>
            </p:custDataLst>
          </p:nvPr>
        </p:nvSpPr>
        <p:spPr bwMode="auto">
          <a:xfrm>
            <a:off x="4213508" y="3967184"/>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26" name="Freeform 49"/>
          <p:cNvSpPr>
            <a:spLocks noEditPoints="1"/>
          </p:cNvSpPr>
          <p:nvPr>
            <p:custDataLst>
              <p:tags r:id="rId12"/>
            </p:custDataLst>
          </p:nvPr>
        </p:nvSpPr>
        <p:spPr bwMode="auto">
          <a:xfrm>
            <a:off x="4177291" y="4804716"/>
            <a:ext cx="328843" cy="352023"/>
          </a:xfrm>
          <a:custGeom>
            <a:avLst/>
            <a:gdLst>
              <a:gd name="T0" fmla="*/ 150 w 500"/>
              <a:gd name="T1" fmla="*/ 82 h 533"/>
              <a:gd name="T2" fmla="*/ 327 w 500"/>
              <a:gd name="T3" fmla="*/ 59 h 533"/>
              <a:gd name="T4" fmla="*/ 264 w 500"/>
              <a:gd name="T5" fmla="*/ 37 h 533"/>
              <a:gd name="T6" fmla="*/ 191 w 500"/>
              <a:gd name="T7" fmla="*/ 37 h 533"/>
              <a:gd name="T8" fmla="*/ 128 w 500"/>
              <a:gd name="T9" fmla="*/ 59 h 533"/>
              <a:gd name="T10" fmla="*/ 411 w 500"/>
              <a:gd name="T11" fmla="*/ 462 h 533"/>
              <a:gd name="T12" fmla="*/ 418 w 500"/>
              <a:gd name="T13" fmla="*/ 446 h 533"/>
              <a:gd name="T14" fmla="*/ 389 w 500"/>
              <a:gd name="T15" fmla="*/ 346 h 533"/>
              <a:gd name="T16" fmla="*/ 371 w 500"/>
              <a:gd name="T17" fmla="*/ 346 h 533"/>
              <a:gd name="T18" fmla="*/ 371 w 500"/>
              <a:gd name="T19" fmla="*/ 423 h 533"/>
              <a:gd name="T20" fmla="*/ 371 w 500"/>
              <a:gd name="T21" fmla="*/ 425 h 533"/>
              <a:gd name="T22" fmla="*/ 372 w 500"/>
              <a:gd name="T23" fmla="*/ 426 h 533"/>
              <a:gd name="T24" fmla="*/ 373 w 500"/>
              <a:gd name="T25" fmla="*/ 428 h 533"/>
              <a:gd name="T26" fmla="*/ 476 w 500"/>
              <a:gd name="T27" fmla="*/ 352 h 533"/>
              <a:gd name="T28" fmla="*/ 380 w 500"/>
              <a:gd name="T29" fmla="*/ 301 h 533"/>
              <a:gd name="T30" fmla="*/ 358 w 500"/>
              <a:gd name="T31" fmla="*/ 531 h 533"/>
              <a:gd name="T32" fmla="*/ 494 w 500"/>
              <a:gd name="T33" fmla="*/ 439 h 533"/>
              <a:gd name="T34" fmla="*/ 476 w 500"/>
              <a:gd name="T35" fmla="*/ 436 h 533"/>
              <a:gd name="T36" fmla="*/ 380 w 500"/>
              <a:gd name="T37" fmla="*/ 515 h 533"/>
              <a:gd name="T38" fmla="*/ 284 w 500"/>
              <a:gd name="T39" fmla="*/ 399 h 533"/>
              <a:gd name="T40" fmla="*/ 398 w 500"/>
              <a:gd name="T41" fmla="*/ 321 h 533"/>
              <a:gd name="T42" fmla="*/ 476 w 500"/>
              <a:gd name="T43" fmla="*/ 436 h 533"/>
              <a:gd name="T44" fmla="*/ 167 w 500"/>
              <a:gd name="T45" fmla="*/ 435 h 533"/>
              <a:gd name="T46" fmla="*/ 286 w 500"/>
              <a:gd name="T47" fmla="*/ 317 h 533"/>
              <a:gd name="T48" fmla="*/ 310 w 500"/>
              <a:gd name="T49" fmla="*/ 298 h 533"/>
              <a:gd name="T50" fmla="*/ 431 w 500"/>
              <a:gd name="T51" fmla="*/ 181 h 533"/>
              <a:gd name="T52" fmla="*/ 436 w 500"/>
              <a:gd name="T53" fmla="*/ 292 h 533"/>
              <a:gd name="T54" fmla="*/ 455 w 500"/>
              <a:gd name="T55" fmla="*/ 298 h 533"/>
              <a:gd name="T56" fmla="*/ 455 w 500"/>
              <a:gd name="T57" fmla="*/ 123 h 533"/>
              <a:gd name="T58" fmla="*/ 23 w 500"/>
              <a:gd name="T59" fmla="*/ 99 h 533"/>
              <a:gd name="T60" fmla="*/ 0 w 500"/>
              <a:gd name="T61" fmla="*/ 186 h 533"/>
              <a:gd name="T62" fmla="*/ 0 w 500"/>
              <a:gd name="T63" fmla="*/ 317 h 533"/>
              <a:gd name="T64" fmla="*/ 0 w 500"/>
              <a:gd name="T65" fmla="*/ 444 h 533"/>
              <a:gd name="T66" fmla="*/ 252 w 500"/>
              <a:gd name="T67" fmla="*/ 467 h 533"/>
              <a:gd name="T68" fmla="*/ 18 w 500"/>
              <a:gd name="T69" fmla="*/ 186 h 533"/>
              <a:gd name="T70" fmla="*/ 23 w 500"/>
              <a:gd name="T71" fmla="*/ 181 h 533"/>
              <a:gd name="T72" fmla="*/ 149 w 500"/>
              <a:gd name="T73" fmla="*/ 298 h 533"/>
              <a:gd name="T74" fmla="*/ 18 w 500"/>
              <a:gd name="T75" fmla="*/ 186 h 533"/>
              <a:gd name="T76" fmla="*/ 149 w 500"/>
              <a:gd name="T77" fmla="*/ 317 h 533"/>
              <a:gd name="T78" fmla="*/ 23 w 500"/>
              <a:gd name="T79" fmla="*/ 435 h 533"/>
              <a:gd name="T80" fmla="*/ 18 w 500"/>
              <a:gd name="T81" fmla="*/ 317 h 533"/>
              <a:gd name="T82" fmla="*/ 167 w 500"/>
              <a:gd name="T83" fmla="*/ 298 h 533"/>
              <a:gd name="T84" fmla="*/ 167 w 500"/>
              <a:gd name="T85" fmla="*/ 181 h 533"/>
              <a:gd name="T86" fmla="*/ 292 w 500"/>
              <a:gd name="T87" fmla="*/ 298 h 533"/>
              <a:gd name="T88" fmla="*/ 301 w 500"/>
              <a:gd name="T89" fmla="*/ 123 h 533"/>
              <a:gd name="T90" fmla="*/ 317 w 500"/>
              <a:gd name="T91" fmla="*/ 139 h 533"/>
              <a:gd name="T92" fmla="*/ 285 w 500"/>
              <a:gd name="T93" fmla="*/ 139 h 533"/>
              <a:gd name="T94" fmla="*/ 158 w 500"/>
              <a:gd name="T95" fmla="*/ 123 h 533"/>
              <a:gd name="T96" fmla="*/ 174 w 500"/>
              <a:gd name="T97" fmla="*/ 139 h 533"/>
              <a:gd name="T98" fmla="*/ 142 w 500"/>
              <a:gd name="T99" fmla="*/ 139 h 5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00" h="533">
                <a:moveTo>
                  <a:pt x="128" y="59"/>
                </a:moveTo>
                <a:cubicBezTo>
                  <a:pt x="128" y="72"/>
                  <a:pt x="138" y="82"/>
                  <a:pt x="150" y="82"/>
                </a:cubicBezTo>
                <a:lnTo>
                  <a:pt x="305" y="82"/>
                </a:lnTo>
                <a:cubicBezTo>
                  <a:pt x="317" y="82"/>
                  <a:pt x="327" y="72"/>
                  <a:pt x="327" y="59"/>
                </a:cubicBezTo>
                <a:cubicBezTo>
                  <a:pt x="327" y="47"/>
                  <a:pt x="317" y="37"/>
                  <a:pt x="305" y="37"/>
                </a:cubicBezTo>
                <a:lnTo>
                  <a:pt x="264" y="37"/>
                </a:lnTo>
                <a:cubicBezTo>
                  <a:pt x="264" y="17"/>
                  <a:pt x="247" y="0"/>
                  <a:pt x="227" y="0"/>
                </a:cubicBezTo>
                <a:cubicBezTo>
                  <a:pt x="207" y="0"/>
                  <a:pt x="191" y="17"/>
                  <a:pt x="191" y="37"/>
                </a:cubicBezTo>
                <a:lnTo>
                  <a:pt x="150" y="37"/>
                </a:lnTo>
                <a:cubicBezTo>
                  <a:pt x="138" y="37"/>
                  <a:pt x="128" y="47"/>
                  <a:pt x="128" y="59"/>
                </a:cubicBezTo>
                <a:close/>
                <a:moveTo>
                  <a:pt x="405" y="459"/>
                </a:moveTo>
                <a:cubicBezTo>
                  <a:pt x="406" y="461"/>
                  <a:pt x="409" y="462"/>
                  <a:pt x="411" y="462"/>
                </a:cubicBezTo>
                <a:cubicBezTo>
                  <a:pt x="414" y="462"/>
                  <a:pt x="416" y="461"/>
                  <a:pt x="418" y="459"/>
                </a:cubicBezTo>
                <a:cubicBezTo>
                  <a:pt x="421" y="456"/>
                  <a:pt x="421" y="450"/>
                  <a:pt x="418" y="446"/>
                </a:cubicBezTo>
                <a:lnTo>
                  <a:pt x="389" y="417"/>
                </a:lnTo>
                <a:lnTo>
                  <a:pt x="389" y="346"/>
                </a:lnTo>
                <a:cubicBezTo>
                  <a:pt x="389" y="341"/>
                  <a:pt x="385" y="337"/>
                  <a:pt x="380" y="337"/>
                </a:cubicBezTo>
                <a:cubicBezTo>
                  <a:pt x="375" y="337"/>
                  <a:pt x="371" y="341"/>
                  <a:pt x="371" y="346"/>
                </a:cubicBezTo>
                <a:lnTo>
                  <a:pt x="371" y="421"/>
                </a:lnTo>
                <a:cubicBezTo>
                  <a:pt x="371" y="422"/>
                  <a:pt x="371" y="423"/>
                  <a:pt x="371" y="423"/>
                </a:cubicBezTo>
                <a:cubicBezTo>
                  <a:pt x="371" y="423"/>
                  <a:pt x="371" y="424"/>
                  <a:pt x="371" y="424"/>
                </a:cubicBezTo>
                <a:cubicBezTo>
                  <a:pt x="371" y="424"/>
                  <a:pt x="371" y="425"/>
                  <a:pt x="371" y="425"/>
                </a:cubicBezTo>
                <a:cubicBezTo>
                  <a:pt x="371" y="425"/>
                  <a:pt x="372" y="425"/>
                  <a:pt x="372" y="426"/>
                </a:cubicBezTo>
                <a:cubicBezTo>
                  <a:pt x="372" y="426"/>
                  <a:pt x="372" y="426"/>
                  <a:pt x="372" y="426"/>
                </a:cubicBezTo>
                <a:cubicBezTo>
                  <a:pt x="372" y="427"/>
                  <a:pt x="373" y="427"/>
                  <a:pt x="373" y="428"/>
                </a:cubicBezTo>
                <a:cubicBezTo>
                  <a:pt x="373" y="428"/>
                  <a:pt x="373" y="428"/>
                  <a:pt x="373" y="428"/>
                </a:cubicBezTo>
                <a:lnTo>
                  <a:pt x="405" y="459"/>
                </a:lnTo>
                <a:close/>
                <a:moveTo>
                  <a:pt x="476" y="352"/>
                </a:moveTo>
                <a:cubicBezTo>
                  <a:pt x="458" y="327"/>
                  <a:pt x="432" y="309"/>
                  <a:pt x="402" y="303"/>
                </a:cubicBezTo>
                <a:cubicBezTo>
                  <a:pt x="394" y="302"/>
                  <a:pt x="387" y="301"/>
                  <a:pt x="380" y="301"/>
                </a:cubicBezTo>
                <a:cubicBezTo>
                  <a:pt x="324" y="301"/>
                  <a:pt x="276" y="341"/>
                  <a:pt x="266" y="396"/>
                </a:cubicBezTo>
                <a:cubicBezTo>
                  <a:pt x="254" y="458"/>
                  <a:pt x="295" y="519"/>
                  <a:pt x="358" y="531"/>
                </a:cubicBezTo>
                <a:cubicBezTo>
                  <a:pt x="365" y="533"/>
                  <a:pt x="373" y="533"/>
                  <a:pt x="380" y="533"/>
                </a:cubicBezTo>
                <a:cubicBezTo>
                  <a:pt x="435" y="533"/>
                  <a:pt x="483" y="494"/>
                  <a:pt x="494" y="439"/>
                </a:cubicBezTo>
                <a:cubicBezTo>
                  <a:pt x="500" y="409"/>
                  <a:pt x="493" y="378"/>
                  <a:pt x="476" y="352"/>
                </a:cubicBezTo>
                <a:close/>
                <a:moveTo>
                  <a:pt x="476" y="436"/>
                </a:moveTo>
                <a:lnTo>
                  <a:pt x="476" y="436"/>
                </a:lnTo>
                <a:cubicBezTo>
                  <a:pt x="467" y="482"/>
                  <a:pt x="427" y="515"/>
                  <a:pt x="380" y="515"/>
                </a:cubicBezTo>
                <a:cubicBezTo>
                  <a:pt x="374" y="515"/>
                  <a:pt x="368" y="515"/>
                  <a:pt x="361" y="514"/>
                </a:cubicBezTo>
                <a:cubicBezTo>
                  <a:pt x="308" y="503"/>
                  <a:pt x="273" y="452"/>
                  <a:pt x="284" y="399"/>
                </a:cubicBezTo>
                <a:cubicBezTo>
                  <a:pt x="292" y="353"/>
                  <a:pt x="333" y="319"/>
                  <a:pt x="380" y="319"/>
                </a:cubicBezTo>
                <a:cubicBezTo>
                  <a:pt x="386" y="319"/>
                  <a:pt x="392" y="320"/>
                  <a:pt x="398" y="321"/>
                </a:cubicBezTo>
                <a:cubicBezTo>
                  <a:pt x="424" y="326"/>
                  <a:pt x="446" y="341"/>
                  <a:pt x="461" y="362"/>
                </a:cubicBezTo>
                <a:cubicBezTo>
                  <a:pt x="476" y="384"/>
                  <a:pt x="481" y="410"/>
                  <a:pt x="476" y="436"/>
                </a:cubicBezTo>
                <a:close/>
                <a:moveTo>
                  <a:pt x="243" y="435"/>
                </a:moveTo>
                <a:lnTo>
                  <a:pt x="167" y="435"/>
                </a:lnTo>
                <a:lnTo>
                  <a:pt x="167" y="317"/>
                </a:lnTo>
                <a:lnTo>
                  <a:pt x="286" y="317"/>
                </a:lnTo>
                <a:cubicBezTo>
                  <a:pt x="293" y="310"/>
                  <a:pt x="302" y="304"/>
                  <a:pt x="311" y="298"/>
                </a:cubicBezTo>
                <a:lnTo>
                  <a:pt x="310" y="298"/>
                </a:lnTo>
                <a:lnTo>
                  <a:pt x="310" y="181"/>
                </a:lnTo>
                <a:lnTo>
                  <a:pt x="431" y="181"/>
                </a:lnTo>
                <a:cubicBezTo>
                  <a:pt x="434" y="181"/>
                  <a:pt x="436" y="183"/>
                  <a:pt x="436" y="186"/>
                </a:cubicBezTo>
                <a:lnTo>
                  <a:pt x="436" y="292"/>
                </a:lnTo>
                <a:cubicBezTo>
                  <a:pt x="443" y="295"/>
                  <a:pt x="449" y="298"/>
                  <a:pt x="455" y="302"/>
                </a:cubicBezTo>
                <a:lnTo>
                  <a:pt x="455" y="298"/>
                </a:lnTo>
                <a:lnTo>
                  <a:pt x="455" y="186"/>
                </a:lnTo>
                <a:lnTo>
                  <a:pt x="455" y="123"/>
                </a:lnTo>
                <a:cubicBezTo>
                  <a:pt x="455" y="110"/>
                  <a:pt x="444" y="99"/>
                  <a:pt x="431" y="99"/>
                </a:cubicBezTo>
                <a:lnTo>
                  <a:pt x="23" y="99"/>
                </a:lnTo>
                <a:cubicBezTo>
                  <a:pt x="10" y="99"/>
                  <a:pt x="0" y="110"/>
                  <a:pt x="0" y="123"/>
                </a:cubicBezTo>
                <a:lnTo>
                  <a:pt x="0" y="186"/>
                </a:lnTo>
                <a:lnTo>
                  <a:pt x="0" y="298"/>
                </a:lnTo>
                <a:lnTo>
                  <a:pt x="0" y="317"/>
                </a:lnTo>
                <a:lnTo>
                  <a:pt x="0" y="430"/>
                </a:lnTo>
                <a:lnTo>
                  <a:pt x="0" y="444"/>
                </a:lnTo>
                <a:cubicBezTo>
                  <a:pt x="0" y="457"/>
                  <a:pt x="10" y="467"/>
                  <a:pt x="23" y="467"/>
                </a:cubicBezTo>
                <a:lnTo>
                  <a:pt x="252" y="467"/>
                </a:lnTo>
                <a:cubicBezTo>
                  <a:pt x="247" y="457"/>
                  <a:pt x="245" y="446"/>
                  <a:pt x="243" y="435"/>
                </a:cubicBezTo>
                <a:close/>
                <a:moveTo>
                  <a:pt x="18" y="186"/>
                </a:moveTo>
                <a:lnTo>
                  <a:pt x="18" y="186"/>
                </a:lnTo>
                <a:cubicBezTo>
                  <a:pt x="18" y="183"/>
                  <a:pt x="21" y="181"/>
                  <a:pt x="23" y="181"/>
                </a:cubicBezTo>
                <a:lnTo>
                  <a:pt x="149" y="181"/>
                </a:lnTo>
                <a:lnTo>
                  <a:pt x="149" y="298"/>
                </a:lnTo>
                <a:lnTo>
                  <a:pt x="18" y="298"/>
                </a:lnTo>
                <a:lnTo>
                  <a:pt x="18" y="186"/>
                </a:lnTo>
                <a:close/>
                <a:moveTo>
                  <a:pt x="149" y="317"/>
                </a:moveTo>
                <a:lnTo>
                  <a:pt x="149" y="317"/>
                </a:lnTo>
                <a:lnTo>
                  <a:pt x="149" y="435"/>
                </a:lnTo>
                <a:lnTo>
                  <a:pt x="23" y="435"/>
                </a:lnTo>
                <a:cubicBezTo>
                  <a:pt x="21" y="435"/>
                  <a:pt x="18" y="432"/>
                  <a:pt x="18" y="430"/>
                </a:cubicBezTo>
                <a:lnTo>
                  <a:pt x="18" y="317"/>
                </a:lnTo>
                <a:lnTo>
                  <a:pt x="149" y="317"/>
                </a:lnTo>
                <a:close/>
                <a:moveTo>
                  <a:pt x="167" y="298"/>
                </a:moveTo>
                <a:lnTo>
                  <a:pt x="167" y="298"/>
                </a:lnTo>
                <a:lnTo>
                  <a:pt x="167" y="181"/>
                </a:lnTo>
                <a:lnTo>
                  <a:pt x="292" y="181"/>
                </a:lnTo>
                <a:lnTo>
                  <a:pt x="292" y="298"/>
                </a:lnTo>
                <a:lnTo>
                  <a:pt x="167" y="298"/>
                </a:lnTo>
                <a:close/>
                <a:moveTo>
                  <a:pt x="301" y="123"/>
                </a:moveTo>
                <a:lnTo>
                  <a:pt x="301" y="123"/>
                </a:lnTo>
                <a:cubicBezTo>
                  <a:pt x="310" y="123"/>
                  <a:pt x="317" y="130"/>
                  <a:pt x="317" y="139"/>
                </a:cubicBezTo>
                <a:cubicBezTo>
                  <a:pt x="317" y="148"/>
                  <a:pt x="310" y="155"/>
                  <a:pt x="301" y="155"/>
                </a:cubicBezTo>
                <a:cubicBezTo>
                  <a:pt x="292" y="155"/>
                  <a:pt x="285" y="148"/>
                  <a:pt x="285" y="139"/>
                </a:cubicBezTo>
                <a:cubicBezTo>
                  <a:pt x="285" y="130"/>
                  <a:pt x="292" y="123"/>
                  <a:pt x="301" y="123"/>
                </a:cubicBezTo>
                <a:close/>
                <a:moveTo>
                  <a:pt x="158" y="123"/>
                </a:moveTo>
                <a:lnTo>
                  <a:pt x="158" y="123"/>
                </a:lnTo>
                <a:cubicBezTo>
                  <a:pt x="167" y="123"/>
                  <a:pt x="174" y="130"/>
                  <a:pt x="174" y="139"/>
                </a:cubicBezTo>
                <a:cubicBezTo>
                  <a:pt x="174" y="148"/>
                  <a:pt x="167" y="155"/>
                  <a:pt x="158" y="155"/>
                </a:cubicBezTo>
                <a:cubicBezTo>
                  <a:pt x="149" y="155"/>
                  <a:pt x="142" y="148"/>
                  <a:pt x="142" y="139"/>
                </a:cubicBezTo>
                <a:cubicBezTo>
                  <a:pt x="142" y="130"/>
                  <a:pt x="149" y="123"/>
                  <a:pt x="158" y="123"/>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pic>
        <p:nvPicPr>
          <p:cNvPr id="27" name="图片 26"/>
          <p:cNvPicPr>
            <a:picLocks noChangeAspect="1"/>
          </p:cNvPicPr>
          <p:nvPr>
            <p:custDataLst>
              <p:tags r:id="rId13"/>
            </p:custDataLst>
          </p:nvPr>
        </p:nvPicPr>
        <p:blipFill>
          <a:blip r:embed="rId14"/>
          <a:stretch>
            <a:fillRect/>
          </a:stretch>
        </p:blipFill>
        <p:spPr>
          <a:xfrm>
            <a:off x="3896498" y="4694702"/>
            <a:ext cx="558000" cy="562768"/>
          </a:xfrm>
          <a:prstGeom prst="rect">
            <a:avLst/>
          </a:prstGeom>
        </p:spPr>
      </p:pic>
      <p:pic>
        <p:nvPicPr>
          <p:cNvPr id="28" name="图片 27"/>
          <p:cNvPicPr>
            <a:picLocks noChangeAspect="1"/>
          </p:cNvPicPr>
          <p:nvPr>
            <p:custDataLst>
              <p:tags r:id="rId15"/>
            </p:custDataLst>
          </p:nvPr>
        </p:nvPicPr>
        <p:blipFill>
          <a:blip r:embed="rId16"/>
          <a:stretch>
            <a:fillRect/>
          </a:stretch>
        </p:blipFill>
        <p:spPr>
          <a:xfrm>
            <a:off x="3872355" y="3862746"/>
            <a:ext cx="558000" cy="558000"/>
          </a:xfrm>
          <a:prstGeom prst="rect">
            <a:avLst/>
          </a:prstGeom>
        </p:spPr>
      </p:pic>
      <p:pic>
        <p:nvPicPr>
          <p:cNvPr id="29" name="图片 28"/>
          <p:cNvPicPr>
            <a:picLocks noChangeAspect="1"/>
          </p:cNvPicPr>
          <p:nvPr>
            <p:custDataLst>
              <p:tags r:id="rId17"/>
            </p:custDataLst>
          </p:nvPr>
        </p:nvPicPr>
        <p:blipFill>
          <a:blip r:embed="rId18"/>
          <a:stretch>
            <a:fillRect/>
          </a:stretch>
        </p:blipFill>
        <p:spPr>
          <a:xfrm>
            <a:off x="3885235" y="3053068"/>
            <a:ext cx="558000" cy="558000"/>
          </a:xfrm>
          <a:prstGeom prst="rect">
            <a:avLst/>
          </a:prstGeom>
        </p:spPr>
      </p:pic>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3"/>
          <p:cNvSpPr txBox="1">
            <a:spLocks noChangeArrowheads="1"/>
          </p:cNvSpPr>
          <p:nvPr/>
        </p:nvSpPr>
        <p:spPr>
          <a:xfrm>
            <a:off x="92023" y="1484908"/>
            <a:ext cx="8281988" cy="982662"/>
          </a:xfrm>
          <a:prstGeom prst="rect">
            <a:avLst/>
          </a:prstGeom>
        </p:spPr>
        <p:txBody>
          <a:bodyPr>
            <a:normAutofit/>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a:lnSpc>
                <a:spcPct val="120000"/>
              </a:lnSpc>
              <a:buNone/>
            </a:pPr>
            <a:r>
              <a:rPr lang="en-US" altLang="zh-CN"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4.1.1 </a:t>
            </a:r>
            <a:r>
              <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贪心算法法的思想</a:t>
            </a:r>
            <a:endPar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2" name="矩形 1"/>
          <p:cNvSpPr/>
          <p:nvPr/>
        </p:nvSpPr>
        <p:spPr>
          <a:xfrm>
            <a:off x="92075" y="2018030"/>
            <a:ext cx="4831080" cy="494030"/>
          </a:xfrm>
          <a:prstGeom prst="rect">
            <a:avLst/>
          </a:prstGeom>
        </p:spPr>
        <p:txBody>
          <a:bodyPr wrap="square">
            <a:noAutofit/>
          </a:bodyPr>
          <a:lstStyle/>
          <a:p>
            <a:pPr algn="l">
              <a:lnSpc>
                <a:spcPct val="150000"/>
              </a:lnSpc>
              <a:spcBef>
                <a:spcPts val="0"/>
              </a:spcBef>
              <a:spcAft>
                <a:spcPts val="0"/>
              </a:spcAft>
            </a:pPr>
            <a:r>
              <a:rPr lang="zh-CN" altLang="en-US" sz="2200" b="1" kern="100" dirty="0">
                <a:solidFill>
                  <a:srgbClr val="FF0000"/>
                </a:solidFill>
                <a:latin typeface="Times New Roman" panose="02020603050405020304" pitchFamily="18" charset="0"/>
                <a:cs typeface="Times New Roman" panose="02020603050405020304" pitchFamily="18" charset="0"/>
              </a:rPr>
              <a:t>贪心思想生活中你经常运用！！！</a:t>
            </a:r>
            <a:endParaRPr lang="zh-CN" altLang="en-US" sz="2200" b="1" kern="100" dirty="0">
              <a:solidFill>
                <a:srgbClr val="FF0000"/>
              </a:solidFill>
              <a:latin typeface="Times New Roman" panose="02020603050405020304" pitchFamily="18" charset="0"/>
              <a:cs typeface="Times New Roman" panose="02020603050405020304" pitchFamily="18" charset="0"/>
            </a:endParaRPr>
          </a:p>
        </p:txBody>
      </p:sp>
      <p:sp>
        <p:nvSpPr>
          <p:cNvPr id="11" name="Text Box 6"/>
          <p:cNvSpPr txBox="1">
            <a:spLocks noChangeArrowheads="1"/>
          </p:cNvSpPr>
          <p:nvPr/>
        </p:nvSpPr>
        <p:spPr bwMode="auto">
          <a:xfrm>
            <a:off x="2825362" y="959168"/>
            <a:ext cx="3529013" cy="579438"/>
          </a:xfrm>
          <a:prstGeom prst="rect">
            <a:avLst/>
          </a:prstGeom>
          <a:noFill/>
          <a:ln w="9525">
            <a:noFill/>
            <a:miter lim="800000"/>
          </a:ln>
          <a:effectLst/>
        </p:spPr>
        <p:txBody>
          <a:bodyPr>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4.1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pic>
        <p:nvPicPr>
          <p:cNvPr id="3" name="图片 2" descr="5e12fc02-4afa-4396-8960-7b2a4f83b6a6"/>
          <p:cNvPicPr>
            <a:picLocks noChangeAspect="1"/>
          </p:cNvPicPr>
          <p:nvPr/>
        </p:nvPicPr>
        <p:blipFill>
          <a:blip r:embed="rId1"/>
          <a:stretch>
            <a:fillRect/>
          </a:stretch>
        </p:blipFill>
        <p:spPr>
          <a:xfrm>
            <a:off x="1043940" y="2924810"/>
            <a:ext cx="2557780" cy="2557780"/>
          </a:xfrm>
          <a:prstGeom prst="rect">
            <a:avLst/>
          </a:prstGeom>
        </p:spPr>
      </p:pic>
      <p:pic>
        <p:nvPicPr>
          <p:cNvPr id="5" name="图片 4" descr="自助餐"/>
          <p:cNvPicPr>
            <a:picLocks noChangeAspect="1"/>
          </p:cNvPicPr>
          <p:nvPr/>
        </p:nvPicPr>
        <p:blipFill>
          <a:blip r:embed="rId2"/>
          <a:stretch>
            <a:fillRect/>
          </a:stretch>
        </p:blipFill>
        <p:spPr>
          <a:xfrm>
            <a:off x="5147945" y="2924810"/>
            <a:ext cx="2556000" cy="2556000"/>
          </a:xfrm>
          <a:prstGeom prst="rect">
            <a:avLst/>
          </a:prstGeom>
        </p:spPr>
      </p:pic>
      <p:sp>
        <p:nvSpPr>
          <p:cNvPr id="6" name="矩形 5"/>
          <p:cNvSpPr/>
          <p:nvPr/>
        </p:nvSpPr>
        <p:spPr>
          <a:xfrm>
            <a:off x="971550" y="5589270"/>
            <a:ext cx="4831080" cy="494030"/>
          </a:xfrm>
          <a:prstGeom prst="rect">
            <a:avLst/>
          </a:prstGeom>
        </p:spPr>
        <p:txBody>
          <a:bodyPr wrap="square">
            <a:noAutofit/>
          </a:bodyPr>
          <a:lstStyle/>
          <a:p>
            <a:pPr algn="l">
              <a:lnSpc>
                <a:spcPct val="150000"/>
              </a:lnSpc>
              <a:spcBef>
                <a:spcPts val="0"/>
              </a:spcBef>
              <a:spcAft>
                <a:spcPts val="0"/>
              </a:spcAft>
            </a:pPr>
            <a:r>
              <a:rPr lang="zh-CN" altLang="en-US" sz="2200" b="1" kern="100" dirty="0">
                <a:solidFill>
                  <a:srgbClr val="FF0000"/>
                </a:solidFill>
                <a:latin typeface="Times New Roman" panose="02020603050405020304" pitchFamily="18" charset="0"/>
                <a:cs typeface="Times New Roman" panose="02020603050405020304" pitchFamily="18" charset="0"/>
              </a:rPr>
              <a:t>（</a:t>
            </a:r>
            <a:r>
              <a:rPr lang="en-US" altLang="zh-CN" sz="2200" b="1" kern="100" dirty="0">
                <a:solidFill>
                  <a:srgbClr val="FF0000"/>
                </a:solidFill>
                <a:latin typeface="Times New Roman" panose="02020603050405020304" pitchFamily="18" charset="0"/>
                <a:cs typeface="Times New Roman" panose="02020603050405020304" pitchFamily="18" charset="0"/>
              </a:rPr>
              <a:t>1</a:t>
            </a:r>
            <a:r>
              <a:rPr lang="zh-CN" altLang="en-US" sz="2200" b="1" kern="100" dirty="0">
                <a:solidFill>
                  <a:srgbClr val="FF0000"/>
                </a:solidFill>
                <a:latin typeface="Times New Roman" panose="02020603050405020304" pitchFamily="18" charset="0"/>
                <a:cs typeface="Times New Roman" panose="02020603050405020304" pitchFamily="18" charset="0"/>
              </a:rPr>
              <a:t>）赚钱的烧烤生意</a:t>
            </a:r>
            <a:endParaRPr lang="zh-CN" altLang="en-US" sz="2200" b="1" kern="100" dirty="0">
              <a:solidFill>
                <a:srgbClr val="FF0000"/>
              </a:solidFill>
              <a:latin typeface="Times New Roman" panose="02020603050405020304" pitchFamily="18" charset="0"/>
              <a:cs typeface="Times New Roman" panose="02020603050405020304" pitchFamily="18" charset="0"/>
            </a:endParaRPr>
          </a:p>
        </p:txBody>
      </p:sp>
      <p:sp>
        <p:nvSpPr>
          <p:cNvPr id="7" name="矩形 6"/>
          <p:cNvSpPr/>
          <p:nvPr/>
        </p:nvSpPr>
        <p:spPr>
          <a:xfrm>
            <a:off x="4932045" y="5589270"/>
            <a:ext cx="4831080" cy="494030"/>
          </a:xfrm>
          <a:prstGeom prst="rect">
            <a:avLst/>
          </a:prstGeom>
        </p:spPr>
        <p:txBody>
          <a:bodyPr wrap="square">
            <a:noAutofit/>
          </a:bodyPr>
          <a:lstStyle/>
          <a:p>
            <a:pPr algn="l">
              <a:lnSpc>
                <a:spcPct val="150000"/>
              </a:lnSpc>
              <a:spcBef>
                <a:spcPts val="0"/>
              </a:spcBef>
              <a:spcAft>
                <a:spcPts val="0"/>
              </a:spcAft>
            </a:pPr>
            <a:r>
              <a:rPr lang="zh-CN" altLang="en-US" sz="2200" b="1" kern="100" dirty="0">
                <a:solidFill>
                  <a:srgbClr val="FF0000"/>
                </a:solidFill>
                <a:latin typeface="Times New Roman" panose="02020603050405020304" pitchFamily="18" charset="0"/>
                <a:cs typeface="Times New Roman" panose="02020603050405020304" pitchFamily="18" charset="0"/>
              </a:rPr>
              <a:t>（</a:t>
            </a:r>
            <a:r>
              <a:rPr lang="en-US" altLang="zh-CN" sz="2200" b="1" kern="100" dirty="0">
                <a:solidFill>
                  <a:srgbClr val="FF0000"/>
                </a:solidFill>
                <a:latin typeface="Times New Roman" panose="02020603050405020304" pitchFamily="18" charset="0"/>
                <a:cs typeface="Times New Roman" panose="02020603050405020304" pitchFamily="18" charset="0"/>
              </a:rPr>
              <a:t>2</a:t>
            </a:r>
            <a:r>
              <a:rPr lang="zh-CN" altLang="en-US" sz="2200" b="1" kern="100" dirty="0">
                <a:solidFill>
                  <a:srgbClr val="FF0000"/>
                </a:solidFill>
                <a:latin typeface="Times New Roman" panose="02020603050405020304" pitchFamily="18" charset="0"/>
                <a:cs typeface="Times New Roman" panose="02020603050405020304" pitchFamily="18" charset="0"/>
              </a:rPr>
              <a:t>）不亏本的自助餐</a:t>
            </a:r>
            <a:endParaRPr lang="zh-CN" altLang="en-US" sz="2200" b="1" kern="100" dirty="0">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3"/>
          <p:cNvSpPr txBox="1">
            <a:spLocks noChangeArrowheads="1"/>
          </p:cNvSpPr>
          <p:nvPr/>
        </p:nvSpPr>
        <p:spPr>
          <a:xfrm>
            <a:off x="-13387" y="1567458"/>
            <a:ext cx="8281988" cy="982662"/>
          </a:xfrm>
          <a:prstGeom prst="rect">
            <a:avLst/>
          </a:prstGeom>
        </p:spPr>
        <p:txBody>
          <a:bodyPr>
            <a:normAutofit/>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a:lnSpc>
                <a:spcPct val="120000"/>
              </a:lnSpc>
              <a:buNone/>
            </a:pPr>
            <a:r>
              <a:rPr lang="en-US" altLang="zh-CN"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4.1.1 </a:t>
            </a:r>
            <a:r>
              <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贪心算法法的思想</a:t>
            </a:r>
            <a:endPar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2" name="矩形 1"/>
          <p:cNvSpPr/>
          <p:nvPr/>
        </p:nvSpPr>
        <p:spPr>
          <a:xfrm>
            <a:off x="92075" y="2018030"/>
            <a:ext cx="4831080" cy="494030"/>
          </a:xfrm>
          <a:prstGeom prst="rect">
            <a:avLst/>
          </a:prstGeom>
        </p:spPr>
        <p:txBody>
          <a:bodyPr wrap="square">
            <a:noAutofit/>
          </a:bodyPr>
          <a:lstStyle/>
          <a:p>
            <a:pPr algn="l">
              <a:lnSpc>
                <a:spcPct val="150000"/>
              </a:lnSpc>
              <a:spcBef>
                <a:spcPts val="0"/>
              </a:spcBef>
              <a:spcAft>
                <a:spcPts val="0"/>
              </a:spcAft>
            </a:pPr>
            <a:r>
              <a:rPr lang="zh-CN" altLang="en-US" sz="2200" b="1" kern="100" dirty="0">
                <a:solidFill>
                  <a:srgbClr val="FF0000"/>
                </a:solidFill>
                <a:latin typeface="Times New Roman" panose="02020603050405020304" pitchFamily="18" charset="0"/>
                <a:cs typeface="Times New Roman" panose="02020603050405020304" pitchFamily="18" charset="0"/>
              </a:rPr>
              <a:t>上述两个问题引发的思考：</a:t>
            </a:r>
            <a:endParaRPr lang="zh-CN" altLang="en-US" sz="2200" b="1" kern="100" dirty="0">
              <a:solidFill>
                <a:srgbClr val="FF0000"/>
              </a:solidFill>
              <a:latin typeface="Times New Roman" panose="02020603050405020304" pitchFamily="18" charset="0"/>
              <a:cs typeface="Times New Roman" panose="02020603050405020304" pitchFamily="18" charset="0"/>
            </a:endParaRPr>
          </a:p>
        </p:txBody>
      </p:sp>
      <p:sp>
        <p:nvSpPr>
          <p:cNvPr id="11" name="Text Box 6"/>
          <p:cNvSpPr txBox="1">
            <a:spLocks noChangeArrowheads="1"/>
          </p:cNvSpPr>
          <p:nvPr/>
        </p:nvSpPr>
        <p:spPr bwMode="auto">
          <a:xfrm>
            <a:off x="2825362" y="959168"/>
            <a:ext cx="3529013" cy="579438"/>
          </a:xfrm>
          <a:prstGeom prst="rect">
            <a:avLst/>
          </a:prstGeom>
          <a:noFill/>
          <a:ln w="9525">
            <a:noFill/>
            <a:miter lim="800000"/>
          </a:ln>
          <a:effectLst/>
        </p:spPr>
        <p:txBody>
          <a:bodyPr>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4.1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4" name="矩形 3"/>
          <p:cNvSpPr/>
          <p:nvPr/>
        </p:nvSpPr>
        <p:spPr>
          <a:xfrm>
            <a:off x="157480" y="2492375"/>
            <a:ext cx="8732520" cy="568325"/>
          </a:xfrm>
          <a:prstGeom prst="rect">
            <a:avLst/>
          </a:prstGeom>
        </p:spPr>
        <p:txBody>
          <a:bodyPr wrap="square">
            <a:noAutofit/>
          </a:bodyPr>
          <a:lstStyle/>
          <a:p>
            <a:pPr algn="l">
              <a:lnSpc>
                <a:spcPct val="150000"/>
              </a:lnSpc>
              <a:spcBef>
                <a:spcPts val="0"/>
              </a:spcBef>
              <a:spcAft>
                <a:spcPts val="0"/>
              </a:spcAft>
            </a:pPr>
            <a:r>
              <a:rPr lang="zh-CN" altLang="en-US" sz="2200" b="1" kern="100" dirty="0">
                <a:solidFill>
                  <a:srgbClr val="FF0000"/>
                </a:solidFill>
                <a:latin typeface="Times New Roman" panose="02020603050405020304" pitchFamily="18" charset="0"/>
                <a:cs typeface="Times New Roman" panose="02020603050405020304" pitchFamily="18" charset="0"/>
              </a:rPr>
              <a:t>为了追求最大利益（也就是最优解），我们选择贪婪思想做事情</a:t>
            </a:r>
            <a:r>
              <a:rPr lang="en-US" altLang="zh-CN" sz="2200" b="1" kern="100" dirty="0">
                <a:solidFill>
                  <a:srgbClr val="FF0000"/>
                </a:solidFill>
                <a:latin typeface="Times New Roman" panose="02020603050405020304" pitchFamily="18" charset="0"/>
                <a:cs typeface="Times New Roman" panose="02020603050405020304" pitchFamily="18" charset="0"/>
              </a:rPr>
              <a:t>!</a:t>
            </a:r>
            <a:endParaRPr lang="en-US" altLang="zh-CN" sz="2200" b="1" kern="100" dirty="0">
              <a:solidFill>
                <a:srgbClr val="FF0000"/>
              </a:solidFill>
              <a:latin typeface="Times New Roman" panose="02020603050405020304" pitchFamily="18" charset="0"/>
              <a:cs typeface="Times New Roman" panose="02020603050405020304" pitchFamily="18" charset="0"/>
            </a:endParaRPr>
          </a:p>
        </p:txBody>
      </p:sp>
      <p:sp>
        <p:nvSpPr>
          <p:cNvPr id="8" name="矩形 7"/>
          <p:cNvSpPr/>
          <p:nvPr/>
        </p:nvSpPr>
        <p:spPr>
          <a:xfrm>
            <a:off x="323850" y="3284855"/>
            <a:ext cx="8867140" cy="668655"/>
          </a:xfrm>
          <a:prstGeom prst="rect">
            <a:avLst/>
          </a:prstGeom>
        </p:spPr>
        <p:txBody>
          <a:bodyPr wrap="square">
            <a:noAutofit/>
          </a:bodyPr>
          <a:lstStyle/>
          <a:p>
            <a:pPr algn="l">
              <a:lnSpc>
                <a:spcPct val="150000"/>
              </a:lnSpc>
              <a:spcBef>
                <a:spcPts val="0"/>
              </a:spcBef>
              <a:spcAft>
                <a:spcPts val="0"/>
              </a:spcAft>
            </a:pPr>
            <a:r>
              <a:rPr lang="zh-CN" altLang="en-US" sz="2200" b="1" kern="100" dirty="0">
                <a:solidFill>
                  <a:srgbClr val="FF0000"/>
                </a:solidFill>
                <a:latin typeface="Times New Roman" panose="02020603050405020304" pitchFamily="18" charset="0"/>
                <a:cs typeface="Times New Roman" panose="02020603050405020304" pitchFamily="18" charset="0"/>
              </a:rPr>
              <a:t>（</a:t>
            </a:r>
            <a:r>
              <a:rPr lang="en-US" altLang="zh-CN" sz="2200" b="1" kern="100" dirty="0">
                <a:solidFill>
                  <a:srgbClr val="FF0000"/>
                </a:solidFill>
                <a:latin typeface="Times New Roman" panose="02020603050405020304" pitchFamily="18" charset="0"/>
                <a:cs typeface="Times New Roman" panose="02020603050405020304" pitchFamily="18" charset="0"/>
              </a:rPr>
              <a:t>1</a:t>
            </a:r>
            <a:r>
              <a:rPr lang="zh-CN" altLang="en-US" sz="2200" b="1" kern="100" dirty="0">
                <a:solidFill>
                  <a:srgbClr val="FF0000"/>
                </a:solidFill>
                <a:latin typeface="Times New Roman" panose="02020603050405020304" pitchFamily="18" charset="0"/>
                <a:cs typeface="Times New Roman" panose="02020603050405020304" pitchFamily="18" charset="0"/>
              </a:rPr>
              <a:t>）烧烤生意：但是贪婪之后，能否是最优解？（顾客以后再也不来了）</a:t>
            </a:r>
            <a:endParaRPr lang="zh-CN" altLang="en-US" sz="2200" b="1" kern="100" dirty="0">
              <a:solidFill>
                <a:srgbClr val="FF0000"/>
              </a:solidFill>
              <a:latin typeface="Times New Roman" panose="02020603050405020304" pitchFamily="18" charset="0"/>
              <a:cs typeface="Times New Roman" panose="02020603050405020304" pitchFamily="18" charset="0"/>
            </a:endParaRPr>
          </a:p>
        </p:txBody>
      </p:sp>
      <p:sp>
        <p:nvSpPr>
          <p:cNvPr id="9" name="矩形 8"/>
          <p:cNvSpPr/>
          <p:nvPr/>
        </p:nvSpPr>
        <p:spPr>
          <a:xfrm>
            <a:off x="326390" y="4436745"/>
            <a:ext cx="8867140" cy="1426845"/>
          </a:xfrm>
          <a:prstGeom prst="rect">
            <a:avLst/>
          </a:prstGeom>
        </p:spPr>
        <p:txBody>
          <a:bodyPr wrap="square">
            <a:noAutofit/>
          </a:bodyPr>
          <a:lstStyle/>
          <a:p>
            <a:pPr algn="l">
              <a:lnSpc>
                <a:spcPct val="150000"/>
              </a:lnSpc>
              <a:spcBef>
                <a:spcPts val="0"/>
              </a:spcBef>
              <a:spcAft>
                <a:spcPts val="0"/>
              </a:spcAft>
            </a:pPr>
            <a:r>
              <a:rPr lang="zh-CN" altLang="en-US" sz="2200" b="1" kern="100" dirty="0">
                <a:solidFill>
                  <a:srgbClr val="FF0000"/>
                </a:solidFill>
                <a:latin typeface="Times New Roman" panose="02020603050405020304" pitchFamily="18" charset="0"/>
                <a:cs typeface="Times New Roman" panose="02020603050405020304" pitchFamily="18" charset="0"/>
              </a:rPr>
              <a:t>（</a:t>
            </a:r>
            <a:r>
              <a:rPr lang="en-US" altLang="zh-CN" sz="2200" b="1" kern="100" dirty="0">
                <a:solidFill>
                  <a:srgbClr val="FF0000"/>
                </a:solidFill>
                <a:latin typeface="Times New Roman" panose="02020603050405020304" pitchFamily="18" charset="0"/>
                <a:cs typeface="Times New Roman" panose="02020603050405020304" pitchFamily="18" charset="0"/>
              </a:rPr>
              <a:t>2</a:t>
            </a:r>
            <a:r>
              <a:rPr lang="zh-CN" altLang="en-US" sz="2200" b="1" kern="100" dirty="0">
                <a:solidFill>
                  <a:srgbClr val="FF0000"/>
                </a:solidFill>
                <a:latin typeface="Times New Roman" panose="02020603050405020304" pitchFamily="18" charset="0"/>
                <a:cs typeface="Times New Roman" panose="02020603050405020304" pitchFamily="18" charset="0"/>
              </a:rPr>
              <a:t>）</a:t>
            </a:r>
            <a:r>
              <a:rPr lang="zh-CN" altLang="en-US" sz="2200" b="1" kern="100" dirty="0">
                <a:solidFill>
                  <a:srgbClr val="FF0000"/>
                </a:solidFill>
                <a:latin typeface="Times New Roman" panose="02020603050405020304" pitchFamily="18" charset="0"/>
                <a:cs typeface="Times New Roman" panose="02020603050405020304" pitchFamily="18" charset="0"/>
                <a:sym typeface="+mn-ea"/>
              </a:rPr>
              <a:t>自助餐</a:t>
            </a:r>
            <a:r>
              <a:rPr lang="zh-CN" altLang="en-US" sz="2200" b="1" kern="100" dirty="0">
                <a:solidFill>
                  <a:srgbClr val="FF0000"/>
                </a:solidFill>
                <a:latin typeface="Times New Roman" panose="02020603050405020304" pitchFamily="18" charset="0"/>
                <a:cs typeface="Times New Roman" panose="02020603050405020304" pitchFamily="18" charset="0"/>
              </a:rPr>
              <a:t>：当你把你自认为贵的东西吃进肚子，能否是最优解？（需要证明）</a:t>
            </a:r>
            <a:endParaRPr lang="zh-CN" altLang="en-US" sz="2200" b="1" kern="100" dirty="0">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3"/>
          <p:cNvSpPr txBox="1">
            <a:spLocks noChangeArrowheads="1"/>
          </p:cNvSpPr>
          <p:nvPr/>
        </p:nvSpPr>
        <p:spPr>
          <a:xfrm>
            <a:off x="92023" y="1484908"/>
            <a:ext cx="8281988" cy="982662"/>
          </a:xfrm>
          <a:prstGeom prst="rect">
            <a:avLst/>
          </a:prstGeom>
        </p:spPr>
        <p:txBody>
          <a:bodyPr>
            <a:normAutofit/>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a:lnSpc>
                <a:spcPct val="120000"/>
              </a:lnSpc>
              <a:buNone/>
            </a:pPr>
            <a:r>
              <a:rPr lang="en-US" altLang="zh-CN"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4.1.2 </a:t>
            </a:r>
            <a:r>
              <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贪心算法的实例</a:t>
            </a:r>
            <a:endPar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11" name="Text Box 6"/>
          <p:cNvSpPr txBox="1">
            <a:spLocks noChangeArrowheads="1"/>
          </p:cNvSpPr>
          <p:nvPr/>
        </p:nvSpPr>
        <p:spPr bwMode="auto">
          <a:xfrm>
            <a:off x="2825362" y="959168"/>
            <a:ext cx="3529013" cy="579438"/>
          </a:xfrm>
          <a:prstGeom prst="rect">
            <a:avLst/>
          </a:prstGeom>
          <a:noFill/>
          <a:ln w="9525">
            <a:noFill/>
            <a:miter lim="800000"/>
          </a:ln>
          <a:effectLst/>
        </p:spPr>
        <p:txBody>
          <a:bodyPr>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4.1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4" name="矩形 3"/>
          <p:cNvSpPr/>
          <p:nvPr/>
        </p:nvSpPr>
        <p:spPr>
          <a:xfrm>
            <a:off x="611560" y="2875042"/>
            <a:ext cx="8017614" cy="1106805"/>
          </a:xfrm>
          <a:prstGeom prst="rect">
            <a:avLst/>
          </a:prstGeom>
        </p:spPr>
        <p:txBody>
          <a:bodyPr wrap="square">
            <a:sp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rPr>
              <a:t>        例如</a:t>
            </a:r>
            <a:r>
              <a:rPr lang="en-US" altLang="zh-CN" sz="2200" b="1" kern="100" dirty="0">
                <a:latin typeface="Times New Roman" panose="02020603050405020304" pitchFamily="18" charset="0"/>
                <a:cs typeface="Times New Roman" panose="02020603050405020304" pitchFamily="18" charset="0"/>
              </a:rPr>
              <a:t>1</a:t>
            </a:r>
            <a:r>
              <a:rPr lang="zh-CN" altLang="en-US" sz="2200" b="1" kern="100" dirty="0">
                <a:latin typeface="Times New Roman" panose="02020603050405020304" pitchFamily="18" charset="0"/>
                <a:cs typeface="Times New Roman" panose="02020603050405020304" pitchFamily="18" charset="0"/>
              </a:rPr>
              <a:t>：背包问题，背包承重</a:t>
            </a:r>
            <a:r>
              <a:rPr lang="en-US" altLang="zh-CN" sz="2200" b="1" kern="100" dirty="0">
                <a:latin typeface="Times New Roman" panose="02020603050405020304" pitchFamily="18" charset="0"/>
                <a:cs typeface="Times New Roman" panose="02020603050405020304" pitchFamily="18" charset="0"/>
              </a:rPr>
              <a:t>20kg,</a:t>
            </a:r>
            <a:r>
              <a:rPr lang="zh-CN" altLang="en-US" sz="2200" b="1" kern="100" dirty="0">
                <a:latin typeface="Times New Roman" panose="02020603050405020304" pitchFamily="18" charset="0"/>
                <a:cs typeface="Times New Roman" panose="02020603050405020304" pitchFamily="18" charset="0"/>
              </a:rPr>
              <a:t>有一些物品（如下表）可以装入背包，要求装入背包的物品的总价值最大。</a:t>
            </a:r>
            <a:endParaRPr lang="zh-CN" altLang="zh-CN" sz="2200" b="1" kern="100" dirty="0">
              <a:effectLst/>
              <a:latin typeface="Times New Roman" panose="02020603050405020304" pitchFamily="18" charset="0"/>
              <a:cs typeface="Times New Roman" panose="02020603050405020304" pitchFamily="18" charset="0"/>
            </a:endParaRPr>
          </a:p>
        </p:txBody>
      </p:sp>
      <p:graphicFrame>
        <p:nvGraphicFramePr>
          <p:cNvPr id="8" name="表格 7"/>
          <p:cNvGraphicFramePr>
            <a:graphicFrameLocks noGrp="1"/>
          </p:cNvGraphicFramePr>
          <p:nvPr/>
        </p:nvGraphicFramePr>
        <p:xfrm>
          <a:off x="2483768" y="4149214"/>
          <a:ext cx="3870607" cy="1851984"/>
        </p:xfrm>
        <a:graphic>
          <a:graphicData uri="http://schemas.openxmlformats.org/drawingml/2006/table">
            <a:tbl>
              <a:tblPr firstRow="1" firstCol="1" bandRow="1"/>
              <a:tblGrid>
                <a:gridCol w="1289595"/>
                <a:gridCol w="1290506"/>
                <a:gridCol w="1290506"/>
              </a:tblGrid>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物品名称</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重量（</a:t>
                      </a: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kg</a:t>
                      </a: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rPr>
                        <a:t>价值（元）</a:t>
                      </a:r>
                      <a:endPar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台灯</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600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扫描仪</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8</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2000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打印机</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1800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机箱</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3000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bl>
          </a:graphicData>
        </a:graphic>
      </p:graphicFrame>
      <p:sp>
        <p:nvSpPr>
          <p:cNvPr id="9" name="Rectangle 3"/>
          <p:cNvSpPr txBox="1">
            <a:spLocks noChangeArrowheads="1"/>
          </p:cNvSpPr>
          <p:nvPr/>
        </p:nvSpPr>
        <p:spPr>
          <a:xfrm>
            <a:off x="277443" y="2132608"/>
            <a:ext cx="8281988" cy="982662"/>
          </a:xfrm>
          <a:prstGeom prst="rect">
            <a:avLst/>
          </a:prstGeom>
        </p:spPr>
        <p:txBody>
          <a:bodyPr>
            <a:normAutofit fontScale="77500" lnSpcReduction="20000"/>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marL="0" indent="0" algn="l" latinLnBrk="0">
              <a:lnSpc>
                <a:spcPct val="120000"/>
              </a:lnSpc>
              <a:spcBef>
                <a:spcPts val="0"/>
              </a:spcBef>
              <a:buNone/>
            </a:pPr>
            <a:r>
              <a:rPr lang="en-US" altLang="zh-CN"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 </a:t>
            </a:r>
            <a:r>
              <a:rPr lang="zh-CN" altLang="en-US"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贪心算法概述：应对组合优化问题（在所有情况中寻找最优解的问题），把待解决的问题分成若干步骤时，每一步均</a:t>
            </a:r>
            <a:r>
              <a:rPr lang="en-US" altLang="zh-CN"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a:t>
            </a:r>
            <a:r>
              <a:rPr lang="zh-CN" altLang="en-US"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短视寻求最优解</a:t>
            </a:r>
            <a:r>
              <a:rPr lang="en-US" altLang="zh-CN"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a:t>
            </a:r>
            <a:r>
              <a:rPr lang="zh-CN" altLang="en-US"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，最后合并每一步解决问题。</a:t>
            </a:r>
            <a:endParaRPr lang="zh-CN" altLang="en-US"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12" name="矩形 11"/>
          <p:cNvSpPr/>
          <p:nvPr/>
        </p:nvSpPr>
        <p:spPr>
          <a:xfrm>
            <a:off x="541710" y="5696982"/>
            <a:ext cx="8017614" cy="706755"/>
          </a:xfrm>
          <a:prstGeom prst="rect">
            <a:avLst/>
          </a:prstGeom>
        </p:spPr>
        <p:txBody>
          <a:bodyPr wrap="square">
            <a:spAutoFit/>
          </a:bodyPr>
          <a:lstStyle/>
          <a:p>
            <a:pPr marL="0" indent="0" algn="just" latinLnBrk="0">
              <a:lnSpc>
                <a:spcPct val="10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rPr>
              <a:t>        </a:t>
            </a:r>
            <a:r>
              <a:rPr lang="zh-CN" altLang="en-US" sz="1800" b="1" kern="100" dirty="0">
                <a:latin typeface="Times New Roman" panose="02020603050405020304" pitchFamily="18" charset="0"/>
                <a:cs typeface="Times New Roman" panose="02020603050405020304" pitchFamily="18" charset="0"/>
              </a:rPr>
              <a:t>按照贪心策略：这个问题分成每一步，我每一步都是选择价值最高的物品存放（或者平均价值最高的贪心策略），最终得到问题最优解。</a:t>
            </a:r>
            <a:endParaRPr lang="zh-CN" altLang="en-US" sz="1800" b="1" kern="100" dirty="0">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402521" y="5229508"/>
            <a:ext cx="8352928" cy="1106805"/>
          </a:xfrm>
          <a:prstGeom prst="rect">
            <a:avLst/>
          </a:prstGeom>
        </p:spPr>
        <p:txBody>
          <a:bodyPr wrap="square">
            <a:sp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rPr>
              <a:t>思路：每次选一个课添加到候选课中，运用贪心策略此时有三种贪心策略①最早时间开始，②最短时间课程，</a:t>
            </a:r>
            <a:r>
              <a:rPr lang="zh-CN" altLang="en-US" sz="2200" b="1" kern="100" dirty="0">
                <a:latin typeface="Times New Roman" panose="02020603050405020304" pitchFamily="18" charset="0"/>
                <a:cs typeface="Times New Roman" panose="02020603050405020304" pitchFamily="18" charset="0"/>
                <a:sym typeface="+mn-ea"/>
              </a:rPr>
              <a:t>③最早时间结束</a:t>
            </a:r>
            <a:r>
              <a:rPr lang="zh-CN" altLang="en-US" sz="2200" b="1" kern="100" dirty="0">
                <a:latin typeface="Times New Roman" panose="02020603050405020304" pitchFamily="18" charset="0"/>
                <a:cs typeface="Times New Roman" panose="02020603050405020304" pitchFamily="18" charset="0"/>
              </a:rPr>
              <a:t>。</a:t>
            </a:r>
            <a:endParaRPr lang="zh-CN" altLang="en-US" sz="2200" b="1" kern="100" dirty="0">
              <a:latin typeface="Times New Roman" panose="02020603050405020304" pitchFamily="18" charset="0"/>
              <a:cs typeface="Times New Roman" panose="02020603050405020304" pitchFamily="18" charset="0"/>
            </a:endParaRPr>
          </a:p>
        </p:txBody>
      </p:sp>
      <p:pic>
        <p:nvPicPr>
          <p:cNvPr id="6" name="图片 5"/>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4427855" y="2564765"/>
            <a:ext cx="4467225" cy="1895475"/>
          </a:xfrm>
          <a:prstGeom prst="rect">
            <a:avLst/>
          </a:prstGeom>
        </p:spPr>
      </p:pic>
      <p:sp>
        <p:nvSpPr>
          <p:cNvPr id="4" name="矩形 3"/>
          <p:cNvSpPr/>
          <p:nvPr/>
        </p:nvSpPr>
        <p:spPr>
          <a:xfrm>
            <a:off x="558220" y="919877"/>
            <a:ext cx="8017614" cy="1106805"/>
          </a:xfrm>
          <a:prstGeom prst="rect">
            <a:avLst/>
          </a:prstGeom>
        </p:spPr>
        <p:txBody>
          <a:bodyPr wrap="square">
            <a:sp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rPr>
              <a:t>        例如</a:t>
            </a:r>
            <a:r>
              <a:rPr lang="en-US" altLang="zh-CN" sz="2200" b="1" kern="100" dirty="0">
                <a:latin typeface="Times New Roman" panose="02020603050405020304" pitchFamily="18" charset="0"/>
                <a:cs typeface="Times New Roman" panose="02020603050405020304" pitchFamily="18" charset="0"/>
              </a:rPr>
              <a:t>2</a:t>
            </a:r>
            <a:r>
              <a:rPr lang="zh-CN" altLang="en-US" sz="2200" b="1" kern="100" dirty="0">
                <a:latin typeface="Times New Roman" panose="02020603050405020304" pitchFamily="18" charset="0"/>
                <a:cs typeface="Times New Roman" panose="02020603050405020304" pitchFamily="18" charset="0"/>
              </a:rPr>
              <a:t>：教室调度问题。现在有如下课程表，需要你安排尽可能多的课程在某间教室上。</a:t>
            </a:r>
            <a:endParaRPr lang="zh-CN" altLang="zh-CN" sz="2200" b="1" kern="100" dirty="0">
              <a:effectLst/>
              <a:latin typeface="Times New Roman" panose="02020603050405020304" pitchFamily="18" charset="0"/>
              <a:cs typeface="Times New Roman" panose="02020603050405020304" pitchFamily="18" charset="0"/>
            </a:endParaRPr>
          </a:p>
        </p:txBody>
      </p:sp>
      <p:graphicFrame>
        <p:nvGraphicFramePr>
          <p:cNvPr id="8" name="表格 7"/>
          <p:cNvGraphicFramePr>
            <a:graphicFrameLocks noGrp="1"/>
          </p:cNvGraphicFramePr>
          <p:nvPr/>
        </p:nvGraphicFramePr>
        <p:xfrm>
          <a:off x="402873" y="2601719"/>
          <a:ext cx="3870607" cy="1851984"/>
        </p:xfrm>
        <a:graphic>
          <a:graphicData uri="http://schemas.openxmlformats.org/drawingml/2006/table">
            <a:tbl>
              <a:tblPr firstRow="1" firstCol="1" bandRow="1"/>
              <a:tblGrid>
                <a:gridCol w="1289595"/>
                <a:gridCol w="1290506"/>
                <a:gridCol w="1290506"/>
              </a:tblGrid>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课程名称</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开始时间</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结束时间</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高数</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8:00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9:30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电子商务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8:30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10:00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数据结构</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9:30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12:00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计算机基础</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10:00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11:00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C</a:t>
                      </a: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语言</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11:30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dirty="0">
                          <a:effectLst/>
                          <a:latin typeface="Times New Roman" panose="02020603050405020304" pitchFamily="18" charset="0"/>
                          <a:ea typeface="宋体" panose="02010600030101010101" pitchFamily="2" charset="-122"/>
                          <a:cs typeface="Times New Roman" panose="02020603050405020304" pitchFamily="18" charset="0"/>
                        </a:rPr>
                        <a:t>12:30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bl>
          </a:graphicData>
        </a:graphic>
      </p:graphicFrame>
    </p:spTree>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25686" y="1124868"/>
            <a:ext cx="8352928" cy="598805"/>
          </a:xfrm>
          <a:prstGeom prst="rect">
            <a:avLst/>
          </a:prstGeom>
        </p:spPr>
        <p:txBody>
          <a:bodyPr wrap="square">
            <a:sp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rPr>
              <a:t>思考：哪一种贪心策略能够找到最优解？</a:t>
            </a:r>
            <a:endParaRPr lang="zh-CN" altLang="en-US" sz="2200" b="1" kern="100" dirty="0">
              <a:latin typeface="Times New Roman" panose="02020603050405020304" pitchFamily="18" charset="0"/>
              <a:cs typeface="Times New Roman" panose="02020603050405020304" pitchFamily="18" charset="0"/>
            </a:endParaRPr>
          </a:p>
        </p:txBody>
      </p:sp>
      <p:pic>
        <p:nvPicPr>
          <p:cNvPr id="6" name="图片 5"/>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2268220" y="2060575"/>
            <a:ext cx="4467225" cy="1895475"/>
          </a:xfrm>
          <a:prstGeom prst="rect">
            <a:avLst/>
          </a:prstGeom>
        </p:spPr>
      </p:pic>
      <p:sp>
        <p:nvSpPr>
          <p:cNvPr id="2" name="文本框 1"/>
          <p:cNvSpPr txBox="1"/>
          <p:nvPr/>
        </p:nvSpPr>
        <p:spPr>
          <a:xfrm>
            <a:off x="467360" y="4364990"/>
            <a:ext cx="2428240" cy="1660525"/>
          </a:xfrm>
          <a:prstGeom prst="rect">
            <a:avLst/>
          </a:prstGeom>
          <a:noFill/>
        </p:spPr>
        <p:txBody>
          <a:bodyPr wrap="square" rtlCol="0" anchor="t">
            <a:no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①最早时间开始</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②最短时间课程</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③最早时间结束</a:t>
            </a:r>
            <a:endParaRPr lang="zh-CN" altLang="en-US" sz="2200" b="1" kern="100" dirty="0">
              <a:latin typeface="Times New Roman" panose="02020603050405020304" pitchFamily="18" charset="0"/>
              <a:cs typeface="Times New Roman" panose="02020603050405020304" pitchFamily="18" charset="0"/>
              <a:sym typeface="+mn-ea"/>
            </a:endParaRPr>
          </a:p>
        </p:txBody>
      </p:sp>
      <p:sp>
        <p:nvSpPr>
          <p:cNvPr id="3" name="右大括号 2"/>
          <p:cNvSpPr/>
          <p:nvPr/>
        </p:nvSpPr>
        <p:spPr>
          <a:xfrm>
            <a:off x="2581910" y="4646295"/>
            <a:ext cx="288290" cy="648335"/>
          </a:xfrm>
          <a:prstGeom prst="righ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2906395" y="4799330"/>
            <a:ext cx="3006090" cy="342265"/>
          </a:xfrm>
          <a:prstGeom prst="rect">
            <a:avLst/>
          </a:prstGeom>
          <a:noFill/>
        </p:spPr>
        <p:txBody>
          <a:bodyPr wrap="square" rtlCol="0">
            <a:noAutofit/>
          </a:bodyPr>
          <a:lstStyle/>
          <a:p>
            <a:r>
              <a:rPr lang="zh-CN" altLang="en-US">
                <a:solidFill>
                  <a:srgbClr val="FF0000"/>
                </a:solidFill>
                <a:latin typeface="Times New Roman" panose="02020603050405020304" pitchFamily="18" charset="0"/>
                <a:cs typeface="Times New Roman" panose="02020603050405020304" pitchFamily="18" charset="0"/>
              </a:rPr>
              <a:t>举反例可以证明不适用</a:t>
            </a:r>
            <a:endParaRPr lang="zh-CN" altLang="en-US">
              <a:solidFill>
                <a:srgbClr val="FF0000"/>
              </a:solidFill>
              <a:latin typeface="Times New Roman" panose="02020603050405020304" pitchFamily="18" charset="0"/>
              <a:cs typeface="Times New Roman" panose="02020603050405020304" pitchFamily="18" charset="0"/>
            </a:endParaRPr>
          </a:p>
        </p:txBody>
      </p:sp>
      <p:sp>
        <p:nvSpPr>
          <p:cNvPr id="9" name="文本框 8"/>
          <p:cNvSpPr txBox="1"/>
          <p:nvPr/>
        </p:nvSpPr>
        <p:spPr>
          <a:xfrm>
            <a:off x="2494280" y="5519420"/>
            <a:ext cx="3678555" cy="337185"/>
          </a:xfrm>
          <a:prstGeom prst="rect">
            <a:avLst/>
          </a:prstGeom>
          <a:noFill/>
        </p:spPr>
        <p:txBody>
          <a:bodyPr wrap="square" rtlCol="0">
            <a:noAutofit/>
          </a:bodyPr>
          <a:lstStyle/>
          <a:p>
            <a:r>
              <a:rPr lang="zh-CN" altLang="en-US">
                <a:solidFill>
                  <a:srgbClr val="FF0000"/>
                </a:solidFill>
                <a:latin typeface="Times New Roman" panose="02020603050405020304" pitchFamily="18" charset="0"/>
                <a:cs typeface="Times New Roman" panose="02020603050405020304" pitchFamily="18" charset="0"/>
              </a:rPr>
              <a:t>：用数学归纳法证明可以使用</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23850" y="836930"/>
            <a:ext cx="6769100" cy="873125"/>
          </a:xfrm>
          <a:prstGeom prst="rect">
            <a:avLst/>
          </a:prstGeom>
          <a:noFill/>
        </p:spPr>
        <p:txBody>
          <a:bodyPr wrap="square" rtlCol="0" anchor="t">
            <a:no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①最早时间开始</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endParaRPr lang="zh-CN" altLang="en-US" sz="2200" b="1" kern="100" dirty="0">
              <a:latin typeface="Times New Roman" panose="02020603050405020304" pitchFamily="18" charset="0"/>
              <a:cs typeface="Times New Roman" panose="02020603050405020304" pitchFamily="18" charset="0"/>
              <a:sym typeface="+mn-ea"/>
            </a:endParaRPr>
          </a:p>
        </p:txBody>
      </p:sp>
      <p:cxnSp>
        <p:nvCxnSpPr>
          <p:cNvPr id="8" name="直接连接符 7"/>
          <p:cNvCxnSpPr/>
          <p:nvPr/>
        </p:nvCxnSpPr>
        <p:spPr>
          <a:xfrm flipV="1">
            <a:off x="1547495" y="1844675"/>
            <a:ext cx="4723130" cy="5080"/>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9" name="直接连接符 8"/>
          <p:cNvCxnSpPr/>
          <p:nvPr/>
        </p:nvCxnSpPr>
        <p:spPr>
          <a:xfrm flipH="1">
            <a:off x="1691640" y="1847850"/>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0" name="直接连接符 9"/>
          <p:cNvCxnSpPr/>
          <p:nvPr/>
        </p:nvCxnSpPr>
        <p:spPr>
          <a:xfrm flipH="1">
            <a:off x="3181985" y="1849120"/>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1" name="直接连接符 10"/>
          <p:cNvCxnSpPr/>
          <p:nvPr/>
        </p:nvCxnSpPr>
        <p:spPr>
          <a:xfrm flipH="1">
            <a:off x="4528820" y="1850390"/>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2" name="直接连接符 11"/>
          <p:cNvCxnSpPr/>
          <p:nvPr/>
        </p:nvCxnSpPr>
        <p:spPr>
          <a:xfrm flipH="1">
            <a:off x="5947410" y="1851660"/>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sp>
        <p:nvSpPr>
          <p:cNvPr id="13" name="文本框 12"/>
          <p:cNvSpPr txBox="1"/>
          <p:nvPr/>
        </p:nvSpPr>
        <p:spPr>
          <a:xfrm>
            <a:off x="1403985" y="1483360"/>
            <a:ext cx="6115685" cy="368300"/>
          </a:xfrm>
          <a:prstGeom prst="rect">
            <a:avLst/>
          </a:prstGeom>
          <a:noFill/>
        </p:spPr>
        <p:txBody>
          <a:bodyPr wrap="square" rtlCol="0">
            <a:spAutoFit/>
          </a:bodyPr>
          <a:lstStyle/>
          <a:p>
            <a:r>
              <a:rPr lang="en-US" altLang="zh-CN">
                <a:latin typeface="Times New Roman" panose="02020603050405020304" pitchFamily="18" charset="0"/>
                <a:cs typeface="Times New Roman" panose="02020603050405020304" pitchFamily="18" charset="0"/>
              </a:rPr>
              <a:t>8:00                  10:00           12:00             14:00 </a:t>
            </a:r>
            <a:endParaRPr lang="en-US" altLang="zh-CN">
              <a:latin typeface="Times New Roman" panose="02020603050405020304" pitchFamily="18" charset="0"/>
              <a:cs typeface="Times New Roman" panose="02020603050405020304" pitchFamily="18" charset="0"/>
            </a:endParaRPr>
          </a:p>
        </p:txBody>
      </p:sp>
      <p:sp>
        <p:nvSpPr>
          <p:cNvPr id="14" name="矩形 13"/>
          <p:cNvSpPr/>
          <p:nvPr/>
        </p:nvSpPr>
        <p:spPr>
          <a:xfrm>
            <a:off x="1673860" y="2079625"/>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5" name="矩形 14"/>
          <p:cNvSpPr/>
          <p:nvPr/>
        </p:nvSpPr>
        <p:spPr>
          <a:xfrm>
            <a:off x="1908175" y="2823845"/>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矩形 15"/>
          <p:cNvSpPr/>
          <p:nvPr/>
        </p:nvSpPr>
        <p:spPr>
          <a:xfrm>
            <a:off x="2971800" y="3046095"/>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矩形 16"/>
          <p:cNvSpPr/>
          <p:nvPr/>
        </p:nvSpPr>
        <p:spPr>
          <a:xfrm>
            <a:off x="4035425" y="3366135"/>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8" name="矩形 17"/>
          <p:cNvSpPr/>
          <p:nvPr/>
        </p:nvSpPr>
        <p:spPr>
          <a:xfrm>
            <a:off x="2628265" y="2384425"/>
            <a:ext cx="3319780"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1821815" y="1814195"/>
            <a:ext cx="753745" cy="282575"/>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高数</a:t>
            </a:r>
            <a:endParaRPr lang="zh-CN" altLang="en-US" sz="1400">
              <a:latin typeface="Times New Roman" panose="02020603050405020304" pitchFamily="18" charset="0"/>
              <a:cs typeface="Times New Roman" panose="02020603050405020304" pitchFamily="18" charset="0"/>
            </a:endParaRPr>
          </a:p>
        </p:txBody>
      </p:sp>
      <p:sp>
        <p:nvSpPr>
          <p:cNvPr id="20" name="文本框 19"/>
          <p:cNvSpPr txBox="1"/>
          <p:nvPr/>
        </p:nvSpPr>
        <p:spPr>
          <a:xfrm>
            <a:off x="3707765" y="2101850"/>
            <a:ext cx="970915" cy="290830"/>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电子商务</a:t>
            </a:r>
            <a:endParaRPr lang="zh-CN" altLang="en-US" sz="1400">
              <a:latin typeface="Times New Roman" panose="02020603050405020304" pitchFamily="18" charset="0"/>
              <a:cs typeface="Times New Roman" panose="02020603050405020304" pitchFamily="18" charset="0"/>
            </a:endParaRPr>
          </a:p>
        </p:txBody>
      </p:sp>
      <p:sp>
        <p:nvSpPr>
          <p:cNvPr id="21" name="文本框 20"/>
          <p:cNvSpPr txBox="1"/>
          <p:nvPr/>
        </p:nvSpPr>
        <p:spPr>
          <a:xfrm>
            <a:off x="1944370" y="2553335"/>
            <a:ext cx="970915" cy="290830"/>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数据结构</a:t>
            </a:r>
            <a:endParaRPr lang="zh-CN" altLang="en-US" sz="1400">
              <a:latin typeface="Times New Roman" panose="02020603050405020304" pitchFamily="18" charset="0"/>
              <a:cs typeface="Times New Roman" panose="02020603050405020304" pitchFamily="18" charset="0"/>
            </a:endParaRPr>
          </a:p>
        </p:txBody>
      </p:sp>
      <p:sp>
        <p:nvSpPr>
          <p:cNvPr id="22" name="文本框 21"/>
          <p:cNvSpPr txBox="1"/>
          <p:nvPr/>
        </p:nvSpPr>
        <p:spPr>
          <a:xfrm>
            <a:off x="2937510" y="2744470"/>
            <a:ext cx="1172210" cy="308610"/>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计算机基础</a:t>
            </a:r>
            <a:endParaRPr lang="zh-CN" altLang="en-US" sz="1400">
              <a:latin typeface="Times New Roman" panose="02020603050405020304" pitchFamily="18" charset="0"/>
              <a:cs typeface="Times New Roman" panose="02020603050405020304" pitchFamily="18" charset="0"/>
            </a:endParaRPr>
          </a:p>
        </p:txBody>
      </p:sp>
      <p:sp>
        <p:nvSpPr>
          <p:cNvPr id="23" name="文本框 22"/>
          <p:cNvSpPr txBox="1"/>
          <p:nvPr/>
        </p:nvSpPr>
        <p:spPr>
          <a:xfrm>
            <a:off x="4106545" y="3035935"/>
            <a:ext cx="755650" cy="288925"/>
          </a:xfrm>
          <a:prstGeom prst="rect">
            <a:avLst/>
          </a:prstGeom>
          <a:noFill/>
        </p:spPr>
        <p:txBody>
          <a:bodyPr wrap="square" rtlCol="0">
            <a:noAutofit/>
          </a:bodyPr>
          <a:lstStyle/>
          <a:p>
            <a:r>
              <a:rPr lang="en-US" altLang="zh-CN" sz="1400">
                <a:latin typeface="Times New Roman" panose="02020603050405020304" pitchFamily="18" charset="0"/>
                <a:cs typeface="Times New Roman" panose="02020603050405020304" pitchFamily="18" charset="0"/>
              </a:rPr>
              <a:t>C</a:t>
            </a:r>
            <a:r>
              <a:rPr lang="zh-CN" altLang="en-US" sz="1400">
                <a:latin typeface="Times New Roman" panose="02020603050405020304" pitchFamily="18" charset="0"/>
                <a:cs typeface="Times New Roman" panose="02020603050405020304" pitchFamily="18" charset="0"/>
              </a:rPr>
              <a:t>语言</a:t>
            </a:r>
            <a:endParaRPr lang="zh-CN" altLang="en-US" sz="1400">
              <a:latin typeface="Times New Roman" panose="02020603050405020304" pitchFamily="18" charset="0"/>
              <a:cs typeface="Times New Roman" panose="02020603050405020304" pitchFamily="18" charset="0"/>
            </a:endParaRPr>
          </a:p>
        </p:txBody>
      </p:sp>
      <p:sp>
        <p:nvSpPr>
          <p:cNvPr id="25" name="流程图: 终止 24"/>
          <p:cNvSpPr/>
          <p:nvPr/>
        </p:nvSpPr>
        <p:spPr>
          <a:xfrm>
            <a:off x="1331595" y="1979295"/>
            <a:ext cx="5043170" cy="706120"/>
          </a:xfrm>
          <a:prstGeom prst="flowChartTerminator">
            <a:avLst/>
          </a:prstGeom>
          <a:noFill/>
          <a:ln w="952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云形标注 25"/>
          <p:cNvSpPr/>
          <p:nvPr/>
        </p:nvSpPr>
        <p:spPr>
          <a:xfrm>
            <a:off x="6300470" y="1628775"/>
            <a:ext cx="1877060" cy="891540"/>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rPr>
              <a:t>按照规则只有最优情况是两课安排</a:t>
            </a:r>
            <a:endPar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endParaRPr>
          </a:p>
        </p:txBody>
      </p:sp>
      <p:sp>
        <p:nvSpPr>
          <p:cNvPr id="27" name="文本框 26"/>
          <p:cNvSpPr txBox="1"/>
          <p:nvPr/>
        </p:nvSpPr>
        <p:spPr>
          <a:xfrm>
            <a:off x="395605" y="3861435"/>
            <a:ext cx="6769100" cy="873125"/>
          </a:xfrm>
          <a:prstGeom prst="rect">
            <a:avLst/>
          </a:prstGeom>
          <a:noFill/>
        </p:spPr>
        <p:txBody>
          <a:bodyPr wrap="square" rtlCol="0" anchor="t">
            <a:no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②最短时间课程</a:t>
            </a:r>
            <a:endParaRPr lang="zh-CN" altLang="en-US" sz="2200" b="1" kern="100" dirty="0">
              <a:latin typeface="Times New Roman" panose="02020603050405020304" pitchFamily="18" charset="0"/>
              <a:cs typeface="Times New Roman" panose="02020603050405020304" pitchFamily="18" charset="0"/>
              <a:sym typeface="+mn-ea"/>
            </a:endParaRPr>
          </a:p>
        </p:txBody>
      </p:sp>
      <p:cxnSp>
        <p:nvCxnSpPr>
          <p:cNvPr id="28" name="直接连接符 27"/>
          <p:cNvCxnSpPr/>
          <p:nvPr/>
        </p:nvCxnSpPr>
        <p:spPr>
          <a:xfrm flipV="1">
            <a:off x="1619250" y="4869180"/>
            <a:ext cx="4723130" cy="5080"/>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29" name="直接连接符 28"/>
          <p:cNvCxnSpPr/>
          <p:nvPr/>
        </p:nvCxnSpPr>
        <p:spPr>
          <a:xfrm flipH="1">
            <a:off x="1763395" y="487235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30" name="直接连接符 29"/>
          <p:cNvCxnSpPr/>
          <p:nvPr/>
        </p:nvCxnSpPr>
        <p:spPr>
          <a:xfrm flipH="1">
            <a:off x="3253740" y="487362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31" name="直接连接符 30"/>
          <p:cNvCxnSpPr/>
          <p:nvPr/>
        </p:nvCxnSpPr>
        <p:spPr>
          <a:xfrm flipH="1">
            <a:off x="4600575" y="487489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32" name="直接连接符 31"/>
          <p:cNvCxnSpPr/>
          <p:nvPr/>
        </p:nvCxnSpPr>
        <p:spPr>
          <a:xfrm flipH="1">
            <a:off x="6019165" y="487616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sp>
        <p:nvSpPr>
          <p:cNvPr id="33" name="文本框 32"/>
          <p:cNvSpPr txBox="1"/>
          <p:nvPr/>
        </p:nvSpPr>
        <p:spPr>
          <a:xfrm>
            <a:off x="1475740" y="4507865"/>
            <a:ext cx="6115685" cy="368300"/>
          </a:xfrm>
          <a:prstGeom prst="rect">
            <a:avLst/>
          </a:prstGeom>
          <a:noFill/>
        </p:spPr>
        <p:txBody>
          <a:bodyPr wrap="square" rtlCol="0">
            <a:spAutoFit/>
          </a:bodyPr>
          <a:lstStyle/>
          <a:p>
            <a:r>
              <a:rPr lang="en-US" altLang="zh-CN">
                <a:latin typeface="Times New Roman" panose="02020603050405020304" pitchFamily="18" charset="0"/>
                <a:cs typeface="Times New Roman" panose="02020603050405020304" pitchFamily="18" charset="0"/>
              </a:rPr>
              <a:t>8:00                  10:00           12:00             14:00 </a:t>
            </a:r>
            <a:endParaRPr lang="en-US" altLang="zh-CN">
              <a:latin typeface="Times New Roman" panose="02020603050405020304" pitchFamily="18" charset="0"/>
              <a:cs typeface="Times New Roman" panose="02020603050405020304" pitchFamily="18" charset="0"/>
            </a:endParaRPr>
          </a:p>
        </p:txBody>
      </p:sp>
      <p:sp>
        <p:nvSpPr>
          <p:cNvPr id="34" name="矩形 33"/>
          <p:cNvSpPr/>
          <p:nvPr/>
        </p:nvSpPr>
        <p:spPr>
          <a:xfrm>
            <a:off x="1745615" y="5104130"/>
            <a:ext cx="138620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5" name="矩形 34"/>
          <p:cNvSpPr/>
          <p:nvPr/>
        </p:nvSpPr>
        <p:spPr>
          <a:xfrm>
            <a:off x="2519680" y="6003925"/>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8" name="矩形 37"/>
          <p:cNvSpPr/>
          <p:nvPr/>
        </p:nvSpPr>
        <p:spPr>
          <a:xfrm>
            <a:off x="3204210" y="5417820"/>
            <a:ext cx="3319780"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9" name="文本框 38"/>
          <p:cNvSpPr txBox="1"/>
          <p:nvPr/>
        </p:nvSpPr>
        <p:spPr>
          <a:xfrm>
            <a:off x="1893570" y="4838700"/>
            <a:ext cx="753745" cy="282575"/>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高数</a:t>
            </a:r>
            <a:endParaRPr lang="zh-CN" altLang="en-US" sz="1400">
              <a:latin typeface="Times New Roman" panose="02020603050405020304" pitchFamily="18" charset="0"/>
              <a:cs typeface="Times New Roman" panose="02020603050405020304" pitchFamily="18" charset="0"/>
            </a:endParaRPr>
          </a:p>
        </p:txBody>
      </p:sp>
      <p:sp>
        <p:nvSpPr>
          <p:cNvPr id="40" name="文本框 39"/>
          <p:cNvSpPr txBox="1"/>
          <p:nvPr/>
        </p:nvSpPr>
        <p:spPr>
          <a:xfrm>
            <a:off x="3779520" y="5126355"/>
            <a:ext cx="970915" cy="290830"/>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电子商务</a:t>
            </a:r>
            <a:endParaRPr lang="zh-CN" altLang="en-US" sz="1400">
              <a:latin typeface="Times New Roman" panose="02020603050405020304" pitchFamily="18" charset="0"/>
              <a:cs typeface="Times New Roman" panose="02020603050405020304" pitchFamily="18" charset="0"/>
            </a:endParaRPr>
          </a:p>
        </p:txBody>
      </p:sp>
      <p:sp>
        <p:nvSpPr>
          <p:cNvPr id="41" name="文本框 40"/>
          <p:cNvSpPr txBox="1"/>
          <p:nvPr/>
        </p:nvSpPr>
        <p:spPr>
          <a:xfrm>
            <a:off x="2555875" y="5733415"/>
            <a:ext cx="970915" cy="290830"/>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数据结构</a:t>
            </a:r>
            <a:endParaRPr lang="zh-CN" altLang="en-US" sz="1400">
              <a:latin typeface="Times New Roman" panose="02020603050405020304" pitchFamily="18" charset="0"/>
              <a:cs typeface="Times New Roman" panose="02020603050405020304" pitchFamily="18" charset="0"/>
            </a:endParaRPr>
          </a:p>
        </p:txBody>
      </p:sp>
      <p:sp>
        <p:nvSpPr>
          <p:cNvPr id="45" name="云形标注 44"/>
          <p:cNvSpPr/>
          <p:nvPr/>
        </p:nvSpPr>
        <p:spPr>
          <a:xfrm>
            <a:off x="6372225" y="4653280"/>
            <a:ext cx="1877060" cy="891540"/>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rPr>
              <a:t>按照规则只有最优情况是一课安排</a:t>
            </a:r>
            <a:endPar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endParaRPr>
          </a:p>
        </p:txBody>
      </p:sp>
      <p:sp>
        <p:nvSpPr>
          <p:cNvPr id="46" name="流程图: 终止 45"/>
          <p:cNvSpPr/>
          <p:nvPr/>
        </p:nvSpPr>
        <p:spPr>
          <a:xfrm>
            <a:off x="2333625" y="5751830"/>
            <a:ext cx="1384935" cy="586105"/>
          </a:xfrm>
          <a:prstGeom prst="flowChartTerminator">
            <a:avLst/>
          </a:prstGeom>
          <a:noFill/>
          <a:ln w="952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 calcmode="lin" valueType="num">
                                      <p:cBhvr additive="base">
                                        <p:cTn id="7" dur="500" fill="hold"/>
                                        <p:tgtEl>
                                          <p:spTgt spid="25"/>
                                        </p:tgtEl>
                                        <p:attrNameLst>
                                          <p:attrName>ppt_x</p:attrName>
                                        </p:attrNameLst>
                                      </p:cBhvr>
                                      <p:tavLst>
                                        <p:tav tm="0">
                                          <p:val>
                                            <p:strVal val="#ppt_x"/>
                                          </p:val>
                                        </p:tav>
                                        <p:tav tm="100000">
                                          <p:val>
                                            <p:strVal val="#ppt_x"/>
                                          </p:val>
                                        </p:tav>
                                      </p:tavLst>
                                    </p:anim>
                                    <p:anim calcmode="lin" valueType="num">
                                      <p:cBhvr additive="base">
                                        <p:cTn id="8" dur="500" fill="hold"/>
                                        <p:tgtEl>
                                          <p:spTgt spid="2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anim calcmode="lin" valueType="num">
                                      <p:cBhvr additive="base">
                                        <p:cTn id="11" dur="500" fill="hold"/>
                                        <p:tgtEl>
                                          <p:spTgt spid="26"/>
                                        </p:tgtEl>
                                        <p:attrNameLst>
                                          <p:attrName>ppt_x</p:attrName>
                                        </p:attrNameLst>
                                      </p:cBhvr>
                                      <p:tavLst>
                                        <p:tav tm="0">
                                          <p:val>
                                            <p:strVal val="#ppt_x"/>
                                          </p:val>
                                        </p:tav>
                                        <p:tav tm="100000">
                                          <p:val>
                                            <p:strVal val="#ppt_x"/>
                                          </p:val>
                                        </p:tav>
                                      </p:tavLst>
                                    </p:anim>
                                    <p:anim calcmode="lin" valueType="num">
                                      <p:cBhvr additive="base">
                                        <p:cTn id="12"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46"/>
                                        </p:tgtEl>
                                        <p:attrNameLst>
                                          <p:attrName>style.visibility</p:attrName>
                                        </p:attrNameLst>
                                      </p:cBhvr>
                                      <p:to>
                                        <p:strVal val="visible"/>
                                      </p:to>
                                    </p:set>
                                    <p:anim calcmode="lin" valueType="num">
                                      <p:cBhvr additive="base">
                                        <p:cTn id="17" dur="500" fill="hold"/>
                                        <p:tgtEl>
                                          <p:spTgt spid="46"/>
                                        </p:tgtEl>
                                        <p:attrNameLst>
                                          <p:attrName>ppt_x</p:attrName>
                                        </p:attrNameLst>
                                      </p:cBhvr>
                                      <p:tavLst>
                                        <p:tav tm="0">
                                          <p:val>
                                            <p:strVal val="#ppt_x"/>
                                          </p:val>
                                        </p:tav>
                                        <p:tav tm="100000">
                                          <p:val>
                                            <p:strVal val="#ppt_x"/>
                                          </p:val>
                                        </p:tav>
                                      </p:tavLst>
                                    </p:anim>
                                    <p:anim calcmode="lin" valueType="num">
                                      <p:cBhvr additive="base">
                                        <p:cTn id="18" dur="500" fill="hold"/>
                                        <p:tgtEl>
                                          <p:spTgt spid="46"/>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45"/>
                                        </p:tgtEl>
                                        <p:attrNameLst>
                                          <p:attrName>style.visibility</p:attrName>
                                        </p:attrNameLst>
                                      </p:cBhvr>
                                      <p:to>
                                        <p:strVal val="visible"/>
                                      </p:to>
                                    </p:set>
                                    <p:anim calcmode="lin" valueType="num">
                                      <p:cBhvr additive="base">
                                        <p:cTn id="21" dur="500" fill="hold"/>
                                        <p:tgtEl>
                                          <p:spTgt spid="45"/>
                                        </p:tgtEl>
                                        <p:attrNameLst>
                                          <p:attrName>ppt_x</p:attrName>
                                        </p:attrNameLst>
                                      </p:cBhvr>
                                      <p:tavLst>
                                        <p:tav tm="0">
                                          <p:val>
                                            <p:strVal val="#ppt_x"/>
                                          </p:val>
                                        </p:tav>
                                        <p:tav tm="100000">
                                          <p:val>
                                            <p:strVal val="#ppt_x"/>
                                          </p:val>
                                        </p:tav>
                                      </p:tavLst>
                                    </p:anim>
                                    <p:anim calcmode="lin" valueType="num">
                                      <p:cBhvr additive="base">
                                        <p:cTn id="22" dur="500" fill="hold"/>
                                        <p:tgtEl>
                                          <p:spTgt spid="4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5" grpId="1" animBg="1"/>
      <p:bldP spid="26" grpId="0" animBg="1"/>
      <p:bldP spid="26" grpId="1" animBg="1"/>
      <p:bldP spid="45" grpId="0" animBg="1"/>
      <p:bldP spid="45" grpId="1" animBg="1"/>
      <p:bldP spid="46" grpId="0" animBg="1"/>
      <p:bldP spid="46"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23215" y="1052195"/>
            <a:ext cx="6769100" cy="873125"/>
          </a:xfrm>
          <a:prstGeom prst="rect">
            <a:avLst/>
          </a:prstGeom>
          <a:noFill/>
        </p:spPr>
        <p:txBody>
          <a:bodyPr wrap="square" rtlCol="0" anchor="t">
            <a:no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③最早时间结束的数学归纳法证明。</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endParaRPr lang="zh-CN" altLang="en-US" sz="2200" b="1" kern="100" dirty="0">
              <a:latin typeface="Times New Roman" panose="02020603050405020304" pitchFamily="18" charset="0"/>
              <a:cs typeface="Times New Roman" panose="02020603050405020304" pitchFamily="18" charset="0"/>
              <a:sym typeface="+mn-ea"/>
            </a:endParaRPr>
          </a:p>
        </p:txBody>
      </p:sp>
      <p:cxnSp>
        <p:nvCxnSpPr>
          <p:cNvPr id="8" name="直接连接符 7"/>
          <p:cNvCxnSpPr/>
          <p:nvPr/>
        </p:nvCxnSpPr>
        <p:spPr>
          <a:xfrm flipV="1">
            <a:off x="1547495" y="2059940"/>
            <a:ext cx="4723130" cy="5080"/>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9" name="直接连接符 8"/>
          <p:cNvCxnSpPr/>
          <p:nvPr/>
        </p:nvCxnSpPr>
        <p:spPr>
          <a:xfrm flipH="1">
            <a:off x="1691640" y="206311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0" name="直接连接符 9"/>
          <p:cNvCxnSpPr/>
          <p:nvPr/>
        </p:nvCxnSpPr>
        <p:spPr>
          <a:xfrm flipH="1">
            <a:off x="3181985" y="206438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1" name="直接连接符 10"/>
          <p:cNvCxnSpPr/>
          <p:nvPr/>
        </p:nvCxnSpPr>
        <p:spPr>
          <a:xfrm flipH="1">
            <a:off x="4528820" y="206565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2" name="直接连接符 11"/>
          <p:cNvCxnSpPr/>
          <p:nvPr/>
        </p:nvCxnSpPr>
        <p:spPr>
          <a:xfrm flipH="1">
            <a:off x="5947410" y="206692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sp>
        <p:nvSpPr>
          <p:cNvPr id="13" name="文本框 12"/>
          <p:cNvSpPr txBox="1"/>
          <p:nvPr/>
        </p:nvSpPr>
        <p:spPr>
          <a:xfrm>
            <a:off x="1403985" y="1698625"/>
            <a:ext cx="6115685" cy="368300"/>
          </a:xfrm>
          <a:prstGeom prst="rect">
            <a:avLst/>
          </a:prstGeom>
          <a:noFill/>
        </p:spPr>
        <p:txBody>
          <a:bodyPr wrap="square" rtlCol="0">
            <a:spAutoFit/>
          </a:bodyPr>
          <a:lstStyle/>
          <a:p>
            <a:r>
              <a:rPr lang="en-US" altLang="zh-CN">
                <a:latin typeface="Times New Roman" panose="02020603050405020304" pitchFamily="18" charset="0"/>
                <a:cs typeface="Times New Roman" panose="02020603050405020304" pitchFamily="18" charset="0"/>
              </a:rPr>
              <a:t>8:00                  10:00           12:00             14:00 </a:t>
            </a:r>
            <a:endParaRPr lang="en-US" altLang="zh-CN">
              <a:latin typeface="Times New Roman" panose="02020603050405020304" pitchFamily="18" charset="0"/>
              <a:cs typeface="Times New Roman" panose="02020603050405020304" pitchFamily="18" charset="0"/>
            </a:endParaRPr>
          </a:p>
        </p:txBody>
      </p:sp>
      <p:sp>
        <p:nvSpPr>
          <p:cNvPr id="14" name="矩形 13"/>
          <p:cNvSpPr/>
          <p:nvPr/>
        </p:nvSpPr>
        <p:spPr>
          <a:xfrm>
            <a:off x="1673860" y="2294890"/>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5" name="矩形 14"/>
          <p:cNvSpPr/>
          <p:nvPr/>
        </p:nvSpPr>
        <p:spPr>
          <a:xfrm>
            <a:off x="1908175" y="3039110"/>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矩形 15"/>
          <p:cNvSpPr/>
          <p:nvPr/>
        </p:nvSpPr>
        <p:spPr>
          <a:xfrm>
            <a:off x="2971800" y="3261360"/>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矩形 16"/>
          <p:cNvSpPr/>
          <p:nvPr/>
        </p:nvSpPr>
        <p:spPr>
          <a:xfrm>
            <a:off x="4035425" y="3581400"/>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8" name="矩形 17"/>
          <p:cNvSpPr/>
          <p:nvPr/>
        </p:nvSpPr>
        <p:spPr>
          <a:xfrm>
            <a:off x="2628265" y="2599690"/>
            <a:ext cx="3319780"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1821815" y="2029460"/>
            <a:ext cx="753745" cy="282575"/>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高数</a:t>
            </a:r>
            <a:endParaRPr lang="zh-CN" altLang="en-US" sz="1400">
              <a:latin typeface="Times New Roman" panose="02020603050405020304" pitchFamily="18" charset="0"/>
              <a:cs typeface="Times New Roman" panose="02020603050405020304" pitchFamily="18" charset="0"/>
            </a:endParaRPr>
          </a:p>
        </p:txBody>
      </p:sp>
      <p:sp>
        <p:nvSpPr>
          <p:cNvPr id="20" name="文本框 19"/>
          <p:cNvSpPr txBox="1"/>
          <p:nvPr/>
        </p:nvSpPr>
        <p:spPr>
          <a:xfrm>
            <a:off x="3707765" y="2317115"/>
            <a:ext cx="970915" cy="290830"/>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电子商务</a:t>
            </a:r>
            <a:endParaRPr lang="zh-CN" altLang="en-US" sz="1400">
              <a:latin typeface="Times New Roman" panose="02020603050405020304" pitchFamily="18" charset="0"/>
              <a:cs typeface="Times New Roman" panose="02020603050405020304" pitchFamily="18" charset="0"/>
            </a:endParaRPr>
          </a:p>
        </p:txBody>
      </p:sp>
      <p:sp>
        <p:nvSpPr>
          <p:cNvPr id="21" name="文本框 20"/>
          <p:cNvSpPr txBox="1"/>
          <p:nvPr/>
        </p:nvSpPr>
        <p:spPr>
          <a:xfrm>
            <a:off x="1944370" y="2768600"/>
            <a:ext cx="970915" cy="290830"/>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数据结构</a:t>
            </a:r>
            <a:endParaRPr lang="zh-CN" altLang="en-US" sz="1400">
              <a:latin typeface="Times New Roman" panose="02020603050405020304" pitchFamily="18" charset="0"/>
              <a:cs typeface="Times New Roman" panose="02020603050405020304" pitchFamily="18" charset="0"/>
            </a:endParaRPr>
          </a:p>
        </p:txBody>
      </p:sp>
      <p:sp>
        <p:nvSpPr>
          <p:cNvPr id="22" name="文本框 21"/>
          <p:cNvSpPr txBox="1"/>
          <p:nvPr/>
        </p:nvSpPr>
        <p:spPr>
          <a:xfrm>
            <a:off x="2937510" y="2959735"/>
            <a:ext cx="1172210" cy="308610"/>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计算机基础</a:t>
            </a:r>
            <a:endParaRPr lang="zh-CN" altLang="en-US" sz="1400">
              <a:latin typeface="Times New Roman" panose="02020603050405020304" pitchFamily="18" charset="0"/>
              <a:cs typeface="Times New Roman" panose="02020603050405020304" pitchFamily="18" charset="0"/>
            </a:endParaRPr>
          </a:p>
        </p:txBody>
      </p:sp>
      <p:sp>
        <p:nvSpPr>
          <p:cNvPr id="23" name="文本框 22"/>
          <p:cNvSpPr txBox="1"/>
          <p:nvPr/>
        </p:nvSpPr>
        <p:spPr>
          <a:xfrm>
            <a:off x="4106545" y="3251200"/>
            <a:ext cx="755650" cy="288925"/>
          </a:xfrm>
          <a:prstGeom prst="rect">
            <a:avLst/>
          </a:prstGeom>
          <a:noFill/>
        </p:spPr>
        <p:txBody>
          <a:bodyPr wrap="square" rtlCol="0">
            <a:noAutofit/>
          </a:bodyPr>
          <a:lstStyle/>
          <a:p>
            <a:r>
              <a:rPr lang="en-US" altLang="zh-CN" sz="1400">
                <a:latin typeface="Times New Roman" panose="02020603050405020304" pitchFamily="18" charset="0"/>
                <a:cs typeface="Times New Roman" panose="02020603050405020304" pitchFamily="18" charset="0"/>
              </a:rPr>
              <a:t>C</a:t>
            </a:r>
            <a:r>
              <a:rPr lang="zh-CN" altLang="en-US" sz="1400">
                <a:latin typeface="Times New Roman" panose="02020603050405020304" pitchFamily="18" charset="0"/>
                <a:cs typeface="Times New Roman" panose="02020603050405020304" pitchFamily="18" charset="0"/>
              </a:rPr>
              <a:t>语言</a:t>
            </a:r>
            <a:endParaRPr lang="zh-CN" altLang="en-US" sz="1400">
              <a:latin typeface="Times New Roman" panose="02020603050405020304" pitchFamily="18" charset="0"/>
              <a:cs typeface="Times New Roman" panose="02020603050405020304" pitchFamily="18" charset="0"/>
            </a:endParaRPr>
          </a:p>
        </p:txBody>
      </p:sp>
      <p:sp>
        <p:nvSpPr>
          <p:cNvPr id="25" name="流程图: 终止 24"/>
          <p:cNvSpPr/>
          <p:nvPr/>
        </p:nvSpPr>
        <p:spPr>
          <a:xfrm>
            <a:off x="1691640" y="2790825"/>
            <a:ext cx="3839210" cy="1079500"/>
          </a:xfrm>
          <a:prstGeom prst="flowChartTerminator">
            <a:avLst/>
          </a:prstGeom>
          <a:noFill/>
          <a:ln w="952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云形标注 25"/>
          <p:cNvSpPr/>
          <p:nvPr/>
        </p:nvSpPr>
        <p:spPr>
          <a:xfrm>
            <a:off x="6156325" y="2585720"/>
            <a:ext cx="1877060" cy="891540"/>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rPr>
              <a:t>按照规则只有最优情况是两课安排</a:t>
            </a:r>
            <a:endPar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endParaRPr>
          </a:p>
        </p:txBody>
      </p:sp>
      <p:sp>
        <p:nvSpPr>
          <p:cNvPr id="6" name="文本框 5"/>
          <p:cNvSpPr txBox="1"/>
          <p:nvPr/>
        </p:nvSpPr>
        <p:spPr>
          <a:xfrm>
            <a:off x="844550" y="4653280"/>
            <a:ext cx="7319010" cy="645160"/>
          </a:xfrm>
          <a:prstGeom prst="rect">
            <a:avLst/>
          </a:prstGeom>
          <a:noFill/>
        </p:spPr>
        <p:txBody>
          <a:bodyPr wrap="square" rtlCol="0">
            <a:spAutoFit/>
          </a:bodyPr>
          <a:lstStyle/>
          <a:p>
            <a:r>
              <a:rPr lang="zh-CN" altLang="en-US">
                <a:solidFill>
                  <a:srgbClr val="FF0000"/>
                </a:solidFill>
                <a:latin typeface="Times New Roman" panose="02020603050405020304" pitchFamily="18" charset="0"/>
                <a:cs typeface="Times New Roman" panose="02020603050405020304" pitchFamily="18" charset="0"/>
              </a:rPr>
              <a:t>按照这种策略找到了最优解，那么这种贪心策略是不是偶然找到最优答案呢？</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 calcmode="lin" valueType="num">
                                      <p:cBhvr additive="base">
                                        <p:cTn id="7" dur="500" fill="hold"/>
                                        <p:tgtEl>
                                          <p:spTgt spid="25"/>
                                        </p:tgtEl>
                                        <p:attrNameLst>
                                          <p:attrName>ppt_x</p:attrName>
                                        </p:attrNameLst>
                                      </p:cBhvr>
                                      <p:tavLst>
                                        <p:tav tm="0">
                                          <p:val>
                                            <p:strVal val="#ppt_x"/>
                                          </p:val>
                                        </p:tav>
                                        <p:tav tm="100000">
                                          <p:val>
                                            <p:strVal val="#ppt_x"/>
                                          </p:val>
                                        </p:tav>
                                      </p:tavLst>
                                    </p:anim>
                                    <p:anim calcmode="lin" valueType="num">
                                      <p:cBhvr additive="base">
                                        <p:cTn id="8" dur="500" fill="hold"/>
                                        <p:tgtEl>
                                          <p:spTgt spid="2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anim calcmode="lin" valueType="num">
                                      <p:cBhvr additive="base">
                                        <p:cTn id="11" dur="500" fill="hold"/>
                                        <p:tgtEl>
                                          <p:spTgt spid="26"/>
                                        </p:tgtEl>
                                        <p:attrNameLst>
                                          <p:attrName>ppt_x</p:attrName>
                                        </p:attrNameLst>
                                      </p:cBhvr>
                                      <p:tavLst>
                                        <p:tav tm="0">
                                          <p:val>
                                            <p:strVal val="#ppt_x"/>
                                          </p:val>
                                        </p:tav>
                                        <p:tav tm="100000">
                                          <p:val>
                                            <p:strVal val="#ppt_x"/>
                                          </p:val>
                                        </p:tav>
                                      </p:tavLst>
                                    </p:anim>
                                    <p:anim calcmode="lin" valueType="num">
                                      <p:cBhvr additive="base">
                                        <p:cTn id="12"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bldLvl="0" animBg="1"/>
      <p:bldP spid="25" grpId="1" animBg="1"/>
      <p:bldP spid="26" grpId="0" bldLvl="0" animBg="1"/>
      <p:bldP spid="26"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23215" y="1052195"/>
            <a:ext cx="8301990" cy="847725"/>
          </a:xfrm>
          <a:prstGeom prst="rect">
            <a:avLst/>
          </a:prstGeom>
          <a:noFill/>
        </p:spPr>
        <p:txBody>
          <a:bodyPr wrap="square" rtlCol="0" anchor="t">
            <a:no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那么贪心策略是否正确，需要证明，证明方法是数学归纳法。</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endParaRPr lang="zh-CN" altLang="en-US" sz="2200" b="1" kern="100" dirty="0">
              <a:latin typeface="Times New Roman" panose="02020603050405020304" pitchFamily="18" charset="0"/>
              <a:cs typeface="Times New Roman" panose="02020603050405020304" pitchFamily="18" charset="0"/>
              <a:sym typeface="+mn-ea"/>
            </a:endParaRPr>
          </a:p>
        </p:txBody>
      </p:sp>
      <p:sp>
        <p:nvSpPr>
          <p:cNvPr id="4" name="文本框 3"/>
          <p:cNvSpPr txBox="1"/>
          <p:nvPr/>
        </p:nvSpPr>
        <p:spPr>
          <a:xfrm>
            <a:off x="555625" y="1917065"/>
            <a:ext cx="7836535" cy="1455420"/>
          </a:xfrm>
          <a:prstGeom prst="rect">
            <a:avLst/>
          </a:prstGeom>
          <a:noFill/>
        </p:spPr>
        <p:txBody>
          <a:bodyPr wrap="square" rtlCol="0" anchor="t">
            <a:no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例举一个数学题目来说明什么是数学归纳法</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若</a:t>
            </a:r>
            <a:r>
              <a:rPr lang="en-US" altLang="zh-CN" sz="2200" b="1" kern="100" dirty="0">
                <a:latin typeface="Times New Roman" panose="02020603050405020304" pitchFamily="18" charset="0"/>
                <a:cs typeface="Times New Roman" panose="02020603050405020304" pitchFamily="18" charset="0"/>
                <a:sym typeface="+mn-ea"/>
              </a:rPr>
              <a:t>n</a:t>
            </a:r>
            <a:r>
              <a:rPr lang="zh-CN" altLang="en-US" sz="2200" b="1" kern="100" dirty="0">
                <a:latin typeface="Times New Roman" panose="02020603050405020304" pitchFamily="18" charset="0"/>
                <a:cs typeface="Times New Roman" panose="02020603050405020304" pitchFamily="18" charset="0"/>
                <a:sym typeface="+mn-ea"/>
              </a:rPr>
              <a:t>为大于</a:t>
            </a:r>
            <a:r>
              <a:rPr lang="en-US" altLang="zh-CN" sz="2200" b="1" kern="100" dirty="0">
                <a:latin typeface="Times New Roman" panose="02020603050405020304" pitchFamily="18" charset="0"/>
                <a:cs typeface="Times New Roman" panose="02020603050405020304" pitchFamily="18" charset="0"/>
                <a:sym typeface="+mn-ea"/>
              </a:rPr>
              <a:t>1</a:t>
            </a:r>
            <a:r>
              <a:rPr lang="zh-CN" altLang="en-US" sz="2200" b="1" kern="100" dirty="0">
                <a:latin typeface="Times New Roman" panose="02020603050405020304" pitchFamily="18" charset="0"/>
                <a:cs typeface="Times New Roman" panose="02020603050405020304" pitchFamily="18" charset="0"/>
                <a:sym typeface="+mn-ea"/>
              </a:rPr>
              <a:t>的自然数，求证：</a:t>
            </a:r>
            <a:endParaRPr lang="zh-CN" altLang="en-US" sz="2200" b="1" kern="100" dirty="0">
              <a:latin typeface="Times New Roman" panose="02020603050405020304" pitchFamily="18" charset="0"/>
              <a:cs typeface="Times New Roman" panose="02020603050405020304" pitchFamily="18" charset="0"/>
              <a:sym typeface="+mn-ea"/>
            </a:endParaRPr>
          </a:p>
        </p:txBody>
      </p:sp>
      <p:graphicFrame>
        <p:nvGraphicFramePr>
          <p:cNvPr id="3" name="对象 2">
            <a:hlinkClick r:id="" action="ppaction://ole?verb=0"/>
          </p:cNvPr>
          <p:cNvGraphicFramePr>
            <a:graphicFrameLocks noChangeAspect="1"/>
          </p:cNvGraphicFramePr>
          <p:nvPr/>
        </p:nvGraphicFramePr>
        <p:xfrm>
          <a:off x="4259898" y="2476183"/>
          <a:ext cx="3529330" cy="549910"/>
        </p:xfrm>
        <a:graphic>
          <a:graphicData uri="http://schemas.openxmlformats.org/presentationml/2006/ole">
            <mc:AlternateContent xmlns:mc="http://schemas.openxmlformats.org/markup-compatibility/2006">
              <mc:Choice xmlns:v="urn:schemas-microsoft-com:vml" Requires="v">
                <p:oleObj spid="_x0000_s1047" name="" r:id="rId1" imgW="2691765" imgH="419100" progId="Equation.KSEE3">
                  <p:embed/>
                </p:oleObj>
              </mc:Choice>
              <mc:Fallback>
                <p:oleObj name="" r:id="rId1" imgW="2691765" imgH="419100" progId="Equation.KSEE3">
                  <p:embed/>
                  <p:pic>
                    <p:nvPicPr>
                      <p:cNvPr id="0" name="图片 1024"/>
                      <p:cNvPicPr/>
                      <p:nvPr/>
                    </p:nvPicPr>
                    <p:blipFill>
                      <a:blip r:embed="rId2"/>
                      <a:stretch>
                        <a:fillRect/>
                      </a:stretch>
                    </p:blipFill>
                    <p:spPr>
                      <a:xfrm>
                        <a:off x="4259898" y="2476183"/>
                        <a:ext cx="3529330" cy="549910"/>
                      </a:xfrm>
                      <a:prstGeom prst="rect">
                        <a:avLst/>
                      </a:prstGeom>
                    </p:spPr>
                  </p:pic>
                </p:oleObj>
              </mc:Fallback>
            </mc:AlternateContent>
          </a:graphicData>
        </a:graphic>
      </p:graphicFrame>
      <p:sp>
        <p:nvSpPr>
          <p:cNvPr id="6" name="文本框 5"/>
          <p:cNvSpPr txBox="1"/>
          <p:nvPr/>
        </p:nvSpPr>
        <p:spPr>
          <a:xfrm>
            <a:off x="443865" y="3213100"/>
            <a:ext cx="2764155" cy="432435"/>
          </a:xfrm>
          <a:prstGeom prst="rect">
            <a:avLst/>
          </a:prstGeom>
          <a:noFill/>
        </p:spPr>
        <p:txBody>
          <a:bodyPr wrap="square" rtlCol="0">
            <a:noAutofit/>
          </a:bodyPr>
          <a:lstStyle/>
          <a:p>
            <a:r>
              <a:rPr lang="zh-CN" altLang="en-US">
                <a:latin typeface="Times New Roman" panose="02020603050405020304" pitchFamily="18" charset="0"/>
                <a:cs typeface="Times New Roman" panose="02020603050405020304" pitchFamily="18" charset="0"/>
              </a:rPr>
              <a:t>首先，首项符合定理：</a:t>
            </a:r>
            <a:endParaRPr lang="zh-CN" altLang="en-US">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p:txBody>
      </p:sp>
      <p:graphicFrame>
        <p:nvGraphicFramePr>
          <p:cNvPr id="7" name="对象 6">
            <a:hlinkClick r:id="" action="ppaction://ole?verb=0"/>
          </p:cNvPr>
          <p:cNvGraphicFramePr>
            <a:graphicFrameLocks noChangeAspect="1"/>
          </p:cNvGraphicFramePr>
          <p:nvPr/>
        </p:nvGraphicFramePr>
        <p:xfrm>
          <a:off x="2807970" y="3213100"/>
          <a:ext cx="1016000" cy="393700"/>
        </p:xfrm>
        <a:graphic>
          <a:graphicData uri="http://schemas.openxmlformats.org/presentationml/2006/ole">
            <mc:AlternateContent xmlns:mc="http://schemas.openxmlformats.org/markup-compatibility/2006">
              <mc:Choice xmlns:v="urn:schemas-microsoft-com:vml" Requires="v">
                <p:oleObj spid="_x0000_s1048" name="" r:id="rId3" imgW="1016000" imgH="393700" progId="Equation.KSEE3">
                  <p:embed/>
                </p:oleObj>
              </mc:Choice>
              <mc:Fallback>
                <p:oleObj name="" r:id="rId3" imgW="1016000" imgH="393700" progId="Equation.KSEE3">
                  <p:embed/>
                  <p:pic>
                    <p:nvPicPr>
                      <p:cNvPr id="0" name="图片 1025"/>
                      <p:cNvPicPr/>
                      <p:nvPr/>
                    </p:nvPicPr>
                    <p:blipFill>
                      <a:blip r:embed="rId4"/>
                      <a:stretch>
                        <a:fillRect/>
                      </a:stretch>
                    </p:blipFill>
                    <p:spPr>
                      <a:xfrm>
                        <a:off x="2807970" y="3213100"/>
                        <a:ext cx="1016000" cy="393700"/>
                      </a:xfrm>
                      <a:prstGeom prst="rect">
                        <a:avLst/>
                      </a:prstGeom>
                    </p:spPr>
                  </p:pic>
                </p:oleObj>
              </mc:Fallback>
            </mc:AlternateContent>
          </a:graphicData>
        </a:graphic>
      </p:graphicFrame>
      <p:graphicFrame>
        <p:nvGraphicFramePr>
          <p:cNvPr id="24" name="对象 23">
            <a:hlinkClick r:id="" action="ppaction://ole?verb=0"/>
          </p:cNvPr>
          <p:cNvGraphicFramePr>
            <a:graphicFrameLocks noChangeAspect="1"/>
          </p:cNvGraphicFramePr>
          <p:nvPr/>
        </p:nvGraphicFramePr>
        <p:xfrm>
          <a:off x="3978275" y="3213100"/>
          <a:ext cx="1435100" cy="393700"/>
        </p:xfrm>
        <a:graphic>
          <a:graphicData uri="http://schemas.openxmlformats.org/presentationml/2006/ole">
            <mc:AlternateContent xmlns:mc="http://schemas.openxmlformats.org/markup-compatibility/2006">
              <mc:Choice xmlns:v="urn:schemas-microsoft-com:vml" Requires="v">
                <p:oleObj spid="_x0000_s1049" name="" r:id="rId5" imgW="1435100" imgH="393700" progId="Equation.KSEE3">
                  <p:embed/>
                </p:oleObj>
              </mc:Choice>
              <mc:Fallback>
                <p:oleObj name="" r:id="rId5" imgW="1435100" imgH="393700" progId="Equation.KSEE3">
                  <p:embed/>
                  <p:pic>
                    <p:nvPicPr>
                      <p:cNvPr id="0" name="图片 1025"/>
                      <p:cNvPicPr/>
                      <p:nvPr/>
                    </p:nvPicPr>
                    <p:blipFill>
                      <a:blip r:embed="rId6"/>
                      <a:stretch>
                        <a:fillRect/>
                      </a:stretch>
                    </p:blipFill>
                    <p:spPr>
                      <a:xfrm>
                        <a:off x="3978275" y="3213100"/>
                        <a:ext cx="1435100" cy="393700"/>
                      </a:xfrm>
                      <a:prstGeom prst="rect">
                        <a:avLst/>
                      </a:prstGeom>
                    </p:spPr>
                  </p:pic>
                </p:oleObj>
              </mc:Fallback>
            </mc:AlternateContent>
          </a:graphicData>
        </a:graphic>
      </p:graphicFrame>
      <p:sp>
        <p:nvSpPr>
          <p:cNvPr id="27" name="文本框 26"/>
          <p:cNvSpPr txBox="1"/>
          <p:nvPr/>
        </p:nvSpPr>
        <p:spPr>
          <a:xfrm>
            <a:off x="453390" y="3752850"/>
            <a:ext cx="4224020" cy="330200"/>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cs typeface="Times New Roman" panose="02020603050405020304" pitchFamily="18" charset="0"/>
              </a:rPr>
              <a:t>然后由第</a:t>
            </a:r>
            <a:r>
              <a:rPr lang="en-US" altLang="zh-CN">
                <a:solidFill>
                  <a:schemeClr val="tx1"/>
                </a:solidFill>
                <a:uFillTx/>
                <a:latin typeface="Times New Roman" panose="02020603050405020304" pitchFamily="18" charset="0"/>
                <a:cs typeface="Times New Roman" panose="02020603050405020304" pitchFamily="18" charset="0"/>
              </a:rPr>
              <a:t>n</a:t>
            </a:r>
            <a:r>
              <a:rPr lang="zh-CN" altLang="en-US">
                <a:solidFill>
                  <a:schemeClr val="tx1"/>
                </a:solidFill>
                <a:uFillTx/>
                <a:latin typeface="Times New Roman" panose="02020603050405020304" pitchFamily="18" charset="0"/>
                <a:cs typeface="Times New Roman" panose="02020603050405020304" pitchFamily="18" charset="0"/>
              </a:rPr>
              <a:t>项成立，推出第</a:t>
            </a:r>
            <a:r>
              <a:rPr lang="en-US" altLang="zh-CN">
                <a:solidFill>
                  <a:schemeClr val="tx1"/>
                </a:solidFill>
                <a:uFillTx/>
                <a:latin typeface="Times New Roman" panose="02020603050405020304" pitchFamily="18" charset="0"/>
                <a:cs typeface="Times New Roman" panose="02020603050405020304" pitchFamily="18" charset="0"/>
              </a:rPr>
              <a:t>n+1</a:t>
            </a:r>
            <a:r>
              <a:rPr lang="zh-CN" altLang="en-US">
                <a:solidFill>
                  <a:schemeClr val="tx1"/>
                </a:solidFill>
                <a:uFillTx/>
                <a:latin typeface="Times New Roman" panose="02020603050405020304" pitchFamily="18" charset="0"/>
                <a:cs typeface="Times New Roman" panose="02020603050405020304" pitchFamily="18" charset="0"/>
              </a:rPr>
              <a:t>项成立：</a:t>
            </a:r>
            <a:endParaRPr lang="zh-CN" altLang="en-US">
              <a:solidFill>
                <a:schemeClr val="tx1"/>
              </a:solidFill>
              <a:uFillTx/>
              <a:latin typeface="Times New Roman" panose="02020603050405020304" pitchFamily="18" charset="0"/>
              <a:cs typeface="Times New Roman" panose="02020603050405020304" pitchFamily="18" charset="0"/>
            </a:endParaRPr>
          </a:p>
          <a:p>
            <a:endParaRPr lang="zh-CN" altLang="en-US">
              <a:solidFill>
                <a:schemeClr val="tx1"/>
              </a:solidFill>
              <a:uFillTx/>
              <a:latin typeface="Times New Roman" panose="02020603050405020304" pitchFamily="18" charset="0"/>
              <a:cs typeface="Times New Roman" panose="02020603050405020304" pitchFamily="18" charset="0"/>
            </a:endParaRPr>
          </a:p>
        </p:txBody>
      </p:sp>
      <p:sp>
        <p:nvSpPr>
          <p:cNvPr id="32" name="文本框 31"/>
          <p:cNvSpPr txBox="1"/>
          <p:nvPr/>
        </p:nvSpPr>
        <p:spPr>
          <a:xfrm>
            <a:off x="427990" y="4215765"/>
            <a:ext cx="2254250" cy="316865"/>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cs typeface="Times New Roman" panose="02020603050405020304" pitchFamily="18" charset="0"/>
              </a:rPr>
              <a:t>假设：</a:t>
            </a:r>
            <a:r>
              <a:rPr lang="en-US" altLang="zh-CN">
                <a:solidFill>
                  <a:schemeClr val="tx1"/>
                </a:solidFill>
                <a:uFillTx/>
                <a:latin typeface="Times New Roman" panose="02020603050405020304" pitchFamily="18" charset="0"/>
                <a:cs typeface="Times New Roman" panose="02020603050405020304" pitchFamily="18" charset="0"/>
              </a:rPr>
              <a:t>S</a:t>
            </a:r>
            <a:r>
              <a:rPr lang="en-US" altLang="zh-CN" baseline="-25000">
                <a:solidFill>
                  <a:schemeClr val="tx1"/>
                </a:solidFill>
                <a:uFillTx/>
                <a:latin typeface="Times New Roman" panose="02020603050405020304" pitchFamily="18" charset="0"/>
                <a:cs typeface="Times New Roman" panose="02020603050405020304" pitchFamily="18" charset="0"/>
              </a:rPr>
              <a:t>n</a:t>
            </a:r>
            <a:r>
              <a:rPr lang="zh-CN" altLang="en-US">
                <a:solidFill>
                  <a:schemeClr val="tx1"/>
                </a:solidFill>
                <a:uFillTx/>
                <a:latin typeface="Times New Roman" panose="02020603050405020304" pitchFamily="18" charset="0"/>
                <a:cs typeface="Times New Roman" panose="02020603050405020304" pitchFamily="18" charset="0"/>
              </a:rPr>
              <a:t>成立，</a:t>
            </a:r>
            <a:r>
              <a:rPr lang="en-US" altLang="zh-CN">
                <a:solidFill>
                  <a:schemeClr val="tx1"/>
                </a:solidFill>
                <a:uFillTx/>
                <a:latin typeface="Times New Roman" panose="02020603050405020304" pitchFamily="18" charset="0"/>
                <a:cs typeface="Times New Roman" panose="02020603050405020304" pitchFamily="18" charset="0"/>
              </a:rPr>
              <a:t> </a:t>
            </a:r>
            <a:endParaRPr lang="zh-CN" altLang="en-US">
              <a:solidFill>
                <a:schemeClr val="tx1"/>
              </a:solidFill>
              <a:uFillTx/>
              <a:latin typeface="Times New Roman" panose="02020603050405020304" pitchFamily="18" charset="0"/>
              <a:cs typeface="Times New Roman" panose="02020603050405020304" pitchFamily="18" charset="0"/>
            </a:endParaRPr>
          </a:p>
          <a:p>
            <a:endParaRPr lang="zh-CN" altLang="en-US">
              <a:solidFill>
                <a:schemeClr val="tx1"/>
              </a:solidFill>
              <a:uFillTx/>
              <a:latin typeface="Times New Roman" panose="02020603050405020304" pitchFamily="18" charset="0"/>
              <a:cs typeface="Times New Roman" panose="02020603050405020304" pitchFamily="18" charset="0"/>
            </a:endParaRPr>
          </a:p>
        </p:txBody>
      </p:sp>
      <p:graphicFrame>
        <p:nvGraphicFramePr>
          <p:cNvPr id="33" name="对象 32">
            <a:hlinkClick r:id="" action="ppaction://ole?verb=0"/>
          </p:cNvPr>
          <p:cNvGraphicFramePr>
            <a:graphicFrameLocks noChangeAspect="1"/>
          </p:cNvGraphicFramePr>
          <p:nvPr/>
        </p:nvGraphicFramePr>
        <p:xfrm>
          <a:off x="2011680" y="4184650"/>
          <a:ext cx="2578100" cy="419100"/>
        </p:xfrm>
        <a:graphic>
          <a:graphicData uri="http://schemas.openxmlformats.org/presentationml/2006/ole">
            <mc:AlternateContent xmlns:mc="http://schemas.openxmlformats.org/markup-compatibility/2006">
              <mc:Choice xmlns:v="urn:schemas-microsoft-com:vml" Requires="v">
                <p:oleObj spid="_x0000_s1050" name="" r:id="rId7" imgW="2578100" imgH="419100" progId="Equation.KSEE3">
                  <p:embed/>
                </p:oleObj>
              </mc:Choice>
              <mc:Fallback>
                <p:oleObj name="" r:id="rId7" imgW="2578100" imgH="419100" progId="Equation.KSEE3">
                  <p:embed/>
                  <p:pic>
                    <p:nvPicPr>
                      <p:cNvPr id="0" name="图片 1025"/>
                      <p:cNvPicPr/>
                      <p:nvPr/>
                    </p:nvPicPr>
                    <p:blipFill>
                      <a:blip r:embed="rId8"/>
                      <a:stretch>
                        <a:fillRect/>
                      </a:stretch>
                    </p:blipFill>
                    <p:spPr>
                      <a:xfrm>
                        <a:off x="2011680" y="4184650"/>
                        <a:ext cx="2578100" cy="419100"/>
                      </a:xfrm>
                      <a:prstGeom prst="rect">
                        <a:avLst/>
                      </a:prstGeom>
                    </p:spPr>
                  </p:pic>
                </p:oleObj>
              </mc:Fallback>
            </mc:AlternateContent>
          </a:graphicData>
        </a:graphic>
      </p:graphicFrame>
      <p:sp>
        <p:nvSpPr>
          <p:cNvPr id="35" name="文本框 34"/>
          <p:cNvSpPr txBox="1"/>
          <p:nvPr/>
        </p:nvSpPr>
        <p:spPr>
          <a:xfrm>
            <a:off x="437515" y="4608195"/>
            <a:ext cx="2254250" cy="316865"/>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cs typeface="Times New Roman" panose="02020603050405020304" pitchFamily="18" charset="0"/>
              </a:rPr>
              <a:t>证明：</a:t>
            </a:r>
            <a:r>
              <a:rPr lang="en-US" altLang="zh-CN">
                <a:solidFill>
                  <a:schemeClr val="tx1"/>
                </a:solidFill>
                <a:uFillTx/>
                <a:latin typeface="Times New Roman" panose="02020603050405020304" pitchFamily="18" charset="0"/>
                <a:cs typeface="Times New Roman" panose="02020603050405020304" pitchFamily="18" charset="0"/>
              </a:rPr>
              <a:t>S</a:t>
            </a:r>
            <a:r>
              <a:rPr lang="en-US" altLang="zh-CN" baseline="-25000">
                <a:solidFill>
                  <a:schemeClr val="tx1"/>
                </a:solidFill>
                <a:uFillTx/>
                <a:latin typeface="Times New Roman" panose="02020603050405020304" pitchFamily="18" charset="0"/>
                <a:cs typeface="Times New Roman" panose="02020603050405020304" pitchFamily="18" charset="0"/>
              </a:rPr>
              <a:t>n+1</a:t>
            </a:r>
            <a:r>
              <a:rPr lang="zh-CN" altLang="en-US">
                <a:solidFill>
                  <a:schemeClr val="tx1"/>
                </a:solidFill>
                <a:uFillTx/>
                <a:latin typeface="Times New Roman" panose="02020603050405020304" pitchFamily="18" charset="0"/>
                <a:cs typeface="Times New Roman" panose="02020603050405020304" pitchFamily="18" charset="0"/>
              </a:rPr>
              <a:t>成立，</a:t>
            </a:r>
            <a:r>
              <a:rPr lang="en-US" altLang="zh-CN">
                <a:solidFill>
                  <a:schemeClr val="tx1"/>
                </a:solidFill>
                <a:uFillTx/>
                <a:latin typeface="Times New Roman" panose="02020603050405020304" pitchFamily="18" charset="0"/>
                <a:cs typeface="Times New Roman" panose="02020603050405020304" pitchFamily="18" charset="0"/>
              </a:rPr>
              <a:t> </a:t>
            </a:r>
            <a:endParaRPr lang="zh-CN" altLang="en-US">
              <a:solidFill>
                <a:schemeClr val="tx1"/>
              </a:solidFill>
              <a:uFillTx/>
              <a:latin typeface="Times New Roman" panose="02020603050405020304" pitchFamily="18" charset="0"/>
              <a:cs typeface="Times New Roman" panose="02020603050405020304" pitchFamily="18" charset="0"/>
            </a:endParaRPr>
          </a:p>
          <a:p>
            <a:endParaRPr lang="zh-CN" altLang="en-US">
              <a:solidFill>
                <a:schemeClr val="tx1"/>
              </a:solidFill>
              <a:uFillTx/>
              <a:latin typeface="Times New Roman" panose="02020603050405020304" pitchFamily="18" charset="0"/>
              <a:cs typeface="Times New Roman" panose="02020603050405020304" pitchFamily="18" charset="0"/>
            </a:endParaRPr>
          </a:p>
        </p:txBody>
      </p:sp>
      <p:graphicFrame>
        <p:nvGraphicFramePr>
          <p:cNvPr id="36" name="对象 35">
            <a:hlinkClick r:id="" action="ppaction://ole?verb=0"/>
          </p:cNvPr>
          <p:cNvGraphicFramePr>
            <a:graphicFrameLocks noChangeAspect="1"/>
          </p:cNvGraphicFramePr>
          <p:nvPr/>
        </p:nvGraphicFramePr>
        <p:xfrm>
          <a:off x="2171065" y="4562475"/>
          <a:ext cx="3733800" cy="419100"/>
        </p:xfrm>
        <a:graphic>
          <a:graphicData uri="http://schemas.openxmlformats.org/presentationml/2006/ole">
            <mc:AlternateContent xmlns:mc="http://schemas.openxmlformats.org/markup-compatibility/2006">
              <mc:Choice xmlns:v="urn:schemas-microsoft-com:vml" Requires="v">
                <p:oleObj spid="_x0000_s1051" name="" r:id="rId9" imgW="3733800" imgH="419100" progId="Equation.KSEE3">
                  <p:embed/>
                </p:oleObj>
              </mc:Choice>
              <mc:Fallback>
                <p:oleObj name="" r:id="rId9" imgW="3733800" imgH="419100" progId="Equation.KSEE3">
                  <p:embed/>
                  <p:pic>
                    <p:nvPicPr>
                      <p:cNvPr id="0" name="图片 1025"/>
                      <p:cNvPicPr/>
                      <p:nvPr/>
                    </p:nvPicPr>
                    <p:blipFill>
                      <a:blip r:embed="rId10"/>
                      <a:stretch>
                        <a:fillRect/>
                      </a:stretch>
                    </p:blipFill>
                    <p:spPr>
                      <a:xfrm>
                        <a:off x="2171065" y="4562475"/>
                        <a:ext cx="3733800" cy="419100"/>
                      </a:xfrm>
                      <a:prstGeom prst="rect">
                        <a:avLst/>
                      </a:prstGeom>
                    </p:spPr>
                  </p:pic>
                </p:oleObj>
              </mc:Fallback>
            </mc:AlternateContent>
          </a:graphicData>
        </a:graphic>
      </p:graphicFrame>
      <p:sp>
        <p:nvSpPr>
          <p:cNvPr id="38" name="文本框 37"/>
          <p:cNvSpPr txBox="1"/>
          <p:nvPr/>
        </p:nvSpPr>
        <p:spPr>
          <a:xfrm>
            <a:off x="422275" y="5139055"/>
            <a:ext cx="7109460" cy="362585"/>
          </a:xfrm>
          <a:prstGeom prst="rect">
            <a:avLst/>
          </a:prstGeom>
          <a:noFill/>
        </p:spPr>
        <p:txBody>
          <a:bodyPr wrap="square" rtlCol="0">
            <a:noAutofit/>
          </a:bodyPr>
          <a:lstStyle/>
          <a:p>
            <a:r>
              <a:rPr lang="zh-CN" altLang="en-US">
                <a:latin typeface="Times New Roman" panose="02020603050405020304" pitchFamily="18" charset="0"/>
                <a:cs typeface="Times New Roman" panose="02020603050405020304" pitchFamily="18" charset="0"/>
              </a:rPr>
              <a:t>因为，</a:t>
            </a:r>
            <a:r>
              <a:rPr lang="en-US" altLang="zh-CN">
                <a:latin typeface="Times New Roman" panose="02020603050405020304" pitchFamily="18" charset="0"/>
                <a:cs typeface="Times New Roman" panose="02020603050405020304" pitchFamily="18" charset="0"/>
              </a:rPr>
              <a:t>             </a:t>
            </a:r>
            <a:r>
              <a:rPr lang="zh-CN" altLang="en-US">
                <a:latin typeface="Times New Roman" panose="02020603050405020304" pitchFamily="18" charset="0"/>
                <a:cs typeface="Times New Roman" panose="02020603050405020304" pitchFamily="18" charset="0"/>
              </a:rPr>
              <a:t>所以</a:t>
            </a:r>
            <a:r>
              <a:rPr lang="en-US" altLang="zh-CN">
                <a:latin typeface="Times New Roman" panose="02020603050405020304" pitchFamily="18" charset="0"/>
                <a:cs typeface="Times New Roman" panose="02020603050405020304" pitchFamily="18" charset="0"/>
              </a:rPr>
              <a:t>                                                   </a:t>
            </a:r>
            <a:r>
              <a:rPr lang="zh-CN" altLang="en-US">
                <a:latin typeface="Times New Roman" panose="02020603050405020304" pitchFamily="18" charset="0"/>
                <a:cs typeface="Times New Roman" panose="02020603050405020304" pitchFamily="18" charset="0"/>
              </a:rPr>
              <a:t>可以写成</a:t>
            </a:r>
            <a:endParaRPr lang="zh-CN" altLang="en-US">
              <a:latin typeface="Times New Roman" panose="02020603050405020304" pitchFamily="18" charset="0"/>
              <a:cs typeface="Times New Roman" panose="02020603050405020304" pitchFamily="18" charset="0"/>
            </a:endParaRPr>
          </a:p>
        </p:txBody>
      </p:sp>
      <p:graphicFrame>
        <p:nvGraphicFramePr>
          <p:cNvPr id="39" name="对象 38">
            <a:hlinkClick r:id="" action="ppaction://ole?verb=0"/>
          </p:cNvPr>
          <p:cNvGraphicFramePr>
            <a:graphicFrameLocks noChangeAspect="1"/>
          </p:cNvGraphicFramePr>
          <p:nvPr/>
        </p:nvGraphicFramePr>
        <p:xfrm>
          <a:off x="1043940" y="5085080"/>
          <a:ext cx="812800" cy="393700"/>
        </p:xfrm>
        <a:graphic>
          <a:graphicData uri="http://schemas.openxmlformats.org/presentationml/2006/ole">
            <mc:AlternateContent xmlns:mc="http://schemas.openxmlformats.org/markup-compatibility/2006">
              <mc:Choice xmlns:v="urn:schemas-microsoft-com:vml" Requires="v">
                <p:oleObj spid="_x0000_s1052" name="" r:id="rId11" imgW="812800" imgH="393700" progId="Equation.KSEE3">
                  <p:embed/>
                </p:oleObj>
              </mc:Choice>
              <mc:Fallback>
                <p:oleObj name="" r:id="rId11" imgW="812800" imgH="393700" progId="Equation.KSEE3">
                  <p:embed/>
                  <p:pic>
                    <p:nvPicPr>
                      <p:cNvPr id="0" name="图片 1025"/>
                      <p:cNvPicPr/>
                      <p:nvPr/>
                    </p:nvPicPr>
                    <p:blipFill>
                      <a:blip r:embed="rId12"/>
                      <a:stretch>
                        <a:fillRect/>
                      </a:stretch>
                    </p:blipFill>
                    <p:spPr>
                      <a:xfrm>
                        <a:off x="1043940" y="5085080"/>
                        <a:ext cx="812800" cy="393700"/>
                      </a:xfrm>
                      <a:prstGeom prst="rect">
                        <a:avLst/>
                      </a:prstGeom>
                    </p:spPr>
                  </p:pic>
                </p:oleObj>
              </mc:Fallback>
            </mc:AlternateContent>
          </a:graphicData>
        </a:graphic>
      </p:graphicFrame>
      <p:graphicFrame>
        <p:nvGraphicFramePr>
          <p:cNvPr id="41" name="对象 40">
            <a:hlinkClick r:id="" action="ppaction://ole?verb=0"/>
          </p:cNvPr>
          <p:cNvGraphicFramePr>
            <a:graphicFrameLocks noChangeAspect="1"/>
          </p:cNvGraphicFramePr>
          <p:nvPr/>
        </p:nvGraphicFramePr>
        <p:xfrm>
          <a:off x="2546350" y="5080635"/>
          <a:ext cx="3086100" cy="419100"/>
        </p:xfrm>
        <a:graphic>
          <a:graphicData uri="http://schemas.openxmlformats.org/presentationml/2006/ole">
            <mc:AlternateContent xmlns:mc="http://schemas.openxmlformats.org/markup-compatibility/2006">
              <mc:Choice xmlns:v="urn:schemas-microsoft-com:vml" Requires="v">
                <p:oleObj spid="_x0000_s1053" name="" r:id="rId13" imgW="3086100" imgH="419100" progId="Equation.KSEE3">
                  <p:embed/>
                </p:oleObj>
              </mc:Choice>
              <mc:Fallback>
                <p:oleObj name="" r:id="rId13" imgW="3086100" imgH="419100" progId="Equation.KSEE3">
                  <p:embed/>
                  <p:pic>
                    <p:nvPicPr>
                      <p:cNvPr id="0" name="图片 1025"/>
                      <p:cNvPicPr/>
                      <p:nvPr/>
                    </p:nvPicPr>
                    <p:blipFill>
                      <a:blip r:embed="rId14"/>
                      <a:stretch>
                        <a:fillRect/>
                      </a:stretch>
                    </p:blipFill>
                    <p:spPr>
                      <a:xfrm>
                        <a:off x="2546350" y="5080635"/>
                        <a:ext cx="3086100" cy="419100"/>
                      </a:xfrm>
                      <a:prstGeom prst="rect">
                        <a:avLst/>
                      </a:prstGeom>
                    </p:spPr>
                  </p:pic>
                </p:oleObj>
              </mc:Fallback>
            </mc:AlternateContent>
          </a:graphicData>
        </a:graphic>
      </p:graphicFrame>
      <p:graphicFrame>
        <p:nvGraphicFramePr>
          <p:cNvPr id="43" name="对象 42">
            <a:hlinkClick r:id="" action="ppaction://ole?verb=0"/>
          </p:cNvPr>
          <p:cNvGraphicFramePr>
            <a:graphicFrameLocks noChangeAspect="1"/>
          </p:cNvGraphicFramePr>
          <p:nvPr/>
        </p:nvGraphicFramePr>
        <p:xfrm>
          <a:off x="6805931" y="5085080"/>
          <a:ext cx="1943100" cy="419100"/>
        </p:xfrm>
        <a:graphic>
          <a:graphicData uri="http://schemas.openxmlformats.org/presentationml/2006/ole">
            <mc:AlternateContent xmlns:mc="http://schemas.openxmlformats.org/markup-compatibility/2006">
              <mc:Choice xmlns:v="urn:schemas-microsoft-com:vml" Requires="v">
                <p:oleObj spid="_x0000_s1054" name="" r:id="rId15" imgW="1943100" imgH="419100" progId="Equation.KSEE3">
                  <p:embed/>
                </p:oleObj>
              </mc:Choice>
              <mc:Fallback>
                <p:oleObj name="" r:id="rId15" imgW="1943100" imgH="419100" progId="Equation.KSEE3">
                  <p:embed/>
                  <p:pic>
                    <p:nvPicPr>
                      <p:cNvPr id="0" name="图片 1025"/>
                      <p:cNvPicPr/>
                      <p:nvPr/>
                    </p:nvPicPr>
                    <p:blipFill>
                      <a:blip r:embed="rId16"/>
                      <a:stretch>
                        <a:fillRect/>
                      </a:stretch>
                    </p:blipFill>
                    <p:spPr>
                      <a:xfrm>
                        <a:off x="6805931" y="5085080"/>
                        <a:ext cx="1943100" cy="419100"/>
                      </a:xfrm>
                      <a:prstGeom prst="rect">
                        <a:avLst/>
                      </a:prstGeom>
                    </p:spPr>
                  </p:pic>
                </p:oleObj>
              </mc:Fallback>
            </mc:AlternateContent>
          </a:graphicData>
        </a:graphic>
      </p:graphicFrame>
      <p:sp>
        <p:nvSpPr>
          <p:cNvPr id="45" name="文本框 44"/>
          <p:cNvSpPr txBox="1"/>
          <p:nvPr/>
        </p:nvSpPr>
        <p:spPr>
          <a:xfrm>
            <a:off x="440690" y="5744845"/>
            <a:ext cx="2098040" cy="368300"/>
          </a:xfrm>
          <a:prstGeom prst="rect">
            <a:avLst/>
          </a:prstGeom>
          <a:noFill/>
        </p:spPr>
        <p:txBody>
          <a:bodyPr wrap="square" rtlCol="0">
            <a:spAutoFit/>
          </a:bodyPr>
          <a:lstStyle/>
          <a:p>
            <a:r>
              <a:rPr lang="zh-CN" altLang="en-US">
                <a:latin typeface="Times New Roman" panose="02020603050405020304" pitchFamily="18" charset="0"/>
                <a:cs typeface="Times New Roman" panose="02020603050405020304" pitchFamily="18" charset="0"/>
              </a:rPr>
              <a:t>最后化简可以证：</a:t>
            </a:r>
            <a:endParaRPr lang="zh-CN" altLang="en-US">
              <a:latin typeface="Times New Roman" panose="02020603050405020304" pitchFamily="18" charset="0"/>
              <a:cs typeface="Times New Roman" panose="02020603050405020304" pitchFamily="18" charset="0"/>
            </a:endParaRPr>
          </a:p>
        </p:txBody>
      </p:sp>
      <p:graphicFrame>
        <p:nvGraphicFramePr>
          <p:cNvPr id="46" name="对象 45">
            <a:hlinkClick r:id="" action="ppaction://ole?verb=0"/>
          </p:cNvPr>
          <p:cNvGraphicFramePr>
            <a:graphicFrameLocks noChangeAspect="1"/>
          </p:cNvGraphicFramePr>
          <p:nvPr/>
        </p:nvGraphicFramePr>
        <p:xfrm>
          <a:off x="2252346" y="5699125"/>
          <a:ext cx="939800" cy="393700"/>
        </p:xfrm>
        <a:graphic>
          <a:graphicData uri="http://schemas.openxmlformats.org/presentationml/2006/ole">
            <mc:AlternateContent xmlns:mc="http://schemas.openxmlformats.org/markup-compatibility/2006">
              <mc:Choice xmlns:v="urn:schemas-microsoft-com:vml" Requires="v">
                <p:oleObj spid="_x0000_s1055" name="" r:id="rId17" imgW="939800" imgH="393700" progId="Equation.KSEE3">
                  <p:embed/>
                </p:oleObj>
              </mc:Choice>
              <mc:Fallback>
                <p:oleObj name="" r:id="rId17" imgW="939800" imgH="393700" progId="Equation.KSEE3">
                  <p:embed/>
                  <p:pic>
                    <p:nvPicPr>
                      <p:cNvPr id="0" name="图片 1025"/>
                      <p:cNvPicPr/>
                      <p:nvPr/>
                    </p:nvPicPr>
                    <p:blipFill>
                      <a:blip r:embed="rId18"/>
                      <a:stretch>
                        <a:fillRect/>
                      </a:stretch>
                    </p:blipFill>
                    <p:spPr>
                      <a:xfrm>
                        <a:off x="2252346" y="5699125"/>
                        <a:ext cx="939800" cy="393700"/>
                      </a:xfrm>
                      <a:prstGeom prst="rect">
                        <a:avLst/>
                      </a:prstGeom>
                    </p:spPr>
                  </p:pic>
                </p:oleObj>
              </mc:Fallback>
            </mc:AlternateContent>
          </a:graphicData>
        </a:graphic>
      </p:graphicFrame>
      <p:sp>
        <p:nvSpPr>
          <p:cNvPr id="48" name="云形标注 47"/>
          <p:cNvSpPr/>
          <p:nvPr/>
        </p:nvSpPr>
        <p:spPr>
          <a:xfrm>
            <a:off x="5912485" y="3026410"/>
            <a:ext cx="1877060" cy="654685"/>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rPr>
              <a:t>推到多米诺骨牌第一张牌</a:t>
            </a:r>
            <a:endPar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endParaRPr>
          </a:p>
        </p:txBody>
      </p:sp>
      <p:sp>
        <p:nvSpPr>
          <p:cNvPr id="49" name="矩形 48"/>
          <p:cNvSpPr/>
          <p:nvPr/>
        </p:nvSpPr>
        <p:spPr>
          <a:xfrm>
            <a:off x="422275" y="3213100"/>
            <a:ext cx="5451475" cy="494665"/>
          </a:xfrm>
          <a:prstGeom prst="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0" name="矩形 49"/>
          <p:cNvSpPr/>
          <p:nvPr/>
        </p:nvSpPr>
        <p:spPr>
          <a:xfrm>
            <a:off x="437515" y="3803650"/>
            <a:ext cx="8456930" cy="2314575"/>
          </a:xfrm>
          <a:prstGeom prst="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1" name="云形标注 50"/>
          <p:cNvSpPr/>
          <p:nvPr/>
        </p:nvSpPr>
        <p:spPr>
          <a:xfrm>
            <a:off x="6228080" y="3935095"/>
            <a:ext cx="1877060" cy="654685"/>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rPr>
              <a:t>由前一张牌可以推倒后一张牌</a:t>
            </a:r>
            <a:endPar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48"/>
                                        </p:tgtEl>
                                        <p:attrNameLst>
                                          <p:attrName>style.visibility</p:attrName>
                                        </p:attrNameLst>
                                      </p:cBhvr>
                                      <p:to>
                                        <p:strVal val="visible"/>
                                      </p:to>
                                    </p:set>
                                    <p:anim calcmode="lin" valueType="num">
                                      <p:cBhvr additive="base">
                                        <p:cTn id="7" dur="500" fill="hold"/>
                                        <p:tgtEl>
                                          <p:spTgt spid="48"/>
                                        </p:tgtEl>
                                        <p:attrNameLst>
                                          <p:attrName>ppt_x</p:attrName>
                                        </p:attrNameLst>
                                      </p:cBhvr>
                                      <p:tavLst>
                                        <p:tav tm="0">
                                          <p:val>
                                            <p:strVal val="#ppt_x"/>
                                          </p:val>
                                        </p:tav>
                                        <p:tav tm="100000">
                                          <p:val>
                                            <p:strVal val="#ppt_x"/>
                                          </p:val>
                                        </p:tav>
                                      </p:tavLst>
                                    </p:anim>
                                    <p:anim calcmode="lin" valueType="num">
                                      <p:cBhvr additive="base">
                                        <p:cTn id="8" dur="500" fill="hold"/>
                                        <p:tgtEl>
                                          <p:spTgt spid="48"/>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1"/>
                                        </p:tgtEl>
                                        <p:attrNameLst>
                                          <p:attrName>style.visibility</p:attrName>
                                        </p:attrNameLst>
                                      </p:cBhvr>
                                      <p:to>
                                        <p:strVal val="visible"/>
                                      </p:to>
                                    </p:set>
                                    <p:anim calcmode="lin" valueType="num">
                                      <p:cBhvr additive="base">
                                        <p:cTn id="11" dur="500" fill="hold"/>
                                        <p:tgtEl>
                                          <p:spTgt spid="51"/>
                                        </p:tgtEl>
                                        <p:attrNameLst>
                                          <p:attrName>ppt_x</p:attrName>
                                        </p:attrNameLst>
                                      </p:cBhvr>
                                      <p:tavLst>
                                        <p:tav tm="0">
                                          <p:val>
                                            <p:strVal val="#ppt_x"/>
                                          </p:val>
                                        </p:tav>
                                        <p:tav tm="100000">
                                          <p:val>
                                            <p:strVal val="#ppt_x"/>
                                          </p:val>
                                        </p:tav>
                                      </p:tavLst>
                                    </p:anim>
                                    <p:anim calcmode="lin" valueType="num">
                                      <p:cBhvr additive="base">
                                        <p:cTn id="12" dur="500" fill="hold"/>
                                        <p:tgtEl>
                                          <p:spTgt spid="5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bldLvl="0" animBg="1"/>
      <p:bldP spid="48" grpId="1" animBg="1"/>
      <p:bldP spid="51" grpId="0" bldLvl="0" animBg="1"/>
      <p:bldP spid="51"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23215" y="1052195"/>
            <a:ext cx="7924165" cy="831215"/>
          </a:xfrm>
          <a:prstGeom prst="rect">
            <a:avLst/>
          </a:prstGeom>
          <a:noFill/>
        </p:spPr>
        <p:txBody>
          <a:bodyPr wrap="square" rtlCol="0" anchor="t">
            <a:no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如何用数学归纳法证明最早时间结束的策略可以找到最优解？</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endParaRPr lang="zh-CN" altLang="en-US" sz="2200" b="1" kern="100" dirty="0">
              <a:latin typeface="Times New Roman" panose="02020603050405020304" pitchFamily="18" charset="0"/>
              <a:cs typeface="Times New Roman" panose="02020603050405020304" pitchFamily="18" charset="0"/>
              <a:sym typeface="+mn-ea"/>
            </a:endParaRPr>
          </a:p>
        </p:txBody>
      </p:sp>
      <p:sp>
        <p:nvSpPr>
          <p:cNvPr id="26" name="云形标注 25"/>
          <p:cNvSpPr/>
          <p:nvPr/>
        </p:nvSpPr>
        <p:spPr>
          <a:xfrm>
            <a:off x="7236460" y="1694180"/>
            <a:ext cx="1877060" cy="891540"/>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rPr>
              <a:t>找到第一张能推倒的多米诺骨牌。</a:t>
            </a:r>
            <a:endPar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endParaRPr>
          </a:p>
        </p:txBody>
      </p:sp>
      <p:sp>
        <p:nvSpPr>
          <p:cNvPr id="3" name="文本框 2"/>
          <p:cNvSpPr txBox="1"/>
          <p:nvPr/>
        </p:nvSpPr>
        <p:spPr>
          <a:xfrm>
            <a:off x="325755" y="1844675"/>
            <a:ext cx="6509385" cy="367665"/>
          </a:xfrm>
          <a:prstGeom prst="rect">
            <a:avLst/>
          </a:prstGeom>
          <a:noFill/>
        </p:spPr>
        <p:txBody>
          <a:bodyPr wrap="square" rtlCol="0" anchor="t">
            <a:noAutofit/>
          </a:bodyPr>
          <a:lstStyle/>
          <a:p>
            <a:pPr marL="0" marR="0" indent="0" algn="ctr" defTabSz="914400" rtl="0" eaLnBrk="1" fontAlgn="base" latinLnBrk="0" hangingPunct="1">
              <a:lnSpc>
                <a:spcPct val="100000"/>
              </a:lnSpc>
              <a:spcBef>
                <a:spcPct val="0"/>
              </a:spcBef>
              <a:spcAft>
                <a:spcPct val="0"/>
              </a:spcAft>
              <a:buClrTx/>
              <a:buSzTx/>
              <a:buFontTx/>
              <a:buNone/>
            </a:pPr>
            <a:r>
              <a:rPr lang="zh-CN" altLang="en-US" sz="1800" b="1">
                <a:ln>
                  <a:noFill/>
                </a:ln>
                <a:effectLst/>
                <a:latin typeface="宋体" panose="02010600030101010101" pitchFamily="2" charset="-122"/>
                <a:cs typeface="Times New Roman" panose="02020603050405020304" pitchFamily="18" charset="0"/>
                <a:sym typeface="+mn-ea"/>
              </a:rPr>
              <a:t>归纳基础：也就是就是第一个时间结束的课程可以组成最优解</a:t>
            </a:r>
            <a:endParaRPr lang="zh-CN" altLang="en-US" sz="1800" b="1">
              <a:ln>
                <a:noFill/>
              </a:ln>
              <a:effectLst/>
              <a:latin typeface="宋体" panose="02010600030101010101" pitchFamily="2" charset="-122"/>
              <a:cs typeface="Times New Roman" panose="02020603050405020304" pitchFamily="18" charset="0"/>
              <a:sym typeface="+mn-ea"/>
            </a:endParaRPr>
          </a:p>
        </p:txBody>
      </p:sp>
      <p:sp>
        <p:nvSpPr>
          <p:cNvPr id="5" name="文本框 4"/>
          <p:cNvSpPr txBox="1"/>
          <p:nvPr/>
        </p:nvSpPr>
        <p:spPr>
          <a:xfrm>
            <a:off x="440690" y="2403475"/>
            <a:ext cx="6562725" cy="562610"/>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cs typeface="Times New Roman" panose="02020603050405020304" pitchFamily="18" charset="0"/>
              </a:rPr>
              <a:t>可以用</a:t>
            </a:r>
            <a:r>
              <a:rPr lang="en-US" altLang="zh-CN">
                <a:solidFill>
                  <a:schemeClr val="tx1"/>
                </a:solidFill>
                <a:uFillTx/>
                <a:latin typeface="Times New Roman" panose="02020603050405020304" pitchFamily="18" charset="0"/>
                <a:cs typeface="Times New Roman" panose="02020603050405020304" pitchFamily="18" charset="0"/>
              </a:rPr>
              <a:t>S</a:t>
            </a:r>
            <a:r>
              <a:rPr lang="en-US" altLang="zh-CN" baseline="-25000">
                <a:solidFill>
                  <a:schemeClr val="tx1"/>
                </a:solidFill>
                <a:uFillTx/>
                <a:latin typeface="Times New Roman" panose="02020603050405020304" pitchFamily="18" charset="0"/>
                <a:cs typeface="Times New Roman" panose="02020603050405020304" pitchFamily="18" charset="0"/>
              </a:rPr>
              <a:t>n</a:t>
            </a:r>
            <a:r>
              <a:rPr lang="en-US" altLang="zh-CN">
                <a:solidFill>
                  <a:schemeClr val="tx1"/>
                </a:solidFill>
                <a:uFillTx/>
                <a:latin typeface="Times New Roman" panose="02020603050405020304" pitchFamily="18" charset="0"/>
                <a:cs typeface="Times New Roman" panose="02020603050405020304" pitchFamily="18" charset="0"/>
              </a:rPr>
              <a:t> = {1,2,3,...,n},</a:t>
            </a:r>
            <a:r>
              <a:rPr lang="zh-CN" altLang="en-US">
                <a:solidFill>
                  <a:schemeClr val="tx1"/>
                </a:solidFill>
                <a:uFillTx/>
                <a:latin typeface="Times New Roman" panose="02020603050405020304" pitchFamily="18" charset="0"/>
                <a:cs typeface="Times New Roman" panose="02020603050405020304" pitchFamily="18" charset="0"/>
              </a:rPr>
              <a:t>表示课程集合，</a:t>
            </a:r>
            <a:r>
              <a:rPr lang="en-US" altLang="zh-CN">
                <a:solidFill>
                  <a:schemeClr val="tx1"/>
                </a:solidFill>
                <a:uFillTx/>
                <a:latin typeface="Times New Roman" panose="02020603050405020304" pitchFamily="18" charset="0"/>
                <a:cs typeface="Times New Roman" panose="02020603050405020304" pitchFamily="18" charset="0"/>
              </a:rPr>
              <a:t>f</a:t>
            </a:r>
            <a:r>
              <a:rPr lang="en-US" altLang="zh-CN" baseline="-25000">
                <a:solidFill>
                  <a:schemeClr val="tx1"/>
                </a:solidFill>
                <a:uFillTx/>
                <a:latin typeface="Times New Roman" panose="02020603050405020304" pitchFamily="18" charset="0"/>
                <a:cs typeface="Times New Roman" panose="02020603050405020304" pitchFamily="18" charset="0"/>
              </a:rPr>
              <a:t>i</a:t>
            </a:r>
            <a:r>
              <a:rPr lang="zh-CN" altLang="en-US">
                <a:solidFill>
                  <a:schemeClr val="tx1"/>
                </a:solidFill>
                <a:uFillTx/>
                <a:latin typeface="Times New Roman" panose="02020603050405020304" pitchFamily="18" charset="0"/>
                <a:cs typeface="Times New Roman" panose="02020603050405020304" pitchFamily="18" charset="0"/>
              </a:rPr>
              <a:t>表示课程结束的时间，</a:t>
            </a:r>
            <a:r>
              <a:rPr lang="en-US" altLang="zh-CN">
                <a:solidFill>
                  <a:schemeClr val="tx1"/>
                </a:solidFill>
                <a:uFillTx/>
                <a:latin typeface="Times New Roman" panose="02020603050405020304" pitchFamily="18" charset="0"/>
                <a:cs typeface="Times New Roman" panose="02020603050405020304" pitchFamily="18" charset="0"/>
              </a:rPr>
              <a:t>f</a:t>
            </a:r>
            <a:r>
              <a:rPr lang="en-US" altLang="zh-CN" baseline="-25000">
                <a:solidFill>
                  <a:schemeClr val="tx1"/>
                </a:solidFill>
                <a:uFillTx/>
                <a:latin typeface="Times New Roman" panose="02020603050405020304" pitchFamily="18" charset="0"/>
                <a:cs typeface="Times New Roman" panose="02020603050405020304" pitchFamily="18" charset="0"/>
              </a:rPr>
              <a:t>1</a:t>
            </a:r>
            <a:r>
              <a:rPr lang="en-US" altLang="zh-CN">
                <a:solidFill>
                  <a:schemeClr val="tx1"/>
                </a:solidFill>
                <a:uFillTx/>
                <a:latin typeface="Times New Roman" panose="02020603050405020304" pitchFamily="18" charset="0"/>
                <a:cs typeface="Times New Roman" panose="02020603050405020304" pitchFamily="18" charset="0"/>
              </a:rPr>
              <a:t>&lt;f</a:t>
            </a:r>
            <a:r>
              <a:rPr lang="en-US" altLang="zh-CN" baseline="-25000">
                <a:solidFill>
                  <a:schemeClr val="tx1"/>
                </a:solidFill>
                <a:uFillTx/>
                <a:latin typeface="Times New Roman" panose="02020603050405020304" pitchFamily="18" charset="0"/>
                <a:cs typeface="Times New Roman" panose="02020603050405020304" pitchFamily="18" charset="0"/>
              </a:rPr>
              <a:t>2</a:t>
            </a:r>
            <a:r>
              <a:rPr lang="en-US" altLang="zh-CN">
                <a:solidFill>
                  <a:schemeClr val="tx1"/>
                </a:solidFill>
                <a:uFillTx/>
                <a:latin typeface="Times New Roman" panose="02020603050405020304" pitchFamily="18" charset="0"/>
                <a:cs typeface="Times New Roman" panose="02020603050405020304" pitchFamily="18" charset="0"/>
              </a:rPr>
              <a:t>&lt;...&lt;f</a:t>
            </a:r>
            <a:r>
              <a:rPr lang="en-US" altLang="zh-CN" baseline="-25000">
                <a:solidFill>
                  <a:schemeClr val="tx1"/>
                </a:solidFill>
                <a:uFillTx/>
                <a:latin typeface="Times New Roman" panose="02020603050405020304" pitchFamily="18" charset="0"/>
                <a:cs typeface="Times New Roman" panose="02020603050405020304" pitchFamily="18" charset="0"/>
              </a:rPr>
              <a:t>n</a:t>
            </a:r>
            <a:endParaRPr lang="en-US" altLang="zh-CN" baseline="-25000">
              <a:solidFill>
                <a:schemeClr val="tx1"/>
              </a:solidFill>
              <a:uFillTx/>
              <a:latin typeface="Times New Roman" panose="02020603050405020304" pitchFamily="18" charset="0"/>
              <a:cs typeface="Times New Roman" panose="02020603050405020304" pitchFamily="18" charset="0"/>
            </a:endParaRPr>
          </a:p>
        </p:txBody>
      </p:sp>
      <p:graphicFrame>
        <p:nvGraphicFramePr>
          <p:cNvPr id="7" name="表格 6"/>
          <p:cNvGraphicFramePr/>
          <p:nvPr/>
        </p:nvGraphicFramePr>
        <p:xfrm>
          <a:off x="755650" y="4004945"/>
          <a:ext cx="6400165" cy="381000"/>
        </p:xfrm>
        <a:graphic>
          <a:graphicData uri="http://schemas.openxmlformats.org/drawingml/2006/table">
            <a:tbl>
              <a:tblPr firstRow="1" bandRow="1">
                <a:tableStyleId>{5C22544A-7EE6-4342-B048-85BDC9FD1C3A}</a:tableStyleId>
              </a:tblPr>
              <a:tblGrid>
                <a:gridCol w="913765"/>
                <a:gridCol w="913765"/>
                <a:gridCol w="913765"/>
                <a:gridCol w="913765"/>
                <a:gridCol w="913765"/>
                <a:gridCol w="913765"/>
                <a:gridCol w="913765"/>
              </a:tblGrid>
              <a:tr h="381000">
                <a:tc>
                  <a:txBody>
                    <a:bodyPr/>
                    <a:lstStyle/>
                    <a:p>
                      <a:pPr>
                        <a:buNone/>
                      </a:pPr>
                      <a:r>
                        <a:rPr lang="en-US" altLang="zh-CN">
                          <a:solidFill>
                            <a:schemeClr val="tx1"/>
                          </a:solidFill>
                          <a:latin typeface="Times New Roman" panose="02020603050405020304" pitchFamily="18" charset="0"/>
                          <a:cs typeface="Times New Roman" panose="02020603050405020304" pitchFamily="18" charset="0"/>
                        </a:rPr>
                        <a:t>j</a:t>
                      </a:r>
                      <a:endParaRPr lang="en-US" altLang="zh-CN">
                        <a:solidFill>
                          <a:schemeClr val="tx1"/>
                        </a:solidFill>
                        <a:latin typeface="Times New Roman" panose="02020603050405020304" pitchFamily="18" charset="0"/>
                        <a:cs typeface="Times New Roman" panose="02020603050405020304" pitchFamily="18" charset="0"/>
                      </a:endParaRPr>
                    </a:p>
                  </a:txBody>
                  <a:tcPr/>
                </a:tc>
                <a:tc>
                  <a:txBody>
                    <a:bodyPr/>
                    <a:lstStyle/>
                    <a:p>
                      <a:pPr>
                        <a:buNone/>
                      </a:pPr>
                      <a:r>
                        <a:rPr lang="en-US" altLang="zh-CN">
                          <a:solidFill>
                            <a:schemeClr val="tx1"/>
                          </a:solidFill>
                          <a:cs typeface="Times New Roman" panose="02020603050405020304" pitchFamily="18" charset="0"/>
                        </a:rPr>
                        <a:t>...</a:t>
                      </a:r>
                      <a:endParaRPr lang="en-US" altLang="zh-CN">
                        <a:solidFill>
                          <a:schemeClr val="tx1"/>
                        </a:solidFill>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en-US" altLang="zh-CN">
                        <a:cs typeface="Times New Roman" panose="02020603050405020304" pitchFamily="18" charset="0"/>
                      </a:endParaRPr>
                    </a:p>
                  </a:txBody>
                  <a:tcPr/>
                </a:tc>
              </a:tr>
            </a:tbl>
          </a:graphicData>
        </a:graphic>
      </p:graphicFrame>
      <p:sp>
        <p:nvSpPr>
          <p:cNvPr id="24" name="文本框 23"/>
          <p:cNvSpPr txBox="1"/>
          <p:nvPr/>
        </p:nvSpPr>
        <p:spPr>
          <a:xfrm>
            <a:off x="755650" y="3573145"/>
            <a:ext cx="3423920" cy="368300"/>
          </a:xfrm>
          <a:prstGeom prst="rect">
            <a:avLst/>
          </a:prstGeom>
          <a:noFill/>
        </p:spPr>
        <p:txBody>
          <a:bodyPr wrap="square" rtlCol="0">
            <a:spAutoFit/>
          </a:bodyPr>
          <a:lstStyle/>
          <a:p>
            <a:r>
              <a:rPr lang="zh-CN" altLang="en-US">
                <a:latin typeface="Times New Roman" panose="02020603050405020304" pitchFamily="18" charset="0"/>
                <a:cs typeface="Times New Roman" panose="02020603050405020304" pitchFamily="18" charset="0"/>
              </a:rPr>
              <a:t>存在最优解</a:t>
            </a:r>
            <a:r>
              <a:rPr lang="en-US" altLang="zh-CN">
                <a:latin typeface="Times New Roman" panose="02020603050405020304" pitchFamily="18" charset="0"/>
                <a:cs typeface="Times New Roman" panose="02020603050405020304" pitchFamily="18" charset="0"/>
              </a:rPr>
              <a:t>T</a:t>
            </a:r>
            <a:endParaRPr lang="en-US" altLang="zh-CN">
              <a:latin typeface="Times New Roman" panose="02020603050405020304" pitchFamily="18" charset="0"/>
              <a:cs typeface="Times New Roman" panose="02020603050405020304" pitchFamily="18" charset="0"/>
            </a:endParaRPr>
          </a:p>
        </p:txBody>
      </p:sp>
      <p:sp>
        <p:nvSpPr>
          <p:cNvPr id="27" name="文本框 26"/>
          <p:cNvSpPr txBox="1"/>
          <p:nvPr/>
        </p:nvSpPr>
        <p:spPr>
          <a:xfrm>
            <a:off x="755650" y="4653280"/>
            <a:ext cx="6199505" cy="432435"/>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cs typeface="Times New Roman" panose="02020603050405020304" pitchFamily="18" charset="0"/>
              </a:rPr>
              <a:t>此时讲</a:t>
            </a:r>
            <a:r>
              <a:rPr lang="en-US" altLang="zh-CN">
                <a:solidFill>
                  <a:schemeClr val="tx1"/>
                </a:solidFill>
                <a:uFillTx/>
                <a:latin typeface="Times New Roman" panose="02020603050405020304" pitchFamily="18" charset="0"/>
                <a:cs typeface="Times New Roman" panose="02020603050405020304" pitchFamily="18" charset="0"/>
              </a:rPr>
              <a:t>T</a:t>
            </a:r>
            <a:r>
              <a:rPr lang="zh-CN" altLang="en-US">
                <a:solidFill>
                  <a:schemeClr val="tx1"/>
                </a:solidFill>
                <a:uFillTx/>
                <a:latin typeface="Times New Roman" panose="02020603050405020304" pitchFamily="18" charset="0"/>
                <a:cs typeface="Times New Roman" panose="02020603050405020304" pitchFamily="18" charset="0"/>
              </a:rPr>
              <a:t>的最优解的第一个课程</a:t>
            </a:r>
            <a:r>
              <a:rPr lang="en-US" altLang="zh-CN">
                <a:solidFill>
                  <a:schemeClr val="tx1"/>
                </a:solidFill>
                <a:uFillTx/>
                <a:latin typeface="Times New Roman" panose="02020603050405020304" pitchFamily="18" charset="0"/>
                <a:cs typeface="Times New Roman" panose="02020603050405020304" pitchFamily="18" charset="0"/>
              </a:rPr>
              <a:t>j</a:t>
            </a:r>
            <a:r>
              <a:rPr lang="zh-CN" altLang="en-US">
                <a:solidFill>
                  <a:schemeClr val="tx1"/>
                </a:solidFill>
                <a:uFillTx/>
                <a:latin typeface="Times New Roman" panose="02020603050405020304" pitchFamily="18" charset="0"/>
                <a:cs typeface="Times New Roman" panose="02020603050405020304" pitchFamily="18" charset="0"/>
              </a:rPr>
              <a:t>替换成</a:t>
            </a:r>
            <a:r>
              <a:rPr lang="en-US" altLang="zh-CN">
                <a:solidFill>
                  <a:schemeClr val="tx1"/>
                </a:solidFill>
                <a:uFillTx/>
                <a:latin typeface="Times New Roman" panose="02020603050405020304" pitchFamily="18" charset="0"/>
                <a:cs typeface="Times New Roman" panose="02020603050405020304" pitchFamily="18" charset="0"/>
              </a:rPr>
              <a:t>1</a:t>
            </a:r>
            <a:r>
              <a:rPr lang="zh-CN" altLang="en-US">
                <a:solidFill>
                  <a:schemeClr val="tx1"/>
                </a:solidFill>
                <a:uFillTx/>
                <a:latin typeface="Times New Roman" panose="02020603050405020304" pitchFamily="18" charset="0"/>
                <a:cs typeface="Times New Roman" panose="02020603050405020304" pitchFamily="18" charset="0"/>
              </a:rPr>
              <a:t>，因为</a:t>
            </a:r>
            <a:r>
              <a:rPr lang="en-US" altLang="zh-CN">
                <a:solidFill>
                  <a:schemeClr val="tx1"/>
                </a:solidFill>
                <a:uFillTx/>
                <a:latin typeface="Times New Roman" panose="02020603050405020304" pitchFamily="18" charset="0"/>
                <a:cs typeface="Times New Roman" panose="02020603050405020304" pitchFamily="18" charset="0"/>
              </a:rPr>
              <a:t>f</a:t>
            </a:r>
            <a:r>
              <a:rPr lang="en-US" altLang="zh-CN" baseline="-25000">
                <a:solidFill>
                  <a:schemeClr val="tx1"/>
                </a:solidFill>
                <a:uFillTx/>
                <a:latin typeface="Times New Roman" panose="02020603050405020304" pitchFamily="18" charset="0"/>
                <a:cs typeface="Times New Roman" panose="02020603050405020304" pitchFamily="18" charset="0"/>
              </a:rPr>
              <a:t>1</a:t>
            </a:r>
            <a:r>
              <a:rPr lang="en-US" altLang="zh-CN">
                <a:solidFill>
                  <a:schemeClr val="tx1"/>
                </a:solidFill>
                <a:uFillTx/>
                <a:latin typeface="Times New Roman" panose="02020603050405020304" pitchFamily="18" charset="0"/>
                <a:cs typeface="Times New Roman" panose="02020603050405020304" pitchFamily="18" charset="0"/>
              </a:rPr>
              <a:t>&lt;f</a:t>
            </a:r>
            <a:r>
              <a:rPr lang="en-US" altLang="zh-CN" baseline="-25000">
                <a:solidFill>
                  <a:schemeClr val="tx1"/>
                </a:solidFill>
                <a:uFillTx/>
                <a:latin typeface="Times New Roman" panose="02020603050405020304" pitchFamily="18" charset="0"/>
                <a:cs typeface="Times New Roman" panose="02020603050405020304" pitchFamily="18" charset="0"/>
              </a:rPr>
              <a:t>j</a:t>
            </a:r>
            <a:endParaRPr lang="en-US" altLang="zh-CN" baseline="-25000">
              <a:solidFill>
                <a:schemeClr val="tx1"/>
              </a:solidFill>
              <a:uFillTx/>
              <a:latin typeface="Times New Roman" panose="02020603050405020304" pitchFamily="18" charset="0"/>
              <a:cs typeface="Times New Roman" panose="02020603050405020304" pitchFamily="18" charset="0"/>
            </a:endParaRPr>
          </a:p>
        </p:txBody>
      </p:sp>
      <p:graphicFrame>
        <p:nvGraphicFramePr>
          <p:cNvPr id="28" name="表格 27"/>
          <p:cNvGraphicFramePr/>
          <p:nvPr/>
        </p:nvGraphicFramePr>
        <p:xfrm>
          <a:off x="755650" y="5302250"/>
          <a:ext cx="6400165" cy="381000"/>
        </p:xfrm>
        <a:graphic>
          <a:graphicData uri="http://schemas.openxmlformats.org/drawingml/2006/table">
            <a:tbl>
              <a:tblPr firstRow="1" bandRow="1">
                <a:tableStyleId>{5C22544A-7EE6-4342-B048-85BDC9FD1C3A}</a:tableStyleId>
              </a:tblPr>
              <a:tblGrid>
                <a:gridCol w="913765"/>
                <a:gridCol w="913765"/>
                <a:gridCol w="913765"/>
                <a:gridCol w="913765"/>
                <a:gridCol w="913765"/>
                <a:gridCol w="913765"/>
                <a:gridCol w="913765"/>
              </a:tblGrid>
              <a:tr h="381000">
                <a:tc>
                  <a:txBody>
                    <a:bodyPr/>
                    <a:lstStyle/>
                    <a:p>
                      <a:pPr>
                        <a:buNone/>
                      </a:pPr>
                      <a:r>
                        <a:rPr lang="en-US" altLang="zh-CN">
                          <a:solidFill>
                            <a:schemeClr val="tx1"/>
                          </a:solidFill>
                          <a:latin typeface="Times New Roman" panose="02020603050405020304" pitchFamily="18" charset="0"/>
                          <a:cs typeface="Times New Roman" panose="02020603050405020304" pitchFamily="18" charset="0"/>
                        </a:rPr>
                        <a:t>1</a:t>
                      </a:r>
                      <a:endParaRPr lang="en-US" altLang="zh-CN">
                        <a:solidFill>
                          <a:schemeClr val="tx1"/>
                        </a:solidFill>
                        <a:latin typeface="Times New Roman" panose="02020603050405020304" pitchFamily="18" charset="0"/>
                        <a:cs typeface="Times New Roman" panose="02020603050405020304" pitchFamily="18" charset="0"/>
                      </a:endParaRPr>
                    </a:p>
                  </a:txBody>
                  <a:tcPr/>
                </a:tc>
                <a:tc>
                  <a:txBody>
                    <a:bodyPr/>
                    <a:lstStyle/>
                    <a:p>
                      <a:pPr>
                        <a:buNone/>
                      </a:pPr>
                      <a:r>
                        <a:rPr lang="en-US" altLang="zh-CN">
                          <a:solidFill>
                            <a:schemeClr val="tx1"/>
                          </a:solidFill>
                          <a:cs typeface="Times New Roman" panose="02020603050405020304" pitchFamily="18" charset="0"/>
                        </a:rPr>
                        <a:t>...</a:t>
                      </a:r>
                      <a:endParaRPr lang="en-US" altLang="zh-CN">
                        <a:solidFill>
                          <a:schemeClr val="tx1"/>
                        </a:solidFill>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en-US" altLang="zh-CN">
                        <a:cs typeface="Times New Roman" panose="02020603050405020304" pitchFamily="18" charset="0"/>
                      </a:endParaRPr>
                    </a:p>
                  </a:txBody>
                  <a:tcPr/>
                </a:tc>
              </a:tr>
            </a:tbl>
          </a:graphicData>
        </a:graphic>
      </p:graphicFrame>
      <p:sp>
        <p:nvSpPr>
          <p:cNvPr id="29" name="文本框 28"/>
          <p:cNvSpPr txBox="1"/>
          <p:nvPr/>
        </p:nvSpPr>
        <p:spPr>
          <a:xfrm>
            <a:off x="611505" y="5797550"/>
            <a:ext cx="6562725" cy="562610"/>
          </a:xfrm>
          <a:prstGeom prst="rect">
            <a:avLst/>
          </a:prstGeom>
          <a:noFill/>
        </p:spPr>
        <p:txBody>
          <a:bodyPr wrap="square" rtlCol="0">
            <a:noAutofit/>
          </a:bodyPr>
          <a:lstStyle/>
          <a:p>
            <a:r>
              <a:rPr lang="en-US" altLang="zh-CN">
                <a:solidFill>
                  <a:schemeClr val="tx1"/>
                </a:solidFill>
                <a:uFillTx/>
                <a:latin typeface="Times New Roman" panose="02020603050405020304" pitchFamily="18" charset="0"/>
                <a:cs typeface="Times New Roman" panose="02020603050405020304" pitchFamily="18" charset="0"/>
              </a:rPr>
              <a:t>T</a:t>
            </a:r>
            <a:r>
              <a:rPr lang="zh-CN" altLang="en-US">
                <a:solidFill>
                  <a:schemeClr val="tx1"/>
                </a:solidFill>
                <a:uFillTx/>
                <a:latin typeface="Times New Roman" panose="02020603050405020304" pitchFamily="18" charset="0"/>
                <a:cs typeface="Times New Roman" panose="02020603050405020304" pitchFamily="18" charset="0"/>
              </a:rPr>
              <a:t>是最优解，此时</a:t>
            </a:r>
            <a:r>
              <a:rPr lang="en-US" altLang="zh-CN">
                <a:solidFill>
                  <a:schemeClr val="tx1"/>
                </a:solidFill>
                <a:uFillTx/>
                <a:latin typeface="Times New Roman" panose="02020603050405020304" pitchFamily="18" charset="0"/>
                <a:cs typeface="Times New Roman" panose="02020603050405020304" pitchFamily="18" charset="0"/>
              </a:rPr>
              <a:t>1</a:t>
            </a:r>
            <a:r>
              <a:rPr lang="zh-CN" altLang="en-US">
                <a:solidFill>
                  <a:schemeClr val="tx1"/>
                </a:solidFill>
                <a:uFillTx/>
                <a:latin typeface="Times New Roman" panose="02020603050405020304" pitchFamily="18" charset="0"/>
                <a:cs typeface="Times New Roman" panose="02020603050405020304" pitchFamily="18" charset="0"/>
              </a:rPr>
              <a:t>替换之后，</a:t>
            </a:r>
            <a:r>
              <a:rPr lang="en-US" altLang="zh-CN">
                <a:solidFill>
                  <a:schemeClr val="tx1"/>
                </a:solidFill>
                <a:uFillTx/>
                <a:latin typeface="Times New Roman" panose="02020603050405020304" pitchFamily="18" charset="0"/>
                <a:cs typeface="Times New Roman" panose="02020603050405020304" pitchFamily="18" charset="0"/>
              </a:rPr>
              <a:t>T`</a:t>
            </a:r>
            <a:r>
              <a:rPr lang="zh-CN" altLang="en-US">
                <a:solidFill>
                  <a:schemeClr val="tx1"/>
                </a:solidFill>
                <a:uFillTx/>
                <a:latin typeface="Times New Roman" panose="02020603050405020304" pitchFamily="18" charset="0"/>
                <a:cs typeface="Times New Roman" panose="02020603050405020304" pitchFamily="18" charset="0"/>
              </a:rPr>
              <a:t>也是最优解。所以说我们的首项成立。</a:t>
            </a:r>
            <a:endParaRPr lang="zh-CN" altLang="en-US">
              <a:solidFill>
                <a:schemeClr val="tx1"/>
              </a:solidFill>
              <a:uFillTx/>
              <a:latin typeface="Times New Roman" panose="02020603050405020304" pitchFamily="18" charset="0"/>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additive="base">
                                        <p:cTn id="7" dur="500" fill="hold"/>
                                        <p:tgtEl>
                                          <p:spTgt spid="26"/>
                                        </p:tgtEl>
                                        <p:attrNameLst>
                                          <p:attrName>ppt_x</p:attrName>
                                        </p:attrNameLst>
                                      </p:cBhvr>
                                      <p:tavLst>
                                        <p:tav tm="0">
                                          <p:val>
                                            <p:strVal val="#ppt_x"/>
                                          </p:val>
                                        </p:tav>
                                        <p:tav tm="100000">
                                          <p:val>
                                            <p:strVal val="#ppt_x"/>
                                          </p:val>
                                        </p:tav>
                                      </p:tavLst>
                                    </p:anim>
                                    <p:anim calcmode="lin" valueType="num">
                                      <p:cBhvr additive="base">
                                        <p:cTn id="8"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bldLvl="0" animBg="1"/>
      <p:bldP spid="26"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云形标注 25"/>
          <p:cNvSpPr/>
          <p:nvPr/>
        </p:nvSpPr>
        <p:spPr>
          <a:xfrm>
            <a:off x="7236460" y="1694180"/>
            <a:ext cx="1877060" cy="891540"/>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rPr>
              <a:t>找到前一张推倒后一张多米诺骨牌。</a:t>
            </a:r>
            <a:endPar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endParaRPr>
          </a:p>
        </p:txBody>
      </p:sp>
      <p:sp>
        <p:nvSpPr>
          <p:cNvPr id="3" name="文本框 2"/>
          <p:cNvSpPr txBox="1"/>
          <p:nvPr/>
        </p:nvSpPr>
        <p:spPr>
          <a:xfrm>
            <a:off x="467995" y="1052830"/>
            <a:ext cx="7889875" cy="328295"/>
          </a:xfrm>
          <a:prstGeom prst="rect">
            <a:avLst/>
          </a:prstGeom>
          <a:noFill/>
        </p:spPr>
        <p:txBody>
          <a:bodyPr wrap="square" rtlCol="0" anchor="t">
            <a:noAutofit/>
          </a:bodyPr>
          <a:lstStyle/>
          <a:p>
            <a:pPr marL="0" marR="0" indent="0" algn="l" defTabSz="914400" rtl="0" eaLnBrk="1" fontAlgn="base" latinLnBrk="0" hangingPunct="1">
              <a:lnSpc>
                <a:spcPct val="100000"/>
              </a:lnSpc>
              <a:spcBef>
                <a:spcPct val="0"/>
              </a:spcBef>
              <a:spcAft>
                <a:spcPct val="0"/>
              </a:spcAft>
              <a:buClrTx/>
              <a:buSzTx/>
              <a:buFontTx/>
              <a:buNone/>
            </a:pPr>
            <a:r>
              <a:rPr lang="zh-CN" altLang="en-US" sz="1800" b="1">
                <a:ln>
                  <a:noFill/>
                </a:ln>
                <a:effectLst/>
                <a:latin typeface="宋体" panose="02010600030101010101" pitchFamily="2" charset="-122"/>
                <a:cs typeface="Times New Roman" panose="02020603050405020304" pitchFamily="18" charset="0"/>
                <a:sym typeface="+mn-ea"/>
              </a:rPr>
              <a:t>归纳步骤：假设选择前</a:t>
            </a:r>
            <a:r>
              <a:rPr lang="en-US" altLang="zh-CN" sz="1800" b="1">
                <a:ln>
                  <a:noFill/>
                </a:ln>
                <a:effectLst/>
                <a:latin typeface="宋体" panose="02010600030101010101" pitchFamily="2" charset="-122"/>
                <a:cs typeface="Times New Roman" panose="02020603050405020304" pitchFamily="18" charset="0"/>
                <a:sym typeface="+mn-ea"/>
              </a:rPr>
              <a:t>k</a:t>
            </a:r>
            <a:r>
              <a:rPr lang="zh-CN" altLang="en-US" sz="1800" b="1">
                <a:ln>
                  <a:noFill/>
                </a:ln>
                <a:effectLst/>
                <a:latin typeface="宋体" panose="02010600030101010101" pitchFamily="2" charset="-122"/>
                <a:cs typeface="Times New Roman" panose="02020603050405020304" pitchFamily="18" charset="0"/>
                <a:sym typeface="+mn-ea"/>
              </a:rPr>
              <a:t>项最早结束的课程为真，证明选择</a:t>
            </a:r>
            <a:r>
              <a:rPr lang="en-US" altLang="zh-CN" sz="1800" b="1">
                <a:ln>
                  <a:noFill/>
                </a:ln>
                <a:effectLst/>
                <a:latin typeface="宋体" panose="02010600030101010101" pitchFamily="2" charset="-122"/>
                <a:cs typeface="Times New Roman" panose="02020603050405020304" pitchFamily="18" charset="0"/>
                <a:sym typeface="+mn-ea"/>
              </a:rPr>
              <a:t>k+1</a:t>
            </a:r>
            <a:r>
              <a:rPr lang="zh-CN" altLang="en-US" sz="1800" b="1">
                <a:ln>
                  <a:noFill/>
                </a:ln>
                <a:effectLst/>
                <a:latin typeface="宋体" panose="02010600030101010101" pitchFamily="2" charset="-122"/>
                <a:cs typeface="Times New Roman" panose="02020603050405020304" pitchFamily="18" charset="0"/>
                <a:sym typeface="+mn-ea"/>
              </a:rPr>
              <a:t>也为真。</a:t>
            </a:r>
            <a:endParaRPr lang="zh-CN" altLang="en-US" sz="1800" b="1">
              <a:ln>
                <a:noFill/>
              </a:ln>
              <a:effectLst/>
              <a:latin typeface="宋体" panose="02010600030101010101" pitchFamily="2" charset="-122"/>
              <a:cs typeface="Times New Roman" panose="02020603050405020304" pitchFamily="18" charset="0"/>
              <a:sym typeface="+mn-ea"/>
            </a:endParaRPr>
          </a:p>
        </p:txBody>
      </p:sp>
      <p:sp>
        <p:nvSpPr>
          <p:cNvPr id="5" name="文本框 4"/>
          <p:cNvSpPr txBox="1"/>
          <p:nvPr/>
        </p:nvSpPr>
        <p:spPr>
          <a:xfrm>
            <a:off x="539750" y="1988820"/>
            <a:ext cx="6562725" cy="562610"/>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cs typeface="Times New Roman" panose="02020603050405020304" pitchFamily="18" charset="0"/>
              </a:rPr>
              <a:t>用字母</a:t>
            </a:r>
            <a:r>
              <a:rPr lang="en-US" altLang="zh-CN">
                <a:uFillTx/>
                <a:latin typeface="Times New Roman" panose="02020603050405020304" pitchFamily="18" charset="0"/>
                <a:cs typeface="Times New Roman" panose="02020603050405020304" pitchFamily="18" charset="0"/>
                <a:sym typeface="+mn-ea"/>
              </a:rPr>
              <a:t>T</a:t>
            </a:r>
            <a:r>
              <a:rPr lang="zh-CN" altLang="en-US">
                <a:solidFill>
                  <a:schemeClr val="tx1"/>
                </a:solidFill>
                <a:uFillTx/>
                <a:latin typeface="Times New Roman" panose="02020603050405020304" pitchFamily="18" charset="0"/>
                <a:cs typeface="Times New Roman" panose="02020603050405020304" pitchFamily="18" charset="0"/>
              </a:rPr>
              <a:t>表示问题最优解的集合</a:t>
            </a:r>
            <a:r>
              <a:rPr lang="zh-CN">
                <a:solidFill>
                  <a:schemeClr val="tx1"/>
                </a:solidFill>
                <a:uFillTx/>
                <a:latin typeface="Times New Roman" panose="02020603050405020304" pitchFamily="18" charset="0"/>
                <a:cs typeface="Times New Roman" panose="02020603050405020304" pitchFamily="18" charset="0"/>
              </a:rPr>
              <a:t>。</a:t>
            </a:r>
            <a:endParaRPr lang="zh-CN">
              <a:solidFill>
                <a:schemeClr val="tx1"/>
              </a:solidFill>
              <a:uFillTx/>
              <a:latin typeface="Times New Roman" panose="02020603050405020304" pitchFamily="18" charset="0"/>
              <a:cs typeface="Times New Roman" panose="02020603050405020304" pitchFamily="18" charset="0"/>
            </a:endParaRPr>
          </a:p>
        </p:txBody>
      </p:sp>
      <p:sp>
        <p:nvSpPr>
          <p:cNvPr id="4" name="圆角矩形 3"/>
          <p:cNvSpPr/>
          <p:nvPr/>
        </p:nvSpPr>
        <p:spPr>
          <a:xfrm>
            <a:off x="755650" y="313245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k</a:t>
            </a:r>
            <a:endPar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 name="圆角矩形 5"/>
          <p:cNvSpPr/>
          <p:nvPr/>
        </p:nvSpPr>
        <p:spPr>
          <a:xfrm>
            <a:off x="2915285" y="315912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             </a:t>
            </a:r>
            <a:r>
              <a:rPr kumimoji="0" lang="zh-CN" altLang="en-US" sz="1800" b="0" i="1" u="none" strike="noStrike" cap="none" normalizeH="0" baseline="0">
                <a:ln>
                  <a:noFill/>
                </a:ln>
                <a:solidFill>
                  <a:schemeClr val="tx1"/>
                </a:solidFill>
                <a:effectLst/>
                <a:latin typeface="宋体" panose="02010600030101010101" pitchFamily="2" charset="-122"/>
                <a:cs typeface="宋体" panose="02010600030101010101" pitchFamily="2" charset="-122"/>
              </a:rPr>
              <a:t>待选集</a:t>
            </a:r>
            <a:r>
              <a:rPr kumimoji="0" lang="en-US" altLang="zh-CN" sz="1800" b="0" i="1" u="none" strike="noStrike" cap="none" normalizeH="0" baseline="0">
                <a:ln>
                  <a:noFill/>
                </a:ln>
                <a:solidFill>
                  <a:schemeClr val="tx1"/>
                </a:solidFill>
                <a:effectLst/>
                <a:latin typeface="宋体" panose="02010600030101010101" pitchFamily="2" charset="-122"/>
                <a:cs typeface="宋体" panose="02010600030101010101" pitchFamily="2" charset="-122"/>
              </a:rPr>
              <a:t>S’</a:t>
            </a:r>
            <a:endParaRPr kumimoji="0" lang="en-US" altLang="zh-CN" sz="1800" b="0" i="1" u="none" strike="noStrike" cap="none" normalizeH="0" baseline="0">
              <a:ln>
                <a:noFill/>
              </a:ln>
              <a:solidFill>
                <a:schemeClr val="tx1"/>
              </a:solidFill>
              <a:effectLst/>
              <a:latin typeface="宋体" panose="02010600030101010101" pitchFamily="2" charset="-122"/>
              <a:cs typeface="宋体" panose="02010600030101010101" pitchFamily="2" charset="-122"/>
            </a:endParaRPr>
          </a:p>
        </p:txBody>
      </p:sp>
      <p:sp>
        <p:nvSpPr>
          <p:cNvPr id="8" name="圆角矩形 7"/>
          <p:cNvSpPr/>
          <p:nvPr/>
        </p:nvSpPr>
        <p:spPr>
          <a:xfrm>
            <a:off x="2987675" y="3284855"/>
            <a:ext cx="503555" cy="360045"/>
          </a:xfrm>
          <a:prstGeom prst="roundRect">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9" name="圆角矩形 8"/>
          <p:cNvSpPr/>
          <p:nvPr/>
        </p:nvSpPr>
        <p:spPr>
          <a:xfrm>
            <a:off x="611505" y="2708910"/>
            <a:ext cx="3023870" cy="1584325"/>
          </a:xfrm>
          <a:prstGeom prst="round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755650" y="2348865"/>
            <a:ext cx="462915" cy="360045"/>
          </a:xfrm>
          <a:prstGeom prst="rect">
            <a:avLst/>
          </a:prstGeom>
          <a:noFill/>
        </p:spPr>
        <p:txBody>
          <a:bodyPr wrap="square" rtlCol="0" anchor="t">
            <a:noAutofit/>
          </a:bodyPr>
          <a:lstStyle/>
          <a:p>
            <a:r>
              <a:rPr lang="en-US" altLang="zh-CN">
                <a:uFillTx/>
                <a:latin typeface="Times New Roman" panose="02020603050405020304" pitchFamily="18" charset="0"/>
                <a:cs typeface="Times New Roman" panose="02020603050405020304" pitchFamily="18" charset="0"/>
                <a:sym typeface="+mn-ea"/>
              </a:rPr>
              <a:t>T</a:t>
            </a:r>
            <a:endParaRPr lang="en-US" altLang="zh-CN">
              <a:uFillTx/>
              <a:latin typeface="Times New Roman" panose="02020603050405020304" pitchFamily="18" charset="0"/>
              <a:cs typeface="Times New Roman" panose="02020603050405020304" pitchFamily="18" charset="0"/>
              <a:sym typeface="+mn-ea"/>
            </a:endParaRPr>
          </a:p>
        </p:txBody>
      </p:sp>
      <p:sp>
        <p:nvSpPr>
          <p:cNvPr id="11" name="圆角矩形 10"/>
          <p:cNvSpPr/>
          <p:nvPr/>
        </p:nvSpPr>
        <p:spPr>
          <a:xfrm>
            <a:off x="5120640" y="315912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rPr>
              <a:t>与前</a:t>
            </a:r>
            <a:r>
              <a:rPr kumimoji="0" lang="en-US" altLang="zh-CN" sz="1800" b="0" i="1" baseline="0">
                <a:ln>
                  <a:noFill/>
                </a:ln>
                <a:solidFill>
                  <a:schemeClr val="tx1"/>
                </a:solidFill>
                <a:effectLst/>
                <a:uFillTx/>
                <a:latin typeface="Times New Roman" panose="02020603050405020304" pitchFamily="18" charset="0"/>
                <a:cs typeface="Times New Roman" panose="02020603050405020304" pitchFamily="18" charset="0"/>
              </a:rPr>
              <a:t>k</a:t>
            </a:r>
            <a:r>
              <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rPr>
              <a:t>个不相容的课程</a:t>
            </a:r>
            <a:endPar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endParaRPr>
          </a:p>
        </p:txBody>
      </p:sp>
      <p:sp>
        <p:nvSpPr>
          <p:cNvPr id="12" name="文本框 11"/>
          <p:cNvSpPr txBox="1"/>
          <p:nvPr/>
        </p:nvSpPr>
        <p:spPr>
          <a:xfrm>
            <a:off x="683260" y="4563745"/>
            <a:ext cx="7434580" cy="302260"/>
          </a:xfrm>
          <a:prstGeom prst="rect">
            <a:avLst/>
          </a:prstGeom>
          <a:noFill/>
        </p:spPr>
        <p:txBody>
          <a:bodyPr wrap="square" rtlCol="0" anchor="t">
            <a:noAutofit/>
          </a:bodyPr>
          <a:lstStyle/>
          <a:p>
            <a:r>
              <a:rPr lang="zh-CN" altLang="en-US">
                <a:uFillTx/>
                <a:latin typeface="Times New Roman" panose="02020603050405020304" pitchFamily="18" charset="0"/>
                <a:cs typeface="Times New Roman" panose="02020603050405020304" pitchFamily="18" charset="0"/>
                <a:sym typeface="+mn-ea"/>
              </a:rPr>
              <a:t>最优解</a:t>
            </a:r>
            <a:r>
              <a:rPr lang="en-US" altLang="zh-CN">
                <a:uFillTx/>
                <a:latin typeface="Times New Roman" panose="02020603050405020304" pitchFamily="18" charset="0"/>
                <a:cs typeface="Times New Roman" panose="02020603050405020304" pitchFamily="18" charset="0"/>
                <a:sym typeface="+mn-ea"/>
              </a:rPr>
              <a:t>T</a:t>
            </a:r>
            <a:r>
              <a:rPr lang="zh-CN" altLang="en-US">
                <a:uFillTx/>
                <a:latin typeface="Times New Roman" panose="02020603050405020304" pitchFamily="18" charset="0"/>
                <a:cs typeface="Times New Roman" panose="02020603050405020304" pitchFamily="18" charset="0"/>
                <a:sym typeface="+mn-ea"/>
              </a:rPr>
              <a:t>是前</a:t>
            </a:r>
            <a:r>
              <a:rPr lang="en-US" altLang="zh-CN">
                <a:uFillTx/>
                <a:latin typeface="Times New Roman" panose="02020603050405020304" pitchFamily="18" charset="0"/>
                <a:cs typeface="Times New Roman" panose="02020603050405020304" pitchFamily="18" charset="0"/>
                <a:sym typeface="+mn-ea"/>
              </a:rPr>
              <a:t>{i1,i2,...,ik} U B</a:t>
            </a:r>
            <a:r>
              <a:rPr lang="zh-CN" altLang="en-US">
                <a:uFillTx/>
                <a:latin typeface="Times New Roman" panose="02020603050405020304" pitchFamily="18" charset="0"/>
                <a:cs typeface="Times New Roman" panose="02020603050405020304" pitchFamily="18" charset="0"/>
                <a:sym typeface="+mn-ea"/>
              </a:rPr>
              <a:t>，并且</a:t>
            </a:r>
            <a:r>
              <a:rPr lang="en-US" altLang="zh-CN">
                <a:uFillTx/>
                <a:latin typeface="Times New Roman" panose="02020603050405020304" pitchFamily="18" charset="0"/>
                <a:cs typeface="Times New Roman" panose="02020603050405020304" pitchFamily="18" charset="0"/>
                <a:sym typeface="+mn-ea"/>
              </a:rPr>
              <a:t>B</a:t>
            </a:r>
            <a:r>
              <a:rPr lang="zh-CN" altLang="en-US">
                <a:uFillTx/>
                <a:latin typeface="Times New Roman" panose="02020603050405020304" pitchFamily="18" charset="0"/>
                <a:cs typeface="Times New Roman" panose="02020603050405020304" pitchFamily="18" charset="0"/>
                <a:sym typeface="+mn-ea"/>
              </a:rPr>
              <a:t>集合一定待选集合</a:t>
            </a:r>
            <a:r>
              <a:rPr lang="en-US" altLang="zh-CN">
                <a:uFillTx/>
                <a:latin typeface="Times New Roman" panose="02020603050405020304" pitchFamily="18" charset="0"/>
                <a:cs typeface="Times New Roman" panose="02020603050405020304" pitchFamily="18" charset="0"/>
                <a:sym typeface="+mn-ea"/>
              </a:rPr>
              <a:t>S’</a:t>
            </a:r>
            <a:r>
              <a:rPr lang="zh-CN" altLang="en-US">
                <a:uFillTx/>
                <a:latin typeface="Times New Roman" panose="02020603050405020304" pitchFamily="18" charset="0"/>
                <a:cs typeface="Times New Roman" panose="02020603050405020304" pitchFamily="18" charset="0"/>
                <a:sym typeface="+mn-ea"/>
              </a:rPr>
              <a:t>中的最优解。</a:t>
            </a:r>
            <a:endParaRPr lang="zh-CN" altLang="en-US">
              <a:uFillTx/>
              <a:latin typeface="Times New Roman" panose="02020603050405020304" pitchFamily="18" charset="0"/>
              <a:cs typeface="Times New Roman" panose="02020603050405020304" pitchFamily="18" charset="0"/>
              <a:sym typeface="+mn-ea"/>
            </a:endParaRPr>
          </a:p>
        </p:txBody>
      </p:sp>
      <p:sp>
        <p:nvSpPr>
          <p:cNvPr id="13" name="圆角矩形 12"/>
          <p:cNvSpPr/>
          <p:nvPr/>
        </p:nvSpPr>
        <p:spPr>
          <a:xfrm>
            <a:off x="710565" y="541845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k</a:t>
            </a:r>
            <a:endPar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圆角矩形 13"/>
          <p:cNvSpPr/>
          <p:nvPr/>
        </p:nvSpPr>
        <p:spPr>
          <a:xfrm>
            <a:off x="2870200" y="544512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             </a:t>
            </a:r>
            <a:r>
              <a:rPr kumimoji="0" lang="zh-CN" altLang="en-US" sz="1800" b="0" i="1" u="none" strike="noStrike" cap="none" normalizeH="0" baseline="0">
                <a:ln>
                  <a:noFill/>
                </a:ln>
                <a:solidFill>
                  <a:schemeClr val="tx1"/>
                </a:solidFill>
                <a:effectLst/>
                <a:latin typeface="宋体" panose="02010600030101010101" pitchFamily="2" charset="-122"/>
                <a:cs typeface="宋体" panose="02010600030101010101" pitchFamily="2" charset="-122"/>
              </a:rPr>
              <a:t>待选集</a:t>
            </a:r>
            <a:r>
              <a:rPr kumimoji="0" lang="en-US" altLang="zh-CN" sz="1800" b="0" i="1" u="none" strike="noStrike" cap="none" normalizeH="0" baseline="0">
                <a:ln>
                  <a:noFill/>
                </a:ln>
                <a:solidFill>
                  <a:schemeClr val="tx1"/>
                </a:solidFill>
                <a:effectLst/>
                <a:latin typeface="宋体" panose="02010600030101010101" pitchFamily="2" charset="-122"/>
                <a:cs typeface="宋体" panose="02010600030101010101" pitchFamily="2" charset="-122"/>
              </a:rPr>
              <a:t>S’</a:t>
            </a:r>
            <a:endParaRPr kumimoji="0" lang="en-US" altLang="zh-CN" sz="1800" b="0" i="1" u="none" strike="noStrike" cap="none" normalizeH="0" baseline="0">
              <a:ln>
                <a:noFill/>
              </a:ln>
              <a:solidFill>
                <a:schemeClr val="tx1"/>
              </a:solidFill>
              <a:effectLst/>
              <a:latin typeface="宋体" panose="02010600030101010101" pitchFamily="2" charset="-122"/>
              <a:cs typeface="宋体" panose="02010600030101010101" pitchFamily="2" charset="-122"/>
            </a:endParaRPr>
          </a:p>
        </p:txBody>
      </p:sp>
      <p:sp>
        <p:nvSpPr>
          <p:cNvPr id="15" name="圆角矩形 14"/>
          <p:cNvSpPr/>
          <p:nvPr/>
        </p:nvSpPr>
        <p:spPr>
          <a:xfrm>
            <a:off x="2942590" y="5570855"/>
            <a:ext cx="503555" cy="360045"/>
          </a:xfrm>
          <a:prstGeom prst="roundRect">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圆角矩形 15"/>
          <p:cNvSpPr/>
          <p:nvPr/>
        </p:nvSpPr>
        <p:spPr>
          <a:xfrm>
            <a:off x="566420" y="4994910"/>
            <a:ext cx="3023870" cy="1584325"/>
          </a:xfrm>
          <a:prstGeom prst="round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圆角矩形 16"/>
          <p:cNvSpPr/>
          <p:nvPr/>
        </p:nvSpPr>
        <p:spPr>
          <a:xfrm>
            <a:off x="5075555" y="544512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rPr>
              <a:t>与前</a:t>
            </a:r>
            <a:r>
              <a:rPr kumimoji="0" lang="en-US" altLang="zh-CN" sz="1800" b="0" i="1" baseline="0">
                <a:ln>
                  <a:noFill/>
                </a:ln>
                <a:solidFill>
                  <a:schemeClr val="tx1"/>
                </a:solidFill>
                <a:effectLst/>
                <a:uFillTx/>
                <a:latin typeface="Times New Roman" panose="02020603050405020304" pitchFamily="18" charset="0"/>
                <a:cs typeface="Times New Roman" panose="02020603050405020304" pitchFamily="18" charset="0"/>
              </a:rPr>
              <a:t>k</a:t>
            </a:r>
            <a:r>
              <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rPr>
              <a:t>个不相容的课程</a:t>
            </a:r>
            <a:endPar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endParaRPr>
          </a:p>
        </p:txBody>
      </p:sp>
      <p:sp>
        <p:nvSpPr>
          <p:cNvPr id="18" name="圆角矩形 17"/>
          <p:cNvSpPr/>
          <p:nvPr/>
        </p:nvSpPr>
        <p:spPr>
          <a:xfrm>
            <a:off x="2942590" y="6021705"/>
            <a:ext cx="503555" cy="360045"/>
          </a:xfrm>
          <a:prstGeom prst="roundRect">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7164705" y="5289550"/>
            <a:ext cx="1948815" cy="1171575"/>
          </a:xfrm>
          <a:prstGeom prst="rect">
            <a:avLst/>
          </a:prstGeom>
          <a:noFill/>
        </p:spPr>
        <p:txBody>
          <a:bodyPr wrap="square" rtlCol="0" anchor="t">
            <a:noAutofit/>
          </a:bodyPr>
          <a:lstStyle/>
          <a:p>
            <a:r>
              <a:rPr lang="zh-CN" altLang="en-US">
                <a:solidFill>
                  <a:srgbClr val="FF0000"/>
                </a:solidFill>
                <a:uFillTx/>
                <a:latin typeface="Times New Roman" panose="02020603050405020304" pitchFamily="18" charset="0"/>
                <a:cs typeface="Times New Roman" panose="02020603050405020304" pitchFamily="18" charset="0"/>
                <a:sym typeface="+mn-ea"/>
              </a:rPr>
              <a:t>假如</a:t>
            </a:r>
            <a:r>
              <a:rPr lang="en-US" altLang="zh-CN">
                <a:solidFill>
                  <a:srgbClr val="FF0000"/>
                </a:solidFill>
                <a:uFillTx/>
                <a:latin typeface="Times New Roman" panose="02020603050405020304" pitchFamily="18" charset="0"/>
                <a:cs typeface="Times New Roman" panose="02020603050405020304" pitchFamily="18" charset="0"/>
                <a:sym typeface="+mn-ea"/>
              </a:rPr>
              <a:t>B</a:t>
            </a:r>
            <a:r>
              <a:rPr lang="zh-CN" altLang="en-US">
                <a:solidFill>
                  <a:srgbClr val="FF0000"/>
                </a:solidFill>
                <a:uFillTx/>
                <a:latin typeface="Times New Roman" panose="02020603050405020304" pitchFamily="18" charset="0"/>
                <a:cs typeface="Times New Roman" panose="02020603050405020304" pitchFamily="18" charset="0"/>
                <a:sym typeface="+mn-ea"/>
              </a:rPr>
              <a:t>不是最优解，</a:t>
            </a:r>
            <a:r>
              <a:rPr lang="en-US" altLang="zh-CN">
                <a:solidFill>
                  <a:srgbClr val="FF0000"/>
                </a:solidFill>
                <a:uFillTx/>
                <a:latin typeface="Times New Roman" panose="02020603050405020304" pitchFamily="18" charset="0"/>
                <a:cs typeface="Times New Roman" panose="02020603050405020304" pitchFamily="18" charset="0"/>
                <a:sym typeface="+mn-ea"/>
              </a:rPr>
              <a:t>B*</a:t>
            </a:r>
            <a:r>
              <a:rPr lang="zh-CN" altLang="en-US">
                <a:solidFill>
                  <a:srgbClr val="FF0000"/>
                </a:solidFill>
                <a:uFillTx/>
                <a:latin typeface="Times New Roman" panose="02020603050405020304" pitchFamily="18" charset="0"/>
                <a:cs typeface="Times New Roman" panose="02020603050405020304" pitchFamily="18" charset="0"/>
                <a:sym typeface="+mn-ea"/>
              </a:rPr>
              <a:t>是最优解则</a:t>
            </a:r>
            <a:r>
              <a:rPr lang="en-US" altLang="zh-CN">
                <a:solidFill>
                  <a:srgbClr val="FF0000"/>
                </a:solidFill>
                <a:uFillTx/>
                <a:latin typeface="Times New Roman" panose="02020603050405020304" pitchFamily="18" charset="0"/>
                <a:cs typeface="Times New Roman" panose="02020603050405020304" pitchFamily="18" charset="0"/>
                <a:sym typeface="+mn-ea"/>
              </a:rPr>
              <a:t>T</a:t>
            </a:r>
            <a:r>
              <a:rPr lang="zh-CN" altLang="en-US">
                <a:solidFill>
                  <a:srgbClr val="FF0000"/>
                </a:solidFill>
                <a:uFillTx/>
                <a:latin typeface="Times New Roman" panose="02020603050405020304" pitchFamily="18" charset="0"/>
                <a:cs typeface="Times New Roman" panose="02020603050405020304" pitchFamily="18" charset="0"/>
                <a:sym typeface="+mn-ea"/>
              </a:rPr>
              <a:t>就是不是我们假设的最优解。</a:t>
            </a:r>
            <a:endParaRPr lang="zh-CN" altLang="en-US">
              <a:solidFill>
                <a:srgbClr val="FF0000"/>
              </a:solidFill>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additive="base">
                                        <p:cTn id="7" dur="500" fill="hold"/>
                                        <p:tgtEl>
                                          <p:spTgt spid="26"/>
                                        </p:tgtEl>
                                        <p:attrNameLst>
                                          <p:attrName>ppt_x</p:attrName>
                                        </p:attrNameLst>
                                      </p:cBhvr>
                                      <p:tavLst>
                                        <p:tav tm="0">
                                          <p:val>
                                            <p:strVal val="#ppt_x"/>
                                          </p:val>
                                        </p:tav>
                                        <p:tav tm="100000">
                                          <p:val>
                                            <p:strVal val="#ppt_x"/>
                                          </p:val>
                                        </p:tav>
                                      </p:tavLst>
                                    </p:anim>
                                    <p:anim calcmode="lin" valueType="num">
                                      <p:cBhvr additive="base">
                                        <p:cTn id="8"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bldLvl="0" animBg="1"/>
      <p:bldP spid="26"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494665" y="1341120"/>
            <a:ext cx="3469005" cy="340360"/>
          </a:xfrm>
          <a:prstGeom prst="rect">
            <a:avLst/>
          </a:prstGeom>
          <a:noFill/>
        </p:spPr>
        <p:txBody>
          <a:bodyPr wrap="square" rtlCol="0" anchor="t">
            <a:noAutofit/>
          </a:bodyPr>
          <a:lstStyle/>
          <a:p>
            <a:r>
              <a:rPr lang="zh-CN" altLang="en-US">
                <a:uFillTx/>
                <a:latin typeface="Times New Roman" panose="02020603050405020304" pitchFamily="18" charset="0"/>
                <a:cs typeface="Times New Roman" panose="02020603050405020304" pitchFamily="18" charset="0"/>
                <a:sym typeface="+mn-ea"/>
              </a:rPr>
              <a:t>最优解</a:t>
            </a:r>
            <a:r>
              <a:rPr lang="en-US" altLang="zh-CN">
                <a:uFillTx/>
                <a:latin typeface="Times New Roman" panose="02020603050405020304" pitchFamily="18" charset="0"/>
                <a:cs typeface="Times New Roman" panose="02020603050405020304" pitchFamily="18" charset="0"/>
                <a:sym typeface="+mn-ea"/>
              </a:rPr>
              <a:t>T={</a:t>
            </a:r>
            <a:r>
              <a:rPr lang="en-US" altLang="zh-CN"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1</a:t>
            </a:r>
            <a:r>
              <a:rPr lang="en-US" altLang="zh-CN"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2</a:t>
            </a:r>
            <a:r>
              <a:rPr lang="en-US" altLang="zh-CN"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k</a:t>
            </a:r>
            <a:r>
              <a:rPr lang="en-US" altLang="zh-CN">
                <a:uFillTx/>
                <a:latin typeface="Times New Roman" panose="02020603050405020304" pitchFamily="18" charset="0"/>
                <a:cs typeface="Times New Roman" panose="02020603050405020304" pitchFamily="18" charset="0"/>
                <a:sym typeface="+mn-ea"/>
              </a:rPr>
              <a:t>}+B</a:t>
            </a:r>
            <a:endParaRPr lang="zh-CN" altLang="en-US">
              <a:uFillTx/>
              <a:latin typeface="Times New Roman" panose="02020603050405020304" pitchFamily="18" charset="0"/>
              <a:cs typeface="Times New Roman" panose="02020603050405020304" pitchFamily="18" charset="0"/>
              <a:sym typeface="+mn-ea"/>
            </a:endParaRPr>
          </a:p>
        </p:txBody>
      </p:sp>
      <p:sp>
        <p:nvSpPr>
          <p:cNvPr id="13" name="圆角矩形 12"/>
          <p:cNvSpPr/>
          <p:nvPr/>
        </p:nvSpPr>
        <p:spPr>
          <a:xfrm>
            <a:off x="494665" y="269938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k</a:t>
            </a:r>
            <a:endPar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圆角矩形 13"/>
          <p:cNvSpPr/>
          <p:nvPr/>
        </p:nvSpPr>
        <p:spPr>
          <a:xfrm>
            <a:off x="2654300" y="272605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             </a:t>
            </a:r>
            <a:r>
              <a:rPr kumimoji="0" lang="zh-CN" altLang="en-US" sz="1800" b="0" i="1" u="none" strike="noStrike" cap="none" normalizeH="0" baseline="0">
                <a:ln>
                  <a:noFill/>
                </a:ln>
                <a:solidFill>
                  <a:schemeClr val="tx1"/>
                </a:solidFill>
                <a:effectLst/>
                <a:latin typeface="宋体" panose="02010600030101010101" pitchFamily="2" charset="-122"/>
                <a:cs typeface="宋体" panose="02010600030101010101" pitchFamily="2" charset="-122"/>
              </a:rPr>
              <a:t>待选集</a:t>
            </a:r>
            <a:r>
              <a:rPr kumimoji="0" lang="en-US" altLang="zh-CN" sz="1800" b="0" i="1" u="none" strike="noStrike" cap="none" normalizeH="0" baseline="0">
                <a:ln>
                  <a:noFill/>
                </a:ln>
                <a:solidFill>
                  <a:schemeClr val="tx1"/>
                </a:solidFill>
                <a:effectLst/>
                <a:latin typeface="宋体" panose="02010600030101010101" pitchFamily="2" charset="-122"/>
                <a:cs typeface="宋体" panose="02010600030101010101" pitchFamily="2" charset="-122"/>
              </a:rPr>
              <a:t>S’</a:t>
            </a:r>
            <a:endParaRPr kumimoji="0" lang="en-US" altLang="zh-CN" sz="1800" b="0" i="1" u="none" strike="noStrike" cap="none" normalizeH="0" baseline="0">
              <a:ln>
                <a:noFill/>
              </a:ln>
              <a:solidFill>
                <a:schemeClr val="tx1"/>
              </a:solidFill>
              <a:effectLst/>
              <a:latin typeface="宋体" panose="02010600030101010101" pitchFamily="2" charset="-122"/>
              <a:cs typeface="宋体" panose="02010600030101010101" pitchFamily="2" charset="-122"/>
            </a:endParaRPr>
          </a:p>
        </p:txBody>
      </p:sp>
      <p:sp>
        <p:nvSpPr>
          <p:cNvPr id="15" name="圆角矩形 14"/>
          <p:cNvSpPr/>
          <p:nvPr/>
        </p:nvSpPr>
        <p:spPr>
          <a:xfrm>
            <a:off x="2726690" y="2851785"/>
            <a:ext cx="503555" cy="360045"/>
          </a:xfrm>
          <a:prstGeom prst="roundRect">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圆角矩形 15"/>
          <p:cNvSpPr/>
          <p:nvPr/>
        </p:nvSpPr>
        <p:spPr>
          <a:xfrm>
            <a:off x="350520" y="2275840"/>
            <a:ext cx="3023870" cy="1584325"/>
          </a:xfrm>
          <a:prstGeom prst="round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圆角矩形 16"/>
          <p:cNvSpPr/>
          <p:nvPr/>
        </p:nvSpPr>
        <p:spPr>
          <a:xfrm>
            <a:off x="4859655" y="272605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rPr>
              <a:t>与前</a:t>
            </a:r>
            <a:r>
              <a:rPr kumimoji="0" lang="en-US" altLang="zh-CN" sz="1800" b="0" i="1" baseline="0">
                <a:ln>
                  <a:noFill/>
                </a:ln>
                <a:solidFill>
                  <a:schemeClr val="tx1"/>
                </a:solidFill>
                <a:effectLst/>
                <a:uFillTx/>
                <a:latin typeface="Times New Roman" panose="02020603050405020304" pitchFamily="18" charset="0"/>
                <a:cs typeface="Times New Roman" panose="02020603050405020304" pitchFamily="18" charset="0"/>
              </a:rPr>
              <a:t>k</a:t>
            </a:r>
            <a:r>
              <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rPr>
              <a:t>个不相容的课程</a:t>
            </a:r>
            <a:endPar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endParaRPr>
          </a:p>
        </p:txBody>
      </p:sp>
      <p:sp>
        <p:nvSpPr>
          <p:cNvPr id="18" name="圆角矩形 17"/>
          <p:cNvSpPr/>
          <p:nvPr/>
        </p:nvSpPr>
        <p:spPr>
          <a:xfrm>
            <a:off x="2726690" y="3302635"/>
            <a:ext cx="503555" cy="360045"/>
          </a:xfrm>
          <a:prstGeom prst="roundRect">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6948805" y="2570480"/>
            <a:ext cx="1948815" cy="1171575"/>
          </a:xfrm>
          <a:prstGeom prst="rect">
            <a:avLst/>
          </a:prstGeom>
          <a:noFill/>
        </p:spPr>
        <p:txBody>
          <a:bodyPr wrap="square" rtlCol="0" anchor="t">
            <a:noAutofit/>
          </a:bodyPr>
          <a:lstStyle/>
          <a:p>
            <a:r>
              <a:rPr lang="zh-CN" altLang="en-US">
                <a:solidFill>
                  <a:srgbClr val="FF0000"/>
                </a:solidFill>
                <a:uFillTx/>
                <a:latin typeface="Times New Roman" panose="02020603050405020304" pitchFamily="18" charset="0"/>
                <a:cs typeface="Times New Roman" panose="02020603050405020304" pitchFamily="18" charset="0"/>
                <a:sym typeface="+mn-ea"/>
              </a:rPr>
              <a:t>假如</a:t>
            </a:r>
            <a:r>
              <a:rPr lang="en-US" altLang="zh-CN">
                <a:solidFill>
                  <a:srgbClr val="FF0000"/>
                </a:solidFill>
                <a:uFillTx/>
                <a:latin typeface="Times New Roman" panose="02020603050405020304" pitchFamily="18" charset="0"/>
                <a:cs typeface="Times New Roman" panose="02020603050405020304" pitchFamily="18" charset="0"/>
                <a:sym typeface="+mn-ea"/>
              </a:rPr>
              <a:t>B</a:t>
            </a:r>
            <a:r>
              <a:rPr lang="zh-CN" altLang="en-US">
                <a:solidFill>
                  <a:srgbClr val="FF0000"/>
                </a:solidFill>
                <a:uFillTx/>
                <a:latin typeface="Times New Roman" panose="02020603050405020304" pitchFamily="18" charset="0"/>
                <a:cs typeface="Times New Roman" panose="02020603050405020304" pitchFamily="18" charset="0"/>
                <a:sym typeface="+mn-ea"/>
              </a:rPr>
              <a:t>不是最优解，</a:t>
            </a:r>
            <a:r>
              <a:rPr lang="en-US" altLang="zh-CN">
                <a:solidFill>
                  <a:srgbClr val="FF0000"/>
                </a:solidFill>
                <a:uFillTx/>
                <a:latin typeface="Times New Roman" panose="02020603050405020304" pitchFamily="18" charset="0"/>
                <a:cs typeface="Times New Roman" panose="02020603050405020304" pitchFamily="18" charset="0"/>
                <a:sym typeface="+mn-ea"/>
              </a:rPr>
              <a:t>B’</a:t>
            </a:r>
            <a:r>
              <a:rPr lang="zh-CN" altLang="en-US">
                <a:solidFill>
                  <a:srgbClr val="FF0000"/>
                </a:solidFill>
                <a:uFillTx/>
                <a:latin typeface="Times New Roman" panose="02020603050405020304" pitchFamily="18" charset="0"/>
                <a:cs typeface="Times New Roman" panose="02020603050405020304" pitchFamily="18" charset="0"/>
                <a:sym typeface="+mn-ea"/>
              </a:rPr>
              <a:t>是最优解则</a:t>
            </a:r>
            <a:r>
              <a:rPr lang="en-US" altLang="zh-CN">
                <a:solidFill>
                  <a:srgbClr val="FF0000"/>
                </a:solidFill>
                <a:uFillTx/>
                <a:latin typeface="Times New Roman" panose="02020603050405020304" pitchFamily="18" charset="0"/>
                <a:cs typeface="Times New Roman" panose="02020603050405020304" pitchFamily="18" charset="0"/>
                <a:sym typeface="+mn-ea"/>
              </a:rPr>
              <a:t>T</a:t>
            </a:r>
            <a:r>
              <a:rPr lang="zh-CN" altLang="en-US">
                <a:solidFill>
                  <a:srgbClr val="FF0000"/>
                </a:solidFill>
                <a:uFillTx/>
                <a:latin typeface="Times New Roman" panose="02020603050405020304" pitchFamily="18" charset="0"/>
                <a:cs typeface="Times New Roman" panose="02020603050405020304" pitchFamily="18" charset="0"/>
                <a:sym typeface="+mn-ea"/>
              </a:rPr>
              <a:t>就是不是我们假设的最优解。</a:t>
            </a:r>
            <a:endParaRPr lang="zh-CN" altLang="en-US">
              <a:solidFill>
                <a:srgbClr val="FF0000"/>
              </a:solidFill>
              <a:uFillTx/>
              <a:latin typeface="Times New Roman" panose="02020603050405020304" pitchFamily="18" charset="0"/>
              <a:cs typeface="Times New Roman" panose="02020603050405020304" pitchFamily="18" charset="0"/>
              <a:sym typeface="+mn-ea"/>
            </a:endParaRPr>
          </a:p>
        </p:txBody>
      </p:sp>
      <p:graphicFrame>
        <p:nvGraphicFramePr>
          <p:cNvPr id="7" name="表格 6"/>
          <p:cNvGraphicFramePr/>
          <p:nvPr/>
        </p:nvGraphicFramePr>
        <p:xfrm>
          <a:off x="755650" y="4725035"/>
          <a:ext cx="6400165" cy="381000"/>
        </p:xfrm>
        <a:graphic>
          <a:graphicData uri="http://schemas.openxmlformats.org/drawingml/2006/table">
            <a:tbl>
              <a:tblPr firstRow="1" bandRow="1">
                <a:tableStyleId>{5C22544A-7EE6-4342-B048-85BDC9FD1C3A}</a:tableStyleId>
              </a:tblPr>
              <a:tblGrid>
                <a:gridCol w="913765"/>
                <a:gridCol w="913765"/>
                <a:gridCol w="913765"/>
                <a:gridCol w="913765"/>
                <a:gridCol w="913765"/>
                <a:gridCol w="913765"/>
                <a:gridCol w="913765"/>
              </a:tblGrid>
              <a:tr h="381000">
                <a:tc>
                  <a:txBody>
                    <a:bodyPr/>
                    <a:lstStyle/>
                    <a:p>
                      <a:pPr>
                        <a:buNone/>
                      </a:pPr>
                      <a:r>
                        <a:rPr lang="en-US" altLang="zh-CN">
                          <a:solidFill>
                            <a:schemeClr val="tx1"/>
                          </a:solidFill>
                          <a:latin typeface="Times New Roman" panose="02020603050405020304" pitchFamily="18" charset="0"/>
                          <a:cs typeface="Times New Roman" panose="02020603050405020304" pitchFamily="18" charset="0"/>
                        </a:rPr>
                        <a:t>j</a:t>
                      </a:r>
                      <a:endParaRPr lang="en-US" altLang="zh-CN">
                        <a:solidFill>
                          <a:schemeClr val="tx1"/>
                        </a:solidFill>
                        <a:latin typeface="Times New Roman" panose="02020603050405020304" pitchFamily="18" charset="0"/>
                        <a:cs typeface="Times New Roman" panose="02020603050405020304" pitchFamily="18" charset="0"/>
                      </a:endParaRPr>
                    </a:p>
                  </a:txBody>
                  <a:tcPr/>
                </a:tc>
                <a:tc>
                  <a:txBody>
                    <a:bodyPr/>
                    <a:lstStyle/>
                    <a:p>
                      <a:pPr>
                        <a:buNone/>
                      </a:pPr>
                      <a:r>
                        <a:rPr lang="en-US" altLang="zh-CN">
                          <a:solidFill>
                            <a:schemeClr val="tx1"/>
                          </a:solidFill>
                          <a:cs typeface="Times New Roman" panose="02020603050405020304" pitchFamily="18" charset="0"/>
                        </a:rPr>
                        <a:t>...</a:t>
                      </a:r>
                      <a:endParaRPr lang="en-US" altLang="zh-CN">
                        <a:solidFill>
                          <a:schemeClr val="tx1"/>
                        </a:solidFill>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en-US" altLang="zh-CN">
                        <a:cs typeface="Times New Roman" panose="02020603050405020304" pitchFamily="18" charset="0"/>
                      </a:endParaRPr>
                    </a:p>
                  </a:txBody>
                  <a:tcPr/>
                </a:tc>
              </a:tr>
            </a:tbl>
          </a:graphicData>
        </a:graphic>
      </p:graphicFrame>
      <p:graphicFrame>
        <p:nvGraphicFramePr>
          <p:cNvPr id="2" name="表格 1"/>
          <p:cNvGraphicFramePr/>
          <p:nvPr/>
        </p:nvGraphicFramePr>
        <p:xfrm>
          <a:off x="755650" y="5661660"/>
          <a:ext cx="6400165" cy="381000"/>
        </p:xfrm>
        <a:graphic>
          <a:graphicData uri="http://schemas.openxmlformats.org/drawingml/2006/table">
            <a:tbl>
              <a:tblPr firstRow="1" bandRow="1">
                <a:tableStyleId>{5C22544A-7EE6-4342-B048-85BDC9FD1C3A}</a:tableStyleId>
              </a:tblPr>
              <a:tblGrid>
                <a:gridCol w="913765"/>
                <a:gridCol w="913765"/>
                <a:gridCol w="913765"/>
                <a:gridCol w="913765"/>
                <a:gridCol w="913765"/>
                <a:gridCol w="913765"/>
                <a:gridCol w="913765"/>
              </a:tblGrid>
              <a:tr h="381000">
                <a:tc>
                  <a:txBody>
                    <a:bodyPr/>
                    <a:lstStyle/>
                    <a:p>
                      <a:pPr>
                        <a:buNone/>
                      </a:pPr>
                      <a:r>
                        <a:rPr lang="en-US" altLang="zh-CN">
                          <a:solidFill>
                            <a:schemeClr val="tx1"/>
                          </a:solidFill>
                          <a:latin typeface="Times New Roman" panose="02020603050405020304" pitchFamily="18" charset="0"/>
                          <a:cs typeface="Times New Roman" panose="02020603050405020304" pitchFamily="18" charset="0"/>
                        </a:rPr>
                        <a:t>k+1</a:t>
                      </a:r>
                      <a:endParaRPr lang="en-US" altLang="zh-CN">
                        <a:solidFill>
                          <a:schemeClr val="tx1"/>
                        </a:solidFill>
                        <a:latin typeface="Times New Roman" panose="02020603050405020304" pitchFamily="18" charset="0"/>
                        <a:cs typeface="Times New Roman" panose="02020603050405020304" pitchFamily="18" charset="0"/>
                      </a:endParaRPr>
                    </a:p>
                  </a:txBody>
                  <a:tcPr/>
                </a:tc>
                <a:tc>
                  <a:txBody>
                    <a:bodyPr/>
                    <a:lstStyle/>
                    <a:p>
                      <a:pPr>
                        <a:buNone/>
                      </a:pPr>
                      <a:r>
                        <a:rPr lang="en-US" altLang="zh-CN">
                          <a:solidFill>
                            <a:schemeClr val="tx1"/>
                          </a:solidFill>
                          <a:cs typeface="Times New Roman" panose="02020603050405020304" pitchFamily="18" charset="0"/>
                        </a:rPr>
                        <a:t>...</a:t>
                      </a:r>
                      <a:endParaRPr lang="en-US" altLang="zh-CN">
                        <a:solidFill>
                          <a:schemeClr val="tx1"/>
                        </a:solidFill>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en-US" altLang="zh-CN">
                        <a:cs typeface="Times New Roman" panose="02020603050405020304" pitchFamily="18" charset="0"/>
                      </a:endParaRPr>
                    </a:p>
                  </a:txBody>
                  <a:tcPr/>
                </a:tc>
              </a:tr>
            </a:tbl>
          </a:graphicData>
        </a:graphic>
      </p:graphicFrame>
      <p:sp>
        <p:nvSpPr>
          <p:cNvPr id="3" name="文本框 2"/>
          <p:cNvSpPr txBox="1"/>
          <p:nvPr/>
        </p:nvSpPr>
        <p:spPr>
          <a:xfrm>
            <a:off x="755650" y="4259580"/>
            <a:ext cx="662940" cy="340995"/>
          </a:xfrm>
          <a:prstGeom prst="rect">
            <a:avLst/>
          </a:prstGeom>
          <a:noFill/>
        </p:spPr>
        <p:txBody>
          <a:bodyPr wrap="square" rtlCol="0" anchor="t">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endParaRPr>
          </a:p>
        </p:txBody>
      </p:sp>
      <p:sp>
        <p:nvSpPr>
          <p:cNvPr id="5" name="文本框 4"/>
          <p:cNvSpPr txBox="1"/>
          <p:nvPr/>
        </p:nvSpPr>
        <p:spPr>
          <a:xfrm>
            <a:off x="755650" y="5213350"/>
            <a:ext cx="662940" cy="340995"/>
          </a:xfrm>
          <a:prstGeom prst="rect">
            <a:avLst/>
          </a:prstGeom>
          <a:noFill/>
        </p:spPr>
        <p:txBody>
          <a:bodyPr wrap="square" rtlCol="0" anchor="t">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endParaRPr>
          </a:p>
        </p:txBody>
      </p:sp>
      <p:sp>
        <p:nvSpPr>
          <p:cNvPr id="6" name="文本框 5"/>
          <p:cNvSpPr txBox="1"/>
          <p:nvPr/>
        </p:nvSpPr>
        <p:spPr>
          <a:xfrm>
            <a:off x="539750" y="1798955"/>
            <a:ext cx="5380355" cy="359410"/>
          </a:xfrm>
          <a:prstGeom prst="rect">
            <a:avLst/>
          </a:prstGeom>
          <a:noFill/>
        </p:spPr>
        <p:txBody>
          <a:bodyPr wrap="square" rtlCol="0" anchor="t">
            <a:noAutofit/>
          </a:bodyPr>
          <a:lstStyle/>
          <a:p>
            <a:r>
              <a:rPr lang="en-US" altLang="zh-CN">
                <a:uFillTx/>
                <a:latin typeface="Times New Roman" panose="02020603050405020304" pitchFamily="18" charset="0"/>
                <a:cs typeface="Times New Roman" panose="02020603050405020304" pitchFamily="18" charset="0"/>
                <a:sym typeface="+mn-ea"/>
              </a:rPr>
              <a:t>B’</a:t>
            </a:r>
            <a:r>
              <a:rPr lang="zh-CN" altLang="en-US">
                <a:uFillTx/>
                <a:latin typeface="Times New Roman" panose="02020603050405020304" pitchFamily="18" charset="0"/>
                <a:cs typeface="Times New Roman" panose="02020603050405020304" pitchFamily="18" charset="0"/>
                <a:sym typeface="+mn-ea"/>
              </a:rPr>
              <a:t>是包含</a:t>
            </a:r>
            <a:r>
              <a:rPr lang="en-US" altLang="zh-CN">
                <a:uFillTx/>
                <a:latin typeface="Times New Roman" panose="02020603050405020304" pitchFamily="18" charset="0"/>
                <a:cs typeface="Times New Roman" panose="02020603050405020304" pitchFamily="18" charset="0"/>
                <a:sym typeface="+mn-ea"/>
              </a:rPr>
              <a:t>k+1</a:t>
            </a:r>
            <a:r>
              <a:rPr lang="zh-CN" altLang="en-US">
                <a:uFillTx/>
                <a:latin typeface="Times New Roman" panose="02020603050405020304" pitchFamily="18" charset="0"/>
                <a:cs typeface="Times New Roman" panose="02020603050405020304" pitchFamily="18" charset="0"/>
                <a:sym typeface="+mn-ea"/>
              </a:rPr>
              <a:t>项的待选集合</a:t>
            </a:r>
            <a:r>
              <a:rPr lang="en-US" altLang="zh-CN">
                <a:uFillTx/>
                <a:latin typeface="Times New Roman" panose="02020603050405020304" pitchFamily="18" charset="0"/>
                <a:cs typeface="Times New Roman" panose="02020603050405020304" pitchFamily="18" charset="0"/>
                <a:sym typeface="+mn-ea"/>
              </a:rPr>
              <a:t>S’</a:t>
            </a:r>
            <a:r>
              <a:rPr lang="zh-CN" altLang="en-US">
                <a:uFillTx/>
                <a:latin typeface="Times New Roman" panose="02020603050405020304" pitchFamily="18" charset="0"/>
                <a:cs typeface="Times New Roman" panose="02020603050405020304" pitchFamily="18" charset="0"/>
                <a:sym typeface="+mn-ea"/>
              </a:rPr>
              <a:t>的最优解</a:t>
            </a:r>
            <a:endParaRPr lang="zh-CN" altLang="en-US">
              <a:uFillTx/>
              <a:latin typeface="Times New Roman" panose="02020603050405020304" pitchFamily="18" charset="0"/>
              <a:cs typeface="Times New Roman" panose="02020603050405020304" pitchFamily="18" charset="0"/>
              <a:sym typeface="+mn-ea"/>
            </a:endParaRPr>
          </a:p>
        </p:txBody>
      </p:sp>
      <p:sp>
        <p:nvSpPr>
          <p:cNvPr id="8" name="文本框 7"/>
          <p:cNvSpPr txBox="1"/>
          <p:nvPr/>
        </p:nvSpPr>
        <p:spPr>
          <a:xfrm>
            <a:off x="539750" y="3936365"/>
            <a:ext cx="8562975" cy="408940"/>
          </a:xfrm>
          <a:prstGeom prst="rect">
            <a:avLst/>
          </a:prstGeom>
          <a:noFill/>
        </p:spPr>
        <p:txBody>
          <a:bodyPr wrap="square" rtlCol="0" anchor="t">
            <a:noAutofit/>
          </a:bodyPr>
          <a:lstStyle/>
          <a:p>
            <a:r>
              <a:rPr lang="zh-CN" altLang="en-US">
                <a:uFillTx/>
                <a:latin typeface="Times New Roman" panose="02020603050405020304" pitchFamily="18" charset="0"/>
                <a:cs typeface="Times New Roman" panose="02020603050405020304" pitchFamily="18" charset="0"/>
                <a:sym typeface="+mn-ea"/>
              </a:rPr>
              <a:t>所以说</a:t>
            </a:r>
            <a:r>
              <a:rPr lang="en-US" altLang="zh-CN">
                <a:uFillTx/>
                <a:latin typeface="Times New Roman" panose="02020603050405020304" pitchFamily="18" charset="0"/>
                <a:cs typeface="Times New Roman" panose="02020603050405020304" pitchFamily="18" charset="0"/>
                <a:sym typeface="+mn-ea"/>
              </a:rPr>
              <a:t>T={</a:t>
            </a:r>
            <a:r>
              <a:rPr lang="en-US" altLang="zh-CN"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1</a:t>
            </a:r>
            <a:r>
              <a:rPr lang="en-US" altLang="zh-CN"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2</a:t>
            </a:r>
            <a:r>
              <a:rPr lang="en-US" altLang="zh-CN"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k</a:t>
            </a:r>
            <a:r>
              <a:rPr lang="en-US" altLang="zh-CN">
                <a:uFillTx/>
                <a:latin typeface="Times New Roman" panose="02020603050405020304" pitchFamily="18" charset="0"/>
                <a:cs typeface="Times New Roman" panose="02020603050405020304" pitchFamily="18" charset="0"/>
                <a:sym typeface="+mn-ea"/>
              </a:rPr>
              <a:t>}+B’</a:t>
            </a:r>
            <a:r>
              <a:rPr lang="zh-CN" altLang="en-US">
                <a:uFillTx/>
                <a:latin typeface="Times New Roman" panose="02020603050405020304" pitchFamily="18" charset="0"/>
                <a:cs typeface="Times New Roman" panose="02020603050405020304" pitchFamily="18" charset="0"/>
                <a:sym typeface="+mn-ea"/>
              </a:rPr>
              <a:t>也是最优解，此时证明了最优解的下一个选项包含了</a:t>
            </a:r>
            <a:r>
              <a:rPr lang="en-US" altLang="zh-CN">
                <a:uFillTx/>
                <a:latin typeface="Times New Roman" panose="02020603050405020304" pitchFamily="18" charset="0"/>
                <a:cs typeface="Times New Roman" panose="02020603050405020304" pitchFamily="18" charset="0"/>
                <a:sym typeface="+mn-ea"/>
              </a:rPr>
              <a:t>k+1</a:t>
            </a:r>
            <a:r>
              <a:rPr lang="zh-CN" altLang="en-US">
                <a:uFillTx/>
                <a:latin typeface="Times New Roman" panose="02020603050405020304" pitchFamily="18" charset="0"/>
                <a:cs typeface="Times New Roman" panose="02020603050405020304" pitchFamily="18" charset="0"/>
                <a:sym typeface="+mn-ea"/>
              </a:rPr>
              <a:t>项。</a:t>
            </a:r>
            <a:endParaRPr lang="zh-CN" altLang="en-US">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79705" y="1052830"/>
            <a:ext cx="1364615" cy="321945"/>
          </a:xfrm>
          <a:prstGeom prst="rect">
            <a:avLst/>
          </a:prstGeom>
          <a:noFill/>
        </p:spPr>
        <p:txBody>
          <a:bodyPr wrap="square" rtlCol="0" anchor="t">
            <a:noAutofit/>
          </a:bodyPr>
          <a:lstStyle/>
          <a:p>
            <a:pPr marL="0" marR="0" indent="0" algn="l" defTabSz="914400" rtl="0" eaLnBrk="1" fontAlgn="base" latinLnBrk="0" hangingPunct="1">
              <a:lnSpc>
                <a:spcPct val="100000"/>
              </a:lnSpc>
              <a:spcBef>
                <a:spcPct val="0"/>
              </a:spcBef>
              <a:spcAft>
                <a:spcPct val="0"/>
              </a:spcAft>
              <a:buClrTx/>
              <a:buSzTx/>
              <a:buFontTx/>
              <a:buNone/>
            </a:pPr>
            <a:r>
              <a:rPr lang="zh-CN" altLang="en-US" sz="1800" b="1">
                <a:ln>
                  <a:noFill/>
                </a:ln>
                <a:effectLst/>
                <a:latin typeface="宋体" panose="02010600030101010101" pitchFamily="2" charset="-122"/>
                <a:cs typeface="Times New Roman" panose="02020603050405020304" pitchFamily="18" charset="0"/>
                <a:sym typeface="+mn-ea"/>
              </a:rPr>
              <a:t>代码实现：</a:t>
            </a:r>
            <a:endParaRPr lang="zh-CN" altLang="en-US" sz="1800" b="1">
              <a:ln>
                <a:noFill/>
              </a:ln>
              <a:effectLst/>
              <a:latin typeface="宋体" panose="02010600030101010101" pitchFamily="2" charset="-122"/>
              <a:cs typeface="Times New Roman" panose="02020603050405020304" pitchFamily="18" charset="0"/>
              <a:sym typeface="+mn-ea"/>
            </a:endParaRPr>
          </a:p>
        </p:txBody>
      </p:sp>
      <p:sp>
        <p:nvSpPr>
          <p:cNvPr id="2" name="文本框 1"/>
          <p:cNvSpPr txBox="1"/>
          <p:nvPr/>
        </p:nvSpPr>
        <p:spPr>
          <a:xfrm>
            <a:off x="395605" y="1484630"/>
            <a:ext cx="8060055" cy="3556635"/>
          </a:xfrm>
          <a:prstGeom prst="rect">
            <a:avLst/>
          </a:prstGeom>
          <a:noFill/>
        </p:spPr>
        <p:txBody>
          <a:bodyPr wrap="square" rtlCol="0" anchor="t">
            <a:noAutofit/>
          </a:bodyPr>
          <a:lstStyle/>
          <a:p>
            <a:r>
              <a:rPr lang="en-US" altLang="zh-CN">
                <a:solidFill>
                  <a:schemeClr val="tx1"/>
                </a:solidFill>
                <a:uFillTx/>
                <a:latin typeface="Times New Roman" panose="02020603050405020304" pitchFamily="18" charset="0"/>
                <a:cs typeface="Times New Roman" panose="02020603050405020304" pitchFamily="18" charset="0"/>
              </a:rPr>
              <a:t>int sortArrange(int n,int s[],int f[])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 </a:t>
            </a:r>
            <a:r>
              <a:rPr lang="zh-CN" altLang="en-US">
                <a:solidFill>
                  <a:schemeClr val="tx1"/>
                </a:solidFill>
                <a:uFillTx/>
                <a:latin typeface="Times New Roman" panose="02020603050405020304" pitchFamily="18" charset="0"/>
                <a:cs typeface="Times New Roman" panose="02020603050405020304" pitchFamily="18" charset="0"/>
              </a:rPr>
              <a:t>按照结束时间进行排序</a:t>
            </a:r>
            <a:endParaRPr lang="zh-CN" altLang="en-US">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(int i = 0; i &lt; n; i++)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(int j = 0; j &lt; n-i-1; j++)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if (f[j] &gt; f[j+1])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r>
              <a:rPr lang="zh-CN" altLang="en-US">
                <a:solidFill>
                  <a:schemeClr val="tx1"/>
                </a:solidFill>
                <a:uFillTx/>
                <a:latin typeface="Times New Roman" panose="02020603050405020304" pitchFamily="18" charset="0"/>
                <a:cs typeface="Times New Roman" panose="02020603050405020304" pitchFamily="18" charset="0"/>
              </a:rPr>
              <a:t>则进行交换</a:t>
            </a:r>
            <a:endParaRPr lang="zh-CN" altLang="en-US">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int temp = f[j];f[j]=f[j+1];f[j+1]=temp;</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int temp1 = s[j];s[j]=s[j+1];s[j+1]=temp1;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a:t>
            </a:r>
            <a:endParaRPr lang="en-US" altLang="zh-CN">
              <a:solidFill>
                <a:schemeClr val="tx1"/>
              </a:solidFill>
              <a:uFillTx/>
              <a:latin typeface="Times New Roman" panose="02020603050405020304" pitchFamily="18" charset="0"/>
              <a:cs typeface="Times New Roman" panose="02020603050405020304" pitchFamily="18" charset="0"/>
            </a:endParaRPr>
          </a:p>
          <a:p>
            <a:endParaRPr lang="en-US" altLang="zh-CN">
              <a:solidFill>
                <a:schemeClr val="tx1"/>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358775" y="5408930"/>
            <a:ext cx="8606155" cy="368300"/>
          </a:xfrm>
          <a:prstGeom prst="rect">
            <a:avLst/>
          </a:prstGeom>
          <a:noFill/>
        </p:spPr>
        <p:txBody>
          <a:bodyPr wrap="square" rtlCol="0">
            <a:spAutoFit/>
          </a:bodyPr>
          <a:lstStyle/>
          <a:p>
            <a:r>
              <a:rPr lang="zh-CN" altLang="en-US">
                <a:latin typeface="Times New Roman" panose="02020603050405020304" pitchFamily="18" charset="0"/>
                <a:cs typeface="Times New Roman" panose="02020603050405020304" pitchFamily="18" charset="0"/>
              </a:rPr>
              <a:t>利用冒泡排序，根据结束时间将开始时间也进行排序。</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79705" y="1052830"/>
            <a:ext cx="1364615" cy="321945"/>
          </a:xfrm>
          <a:prstGeom prst="rect">
            <a:avLst/>
          </a:prstGeom>
          <a:noFill/>
        </p:spPr>
        <p:txBody>
          <a:bodyPr wrap="square" rtlCol="0" anchor="t">
            <a:noAutofit/>
          </a:bodyPr>
          <a:lstStyle/>
          <a:p>
            <a:pPr marL="0" marR="0" indent="0" algn="l" defTabSz="914400" rtl="0" eaLnBrk="1" fontAlgn="base" latinLnBrk="0" hangingPunct="1">
              <a:lnSpc>
                <a:spcPct val="100000"/>
              </a:lnSpc>
              <a:spcBef>
                <a:spcPct val="0"/>
              </a:spcBef>
              <a:spcAft>
                <a:spcPct val="0"/>
              </a:spcAft>
              <a:buClrTx/>
              <a:buSzTx/>
              <a:buFontTx/>
              <a:buNone/>
            </a:pPr>
            <a:r>
              <a:rPr lang="zh-CN" altLang="en-US" sz="1800" b="1">
                <a:ln>
                  <a:noFill/>
                </a:ln>
                <a:effectLst/>
                <a:latin typeface="宋体" panose="02010600030101010101" pitchFamily="2" charset="-122"/>
                <a:cs typeface="Times New Roman" panose="02020603050405020304" pitchFamily="18" charset="0"/>
                <a:sym typeface="+mn-ea"/>
              </a:rPr>
              <a:t>代码实现：</a:t>
            </a:r>
            <a:endParaRPr lang="zh-CN" altLang="en-US" sz="1800" b="1">
              <a:ln>
                <a:noFill/>
              </a:ln>
              <a:effectLst/>
              <a:latin typeface="宋体" panose="02010600030101010101" pitchFamily="2" charset="-122"/>
              <a:cs typeface="Times New Roman" panose="02020603050405020304" pitchFamily="18" charset="0"/>
              <a:sym typeface="+mn-ea"/>
            </a:endParaRPr>
          </a:p>
        </p:txBody>
      </p:sp>
      <p:sp>
        <p:nvSpPr>
          <p:cNvPr id="2" name="文本框 1"/>
          <p:cNvSpPr txBox="1"/>
          <p:nvPr/>
        </p:nvSpPr>
        <p:spPr>
          <a:xfrm>
            <a:off x="395605" y="1484630"/>
            <a:ext cx="8405495" cy="3924300"/>
          </a:xfrm>
          <a:prstGeom prst="rect">
            <a:avLst/>
          </a:prstGeom>
          <a:noFill/>
        </p:spPr>
        <p:txBody>
          <a:bodyPr wrap="square" rtlCol="0" anchor="t">
            <a:noAutofit/>
          </a:bodyPr>
          <a:lstStyle/>
          <a:p>
            <a:r>
              <a:rPr lang="en-US" altLang="zh-CN">
                <a:solidFill>
                  <a:schemeClr val="tx1"/>
                </a:solidFill>
                <a:uFillTx/>
                <a:latin typeface="Times New Roman" panose="02020603050405020304" pitchFamily="18" charset="0"/>
                <a:cs typeface="Times New Roman" panose="02020603050405020304" pitchFamily="18" charset="0"/>
              </a:rPr>
              <a:t>int ActiveArrange(int n,int s[],int f[],int t[])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t[0] = 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int count = 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int j = 0;</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(int i = 1; i &lt; n; i++)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if (f[j] &lt;= s[i])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t[i] =1;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j = i;</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count +=1;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}else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t[i] = 0;</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return count;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a:t>
            </a:r>
            <a:endParaRPr lang="en-US" altLang="zh-CN">
              <a:solidFill>
                <a:schemeClr val="tx1"/>
              </a:solidFill>
              <a:uFillTx/>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323850" y="920115"/>
            <a:ext cx="8161655" cy="1516380"/>
          </a:xfrm>
          <a:prstGeom prst="rect">
            <a:avLst/>
          </a:prstGeom>
        </p:spPr>
        <p:txBody>
          <a:bodyPr wrap="square">
            <a:no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rPr>
              <a:t>例如</a:t>
            </a:r>
            <a:r>
              <a:rPr lang="en-US" altLang="zh-CN" sz="2200" b="1" kern="100" dirty="0">
                <a:latin typeface="Times New Roman" panose="02020603050405020304" pitchFamily="18" charset="0"/>
                <a:cs typeface="Times New Roman" panose="02020603050405020304" pitchFamily="18" charset="0"/>
              </a:rPr>
              <a:t>3</a:t>
            </a:r>
            <a:r>
              <a:rPr lang="zh-CN" altLang="en-US" sz="2200" b="1" kern="100" dirty="0">
                <a:latin typeface="Times New Roman" panose="02020603050405020304" pitchFamily="18" charset="0"/>
                <a:cs typeface="Times New Roman" panose="02020603050405020304" pitchFamily="18" charset="0"/>
              </a:rPr>
              <a:t>：币种问题，给员工发工资，（币值分别为：</a:t>
            </a:r>
            <a:r>
              <a:rPr lang="en-US" altLang="zh-CN" sz="2200" b="1" kern="100" dirty="0">
                <a:latin typeface="Times New Roman" panose="02020603050405020304" pitchFamily="18" charset="0"/>
                <a:cs typeface="Times New Roman" panose="02020603050405020304" pitchFamily="18" charset="0"/>
              </a:rPr>
              <a:t>100</a:t>
            </a:r>
            <a:r>
              <a:rPr lang="zh-CN" altLang="en-US" sz="2200" b="1" kern="100" dirty="0">
                <a:latin typeface="Times New Roman" panose="02020603050405020304" pitchFamily="18" charset="0"/>
                <a:cs typeface="Times New Roman" panose="02020603050405020304" pitchFamily="18" charset="0"/>
              </a:rPr>
              <a:t>，</a:t>
            </a:r>
            <a:r>
              <a:rPr lang="en-US" altLang="zh-CN" sz="2200" b="1" kern="100" dirty="0">
                <a:latin typeface="Times New Roman" panose="02020603050405020304" pitchFamily="18" charset="0"/>
                <a:cs typeface="Times New Roman" panose="02020603050405020304" pitchFamily="18" charset="0"/>
              </a:rPr>
              <a:t>50</a:t>
            </a:r>
            <a:r>
              <a:rPr lang="zh-CN" altLang="en-US" sz="2200" b="1" kern="100" dirty="0">
                <a:latin typeface="Times New Roman" panose="02020603050405020304" pitchFamily="18" charset="0"/>
                <a:cs typeface="Times New Roman" panose="02020603050405020304" pitchFamily="18" charset="0"/>
              </a:rPr>
              <a:t>，</a:t>
            </a:r>
            <a:r>
              <a:rPr lang="en-US" altLang="zh-CN" sz="2200" b="1" kern="100" dirty="0">
                <a:latin typeface="Times New Roman" panose="02020603050405020304" pitchFamily="18" charset="0"/>
                <a:cs typeface="Times New Roman" panose="02020603050405020304" pitchFamily="18" charset="0"/>
              </a:rPr>
              <a:t>10</a:t>
            </a:r>
            <a:r>
              <a:rPr lang="zh-CN" altLang="en-US" sz="2200" b="1" kern="100" dirty="0">
                <a:latin typeface="Times New Roman" panose="02020603050405020304" pitchFamily="18" charset="0"/>
                <a:cs typeface="Times New Roman" panose="02020603050405020304" pitchFamily="18" charset="0"/>
              </a:rPr>
              <a:t>，</a:t>
            </a:r>
            <a:r>
              <a:rPr lang="en-US" altLang="zh-CN" sz="2200" b="1" kern="100" dirty="0">
                <a:latin typeface="Times New Roman" panose="02020603050405020304" pitchFamily="18" charset="0"/>
                <a:cs typeface="Times New Roman" panose="02020603050405020304" pitchFamily="18" charset="0"/>
              </a:rPr>
              <a:t>5</a:t>
            </a:r>
            <a:r>
              <a:rPr lang="zh-CN" altLang="en-US" sz="2200" b="1" kern="100" dirty="0">
                <a:latin typeface="Times New Roman" panose="02020603050405020304" pitchFamily="18" charset="0"/>
                <a:cs typeface="Times New Roman" panose="02020603050405020304" pitchFamily="18" charset="0"/>
              </a:rPr>
              <a:t>，</a:t>
            </a:r>
            <a:r>
              <a:rPr lang="en-US" altLang="zh-CN" sz="2200" b="1" kern="100" dirty="0">
                <a:latin typeface="Times New Roman" panose="02020603050405020304" pitchFamily="18" charset="0"/>
                <a:cs typeface="Times New Roman" panose="02020603050405020304" pitchFamily="18" charset="0"/>
              </a:rPr>
              <a:t>1</a:t>
            </a:r>
            <a:r>
              <a:rPr lang="zh-CN" altLang="en-US" sz="2200" b="1" kern="100" dirty="0">
                <a:latin typeface="Times New Roman" panose="02020603050405020304" pitchFamily="18" charset="0"/>
                <a:cs typeface="Times New Roman" panose="02020603050405020304" pitchFamily="18" charset="0"/>
              </a:rPr>
              <a:t>）要求所发的张数最少。</a:t>
            </a:r>
            <a:endParaRPr lang="zh-CN" altLang="en-US" sz="2200" b="1" kern="100" dirty="0">
              <a:latin typeface="Times New Roman" panose="02020603050405020304" pitchFamily="18" charset="0"/>
              <a:cs typeface="Times New Roman" panose="02020603050405020304" pitchFamily="18" charset="0"/>
            </a:endParaRPr>
          </a:p>
        </p:txBody>
      </p:sp>
      <p:sp>
        <p:nvSpPr>
          <p:cNvPr id="7" name="文本框 6"/>
          <p:cNvSpPr txBox="1"/>
          <p:nvPr>
            <p:custDataLst>
              <p:tags r:id="rId1"/>
            </p:custDataLst>
          </p:nvPr>
        </p:nvSpPr>
        <p:spPr>
          <a:xfrm>
            <a:off x="968375" y="2542540"/>
            <a:ext cx="5904230" cy="514350"/>
          </a:xfrm>
          <a:prstGeom prst="rect">
            <a:avLst/>
          </a:prstGeom>
          <a:noFill/>
        </p:spPr>
        <p:txBody>
          <a:bodyPr wrap="square" rtlCol="0">
            <a:noAutofit/>
          </a:bodyPr>
          <a:lstStyle/>
          <a:p>
            <a:r>
              <a:rPr lang="zh-CN" altLang="en-US">
                <a:solidFill>
                  <a:schemeClr val="tx2"/>
                </a:solidFill>
                <a:latin typeface="Times New Roman" panose="02020603050405020304" pitchFamily="18" charset="0"/>
                <a:cs typeface="Times New Roman" panose="02020603050405020304" pitchFamily="18" charset="0"/>
              </a:rPr>
              <a:t>可是硬币的面值一定就符合贪心策略能解决问题吗？</a:t>
            </a:r>
            <a:endParaRPr lang="zh-CN" altLang="en-US">
              <a:solidFill>
                <a:schemeClr val="tx2"/>
              </a:solidFill>
              <a:latin typeface="Times New Roman" panose="02020603050405020304" pitchFamily="18" charset="0"/>
              <a:cs typeface="Times New Roman" panose="02020603050405020304" pitchFamily="18" charset="0"/>
            </a:endParaRPr>
          </a:p>
        </p:txBody>
      </p:sp>
      <p:sp>
        <p:nvSpPr>
          <p:cNvPr id="12" name="文本框 11"/>
          <p:cNvSpPr txBox="1"/>
          <p:nvPr>
            <p:custDataLst>
              <p:tags r:id="rId2"/>
            </p:custDataLst>
          </p:nvPr>
        </p:nvSpPr>
        <p:spPr>
          <a:xfrm>
            <a:off x="968375" y="2974340"/>
            <a:ext cx="5904230" cy="514350"/>
          </a:xfrm>
          <a:prstGeom prst="rect">
            <a:avLst/>
          </a:prstGeom>
          <a:noFill/>
        </p:spPr>
        <p:txBody>
          <a:bodyPr wrap="square" rtlCol="0">
            <a:noAutofit/>
          </a:bodyPr>
          <a:lstStyle/>
          <a:p>
            <a:r>
              <a:rPr lang="zh-CN" altLang="en-US">
                <a:solidFill>
                  <a:schemeClr val="tx2"/>
                </a:solidFill>
                <a:latin typeface="Times New Roman" panose="02020603050405020304" pitchFamily="18" charset="0"/>
                <a:cs typeface="Times New Roman" panose="02020603050405020304" pitchFamily="18" charset="0"/>
              </a:rPr>
              <a:t>存在这样的一个反例，币值分别为</a:t>
            </a:r>
            <a:r>
              <a:rPr lang="en-US" altLang="zh-CN">
                <a:solidFill>
                  <a:schemeClr val="tx2"/>
                </a:solidFill>
                <a:uFillTx/>
                <a:latin typeface="Times New Roman" panose="02020603050405020304" pitchFamily="18" charset="0"/>
                <a:cs typeface="Times New Roman" panose="02020603050405020304" pitchFamily="18" charset="0"/>
              </a:rPr>
              <a:t>[1,10,25]</a:t>
            </a:r>
            <a:r>
              <a:rPr lang="zh-CN" altLang="en-US">
                <a:solidFill>
                  <a:schemeClr val="tx2"/>
                </a:solidFill>
                <a:uFillTx/>
                <a:latin typeface="Times New Roman" panose="02020603050405020304" pitchFamily="18" charset="0"/>
                <a:cs typeface="Times New Roman" panose="02020603050405020304" pitchFamily="18" charset="0"/>
              </a:rPr>
              <a:t>，如果需要发薪资</a:t>
            </a:r>
            <a:r>
              <a:rPr lang="en-US" altLang="zh-CN">
                <a:solidFill>
                  <a:schemeClr val="tx2"/>
                </a:solidFill>
                <a:uFillTx/>
                <a:latin typeface="Times New Roman" panose="02020603050405020304" pitchFamily="18" charset="0"/>
                <a:cs typeface="Times New Roman" panose="02020603050405020304" pitchFamily="18" charset="0"/>
              </a:rPr>
              <a:t>30</a:t>
            </a:r>
            <a:r>
              <a:rPr lang="zh-CN" altLang="en-US">
                <a:solidFill>
                  <a:schemeClr val="tx2"/>
                </a:solidFill>
                <a:uFillTx/>
                <a:latin typeface="Times New Roman" panose="02020603050405020304" pitchFamily="18" charset="0"/>
                <a:cs typeface="Times New Roman" panose="02020603050405020304" pitchFamily="18" charset="0"/>
              </a:rPr>
              <a:t>，按照贪心算法是</a:t>
            </a:r>
            <a:r>
              <a:rPr lang="en-US" altLang="zh-CN">
                <a:solidFill>
                  <a:schemeClr val="tx2"/>
                </a:solidFill>
                <a:uFillTx/>
                <a:latin typeface="Times New Roman" panose="02020603050405020304" pitchFamily="18" charset="0"/>
                <a:cs typeface="Times New Roman" panose="02020603050405020304" pitchFamily="18" charset="0"/>
              </a:rPr>
              <a:t>25+1+1+1+1+1</a:t>
            </a:r>
            <a:r>
              <a:rPr lang="zh-CN" altLang="en-US">
                <a:solidFill>
                  <a:schemeClr val="tx2"/>
                </a:solidFill>
                <a:uFillTx/>
                <a:latin typeface="Times New Roman" panose="02020603050405020304" pitchFamily="18" charset="0"/>
                <a:cs typeface="Times New Roman" panose="02020603050405020304" pitchFamily="18" charset="0"/>
              </a:rPr>
              <a:t>，总共是</a:t>
            </a:r>
            <a:r>
              <a:rPr lang="en-US" altLang="zh-CN">
                <a:solidFill>
                  <a:schemeClr val="tx2"/>
                </a:solidFill>
                <a:uFillTx/>
                <a:latin typeface="Times New Roman" panose="02020603050405020304" pitchFamily="18" charset="0"/>
                <a:cs typeface="Times New Roman" panose="02020603050405020304" pitchFamily="18" charset="0"/>
              </a:rPr>
              <a:t>6</a:t>
            </a:r>
            <a:r>
              <a:rPr lang="zh-CN" altLang="en-US">
                <a:solidFill>
                  <a:schemeClr val="tx2"/>
                </a:solidFill>
                <a:uFillTx/>
                <a:latin typeface="Times New Roman" panose="02020603050405020304" pitchFamily="18" charset="0"/>
                <a:cs typeface="Times New Roman" panose="02020603050405020304" pitchFamily="18" charset="0"/>
              </a:rPr>
              <a:t>枚币，而真正的最有解是</a:t>
            </a:r>
            <a:r>
              <a:rPr lang="en-US" altLang="zh-CN">
                <a:solidFill>
                  <a:schemeClr val="tx2"/>
                </a:solidFill>
                <a:uFillTx/>
                <a:latin typeface="Times New Roman" panose="02020603050405020304" pitchFamily="18" charset="0"/>
                <a:cs typeface="Times New Roman" panose="02020603050405020304" pitchFamily="18" charset="0"/>
              </a:rPr>
              <a:t>10+10+10</a:t>
            </a:r>
            <a:r>
              <a:rPr lang="zh-CN" altLang="en-US">
                <a:solidFill>
                  <a:schemeClr val="tx2"/>
                </a:solidFill>
                <a:uFillTx/>
                <a:latin typeface="Times New Roman" panose="02020603050405020304" pitchFamily="18" charset="0"/>
                <a:cs typeface="Times New Roman" panose="02020603050405020304" pitchFamily="18" charset="0"/>
              </a:rPr>
              <a:t>。</a:t>
            </a:r>
            <a:endParaRPr lang="zh-CN" altLang="en-US">
              <a:solidFill>
                <a:schemeClr val="tx2"/>
              </a:solidFill>
              <a:uFillTx/>
              <a:latin typeface="Times New Roman" panose="02020603050405020304" pitchFamily="18" charset="0"/>
              <a:cs typeface="Times New Roman" panose="02020603050405020304" pitchFamily="18" charset="0"/>
            </a:endParaRPr>
          </a:p>
        </p:txBody>
      </p:sp>
      <p:sp>
        <p:nvSpPr>
          <p:cNvPr id="13" name="文本框 12"/>
          <p:cNvSpPr txBox="1"/>
          <p:nvPr>
            <p:custDataLst>
              <p:tags r:id="rId3"/>
            </p:custDataLst>
          </p:nvPr>
        </p:nvSpPr>
        <p:spPr>
          <a:xfrm>
            <a:off x="960120" y="4221480"/>
            <a:ext cx="6564630" cy="645160"/>
          </a:xfrm>
          <a:prstGeom prst="rect">
            <a:avLst/>
          </a:prstGeom>
          <a:noFill/>
        </p:spPr>
        <p:txBody>
          <a:bodyPr wrap="square" rtlCol="0">
            <a:spAutoFit/>
          </a:bodyPr>
          <a:lstStyle/>
          <a:p>
            <a:r>
              <a:rPr lang="zh-CN" altLang="en-US">
                <a:solidFill>
                  <a:srgbClr val="FF0000"/>
                </a:solidFill>
                <a:latin typeface="Times New Roman" panose="02020603050405020304" pitchFamily="18" charset="0"/>
                <a:cs typeface="Times New Roman" panose="02020603050405020304" pitchFamily="18" charset="0"/>
              </a:rPr>
              <a:t>所以，贪心算法依赖贪心策略，而贪心算法可靠，需要对贪心策略进行证明！</a:t>
            </a:r>
            <a:endParaRPr lang="zh-CN" altLang="en-US">
              <a:solidFill>
                <a:srgbClr val="FF0000"/>
              </a:solidFill>
              <a:latin typeface="Times New Roman" panose="02020603050405020304" pitchFamily="18" charset="0"/>
              <a:cs typeface="Times New Roman" panose="02020603050405020304" pitchFamily="18" charset="0"/>
            </a:endParaRPr>
          </a:p>
        </p:txBody>
      </p:sp>
      <p:sp>
        <p:nvSpPr>
          <p:cNvPr id="14" name="文本框 13"/>
          <p:cNvSpPr txBox="1"/>
          <p:nvPr>
            <p:custDataLst>
              <p:tags r:id="rId4"/>
            </p:custDataLst>
          </p:nvPr>
        </p:nvSpPr>
        <p:spPr>
          <a:xfrm>
            <a:off x="539750" y="5013325"/>
            <a:ext cx="6564630" cy="368300"/>
          </a:xfrm>
          <a:prstGeom prst="rect">
            <a:avLst/>
          </a:prstGeom>
          <a:noFill/>
        </p:spPr>
        <p:txBody>
          <a:bodyPr wrap="square" rtlCol="0">
            <a:spAutoFit/>
          </a:bodyPr>
          <a:lstStyle/>
          <a:p>
            <a:r>
              <a:rPr lang="zh-CN" altLang="en-US">
                <a:solidFill>
                  <a:srgbClr val="FF0000"/>
                </a:solidFill>
                <a:latin typeface="Times New Roman" panose="02020603050405020304" pitchFamily="18" charset="0"/>
                <a:cs typeface="Times New Roman" panose="02020603050405020304" pitchFamily="18" charset="0"/>
              </a:rPr>
              <a:t>继续思考这个问题，什么样的币值序列能够用贪心算法呢？</a:t>
            </a:r>
            <a:endParaRPr lang="zh-CN" altLang="en-US">
              <a:solidFill>
                <a:srgbClr val="FF0000"/>
              </a:solidFill>
              <a:latin typeface="Times New Roman" panose="02020603050405020304" pitchFamily="18" charset="0"/>
              <a:cs typeface="Times New Roman" panose="02020603050405020304" pitchFamily="18" charset="0"/>
            </a:endParaRPr>
          </a:p>
        </p:txBody>
      </p:sp>
      <p:sp>
        <p:nvSpPr>
          <p:cNvPr id="15" name="文本框 14"/>
          <p:cNvSpPr txBox="1"/>
          <p:nvPr/>
        </p:nvSpPr>
        <p:spPr>
          <a:xfrm>
            <a:off x="632460" y="5527675"/>
            <a:ext cx="3939540" cy="645160"/>
          </a:xfrm>
          <a:prstGeom prst="rect">
            <a:avLst/>
          </a:prstGeom>
          <a:noFill/>
        </p:spPr>
        <p:txBody>
          <a:bodyPr wrap="square" rtlCol="0">
            <a:spAutoFit/>
          </a:bodyPr>
          <a:lstStyle/>
          <a:p>
            <a:r>
              <a:rPr lang="zh-CN" altLang="en-US">
                <a:latin typeface="Times New Roman" panose="02020603050405020304" pitchFamily="18" charset="0"/>
                <a:cs typeface="Times New Roman" panose="02020603050405020304" pitchFamily="18" charset="0"/>
              </a:rPr>
              <a:t>①如果币值是从</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开始的等比币值，可以完全按照贪心策略找到最优解。</a:t>
            </a:r>
            <a:endParaRPr lang="zh-CN" altLang="en-US">
              <a:latin typeface="Times New Roman" panose="02020603050405020304" pitchFamily="18" charset="0"/>
              <a:cs typeface="Times New Roman" panose="02020603050405020304" pitchFamily="18" charset="0"/>
            </a:endParaRPr>
          </a:p>
        </p:txBody>
      </p:sp>
      <p:sp>
        <p:nvSpPr>
          <p:cNvPr id="16" name="文本框 15"/>
          <p:cNvSpPr txBox="1"/>
          <p:nvPr/>
        </p:nvSpPr>
        <p:spPr>
          <a:xfrm>
            <a:off x="4572000" y="5553710"/>
            <a:ext cx="4411980" cy="750570"/>
          </a:xfrm>
          <a:prstGeom prst="rect">
            <a:avLst/>
          </a:prstGeom>
          <a:noFill/>
        </p:spPr>
        <p:txBody>
          <a:bodyPr wrap="square" rtlCol="0">
            <a:noAutofit/>
          </a:bodyPr>
          <a:lstStyle/>
          <a:p>
            <a:r>
              <a:rPr lang="zh-CN" altLang="en-US">
                <a:latin typeface="Times New Roman" panose="02020603050405020304" pitchFamily="18" charset="0"/>
                <a:cs typeface="Times New Roman" panose="02020603050405020304" pitchFamily="18" charset="0"/>
              </a:rPr>
              <a:t>②测试待兑换数额</a:t>
            </a:r>
            <a:r>
              <a:rPr lang="en-US" altLang="zh-CN">
                <a:latin typeface="Times New Roman" panose="02020603050405020304" pitchFamily="18" charset="0"/>
                <a:cs typeface="Times New Roman" panose="02020603050405020304" pitchFamily="18" charset="0"/>
              </a:rPr>
              <a:t>x</a:t>
            </a:r>
            <a:r>
              <a:rPr lang="zh-CN" altLang="en-US">
                <a:latin typeface="Times New Roman" panose="02020603050405020304" pitchFamily="18" charset="0"/>
                <a:cs typeface="Times New Roman" panose="02020603050405020304" pitchFamily="18" charset="0"/>
              </a:rPr>
              <a:t>，是否有反例。</a:t>
            </a:r>
            <a:r>
              <a:rPr lang="en-US" altLang="zh-CN">
                <a:latin typeface="Times New Roman" panose="02020603050405020304" pitchFamily="18" charset="0"/>
                <a:cs typeface="Times New Roman" panose="02020603050405020304" pitchFamily="18" charset="0"/>
              </a:rPr>
              <a:t>x</a:t>
            </a:r>
            <a:r>
              <a:rPr lang="zh-CN" altLang="en-US">
                <a:latin typeface="Times New Roman" panose="02020603050405020304" pitchFamily="18" charset="0"/>
                <a:cs typeface="Times New Roman" panose="02020603050405020304" pitchFamily="18" charset="0"/>
              </a:rPr>
              <a:t>范围</a:t>
            </a:r>
            <a:r>
              <a:rPr lang="zh-CN" altLang="en-US">
                <a:latin typeface="Times New Roman" panose="02020603050405020304" pitchFamily="18" charset="0"/>
                <a:cs typeface="Times New Roman" panose="02020603050405020304" pitchFamily="18" charset="0"/>
                <a:sym typeface="+mn-ea"/>
              </a:rPr>
              <a:t>（</a:t>
            </a:r>
            <a:r>
              <a:rPr lang="zh-CN" altLang="en-US">
                <a:latin typeface="Times New Roman" panose="02020603050405020304" pitchFamily="18" charset="0"/>
                <a:cs typeface="Times New Roman" panose="02020603050405020304" pitchFamily="18" charset="0"/>
              </a:rPr>
              <a:t>假设</a:t>
            </a:r>
            <a:r>
              <a:rPr lang="en-US" altLang="zh-CN">
                <a:latin typeface="Times New Roman" panose="02020603050405020304" pitchFamily="18" charset="0"/>
                <a:cs typeface="Times New Roman" panose="02020603050405020304" pitchFamily="18" charset="0"/>
              </a:rPr>
              <a:t>1=c</a:t>
            </a:r>
            <a:r>
              <a:rPr lang="en-US" altLang="zh-CN" baseline="-25000">
                <a:latin typeface="Times New Roman" panose="02020603050405020304" pitchFamily="18" charset="0"/>
                <a:cs typeface="Times New Roman" panose="02020603050405020304" pitchFamily="18" charset="0"/>
              </a:rPr>
              <a:t>1</a:t>
            </a:r>
            <a:r>
              <a:rPr lang="en-US" altLang="zh-CN">
                <a:latin typeface="Times New Roman" panose="02020603050405020304" pitchFamily="18" charset="0"/>
                <a:cs typeface="Times New Roman" panose="02020603050405020304" pitchFamily="18" charset="0"/>
              </a:rPr>
              <a:t>&lt;c</a:t>
            </a:r>
            <a:r>
              <a:rPr lang="en-US" altLang="zh-CN" baseline="-25000">
                <a:latin typeface="Times New Roman" panose="02020603050405020304" pitchFamily="18" charset="0"/>
                <a:cs typeface="Times New Roman" panose="02020603050405020304" pitchFamily="18" charset="0"/>
              </a:rPr>
              <a:t>2</a:t>
            </a:r>
            <a:r>
              <a:rPr lang="en-US" altLang="zh-CN">
                <a:latin typeface="Times New Roman" panose="02020603050405020304" pitchFamily="18" charset="0"/>
                <a:cs typeface="Times New Roman" panose="02020603050405020304" pitchFamily="18" charset="0"/>
              </a:rPr>
              <a:t>&lt;...&lt;c</a:t>
            </a:r>
            <a:r>
              <a:rPr lang="en-US" altLang="zh-CN" baseline="-25000">
                <a:latin typeface="Times New Roman" panose="02020603050405020304" pitchFamily="18" charset="0"/>
                <a:cs typeface="Times New Roman" panose="02020603050405020304" pitchFamily="18" charset="0"/>
              </a:rPr>
              <a:t>m</a:t>
            </a: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c</a:t>
            </a:r>
            <a:r>
              <a:rPr lang="en-US" altLang="zh-CN" baseline="-25000">
                <a:latin typeface="Times New Roman" panose="02020603050405020304" pitchFamily="18" charset="0"/>
                <a:cs typeface="Times New Roman" panose="02020603050405020304" pitchFamily="18" charset="0"/>
              </a:rPr>
              <a:t>3</a:t>
            </a:r>
            <a:r>
              <a:rPr lang="en-US" altLang="zh-CN">
                <a:latin typeface="Times New Roman" panose="02020603050405020304" pitchFamily="18" charset="0"/>
                <a:cs typeface="Times New Roman" panose="02020603050405020304" pitchFamily="18" charset="0"/>
              </a:rPr>
              <a:t>+1&lt;x&lt;c</a:t>
            </a:r>
            <a:r>
              <a:rPr lang="en-US" altLang="zh-CN" baseline="-25000">
                <a:latin typeface="Times New Roman" panose="02020603050405020304" pitchFamily="18" charset="0"/>
                <a:cs typeface="Times New Roman" panose="02020603050405020304" pitchFamily="18" charset="0"/>
              </a:rPr>
              <a:t>m-1</a:t>
            </a:r>
            <a:r>
              <a:rPr lang="en-US" altLang="zh-CN">
                <a:latin typeface="Times New Roman" panose="02020603050405020304" pitchFamily="18" charset="0"/>
                <a:cs typeface="Times New Roman" panose="02020603050405020304" pitchFamily="18" charset="0"/>
              </a:rPr>
              <a:t>+c</a:t>
            </a:r>
            <a:r>
              <a:rPr lang="en-US" altLang="zh-CN" baseline="-25000">
                <a:latin typeface="Times New Roman" panose="02020603050405020304" pitchFamily="18" charset="0"/>
                <a:cs typeface="Times New Roman" panose="02020603050405020304" pitchFamily="18" charset="0"/>
              </a:rPr>
              <a:t>m</a:t>
            </a:r>
            <a:r>
              <a:rPr lang="en-US" altLang="zh-CN">
                <a:latin typeface="Times New Roman" panose="02020603050405020304" pitchFamily="18" charset="0"/>
                <a:cs typeface="Times New Roman" panose="02020603050405020304" pitchFamily="18" charset="0"/>
              </a:rPr>
              <a:t> ,</a:t>
            </a:r>
            <a:r>
              <a:rPr lang="zh-CN" altLang="en-US">
                <a:latin typeface="Times New Roman" panose="02020603050405020304" pitchFamily="18" charset="0"/>
                <a:cs typeface="Times New Roman" panose="02020603050405020304" pitchFamily="18" charset="0"/>
              </a:rPr>
              <a:t>存在反例则不符合贪心策略，不存在反例则符合贪心策略。</a:t>
            </a:r>
            <a:endParaRPr lang="zh-CN" altLang="en-US">
              <a:latin typeface="Times New Roman" panose="02020603050405020304" pitchFamily="18" charset="0"/>
              <a:cs typeface="Times New Roman" panose="02020603050405020304" pitchFamily="18" charset="0"/>
            </a:endParaRPr>
          </a:p>
        </p:txBody>
      </p:sp>
      <p:sp>
        <p:nvSpPr>
          <p:cNvPr id="2" name="文本框 1"/>
          <p:cNvSpPr txBox="1"/>
          <p:nvPr/>
        </p:nvSpPr>
        <p:spPr>
          <a:xfrm>
            <a:off x="6121400" y="6399530"/>
            <a:ext cx="676910" cy="375285"/>
          </a:xfrm>
          <a:prstGeom prst="rect">
            <a:avLst/>
          </a:prstGeom>
        </p:spPr>
        <p:txBody>
          <a:bodyPr>
            <a:noAutofit/>
          </a:bodyPr>
          <a:lstStyle/>
          <a:p>
            <a:r>
              <a:rPr lang="zh-CN" altLang="en-US" sz="1600">
                <a:latin typeface="Times New Roman" panose="02020603050405020304" pitchFamily="18" charset="0"/>
                <a:cs typeface="Times New Roman" panose="02020603050405020304" pitchFamily="18" charset="0"/>
                <a:hlinkClick r:id="rId5"/>
              </a:rPr>
              <a:t>原文</a:t>
            </a:r>
            <a:endParaRPr lang="zh-CN" altLang="en-US" sz="1600">
              <a:latin typeface="Times New Roman" panose="02020603050405020304" pitchFamily="18" charset="0"/>
              <a:cs typeface="Times New Roman" panose="02020603050405020304" pitchFamily="18" charset="0"/>
              <a:hlinkClick r:id="rId5"/>
            </a:endParaRPr>
          </a:p>
        </p:txBody>
      </p:sp>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3"/>
          <p:cNvSpPr txBox="1">
            <a:spLocks noChangeArrowheads="1"/>
          </p:cNvSpPr>
          <p:nvPr/>
        </p:nvSpPr>
        <p:spPr>
          <a:xfrm>
            <a:off x="92023" y="764818"/>
            <a:ext cx="8281988" cy="982662"/>
          </a:xfrm>
          <a:prstGeom prst="rect">
            <a:avLst/>
          </a:prstGeom>
        </p:spPr>
        <p:txBody>
          <a:bodyPr>
            <a:normAutofit/>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a:lnSpc>
                <a:spcPct val="120000"/>
              </a:lnSpc>
              <a:buNone/>
            </a:pPr>
            <a:r>
              <a:rPr lang="en-US" altLang="zh-CN"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4.1.3 </a:t>
            </a:r>
            <a:r>
              <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贪心算法思想总结</a:t>
            </a:r>
            <a:endPar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3" name="文本框 2"/>
          <p:cNvSpPr txBox="1"/>
          <p:nvPr/>
        </p:nvSpPr>
        <p:spPr>
          <a:xfrm>
            <a:off x="251460" y="1772285"/>
            <a:ext cx="6624955" cy="3138170"/>
          </a:xfrm>
          <a:prstGeom prst="rect">
            <a:avLst/>
          </a:prstGeom>
          <a:noFill/>
        </p:spPr>
        <p:txBody>
          <a:bodyPr wrap="square" rtlCol="0">
            <a:noAutofit/>
          </a:bodyPr>
          <a:lstStyle/>
          <a:p>
            <a:pPr marL="0" indent="0" latinLnBrk="0">
              <a:lnSpc>
                <a:spcPct val="200000"/>
              </a:lnSpc>
            </a:pP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）解决一些组合优化问题，即求解最优值问题</a:t>
            </a:r>
            <a:endParaRPr lang="zh-CN" altLang="en-US">
              <a:latin typeface="Times New Roman" panose="02020603050405020304" pitchFamily="18" charset="0"/>
              <a:cs typeface="Times New Roman" panose="02020603050405020304" pitchFamily="18" charset="0"/>
            </a:endParaRPr>
          </a:p>
          <a:p>
            <a:pPr marL="0" indent="0" latinLnBrk="0">
              <a:lnSpc>
                <a:spcPct val="200000"/>
              </a:lnSpc>
            </a:pP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2</a:t>
            </a:r>
            <a:r>
              <a:rPr lang="zh-CN" altLang="en-US">
                <a:latin typeface="Times New Roman" panose="02020603050405020304" pitchFamily="18" charset="0"/>
                <a:cs typeface="Times New Roman" panose="02020603050405020304" pitchFamily="18" charset="0"/>
              </a:rPr>
              <a:t>）求解问题的每一步是选择某种</a:t>
            </a:r>
            <a:r>
              <a:rPr lang="en-US" altLang="zh-CN">
                <a:latin typeface="Times New Roman" panose="02020603050405020304" pitchFamily="18" charset="0"/>
                <a:cs typeface="Times New Roman" panose="02020603050405020304" pitchFamily="18" charset="0"/>
              </a:rPr>
              <a:t>“</a:t>
            </a:r>
            <a:r>
              <a:rPr lang="zh-CN" altLang="en-US">
                <a:latin typeface="Times New Roman" panose="02020603050405020304" pitchFamily="18" charset="0"/>
                <a:cs typeface="Times New Roman" panose="02020603050405020304" pitchFamily="18" charset="0"/>
              </a:rPr>
              <a:t>短视</a:t>
            </a:r>
            <a:r>
              <a:rPr lang="en-US" altLang="zh-CN">
                <a:latin typeface="Times New Roman" panose="02020603050405020304" pitchFamily="18" charset="0"/>
                <a:cs typeface="Times New Roman" panose="02020603050405020304" pitchFamily="18" charset="0"/>
              </a:rPr>
              <a:t>”</a:t>
            </a:r>
            <a:r>
              <a:rPr lang="zh-CN" altLang="en-US">
                <a:latin typeface="Times New Roman" panose="02020603050405020304" pitchFamily="18" charset="0"/>
                <a:cs typeface="Times New Roman" panose="02020603050405020304" pitchFamily="18" charset="0"/>
              </a:rPr>
              <a:t>的贪心策略。</a:t>
            </a:r>
            <a:endParaRPr lang="zh-CN" altLang="en-US">
              <a:latin typeface="Times New Roman" panose="02020603050405020304" pitchFamily="18" charset="0"/>
              <a:cs typeface="Times New Roman" panose="02020603050405020304" pitchFamily="18" charset="0"/>
            </a:endParaRPr>
          </a:p>
          <a:p>
            <a:pPr marL="0" indent="0" latinLnBrk="0">
              <a:lnSpc>
                <a:spcPct val="200000"/>
              </a:lnSpc>
            </a:pP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3</a:t>
            </a:r>
            <a:r>
              <a:rPr lang="zh-CN" altLang="en-US">
                <a:latin typeface="Times New Roman" panose="02020603050405020304" pitchFamily="18" charset="0"/>
                <a:cs typeface="Times New Roman" panose="02020603050405020304" pitchFamily="18" charset="0"/>
              </a:rPr>
              <a:t>）贪心策略决定算法的好坏，需要对算法进行正确性验证。</a:t>
            </a:r>
            <a:endParaRPr lang="zh-CN" altLang="en-US">
              <a:latin typeface="Times New Roman" panose="02020603050405020304" pitchFamily="18" charset="0"/>
              <a:cs typeface="Times New Roman" panose="02020603050405020304" pitchFamily="18" charset="0"/>
            </a:endParaRPr>
          </a:p>
          <a:p>
            <a:pPr marL="0" indent="0" latinLnBrk="0">
              <a:lnSpc>
                <a:spcPct val="200000"/>
              </a:lnSpc>
            </a:pP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4</a:t>
            </a:r>
            <a:r>
              <a:rPr lang="zh-CN" altLang="en-US">
                <a:latin typeface="Times New Roman" panose="02020603050405020304" pitchFamily="18" charset="0"/>
                <a:cs typeface="Times New Roman" panose="02020603050405020304" pitchFamily="18" charset="0"/>
              </a:rPr>
              <a:t>）验证贪心算法的好坏方法一般是，举反例（证明贪心策略不正确）和数学归纳法（证明贪心算法正确）。</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Text Box 6"/>
          <p:cNvSpPr txBox="1">
            <a:spLocks noChangeArrowheads="1"/>
          </p:cNvSpPr>
          <p:nvPr/>
        </p:nvSpPr>
        <p:spPr bwMode="auto">
          <a:xfrm>
            <a:off x="2872830" y="752302"/>
            <a:ext cx="3529013" cy="579438"/>
          </a:xfrm>
          <a:prstGeom prst="rect">
            <a:avLst/>
          </a:prstGeom>
          <a:noFill/>
          <a:ln w="9525">
            <a:noFill/>
            <a:miter lim="800000"/>
          </a:ln>
          <a:effectLst/>
        </p:spPr>
        <p:txBody>
          <a:bodyPr>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4.2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贪心法应用</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65" name="Text Box 2"/>
          <p:cNvSpPr txBox="1">
            <a:spLocks noChangeArrowheads="1"/>
          </p:cNvSpPr>
          <p:nvPr/>
        </p:nvSpPr>
        <p:spPr bwMode="auto">
          <a:xfrm>
            <a:off x="417328" y="2104831"/>
            <a:ext cx="812419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a:latin typeface="华文中宋" panose="02010600040101010101" pitchFamily="2" charset="-122"/>
                <a:ea typeface="华文中宋" panose="02010600040101010101" pitchFamily="2" charset="-122"/>
                <a:cs typeface="Times New Roman" panose="02020603050405020304" pitchFamily="18" charset="0"/>
              </a:rPr>
              <a:t>请你编写一个程序：将学生得</a:t>
            </a:r>
            <a:r>
              <a:rPr kumimoji="1" lang="zh-CN" altLang="en-US" sz="2400" b="1">
                <a:solidFill>
                  <a:srgbClr val="FF0000"/>
                </a:solidFill>
                <a:latin typeface="华文中宋" panose="02010600040101010101" pitchFamily="2" charset="-122"/>
                <a:ea typeface="华文中宋" panose="02010600040101010101" pitchFamily="2" charset="-122"/>
                <a:cs typeface="Times New Roman" panose="02020603050405020304" pitchFamily="18" charset="0"/>
              </a:rPr>
              <a:t>百分制成绩</a:t>
            </a:r>
            <a:r>
              <a:rPr kumimoji="1" lang="zh-CN" altLang="en-US" sz="2400" b="1">
                <a:latin typeface="华文中宋" panose="02010600040101010101" pitchFamily="2" charset="-122"/>
                <a:ea typeface="华文中宋" panose="02010600040101010101" pitchFamily="2" charset="-122"/>
                <a:cs typeface="Times New Roman" panose="02020603050405020304" pitchFamily="18" charset="0"/>
              </a:rPr>
              <a:t>转成五个</a:t>
            </a:r>
            <a:r>
              <a:rPr kumimoji="1" lang="zh-CN" altLang="en-US" sz="2400" b="1">
                <a:solidFill>
                  <a:srgbClr val="FF0000"/>
                </a:solidFill>
                <a:latin typeface="华文中宋" panose="02010600040101010101" pitchFamily="2" charset="-122"/>
                <a:ea typeface="华文中宋" panose="02010600040101010101" pitchFamily="2" charset="-122"/>
                <a:cs typeface="Times New Roman" panose="02020603050405020304" pitchFamily="18" charset="0"/>
              </a:rPr>
              <a:t>等级成绩</a:t>
            </a:r>
            <a:endParaRPr kumimoji="1" lang="zh-CN" altLang="en-US" sz="2400" b="1" dirty="0">
              <a:solidFill>
                <a:srgbClr val="FF0000"/>
              </a:solidFill>
              <a:latin typeface="华文中宋" panose="02010600040101010101" pitchFamily="2" charset="-122"/>
              <a:ea typeface="华文中宋" panose="02010600040101010101" pitchFamily="2" charset="-122"/>
              <a:cs typeface="Times New Roman" panose="02020603050405020304" pitchFamily="18" charset="0"/>
            </a:endParaRPr>
          </a:p>
        </p:txBody>
      </p:sp>
      <p:sp>
        <p:nvSpPr>
          <p:cNvPr id="2" name="文本框 1"/>
          <p:cNvSpPr txBox="1"/>
          <p:nvPr/>
        </p:nvSpPr>
        <p:spPr>
          <a:xfrm>
            <a:off x="1331640" y="2721374"/>
            <a:ext cx="2664296" cy="3139321"/>
          </a:xfrm>
          <a:prstGeom prst="rect">
            <a:avLst/>
          </a:prstGeom>
          <a:noFill/>
        </p:spPr>
        <p:txBody>
          <a:bodyPr wrap="square" rtlCol="0">
            <a:spAutoFit/>
          </a:bodyPr>
          <a:lstStyle/>
          <a:p>
            <a:r>
              <a:rPr lang="en-US" altLang="zh-CN">
                <a:latin typeface="Times New Roman" panose="02020603050405020304" pitchFamily="18" charset="0"/>
                <a:cs typeface="Times New Roman" panose="02020603050405020304" pitchFamily="18" charset="0"/>
              </a:rPr>
              <a:t>if(score&lt;60)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grade=‘E’;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else if(score&lt;70)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grade=‘D’;</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else if(score&lt;80)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grade=‘C’;</a:t>
            </a:r>
            <a:endParaRPr lang="zh-CN" altLang="en-US">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else if(score&lt;90)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grade=‘B’;</a:t>
            </a:r>
            <a:endParaRPr lang="zh-CN" altLang="en-US">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else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grade=‘A’;</a:t>
            </a:r>
            <a:endParaRPr lang="zh-CN" altLang="en-US">
              <a:latin typeface="Times New Roman" panose="02020603050405020304" pitchFamily="18" charset="0"/>
              <a:cs typeface="Times New Roman" panose="02020603050405020304" pitchFamily="18" charset="0"/>
            </a:endParaRPr>
          </a:p>
          <a:p>
            <a:endParaRPr lang="zh-CN" altLang="en-US">
              <a:latin typeface="Times New Roman" panose="02020603050405020304" pitchFamily="18" charset="0"/>
              <a:cs typeface="Times New Roman" panose="02020603050405020304" pitchFamily="18" charset="0"/>
            </a:endParaRPr>
          </a:p>
        </p:txBody>
      </p:sp>
      <p:pic>
        <p:nvPicPr>
          <p:cNvPr id="3" name="图片 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4427984" y="2488845"/>
            <a:ext cx="3114675" cy="3371850"/>
          </a:xfrm>
          <a:prstGeom prst="rect">
            <a:avLst/>
          </a:prstGeom>
        </p:spPr>
      </p:pic>
      <p:sp>
        <p:nvSpPr>
          <p:cNvPr id="5" name="矩形 4"/>
          <p:cNvSpPr/>
          <p:nvPr/>
        </p:nvSpPr>
        <p:spPr>
          <a:xfrm>
            <a:off x="644525" y="1596390"/>
            <a:ext cx="3782695" cy="532765"/>
          </a:xfrm>
          <a:prstGeom prst="rect">
            <a:avLst/>
          </a:prstGeom>
        </p:spPr>
        <p:txBody>
          <a:bodyPr wrap="none">
            <a:noAutofit/>
          </a:bodyPr>
          <a:lstStyle/>
          <a:p>
            <a:pPr algn="just">
              <a:spcBef>
                <a:spcPct val="50000"/>
              </a:spcBef>
              <a:defRPr/>
            </a:pP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4.2.1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(1)</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哈夫曼树</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 Box 2"/>
          <p:cNvSpPr txBox="1">
            <a:spLocks noChangeArrowheads="1"/>
          </p:cNvSpPr>
          <p:nvPr/>
        </p:nvSpPr>
        <p:spPr bwMode="auto">
          <a:xfrm>
            <a:off x="417328" y="1811461"/>
            <a:ext cx="2320925"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FF0000"/>
                </a:solidFill>
                <a:latin typeface="华文中宋" panose="02010600040101010101" pitchFamily="2" charset="-122"/>
                <a:ea typeface="华文中宋" panose="02010600040101010101" pitchFamily="2" charset="-122"/>
                <a:cs typeface="Times New Roman" panose="02020603050405020304" pitchFamily="18" charset="0"/>
              </a:rPr>
              <a:t>成绩正太分布图</a:t>
            </a:r>
            <a:endParaRPr kumimoji="1" lang="zh-CN" altLang="en-US" sz="2400" b="1" dirty="0">
              <a:solidFill>
                <a:srgbClr val="FF0000"/>
              </a:solidFill>
              <a:latin typeface="华文中宋" panose="02010600040101010101" pitchFamily="2" charset="-122"/>
              <a:ea typeface="华文中宋" panose="02010600040101010101" pitchFamily="2" charset="-122"/>
              <a:cs typeface="Times New Roman" panose="02020603050405020304" pitchFamily="18" charset="0"/>
            </a:endParaRPr>
          </a:p>
        </p:txBody>
      </p:sp>
      <p:pic>
        <p:nvPicPr>
          <p:cNvPr id="6" name="图片 5"/>
          <p:cNvPicPr>
            <a:picLocks noChangeAspect="1"/>
          </p:cNvPicPr>
          <p:nvPr/>
        </p:nvPicPr>
        <p:blipFill>
          <a:blip r:embed="rId1"/>
          <a:stretch>
            <a:fillRect/>
          </a:stretch>
        </p:blipFill>
        <p:spPr>
          <a:xfrm>
            <a:off x="323850" y="2204720"/>
            <a:ext cx="3714750" cy="2466975"/>
          </a:xfrm>
          <a:prstGeom prst="rect">
            <a:avLst/>
          </a:prstGeom>
        </p:spPr>
      </p:pic>
      <p:grpSp>
        <p:nvGrpSpPr>
          <p:cNvPr id="2" name="组合 1"/>
          <p:cNvGrpSpPr/>
          <p:nvPr/>
        </p:nvGrpSpPr>
        <p:grpSpPr>
          <a:xfrm>
            <a:off x="4860290" y="1713230"/>
            <a:ext cx="3114040" cy="3594735"/>
            <a:chOff x="8221" y="2853"/>
            <a:chExt cx="4904" cy="5661"/>
          </a:xfrm>
        </p:grpSpPr>
        <p:pic>
          <p:nvPicPr>
            <p:cNvPr id="3" name="图片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21" y="2853"/>
              <a:ext cx="4905" cy="5310"/>
            </a:xfrm>
            <a:prstGeom prst="rect">
              <a:avLst/>
            </a:prstGeom>
          </p:spPr>
        </p:pic>
        <p:sp>
          <p:nvSpPr>
            <p:cNvPr id="5" name="文本框 4"/>
            <p:cNvSpPr txBox="1"/>
            <p:nvPr/>
          </p:nvSpPr>
          <p:spPr>
            <a:xfrm>
              <a:off x="8334" y="4720"/>
              <a:ext cx="1063" cy="507"/>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5%</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9" name="文本框 8"/>
            <p:cNvSpPr txBox="1"/>
            <p:nvPr/>
          </p:nvSpPr>
          <p:spPr>
            <a:xfrm>
              <a:off x="11963" y="8008"/>
              <a:ext cx="1063" cy="507"/>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10%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0" name="文本框 9"/>
            <p:cNvSpPr txBox="1"/>
            <p:nvPr/>
          </p:nvSpPr>
          <p:spPr>
            <a:xfrm>
              <a:off x="10602" y="8008"/>
              <a:ext cx="1063" cy="507"/>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30%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1" name="文本框 10"/>
            <p:cNvSpPr txBox="1"/>
            <p:nvPr/>
          </p:nvSpPr>
          <p:spPr>
            <a:xfrm>
              <a:off x="9695" y="6761"/>
              <a:ext cx="1063" cy="507"/>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40%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2" name="文本框 11"/>
            <p:cNvSpPr txBox="1"/>
            <p:nvPr/>
          </p:nvSpPr>
          <p:spPr>
            <a:xfrm>
              <a:off x="8788" y="5967"/>
              <a:ext cx="1063" cy="507"/>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15%</a:t>
              </a:r>
              <a:endParaRPr lang="en-US" altLang="zh-CN" sz="1500">
                <a:solidFill>
                  <a:srgbClr val="FF0000"/>
                </a:solidFill>
                <a:latin typeface="Times New Roman" panose="02020603050405020304" pitchFamily="18" charset="0"/>
                <a:cs typeface="Times New Roman" panose="02020603050405020304" pitchFamily="18" charset="0"/>
              </a:endParaRPr>
            </a:p>
          </p:txBody>
        </p:sp>
      </p:grpSp>
      <p:sp>
        <p:nvSpPr>
          <p:cNvPr id="13" name="Text Box 2"/>
          <p:cNvSpPr txBox="1">
            <a:spLocks noChangeArrowheads="1"/>
          </p:cNvSpPr>
          <p:nvPr/>
        </p:nvSpPr>
        <p:spPr bwMode="auto">
          <a:xfrm>
            <a:off x="468128" y="5229031"/>
            <a:ext cx="339344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FF0000"/>
                </a:solidFill>
                <a:latin typeface="宋体" panose="02010600030101010101" pitchFamily="2" charset="-122"/>
                <a:cs typeface="宋体" panose="02010600030101010101" pitchFamily="2" charset="-122"/>
              </a:rPr>
              <a:t>假设学生总共有</a:t>
            </a:r>
            <a:r>
              <a:rPr kumimoji="1" lang="en-US" altLang="zh-CN" sz="2400" b="1" dirty="0">
                <a:solidFill>
                  <a:srgbClr val="FF0000"/>
                </a:solidFill>
                <a:uFillTx/>
                <a:latin typeface="Times New Roman" panose="02020603050405020304" pitchFamily="18" charset="0"/>
                <a:cs typeface="宋体" panose="02010600030101010101" pitchFamily="2" charset="-122"/>
              </a:rPr>
              <a:t>10000</a:t>
            </a:r>
            <a:r>
              <a:rPr kumimoji="1" lang="zh-CN" altLang="en-US" sz="2400" b="1" dirty="0">
                <a:solidFill>
                  <a:srgbClr val="FF0000"/>
                </a:solidFill>
                <a:latin typeface="宋体" panose="02010600030101010101" pitchFamily="2" charset="-122"/>
                <a:cs typeface="宋体" panose="02010600030101010101" pitchFamily="2" charset="-122"/>
              </a:rPr>
              <a:t>个</a:t>
            </a:r>
            <a:endParaRPr kumimoji="1" lang="zh-CN" altLang="en-US" sz="2400" b="1" dirty="0">
              <a:solidFill>
                <a:srgbClr val="FF0000"/>
              </a:solidFill>
              <a:latin typeface="宋体" panose="02010600030101010101" pitchFamily="2" charset="-122"/>
              <a:cs typeface="宋体" panose="02010600030101010101" pitchFamily="2" charset="-122"/>
            </a:endParaRPr>
          </a:p>
        </p:txBody>
      </p:sp>
      <p:sp>
        <p:nvSpPr>
          <p:cNvPr id="14" name="Text Box 2"/>
          <p:cNvSpPr txBox="1">
            <a:spLocks noChangeArrowheads="1"/>
          </p:cNvSpPr>
          <p:nvPr/>
        </p:nvSpPr>
        <p:spPr bwMode="auto">
          <a:xfrm>
            <a:off x="996448" y="5877366"/>
            <a:ext cx="7244715" cy="3683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kumimoji="1" lang="zh-CN" altLang="en-US" sz="1800" b="1" dirty="0">
                <a:solidFill>
                  <a:srgbClr val="FF0000"/>
                </a:solidFill>
                <a:uFillTx/>
                <a:latin typeface="Times New Roman" panose="02020603050405020304" pitchFamily="18" charset="0"/>
                <a:cs typeface="Times New Roman" panose="02020603050405020304" pitchFamily="18" charset="0"/>
              </a:rPr>
              <a:t>比较次数：</a:t>
            </a:r>
            <a:r>
              <a:rPr kumimoji="1" lang="en-US" altLang="zh-CN" sz="1800" b="1" dirty="0">
                <a:solidFill>
                  <a:srgbClr val="FF0000"/>
                </a:solidFill>
                <a:uFillTx/>
                <a:latin typeface="Times New Roman" panose="02020603050405020304" pitchFamily="18" charset="0"/>
                <a:cs typeface="Times New Roman" panose="02020603050405020304" pitchFamily="18" charset="0"/>
              </a:rPr>
              <a:t>10000*</a:t>
            </a:r>
            <a:r>
              <a:rPr kumimoji="1" lang="zh-CN" altLang="en-US" sz="1800" b="1" dirty="0">
                <a:solidFill>
                  <a:srgbClr val="FF0000"/>
                </a:solidFill>
                <a:uFillTx/>
                <a:latin typeface="Times New Roman" panose="02020603050405020304" pitchFamily="18" charset="0"/>
                <a:cs typeface="Times New Roman" panose="02020603050405020304" pitchFamily="18" charset="0"/>
              </a:rPr>
              <a:t>（</a:t>
            </a:r>
            <a:r>
              <a:rPr kumimoji="1" lang="en-US" altLang="zh-CN" sz="1800" b="1" dirty="0">
                <a:solidFill>
                  <a:srgbClr val="FF0000"/>
                </a:solidFill>
                <a:uFillTx/>
                <a:latin typeface="Times New Roman" panose="02020603050405020304" pitchFamily="18" charset="0"/>
                <a:cs typeface="Times New Roman" panose="02020603050405020304" pitchFamily="18" charset="0"/>
              </a:rPr>
              <a:t>1*5%+</a:t>
            </a:r>
            <a:r>
              <a:rPr kumimoji="1" lang="en-US" altLang="zh-CN" sz="1800" b="1" dirty="0">
                <a:solidFill>
                  <a:srgbClr val="FF0000"/>
                </a:solidFill>
                <a:uFillTx/>
                <a:latin typeface="Times New Roman" panose="02020603050405020304" pitchFamily="18" charset="0"/>
                <a:cs typeface="Times New Roman" panose="02020603050405020304" pitchFamily="18" charset="0"/>
                <a:sym typeface="+mn-ea"/>
              </a:rPr>
              <a:t>2*15%+</a:t>
            </a:r>
            <a:r>
              <a:rPr kumimoji="1" lang="en-US" altLang="zh-CN" sz="1800" b="1" dirty="0">
                <a:solidFill>
                  <a:srgbClr val="FF0000"/>
                </a:solidFill>
                <a:uFillTx/>
                <a:latin typeface="Times New Roman" panose="02020603050405020304" pitchFamily="18" charset="0"/>
                <a:cs typeface="Times New Roman" panose="02020603050405020304" pitchFamily="18" charset="0"/>
              </a:rPr>
              <a:t>3*40%+</a:t>
            </a:r>
            <a:r>
              <a:rPr kumimoji="1" lang="en-US" altLang="zh-CN" sz="1800" b="1" dirty="0">
                <a:solidFill>
                  <a:srgbClr val="FF0000"/>
                </a:solidFill>
                <a:uFillTx/>
                <a:latin typeface="Times New Roman" panose="02020603050405020304" pitchFamily="18" charset="0"/>
                <a:cs typeface="Times New Roman" panose="02020603050405020304" pitchFamily="18" charset="0"/>
                <a:sym typeface="+mn-ea"/>
              </a:rPr>
              <a:t>4*30%+4*10%</a:t>
            </a:r>
            <a:r>
              <a:rPr kumimoji="1" lang="zh-CN" altLang="en-US" sz="1800" b="1" dirty="0">
                <a:solidFill>
                  <a:srgbClr val="FF0000"/>
                </a:solidFill>
                <a:uFillTx/>
                <a:latin typeface="Times New Roman" panose="02020603050405020304" pitchFamily="18" charset="0"/>
                <a:cs typeface="Times New Roman" panose="02020603050405020304" pitchFamily="18" charset="0"/>
              </a:rPr>
              <a:t>）</a:t>
            </a:r>
            <a:r>
              <a:rPr kumimoji="1" lang="en-US" altLang="zh-CN" sz="1800" b="1" dirty="0">
                <a:solidFill>
                  <a:srgbClr val="FF0000"/>
                </a:solidFill>
                <a:uFillTx/>
                <a:latin typeface="Times New Roman" panose="02020603050405020304" pitchFamily="18" charset="0"/>
                <a:cs typeface="Times New Roman" panose="02020603050405020304" pitchFamily="18" charset="0"/>
              </a:rPr>
              <a:t>=31500</a:t>
            </a:r>
            <a:r>
              <a:rPr kumimoji="1" lang="zh-CN" altLang="en-US" sz="1800" b="1" dirty="0">
                <a:solidFill>
                  <a:srgbClr val="FF0000"/>
                </a:solidFill>
                <a:uFillTx/>
                <a:latin typeface="Times New Roman" panose="02020603050405020304" pitchFamily="18" charset="0"/>
                <a:cs typeface="Times New Roman" panose="02020603050405020304" pitchFamily="18" charset="0"/>
              </a:rPr>
              <a:t>次</a:t>
            </a:r>
            <a:endParaRPr kumimoji="1" lang="zh-CN" altLang="en-US" sz="1800" b="1" dirty="0">
              <a:solidFill>
                <a:srgbClr val="FF0000"/>
              </a:solidFill>
              <a:uFillTx/>
              <a:latin typeface="Times New Roman" panose="02020603050405020304" pitchFamily="18" charset="0"/>
              <a:cs typeface="Times New Roman" panose="02020603050405020304" pitchFamily="18" charset="0"/>
            </a:endParaRPr>
          </a:p>
        </p:txBody>
      </p:sp>
      <p:sp>
        <p:nvSpPr>
          <p:cNvPr id="4" name="矩形 3"/>
          <p:cNvSpPr/>
          <p:nvPr/>
        </p:nvSpPr>
        <p:spPr>
          <a:xfrm>
            <a:off x="468159" y="1052736"/>
            <a:ext cx="3105150" cy="521970"/>
          </a:xfrm>
          <a:prstGeom prst="rect">
            <a:avLst/>
          </a:prstGeom>
        </p:spPr>
        <p:txBody>
          <a:bodyPr wrap="none">
            <a:spAutoFit/>
          </a:bodyPr>
          <a:lstStyle/>
          <a:p>
            <a:pPr algn="just">
              <a:spcBef>
                <a:spcPct val="50000"/>
              </a:spcBef>
              <a:defRPr/>
            </a:pP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4.2.1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(1)</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哈夫曼树</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 Box 2"/>
          <p:cNvSpPr txBox="1">
            <a:spLocks noChangeArrowheads="1"/>
          </p:cNvSpPr>
          <p:nvPr/>
        </p:nvSpPr>
        <p:spPr bwMode="auto">
          <a:xfrm>
            <a:off x="417328" y="1811461"/>
            <a:ext cx="2320925"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FF0000"/>
                </a:solidFill>
                <a:latin typeface="华文中宋" panose="02010600040101010101" pitchFamily="2" charset="-122"/>
                <a:ea typeface="华文中宋" panose="02010600040101010101" pitchFamily="2" charset="-122"/>
                <a:cs typeface="Times New Roman" panose="02020603050405020304" pitchFamily="18" charset="0"/>
              </a:rPr>
              <a:t>成绩正太分布图</a:t>
            </a:r>
            <a:endParaRPr kumimoji="1" lang="zh-CN" altLang="en-US" sz="2400" b="1" dirty="0">
              <a:solidFill>
                <a:srgbClr val="FF0000"/>
              </a:solidFill>
              <a:latin typeface="华文中宋" panose="02010600040101010101" pitchFamily="2" charset="-122"/>
              <a:ea typeface="华文中宋" panose="02010600040101010101" pitchFamily="2" charset="-122"/>
              <a:cs typeface="Times New Roman" panose="02020603050405020304" pitchFamily="18" charset="0"/>
            </a:endParaRPr>
          </a:p>
        </p:txBody>
      </p:sp>
      <p:pic>
        <p:nvPicPr>
          <p:cNvPr id="4" name="图片 3"/>
          <p:cNvPicPr>
            <a:picLocks noChangeAspect="1"/>
          </p:cNvPicPr>
          <p:nvPr/>
        </p:nvPicPr>
        <p:blipFill>
          <a:blip r:embed="rId1"/>
          <a:stretch>
            <a:fillRect/>
          </a:stretch>
        </p:blipFill>
        <p:spPr>
          <a:xfrm>
            <a:off x="4500245" y="1858010"/>
            <a:ext cx="3886200" cy="2867025"/>
          </a:xfrm>
          <a:prstGeom prst="rect">
            <a:avLst/>
          </a:prstGeom>
        </p:spPr>
      </p:pic>
      <p:sp>
        <p:nvSpPr>
          <p:cNvPr id="5" name="文本框 4"/>
          <p:cNvSpPr txBox="1"/>
          <p:nvPr/>
        </p:nvSpPr>
        <p:spPr>
          <a:xfrm>
            <a:off x="4572000" y="4450080"/>
            <a:ext cx="675005" cy="321945"/>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5%</a:t>
            </a:r>
            <a:endParaRPr lang="en-US" altLang="zh-CN" sz="1500">
              <a:solidFill>
                <a:srgbClr val="FF0000"/>
              </a:solidFill>
              <a:latin typeface="Times New Roman" panose="02020603050405020304" pitchFamily="18" charset="0"/>
              <a:cs typeface="Times New Roman" panose="02020603050405020304" pitchFamily="18" charset="0"/>
            </a:endParaRPr>
          </a:p>
        </p:txBody>
      </p:sp>
      <p:pic>
        <p:nvPicPr>
          <p:cNvPr id="6" name="图片 5"/>
          <p:cNvPicPr>
            <a:picLocks noChangeAspect="1"/>
          </p:cNvPicPr>
          <p:nvPr/>
        </p:nvPicPr>
        <p:blipFill>
          <a:blip r:embed="rId2"/>
          <a:stretch>
            <a:fillRect/>
          </a:stretch>
        </p:blipFill>
        <p:spPr>
          <a:xfrm>
            <a:off x="323850" y="2204720"/>
            <a:ext cx="3714750" cy="2466975"/>
          </a:xfrm>
          <a:prstGeom prst="rect">
            <a:avLst/>
          </a:prstGeom>
        </p:spPr>
      </p:pic>
      <p:sp>
        <p:nvSpPr>
          <p:cNvPr id="9" name="文本框 8"/>
          <p:cNvSpPr txBox="1"/>
          <p:nvPr/>
        </p:nvSpPr>
        <p:spPr>
          <a:xfrm>
            <a:off x="7380605" y="3696335"/>
            <a:ext cx="675005" cy="321945"/>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10%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0" name="文本框 9"/>
          <p:cNvSpPr txBox="1"/>
          <p:nvPr/>
        </p:nvSpPr>
        <p:spPr>
          <a:xfrm>
            <a:off x="6660515" y="3729990"/>
            <a:ext cx="675005" cy="321945"/>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30%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1" name="文本框 10"/>
          <p:cNvSpPr txBox="1"/>
          <p:nvPr/>
        </p:nvSpPr>
        <p:spPr>
          <a:xfrm>
            <a:off x="6087110" y="3945890"/>
            <a:ext cx="675005" cy="321945"/>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40%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2" name="文本框 11"/>
          <p:cNvSpPr txBox="1"/>
          <p:nvPr/>
        </p:nvSpPr>
        <p:spPr>
          <a:xfrm>
            <a:off x="5484495" y="4450080"/>
            <a:ext cx="675005" cy="321945"/>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15%</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3" name="Text Box 2"/>
          <p:cNvSpPr txBox="1">
            <a:spLocks noChangeArrowheads="1"/>
          </p:cNvSpPr>
          <p:nvPr/>
        </p:nvSpPr>
        <p:spPr bwMode="auto">
          <a:xfrm>
            <a:off x="468128" y="5229031"/>
            <a:ext cx="339344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FF0000"/>
                </a:solidFill>
                <a:latin typeface="宋体" panose="02010600030101010101" pitchFamily="2" charset="-122"/>
                <a:cs typeface="宋体" panose="02010600030101010101" pitchFamily="2" charset="-122"/>
              </a:rPr>
              <a:t>假设学生总共有</a:t>
            </a:r>
            <a:r>
              <a:rPr kumimoji="1" lang="en-US" altLang="zh-CN" sz="2400" b="1" dirty="0">
                <a:solidFill>
                  <a:srgbClr val="FF0000"/>
                </a:solidFill>
                <a:uFillTx/>
                <a:latin typeface="Times New Roman" panose="02020603050405020304" pitchFamily="18" charset="0"/>
                <a:cs typeface="宋体" panose="02010600030101010101" pitchFamily="2" charset="-122"/>
              </a:rPr>
              <a:t>10000</a:t>
            </a:r>
            <a:r>
              <a:rPr kumimoji="1" lang="zh-CN" altLang="en-US" sz="2400" b="1" dirty="0">
                <a:solidFill>
                  <a:srgbClr val="FF0000"/>
                </a:solidFill>
                <a:latin typeface="宋体" panose="02010600030101010101" pitchFamily="2" charset="-122"/>
                <a:cs typeface="宋体" panose="02010600030101010101" pitchFamily="2" charset="-122"/>
              </a:rPr>
              <a:t>个</a:t>
            </a:r>
            <a:endParaRPr kumimoji="1" lang="zh-CN" altLang="en-US" sz="2400" b="1" dirty="0">
              <a:solidFill>
                <a:srgbClr val="FF0000"/>
              </a:solidFill>
              <a:latin typeface="宋体" panose="02010600030101010101" pitchFamily="2" charset="-122"/>
              <a:cs typeface="宋体" panose="02010600030101010101" pitchFamily="2" charset="-122"/>
            </a:endParaRPr>
          </a:p>
        </p:txBody>
      </p:sp>
      <p:sp>
        <p:nvSpPr>
          <p:cNvPr id="14" name="Text Box 2"/>
          <p:cNvSpPr txBox="1">
            <a:spLocks noChangeArrowheads="1"/>
          </p:cNvSpPr>
          <p:nvPr/>
        </p:nvSpPr>
        <p:spPr bwMode="auto">
          <a:xfrm>
            <a:off x="996448" y="5877366"/>
            <a:ext cx="4911090" cy="3683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kumimoji="1" lang="zh-CN" altLang="en-US" sz="1800" b="1" dirty="0">
                <a:solidFill>
                  <a:srgbClr val="FF0000"/>
                </a:solidFill>
                <a:uFillTx/>
                <a:latin typeface="Times New Roman" panose="02020603050405020304" pitchFamily="18" charset="0"/>
                <a:cs typeface="Times New Roman" panose="02020603050405020304" pitchFamily="18" charset="0"/>
              </a:rPr>
              <a:t>比较次数：</a:t>
            </a:r>
            <a:r>
              <a:rPr kumimoji="1" lang="en-US" altLang="zh-CN" sz="1800" b="1" dirty="0">
                <a:solidFill>
                  <a:srgbClr val="FF0000"/>
                </a:solidFill>
                <a:uFillTx/>
                <a:latin typeface="Times New Roman" panose="02020603050405020304" pitchFamily="18" charset="0"/>
                <a:cs typeface="Times New Roman" panose="02020603050405020304" pitchFamily="18" charset="0"/>
              </a:rPr>
              <a:t>10000*</a:t>
            </a:r>
            <a:r>
              <a:rPr kumimoji="1" lang="zh-CN" altLang="en-US" sz="1800" b="1" dirty="0">
                <a:solidFill>
                  <a:srgbClr val="FF0000"/>
                </a:solidFill>
                <a:uFillTx/>
                <a:latin typeface="Times New Roman" panose="02020603050405020304" pitchFamily="18" charset="0"/>
                <a:cs typeface="Times New Roman" panose="02020603050405020304" pitchFamily="18" charset="0"/>
              </a:rPr>
              <a:t>（</a:t>
            </a:r>
            <a:r>
              <a:rPr kumimoji="1" lang="en-US" altLang="zh-CN" sz="1800" b="1" dirty="0">
                <a:solidFill>
                  <a:srgbClr val="FF0000"/>
                </a:solidFill>
                <a:uFillTx/>
                <a:latin typeface="Times New Roman" panose="02020603050405020304" pitchFamily="18" charset="0"/>
                <a:cs typeface="Times New Roman" panose="02020603050405020304" pitchFamily="18" charset="0"/>
                <a:sym typeface="+mn-ea"/>
              </a:rPr>
              <a:t>2*80%+3*20%</a:t>
            </a:r>
            <a:r>
              <a:rPr kumimoji="1" lang="zh-CN" altLang="en-US" sz="1800" b="1" dirty="0">
                <a:solidFill>
                  <a:srgbClr val="FF0000"/>
                </a:solidFill>
                <a:uFillTx/>
                <a:latin typeface="Times New Roman" panose="02020603050405020304" pitchFamily="18" charset="0"/>
                <a:cs typeface="Times New Roman" panose="02020603050405020304" pitchFamily="18" charset="0"/>
              </a:rPr>
              <a:t>）</a:t>
            </a:r>
            <a:r>
              <a:rPr kumimoji="1" lang="en-US" altLang="zh-CN" sz="1800" b="1" dirty="0">
                <a:solidFill>
                  <a:srgbClr val="FF0000"/>
                </a:solidFill>
                <a:uFillTx/>
                <a:latin typeface="Times New Roman" panose="02020603050405020304" pitchFamily="18" charset="0"/>
                <a:cs typeface="Times New Roman" panose="02020603050405020304" pitchFamily="18" charset="0"/>
              </a:rPr>
              <a:t>=22000</a:t>
            </a:r>
            <a:r>
              <a:rPr kumimoji="1" lang="zh-CN" altLang="en-US" sz="1800" b="1" dirty="0">
                <a:solidFill>
                  <a:srgbClr val="FF0000"/>
                </a:solidFill>
                <a:uFillTx/>
                <a:latin typeface="Times New Roman" panose="02020603050405020304" pitchFamily="18" charset="0"/>
                <a:cs typeface="Times New Roman" panose="02020603050405020304" pitchFamily="18" charset="0"/>
              </a:rPr>
              <a:t>次</a:t>
            </a:r>
            <a:endParaRPr kumimoji="1" lang="zh-CN" altLang="en-US" sz="1800" b="1" dirty="0">
              <a:solidFill>
                <a:srgbClr val="FF0000"/>
              </a:solidFill>
              <a:uFillTx/>
              <a:latin typeface="Times New Roman" panose="02020603050405020304" pitchFamily="18" charset="0"/>
              <a:cs typeface="Times New Roman" panose="02020603050405020304" pitchFamily="18" charset="0"/>
            </a:endParaRPr>
          </a:p>
        </p:txBody>
      </p:sp>
      <p:sp>
        <p:nvSpPr>
          <p:cNvPr id="2" name="矩形 1"/>
          <p:cNvSpPr/>
          <p:nvPr/>
        </p:nvSpPr>
        <p:spPr>
          <a:xfrm>
            <a:off x="388784" y="980981"/>
            <a:ext cx="3105150" cy="521970"/>
          </a:xfrm>
          <a:prstGeom prst="rect">
            <a:avLst/>
          </a:prstGeom>
        </p:spPr>
        <p:txBody>
          <a:bodyPr wrap="none">
            <a:spAutoFit/>
          </a:bodyPr>
          <a:lstStyle/>
          <a:p>
            <a:pPr algn="just">
              <a:spcBef>
                <a:spcPct val="50000"/>
              </a:spcBef>
              <a:defRPr/>
            </a:pP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4.2.1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(1)</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哈夫曼树</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5859" name="Text Box 3"/>
          <p:cNvSpPr txBox="1">
            <a:spLocks noChangeArrowheads="1"/>
          </p:cNvSpPr>
          <p:nvPr/>
        </p:nvSpPr>
        <p:spPr bwMode="auto">
          <a:xfrm>
            <a:off x="395536" y="1605425"/>
            <a:ext cx="8812213" cy="858838"/>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0000FF"/>
                </a:solidFill>
                <a:latin typeface="华文中宋" panose="02010600040101010101" pitchFamily="2" charset="-122"/>
                <a:ea typeface="华文中宋" panose="02010600040101010101" pitchFamily="2" charset="-122"/>
                <a:cs typeface="Times New Roman" panose="02020603050405020304" pitchFamily="18" charset="0"/>
              </a:rPr>
              <a:t>路径：</a:t>
            </a:r>
            <a:r>
              <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rPr>
              <a:t>从树中一个结点到另一个结点之间的分支构成这两个结点 </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a:p>
            <a:pPr>
              <a:lnSpc>
                <a:spcPct val="60000"/>
              </a:lnSpc>
              <a:spcBef>
                <a:spcPct val="50000"/>
              </a:spcBef>
            </a:pPr>
            <a:r>
              <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rPr>
              <a:t>         间的路径。 </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p:txBody>
      </p:sp>
      <p:sp>
        <p:nvSpPr>
          <p:cNvPr id="505860" name="Text Box 4"/>
          <p:cNvSpPr txBox="1">
            <a:spLocks noChangeArrowheads="1"/>
          </p:cNvSpPr>
          <p:nvPr/>
        </p:nvSpPr>
        <p:spPr bwMode="auto">
          <a:xfrm>
            <a:off x="292349" y="2352135"/>
            <a:ext cx="6351588"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结点的路径长度：</a:t>
            </a:r>
            <a:r>
              <a:rPr kumimoji="1" lang="zh-CN" altLang="en-US" sz="2400" b="1">
                <a:latin typeface="Times New Roman" panose="02020603050405020304" pitchFamily="18" charset="0"/>
                <a:ea typeface="华文中宋" panose="02010600040101010101" pitchFamily="2" charset="-122"/>
                <a:cs typeface="Times New Roman" panose="02020603050405020304" pitchFamily="18" charset="0"/>
              </a:rPr>
              <a:t>两结点间路径上的分支数。 </a:t>
            </a:r>
            <a:endParaRPr kumimoji="1" lang="zh-CN" altLang="en-US" sz="2400" b="1">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5861" name="Text Box 5"/>
          <p:cNvSpPr txBox="1">
            <a:spLocks noChangeArrowheads="1"/>
          </p:cNvSpPr>
          <p:nvPr/>
        </p:nvSpPr>
        <p:spPr bwMode="auto">
          <a:xfrm>
            <a:off x="292349" y="5095335"/>
            <a:ext cx="8958263"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树的路径长度：</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从树根到每一个结点的路径长度之和。记作：</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TL  </a:t>
            </a:r>
            <a:endPar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5862" name="Text Box 6"/>
          <p:cNvSpPr txBox="1">
            <a:spLocks noChangeArrowheads="1"/>
          </p:cNvSpPr>
          <p:nvPr/>
        </p:nvSpPr>
        <p:spPr bwMode="auto">
          <a:xfrm>
            <a:off x="5516812" y="3014123"/>
            <a:ext cx="3690937" cy="1808162"/>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80000"/>
              </a:lnSpc>
              <a:spcBef>
                <a:spcPct val="50000"/>
              </a:spcBef>
            </a:pP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从根 </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A </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到 </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B</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C</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D</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E</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a:p>
            <a:pPr>
              <a:lnSpc>
                <a:spcPct val="80000"/>
              </a:lnSpc>
              <a:spcBef>
                <a:spcPct val="50000"/>
              </a:spcBef>
            </a:pP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F</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G</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H</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I </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的路径长度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a:p>
            <a:pPr>
              <a:lnSpc>
                <a:spcPct val="80000"/>
              </a:lnSpc>
              <a:spcBef>
                <a:spcPct val="50000"/>
              </a:spcBef>
            </a:pP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分别为 </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1</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1</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2</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2</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3</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a:p>
            <a:pPr>
              <a:lnSpc>
                <a:spcPct val="80000"/>
              </a:lnSpc>
              <a:spcBef>
                <a:spcPct val="50000"/>
              </a:spcBef>
            </a:pP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3</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4</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4</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5863" name="Text Box 7"/>
          <p:cNvSpPr txBox="1">
            <a:spLocks noChangeArrowheads="1"/>
          </p:cNvSpPr>
          <p:nvPr/>
        </p:nvSpPr>
        <p:spPr bwMode="auto">
          <a:xfrm>
            <a:off x="292349" y="5552535"/>
            <a:ext cx="6254750" cy="8953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Bef>
                <a:spcPct val="50000"/>
              </a:spcBef>
            </a:pPr>
            <a:r>
              <a:rPr kumimoji="1" lang="en-US" altLang="zh-CN" sz="2400" b="1" dirty="0">
                <a:latin typeface="Times New Roman" panose="02020603050405020304" pitchFamily="18" charset="0"/>
                <a:cs typeface="Times New Roman" panose="02020603050405020304" pitchFamily="18" charset="0"/>
              </a:rPr>
              <a:t>TL</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i="1" dirty="0">
                <a:latin typeface="Times New Roman" panose="02020603050405020304" pitchFamily="18" charset="0"/>
                <a:cs typeface="Times New Roman" panose="02020603050405020304" pitchFamily="18" charset="0"/>
              </a:rPr>
              <a:t>a</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0</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1</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1</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3</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3</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4</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4</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20 </a:t>
            </a:r>
            <a:br>
              <a:rPr kumimoji="1" lang="en-US" altLang="zh-CN" sz="2400" b="1" dirty="0">
                <a:latin typeface="Times New Roman" panose="02020603050405020304" pitchFamily="18" charset="0"/>
                <a:cs typeface="Times New Roman" panose="02020603050405020304" pitchFamily="18" charset="0"/>
              </a:rPr>
            </a:br>
            <a:r>
              <a:rPr kumimoji="1" lang="en-US" altLang="zh-CN" sz="2400" b="1" dirty="0">
                <a:latin typeface="Times New Roman" panose="02020603050405020304" pitchFamily="18" charset="0"/>
                <a:cs typeface="Times New Roman" panose="02020603050405020304" pitchFamily="18" charset="0"/>
              </a:rPr>
              <a:t>TL</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i="1" dirty="0">
                <a:latin typeface="Times New Roman" panose="02020603050405020304" pitchFamily="18" charset="0"/>
                <a:cs typeface="Times New Roman" panose="02020603050405020304" pitchFamily="18" charset="0"/>
              </a:rPr>
              <a:t>b</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0</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1</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1</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3</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3</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16  </a:t>
            </a:r>
            <a:endParaRPr kumimoji="1" lang="en-US" altLang="zh-CN" sz="2400" b="1" dirty="0">
              <a:latin typeface="Times New Roman" panose="02020603050405020304" pitchFamily="18" charset="0"/>
              <a:cs typeface="Times New Roman" panose="02020603050405020304" pitchFamily="18" charset="0"/>
            </a:endParaRPr>
          </a:p>
        </p:txBody>
      </p:sp>
      <p:grpSp>
        <p:nvGrpSpPr>
          <p:cNvPr id="505865" name="Group 9"/>
          <p:cNvGrpSpPr/>
          <p:nvPr/>
        </p:nvGrpSpPr>
        <p:grpSpPr bwMode="auto">
          <a:xfrm>
            <a:off x="560637" y="2826798"/>
            <a:ext cx="4803775" cy="2209800"/>
            <a:chOff x="217" y="1383"/>
            <a:chExt cx="3026" cy="1392"/>
          </a:xfrm>
        </p:grpSpPr>
        <p:sp>
          <p:nvSpPr>
            <p:cNvPr id="505866" name="Oval 10"/>
            <p:cNvSpPr>
              <a:spLocks noChangeArrowheads="1"/>
            </p:cNvSpPr>
            <p:nvPr/>
          </p:nvSpPr>
          <p:spPr bwMode="auto">
            <a:xfrm>
              <a:off x="433" y="1434"/>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67" name="Oval 11"/>
            <p:cNvSpPr>
              <a:spLocks noChangeArrowheads="1"/>
            </p:cNvSpPr>
            <p:nvPr/>
          </p:nvSpPr>
          <p:spPr bwMode="auto">
            <a:xfrm>
              <a:off x="645" y="1712"/>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68" name="Oval 12"/>
            <p:cNvSpPr>
              <a:spLocks noChangeArrowheads="1"/>
            </p:cNvSpPr>
            <p:nvPr/>
          </p:nvSpPr>
          <p:spPr bwMode="auto">
            <a:xfrm>
              <a:off x="838" y="1979"/>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69" name="Oval 13"/>
            <p:cNvSpPr>
              <a:spLocks noChangeArrowheads="1"/>
            </p:cNvSpPr>
            <p:nvPr/>
          </p:nvSpPr>
          <p:spPr bwMode="auto">
            <a:xfrm>
              <a:off x="1023" y="2251"/>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0" name="Oval 14"/>
            <p:cNvSpPr>
              <a:spLocks noChangeArrowheads="1"/>
            </p:cNvSpPr>
            <p:nvPr/>
          </p:nvSpPr>
          <p:spPr bwMode="auto">
            <a:xfrm>
              <a:off x="1201" y="2523"/>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1" name="Oval 15"/>
            <p:cNvSpPr>
              <a:spLocks noChangeArrowheads="1"/>
            </p:cNvSpPr>
            <p:nvPr/>
          </p:nvSpPr>
          <p:spPr bwMode="auto">
            <a:xfrm>
              <a:off x="217" y="1706"/>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2" name="Oval 16"/>
            <p:cNvSpPr>
              <a:spLocks noChangeArrowheads="1"/>
            </p:cNvSpPr>
            <p:nvPr/>
          </p:nvSpPr>
          <p:spPr bwMode="auto">
            <a:xfrm>
              <a:off x="433" y="1984"/>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3" name="Oval 17"/>
            <p:cNvSpPr>
              <a:spLocks noChangeArrowheads="1"/>
            </p:cNvSpPr>
            <p:nvPr/>
          </p:nvSpPr>
          <p:spPr bwMode="auto">
            <a:xfrm>
              <a:off x="657" y="2257"/>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4" name="Oval 18"/>
            <p:cNvSpPr>
              <a:spLocks noChangeArrowheads="1"/>
            </p:cNvSpPr>
            <p:nvPr/>
          </p:nvSpPr>
          <p:spPr bwMode="auto">
            <a:xfrm>
              <a:off x="850" y="2529"/>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5" name="Text Box 19"/>
            <p:cNvSpPr txBox="1">
              <a:spLocks noChangeArrowheads="1"/>
            </p:cNvSpPr>
            <p:nvPr/>
          </p:nvSpPr>
          <p:spPr bwMode="auto">
            <a:xfrm>
              <a:off x="431" y="1411"/>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dirty="0">
                  <a:latin typeface="Times New Roman" panose="02020603050405020304" pitchFamily="18" charset="0"/>
                  <a:cs typeface="Times New Roman" panose="02020603050405020304" pitchFamily="18" charset="0"/>
                </a:rPr>
                <a:t>A</a:t>
              </a:r>
              <a:endParaRPr kumimoji="1" lang="en-US" altLang="zh-CN" sz="2000" b="1" dirty="0">
                <a:latin typeface="Times New Roman" panose="02020603050405020304" pitchFamily="18" charset="0"/>
                <a:cs typeface="Times New Roman" panose="02020603050405020304" pitchFamily="18" charset="0"/>
              </a:endParaRPr>
            </a:p>
          </p:txBody>
        </p:sp>
        <p:sp>
          <p:nvSpPr>
            <p:cNvPr id="505876" name="Text Box 20"/>
            <p:cNvSpPr txBox="1">
              <a:spLocks noChangeArrowheads="1"/>
            </p:cNvSpPr>
            <p:nvPr/>
          </p:nvSpPr>
          <p:spPr bwMode="auto">
            <a:xfrm>
              <a:off x="249" y="1696"/>
              <a:ext cx="223"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B</a:t>
              </a:r>
              <a:endParaRPr kumimoji="1" lang="en-US" altLang="zh-CN" sz="2000" b="1">
                <a:latin typeface="Times New Roman" panose="02020603050405020304" pitchFamily="18" charset="0"/>
                <a:cs typeface="Times New Roman" panose="02020603050405020304" pitchFamily="18" charset="0"/>
              </a:endParaRPr>
            </a:p>
          </p:txBody>
        </p:sp>
        <p:sp>
          <p:nvSpPr>
            <p:cNvPr id="505877" name="Text Box 21"/>
            <p:cNvSpPr txBox="1">
              <a:spLocks noChangeArrowheads="1"/>
            </p:cNvSpPr>
            <p:nvPr/>
          </p:nvSpPr>
          <p:spPr bwMode="auto">
            <a:xfrm>
              <a:off x="648" y="1702"/>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C</a:t>
              </a:r>
              <a:endParaRPr kumimoji="1" lang="en-US" altLang="zh-CN" sz="2000" b="1">
                <a:latin typeface="Times New Roman" panose="02020603050405020304" pitchFamily="18" charset="0"/>
                <a:cs typeface="Times New Roman" panose="02020603050405020304" pitchFamily="18" charset="0"/>
              </a:endParaRPr>
            </a:p>
          </p:txBody>
        </p:sp>
        <p:sp>
          <p:nvSpPr>
            <p:cNvPr id="505878" name="Text Box 22"/>
            <p:cNvSpPr txBox="1">
              <a:spLocks noChangeArrowheads="1"/>
            </p:cNvSpPr>
            <p:nvPr/>
          </p:nvSpPr>
          <p:spPr bwMode="auto">
            <a:xfrm>
              <a:off x="456" y="1984"/>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D</a:t>
              </a:r>
              <a:endParaRPr kumimoji="1" lang="en-US" altLang="zh-CN" sz="2000" b="1">
                <a:latin typeface="Times New Roman" panose="02020603050405020304" pitchFamily="18" charset="0"/>
                <a:cs typeface="Times New Roman" panose="02020603050405020304" pitchFamily="18" charset="0"/>
              </a:endParaRPr>
            </a:p>
          </p:txBody>
        </p:sp>
        <p:sp>
          <p:nvSpPr>
            <p:cNvPr id="505879" name="Text Box 23"/>
            <p:cNvSpPr txBox="1">
              <a:spLocks noChangeArrowheads="1"/>
            </p:cNvSpPr>
            <p:nvPr/>
          </p:nvSpPr>
          <p:spPr bwMode="auto">
            <a:xfrm>
              <a:off x="843" y="1979"/>
              <a:ext cx="223"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E</a:t>
              </a:r>
              <a:endParaRPr kumimoji="1" lang="en-US" altLang="zh-CN" sz="2000" b="1">
                <a:latin typeface="Times New Roman" panose="02020603050405020304" pitchFamily="18" charset="0"/>
                <a:cs typeface="Times New Roman" panose="02020603050405020304" pitchFamily="18" charset="0"/>
              </a:endParaRPr>
            </a:p>
          </p:txBody>
        </p:sp>
        <p:sp>
          <p:nvSpPr>
            <p:cNvPr id="505880" name="Text Box 24"/>
            <p:cNvSpPr txBox="1">
              <a:spLocks noChangeArrowheads="1"/>
            </p:cNvSpPr>
            <p:nvPr/>
          </p:nvSpPr>
          <p:spPr bwMode="auto">
            <a:xfrm>
              <a:off x="682" y="2251"/>
              <a:ext cx="214"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F</a:t>
              </a:r>
              <a:endParaRPr kumimoji="1" lang="en-US" altLang="zh-CN" sz="2000" b="1">
                <a:latin typeface="Times New Roman" panose="02020603050405020304" pitchFamily="18" charset="0"/>
                <a:cs typeface="Times New Roman" panose="02020603050405020304" pitchFamily="18" charset="0"/>
              </a:endParaRPr>
            </a:p>
          </p:txBody>
        </p:sp>
        <p:sp>
          <p:nvSpPr>
            <p:cNvPr id="505881" name="Text Box 25"/>
            <p:cNvSpPr txBox="1">
              <a:spLocks noChangeArrowheads="1"/>
            </p:cNvSpPr>
            <p:nvPr/>
          </p:nvSpPr>
          <p:spPr bwMode="auto">
            <a:xfrm>
              <a:off x="1028" y="2236"/>
              <a:ext cx="240"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G</a:t>
              </a:r>
              <a:endParaRPr kumimoji="1" lang="en-US" altLang="zh-CN" sz="2000" b="1">
                <a:latin typeface="Times New Roman" panose="02020603050405020304" pitchFamily="18" charset="0"/>
                <a:cs typeface="Times New Roman" panose="02020603050405020304" pitchFamily="18" charset="0"/>
              </a:endParaRPr>
            </a:p>
          </p:txBody>
        </p:sp>
        <p:sp>
          <p:nvSpPr>
            <p:cNvPr id="505882" name="Text Box 26"/>
            <p:cNvSpPr txBox="1">
              <a:spLocks noChangeArrowheads="1"/>
            </p:cNvSpPr>
            <p:nvPr/>
          </p:nvSpPr>
          <p:spPr bwMode="auto">
            <a:xfrm>
              <a:off x="839" y="2514"/>
              <a:ext cx="240"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H</a:t>
              </a:r>
              <a:endParaRPr kumimoji="1" lang="en-US" altLang="zh-CN" sz="2000" b="1">
                <a:latin typeface="Times New Roman" panose="02020603050405020304" pitchFamily="18" charset="0"/>
                <a:cs typeface="Times New Roman" panose="02020603050405020304" pitchFamily="18" charset="0"/>
              </a:endParaRPr>
            </a:p>
          </p:txBody>
        </p:sp>
        <p:sp>
          <p:nvSpPr>
            <p:cNvPr id="505883" name="Text Box 27"/>
            <p:cNvSpPr txBox="1">
              <a:spLocks noChangeArrowheads="1"/>
            </p:cNvSpPr>
            <p:nvPr/>
          </p:nvSpPr>
          <p:spPr bwMode="auto">
            <a:xfrm>
              <a:off x="1223" y="2514"/>
              <a:ext cx="178"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dirty="0">
                  <a:latin typeface="Times New Roman" panose="02020603050405020304" pitchFamily="18" charset="0"/>
                  <a:cs typeface="Times New Roman" panose="02020603050405020304" pitchFamily="18" charset="0"/>
                </a:rPr>
                <a:t>I</a:t>
              </a:r>
              <a:endParaRPr kumimoji="1" lang="en-US" altLang="zh-CN" sz="2000" b="1" dirty="0">
                <a:latin typeface="Times New Roman" panose="02020603050405020304" pitchFamily="18" charset="0"/>
                <a:cs typeface="Times New Roman" panose="02020603050405020304" pitchFamily="18" charset="0"/>
              </a:endParaRPr>
            </a:p>
          </p:txBody>
        </p:sp>
        <p:sp>
          <p:nvSpPr>
            <p:cNvPr id="505884" name="Oval 28"/>
            <p:cNvSpPr>
              <a:spLocks noChangeArrowheads="1"/>
            </p:cNvSpPr>
            <p:nvPr/>
          </p:nvSpPr>
          <p:spPr bwMode="auto">
            <a:xfrm>
              <a:off x="2353" y="1389"/>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85" name="Oval 29"/>
            <p:cNvSpPr>
              <a:spLocks noChangeArrowheads="1"/>
            </p:cNvSpPr>
            <p:nvPr/>
          </p:nvSpPr>
          <p:spPr bwMode="auto">
            <a:xfrm>
              <a:off x="2785" y="1842"/>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86" name="Oval 30"/>
            <p:cNvSpPr>
              <a:spLocks noChangeArrowheads="1"/>
            </p:cNvSpPr>
            <p:nvPr/>
          </p:nvSpPr>
          <p:spPr bwMode="auto">
            <a:xfrm>
              <a:off x="2097" y="2166"/>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87" name="Oval 31"/>
            <p:cNvSpPr>
              <a:spLocks noChangeArrowheads="1"/>
            </p:cNvSpPr>
            <p:nvPr/>
          </p:nvSpPr>
          <p:spPr bwMode="auto">
            <a:xfrm>
              <a:off x="3004" y="2166"/>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88" name="Oval 32"/>
            <p:cNvSpPr>
              <a:spLocks noChangeArrowheads="1"/>
            </p:cNvSpPr>
            <p:nvPr/>
          </p:nvSpPr>
          <p:spPr bwMode="auto">
            <a:xfrm>
              <a:off x="1882" y="2483"/>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89" name="Oval 33"/>
            <p:cNvSpPr>
              <a:spLocks noChangeArrowheads="1"/>
            </p:cNvSpPr>
            <p:nvPr/>
          </p:nvSpPr>
          <p:spPr bwMode="auto">
            <a:xfrm>
              <a:off x="1898" y="1842"/>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90" name="Oval 34"/>
            <p:cNvSpPr>
              <a:spLocks noChangeArrowheads="1"/>
            </p:cNvSpPr>
            <p:nvPr/>
          </p:nvSpPr>
          <p:spPr bwMode="auto">
            <a:xfrm>
              <a:off x="1729" y="2164"/>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91" name="Oval 35"/>
            <p:cNvSpPr>
              <a:spLocks noChangeArrowheads="1"/>
            </p:cNvSpPr>
            <p:nvPr/>
          </p:nvSpPr>
          <p:spPr bwMode="auto">
            <a:xfrm>
              <a:off x="2592" y="2166"/>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92" name="Oval 36"/>
            <p:cNvSpPr>
              <a:spLocks noChangeArrowheads="1"/>
            </p:cNvSpPr>
            <p:nvPr/>
          </p:nvSpPr>
          <p:spPr bwMode="auto">
            <a:xfrm>
              <a:off x="1584" y="2483"/>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93" name="Text Box 37"/>
            <p:cNvSpPr txBox="1">
              <a:spLocks noChangeArrowheads="1"/>
            </p:cNvSpPr>
            <p:nvPr/>
          </p:nvSpPr>
          <p:spPr bwMode="auto">
            <a:xfrm>
              <a:off x="2378" y="1383"/>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A</a:t>
              </a:r>
              <a:endParaRPr kumimoji="1" lang="en-US" altLang="zh-CN" sz="2000" b="1">
                <a:latin typeface="Times New Roman" panose="02020603050405020304" pitchFamily="18" charset="0"/>
                <a:cs typeface="Times New Roman" panose="02020603050405020304" pitchFamily="18" charset="0"/>
              </a:endParaRPr>
            </a:p>
          </p:txBody>
        </p:sp>
        <p:sp>
          <p:nvSpPr>
            <p:cNvPr id="505894" name="Text Box 38"/>
            <p:cNvSpPr txBox="1">
              <a:spLocks noChangeArrowheads="1"/>
            </p:cNvSpPr>
            <p:nvPr/>
          </p:nvSpPr>
          <p:spPr bwMode="auto">
            <a:xfrm>
              <a:off x="1932" y="1826"/>
              <a:ext cx="223"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B</a:t>
              </a:r>
              <a:endParaRPr kumimoji="1" lang="en-US" altLang="zh-CN" sz="2000" b="1">
                <a:latin typeface="Times New Roman" panose="02020603050405020304" pitchFamily="18" charset="0"/>
                <a:cs typeface="Times New Roman" panose="02020603050405020304" pitchFamily="18" charset="0"/>
              </a:endParaRPr>
            </a:p>
          </p:txBody>
        </p:sp>
        <p:sp>
          <p:nvSpPr>
            <p:cNvPr id="505895" name="Text Box 39"/>
            <p:cNvSpPr txBox="1">
              <a:spLocks noChangeArrowheads="1"/>
            </p:cNvSpPr>
            <p:nvPr/>
          </p:nvSpPr>
          <p:spPr bwMode="auto">
            <a:xfrm>
              <a:off x="2806" y="1826"/>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C</a:t>
              </a:r>
              <a:endParaRPr kumimoji="1" lang="en-US" altLang="zh-CN" sz="2000" b="1">
                <a:latin typeface="Times New Roman" panose="02020603050405020304" pitchFamily="18" charset="0"/>
                <a:cs typeface="Times New Roman" panose="02020603050405020304" pitchFamily="18" charset="0"/>
              </a:endParaRPr>
            </a:p>
          </p:txBody>
        </p:sp>
        <p:sp>
          <p:nvSpPr>
            <p:cNvPr id="505896" name="Text Box 40"/>
            <p:cNvSpPr txBox="1">
              <a:spLocks noChangeArrowheads="1"/>
            </p:cNvSpPr>
            <p:nvPr/>
          </p:nvSpPr>
          <p:spPr bwMode="auto">
            <a:xfrm>
              <a:off x="1754" y="2166"/>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D</a:t>
              </a:r>
              <a:endParaRPr kumimoji="1" lang="en-US" altLang="zh-CN" sz="2000" b="1">
                <a:latin typeface="Times New Roman" panose="02020603050405020304" pitchFamily="18" charset="0"/>
                <a:cs typeface="Times New Roman" panose="02020603050405020304" pitchFamily="18" charset="0"/>
              </a:endParaRPr>
            </a:p>
          </p:txBody>
        </p:sp>
        <p:sp>
          <p:nvSpPr>
            <p:cNvPr id="505897" name="Text Box 41"/>
            <p:cNvSpPr txBox="1">
              <a:spLocks noChangeArrowheads="1"/>
            </p:cNvSpPr>
            <p:nvPr/>
          </p:nvSpPr>
          <p:spPr bwMode="auto">
            <a:xfrm>
              <a:off x="2109" y="2166"/>
              <a:ext cx="223"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E</a:t>
              </a:r>
              <a:endParaRPr kumimoji="1" lang="en-US" altLang="zh-CN" sz="2000" b="1">
                <a:latin typeface="Times New Roman" panose="02020603050405020304" pitchFamily="18" charset="0"/>
                <a:cs typeface="Times New Roman" panose="02020603050405020304" pitchFamily="18" charset="0"/>
              </a:endParaRPr>
            </a:p>
          </p:txBody>
        </p:sp>
        <p:sp>
          <p:nvSpPr>
            <p:cNvPr id="505898" name="Text Box 42"/>
            <p:cNvSpPr txBox="1">
              <a:spLocks noChangeArrowheads="1"/>
            </p:cNvSpPr>
            <p:nvPr/>
          </p:nvSpPr>
          <p:spPr bwMode="auto">
            <a:xfrm>
              <a:off x="2618" y="2166"/>
              <a:ext cx="214"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F</a:t>
              </a:r>
              <a:endParaRPr kumimoji="1" lang="en-US" altLang="zh-CN" sz="2000" b="1">
                <a:latin typeface="Times New Roman" panose="02020603050405020304" pitchFamily="18" charset="0"/>
                <a:cs typeface="Times New Roman" panose="02020603050405020304" pitchFamily="18" charset="0"/>
              </a:endParaRPr>
            </a:p>
          </p:txBody>
        </p:sp>
        <p:sp>
          <p:nvSpPr>
            <p:cNvPr id="505899" name="Text Box 43"/>
            <p:cNvSpPr txBox="1">
              <a:spLocks noChangeArrowheads="1"/>
            </p:cNvSpPr>
            <p:nvPr/>
          </p:nvSpPr>
          <p:spPr bwMode="auto">
            <a:xfrm>
              <a:off x="3001" y="2160"/>
              <a:ext cx="240"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G</a:t>
              </a:r>
              <a:endParaRPr kumimoji="1" lang="en-US" altLang="zh-CN" sz="2000" b="1">
                <a:latin typeface="Times New Roman" panose="02020603050405020304" pitchFamily="18" charset="0"/>
                <a:cs typeface="Times New Roman" panose="02020603050405020304" pitchFamily="18" charset="0"/>
              </a:endParaRPr>
            </a:p>
          </p:txBody>
        </p:sp>
        <p:sp>
          <p:nvSpPr>
            <p:cNvPr id="505900" name="Text Box 44"/>
            <p:cNvSpPr txBox="1">
              <a:spLocks noChangeArrowheads="1"/>
            </p:cNvSpPr>
            <p:nvPr/>
          </p:nvSpPr>
          <p:spPr bwMode="auto">
            <a:xfrm>
              <a:off x="1597" y="2478"/>
              <a:ext cx="240"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H</a:t>
              </a:r>
              <a:endParaRPr kumimoji="1" lang="en-US" altLang="zh-CN" sz="2000" b="1">
                <a:latin typeface="Times New Roman" panose="02020603050405020304" pitchFamily="18" charset="0"/>
                <a:cs typeface="Times New Roman" panose="02020603050405020304" pitchFamily="18" charset="0"/>
              </a:endParaRPr>
            </a:p>
          </p:txBody>
        </p:sp>
        <p:sp>
          <p:nvSpPr>
            <p:cNvPr id="505901" name="Text Box 45"/>
            <p:cNvSpPr txBox="1">
              <a:spLocks noChangeArrowheads="1"/>
            </p:cNvSpPr>
            <p:nvPr/>
          </p:nvSpPr>
          <p:spPr bwMode="auto">
            <a:xfrm>
              <a:off x="1927" y="2478"/>
              <a:ext cx="178"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dirty="0">
                  <a:latin typeface="Times New Roman" panose="02020603050405020304" pitchFamily="18" charset="0"/>
                  <a:cs typeface="Times New Roman" panose="02020603050405020304" pitchFamily="18" charset="0"/>
                </a:rPr>
                <a:t>I</a:t>
              </a:r>
              <a:endParaRPr kumimoji="1" lang="en-US" altLang="zh-CN" sz="2000" b="1" dirty="0">
                <a:latin typeface="Times New Roman" panose="02020603050405020304" pitchFamily="18" charset="0"/>
                <a:cs typeface="Times New Roman" panose="02020603050405020304" pitchFamily="18" charset="0"/>
              </a:endParaRPr>
            </a:p>
          </p:txBody>
        </p:sp>
        <p:sp>
          <p:nvSpPr>
            <p:cNvPr id="505902" name="Text Box 46"/>
            <p:cNvSpPr txBox="1">
              <a:spLocks noChangeArrowheads="1"/>
            </p:cNvSpPr>
            <p:nvPr/>
          </p:nvSpPr>
          <p:spPr bwMode="auto">
            <a:xfrm>
              <a:off x="278" y="2487"/>
              <a:ext cx="388" cy="288"/>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400" b="1">
                  <a:latin typeface="Times New Roman" panose="02020603050405020304" pitchFamily="18" charset="0"/>
                  <a:cs typeface="Times New Roman" panose="02020603050405020304" pitchFamily="18" charset="0"/>
                </a:rPr>
                <a:t>(</a:t>
              </a:r>
              <a:r>
                <a:rPr kumimoji="1" lang="en-US" altLang="zh-CN" sz="2400" b="1" i="1">
                  <a:latin typeface="Times New Roman" panose="02020603050405020304" pitchFamily="18" charset="0"/>
                  <a:cs typeface="Times New Roman" panose="02020603050405020304" pitchFamily="18" charset="0"/>
                </a:rPr>
                <a:t>a</a:t>
              </a:r>
              <a:r>
                <a:rPr kumimoji="1" lang="en-US" altLang="zh-CN" sz="2400" b="1">
                  <a:latin typeface="Times New Roman" panose="02020603050405020304" pitchFamily="18" charset="0"/>
                  <a:cs typeface="Times New Roman" panose="02020603050405020304" pitchFamily="18" charset="0"/>
                </a:rPr>
                <a:t>) </a:t>
              </a:r>
              <a:endParaRPr kumimoji="1" lang="en-US" altLang="zh-CN" sz="2400" b="1">
                <a:latin typeface="Times New Roman" panose="02020603050405020304" pitchFamily="18" charset="0"/>
                <a:cs typeface="Times New Roman" panose="02020603050405020304" pitchFamily="18" charset="0"/>
              </a:endParaRPr>
            </a:p>
          </p:txBody>
        </p:sp>
        <p:sp>
          <p:nvSpPr>
            <p:cNvPr id="505903" name="Text Box 47"/>
            <p:cNvSpPr txBox="1">
              <a:spLocks noChangeArrowheads="1"/>
            </p:cNvSpPr>
            <p:nvPr/>
          </p:nvSpPr>
          <p:spPr bwMode="auto">
            <a:xfrm>
              <a:off x="2300" y="2487"/>
              <a:ext cx="388" cy="288"/>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400" b="1">
                  <a:latin typeface="Times New Roman" panose="02020603050405020304" pitchFamily="18" charset="0"/>
                  <a:cs typeface="Times New Roman" panose="02020603050405020304" pitchFamily="18" charset="0"/>
                </a:rPr>
                <a:t>(</a:t>
              </a:r>
              <a:r>
                <a:rPr kumimoji="1" lang="en-US" altLang="zh-CN" sz="2400" b="1" i="1">
                  <a:latin typeface="Times New Roman" panose="02020603050405020304" pitchFamily="18" charset="0"/>
                  <a:cs typeface="Times New Roman" panose="02020603050405020304" pitchFamily="18" charset="0"/>
                </a:rPr>
                <a:t>b</a:t>
              </a:r>
              <a:r>
                <a:rPr kumimoji="1" lang="en-US" altLang="zh-CN" sz="2400" b="1">
                  <a:latin typeface="Times New Roman" panose="02020603050405020304" pitchFamily="18" charset="0"/>
                  <a:cs typeface="Times New Roman" panose="02020603050405020304" pitchFamily="18" charset="0"/>
                </a:rPr>
                <a:t>) </a:t>
              </a:r>
              <a:endParaRPr kumimoji="1" lang="en-US" altLang="zh-CN" sz="2400" b="1">
                <a:latin typeface="Times New Roman" panose="02020603050405020304" pitchFamily="18" charset="0"/>
                <a:cs typeface="Times New Roman" panose="02020603050405020304" pitchFamily="18" charset="0"/>
              </a:endParaRPr>
            </a:p>
          </p:txBody>
        </p:sp>
        <p:cxnSp>
          <p:nvCxnSpPr>
            <p:cNvPr id="505904" name="AutoShape 48"/>
            <p:cNvCxnSpPr>
              <a:cxnSpLocks noChangeShapeType="1"/>
              <a:stCxn id="505866" idx="3"/>
              <a:endCxn id="505871" idx="0"/>
            </p:cNvCxnSpPr>
            <p:nvPr/>
          </p:nvCxnSpPr>
          <p:spPr bwMode="auto">
            <a:xfrm flipH="1">
              <a:off x="337" y="1623"/>
              <a:ext cx="131" cy="83"/>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05" name="AutoShape 49"/>
            <p:cNvCxnSpPr>
              <a:cxnSpLocks noChangeShapeType="1"/>
              <a:stCxn id="505866" idx="5"/>
              <a:endCxn id="505867" idx="0"/>
            </p:cNvCxnSpPr>
            <p:nvPr/>
          </p:nvCxnSpPr>
          <p:spPr bwMode="auto">
            <a:xfrm>
              <a:off x="637" y="1623"/>
              <a:ext cx="128" cy="89"/>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06" name="AutoShape 50"/>
            <p:cNvCxnSpPr>
              <a:cxnSpLocks noChangeShapeType="1"/>
              <a:stCxn id="505867" idx="5"/>
              <a:endCxn id="505868" idx="0"/>
            </p:cNvCxnSpPr>
            <p:nvPr/>
          </p:nvCxnSpPr>
          <p:spPr bwMode="auto">
            <a:xfrm>
              <a:off x="849" y="1901"/>
              <a:ext cx="109" cy="78"/>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07" name="AutoShape 51"/>
            <p:cNvCxnSpPr>
              <a:cxnSpLocks noChangeShapeType="1"/>
              <a:stCxn id="505868" idx="5"/>
              <a:endCxn id="505869" idx="0"/>
            </p:cNvCxnSpPr>
            <p:nvPr/>
          </p:nvCxnSpPr>
          <p:spPr bwMode="auto">
            <a:xfrm>
              <a:off x="1042" y="2168"/>
              <a:ext cx="101" cy="83"/>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08" name="AutoShape 52"/>
            <p:cNvCxnSpPr>
              <a:cxnSpLocks noChangeShapeType="1"/>
              <a:stCxn id="505869" idx="5"/>
              <a:endCxn id="505870" idx="0"/>
            </p:cNvCxnSpPr>
            <p:nvPr/>
          </p:nvCxnSpPr>
          <p:spPr bwMode="auto">
            <a:xfrm>
              <a:off x="1227" y="2440"/>
              <a:ext cx="94" cy="83"/>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09" name="AutoShape 53"/>
            <p:cNvCxnSpPr>
              <a:cxnSpLocks noChangeShapeType="1"/>
              <a:stCxn id="505867" idx="3"/>
              <a:endCxn id="505872" idx="0"/>
            </p:cNvCxnSpPr>
            <p:nvPr/>
          </p:nvCxnSpPr>
          <p:spPr bwMode="auto">
            <a:xfrm flipH="1">
              <a:off x="553" y="1901"/>
              <a:ext cx="127" cy="83"/>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0" name="AutoShape 54"/>
            <p:cNvCxnSpPr>
              <a:cxnSpLocks noChangeShapeType="1"/>
              <a:stCxn id="505868" idx="3"/>
              <a:endCxn id="505873" idx="0"/>
            </p:cNvCxnSpPr>
            <p:nvPr/>
          </p:nvCxnSpPr>
          <p:spPr bwMode="auto">
            <a:xfrm flipH="1">
              <a:off x="777" y="2168"/>
              <a:ext cx="96" cy="89"/>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1" name="AutoShape 55"/>
            <p:cNvCxnSpPr>
              <a:cxnSpLocks noChangeShapeType="1"/>
              <a:stCxn id="505869" idx="3"/>
              <a:endCxn id="505874" idx="0"/>
            </p:cNvCxnSpPr>
            <p:nvPr/>
          </p:nvCxnSpPr>
          <p:spPr bwMode="auto">
            <a:xfrm flipH="1">
              <a:off x="970" y="2440"/>
              <a:ext cx="88" cy="89"/>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2" name="AutoShape 56"/>
            <p:cNvCxnSpPr>
              <a:cxnSpLocks noChangeShapeType="1"/>
              <a:stCxn id="505884" idx="3"/>
              <a:endCxn id="505889" idx="0"/>
            </p:cNvCxnSpPr>
            <p:nvPr/>
          </p:nvCxnSpPr>
          <p:spPr bwMode="auto">
            <a:xfrm flipH="1">
              <a:off x="2018" y="1578"/>
              <a:ext cx="370" cy="264"/>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3" name="AutoShape 57"/>
            <p:cNvCxnSpPr>
              <a:cxnSpLocks noChangeShapeType="1"/>
              <a:stCxn id="505885" idx="0"/>
              <a:endCxn id="505884" idx="5"/>
            </p:cNvCxnSpPr>
            <p:nvPr/>
          </p:nvCxnSpPr>
          <p:spPr bwMode="auto">
            <a:xfrm flipH="1" flipV="1">
              <a:off x="2557" y="1578"/>
              <a:ext cx="348" cy="264"/>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4" name="AutoShape 58"/>
            <p:cNvCxnSpPr>
              <a:cxnSpLocks noChangeShapeType="1"/>
              <a:stCxn id="505887" idx="0"/>
              <a:endCxn id="505885" idx="5"/>
            </p:cNvCxnSpPr>
            <p:nvPr/>
          </p:nvCxnSpPr>
          <p:spPr bwMode="auto">
            <a:xfrm flipH="1" flipV="1">
              <a:off x="2989" y="2031"/>
              <a:ext cx="135" cy="135"/>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5" name="AutoShape 59"/>
            <p:cNvCxnSpPr>
              <a:cxnSpLocks noChangeShapeType="1"/>
              <a:stCxn id="505891" idx="0"/>
              <a:endCxn id="505885" idx="3"/>
            </p:cNvCxnSpPr>
            <p:nvPr/>
          </p:nvCxnSpPr>
          <p:spPr bwMode="auto">
            <a:xfrm flipV="1">
              <a:off x="2712" y="2031"/>
              <a:ext cx="108" cy="135"/>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6" name="AutoShape 60"/>
            <p:cNvCxnSpPr>
              <a:cxnSpLocks noChangeShapeType="1"/>
              <a:stCxn id="505890" idx="0"/>
              <a:endCxn id="505889" idx="3"/>
            </p:cNvCxnSpPr>
            <p:nvPr/>
          </p:nvCxnSpPr>
          <p:spPr bwMode="auto">
            <a:xfrm flipV="1">
              <a:off x="1849" y="2031"/>
              <a:ext cx="84" cy="133"/>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7" name="AutoShape 61"/>
            <p:cNvCxnSpPr>
              <a:cxnSpLocks noChangeShapeType="1"/>
              <a:stCxn id="505886" idx="0"/>
              <a:endCxn id="505889" idx="5"/>
            </p:cNvCxnSpPr>
            <p:nvPr/>
          </p:nvCxnSpPr>
          <p:spPr bwMode="auto">
            <a:xfrm flipH="1" flipV="1">
              <a:off x="2102" y="2031"/>
              <a:ext cx="115" cy="135"/>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8" name="AutoShape 62"/>
            <p:cNvCxnSpPr>
              <a:cxnSpLocks noChangeShapeType="1"/>
              <a:stCxn id="505892" idx="0"/>
              <a:endCxn id="505890" idx="3"/>
            </p:cNvCxnSpPr>
            <p:nvPr/>
          </p:nvCxnSpPr>
          <p:spPr bwMode="auto">
            <a:xfrm flipV="1">
              <a:off x="1704" y="2353"/>
              <a:ext cx="60" cy="130"/>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9" name="AutoShape 63"/>
            <p:cNvCxnSpPr>
              <a:cxnSpLocks noChangeShapeType="1"/>
              <a:stCxn id="505888" idx="0"/>
              <a:endCxn id="505890" idx="5"/>
            </p:cNvCxnSpPr>
            <p:nvPr/>
          </p:nvCxnSpPr>
          <p:spPr bwMode="auto">
            <a:xfrm flipH="1" flipV="1">
              <a:off x="1933" y="2353"/>
              <a:ext cx="69" cy="130"/>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5" name="矩形 4"/>
          <p:cNvSpPr/>
          <p:nvPr/>
        </p:nvSpPr>
        <p:spPr>
          <a:xfrm>
            <a:off x="342429" y="908591"/>
            <a:ext cx="3105150" cy="521970"/>
          </a:xfrm>
          <a:prstGeom prst="rect">
            <a:avLst/>
          </a:prstGeom>
        </p:spPr>
        <p:txBody>
          <a:bodyPr wrap="none">
            <a:spAutoFit/>
          </a:bodyPr>
          <a:lstStyle/>
          <a:p>
            <a:pPr algn="just">
              <a:spcBef>
                <a:spcPct val="50000"/>
              </a:spcBef>
              <a:defRPr/>
            </a:pP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4.2.1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(1)</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哈夫曼树</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6882" name="AutoShape 2"/>
          <p:cNvSpPr>
            <a:spLocks noChangeArrowheads="1"/>
          </p:cNvSpPr>
          <p:nvPr/>
        </p:nvSpPr>
        <p:spPr bwMode="auto">
          <a:xfrm>
            <a:off x="5476875" y="4617692"/>
            <a:ext cx="304800" cy="457200"/>
          </a:xfrm>
          <a:prstGeom prst="roundRect">
            <a:avLst>
              <a:gd name="adj" fmla="val 16667"/>
            </a:avLst>
          </a:prstGeom>
          <a:solidFill>
            <a:srgbClr val="FF66FF"/>
          </a:soli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zh-CN" altLang="en-US">
              <a:latin typeface="Times New Roman" panose="02020603050405020304" pitchFamily="18" charset="0"/>
              <a:cs typeface="Times New Roman" panose="02020603050405020304" pitchFamily="18" charset="0"/>
            </a:endParaRPr>
          </a:p>
        </p:txBody>
      </p:sp>
      <p:sp>
        <p:nvSpPr>
          <p:cNvPr id="506883" name="AutoShape 3"/>
          <p:cNvSpPr>
            <a:spLocks noChangeArrowheads="1"/>
          </p:cNvSpPr>
          <p:nvPr/>
        </p:nvSpPr>
        <p:spPr bwMode="auto">
          <a:xfrm>
            <a:off x="5095875" y="4617692"/>
            <a:ext cx="381000" cy="457200"/>
          </a:xfrm>
          <a:prstGeom prst="roundRect">
            <a:avLst>
              <a:gd name="adj" fmla="val 16667"/>
            </a:avLst>
          </a:prstGeom>
          <a:solidFill>
            <a:srgbClr val="FFFF00"/>
          </a:soli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zh-CN" altLang="en-US">
              <a:latin typeface="Times New Roman" panose="02020603050405020304" pitchFamily="18" charset="0"/>
              <a:cs typeface="Times New Roman" panose="02020603050405020304" pitchFamily="18" charset="0"/>
            </a:endParaRPr>
          </a:p>
        </p:txBody>
      </p:sp>
      <p:sp>
        <p:nvSpPr>
          <p:cNvPr id="506884" name="Text Box 4"/>
          <p:cNvSpPr txBox="1">
            <a:spLocks noChangeArrowheads="1"/>
          </p:cNvSpPr>
          <p:nvPr/>
        </p:nvSpPr>
        <p:spPr bwMode="auto">
          <a:xfrm>
            <a:off x="423025" y="1133041"/>
            <a:ext cx="8147050" cy="8953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10000"/>
              </a:lnSpc>
              <a:spcBef>
                <a:spcPct val="50000"/>
              </a:spcBef>
            </a:pPr>
            <a:r>
              <a:rPr kumimoji="1" lang="zh-CN" altLang="en-US" sz="2400" b="1">
                <a:solidFill>
                  <a:srgbClr val="0000FF"/>
                </a:solidFill>
                <a:latin typeface="华文中宋" panose="02010600040101010101" pitchFamily="2" charset="-122"/>
                <a:ea typeface="华文中宋" panose="02010600040101010101" pitchFamily="2" charset="-122"/>
                <a:cs typeface="Times New Roman" panose="02020603050405020304" pitchFamily="18" charset="0"/>
              </a:rPr>
              <a:t>权：</a:t>
            </a:r>
            <a:r>
              <a:rPr kumimoji="1" lang="zh-CN" altLang="en-US" sz="2400" b="1">
                <a:latin typeface="Times New Roman" panose="02020603050405020304" pitchFamily="18" charset="0"/>
                <a:ea typeface="华文中宋" panose="02010600040101010101" pitchFamily="2" charset="-122"/>
                <a:cs typeface="Times New Roman" panose="02020603050405020304" pitchFamily="18" charset="0"/>
              </a:rPr>
              <a:t>将树中结点赋给一个有着某种含义的数值，则这个数值 称为该结点的权。</a:t>
            </a:r>
            <a:r>
              <a:rPr kumimoji="1" lang="zh-CN" altLang="en-US" sz="2400" b="1">
                <a:solidFill>
                  <a:srgbClr val="0000FF"/>
                </a:solidFill>
                <a:latin typeface="华文中宋" panose="02010600040101010101" pitchFamily="2" charset="-122"/>
                <a:ea typeface="华文中宋" panose="02010600040101010101" pitchFamily="2" charset="-122"/>
                <a:cs typeface="Times New Roman" panose="02020603050405020304" pitchFamily="18" charset="0"/>
              </a:rPr>
              <a:t> </a:t>
            </a:r>
            <a:endParaRPr kumimoji="1" lang="zh-CN" altLang="en-US" sz="2400" b="1">
              <a:solidFill>
                <a:srgbClr val="0000FF"/>
              </a:solidFill>
              <a:latin typeface="华文中宋" panose="02010600040101010101" pitchFamily="2" charset="-122"/>
              <a:ea typeface="华文中宋" panose="02010600040101010101" pitchFamily="2" charset="-122"/>
              <a:cs typeface="Times New Roman" panose="02020603050405020304" pitchFamily="18" charset="0"/>
            </a:endParaRPr>
          </a:p>
        </p:txBody>
      </p:sp>
      <p:sp>
        <p:nvSpPr>
          <p:cNvPr id="506885" name="Text Box 5"/>
          <p:cNvSpPr txBox="1">
            <a:spLocks noChangeArrowheads="1"/>
          </p:cNvSpPr>
          <p:nvPr/>
        </p:nvSpPr>
        <p:spPr bwMode="auto">
          <a:xfrm>
            <a:off x="395536" y="2173610"/>
            <a:ext cx="8240713" cy="8953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10000"/>
              </a:lnSpc>
              <a:spcBef>
                <a:spcPct val="50000"/>
              </a:spcBef>
            </a:pP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结点的带权路径长度：</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从根结点到该结点之间的路径长度与该结点的权的乘积。</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6886" name="Text Box 6"/>
          <p:cNvSpPr txBox="1">
            <a:spLocks noChangeArrowheads="1"/>
          </p:cNvSpPr>
          <p:nvPr/>
        </p:nvSpPr>
        <p:spPr bwMode="auto">
          <a:xfrm>
            <a:off x="368764" y="3214687"/>
            <a:ext cx="8489950" cy="1077913"/>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Bef>
                <a:spcPct val="50000"/>
              </a:spcBef>
            </a:pP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树的带权路径长度：</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树中所有叶子结点的带权路径长度之和。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a:p>
            <a:pPr>
              <a:lnSpc>
                <a:spcPct val="110000"/>
              </a:lnSpc>
              <a:spcBef>
                <a:spcPct val="50000"/>
              </a:spcBef>
            </a:pP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                       记作：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p:txBody>
      </p:sp>
      <p:pic>
        <p:nvPicPr>
          <p:cNvPr id="506887" name="Picture 7"/>
          <p:cNvPicPr>
            <a:picLocks noChangeAspect="1" noChangeArrowheads="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3286125" y="4312892"/>
            <a:ext cx="2571750" cy="10779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506888" name="Line 8"/>
          <p:cNvSpPr>
            <a:spLocks noChangeShapeType="1"/>
          </p:cNvSpPr>
          <p:nvPr/>
        </p:nvSpPr>
        <p:spPr bwMode="auto">
          <a:xfrm flipH="1">
            <a:off x="4791075" y="5074892"/>
            <a:ext cx="457200" cy="533400"/>
          </a:xfrm>
          <a:prstGeom prst="line">
            <a:avLst/>
          </a:prstGeom>
          <a:noFill/>
          <a:ln w="25400" cap="sq">
            <a:solidFill>
              <a:srgbClr val="FF3300"/>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endParaRPr lang="zh-CN" altLang="en-US">
              <a:latin typeface="Times New Roman" panose="02020603050405020304" pitchFamily="18" charset="0"/>
              <a:cs typeface="Times New Roman" panose="02020603050405020304" pitchFamily="18" charset="0"/>
            </a:endParaRPr>
          </a:p>
        </p:txBody>
      </p:sp>
      <p:sp>
        <p:nvSpPr>
          <p:cNvPr id="506889" name="Text Box 9"/>
          <p:cNvSpPr txBox="1">
            <a:spLocks noChangeArrowheads="1"/>
          </p:cNvSpPr>
          <p:nvPr/>
        </p:nvSpPr>
        <p:spPr bwMode="auto">
          <a:xfrm>
            <a:off x="4089400" y="5532092"/>
            <a:ext cx="892175"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a:latin typeface="华文中宋" panose="02010600040101010101" pitchFamily="2" charset="-122"/>
                <a:ea typeface="华文中宋" panose="02010600040101010101" pitchFamily="2" charset="-122"/>
                <a:cs typeface="Times New Roman" panose="02020603050405020304" pitchFamily="18" charset="0"/>
              </a:rPr>
              <a:t>权值 </a:t>
            </a:r>
            <a:endParaRPr kumimoji="1" lang="zh-CN" altLang="en-US" sz="2400" b="1">
              <a:latin typeface="华文中宋" panose="02010600040101010101" pitchFamily="2" charset="-122"/>
              <a:ea typeface="华文中宋" panose="02010600040101010101" pitchFamily="2" charset="-122"/>
              <a:cs typeface="Times New Roman" panose="02020603050405020304" pitchFamily="18" charset="0"/>
            </a:endParaRPr>
          </a:p>
        </p:txBody>
      </p:sp>
      <p:sp>
        <p:nvSpPr>
          <p:cNvPr id="506890" name="Line 10"/>
          <p:cNvSpPr>
            <a:spLocks noChangeShapeType="1"/>
          </p:cNvSpPr>
          <p:nvPr/>
        </p:nvSpPr>
        <p:spPr bwMode="auto">
          <a:xfrm>
            <a:off x="5629275" y="5074892"/>
            <a:ext cx="152400" cy="533400"/>
          </a:xfrm>
          <a:prstGeom prst="line">
            <a:avLst/>
          </a:prstGeom>
          <a:noFill/>
          <a:ln w="25400" cap="sq">
            <a:solidFill>
              <a:srgbClr val="0000FF"/>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endParaRPr lang="zh-CN" altLang="en-US">
              <a:latin typeface="Times New Roman" panose="02020603050405020304" pitchFamily="18" charset="0"/>
              <a:cs typeface="Times New Roman" panose="02020603050405020304" pitchFamily="18" charset="0"/>
            </a:endParaRPr>
          </a:p>
        </p:txBody>
      </p:sp>
      <p:sp>
        <p:nvSpPr>
          <p:cNvPr id="506891" name="Text Box 11"/>
          <p:cNvSpPr txBox="1">
            <a:spLocks noChangeArrowheads="1"/>
          </p:cNvSpPr>
          <p:nvPr/>
        </p:nvSpPr>
        <p:spPr bwMode="auto">
          <a:xfrm>
            <a:off x="5308600" y="5532092"/>
            <a:ext cx="3003550"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a:latin typeface="Times New Roman" panose="02020603050405020304" pitchFamily="18" charset="0"/>
                <a:ea typeface="华文中宋" panose="02010600040101010101" pitchFamily="2" charset="-122"/>
                <a:cs typeface="Times New Roman" panose="02020603050405020304" pitchFamily="18" charset="0"/>
              </a:rPr>
              <a:t>结点到根的路径长度 </a:t>
            </a:r>
            <a:endParaRPr kumimoji="1" lang="zh-CN" altLang="en-US" sz="2400" b="1">
              <a:latin typeface="Times New Roman" panose="02020603050405020304" pitchFamily="18" charset="0"/>
              <a:ea typeface="华文中宋" panose="02010600040101010101" pitchFamily="2" charset="-122"/>
              <a:cs typeface="Times New Roman" panose="02020603050405020304" pitchFamily="18" charset="0"/>
            </a:endParaRPr>
          </a:p>
        </p:txBody>
      </p:sp>
    </p:spTree>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7906" name="Text Box 2"/>
          <p:cNvSpPr txBox="1">
            <a:spLocks noChangeArrowheads="1"/>
          </p:cNvSpPr>
          <p:nvPr/>
        </p:nvSpPr>
        <p:spPr bwMode="auto">
          <a:xfrm>
            <a:off x="-13294" y="758280"/>
            <a:ext cx="8566150" cy="810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10000"/>
              </a:lnSpc>
            </a:pPr>
            <a:r>
              <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rPr>
              <a:t>例：有</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4 </a:t>
            </a:r>
            <a:r>
              <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rPr>
              <a:t>个结点 </a:t>
            </a:r>
            <a:r>
              <a:rPr kumimoji="1" lang="en-US" altLang="zh-CN" sz="2200" b="1" i="1" dirty="0">
                <a:latin typeface="Times New Roman" panose="02020603050405020304" pitchFamily="18" charset="0"/>
                <a:ea typeface="楷体_GB2312" panose="02010609030101010101" pitchFamily="49" charset="-122"/>
                <a:cs typeface="Times New Roman" panose="02020603050405020304" pitchFamily="18" charset="0"/>
              </a:rPr>
              <a:t>a</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 </a:t>
            </a:r>
            <a:r>
              <a:rPr kumimoji="1" lang="en-US" altLang="zh-CN" sz="2200" b="1" i="1" dirty="0">
                <a:latin typeface="Times New Roman" panose="02020603050405020304" pitchFamily="18" charset="0"/>
                <a:ea typeface="楷体_GB2312" panose="02010609030101010101" pitchFamily="49" charset="-122"/>
                <a:cs typeface="Times New Roman" panose="02020603050405020304" pitchFamily="18" charset="0"/>
              </a:rPr>
              <a:t>b</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 </a:t>
            </a:r>
            <a:r>
              <a:rPr kumimoji="1" lang="en-US" altLang="zh-CN" sz="2200" b="1" i="1" dirty="0">
                <a:latin typeface="Times New Roman" panose="02020603050405020304" pitchFamily="18" charset="0"/>
                <a:ea typeface="楷体_GB2312" panose="02010609030101010101" pitchFamily="49" charset="-122"/>
                <a:cs typeface="Times New Roman" panose="02020603050405020304" pitchFamily="18" charset="0"/>
              </a:rPr>
              <a:t>c</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 </a:t>
            </a:r>
            <a:r>
              <a:rPr kumimoji="1" lang="en-US" altLang="zh-CN" sz="2200" b="1" i="1" dirty="0">
                <a:latin typeface="Times New Roman" panose="02020603050405020304" pitchFamily="18" charset="0"/>
                <a:ea typeface="楷体_GB2312" panose="02010609030101010101" pitchFamily="49" charset="-122"/>
                <a:cs typeface="Times New Roman" panose="02020603050405020304" pitchFamily="18" charset="0"/>
              </a:rPr>
              <a:t>d</a:t>
            </a:r>
            <a:r>
              <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rPr>
              <a:t>，权值分别为 </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7, 5, 2, 4</a:t>
            </a:r>
            <a:r>
              <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rPr>
              <a:t>，试构造以此 </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4 </a:t>
            </a:r>
            <a:r>
              <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rPr>
              <a:t>个结点为叶子结点的二叉树。 </a:t>
            </a:r>
            <a:endPar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endParaRPr>
          </a:p>
        </p:txBody>
      </p:sp>
      <p:grpSp>
        <p:nvGrpSpPr>
          <p:cNvPr id="507907" name="Group 3"/>
          <p:cNvGrpSpPr/>
          <p:nvPr/>
        </p:nvGrpSpPr>
        <p:grpSpPr bwMode="auto">
          <a:xfrm>
            <a:off x="605831" y="1556792"/>
            <a:ext cx="3608388" cy="1530350"/>
            <a:chOff x="428" y="804"/>
            <a:chExt cx="2273" cy="964"/>
          </a:xfrm>
        </p:grpSpPr>
        <p:sp>
          <p:nvSpPr>
            <p:cNvPr id="507908" name="Oval 4"/>
            <p:cNvSpPr>
              <a:spLocks noChangeArrowheads="1"/>
            </p:cNvSpPr>
            <p:nvPr/>
          </p:nvSpPr>
          <p:spPr bwMode="auto">
            <a:xfrm>
              <a:off x="1428" y="80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09" name="Oval 5"/>
            <p:cNvSpPr>
              <a:spLocks noChangeArrowheads="1"/>
            </p:cNvSpPr>
            <p:nvPr/>
          </p:nvSpPr>
          <p:spPr bwMode="auto">
            <a:xfrm>
              <a:off x="948" y="110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10" name="Oval 6"/>
            <p:cNvSpPr>
              <a:spLocks noChangeArrowheads="1"/>
            </p:cNvSpPr>
            <p:nvPr/>
          </p:nvSpPr>
          <p:spPr bwMode="auto">
            <a:xfrm>
              <a:off x="644" y="149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a</a:t>
              </a:r>
              <a:endParaRPr kumimoji="1" lang="en-US" altLang="zh-CN" sz="2400" b="1" i="1">
                <a:latin typeface="Times New Roman" panose="02020603050405020304" pitchFamily="18" charset="0"/>
                <a:cs typeface="Times New Roman" panose="02020603050405020304" pitchFamily="18" charset="0"/>
              </a:endParaRPr>
            </a:p>
          </p:txBody>
        </p:sp>
        <p:sp>
          <p:nvSpPr>
            <p:cNvPr id="507911" name="Oval 7"/>
            <p:cNvSpPr>
              <a:spLocks noChangeArrowheads="1"/>
            </p:cNvSpPr>
            <p:nvPr/>
          </p:nvSpPr>
          <p:spPr bwMode="auto">
            <a:xfrm>
              <a:off x="1236" y="149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b</a:t>
              </a:r>
              <a:endParaRPr kumimoji="1" lang="en-US" altLang="zh-CN" sz="2400" b="1" i="1">
                <a:latin typeface="Times New Roman" panose="02020603050405020304" pitchFamily="18" charset="0"/>
                <a:cs typeface="Times New Roman" panose="02020603050405020304" pitchFamily="18" charset="0"/>
              </a:endParaRPr>
            </a:p>
          </p:txBody>
        </p:sp>
        <p:sp>
          <p:nvSpPr>
            <p:cNvPr id="507912" name="Oval 8"/>
            <p:cNvSpPr>
              <a:spLocks noChangeArrowheads="1"/>
            </p:cNvSpPr>
            <p:nvPr/>
          </p:nvSpPr>
          <p:spPr bwMode="auto">
            <a:xfrm>
              <a:off x="1908" y="110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13" name="Oval 9"/>
            <p:cNvSpPr>
              <a:spLocks noChangeArrowheads="1"/>
            </p:cNvSpPr>
            <p:nvPr/>
          </p:nvSpPr>
          <p:spPr bwMode="auto">
            <a:xfrm>
              <a:off x="1572" y="149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c</a:t>
              </a:r>
              <a:endParaRPr kumimoji="1" lang="en-US" altLang="zh-CN" sz="2400" b="1" i="1">
                <a:latin typeface="Times New Roman" panose="02020603050405020304" pitchFamily="18" charset="0"/>
                <a:cs typeface="Times New Roman" panose="02020603050405020304" pitchFamily="18" charset="0"/>
              </a:endParaRPr>
            </a:p>
          </p:txBody>
        </p:sp>
        <p:sp>
          <p:nvSpPr>
            <p:cNvPr id="507914" name="Oval 10"/>
            <p:cNvSpPr>
              <a:spLocks noChangeArrowheads="1"/>
            </p:cNvSpPr>
            <p:nvPr/>
          </p:nvSpPr>
          <p:spPr bwMode="auto">
            <a:xfrm>
              <a:off x="2245" y="149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d</a:t>
              </a:r>
              <a:endParaRPr kumimoji="1" lang="en-US" altLang="zh-CN" sz="2400" b="1" i="1">
                <a:latin typeface="Times New Roman" panose="02020603050405020304" pitchFamily="18" charset="0"/>
                <a:cs typeface="Times New Roman" panose="02020603050405020304" pitchFamily="18" charset="0"/>
              </a:endParaRPr>
            </a:p>
          </p:txBody>
        </p:sp>
        <p:cxnSp>
          <p:nvCxnSpPr>
            <p:cNvPr id="507915" name="AutoShape 11"/>
            <p:cNvCxnSpPr>
              <a:cxnSpLocks noChangeShapeType="1"/>
              <a:stCxn id="507908" idx="3"/>
              <a:endCxn id="507909" idx="0"/>
            </p:cNvCxnSpPr>
            <p:nvPr/>
          </p:nvCxnSpPr>
          <p:spPr bwMode="auto">
            <a:xfrm flipH="1">
              <a:off x="1068" y="1009"/>
              <a:ext cx="395" cy="95"/>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16" name="AutoShape 12"/>
            <p:cNvCxnSpPr>
              <a:cxnSpLocks noChangeShapeType="1"/>
              <a:stCxn id="507909" idx="3"/>
              <a:endCxn id="507910" idx="0"/>
            </p:cNvCxnSpPr>
            <p:nvPr/>
          </p:nvCxnSpPr>
          <p:spPr bwMode="auto">
            <a:xfrm flipH="1">
              <a:off x="764" y="1309"/>
              <a:ext cx="219" cy="183"/>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17" name="AutoShape 13"/>
            <p:cNvCxnSpPr>
              <a:cxnSpLocks noChangeShapeType="1"/>
              <a:stCxn id="507909" idx="5"/>
              <a:endCxn id="507911" idx="0"/>
            </p:cNvCxnSpPr>
            <p:nvPr/>
          </p:nvCxnSpPr>
          <p:spPr bwMode="auto">
            <a:xfrm>
              <a:off x="1153" y="1309"/>
              <a:ext cx="203" cy="183"/>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18" name="AutoShape 14"/>
            <p:cNvCxnSpPr>
              <a:cxnSpLocks noChangeShapeType="1"/>
              <a:stCxn id="507908" idx="5"/>
              <a:endCxn id="507912" idx="0"/>
            </p:cNvCxnSpPr>
            <p:nvPr/>
          </p:nvCxnSpPr>
          <p:spPr bwMode="auto">
            <a:xfrm>
              <a:off x="1633" y="1009"/>
              <a:ext cx="395" cy="95"/>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19" name="AutoShape 15"/>
            <p:cNvCxnSpPr>
              <a:cxnSpLocks noChangeShapeType="1"/>
              <a:stCxn id="507912" idx="3"/>
              <a:endCxn id="507913" idx="0"/>
            </p:cNvCxnSpPr>
            <p:nvPr/>
          </p:nvCxnSpPr>
          <p:spPr bwMode="auto">
            <a:xfrm flipH="1">
              <a:off x="1692" y="1309"/>
              <a:ext cx="251" cy="183"/>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20" name="AutoShape 16"/>
            <p:cNvCxnSpPr>
              <a:cxnSpLocks noChangeShapeType="1"/>
              <a:stCxn id="507912" idx="5"/>
              <a:endCxn id="507914" idx="0"/>
            </p:cNvCxnSpPr>
            <p:nvPr/>
          </p:nvCxnSpPr>
          <p:spPr bwMode="auto">
            <a:xfrm>
              <a:off x="2113" y="1309"/>
              <a:ext cx="252" cy="183"/>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21" name="Text Box 17"/>
            <p:cNvSpPr txBox="1">
              <a:spLocks noChangeArrowheads="1"/>
            </p:cNvSpPr>
            <p:nvPr/>
          </p:nvSpPr>
          <p:spPr bwMode="auto">
            <a:xfrm>
              <a:off x="428" y="1480"/>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7</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22" name="Text Box 18"/>
            <p:cNvSpPr txBox="1">
              <a:spLocks noChangeArrowheads="1"/>
            </p:cNvSpPr>
            <p:nvPr/>
          </p:nvSpPr>
          <p:spPr bwMode="auto">
            <a:xfrm>
              <a:off x="1020" y="1480"/>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5</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23" name="Text Box 19"/>
            <p:cNvSpPr txBox="1">
              <a:spLocks noChangeArrowheads="1"/>
            </p:cNvSpPr>
            <p:nvPr/>
          </p:nvSpPr>
          <p:spPr bwMode="auto">
            <a:xfrm>
              <a:off x="1788" y="1480"/>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2</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24" name="Text Box 20"/>
            <p:cNvSpPr txBox="1">
              <a:spLocks noChangeArrowheads="1"/>
            </p:cNvSpPr>
            <p:nvPr/>
          </p:nvSpPr>
          <p:spPr bwMode="auto">
            <a:xfrm>
              <a:off x="2461" y="1480"/>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4</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grpSp>
      <p:sp>
        <p:nvSpPr>
          <p:cNvPr id="507925" name="Text Box 21"/>
          <p:cNvSpPr txBox="1">
            <a:spLocks noChangeArrowheads="1"/>
          </p:cNvSpPr>
          <p:nvPr/>
        </p:nvSpPr>
        <p:spPr bwMode="auto">
          <a:xfrm>
            <a:off x="383581" y="3023642"/>
            <a:ext cx="42862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latin typeface="Times New Roman" panose="02020603050405020304" pitchFamily="18" charset="0"/>
                <a:cs typeface="Times New Roman" panose="02020603050405020304" pitchFamily="18" charset="0"/>
              </a:rPr>
              <a:t>WPL=</a:t>
            </a:r>
            <a:r>
              <a:rPr kumimoji="1" lang="en-US" altLang="zh-CN" sz="2400" b="1">
                <a:solidFill>
                  <a:srgbClr val="0000FF"/>
                </a:solidFill>
                <a:latin typeface="Times New Roman" panose="02020603050405020304" pitchFamily="18" charset="0"/>
                <a:cs typeface="Times New Roman" panose="02020603050405020304" pitchFamily="18" charset="0"/>
              </a:rPr>
              <a:t>7</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2+</a:t>
            </a:r>
            <a:r>
              <a:rPr kumimoji="1" lang="en-US" altLang="zh-CN" sz="2400" b="1">
                <a:solidFill>
                  <a:srgbClr val="0000FF"/>
                </a:solidFill>
                <a:latin typeface="Times New Roman" panose="02020603050405020304" pitchFamily="18" charset="0"/>
                <a:cs typeface="Times New Roman" panose="02020603050405020304" pitchFamily="18" charset="0"/>
              </a:rPr>
              <a:t>5</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2+</a:t>
            </a:r>
            <a:r>
              <a:rPr kumimoji="1" lang="en-US" altLang="zh-CN" sz="2400" b="1">
                <a:solidFill>
                  <a:srgbClr val="0000FF"/>
                </a:solidFill>
                <a:latin typeface="Times New Roman" panose="02020603050405020304" pitchFamily="18" charset="0"/>
                <a:cs typeface="Times New Roman" panose="02020603050405020304" pitchFamily="18" charset="0"/>
              </a:rPr>
              <a:t>2</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2+</a:t>
            </a:r>
            <a:r>
              <a:rPr kumimoji="1" lang="en-US" altLang="zh-CN" sz="2400" b="1">
                <a:solidFill>
                  <a:srgbClr val="0000FF"/>
                </a:solidFill>
                <a:latin typeface="Times New Roman" panose="02020603050405020304" pitchFamily="18" charset="0"/>
                <a:cs typeface="Times New Roman" panose="02020603050405020304" pitchFamily="18" charset="0"/>
              </a:rPr>
              <a:t>4</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2= </a:t>
            </a:r>
            <a:r>
              <a:rPr kumimoji="1" lang="en-US" altLang="zh-CN" sz="2400" b="1">
                <a:solidFill>
                  <a:srgbClr val="0000FF"/>
                </a:solidFill>
                <a:latin typeface="Times New Roman" panose="02020603050405020304" pitchFamily="18" charset="0"/>
                <a:cs typeface="Times New Roman" panose="02020603050405020304" pitchFamily="18" charset="0"/>
              </a:rPr>
              <a:t>36</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grpSp>
        <p:nvGrpSpPr>
          <p:cNvPr id="507926" name="Group 22"/>
          <p:cNvGrpSpPr/>
          <p:nvPr/>
        </p:nvGrpSpPr>
        <p:grpSpPr bwMode="auto">
          <a:xfrm>
            <a:off x="4707931" y="3633242"/>
            <a:ext cx="3724275" cy="1905000"/>
            <a:chOff x="3012" y="2112"/>
            <a:chExt cx="2346" cy="1200"/>
          </a:xfrm>
        </p:grpSpPr>
        <p:sp>
          <p:nvSpPr>
            <p:cNvPr id="507927" name="Oval 23"/>
            <p:cNvSpPr>
              <a:spLocks noChangeArrowheads="1"/>
            </p:cNvSpPr>
            <p:nvPr/>
          </p:nvSpPr>
          <p:spPr bwMode="auto">
            <a:xfrm>
              <a:off x="3732" y="211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28" name="Oval 24"/>
            <p:cNvSpPr>
              <a:spLocks noChangeArrowheads="1"/>
            </p:cNvSpPr>
            <p:nvPr/>
          </p:nvSpPr>
          <p:spPr bwMode="auto">
            <a:xfrm>
              <a:off x="3252" y="2400"/>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a</a:t>
              </a:r>
              <a:endParaRPr kumimoji="1" lang="en-US" altLang="zh-CN" sz="2400" b="1" i="1">
                <a:latin typeface="Times New Roman" panose="02020603050405020304" pitchFamily="18" charset="0"/>
                <a:cs typeface="Times New Roman" panose="02020603050405020304" pitchFamily="18" charset="0"/>
              </a:endParaRPr>
            </a:p>
          </p:txBody>
        </p:sp>
        <p:sp>
          <p:nvSpPr>
            <p:cNvPr id="507929" name="Oval 25"/>
            <p:cNvSpPr>
              <a:spLocks noChangeArrowheads="1"/>
            </p:cNvSpPr>
            <p:nvPr/>
          </p:nvSpPr>
          <p:spPr bwMode="auto">
            <a:xfrm>
              <a:off x="4212" y="2400"/>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30" name="Oval 26"/>
            <p:cNvSpPr>
              <a:spLocks noChangeArrowheads="1"/>
            </p:cNvSpPr>
            <p:nvPr/>
          </p:nvSpPr>
          <p:spPr bwMode="auto">
            <a:xfrm>
              <a:off x="3876" y="2688"/>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b</a:t>
              </a:r>
              <a:endParaRPr kumimoji="1" lang="en-US" altLang="zh-CN" sz="2400" b="1" i="1">
                <a:latin typeface="Times New Roman" panose="02020603050405020304" pitchFamily="18" charset="0"/>
                <a:cs typeface="Times New Roman" panose="02020603050405020304" pitchFamily="18" charset="0"/>
              </a:endParaRPr>
            </a:p>
          </p:txBody>
        </p:sp>
        <p:sp>
          <p:nvSpPr>
            <p:cNvPr id="507931" name="Oval 27"/>
            <p:cNvSpPr>
              <a:spLocks noChangeArrowheads="1"/>
            </p:cNvSpPr>
            <p:nvPr/>
          </p:nvSpPr>
          <p:spPr bwMode="auto">
            <a:xfrm>
              <a:off x="4578" y="2688"/>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endParaRPr kumimoji="1" lang="zh-CN" altLang="zh-CN" sz="2400" b="1">
                <a:latin typeface="Times New Roman" panose="02020603050405020304" pitchFamily="18" charset="0"/>
                <a:cs typeface="Times New Roman" panose="02020603050405020304" pitchFamily="18" charset="0"/>
              </a:endParaRPr>
            </a:p>
          </p:txBody>
        </p:sp>
        <p:cxnSp>
          <p:nvCxnSpPr>
            <p:cNvPr id="507932" name="AutoShape 28"/>
            <p:cNvCxnSpPr>
              <a:cxnSpLocks noChangeShapeType="1"/>
              <a:stCxn id="507927" idx="3"/>
              <a:endCxn id="507928" idx="0"/>
            </p:cNvCxnSpPr>
            <p:nvPr/>
          </p:nvCxnSpPr>
          <p:spPr bwMode="auto">
            <a:xfrm flipH="1">
              <a:off x="3372" y="2317"/>
              <a:ext cx="395"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33" name="AutoShape 29"/>
            <p:cNvCxnSpPr>
              <a:cxnSpLocks noChangeShapeType="1"/>
              <a:stCxn id="507927" idx="5"/>
              <a:endCxn id="507929" idx="0"/>
            </p:cNvCxnSpPr>
            <p:nvPr/>
          </p:nvCxnSpPr>
          <p:spPr bwMode="auto">
            <a:xfrm>
              <a:off x="3937" y="2317"/>
              <a:ext cx="395"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34" name="AutoShape 30"/>
            <p:cNvCxnSpPr>
              <a:cxnSpLocks noChangeShapeType="1"/>
              <a:stCxn id="507929" idx="3"/>
              <a:endCxn id="507930" idx="0"/>
            </p:cNvCxnSpPr>
            <p:nvPr/>
          </p:nvCxnSpPr>
          <p:spPr bwMode="auto">
            <a:xfrm flipH="1">
              <a:off x="3996" y="2605"/>
              <a:ext cx="251"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35" name="AutoShape 31"/>
            <p:cNvCxnSpPr>
              <a:cxnSpLocks noChangeShapeType="1"/>
              <a:stCxn id="507929" idx="5"/>
              <a:endCxn id="507931" idx="0"/>
            </p:cNvCxnSpPr>
            <p:nvPr/>
          </p:nvCxnSpPr>
          <p:spPr bwMode="auto">
            <a:xfrm>
              <a:off x="4417" y="2605"/>
              <a:ext cx="281"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36" name="Oval 32"/>
            <p:cNvSpPr>
              <a:spLocks noChangeArrowheads="1"/>
            </p:cNvSpPr>
            <p:nvPr/>
          </p:nvSpPr>
          <p:spPr bwMode="auto">
            <a:xfrm>
              <a:off x="4242" y="302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c</a:t>
              </a:r>
              <a:endParaRPr kumimoji="1" lang="en-US" altLang="zh-CN" sz="2400" b="1" i="1">
                <a:latin typeface="Times New Roman" panose="02020603050405020304" pitchFamily="18" charset="0"/>
                <a:cs typeface="Times New Roman" panose="02020603050405020304" pitchFamily="18" charset="0"/>
              </a:endParaRPr>
            </a:p>
          </p:txBody>
        </p:sp>
        <p:cxnSp>
          <p:nvCxnSpPr>
            <p:cNvPr id="507937" name="AutoShape 33"/>
            <p:cNvCxnSpPr>
              <a:cxnSpLocks noChangeShapeType="1"/>
              <a:stCxn id="507931" idx="3"/>
              <a:endCxn id="507936" idx="0"/>
            </p:cNvCxnSpPr>
            <p:nvPr/>
          </p:nvCxnSpPr>
          <p:spPr bwMode="auto">
            <a:xfrm flipH="1">
              <a:off x="4362" y="2893"/>
              <a:ext cx="251" cy="131"/>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38" name="Oval 34"/>
            <p:cNvSpPr>
              <a:spLocks noChangeArrowheads="1"/>
            </p:cNvSpPr>
            <p:nvPr/>
          </p:nvSpPr>
          <p:spPr bwMode="auto">
            <a:xfrm>
              <a:off x="4914" y="302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d</a:t>
              </a:r>
              <a:endParaRPr kumimoji="1" lang="en-US" altLang="zh-CN" sz="2400" b="1" i="1">
                <a:latin typeface="Times New Roman" panose="02020603050405020304" pitchFamily="18" charset="0"/>
                <a:cs typeface="Times New Roman" panose="02020603050405020304" pitchFamily="18" charset="0"/>
              </a:endParaRPr>
            </a:p>
          </p:txBody>
        </p:sp>
        <p:cxnSp>
          <p:nvCxnSpPr>
            <p:cNvPr id="507939" name="AutoShape 35"/>
            <p:cNvCxnSpPr>
              <a:cxnSpLocks noChangeShapeType="1"/>
              <a:stCxn id="507931" idx="5"/>
              <a:endCxn id="507938" idx="0"/>
            </p:cNvCxnSpPr>
            <p:nvPr/>
          </p:nvCxnSpPr>
          <p:spPr bwMode="auto">
            <a:xfrm>
              <a:off x="4783" y="2893"/>
              <a:ext cx="251" cy="131"/>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40" name="Text Box 36"/>
            <p:cNvSpPr txBox="1">
              <a:spLocks noChangeArrowheads="1"/>
            </p:cNvSpPr>
            <p:nvPr/>
          </p:nvSpPr>
          <p:spPr bwMode="auto">
            <a:xfrm>
              <a:off x="3012" y="2352"/>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7</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41" name="Text Box 37"/>
            <p:cNvSpPr txBox="1">
              <a:spLocks noChangeArrowheads="1"/>
            </p:cNvSpPr>
            <p:nvPr/>
          </p:nvSpPr>
          <p:spPr bwMode="auto">
            <a:xfrm>
              <a:off x="3648" y="2688"/>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rgbClr val="FF33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5</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42" name="Text Box 38"/>
            <p:cNvSpPr txBox="1">
              <a:spLocks noChangeArrowheads="1"/>
            </p:cNvSpPr>
            <p:nvPr/>
          </p:nvSpPr>
          <p:spPr bwMode="auto">
            <a:xfrm>
              <a:off x="4014" y="3024"/>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rgbClr val="FF33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2</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43" name="Text Box 39"/>
            <p:cNvSpPr txBox="1">
              <a:spLocks noChangeArrowheads="1"/>
            </p:cNvSpPr>
            <p:nvPr/>
          </p:nvSpPr>
          <p:spPr bwMode="auto">
            <a:xfrm>
              <a:off x="5118" y="3024"/>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4</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grpSp>
      <p:sp>
        <p:nvSpPr>
          <p:cNvPr id="507944" name="Text Box 40"/>
          <p:cNvSpPr txBox="1">
            <a:spLocks noChangeArrowheads="1"/>
          </p:cNvSpPr>
          <p:nvPr/>
        </p:nvSpPr>
        <p:spPr bwMode="auto">
          <a:xfrm>
            <a:off x="4803180" y="5538242"/>
            <a:ext cx="4449339"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spcBef>
                <a:spcPct val="50000"/>
              </a:spcBef>
            </a:pPr>
            <a:r>
              <a:rPr kumimoji="1" lang="en-US" altLang="zh-CN" sz="2400" b="1" dirty="0">
                <a:latin typeface="Times New Roman" panose="02020603050405020304" pitchFamily="18" charset="0"/>
                <a:cs typeface="Times New Roman" panose="02020603050405020304" pitchFamily="18" charset="0"/>
              </a:rPr>
              <a:t>WPL=</a:t>
            </a:r>
            <a:r>
              <a:rPr kumimoji="1" lang="en-US" altLang="zh-CN" sz="2400" b="1" dirty="0">
                <a:solidFill>
                  <a:srgbClr val="0000FF"/>
                </a:solidFill>
                <a:latin typeface="Times New Roman" panose="02020603050405020304" pitchFamily="18" charset="0"/>
                <a:cs typeface="Times New Roman" panose="02020603050405020304" pitchFamily="18" charset="0"/>
              </a:rPr>
              <a:t>7</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1+</a:t>
            </a:r>
            <a:r>
              <a:rPr kumimoji="1" lang="en-US" altLang="zh-CN" sz="2400" b="1" dirty="0">
                <a:solidFill>
                  <a:srgbClr val="0000FF"/>
                </a:solidFill>
                <a:latin typeface="Times New Roman" panose="02020603050405020304" pitchFamily="18" charset="0"/>
                <a:cs typeface="Times New Roman" panose="02020603050405020304" pitchFamily="18" charset="0"/>
              </a:rPr>
              <a:t>5</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2+</a:t>
            </a:r>
            <a:r>
              <a:rPr kumimoji="1" lang="en-US" altLang="zh-CN" sz="2400" b="1" dirty="0">
                <a:solidFill>
                  <a:srgbClr val="0000FF"/>
                </a:solidFill>
                <a:latin typeface="Times New Roman" panose="02020603050405020304" pitchFamily="18" charset="0"/>
                <a:cs typeface="Times New Roman" panose="02020603050405020304" pitchFamily="18" charset="0"/>
              </a:rPr>
              <a:t>2</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3+</a:t>
            </a:r>
            <a:r>
              <a:rPr kumimoji="1" lang="en-US" altLang="zh-CN" sz="2400" b="1" dirty="0">
                <a:solidFill>
                  <a:srgbClr val="0000FF"/>
                </a:solidFill>
                <a:latin typeface="Times New Roman" panose="02020603050405020304" pitchFamily="18" charset="0"/>
                <a:cs typeface="Times New Roman" panose="02020603050405020304" pitchFamily="18" charset="0"/>
              </a:rPr>
              <a:t>4</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3= </a:t>
            </a:r>
            <a:r>
              <a:rPr kumimoji="1" lang="en-US" altLang="zh-CN" sz="2400" b="1" dirty="0">
                <a:solidFill>
                  <a:srgbClr val="0000FF"/>
                </a:solidFill>
                <a:latin typeface="Times New Roman" panose="02020603050405020304" pitchFamily="18" charset="0"/>
                <a:cs typeface="Times New Roman" panose="02020603050405020304" pitchFamily="18" charset="0"/>
              </a:rPr>
              <a:t>35</a:t>
            </a:r>
            <a:r>
              <a:rPr kumimoji="1" lang="en-US" altLang="zh-CN" sz="2400" b="1" dirty="0">
                <a:latin typeface="Times New Roman" panose="02020603050405020304" pitchFamily="18" charset="0"/>
                <a:cs typeface="Times New Roman" panose="02020603050405020304" pitchFamily="18" charset="0"/>
              </a:rPr>
              <a:t>  </a:t>
            </a:r>
            <a:endParaRPr kumimoji="1" lang="en-US" altLang="zh-CN" sz="2400" b="1" dirty="0">
              <a:latin typeface="Times New Roman" panose="02020603050405020304" pitchFamily="18" charset="0"/>
              <a:cs typeface="Times New Roman" panose="02020603050405020304" pitchFamily="18" charset="0"/>
            </a:endParaRPr>
          </a:p>
        </p:txBody>
      </p:sp>
      <p:grpSp>
        <p:nvGrpSpPr>
          <p:cNvPr id="507945" name="Group 41"/>
          <p:cNvGrpSpPr/>
          <p:nvPr/>
        </p:nvGrpSpPr>
        <p:grpSpPr bwMode="auto">
          <a:xfrm>
            <a:off x="466131" y="3633242"/>
            <a:ext cx="3295650" cy="1905000"/>
            <a:chOff x="340" y="2112"/>
            <a:chExt cx="2076" cy="1200"/>
          </a:xfrm>
        </p:grpSpPr>
        <p:sp>
          <p:nvSpPr>
            <p:cNvPr id="507946" name="Text Box 42"/>
            <p:cNvSpPr txBox="1">
              <a:spLocks noChangeArrowheads="1"/>
            </p:cNvSpPr>
            <p:nvPr/>
          </p:nvSpPr>
          <p:spPr bwMode="auto">
            <a:xfrm>
              <a:off x="2176" y="2688"/>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rgbClr val="FF33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5</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47" name="Oval 43"/>
            <p:cNvSpPr>
              <a:spLocks noChangeArrowheads="1"/>
            </p:cNvSpPr>
            <p:nvPr/>
          </p:nvSpPr>
          <p:spPr bwMode="auto">
            <a:xfrm>
              <a:off x="1060" y="211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48" name="Oval 44"/>
            <p:cNvSpPr>
              <a:spLocks noChangeArrowheads="1"/>
            </p:cNvSpPr>
            <p:nvPr/>
          </p:nvSpPr>
          <p:spPr bwMode="auto">
            <a:xfrm>
              <a:off x="580" y="2400"/>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a</a:t>
              </a:r>
              <a:endParaRPr kumimoji="1" lang="en-US" altLang="zh-CN" sz="2400" b="1" i="1">
                <a:latin typeface="Times New Roman" panose="02020603050405020304" pitchFamily="18" charset="0"/>
                <a:cs typeface="Times New Roman" panose="02020603050405020304" pitchFamily="18" charset="0"/>
              </a:endParaRPr>
            </a:p>
          </p:txBody>
        </p:sp>
        <p:sp>
          <p:nvSpPr>
            <p:cNvPr id="507949" name="Oval 45"/>
            <p:cNvSpPr>
              <a:spLocks noChangeArrowheads="1"/>
            </p:cNvSpPr>
            <p:nvPr/>
          </p:nvSpPr>
          <p:spPr bwMode="auto">
            <a:xfrm>
              <a:off x="1519" y="2400"/>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50" name="Oval 46"/>
            <p:cNvSpPr>
              <a:spLocks noChangeArrowheads="1"/>
            </p:cNvSpPr>
            <p:nvPr/>
          </p:nvSpPr>
          <p:spPr bwMode="auto">
            <a:xfrm>
              <a:off x="1936" y="2688"/>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b</a:t>
              </a:r>
              <a:endParaRPr kumimoji="1" lang="en-US" altLang="zh-CN" sz="2400" b="1" i="1">
                <a:latin typeface="Times New Roman" panose="02020603050405020304" pitchFamily="18" charset="0"/>
                <a:cs typeface="Times New Roman" panose="02020603050405020304" pitchFamily="18" charset="0"/>
              </a:endParaRPr>
            </a:p>
          </p:txBody>
        </p:sp>
        <p:sp>
          <p:nvSpPr>
            <p:cNvPr id="507951" name="Oval 47"/>
            <p:cNvSpPr>
              <a:spLocks noChangeArrowheads="1"/>
            </p:cNvSpPr>
            <p:nvPr/>
          </p:nvSpPr>
          <p:spPr bwMode="auto">
            <a:xfrm>
              <a:off x="1072" y="2688"/>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endParaRPr kumimoji="1" lang="zh-CN" altLang="zh-CN" sz="2400" b="1">
                <a:latin typeface="Times New Roman" panose="02020603050405020304" pitchFamily="18" charset="0"/>
                <a:cs typeface="Times New Roman" panose="02020603050405020304" pitchFamily="18" charset="0"/>
              </a:endParaRPr>
            </a:p>
          </p:txBody>
        </p:sp>
        <p:cxnSp>
          <p:nvCxnSpPr>
            <p:cNvPr id="507952" name="AutoShape 48"/>
            <p:cNvCxnSpPr>
              <a:cxnSpLocks noChangeShapeType="1"/>
              <a:stCxn id="507947" idx="3"/>
              <a:endCxn id="507948" idx="0"/>
            </p:cNvCxnSpPr>
            <p:nvPr/>
          </p:nvCxnSpPr>
          <p:spPr bwMode="auto">
            <a:xfrm flipH="1">
              <a:off x="700" y="2317"/>
              <a:ext cx="395"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53" name="AutoShape 49"/>
            <p:cNvCxnSpPr>
              <a:cxnSpLocks noChangeShapeType="1"/>
              <a:stCxn id="507947" idx="5"/>
              <a:endCxn id="507949" idx="0"/>
            </p:cNvCxnSpPr>
            <p:nvPr/>
          </p:nvCxnSpPr>
          <p:spPr bwMode="auto">
            <a:xfrm>
              <a:off x="1265" y="2317"/>
              <a:ext cx="374"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54" name="AutoShape 50"/>
            <p:cNvCxnSpPr>
              <a:cxnSpLocks noChangeShapeType="1"/>
              <a:stCxn id="507949" idx="5"/>
              <a:endCxn id="507950" idx="0"/>
            </p:cNvCxnSpPr>
            <p:nvPr/>
          </p:nvCxnSpPr>
          <p:spPr bwMode="auto">
            <a:xfrm>
              <a:off x="1724" y="2605"/>
              <a:ext cx="332"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55" name="AutoShape 51"/>
            <p:cNvCxnSpPr>
              <a:cxnSpLocks noChangeShapeType="1"/>
              <a:stCxn id="507949" idx="3"/>
              <a:endCxn id="507951" idx="0"/>
            </p:cNvCxnSpPr>
            <p:nvPr/>
          </p:nvCxnSpPr>
          <p:spPr bwMode="auto">
            <a:xfrm flipH="1">
              <a:off x="1192" y="2605"/>
              <a:ext cx="362"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56" name="Oval 52"/>
            <p:cNvSpPr>
              <a:spLocks noChangeArrowheads="1"/>
            </p:cNvSpPr>
            <p:nvPr/>
          </p:nvSpPr>
          <p:spPr bwMode="auto">
            <a:xfrm>
              <a:off x="736" y="302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c</a:t>
              </a:r>
              <a:endParaRPr kumimoji="1" lang="en-US" altLang="zh-CN" sz="2400" b="1" i="1">
                <a:latin typeface="Times New Roman" panose="02020603050405020304" pitchFamily="18" charset="0"/>
                <a:cs typeface="Times New Roman" panose="02020603050405020304" pitchFamily="18" charset="0"/>
              </a:endParaRPr>
            </a:p>
          </p:txBody>
        </p:sp>
        <p:cxnSp>
          <p:nvCxnSpPr>
            <p:cNvPr id="507957" name="AutoShape 53"/>
            <p:cNvCxnSpPr>
              <a:cxnSpLocks noChangeShapeType="1"/>
              <a:stCxn id="507951" idx="3"/>
              <a:endCxn id="507956" idx="0"/>
            </p:cNvCxnSpPr>
            <p:nvPr/>
          </p:nvCxnSpPr>
          <p:spPr bwMode="auto">
            <a:xfrm flipH="1">
              <a:off x="856" y="2893"/>
              <a:ext cx="251" cy="131"/>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58" name="Oval 54"/>
            <p:cNvSpPr>
              <a:spLocks noChangeArrowheads="1"/>
            </p:cNvSpPr>
            <p:nvPr/>
          </p:nvSpPr>
          <p:spPr bwMode="auto">
            <a:xfrm>
              <a:off x="1408" y="302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d</a:t>
              </a:r>
              <a:endParaRPr kumimoji="1" lang="en-US" altLang="zh-CN" sz="2400" b="1" i="1">
                <a:latin typeface="Times New Roman" panose="02020603050405020304" pitchFamily="18" charset="0"/>
                <a:cs typeface="Times New Roman" panose="02020603050405020304" pitchFamily="18" charset="0"/>
              </a:endParaRPr>
            </a:p>
          </p:txBody>
        </p:sp>
        <p:cxnSp>
          <p:nvCxnSpPr>
            <p:cNvPr id="507959" name="AutoShape 55"/>
            <p:cNvCxnSpPr>
              <a:cxnSpLocks noChangeShapeType="1"/>
              <a:stCxn id="507951" idx="5"/>
              <a:endCxn id="507958" idx="0"/>
            </p:cNvCxnSpPr>
            <p:nvPr/>
          </p:nvCxnSpPr>
          <p:spPr bwMode="auto">
            <a:xfrm>
              <a:off x="1277" y="2893"/>
              <a:ext cx="251" cy="131"/>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60" name="Text Box 56"/>
            <p:cNvSpPr txBox="1">
              <a:spLocks noChangeArrowheads="1"/>
            </p:cNvSpPr>
            <p:nvPr/>
          </p:nvSpPr>
          <p:spPr bwMode="auto">
            <a:xfrm>
              <a:off x="340" y="2352"/>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7</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61" name="Text Box 57"/>
            <p:cNvSpPr txBox="1">
              <a:spLocks noChangeArrowheads="1"/>
            </p:cNvSpPr>
            <p:nvPr/>
          </p:nvSpPr>
          <p:spPr bwMode="auto">
            <a:xfrm>
              <a:off x="544" y="3024"/>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rgbClr val="FF33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2</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62" name="Text Box 58"/>
            <p:cNvSpPr txBox="1">
              <a:spLocks noChangeArrowheads="1"/>
            </p:cNvSpPr>
            <p:nvPr/>
          </p:nvSpPr>
          <p:spPr bwMode="auto">
            <a:xfrm>
              <a:off x="1600" y="3024"/>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4</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grpSp>
      <p:sp>
        <p:nvSpPr>
          <p:cNvPr id="507963" name="Text Box 59"/>
          <p:cNvSpPr txBox="1">
            <a:spLocks noChangeArrowheads="1"/>
          </p:cNvSpPr>
          <p:nvPr/>
        </p:nvSpPr>
        <p:spPr bwMode="auto">
          <a:xfrm>
            <a:off x="535980" y="5538242"/>
            <a:ext cx="43910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spcBef>
                <a:spcPct val="50000"/>
              </a:spcBef>
            </a:pPr>
            <a:r>
              <a:rPr kumimoji="1" lang="en-US" altLang="zh-CN" sz="2400" b="1" dirty="0">
                <a:latin typeface="Times New Roman" panose="02020603050405020304" pitchFamily="18" charset="0"/>
                <a:cs typeface="Times New Roman" panose="02020603050405020304" pitchFamily="18" charset="0"/>
              </a:rPr>
              <a:t>WPL=</a:t>
            </a:r>
            <a:r>
              <a:rPr kumimoji="1" lang="en-US" altLang="zh-CN" sz="2400" b="1" dirty="0">
                <a:solidFill>
                  <a:srgbClr val="0000FF"/>
                </a:solidFill>
                <a:latin typeface="Times New Roman" panose="02020603050405020304" pitchFamily="18" charset="0"/>
                <a:cs typeface="Times New Roman" panose="02020603050405020304" pitchFamily="18" charset="0"/>
              </a:rPr>
              <a:t>7</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1+</a:t>
            </a:r>
            <a:r>
              <a:rPr kumimoji="1" lang="en-US" altLang="zh-CN" sz="2400" b="1" dirty="0">
                <a:solidFill>
                  <a:srgbClr val="0000FF"/>
                </a:solidFill>
                <a:latin typeface="Times New Roman" panose="02020603050405020304" pitchFamily="18" charset="0"/>
                <a:cs typeface="Times New Roman" panose="02020603050405020304" pitchFamily="18" charset="0"/>
              </a:rPr>
              <a:t>5</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2+</a:t>
            </a:r>
            <a:r>
              <a:rPr kumimoji="1" lang="en-US" altLang="zh-CN" sz="2400" b="1" dirty="0">
                <a:solidFill>
                  <a:srgbClr val="0000FF"/>
                </a:solidFill>
                <a:latin typeface="Times New Roman" panose="02020603050405020304" pitchFamily="18" charset="0"/>
                <a:cs typeface="Times New Roman" panose="02020603050405020304" pitchFamily="18" charset="0"/>
              </a:rPr>
              <a:t>2</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3+</a:t>
            </a:r>
            <a:r>
              <a:rPr kumimoji="1" lang="en-US" altLang="zh-CN" sz="2400" b="1" dirty="0">
                <a:solidFill>
                  <a:srgbClr val="0000FF"/>
                </a:solidFill>
                <a:latin typeface="Times New Roman" panose="02020603050405020304" pitchFamily="18" charset="0"/>
                <a:cs typeface="Times New Roman" panose="02020603050405020304" pitchFamily="18" charset="0"/>
              </a:rPr>
              <a:t>4</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3= </a:t>
            </a:r>
            <a:r>
              <a:rPr kumimoji="1" lang="en-US" altLang="zh-CN" sz="2400" b="1" dirty="0">
                <a:solidFill>
                  <a:srgbClr val="0000FF"/>
                </a:solidFill>
                <a:latin typeface="Times New Roman" panose="02020603050405020304" pitchFamily="18" charset="0"/>
                <a:cs typeface="Times New Roman" panose="02020603050405020304" pitchFamily="18" charset="0"/>
              </a:rPr>
              <a:t>35</a:t>
            </a:r>
            <a:r>
              <a:rPr kumimoji="1" lang="en-US" altLang="zh-CN" sz="2400" b="1" dirty="0">
                <a:latin typeface="Times New Roman" panose="02020603050405020304" pitchFamily="18" charset="0"/>
                <a:cs typeface="Times New Roman" panose="02020603050405020304" pitchFamily="18" charset="0"/>
              </a:rPr>
              <a:t>  </a:t>
            </a:r>
            <a:endParaRPr kumimoji="1" lang="en-US" altLang="zh-CN" sz="2400" b="1" dirty="0">
              <a:latin typeface="Times New Roman" panose="02020603050405020304" pitchFamily="18" charset="0"/>
              <a:cs typeface="Times New Roman" panose="02020603050405020304" pitchFamily="18" charset="0"/>
            </a:endParaRPr>
          </a:p>
        </p:txBody>
      </p:sp>
      <p:grpSp>
        <p:nvGrpSpPr>
          <p:cNvPr id="507964" name="Group 60"/>
          <p:cNvGrpSpPr/>
          <p:nvPr/>
        </p:nvGrpSpPr>
        <p:grpSpPr bwMode="auto">
          <a:xfrm>
            <a:off x="5012731" y="1188492"/>
            <a:ext cx="3219450" cy="1835150"/>
            <a:chOff x="3204" y="572"/>
            <a:chExt cx="2028" cy="1156"/>
          </a:xfrm>
        </p:grpSpPr>
        <p:sp>
          <p:nvSpPr>
            <p:cNvPr id="507965" name="Oval 61"/>
            <p:cNvSpPr>
              <a:spLocks noChangeArrowheads="1"/>
            </p:cNvSpPr>
            <p:nvPr/>
          </p:nvSpPr>
          <p:spPr bwMode="auto">
            <a:xfrm>
              <a:off x="4308" y="57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66" name="Oval 62"/>
            <p:cNvSpPr>
              <a:spLocks noChangeArrowheads="1"/>
            </p:cNvSpPr>
            <p:nvPr/>
          </p:nvSpPr>
          <p:spPr bwMode="auto">
            <a:xfrm>
              <a:off x="3828" y="86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67" name="Oval 63"/>
            <p:cNvSpPr>
              <a:spLocks noChangeArrowheads="1"/>
            </p:cNvSpPr>
            <p:nvPr/>
          </p:nvSpPr>
          <p:spPr bwMode="auto">
            <a:xfrm>
              <a:off x="3444" y="119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d</a:t>
              </a:r>
              <a:endParaRPr kumimoji="1" lang="en-US" altLang="zh-CN" sz="2400" b="1" i="1">
                <a:latin typeface="Times New Roman" panose="02020603050405020304" pitchFamily="18" charset="0"/>
                <a:cs typeface="Times New Roman" panose="02020603050405020304" pitchFamily="18" charset="0"/>
              </a:endParaRPr>
            </a:p>
          </p:txBody>
        </p:sp>
        <p:sp>
          <p:nvSpPr>
            <p:cNvPr id="507968" name="Oval 64"/>
            <p:cNvSpPr>
              <a:spLocks noChangeArrowheads="1"/>
            </p:cNvSpPr>
            <p:nvPr/>
          </p:nvSpPr>
          <p:spPr bwMode="auto">
            <a:xfrm>
              <a:off x="4233" y="1187"/>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endParaRPr kumimoji="1" lang="zh-CN" altLang="zh-CN" sz="2400" b="1">
                <a:latin typeface="Times New Roman" panose="02020603050405020304" pitchFamily="18" charset="0"/>
                <a:cs typeface="Times New Roman" panose="02020603050405020304" pitchFamily="18" charset="0"/>
              </a:endParaRPr>
            </a:p>
          </p:txBody>
        </p:sp>
        <p:sp>
          <p:nvSpPr>
            <p:cNvPr id="507969" name="Oval 65"/>
            <p:cNvSpPr>
              <a:spLocks noChangeArrowheads="1"/>
            </p:cNvSpPr>
            <p:nvPr/>
          </p:nvSpPr>
          <p:spPr bwMode="auto">
            <a:xfrm>
              <a:off x="4788" y="86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c</a:t>
              </a:r>
              <a:endParaRPr kumimoji="1" lang="en-US" altLang="zh-CN" sz="2400" b="1" i="1">
                <a:latin typeface="Times New Roman" panose="02020603050405020304" pitchFamily="18" charset="0"/>
                <a:cs typeface="Times New Roman" panose="02020603050405020304" pitchFamily="18" charset="0"/>
              </a:endParaRPr>
            </a:p>
          </p:txBody>
        </p:sp>
        <p:cxnSp>
          <p:nvCxnSpPr>
            <p:cNvPr id="507970" name="AutoShape 66"/>
            <p:cNvCxnSpPr>
              <a:cxnSpLocks noChangeShapeType="1"/>
              <a:stCxn id="507965" idx="3"/>
              <a:endCxn id="507966" idx="0"/>
            </p:cNvCxnSpPr>
            <p:nvPr/>
          </p:nvCxnSpPr>
          <p:spPr bwMode="auto">
            <a:xfrm flipH="1">
              <a:off x="3948" y="777"/>
              <a:ext cx="395" cy="87"/>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71" name="AutoShape 67"/>
            <p:cNvCxnSpPr>
              <a:cxnSpLocks noChangeShapeType="1"/>
              <a:stCxn id="507966" idx="3"/>
              <a:endCxn id="507967" idx="0"/>
            </p:cNvCxnSpPr>
            <p:nvPr/>
          </p:nvCxnSpPr>
          <p:spPr bwMode="auto">
            <a:xfrm flipH="1">
              <a:off x="3564" y="1069"/>
              <a:ext cx="299" cy="125"/>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72" name="AutoShape 68"/>
            <p:cNvCxnSpPr>
              <a:cxnSpLocks noChangeShapeType="1"/>
              <a:stCxn id="507966" idx="5"/>
              <a:endCxn id="507968" idx="0"/>
            </p:cNvCxnSpPr>
            <p:nvPr/>
          </p:nvCxnSpPr>
          <p:spPr bwMode="auto">
            <a:xfrm>
              <a:off x="4033" y="1069"/>
              <a:ext cx="320" cy="118"/>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73" name="AutoShape 69"/>
            <p:cNvCxnSpPr>
              <a:cxnSpLocks noChangeShapeType="1"/>
              <a:stCxn id="507965" idx="5"/>
              <a:endCxn id="507969" idx="0"/>
            </p:cNvCxnSpPr>
            <p:nvPr/>
          </p:nvCxnSpPr>
          <p:spPr bwMode="auto">
            <a:xfrm>
              <a:off x="4513" y="777"/>
              <a:ext cx="395" cy="87"/>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74" name="Oval 70"/>
            <p:cNvSpPr>
              <a:spLocks noChangeArrowheads="1"/>
            </p:cNvSpPr>
            <p:nvPr/>
          </p:nvSpPr>
          <p:spPr bwMode="auto">
            <a:xfrm>
              <a:off x="3888" y="1475"/>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a</a:t>
              </a:r>
              <a:endParaRPr kumimoji="1" lang="en-US" altLang="zh-CN" sz="2400" b="1" i="1">
                <a:latin typeface="Times New Roman" panose="02020603050405020304" pitchFamily="18" charset="0"/>
                <a:cs typeface="Times New Roman" panose="02020603050405020304" pitchFamily="18" charset="0"/>
              </a:endParaRPr>
            </a:p>
          </p:txBody>
        </p:sp>
        <p:cxnSp>
          <p:nvCxnSpPr>
            <p:cNvPr id="507975" name="AutoShape 71"/>
            <p:cNvCxnSpPr>
              <a:cxnSpLocks noChangeShapeType="1"/>
              <a:stCxn id="507968" idx="3"/>
              <a:endCxn id="507974" idx="0"/>
            </p:cNvCxnSpPr>
            <p:nvPr/>
          </p:nvCxnSpPr>
          <p:spPr bwMode="auto">
            <a:xfrm flipH="1">
              <a:off x="4008" y="1392"/>
              <a:ext cx="260" cy="83"/>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76" name="Oval 72"/>
            <p:cNvSpPr>
              <a:spLocks noChangeArrowheads="1"/>
            </p:cNvSpPr>
            <p:nvPr/>
          </p:nvSpPr>
          <p:spPr bwMode="auto">
            <a:xfrm>
              <a:off x="4564" y="1469"/>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b</a:t>
              </a:r>
              <a:endParaRPr kumimoji="1" lang="en-US" altLang="zh-CN" sz="2400" b="1" i="1">
                <a:latin typeface="Times New Roman" panose="02020603050405020304" pitchFamily="18" charset="0"/>
                <a:cs typeface="Times New Roman" panose="02020603050405020304" pitchFamily="18" charset="0"/>
              </a:endParaRPr>
            </a:p>
          </p:txBody>
        </p:sp>
        <p:cxnSp>
          <p:nvCxnSpPr>
            <p:cNvPr id="507977" name="AutoShape 73"/>
            <p:cNvCxnSpPr>
              <a:cxnSpLocks noChangeShapeType="1"/>
              <a:stCxn id="507968" idx="5"/>
              <a:endCxn id="507976" idx="0"/>
            </p:cNvCxnSpPr>
            <p:nvPr/>
          </p:nvCxnSpPr>
          <p:spPr bwMode="auto">
            <a:xfrm>
              <a:off x="4438" y="1392"/>
              <a:ext cx="246" cy="77"/>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78" name="Text Box 74"/>
            <p:cNvSpPr txBox="1">
              <a:spLocks noChangeArrowheads="1"/>
            </p:cNvSpPr>
            <p:nvPr/>
          </p:nvSpPr>
          <p:spPr bwMode="auto">
            <a:xfrm>
              <a:off x="4992" y="816"/>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2</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79" name="Text Box 75"/>
            <p:cNvSpPr txBox="1">
              <a:spLocks noChangeArrowheads="1"/>
            </p:cNvSpPr>
            <p:nvPr/>
          </p:nvSpPr>
          <p:spPr bwMode="auto">
            <a:xfrm>
              <a:off x="3204" y="1146"/>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4</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80" name="Text Box 76"/>
            <p:cNvSpPr txBox="1">
              <a:spLocks noChangeArrowheads="1"/>
            </p:cNvSpPr>
            <p:nvPr/>
          </p:nvSpPr>
          <p:spPr bwMode="auto">
            <a:xfrm>
              <a:off x="3696" y="1440"/>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7</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81" name="Text Box 77"/>
            <p:cNvSpPr txBox="1">
              <a:spLocks noChangeArrowheads="1"/>
            </p:cNvSpPr>
            <p:nvPr/>
          </p:nvSpPr>
          <p:spPr bwMode="auto">
            <a:xfrm>
              <a:off x="4768" y="1434"/>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5</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grpSp>
      <p:sp>
        <p:nvSpPr>
          <p:cNvPr id="507982" name="Text Box 78"/>
          <p:cNvSpPr txBox="1">
            <a:spLocks noChangeArrowheads="1"/>
          </p:cNvSpPr>
          <p:nvPr/>
        </p:nvSpPr>
        <p:spPr bwMode="auto">
          <a:xfrm>
            <a:off x="4726981" y="3023642"/>
            <a:ext cx="426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spcBef>
                <a:spcPct val="50000"/>
              </a:spcBef>
            </a:pPr>
            <a:r>
              <a:rPr kumimoji="1" lang="en-US" altLang="zh-CN" sz="2400" b="1">
                <a:latin typeface="Times New Roman" panose="02020603050405020304" pitchFamily="18" charset="0"/>
                <a:cs typeface="Times New Roman" panose="02020603050405020304" pitchFamily="18" charset="0"/>
              </a:rPr>
              <a:t>WPL=</a:t>
            </a:r>
            <a:r>
              <a:rPr kumimoji="1" lang="en-US" altLang="zh-CN" sz="2400" b="1">
                <a:solidFill>
                  <a:srgbClr val="0000FF"/>
                </a:solidFill>
                <a:latin typeface="Times New Roman" panose="02020603050405020304" pitchFamily="18" charset="0"/>
                <a:cs typeface="Times New Roman" panose="02020603050405020304" pitchFamily="18" charset="0"/>
              </a:rPr>
              <a:t>7</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3+</a:t>
            </a:r>
            <a:r>
              <a:rPr kumimoji="1" lang="en-US" altLang="zh-CN" sz="2400" b="1">
                <a:solidFill>
                  <a:srgbClr val="0000FF"/>
                </a:solidFill>
                <a:latin typeface="Times New Roman" panose="02020603050405020304" pitchFamily="18" charset="0"/>
                <a:cs typeface="Times New Roman" panose="02020603050405020304" pitchFamily="18" charset="0"/>
              </a:rPr>
              <a:t>5</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3+</a:t>
            </a:r>
            <a:r>
              <a:rPr kumimoji="1" lang="en-US" altLang="zh-CN" sz="2400" b="1">
                <a:solidFill>
                  <a:srgbClr val="0000FF"/>
                </a:solidFill>
                <a:latin typeface="Times New Roman" panose="02020603050405020304" pitchFamily="18" charset="0"/>
                <a:cs typeface="Times New Roman" panose="02020603050405020304" pitchFamily="18" charset="0"/>
              </a:rPr>
              <a:t>2</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1+</a:t>
            </a:r>
            <a:r>
              <a:rPr kumimoji="1" lang="en-US" altLang="zh-CN" sz="2400" b="1">
                <a:solidFill>
                  <a:srgbClr val="0000FF"/>
                </a:solidFill>
                <a:latin typeface="Times New Roman" panose="02020603050405020304" pitchFamily="18" charset="0"/>
                <a:cs typeface="Times New Roman" panose="02020603050405020304" pitchFamily="18" charset="0"/>
              </a:rPr>
              <a:t>4</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2= </a:t>
            </a:r>
            <a:r>
              <a:rPr kumimoji="1" lang="en-US" altLang="zh-CN" sz="2400" b="1">
                <a:solidFill>
                  <a:srgbClr val="0000FF"/>
                </a:solidFill>
                <a:latin typeface="Times New Roman" panose="02020603050405020304" pitchFamily="18" charset="0"/>
                <a:cs typeface="Times New Roman" panose="02020603050405020304" pitchFamily="18" charset="0"/>
              </a:rPr>
              <a:t>46</a:t>
            </a:r>
            <a:r>
              <a:rPr kumimoji="1" lang="en-US" altLang="zh-CN" sz="2400" b="1">
                <a:latin typeface="Times New Roman" panose="02020603050405020304" pitchFamily="18" charset="0"/>
                <a:cs typeface="Times New Roman" panose="02020603050405020304" pitchFamily="18" charset="0"/>
              </a:rPr>
              <a:t> </a:t>
            </a:r>
            <a:endParaRPr kumimoji="1" lang="en-US" altLang="zh-CN" sz="2400" b="1">
              <a:latin typeface="Times New Roman" panose="02020603050405020304" pitchFamily="18" charset="0"/>
              <a:cs typeface="Times New Roman" panose="02020603050405020304" pitchFamily="18" charset="0"/>
            </a:endParaRPr>
          </a:p>
        </p:txBody>
      </p:sp>
      <p:sp>
        <p:nvSpPr>
          <p:cNvPr id="507983" name="Text Box 79"/>
          <p:cNvSpPr txBox="1">
            <a:spLocks noChangeArrowheads="1"/>
          </p:cNvSpPr>
          <p:nvPr/>
        </p:nvSpPr>
        <p:spPr bwMode="auto">
          <a:xfrm>
            <a:off x="3231556" y="3564980"/>
            <a:ext cx="1563688"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a:solidFill>
                  <a:srgbClr val="0000FF"/>
                </a:solidFill>
                <a:latin typeface="隶书" panose="02010509060101010101" pitchFamily="49" charset="-122"/>
                <a:ea typeface="隶书" panose="02010509060101010101" pitchFamily="49" charset="-122"/>
                <a:cs typeface="Times New Roman" panose="02020603050405020304" pitchFamily="18" charset="0"/>
              </a:rPr>
              <a:t>哈夫曼树 </a:t>
            </a:r>
            <a:endParaRPr kumimoji="1" lang="zh-CN" altLang="en-US" sz="2400" b="1">
              <a:solidFill>
                <a:srgbClr val="0000FF"/>
              </a:solidFill>
              <a:latin typeface="隶书" panose="02010509060101010101" pitchFamily="49" charset="-122"/>
              <a:ea typeface="隶书" panose="02010509060101010101" pitchFamily="49" charset="-122"/>
              <a:cs typeface="Times New Roman" panose="02020603050405020304" pitchFamily="18" charset="0"/>
            </a:endParaRPr>
          </a:p>
        </p:txBody>
      </p:sp>
      <p:grpSp>
        <p:nvGrpSpPr>
          <p:cNvPr id="507984" name="Group 80"/>
          <p:cNvGrpSpPr/>
          <p:nvPr/>
        </p:nvGrpSpPr>
        <p:grpSpPr bwMode="auto">
          <a:xfrm>
            <a:off x="2288581" y="3709442"/>
            <a:ext cx="3338513" cy="228600"/>
            <a:chOff x="1488" y="2160"/>
            <a:chExt cx="2103" cy="144"/>
          </a:xfrm>
        </p:grpSpPr>
        <p:sp>
          <p:nvSpPr>
            <p:cNvPr id="507985" name="AutoShape 81"/>
            <p:cNvSpPr>
              <a:spLocks noChangeArrowheads="1"/>
            </p:cNvSpPr>
            <p:nvPr/>
          </p:nvSpPr>
          <p:spPr bwMode="auto">
            <a:xfrm>
              <a:off x="2976" y="2160"/>
              <a:ext cx="615" cy="144"/>
            </a:xfrm>
            <a:prstGeom prst="notchedRightArrow">
              <a:avLst>
                <a:gd name="adj1" fmla="val 50000"/>
                <a:gd name="adj2" fmla="val 106771"/>
              </a:avLst>
            </a:prstGeom>
            <a:solidFill>
              <a:srgbClr val="FFFF00"/>
            </a:solidFill>
            <a:ln w="9525"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zh-CN" altLang="en-US">
                <a:latin typeface="Times New Roman" panose="02020603050405020304" pitchFamily="18" charset="0"/>
                <a:cs typeface="Times New Roman" panose="02020603050405020304" pitchFamily="18" charset="0"/>
              </a:endParaRPr>
            </a:p>
          </p:txBody>
        </p:sp>
        <p:sp>
          <p:nvSpPr>
            <p:cNvPr id="507986" name="AutoShape 82"/>
            <p:cNvSpPr>
              <a:spLocks noChangeArrowheads="1"/>
            </p:cNvSpPr>
            <p:nvPr/>
          </p:nvSpPr>
          <p:spPr bwMode="auto">
            <a:xfrm flipH="1">
              <a:off x="1488" y="2160"/>
              <a:ext cx="615" cy="144"/>
            </a:xfrm>
            <a:prstGeom prst="notchedRightArrow">
              <a:avLst>
                <a:gd name="adj1" fmla="val 50000"/>
                <a:gd name="adj2" fmla="val 106771"/>
              </a:avLst>
            </a:prstGeom>
            <a:solidFill>
              <a:srgbClr val="FFFF00"/>
            </a:solidFill>
            <a:ln w="9525"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zh-CN" altLang="en-US">
                <a:latin typeface="Times New Roman" panose="02020603050405020304" pitchFamily="18" charset="0"/>
                <a:cs typeface="Times New Roman" panose="02020603050405020304" pitchFamily="18" charset="0"/>
              </a:endParaRPr>
            </a:p>
          </p:txBody>
        </p:sp>
      </p:grpSp>
      <p:sp>
        <p:nvSpPr>
          <p:cNvPr id="507987" name="Text Box 83"/>
          <p:cNvSpPr txBox="1">
            <a:spLocks noChangeArrowheads="1"/>
          </p:cNvSpPr>
          <p:nvPr/>
        </p:nvSpPr>
        <p:spPr bwMode="auto">
          <a:xfrm>
            <a:off x="-13294" y="6216104"/>
            <a:ext cx="6508750"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400" b="1" dirty="0">
                <a:latin typeface="Times New Roman" panose="02020603050405020304" pitchFamily="18" charset="0"/>
                <a:ea typeface="华文新魏" panose="02010800040101010101" pitchFamily="2" charset="-122"/>
                <a:cs typeface="Times New Roman" panose="02020603050405020304" pitchFamily="18" charset="0"/>
              </a:rPr>
              <a:t>      </a:t>
            </a:r>
            <a:r>
              <a:rPr kumimoji="1" lang="zh-CN" altLang="en-US" sz="2400" b="1" dirty="0">
                <a:latin typeface="Times New Roman" panose="02020603050405020304" pitchFamily="18" charset="0"/>
                <a:ea typeface="华文新魏" panose="02010800040101010101" pitchFamily="2" charset="-122"/>
                <a:cs typeface="Times New Roman" panose="02020603050405020304" pitchFamily="18" charset="0"/>
              </a:rPr>
              <a:t>具有相同带权结点构成的哈夫曼树不惟一。 </a:t>
            </a:r>
            <a:endParaRPr kumimoji="1" lang="zh-CN" altLang="en-US" sz="2400" b="1" dirty="0">
              <a:latin typeface="Times New Roman" panose="02020603050405020304" pitchFamily="18" charset="0"/>
              <a:ea typeface="华文新魏" panose="02010800040101010101" pitchFamily="2" charset="-122"/>
              <a:cs typeface="Times New Roman" panose="02020603050405020304" pitchFamily="18" charset="0"/>
            </a:endParaRPr>
          </a:p>
        </p:txBody>
      </p:sp>
    </p:spTree>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8930" name="Text Box 2"/>
          <p:cNvSpPr txBox="1">
            <a:spLocks noChangeArrowheads="1"/>
          </p:cNvSpPr>
          <p:nvPr/>
        </p:nvSpPr>
        <p:spPr bwMode="auto">
          <a:xfrm>
            <a:off x="482600" y="1310878"/>
            <a:ext cx="1785938" cy="53022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20000"/>
              </a:lnSpc>
            </a:pPr>
            <a:r>
              <a:rPr kumimoji="1" lang="zh-CN" altLang="en-US" sz="2400" b="1" dirty="0">
                <a:solidFill>
                  <a:srgbClr val="0000FF"/>
                </a:solidFill>
                <a:latin typeface="Times New Roman" panose="02020603050405020304" pitchFamily="18" charset="0"/>
                <a:cs typeface="Times New Roman" panose="02020603050405020304" pitchFamily="18" charset="0"/>
              </a:rPr>
              <a:t>哈</a:t>
            </a: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夫曼树： </a:t>
            </a:r>
            <a:endPar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8932" name="AutoShape 4"/>
          <p:cNvSpPr>
            <a:spLocks noChangeArrowheads="1"/>
          </p:cNvSpPr>
          <p:nvPr/>
        </p:nvSpPr>
        <p:spPr bwMode="auto">
          <a:xfrm>
            <a:off x="1147763" y="1841103"/>
            <a:ext cx="6975475" cy="2740025"/>
          </a:xfrm>
          <a:prstGeom prst="horizontalScroll">
            <a:avLst>
              <a:gd name="adj" fmla="val 12500"/>
            </a:avLst>
          </a:prstGeom>
          <a:solidFill>
            <a:srgbClr val="FFFFCC"/>
          </a:solidFill>
          <a:ln w="25400" cap="sq">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lnSpc>
                <a:spcPct val="210000"/>
              </a:lnSpc>
              <a:spcBef>
                <a:spcPct val="50000"/>
              </a:spcBef>
            </a:pPr>
            <a:r>
              <a:rPr kumimoji="1" lang="en-US" altLang="zh-CN" sz="2800" b="1" dirty="0">
                <a:latin typeface="Times New Roman" panose="02020603050405020304" pitchFamily="18" charset="0"/>
                <a:ea typeface="隶书" panose="02010509060101010101" pitchFamily="49" charset="-122"/>
                <a:cs typeface="Times New Roman" panose="02020603050405020304" pitchFamily="18" charset="0"/>
              </a:rPr>
              <a:t>    </a:t>
            </a:r>
            <a:r>
              <a:rPr kumimoji="1" lang="zh-CN" altLang="en-US" sz="2800" b="1" dirty="0">
                <a:latin typeface="Times New Roman" panose="02020603050405020304" pitchFamily="18" charset="0"/>
                <a:ea typeface="隶书" panose="02010509060101010101" pitchFamily="49" charset="-122"/>
                <a:cs typeface="Times New Roman" panose="02020603050405020304" pitchFamily="18" charset="0"/>
              </a:rPr>
              <a:t>带权路径长度 </a:t>
            </a:r>
            <a:r>
              <a:rPr kumimoji="1" lang="en-US" altLang="zh-CN" sz="2800" b="1" dirty="0">
                <a:latin typeface="Times New Roman" panose="02020603050405020304" pitchFamily="18" charset="0"/>
                <a:ea typeface="隶书" panose="02010509060101010101" pitchFamily="49" charset="-122"/>
                <a:cs typeface="Times New Roman" panose="02020603050405020304" pitchFamily="18" charset="0"/>
              </a:rPr>
              <a:t>(WPL) </a:t>
            </a:r>
            <a:r>
              <a:rPr kumimoji="1" lang="zh-CN" altLang="en-US" sz="2800" b="1" dirty="0">
                <a:latin typeface="Times New Roman" panose="02020603050405020304" pitchFamily="18" charset="0"/>
                <a:ea typeface="隶书" panose="02010509060101010101" pitchFamily="49" charset="-122"/>
                <a:cs typeface="Times New Roman" panose="02020603050405020304" pitchFamily="18" charset="0"/>
              </a:rPr>
              <a:t>最短的二叉树     </a:t>
            </a:r>
            <a:endParaRPr kumimoji="1" lang="zh-CN" altLang="en-US" sz="2800" b="1" dirty="0">
              <a:latin typeface="Times New Roman" panose="02020603050405020304" pitchFamily="18" charset="0"/>
              <a:ea typeface="隶书" panose="02010509060101010101" pitchFamily="49" charset="-122"/>
              <a:cs typeface="Times New Roman" panose="02020603050405020304" pitchFamily="18" charset="0"/>
            </a:endParaRPr>
          </a:p>
          <a:p>
            <a:pPr algn="ctr">
              <a:lnSpc>
                <a:spcPct val="110000"/>
              </a:lnSpc>
              <a:spcBef>
                <a:spcPct val="50000"/>
              </a:spcBef>
            </a:pPr>
            <a:r>
              <a:rPr kumimoji="1" lang="zh-CN" altLang="en-US" sz="2800" b="1" dirty="0">
                <a:latin typeface="Times New Roman" panose="02020603050405020304" pitchFamily="18" charset="0"/>
                <a:ea typeface="隶书" panose="02010509060101010101" pitchFamily="49" charset="-122"/>
                <a:cs typeface="Times New Roman" panose="02020603050405020304" pitchFamily="18" charset="0"/>
              </a:rPr>
              <a:t>（权值大的结点离根最近）</a:t>
            </a:r>
            <a:endParaRPr kumimoji="1" lang="zh-CN" altLang="en-US" sz="2800" b="1" dirty="0">
              <a:latin typeface="Times New Roman" panose="02020603050405020304" pitchFamily="18" charset="0"/>
              <a:ea typeface="隶书" panose="02010509060101010101" pitchFamily="49" charset="-122"/>
              <a:cs typeface="Times New Roman" panose="02020603050405020304" pitchFamily="18" charset="0"/>
            </a:endParaRPr>
          </a:p>
          <a:p>
            <a:pPr algn="ctr">
              <a:lnSpc>
                <a:spcPct val="40000"/>
              </a:lnSpc>
              <a:spcBef>
                <a:spcPct val="50000"/>
              </a:spcBef>
            </a:pPr>
            <a:endParaRPr kumimoji="1" lang="en-US" altLang="zh-CN" sz="2800" b="1" dirty="0">
              <a:latin typeface="Times New Roman" panose="02020603050405020304" pitchFamily="18" charset="0"/>
              <a:ea typeface="隶书" panose="02010509060101010101" pitchFamily="49" charset="-122"/>
              <a:cs typeface="Times New Roman" panose="02020603050405020304" pitchFamily="18" charset="0"/>
            </a:endParaRPr>
          </a:p>
        </p:txBody>
      </p:sp>
      <p:sp>
        <p:nvSpPr>
          <p:cNvPr id="508933" name="AutoShape 5"/>
          <p:cNvSpPr>
            <a:spLocks noChangeArrowheads="1"/>
          </p:cNvSpPr>
          <p:nvPr/>
        </p:nvSpPr>
        <p:spPr bwMode="auto">
          <a:xfrm>
            <a:off x="4572000" y="1101328"/>
            <a:ext cx="2667000" cy="609600"/>
          </a:xfrm>
          <a:prstGeom prst="wedgeRoundRectCallout">
            <a:avLst>
              <a:gd name="adj1" fmla="val -81250"/>
              <a:gd name="adj2" fmla="val 145051"/>
              <a:gd name="adj3" fmla="val 16667"/>
            </a:avLst>
          </a:prstGeom>
          <a:extLst>
            <a:ext uri="{AF507438-7753-43E0-B8FC-AC1667EBCBE1}">
              <a14:hiddenEffects xmlns:a14="http://schemas.microsoft.com/office/drawing/2010/main">
                <a:effectLst>
                  <a:outerShdw dist="35921" dir="2700000" algn="ctr" rotWithShape="0">
                    <a:schemeClr val="bg2"/>
                  </a:outerShdw>
                </a:effectLst>
              </a14:hiddenEffects>
            </a:ext>
          </a:extLst>
        </p:spPr>
        <p:style>
          <a:lnRef idx="2">
            <a:schemeClr val="accent5"/>
          </a:lnRef>
          <a:fillRef idx="1">
            <a:schemeClr val="lt1"/>
          </a:fillRef>
          <a:effectRef idx="0">
            <a:schemeClr val="accent5"/>
          </a:effectRef>
          <a:fontRef idx="minor">
            <a:schemeClr val="dk1"/>
          </a:fontRef>
        </p:style>
        <p:txBody>
          <a:bodyPr anchor="ctr"/>
          <a:lstStyle/>
          <a:p>
            <a:pPr algn="ctr"/>
            <a:r>
              <a:rPr lang="zh-CN" altLang="en-US" sz="2400" b="1">
                <a:solidFill>
                  <a:srgbClr val="000000"/>
                </a:solidFill>
                <a:cs typeface="Times New Roman" panose="02020603050405020304" pitchFamily="18" charset="0"/>
              </a:rPr>
              <a:t>目标</a:t>
            </a:r>
            <a:endParaRPr lang="zh-CN" altLang="en-US" sz="2400" b="1">
              <a:solidFill>
                <a:srgbClr val="000000"/>
              </a:solidFill>
              <a:cs typeface="Times New Roman" panose="02020603050405020304" pitchFamily="18" charset="0"/>
            </a:endParaRPr>
          </a:p>
        </p:txBody>
      </p:sp>
      <p:sp>
        <p:nvSpPr>
          <p:cNvPr id="5" name="矩形 4"/>
          <p:cNvSpPr/>
          <p:nvPr/>
        </p:nvSpPr>
        <p:spPr>
          <a:xfrm>
            <a:off x="576110" y="836836"/>
            <a:ext cx="2861310"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哈夫曼编码</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8930" name="Text Box 2"/>
          <p:cNvSpPr txBox="1">
            <a:spLocks noChangeArrowheads="1"/>
          </p:cNvSpPr>
          <p:nvPr/>
        </p:nvSpPr>
        <p:spPr bwMode="auto">
          <a:xfrm>
            <a:off x="482600" y="1310878"/>
            <a:ext cx="1785938" cy="53022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20000"/>
              </a:lnSpc>
            </a:pPr>
            <a:r>
              <a:rPr kumimoji="1" lang="zh-CN" altLang="en-US" sz="2400" b="1" dirty="0">
                <a:solidFill>
                  <a:srgbClr val="0000FF"/>
                </a:solidFill>
                <a:latin typeface="Times New Roman" panose="02020603050405020304" pitchFamily="18" charset="0"/>
                <a:cs typeface="Times New Roman" panose="02020603050405020304" pitchFamily="18" charset="0"/>
              </a:rPr>
              <a:t>哈</a:t>
            </a: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夫曼树： </a:t>
            </a:r>
            <a:endPar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8933" name="AutoShape 5"/>
          <p:cNvSpPr>
            <a:spLocks noChangeArrowheads="1"/>
          </p:cNvSpPr>
          <p:nvPr/>
        </p:nvSpPr>
        <p:spPr bwMode="auto">
          <a:xfrm>
            <a:off x="5220335" y="981313"/>
            <a:ext cx="2667000" cy="609600"/>
          </a:xfrm>
          <a:prstGeom prst="wedgeRoundRectCallout">
            <a:avLst>
              <a:gd name="adj1" fmla="val -81250"/>
              <a:gd name="adj2" fmla="val 145051"/>
              <a:gd name="adj3" fmla="val 16667"/>
            </a:avLst>
          </a:prstGeom>
          <a:extLst>
            <a:ext uri="{AF507438-7753-43E0-B8FC-AC1667EBCBE1}">
              <a14:hiddenEffects xmlns:a14="http://schemas.microsoft.com/office/drawing/2010/main">
                <a:effectLst>
                  <a:outerShdw dist="35921" dir="2700000" algn="ctr" rotWithShape="0">
                    <a:schemeClr val="bg2"/>
                  </a:outerShdw>
                </a:effectLst>
              </a14:hiddenEffects>
            </a:ext>
          </a:extLst>
        </p:spPr>
        <p:style>
          <a:lnRef idx="2">
            <a:schemeClr val="accent5"/>
          </a:lnRef>
          <a:fillRef idx="1">
            <a:schemeClr val="lt1"/>
          </a:fillRef>
          <a:effectRef idx="0">
            <a:schemeClr val="accent5"/>
          </a:effectRef>
          <a:fontRef idx="minor">
            <a:schemeClr val="dk1"/>
          </a:fontRef>
        </p:style>
        <p:txBody>
          <a:bodyPr anchor="ctr"/>
          <a:lstStyle/>
          <a:p>
            <a:pPr algn="ctr"/>
            <a:r>
              <a:rPr lang="zh-CN" altLang="en-US" sz="2000" b="1">
                <a:solidFill>
                  <a:srgbClr val="000000"/>
                </a:solidFill>
                <a:latin typeface="宋体" panose="02010600030101010101" pitchFamily="2" charset="-122"/>
                <a:ea typeface="宋体" panose="02010600030101010101" pitchFamily="2" charset="-122"/>
                <a:cs typeface="Times New Roman" panose="02020603050405020304" pitchFamily="18" charset="0"/>
              </a:rPr>
              <a:t>哈夫曼树的构造过程</a:t>
            </a:r>
            <a:endParaRPr lang="zh-CN" altLang="en-US" sz="2000" b="1">
              <a:solidFill>
                <a:srgbClr val="000000"/>
              </a:solidFill>
              <a:latin typeface="宋体" panose="02010600030101010101" pitchFamily="2" charset="-122"/>
              <a:ea typeface="宋体" panose="02010600030101010101" pitchFamily="2" charset="-122"/>
              <a:cs typeface="Times New Roman" panose="02020603050405020304" pitchFamily="18" charset="0"/>
            </a:endParaRPr>
          </a:p>
        </p:txBody>
      </p:sp>
      <p:sp>
        <p:nvSpPr>
          <p:cNvPr id="5" name="矩形 4"/>
          <p:cNvSpPr/>
          <p:nvPr/>
        </p:nvSpPr>
        <p:spPr>
          <a:xfrm>
            <a:off x="576110" y="836836"/>
            <a:ext cx="2861310"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哈夫曼编码</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grpSp>
        <p:nvGrpSpPr>
          <p:cNvPr id="8199" name="组合 21"/>
          <p:cNvGrpSpPr/>
          <p:nvPr/>
        </p:nvGrpSpPr>
        <p:grpSpPr>
          <a:xfrm>
            <a:off x="861060" y="2039938"/>
            <a:ext cx="504825" cy="503237"/>
            <a:chOff x="1006488" y="2036167"/>
            <a:chExt cx="504800" cy="504056"/>
          </a:xfrm>
        </p:grpSpPr>
        <p:sp>
          <p:nvSpPr>
            <p:cNvPr id="8223" name="椭圆 22"/>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4" name="文本框 23"/>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200" name="组合 24"/>
          <p:cNvGrpSpPr/>
          <p:nvPr/>
        </p:nvGrpSpPr>
        <p:grpSpPr>
          <a:xfrm>
            <a:off x="1672273" y="2032000"/>
            <a:ext cx="504825" cy="504825"/>
            <a:chOff x="1006488" y="2036167"/>
            <a:chExt cx="504800" cy="504056"/>
          </a:xfrm>
        </p:grpSpPr>
        <p:sp>
          <p:nvSpPr>
            <p:cNvPr id="8221" name="椭圆 26"/>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8" name="文本框 27"/>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201" name="组合 28"/>
          <p:cNvGrpSpPr/>
          <p:nvPr/>
        </p:nvGrpSpPr>
        <p:grpSpPr>
          <a:xfrm>
            <a:off x="2451735" y="2039938"/>
            <a:ext cx="504825" cy="503237"/>
            <a:chOff x="1006488" y="2036167"/>
            <a:chExt cx="504800" cy="504056"/>
          </a:xfrm>
        </p:grpSpPr>
        <p:sp>
          <p:nvSpPr>
            <p:cNvPr id="8219"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1" name="文本框 30"/>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5</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203" name="组合 34"/>
          <p:cNvGrpSpPr/>
          <p:nvPr/>
        </p:nvGrpSpPr>
        <p:grpSpPr>
          <a:xfrm>
            <a:off x="3269933" y="2032000"/>
            <a:ext cx="504825" cy="504825"/>
            <a:chOff x="1006488" y="2036167"/>
            <a:chExt cx="504800" cy="504056"/>
          </a:xfrm>
        </p:grpSpPr>
        <p:sp>
          <p:nvSpPr>
            <p:cNvPr id="8215"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7" name="文本框 36"/>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sp>
        <p:nvSpPr>
          <p:cNvPr id="2" name="左大括号 1"/>
          <p:cNvSpPr/>
          <p:nvPr/>
        </p:nvSpPr>
        <p:spPr>
          <a:xfrm>
            <a:off x="467995" y="1845310"/>
            <a:ext cx="287655"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 name="左大括号 2"/>
          <p:cNvSpPr/>
          <p:nvPr/>
        </p:nvSpPr>
        <p:spPr>
          <a:xfrm flipH="1">
            <a:off x="3924300" y="1840865"/>
            <a:ext cx="278130"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11" name="组合 28"/>
          <p:cNvGrpSpPr/>
          <p:nvPr/>
        </p:nvGrpSpPr>
        <p:grpSpPr>
          <a:xfrm>
            <a:off x="2772410" y="4077018"/>
            <a:ext cx="504825" cy="503237"/>
            <a:chOff x="1006488" y="2036167"/>
            <a:chExt cx="504800" cy="504056"/>
          </a:xfrm>
        </p:grpSpPr>
        <p:sp>
          <p:nvSpPr>
            <p:cNvPr id="12"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 name="文本框 12"/>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6</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7" name="直接连接符 16"/>
          <p:cNvCxnSpPr>
            <a:stCxn id="12" idx="4"/>
          </p:cNvCxnSpPr>
          <p:nvPr/>
        </p:nvCxnSpPr>
        <p:spPr>
          <a:xfrm flipH="1">
            <a:off x="2628265" y="4580255"/>
            <a:ext cx="396875" cy="50546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8" name="直接连接符 17"/>
          <p:cNvCxnSpPr>
            <a:stCxn id="12" idx="4"/>
          </p:cNvCxnSpPr>
          <p:nvPr/>
        </p:nvCxnSpPr>
        <p:spPr>
          <a:xfrm>
            <a:off x="3025140" y="4580255"/>
            <a:ext cx="467360" cy="577215"/>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19" name="组合 28"/>
          <p:cNvGrpSpPr/>
          <p:nvPr/>
        </p:nvGrpSpPr>
        <p:grpSpPr>
          <a:xfrm>
            <a:off x="1656715" y="2031683"/>
            <a:ext cx="504825" cy="503237"/>
            <a:chOff x="1006488" y="2036167"/>
            <a:chExt cx="504800" cy="504056"/>
          </a:xfrm>
        </p:grpSpPr>
        <p:sp>
          <p:nvSpPr>
            <p:cNvPr id="21"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2" name="文本框 21"/>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6</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23" name="左大括号 22"/>
          <p:cNvSpPr/>
          <p:nvPr/>
        </p:nvSpPr>
        <p:spPr>
          <a:xfrm>
            <a:off x="1186815" y="1845310"/>
            <a:ext cx="287655"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9" name="直接连接符 28"/>
          <p:cNvCxnSpPr/>
          <p:nvPr/>
        </p:nvCxnSpPr>
        <p:spPr>
          <a:xfrm flipH="1">
            <a:off x="3862070" y="4554855"/>
            <a:ext cx="349885" cy="443865"/>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32" name="组合 28"/>
          <p:cNvGrpSpPr/>
          <p:nvPr/>
        </p:nvGrpSpPr>
        <p:grpSpPr>
          <a:xfrm>
            <a:off x="3609340" y="4998403"/>
            <a:ext cx="504825" cy="503237"/>
            <a:chOff x="1006488" y="2036167"/>
            <a:chExt cx="504800" cy="504056"/>
          </a:xfrm>
        </p:grpSpPr>
        <p:sp>
          <p:nvSpPr>
            <p:cNvPr id="33"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5" name="文本框 34"/>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6" name="组合 34"/>
          <p:cNvGrpSpPr/>
          <p:nvPr/>
        </p:nvGrpSpPr>
        <p:grpSpPr>
          <a:xfrm>
            <a:off x="4427538" y="4990465"/>
            <a:ext cx="504825" cy="504825"/>
            <a:chOff x="1006488" y="2036167"/>
            <a:chExt cx="504800" cy="504056"/>
          </a:xfrm>
        </p:grpSpPr>
        <p:sp>
          <p:nvSpPr>
            <p:cNvPr id="38"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9" name="文本框 38"/>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cxnSp>
        <p:nvCxnSpPr>
          <p:cNvPr id="41" name="直接连接符 40"/>
          <p:cNvCxnSpPr/>
          <p:nvPr/>
        </p:nvCxnSpPr>
        <p:spPr>
          <a:xfrm>
            <a:off x="4211955" y="4559300"/>
            <a:ext cx="467995" cy="4311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2" name="直接连接符 41"/>
          <p:cNvCxnSpPr>
            <a:stCxn id="47" idx="2"/>
          </p:cNvCxnSpPr>
          <p:nvPr/>
        </p:nvCxnSpPr>
        <p:spPr>
          <a:xfrm flipH="1">
            <a:off x="4243705" y="3576320"/>
            <a:ext cx="598805" cy="46672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3" name="直接连接符 42"/>
          <p:cNvCxnSpPr>
            <a:stCxn id="47" idx="2"/>
          </p:cNvCxnSpPr>
          <p:nvPr/>
        </p:nvCxnSpPr>
        <p:spPr>
          <a:xfrm>
            <a:off x="4842510" y="3576320"/>
            <a:ext cx="521335" cy="393700"/>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44" name="组合 34"/>
          <p:cNvGrpSpPr/>
          <p:nvPr/>
        </p:nvGrpSpPr>
        <p:grpSpPr>
          <a:xfrm>
            <a:off x="4596448" y="3075940"/>
            <a:ext cx="504825" cy="504825"/>
            <a:chOff x="1006488" y="2036167"/>
            <a:chExt cx="504800" cy="504056"/>
          </a:xfrm>
        </p:grpSpPr>
        <p:sp>
          <p:nvSpPr>
            <p:cNvPr id="45"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7" name="文本框 46"/>
            <p:cNvSpPr txBox="1"/>
            <p:nvPr/>
          </p:nvSpPr>
          <p:spPr>
            <a:xfrm>
              <a:off x="1007123" y="2077379"/>
              <a:ext cx="490831" cy="458406"/>
            </a:xfrm>
            <a:prstGeom prst="rect">
              <a:avLst/>
            </a:prstGeom>
            <a:noFill/>
          </p:spPr>
          <p:txBody>
            <a:bodyPr>
              <a:no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11</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grpSp>
        <p:nvGrpSpPr>
          <p:cNvPr id="48" name="组合 34"/>
          <p:cNvGrpSpPr/>
          <p:nvPr/>
        </p:nvGrpSpPr>
        <p:grpSpPr>
          <a:xfrm>
            <a:off x="2452053" y="2030095"/>
            <a:ext cx="504825" cy="504825"/>
            <a:chOff x="1006488" y="2036167"/>
            <a:chExt cx="504800" cy="504056"/>
          </a:xfrm>
        </p:grpSpPr>
        <p:sp>
          <p:nvSpPr>
            <p:cNvPr id="50"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1" name="文本框 50"/>
            <p:cNvSpPr txBox="1"/>
            <p:nvPr/>
          </p:nvSpPr>
          <p:spPr>
            <a:xfrm>
              <a:off x="1007123" y="2077379"/>
              <a:ext cx="490831" cy="458406"/>
            </a:xfrm>
            <a:prstGeom prst="rect">
              <a:avLst/>
            </a:prstGeom>
            <a:noFill/>
          </p:spPr>
          <p:txBody>
            <a:bodyPr>
              <a:no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11</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sp>
        <p:nvSpPr>
          <p:cNvPr id="52" name="左大括号 51"/>
          <p:cNvSpPr/>
          <p:nvPr/>
        </p:nvSpPr>
        <p:spPr>
          <a:xfrm>
            <a:off x="2185670" y="1845310"/>
            <a:ext cx="287655"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 0 L 0.1575 0.441019 " pathEditMode="relative" ptsTypes="">
                                      <p:cBhvr>
                                        <p:cTn id="6" dur="2000" fill="hold"/>
                                        <p:tgtEl>
                                          <p:spTgt spid="8199"/>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0" presetClass="path" presetSubtype="0" accel="50000" decel="50000" fill="hold" nodeType="clickEffect">
                                  <p:stCondLst>
                                    <p:cond delay="0"/>
                                  </p:stCondLst>
                                  <p:childTnLst>
                                    <p:animMotion origin="layout" path="M 0 0 L 0.195069 0.44 " pathEditMode="relative" rAng="0" ptsTypes="">
                                      <p:cBhvr>
                                        <p:cTn id="10" dur="2000" fill="hold"/>
                                        <p:tgtEl>
                                          <p:spTgt spid="8200"/>
                                        </p:tgtEl>
                                        <p:attrNameLst>
                                          <p:attrName>ppt_x</p:attrName>
                                          <p:attrName>ppt_y</p:attrName>
                                        </p:attrNameLst>
                                      </p:cBhvr>
                                      <p:rCtr x="9400" y="21500"/>
                                    </p:animMotion>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17"/>
                                        </p:tgtEl>
                                        <p:attrNameLst>
                                          <p:attrName>style.visibility</p:attrName>
                                        </p:attrNameLst>
                                      </p:cBhvr>
                                      <p:to>
                                        <p:strVal val="visible"/>
                                      </p:to>
                                    </p:set>
                                    <p:anim calcmode="lin" valueType="num">
                                      <p:cBhvr additive="base">
                                        <p:cTn id="19" dur="500" fill="hold"/>
                                        <p:tgtEl>
                                          <p:spTgt spid="17"/>
                                        </p:tgtEl>
                                        <p:attrNameLst>
                                          <p:attrName>ppt_x</p:attrName>
                                        </p:attrNameLst>
                                      </p:cBhvr>
                                      <p:tavLst>
                                        <p:tav tm="0">
                                          <p:val>
                                            <p:strVal val="#ppt_x"/>
                                          </p:val>
                                        </p:tav>
                                        <p:tav tm="100000">
                                          <p:val>
                                            <p:strVal val="#ppt_x"/>
                                          </p:val>
                                        </p:tav>
                                      </p:tavLst>
                                    </p:anim>
                                    <p:anim calcmode="lin" valueType="num">
                                      <p:cBhvr additive="base">
                                        <p:cTn id="20" dur="500" fill="hold"/>
                                        <p:tgtEl>
                                          <p:spTgt spid="17"/>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anim calcmode="lin" valueType="num">
                                      <p:cBhvr additive="base">
                                        <p:cTn id="23" dur="500" fill="hold"/>
                                        <p:tgtEl>
                                          <p:spTgt spid="18"/>
                                        </p:tgtEl>
                                        <p:attrNameLst>
                                          <p:attrName>ppt_x</p:attrName>
                                        </p:attrNameLst>
                                      </p:cBhvr>
                                      <p:tavLst>
                                        <p:tav tm="0">
                                          <p:val>
                                            <p:strVal val="#ppt_x"/>
                                          </p:val>
                                        </p:tav>
                                        <p:tav tm="100000">
                                          <p:val>
                                            <p:strVal val="#ppt_x"/>
                                          </p:val>
                                        </p:tav>
                                      </p:tavLst>
                                    </p:anim>
                                    <p:anim calcmode="lin" valueType="num">
                                      <p:cBhvr additive="base">
                                        <p:cTn id="24"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xit" presetSubtype="4" fill="hold" grpId="0" nodeType="clickEffect">
                                  <p:stCondLst>
                                    <p:cond delay="0"/>
                                  </p:stCondLst>
                                  <p:childTnLst>
                                    <p:anim calcmode="lin" valueType="num">
                                      <p:cBhvr additive="base">
                                        <p:cTn id="28" dur="500"/>
                                        <p:tgtEl>
                                          <p:spTgt spid="2"/>
                                        </p:tgtEl>
                                        <p:attrNameLst>
                                          <p:attrName>ppt_x</p:attrName>
                                        </p:attrNameLst>
                                      </p:cBhvr>
                                      <p:tavLst>
                                        <p:tav tm="0">
                                          <p:val>
                                            <p:strVal val="ppt_x"/>
                                          </p:val>
                                        </p:tav>
                                        <p:tav tm="100000">
                                          <p:val>
                                            <p:strVal val="ppt_x"/>
                                          </p:val>
                                        </p:tav>
                                      </p:tavLst>
                                    </p:anim>
                                    <p:anim calcmode="lin" valueType="num">
                                      <p:cBhvr additive="base">
                                        <p:cTn id="29" dur="500"/>
                                        <p:tgtEl>
                                          <p:spTgt spid="2"/>
                                        </p:tgtEl>
                                        <p:attrNameLst>
                                          <p:attrName>ppt_y</p:attrName>
                                        </p:attrNameLst>
                                      </p:cBhvr>
                                      <p:tavLst>
                                        <p:tav tm="0">
                                          <p:val>
                                            <p:strVal val="ppt_y"/>
                                          </p:val>
                                        </p:tav>
                                        <p:tav tm="100000">
                                          <p:val>
                                            <p:strVal val="1+ppt_h/2"/>
                                          </p:val>
                                        </p:tav>
                                      </p:tavLst>
                                    </p:anim>
                                    <p:set>
                                      <p:cBhvr>
                                        <p:cTn id="30" dur="1" fill="hold">
                                          <p:stCondLst>
                                            <p:cond delay="499"/>
                                          </p:stCondLst>
                                        </p:cTn>
                                        <p:tgtEl>
                                          <p:spTgt spid="2"/>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23"/>
                                        </p:tgtEl>
                                        <p:attrNameLst>
                                          <p:attrName>style.visibility</p:attrName>
                                        </p:attrNameLst>
                                      </p:cBhvr>
                                      <p:to>
                                        <p:strVal val="visible"/>
                                      </p:to>
                                    </p:set>
                                    <p:anim calcmode="lin" valueType="num">
                                      <p:cBhvr additive="base">
                                        <p:cTn id="35" dur="500" fill="hold"/>
                                        <p:tgtEl>
                                          <p:spTgt spid="23"/>
                                        </p:tgtEl>
                                        <p:attrNameLst>
                                          <p:attrName>ppt_x</p:attrName>
                                        </p:attrNameLst>
                                      </p:cBhvr>
                                      <p:tavLst>
                                        <p:tav tm="0">
                                          <p:val>
                                            <p:strVal val="#ppt_x"/>
                                          </p:val>
                                        </p:tav>
                                        <p:tav tm="100000">
                                          <p:val>
                                            <p:strVal val="#ppt_x"/>
                                          </p:val>
                                        </p:tav>
                                      </p:tavLst>
                                    </p:anim>
                                    <p:anim calcmode="lin" valueType="num">
                                      <p:cBhvr additive="base">
                                        <p:cTn id="36"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19"/>
                                        </p:tgtEl>
                                        <p:attrNameLst>
                                          <p:attrName>style.visibility</p:attrName>
                                        </p:attrNameLst>
                                      </p:cBhvr>
                                      <p:to>
                                        <p:strVal val="visible"/>
                                      </p:to>
                                    </p:set>
                                    <p:anim calcmode="lin" valueType="num">
                                      <p:cBhvr additive="base">
                                        <p:cTn id="41" dur="500" fill="hold"/>
                                        <p:tgtEl>
                                          <p:spTgt spid="19"/>
                                        </p:tgtEl>
                                        <p:attrNameLst>
                                          <p:attrName>ppt_x</p:attrName>
                                        </p:attrNameLst>
                                      </p:cBhvr>
                                      <p:tavLst>
                                        <p:tav tm="0">
                                          <p:val>
                                            <p:strVal val="#ppt_x"/>
                                          </p:val>
                                        </p:tav>
                                        <p:tav tm="100000">
                                          <p:val>
                                            <p:strVal val="#ppt_x"/>
                                          </p:val>
                                        </p:tav>
                                      </p:tavLst>
                                    </p:anim>
                                    <p:anim calcmode="lin" valueType="num">
                                      <p:cBhvr additive="base">
                                        <p:cTn id="42"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xit" presetSubtype="4" fill="hold" nodeType="clickEffect">
                                  <p:stCondLst>
                                    <p:cond delay="0"/>
                                  </p:stCondLst>
                                  <p:childTnLst>
                                    <p:anim calcmode="lin" valueType="num">
                                      <p:cBhvr additive="base">
                                        <p:cTn id="46" dur="500"/>
                                        <p:tgtEl>
                                          <p:spTgt spid="8199"/>
                                        </p:tgtEl>
                                        <p:attrNameLst>
                                          <p:attrName>ppt_x</p:attrName>
                                        </p:attrNameLst>
                                      </p:cBhvr>
                                      <p:tavLst>
                                        <p:tav tm="0">
                                          <p:val>
                                            <p:strVal val="ppt_x"/>
                                          </p:val>
                                        </p:tav>
                                        <p:tav tm="100000">
                                          <p:val>
                                            <p:strVal val="ppt_x"/>
                                          </p:val>
                                        </p:tav>
                                      </p:tavLst>
                                    </p:anim>
                                    <p:anim calcmode="lin" valueType="num">
                                      <p:cBhvr additive="base">
                                        <p:cTn id="47" dur="500"/>
                                        <p:tgtEl>
                                          <p:spTgt spid="8199"/>
                                        </p:tgtEl>
                                        <p:attrNameLst>
                                          <p:attrName>ppt_y</p:attrName>
                                        </p:attrNameLst>
                                      </p:cBhvr>
                                      <p:tavLst>
                                        <p:tav tm="0">
                                          <p:val>
                                            <p:strVal val="ppt_y"/>
                                          </p:val>
                                        </p:tav>
                                        <p:tav tm="100000">
                                          <p:val>
                                            <p:strVal val="1+ppt_h/2"/>
                                          </p:val>
                                        </p:tav>
                                      </p:tavLst>
                                    </p:anim>
                                    <p:set>
                                      <p:cBhvr>
                                        <p:cTn id="48" dur="1" fill="hold">
                                          <p:stCondLst>
                                            <p:cond delay="499"/>
                                          </p:stCondLst>
                                        </p:cTn>
                                        <p:tgtEl>
                                          <p:spTgt spid="8199"/>
                                        </p:tgtEl>
                                        <p:attrNameLst>
                                          <p:attrName>style.visibility</p:attrName>
                                        </p:attrNameLst>
                                      </p:cBhvr>
                                      <p:to>
                                        <p:strVal val="hidden"/>
                                      </p:to>
                                    </p:set>
                                  </p:childTnLst>
                                </p:cTn>
                              </p:par>
                              <p:par>
                                <p:cTn id="49" presetID="2" presetClass="exit" presetSubtype="4" fill="hold" nodeType="withEffect">
                                  <p:stCondLst>
                                    <p:cond delay="0"/>
                                  </p:stCondLst>
                                  <p:childTnLst>
                                    <p:anim calcmode="lin" valueType="num">
                                      <p:cBhvr additive="base">
                                        <p:cTn id="50" dur="500"/>
                                        <p:tgtEl>
                                          <p:spTgt spid="8200"/>
                                        </p:tgtEl>
                                        <p:attrNameLst>
                                          <p:attrName>ppt_x</p:attrName>
                                        </p:attrNameLst>
                                      </p:cBhvr>
                                      <p:tavLst>
                                        <p:tav tm="0">
                                          <p:val>
                                            <p:strVal val="ppt_x"/>
                                          </p:val>
                                        </p:tav>
                                        <p:tav tm="100000">
                                          <p:val>
                                            <p:strVal val="ppt_x"/>
                                          </p:val>
                                        </p:tav>
                                      </p:tavLst>
                                    </p:anim>
                                    <p:anim calcmode="lin" valueType="num">
                                      <p:cBhvr additive="base">
                                        <p:cTn id="51" dur="500"/>
                                        <p:tgtEl>
                                          <p:spTgt spid="8200"/>
                                        </p:tgtEl>
                                        <p:attrNameLst>
                                          <p:attrName>ppt_y</p:attrName>
                                        </p:attrNameLst>
                                      </p:cBhvr>
                                      <p:tavLst>
                                        <p:tav tm="0">
                                          <p:val>
                                            <p:strVal val="ppt_y"/>
                                          </p:val>
                                        </p:tav>
                                        <p:tav tm="100000">
                                          <p:val>
                                            <p:strVal val="1+ppt_h/2"/>
                                          </p:val>
                                        </p:tav>
                                      </p:tavLst>
                                    </p:anim>
                                    <p:set>
                                      <p:cBhvr>
                                        <p:cTn id="52" dur="1" fill="hold">
                                          <p:stCondLst>
                                            <p:cond delay="499"/>
                                          </p:stCondLst>
                                        </p:cTn>
                                        <p:tgtEl>
                                          <p:spTgt spid="8200"/>
                                        </p:tgtEl>
                                        <p:attrNameLst>
                                          <p:attrName>style.visibility</p:attrName>
                                        </p:attrNameLst>
                                      </p:cBhvr>
                                      <p:to>
                                        <p:strVal val="hidden"/>
                                      </p:to>
                                    </p:set>
                                  </p:childTnLst>
                                </p:cTn>
                              </p:par>
                              <p:par>
                                <p:cTn id="53" presetID="2" presetClass="exit" presetSubtype="4" fill="hold" nodeType="withEffect">
                                  <p:stCondLst>
                                    <p:cond delay="0"/>
                                  </p:stCondLst>
                                  <p:childTnLst>
                                    <p:anim calcmode="lin" valueType="num">
                                      <p:cBhvr additive="base">
                                        <p:cTn id="54" dur="500"/>
                                        <p:tgtEl>
                                          <p:spTgt spid="17"/>
                                        </p:tgtEl>
                                        <p:attrNameLst>
                                          <p:attrName>ppt_x</p:attrName>
                                        </p:attrNameLst>
                                      </p:cBhvr>
                                      <p:tavLst>
                                        <p:tav tm="0">
                                          <p:val>
                                            <p:strVal val="ppt_x"/>
                                          </p:val>
                                        </p:tav>
                                        <p:tav tm="100000">
                                          <p:val>
                                            <p:strVal val="ppt_x"/>
                                          </p:val>
                                        </p:tav>
                                      </p:tavLst>
                                    </p:anim>
                                    <p:anim calcmode="lin" valueType="num">
                                      <p:cBhvr additive="base">
                                        <p:cTn id="55" dur="500"/>
                                        <p:tgtEl>
                                          <p:spTgt spid="17"/>
                                        </p:tgtEl>
                                        <p:attrNameLst>
                                          <p:attrName>ppt_y</p:attrName>
                                        </p:attrNameLst>
                                      </p:cBhvr>
                                      <p:tavLst>
                                        <p:tav tm="0">
                                          <p:val>
                                            <p:strVal val="ppt_y"/>
                                          </p:val>
                                        </p:tav>
                                        <p:tav tm="100000">
                                          <p:val>
                                            <p:strVal val="1+ppt_h/2"/>
                                          </p:val>
                                        </p:tav>
                                      </p:tavLst>
                                    </p:anim>
                                    <p:set>
                                      <p:cBhvr>
                                        <p:cTn id="56" dur="1" fill="hold">
                                          <p:stCondLst>
                                            <p:cond delay="499"/>
                                          </p:stCondLst>
                                        </p:cTn>
                                        <p:tgtEl>
                                          <p:spTgt spid="17"/>
                                        </p:tgtEl>
                                        <p:attrNameLst>
                                          <p:attrName>style.visibility</p:attrName>
                                        </p:attrNameLst>
                                      </p:cBhvr>
                                      <p:to>
                                        <p:strVal val="hidden"/>
                                      </p:to>
                                    </p:set>
                                  </p:childTnLst>
                                </p:cTn>
                              </p:par>
                              <p:par>
                                <p:cTn id="57" presetID="2" presetClass="exit" presetSubtype="4" fill="hold" nodeType="withEffect">
                                  <p:stCondLst>
                                    <p:cond delay="0"/>
                                  </p:stCondLst>
                                  <p:childTnLst>
                                    <p:anim calcmode="lin" valueType="num">
                                      <p:cBhvr additive="base">
                                        <p:cTn id="58" dur="500"/>
                                        <p:tgtEl>
                                          <p:spTgt spid="18"/>
                                        </p:tgtEl>
                                        <p:attrNameLst>
                                          <p:attrName>ppt_x</p:attrName>
                                        </p:attrNameLst>
                                      </p:cBhvr>
                                      <p:tavLst>
                                        <p:tav tm="0">
                                          <p:val>
                                            <p:strVal val="ppt_x"/>
                                          </p:val>
                                        </p:tav>
                                        <p:tav tm="100000">
                                          <p:val>
                                            <p:strVal val="ppt_x"/>
                                          </p:val>
                                        </p:tav>
                                      </p:tavLst>
                                    </p:anim>
                                    <p:anim calcmode="lin" valueType="num">
                                      <p:cBhvr additive="base">
                                        <p:cTn id="59" dur="500"/>
                                        <p:tgtEl>
                                          <p:spTgt spid="18"/>
                                        </p:tgtEl>
                                        <p:attrNameLst>
                                          <p:attrName>ppt_y</p:attrName>
                                        </p:attrNameLst>
                                      </p:cBhvr>
                                      <p:tavLst>
                                        <p:tav tm="0">
                                          <p:val>
                                            <p:strVal val="ppt_y"/>
                                          </p:val>
                                        </p:tav>
                                        <p:tav tm="100000">
                                          <p:val>
                                            <p:strVal val="1+ppt_h/2"/>
                                          </p:val>
                                        </p:tav>
                                      </p:tavLst>
                                    </p:anim>
                                    <p:set>
                                      <p:cBhvr>
                                        <p:cTn id="60" dur="1" fill="hold">
                                          <p:stCondLst>
                                            <p:cond delay="499"/>
                                          </p:stCondLst>
                                        </p:cTn>
                                        <p:tgtEl>
                                          <p:spTgt spid="18"/>
                                        </p:tgtEl>
                                        <p:attrNameLst>
                                          <p:attrName>style.visibility</p:attrName>
                                        </p:attrNameLst>
                                      </p:cBhvr>
                                      <p:to>
                                        <p:strVal val="hidden"/>
                                      </p:to>
                                    </p:set>
                                  </p:childTnLst>
                                </p:cTn>
                              </p:par>
                              <p:par>
                                <p:cTn id="61" presetID="2" presetClass="exit" presetSubtype="4" fill="hold" nodeType="withEffect">
                                  <p:stCondLst>
                                    <p:cond delay="0"/>
                                  </p:stCondLst>
                                  <p:childTnLst>
                                    <p:anim calcmode="lin" valueType="num">
                                      <p:cBhvr additive="base">
                                        <p:cTn id="62" dur="500"/>
                                        <p:tgtEl>
                                          <p:spTgt spid="11"/>
                                        </p:tgtEl>
                                        <p:attrNameLst>
                                          <p:attrName>ppt_x</p:attrName>
                                        </p:attrNameLst>
                                      </p:cBhvr>
                                      <p:tavLst>
                                        <p:tav tm="0">
                                          <p:val>
                                            <p:strVal val="ppt_x"/>
                                          </p:val>
                                        </p:tav>
                                        <p:tav tm="100000">
                                          <p:val>
                                            <p:strVal val="ppt_x"/>
                                          </p:val>
                                        </p:tav>
                                      </p:tavLst>
                                    </p:anim>
                                    <p:anim calcmode="lin" valueType="num">
                                      <p:cBhvr additive="base">
                                        <p:cTn id="63" dur="500"/>
                                        <p:tgtEl>
                                          <p:spTgt spid="11"/>
                                        </p:tgtEl>
                                        <p:attrNameLst>
                                          <p:attrName>ppt_y</p:attrName>
                                        </p:attrNameLst>
                                      </p:cBhvr>
                                      <p:tavLst>
                                        <p:tav tm="0">
                                          <p:val>
                                            <p:strVal val="ppt_y"/>
                                          </p:val>
                                        </p:tav>
                                        <p:tav tm="100000">
                                          <p:val>
                                            <p:strVal val="1+ppt_h/2"/>
                                          </p:val>
                                        </p:tav>
                                      </p:tavLst>
                                    </p:anim>
                                    <p:set>
                                      <p:cBhvr>
                                        <p:cTn id="64" dur="1" fill="hold">
                                          <p:stCondLst>
                                            <p:cond delay="499"/>
                                          </p:stCondLst>
                                        </p:cTn>
                                        <p:tgtEl>
                                          <p:spTgt spid="11"/>
                                        </p:tgtEl>
                                        <p:attrNameLst>
                                          <p:attrName>style.visibility</p:attrName>
                                        </p:attrNameLst>
                                      </p:cBhvr>
                                      <p:to>
                                        <p:strVal val="hidden"/>
                                      </p:to>
                                    </p:set>
                                  </p:childTnLst>
                                </p:cTn>
                              </p:par>
                            </p:childTnLst>
                          </p:cTn>
                        </p:par>
                      </p:childTnLst>
                    </p:cTn>
                  </p:par>
                  <p:par>
                    <p:cTn id="65" fill="hold">
                      <p:stCondLst>
                        <p:cond delay="indefinite"/>
                      </p:stCondLst>
                      <p:childTnLst>
                        <p:par>
                          <p:cTn id="66" fill="hold">
                            <p:stCondLst>
                              <p:cond delay="0"/>
                            </p:stCondLst>
                            <p:childTnLst>
                              <p:par>
                                <p:cTn id="67" presetID="0" presetClass="path" presetSubtype="0" accel="50000" decel="50000" fill="hold" nodeType="clickEffect">
                                  <p:stCondLst>
                                    <p:cond delay="0"/>
                                  </p:stCondLst>
                                  <p:childTnLst>
                                    <p:animMotion origin="layout" path="M 0.00138889 0.00564815 L 0.249514 0.293056 " pathEditMode="relative" rAng="0" ptsTypes="">
                                      <p:cBhvr>
                                        <p:cTn id="68" dur="2000" fill="hold"/>
                                        <p:tgtEl>
                                          <p:spTgt spid="19"/>
                                        </p:tgtEl>
                                        <p:attrNameLst>
                                          <p:attrName>ppt_x</p:attrName>
                                          <p:attrName>ppt_y</p:attrName>
                                        </p:attrNameLst>
                                      </p:cBhvr>
                                      <p:rCtr x="12500" y="14500"/>
                                    </p:animMotion>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nodeType="clickEffect">
                                  <p:stCondLst>
                                    <p:cond delay="0"/>
                                  </p:stCondLst>
                                  <p:childTnLst>
                                    <p:set>
                                      <p:cBhvr>
                                        <p:cTn id="72" dur="1" fill="hold">
                                          <p:stCondLst>
                                            <p:cond delay="0"/>
                                          </p:stCondLst>
                                        </p:cTn>
                                        <p:tgtEl>
                                          <p:spTgt spid="29"/>
                                        </p:tgtEl>
                                        <p:attrNameLst>
                                          <p:attrName>style.visibility</p:attrName>
                                        </p:attrNameLst>
                                      </p:cBhvr>
                                      <p:to>
                                        <p:strVal val="visible"/>
                                      </p:to>
                                    </p:set>
                                    <p:anim calcmode="lin" valueType="num">
                                      <p:cBhvr additive="base">
                                        <p:cTn id="73" dur="500" fill="hold"/>
                                        <p:tgtEl>
                                          <p:spTgt spid="29"/>
                                        </p:tgtEl>
                                        <p:attrNameLst>
                                          <p:attrName>ppt_x</p:attrName>
                                        </p:attrNameLst>
                                      </p:cBhvr>
                                      <p:tavLst>
                                        <p:tav tm="0">
                                          <p:val>
                                            <p:strVal val="#ppt_x"/>
                                          </p:val>
                                        </p:tav>
                                        <p:tav tm="100000">
                                          <p:val>
                                            <p:strVal val="#ppt_x"/>
                                          </p:val>
                                        </p:tav>
                                      </p:tavLst>
                                    </p:anim>
                                    <p:anim calcmode="lin" valueType="num">
                                      <p:cBhvr additive="base">
                                        <p:cTn id="74" dur="500" fill="hold"/>
                                        <p:tgtEl>
                                          <p:spTgt spid="29"/>
                                        </p:tgtEl>
                                        <p:attrNameLst>
                                          <p:attrName>ppt_y</p:attrName>
                                        </p:attrNameLst>
                                      </p:cBhvr>
                                      <p:tavLst>
                                        <p:tav tm="0">
                                          <p:val>
                                            <p:strVal val="1+#ppt_h/2"/>
                                          </p:val>
                                        </p:tav>
                                        <p:tav tm="100000">
                                          <p:val>
                                            <p:strVal val="#ppt_y"/>
                                          </p:val>
                                        </p:tav>
                                      </p:tavLst>
                                    </p:anim>
                                  </p:childTnLst>
                                </p:cTn>
                              </p:par>
                              <p:par>
                                <p:cTn id="75" presetID="2" presetClass="entr" presetSubtype="4" fill="hold" nodeType="withEffect">
                                  <p:stCondLst>
                                    <p:cond delay="0"/>
                                  </p:stCondLst>
                                  <p:childTnLst>
                                    <p:set>
                                      <p:cBhvr>
                                        <p:cTn id="76" dur="1" fill="hold">
                                          <p:stCondLst>
                                            <p:cond delay="0"/>
                                          </p:stCondLst>
                                        </p:cTn>
                                        <p:tgtEl>
                                          <p:spTgt spid="32"/>
                                        </p:tgtEl>
                                        <p:attrNameLst>
                                          <p:attrName>style.visibility</p:attrName>
                                        </p:attrNameLst>
                                      </p:cBhvr>
                                      <p:to>
                                        <p:strVal val="visible"/>
                                      </p:to>
                                    </p:set>
                                    <p:anim calcmode="lin" valueType="num">
                                      <p:cBhvr additive="base">
                                        <p:cTn id="77" dur="500" fill="hold"/>
                                        <p:tgtEl>
                                          <p:spTgt spid="32"/>
                                        </p:tgtEl>
                                        <p:attrNameLst>
                                          <p:attrName>ppt_x</p:attrName>
                                        </p:attrNameLst>
                                      </p:cBhvr>
                                      <p:tavLst>
                                        <p:tav tm="0">
                                          <p:val>
                                            <p:strVal val="#ppt_x"/>
                                          </p:val>
                                        </p:tav>
                                        <p:tav tm="100000">
                                          <p:val>
                                            <p:strVal val="#ppt_x"/>
                                          </p:val>
                                        </p:tav>
                                      </p:tavLst>
                                    </p:anim>
                                    <p:anim calcmode="lin" valueType="num">
                                      <p:cBhvr additive="base">
                                        <p:cTn id="78" dur="500" fill="hold"/>
                                        <p:tgtEl>
                                          <p:spTgt spid="32"/>
                                        </p:tgtEl>
                                        <p:attrNameLst>
                                          <p:attrName>ppt_y</p:attrName>
                                        </p:attrNameLst>
                                      </p:cBhvr>
                                      <p:tavLst>
                                        <p:tav tm="0">
                                          <p:val>
                                            <p:strVal val="1+#ppt_h/2"/>
                                          </p:val>
                                        </p:tav>
                                        <p:tav tm="100000">
                                          <p:val>
                                            <p:strVal val="#ppt_y"/>
                                          </p:val>
                                        </p:tav>
                                      </p:tavLst>
                                    </p:anim>
                                  </p:childTnLst>
                                </p:cTn>
                              </p:par>
                              <p:par>
                                <p:cTn id="79" presetID="2" presetClass="entr" presetSubtype="4" fill="hold" nodeType="withEffect">
                                  <p:stCondLst>
                                    <p:cond delay="0"/>
                                  </p:stCondLst>
                                  <p:childTnLst>
                                    <p:set>
                                      <p:cBhvr>
                                        <p:cTn id="80" dur="1" fill="hold">
                                          <p:stCondLst>
                                            <p:cond delay="0"/>
                                          </p:stCondLst>
                                        </p:cTn>
                                        <p:tgtEl>
                                          <p:spTgt spid="36"/>
                                        </p:tgtEl>
                                        <p:attrNameLst>
                                          <p:attrName>style.visibility</p:attrName>
                                        </p:attrNameLst>
                                      </p:cBhvr>
                                      <p:to>
                                        <p:strVal val="visible"/>
                                      </p:to>
                                    </p:set>
                                    <p:anim calcmode="lin" valueType="num">
                                      <p:cBhvr additive="base">
                                        <p:cTn id="81" dur="500" fill="hold"/>
                                        <p:tgtEl>
                                          <p:spTgt spid="36"/>
                                        </p:tgtEl>
                                        <p:attrNameLst>
                                          <p:attrName>ppt_x</p:attrName>
                                        </p:attrNameLst>
                                      </p:cBhvr>
                                      <p:tavLst>
                                        <p:tav tm="0">
                                          <p:val>
                                            <p:strVal val="#ppt_x"/>
                                          </p:val>
                                        </p:tav>
                                        <p:tav tm="100000">
                                          <p:val>
                                            <p:strVal val="#ppt_x"/>
                                          </p:val>
                                        </p:tav>
                                      </p:tavLst>
                                    </p:anim>
                                    <p:anim calcmode="lin" valueType="num">
                                      <p:cBhvr additive="base">
                                        <p:cTn id="82" dur="500" fill="hold"/>
                                        <p:tgtEl>
                                          <p:spTgt spid="36"/>
                                        </p:tgtEl>
                                        <p:attrNameLst>
                                          <p:attrName>ppt_y</p:attrName>
                                        </p:attrNameLst>
                                      </p:cBhvr>
                                      <p:tavLst>
                                        <p:tav tm="0">
                                          <p:val>
                                            <p:strVal val="1+#ppt_h/2"/>
                                          </p:val>
                                        </p:tav>
                                        <p:tav tm="100000">
                                          <p:val>
                                            <p:strVal val="#ppt_y"/>
                                          </p:val>
                                        </p:tav>
                                      </p:tavLst>
                                    </p:anim>
                                  </p:childTnLst>
                                </p:cTn>
                              </p:par>
                              <p:par>
                                <p:cTn id="83" presetID="2" presetClass="entr" presetSubtype="4" fill="hold" nodeType="withEffect">
                                  <p:stCondLst>
                                    <p:cond delay="0"/>
                                  </p:stCondLst>
                                  <p:childTnLst>
                                    <p:set>
                                      <p:cBhvr>
                                        <p:cTn id="84" dur="1" fill="hold">
                                          <p:stCondLst>
                                            <p:cond delay="0"/>
                                          </p:stCondLst>
                                        </p:cTn>
                                        <p:tgtEl>
                                          <p:spTgt spid="41"/>
                                        </p:tgtEl>
                                        <p:attrNameLst>
                                          <p:attrName>style.visibility</p:attrName>
                                        </p:attrNameLst>
                                      </p:cBhvr>
                                      <p:to>
                                        <p:strVal val="visible"/>
                                      </p:to>
                                    </p:set>
                                    <p:anim calcmode="lin" valueType="num">
                                      <p:cBhvr additive="base">
                                        <p:cTn id="85" dur="500" fill="hold"/>
                                        <p:tgtEl>
                                          <p:spTgt spid="41"/>
                                        </p:tgtEl>
                                        <p:attrNameLst>
                                          <p:attrName>ppt_x</p:attrName>
                                        </p:attrNameLst>
                                      </p:cBhvr>
                                      <p:tavLst>
                                        <p:tav tm="0">
                                          <p:val>
                                            <p:strVal val="#ppt_x"/>
                                          </p:val>
                                        </p:tav>
                                        <p:tav tm="100000">
                                          <p:val>
                                            <p:strVal val="#ppt_x"/>
                                          </p:val>
                                        </p:tav>
                                      </p:tavLst>
                                    </p:anim>
                                    <p:anim calcmode="lin" valueType="num">
                                      <p:cBhvr additive="base">
                                        <p:cTn id="86" dur="500" fill="hold"/>
                                        <p:tgtEl>
                                          <p:spTgt spid="41"/>
                                        </p:tgtEl>
                                        <p:attrNameLst>
                                          <p:attrName>ppt_y</p:attrName>
                                        </p:attrNameLst>
                                      </p:cBhvr>
                                      <p:tavLst>
                                        <p:tav tm="0">
                                          <p:val>
                                            <p:strVal val="1+#ppt_h/2"/>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0" presetClass="path" presetSubtype="0" accel="50000" decel="50000" fill="hold" nodeType="clickEffect">
                                  <p:stCondLst>
                                    <p:cond delay="0"/>
                                  </p:stCondLst>
                                  <p:childTnLst>
                                    <p:animMotion origin="layout" path="M 0 0 L 0.298889 0.281389 " pathEditMode="relative" rAng="0" ptsTypes="">
                                      <p:cBhvr>
                                        <p:cTn id="90" dur="2000" fill="hold"/>
                                        <p:tgtEl>
                                          <p:spTgt spid="8201"/>
                                        </p:tgtEl>
                                        <p:attrNameLst>
                                          <p:attrName>ppt_x</p:attrName>
                                          <p:attrName>ppt_y</p:attrName>
                                        </p:attrNameLst>
                                      </p:cBhvr>
                                      <p:rCtr x="15000" y="13600"/>
                                    </p:animMotion>
                                  </p:childTnLst>
                                </p:cTn>
                              </p:par>
                            </p:childTnLst>
                          </p:cTn>
                        </p:par>
                      </p:childTnLst>
                    </p:cTn>
                  </p:par>
                  <p:par>
                    <p:cTn id="91" fill="hold">
                      <p:stCondLst>
                        <p:cond delay="indefinite"/>
                      </p:stCondLst>
                      <p:childTnLst>
                        <p:par>
                          <p:cTn id="92" fill="hold">
                            <p:stCondLst>
                              <p:cond delay="0"/>
                            </p:stCondLst>
                            <p:childTnLst>
                              <p:par>
                                <p:cTn id="93" presetID="2" presetClass="entr" presetSubtype="4" fill="hold" nodeType="clickEffect">
                                  <p:stCondLst>
                                    <p:cond delay="0"/>
                                  </p:stCondLst>
                                  <p:childTnLst>
                                    <p:set>
                                      <p:cBhvr>
                                        <p:cTn id="94" dur="1" fill="hold">
                                          <p:stCondLst>
                                            <p:cond delay="0"/>
                                          </p:stCondLst>
                                        </p:cTn>
                                        <p:tgtEl>
                                          <p:spTgt spid="42"/>
                                        </p:tgtEl>
                                        <p:attrNameLst>
                                          <p:attrName>style.visibility</p:attrName>
                                        </p:attrNameLst>
                                      </p:cBhvr>
                                      <p:to>
                                        <p:strVal val="visible"/>
                                      </p:to>
                                    </p:set>
                                    <p:anim calcmode="lin" valueType="num">
                                      <p:cBhvr additive="base">
                                        <p:cTn id="95" dur="500" fill="hold"/>
                                        <p:tgtEl>
                                          <p:spTgt spid="42"/>
                                        </p:tgtEl>
                                        <p:attrNameLst>
                                          <p:attrName>ppt_x</p:attrName>
                                        </p:attrNameLst>
                                      </p:cBhvr>
                                      <p:tavLst>
                                        <p:tav tm="0">
                                          <p:val>
                                            <p:strVal val="#ppt_x"/>
                                          </p:val>
                                        </p:tav>
                                        <p:tav tm="100000">
                                          <p:val>
                                            <p:strVal val="#ppt_x"/>
                                          </p:val>
                                        </p:tav>
                                      </p:tavLst>
                                    </p:anim>
                                    <p:anim calcmode="lin" valueType="num">
                                      <p:cBhvr additive="base">
                                        <p:cTn id="96" dur="500" fill="hold"/>
                                        <p:tgtEl>
                                          <p:spTgt spid="42"/>
                                        </p:tgtEl>
                                        <p:attrNameLst>
                                          <p:attrName>ppt_y</p:attrName>
                                        </p:attrNameLst>
                                      </p:cBhvr>
                                      <p:tavLst>
                                        <p:tav tm="0">
                                          <p:val>
                                            <p:strVal val="1+#ppt_h/2"/>
                                          </p:val>
                                        </p:tav>
                                        <p:tav tm="100000">
                                          <p:val>
                                            <p:strVal val="#ppt_y"/>
                                          </p:val>
                                        </p:tav>
                                      </p:tavLst>
                                    </p:anim>
                                  </p:childTnLst>
                                </p:cTn>
                              </p:par>
                              <p:par>
                                <p:cTn id="97" presetID="2" presetClass="entr" presetSubtype="4" fill="hold" nodeType="withEffect">
                                  <p:stCondLst>
                                    <p:cond delay="0"/>
                                  </p:stCondLst>
                                  <p:childTnLst>
                                    <p:set>
                                      <p:cBhvr>
                                        <p:cTn id="98" dur="1" fill="hold">
                                          <p:stCondLst>
                                            <p:cond delay="0"/>
                                          </p:stCondLst>
                                        </p:cTn>
                                        <p:tgtEl>
                                          <p:spTgt spid="43"/>
                                        </p:tgtEl>
                                        <p:attrNameLst>
                                          <p:attrName>style.visibility</p:attrName>
                                        </p:attrNameLst>
                                      </p:cBhvr>
                                      <p:to>
                                        <p:strVal val="visible"/>
                                      </p:to>
                                    </p:set>
                                    <p:anim calcmode="lin" valueType="num">
                                      <p:cBhvr additive="base">
                                        <p:cTn id="99" dur="500" fill="hold"/>
                                        <p:tgtEl>
                                          <p:spTgt spid="43"/>
                                        </p:tgtEl>
                                        <p:attrNameLst>
                                          <p:attrName>ppt_x</p:attrName>
                                        </p:attrNameLst>
                                      </p:cBhvr>
                                      <p:tavLst>
                                        <p:tav tm="0">
                                          <p:val>
                                            <p:strVal val="#ppt_x"/>
                                          </p:val>
                                        </p:tav>
                                        <p:tav tm="100000">
                                          <p:val>
                                            <p:strVal val="#ppt_x"/>
                                          </p:val>
                                        </p:tav>
                                      </p:tavLst>
                                    </p:anim>
                                    <p:anim calcmode="lin" valueType="num">
                                      <p:cBhvr additive="base">
                                        <p:cTn id="100" dur="500" fill="hold"/>
                                        <p:tgtEl>
                                          <p:spTgt spid="43"/>
                                        </p:tgtEl>
                                        <p:attrNameLst>
                                          <p:attrName>ppt_y</p:attrName>
                                        </p:attrNameLst>
                                      </p:cBhvr>
                                      <p:tavLst>
                                        <p:tav tm="0">
                                          <p:val>
                                            <p:strVal val="1+#ppt_h/2"/>
                                          </p:val>
                                        </p:tav>
                                        <p:tav tm="100000">
                                          <p:val>
                                            <p:strVal val="#ppt_y"/>
                                          </p:val>
                                        </p:tav>
                                      </p:tavLst>
                                    </p:anim>
                                  </p:childTnLst>
                                </p:cTn>
                              </p:par>
                              <p:par>
                                <p:cTn id="101" presetID="2" presetClass="entr" presetSubtype="4" fill="hold" nodeType="withEffect">
                                  <p:stCondLst>
                                    <p:cond delay="0"/>
                                  </p:stCondLst>
                                  <p:childTnLst>
                                    <p:set>
                                      <p:cBhvr>
                                        <p:cTn id="102" dur="1" fill="hold">
                                          <p:stCondLst>
                                            <p:cond delay="0"/>
                                          </p:stCondLst>
                                        </p:cTn>
                                        <p:tgtEl>
                                          <p:spTgt spid="44"/>
                                        </p:tgtEl>
                                        <p:attrNameLst>
                                          <p:attrName>style.visibility</p:attrName>
                                        </p:attrNameLst>
                                      </p:cBhvr>
                                      <p:to>
                                        <p:strVal val="visible"/>
                                      </p:to>
                                    </p:set>
                                    <p:anim calcmode="lin" valueType="num">
                                      <p:cBhvr additive="base">
                                        <p:cTn id="103" dur="500" fill="hold"/>
                                        <p:tgtEl>
                                          <p:spTgt spid="44"/>
                                        </p:tgtEl>
                                        <p:attrNameLst>
                                          <p:attrName>ppt_x</p:attrName>
                                        </p:attrNameLst>
                                      </p:cBhvr>
                                      <p:tavLst>
                                        <p:tav tm="0">
                                          <p:val>
                                            <p:strVal val="#ppt_x"/>
                                          </p:val>
                                        </p:tav>
                                        <p:tav tm="100000">
                                          <p:val>
                                            <p:strVal val="#ppt_x"/>
                                          </p:val>
                                        </p:tav>
                                      </p:tavLst>
                                    </p:anim>
                                    <p:anim calcmode="lin" valueType="num">
                                      <p:cBhvr additive="base">
                                        <p:cTn id="104" dur="500" fill="hold"/>
                                        <p:tgtEl>
                                          <p:spTgt spid="44"/>
                                        </p:tgtEl>
                                        <p:attrNameLst>
                                          <p:attrName>ppt_y</p:attrName>
                                        </p:attrNameLst>
                                      </p:cBhvr>
                                      <p:tavLst>
                                        <p:tav tm="0">
                                          <p:val>
                                            <p:strVal val="1+#ppt_h/2"/>
                                          </p:val>
                                        </p:tav>
                                        <p:tav tm="100000">
                                          <p:val>
                                            <p:strVal val="#ppt_y"/>
                                          </p:val>
                                        </p:tav>
                                      </p:tavLst>
                                    </p:anim>
                                  </p:childTnLst>
                                </p:cTn>
                              </p:par>
                            </p:childTnLst>
                          </p:cTn>
                        </p:par>
                      </p:childTnLst>
                    </p:cTn>
                  </p:par>
                  <p:par>
                    <p:cTn id="105" fill="hold">
                      <p:stCondLst>
                        <p:cond delay="indefinite"/>
                      </p:stCondLst>
                      <p:childTnLst>
                        <p:par>
                          <p:cTn id="106" fill="hold">
                            <p:stCondLst>
                              <p:cond delay="0"/>
                            </p:stCondLst>
                            <p:childTnLst>
                              <p:par>
                                <p:cTn id="107" presetID="2" presetClass="exit" presetSubtype="4" fill="hold" grpId="2" nodeType="clickEffect">
                                  <p:stCondLst>
                                    <p:cond delay="0"/>
                                  </p:stCondLst>
                                  <p:childTnLst>
                                    <p:anim calcmode="lin" valueType="num">
                                      <p:cBhvr additive="base">
                                        <p:cTn id="108" dur="500"/>
                                        <p:tgtEl>
                                          <p:spTgt spid="23"/>
                                        </p:tgtEl>
                                        <p:attrNameLst>
                                          <p:attrName>ppt_x</p:attrName>
                                        </p:attrNameLst>
                                      </p:cBhvr>
                                      <p:tavLst>
                                        <p:tav tm="0">
                                          <p:val>
                                            <p:strVal val="ppt_x"/>
                                          </p:val>
                                        </p:tav>
                                        <p:tav tm="100000">
                                          <p:val>
                                            <p:strVal val="ppt_x"/>
                                          </p:val>
                                        </p:tav>
                                      </p:tavLst>
                                    </p:anim>
                                    <p:anim calcmode="lin" valueType="num">
                                      <p:cBhvr additive="base">
                                        <p:cTn id="109" dur="500"/>
                                        <p:tgtEl>
                                          <p:spTgt spid="23"/>
                                        </p:tgtEl>
                                        <p:attrNameLst>
                                          <p:attrName>ppt_y</p:attrName>
                                        </p:attrNameLst>
                                      </p:cBhvr>
                                      <p:tavLst>
                                        <p:tav tm="0">
                                          <p:val>
                                            <p:strVal val="ppt_y"/>
                                          </p:val>
                                        </p:tav>
                                        <p:tav tm="100000">
                                          <p:val>
                                            <p:strVal val="1+ppt_h/2"/>
                                          </p:val>
                                        </p:tav>
                                      </p:tavLst>
                                    </p:anim>
                                    <p:set>
                                      <p:cBhvr>
                                        <p:cTn id="110" dur="1" fill="hold">
                                          <p:stCondLst>
                                            <p:cond delay="499"/>
                                          </p:stCondLst>
                                        </p:cTn>
                                        <p:tgtEl>
                                          <p:spTgt spid="23"/>
                                        </p:tgtEl>
                                        <p:attrNameLst>
                                          <p:attrName>style.visibility</p:attrName>
                                        </p:attrNameLst>
                                      </p:cBhvr>
                                      <p:to>
                                        <p:strVal val="hidden"/>
                                      </p:to>
                                    </p:set>
                                  </p:childTnLst>
                                </p:cTn>
                              </p:par>
                            </p:childTnLst>
                          </p:cTn>
                        </p:par>
                      </p:childTnLst>
                    </p:cTn>
                  </p:par>
                  <p:par>
                    <p:cTn id="111" fill="hold">
                      <p:stCondLst>
                        <p:cond delay="indefinite"/>
                      </p:stCondLst>
                      <p:childTnLst>
                        <p:par>
                          <p:cTn id="112" fill="hold">
                            <p:stCondLst>
                              <p:cond delay="0"/>
                            </p:stCondLst>
                            <p:childTnLst>
                              <p:par>
                                <p:cTn id="113" presetID="2" presetClass="entr" presetSubtype="4" fill="hold" grpId="0" nodeType="clickEffect">
                                  <p:stCondLst>
                                    <p:cond delay="0"/>
                                  </p:stCondLst>
                                  <p:childTnLst>
                                    <p:set>
                                      <p:cBhvr>
                                        <p:cTn id="114" dur="1" fill="hold">
                                          <p:stCondLst>
                                            <p:cond delay="0"/>
                                          </p:stCondLst>
                                        </p:cTn>
                                        <p:tgtEl>
                                          <p:spTgt spid="52"/>
                                        </p:tgtEl>
                                        <p:attrNameLst>
                                          <p:attrName>style.visibility</p:attrName>
                                        </p:attrNameLst>
                                      </p:cBhvr>
                                      <p:to>
                                        <p:strVal val="visible"/>
                                      </p:to>
                                    </p:set>
                                    <p:anim calcmode="lin" valueType="num">
                                      <p:cBhvr additive="base">
                                        <p:cTn id="115" dur="500" fill="hold"/>
                                        <p:tgtEl>
                                          <p:spTgt spid="52"/>
                                        </p:tgtEl>
                                        <p:attrNameLst>
                                          <p:attrName>ppt_x</p:attrName>
                                        </p:attrNameLst>
                                      </p:cBhvr>
                                      <p:tavLst>
                                        <p:tav tm="0">
                                          <p:val>
                                            <p:strVal val="#ppt_x"/>
                                          </p:val>
                                        </p:tav>
                                        <p:tav tm="100000">
                                          <p:val>
                                            <p:strVal val="#ppt_x"/>
                                          </p:val>
                                        </p:tav>
                                      </p:tavLst>
                                    </p:anim>
                                    <p:anim calcmode="lin" valueType="num">
                                      <p:cBhvr additive="base">
                                        <p:cTn id="116" dur="500" fill="hold"/>
                                        <p:tgtEl>
                                          <p:spTgt spid="52"/>
                                        </p:tgtEl>
                                        <p:attrNameLst>
                                          <p:attrName>ppt_y</p:attrName>
                                        </p:attrNameLst>
                                      </p:cBhvr>
                                      <p:tavLst>
                                        <p:tav tm="0">
                                          <p:val>
                                            <p:strVal val="1+#ppt_h/2"/>
                                          </p:val>
                                        </p:tav>
                                        <p:tav tm="100000">
                                          <p:val>
                                            <p:strVal val="#ppt_y"/>
                                          </p:val>
                                        </p:tav>
                                      </p:tavLst>
                                    </p:anim>
                                  </p:childTnLst>
                                </p:cTn>
                              </p:par>
                            </p:childTnLst>
                          </p:cTn>
                        </p:par>
                      </p:childTnLst>
                    </p:cTn>
                  </p:par>
                  <p:par>
                    <p:cTn id="117" fill="hold">
                      <p:stCondLst>
                        <p:cond delay="indefinite"/>
                      </p:stCondLst>
                      <p:childTnLst>
                        <p:par>
                          <p:cTn id="118" fill="hold">
                            <p:stCondLst>
                              <p:cond delay="0"/>
                            </p:stCondLst>
                            <p:childTnLst>
                              <p:par>
                                <p:cTn id="119" presetID="2" presetClass="entr" presetSubtype="4" fill="hold" nodeType="clickEffect">
                                  <p:stCondLst>
                                    <p:cond delay="0"/>
                                  </p:stCondLst>
                                  <p:childTnLst>
                                    <p:set>
                                      <p:cBhvr>
                                        <p:cTn id="120" dur="1" fill="hold">
                                          <p:stCondLst>
                                            <p:cond delay="0"/>
                                          </p:stCondLst>
                                        </p:cTn>
                                        <p:tgtEl>
                                          <p:spTgt spid="48"/>
                                        </p:tgtEl>
                                        <p:attrNameLst>
                                          <p:attrName>style.visibility</p:attrName>
                                        </p:attrNameLst>
                                      </p:cBhvr>
                                      <p:to>
                                        <p:strVal val="visible"/>
                                      </p:to>
                                    </p:set>
                                    <p:anim calcmode="lin" valueType="num">
                                      <p:cBhvr additive="base">
                                        <p:cTn id="121" dur="500" fill="hold"/>
                                        <p:tgtEl>
                                          <p:spTgt spid="48"/>
                                        </p:tgtEl>
                                        <p:attrNameLst>
                                          <p:attrName>ppt_x</p:attrName>
                                        </p:attrNameLst>
                                      </p:cBhvr>
                                      <p:tavLst>
                                        <p:tav tm="0">
                                          <p:val>
                                            <p:strVal val="#ppt_x"/>
                                          </p:val>
                                        </p:tav>
                                        <p:tav tm="100000">
                                          <p:val>
                                            <p:strVal val="#ppt_x"/>
                                          </p:val>
                                        </p:tav>
                                      </p:tavLst>
                                    </p:anim>
                                    <p:anim calcmode="lin" valueType="num">
                                      <p:cBhvr additive="base">
                                        <p:cTn id="122" dur="500" fill="hold"/>
                                        <p:tgtEl>
                                          <p:spTgt spid="48"/>
                                        </p:tgtEl>
                                        <p:attrNameLst>
                                          <p:attrName>ppt_y</p:attrName>
                                        </p:attrNameLst>
                                      </p:cBhvr>
                                      <p:tavLst>
                                        <p:tav tm="0">
                                          <p:val>
                                            <p:strVal val="1+#ppt_h/2"/>
                                          </p:val>
                                        </p:tav>
                                        <p:tav tm="100000">
                                          <p:val>
                                            <p:strVal val="#ppt_y"/>
                                          </p:val>
                                        </p:tav>
                                      </p:tavLst>
                                    </p:anim>
                                  </p:childTnLst>
                                </p:cTn>
                              </p:par>
                            </p:childTnLst>
                          </p:cTn>
                        </p:par>
                      </p:childTnLst>
                    </p:cTn>
                  </p:par>
                  <p:par>
                    <p:cTn id="123" fill="hold">
                      <p:stCondLst>
                        <p:cond delay="indefinite"/>
                      </p:stCondLst>
                      <p:childTnLst>
                        <p:par>
                          <p:cTn id="124" fill="hold">
                            <p:stCondLst>
                              <p:cond delay="0"/>
                            </p:stCondLst>
                            <p:childTnLst>
                              <p:par>
                                <p:cTn id="125" presetID="2" presetClass="exit" presetSubtype="4" fill="hold" nodeType="clickEffect">
                                  <p:stCondLst>
                                    <p:cond delay="0"/>
                                  </p:stCondLst>
                                  <p:childTnLst>
                                    <p:anim calcmode="lin" valueType="num">
                                      <p:cBhvr additive="base">
                                        <p:cTn id="126" dur="500"/>
                                        <p:tgtEl>
                                          <p:spTgt spid="8201"/>
                                        </p:tgtEl>
                                        <p:attrNameLst>
                                          <p:attrName>ppt_x</p:attrName>
                                        </p:attrNameLst>
                                      </p:cBhvr>
                                      <p:tavLst>
                                        <p:tav tm="0">
                                          <p:val>
                                            <p:strVal val="ppt_x"/>
                                          </p:val>
                                        </p:tav>
                                        <p:tav tm="100000">
                                          <p:val>
                                            <p:strVal val="ppt_x"/>
                                          </p:val>
                                        </p:tav>
                                      </p:tavLst>
                                    </p:anim>
                                    <p:anim calcmode="lin" valueType="num">
                                      <p:cBhvr additive="base">
                                        <p:cTn id="127" dur="500"/>
                                        <p:tgtEl>
                                          <p:spTgt spid="8201"/>
                                        </p:tgtEl>
                                        <p:attrNameLst>
                                          <p:attrName>ppt_y</p:attrName>
                                        </p:attrNameLst>
                                      </p:cBhvr>
                                      <p:tavLst>
                                        <p:tav tm="0">
                                          <p:val>
                                            <p:strVal val="ppt_y"/>
                                          </p:val>
                                        </p:tav>
                                        <p:tav tm="100000">
                                          <p:val>
                                            <p:strVal val="1+ppt_h/2"/>
                                          </p:val>
                                        </p:tav>
                                      </p:tavLst>
                                    </p:anim>
                                    <p:set>
                                      <p:cBhvr>
                                        <p:cTn id="128" dur="1" fill="hold">
                                          <p:stCondLst>
                                            <p:cond delay="499"/>
                                          </p:stCondLst>
                                        </p:cTn>
                                        <p:tgtEl>
                                          <p:spTgt spid="8201"/>
                                        </p:tgtEl>
                                        <p:attrNameLst>
                                          <p:attrName>style.visibility</p:attrName>
                                        </p:attrNameLst>
                                      </p:cBhvr>
                                      <p:to>
                                        <p:strVal val="hidden"/>
                                      </p:to>
                                    </p:set>
                                  </p:childTnLst>
                                </p:cTn>
                              </p:par>
                              <p:par>
                                <p:cTn id="129" presetID="2" presetClass="exit" presetSubtype="4" fill="hold" nodeType="withEffect">
                                  <p:stCondLst>
                                    <p:cond delay="0"/>
                                  </p:stCondLst>
                                  <p:childTnLst>
                                    <p:anim calcmode="lin" valueType="num">
                                      <p:cBhvr additive="base">
                                        <p:cTn id="130" dur="500"/>
                                        <p:tgtEl>
                                          <p:spTgt spid="19"/>
                                        </p:tgtEl>
                                        <p:attrNameLst>
                                          <p:attrName>ppt_x</p:attrName>
                                        </p:attrNameLst>
                                      </p:cBhvr>
                                      <p:tavLst>
                                        <p:tav tm="0">
                                          <p:val>
                                            <p:strVal val="ppt_x"/>
                                          </p:val>
                                        </p:tav>
                                        <p:tav tm="100000">
                                          <p:val>
                                            <p:strVal val="ppt_x"/>
                                          </p:val>
                                        </p:tav>
                                      </p:tavLst>
                                    </p:anim>
                                    <p:anim calcmode="lin" valueType="num">
                                      <p:cBhvr additive="base">
                                        <p:cTn id="131" dur="500"/>
                                        <p:tgtEl>
                                          <p:spTgt spid="19"/>
                                        </p:tgtEl>
                                        <p:attrNameLst>
                                          <p:attrName>ppt_y</p:attrName>
                                        </p:attrNameLst>
                                      </p:cBhvr>
                                      <p:tavLst>
                                        <p:tav tm="0">
                                          <p:val>
                                            <p:strVal val="ppt_y"/>
                                          </p:val>
                                        </p:tav>
                                        <p:tav tm="100000">
                                          <p:val>
                                            <p:strVal val="1+ppt_h/2"/>
                                          </p:val>
                                        </p:tav>
                                      </p:tavLst>
                                    </p:anim>
                                    <p:set>
                                      <p:cBhvr>
                                        <p:cTn id="132" dur="1" fill="hold">
                                          <p:stCondLst>
                                            <p:cond delay="499"/>
                                          </p:stCondLst>
                                        </p:cTn>
                                        <p:tgtEl>
                                          <p:spTgt spid="19"/>
                                        </p:tgtEl>
                                        <p:attrNameLst>
                                          <p:attrName>style.visibility</p:attrName>
                                        </p:attrNameLst>
                                      </p:cBhvr>
                                      <p:to>
                                        <p:strVal val="hidden"/>
                                      </p:to>
                                    </p:set>
                                  </p:childTnLst>
                                </p:cTn>
                              </p:par>
                              <p:par>
                                <p:cTn id="133" presetID="2" presetClass="exit" presetSubtype="4" fill="hold" nodeType="withEffect">
                                  <p:stCondLst>
                                    <p:cond delay="0"/>
                                  </p:stCondLst>
                                  <p:childTnLst>
                                    <p:anim calcmode="lin" valueType="num">
                                      <p:cBhvr additive="base">
                                        <p:cTn id="134" dur="500"/>
                                        <p:tgtEl>
                                          <p:spTgt spid="29"/>
                                        </p:tgtEl>
                                        <p:attrNameLst>
                                          <p:attrName>ppt_x</p:attrName>
                                        </p:attrNameLst>
                                      </p:cBhvr>
                                      <p:tavLst>
                                        <p:tav tm="0">
                                          <p:val>
                                            <p:strVal val="ppt_x"/>
                                          </p:val>
                                        </p:tav>
                                        <p:tav tm="100000">
                                          <p:val>
                                            <p:strVal val="ppt_x"/>
                                          </p:val>
                                        </p:tav>
                                      </p:tavLst>
                                    </p:anim>
                                    <p:anim calcmode="lin" valueType="num">
                                      <p:cBhvr additive="base">
                                        <p:cTn id="135" dur="500"/>
                                        <p:tgtEl>
                                          <p:spTgt spid="29"/>
                                        </p:tgtEl>
                                        <p:attrNameLst>
                                          <p:attrName>ppt_y</p:attrName>
                                        </p:attrNameLst>
                                      </p:cBhvr>
                                      <p:tavLst>
                                        <p:tav tm="0">
                                          <p:val>
                                            <p:strVal val="ppt_y"/>
                                          </p:val>
                                        </p:tav>
                                        <p:tav tm="100000">
                                          <p:val>
                                            <p:strVal val="1+ppt_h/2"/>
                                          </p:val>
                                        </p:tav>
                                      </p:tavLst>
                                    </p:anim>
                                    <p:set>
                                      <p:cBhvr>
                                        <p:cTn id="136" dur="1" fill="hold">
                                          <p:stCondLst>
                                            <p:cond delay="499"/>
                                          </p:stCondLst>
                                        </p:cTn>
                                        <p:tgtEl>
                                          <p:spTgt spid="29"/>
                                        </p:tgtEl>
                                        <p:attrNameLst>
                                          <p:attrName>style.visibility</p:attrName>
                                        </p:attrNameLst>
                                      </p:cBhvr>
                                      <p:to>
                                        <p:strVal val="hidden"/>
                                      </p:to>
                                    </p:set>
                                  </p:childTnLst>
                                </p:cTn>
                              </p:par>
                              <p:par>
                                <p:cTn id="137" presetID="2" presetClass="exit" presetSubtype="4" fill="hold" nodeType="withEffect">
                                  <p:stCondLst>
                                    <p:cond delay="0"/>
                                  </p:stCondLst>
                                  <p:childTnLst>
                                    <p:anim calcmode="lin" valueType="num">
                                      <p:cBhvr additive="base">
                                        <p:cTn id="138" dur="500"/>
                                        <p:tgtEl>
                                          <p:spTgt spid="32"/>
                                        </p:tgtEl>
                                        <p:attrNameLst>
                                          <p:attrName>ppt_x</p:attrName>
                                        </p:attrNameLst>
                                      </p:cBhvr>
                                      <p:tavLst>
                                        <p:tav tm="0">
                                          <p:val>
                                            <p:strVal val="ppt_x"/>
                                          </p:val>
                                        </p:tav>
                                        <p:tav tm="100000">
                                          <p:val>
                                            <p:strVal val="ppt_x"/>
                                          </p:val>
                                        </p:tav>
                                      </p:tavLst>
                                    </p:anim>
                                    <p:anim calcmode="lin" valueType="num">
                                      <p:cBhvr additive="base">
                                        <p:cTn id="139" dur="500"/>
                                        <p:tgtEl>
                                          <p:spTgt spid="32"/>
                                        </p:tgtEl>
                                        <p:attrNameLst>
                                          <p:attrName>ppt_y</p:attrName>
                                        </p:attrNameLst>
                                      </p:cBhvr>
                                      <p:tavLst>
                                        <p:tav tm="0">
                                          <p:val>
                                            <p:strVal val="ppt_y"/>
                                          </p:val>
                                        </p:tav>
                                        <p:tav tm="100000">
                                          <p:val>
                                            <p:strVal val="1+ppt_h/2"/>
                                          </p:val>
                                        </p:tav>
                                      </p:tavLst>
                                    </p:anim>
                                    <p:set>
                                      <p:cBhvr>
                                        <p:cTn id="140" dur="1" fill="hold">
                                          <p:stCondLst>
                                            <p:cond delay="499"/>
                                          </p:stCondLst>
                                        </p:cTn>
                                        <p:tgtEl>
                                          <p:spTgt spid="32"/>
                                        </p:tgtEl>
                                        <p:attrNameLst>
                                          <p:attrName>style.visibility</p:attrName>
                                        </p:attrNameLst>
                                      </p:cBhvr>
                                      <p:to>
                                        <p:strVal val="hidden"/>
                                      </p:to>
                                    </p:set>
                                  </p:childTnLst>
                                </p:cTn>
                              </p:par>
                              <p:par>
                                <p:cTn id="141" presetID="2" presetClass="exit" presetSubtype="4" fill="hold" nodeType="withEffect">
                                  <p:stCondLst>
                                    <p:cond delay="0"/>
                                  </p:stCondLst>
                                  <p:childTnLst>
                                    <p:anim calcmode="lin" valueType="num">
                                      <p:cBhvr additive="base">
                                        <p:cTn id="142" dur="500"/>
                                        <p:tgtEl>
                                          <p:spTgt spid="36"/>
                                        </p:tgtEl>
                                        <p:attrNameLst>
                                          <p:attrName>ppt_x</p:attrName>
                                        </p:attrNameLst>
                                      </p:cBhvr>
                                      <p:tavLst>
                                        <p:tav tm="0">
                                          <p:val>
                                            <p:strVal val="ppt_x"/>
                                          </p:val>
                                        </p:tav>
                                        <p:tav tm="100000">
                                          <p:val>
                                            <p:strVal val="ppt_x"/>
                                          </p:val>
                                        </p:tav>
                                      </p:tavLst>
                                    </p:anim>
                                    <p:anim calcmode="lin" valueType="num">
                                      <p:cBhvr additive="base">
                                        <p:cTn id="143" dur="500"/>
                                        <p:tgtEl>
                                          <p:spTgt spid="36"/>
                                        </p:tgtEl>
                                        <p:attrNameLst>
                                          <p:attrName>ppt_y</p:attrName>
                                        </p:attrNameLst>
                                      </p:cBhvr>
                                      <p:tavLst>
                                        <p:tav tm="0">
                                          <p:val>
                                            <p:strVal val="ppt_y"/>
                                          </p:val>
                                        </p:tav>
                                        <p:tav tm="100000">
                                          <p:val>
                                            <p:strVal val="1+ppt_h/2"/>
                                          </p:val>
                                        </p:tav>
                                      </p:tavLst>
                                    </p:anim>
                                    <p:set>
                                      <p:cBhvr>
                                        <p:cTn id="144" dur="1" fill="hold">
                                          <p:stCondLst>
                                            <p:cond delay="499"/>
                                          </p:stCondLst>
                                        </p:cTn>
                                        <p:tgtEl>
                                          <p:spTgt spid="36"/>
                                        </p:tgtEl>
                                        <p:attrNameLst>
                                          <p:attrName>style.visibility</p:attrName>
                                        </p:attrNameLst>
                                      </p:cBhvr>
                                      <p:to>
                                        <p:strVal val="hidden"/>
                                      </p:to>
                                    </p:set>
                                  </p:childTnLst>
                                </p:cTn>
                              </p:par>
                              <p:par>
                                <p:cTn id="145" presetID="2" presetClass="exit" presetSubtype="4" fill="hold" nodeType="withEffect">
                                  <p:stCondLst>
                                    <p:cond delay="0"/>
                                  </p:stCondLst>
                                  <p:childTnLst>
                                    <p:anim calcmode="lin" valueType="num">
                                      <p:cBhvr additive="base">
                                        <p:cTn id="146" dur="500"/>
                                        <p:tgtEl>
                                          <p:spTgt spid="41"/>
                                        </p:tgtEl>
                                        <p:attrNameLst>
                                          <p:attrName>ppt_x</p:attrName>
                                        </p:attrNameLst>
                                      </p:cBhvr>
                                      <p:tavLst>
                                        <p:tav tm="0">
                                          <p:val>
                                            <p:strVal val="ppt_x"/>
                                          </p:val>
                                        </p:tav>
                                        <p:tav tm="100000">
                                          <p:val>
                                            <p:strVal val="ppt_x"/>
                                          </p:val>
                                        </p:tav>
                                      </p:tavLst>
                                    </p:anim>
                                    <p:anim calcmode="lin" valueType="num">
                                      <p:cBhvr additive="base">
                                        <p:cTn id="147" dur="500"/>
                                        <p:tgtEl>
                                          <p:spTgt spid="41"/>
                                        </p:tgtEl>
                                        <p:attrNameLst>
                                          <p:attrName>ppt_y</p:attrName>
                                        </p:attrNameLst>
                                      </p:cBhvr>
                                      <p:tavLst>
                                        <p:tav tm="0">
                                          <p:val>
                                            <p:strVal val="ppt_y"/>
                                          </p:val>
                                        </p:tav>
                                        <p:tav tm="100000">
                                          <p:val>
                                            <p:strVal val="1+ppt_h/2"/>
                                          </p:val>
                                        </p:tav>
                                      </p:tavLst>
                                    </p:anim>
                                    <p:set>
                                      <p:cBhvr>
                                        <p:cTn id="148" dur="1" fill="hold">
                                          <p:stCondLst>
                                            <p:cond delay="499"/>
                                          </p:stCondLst>
                                        </p:cTn>
                                        <p:tgtEl>
                                          <p:spTgt spid="41"/>
                                        </p:tgtEl>
                                        <p:attrNameLst>
                                          <p:attrName>style.visibility</p:attrName>
                                        </p:attrNameLst>
                                      </p:cBhvr>
                                      <p:to>
                                        <p:strVal val="hidden"/>
                                      </p:to>
                                    </p:set>
                                  </p:childTnLst>
                                </p:cTn>
                              </p:par>
                              <p:par>
                                <p:cTn id="149" presetID="2" presetClass="exit" presetSubtype="4" fill="hold" nodeType="withEffect">
                                  <p:stCondLst>
                                    <p:cond delay="0"/>
                                  </p:stCondLst>
                                  <p:childTnLst>
                                    <p:anim calcmode="lin" valueType="num">
                                      <p:cBhvr additive="base">
                                        <p:cTn id="150" dur="500"/>
                                        <p:tgtEl>
                                          <p:spTgt spid="42"/>
                                        </p:tgtEl>
                                        <p:attrNameLst>
                                          <p:attrName>ppt_x</p:attrName>
                                        </p:attrNameLst>
                                      </p:cBhvr>
                                      <p:tavLst>
                                        <p:tav tm="0">
                                          <p:val>
                                            <p:strVal val="ppt_x"/>
                                          </p:val>
                                        </p:tav>
                                        <p:tav tm="100000">
                                          <p:val>
                                            <p:strVal val="ppt_x"/>
                                          </p:val>
                                        </p:tav>
                                      </p:tavLst>
                                    </p:anim>
                                    <p:anim calcmode="lin" valueType="num">
                                      <p:cBhvr additive="base">
                                        <p:cTn id="151" dur="500"/>
                                        <p:tgtEl>
                                          <p:spTgt spid="42"/>
                                        </p:tgtEl>
                                        <p:attrNameLst>
                                          <p:attrName>ppt_y</p:attrName>
                                        </p:attrNameLst>
                                      </p:cBhvr>
                                      <p:tavLst>
                                        <p:tav tm="0">
                                          <p:val>
                                            <p:strVal val="ppt_y"/>
                                          </p:val>
                                        </p:tav>
                                        <p:tav tm="100000">
                                          <p:val>
                                            <p:strVal val="1+ppt_h/2"/>
                                          </p:val>
                                        </p:tav>
                                      </p:tavLst>
                                    </p:anim>
                                    <p:set>
                                      <p:cBhvr>
                                        <p:cTn id="152" dur="1" fill="hold">
                                          <p:stCondLst>
                                            <p:cond delay="499"/>
                                          </p:stCondLst>
                                        </p:cTn>
                                        <p:tgtEl>
                                          <p:spTgt spid="42"/>
                                        </p:tgtEl>
                                        <p:attrNameLst>
                                          <p:attrName>style.visibility</p:attrName>
                                        </p:attrNameLst>
                                      </p:cBhvr>
                                      <p:to>
                                        <p:strVal val="hidden"/>
                                      </p:to>
                                    </p:set>
                                  </p:childTnLst>
                                </p:cTn>
                              </p:par>
                              <p:par>
                                <p:cTn id="153" presetID="2" presetClass="exit" presetSubtype="4" fill="hold" nodeType="withEffect">
                                  <p:stCondLst>
                                    <p:cond delay="0"/>
                                  </p:stCondLst>
                                  <p:childTnLst>
                                    <p:anim calcmode="lin" valueType="num">
                                      <p:cBhvr additive="base">
                                        <p:cTn id="154" dur="500"/>
                                        <p:tgtEl>
                                          <p:spTgt spid="43"/>
                                        </p:tgtEl>
                                        <p:attrNameLst>
                                          <p:attrName>ppt_x</p:attrName>
                                        </p:attrNameLst>
                                      </p:cBhvr>
                                      <p:tavLst>
                                        <p:tav tm="0">
                                          <p:val>
                                            <p:strVal val="ppt_x"/>
                                          </p:val>
                                        </p:tav>
                                        <p:tav tm="100000">
                                          <p:val>
                                            <p:strVal val="ppt_x"/>
                                          </p:val>
                                        </p:tav>
                                      </p:tavLst>
                                    </p:anim>
                                    <p:anim calcmode="lin" valueType="num">
                                      <p:cBhvr additive="base">
                                        <p:cTn id="155" dur="500"/>
                                        <p:tgtEl>
                                          <p:spTgt spid="43"/>
                                        </p:tgtEl>
                                        <p:attrNameLst>
                                          <p:attrName>ppt_y</p:attrName>
                                        </p:attrNameLst>
                                      </p:cBhvr>
                                      <p:tavLst>
                                        <p:tav tm="0">
                                          <p:val>
                                            <p:strVal val="ppt_y"/>
                                          </p:val>
                                        </p:tav>
                                        <p:tav tm="100000">
                                          <p:val>
                                            <p:strVal val="1+ppt_h/2"/>
                                          </p:val>
                                        </p:tav>
                                      </p:tavLst>
                                    </p:anim>
                                    <p:set>
                                      <p:cBhvr>
                                        <p:cTn id="156" dur="1" fill="hold">
                                          <p:stCondLst>
                                            <p:cond delay="499"/>
                                          </p:stCondLst>
                                        </p:cTn>
                                        <p:tgtEl>
                                          <p:spTgt spid="43"/>
                                        </p:tgtEl>
                                        <p:attrNameLst>
                                          <p:attrName>style.visibility</p:attrName>
                                        </p:attrNameLst>
                                      </p:cBhvr>
                                      <p:to>
                                        <p:strVal val="hidden"/>
                                      </p:to>
                                    </p:set>
                                  </p:childTnLst>
                                </p:cTn>
                              </p:par>
                              <p:par>
                                <p:cTn id="157" presetID="2" presetClass="exit" presetSubtype="4" fill="hold" nodeType="withEffect">
                                  <p:stCondLst>
                                    <p:cond delay="0"/>
                                  </p:stCondLst>
                                  <p:childTnLst>
                                    <p:anim calcmode="lin" valueType="num">
                                      <p:cBhvr additive="base">
                                        <p:cTn id="158" dur="500"/>
                                        <p:tgtEl>
                                          <p:spTgt spid="44"/>
                                        </p:tgtEl>
                                        <p:attrNameLst>
                                          <p:attrName>ppt_x</p:attrName>
                                        </p:attrNameLst>
                                      </p:cBhvr>
                                      <p:tavLst>
                                        <p:tav tm="0">
                                          <p:val>
                                            <p:strVal val="ppt_x"/>
                                          </p:val>
                                        </p:tav>
                                        <p:tav tm="100000">
                                          <p:val>
                                            <p:strVal val="ppt_x"/>
                                          </p:val>
                                        </p:tav>
                                      </p:tavLst>
                                    </p:anim>
                                    <p:anim calcmode="lin" valueType="num">
                                      <p:cBhvr additive="base">
                                        <p:cTn id="159" dur="500"/>
                                        <p:tgtEl>
                                          <p:spTgt spid="44"/>
                                        </p:tgtEl>
                                        <p:attrNameLst>
                                          <p:attrName>ppt_y</p:attrName>
                                        </p:attrNameLst>
                                      </p:cBhvr>
                                      <p:tavLst>
                                        <p:tav tm="0">
                                          <p:val>
                                            <p:strVal val="ppt_y"/>
                                          </p:val>
                                        </p:tav>
                                        <p:tav tm="100000">
                                          <p:val>
                                            <p:strVal val="1+ppt_h/2"/>
                                          </p:val>
                                        </p:tav>
                                      </p:tavLst>
                                    </p:anim>
                                    <p:set>
                                      <p:cBhvr>
                                        <p:cTn id="160" dur="1" fill="hold">
                                          <p:stCondLst>
                                            <p:cond delay="499"/>
                                          </p:stCondLst>
                                        </p:cTn>
                                        <p:tgtEl>
                                          <p:spTgt spid="4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23" grpId="0" bldLvl="0" animBg="1"/>
      <p:bldP spid="23" grpId="1" animBg="1"/>
      <p:bldP spid="23" grpId="2" animBg="1"/>
      <p:bldP spid="52" grpId="0" bldLvl="0" animBg="1"/>
      <p:bldP spid="52" grpId="1"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8930" name="Text Box 2"/>
          <p:cNvSpPr txBox="1">
            <a:spLocks noChangeArrowheads="1"/>
          </p:cNvSpPr>
          <p:nvPr/>
        </p:nvSpPr>
        <p:spPr bwMode="auto">
          <a:xfrm>
            <a:off x="482600" y="1310878"/>
            <a:ext cx="1785938" cy="53022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20000"/>
              </a:lnSpc>
            </a:pPr>
            <a:r>
              <a:rPr kumimoji="1" lang="zh-CN" altLang="en-US" sz="2400" b="1" dirty="0">
                <a:solidFill>
                  <a:srgbClr val="0000FF"/>
                </a:solidFill>
                <a:latin typeface="Times New Roman" panose="02020603050405020304" pitchFamily="18" charset="0"/>
                <a:cs typeface="Times New Roman" panose="02020603050405020304" pitchFamily="18" charset="0"/>
              </a:rPr>
              <a:t>哈</a:t>
            </a: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夫曼树： </a:t>
            </a:r>
            <a:endPar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8933" name="AutoShape 5"/>
          <p:cNvSpPr>
            <a:spLocks noChangeArrowheads="1"/>
          </p:cNvSpPr>
          <p:nvPr/>
        </p:nvSpPr>
        <p:spPr bwMode="auto">
          <a:xfrm>
            <a:off x="5220335" y="981313"/>
            <a:ext cx="2667000" cy="609600"/>
          </a:xfrm>
          <a:prstGeom prst="wedgeRoundRectCallout">
            <a:avLst>
              <a:gd name="adj1" fmla="val -81250"/>
              <a:gd name="adj2" fmla="val 145051"/>
              <a:gd name="adj3" fmla="val 16667"/>
            </a:avLst>
          </a:prstGeom>
          <a:extLst>
            <a:ext uri="{AF507438-7753-43E0-B8FC-AC1667EBCBE1}">
              <a14:hiddenEffects xmlns:a14="http://schemas.microsoft.com/office/drawing/2010/main">
                <a:effectLst>
                  <a:outerShdw dist="35921" dir="2700000" algn="ctr" rotWithShape="0">
                    <a:schemeClr val="bg2"/>
                  </a:outerShdw>
                </a:effectLst>
              </a14:hiddenEffects>
            </a:ext>
          </a:extLst>
        </p:spPr>
        <p:style>
          <a:lnRef idx="2">
            <a:schemeClr val="accent5"/>
          </a:lnRef>
          <a:fillRef idx="1">
            <a:schemeClr val="lt1"/>
          </a:fillRef>
          <a:effectRef idx="0">
            <a:schemeClr val="accent5"/>
          </a:effectRef>
          <a:fontRef idx="minor">
            <a:schemeClr val="dk1"/>
          </a:fontRef>
        </p:style>
        <p:txBody>
          <a:bodyPr anchor="ctr"/>
          <a:lstStyle/>
          <a:p>
            <a:pPr algn="ctr"/>
            <a:r>
              <a:rPr lang="zh-CN" altLang="en-US" sz="2000" b="1">
                <a:solidFill>
                  <a:srgbClr val="000000"/>
                </a:solidFill>
                <a:latin typeface="宋体" panose="02010600030101010101" pitchFamily="2" charset="-122"/>
                <a:ea typeface="宋体" panose="02010600030101010101" pitchFamily="2" charset="-122"/>
                <a:cs typeface="Times New Roman" panose="02020603050405020304" pitchFamily="18" charset="0"/>
              </a:rPr>
              <a:t>哈夫曼树的构造过程</a:t>
            </a:r>
            <a:endParaRPr lang="zh-CN" altLang="en-US" sz="2000" b="1">
              <a:solidFill>
                <a:srgbClr val="000000"/>
              </a:solidFill>
              <a:latin typeface="宋体" panose="02010600030101010101" pitchFamily="2" charset="-122"/>
              <a:ea typeface="宋体" panose="02010600030101010101" pitchFamily="2" charset="-122"/>
              <a:cs typeface="Times New Roman" panose="02020603050405020304" pitchFamily="18" charset="0"/>
            </a:endParaRPr>
          </a:p>
        </p:txBody>
      </p:sp>
      <p:sp>
        <p:nvSpPr>
          <p:cNvPr id="5" name="矩形 4"/>
          <p:cNvSpPr/>
          <p:nvPr/>
        </p:nvSpPr>
        <p:spPr>
          <a:xfrm>
            <a:off x="576110" y="836836"/>
            <a:ext cx="2861310"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哈夫曼编码</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grpSp>
        <p:nvGrpSpPr>
          <p:cNvPr id="8203" name="组合 34"/>
          <p:cNvGrpSpPr/>
          <p:nvPr/>
        </p:nvGrpSpPr>
        <p:grpSpPr>
          <a:xfrm>
            <a:off x="3269933" y="2032000"/>
            <a:ext cx="504825" cy="504825"/>
            <a:chOff x="1006488" y="2036167"/>
            <a:chExt cx="504800" cy="504056"/>
          </a:xfrm>
        </p:grpSpPr>
        <p:sp>
          <p:nvSpPr>
            <p:cNvPr id="8215"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7" name="文本框 36"/>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sp>
        <p:nvSpPr>
          <p:cNvPr id="3" name="左大括号 2"/>
          <p:cNvSpPr/>
          <p:nvPr/>
        </p:nvSpPr>
        <p:spPr>
          <a:xfrm flipH="1">
            <a:off x="3924300" y="1840865"/>
            <a:ext cx="278130"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11" name="组合 28"/>
          <p:cNvGrpSpPr/>
          <p:nvPr/>
        </p:nvGrpSpPr>
        <p:grpSpPr>
          <a:xfrm>
            <a:off x="4006215" y="4058603"/>
            <a:ext cx="504825" cy="503237"/>
            <a:chOff x="1006488" y="2036167"/>
            <a:chExt cx="504800" cy="504056"/>
          </a:xfrm>
        </p:grpSpPr>
        <p:sp>
          <p:nvSpPr>
            <p:cNvPr id="12"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 name="文本框 12"/>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6</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29" name="直接连接符 28"/>
          <p:cNvCxnSpPr/>
          <p:nvPr/>
        </p:nvCxnSpPr>
        <p:spPr>
          <a:xfrm flipH="1">
            <a:off x="3862070" y="4554855"/>
            <a:ext cx="349885" cy="443865"/>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32" name="组合 28"/>
          <p:cNvGrpSpPr/>
          <p:nvPr/>
        </p:nvGrpSpPr>
        <p:grpSpPr>
          <a:xfrm>
            <a:off x="3609340" y="4998403"/>
            <a:ext cx="504825" cy="503237"/>
            <a:chOff x="1006488" y="2036167"/>
            <a:chExt cx="504800" cy="504056"/>
          </a:xfrm>
        </p:grpSpPr>
        <p:sp>
          <p:nvSpPr>
            <p:cNvPr id="33"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5" name="文本框 34"/>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6" name="组合 34"/>
          <p:cNvGrpSpPr/>
          <p:nvPr/>
        </p:nvGrpSpPr>
        <p:grpSpPr>
          <a:xfrm>
            <a:off x="4427538" y="4990465"/>
            <a:ext cx="504825" cy="504825"/>
            <a:chOff x="1006488" y="2036167"/>
            <a:chExt cx="504800" cy="504056"/>
          </a:xfrm>
        </p:grpSpPr>
        <p:sp>
          <p:nvSpPr>
            <p:cNvPr id="38"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9" name="文本框 38"/>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cxnSp>
        <p:nvCxnSpPr>
          <p:cNvPr id="41" name="直接连接符 40"/>
          <p:cNvCxnSpPr/>
          <p:nvPr/>
        </p:nvCxnSpPr>
        <p:spPr>
          <a:xfrm>
            <a:off x="4211955" y="4559300"/>
            <a:ext cx="467995" cy="4311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2" name="直接连接符 41"/>
          <p:cNvCxnSpPr>
            <a:stCxn id="47" idx="2"/>
            <a:endCxn id="12" idx="0"/>
          </p:cNvCxnSpPr>
          <p:nvPr/>
        </p:nvCxnSpPr>
        <p:spPr>
          <a:xfrm flipH="1">
            <a:off x="4258945" y="3576320"/>
            <a:ext cx="583565" cy="48260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3" name="直接连接符 42"/>
          <p:cNvCxnSpPr>
            <a:stCxn id="47" idx="2"/>
            <a:endCxn id="6" idx="0"/>
          </p:cNvCxnSpPr>
          <p:nvPr/>
        </p:nvCxnSpPr>
        <p:spPr>
          <a:xfrm>
            <a:off x="4842510" y="3576320"/>
            <a:ext cx="558165" cy="438150"/>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48" name="组合 34"/>
          <p:cNvGrpSpPr/>
          <p:nvPr/>
        </p:nvGrpSpPr>
        <p:grpSpPr>
          <a:xfrm>
            <a:off x="2519998" y="2032000"/>
            <a:ext cx="504825" cy="504825"/>
            <a:chOff x="1006488" y="2036167"/>
            <a:chExt cx="504800" cy="504056"/>
          </a:xfrm>
        </p:grpSpPr>
        <p:sp>
          <p:nvSpPr>
            <p:cNvPr id="50"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1" name="文本框 50"/>
            <p:cNvSpPr txBox="1"/>
            <p:nvPr/>
          </p:nvSpPr>
          <p:spPr>
            <a:xfrm>
              <a:off x="1007123" y="2077379"/>
              <a:ext cx="490831" cy="458406"/>
            </a:xfrm>
            <a:prstGeom prst="rect">
              <a:avLst/>
            </a:prstGeom>
            <a:noFill/>
          </p:spPr>
          <p:txBody>
            <a:bodyPr>
              <a:no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11</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sp>
        <p:nvSpPr>
          <p:cNvPr id="52" name="左大括号 51"/>
          <p:cNvSpPr/>
          <p:nvPr/>
        </p:nvSpPr>
        <p:spPr>
          <a:xfrm>
            <a:off x="2185670" y="1845310"/>
            <a:ext cx="287655"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4" name="组合 28"/>
          <p:cNvGrpSpPr/>
          <p:nvPr/>
        </p:nvGrpSpPr>
        <p:grpSpPr>
          <a:xfrm>
            <a:off x="5147945" y="4014153"/>
            <a:ext cx="504825" cy="503237"/>
            <a:chOff x="1006488" y="2036167"/>
            <a:chExt cx="504800" cy="504056"/>
          </a:xfrm>
        </p:grpSpPr>
        <p:sp>
          <p:nvSpPr>
            <p:cNvPr id="6"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 name="文本框 6"/>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5</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 name="组合 28"/>
          <p:cNvGrpSpPr/>
          <p:nvPr/>
        </p:nvGrpSpPr>
        <p:grpSpPr>
          <a:xfrm>
            <a:off x="5149850" y="2276793"/>
            <a:ext cx="504825" cy="503237"/>
            <a:chOff x="1006488" y="2036167"/>
            <a:chExt cx="504800" cy="504056"/>
          </a:xfrm>
        </p:grpSpPr>
        <p:sp>
          <p:nvSpPr>
            <p:cNvPr id="15"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007123" y="2085778"/>
              <a:ext cx="487021" cy="431231"/>
            </a:xfrm>
            <a:prstGeom prst="rect">
              <a:avLst/>
            </a:prstGeom>
            <a:noFill/>
          </p:spPr>
          <p:txBody>
            <a:bodyPr>
              <a:no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18</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20" name="直接连接符 19"/>
          <p:cNvCxnSpPr/>
          <p:nvPr/>
        </p:nvCxnSpPr>
        <p:spPr>
          <a:xfrm flipH="1">
            <a:off x="4917440" y="2780030"/>
            <a:ext cx="483235" cy="29464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5" idx="4"/>
          </p:cNvCxnSpPr>
          <p:nvPr/>
        </p:nvCxnSpPr>
        <p:spPr>
          <a:xfrm>
            <a:off x="5402580" y="2780030"/>
            <a:ext cx="581660" cy="325120"/>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26" name="组合 28"/>
          <p:cNvGrpSpPr/>
          <p:nvPr/>
        </p:nvGrpSpPr>
        <p:grpSpPr>
          <a:xfrm>
            <a:off x="3270250" y="2033588"/>
            <a:ext cx="504825" cy="503237"/>
            <a:chOff x="1006488" y="2036167"/>
            <a:chExt cx="504800" cy="504056"/>
          </a:xfrm>
        </p:grpSpPr>
        <p:sp>
          <p:nvSpPr>
            <p:cNvPr id="27"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0" name="文本框 29"/>
            <p:cNvSpPr txBox="1"/>
            <p:nvPr/>
          </p:nvSpPr>
          <p:spPr>
            <a:xfrm>
              <a:off x="1007123" y="2085778"/>
              <a:ext cx="487021" cy="431231"/>
            </a:xfrm>
            <a:prstGeom prst="rect">
              <a:avLst/>
            </a:prstGeom>
            <a:noFill/>
          </p:spPr>
          <p:txBody>
            <a:bodyPr>
              <a:no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18</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4" name="左大括号 33"/>
          <p:cNvSpPr/>
          <p:nvPr/>
        </p:nvSpPr>
        <p:spPr>
          <a:xfrm>
            <a:off x="2844165" y="1840865"/>
            <a:ext cx="287655"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409575" y="5773420"/>
            <a:ext cx="8325485" cy="662940"/>
          </a:xfrm>
          <a:prstGeom prst="rect">
            <a:avLst/>
          </a:prstGeom>
          <a:noFill/>
        </p:spPr>
        <p:txBody>
          <a:bodyPr wrap="square" rtlCol="0" anchor="t">
            <a:noAutofit/>
          </a:bodyPr>
          <a:lstStyle/>
          <a:p>
            <a:pPr marL="0" indent="0">
              <a:buFontTx/>
              <a:buNone/>
            </a:pPr>
            <a:r>
              <a:rPr lang="zh-CN" altLang="en-US" sz="1800" b="1" dirty="0">
                <a:solidFill>
                  <a:srgbClr val="FF0000"/>
                </a:solidFill>
                <a:latin typeface="宋体" panose="02010600030101010101" pitchFamily="2" charset="-122"/>
                <a:cs typeface="Times New Roman" panose="02020603050405020304" pitchFamily="18" charset="0"/>
                <a:sym typeface="+mn-ea"/>
              </a:rPr>
              <a:t>当集合中只剩下一个节点算法结束，最后一个节点也就是哈夫曼树的根节点。</a:t>
            </a:r>
            <a:endParaRPr lang="zh-CN" altLang="en-US" sz="1800" b="1" dirty="0">
              <a:solidFill>
                <a:srgbClr val="FF0000"/>
              </a:solidFill>
              <a:latin typeface="宋体" panose="02010600030101010101" pitchFamily="2" charset="-122"/>
              <a:cs typeface="Times New Roman" panose="02020603050405020304" pitchFamily="18" charset="0"/>
              <a:sym typeface="+mn-ea"/>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 0.010463 L 0.225694 0.150278 " pathEditMode="relative" rAng="0" ptsTypes="">
                                      <p:cBhvr>
                                        <p:cTn id="6" dur="2000" fill="hold"/>
                                        <p:tgtEl>
                                          <p:spTgt spid="48"/>
                                        </p:tgtEl>
                                        <p:attrNameLst>
                                          <p:attrName>ppt_x</p:attrName>
                                          <p:attrName>ppt_y</p:attrName>
                                        </p:attrNameLst>
                                      </p:cBhvr>
                                      <p:rCtr x="11400" y="7300"/>
                                    </p:animMotion>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additive="base">
                                        <p:cTn id="11" dur="500" fill="hold"/>
                                        <p:tgtEl>
                                          <p:spTgt spid="11"/>
                                        </p:tgtEl>
                                        <p:attrNameLst>
                                          <p:attrName>ppt_x</p:attrName>
                                        </p:attrNameLst>
                                      </p:cBhvr>
                                      <p:tavLst>
                                        <p:tav tm="0">
                                          <p:val>
                                            <p:strVal val="#ppt_x"/>
                                          </p:val>
                                        </p:tav>
                                        <p:tav tm="100000">
                                          <p:val>
                                            <p:strVal val="#ppt_x"/>
                                          </p:val>
                                        </p:tav>
                                      </p:tavLst>
                                    </p:anim>
                                    <p:anim calcmode="lin" valueType="num">
                                      <p:cBhvr additive="base">
                                        <p:cTn id="12" dur="500" fill="hold"/>
                                        <p:tgtEl>
                                          <p:spTgt spid="11"/>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29"/>
                                        </p:tgtEl>
                                        <p:attrNameLst>
                                          <p:attrName>style.visibility</p:attrName>
                                        </p:attrNameLst>
                                      </p:cBhvr>
                                      <p:to>
                                        <p:strVal val="visible"/>
                                      </p:to>
                                    </p:set>
                                    <p:anim calcmode="lin" valueType="num">
                                      <p:cBhvr additive="base">
                                        <p:cTn id="15" dur="500" fill="hold"/>
                                        <p:tgtEl>
                                          <p:spTgt spid="29"/>
                                        </p:tgtEl>
                                        <p:attrNameLst>
                                          <p:attrName>ppt_x</p:attrName>
                                        </p:attrNameLst>
                                      </p:cBhvr>
                                      <p:tavLst>
                                        <p:tav tm="0">
                                          <p:val>
                                            <p:strVal val="#ppt_x"/>
                                          </p:val>
                                        </p:tav>
                                        <p:tav tm="100000">
                                          <p:val>
                                            <p:strVal val="#ppt_x"/>
                                          </p:val>
                                        </p:tav>
                                      </p:tavLst>
                                    </p:anim>
                                    <p:anim calcmode="lin" valueType="num">
                                      <p:cBhvr additive="base">
                                        <p:cTn id="16" dur="500" fill="hold"/>
                                        <p:tgtEl>
                                          <p:spTgt spid="29"/>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 calcmode="lin" valueType="num">
                                      <p:cBhvr additive="base">
                                        <p:cTn id="19" dur="500" fill="hold"/>
                                        <p:tgtEl>
                                          <p:spTgt spid="32"/>
                                        </p:tgtEl>
                                        <p:attrNameLst>
                                          <p:attrName>ppt_x</p:attrName>
                                        </p:attrNameLst>
                                      </p:cBhvr>
                                      <p:tavLst>
                                        <p:tav tm="0">
                                          <p:val>
                                            <p:strVal val="#ppt_x"/>
                                          </p:val>
                                        </p:tav>
                                        <p:tav tm="100000">
                                          <p:val>
                                            <p:strVal val="#ppt_x"/>
                                          </p:val>
                                        </p:tav>
                                      </p:tavLst>
                                    </p:anim>
                                    <p:anim calcmode="lin" valueType="num">
                                      <p:cBhvr additive="base">
                                        <p:cTn id="20" dur="500" fill="hold"/>
                                        <p:tgtEl>
                                          <p:spTgt spid="32"/>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36"/>
                                        </p:tgtEl>
                                        <p:attrNameLst>
                                          <p:attrName>style.visibility</p:attrName>
                                        </p:attrNameLst>
                                      </p:cBhvr>
                                      <p:to>
                                        <p:strVal val="visible"/>
                                      </p:to>
                                    </p:set>
                                    <p:anim calcmode="lin" valueType="num">
                                      <p:cBhvr additive="base">
                                        <p:cTn id="23" dur="500" fill="hold"/>
                                        <p:tgtEl>
                                          <p:spTgt spid="36"/>
                                        </p:tgtEl>
                                        <p:attrNameLst>
                                          <p:attrName>ppt_x</p:attrName>
                                        </p:attrNameLst>
                                      </p:cBhvr>
                                      <p:tavLst>
                                        <p:tav tm="0">
                                          <p:val>
                                            <p:strVal val="#ppt_x"/>
                                          </p:val>
                                        </p:tav>
                                        <p:tav tm="100000">
                                          <p:val>
                                            <p:strVal val="#ppt_x"/>
                                          </p:val>
                                        </p:tav>
                                      </p:tavLst>
                                    </p:anim>
                                    <p:anim calcmode="lin" valueType="num">
                                      <p:cBhvr additive="base">
                                        <p:cTn id="24" dur="500" fill="hold"/>
                                        <p:tgtEl>
                                          <p:spTgt spid="36"/>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41"/>
                                        </p:tgtEl>
                                        <p:attrNameLst>
                                          <p:attrName>style.visibility</p:attrName>
                                        </p:attrNameLst>
                                      </p:cBhvr>
                                      <p:to>
                                        <p:strVal val="visible"/>
                                      </p:to>
                                    </p:set>
                                    <p:anim calcmode="lin" valueType="num">
                                      <p:cBhvr additive="base">
                                        <p:cTn id="27" dur="500" fill="hold"/>
                                        <p:tgtEl>
                                          <p:spTgt spid="41"/>
                                        </p:tgtEl>
                                        <p:attrNameLst>
                                          <p:attrName>ppt_x</p:attrName>
                                        </p:attrNameLst>
                                      </p:cBhvr>
                                      <p:tavLst>
                                        <p:tav tm="0">
                                          <p:val>
                                            <p:strVal val="#ppt_x"/>
                                          </p:val>
                                        </p:tav>
                                        <p:tav tm="100000">
                                          <p:val>
                                            <p:strVal val="#ppt_x"/>
                                          </p:val>
                                        </p:tav>
                                      </p:tavLst>
                                    </p:anim>
                                    <p:anim calcmode="lin" valueType="num">
                                      <p:cBhvr additive="base">
                                        <p:cTn id="28" dur="500" fill="hold"/>
                                        <p:tgtEl>
                                          <p:spTgt spid="41"/>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42"/>
                                        </p:tgtEl>
                                        <p:attrNameLst>
                                          <p:attrName>style.visibility</p:attrName>
                                        </p:attrNameLst>
                                      </p:cBhvr>
                                      <p:to>
                                        <p:strVal val="visible"/>
                                      </p:to>
                                    </p:set>
                                    <p:anim calcmode="lin" valueType="num">
                                      <p:cBhvr additive="base">
                                        <p:cTn id="31" dur="500" fill="hold"/>
                                        <p:tgtEl>
                                          <p:spTgt spid="42"/>
                                        </p:tgtEl>
                                        <p:attrNameLst>
                                          <p:attrName>ppt_x</p:attrName>
                                        </p:attrNameLst>
                                      </p:cBhvr>
                                      <p:tavLst>
                                        <p:tav tm="0">
                                          <p:val>
                                            <p:strVal val="#ppt_x"/>
                                          </p:val>
                                        </p:tav>
                                        <p:tav tm="100000">
                                          <p:val>
                                            <p:strVal val="#ppt_x"/>
                                          </p:val>
                                        </p:tav>
                                      </p:tavLst>
                                    </p:anim>
                                    <p:anim calcmode="lin" valueType="num">
                                      <p:cBhvr additive="base">
                                        <p:cTn id="32" dur="500" fill="hold"/>
                                        <p:tgtEl>
                                          <p:spTgt spid="42"/>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43"/>
                                        </p:tgtEl>
                                        <p:attrNameLst>
                                          <p:attrName>style.visibility</p:attrName>
                                        </p:attrNameLst>
                                      </p:cBhvr>
                                      <p:to>
                                        <p:strVal val="visible"/>
                                      </p:to>
                                    </p:set>
                                    <p:anim calcmode="lin" valueType="num">
                                      <p:cBhvr additive="base">
                                        <p:cTn id="35" dur="500" fill="hold"/>
                                        <p:tgtEl>
                                          <p:spTgt spid="43"/>
                                        </p:tgtEl>
                                        <p:attrNameLst>
                                          <p:attrName>ppt_x</p:attrName>
                                        </p:attrNameLst>
                                      </p:cBhvr>
                                      <p:tavLst>
                                        <p:tav tm="0">
                                          <p:val>
                                            <p:strVal val="#ppt_x"/>
                                          </p:val>
                                        </p:tav>
                                        <p:tav tm="100000">
                                          <p:val>
                                            <p:strVal val="#ppt_x"/>
                                          </p:val>
                                        </p:tav>
                                      </p:tavLst>
                                    </p:anim>
                                    <p:anim calcmode="lin" valueType="num">
                                      <p:cBhvr additive="base">
                                        <p:cTn id="36" dur="500" fill="hold"/>
                                        <p:tgtEl>
                                          <p:spTgt spid="43"/>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4"/>
                                        </p:tgtEl>
                                        <p:attrNameLst>
                                          <p:attrName>style.visibility</p:attrName>
                                        </p:attrNameLst>
                                      </p:cBhvr>
                                      <p:to>
                                        <p:strVal val="visible"/>
                                      </p:to>
                                    </p:set>
                                    <p:anim calcmode="lin" valueType="num">
                                      <p:cBhvr additive="base">
                                        <p:cTn id="39" dur="500" fill="hold"/>
                                        <p:tgtEl>
                                          <p:spTgt spid="4"/>
                                        </p:tgtEl>
                                        <p:attrNameLst>
                                          <p:attrName>ppt_x</p:attrName>
                                        </p:attrNameLst>
                                      </p:cBhvr>
                                      <p:tavLst>
                                        <p:tav tm="0">
                                          <p:val>
                                            <p:strVal val="#ppt_x"/>
                                          </p:val>
                                        </p:tav>
                                        <p:tav tm="100000">
                                          <p:val>
                                            <p:strVal val="#ppt_x"/>
                                          </p:val>
                                        </p:tav>
                                      </p:tavLst>
                                    </p:anim>
                                    <p:anim calcmode="lin" valueType="num">
                                      <p:cBhvr additive="base">
                                        <p:cTn id="40"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0" presetClass="path" presetSubtype="0" accel="50000" decel="50000" fill="hold" nodeType="clickEffect">
                                  <p:stCondLst>
                                    <p:cond delay="0"/>
                                  </p:stCondLst>
                                  <p:childTnLst>
                                    <p:animMotion origin="layout" path="M 0 0 L 0.288125 0.145926 " pathEditMode="relative" rAng="0" ptsTypes="">
                                      <p:cBhvr>
                                        <p:cTn id="44" dur="2000" fill="hold"/>
                                        <p:tgtEl>
                                          <p:spTgt spid="8203"/>
                                        </p:tgtEl>
                                        <p:attrNameLst>
                                          <p:attrName>ppt_x</p:attrName>
                                          <p:attrName>ppt_y</p:attrName>
                                        </p:attrNameLst>
                                      </p:cBhvr>
                                      <p:rCtr x="13000" y="6800"/>
                                    </p:animMotion>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14"/>
                                        </p:tgtEl>
                                        <p:attrNameLst>
                                          <p:attrName>style.visibility</p:attrName>
                                        </p:attrNameLst>
                                      </p:cBhvr>
                                      <p:to>
                                        <p:strVal val="visible"/>
                                      </p:to>
                                    </p:set>
                                    <p:anim calcmode="lin" valueType="num">
                                      <p:cBhvr additive="base">
                                        <p:cTn id="49" dur="500" fill="hold"/>
                                        <p:tgtEl>
                                          <p:spTgt spid="14"/>
                                        </p:tgtEl>
                                        <p:attrNameLst>
                                          <p:attrName>ppt_x</p:attrName>
                                        </p:attrNameLst>
                                      </p:cBhvr>
                                      <p:tavLst>
                                        <p:tav tm="0">
                                          <p:val>
                                            <p:strVal val="#ppt_x"/>
                                          </p:val>
                                        </p:tav>
                                        <p:tav tm="100000">
                                          <p:val>
                                            <p:strVal val="#ppt_x"/>
                                          </p:val>
                                        </p:tav>
                                      </p:tavLst>
                                    </p:anim>
                                    <p:anim calcmode="lin" valueType="num">
                                      <p:cBhvr additive="base">
                                        <p:cTn id="50" dur="500" fill="hold"/>
                                        <p:tgtEl>
                                          <p:spTgt spid="14"/>
                                        </p:tgtEl>
                                        <p:attrNameLst>
                                          <p:attrName>ppt_y</p:attrName>
                                        </p:attrNameLst>
                                      </p:cBhvr>
                                      <p:tavLst>
                                        <p:tav tm="0">
                                          <p:val>
                                            <p:strVal val="1+#ppt_h/2"/>
                                          </p:val>
                                        </p:tav>
                                        <p:tav tm="100000">
                                          <p:val>
                                            <p:strVal val="#ppt_y"/>
                                          </p:val>
                                        </p:tav>
                                      </p:tavLst>
                                    </p:anim>
                                  </p:childTnLst>
                                </p:cTn>
                              </p:par>
                              <p:par>
                                <p:cTn id="51" presetID="2" presetClass="entr" presetSubtype="4" fill="hold" nodeType="withEffect">
                                  <p:stCondLst>
                                    <p:cond delay="0"/>
                                  </p:stCondLst>
                                  <p:childTnLst>
                                    <p:set>
                                      <p:cBhvr>
                                        <p:cTn id="52" dur="1" fill="hold">
                                          <p:stCondLst>
                                            <p:cond delay="0"/>
                                          </p:stCondLst>
                                        </p:cTn>
                                        <p:tgtEl>
                                          <p:spTgt spid="20"/>
                                        </p:tgtEl>
                                        <p:attrNameLst>
                                          <p:attrName>style.visibility</p:attrName>
                                        </p:attrNameLst>
                                      </p:cBhvr>
                                      <p:to>
                                        <p:strVal val="visible"/>
                                      </p:to>
                                    </p:set>
                                    <p:anim calcmode="lin" valueType="num">
                                      <p:cBhvr additive="base">
                                        <p:cTn id="53" dur="500" fill="hold"/>
                                        <p:tgtEl>
                                          <p:spTgt spid="20"/>
                                        </p:tgtEl>
                                        <p:attrNameLst>
                                          <p:attrName>ppt_x</p:attrName>
                                        </p:attrNameLst>
                                      </p:cBhvr>
                                      <p:tavLst>
                                        <p:tav tm="0">
                                          <p:val>
                                            <p:strVal val="#ppt_x"/>
                                          </p:val>
                                        </p:tav>
                                        <p:tav tm="100000">
                                          <p:val>
                                            <p:strVal val="#ppt_x"/>
                                          </p:val>
                                        </p:tav>
                                      </p:tavLst>
                                    </p:anim>
                                    <p:anim calcmode="lin" valueType="num">
                                      <p:cBhvr additive="base">
                                        <p:cTn id="54" dur="500" fill="hold"/>
                                        <p:tgtEl>
                                          <p:spTgt spid="20"/>
                                        </p:tgtEl>
                                        <p:attrNameLst>
                                          <p:attrName>ppt_y</p:attrName>
                                        </p:attrNameLst>
                                      </p:cBhvr>
                                      <p:tavLst>
                                        <p:tav tm="0">
                                          <p:val>
                                            <p:strVal val="1+#ppt_h/2"/>
                                          </p:val>
                                        </p:tav>
                                        <p:tav tm="100000">
                                          <p:val>
                                            <p:strVal val="#ppt_y"/>
                                          </p:val>
                                        </p:tav>
                                      </p:tavLst>
                                    </p:anim>
                                  </p:childTnLst>
                                </p:cTn>
                              </p:par>
                              <p:par>
                                <p:cTn id="55" presetID="2" presetClass="entr" presetSubtype="4" fill="hold" nodeType="withEffect">
                                  <p:stCondLst>
                                    <p:cond delay="0"/>
                                  </p:stCondLst>
                                  <p:childTnLst>
                                    <p:set>
                                      <p:cBhvr>
                                        <p:cTn id="56" dur="1" fill="hold">
                                          <p:stCondLst>
                                            <p:cond delay="0"/>
                                          </p:stCondLst>
                                        </p:cTn>
                                        <p:tgtEl>
                                          <p:spTgt spid="25"/>
                                        </p:tgtEl>
                                        <p:attrNameLst>
                                          <p:attrName>style.visibility</p:attrName>
                                        </p:attrNameLst>
                                      </p:cBhvr>
                                      <p:to>
                                        <p:strVal val="visible"/>
                                      </p:to>
                                    </p:set>
                                    <p:anim calcmode="lin" valueType="num">
                                      <p:cBhvr additive="base">
                                        <p:cTn id="57" dur="500" fill="hold"/>
                                        <p:tgtEl>
                                          <p:spTgt spid="25"/>
                                        </p:tgtEl>
                                        <p:attrNameLst>
                                          <p:attrName>ppt_x</p:attrName>
                                        </p:attrNameLst>
                                      </p:cBhvr>
                                      <p:tavLst>
                                        <p:tav tm="0">
                                          <p:val>
                                            <p:strVal val="#ppt_x"/>
                                          </p:val>
                                        </p:tav>
                                        <p:tav tm="100000">
                                          <p:val>
                                            <p:strVal val="#ppt_x"/>
                                          </p:val>
                                        </p:tav>
                                      </p:tavLst>
                                    </p:anim>
                                    <p:anim calcmode="lin" valueType="num">
                                      <p:cBhvr additive="base">
                                        <p:cTn id="58" dur="500" fill="hold"/>
                                        <p:tgtEl>
                                          <p:spTgt spid="25"/>
                                        </p:tgtEl>
                                        <p:attrNameLst>
                                          <p:attrName>ppt_y</p:attrName>
                                        </p:attrNameLst>
                                      </p:cBhvr>
                                      <p:tavLst>
                                        <p:tav tm="0">
                                          <p:val>
                                            <p:strVal val="1+#ppt_h/2"/>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xit" presetSubtype="4" fill="hold" grpId="0" nodeType="clickEffect">
                                  <p:stCondLst>
                                    <p:cond delay="0"/>
                                  </p:stCondLst>
                                  <p:childTnLst>
                                    <p:anim calcmode="lin" valueType="num">
                                      <p:cBhvr additive="base">
                                        <p:cTn id="62" dur="500"/>
                                        <p:tgtEl>
                                          <p:spTgt spid="52"/>
                                        </p:tgtEl>
                                        <p:attrNameLst>
                                          <p:attrName>ppt_x</p:attrName>
                                        </p:attrNameLst>
                                      </p:cBhvr>
                                      <p:tavLst>
                                        <p:tav tm="0">
                                          <p:val>
                                            <p:strVal val="ppt_x"/>
                                          </p:val>
                                        </p:tav>
                                        <p:tav tm="100000">
                                          <p:val>
                                            <p:strVal val="ppt_x"/>
                                          </p:val>
                                        </p:tav>
                                      </p:tavLst>
                                    </p:anim>
                                    <p:anim calcmode="lin" valueType="num">
                                      <p:cBhvr additive="base">
                                        <p:cTn id="63" dur="500"/>
                                        <p:tgtEl>
                                          <p:spTgt spid="52"/>
                                        </p:tgtEl>
                                        <p:attrNameLst>
                                          <p:attrName>ppt_y</p:attrName>
                                        </p:attrNameLst>
                                      </p:cBhvr>
                                      <p:tavLst>
                                        <p:tav tm="0">
                                          <p:val>
                                            <p:strVal val="ppt_y"/>
                                          </p:val>
                                        </p:tav>
                                        <p:tav tm="100000">
                                          <p:val>
                                            <p:strVal val="1+ppt_h/2"/>
                                          </p:val>
                                        </p:tav>
                                      </p:tavLst>
                                    </p:anim>
                                    <p:set>
                                      <p:cBhvr>
                                        <p:cTn id="64" dur="1" fill="hold">
                                          <p:stCondLst>
                                            <p:cond delay="499"/>
                                          </p:stCondLst>
                                        </p:cTn>
                                        <p:tgtEl>
                                          <p:spTgt spid="52"/>
                                        </p:tgtEl>
                                        <p:attrNameLst>
                                          <p:attrName>style.visibility</p:attrName>
                                        </p:attrNameLst>
                                      </p:cBhvr>
                                      <p:to>
                                        <p:strVal val="hidden"/>
                                      </p:to>
                                    </p:set>
                                  </p:childTnLst>
                                </p:cTn>
                              </p:par>
                            </p:childTnLst>
                          </p:cTn>
                        </p:par>
                      </p:childTnLst>
                    </p:cTn>
                  </p:par>
                  <p:par>
                    <p:cTn id="65" fill="hold">
                      <p:stCondLst>
                        <p:cond delay="indefinite"/>
                      </p:stCondLst>
                      <p:childTnLst>
                        <p:par>
                          <p:cTn id="66" fill="hold">
                            <p:stCondLst>
                              <p:cond delay="0"/>
                            </p:stCondLst>
                            <p:childTnLst>
                              <p:par>
                                <p:cTn id="67" presetID="2" presetClass="entr" presetSubtype="4" fill="hold" grpId="0" nodeType="clickEffect">
                                  <p:stCondLst>
                                    <p:cond delay="0"/>
                                  </p:stCondLst>
                                  <p:childTnLst>
                                    <p:set>
                                      <p:cBhvr>
                                        <p:cTn id="68" dur="1" fill="hold">
                                          <p:stCondLst>
                                            <p:cond delay="0"/>
                                          </p:stCondLst>
                                        </p:cTn>
                                        <p:tgtEl>
                                          <p:spTgt spid="34"/>
                                        </p:tgtEl>
                                        <p:attrNameLst>
                                          <p:attrName>style.visibility</p:attrName>
                                        </p:attrNameLst>
                                      </p:cBhvr>
                                      <p:to>
                                        <p:strVal val="visible"/>
                                      </p:to>
                                    </p:set>
                                    <p:anim calcmode="lin" valueType="num">
                                      <p:cBhvr additive="base">
                                        <p:cTn id="69" dur="500" fill="hold"/>
                                        <p:tgtEl>
                                          <p:spTgt spid="34"/>
                                        </p:tgtEl>
                                        <p:attrNameLst>
                                          <p:attrName>ppt_x</p:attrName>
                                        </p:attrNameLst>
                                      </p:cBhvr>
                                      <p:tavLst>
                                        <p:tav tm="0">
                                          <p:val>
                                            <p:strVal val="#ppt_x"/>
                                          </p:val>
                                        </p:tav>
                                        <p:tav tm="100000">
                                          <p:val>
                                            <p:strVal val="#ppt_x"/>
                                          </p:val>
                                        </p:tav>
                                      </p:tavLst>
                                    </p:anim>
                                    <p:anim calcmode="lin" valueType="num">
                                      <p:cBhvr additive="base">
                                        <p:cTn id="70"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3" presetID="2" presetClass="entr" presetSubtype="4" fill="hold" nodeType="clickEffect">
                                  <p:stCondLst>
                                    <p:cond delay="0"/>
                                  </p:stCondLst>
                                  <p:childTnLst>
                                    <p:set>
                                      <p:cBhvr>
                                        <p:cTn id="74" dur="1" fill="hold">
                                          <p:stCondLst>
                                            <p:cond delay="0"/>
                                          </p:stCondLst>
                                        </p:cTn>
                                        <p:tgtEl>
                                          <p:spTgt spid="26"/>
                                        </p:tgtEl>
                                        <p:attrNameLst>
                                          <p:attrName>style.visibility</p:attrName>
                                        </p:attrNameLst>
                                      </p:cBhvr>
                                      <p:to>
                                        <p:strVal val="visible"/>
                                      </p:to>
                                    </p:set>
                                    <p:anim calcmode="lin" valueType="num">
                                      <p:cBhvr additive="base">
                                        <p:cTn id="75" dur="500" fill="hold"/>
                                        <p:tgtEl>
                                          <p:spTgt spid="26"/>
                                        </p:tgtEl>
                                        <p:attrNameLst>
                                          <p:attrName>ppt_x</p:attrName>
                                        </p:attrNameLst>
                                      </p:cBhvr>
                                      <p:tavLst>
                                        <p:tav tm="0">
                                          <p:val>
                                            <p:strVal val="#ppt_x"/>
                                          </p:val>
                                        </p:tav>
                                        <p:tav tm="100000">
                                          <p:val>
                                            <p:strVal val="#ppt_x"/>
                                          </p:val>
                                        </p:tav>
                                      </p:tavLst>
                                    </p:anim>
                                    <p:anim calcmode="lin" valueType="num">
                                      <p:cBhvr additive="base">
                                        <p:cTn id="76"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79" presetID="2" presetClass="entr" presetSubtype="4" fill="hold" grpId="0" nodeType="clickEffect">
                                  <p:stCondLst>
                                    <p:cond delay="0"/>
                                  </p:stCondLst>
                                  <p:childTnLst>
                                    <p:set>
                                      <p:cBhvr>
                                        <p:cTn id="80" dur="1" fill="hold">
                                          <p:stCondLst>
                                            <p:cond delay="0"/>
                                          </p:stCondLst>
                                        </p:cTn>
                                        <p:tgtEl>
                                          <p:spTgt spid="40"/>
                                        </p:tgtEl>
                                        <p:attrNameLst>
                                          <p:attrName>style.visibility</p:attrName>
                                        </p:attrNameLst>
                                      </p:cBhvr>
                                      <p:to>
                                        <p:strVal val="visible"/>
                                      </p:to>
                                    </p:set>
                                    <p:anim calcmode="lin" valueType="num">
                                      <p:cBhvr additive="base">
                                        <p:cTn id="81" dur="500" fill="hold"/>
                                        <p:tgtEl>
                                          <p:spTgt spid="40"/>
                                        </p:tgtEl>
                                        <p:attrNameLst>
                                          <p:attrName>ppt_x</p:attrName>
                                        </p:attrNameLst>
                                      </p:cBhvr>
                                      <p:tavLst>
                                        <p:tav tm="0">
                                          <p:val>
                                            <p:strVal val="#ppt_x"/>
                                          </p:val>
                                        </p:tav>
                                        <p:tav tm="100000">
                                          <p:val>
                                            <p:strVal val="#ppt_x"/>
                                          </p:val>
                                        </p:tav>
                                      </p:tavLst>
                                    </p:anim>
                                    <p:anim calcmode="lin" valueType="num">
                                      <p:cBhvr additive="base">
                                        <p:cTn id="82" dur="500" fill="hold"/>
                                        <p:tgtEl>
                                          <p:spTgt spid="4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2" grpId="1" animBg="1"/>
      <p:bldP spid="34" grpId="0" bldLvl="0" animBg="1"/>
      <p:bldP spid="34" grpId="1" animBg="1"/>
      <p:bldP spid="40" grpId="0"/>
      <p:bldP spid="40" grpId="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2" name="Text Box 2"/>
          <p:cNvSpPr txBox="1">
            <a:spLocks noChangeArrowheads="1"/>
          </p:cNvSpPr>
          <p:nvPr/>
        </p:nvSpPr>
        <p:spPr bwMode="auto">
          <a:xfrm>
            <a:off x="431800" y="1196752"/>
            <a:ext cx="8280400" cy="430887"/>
          </a:xfrm>
          <a:prstGeom prst="rect">
            <a:avLst/>
          </a:prstGeom>
          <a:noFill/>
          <a:ln w="9525">
            <a:noFill/>
            <a:miter lim="800000"/>
          </a:ln>
          <a:effectLst/>
        </p:spPr>
        <p:txBody>
          <a:bodyPr>
            <a:spAutoFit/>
          </a:bodyPr>
          <a:lstStyle/>
          <a:p>
            <a:pPr>
              <a:spcBef>
                <a:spcPct val="50000"/>
              </a:spcBef>
            </a:pPr>
            <a:r>
              <a:rPr lang="zh-CN" altLang="en-US" sz="2200" b="1" dirty="0">
                <a:latin typeface="宋体" panose="02010600030101010101" pitchFamily="2" charset="-122"/>
                <a:ea typeface="宋体" panose="02010600030101010101" pitchFamily="2" charset="-122"/>
                <a:cs typeface="Times New Roman" panose="02020603050405020304" pitchFamily="18" charset="0"/>
              </a:rPr>
              <a:t>构造一棵哈夫曼树的方法如下：</a:t>
            </a:r>
            <a:endParaRPr lang="zh-CN" altLang="en-US" sz="2200" b="1" dirty="0">
              <a:latin typeface="宋体" panose="02010600030101010101" pitchFamily="2" charset="-122"/>
              <a:ea typeface="宋体" panose="02010600030101010101" pitchFamily="2" charset="-122"/>
              <a:cs typeface="Times New Roman" panose="02020603050405020304" pitchFamily="18" charset="0"/>
            </a:endParaRPr>
          </a:p>
        </p:txBody>
      </p:sp>
      <p:sp>
        <p:nvSpPr>
          <p:cNvPr id="163843" name="Text Box 3"/>
          <p:cNvSpPr txBox="1">
            <a:spLocks noChangeArrowheads="1"/>
          </p:cNvSpPr>
          <p:nvPr/>
        </p:nvSpPr>
        <p:spPr bwMode="auto">
          <a:xfrm>
            <a:off x="683568" y="1997839"/>
            <a:ext cx="8135937" cy="3139321"/>
          </a:xfrm>
          <a:prstGeom prst="rect">
            <a:avLst/>
          </a:prstGeom>
          <a:noFill/>
          <a:ln w="9525">
            <a:noFill/>
            <a:miter lim="800000"/>
          </a:ln>
          <a:effectLst/>
        </p:spPr>
        <p:txBody>
          <a:bodyPr>
            <a:spAutoFit/>
          </a:bodyPr>
          <a:lstStyle/>
          <a:p>
            <a:pPr marL="342900" indent="-342900">
              <a:buFontTx/>
              <a:buAutoNum type="circleNumDbPlain"/>
            </a:pPr>
            <a:r>
              <a:rPr lang="en-US" altLang="zh-CN" sz="2200" b="1" dirty="0">
                <a:latin typeface="宋体" panose="02010600030101010101" pitchFamily="2" charset="-122"/>
                <a:cs typeface="Times New Roman" panose="02020603050405020304" pitchFamily="18" charset="0"/>
              </a:rPr>
              <a:t>Setp1</a:t>
            </a:r>
            <a:r>
              <a:rPr lang="zh-CN" altLang="en-US" sz="2200" b="1" dirty="0">
                <a:latin typeface="宋体" panose="02010600030101010101" pitchFamily="2" charset="-122"/>
                <a:cs typeface="Times New Roman" panose="02020603050405020304" pitchFamily="18" charset="0"/>
              </a:rPr>
              <a:t>：用给定的</a:t>
            </a:r>
            <a:r>
              <a:rPr lang="en-US" altLang="zh-CN" sz="2200" b="1" dirty="0">
                <a:latin typeface="宋体" panose="02010600030101010101" pitchFamily="2" charset="-122"/>
                <a:cs typeface="Times New Roman" panose="02020603050405020304" pitchFamily="18" charset="0"/>
              </a:rPr>
              <a:t>n</a:t>
            </a:r>
            <a:r>
              <a:rPr lang="zh-CN" altLang="en-US" sz="2200" b="1" dirty="0">
                <a:latin typeface="宋体" panose="02010600030101010101" pitchFamily="2" charset="-122"/>
                <a:cs typeface="Times New Roman" panose="02020603050405020304" pitchFamily="18" charset="0"/>
              </a:rPr>
              <a:t>个权值</a:t>
            </a:r>
            <a:r>
              <a:rPr lang="en-US" altLang="zh-CN" sz="2200" b="1" dirty="0">
                <a:latin typeface="宋体" panose="02010600030101010101" pitchFamily="2" charset="-122"/>
                <a:cs typeface="Times New Roman" panose="02020603050405020304" pitchFamily="18" charset="0"/>
              </a:rPr>
              <a:t>{w1,w2,…,</a:t>
            </a:r>
            <a:r>
              <a:rPr lang="en-US" altLang="zh-CN" sz="2200" b="1" dirty="0" err="1">
                <a:latin typeface="宋体" panose="02010600030101010101" pitchFamily="2" charset="-122"/>
                <a:cs typeface="Times New Roman" panose="02020603050405020304" pitchFamily="18" charset="0"/>
              </a:rPr>
              <a:t>wn</a:t>
            </a:r>
            <a:r>
              <a:rPr lang="en-US" altLang="zh-CN" sz="2200" b="1" dirty="0">
                <a:latin typeface="宋体" panose="02010600030101010101" pitchFamily="2" charset="-122"/>
                <a:cs typeface="Times New Roman" panose="02020603050405020304" pitchFamily="18" charset="0"/>
              </a:rPr>
              <a:t>}</a:t>
            </a:r>
            <a:r>
              <a:rPr lang="zh-CN" altLang="en-US" sz="2200" b="1" dirty="0">
                <a:latin typeface="宋体" panose="02010600030101010101" pitchFamily="2" charset="-122"/>
                <a:cs typeface="Times New Roman" panose="02020603050405020304" pitchFamily="18" charset="0"/>
              </a:rPr>
              <a:t>构造</a:t>
            </a:r>
            <a:r>
              <a:rPr lang="en-US" altLang="zh-CN" sz="2200" b="1" dirty="0">
                <a:latin typeface="宋体" panose="02010600030101010101" pitchFamily="2" charset="-122"/>
                <a:cs typeface="Times New Roman" panose="02020603050405020304" pitchFamily="18" charset="0"/>
              </a:rPr>
              <a:t>n</a:t>
            </a:r>
            <a:r>
              <a:rPr lang="zh-CN" altLang="en-US" sz="2200" b="1" dirty="0">
                <a:latin typeface="宋体" panose="02010600030101010101" pitchFamily="2" charset="-122"/>
                <a:cs typeface="Times New Roman" panose="02020603050405020304" pitchFamily="18" charset="0"/>
              </a:rPr>
              <a:t>棵只有根结点的二叉树，得到一个由</a:t>
            </a:r>
            <a:r>
              <a:rPr lang="en-US" altLang="zh-CN" sz="2200" b="1" dirty="0">
                <a:latin typeface="宋体" panose="02010600030101010101" pitchFamily="2" charset="-122"/>
                <a:cs typeface="Times New Roman" panose="02020603050405020304" pitchFamily="18" charset="0"/>
              </a:rPr>
              <a:t>n</a:t>
            </a:r>
            <a:r>
              <a:rPr lang="zh-CN" altLang="en-US" sz="2200" b="1" dirty="0">
                <a:latin typeface="宋体" panose="02010600030101010101" pitchFamily="2" charset="-122"/>
                <a:cs typeface="Times New Roman" panose="02020603050405020304" pitchFamily="18" charset="0"/>
              </a:rPr>
              <a:t>个元素构成的二叉树集合； </a:t>
            </a:r>
            <a:endParaRPr lang="zh-CN" altLang="en-US" sz="2200" b="1" dirty="0">
              <a:latin typeface="宋体" panose="02010600030101010101" pitchFamily="2" charset="-122"/>
              <a:cs typeface="Times New Roman" panose="02020603050405020304" pitchFamily="18" charset="0"/>
            </a:endParaRPr>
          </a:p>
          <a:p>
            <a:pPr marL="342900" indent="-342900">
              <a:buFontTx/>
              <a:buAutoNum type="circleNumDbPlain"/>
            </a:pPr>
            <a:r>
              <a:rPr lang="en-US" altLang="zh-CN" sz="2200" b="1" dirty="0">
                <a:latin typeface="宋体" panose="02010600030101010101" pitchFamily="2" charset="-122"/>
                <a:cs typeface="Times New Roman" panose="02020603050405020304" pitchFamily="18" charset="0"/>
              </a:rPr>
              <a:t>Setp2</a:t>
            </a:r>
            <a:r>
              <a:rPr lang="zh-CN" altLang="en-US" sz="2200" b="1" dirty="0">
                <a:latin typeface="宋体" panose="02010600030101010101" pitchFamily="2" charset="-122"/>
                <a:cs typeface="Times New Roman" panose="02020603050405020304" pitchFamily="18" charset="0"/>
              </a:rPr>
              <a:t>：从二叉树集合中选取根结点的权值最小的和次小的两棵二叉树，当做新的二叉树的左右子树去构造新的二叉树，它的根结点权值是左右两个子树的根结点权值之和。</a:t>
            </a:r>
            <a:endParaRPr lang="zh-CN" altLang="en-US" sz="2200" b="1" dirty="0">
              <a:latin typeface="宋体" panose="02010600030101010101" pitchFamily="2" charset="-122"/>
              <a:cs typeface="Times New Roman" panose="02020603050405020304" pitchFamily="18" charset="0"/>
            </a:endParaRPr>
          </a:p>
          <a:p>
            <a:pPr marL="342900" indent="-342900">
              <a:buFontTx/>
              <a:buAutoNum type="circleNumDbPlain"/>
            </a:pPr>
            <a:r>
              <a:rPr lang="en-US" altLang="zh-CN" sz="2200" b="1" dirty="0">
                <a:latin typeface="宋体" panose="02010600030101010101" pitchFamily="2" charset="-122"/>
                <a:cs typeface="Times New Roman" panose="02020603050405020304" pitchFamily="18" charset="0"/>
              </a:rPr>
              <a:t>Setp3</a:t>
            </a:r>
            <a:r>
              <a:rPr lang="zh-CN" altLang="en-US" sz="2200" b="1" dirty="0">
                <a:latin typeface="宋体" panose="02010600030101010101" pitchFamily="2" charset="-122"/>
                <a:cs typeface="Times New Roman" panose="02020603050405020304" pitchFamily="18" charset="0"/>
              </a:rPr>
              <a:t>：在二叉树集合中删除刚才选出的那两棵二叉树，将新构造的二叉树加入到二叉树集合中。</a:t>
            </a:r>
            <a:endParaRPr lang="zh-CN" altLang="en-US" sz="2200" b="1" dirty="0">
              <a:latin typeface="宋体" panose="02010600030101010101" pitchFamily="2" charset="-122"/>
              <a:cs typeface="Times New Roman" panose="02020603050405020304" pitchFamily="18" charset="0"/>
            </a:endParaRPr>
          </a:p>
          <a:p>
            <a:pPr marL="342900" indent="-342900">
              <a:buFontTx/>
              <a:buAutoNum type="circleNumDbPlain"/>
            </a:pPr>
            <a:r>
              <a:rPr lang="en-US" altLang="zh-CN" sz="2200" b="1" dirty="0">
                <a:latin typeface="宋体" panose="02010600030101010101" pitchFamily="2" charset="-122"/>
                <a:cs typeface="Times New Roman" panose="02020603050405020304" pitchFamily="18" charset="0"/>
              </a:rPr>
              <a:t>Setp4</a:t>
            </a:r>
            <a:r>
              <a:rPr lang="zh-CN" altLang="en-US" sz="2200" b="1" dirty="0">
                <a:latin typeface="宋体" panose="02010600030101010101" pitchFamily="2" charset="-122"/>
                <a:cs typeface="Times New Roman" panose="02020603050405020304" pitchFamily="18" charset="0"/>
              </a:rPr>
              <a:t>：重复步骤</a:t>
            </a:r>
            <a:r>
              <a:rPr lang="en-US" altLang="zh-CN" sz="2200" b="1" dirty="0">
                <a:latin typeface="宋体" panose="02010600030101010101" pitchFamily="2" charset="-122"/>
                <a:cs typeface="Times New Roman" panose="02020603050405020304" pitchFamily="18" charset="0"/>
              </a:rPr>
              <a:t>Setp2</a:t>
            </a:r>
            <a:r>
              <a:rPr lang="zh-CN" altLang="en-US" sz="2200" b="1" dirty="0">
                <a:latin typeface="宋体" panose="02010600030101010101" pitchFamily="2" charset="-122"/>
                <a:cs typeface="Times New Roman" panose="02020603050405020304" pitchFamily="18" charset="0"/>
              </a:rPr>
              <a:t>和</a:t>
            </a:r>
            <a:r>
              <a:rPr lang="en-US" altLang="zh-CN" sz="2200" b="1" dirty="0">
                <a:latin typeface="宋体" panose="02010600030101010101" pitchFamily="2" charset="-122"/>
                <a:cs typeface="Times New Roman" panose="02020603050405020304" pitchFamily="18" charset="0"/>
              </a:rPr>
              <a:t>Setp3</a:t>
            </a:r>
            <a:r>
              <a:rPr lang="zh-CN" altLang="en-US" sz="2200" b="1" dirty="0">
                <a:latin typeface="宋体" panose="02010600030101010101" pitchFamily="2" charset="-122"/>
                <a:cs typeface="Times New Roman" panose="02020603050405020304" pitchFamily="18" charset="0"/>
              </a:rPr>
              <a:t>，当二叉树集合中只剩下一棵二叉树时，这棵二叉树就是哈夫曼树。</a:t>
            </a:r>
            <a:endParaRPr lang="zh-CN" altLang="en-US" sz="2200" b="1" dirty="0">
              <a:latin typeface="宋体" panose="02010600030101010101" pitchFamily="2" charset="-122"/>
              <a:cs typeface="Times New Roman" panose="02020603050405020304" pitchFamily="18" charset="0"/>
            </a:endParaRPr>
          </a:p>
        </p:txBody>
      </p:sp>
      <p:sp>
        <p:nvSpPr>
          <p:cNvPr id="2" name="文本框 1"/>
          <p:cNvSpPr txBox="1"/>
          <p:nvPr/>
        </p:nvSpPr>
        <p:spPr>
          <a:xfrm>
            <a:off x="683260" y="5229225"/>
            <a:ext cx="7503160" cy="730885"/>
          </a:xfrm>
          <a:prstGeom prst="rect">
            <a:avLst/>
          </a:prstGeom>
          <a:noFill/>
        </p:spPr>
        <p:txBody>
          <a:bodyPr wrap="square" rtlCol="0" anchor="t">
            <a:noAutofit/>
          </a:bodyPr>
          <a:lstStyle/>
          <a:p>
            <a:pPr marL="0" indent="0">
              <a:buFontTx/>
              <a:buNone/>
            </a:pPr>
            <a:r>
              <a:rPr lang="zh-CN" altLang="en-US" sz="2200" b="1" dirty="0">
                <a:solidFill>
                  <a:srgbClr val="FF0000"/>
                </a:solidFill>
                <a:latin typeface="宋体" panose="02010600030101010101" pitchFamily="2" charset="-122"/>
                <a:cs typeface="Times New Roman" panose="02020603050405020304" pitchFamily="18" charset="0"/>
                <a:sym typeface="+mn-ea"/>
              </a:rPr>
              <a:t>思考：根据理论，如何具体实现各个步骤，实现构建哈夫曼树的算法？</a:t>
            </a:r>
            <a:endParaRPr lang="zh-CN" altLang="en-US" sz="2200" b="1" dirty="0">
              <a:solidFill>
                <a:srgbClr val="FF0000"/>
              </a:solidFill>
              <a:latin typeface="宋体" panose="02010600030101010101" pitchFamily="2" charset="-122"/>
              <a:cs typeface="Times New Roman" panose="02020603050405020304" pitchFamily="18" charset="0"/>
              <a:sym typeface="+mn-ea"/>
            </a:endParaRPr>
          </a:p>
        </p:txBody>
      </p:sp>
    </p:spTree>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6884" name="Text Box 4"/>
          <p:cNvSpPr txBox="1">
            <a:spLocks noChangeArrowheads="1"/>
          </p:cNvSpPr>
          <p:nvPr/>
        </p:nvSpPr>
        <p:spPr bwMode="auto">
          <a:xfrm>
            <a:off x="323965" y="1628976"/>
            <a:ext cx="8147050" cy="130873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10000"/>
              </a:lnSpc>
              <a:spcBef>
                <a:spcPct val="50000"/>
              </a:spcBef>
            </a:pPr>
            <a:r>
              <a:rPr kumimoji="1" lang="zh-CN" altLang="en-US" sz="2400" b="1">
                <a:solidFill>
                  <a:schemeClr val="tx2"/>
                </a:solidFill>
                <a:latin typeface="华文中宋" panose="02010600040101010101" pitchFamily="2" charset="-122"/>
                <a:ea typeface="华文中宋" panose="02010600040101010101" pitchFamily="2" charset="-122"/>
                <a:cs typeface="Times New Roman" panose="02020603050405020304" pitchFamily="18" charset="0"/>
              </a:rPr>
              <a:t>注意到哈夫曼树在实现过程中，需要频繁的找到最小值，然后取出，然后再插入集合，再完成筛选最小值。什么数据结构能满足上述要求？</a:t>
            </a:r>
            <a:endParaRPr kumimoji="1" lang="zh-CN" altLang="en-US" sz="2400" b="1">
              <a:solidFill>
                <a:schemeClr val="tx2"/>
              </a:solidFill>
              <a:latin typeface="华文中宋" panose="02010600040101010101" pitchFamily="2" charset="-122"/>
              <a:ea typeface="华文中宋" panose="02010600040101010101" pitchFamily="2" charset="-122"/>
              <a:cs typeface="Times New Roman" panose="02020603050405020304" pitchFamily="18" charset="0"/>
            </a:endParaRPr>
          </a:p>
        </p:txBody>
      </p:sp>
      <p:sp>
        <p:nvSpPr>
          <p:cNvPr id="3" name="文本框 2"/>
          <p:cNvSpPr txBox="1"/>
          <p:nvPr/>
        </p:nvSpPr>
        <p:spPr>
          <a:xfrm>
            <a:off x="827723" y="3428683"/>
            <a:ext cx="8010525" cy="646113"/>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堆：是一直非线性的数据结构，其结构与完全二叉树类似，但堆有显著</a:t>
            </a:r>
            <a:endParaRPr kumimoji="0" lang="en-US" altLang="zh-CN" kern="1200" cap="none" spc="0" normalizeH="0" baseline="0" noProof="0">
              <a:solidFill>
                <a:schemeClr val="tx2"/>
              </a:solidFill>
              <a:latin typeface="+mj-ea"/>
              <a:ea typeface="+mj-ea"/>
              <a:cs typeface="Times New Roman" panose="02020603050405020304" pitchFamily="18" charset="0"/>
            </a:endParaRPr>
          </a:p>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    </a:t>
            </a:r>
            <a:r>
              <a:rPr kumimoji="0" lang="zh-CN" altLang="en-US" kern="1200" cap="none" spc="0" normalizeH="0" baseline="0" noProof="0">
                <a:solidFill>
                  <a:schemeClr val="tx2"/>
                </a:solidFill>
                <a:latin typeface="+mj-ea"/>
                <a:ea typeface="+mj-ea"/>
                <a:cs typeface="Times New Roman" panose="02020603050405020304" pitchFamily="18" charset="0"/>
              </a:rPr>
              <a:t>的特点</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sp>
        <p:nvSpPr>
          <p:cNvPr id="22" name="文本框 21"/>
          <p:cNvSpPr txBox="1"/>
          <p:nvPr/>
        </p:nvSpPr>
        <p:spPr>
          <a:xfrm>
            <a:off x="251143" y="5445760"/>
            <a:ext cx="8010525" cy="646113"/>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     对于二叉堆，又可以根据其节点的值比父节点大或比父节点值小来分成大顶堆和小顶堆。</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pic>
        <p:nvPicPr>
          <p:cNvPr id="6153" name="图片 14"/>
          <p:cNvPicPr>
            <a:picLocks noChangeAspect="1"/>
          </p:cNvPicPr>
          <p:nvPr/>
        </p:nvPicPr>
        <p:blipFill>
          <a:blip r:embed="rId1"/>
          <a:stretch>
            <a:fillRect/>
          </a:stretch>
        </p:blipFill>
        <p:spPr>
          <a:xfrm>
            <a:off x="6306185" y="4825683"/>
            <a:ext cx="723900" cy="657225"/>
          </a:xfrm>
          <a:prstGeom prst="rect">
            <a:avLst/>
          </a:prstGeom>
          <a:noFill/>
          <a:ln w="9525">
            <a:noFill/>
          </a:ln>
        </p:spPr>
      </p:pic>
      <p:sp>
        <p:nvSpPr>
          <p:cNvPr id="6154" name="云形标注 17"/>
          <p:cNvSpPr/>
          <p:nvPr/>
        </p:nvSpPr>
        <p:spPr>
          <a:xfrm>
            <a:off x="6798310" y="4028758"/>
            <a:ext cx="1296988" cy="854075"/>
          </a:xfrm>
          <a:prstGeom prst="cloudCallout">
            <a:avLst>
              <a:gd name="adj1" fmla="val -20833"/>
              <a:gd name="adj2" fmla="val 62500"/>
            </a:avLst>
          </a:prstGeom>
          <a:solidFill>
            <a:schemeClr val="accent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155" name="文本框 20"/>
          <p:cNvSpPr txBox="1"/>
          <p:nvPr/>
        </p:nvSpPr>
        <p:spPr>
          <a:xfrm>
            <a:off x="6901498" y="4203383"/>
            <a:ext cx="1193800" cy="523875"/>
          </a:xfrm>
          <a:prstGeom prst="rect">
            <a:avLst/>
          </a:prstGeom>
          <a:noFill/>
          <a:ln w="9525">
            <a:noFill/>
          </a:ln>
        </p:spPr>
        <p:txBody>
          <a:bodyPr>
            <a:spAutoFit/>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algn="ctr">
              <a:spcBef>
                <a:spcPct val="0"/>
              </a:spcBef>
              <a:buClrTx/>
              <a:buSzTx/>
              <a:buFontTx/>
              <a:buNone/>
            </a:pPr>
            <a:r>
              <a:rPr lang="zh-CN" altLang="en-US" sz="1400" b="1" dirty="0">
                <a:solidFill>
                  <a:schemeClr val="tx1"/>
                </a:solidFill>
                <a:ea typeface="宋体" panose="02010600030101010101" pitchFamily="2" charset="-122"/>
                <a:cs typeface="Times New Roman" panose="02020603050405020304" pitchFamily="18" charset="0"/>
              </a:rPr>
              <a:t>堆和二叉树有点雷同！</a:t>
            </a:r>
            <a:endParaRPr lang="zh-CN" altLang="en-US" sz="1400" b="1" dirty="0">
              <a:solidFill>
                <a:schemeClr val="tx1"/>
              </a:solidFill>
              <a:ea typeface="宋体" panose="02010600030101010101" pitchFamily="2" charset="-122"/>
              <a:cs typeface="Times New Roman" panose="02020603050405020304" pitchFamily="18" charset="0"/>
            </a:endParaRPr>
          </a:p>
        </p:txBody>
      </p:sp>
      <p:sp>
        <p:nvSpPr>
          <p:cNvPr id="19" name="文本框 18"/>
          <p:cNvSpPr txBox="1"/>
          <p:nvPr/>
        </p:nvSpPr>
        <p:spPr>
          <a:xfrm>
            <a:off x="827723" y="4055745"/>
            <a:ext cx="5478463" cy="923925"/>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rgbClr val="FF0000"/>
                </a:solidFill>
                <a:latin typeface="+mj-ea"/>
                <a:ea typeface="+mj-ea"/>
                <a:cs typeface="Times New Roman" panose="02020603050405020304" pitchFamily="18" charset="0"/>
              </a:rPr>
              <a:t>①其子节点值大于或小于其父节点的值（根节点最大</a:t>
            </a:r>
            <a:r>
              <a:rPr kumimoji="0" lang="en-US" altLang="zh-CN" kern="1200" cap="none" spc="0" normalizeH="0" baseline="0" noProof="0">
                <a:solidFill>
                  <a:srgbClr val="FF0000"/>
                </a:solidFill>
                <a:latin typeface="+mj-ea"/>
                <a:ea typeface="+mj-ea"/>
                <a:cs typeface="Times New Roman" panose="02020603050405020304" pitchFamily="18" charset="0"/>
              </a:rPr>
              <a:t>           </a:t>
            </a:r>
            <a:r>
              <a:rPr kumimoji="0" lang="zh-CN" altLang="en-US" kern="1200" cap="none" spc="0" normalizeH="0" baseline="0" noProof="0">
                <a:solidFill>
                  <a:srgbClr val="FF0000"/>
                </a:solidFill>
                <a:latin typeface="+mj-ea"/>
                <a:ea typeface="+mj-ea"/>
                <a:cs typeface="Times New Roman" panose="02020603050405020304" pitchFamily="18" charset="0"/>
              </a:rPr>
              <a:t>或最小）</a:t>
            </a:r>
            <a:endParaRPr kumimoji="0" lang="en-US" altLang="zh-CN" kern="1200" cap="none" spc="0" normalizeH="0" baseline="0" noProof="0">
              <a:solidFill>
                <a:srgbClr val="FF0000"/>
              </a:solidFill>
              <a:latin typeface="+mj-ea"/>
              <a:ea typeface="+mj-ea"/>
              <a:cs typeface="Times New Roman" panose="02020603050405020304" pitchFamily="18" charset="0"/>
            </a:endParaRPr>
          </a:p>
          <a:p>
            <a:pPr marR="0" defTabSz="914400">
              <a:buClrTx/>
              <a:buSzTx/>
              <a:buFontTx/>
              <a:buNone/>
              <a:defRPr/>
            </a:pPr>
            <a:r>
              <a:rPr kumimoji="0" lang="zh-CN" altLang="en-US" kern="1200" cap="none" spc="0" normalizeH="0" baseline="0" noProof="0">
                <a:solidFill>
                  <a:srgbClr val="FF0000"/>
                </a:solidFill>
                <a:latin typeface="+mj-ea"/>
                <a:ea typeface="+mj-ea"/>
                <a:cs typeface="Times New Roman" panose="02020603050405020304" pitchFamily="18" charset="0"/>
              </a:rPr>
              <a:t>②堆总是一颗完全二叉树</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sp>
        <p:nvSpPr>
          <p:cNvPr id="5" name="矩形 4"/>
          <p:cNvSpPr/>
          <p:nvPr/>
        </p:nvSpPr>
        <p:spPr>
          <a:xfrm>
            <a:off x="371957" y="776511"/>
            <a:ext cx="2917825"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anim calcmode="lin" valueType="num">
                                      <p:cBhvr additive="base">
                                        <p:cTn id="11" dur="500" fill="hold"/>
                                        <p:tgtEl>
                                          <p:spTgt spid="19"/>
                                        </p:tgtEl>
                                        <p:attrNameLst>
                                          <p:attrName>ppt_x</p:attrName>
                                        </p:attrNameLst>
                                      </p:cBhvr>
                                      <p:tavLst>
                                        <p:tav tm="0">
                                          <p:val>
                                            <p:strVal val="#ppt_x"/>
                                          </p:val>
                                        </p:tav>
                                        <p:tav tm="100000">
                                          <p:val>
                                            <p:strVal val="#ppt_x"/>
                                          </p:val>
                                        </p:tav>
                                      </p:tavLst>
                                    </p:anim>
                                    <p:anim calcmode="lin" valueType="num">
                                      <p:cBhvr additive="base">
                                        <p:cTn id="12" dur="500" fill="hold"/>
                                        <p:tgtEl>
                                          <p:spTgt spid="19"/>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6155"/>
                                        </p:tgtEl>
                                        <p:attrNameLst>
                                          <p:attrName>style.visibility</p:attrName>
                                        </p:attrNameLst>
                                      </p:cBhvr>
                                      <p:to>
                                        <p:strVal val="visible"/>
                                      </p:to>
                                    </p:set>
                                    <p:anim calcmode="lin" valueType="num">
                                      <p:cBhvr additive="base">
                                        <p:cTn id="15" dur="500" fill="hold"/>
                                        <p:tgtEl>
                                          <p:spTgt spid="6155"/>
                                        </p:tgtEl>
                                        <p:attrNameLst>
                                          <p:attrName>ppt_x</p:attrName>
                                        </p:attrNameLst>
                                      </p:cBhvr>
                                      <p:tavLst>
                                        <p:tav tm="0">
                                          <p:val>
                                            <p:strVal val="#ppt_x"/>
                                          </p:val>
                                        </p:tav>
                                        <p:tav tm="100000">
                                          <p:val>
                                            <p:strVal val="#ppt_x"/>
                                          </p:val>
                                        </p:tav>
                                      </p:tavLst>
                                    </p:anim>
                                    <p:anim calcmode="lin" valueType="num">
                                      <p:cBhvr additive="base">
                                        <p:cTn id="16" dur="500" fill="hold"/>
                                        <p:tgtEl>
                                          <p:spTgt spid="6155"/>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6154"/>
                                        </p:tgtEl>
                                        <p:attrNameLst>
                                          <p:attrName>style.visibility</p:attrName>
                                        </p:attrNameLst>
                                      </p:cBhvr>
                                      <p:to>
                                        <p:strVal val="visible"/>
                                      </p:to>
                                    </p:set>
                                    <p:anim calcmode="lin" valueType="num">
                                      <p:cBhvr additive="base">
                                        <p:cTn id="19" dur="500" fill="hold"/>
                                        <p:tgtEl>
                                          <p:spTgt spid="6154"/>
                                        </p:tgtEl>
                                        <p:attrNameLst>
                                          <p:attrName>ppt_x</p:attrName>
                                        </p:attrNameLst>
                                      </p:cBhvr>
                                      <p:tavLst>
                                        <p:tav tm="0">
                                          <p:val>
                                            <p:strVal val="#ppt_x"/>
                                          </p:val>
                                        </p:tav>
                                        <p:tav tm="100000">
                                          <p:val>
                                            <p:strVal val="#ppt_x"/>
                                          </p:val>
                                        </p:tav>
                                      </p:tavLst>
                                    </p:anim>
                                    <p:anim calcmode="lin" valueType="num">
                                      <p:cBhvr additive="base">
                                        <p:cTn id="20" dur="500" fill="hold"/>
                                        <p:tgtEl>
                                          <p:spTgt spid="6154"/>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6153"/>
                                        </p:tgtEl>
                                        <p:attrNameLst>
                                          <p:attrName>style.visibility</p:attrName>
                                        </p:attrNameLst>
                                      </p:cBhvr>
                                      <p:to>
                                        <p:strVal val="visible"/>
                                      </p:to>
                                    </p:set>
                                    <p:anim calcmode="lin" valueType="num">
                                      <p:cBhvr additive="base">
                                        <p:cTn id="23" dur="500" fill="hold"/>
                                        <p:tgtEl>
                                          <p:spTgt spid="6153"/>
                                        </p:tgtEl>
                                        <p:attrNameLst>
                                          <p:attrName>ppt_x</p:attrName>
                                        </p:attrNameLst>
                                      </p:cBhvr>
                                      <p:tavLst>
                                        <p:tav tm="0">
                                          <p:val>
                                            <p:strVal val="#ppt_x"/>
                                          </p:val>
                                        </p:tav>
                                        <p:tav tm="100000">
                                          <p:val>
                                            <p:strVal val="#ppt_x"/>
                                          </p:val>
                                        </p:tav>
                                      </p:tavLst>
                                    </p:anim>
                                    <p:anim calcmode="lin" valueType="num">
                                      <p:cBhvr additive="base">
                                        <p:cTn id="24" dur="500" fill="hold"/>
                                        <p:tgtEl>
                                          <p:spTgt spid="6153"/>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anim calcmode="lin" valueType="num">
                                      <p:cBhvr additive="base">
                                        <p:cTn id="27" dur="500" fill="hold"/>
                                        <p:tgtEl>
                                          <p:spTgt spid="22"/>
                                        </p:tgtEl>
                                        <p:attrNameLst>
                                          <p:attrName>ppt_x</p:attrName>
                                        </p:attrNameLst>
                                      </p:cBhvr>
                                      <p:tavLst>
                                        <p:tav tm="0">
                                          <p:val>
                                            <p:strVal val="#ppt_x"/>
                                          </p:val>
                                        </p:tav>
                                        <p:tav tm="100000">
                                          <p:val>
                                            <p:strVal val="#ppt_x"/>
                                          </p:val>
                                        </p:tav>
                                      </p:tavLst>
                                    </p:anim>
                                    <p:anim calcmode="lin" valueType="num">
                                      <p:cBhvr additive="base">
                                        <p:cTn id="28"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 grpId="1"/>
      <p:bldP spid="22" grpId="0"/>
      <p:bldP spid="22" grpId="1"/>
      <p:bldP spid="6154" grpId="0" animBg="1"/>
      <p:bldP spid="6154" grpId="1" animBg="1"/>
      <p:bldP spid="6155" grpId="0"/>
      <p:bldP spid="6155" grpId="1"/>
      <p:bldP spid="19" grpId="0"/>
      <p:bldP spid="19" grpId="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p:cNvSpPr>
          <p:nvPr>
            <p:ph type="title"/>
          </p:nvPr>
        </p:nvSpPr>
        <p:spPr>
          <a:xfrm>
            <a:off x="1258888" y="333375"/>
            <a:ext cx="7793037" cy="1462088"/>
          </a:xfrm>
        </p:spPr>
        <p:txBody>
          <a:bodyPr vert="horz" wrap="square" lIns="91440" tIns="45720" rIns="91440" bIns="45720" anchor="b" anchorCtr="0"/>
          <a:lstStyle/>
          <a:p>
            <a:pPr eaLnBrk="1" hangingPunct="1">
              <a:buFont typeface="Wingdings" panose="05000000000000000000" pitchFamily="2" charset="2"/>
              <a:buNone/>
            </a:pPr>
            <a:r>
              <a:rPr lang="zh-CN" altLang="en-US" dirty="0"/>
              <a:t>1.</a:t>
            </a:r>
            <a:r>
              <a:rPr lang="en-US" altLang="zh-CN" dirty="0"/>
              <a:t>2 </a:t>
            </a:r>
            <a:r>
              <a:rPr lang="zh-CN" altLang="en-US" dirty="0"/>
              <a:t>如何实现堆</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755650" y="2781300"/>
            <a:ext cx="8010525"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假设给定数据元素</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nvGrpSpPr>
          <p:cNvPr id="8197" name="组合 2"/>
          <p:cNvGrpSpPr/>
          <p:nvPr/>
        </p:nvGrpSpPr>
        <p:grpSpPr>
          <a:xfrm>
            <a:off x="1006475" y="2036763"/>
            <a:ext cx="504825" cy="503237"/>
            <a:chOff x="1006488" y="2036167"/>
            <a:chExt cx="504800" cy="504056"/>
          </a:xfrm>
        </p:grpSpPr>
        <p:sp>
          <p:nvSpPr>
            <p:cNvPr id="822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104908" y="2102951"/>
              <a:ext cx="298435" cy="37048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1</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198" name="组合 17"/>
          <p:cNvGrpSpPr/>
          <p:nvPr/>
        </p:nvGrpSpPr>
        <p:grpSpPr>
          <a:xfrm>
            <a:off x="5808663" y="2032000"/>
            <a:ext cx="504825" cy="504825"/>
            <a:chOff x="1006488" y="2036167"/>
            <a:chExt cx="504800" cy="504056"/>
          </a:xfrm>
        </p:grpSpPr>
        <p:sp>
          <p:nvSpPr>
            <p:cNvPr id="8225" name="椭圆 18"/>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0" name="文本框 19"/>
            <p:cNvSpPr txBox="1"/>
            <p:nvPr/>
          </p:nvSpPr>
          <p:spPr>
            <a:xfrm>
              <a:off x="1104908" y="2102740"/>
              <a:ext cx="298435" cy="37090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8</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199" name="组合 21"/>
          <p:cNvGrpSpPr/>
          <p:nvPr/>
        </p:nvGrpSpPr>
        <p:grpSpPr>
          <a:xfrm>
            <a:off x="1787525" y="2039938"/>
            <a:ext cx="504825" cy="503237"/>
            <a:chOff x="1006488" y="2036167"/>
            <a:chExt cx="504800" cy="504056"/>
          </a:xfrm>
        </p:grpSpPr>
        <p:sp>
          <p:nvSpPr>
            <p:cNvPr id="8223" name="椭圆 22"/>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4" name="文本框 23"/>
            <p:cNvSpPr txBox="1"/>
            <p:nvPr/>
          </p:nvSpPr>
          <p:spPr>
            <a:xfrm>
              <a:off x="1104908" y="2102951"/>
              <a:ext cx="298435" cy="37048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3</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0" name="组合 24"/>
          <p:cNvGrpSpPr/>
          <p:nvPr/>
        </p:nvGrpSpPr>
        <p:grpSpPr>
          <a:xfrm>
            <a:off x="2598738" y="2032000"/>
            <a:ext cx="504825" cy="504825"/>
            <a:chOff x="1006488" y="2036167"/>
            <a:chExt cx="504800" cy="504056"/>
          </a:xfrm>
        </p:grpSpPr>
        <p:sp>
          <p:nvSpPr>
            <p:cNvPr id="8221" name="椭圆 26"/>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8" name="文本框 27"/>
            <p:cNvSpPr txBox="1"/>
            <p:nvPr/>
          </p:nvSpPr>
          <p:spPr>
            <a:xfrm>
              <a:off x="1104908" y="2102740"/>
              <a:ext cx="298435" cy="37090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4</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1" name="组合 28"/>
          <p:cNvGrpSpPr/>
          <p:nvPr/>
        </p:nvGrpSpPr>
        <p:grpSpPr>
          <a:xfrm>
            <a:off x="3378200" y="2039938"/>
            <a:ext cx="504825" cy="503237"/>
            <a:chOff x="1006488" y="2036167"/>
            <a:chExt cx="504800" cy="504056"/>
          </a:xfrm>
        </p:grpSpPr>
        <p:sp>
          <p:nvSpPr>
            <p:cNvPr id="8219"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1" name="文本框 30"/>
            <p:cNvSpPr txBox="1"/>
            <p:nvPr/>
          </p:nvSpPr>
          <p:spPr>
            <a:xfrm>
              <a:off x="1104908" y="2102951"/>
              <a:ext cx="298435" cy="37048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2</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2" name="组合 31"/>
          <p:cNvGrpSpPr/>
          <p:nvPr/>
        </p:nvGrpSpPr>
        <p:grpSpPr>
          <a:xfrm>
            <a:off x="4252913" y="2032000"/>
            <a:ext cx="504825" cy="504825"/>
            <a:chOff x="1006488" y="2036167"/>
            <a:chExt cx="504800" cy="504056"/>
          </a:xfrm>
        </p:grpSpPr>
        <p:sp>
          <p:nvSpPr>
            <p:cNvPr id="8217" name="椭圆 32"/>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4" name="文本框 33"/>
            <p:cNvSpPr txBox="1"/>
            <p:nvPr/>
          </p:nvSpPr>
          <p:spPr>
            <a:xfrm>
              <a:off x="1104908" y="2102740"/>
              <a:ext cx="298435" cy="37090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9</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3" name="组合 34"/>
          <p:cNvGrpSpPr/>
          <p:nvPr/>
        </p:nvGrpSpPr>
        <p:grpSpPr>
          <a:xfrm>
            <a:off x="5014913" y="2032000"/>
            <a:ext cx="504825" cy="504825"/>
            <a:chOff x="1006488" y="2036167"/>
            <a:chExt cx="504800" cy="504056"/>
          </a:xfrm>
        </p:grpSpPr>
        <p:sp>
          <p:nvSpPr>
            <p:cNvPr id="8215"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7" name="文本框 36"/>
            <p:cNvSpPr txBox="1"/>
            <p:nvPr/>
          </p:nvSpPr>
          <p:spPr>
            <a:xfrm>
              <a:off x="1104908" y="2102740"/>
              <a:ext cx="298435" cy="37090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7</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4" name="组合 37"/>
          <p:cNvGrpSpPr/>
          <p:nvPr/>
        </p:nvGrpSpPr>
        <p:grpSpPr>
          <a:xfrm>
            <a:off x="6589713" y="2030413"/>
            <a:ext cx="523875" cy="504825"/>
            <a:chOff x="1006488" y="2036167"/>
            <a:chExt cx="523836" cy="504056"/>
          </a:xfrm>
        </p:grpSpPr>
        <p:sp>
          <p:nvSpPr>
            <p:cNvPr id="8213" name="椭圆 38"/>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55696" y="2094815"/>
              <a:ext cx="474628" cy="369325"/>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10</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5" name="组合 43"/>
          <p:cNvGrpSpPr/>
          <p:nvPr/>
        </p:nvGrpSpPr>
        <p:grpSpPr>
          <a:xfrm>
            <a:off x="7943850" y="2030413"/>
            <a:ext cx="654050" cy="504825"/>
            <a:chOff x="1006488" y="2036167"/>
            <a:chExt cx="653605" cy="504056"/>
          </a:xfrm>
        </p:grpSpPr>
        <p:sp>
          <p:nvSpPr>
            <p:cNvPr id="8211" name="椭圆 44"/>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6" name="文本框 45"/>
            <p:cNvSpPr txBox="1"/>
            <p:nvPr/>
          </p:nvSpPr>
          <p:spPr>
            <a:xfrm>
              <a:off x="1104846" y="2102740"/>
              <a:ext cx="555247" cy="37090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17</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6" name="组合 46"/>
          <p:cNvGrpSpPr/>
          <p:nvPr/>
        </p:nvGrpSpPr>
        <p:grpSpPr>
          <a:xfrm>
            <a:off x="7243763" y="2035175"/>
            <a:ext cx="523875" cy="503238"/>
            <a:chOff x="987452" y="2036167"/>
            <a:chExt cx="523836" cy="504056"/>
          </a:xfrm>
        </p:grpSpPr>
        <p:sp>
          <p:nvSpPr>
            <p:cNvPr id="8209" name="椭圆 47"/>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9" name="文本框 48"/>
            <p:cNvSpPr txBox="1"/>
            <p:nvPr/>
          </p:nvSpPr>
          <p:spPr>
            <a:xfrm>
              <a:off x="987452" y="2104541"/>
              <a:ext cx="523836"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15</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pic>
        <p:nvPicPr>
          <p:cNvPr id="8207" name="图片 9"/>
          <p:cNvPicPr>
            <a:picLocks noChangeAspect="1"/>
          </p:cNvPicPr>
          <p:nvPr/>
        </p:nvPicPr>
        <p:blipFill>
          <a:blip r:embed="rId1"/>
          <a:stretch>
            <a:fillRect/>
          </a:stretch>
        </p:blipFill>
        <p:spPr>
          <a:xfrm>
            <a:off x="2174875" y="3127375"/>
            <a:ext cx="4652963" cy="2874963"/>
          </a:xfrm>
          <a:prstGeom prst="rect">
            <a:avLst/>
          </a:prstGeom>
          <a:noFill/>
          <a:ln w="9525">
            <a:noFill/>
          </a:ln>
        </p:spPr>
      </p:pic>
      <p:sp>
        <p:nvSpPr>
          <p:cNvPr id="57" name="文本框 56"/>
          <p:cNvSpPr txBox="1"/>
          <p:nvPr/>
        </p:nvSpPr>
        <p:spPr>
          <a:xfrm>
            <a:off x="2938463" y="6026150"/>
            <a:ext cx="3168650"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根据数组元素形成堆的结构</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sp>
        <p:nvSpPr>
          <p:cNvPr id="5" name="矩形 4"/>
          <p:cNvSpPr/>
          <p:nvPr/>
        </p:nvSpPr>
        <p:spPr>
          <a:xfrm>
            <a:off x="489432" y="776511"/>
            <a:ext cx="2917825"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p:cNvSpPr>
          <p:nvPr>
            <p:ph type="title"/>
          </p:nvPr>
        </p:nvSpPr>
        <p:spPr>
          <a:xfrm>
            <a:off x="1258888" y="333375"/>
            <a:ext cx="7793037" cy="1462088"/>
          </a:xfrm>
        </p:spPr>
        <p:txBody>
          <a:bodyPr vert="horz" wrap="square" lIns="91440" tIns="45720" rIns="91440" bIns="45720" anchor="b" anchorCtr="0"/>
          <a:lstStyle/>
          <a:p>
            <a:pPr eaLnBrk="1" hangingPunct="1">
              <a:buFont typeface="Wingdings" panose="05000000000000000000" pitchFamily="2" charset="2"/>
              <a:buNone/>
            </a:pPr>
            <a:r>
              <a:rPr lang="zh-CN" altLang="en-US" dirty="0"/>
              <a:t>1.</a:t>
            </a:r>
            <a:r>
              <a:rPr lang="en-US" altLang="zh-CN" dirty="0"/>
              <a:t>2 </a:t>
            </a:r>
            <a:r>
              <a:rPr lang="zh-CN" altLang="en-US" dirty="0"/>
              <a:t>如何实现堆</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650875" y="2133600"/>
            <a:ext cx="8010525"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宋体" panose="02010600030101010101" pitchFamily="2" charset="-122"/>
                <a:cs typeface="Times New Roman" panose="02020603050405020304" pitchFamily="18" charset="0"/>
              </a:rPr>
              <a:t>按照堆顶到下，从左到右进行排列</a:t>
            </a:r>
            <a:endParaRPr kumimoji="0" lang="zh-CN" altLang="en-US" kern="1200" cap="none" spc="0" normalizeH="0" baseline="0" noProof="0">
              <a:solidFill>
                <a:srgbClr val="FF0000"/>
              </a:solidFill>
              <a:latin typeface="宋体" panose="02010600030101010101" pitchFamily="2" charset="-122"/>
              <a:cs typeface="Times New Roman" panose="02020603050405020304" pitchFamily="18" charset="0"/>
            </a:endParaRPr>
          </a:p>
        </p:txBody>
      </p:sp>
      <p:grpSp>
        <p:nvGrpSpPr>
          <p:cNvPr id="10245" name="组合 2"/>
          <p:cNvGrpSpPr/>
          <p:nvPr/>
        </p:nvGrpSpPr>
        <p:grpSpPr>
          <a:xfrm>
            <a:off x="8350250" y="3014663"/>
            <a:ext cx="504825" cy="504825"/>
            <a:chOff x="1006488" y="2036167"/>
            <a:chExt cx="504800" cy="504056"/>
          </a:xfrm>
        </p:grpSpPr>
        <p:sp>
          <p:nvSpPr>
            <p:cNvPr id="1027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46" name="组合 17"/>
          <p:cNvGrpSpPr/>
          <p:nvPr/>
        </p:nvGrpSpPr>
        <p:grpSpPr>
          <a:xfrm>
            <a:off x="3260725" y="3014663"/>
            <a:ext cx="504825" cy="504825"/>
            <a:chOff x="1006488" y="2036167"/>
            <a:chExt cx="504800" cy="504056"/>
          </a:xfrm>
        </p:grpSpPr>
        <p:sp>
          <p:nvSpPr>
            <p:cNvPr id="10277" name="椭圆 18"/>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0" name="文本框 19"/>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8</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47" name="组合 21"/>
          <p:cNvGrpSpPr/>
          <p:nvPr/>
        </p:nvGrpSpPr>
        <p:grpSpPr>
          <a:xfrm>
            <a:off x="5834063" y="3014663"/>
            <a:ext cx="504825" cy="504825"/>
            <a:chOff x="1006488" y="2036167"/>
            <a:chExt cx="504800" cy="504056"/>
          </a:xfrm>
        </p:grpSpPr>
        <p:sp>
          <p:nvSpPr>
            <p:cNvPr id="10275" name="椭圆 22"/>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4" name="文本框 23"/>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3</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48" name="组合 24"/>
          <p:cNvGrpSpPr/>
          <p:nvPr/>
        </p:nvGrpSpPr>
        <p:grpSpPr>
          <a:xfrm>
            <a:off x="7545388" y="3006725"/>
            <a:ext cx="504825" cy="503238"/>
            <a:chOff x="1006488" y="2036167"/>
            <a:chExt cx="504800" cy="504056"/>
          </a:xfrm>
        </p:grpSpPr>
        <p:sp>
          <p:nvSpPr>
            <p:cNvPr id="10273" name="椭圆 26"/>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8" name="文本框 27"/>
            <p:cNvSpPr txBox="1"/>
            <p:nvPr/>
          </p:nvSpPr>
          <p:spPr>
            <a:xfrm>
              <a:off x="1104908" y="2102950"/>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49" name="组合 28"/>
          <p:cNvGrpSpPr/>
          <p:nvPr/>
        </p:nvGrpSpPr>
        <p:grpSpPr>
          <a:xfrm>
            <a:off x="6672263" y="3014663"/>
            <a:ext cx="504825" cy="504825"/>
            <a:chOff x="1006488" y="2036167"/>
            <a:chExt cx="504800" cy="504056"/>
          </a:xfrm>
        </p:grpSpPr>
        <p:sp>
          <p:nvSpPr>
            <p:cNvPr id="10271"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1" name="文本框 30"/>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50" name="组合 31"/>
          <p:cNvGrpSpPr/>
          <p:nvPr/>
        </p:nvGrpSpPr>
        <p:grpSpPr>
          <a:xfrm>
            <a:off x="4957763" y="3014663"/>
            <a:ext cx="504825" cy="504825"/>
            <a:chOff x="1006488" y="2036167"/>
            <a:chExt cx="504800" cy="504056"/>
          </a:xfrm>
        </p:grpSpPr>
        <p:sp>
          <p:nvSpPr>
            <p:cNvPr id="10269" name="椭圆 32"/>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4" name="文本框 33"/>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9</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51" name="组合 34"/>
          <p:cNvGrpSpPr/>
          <p:nvPr/>
        </p:nvGrpSpPr>
        <p:grpSpPr>
          <a:xfrm>
            <a:off x="4083050" y="3014663"/>
            <a:ext cx="504825" cy="504825"/>
            <a:chOff x="1006488" y="2036167"/>
            <a:chExt cx="504800" cy="504056"/>
          </a:xfrm>
        </p:grpSpPr>
        <p:sp>
          <p:nvSpPr>
            <p:cNvPr id="10267"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7" name="文本框 36"/>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52" name="组合 37"/>
          <p:cNvGrpSpPr/>
          <p:nvPr/>
        </p:nvGrpSpPr>
        <p:grpSpPr>
          <a:xfrm>
            <a:off x="2446338" y="3014663"/>
            <a:ext cx="523875" cy="504825"/>
            <a:chOff x="1006488" y="2036167"/>
            <a:chExt cx="523836" cy="504056"/>
          </a:xfrm>
        </p:grpSpPr>
        <p:sp>
          <p:nvSpPr>
            <p:cNvPr id="10265" name="椭圆 38"/>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55696" y="2094815"/>
              <a:ext cx="474628"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10</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53" name="组合 43"/>
          <p:cNvGrpSpPr/>
          <p:nvPr/>
        </p:nvGrpSpPr>
        <p:grpSpPr>
          <a:xfrm>
            <a:off x="1014413" y="3014663"/>
            <a:ext cx="654050" cy="504825"/>
            <a:chOff x="1006488" y="2036167"/>
            <a:chExt cx="653605" cy="504056"/>
          </a:xfrm>
        </p:grpSpPr>
        <p:sp>
          <p:nvSpPr>
            <p:cNvPr id="10263" name="椭圆 44"/>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6" name="文本框 45"/>
            <p:cNvSpPr txBox="1"/>
            <p:nvPr/>
          </p:nvSpPr>
          <p:spPr>
            <a:xfrm>
              <a:off x="1104846" y="2102740"/>
              <a:ext cx="555247"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17</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grpSp>
        <p:nvGrpSpPr>
          <p:cNvPr id="10254" name="组合 46"/>
          <p:cNvGrpSpPr/>
          <p:nvPr/>
        </p:nvGrpSpPr>
        <p:grpSpPr>
          <a:xfrm>
            <a:off x="1754188" y="3014663"/>
            <a:ext cx="523875" cy="504825"/>
            <a:chOff x="987452" y="2036167"/>
            <a:chExt cx="523836" cy="504056"/>
          </a:xfrm>
        </p:grpSpPr>
        <p:sp>
          <p:nvSpPr>
            <p:cNvPr id="10261" name="椭圆 47"/>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9" name="文本框 48"/>
            <p:cNvSpPr txBox="1"/>
            <p:nvPr/>
          </p:nvSpPr>
          <p:spPr>
            <a:xfrm>
              <a:off x="987452" y="2104325"/>
              <a:ext cx="523836"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15</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sp>
        <p:nvSpPr>
          <p:cNvPr id="42" name="文本框 41"/>
          <p:cNvSpPr txBox="1"/>
          <p:nvPr/>
        </p:nvSpPr>
        <p:spPr>
          <a:xfrm>
            <a:off x="930275" y="3867150"/>
            <a:ext cx="8010525" cy="922020"/>
          </a:xfrm>
          <a:prstGeom prst="rect">
            <a:avLst/>
          </a:prstGeom>
          <a:noFill/>
        </p:spPr>
        <p:txBody>
          <a:bodyPr>
            <a:spAutoFit/>
          </a:bodyPr>
          <a:lstStyle/>
          <a:p>
            <a:pPr marR="0" defTabSz="914400">
              <a:buClrTx/>
              <a:buSzTx/>
              <a:buFontTx/>
              <a:buNone/>
              <a:defRPr/>
            </a:pPr>
            <a:r>
              <a:rPr kumimoji="0" lang="zh-CN" altLang="en-US" baseline="0" noProof="0">
                <a:solidFill>
                  <a:srgbClr val="FF0000"/>
                </a:solidFill>
                <a:uFillTx/>
                <a:latin typeface="Times New Roman" panose="02020603050405020304" pitchFamily="18" charset="0"/>
                <a:cs typeface="Times New Roman" panose="02020603050405020304" pitchFamily="18" charset="0"/>
              </a:rPr>
              <a:t>父节点索引： </a:t>
            </a:r>
            <a:r>
              <a:rPr kumimoji="0" lang="en-US" altLang="zh-CN" baseline="0" noProof="0">
                <a:solidFill>
                  <a:srgbClr val="FF0000"/>
                </a:solidFill>
                <a:uFillTx/>
                <a:latin typeface="Times New Roman" panose="02020603050405020304" pitchFamily="18" charset="0"/>
                <a:cs typeface="Times New Roman" panose="02020603050405020304" pitchFamily="18" charset="0"/>
              </a:rPr>
              <a:t>((index+1)/2) – 1</a:t>
            </a:r>
            <a:endParaRPr kumimoji="0" lang="en-US" altLang="zh-CN" baseline="0" noProof="0">
              <a:solidFill>
                <a:srgbClr val="FF0000"/>
              </a:solidFill>
              <a:uFillTx/>
              <a:latin typeface="Times New Roman" panose="02020603050405020304" pitchFamily="18" charset="0"/>
              <a:cs typeface="Times New Roman" panose="02020603050405020304" pitchFamily="18" charset="0"/>
            </a:endParaRPr>
          </a:p>
          <a:p>
            <a:pPr marR="0" defTabSz="914400">
              <a:buClrTx/>
              <a:buSzTx/>
              <a:buFontTx/>
              <a:buNone/>
              <a:defRPr/>
            </a:pPr>
            <a:r>
              <a:rPr kumimoji="0" lang="zh-CN" altLang="en-US" baseline="0" noProof="0">
                <a:solidFill>
                  <a:srgbClr val="FF0000"/>
                </a:solidFill>
                <a:uFillTx/>
                <a:latin typeface="Times New Roman" panose="02020603050405020304" pitchFamily="18" charset="0"/>
                <a:cs typeface="Times New Roman" panose="02020603050405020304" pitchFamily="18" charset="0"/>
              </a:rPr>
              <a:t>左孩子索引： </a:t>
            </a:r>
            <a:r>
              <a:rPr kumimoji="0" lang="en-US" altLang="zh-CN" baseline="0" noProof="0">
                <a:solidFill>
                  <a:srgbClr val="FF0000"/>
                </a:solidFill>
                <a:uFillTx/>
                <a:latin typeface="Times New Roman" panose="02020603050405020304" pitchFamily="18" charset="0"/>
                <a:cs typeface="Times New Roman" panose="02020603050405020304" pitchFamily="18" charset="0"/>
              </a:rPr>
              <a:t>2*(index+1) – 1</a:t>
            </a:r>
            <a:endParaRPr kumimoji="0" lang="en-US" altLang="zh-CN" baseline="0" noProof="0">
              <a:solidFill>
                <a:srgbClr val="FF0000"/>
              </a:solidFill>
              <a:uFillTx/>
              <a:latin typeface="Times New Roman" panose="02020603050405020304" pitchFamily="18" charset="0"/>
              <a:cs typeface="Times New Roman" panose="02020603050405020304" pitchFamily="18" charset="0"/>
            </a:endParaRPr>
          </a:p>
          <a:p>
            <a:pPr marR="0" defTabSz="914400">
              <a:buClrTx/>
              <a:buSzTx/>
              <a:buFontTx/>
              <a:buNone/>
              <a:defRPr/>
            </a:pPr>
            <a:r>
              <a:rPr kumimoji="0" lang="zh-CN" altLang="en-US" baseline="0" noProof="0">
                <a:solidFill>
                  <a:srgbClr val="FF0000"/>
                </a:solidFill>
                <a:uFillTx/>
                <a:latin typeface="Times New Roman" panose="02020603050405020304" pitchFamily="18" charset="0"/>
                <a:cs typeface="Times New Roman" panose="02020603050405020304" pitchFamily="18" charset="0"/>
              </a:rPr>
              <a:t>右孩子索引： </a:t>
            </a:r>
            <a:r>
              <a:rPr kumimoji="0" lang="en-US" altLang="zh-CN" baseline="0" noProof="0">
                <a:solidFill>
                  <a:srgbClr val="FF0000"/>
                </a:solidFill>
                <a:uFillTx/>
                <a:latin typeface="Times New Roman" panose="02020603050405020304" pitchFamily="18" charset="0"/>
                <a:cs typeface="Times New Roman" panose="02020603050405020304" pitchFamily="18" charset="0"/>
              </a:rPr>
              <a:t>2</a:t>
            </a:r>
            <a:r>
              <a:rPr kumimoji="0" lang="zh-CN" altLang="en-US" baseline="0" noProof="0">
                <a:solidFill>
                  <a:srgbClr val="FF0000"/>
                </a:solidFill>
                <a:uFillTx/>
                <a:latin typeface="Times New Roman" panose="02020603050405020304" pitchFamily="18" charset="0"/>
                <a:cs typeface="Times New Roman" panose="02020603050405020304" pitchFamily="18" charset="0"/>
              </a:rPr>
              <a:t>*</a:t>
            </a:r>
            <a:r>
              <a:rPr kumimoji="0" lang="en-US" altLang="zh-CN" baseline="0" noProof="0">
                <a:solidFill>
                  <a:srgbClr val="FF0000"/>
                </a:solidFill>
                <a:uFillTx/>
                <a:latin typeface="Times New Roman" panose="02020603050405020304" pitchFamily="18" charset="0"/>
                <a:cs typeface="Times New Roman" panose="02020603050405020304" pitchFamily="18" charset="0"/>
              </a:rPr>
              <a:t>(index+1)</a:t>
            </a:r>
            <a:endParaRPr kumimoji="0" lang="en-US" altLang="zh-CN" baseline="0" noProof="0">
              <a:solidFill>
                <a:srgbClr val="FF0000"/>
              </a:solidFill>
              <a:uFillTx/>
              <a:latin typeface="Times New Roman" panose="02020603050405020304" pitchFamily="18" charset="0"/>
              <a:cs typeface="Times New Roman" panose="02020603050405020304" pitchFamily="18" charset="0"/>
            </a:endParaRPr>
          </a:p>
        </p:txBody>
      </p:sp>
      <p:sp>
        <p:nvSpPr>
          <p:cNvPr id="43" name="文本框 42"/>
          <p:cNvSpPr txBox="1"/>
          <p:nvPr/>
        </p:nvSpPr>
        <p:spPr>
          <a:xfrm>
            <a:off x="641350" y="5319713"/>
            <a:ext cx="4006850" cy="92202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宋体" panose="02010600030101010101" pitchFamily="2" charset="-122"/>
                <a:cs typeface="Times New Roman" panose="02020603050405020304" pitchFamily="18" charset="0"/>
              </a:rPr>
              <a:t>既然排列的索引值就可以满足节点的查找，那岂不是用数组就可以实现堆数据结构</a:t>
            </a:r>
            <a:endParaRPr kumimoji="0" lang="zh-CN" altLang="en-US" kern="1200" cap="none" spc="0" normalizeH="0" baseline="0" noProof="0">
              <a:solidFill>
                <a:srgbClr val="FF0000"/>
              </a:solidFill>
              <a:latin typeface="宋体" panose="02010600030101010101" pitchFamily="2" charset="-122"/>
              <a:cs typeface="Times New Roman" panose="02020603050405020304" pitchFamily="18" charset="0"/>
            </a:endParaRPr>
          </a:p>
        </p:txBody>
      </p:sp>
      <p:pic>
        <p:nvPicPr>
          <p:cNvPr id="10258" name="图片 4"/>
          <p:cNvPicPr>
            <a:picLocks noChangeAspect="1"/>
          </p:cNvPicPr>
          <p:nvPr/>
        </p:nvPicPr>
        <p:blipFill>
          <a:blip r:embed="rId1"/>
          <a:stretch>
            <a:fillRect/>
          </a:stretch>
        </p:blipFill>
        <p:spPr>
          <a:xfrm>
            <a:off x="500063" y="3444875"/>
            <a:ext cx="8064500" cy="493713"/>
          </a:xfrm>
          <a:prstGeom prst="rect">
            <a:avLst/>
          </a:prstGeom>
          <a:noFill/>
          <a:ln w="9525">
            <a:noFill/>
          </a:ln>
        </p:spPr>
      </p:pic>
      <p:sp>
        <p:nvSpPr>
          <p:cNvPr id="52" name="文本框 51"/>
          <p:cNvSpPr txBox="1"/>
          <p:nvPr/>
        </p:nvSpPr>
        <p:spPr>
          <a:xfrm>
            <a:off x="5376228" y="4337368"/>
            <a:ext cx="2090738"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宋体" panose="02010600030101010101" pitchFamily="2" charset="-122"/>
                <a:cs typeface="Times New Roman" panose="02020603050405020304" pitchFamily="18" charset="0"/>
              </a:rPr>
              <a:t>相应的代码实现</a:t>
            </a:r>
            <a:endParaRPr kumimoji="0" lang="zh-CN" altLang="en-US" kern="1200" cap="none" spc="0" normalizeH="0" baseline="0" noProof="0">
              <a:solidFill>
                <a:schemeClr val="tx2"/>
              </a:solidFill>
              <a:latin typeface="宋体" panose="02010600030101010101" pitchFamily="2" charset="-122"/>
              <a:cs typeface="Times New Roman" panose="02020603050405020304" pitchFamily="18" charset="0"/>
            </a:endParaRPr>
          </a:p>
        </p:txBody>
      </p:sp>
      <p:sp>
        <p:nvSpPr>
          <p:cNvPr id="10260" name="文本框 1"/>
          <p:cNvSpPr txBox="1"/>
          <p:nvPr/>
        </p:nvSpPr>
        <p:spPr>
          <a:xfrm>
            <a:off x="346075" y="2633663"/>
            <a:ext cx="8542338" cy="368300"/>
          </a:xfrm>
          <a:prstGeom prst="rect">
            <a:avLst/>
          </a:prstGeom>
          <a:noFill/>
          <a:ln w="9525">
            <a:noFill/>
          </a:ln>
        </p:spPr>
        <p:txBody>
          <a:bodyPr>
            <a:spAutoFit/>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a:spcBef>
                <a:spcPct val="0"/>
              </a:spcBef>
              <a:buClrTx/>
              <a:buSzTx/>
              <a:buFontTx/>
              <a:buNone/>
            </a:pPr>
            <a:r>
              <a:rPr lang="en-US" altLang="zh-CN" sz="1800" dirty="0">
                <a:solidFill>
                  <a:schemeClr val="tx1"/>
                </a:solidFill>
                <a:ea typeface="宋体" panose="02010600030101010101" pitchFamily="2" charset="-122"/>
                <a:cs typeface="Times New Roman" panose="02020603050405020304" pitchFamily="18" charset="0"/>
              </a:rPr>
              <a:t>index:  0           1         2           3           4           5            6           7           8            9</a:t>
            </a: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 name="矩形 4"/>
          <p:cNvSpPr/>
          <p:nvPr/>
        </p:nvSpPr>
        <p:spPr>
          <a:xfrm>
            <a:off x="416407" y="776511"/>
            <a:ext cx="2917825"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pic>
        <p:nvPicPr>
          <p:cNvPr id="2" name="图片 1"/>
          <p:cNvPicPr>
            <a:picLocks noChangeAspect="1"/>
          </p:cNvPicPr>
          <p:nvPr/>
        </p:nvPicPr>
        <p:blipFill>
          <a:blip r:embed="rId2"/>
          <a:stretch>
            <a:fillRect/>
          </a:stretch>
        </p:blipFill>
        <p:spPr>
          <a:xfrm>
            <a:off x="4851400" y="4679950"/>
            <a:ext cx="3810000" cy="188595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p:cNvSpPr>
          <p:nvPr>
            <p:ph type="title"/>
          </p:nvPr>
        </p:nvSpPr>
        <p:spPr>
          <a:xfrm>
            <a:off x="1258888" y="333375"/>
            <a:ext cx="7793037" cy="1462088"/>
          </a:xfrm>
        </p:spPr>
        <p:txBody>
          <a:bodyPr vert="horz" wrap="square" lIns="91440" tIns="45720" rIns="91440" bIns="45720" anchor="b" anchorCtr="0"/>
          <a:lstStyle/>
          <a:p>
            <a:pPr eaLnBrk="1" hangingPunct="1">
              <a:buFont typeface="Wingdings" panose="05000000000000000000" pitchFamily="2" charset="2"/>
              <a:buNone/>
            </a:pPr>
            <a:r>
              <a:rPr lang="zh-CN" altLang="en-US" dirty="0"/>
              <a:t>1.</a:t>
            </a:r>
            <a:r>
              <a:rPr lang="en-US" altLang="zh-CN" dirty="0"/>
              <a:t>2 </a:t>
            </a:r>
            <a:r>
              <a:rPr lang="zh-CN" altLang="en-US" dirty="0"/>
              <a:t>如何实现堆</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5</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755180" y="1600518"/>
            <a:ext cx="5299075" cy="368300"/>
          </a:xfrm>
          <a:prstGeom prst="rect">
            <a:avLst/>
          </a:prstGeom>
          <a:noFill/>
        </p:spPr>
        <p:txBody>
          <a:bodyPr>
            <a:spAutoFit/>
          </a:bodyPr>
          <a:lstStyle/>
          <a:p>
            <a:pPr marR="0" defTabSz="914400">
              <a:buClrTx/>
              <a:buSzTx/>
              <a:buFontTx/>
              <a:buNone/>
              <a:defRPr/>
            </a:pPr>
            <a:r>
              <a:rPr kumimoji="0" lang="zh-CN" altLang="en-US" baseline="0" noProof="0">
                <a:solidFill>
                  <a:schemeClr val="tx2"/>
                </a:solidFill>
                <a:uFillTx/>
                <a:latin typeface="Times New Roman" panose="02020603050405020304" pitchFamily="18" charset="0"/>
                <a:cs typeface="Times New Roman" panose="02020603050405020304" pitchFamily="18" charset="0"/>
              </a:rPr>
              <a:t>①自顶向下的构造方法</a:t>
            </a:r>
            <a:endParaRPr kumimoji="0" lang="zh-CN" altLang="en-US" baseline="0" noProof="0">
              <a:solidFill>
                <a:schemeClr val="tx2"/>
              </a:solidFill>
              <a:uFillTx/>
              <a:latin typeface="Times New Roman" panose="02020603050405020304" pitchFamily="18" charset="0"/>
              <a:cs typeface="Times New Roman" panose="02020603050405020304" pitchFamily="18" charset="0"/>
            </a:endParaRPr>
          </a:p>
        </p:txBody>
      </p:sp>
      <p:sp>
        <p:nvSpPr>
          <p:cNvPr id="5" name="矩形 4"/>
          <p:cNvSpPr/>
          <p:nvPr/>
        </p:nvSpPr>
        <p:spPr>
          <a:xfrm>
            <a:off x="567537" y="776511"/>
            <a:ext cx="2917825"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2" name="矩形 1"/>
          <p:cNvSpPr/>
          <p:nvPr/>
        </p:nvSpPr>
        <p:spPr>
          <a:xfrm>
            <a:off x="755180" y="1313086"/>
            <a:ext cx="2941320" cy="368300"/>
          </a:xfrm>
          <a:prstGeom prst="rect">
            <a:avLst/>
          </a:prstGeom>
        </p:spPr>
        <p:txBody>
          <a:bodyPr wrap="none">
            <a:spAutoFit/>
          </a:bodyPr>
          <a:lstStyle/>
          <a:p>
            <a:pPr algn="just">
              <a:spcBef>
                <a:spcPct val="50000"/>
              </a:spcBef>
              <a:defRPr/>
            </a:pPr>
            <a:r>
              <a:rPr lang="zh-CN" altLang="en-US" sz="1800" b="1" dirty="0">
                <a:solidFill>
                  <a:srgbClr val="FF0000"/>
                </a:solidFill>
                <a:uFillTx/>
                <a:latin typeface="Times New Roman" panose="02020603050405020304" pitchFamily="18" charset="0"/>
                <a:cs typeface="Times New Roman" panose="02020603050405020304" pitchFamily="18" charset="0"/>
              </a:rPr>
              <a:t>如何将一个数组构造成堆？</a:t>
            </a:r>
            <a:endParaRPr lang="zh-CN" altLang="en-US" sz="1800" b="1" dirty="0">
              <a:solidFill>
                <a:srgbClr val="FF0000"/>
              </a:solidFill>
              <a:uFillTx/>
              <a:latin typeface="Times New Roman" panose="02020603050405020304" pitchFamily="18" charset="0"/>
              <a:cs typeface="Times New Roman" panose="02020603050405020304" pitchFamily="18" charset="0"/>
            </a:endParaRPr>
          </a:p>
        </p:txBody>
      </p:sp>
      <p:grpSp>
        <p:nvGrpSpPr>
          <p:cNvPr id="10245" name="组合 2"/>
          <p:cNvGrpSpPr/>
          <p:nvPr/>
        </p:nvGrpSpPr>
        <p:grpSpPr>
          <a:xfrm>
            <a:off x="5862320" y="2829560"/>
            <a:ext cx="388620" cy="382270"/>
            <a:chOff x="1006488" y="2036167"/>
            <a:chExt cx="504800" cy="504056"/>
          </a:xfrm>
        </p:grpSpPr>
        <p:sp>
          <p:nvSpPr>
            <p:cNvPr id="1027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077683" y="2092692"/>
              <a:ext cx="298435" cy="404417"/>
            </a:xfrm>
            <a:prstGeom prst="rect">
              <a:avLst/>
            </a:prstGeom>
            <a:noFill/>
          </p:spPr>
          <p:txBody>
            <a:bodyPr>
              <a:sp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 name="组合 2"/>
          <p:cNvGrpSpPr/>
          <p:nvPr/>
        </p:nvGrpSpPr>
        <p:grpSpPr>
          <a:xfrm>
            <a:off x="5097780" y="3453765"/>
            <a:ext cx="396240" cy="382270"/>
            <a:chOff x="1006488" y="2036167"/>
            <a:chExt cx="514698" cy="504056"/>
          </a:xfrm>
        </p:grpSpPr>
        <p:sp>
          <p:nvSpPr>
            <p:cNvPr id="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 name="文本框 5"/>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 name="组合 6"/>
          <p:cNvGrpSpPr/>
          <p:nvPr/>
        </p:nvGrpSpPr>
        <p:grpSpPr>
          <a:xfrm>
            <a:off x="6578600" y="3453765"/>
            <a:ext cx="396240" cy="382270"/>
            <a:chOff x="1006488" y="2036167"/>
            <a:chExt cx="514698" cy="504056"/>
          </a:xfrm>
        </p:grpSpPr>
        <p:sp>
          <p:nvSpPr>
            <p:cNvPr id="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 name="文本框 8"/>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15</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 name="组合 9"/>
          <p:cNvGrpSpPr/>
          <p:nvPr/>
        </p:nvGrpSpPr>
        <p:grpSpPr>
          <a:xfrm>
            <a:off x="4568825" y="4127500"/>
            <a:ext cx="396240" cy="382270"/>
            <a:chOff x="1006488" y="2036167"/>
            <a:chExt cx="514698" cy="504056"/>
          </a:xfrm>
        </p:grpSpPr>
        <p:sp>
          <p:nvSpPr>
            <p:cNvPr id="1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 name="文本框 12"/>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 name="组合 14"/>
          <p:cNvGrpSpPr/>
          <p:nvPr/>
        </p:nvGrpSpPr>
        <p:grpSpPr>
          <a:xfrm>
            <a:off x="5499100" y="4127500"/>
            <a:ext cx="449580" cy="382270"/>
            <a:chOff x="1006488" y="2036167"/>
            <a:chExt cx="583984" cy="504056"/>
          </a:xfrm>
        </p:grpSpPr>
        <p:sp>
          <p:nvSpPr>
            <p:cNvPr id="1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8" name="文本框 17"/>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9" name="组合 18"/>
          <p:cNvGrpSpPr/>
          <p:nvPr/>
        </p:nvGrpSpPr>
        <p:grpSpPr>
          <a:xfrm>
            <a:off x="6116320" y="4119880"/>
            <a:ext cx="441960" cy="382270"/>
            <a:chOff x="1006488" y="2036167"/>
            <a:chExt cx="574086" cy="504056"/>
          </a:xfrm>
        </p:grpSpPr>
        <p:sp>
          <p:nvSpPr>
            <p:cNvPr id="2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2" name="文本框 21"/>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9</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3" name="组合 22"/>
          <p:cNvGrpSpPr/>
          <p:nvPr/>
        </p:nvGrpSpPr>
        <p:grpSpPr>
          <a:xfrm>
            <a:off x="7054215" y="4112260"/>
            <a:ext cx="449580" cy="382270"/>
            <a:chOff x="1006488" y="2036167"/>
            <a:chExt cx="583984" cy="504056"/>
          </a:xfrm>
        </p:grpSpPr>
        <p:sp>
          <p:nvSpPr>
            <p:cNvPr id="2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6" name="文本框 25"/>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7" name="组合 26"/>
          <p:cNvGrpSpPr/>
          <p:nvPr/>
        </p:nvGrpSpPr>
        <p:grpSpPr>
          <a:xfrm>
            <a:off x="4106545" y="4794250"/>
            <a:ext cx="441960" cy="382270"/>
            <a:chOff x="1006488" y="2036167"/>
            <a:chExt cx="574086" cy="504056"/>
          </a:xfrm>
        </p:grpSpPr>
        <p:sp>
          <p:nvSpPr>
            <p:cNvPr id="2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0" name="文本框 29"/>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2" name="组合 31"/>
          <p:cNvGrpSpPr/>
          <p:nvPr/>
        </p:nvGrpSpPr>
        <p:grpSpPr>
          <a:xfrm>
            <a:off x="5036820" y="4786630"/>
            <a:ext cx="449580" cy="382270"/>
            <a:chOff x="1006488" y="2036167"/>
            <a:chExt cx="583984" cy="504056"/>
          </a:xfrm>
        </p:grpSpPr>
        <p:sp>
          <p:nvSpPr>
            <p:cNvPr id="3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5" name="文本框 34"/>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36" name="直接箭头连接符 35"/>
          <p:cNvCxnSpPr/>
          <p:nvPr/>
        </p:nvCxnSpPr>
        <p:spPr>
          <a:xfrm>
            <a:off x="4633595" y="349440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8" name="文本框 37"/>
          <p:cNvSpPr txBox="1"/>
          <p:nvPr/>
        </p:nvSpPr>
        <p:spPr>
          <a:xfrm>
            <a:off x="4467860" y="330263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sp>
        <p:nvSpPr>
          <p:cNvPr id="39" name="文本框 38"/>
          <p:cNvSpPr txBox="1"/>
          <p:nvPr/>
        </p:nvSpPr>
        <p:spPr>
          <a:xfrm>
            <a:off x="972185" y="2097405"/>
            <a:ext cx="7132320" cy="401320"/>
          </a:xfrm>
          <a:prstGeom prst="rect">
            <a:avLst/>
          </a:prstGeom>
          <a:noFill/>
        </p:spPr>
        <p:txBody>
          <a:bodyPr wrap="square" rtlCol="0" anchor="t">
            <a:noAutofit/>
          </a:bodyPr>
          <a:lstStyle/>
          <a:p>
            <a:pPr marR="0" defTabSz="914400">
              <a:buClrTx/>
              <a:buSzTx/>
              <a:buFontTx/>
              <a:buNone/>
              <a:defRPr/>
            </a:pPr>
            <a:r>
              <a:rPr lang="zh-CN" altLang="en-US" noProof="0">
                <a:solidFill>
                  <a:schemeClr val="tx2"/>
                </a:solidFill>
                <a:uFillTx/>
                <a:latin typeface="Times New Roman" panose="02020603050405020304" pitchFamily="18" charset="0"/>
                <a:cs typeface="Times New Roman" panose="02020603050405020304" pitchFamily="18" charset="0"/>
                <a:sym typeface="+mn-ea"/>
              </a:rPr>
              <a:t>待重构的堆：</a:t>
            </a:r>
            <a:r>
              <a:rPr lang="en-US" altLang="zh-CN" noProof="0">
                <a:solidFill>
                  <a:schemeClr val="tx2"/>
                </a:solidFill>
                <a:uFillTx/>
                <a:latin typeface="Times New Roman" panose="02020603050405020304" pitchFamily="18" charset="0"/>
                <a:cs typeface="Times New Roman" panose="02020603050405020304" pitchFamily="18" charset="0"/>
                <a:sym typeface="+mn-ea"/>
              </a:rPr>
              <a:t>[8,10,15,17,7,9,3,2,4]</a:t>
            </a:r>
            <a:r>
              <a:rPr lang="zh-CN" altLang="en-US" noProof="0">
                <a:solidFill>
                  <a:schemeClr val="tx2"/>
                </a:solidFill>
                <a:uFillTx/>
                <a:latin typeface="Times New Roman" panose="02020603050405020304" pitchFamily="18" charset="0"/>
                <a:cs typeface="Times New Roman" panose="02020603050405020304" pitchFamily="18" charset="0"/>
                <a:sym typeface="+mn-ea"/>
              </a:rPr>
              <a:t>，定义</a:t>
            </a:r>
            <a:r>
              <a:rPr lang="en-US" altLang="zh-CN" noProof="0">
                <a:solidFill>
                  <a:schemeClr val="tx2"/>
                </a:solidFill>
                <a:uFillTx/>
                <a:latin typeface="Times New Roman" panose="02020603050405020304" pitchFamily="18" charset="0"/>
                <a:cs typeface="Times New Roman" panose="02020603050405020304" pitchFamily="18" charset="0"/>
                <a:sym typeface="+mn-ea"/>
              </a:rPr>
              <a:t>i</a:t>
            </a:r>
            <a:r>
              <a:rPr lang="zh-CN" altLang="en-US" noProof="0">
                <a:solidFill>
                  <a:schemeClr val="tx2"/>
                </a:solidFill>
                <a:uFillTx/>
                <a:latin typeface="Times New Roman" panose="02020603050405020304" pitchFamily="18" charset="0"/>
                <a:cs typeface="Times New Roman" panose="02020603050405020304" pitchFamily="18" charset="0"/>
                <a:sym typeface="+mn-ea"/>
              </a:rPr>
              <a:t>指针，指向重构节点，定义</a:t>
            </a:r>
            <a:r>
              <a:rPr lang="en-US" altLang="zh-CN" noProof="0">
                <a:solidFill>
                  <a:schemeClr val="tx2"/>
                </a:solidFill>
                <a:uFillTx/>
                <a:latin typeface="Times New Roman" panose="02020603050405020304" pitchFamily="18" charset="0"/>
                <a:cs typeface="Times New Roman" panose="02020603050405020304" pitchFamily="18" charset="0"/>
                <a:sym typeface="+mn-ea"/>
              </a:rPr>
              <a:t>k</a:t>
            </a:r>
            <a:r>
              <a:rPr lang="zh-CN" altLang="en-US" noProof="0">
                <a:solidFill>
                  <a:schemeClr val="tx2"/>
                </a:solidFill>
                <a:uFillTx/>
                <a:latin typeface="Times New Roman" panose="02020603050405020304" pitchFamily="18" charset="0"/>
                <a:cs typeface="Times New Roman" panose="02020603050405020304" pitchFamily="18" charset="0"/>
                <a:sym typeface="+mn-ea"/>
              </a:rPr>
              <a:t>表示待交换节点。</a:t>
            </a:r>
            <a:endParaRPr lang="zh-CN" altLang="en-US" noProof="0">
              <a:solidFill>
                <a:schemeClr val="tx2"/>
              </a:solidFill>
              <a:uFillTx/>
              <a:latin typeface="Times New Roman" panose="02020603050405020304" pitchFamily="18" charset="0"/>
              <a:cs typeface="Times New Roman" panose="02020603050405020304" pitchFamily="18" charset="0"/>
              <a:sym typeface="+mn-ea"/>
            </a:endParaRPr>
          </a:p>
        </p:txBody>
      </p:sp>
      <p:sp>
        <p:nvSpPr>
          <p:cNvPr id="41" name="矩形 40"/>
          <p:cNvSpPr/>
          <p:nvPr/>
        </p:nvSpPr>
        <p:spPr>
          <a:xfrm>
            <a:off x="251460" y="3453765"/>
            <a:ext cx="3282950" cy="270510"/>
          </a:xfrm>
          <a:prstGeom prst="rect">
            <a:avLst/>
          </a:prstGeom>
        </p:spPr>
        <p:txBody>
          <a:bodyPr wrap="none">
            <a:noAutofit/>
          </a:bodyPr>
          <a:lstStyle/>
          <a:p>
            <a:pPr algn="just">
              <a:spcBef>
                <a:spcPct val="5000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①</a:t>
            </a:r>
            <a:r>
              <a:rPr lang="en-US" altLang="zh-CN" sz="1400" b="1" dirty="0">
                <a:solidFill>
                  <a:srgbClr val="FF0000"/>
                </a:solidFill>
                <a:uFillTx/>
                <a:latin typeface="Times New Roman" panose="02020603050405020304" pitchFamily="18" charset="0"/>
                <a:cs typeface="Times New Roman" panose="02020603050405020304" pitchFamily="18" charset="0"/>
              </a:rPr>
              <a:t>i</a:t>
            </a:r>
            <a:r>
              <a:rPr lang="zh-CN" altLang="en-US" sz="1400" b="1" dirty="0">
                <a:solidFill>
                  <a:srgbClr val="FF0000"/>
                </a:solidFill>
                <a:uFillTx/>
                <a:latin typeface="Times New Roman" panose="02020603050405020304" pitchFamily="18" charset="0"/>
                <a:cs typeface="Times New Roman" panose="02020603050405020304" pitchFamily="18" charset="0"/>
              </a:rPr>
              <a:t>指针指向一个待重构的节点，同时</a:t>
            </a:r>
            <a:r>
              <a:rPr lang="en-US" altLang="zh-CN" sz="1400" b="1" dirty="0">
                <a:solidFill>
                  <a:srgbClr val="FF0000"/>
                </a:solidFill>
                <a:uFillTx/>
                <a:latin typeface="Times New Roman" panose="02020603050405020304" pitchFamily="18" charset="0"/>
                <a:cs typeface="Times New Roman" panose="02020603050405020304" pitchFamily="18" charset="0"/>
              </a:rPr>
              <a:t>k=i</a:t>
            </a:r>
            <a:r>
              <a:rPr lang="zh-CN" altLang="en-US" sz="1400" b="1" dirty="0">
                <a:solidFill>
                  <a:srgbClr val="FF0000"/>
                </a:solidFill>
                <a:uFillTx/>
                <a:latin typeface="Times New Roman" panose="02020603050405020304" pitchFamily="18" charset="0"/>
                <a:cs typeface="Times New Roman" panose="02020603050405020304" pitchFamily="18" charset="0"/>
              </a:rPr>
              <a:t>。</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p:txBody>
      </p:sp>
      <p:cxnSp>
        <p:nvCxnSpPr>
          <p:cNvPr id="42" name="直接箭头连接符 41"/>
          <p:cNvCxnSpPr/>
          <p:nvPr/>
        </p:nvCxnSpPr>
        <p:spPr>
          <a:xfrm>
            <a:off x="4631055" y="377380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3" name="文本框 42"/>
          <p:cNvSpPr txBox="1"/>
          <p:nvPr/>
        </p:nvSpPr>
        <p:spPr>
          <a:xfrm>
            <a:off x="4465320" y="358203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sp>
        <p:nvSpPr>
          <p:cNvPr id="44" name="矩形 43"/>
          <p:cNvSpPr/>
          <p:nvPr/>
        </p:nvSpPr>
        <p:spPr>
          <a:xfrm>
            <a:off x="245110" y="3823335"/>
            <a:ext cx="3399790" cy="828040"/>
          </a:xfrm>
          <a:prstGeom prst="rect">
            <a:avLst/>
          </a:prstGeom>
        </p:spPr>
        <p:txBody>
          <a:bodyPr wrap="none">
            <a:noAutofit/>
          </a:bodyPr>
          <a:lstStyle/>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②此时</a:t>
            </a:r>
            <a:r>
              <a:rPr lang="en-US" altLang="zh-CN" sz="1400" b="1" dirty="0">
                <a:solidFill>
                  <a:srgbClr val="FF0000"/>
                </a:solidFill>
                <a:uFillTx/>
                <a:latin typeface="Times New Roman" panose="02020603050405020304" pitchFamily="18" charset="0"/>
                <a:cs typeface="Times New Roman" panose="02020603050405020304" pitchFamily="18" charset="0"/>
              </a:rPr>
              <a:t>k</a:t>
            </a:r>
            <a:r>
              <a:rPr lang="zh-CN" altLang="en-US" sz="1400" b="1" dirty="0">
                <a:solidFill>
                  <a:srgbClr val="FF0000"/>
                </a:solidFill>
                <a:uFillTx/>
                <a:latin typeface="Times New Roman" panose="02020603050405020304" pitchFamily="18" charset="0"/>
                <a:cs typeface="Times New Roman" panose="02020603050405020304" pitchFamily="18" charset="0"/>
              </a:rPr>
              <a:t>指向节点与父节点比较，如果比</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父节点大则进行交换，交换完成则</a:t>
            </a:r>
            <a:r>
              <a:rPr lang="en-US" altLang="zh-CN" sz="1400" b="1" dirty="0">
                <a:solidFill>
                  <a:srgbClr val="FF0000"/>
                </a:solidFill>
                <a:uFillTx/>
                <a:latin typeface="Times New Roman" panose="02020603050405020304" pitchFamily="18" charset="0"/>
                <a:cs typeface="Times New Roman" panose="02020603050405020304" pitchFamily="18" charset="0"/>
              </a:rPr>
              <a:t>k</a:t>
            </a:r>
            <a:r>
              <a:rPr lang="zh-CN" altLang="en-US" sz="1400" b="1" dirty="0">
                <a:solidFill>
                  <a:srgbClr val="FF0000"/>
                </a:solidFill>
                <a:uFillTx/>
                <a:latin typeface="Times New Roman" panose="02020603050405020304" pitchFamily="18" charset="0"/>
                <a:cs typeface="Times New Roman" panose="02020603050405020304" pitchFamily="18" charset="0"/>
              </a:rPr>
              <a:t>指</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向父节点。若</a:t>
            </a:r>
            <a:r>
              <a:rPr lang="en-US" altLang="zh-CN" sz="1400" b="1" dirty="0">
                <a:solidFill>
                  <a:srgbClr val="FF0000"/>
                </a:solidFill>
                <a:uFillTx/>
                <a:latin typeface="Times New Roman" panose="02020603050405020304" pitchFamily="18" charset="0"/>
                <a:cs typeface="Times New Roman" panose="02020603050405020304" pitchFamily="18" charset="0"/>
              </a:rPr>
              <a:t>k</a:t>
            </a:r>
            <a:r>
              <a:rPr lang="zh-CN" altLang="en-US" sz="1400" b="1" dirty="0">
                <a:solidFill>
                  <a:srgbClr val="FF0000"/>
                </a:solidFill>
                <a:uFillTx/>
                <a:latin typeface="Times New Roman" panose="02020603050405020304" pitchFamily="18" charset="0"/>
                <a:cs typeface="Times New Roman" panose="02020603050405020304" pitchFamily="18" charset="0"/>
              </a:rPr>
              <a:t>节点指向根节点或</a:t>
            </a:r>
            <a:r>
              <a:rPr lang="en-US" altLang="zh-CN" sz="1400" b="1" dirty="0">
                <a:solidFill>
                  <a:srgbClr val="FF0000"/>
                </a:solidFill>
                <a:uFillTx/>
                <a:latin typeface="Times New Roman" panose="02020603050405020304" pitchFamily="18" charset="0"/>
                <a:cs typeface="Times New Roman" panose="02020603050405020304" pitchFamily="18" charset="0"/>
              </a:rPr>
              <a:t>k</a:t>
            </a:r>
            <a:r>
              <a:rPr lang="zh-CN" altLang="en-US" sz="1400" b="1" dirty="0">
                <a:solidFill>
                  <a:srgbClr val="FF0000"/>
                </a:solidFill>
                <a:uFillTx/>
                <a:latin typeface="Times New Roman" panose="02020603050405020304" pitchFamily="18" charset="0"/>
                <a:cs typeface="Times New Roman" panose="02020603050405020304" pitchFamily="18" charset="0"/>
              </a:rPr>
              <a:t>指向</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节点比父节点小，则循环结束。</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p:txBody>
      </p:sp>
      <p:cxnSp>
        <p:nvCxnSpPr>
          <p:cNvPr id="45" name="直接箭头连接符 44"/>
          <p:cNvCxnSpPr/>
          <p:nvPr/>
        </p:nvCxnSpPr>
        <p:spPr>
          <a:xfrm>
            <a:off x="5499100" y="314071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7" name="文本框 46"/>
          <p:cNvSpPr txBox="1"/>
          <p:nvPr/>
        </p:nvSpPr>
        <p:spPr>
          <a:xfrm>
            <a:off x="5333365" y="294894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sp>
        <p:nvSpPr>
          <p:cNvPr id="48" name="矩形 47"/>
          <p:cNvSpPr/>
          <p:nvPr/>
        </p:nvSpPr>
        <p:spPr>
          <a:xfrm>
            <a:off x="227330" y="4817110"/>
            <a:ext cx="3282950" cy="629285"/>
          </a:xfrm>
          <a:prstGeom prst="rect">
            <a:avLst/>
          </a:prstGeom>
        </p:spPr>
        <p:txBody>
          <a:bodyPr wrap="none">
            <a:noAutofit/>
          </a:bodyPr>
          <a:lstStyle/>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③该节点重构完成，</a:t>
            </a:r>
            <a:r>
              <a:rPr lang="en-US" altLang="zh-CN" sz="1400" b="1" dirty="0">
                <a:solidFill>
                  <a:srgbClr val="FF0000"/>
                </a:solidFill>
                <a:uFillTx/>
                <a:latin typeface="Times New Roman" panose="02020603050405020304" pitchFamily="18" charset="0"/>
                <a:cs typeface="Times New Roman" panose="02020603050405020304" pitchFamily="18" charset="0"/>
              </a:rPr>
              <a:t>i</a:t>
            </a:r>
            <a:r>
              <a:rPr lang="zh-CN" altLang="en-US" sz="1400" b="1" dirty="0">
                <a:solidFill>
                  <a:srgbClr val="FF0000"/>
                </a:solidFill>
                <a:uFillTx/>
                <a:latin typeface="Times New Roman" panose="02020603050405020304" pitchFamily="18" charset="0"/>
                <a:cs typeface="Times New Roman" panose="02020603050405020304" pitchFamily="18" charset="0"/>
              </a:rPr>
              <a:t>指针自增</a:t>
            </a:r>
            <a:r>
              <a:rPr lang="en-US" altLang="zh-CN" sz="1400" b="1" dirty="0">
                <a:solidFill>
                  <a:srgbClr val="FF0000"/>
                </a:solidFill>
                <a:uFillTx/>
                <a:latin typeface="Times New Roman" panose="02020603050405020304" pitchFamily="18" charset="0"/>
                <a:cs typeface="Times New Roman" panose="02020603050405020304" pitchFamily="18" charset="0"/>
              </a:rPr>
              <a:t>1</a:t>
            </a:r>
            <a:r>
              <a:rPr lang="zh-CN" altLang="en-US" sz="1400" b="1" dirty="0">
                <a:solidFill>
                  <a:srgbClr val="FF0000"/>
                </a:solidFill>
                <a:uFillTx/>
                <a:latin typeface="Times New Roman" panose="02020603050405020304" pitchFamily="18" charset="0"/>
                <a:cs typeface="Times New Roman" panose="02020603050405020304" pitchFamily="18" charset="0"/>
              </a:rPr>
              <a:t>。重复</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①，②步操作。</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p:txBody>
      </p:sp>
      <p:cxnSp>
        <p:nvCxnSpPr>
          <p:cNvPr id="52" name="直接箭头连接符 51"/>
          <p:cNvCxnSpPr/>
          <p:nvPr/>
        </p:nvCxnSpPr>
        <p:spPr>
          <a:xfrm>
            <a:off x="6228080" y="354266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3" name="文本框 52"/>
          <p:cNvSpPr txBox="1"/>
          <p:nvPr/>
        </p:nvSpPr>
        <p:spPr>
          <a:xfrm>
            <a:off x="6062345" y="335089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54" name="直接箭头连接符 53"/>
          <p:cNvCxnSpPr/>
          <p:nvPr/>
        </p:nvCxnSpPr>
        <p:spPr>
          <a:xfrm>
            <a:off x="6228080" y="372427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5" name="文本框 54"/>
          <p:cNvSpPr txBox="1"/>
          <p:nvPr/>
        </p:nvSpPr>
        <p:spPr>
          <a:xfrm>
            <a:off x="6062345" y="353250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56" name="直接连接符 55"/>
          <p:cNvCxnSpPr>
            <a:stCxn id="10279" idx="4"/>
          </p:cNvCxnSpPr>
          <p:nvPr/>
        </p:nvCxnSpPr>
        <p:spPr>
          <a:xfrm flipH="1">
            <a:off x="6042025" y="321183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7" name="直接连接符 56"/>
          <p:cNvCxnSpPr/>
          <p:nvPr/>
        </p:nvCxnSpPr>
        <p:spPr>
          <a:xfrm>
            <a:off x="5295265" y="3348990"/>
            <a:ext cx="1508760"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8" name="直接箭头连接符 57"/>
          <p:cNvCxnSpPr/>
          <p:nvPr/>
        </p:nvCxnSpPr>
        <p:spPr>
          <a:xfrm flipH="1">
            <a:off x="5295265" y="3341370"/>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9" name="直接箭头连接符 58"/>
          <p:cNvCxnSpPr/>
          <p:nvPr/>
        </p:nvCxnSpPr>
        <p:spPr>
          <a:xfrm flipH="1">
            <a:off x="6804025" y="3345180"/>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0" name="直接连接符 59"/>
          <p:cNvCxnSpPr/>
          <p:nvPr/>
        </p:nvCxnSpPr>
        <p:spPr>
          <a:xfrm flipH="1">
            <a:off x="5292090" y="384683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1" name="直接连接符 60"/>
          <p:cNvCxnSpPr/>
          <p:nvPr/>
        </p:nvCxnSpPr>
        <p:spPr>
          <a:xfrm flipV="1">
            <a:off x="4784090" y="398145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2" name="直接箭头连接符 61"/>
          <p:cNvCxnSpPr/>
          <p:nvPr/>
        </p:nvCxnSpPr>
        <p:spPr>
          <a:xfrm flipH="1">
            <a:off x="4791710" y="399034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3" name="直接箭头连接符 62"/>
          <p:cNvCxnSpPr/>
          <p:nvPr/>
        </p:nvCxnSpPr>
        <p:spPr>
          <a:xfrm flipH="1">
            <a:off x="5716270" y="398018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4" name="直接连接符 63"/>
          <p:cNvCxnSpPr/>
          <p:nvPr/>
        </p:nvCxnSpPr>
        <p:spPr>
          <a:xfrm flipH="1">
            <a:off x="6790055" y="383794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5" name="直接连接符 64"/>
          <p:cNvCxnSpPr/>
          <p:nvPr/>
        </p:nvCxnSpPr>
        <p:spPr>
          <a:xfrm flipV="1">
            <a:off x="6320155" y="397256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6" name="直接箭头连接符 65"/>
          <p:cNvCxnSpPr/>
          <p:nvPr/>
        </p:nvCxnSpPr>
        <p:spPr>
          <a:xfrm flipH="1">
            <a:off x="6320155" y="397383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7" name="直接箭头连接符 66"/>
          <p:cNvCxnSpPr/>
          <p:nvPr/>
        </p:nvCxnSpPr>
        <p:spPr>
          <a:xfrm flipH="1">
            <a:off x="7252335" y="397129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8" name="直接连接符 67"/>
          <p:cNvCxnSpPr/>
          <p:nvPr/>
        </p:nvCxnSpPr>
        <p:spPr>
          <a:xfrm flipH="1">
            <a:off x="4768215" y="451612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9" name="直接连接符 68"/>
          <p:cNvCxnSpPr/>
          <p:nvPr/>
        </p:nvCxnSpPr>
        <p:spPr>
          <a:xfrm flipV="1">
            <a:off x="4298315" y="465074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0" name="直接箭头连接符 69"/>
          <p:cNvCxnSpPr/>
          <p:nvPr/>
        </p:nvCxnSpPr>
        <p:spPr>
          <a:xfrm flipH="1">
            <a:off x="4298315" y="465201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71" name="直接箭头连接符 70"/>
          <p:cNvCxnSpPr/>
          <p:nvPr/>
        </p:nvCxnSpPr>
        <p:spPr>
          <a:xfrm flipH="1">
            <a:off x="5230495" y="464947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0" name="直接箭头连接符 19"/>
          <p:cNvCxnSpPr/>
          <p:nvPr/>
        </p:nvCxnSpPr>
        <p:spPr>
          <a:xfrm>
            <a:off x="4283710" y="422084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24" name="文本框 23"/>
          <p:cNvSpPr txBox="1"/>
          <p:nvPr/>
        </p:nvSpPr>
        <p:spPr>
          <a:xfrm>
            <a:off x="4117975" y="402907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28" name="直接箭头连接符 27"/>
          <p:cNvCxnSpPr/>
          <p:nvPr/>
        </p:nvCxnSpPr>
        <p:spPr>
          <a:xfrm>
            <a:off x="4275455" y="443738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1" name="文本框 30"/>
          <p:cNvSpPr txBox="1"/>
          <p:nvPr/>
        </p:nvSpPr>
        <p:spPr>
          <a:xfrm>
            <a:off x="4109720" y="424561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34" name="直接箭头连接符 33"/>
          <p:cNvCxnSpPr/>
          <p:nvPr/>
        </p:nvCxnSpPr>
        <p:spPr>
          <a:xfrm>
            <a:off x="4631055" y="377380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7" name="文本框 36"/>
          <p:cNvSpPr txBox="1"/>
          <p:nvPr/>
        </p:nvSpPr>
        <p:spPr>
          <a:xfrm>
            <a:off x="4465320" y="358203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40" name="直接箭头连接符 39"/>
          <p:cNvCxnSpPr/>
          <p:nvPr/>
        </p:nvCxnSpPr>
        <p:spPr>
          <a:xfrm>
            <a:off x="5499100" y="314071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6" name="文本框 45"/>
          <p:cNvSpPr txBox="1"/>
          <p:nvPr/>
        </p:nvSpPr>
        <p:spPr>
          <a:xfrm>
            <a:off x="5333365" y="294894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49" name="直接箭头连接符 48"/>
          <p:cNvCxnSpPr/>
          <p:nvPr/>
        </p:nvCxnSpPr>
        <p:spPr>
          <a:xfrm>
            <a:off x="5200650" y="424561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0" name="文本框 49"/>
          <p:cNvSpPr txBox="1"/>
          <p:nvPr/>
        </p:nvSpPr>
        <p:spPr>
          <a:xfrm>
            <a:off x="5034915" y="405384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79" name="直接箭头连接符 78"/>
          <p:cNvCxnSpPr/>
          <p:nvPr/>
        </p:nvCxnSpPr>
        <p:spPr>
          <a:xfrm>
            <a:off x="5200650" y="443738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80" name="文本框 79"/>
          <p:cNvSpPr txBox="1"/>
          <p:nvPr/>
        </p:nvSpPr>
        <p:spPr>
          <a:xfrm>
            <a:off x="5034915" y="424561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81" name="直接箭头连接符 80"/>
          <p:cNvCxnSpPr/>
          <p:nvPr/>
        </p:nvCxnSpPr>
        <p:spPr>
          <a:xfrm flipV="1">
            <a:off x="6245225" y="4509135"/>
            <a:ext cx="0" cy="22288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82" name="文本框 81"/>
          <p:cNvSpPr txBox="1"/>
          <p:nvPr/>
        </p:nvSpPr>
        <p:spPr>
          <a:xfrm>
            <a:off x="6146800" y="470408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83" name="直接箭头连接符 82"/>
          <p:cNvCxnSpPr/>
          <p:nvPr/>
        </p:nvCxnSpPr>
        <p:spPr>
          <a:xfrm flipV="1">
            <a:off x="6374765" y="4509135"/>
            <a:ext cx="0" cy="2232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84" name="文本框 83"/>
          <p:cNvSpPr txBox="1"/>
          <p:nvPr/>
        </p:nvSpPr>
        <p:spPr>
          <a:xfrm>
            <a:off x="6300470" y="470408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85" name="直接箭头连接符 84"/>
          <p:cNvCxnSpPr/>
          <p:nvPr/>
        </p:nvCxnSpPr>
        <p:spPr>
          <a:xfrm>
            <a:off x="6790055" y="422084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86" name="文本框 85"/>
          <p:cNvSpPr txBox="1"/>
          <p:nvPr/>
        </p:nvSpPr>
        <p:spPr>
          <a:xfrm>
            <a:off x="6624320" y="402907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87" name="直接箭头连接符 86"/>
          <p:cNvCxnSpPr/>
          <p:nvPr/>
        </p:nvCxnSpPr>
        <p:spPr>
          <a:xfrm>
            <a:off x="6790055" y="441261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88" name="文本框 87"/>
          <p:cNvSpPr txBox="1"/>
          <p:nvPr/>
        </p:nvSpPr>
        <p:spPr>
          <a:xfrm>
            <a:off x="6624320" y="422084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89" name="直接箭头连接符 88"/>
          <p:cNvCxnSpPr/>
          <p:nvPr/>
        </p:nvCxnSpPr>
        <p:spPr>
          <a:xfrm>
            <a:off x="3780155" y="489585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90" name="文本框 89"/>
          <p:cNvSpPr txBox="1"/>
          <p:nvPr/>
        </p:nvSpPr>
        <p:spPr>
          <a:xfrm>
            <a:off x="3614420" y="470408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91" name="直接箭头连接符 90"/>
          <p:cNvCxnSpPr/>
          <p:nvPr/>
        </p:nvCxnSpPr>
        <p:spPr>
          <a:xfrm>
            <a:off x="3780155" y="508762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92" name="文本框 91"/>
          <p:cNvSpPr txBox="1"/>
          <p:nvPr/>
        </p:nvSpPr>
        <p:spPr>
          <a:xfrm>
            <a:off x="3614420" y="489585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93" name="直接箭头连接符 92"/>
          <p:cNvCxnSpPr/>
          <p:nvPr/>
        </p:nvCxnSpPr>
        <p:spPr>
          <a:xfrm>
            <a:off x="4716145" y="489585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94" name="文本框 93"/>
          <p:cNvSpPr txBox="1"/>
          <p:nvPr/>
        </p:nvSpPr>
        <p:spPr>
          <a:xfrm>
            <a:off x="4550410" y="470408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95" name="直接箭头连接符 94"/>
          <p:cNvCxnSpPr/>
          <p:nvPr/>
        </p:nvCxnSpPr>
        <p:spPr>
          <a:xfrm>
            <a:off x="4716145" y="508762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96" name="文本框 95"/>
          <p:cNvSpPr txBox="1"/>
          <p:nvPr/>
        </p:nvSpPr>
        <p:spPr>
          <a:xfrm>
            <a:off x="4550410" y="489585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anim calcmode="lin" valueType="num">
                                      <p:cBhvr additive="base">
                                        <p:cTn id="7" dur="500" fill="hold"/>
                                        <p:tgtEl>
                                          <p:spTgt spid="36"/>
                                        </p:tgtEl>
                                        <p:attrNameLst>
                                          <p:attrName>ppt_x</p:attrName>
                                        </p:attrNameLst>
                                      </p:cBhvr>
                                      <p:tavLst>
                                        <p:tav tm="0">
                                          <p:val>
                                            <p:strVal val="0-#ppt_w/2"/>
                                          </p:val>
                                        </p:tav>
                                        <p:tav tm="100000">
                                          <p:val>
                                            <p:strVal val="#ppt_x"/>
                                          </p:val>
                                        </p:tav>
                                      </p:tavLst>
                                    </p:anim>
                                    <p:anim calcmode="lin" valueType="num">
                                      <p:cBhvr additive="base">
                                        <p:cTn id="8" dur="500" fill="hold"/>
                                        <p:tgtEl>
                                          <p:spTgt spid="3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anim calcmode="lin" valueType="num">
                                      <p:cBhvr additive="base">
                                        <p:cTn id="11" dur="500" fill="hold"/>
                                        <p:tgtEl>
                                          <p:spTgt spid="38"/>
                                        </p:tgtEl>
                                        <p:attrNameLst>
                                          <p:attrName>ppt_x</p:attrName>
                                        </p:attrNameLst>
                                      </p:cBhvr>
                                      <p:tavLst>
                                        <p:tav tm="0">
                                          <p:val>
                                            <p:strVal val="0-#ppt_w/2"/>
                                          </p:val>
                                        </p:tav>
                                        <p:tav tm="100000">
                                          <p:val>
                                            <p:strVal val="#ppt_x"/>
                                          </p:val>
                                        </p:tav>
                                      </p:tavLst>
                                    </p:anim>
                                    <p:anim calcmode="lin" valueType="num">
                                      <p:cBhvr additive="base">
                                        <p:cTn id="12" dur="500" fill="hold"/>
                                        <p:tgtEl>
                                          <p:spTgt spid="38"/>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42"/>
                                        </p:tgtEl>
                                        <p:attrNameLst>
                                          <p:attrName>style.visibility</p:attrName>
                                        </p:attrNameLst>
                                      </p:cBhvr>
                                      <p:to>
                                        <p:strVal val="visible"/>
                                      </p:to>
                                    </p:set>
                                    <p:anim calcmode="lin" valueType="num">
                                      <p:cBhvr additive="base">
                                        <p:cTn id="15" dur="500" fill="hold"/>
                                        <p:tgtEl>
                                          <p:spTgt spid="42"/>
                                        </p:tgtEl>
                                        <p:attrNameLst>
                                          <p:attrName>ppt_x</p:attrName>
                                        </p:attrNameLst>
                                      </p:cBhvr>
                                      <p:tavLst>
                                        <p:tav tm="0">
                                          <p:val>
                                            <p:strVal val="0-#ppt_w/2"/>
                                          </p:val>
                                        </p:tav>
                                        <p:tav tm="100000">
                                          <p:val>
                                            <p:strVal val="#ppt_x"/>
                                          </p:val>
                                        </p:tav>
                                      </p:tavLst>
                                    </p:anim>
                                    <p:anim calcmode="lin" valueType="num">
                                      <p:cBhvr additive="base">
                                        <p:cTn id="16" dur="500" fill="hold"/>
                                        <p:tgtEl>
                                          <p:spTgt spid="42"/>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anim calcmode="lin" valueType="num">
                                      <p:cBhvr additive="base">
                                        <p:cTn id="19" dur="500" fill="hold"/>
                                        <p:tgtEl>
                                          <p:spTgt spid="43"/>
                                        </p:tgtEl>
                                        <p:attrNameLst>
                                          <p:attrName>ppt_x</p:attrName>
                                        </p:attrNameLst>
                                      </p:cBhvr>
                                      <p:tavLst>
                                        <p:tav tm="0">
                                          <p:val>
                                            <p:strVal val="0-#ppt_w/2"/>
                                          </p:val>
                                        </p:tav>
                                        <p:tav tm="100000">
                                          <p:val>
                                            <p:strVal val="#ppt_x"/>
                                          </p:val>
                                        </p:tav>
                                      </p:tavLst>
                                    </p:anim>
                                    <p:anim calcmode="lin" valueType="num">
                                      <p:cBhvr additive="base">
                                        <p:cTn id="20" dur="500" fill="hold"/>
                                        <p:tgtEl>
                                          <p:spTgt spid="43"/>
                                        </p:tgtEl>
                                        <p:attrNameLst>
                                          <p:attrName>ppt_y</p:attrName>
                                        </p:attrNameLst>
                                      </p:cBhvr>
                                      <p:tavLst>
                                        <p:tav tm="0">
                                          <p:val>
                                            <p:strVal val="#ppt_y"/>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41"/>
                                        </p:tgtEl>
                                        <p:attrNameLst>
                                          <p:attrName>style.visibility</p:attrName>
                                        </p:attrNameLst>
                                      </p:cBhvr>
                                      <p:to>
                                        <p:strVal val="visible"/>
                                      </p:to>
                                    </p:set>
                                    <p:anim calcmode="lin" valueType="num">
                                      <p:cBhvr additive="base">
                                        <p:cTn id="23" dur="500" fill="hold"/>
                                        <p:tgtEl>
                                          <p:spTgt spid="41"/>
                                        </p:tgtEl>
                                        <p:attrNameLst>
                                          <p:attrName>ppt_x</p:attrName>
                                        </p:attrNameLst>
                                      </p:cBhvr>
                                      <p:tavLst>
                                        <p:tav tm="0">
                                          <p:val>
                                            <p:strVal val="#ppt_x"/>
                                          </p:val>
                                        </p:tav>
                                        <p:tav tm="100000">
                                          <p:val>
                                            <p:strVal val="#ppt_x"/>
                                          </p:val>
                                        </p:tav>
                                      </p:tavLst>
                                    </p:anim>
                                    <p:anim calcmode="lin" valueType="num">
                                      <p:cBhvr additive="base">
                                        <p:cTn id="24" dur="500" fill="hold"/>
                                        <p:tgtEl>
                                          <p:spTgt spid="41"/>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44"/>
                                        </p:tgtEl>
                                        <p:attrNameLst>
                                          <p:attrName>style.visibility</p:attrName>
                                        </p:attrNameLst>
                                      </p:cBhvr>
                                      <p:to>
                                        <p:strVal val="visible"/>
                                      </p:to>
                                    </p:set>
                                    <p:anim calcmode="lin" valueType="num">
                                      <p:cBhvr additive="base">
                                        <p:cTn id="29" dur="500" fill="hold"/>
                                        <p:tgtEl>
                                          <p:spTgt spid="44"/>
                                        </p:tgtEl>
                                        <p:attrNameLst>
                                          <p:attrName>ppt_x</p:attrName>
                                        </p:attrNameLst>
                                      </p:cBhvr>
                                      <p:tavLst>
                                        <p:tav tm="0">
                                          <p:val>
                                            <p:strVal val="#ppt_x"/>
                                          </p:val>
                                        </p:tav>
                                        <p:tav tm="100000">
                                          <p:val>
                                            <p:strVal val="#ppt_x"/>
                                          </p:val>
                                        </p:tav>
                                      </p:tavLst>
                                    </p:anim>
                                    <p:anim calcmode="lin" valueType="num">
                                      <p:cBhvr additive="base">
                                        <p:cTn id="30" dur="500" fill="hold"/>
                                        <p:tgtEl>
                                          <p:spTgt spid="44"/>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0" presetClass="path" presetSubtype="0" accel="50000" decel="50000" fill="hold" nodeType="clickEffect">
                                  <p:stCondLst>
                                    <p:cond delay="0"/>
                                  </p:stCondLst>
                                  <p:childTnLst>
                                    <p:animMotion origin="layout" path="M 0 0 L -0.0838889 0.0917593 " pathEditMode="relative" rAng="0" ptsTypes="">
                                      <p:cBhvr>
                                        <p:cTn id="34" dur="2000" fill="hold"/>
                                        <p:tgtEl>
                                          <p:spTgt spid="10245"/>
                                        </p:tgtEl>
                                        <p:attrNameLst>
                                          <p:attrName>ppt_x</p:attrName>
                                          <p:attrName>ppt_y</p:attrName>
                                        </p:attrNameLst>
                                      </p:cBhvr>
                                      <p:rCtr x="-4300" y="4700"/>
                                    </p:animMotion>
                                  </p:childTnLst>
                                </p:cTn>
                              </p:par>
                              <p:par>
                                <p:cTn id="35" presetID="0" presetClass="path" presetSubtype="0" accel="50000" decel="50000" fill="hold" nodeType="withEffect">
                                  <p:stCondLst>
                                    <p:cond delay="0"/>
                                  </p:stCondLst>
                                  <p:childTnLst>
                                    <p:animMotion origin="layout" path="M 0 0 L 0.0843056 -0.0903704 " pathEditMode="relative" rAng="0" ptsTypes="">
                                      <p:cBhvr>
                                        <p:cTn id="36" dur="2000" fill="hold"/>
                                        <p:tgtEl>
                                          <p:spTgt spid="3"/>
                                        </p:tgtEl>
                                        <p:attrNameLst>
                                          <p:attrName>ppt_x</p:attrName>
                                          <p:attrName>ppt_y</p:attrName>
                                        </p:attrNameLst>
                                      </p:cBhvr>
                                      <p:rCtr x="4100" y="-4600"/>
                                    </p:animMotion>
                                  </p:childTnLst>
                                </p:cTn>
                              </p:par>
                            </p:childTnLst>
                          </p:cTn>
                        </p:par>
                      </p:childTnLst>
                    </p:cTn>
                  </p:par>
                  <p:par>
                    <p:cTn id="37" fill="hold">
                      <p:stCondLst>
                        <p:cond delay="indefinite"/>
                      </p:stCondLst>
                      <p:childTnLst>
                        <p:par>
                          <p:cTn id="38" fill="hold">
                            <p:stCondLst>
                              <p:cond delay="0"/>
                            </p:stCondLst>
                            <p:childTnLst>
                              <p:par>
                                <p:cTn id="39" presetID="2" presetClass="exit" presetSubtype="8" fill="hold" nodeType="clickEffect">
                                  <p:stCondLst>
                                    <p:cond delay="0"/>
                                  </p:stCondLst>
                                  <p:childTnLst>
                                    <p:anim calcmode="lin" valueType="num">
                                      <p:cBhvr additive="base">
                                        <p:cTn id="40" dur="500"/>
                                        <p:tgtEl>
                                          <p:spTgt spid="42"/>
                                        </p:tgtEl>
                                        <p:attrNameLst>
                                          <p:attrName>ppt_x</p:attrName>
                                        </p:attrNameLst>
                                      </p:cBhvr>
                                      <p:tavLst>
                                        <p:tav tm="0">
                                          <p:val>
                                            <p:strVal val="ppt_x"/>
                                          </p:val>
                                        </p:tav>
                                        <p:tav tm="100000">
                                          <p:val>
                                            <p:strVal val="0-ppt_w/2"/>
                                          </p:val>
                                        </p:tav>
                                      </p:tavLst>
                                    </p:anim>
                                    <p:anim calcmode="lin" valueType="num">
                                      <p:cBhvr additive="base">
                                        <p:cTn id="41" dur="500"/>
                                        <p:tgtEl>
                                          <p:spTgt spid="42"/>
                                        </p:tgtEl>
                                        <p:attrNameLst>
                                          <p:attrName>ppt_y</p:attrName>
                                        </p:attrNameLst>
                                      </p:cBhvr>
                                      <p:tavLst>
                                        <p:tav tm="0">
                                          <p:val>
                                            <p:strVal val="ppt_y"/>
                                          </p:val>
                                        </p:tav>
                                        <p:tav tm="100000">
                                          <p:val>
                                            <p:strVal val="ppt_y"/>
                                          </p:val>
                                        </p:tav>
                                      </p:tavLst>
                                    </p:anim>
                                    <p:set>
                                      <p:cBhvr>
                                        <p:cTn id="42" dur="1" fill="hold">
                                          <p:stCondLst>
                                            <p:cond delay="499"/>
                                          </p:stCondLst>
                                        </p:cTn>
                                        <p:tgtEl>
                                          <p:spTgt spid="42"/>
                                        </p:tgtEl>
                                        <p:attrNameLst>
                                          <p:attrName>style.visibility</p:attrName>
                                        </p:attrNameLst>
                                      </p:cBhvr>
                                      <p:to>
                                        <p:strVal val="hidden"/>
                                      </p:to>
                                    </p:set>
                                  </p:childTnLst>
                                </p:cTn>
                              </p:par>
                              <p:par>
                                <p:cTn id="43" presetID="2" presetClass="exit" presetSubtype="8" fill="hold" grpId="2" nodeType="withEffect">
                                  <p:stCondLst>
                                    <p:cond delay="0"/>
                                  </p:stCondLst>
                                  <p:childTnLst>
                                    <p:anim calcmode="lin" valueType="num">
                                      <p:cBhvr additive="base">
                                        <p:cTn id="44" dur="500"/>
                                        <p:tgtEl>
                                          <p:spTgt spid="43"/>
                                        </p:tgtEl>
                                        <p:attrNameLst>
                                          <p:attrName>ppt_x</p:attrName>
                                        </p:attrNameLst>
                                      </p:cBhvr>
                                      <p:tavLst>
                                        <p:tav tm="0">
                                          <p:val>
                                            <p:strVal val="ppt_x"/>
                                          </p:val>
                                        </p:tav>
                                        <p:tav tm="100000">
                                          <p:val>
                                            <p:strVal val="0-ppt_w/2"/>
                                          </p:val>
                                        </p:tav>
                                      </p:tavLst>
                                    </p:anim>
                                    <p:anim calcmode="lin" valueType="num">
                                      <p:cBhvr additive="base">
                                        <p:cTn id="45" dur="500"/>
                                        <p:tgtEl>
                                          <p:spTgt spid="43"/>
                                        </p:tgtEl>
                                        <p:attrNameLst>
                                          <p:attrName>ppt_y</p:attrName>
                                        </p:attrNameLst>
                                      </p:cBhvr>
                                      <p:tavLst>
                                        <p:tav tm="0">
                                          <p:val>
                                            <p:strVal val="ppt_y"/>
                                          </p:val>
                                        </p:tav>
                                        <p:tav tm="100000">
                                          <p:val>
                                            <p:strVal val="ppt_y"/>
                                          </p:val>
                                        </p:tav>
                                      </p:tavLst>
                                    </p:anim>
                                    <p:set>
                                      <p:cBhvr>
                                        <p:cTn id="46" dur="1" fill="hold">
                                          <p:stCondLst>
                                            <p:cond delay="499"/>
                                          </p:stCondLst>
                                        </p:cTn>
                                        <p:tgtEl>
                                          <p:spTgt spid="43"/>
                                        </p:tgtEl>
                                        <p:attrNameLst>
                                          <p:attrName>style.visibility</p:attrName>
                                        </p:attrNameLst>
                                      </p:cBhvr>
                                      <p:to>
                                        <p:strVal val="hidden"/>
                                      </p:to>
                                    </p:set>
                                  </p:childTnLst>
                                </p:cTn>
                              </p:par>
                            </p:childTnLst>
                          </p:cTn>
                        </p:par>
                      </p:childTnLst>
                    </p:cTn>
                  </p:par>
                  <p:par>
                    <p:cTn id="47" fill="hold">
                      <p:stCondLst>
                        <p:cond delay="indefinite"/>
                      </p:stCondLst>
                      <p:childTnLst>
                        <p:par>
                          <p:cTn id="48" fill="hold">
                            <p:stCondLst>
                              <p:cond delay="0"/>
                            </p:stCondLst>
                            <p:childTnLst>
                              <p:par>
                                <p:cTn id="49" presetID="2" presetClass="entr" presetSubtype="8" fill="hold" nodeType="clickEffect">
                                  <p:stCondLst>
                                    <p:cond delay="0"/>
                                  </p:stCondLst>
                                  <p:childTnLst>
                                    <p:set>
                                      <p:cBhvr>
                                        <p:cTn id="50" dur="1" fill="hold">
                                          <p:stCondLst>
                                            <p:cond delay="0"/>
                                          </p:stCondLst>
                                        </p:cTn>
                                        <p:tgtEl>
                                          <p:spTgt spid="45"/>
                                        </p:tgtEl>
                                        <p:attrNameLst>
                                          <p:attrName>style.visibility</p:attrName>
                                        </p:attrNameLst>
                                      </p:cBhvr>
                                      <p:to>
                                        <p:strVal val="visible"/>
                                      </p:to>
                                    </p:set>
                                    <p:anim calcmode="lin" valueType="num">
                                      <p:cBhvr additive="base">
                                        <p:cTn id="51" dur="500" fill="hold"/>
                                        <p:tgtEl>
                                          <p:spTgt spid="45"/>
                                        </p:tgtEl>
                                        <p:attrNameLst>
                                          <p:attrName>ppt_x</p:attrName>
                                        </p:attrNameLst>
                                      </p:cBhvr>
                                      <p:tavLst>
                                        <p:tav tm="0">
                                          <p:val>
                                            <p:strVal val="0-#ppt_w/2"/>
                                          </p:val>
                                        </p:tav>
                                        <p:tav tm="100000">
                                          <p:val>
                                            <p:strVal val="#ppt_x"/>
                                          </p:val>
                                        </p:tav>
                                      </p:tavLst>
                                    </p:anim>
                                    <p:anim calcmode="lin" valueType="num">
                                      <p:cBhvr additive="base">
                                        <p:cTn id="52" dur="500" fill="hold"/>
                                        <p:tgtEl>
                                          <p:spTgt spid="45"/>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47"/>
                                        </p:tgtEl>
                                        <p:attrNameLst>
                                          <p:attrName>style.visibility</p:attrName>
                                        </p:attrNameLst>
                                      </p:cBhvr>
                                      <p:to>
                                        <p:strVal val="visible"/>
                                      </p:to>
                                    </p:set>
                                    <p:anim calcmode="lin" valueType="num">
                                      <p:cBhvr additive="base">
                                        <p:cTn id="55" dur="500" fill="hold"/>
                                        <p:tgtEl>
                                          <p:spTgt spid="47"/>
                                        </p:tgtEl>
                                        <p:attrNameLst>
                                          <p:attrName>ppt_x</p:attrName>
                                        </p:attrNameLst>
                                      </p:cBhvr>
                                      <p:tavLst>
                                        <p:tav tm="0">
                                          <p:val>
                                            <p:strVal val="0-#ppt_w/2"/>
                                          </p:val>
                                        </p:tav>
                                        <p:tav tm="100000">
                                          <p:val>
                                            <p:strVal val="#ppt_x"/>
                                          </p:val>
                                        </p:tav>
                                      </p:tavLst>
                                    </p:anim>
                                    <p:anim calcmode="lin" valueType="num">
                                      <p:cBhvr additive="base">
                                        <p:cTn id="56" dur="500" fill="hold"/>
                                        <p:tgtEl>
                                          <p:spTgt spid="47"/>
                                        </p:tgtEl>
                                        <p:attrNameLst>
                                          <p:attrName>ppt_y</p:attrName>
                                        </p:attrNameLst>
                                      </p:cBhvr>
                                      <p:tavLst>
                                        <p:tav tm="0">
                                          <p:val>
                                            <p:strVal val="#ppt_y"/>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xit" presetSubtype="8" fill="hold" nodeType="clickEffect">
                                  <p:stCondLst>
                                    <p:cond delay="0"/>
                                  </p:stCondLst>
                                  <p:childTnLst>
                                    <p:anim calcmode="lin" valueType="num">
                                      <p:cBhvr additive="base">
                                        <p:cTn id="60" dur="500"/>
                                        <p:tgtEl>
                                          <p:spTgt spid="45"/>
                                        </p:tgtEl>
                                        <p:attrNameLst>
                                          <p:attrName>ppt_x</p:attrName>
                                        </p:attrNameLst>
                                      </p:cBhvr>
                                      <p:tavLst>
                                        <p:tav tm="0">
                                          <p:val>
                                            <p:strVal val="ppt_x"/>
                                          </p:val>
                                        </p:tav>
                                        <p:tav tm="100000">
                                          <p:val>
                                            <p:strVal val="0-ppt_w/2"/>
                                          </p:val>
                                        </p:tav>
                                      </p:tavLst>
                                    </p:anim>
                                    <p:anim calcmode="lin" valueType="num">
                                      <p:cBhvr additive="base">
                                        <p:cTn id="61" dur="500"/>
                                        <p:tgtEl>
                                          <p:spTgt spid="45"/>
                                        </p:tgtEl>
                                        <p:attrNameLst>
                                          <p:attrName>ppt_y</p:attrName>
                                        </p:attrNameLst>
                                      </p:cBhvr>
                                      <p:tavLst>
                                        <p:tav tm="0">
                                          <p:val>
                                            <p:strVal val="ppt_y"/>
                                          </p:val>
                                        </p:tav>
                                        <p:tav tm="100000">
                                          <p:val>
                                            <p:strVal val="ppt_y"/>
                                          </p:val>
                                        </p:tav>
                                      </p:tavLst>
                                    </p:anim>
                                    <p:set>
                                      <p:cBhvr>
                                        <p:cTn id="62" dur="1" fill="hold">
                                          <p:stCondLst>
                                            <p:cond delay="499"/>
                                          </p:stCondLst>
                                        </p:cTn>
                                        <p:tgtEl>
                                          <p:spTgt spid="45"/>
                                        </p:tgtEl>
                                        <p:attrNameLst>
                                          <p:attrName>style.visibility</p:attrName>
                                        </p:attrNameLst>
                                      </p:cBhvr>
                                      <p:to>
                                        <p:strVal val="hidden"/>
                                      </p:to>
                                    </p:set>
                                  </p:childTnLst>
                                </p:cTn>
                              </p:par>
                              <p:par>
                                <p:cTn id="63" presetID="2" presetClass="exit" presetSubtype="8" fill="hold" grpId="2" nodeType="withEffect">
                                  <p:stCondLst>
                                    <p:cond delay="0"/>
                                  </p:stCondLst>
                                  <p:childTnLst>
                                    <p:anim calcmode="lin" valueType="num">
                                      <p:cBhvr additive="base">
                                        <p:cTn id="64" dur="500"/>
                                        <p:tgtEl>
                                          <p:spTgt spid="47"/>
                                        </p:tgtEl>
                                        <p:attrNameLst>
                                          <p:attrName>ppt_x</p:attrName>
                                        </p:attrNameLst>
                                      </p:cBhvr>
                                      <p:tavLst>
                                        <p:tav tm="0">
                                          <p:val>
                                            <p:strVal val="ppt_x"/>
                                          </p:val>
                                        </p:tav>
                                        <p:tav tm="100000">
                                          <p:val>
                                            <p:strVal val="0-ppt_w/2"/>
                                          </p:val>
                                        </p:tav>
                                      </p:tavLst>
                                    </p:anim>
                                    <p:anim calcmode="lin" valueType="num">
                                      <p:cBhvr additive="base">
                                        <p:cTn id="65" dur="500"/>
                                        <p:tgtEl>
                                          <p:spTgt spid="47"/>
                                        </p:tgtEl>
                                        <p:attrNameLst>
                                          <p:attrName>ppt_y</p:attrName>
                                        </p:attrNameLst>
                                      </p:cBhvr>
                                      <p:tavLst>
                                        <p:tav tm="0">
                                          <p:val>
                                            <p:strVal val="ppt_y"/>
                                          </p:val>
                                        </p:tav>
                                        <p:tav tm="100000">
                                          <p:val>
                                            <p:strVal val="ppt_y"/>
                                          </p:val>
                                        </p:tav>
                                      </p:tavLst>
                                    </p:anim>
                                    <p:set>
                                      <p:cBhvr>
                                        <p:cTn id="66" dur="1" fill="hold">
                                          <p:stCondLst>
                                            <p:cond delay="499"/>
                                          </p:stCondLst>
                                        </p:cTn>
                                        <p:tgtEl>
                                          <p:spTgt spid="47"/>
                                        </p:tgtEl>
                                        <p:attrNameLst>
                                          <p:attrName>style.visibility</p:attrName>
                                        </p:attrNameLst>
                                      </p:cBhvr>
                                      <p:to>
                                        <p:strVal val="hidden"/>
                                      </p:to>
                                    </p:set>
                                  </p:childTnLst>
                                </p:cTn>
                              </p:par>
                            </p:childTnLst>
                          </p:cTn>
                        </p:par>
                      </p:childTnLst>
                    </p:cTn>
                  </p:par>
                  <p:par>
                    <p:cTn id="67" fill="hold">
                      <p:stCondLst>
                        <p:cond delay="indefinite"/>
                      </p:stCondLst>
                      <p:childTnLst>
                        <p:par>
                          <p:cTn id="68" fill="hold">
                            <p:stCondLst>
                              <p:cond delay="0"/>
                            </p:stCondLst>
                            <p:childTnLst>
                              <p:par>
                                <p:cTn id="69" presetID="2" presetClass="exit" presetSubtype="8" fill="hold" nodeType="clickEffect">
                                  <p:stCondLst>
                                    <p:cond delay="0"/>
                                  </p:stCondLst>
                                  <p:childTnLst>
                                    <p:anim calcmode="lin" valueType="num">
                                      <p:cBhvr additive="base">
                                        <p:cTn id="70" dur="500"/>
                                        <p:tgtEl>
                                          <p:spTgt spid="36"/>
                                        </p:tgtEl>
                                        <p:attrNameLst>
                                          <p:attrName>ppt_x</p:attrName>
                                        </p:attrNameLst>
                                      </p:cBhvr>
                                      <p:tavLst>
                                        <p:tav tm="0">
                                          <p:val>
                                            <p:strVal val="ppt_x"/>
                                          </p:val>
                                        </p:tav>
                                        <p:tav tm="100000">
                                          <p:val>
                                            <p:strVal val="0-ppt_w/2"/>
                                          </p:val>
                                        </p:tav>
                                      </p:tavLst>
                                    </p:anim>
                                    <p:anim calcmode="lin" valueType="num">
                                      <p:cBhvr additive="base">
                                        <p:cTn id="71" dur="500"/>
                                        <p:tgtEl>
                                          <p:spTgt spid="36"/>
                                        </p:tgtEl>
                                        <p:attrNameLst>
                                          <p:attrName>ppt_y</p:attrName>
                                        </p:attrNameLst>
                                      </p:cBhvr>
                                      <p:tavLst>
                                        <p:tav tm="0">
                                          <p:val>
                                            <p:strVal val="ppt_y"/>
                                          </p:val>
                                        </p:tav>
                                        <p:tav tm="100000">
                                          <p:val>
                                            <p:strVal val="ppt_y"/>
                                          </p:val>
                                        </p:tav>
                                      </p:tavLst>
                                    </p:anim>
                                    <p:set>
                                      <p:cBhvr>
                                        <p:cTn id="72" dur="1" fill="hold">
                                          <p:stCondLst>
                                            <p:cond delay="499"/>
                                          </p:stCondLst>
                                        </p:cTn>
                                        <p:tgtEl>
                                          <p:spTgt spid="36"/>
                                        </p:tgtEl>
                                        <p:attrNameLst>
                                          <p:attrName>style.visibility</p:attrName>
                                        </p:attrNameLst>
                                      </p:cBhvr>
                                      <p:to>
                                        <p:strVal val="hidden"/>
                                      </p:to>
                                    </p:set>
                                  </p:childTnLst>
                                </p:cTn>
                              </p:par>
                              <p:par>
                                <p:cTn id="73" presetID="2" presetClass="exit" presetSubtype="8" fill="hold" grpId="2" nodeType="withEffect">
                                  <p:stCondLst>
                                    <p:cond delay="0"/>
                                  </p:stCondLst>
                                  <p:childTnLst>
                                    <p:anim calcmode="lin" valueType="num">
                                      <p:cBhvr additive="base">
                                        <p:cTn id="74" dur="500"/>
                                        <p:tgtEl>
                                          <p:spTgt spid="38"/>
                                        </p:tgtEl>
                                        <p:attrNameLst>
                                          <p:attrName>ppt_x</p:attrName>
                                        </p:attrNameLst>
                                      </p:cBhvr>
                                      <p:tavLst>
                                        <p:tav tm="0">
                                          <p:val>
                                            <p:strVal val="ppt_x"/>
                                          </p:val>
                                        </p:tav>
                                        <p:tav tm="100000">
                                          <p:val>
                                            <p:strVal val="0-ppt_w/2"/>
                                          </p:val>
                                        </p:tav>
                                      </p:tavLst>
                                    </p:anim>
                                    <p:anim calcmode="lin" valueType="num">
                                      <p:cBhvr additive="base">
                                        <p:cTn id="75" dur="500"/>
                                        <p:tgtEl>
                                          <p:spTgt spid="38"/>
                                        </p:tgtEl>
                                        <p:attrNameLst>
                                          <p:attrName>ppt_y</p:attrName>
                                        </p:attrNameLst>
                                      </p:cBhvr>
                                      <p:tavLst>
                                        <p:tav tm="0">
                                          <p:val>
                                            <p:strVal val="ppt_y"/>
                                          </p:val>
                                        </p:tav>
                                        <p:tav tm="100000">
                                          <p:val>
                                            <p:strVal val="ppt_y"/>
                                          </p:val>
                                        </p:tav>
                                      </p:tavLst>
                                    </p:anim>
                                    <p:set>
                                      <p:cBhvr>
                                        <p:cTn id="76" dur="1" fill="hold">
                                          <p:stCondLst>
                                            <p:cond delay="499"/>
                                          </p:stCondLst>
                                        </p:cTn>
                                        <p:tgtEl>
                                          <p:spTgt spid="38"/>
                                        </p:tgtEl>
                                        <p:attrNameLst>
                                          <p:attrName>style.visibility</p:attrName>
                                        </p:attrNameLst>
                                      </p:cBhvr>
                                      <p:to>
                                        <p:strVal val="hidden"/>
                                      </p:to>
                                    </p:set>
                                  </p:childTnLst>
                                </p:cTn>
                              </p:par>
                            </p:childTnLst>
                          </p:cTn>
                        </p:par>
                      </p:childTnLst>
                    </p:cTn>
                  </p:par>
                  <p:par>
                    <p:cTn id="77" fill="hold">
                      <p:stCondLst>
                        <p:cond delay="indefinite"/>
                      </p:stCondLst>
                      <p:childTnLst>
                        <p:par>
                          <p:cTn id="78" fill="hold">
                            <p:stCondLst>
                              <p:cond delay="0"/>
                            </p:stCondLst>
                            <p:childTnLst>
                              <p:par>
                                <p:cTn id="79" presetID="2" presetClass="entr" presetSubtype="4" fill="hold" grpId="0" nodeType="clickEffect">
                                  <p:stCondLst>
                                    <p:cond delay="0"/>
                                  </p:stCondLst>
                                  <p:childTnLst>
                                    <p:set>
                                      <p:cBhvr>
                                        <p:cTn id="80" dur="1" fill="hold">
                                          <p:stCondLst>
                                            <p:cond delay="0"/>
                                          </p:stCondLst>
                                        </p:cTn>
                                        <p:tgtEl>
                                          <p:spTgt spid="48"/>
                                        </p:tgtEl>
                                        <p:attrNameLst>
                                          <p:attrName>style.visibility</p:attrName>
                                        </p:attrNameLst>
                                      </p:cBhvr>
                                      <p:to>
                                        <p:strVal val="visible"/>
                                      </p:to>
                                    </p:set>
                                    <p:anim calcmode="lin" valueType="num">
                                      <p:cBhvr additive="base">
                                        <p:cTn id="81" dur="500" fill="hold"/>
                                        <p:tgtEl>
                                          <p:spTgt spid="48"/>
                                        </p:tgtEl>
                                        <p:attrNameLst>
                                          <p:attrName>ppt_x</p:attrName>
                                        </p:attrNameLst>
                                      </p:cBhvr>
                                      <p:tavLst>
                                        <p:tav tm="0">
                                          <p:val>
                                            <p:strVal val="#ppt_x"/>
                                          </p:val>
                                        </p:tav>
                                        <p:tav tm="100000">
                                          <p:val>
                                            <p:strVal val="#ppt_x"/>
                                          </p:val>
                                        </p:tav>
                                      </p:tavLst>
                                    </p:anim>
                                    <p:anim calcmode="lin" valueType="num">
                                      <p:cBhvr additive="base">
                                        <p:cTn id="82" dur="500" fill="hold"/>
                                        <p:tgtEl>
                                          <p:spTgt spid="48"/>
                                        </p:tgtEl>
                                        <p:attrNameLst>
                                          <p:attrName>ppt_y</p:attrName>
                                        </p:attrNameLst>
                                      </p:cBhvr>
                                      <p:tavLst>
                                        <p:tav tm="0">
                                          <p:val>
                                            <p:strVal val="1+#ppt_h/2"/>
                                          </p:val>
                                        </p:tav>
                                        <p:tav tm="100000">
                                          <p:val>
                                            <p:strVal val="#ppt_y"/>
                                          </p:val>
                                        </p:tav>
                                      </p:tavLst>
                                    </p:anim>
                                  </p:childTnLst>
                                </p:cTn>
                              </p:par>
                            </p:childTnLst>
                          </p:cTn>
                        </p:par>
                      </p:childTnLst>
                    </p:cTn>
                  </p:par>
                  <p:par>
                    <p:cTn id="83" fill="hold">
                      <p:stCondLst>
                        <p:cond delay="indefinite"/>
                      </p:stCondLst>
                      <p:childTnLst>
                        <p:par>
                          <p:cTn id="84" fill="hold">
                            <p:stCondLst>
                              <p:cond delay="0"/>
                            </p:stCondLst>
                            <p:childTnLst>
                              <p:par>
                                <p:cTn id="85" presetID="2" presetClass="entr" presetSubtype="8" fill="hold" nodeType="clickEffect">
                                  <p:stCondLst>
                                    <p:cond delay="0"/>
                                  </p:stCondLst>
                                  <p:childTnLst>
                                    <p:set>
                                      <p:cBhvr>
                                        <p:cTn id="86" dur="1" fill="hold">
                                          <p:stCondLst>
                                            <p:cond delay="0"/>
                                          </p:stCondLst>
                                        </p:cTn>
                                        <p:tgtEl>
                                          <p:spTgt spid="52"/>
                                        </p:tgtEl>
                                        <p:attrNameLst>
                                          <p:attrName>style.visibility</p:attrName>
                                        </p:attrNameLst>
                                      </p:cBhvr>
                                      <p:to>
                                        <p:strVal val="visible"/>
                                      </p:to>
                                    </p:set>
                                    <p:anim calcmode="lin" valueType="num">
                                      <p:cBhvr additive="base">
                                        <p:cTn id="87" dur="500" fill="hold"/>
                                        <p:tgtEl>
                                          <p:spTgt spid="52"/>
                                        </p:tgtEl>
                                        <p:attrNameLst>
                                          <p:attrName>ppt_x</p:attrName>
                                        </p:attrNameLst>
                                      </p:cBhvr>
                                      <p:tavLst>
                                        <p:tav tm="0">
                                          <p:val>
                                            <p:strVal val="0-#ppt_w/2"/>
                                          </p:val>
                                        </p:tav>
                                        <p:tav tm="100000">
                                          <p:val>
                                            <p:strVal val="#ppt_x"/>
                                          </p:val>
                                        </p:tav>
                                      </p:tavLst>
                                    </p:anim>
                                    <p:anim calcmode="lin" valueType="num">
                                      <p:cBhvr additive="base">
                                        <p:cTn id="88" dur="500" fill="hold"/>
                                        <p:tgtEl>
                                          <p:spTgt spid="52"/>
                                        </p:tgtEl>
                                        <p:attrNameLst>
                                          <p:attrName>ppt_y</p:attrName>
                                        </p:attrNameLst>
                                      </p:cBhvr>
                                      <p:tavLst>
                                        <p:tav tm="0">
                                          <p:val>
                                            <p:strVal val="#ppt_y"/>
                                          </p:val>
                                        </p:tav>
                                        <p:tav tm="100000">
                                          <p:val>
                                            <p:strVal val="#ppt_y"/>
                                          </p:val>
                                        </p:tav>
                                      </p:tavLst>
                                    </p:anim>
                                  </p:childTnLst>
                                </p:cTn>
                              </p:par>
                              <p:par>
                                <p:cTn id="89" presetID="2" presetClass="entr" presetSubtype="8" fill="hold" grpId="0" nodeType="withEffect">
                                  <p:stCondLst>
                                    <p:cond delay="0"/>
                                  </p:stCondLst>
                                  <p:childTnLst>
                                    <p:set>
                                      <p:cBhvr>
                                        <p:cTn id="90" dur="1" fill="hold">
                                          <p:stCondLst>
                                            <p:cond delay="0"/>
                                          </p:stCondLst>
                                        </p:cTn>
                                        <p:tgtEl>
                                          <p:spTgt spid="53"/>
                                        </p:tgtEl>
                                        <p:attrNameLst>
                                          <p:attrName>style.visibility</p:attrName>
                                        </p:attrNameLst>
                                      </p:cBhvr>
                                      <p:to>
                                        <p:strVal val="visible"/>
                                      </p:to>
                                    </p:set>
                                    <p:anim calcmode="lin" valueType="num">
                                      <p:cBhvr additive="base">
                                        <p:cTn id="91" dur="500" fill="hold"/>
                                        <p:tgtEl>
                                          <p:spTgt spid="53"/>
                                        </p:tgtEl>
                                        <p:attrNameLst>
                                          <p:attrName>ppt_x</p:attrName>
                                        </p:attrNameLst>
                                      </p:cBhvr>
                                      <p:tavLst>
                                        <p:tav tm="0">
                                          <p:val>
                                            <p:strVal val="0-#ppt_w/2"/>
                                          </p:val>
                                        </p:tav>
                                        <p:tav tm="100000">
                                          <p:val>
                                            <p:strVal val="#ppt_x"/>
                                          </p:val>
                                        </p:tav>
                                      </p:tavLst>
                                    </p:anim>
                                    <p:anim calcmode="lin" valueType="num">
                                      <p:cBhvr additive="base">
                                        <p:cTn id="92" dur="500" fill="hold"/>
                                        <p:tgtEl>
                                          <p:spTgt spid="53"/>
                                        </p:tgtEl>
                                        <p:attrNameLst>
                                          <p:attrName>ppt_y</p:attrName>
                                        </p:attrNameLst>
                                      </p:cBhvr>
                                      <p:tavLst>
                                        <p:tav tm="0">
                                          <p:val>
                                            <p:strVal val="#ppt_y"/>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95" presetID="2" presetClass="entr" presetSubtype="8" fill="hold" nodeType="clickEffect">
                                  <p:stCondLst>
                                    <p:cond delay="0"/>
                                  </p:stCondLst>
                                  <p:childTnLst>
                                    <p:set>
                                      <p:cBhvr>
                                        <p:cTn id="96" dur="1" fill="hold">
                                          <p:stCondLst>
                                            <p:cond delay="0"/>
                                          </p:stCondLst>
                                        </p:cTn>
                                        <p:tgtEl>
                                          <p:spTgt spid="54"/>
                                        </p:tgtEl>
                                        <p:attrNameLst>
                                          <p:attrName>style.visibility</p:attrName>
                                        </p:attrNameLst>
                                      </p:cBhvr>
                                      <p:to>
                                        <p:strVal val="visible"/>
                                      </p:to>
                                    </p:set>
                                    <p:anim calcmode="lin" valueType="num">
                                      <p:cBhvr additive="base">
                                        <p:cTn id="97" dur="500" fill="hold"/>
                                        <p:tgtEl>
                                          <p:spTgt spid="54"/>
                                        </p:tgtEl>
                                        <p:attrNameLst>
                                          <p:attrName>ppt_x</p:attrName>
                                        </p:attrNameLst>
                                      </p:cBhvr>
                                      <p:tavLst>
                                        <p:tav tm="0">
                                          <p:val>
                                            <p:strVal val="0-#ppt_w/2"/>
                                          </p:val>
                                        </p:tav>
                                        <p:tav tm="100000">
                                          <p:val>
                                            <p:strVal val="#ppt_x"/>
                                          </p:val>
                                        </p:tav>
                                      </p:tavLst>
                                    </p:anim>
                                    <p:anim calcmode="lin" valueType="num">
                                      <p:cBhvr additive="base">
                                        <p:cTn id="98" dur="500" fill="hold"/>
                                        <p:tgtEl>
                                          <p:spTgt spid="54"/>
                                        </p:tgtEl>
                                        <p:attrNameLst>
                                          <p:attrName>ppt_y</p:attrName>
                                        </p:attrNameLst>
                                      </p:cBhvr>
                                      <p:tavLst>
                                        <p:tav tm="0">
                                          <p:val>
                                            <p:strVal val="#ppt_y"/>
                                          </p:val>
                                        </p:tav>
                                        <p:tav tm="100000">
                                          <p:val>
                                            <p:strVal val="#ppt_y"/>
                                          </p:val>
                                        </p:tav>
                                      </p:tavLst>
                                    </p:anim>
                                  </p:childTnLst>
                                </p:cTn>
                              </p:par>
                              <p:par>
                                <p:cTn id="99" presetID="2" presetClass="entr" presetSubtype="8" fill="hold" grpId="0" nodeType="withEffect">
                                  <p:stCondLst>
                                    <p:cond delay="0"/>
                                  </p:stCondLst>
                                  <p:childTnLst>
                                    <p:set>
                                      <p:cBhvr>
                                        <p:cTn id="100" dur="1" fill="hold">
                                          <p:stCondLst>
                                            <p:cond delay="0"/>
                                          </p:stCondLst>
                                        </p:cTn>
                                        <p:tgtEl>
                                          <p:spTgt spid="55"/>
                                        </p:tgtEl>
                                        <p:attrNameLst>
                                          <p:attrName>style.visibility</p:attrName>
                                        </p:attrNameLst>
                                      </p:cBhvr>
                                      <p:to>
                                        <p:strVal val="visible"/>
                                      </p:to>
                                    </p:set>
                                    <p:anim calcmode="lin" valueType="num">
                                      <p:cBhvr additive="base">
                                        <p:cTn id="101" dur="500" fill="hold"/>
                                        <p:tgtEl>
                                          <p:spTgt spid="55"/>
                                        </p:tgtEl>
                                        <p:attrNameLst>
                                          <p:attrName>ppt_x</p:attrName>
                                        </p:attrNameLst>
                                      </p:cBhvr>
                                      <p:tavLst>
                                        <p:tav tm="0">
                                          <p:val>
                                            <p:strVal val="0-#ppt_w/2"/>
                                          </p:val>
                                        </p:tav>
                                        <p:tav tm="100000">
                                          <p:val>
                                            <p:strVal val="#ppt_x"/>
                                          </p:val>
                                        </p:tav>
                                      </p:tavLst>
                                    </p:anim>
                                    <p:anim calcmode="lin" valueType="num">
                                      <p:cBhvr additive="base">
                                        <p:cTn id="102" dur="500" fill="hold"/>
                                        <p:tgtEl>
                                          <p:spTgt spid="55"/>
                                        </p:tgtEl>
                                        <p:attrNameLst>
                                          <p:attrName>ppt_y</p:attrName>
                                        </p:attrNameLst>
                                      </p:cBhvr>
                                      <p:tavLst>
                                        <p:tav tm="0">
                                          <p:val>
                                            <p:strVal val="#ppt_y"/>
                                          </p:val>
                                        </p:tav>
                                        <p:tav tm="100000">
                                          <p:val>
                                            <p:strVal val="#ppt_y"/>
                                          </p:val>
                                        </p:tav>
                                      </p:tavLst>
                                    </p:anim>
                                  </p:childTnLst>
                                </p:cTn>
                              </p:par>
                            </p:childTnLst>
                          </p:cTn>
                        </p:par>
                      </p:childTnLst>
                    </p:cTn>
                  </p:par>
                  <p:par>
                    <p:cTn id="103" fill="hold">
                      <p:stCondLst>
                        <p:cond delay="indefinite"/>
                      </p:stCondLst>
                      <p:childTnLst>
                        <p:par>
                          <p:cTn id="104" fill="hold">
                            <p:stCondLst>
                              <p:cond delay="0"/>
                            </p:stCondLst>
                            <p:childTnLst>
                              <p:par>
                                <p:cTn id="105" presetID="0" presetClass="path" presetSubtype="0" accel="50000" decel="50000" fill="hold" nodeType="clickEffect">
                                  <p:stCondLst>
                                    <p:cond delay="0"/>
                                  </p:stCondLst>
                                  <p:childTnLst>
                                    <p:animMotion origin="layout" path="M 0.08625 -0.0944444 L 0.1625 0.000277778 " pathEditMode="relative" rAng="0" ptsTypes="">
                                      <p:cBhvr>
                                        <p:cTn id="106" dur="2000" fill="hold"/>
                                        <p:tgtEl>
                                          <p:spTgt spid="3"/>
                                        </p:tgtEl>
                                        <p:attrNameLst>
                                          <p:attrName>ppt_x</p:attrName>
                                          <p:attrName>ppt_y</p:attrName>
                                        </p:attrNameLst>
                                      </p:cBhvr>
                                      <p:rCtr x="3900" y="4700"/>
                                    </p:animMotion>
                                  </p:childTnLst>
                                </p:cTn>
                              </p:par>
                              <p:par>
                                <p:cTn id="107" presetID="0" presetClass="path" presetSubtype="0" accel="50000" decel="50000" fill="hold" nodeType="withEffect">
                                  <p:stCondLst>
                                    <p:cond delay="0"/>
                                  </p:stCondLst>
                                  <p:childTnLst>
                                    <p:animMotion origin="layout" path="M 0 0 L -0.0769444 -0.0898148 " pathEditMode="relative" rAng="0" ptsTypes="">
                                      <p:cBhvr>
                                        <p:cTn id="108" dur="2000" fill="hold"/>
                                        <p:tgtEl>
                                          <p:spTgt spid="7"/>
                                        </p:tgtEl>
                                        <p:attrNameLst>
                                          <p:attrName>ppt_x</p:attrName>
                                          <p:attrName>ppt_y</p:attrName>
                                        </p:attrNameLst>
                                      </p:cBhvr>
                                      <p:rCtr x="-3900" y="-4300"/>
                                    </p:animMotion>
                                  </p:childTnLst>
                                </p:cTn>
                              </p:par>
                            </p:childTnLst>
                          </p:cTn>
                        </p:par>
                      </p:childTnLst>
                    </p:cTn>
                  </p:par>
                  <p:par>
                    <p:cTn id="109" fill="hold">
                      <p:stCondLst>
                        <p:cond delay="indefinite"/>
                      </p:stCondLst>
                      <p:childTnLst>
                        <p:par>
                          <p:cTn id="110" fill="hold">
                            <p:stCondLst>
                              <p:cond delay="0"/>
                            </p:stCondLst>
                            <p:childTnLst>
                              <p:par>
                                <p:cTn id="111" presetID="2" presetClass="exit" presetSubtype="8" fill="hold" nodeType="clickEffect">
                                  <p:stCondLst>
                                    <p:cond delay="0"/>
                                  </p:stCondLst>
                                  <p:childTnLst>
                                    <p:anim calcmode="lin" valueType="num">
                                      <p:cBhvr additive="base">
                                        <p:cTn id="112" dur="500"/>
                                        <p:tgtEl>
                                          <p:spTgt spid="54"/>
                                        </p:tgtEl>
                                        <p:attrNameLst>
                                          <p:attrName>ppt_x</p:attrName>
                                        </p:attrNameLst>
                                      </p:cBhvr>
                                      <p:tavLst>
                                        <p:tav tm="0">
                                          <p:val>
                                            <p:strVal val="ppt_x"/>
                                          </p:val>
                                        </p:tav>
                                        <p:tav tm="100000">
                                          <p:val>
                                            <p:strVal val="0-ppt_w/2"/>
                                          </p:val>
                                        </p:tav>
                                      </p:tavLst>
                                    </p:anim>
                                    <p:anim calcmode="lin" valueType="num">
                                      <p:cBhvr additive="base">
                                        <p:cTn id="113" dur="500"/>
                                        <p:tgtEl>
                                          <p:spTgt spid="54"/>
                                        </p:tgtEl>
                                        <p:attrNameLst>
                                          <p:attrName>ppt_y</p:attrName>
                                        </p:attrNameLst>
                                      </p:cBhvr>
                                      <p:tavLst>
                                        <p:tav tm="0">
                                          <p:val>
                                            <p:strVal val="ppt_y"/>
                                          </p:val>
                                        </p:tav>
                                        <p:tav tm="100000">
                                          <p:val>
                                            <p:strVal val="ppt_y"/>
                                          </p:val>
                                        </p:tav>
                                      </p:tavLst>
                                    </p:anim>
                                    <p:set>
                                      <p:cBhvr>
                                        <p:cTn id="114" dur="1" fill="hold">
                                          <p:stCondLst>
                                            <p:cond delay="499"/>
                                          </p:stCondLst>
                                        </p:cTn>
                                        <p:tgtEl>
                                          <p:spTgt spid="54"/>
                                        </p:tgtEl>
                                        <p:attrNameLst>
                                          <p:attrName>style.visibility</p:attrName>
                                        </p:attrNameLst>
                                      </p:cBhvr>
                                      <p:to>
                                        <p:strVal val="hidden"/>
                                      </p:to>
                                    </p:set>
                                  </p:childTnLst>
                                </p:cTn>
                              </p:par>
                              <p:par>
                                <p:cTn id="115" presetID="2" presetClass="exit" presetSubtype="8" fill="hold" grpId="2" nodeType="withEffect">
                                  <p:stCondLst>
                                    <p:cond delay="0"/>
                                  </p:stCondLst>
                                  <p:childTnLst>
                                    <p:anim calcmode="lin" valueType="num">
                                      <p:cBhvr additive="base">
                                        <p:cTn id="116" dur="500"/>
                                        <p:tgtEl>
                                          <p:spTgt spid="55"/>
                                        </p:tgtEl>
                                        <p:attrNameLst>
                                          <p:attrName>ppt_x</p:attrName>
                                        </p:attrNameLst>
                                      </p:cBhvr>
                                      <p:tavLst>
                                        <p:tav tm="0">
                                          <p:val>
                                            <p:strVal val="ppt_x"/>
                                          </p:val>
                                        </p:tav>
                                        <p:tav tm="100000">
                                          <p:val>
                                            <p:strVal val="0-ppt_w/2"/>
                                          </p:val>
                                        </p:tav>
                                      </p:tavLst>
                                    </p:anim>
                                    <p:anim calcmode="lin" valueType="num">
                                      <p:cBhvr additive="base">
                                        <p:cTn id="117" dur="500"/>
                                        <p:tgtEl>
                                          <p:spTgt spid="55"/>
                                        </p:tgtEl>
                                        <p:attrNameLst>
                                          <p:attrName>ppt_y</p:attrName>
                                        </p:attrNameLst>
                                      </p:cBhvr>
                                      <p:tavLst>
                                        <p:tav tm="0">
                                          <p:val>
                                            <p:strVal val="ppt_y"/>
                                          </p:val>
                                        </p:tav>
                                        <p:tav tm="100000">
                                          <p:val>
                                            <p:strVal val="ppt_y"/>
                                          </p:val>
                                        </p:tav>
                                      </p:tavLst>
                                    </p:anim>
                                    <p:set>
                                      <p:cBhvr>
                                        <p:cTn id="118" dur="1" fill="hold">
                                          <p:stCondLst>
                                            <p:cond delay="499"/>
                                          </p:stCondLst>
                                        </p:cTn>
                                        <p:tgtEl>
                                          <p:spTgt spid="55"/>
                                        </p:tgtEl>
                                        <p:attrNameLst>
                                          <p:attrName>style.visibility</p:attrName>
                                        </p:attrNameLst>
                                      </p:cBhvr>
                                      <p:to>
                                        <p:strVal val="hidden"/>
                                      </p:to>
                                    </p:set>
                                  </p:childTnLst>
                                </p:cTn>
                              </p:par>
                            </p:childTnLst>
                          </p:cTn>
                        </p:par>
                      </p:childTnLst>
                    </p:cTn>
                  </p:par>
                  <p:par>
                    <p:cTn id="119" fill="hold">
                      <p:stCondLst>
                        <p:cond delay="indefinite"/>
                      </p:stCondLst>
                      <p:childTnLst>
                        <p:par>
                          <p:cTn id="120" fill="hold">
                            <p:stCondLst>
                              <p:cond delay="0"/>
                            </p:stCondLst>
                            <p:childTnLst>
                              <p:par>
                                <p:cTn id="121" presetID="2" presetClass="entr" presetSubtype="8" fill="hold" nodeType="clickEffect">
                                  <p:stCondLst>
                                    <p:cond delay="0"/>
                                  </p:stCondLst>
                                  <p:childTnLst>
                                    <p:set>
                                      <p:cBhvr>
                                        <p:cTn id="122" dur="1" fill="hold">
                                          <p:stCondLst>
                                            <p:cond delay="0"/>
                                          </p:stCondLst>
                                        </p:cTn>
                                        <p:tgtEl>
                                          <p:spTgt spid="45"/>
                                        </p:tgtEl>
                                        <p:attrNameLst>
                                          <p:attrName>style.visibility</p:attrName>
                                        </p:attrNameLst>
                                      </p:cBhvr>
                                      <p:to>
                                        <p:strVal val="visible"/>
                                      </p:to>
                                    </p:set>
                                    <p:anim calcmode="lin" valueType="num">
                                      <p:cBhvr additive="base">
                                        <p:cTn id="123" dur="500" fill="hold"/>
                                        <p:tgtEl>
                                          <p:spTgt spid="45"/>
                                        </p:tgtEl>
                                        <p:attrNameLst>
                                          <p:attrName>ppt_x</p:attrName>
                                        </p:attrNameLst>
                                      </p:cBhvr>
                                      <p:tavLst>
                                        <p:tav tm="0">
                                          <p:val>
                                            <p:strVal val="0-#ppt_w/2"/>
                                          </p:val>
                                        </p:tav>
                                        <p:tav tm="100000">
                                          <p:val>
                                            <p:strVal val="#ppt_x"/>
                                          </p:val>
                                        </p:tav>
                                      </p:tavLst>
                                    </p:anim>
                                    <p:anim calcmode="lin" valueType="num">
                                      <p:cBhvr additive="base">
                                        <p:cTn id="124" dur="500" fill="hold"/>
                                        <p:tgtEl>
                                          <p:spTgt spid="45"/>
                                        </p:tgtEl>
                                        <p:attrNameLst>
                                          <p:attrName>ppt_y</p:attrName>
                                        </p:attrNameLst>
                                      </p:cBhvr>
                                      <p:tavLst>
                                        <p:tav tm="0">
                                          <p:val>
                                            <p:strVal val="#ppt_y"/>
                                          </p:val>
                                        </p:tav>
                                        <p:tav tm="100000">
                                          <p:val>
                                            <p:strVal val="#ppt_y"/>
                                          </p:val>
                                        </p:tav>
                                      </p:tavLst>
                                    </p:anim>
                                  </p:childTnLst>
                                </p:cTn>
                              </p:par>
                              <p:par>
                                <p:cTn id="125" presetID="2" presetClass="entr" presetSubtype="8" fill="hold" grpId="3" nodeType="withEffect">
                                  <p:stCondLst>
                                    <p:cond delay="0"/>
                                  </p:stCondLst>
                                  <p:childTnLst>
                                    <p:set>
                                      <p:cBhvr>
                                        <p:cTn id="126" dur="1" fill="hold">
                                          <p:stCondLst>
                                            <p:cond delay="0"/>
                                          </p:stCondLst>
                                        </p:cTn>
                                        <p:tgtEl>
                                          <p:spTgt spid="47"/>
                                        </p:tgtEl>
                                        <p:attrNameLst>
                                          <p:attrName>style.visibility</p:attrName>
                                        </p:attrNameLst>
                                      </p:cBhvr>
                                      <p:to>
                                        <p:strVal val="visible"/>
                                      </p:to>
                                    </p:set>
                                    <p:anim calcmode="lin" valueType="num">
                                      <p:cBhvr additive="base">
                                        <p:cTn id="127" dur="500" fill="hold"/>
                                        <p:tgtEl>
                                          <p:spTgt spid="47"/>
                                        </p:tgtEl>
                                        <p:attrNameLst>
                                          <p:attrName>ppt_x</p:attrName>
                                        </p:attrNameLst>
                                      </p:cBhvr>
                                      <p:tavLst>
                                        <p:tav tm="0">
                                          <p:val>
                                            <p:strVal val="0-#ppt_w/2"/>
                                          </p:val>
                                        </p:tav>
                                        <p:tav tm="100000">
                                          <p:val>
                                            <p:strVal val="#ppt_x"/>
                                          </p:val>
                                        </p:tav>
                                      </p:tavLst>
                                    </p:anim>
                                    <p:anim calcmode="lin" valueType="num">
                                      <p:cBhvr additive="base">
                                        <p:cTn id="128" dur="500" fill="hold"/>
                                        <p:tgtEl>
                                          <p:spTgt spid="47"/>
                                        </p:tgtEl>
                                        <p:attrNameLst>
                                          <p:attrName>ppt_y</p:attrName>
                                        </p:attrNameLst>
                                      </p:cBhvr>
                                      <p:tavLst>
                                        <p:tav tm="0">
                                          <p:val>
                                            <p:strVal val="#ppt_y"/>
                                          </p:val>
                                        </p:tav>
                                        <p:tav tm="100000">
                                          <p:val>
                                            <p:strVal val="#ppt_y"/>
                                          </p:val>
                                        </p:tav>
                                      </p:tavLst>
                                    </p:anim>
                                  </p:childTnLst>
                                </p:cTn>
                              </p:par>
                            </p:childTnLst>
                          </p:cTn>
                        </p:par>
                      </p:childTnLst>
                    </p:cTn>
                  </p:par>
                  <p:par>
                    <p:cTn id="129" fill="hold">
                      <p:stCondLst>
                        <p:cond delay="indefinite"/>
                      </p:stCondLst>
                      <p:childTnLst>
                        <p:par>
                          <p:cTn id="130" fill="hold">
                            <p:stCondLst>
                              <p:cond delay="0"/>
                            </p:stCondLst>
                            <p:childTnLst>
                              <p:par>
                                <p:cTn id="131" presetID="2" presetClass="exit" presetSubtype="8" fill="hold" nodeType="clickEffect">
                                  <p:stCondLst>
                                    <p:cond delay="0"/>
                                  </p:stCondLst>
                                  <p:childTnLst>
                                    <p:anim calcmode="lin" valueType="num">
                                      <p:cBhvr additive="base">
                                        <p:cTn id="132" dur="500"/>
                                        <p:tgtEl>
                                          <p:spTgt spid="45"/>
                                        </p:tgtEl>
                                        <p:attrNameLst>
                                          <p:attrName>ppt_x</p:attrName>
                                        </p:attrNameLst>
                                      </p:cBhvr>
                                      <p:tavLst>
                                        <p:tav tm="0">
                                          <p:val>
                                            <p:strVal val="ppt_x"/>
                                          </p:val>
                                        </p:tav>
                                        <p:tav tm="100000">
                                          <p:val>
                                            <p:strVal val="0-ppt_w/2"/>
                                          </p:val>
                                        </p:tav>
                                      </p:tavLst>
                                    </p:anim>
                                    <p:anim calcmode="lin" valueType="num">
                                      <p:cBhvr additive="base">
                                        <p:cTn id="133" dur="500"/>
                                        <p:tgtEl>
                                          <p:spTgt spid="45"/>
                                        </p:tgtEl>
                                        <p:attrNameLst>
                                          <p:attrName>ppt_y</p:attrName>
                                        </p:attrNameLst>
                                      </p:cBhvr>
                                      <p:tavLst>
                                        <p:tav tm="0">
                                          <p:val>
                                            <p:strVal val="ppt_y"/>
                                          </p:val>
                                        </p:tav>
                                        <p:tav tm="100000">
                                          <p:val>
                                            <p:strVal val="ppt_y"/>
                                          </p:val>
                                        </p:tav>
                                      </p:tavLst>
                                    </p:anim>
                                    <p:set>
                                      <p:cBhvr>
                                        <p:cTn id="134" dur="1" fill="hold">
                                          <p:stCondLst>
                                            <p:cond delay="499"/>
                                          </p:stCondLst>
                                        </p:cTn>
                                        <p:tgtEl>
                                          <p:spTgt spid="45"/>
                                        </p:tgtEl>
                                        <p:attrNameLst>
                                          <p:attrName>style.visibility</p:attrName>
                                        </p:attrNameLst>
                                      </p:cBhvr>
                                      <p:to>
                                        <p:strVal val="hidden"/>
                                      </p:to>
                                    </p:set>
                                  </p:childTnLst>
                                </p:cTn>
                              </p:par>
                              <p:par>
                                <p:cTn id="135" presetID="2" presetClass="exit" presetSubtype="8" fill="hold" grpId="4" nodeType="withEffect">
                                  <p:stCondLst>
                                    <p:cond delay="0"/>
                                  </p:stCondLst>
                                  <p:childTnLst>
                                    <p:anim calcmode="lin" valueType="num">
                                      <p:cBhvr additive="base">
                                        <p:cTn id="136" dur="500"/>
                                        <p:tgtEl>
                                          <p:spTgt spid="47"/>
                                        </p:tgtEl>
                                        <p:attrNameLst>
                                          <p:attrName>ppt_x</p:attrName>
                                        </p:attrNameLst>
                                      </p:cBhvr>
                                      <p:tavLst>
                                        <p:tav tm="0">
                                          <p:val>
                                            <p:strVal val="ppt_x"/>
                                          </p:val>
                                        </p:tav>
                                        <p:tav tm="100000">
                                          <p:val>
                                            <p:strVal val="0-ppt_w/2"/>
                                          </p:val>
                                        </p:tav>
                                      </p:tavLst>
                                    </p:anim>
                                    <p:anim calcmode="lin" valueType="num">
                                      <p:cBhvr additive="base">
                                        <p:cTn id="137" dur="500"/>
                                        <p:tgtEl>
                                          <p:spTgt spid="47"/>
                                        </p:tgtEl>
                                        <p:attrNameLst>
                                          <p:attrName>ppt_y</p:attrName>
                                        </p:attrNameLst>
                                      </p:cBhvr>
                                      <p:tavLst>
                                        <p:tav tm="0">
                                          <p:val>
                                            <p:strVal val="ppt_y"/>
                                          </p:val>
                                        </p:tav>
                                        <p:tav tm="100000">
                                          <p:val>
                                            <p:strVal val="ppt_y"/>
                                          </p:val>
                                        </p:tav>
                                      </p:tavLst>
                                    </p:anim>
                                    <p:set>
                                      <p:cBhvr>
                                        <p:cTn id="138" dur="1" fill="hold">
                                          <p:stCondLst>
                                            <p:cond delay="499"/>
                                          </p:stCondLst>
                                        </p:cTn>
                                        <p:tgtEl>
                                          <p:spTgt spid="47"/>
                                        </p:tgtEl>
                                        <p:attrNameLst>
                                          <p:attrName>style.visibility</p:attrName>
                                        </p:attrNameLst>
                                      </p:cBhvr>
                                      <p:to>
                                        <p:strVal val="hidden"/>
                                      </p:to>
                                    </p:set>
                                  </p:childTnLst>
                                </p:cTn>
                              </p:par>
                            </p:childTnLst>
                          </p:cTn>
                        </p:par>
                      </p:childTnLst>
                    </p:cTn>
                  </p:par>
                  <p:par>
                    <p:cTn id="139" fill="hold">
                      <p:stCondLst>
                        <p:cond delay="indefinite"/>
                      </p:stCondLst>
                      <p:childTnLst>
                        <p:par>
                          <p:cTn id="140" fill="hold">
                            <p:stCondLst>
                              <p:cond delay="0"/>
                            </p:stCondLst>
                            <p:childTnLst>
                              <p:par>
                                <p:cTn id="141" presetID="2" presetClass="exit" presetSubtype="8" fill="hold" nodeType="clickEffect">
                                  <p:stCondLst>
                                    <p:cond delay="0"/>
                                  </p:stCondLst>
                                  <p:childTnLst>
                                    <p:anim calcmode="lin" valueType="num">
                                      <p:cBhvr additive="base">
                                        <p:cTn id="142" dur="500"/>
                                        <p:tgtEl>
                                          <p:spTgt spid="52"/>
                                        </p:tgtEl>
                                        <p:attrNameLst>
                                          <p:attrName>ppt_x</p:attrName>
                                        </p:attrNameLst>
                                      </p:cBhvr>
                                      <p:tavLst>
                                        <p:tav tm="0">
                                          <p:val>
                                            <p:strVal val="ppt_x"/>
                                          </p:val>
                                        </p:tav>
                                        <p:tav tm="100000">
                                          <p:val>
                                            <p:strVal val="0-ppt_w/2"/>
                                          </p:val>
                                        </p:tav>
                                      </p:tavLst>
                                    </p:anim>
                                    <p:anim calcmode="lin" valueType="num">
                                      <p:cBhvr additive="base">
                                        <p:cTn id="143" dur="500"/>
                                        <p:tgtEl>
                                          <p:spTgt spid="52"/>
                                        </p:tgtEl>
                                        <p:attrNameLst>
                                          <p:attrName>ppt_y</p:attrName>
                                        </p:attrNameLst>
                                      </p:cBhvr>
                                      <p:tavLst>
                                        <p:tav tm="0">
                                          <p:val>
                                            <p:strVal val="ppt_y"/>
                                          </p:val>
                                        </p:tav>
                                        <p:tav tm="100000">
                                          <p:val>
                                            <p:strVal val="ppt_y"/>
                                          </p:val>
                                        </p:tav>
                                      </p:tavLst>
                                    </p:anim>
                                    <p:set>
                                      <p:cBhvr>
                                        <p:cTn id="144" dur="1" fill="hold">
                                          <p:stCondLst>
                                            <p:cond delay="499"/>
                                          </p:stCondLst>
                                        </p:cTn>
                                        <p:tgtEl>
                                          <p:spTgt spid="52"/>
                                        </p:tgtEl>
                                        <p:attrNameLst>
                                          <p:attrName>style.visibility</p:attrName>
                                        </p:attrNameLst>
                                      </p:cBhvr>
                                      <p:to>
                                        <p:strVal val="hidden"/>
                                      </p:to>
                                    </p:set>
                                  </p:childTnLst>
                                </p:cTn>
                              </p:par>
                              <p:par>
                                <p:cTn id="145" presetID="2" presetClass="exit" presetSubtype="8" fill="hold" grpId="2" nodeType="withEffect">
                                  <p:stCondLst>
                                    <p:cond delay="0"/>
                                  </p:stCondLst>
                                  <p:childTnLst>
                                    <p:anim calcmode="lin" valueType="num">
                                      <p:cBhvr additive="base">
                                        <p:cTn id="146" dur="500"/>
                                        <p:tgtEl>
                                          <p:spTgt spid="53"/>
                                        </p:tgtEl>
                                        <p:attrNameLst>
                                          <p:attrName>ppt_x</p:attrName>
                                        </p:attrNameLst>
                                      </p:cBhvr>
                                      <p:tavLst>
                                        <p:tav tm="0">
                                          <p:val>
                                            <p:strVal val="ppt_x"/>
                                          </p:val>
                                        </p:tav>
                                        <p:tav tm="100000">
                                          <p:val>
                                            <p:strVal val="0-ppt_w/2"/>
                                          </p:val>
                                        </p:tav>
                                      </p:tavLst>
                                    </p:anim>
                                    <p:anim calcmode="lin" valueType="num">
                                      <p:cBhvr additive="base">
                                        <p:cTn id="147" dur="500"/>
                                        <p:tgtEl>
                                          <p:spTgt spid="53"/>
                                        </p:tgtEl>
                                        <p:attrNameLst>
                                          <p:attrName>ppt_y</p:attrName>
                                        </p:attrNameLst>
                                      </p:cBhvr>
                                      <p:tavLst>
                                        <p:tav tm="0">
                                          <p:val>
                                            <p:strVal val="ppt_y"/>
                                          </p:val>
                                        </p:tav>
                                        <p:tav tm="100000">
                                          <p:val>
                                            <p:strVal val="ppt_y"/>
                                          </p:val>
                                        </p:tav>
                                      </p:tavLst>
                                    </p:anim>
                                    <p:set>
                                      <p:cBhvr>
                                        <p:cTn id="148" dur="1" fill="hold">
                                          <p:stCondLst>
                                            <p:cond delay="499"/>
                                          </p:stCondLst>
                                        </p:cTn>
                                        <p:tgtEl>
                                          <p:spTgt spid="53"/>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 presetClass="entr" presetSubtype="8" fill="hold" nodeType="clickEffect">
                                  <p:stCondLst>
                                    <p:cond delay="0"/>
                                  </p:stCondLst>
                                  <p:childTnLst>
                                    <p:set>
                                      <p:cBhvr>
                                        <p:cTn id="152" dur="1" fill="hold">
                                          <p:stCondLst>
                                            <p:cond delay="0"/>
                                          </p:stCondLst>
                                        </p:cTn>
                                        <p:tgtEl>
                                          <p:spTgt spid="20"/>
                                        </p:tgtEl>
                                        <p:attrNameLst>
                                          <p:attrName>style.visibility</p:attrName>
                                        </p:attrNameLst>
                                      </p:cBhvr>
                                      <p:to>
                                        <p:strVal val="visible"/>
                                      </p:to>
                                    </p:set>
                                    <p:anim calcmode="lin" valueType="num">
                                      <p:cBhvr additive="base">
                                        <p:cTn id="153" dur="500" fill="hold"/>
                                        <p:tgtEl>
                                          <p:spTgt spid="20"/>
                                        </p:tgtEl>
                                        <p:attrNameLst>
                                          <p:attrName>ppt_x</p:attrName>
                                        </p:attrNameLst>
                                      </p:cBhvr>
                                      <p:tavLst>
                                        <p:tav tm="0">
                                          <p:val>
                                            <p:strVal val="0-#ppt_w/2"/>
                                          </p:val>
                                        </p:tav>
                                        <p:tav tm="100000">
                                          <p:val>
                                            <p:strVal val="#ppt_x"/>
                                          </p:val>
                                        </p:tav>
                                      </p:tavLst>
                                    </p:anim>
                                    <p:anim calcmode="lin" valueType="num">
                                      <p:cBhvr additive="base">
                                        <p:cTn id="154" dur="500" fill="hold"/>
                                        <p:tgtEl>
                                          <p:spTgt spid="20"/>
                                        </p:tgtEl>
                                        <p:attrNameLst>
                                          <p:attrName>ppt_y</p:attrName>
                                        </p:attrNameLst>
                                      </p:cBhvr>
                                      <p:tavLst>
                                        <p:tav tm="0">
                                          <p:val>
                                            <p:strVal val="#ppt_y"/>
                                          </p:val>
                                        </p:tav>
                                        <p:tav tm="100000">
                                          <p:val>
                                            <p:strVal val="#ppt_y"/>
                                          </p:val>
                                        </p:tav>
                                      </p:tavLst>
                                    </p:anim>
                                  </p:childTnLst>
                                </p:cTn>
                              </p:par>
                              <p:par>
                                <p:cTn id="155" presetID="2" presetClass="entr" presetSubtype="8" fill="hold" grpId="0" nodeType="withEffect">
                                  <p:stCondLst>
                                    <p:cond delay="0"/>
                                  </p:stCondLst>
                                  <p:childTnLst>
                                    <p:set>
                                      <p:cBhvr>
                                        <p:cTn id="156" dur="1" fill="hold">
                                          <p:stCondLst>
                                            <p:cond delay="0"/>
                                          </p:stCondLst>
                                        </p:cTn>
                                        <p:tgtEl>
                                          <p:spTgt spid="24"/>
                                        </p:tgtEl>
                                        <p:attrNameLst>
                                          <p:attrName>style.visibility</p:attrName>
                                        </p:attrNameLst>
                                      </p:cBhvr>
                                      <p:to>
                                        <p:strVal val="visible"/>
                                      </p:to>
                                    </p:set>
                                    <p:anim calcmode="lin" valueType="num">
                                      <p:cBhvr additive="base">
                                        <p:cTn id="157" dur="500" fill="hold"/>
                                        <p:tgtEl>
                                          <p:spTgt spid="24"/>
                                        </p:tgtEl>
                                        <p:attrNameLst>
                                          <p:attrName>ppt_x</p:attrName>
                                        </p:attrNameLst>
                                      </p:cBhvr>
                                      <p:tavLst>
                                        <p:tav tm="0">
                                          <p:val>
                                            <p:strVal val="0-#ppt_w/2"/>
                                          </p:val>
                                        </p:tav>
                                        <p:tav tm="100000">
                                          <p:val>
                                            <p:strVal val="#ppt_x"/>
                                          </p:val>
                                        </p:tav>
                                      </p:tavLst>
                                    </p:anim>
                                    <p:anim calcmode="lin" valueType="num">
                                      <p:cBhvr additive="base">
                                        <p:cTn id="158" dur="500" fill="hold"/>
                                        <p:tgtEl>
                                          <p:spTgt spid="24"/>
                                        </p:tgtEl>
                                        <p:attrNameLst>
                                          <p:attrName>ppt_y</p:attrName>
                                        </p:attrNameLst>
                                      </p:cBhvr>
                                      <p:tavLst>
                                        <p:tav tm="0">
                                          <p:val>
                                            <p:strVal val="#ppt_y"/>
                                          </p:val>
                                        </p:tav>
                                        <p:tav tm="100000">
                                          <p:val>
                                            <p:strVal val="#ppt_y"/>
                                          </p:val>
                                        </p:tav>
                                      </p:tavLst>
                                    </p:anim>
                                  </p:childTnLst>
                                </p:cTn>
                              </p:par>
                            </p:childTnLst>
                          </p:cTn>
                        </p:par>
                      </p:childTnLst>
                    </p:cTn>
                  </p:par>
                  <p:par>
                    <p:cTn id="159" fill="hold">
                      <p:stCondLst>
                        <p:cond delay="indefinite"/>
                      </p:stCondLst>
                      <p:childTnLst>
                        <p:par>
                          <p:cTn id="160" fill="hold">
                            <p:stCondLst>
                              <p:cond delay="0"/>
                            </p:stCondLst>
                            <p:childTnLst>
                              <p:par>
                                <p:cTn id="161" presetID="2" presetClass="entr" presetSubtype="8" fill="hold" nodeType="clickEffect">
                                  <p:stCondLst>
                                    <p:cond delay="0"/>
                                  </p:stCondLst>
                                  <p:childTnLst>
                                    <p:set>
                                      <p:cBhvr>
                                        <p:cTn id="162" dur="1" fill="hold">
                                          <p:stCondLst>
                                            <p:cond delay="0"/>
                                          </p:stCondLst>
                                        </p:cTn>
                                        <p:tgtEl>
                                          <p:spTgt spid="28"/>
                                        </p:tgtEl>
                                        <p:attrNameLst>
                                          <p:attrName>style.visibility</p:attrName>
                                        </p:attrNameLst>
                                      </p:cBhvr>
                                      <p:to>
                                        <p:strVal val="visible"/>
                                      </p:to>
                                    </p:set>
                                    <p:anim calcmode="lin" valueType="num">
                                      <p:cBhvr additive="base">
                                        <p:cTn id="163" dur="500" fill="hold"/>
                                        <p:tgtEl>
                                          <p:spTgt spid="28"/>
                                        </p:tgtEl>
                                        <p:attrNameLst>
                                          <p:attrName>ppt_x</p:attrName>
                                        </p:attrNameLst>
                                      </p:cBhvr>
                                      <p:tavLst>
                                        <p:tav tm="0">
                                          <p:val>
                                            <p:strVal val="0-#ppt_w/2"/>
                                          </p:val>
                                        </p:tav>
                                        <p:tav tm="100000">
                                          <p:val>
                                            <p:strVal val="#ppt_x"/>
                                          </p:val>
                                        </p:tav>
                                      </p:tavLst>
                                    </p:anim>
                                    <p:anim calcmode="lin" valueType="num">
                                      <p:cBhvr additive="base">
                                        <p:cTn id="164" dur="500" fill="hold"/>
                                        <p:tgtEl>
                                          <p:spTgt spid="28"/>
                                        </p:tgtEl>
                                        <p:attrNameLst>
                                          <p:attrName>ppt_y</p:attrName>
                                        </p:attrNameLst>
                                      </p:cBhvr>
                                      <p:tavLst>
                                        <p:tav tm="0">
                                          <p:val>
                                            <p:strVal val="#ppt_y"/>
                                          </p:val>
                                        </p:tav>
                                        <p:tav tm="100000">
                                          <p:val>
                                            <p:strVal val="#ppt_y"/>
                                          </p:val>
                                        </p:tav>
                                      </p:tavLst>
                                    </p:anim>
                                  </p:childTnLst>
                                </p:cTn>
                              </p:par>
                              <p:par>
                                <p:cTn id="165" presetID="2" presetClass="entr" presetSubtype="8" fill="hold" grpId="0" nodeType="withEffect">
                                  <p:stCondLst>
                                    <p:cond delay="0"/>
                                  </p:stCondLst>
                                  <p:childTnLst>
                                    <p:set>
                                      <p:cBhvr>
                                        <p:cTn id="166" dur="1" fill="hold">
                                          <p:stCondLst>
                                            <p:cond delay="0"/>
                                          </p:stCondLst>
                                        </p:cTn>
                                        <p:tgtEl>
                                          <p:spTgt spid="31"/>
                                        </p:tgtEl>
                                        <p:attrNameLst>
                                          <p:attrName>style.visibility</p:attrName>
                                        </p:attrNameLst>
                                      </p:cBhvr>
                                      <p:to>
                                        <p:strVal val="visible"/>
                                      </p:to>
                                    </p:set>
                                    <p:anim calcmode="lin" valueType="num">
                                      <p:cBhvr additive="base">
                                        <p:cTn id="167" dur="500" fill="hold"/>
                                        <p:tgtEl>
                                          <p:spTgt spid="31"/>
                                        </p:tgtEl>
                                        <p:attrNameLst>
                                          <p:attrName>ppt_x</p:attrName>
                                        </p:attrNameLst>
                                      </p:cBhvr>
                                      <p:tavLst>
                                        <p:tav tm="0">
                                          <p:val>
                                            <p:strVal val="0-#ppt_w/2"/>
                                          </p:val>
                                        </p:tav>
                                        <p:tav tm="100000">
                                          <p:val>
                                            <p:strVal val="#ppt_x"/>
                                          </p:val>
                                        </p:tav>
                                      </p:tavLst>
                                    </p:anim>
                                    <p:anim calcmode="lin" valueType="num">
                                      <p:cBhvr additive="base">
                                        <p:cTn id="168" dur="500" fill="hold"/>
                                        <p:tgtEl>
                                          <p:spTgt spid="31"/>
                                        </p:tgtEl>
                                        <p:attrNameLst>
                                          <p:attrName>ppt_y</p:attrName>
                                        </p:attrNameLst>
                                      </p:cBhvr>
                                      <p:tavLst>
                                        <p:tav tm="0">
                                          <p:val>
                                            <p:strVal val="#ppt_y"/>
                                          </p:val>
                                        </p:tav>
                                        <p:tav tm="100000">
                                          <p:val>
                                            <p:strVal val="#ppt_y"/>
                                          </p:val>
                                        </p:tav>
                                      </p:tavLst>
                                    </p:anim>
                                  </p:childTnLst>
                                </p:cTn>
                              </p:par>
                            </p:childTnLst>
                          </p:cTn>
                        </p:par>
                      </p:childTnLst>
                    </p:cTn>
                  </p:par>
                  <p:par>
                    <p:cTn id="169" fill="hold">
                      <p:stCondLst>
                        <p:cond delay="indefinite"/>
                      </p:stCondLst>
                      <p:childTnLst>
                        <p:par>
                          <p:cTn id="170" fill="hold">
                            <p:stCondLst>
                              <p:cond delay="0"/>
                            </p:stCondLst>
                            <p:childTnLst>
                              <p:par>
                                <p:cTn id="171" presetID="0" presetClass="path" presetSubtype="0" accel="50000" decel="50000" fill="hold" nodeType="clickEffect">
                                  <p:stCondLst>
                                    <p:cond delay="0"/>
                                  </p:stCondLst>
                                  <p:childTnLst>
                                    <p:animMotion origin="layout" path="M -0.0836111 0.0906481 L -0.140208 0.188981 " pathEditMode="relative" rAng="0" ptsTypes="">
                                      <p:cBhvr>
                                        <p:cTn id="172" dur="2000" fill="hold"/>
                                        <p:tgtEl>
                                          <p:spTgt spid="10245"/>
                                        </p:tgtEl>
                                        <p:attrNameLst>
                                          <p:attrName>ppt_x</p:attrName>
                                          <p:attrName>ppt_y</p:attrName>
                                        </p:attrNameLst>
                                      </p:cBhvr>
                                      <p:rCtr x="-2800" y="5000"/>
                                    </p:animMotion>
                                  </p:childTnLst>
                                </p:cTn>
                              </p:par>
                              <p:par>
                                <p:cTn id="173" presetID="0" presetClass="path" presetSubtype="0" accel="50000" decel="50000" fill="hold" nodeType="withEffect">
                                  <p:stCondLst>
                                    <p:cond delay="0"/>
                                  </p:stCondLst>
                                  <p:childTnLst>
                                    <p:animMotion origin="layout" path="M 0 0 L 0.0575694 -0.0967593 " pathEditMode="relative" rAng="0" ptsTypes="">
                                      <p:cBhvr>
                                        <p:cTn id="174" dur="2000" fill="hold"/>
                                        <p:tgtEl>
                                          <p:spTgt spid="10"/>
                                        </p:tgtEl>
                                        <p:attrNameLst>
                                          <p:attrName>ppt_x</p:attrName>
                                          <p:attrName>ppt_y</p:attrName>
                                        </p:attrNameLst>
                                      </p:cBhvr>
                                      <p:rCtr x="2800" y="-4900"/>
                                    </p:animMotion>
                                  </p:childTnLst>
                                </p:cTn>
                              </p:par>
                            </p:childTnLst>
                          </p:cTn>
                        </p:par>
                      </p:childTnLst>
                    </p:cTn>
                  </p:par>
                  <p:par>
                    <p:cTn id="175" fill="hold">
                      <p:stCondLst>
                        <p:cond delay="indefinite"/>
                      </p:stCondLst>
                      <p:childTnLst>
                        <p:par>
                          <p:cTn id="176" fill="hold">
                            <p:stCondLst>
                              <p:cond delay="0"/>
                            </p:stCondLst>
                            <p:childTnLst>
                              <p:par>
                                <p:cTn id="177" presetID="2" presetClass="exit" presetSubtype="8" fill="hold" nodeType="clickEffect">
                                  <p:stCondLst>
                                    <p:cond delay="0"/>
                                  </p:stCondLst>
                                  <p:childTnLst>
                                    <p:anim calcmode="lin" valueType="num">
                                      <p:cBhvr additive="base">
                                        <p:cTn id="178" dur="500"/>
                                        <p:tgtEl>
                                          <p:spTgt spid="28"/>
                                        </p:tgtEl>
                                        <p:attrNameLst>
                                          <p:attrName>ppt_x</p:attrName>
                                        </p:attrNameLst>
                                      </p:cBhvr>
                                      <p:tavLst>
                                        <p:tav tm="0">
                                          <p:val>
                                            <p:strVal val="ppt_x"/>
                                          </p:val>
                                        </p:tav>
                                        <p:tav tm="100000">
                                          <p:val>
                                            <p:strVal val="0-ppt_w/2"/>
                                          </p:val>
                                        </p:tav>
                                      </p:tavLst>
                                    </p:anim>
                                    <p:anim calcmode="lin" valueType="num">
                                      <p:cBhvr additive="base">
                                        <p:cTn id="179" dur="500"/>
                                        <p:tgtEl>
                                          <p:spTgt spid="28"/>
                                        </p:tgtEl>
                                        <p:attrNameLst>
                                          <p:attrName>ppt_y</p:attrName>
                                        </p:attrNameLst>
                                      </p:cBhvr>
                                      <p:tavLst>
                                        <p:tav tm="0">
                                          <p:val>
                                            <p:strVal val="ppt_y"/>
                                          </p:val>
                                        </p:tav>
                                        <p:tav tm="100000">
                                          <p:val>
                                            <p:strVal val="ppt_y"/>
                                          </p:val>
                                        </p:tav>
                                      </p:tavLst>
                                    </p:anim>
                                    <p:set>
                                      <p:cBhvr>
                                        <p:cTn id="180" dur="1" fill="hold">
                                          <p:stCondLst>
                                            <p:cond delay="499"/>
                                          </p:stCondLst>
                                        </p:cTn>
                                        <p:tgtEl>
                                          <p:spTgt spid="28"/>
                                        </p:tgtEl>
                                        <p:attrNameLst>
                                          <p:attrName>style.visibility</p:attrName>
                                        </p:attrNameLst>
                                      </p:cBhvr>
                                      <p:to>
                                        <p:strVal val="hidden"/>
                                      </p:to>
                                    </p:set>
                                  </p:childTnLst>
                                </p:cTn>
                              </p:par>
                              <p:par>
                                <p:cTn id="181" presetID="2" presetClass="exit" presetSubtype="8" fill="hold" grpId="2" nodeType="withEffect">
                                  <p:stCondLst>
                                    <p:cond delay="0"/>
                                  </p:stCondLst>
                                  <p:childTnLst>
                                    <p:anim calcmode="lin" valueType="num">
                                      <p:cBhvr additive="base">
                                        <p:cTn id="182" dur="500"/>
                                        <p:tgtEl>
                                          <p:spTgt spid="31"/>
                                        </p:tgtEl>
                                        <p:attrNameLst>
                                          <p:attrName>ppt_x</p:attrName>
                                        </p:attrNameLst>
                                      </p:cBhvr>
                                      <p:tavLst>
                                        <p:tav tm="0">
                                          <p:val>
                                            <p:strVal val="ppt_x"/>
                                          </p:val>
                                        </p:tav>
                                        <p:tav tm="100000">
                                          <p:val>
                                            <p:strVal val="0-ppt_w/2"/>
                                          </p:val>
                                        </p:tav>
                                      </p:tavLst>
                                    </p:anim>
                                    <p:anim calcmode="lin" valueType="num">
                                      <p:cBhvr additive="base">
                                        <p:cTn id="183" dur="500"/>
                                        <p:tgtEl>
                                          <p:spTgt spid="31"/>
                                        </p:tgtEl>
                                        <p:attrNameLst>
                                          <p:attrName>ppt_y</p:attrName>
                                        </p:attrNameLst>
                                      </p:cBhvr>
                                      <p:tavLst>
                                        <p:tav tm="0">
                                          <p:val>
                                            <p:strVal val="ppt_y"/>
                                          </p:val>
                                        </p:tav>
                                        <p:tav tm="100000">
                                          <p:val>
                                            <p:strVal val="ppt_y"/>
                                          </p:val>
                                        </p:tav>
                                      </p:tavLst>
                                    </p:anim>
                                    <p:set>
                                      <p:cBhvr>
                                        <p:cTn id="184" dur="1" fill="hold">
                                          <p:stCondLst>
                                            <p:cond delay="499"/>
                                          </p:stCondLst>
                                        </p:cTn>
                                        <p:tgtEl>
                                          <p:spTgt spid="31"/>
                                        </p:tgtEl>
                                        <p:attrNameLst>
                                          <p:attrName>style.visibility</p:attrName>
                                        </p:attrNameLst>
                                      </p:cBhvr>
                                      <p:to>
                                        <p:strVal val="hidden"/>
                                      </p:to>
                                    </p:set>
                                  </p:childTnLst>
                                </p:cTn>
                              </p:par>
                            </p:childTnLst>
                          </p:cTn>
                        </p:par>
                      </p:childTnLst>
                    </p:cTn>
                  </p:par>
                  <p:par>
                    <p:cTn id="185" fill="hold">
                      <p:stCondLst>
                        <p:cond delay="indefinite"/>
                      </p:stCondLst>
                      <p:childTnLst>
                        <p:par>
                          <p:cTn id="186" fill="hold">
                            <p:stCondLst>
                              <p:cond delay="0"/>
                            </p:stCondLst>
                            <p:childTnLst>
                              <p:par>
                                <p:cTn id="187" presetID="2" presetClass="entr" presetSubtype="8" fill="hold" nodeType="clickEffect">
                                  <p:stCondLst>
                                    <p:cond delay="0"/>
                                  </p:stCondLst>
                                  <p:childTnLst>
                                    <p:set>
                                      <p:cBhvr>
                                        <p:cTn id="188" dur="1" fill="hold">
                                          <p:stCondLst>
                                            <p:cond delay="0"/>
                                          </p:stCondLst>
                                        </p:cTn>
                                        <p:tgtEl>
                                          <p:spTgt spid="34"/>
                                        </p:tgtEl>
                                        <p:attrNameLst>
                                          <p:attrName>style.visibility</p:attrName>
                                        </p:attrNameLst>
                                      </p:cBhvr>
                                      <p:to>
                                        <p:strVal val="visible"/>
                                      </p:to>
                                    </p:set>
                                    <p:anim calcmode="lin" valueType="num">
                                      <p:cBhvr additive="base">
                                        <p:cTn id="189" dur="500" fill="hold"/>
                                        <p:tgtEl>
                                          <p:spTgt spid="34"/>
                                        </p:tgtEl>
                                        <p:attrNameLst>
                                          <p:attrName>ppt_x</p:attrName>
                                        </p:attrNameLst>
                                      </p:cBhvr>
                                      <p:tavLst>
                                        <p:tav tm="0">
                                          <p:val>
                                            <p:strVal val="0-#ppt_w/2"/>
                                          </p:val>
                                        </p:tav>
                                        <p:tav tm="100000">
                                          <p:val>
                                            <p:strVal val="#ppt_x"/>
                                          </p:val>
                                        </p:tav>
                                      </p:tavLst>
                                    </p:anim>
                                    <p:anim calcmode="lin" valueType="num">
                                      <p:cBhvr additive="base">
                                        <p:cTn id="190" dur="500" fill="hold"/>
                                        <p:tgtEl>
                                          <p:spTgt spid="34"/>
                                        </p:tgtEl>
                                        <p:attrNameLst>
                                          <p:attrName>ppt_y</p:attrName>
                                        </p:attrNameLst>
                                      </p:cBhvr>
                                      <p:tavLst>
                                        <p:tav tm="0">
                                          <p:val>
                                            <p:strVal val="#ppt_y"/>
                                          </p:val>
                                        </p:tav>
                                        <p:tav tm="100000">
                                          <p:val>
                                            <p:strVal val="#ppt_y"/>
                                          </p:val>
                                        </p:tav>
                                      </p:tavLst>
                                    </p:anim>
                                  </p:childTnLst>
                                </p:cTn>
                              </p:par>
                              <p:par>
                                <p:cTn id="191" presetID="2" presetClass="entr" presetSubtype="8" fill="hold" grpId="0" nodeType="withEffect">
                                  <p:stCondLst>
                                    <p:cond delay="0"/>
                                  </p:stCondLst>
                                  <p:childTnLst>
                                    <p:set>
                                      <p:cBhvr>
                                        <p:cTn id="192" dur="1" fill="hold">
                                          <p:stCondLst>
                                            <p:cond delay="0"/>
                                          </p:stCondLst>
                                        </p:cTn>
                                        <p:tgtEl>
                                          <p:spTgt spid="37"/>
                                        </p:tgtEl>
                                        <p:attrNameLst>
                                          <p:attrName>style.visibility</p:attrName>
                                        </p:attrNameLst>
                                      </p:cBhvr>
                                      <p:to>
                                        <p:strVal val="visible"/>
                                      </p:to>
                                    </p:set>
                                    <p:anim calcmode="lin" valueType="num">
                                      <p:cBhvr additive="base">
                                        <p:cTn id="193" dur="500" fill="hold"/>
                                        <p:tgtEl>
                                          <p:spTgt spid="37"/>
                                        </p:tgtEl>
                                        <p:attrNameLst>
                                          <p:attrName>ppt_x</p:attrName>
                                        </p:attrNameLst>
                                      </p:cBhvr>
                                      <p:tavLst>
                                        <p:tav tm="0">
                                          <p:val>
                                            <p:strVal val="0-#ppt_w/2"/>
                                          </p:val>
                                        </p:tav>
                                        <p:tav tm="100000">
                                          <p:val>
                                            <p:strVal val="#ppt_x"/>
                                          </p:val>
                                        </p:tav>
                                      </p:tavLst>
                                    </p:anim>
                                    <p:anim calcmode="lin" valueType="num">
                                      <p:cBhvr additive="base">
                                        <p:cTn id="194" dur="500" fill="hold"/>
                                        <p:tgtEl>
                                          <p:spTgt spid="37"/>
                                        </p:tgtEl>
                                        <p:attrNameLst>
                                          <p:attrName>ppt_y</p:attrName>
                                        </p:attrNameLst>
                                      </p:cBhvr>
                                      <p:tavLst>
                                        <p:tav tm="0">
                                          <p:val>
                                            <p:strVal val="#ppt_y"/>
                                          </p:val>
                                        </p:tav>
                                        <p:tav tm="100000">
                                          <p:val>
                                            <p:strVal val="#ppt_y"/>
                                          </p:val>
                                        </p:tav>
                                      </p:tavLst>
                                    </p:anim>
                                  </p:childTnLst>
                                </p:cTn>
                              </p:par>
                            </p:childTnLst>
                          </p:cTn>
                        </p:par>
                      </p:childTnLst>
                    </p:cTn>
                  </p:par>
                  <p:par>
                    <p:cTn id="195" fill="hold">
                      <p:stCondLst>
                        <p:cond delay="indefinite"/>
                      </p:stCondLst>
                      <p:childTnLst>
                        <p:par>
                          <p:cTn id="196" fill="hold">
                            <p:stCondLst>
                              <p:cond delay="0"/>
                            </p:stCondLst>
                            <p:childTnLst>
                              <p:par>
                                <p:cTn id="197" presetID="0" presetClass="path" presetSubtype="0" accel="50000" decel="50000" fill="hold" nodeType="clickEffect">
                                  <p:stCondLst>
                                    <p:cond delay="0"/>
                                  </p:stCondLst>
                                  <p:childTnLst>
                                    <p:animMotion origin="layout" path="M 0.0574306 -0.0982407 L 0.141944 -0.189815 " pathEditMode="relative" rAng="0" ptsTypes="">
                                      <p:cBhvr>
                                        <p:cTn id="198" dur="2000" fill="hold"/>
                                        <p:tgtEl>
                                          <p:spTgt spid="10"/>
                                        </p:tgtEl>
                                        <p:attrNameLst>
                                          <p:attrName>ppt_x</p:attrName>
                                          <p:attrName>ppt_y</p:attrName>
                                        </p:attrNameLst>
                                      </p:cBhvr>
                                      <p:rCtr x="4300" y="-4700"/>
                                    </p:animMotion>
                                  </p:childTnLst>
                                </p:cTn>
                              </p:par>
                              <p:par>
                                <p:cTn id="199" presetID="0" presetClass="path" presetSubtype="0" accel="50000" decel="50000" fill="hold" nodeType="withEffect">
                                  <p:stCondLst>
                                    <p:cond delay="0"/>
                                  </p:stCondLst>
                                  <p:childTnLst>
                                    <p:animMotion origin="layout" path="M -0.0768056 -0.0909259 L -0.162361 0 " pathEditMode="relative" rAng="0" ptsTypes="">
                                      <p:cBhvr>
                                        <p:cTn id="200" dur="2000" fill="hold"/>
                                        <p:tgtEl>
                                          <p:spTgt spid="7"/>
                                        </p:tgtEl>
                                        <p:attrNameLst>
                                          <p:attrName>ppt_x</p:attrName>
                                          <p:attrName>ppt_y</p:attrName>
                                        </p:attrNameLst>
                                      </p:cBhvr>
                                      <p:rCtr x="-4200" y="4400"/>
                                    </p:animMotion>
                                  </p:childTnLst>
                                </p:cTn>
                              </p:par>
                            </p:childTnLst>
                          </p:cTn>
                        </p:par>
                      </p:childTnLst>
                    </p:cTn>
                  </p:par>
                  <p:par>
                    <p:cTn id="201" fill="hold">
                      <p:stCondLst>
                        <p:cond delay="indefinite"/>
                      </p:stCondLst>
                      <p:childTnLst>
                        <p:par>
                          <p:cTn id="202" fill="hold">
                            <p:stCondLst>
                              <p:cond delay="0"/>
                            </p:stCondLst>
                            <p:childTnLst>
                              <p:par>
                                <p:cTn id="203" presetID="2" presetClass="exit" presetSubtype="8" fill="hold" nodeType="clickEffect">
                                  <p:stCondLst>
                                    <p:cond delay="0"/>
                                  </p:stCondLst>
                                  <p:childTnLst>
                                    <p:anim calcmode="lin" valueType="num">
                                      <p:cBhvr additive="base">
                                        <p:cTn id="204" dur="500"/>
                                        <p:tgtEl>
                                          <p:spTgt spid="34"/>
                                        </p:tgtEl>
                                        <p:attrNameLst>
                                          <p:attrName>ppt_x</p:attrName>
                                        </p:attrNameLst>
                                      </p:cBhvr>
                                      <p:tavLst>
                                        <p:tav tm="0">
                                          <p:val>
                                            <p:strVal val="ppt_x"/>
                                          </p:val>
                                        </p:tav>
                                        <p:tav tm="100000">
                                          <p:val>
                                            <p:strVal val="0-ppt_w/2"/>
                                          </p:val>
                                        </p:tav>
                                      </p:tavLst>
                                    </p:anim>
                                    <p:anim calcmode="lin" valueType="num">
                                      <p:cBhvr additive="base">
                                        <p:cTn id="205" dur="500"/>
                                        <p:tgtEl>
                                          <p:spTgt spid="34"/>
                                        </p:tgtEl>
                                        <p:attrNameLst>
                                          <p:attrName>ppt_y</p:attrName>
                                        </p:attrNameLst>
                                      </p:cBhvr>
                                      <p:tavLst>
                                        <p:tav tm="0">
                                          <p:val>
                                            <p:strVal val="ppt_y"/>
                                          </p:val>
                                        </p:tav>
                                        <p:tav tm="100000">
                                          <p:val>
                                            <p:strVal val="ppt_y"/>
                                          </p:val>
                                        </p:tav>
                                      </p:tavLst>
                                    </p:anim>
                                    <p:set>
                                      <p:cBhvr>
                                        <p:cTn id="206" dur="1" fill="hold">
                                          <p:stCondLst>
                                            <p:cond delay="499"/>
                                          </p:stCondLst>
                                        </p:cTn>
                                        <p:tgtEl>
                                          <p:spTgt spid="34"/>
                                        </p:tgtEl>
                                        <p:attrNameLst>
                                          <p:attrName>style.visibility</p:attrName>
                                        </p:attrNameLst>
                                      </p:cBhvr>
                                      <p:to>
                                        <p:strVal val="hidden"/>
                                      </p:to>
                                    </p:set>
                                  </p:childTnLst>
                                </p:cTn>
                              </p:par>
                              <p:par>
                                <p:cTn id="207" presetID="2" presetClass="exit" presetSubtype="8" fill="hold" grpId="2" nodeType="withEffect">
                                  <p:stCondLst>
                                    <p:cond delay="0"/>
                                  </p:stCondLst>
                                  <p:childTnLst>
                                    <p:anim calcmode="lin" valueType="num">
                                      <p:cBhvr additive="base">
                                        <p:cTn id="208" dur="500"/>
                                        <p:tgtEl>
                                          <p:spTgt spid="37"/>
                                        </p:tgtEl>
                                        <p:attrNameLst>
                                          <p:attrName>ppt_x</p:attrName>
                                        </p:attrNameLst>
                                      </p:cBhvr>
                                      <p:tavLst>
                                        <p:tav tm="0">
                                          <p:val>
                                            <p:strVal val="ppt_x"/>
                                          </p:val>
                                        </p:tav>
                                        <p:tav tm="100000">
                                          <p:val>
                                            <p:strVal val="0-ppt_w/2"/>
                                          </p:val>
                                        </p:tav>
                                      </p:tavLst>
                                    </p:anim>
                                    <p:anim calcmode="lin" valueType="num">
                                      <p:cBhvr additive="base">
                                        <p:cTn id="209" dur="500"/>
                                        <p:tgtEl>
                                          <p:spTgt spid="37"/>
                                        </p:tgtEl>
                                        <p:attrNameLst>
                                          <p:attrName>ppt_y</p:attrName>
                                        </p:attrNameLst>
                                      </p:cBhvr>
                                      <p:tavLst>
                                        <p:tav tm="0">
                                          <p:val>
                                            <p:strVal val="ppt_y"/>
                                          </p:val>
                                        </p:tav>
                                        <p:tav tm="100000">
                                          <p:val>
                                            <p:strVal val="ppt_y"/>
                                          </p:val>
                                        </p:tav>
                                      </p:tavLst>
                                    </p:anim>
                                    <p:set>
                                      <p:cBhvr>
                                        <p:cTn id="210" dur="1" fill="hold">
                                          <p:stCondLst>
                                            <p:cond delay="499"/>
                                          </p:stCondLst>
                                        </p:cTn>
                                        <p:tgtEl>
                                          <p:spTgt spid="37"/>
                                        </p:tgtEl>
                                        <p:attrNameLst>
                                          <p:attrName>style.visibility</p:attrName>
                                        </p:attrNameLst>
                                      </p:cBhvr>
                                      <p:to>
                                        <p:strVal val="hidden"/>
                                      </p:to>
                                    </p:set>
                                  </p:childTnLst>
                                </p:cTn>
                              </p:par>
                            </p:childTnLst>
                          </p:cTn>
                        </p:par>
                      </p:childTnLst>
                    </p:cTn>
                  </p:par>
                  <p:par>
                    <p:cTn id="211" fill="hold">
                      <p:stCondLst>
                        <p:cond delay="indefinite"/>
                      </p:stCondLst>
                      <p:childTnLst>
                        <p:par>
                          <p:cTn id="212" fill="hold">
                            <p:stCondLst>
                              <p:cond delay="0"/>
                            </p:stCondLst>
                            <p:childTnLst>
                              <p:par>
                                <p:cTn id="213" presetID="2" presetClass="entr" presetSubtype="8" fill="hold" nodeType="clickEffect">
                                  <p:stCondLst>
                                    <p:cond delay="0"/>
                                  </p:stCondLst>
                                  <p:childTnLst>
                                    <p:set>
                                      <p:cBhvr>
                                        <p:cTn id="214" dur="1" fill="hold">
                                          <p:stCondLst>
                                            <p:cond delay="0"/>
                                          </p:stCondLst>
                                        </p:cTn>
                                        <p:tgtEl>
                                          <p:spTgt spid="40"/>
                                        </p:tgtEl>
                                        <p:attrNameLst>
                                          <p:attrName>style.visibility</p:attrName>
                                        </p:attrNameLst>
                                      </p:cBhvr>
                                      <p:to>
                                        <p:strVal val="visible"/>
                                      </p:to>
                                    </p:set>
                                    <p:anim calcmode="lin" valueType="num">
                                      <p:cBhvr additive="base">
                                        <p:cTn id="215" dur="500" fill="hold"/>
                                        <p:tgtEl>
                                          <p:spTgt spid="40"/>
                                        </p:tgtEl>
                                        <p:attrNameLst>
                                          <p:attrName>ppt_x</p:attrName>
                                        </p:attrNameLst>
                                      </p:cBhvr>
                                      <p:tavLst>
                                        <p:tav tm="0">
                                          <p:val>
                                            <p:strVal val="0-#ppt_w/2"/>
                                          </p:val>
                                        </p:tav>
                                        <p:tav tm="100000">
                                          <p:val>
                                            <p:strVal val="#ppt_x"/>
                                          </p:val>
                                        </p:tav>
                                      </p:tavLst>
                                    </p:anim>
                                    <p:anim calcmode="lin" valueType="num">
                                      <p:cBhvr additive="base">
                                        <p:cTn id="216" dur="500" fill="hold"/>
                                        <p:tgtEl>
                                          <p:spTgt spid="40"/>
                                        </p:tgtEl>
                                        <p:attrNameLst>
                                          <p:attrName>ppt_y</p:attrName>
                                        </p:attrNameLst>
                                      </p:cBhvr>
                                      <p:tavLst>
                                        <p:tav tm="0">
                                          <p:val>
                                            <p:strVal val="#ppt_y"/>
                                          </p:val>
                                        </p:tav>
                                        <p:tav tm="100000">
                                          <p:val>
                                            <p:strVal val="#ppt_y"/>
                                          </p:val>
                                        </p:tav>
                                      </p:tavLst>
                                    </p:anim>
                                  </p:childTnLst>
                                </p:cTn>
                              </p:par>
                              <p:par>
                                <p:cTn id="217" presetID="2" presetClass="entr" presetSubtype="8" fill="hold" grpId="0" nodeType="withEffect">
                                  <p:stCondLst>
                                    <p:cond delay="0"/>
                                  </p:stCondLst>
                                  <p:childTnLst>
                                    <p:set>
                                      <p:cBhvr>
                                        <p:cTn id="218" dur="1" fill="hold">
                                          <p:stCondLst>
                                            <p:cond delay="0"/>
                                          </p:stCondLst>
                                        </p:cTn>
                                        <p:tgtEl>
                                          <p:spTgt spid="46"/>
                                        </p:tgtEl>
                                        <p:attrNameLst>
                                          <p:attrName>style.visibility</p:attrName>
                                        </p:attrNameLst>
                                      </p:cBhvr>
                                      <p:to>
                                        <p:strVal val="visible"/>
                                      </p:to>
                                    </p:set>
                                    <p:anim calcmode="lin" valueType="num">
                                      <p:cBhvr additive="base">
                                        <p:cTn id="219" dur="500" fill="hold"/>
                                        <p:tgtEl>
                                          <p:spTgt spid="46"/>
                                        </p:tgtEl>
                                        <p:attrNameLst>
                                          <p:attrName>ppt_x</p:attrName>
                                        </p:attrNameLst>
                                      </p:cBhvr>
                                      <p:tavLst>
                                        <p:tav tm="0">
                                          <p:val>
                                            <p:strVal val="0-#ppt_w/2"/>
                                          </p:val>
                                        </p:tav>
                                        <p:tav tm="100000">
                                          <p:val>
                                            <p:strVal val="#ppt_x"/>
                                          </p:val>
                                        </p:tav>
                                      </p:tavLst>
                                    </p:anim>
                                    <p:anim calcmode="lin" valueType="num">
                                      <p:cBhvr additive="base">
                                        <p:cTn id="220" dur="500" fill="hold"/>
                                        <p:tgtEl>
                                          <p:spTgt spid="46"/>
                                        </p:tgtEl>
                                        <p:attrNameLst>
                                          <p:attrName>ppt_y</p:attrName>
                                        </p:attrNameLst>
                                      </p:cBhvr>
                                      <p:tavLst>
                                        <p:tav tm="0">
                                          <p:val>
                                            <p:strVal val="#ppt_y"/>
                                          </p:val>
                                        </p:tav>
                                        <p:tav tm="100000">
                                          <p:val>
                                            <p:strVal val="#ppt_y"/>
                                          </p:val>
                                        </p:tav>
                                      </p:tavLst>
                                    </p:anim>
                                  </p:childTnLst>
                                </p:cTn>
                              </p:par>
                            </p:childTnLst>
                          </p:cTn>
                        </p:par>
                      </p:childTnLst>
                    </p:cTn>
                  </p:par>
                  <p:par>
                    <p:cTn id="221" fill="hold">
                      <p:stCondLst>
                        <p:cond delay="indefinite"/>
                      </p:stCondLst>
                      <p:childTnLst>
                        <p:par>
                          <p:cTn id="222" fill="hold">
                            <p:stCondLst>
                              <p:cond delay="0"/>
                            </p:stCondLst>
                            <p:childTnLst>
                              <p:par>
                                <p:cTn id="223" presetID="2" presetClass="exit" presetSubtype="8" fill="hold" nodeType="clickEffect">
                                  <p:stCondLst>
                                    <p:cond delay="0"/>
                                  </p:stCondLst>
                                  <p:childTnLst>
                                    <p:anim calcmode="lin" valueType="num">
                                      <p:cBhvr additive="base">
                                        <p:cTn id="224" dur="500"/>
                                        <p:tgtEl>
                                          <p:spTgt spid="40"/>
                                        </p:tgtEl>
                                        <p:attrNameLst>
                                          <p:attrName>ppt_x</p:attrName>
                                        </p:attrNameLst>
                                      </p:cBhvr>
                                      <p:tavLst>
                                        <p:tav tm="0">
                                          <p:val>
                                            <p:strVal val="ppt_x"/>
                                          </p:val>
                                        </p:tav>
                                        <p:tav tm="100000">
                                          <p:val>
                                            <p:strVal val="0-ppt_w/2"/>
                                          </p:val>
                                        </p:tav>
                                      </p:tavLst>
                                    </p:anim>
                                    <p:anim calcmode="lin" valueType="num">
                                      <p:cBhvr additive="base">
                                        <p:cTn id="225" dur="500"/>
                                        <p:tgtEl>
                                          <p:spTgt spid="40"/>
                                        </p:tgtEl>
                                        <p:attrNameLst>
                                          <p:attrName>ppt_y</p:attrName>
                                        </p:attrNameLst>
                                      </p:cBhvr>
                                      <p:tavLst>
                                        <p:tav tm="0">
                                          <p:val>
                                            <p:strVal val="ppt_y"/>
                                          </p:val>
                                        </p:tav>
                                        <p:tav tm="100000">
                                          <p:val>
                                            <p:strVal val="ppt_y"/>
                                          </p:val>
                                        </p:tav>
                                      </p:tavLst>
                                    </p:anim>
                                    <p:set>
                                      <p:cBhvr>
                                        <p:cTn id="226" dur="1" fill="hold">
                                          <p:stCondLst>
                                            <p:cond delay="499"/>
                                          </p:stCondLst>
                                        </p:cTn>
                                        <p:tgtEl>
                                          <p:spTgt spid="40"/>
                                        </p:tgtEl>
                                        <p:attrNameLst>
                                          <p:attrName>style.visibility</p:attrName>
                                        </p:attrNameLst>
                                      </p:cBhvr>
                                      <p:to>
                                        <p:strVal val="hidden"/>
                                      </p:to>
                                    </p:set>
                                  </p:childTnLst>
                                </p:cTn>
                              </p:par>
                              <p:par>
                                <p:cTn id="227" presetID="2" presetClass="exit" presetSubtype="8" fill="hold" grpId="2" nodeType="withEffect">
                                  <p:stCondLst>
                                    <p:cond delay="0"/>
                                  </p:stCondLst>
                                  <p:childTnLst>
                                    <p:anim calcmode="lin" valueType="num">
                                      <p:cBhvr additive="base">
                                        <p:cTn id="228" dur="500"/>
                                        <p:tgtEl>
                                          <p:spTgt spid="46"/>
                                        </p:tgtEl>
                                        <p:attrNameLst>
                                          <p:attrName>ppt_x</p:attrName>
                                        </p:attrNameLst>
                                      </p:cBhvr>
                                      <p:tavLst>
                                        <p:tav tm="0">
                                          <p:val>
                                            <p:strVal val="ppt_x"/>
                                          </p:val>
                                        </p:tav>
                                        <p:tav tm="100000">
                                          <p:val>
                                            <p:strVal val="0-ppt_w/2"/>
                                          </p:val>
                                        </p:tav>
                                      </p:tavLst>
                                    </p:anim>
                                    <p:anim calcmode="lin" valueType="num">
                                      <p:cBhvr additive="base">
                                        <p:cTn id="229" dur="500"/>
                                        <p:tgtEl>
                                          <p:spTgt spid="46"/>
                                        </p:tgtEl>
                                        <p:attrNameLst>
                                          <p:attrName>ppt_y</p:attrName>
                                        </p:attrNameLst>
                                      </p:cBhvr>
                                      <p:tavLst>
                                        <p:tav tm="0">
                                          <p:val>
                                            <p:strVal val="ppt_y"/>
                                          </p:val>
                                        </p:tav>
                                        <p:tav tm="100000">
                                          <p:val>
                                            <p:strVal val="ppt_y"/>
                                          </p:val>
                                        </p:tav>
                                      </p:tavLst>
                                    </p:anim>
                                    <p:set>
                                      <p:cBhvr>
                                        <p:cTn id="230" dur="1" fill="hold">
                                          <p:stCondLst>
                                            <p:cond delay="499"/>
                                          </p:stCondLst>
                                        </p:cTn>
                                        <p:tgtEl>
                                          <p:spTgt spid="46"/>
                                        </p:tgtEl>
                                        <p:attrNameLst>
                                          <p:attrName>style.visibility</p:attrName>
                                        </p:attrNameLst>
                                      </p:cBhvr>
                                      <p:to>
                                        <p:strVal val="hidden"/>
                                      </p:to>
                                    </p:set>
                                  </p:childTnLst>
                                </p:cTn>
                              </p:par>
                            </p:childTnLst>
                          </p:cTn>
                        </p:par>
                      </p:childTnLst>
                    </p:cTn>
                  </p:par>
                  <p:par>
                    <p:cTn id="231" fill="hold">
                      <p:stCondLst>
                        <p:cond delay="indefinite"/>
                      </p:stCondLst>
                      <p:childTnLst>
                        <p:par>
                          <p:cTn id="232" fill="hold">
                            <p:stCondLst>
                              <p:cond delay="0"/>
                            </p:stCondLst>
                            <p:childTnLst>
                              <p:par>
                                <p:cTn id="233" presetID="2" presetClass="exit" presetSubtype="8" fill="hold" nodeType="clickEffect">
                                  <p:stCondLst>
                                    <p:cond delay="0"/>
                                  </p:stCondLst>
                                  <p:childTnLst>
                                    <p:anim calcmode="lin" valueType="num">
                                      <p:cBhvr additive="base">
                                        <p:cTn id="234" dur="500"/>
                                        <p:tgtEl>
                                          <p:spTgt spid="20"/>
                                        </p:tgtEl>
                                        <p:attrNameLst>
                                          <p:attrName>ppt_x</p:attrName>
                                        </p:attrNameLst>
                                      </p:cBhvr>
                                      <p:tavLst>
                                        <p:tav tm="0">
                                          <p:val>
                                            <p:strVal val="ppt_x"/>
                                          </p:val>
                                        </p:tav>
                                        <p:tav tm="100000">
                                          <p:val>
                                            <p:strVal val="0-ppt_w/2"/>
                                          </p:val>
                                        </p:tav>
                                      </p:tavLst>
                                    </p:anim>
                                    <p:anim calcmode="lin" valueType="num">
                                      <p:cBhvr additive="base">
                                        <p:cTn id="235" dur="500"/>
                                        <p:tgtEl>
                                          <p:spTgt spid="20"/>
                                        </p:tgtEl>
                                        <p:attrNameLst>
                                          <p:attrName>ppt_y</p:attrName>
                                        </p:attrNameLst>
                                      </p:cBhvr>
                                      <p:tavLst>
                                        <p:tav tm="0">
                                          <p:val>
                                            <p:strVal val="ppt_y"/>
                                          </p:val>
                                        </p:tav>
                                        <p:tav tm="100000">
                                          <p:val>
                                            <p:strVal val="ppt_y"/>
                                          </p:val>
                                        </p:tav>
                                      </p:tavLst>
                                    </p:anim>
                                    <p:set>
                                      <p:cBhvr>
                                        <p:cTn id="236" dur="1" fill="hold">
                                          <p:stCondLst>
                                            <p:cond delay="499"/>
                                          </p:stCondLst>
                                        </p:cTn>
                                        <p:tgtEl>
                                          <p:spTgt spid="20"/>
                                        </p:tgtEl>
                                        <p:attrNameLst>
                                          <p:attrName>style.visibility</p:attrName>
                                        </p:attrNameLst>
                                      </p:cBhvr>
                                      <p:to>
                                        <p:strVal val="hidden"/>
                                      </p:to>
                                    </p:set>
                                  </p:childTnLst>
                                </p:cTn>
                              </p:par>
                              <p:par>
                                <p:cTn id="237" presetID="2" presetClass="exit" presetSubtype="8" fill="hold" grpId="2" nodeType="withEffect">
                                  <p:stCondLst>
                                    <p:cond delay="0"/>
                                  </p:stCondLst>
                                  <p:childTnLst>
                                    <p:anim calcmode="lin" valueType="num">
                                      <p:cBhvr additive="base">
                                        <p:cTn id="238" dur="500"/>
                                        <p:tgtEl>
                                          <p:spTgt spid="24"/>
                                        </p:tgtEl>
                                        <p:attrNameLst>
                                          <p:attrName>ppt_x</p:attrName>
                                        </p:attrNameLst>
                                      </p:cBhvr>
                                      <p:tavLst>
                                        <p:tav tm="0">
                                          <p:val>
                                            <p:strVal val="ppt_x"/>
                                          </p:val>
                                        </p:tav>
                                        <p:tav tm="100000">
                                          <p:val>
                                            <p:strVal val="0-ppt_w/2"/>
                                          </p:val>
                                        </p:tav>
                                      </p:tavLst>
                                    </p:anim>
                                    <p:anim calcmode="lin" valueType="num">
                                      <p:cBhvr additive="base">
                                        <p:cTn id="239" dur="500"/>
                                        <p:tgtEl>
                                          <p:spTgt spid="24"/>
                                        </p:tgtEl>
                                        <p:attrNameLst>
                                          <p:attrName>ppt_y</p:attrName>
                                        </p:attrNameLst>
                                      </p:cBhvr>
                                      <p:tavLst>
                                        <p:tav tm="0">
                                          <p:val>
                                            <p:strVal val="ppt_y"/>
                                          </p:val>
                                        </p:tav>
                                        <p:tav tm="100000">
                                          <p:val>
                                            <p:strVal val="ppt_y"/>
                                          </p:val>
                                        </p:tav>
                                      </p:tavLst>
                                    </p:anim>
                                    <p:set>
                                      <p:cBhvr>
                                        <p:cTn id="240" dur="1" fill="hold">
                                          <p:stCondLst>
                                            <p:cond delay="499"/>
                                          </p:stCondLst>
                                        </p:cTn>
                                        <p:tgtEl>
                                          <p:spTgt spid="24"/>
                                        </p:tgtEl>
                                        <p:attrNameLst>
                                          <p:attrName>style.visibility</p:attrName>
                                        </p:attrNameLst>
                                      </p:cBhvr>
                                      <p:to>
                                        <p:strVal val="hidden"/>
                                      </p:to>
                                    </p:set>
                                  </p:childTnLst>
                                </p:cTn>
                              </p:par>
                            </p:childTnLst>
                          </p:cTn>
                        </p:par>
                      </p:childTnLst>
                    </p:cTn>
                  </p:par>
                  <p:par>
                    <p:cTn id="241" fill="hold">
                      <p:stCondLst>
                        <p:cond delay="indefinite"/>
                      </p:stCondLst>
                      <p:childTnLst>
                        <p:par>
                          <p:cTn id="242" fill="hold">
                            <p:stCondLst>
                              <p:cond delay="0"/>
                            </p:stCondLst>
                            <p:childTnLst>
                              <p:par>
                                <p:cTn id="243" presetID="2" presetClass="entr" presetSubtype="8" fill="hold" nodeType="clickEffect">
                                  <p:stCondLst>
                                    <p:cond delay="0"/>
                                  </p:stCondLst>
                                  <p:childTnLst>
                                    <p:set>
                                      <p:cBhvr>
                                        <p:cTn id="244" dur="1" fill="hold">
                                          <p:stCondLst>
                                            <p:cond delay="0"/>
                                          </p:stCondLst>
                                        </p:cTn>
                                        <p:tgtEl>
                                          <p:spTgt spid="49"/>
                                        </p:tgtEl>
                                        <p:attrNameLst>
                                          <p:attrName>style.visibility</p:attrName>
                                        </p:attrNameLst>
                                      </p:cBhvr>
                                      <p:to>
                                        <p:strVal val="visible"/>
                                      </p:to>
                                    </p:set>
                                    <p:anim calcmode="lin" valueType="num">
                                      <p:cBhvr additive="base">
                                        <p:cTn id="245" dur="500" fill="hold"/>
                                        <p:tgtEl>
                                          <p:spTgt spid="49"/>
                                        </p:tgtEl>
                                        <p:attrNameLst>
                                          <p:attrName>ppt_x</p:attrName>
                                        </p:attrNameLst>
                                      </p:cBhvr>
                                      <p:tavLst>
                                        <p:tav tm="0">
                                          <p:val>
                                            <p:strVal val="0-#ppt_w/2"/>
                                          </p:val>
                                        </p:tav>
                                        <p:tav tm="100000">
                                          <p:val>
                                            <p:strVal val="#ppt_x"/>
                                          </p:val>
                                        </p:tav>
                                      </p:tavLst>
                                    </p:anim>
                                    <p:anim calcmode="lin" valueType="num">
                                      <p:cBhvr additive="base">
                                        <p:cTn id="246" dur="500" fill="hold"/>
                                        <p:tgtEl>
                                          <p:spTgt spid="49"/>
                                        </p:tgtEl>
                                        <p:attrNameLst>
                                          <p:attrName>ppt_y</p:attrName>
                                        </p:attrNameLst>
                                      </p:cBhvr>
                                      <p:tavLst>
                                        <p:tav tm="0">
                                          <p:val>
                                            <p:strVal val="#ppt_y"/>
                                          </p:val>
                                        </p:tav>
                                        <p:tav tm="100000">
                                          <p:val>
                                            <p:strVal val="#ppt_y"/>
                                          </p:val>
                                        </p:tav>
                                      </p:tavLst>
                                    </p:anim>
                                  </p:childTnLst>
                                </p:cTn>
                              </p:par>
                              <p:par>
                                <p:cTn id="247" presetID="2" presetClass="entr" presetSubtype="8" fill="hold" grpId="0" nodeType="withEffect">
                                  <p:stCondLst>
                                    <p:cond delay="0"/>
                                  </p:stCondLst>
                                  <p:childTnLst>
                                    <p:set>
                                      <p:cBhvr>
                                        <p:cTn id="248" dur="1" fill="hold">
                                          <p:stCondLst>
                                            <p:cond delay="0"/>
                                          </p:stCondLst>
                                        </p:cTn>
                                        <p:tgtEl>
                                          <p:spTgt spid="50"/>
                                        </p:tgtEl>
                                        <p:attrNameLst>
                                          <p:attrName>style.visibility</p:attrName>
                                        </p:attrNameLst>
                                      </p:cBhvr>
                                      <p:to>
                                        <p:strVal val="visible"/>
                                      </p:to>
                                    </p:set>
                                    <p:anim calcmode="lin" valueType="num">
                                      <p:cBhvr additive="base">
                                        <p:cTn id="249" dur="500" fill="hold"/>
                                        <p:tgtEl>
                                          <p:spTgt spid="50"/>
                                        </p:tgtEl>
                                        <p:attrNameLst>
                                          <p:attrName>ppt_x</p:attrName>
                                        </p:attrNameLst>
                                      </p:cBhvr>
                                      <p:tavLst>
                                        <p:tav tm="0">
                                          <p:val>
                                            <p:strVal val="0-#ppt_w/2"/>
                                          </p:val>
                                        </p:tav>
                                        <p:tav tm="100000">
                                          <p:val>
                                            <p:strVal val="#ppt_x"/>
                                          </p:val>
                                        </p:tav>
                                      </p:tavLst>
                                    </p:anim>
                                    <p:anim calcmode="lin" valueType="num">
                                      <p:cBhvr additive="base">
                                        <p:cTn id="250" dur="500" fill="hold"/>
                                        <p:tgtEl>
                                          <p:spTgt spid="50"/>
                                        </p:tgtEl>
                                        <p:attrNameLst>
                                          <p:attrName>ppt_y</p:attrName>
                                        </p:attrNameLst>
                                      </p:cBhvr>
                                      <p:tavLst>
                                        <p:tav tm="0">
                                          <p:val>
                                            <p:strVal val="#ppt_y"/>
                                          </p:val>
                                        </p:tav>
                                        <p:tav tm="100000">
                                          <p:val>
                                            <p:strVal val="#ppt_y"/>
                                          </p:val>
                                        </p:tav>
                                      </p:tavLst>
                                    </p:anim>
                                  </p:childTnLst>
                                </p:cTn>
                              </p:par>
                            </p:childTnLst>
                          </p:cTn>
                        </p:par>
                      </p:childTnLst>
                    </p:cTn>
                  </p:par>
                  <p:par>
                    <p:cTn id="251" fill="hold">
                      <p:stCondLst>
                        <p:cond delay="indefinite"/>
                      </p:stCondLst>
                      <p:childTnLst>
                        <p:par>
                          <p:cTn id="252" fill="hold">
                            <p:stCondLst>
                              <p:cond delay="0"/>
                            </p:stCondLst>
                            <p:childTnLst>
                              <p:par>
                                <p:cTn id="253" presetID="2" presetClass="entr" presetSubtype="8" fill="hold" grpId="0" nodeType="clickEffect">
                                  <p:stCondLst>
                                    <p:cond delay="0"/>
                                  </p:stCondLst>
                                  <p:childTnLst>
                                    <p:set>
                                      <p:cBhvr>
                                        <p:cTn id="254" dur="1" fill="hold">
                                          <p:stCondLst>
                                            <p:cond delay="0"/>
                                          </p:stCondLst>
                                        </p:cTn>
                                        <p:tgtEl>
                                          <p:spTgt spid="80"/>
                                        </p:tgtEl>
                                        <p:attrNameLst>
                                          <p:attrName>style.visibility</p:attrName>
                                        </p:attrNameLst>
                                      </p:cBhvr>
                                      <p:to>
                                        <p:strVal val="visible"/>
                                      </p:to>
                                    </p:set>
                                    <p:anim calcmode="lin" valueType="num">
                                      <p:cBhvr additive="base">
                                        <p:cTn id="255" dur="500" fill="hold"/>
                                        <p:tgtEl>
                                          <p:spTgt spid="80"/>
                                        </p:tgtEl>
                                        <p:attrNameLst>
                                          <p:attrName>ppt_x</p:attrName>
                                        </p:attrNameLst>
                                      </p:cBhvr>
                                      <p:tavLst>
                                        <p:tav tm="0">
                                          <p:val>
                                            <p:strVal val="0-#ppt_w/2"/>
                                          </p:val>
                                        </p:tav>
                                        <p:tav tm="100000">
                                          <p:val>
                                            <p:strVal val="#ppt_x"/>
                                          </p:val>
                                        </p:tav>
                                      </p:tavLst>
                                    </p:anim>
                                    <p:anim calcmode="lin" valueType="num">
                                      <p:cBhvr additive="base">
                                        <p:cTn id="256" dur="500" fill="hold"/>
                                        <p:tgtEl>
                                          <p:spTgt spid="80"/>
                                        </p:tgtEl>
                                        <p:attrNameLst>
                                          <p:attrName>ppt_y</p:attrName>
                                        </p:attrNameLst>
                                      </p:cBhvr>
                                      <p:tavLst>
                                        <p:tav tm="0">
                                          <p:val>
                                            <p:strVal val="#ppt_y"/>
                                          </p:val>
                                        </p:tav>
                                        <p:tav tm="100000">
                                          <p:val>
                                            <p:strVal val="#ppt_y"/>
                                          </p:val>
                                        </p:tav>
                                      </p:tavLst>
                                    </p:anim>
                                  </p:childTnLst>
                                </p:cTn>
                              </p:par>
                              <p:par>
                                <p:cTn id="257" presetID="2" presetClass="entr" presetSubtype="8" fill="hold" nodeType="withEffect">
                                  <p:stCondLst>
                                    <p:cond delay="0"/>
                                  </p:stCondLst>
                                  <p:childTnLst>
                                    <p:set>
                                      <p:cBhvr>
                                        <p:cTn id="258" dur="1" fill="hold">
                                          <p:stCondLst>
                                            <p:cond delay="0"/>
                                          </p:stCondLst>
                                        </p:cTn>
                                        <p:tgtEl>
                                          <p:spTgt spid="79"/>
                                        </p:tgtEl>
                                        <p:attrNameLst>
                                          <p:attrName>style.visibility</p:attrName>
                                        </p:attrNameLst>
                                      </p:cBhvr>
                                      <p:to>
                                        <p:strVal val="visible"/>
                                      </p:to>
                                    </p:set>
                                    <p:anim calcmode="lin" valueType="num">
                                      <p:cBhvr additive="base">
                                        <p:cTn id="259" dur="500" fill="hold"/>
                                        <p:tgtEl>
                                          <p:spTgt spid="79"/>
                                        </p:tgtEl>
                                        <p:attrNameLst>
                                          <p:attrName>ppt_x</p:attrName>
                                        </p:attrNameLst>
                                      </p:cBhvr>
                                      <p:tavLst>
                                        <p:tav tm="0">
                                          <p:val>
                                            <p:strVal val="0-#ppt_w/2"/>
                                          </p:val>
                                        </p:tav>
                                        <p:tav tm="100000">
                                          <p:val>
                                            <p:strVal val="#ppt_x"/>
                                          </p:val>
                                        </p:tav>
                                      </p:tavLst>
                                    </p:anim>
                                    <p:anim calcmode="lin" valueType="num">
                                      <p:cBhvr additive="base">
                                        <p:cTn id="260" dur="500" fill="hold"/>
                                        <p:tgtEl>
                                          <p:spTgt spid="79"/>
                                        </p:tgtEl>
                                        <p:attrNameLst>
                                          <p:attrName>ppt_y</p:attrName>
                                        </p:attrNameLst>
                                      </p:cBhvr>
                                      <p:tavLst>
                                        <p:tav tm="0">
                                          <p:val>
                                            <p:strVal val="#ppt_y"/>
                                          </p:val>
                                        </p:tav>
                                        <p:tav tm="100000">
                                          <p:val>
                                            <p:strVal val="#ppt_y"/>
                                          </p:val>
                                        </p:tav>
                                      </p:tavLst>
                                    </p:anim>
                                  </p:childTnLst>
                                </p:cTn>
                              </p:par>
                            </p:childTnLst>
                          </p:cTn>
                        </p:par>
                      </p:childTnLst>
                    </p:cTn>
                  </p:par>
                  <p:par>
                    <p:cTn id="261" fill="hold">
                      <p:stCondLst>
                        <p:cond delay="indefinite"/>
                      </p:stCondLst>
                      <p:childTnLst>
                        <p:par>
                          <p:cTn id="262" fill="hold">
                            <p:stCondLst>
                              <p:cond delay="0"/>
                            </p:stCondLst>
                            <p:childTnLst>
                              <p:par>
                                <p:cTn id="263" presetID="2" presetClass="exit" presetSubtype="8" fill="hold" nodeType="clickEffect">
                                  <p:stCondLst>
                                    <p:cond delay="0"/>
                                  </p:stCondLst>
                                  <p:childTnLst>
                                    <p:anim calcmode="lin" valueType="num">
                                      <p:cBhvr additive="base">
                                        <p:cTn id="264" dur="500"/>
                                        <p:tgtEl>
                                          <p:spTgt spid="49"/>
                                        </p:tgtEl>
                                        <p:attrNameLst>
                                          <p:attrName>ppt_x</p:attrName>
                                        </p:attrNameLst>
                                      </p:cBhvr>
                                      <p:tavLst>
                                        <p:tav tm="0">
                                          <p:val>
                                            <p:strVal val="ppt_x"/>
                                          </p:val>
                                        </p:tav>
                                        <p:tav tm="100000">
                                          <p:val>
                                            <p:strVal val="0-ppt_w/2"/>
                                          </p:val>
                                        </p:tav>
                                      </p:tavLst>
                                    </p:anim>
                                    <p:anim calcmode="lin" valueType="num">
                                      <p:cBhvr additive="base">
                                        <p:cTn id="265" dur="500"/>
                                        <p:tgtEl>
                                          <p:spTgt spid="49"/>
                                        </p:tgtEl>
                                        <p:attrNameLst>
                                          <p:attrName>ppt_y</p:attrName>
                                        </p:attrNameLst>
                                      </p:cBhvr>
                                      <p:tavLst>
                                        <p:tav tm="0">
                                          <p:val>
                                            <p:strVal val="ppt_y"/>
                                          </p:val>
                                        </p:tav>
                                        <p:tav tm="100000">
                                          <p:val>
                                            <p:strVal val="ppt_y"/>
                                          </p:val>
                                        </p:tav>
                                      </p:tavLst>
                                    </p:anim>
                                    <p:set>
                                      <p:cBhvr>
                                        <p:cTn id="266" dur="1" fill="hold">
                                          <p:stCondLst>
                                            <p:cond delay="499"/>
                                          </p:stCondLst>
                                        </p:cTn>
                                        <p:tgtEl>
                                          <p:spTgt spid="49"/>
                                        </p:tgtEl>
                                        <p:attrNameLst>
                                          <p:attrName>style.visibility</p:attrName>
                                        </p:attrNameLst>
                                      </p:cBhvr>
                                      <p:to>
                                        <p:strVal val="hidden"/>
                                      </p:to>
                                    </p:set>
                                  </p:childTnLst>
                                </p:cTn>
                              </p:par>
                              <p:par>
                                <p:cTn id="267" presetID="2" presetClass="exit" presetSubtype="8" fill="hold" grpId="2" nodeType="withEffect">
                                  <p:stCondLst>
                                    <p:cond delay="0"/>
                                  </p:stCondLst>
                                  <p:childTnLst>
                                    <p:anim calcmode="lin" valueType="num">
                                      <p:cBhvr additive="base">
                                        <p:cTn id="268" dur="500"/>
                                        <p:tgtEl>
                                          <p:spTgt spid="50"/>
                                        </p:tgtEl>
                                        <p:attrNameLst>
                                          <p:attrName>ppt_x</p:attrName>
                                        </p:attrNameLst>
                                      </p:cBhvr>
                                      <p:tavLst>
                                        <p:tav tm="0">
                                          <p:val>
                                            <p:strVal val="ppt_x"/>
                                          </p:val>
                                        </p:tav>
                                        <p:tav tm="100000">
                                          <p:val>
                                            <p:strVal val="0-ppt_w/2"/>
                                          </p:val>
                                        </p:tav>
                                      </p:tavLst>
                                    </p:anim>
                                    <p:anim calcmode="lin" valueType="num">
                                      <p:cBhvr additive="base">
                                        <p:cTn id="269" dur="500"/>
                                        <p:tgtEl>
                                          <p:spTgt spid="50"/>
                                        </p:tgtEl>
                                        <p:attrNameLst>
                                          <p:attrName>ppt_y</p:attrName>
                                        </p:attrNameLst>
                                      </p:cBhvr>
                                      <p:tavLst>
                                        <p:tav tm="0">
                                          <p:val>
                                            <p:strVal val="ppt_y"/>
                                          </p:val>
                                        </p:tav>
                                        <p:tav tm="100000">
                                          <p:val>
                                            <p:strVal val="ppt_y"/>
                                          </p:val>
                                        </p:tav>
                                      </p:tavLst>
                                    </p:anim>
                                    <p:set>
                                      <p:cBhvr>
                                        <p:cTn id="270" dur="1" fill="hold">
                                          <p:stCondLst>
                                            <p:cond delay="499"/>
                                          </p:stCondLst>
                                        </p:cTn>
                                        <p:tgtEl>
                                          <p:spTgt spid="50"/>
                                        </p:tgtEl>
                                        <p:attrNameLst>
                                          <p:attrName>style.visibility</p:attrName>
                                        </p:attrNameLst>
                                      </p:cBhvr>
                                      <p:to>
                                        <p:strVal val="hidden"/>
                                      </p:to>
                                    </p:set>
                                  </p:childTnLst>
                                </p:cTn>
                              </p:par>
                            </p:childTnLst>
                          </p:cTn>
                        </p:par>
                      </p:childTnLst>
                    </p:cTn>
                  </p:par>
                  <p:par>
                    <p:cTn id="271" fill="hold">
                      <p:stCondLst>
                        <p:cond delay="indefinite"/>
                      </p:stCondLst>
                      <p:childTnLst>
                        <p:par>
                          <p:cTn id="272" fill="hold">
                            <p:stCondLst>
                              <p:cond delay="0"/>
                            </p:stCondLst>
                            <p:childTnLst>
                              <p:par>
                                <p:cTn id="273" presetID="2" presetClass="exit" presetSubtype="8" fill="hold" nodeType="clickEffect">
                                  <p:stCondLst>
                                    <p:cond delay="0"/>
                                  </p:stCondLst>
                                  <p:childTnLst>
                                    <p:anim calcmode="lin" valueType="num">
                                      <p:cBhvr additive="base">
                                        <p:cTn id="274" dur="500"/>
                                        <p:tgtEl>
                                          <p:spTgt spid="79"/>
                                        </p:tgtEl>
                                        <p:attrNameLst>
                                          <p:attrName>ppt_x</p:attrName>
                                        </p:attrNameLst>
                                      </p:cBhvr>
                                      <p:tavLst>
                                        <p:tav tm="0">
                                          <p:val>
                                            <p:strVal val="ppt_x"/>
                                          </p:val>
                                        </p:tav>
                                        <p:tav tm="100000">
                                          <p:val>
                                            <p:strVal val="0-ppt_w/2"/>
                                          </p:val>
                                        </p:tav>
                                      </p:tavLst>
                                    </p:anim>
                                    <p:anim calcmode="lin" valueType="num">
                                      <p:cBhvr additive="base">
                                        <p:cTn id="275" dur="500"/>
                                        <p:tgtEl>
                                          <p:spTgt spid="79"/>
                                        </p:tgtEl>
                                        <p:attrNameLst>
                                          <p:attrName>ppt_y</p:attrName>
                                        </p:attrNameLst>
                                      </p:cBhvr>
                                      <p:tavLst>
                                        <p:tav tm="0">
                                          <p:val>
                                            <p:strVal val="ppt_y"/>
                                          </p:val>
                                        </p:tav>
                                        <p:tav tm="100000">
                                          <p:val>
                                            <p:strVal val="ppt_y"/>
                                          </p:val>
                                        </p:tav>
                                      </p:tavLst>
                                    </p:anim>
                                    <p:set>
                                      <p:cBhvr>
                                        <p:cTn id="276" dur="1" fill="hold">
                                          <p:stCondLst>
                                            <p:cond delay="499"/>
                                          </p:stCondLst>
                                        </p:cTn>
                                        <p:tgtEl>
                                          <p:spTgt spid="79"/>
                                        </p:tgtEl>
                                        <p:attrNameLst>
                                          <p:attrName>style.visibility</p:attrName>
                                        </p:attrNameLst>
                                      </p:cBhvr>
                                      <p:to>
                                        <p:strVal val="hidden"/>
                                      </p:to>
                                    </p:set>
                                  </p:childTnLst>
                                </p:cTn>
                              </p:par>
                              <p:par>
                                <p:cTn id="277" presetID="2" presetClass="exit" presetSubtype="8" fill="hold" grpId="2" nodeType="withEffect">
                                  <p:stCondLst>
                                    <p:cond delay="0"/>
                                  </p:stCondLst>
                                  <p:childTnLst>
                                    <p:anim calcmode="lin" valueType="num">
                                      <p:cBhvr additive="base">
                                        <p:cTn id="278" dur="500"/>
                                        <p:tgtEl>
                                          <p:spTgt spid="80"/>
                                        </p:tgtEl>
                                        <p:attrNameLst>
                                          <p:attrName>ppt_x</p:attrName>
                                        </p:attrNameLst>
                                      </p:cBhvr>
                                      <p:tavLst>
                                        <p:tav tm="0">
                                          <p:val>
                                            <p:strVal val="ppt_x"/>
                                          </p:val>
                                        </p:tav>
                                        <p:tav tm="100000">
                                          <p:val>
                                            <p:strVal val="0-ppt_w/2"/>
                                          </p:val>
                                        </p:tav>
                                      </p:tavLst>
                                    </p:anim>
                                    <p:anim calcmode="lin" valueType="num">
                                      <p:cBhvr additive="base">
                                        <p:cTn id="279" dur="500"/>
                                        <p:tgtEl>
                                          <p:spTgt spid="80"/>
                                        </p:tgtEl>
                                        <p:attrNameLst>
                                          <p:attrName>ppt_y</p:attrName>
                                        </p:attrNameLst>
                                      </p:cBhvr>
                                      <p:tavLst>
                                        <p:tav tm="0">
                                          <p:val>
                                            <p:strVal val="ppt_y"/>
                                          </p:val>
                                        </p:tav>
                                        <p:tav tm="100000">
                                          <p:val>
                                            <p:strVal val="ppt_y"/>
                                          </p:val>
                                        </p:tav>
                                      </p:tavLst>
                                    </p:anim>
                                    <p:set>
                                      <p:cBhvr>
                                        <p:cTn id="280" dur="1" fill="hold">
                                          <p:stCondLst>
                                            <p:cond delay="499"/>
                                          </p:stCondLst>
                                        </p:cTn>
                                        <p:tgtEl>
                                          <p:spTgt spid="80"/>
                                        </p:tgtEl>
                                        <p:attrNameLst>
                                          <p:attrName>style.visibility</p:attrName>
                                        </p:attrNameLst>
                                      </p:cBhvr>
                                      <p:to>
                                        <p:strVal val="hidden"/>
                                      </p:to>
                                    </p:set>
                                  </p:childTnLst>
                                </p:cTn>
                              </p:par>
                            </p:childTnLst>
                          </p:cTn>
                        </p:par>
                      </p:childTnLst>
                    </p:cTn>
                  </p:par>
                  <p:par>
                    <p:cTn id="281" fill="hold">
                      <p:stCondLst>
                        <p:cond delay="indefinite"/>
                      </p:stCondLst>
                      <p:childTnLst>
                        <p:par>
                          <p:cTn id="282" fill="hold">
                            <p:stCondLst>
                              <p:cond delay="0"/>
                            </p:stCondLst>
                            <p:childTnLst>
                              <p:par>
                                <p:cTn id="283" presetID="2" presetClass="entr" presetSubtype="8" fill="hold" nodeType="clickEffect">
                                  <p:stCondLst>
                                    <p:cond delay="0"/>
                                  </p:stCondLst>
                                  <p:childTnLst>
                                    <p:set>
                                      <p:cBhvr>
                                        <p:cTn id="284" dur="1" fill="hold">
                                          <p:stCondLst>
                                            <p:cond delay="0"/>
                                          </p:stCondLst>
                                        </p:cTn>
                                        <p:tgtEl>
                                          <p:spTgt spid="81"/>
                                        </p:tgtEl>
                                        <p:attrNameLst>
                                          <p:attrName>style.visibility</p:attrName>
                                        </p:attrNameLst>
                                      </p:cBhvr>
                                      <p:to>
                                        <p:strVal val="visible"/>
                                      </p:to>
                                    </p:set>
                                    <p:anim calcmode="lin" valueType="num">
                                      <p:cBhvr additive="base">
                                        <p:cTn id="285" dur="500" fill="hold"/>
                                        <p:tgtEl>
                                          <p:spTgt spid="81"/>
                                        </p:tgtEl>
                                        <p:attrNameLst>
                                          <p:attrName>ppt_x</p:attrName>
                                        </p:attrNameLst>
                                      </p:cBhvr>
                                      <p:tavLst>
                                        <p:tav tm="0">
                                          <p:val>
                                            <p:strVal val="0-#ppt_w/2"/>
                                          </p:val>
                                        </p:tav>
                                        <p:tav tm="100000">
                                          <p:val>
                                            <p:strVal val="#ppt_x"/>
                                          </p:val>
                                        </p:tav>
                                      </p:tavLst>
                                    </p:anim>
                                    <p:anim calcmode="lin" valueType="num">
                                      <p:cBhvr additive="base">
                                        <p:cTn id="286" dur="500" fill="hold"/>
                                        <p:tgtEl>
                                          <p:spTgt spid="81"/>
                                        </p:tgtEl>
                                        <p:attrNameLst>
                                          <p:attrName>ppt_y</p:attrName>
                                        </p:attrNameLst>
                                      </p:cBhvr>
                                      <p:tavLst>
                                        <p:tav tm="0">
                                          <p:val>
                                            <p:strVal val="#ppt_y"/>
                                          </p:val>
                                        </p:tav>
                                        <p:tav tm="100000">
                                          <p:val>
                                            <p:strVal val="#ppt_y"/>
                                          </p:val>
                                        </p:tav>
                                      </p:tavLst>
                                    </p:anim>
                                  </p:childTnLst>
                                </p:cTn>
                              </p:par>
                              <p:par>
                                <p:cTn id="287" presetID="2" presetClass="entr" presetSubtype="8" fill="hold" grpId="0" nodeType="withEffect">
                                  <p:stCondLst>
                                    <p:cond delay="0"/>
                                  </p:stCondLst>
                                  <p:childTnLst>
                                    <p:set>
                                      <p:cBhvr>
                                        <p:cTn id="288" dur="1" fill="hold">
                                          <p:stCondLst>
                                            <p:cond delay="0"/>
                                          </p:stCondLst>
                                        </p:cTn>
                                        <p:tgtEl>
                                          <p:spTgt spid="82"/>
                                        </p:tgtEl>
                                        <p:attrNameLst>
                                          <p:attrName>style.visibility</p:attrName>
                                        </p:attrNameLst>
                                      </p:cBhvr>
                                      <p:to>
                                        <p:strVal val="visible"/>
                                      </p:to>
                                    </p:set>
                                    <p:anim calcmode="lin" valueType="num">
                                      <p:cBhvr additive="base">
                                        <p:cTn id="289" dur="500" fill="hold"/>
                                        <p:tgtEl>
                                          <p:spTgt spid="82"/>
                                        </p:tgtEl>
                                        <p:attrNameLst>
                                          <p:attrName>ppt_x</p:attrName>
                                        </p:attrNameLst>
                                      </p:cBhvr>
                                      <p:tavLst>
                                        <p:tav tm="0">
                                          <p:val>
                                            <p:strVal val="0-#ppt_w/2"/>
                                          </p:val>
                                        </p:tav>
                                        <p:tav tm="100000">
                                          <p:val>
                                            <p:strVal val="#ppt_x"/>
                                          </p:val>
                                        </p:tav>
                                      </p:tavLst>
                                    </p:anim>
                                    <p:anim calcmode="lin" valueType="num">
                                      <p:cBhvr additive="base">
                                        <p:cTn id="290" dur="500" fill="hold"/>
                                        <p:tgtEl>
                                          <p:spTgt spid="82"/>
                                        </p:tgtEl>
                                        <p:attrNameLst>
                                          <p:attrName>ppt_y</p:attrName>
                                        </p:attrNameLst>
                                      </p:cBhvr>
                                      <p:tavLst>
                                        <p:tav tm="0">
                                          <p:val>
                                            <p:strVal val="#ppt_y"/>
                                          </p:val>
                                        </p:tav>
                                        <p:tav tm="100000">
                                          <p:val>
                                            <p:strVal val="#ppt_y"/>
                                          </p:val>
                                        </p:tav>
                                      </p:tavLst>
                                    </p:anim>
                                  </p:childTnLst>
                                </p:cTn>
                              </p:par>
                            </p:childTnLst>
                          </p:cTn>
                        </p:par>
                      </p:childTnLst>
                    </p:cTn>
                  </p:par>
                  <p:par>
                    <p:cTn id="291" fill="hold">
                      <p:stCondLst>
                        <p:cond delay="indefinite"/>
                      </p:stCondLst>
                      <p:childTnLst>
                        <p:par>
                          <p:cTn id="292" fill="hold">
                            <p:stCondLst>
                              <p:cond delay="0"/>
                            </p:stCondLst>
                            <p:childTnLst>
                              <p:par>
                                <p:cTn id="293" presetID="2" presetClass="entr" presetSubtype="8" fill="hold" grpId="0" nodeType="clickEffect">
                                  <p:stCondLst>
                                    <p:cond delay="0"/>
                                  </p:stCondLst>
                                  <p:childTnLst>
                                    <p:set>
                                      <p:cBhvr>
                                        <p:cTn id="294" dur="1" fill="hold">
                                          <p:stCondLst>
                                            <p:cond delay="0"/>
                                          </p:stCondLst>
                                        </p:cTn>
                                        <p:tgtEl>
                                          <p:spTgt spid="84"/>
                                        </p:tgtEl>
                                        <p:attrNameLst>
                                          <p:attrName>style.visibility</p:attrName>
                                        </p:attrNameLst>
                                      </p:cBhvr>
                                      <p:to>
                                        <p:strVal val="visible"/>
                                      </p:to>
                                    </p:set>
                                    <p:anim calcmode="lin" valueType="num">
                                      <p:cBhvr additive="base">
                                        <p:cTn id="295" dur="500" fill="hold"/>
                                        <p:tgtEl>
                                          <p:spTgt spid="84"/>
                                        </p:tgtEl>
                                        <p:attrNameLst>
                                          <p:attrName>ppt_x</p:attrName>
                                        </p:attrNameLst>
                                      </p:cBhvr>
                                      <p:tavLst>
                                        <p:tav tm="0">
                                          <p:val>
                                            <p:strVal val="0-#ppt_w/2"/>
                                          </p:val>
                                        </p:tav>
                                        <p:tav tm="100000">
                                          <p:val>
                                            <p:strVal val="#ppt_x"/>
                                          </p:val>
                                        </p:tav>
                                      </p:tavLst>
                                    </p:anim>
                                    <p:anim calcmode="lin" valueType="num">
                                      <p:cBhvr additive="base">
                                        <p:cTn id="296" dur="500" fill="hold"/>
                                        <p:tgtEl>
                                          <p:spTgt spid="84"/>
                                        </p:tgtEl>
                                        <p:attrNameLst>
                                          <p:attrName>ppt_y</p:attrName>
                                        </p:attrNameLst>
                                      </p:cBhvr>
                                      <p:tavLst>
                                        <p:tav tm="0">
                                          <p:val>
                                            <p:strVal val="#ppt_y"/>
                                          </p:val>
                                        </p:tav>
                                        <p:tav tm="100000">
                                          <p:val>
                                            <p:strVal val="#ppt_y"/>
                                          </p:val>
                                        </p:tav>
                                      </p:tavLst>
                                    </p:anim>
                                  </p:childTnLst>
                                </p:cTn>
                              </p:par>
                              <p:par>
                                <p:cTn id="297" presetID="2" presetClass="entr" presetSubtype="8" fill="hold" nodeType="withEffect">
                                  <p:stCondLst>
                                    <p:cond delay="0"/>
                                  </p:stCondLst>
                                  <p:childTnLst>
                                    <p:set>
                                      <p:cBhvr>
                                        <p:cTn id="298" dur="1" fill="hold">
                                          <p:stCondLst>
                                            <p:cond delay="0"/>
                                          </p:stCondLst>
                                        </p:cTn>
                                        <p:tgtEl>
                                          <p:spTgt spid="83"/>
                                        </p:tgtEl>
                                        <p:attrNameLst>
                                          <p:attrName>style.visibility</p:attrName>
                                        </p:attrNameLst>
                                      </p:cBhvr>
                                      <p:to>
                                        <p:strVal val="visible"/>
                                      </p:to>
                                    </p:set>
                                    <p:anim calcmode="lin" valueType="num">
                                      <p:cBhvr additive="base">
                                        <p:cTn id="299" dur="500" fill="hold"/>
                                        <p:tgtEl>
                                          <p:spTgt spid="83"/>
                                        </p:tgtEl>
                                        <p:attrNameLst>
                                          <p:attrName>ppt_x</p:attrName>
                                        </p:attrNameLst>
                                      </p:cBhvr>
                                      <p:tavLst>
                                        <p:tav tm="0">
                                          <p:val>
                                            <p:strVal val="0-#ppt_w/2"/>
                                          </p:val>
                                        </p:tav>
                                        <p:tav tm="100000">
                                          <p:val>
                                            <p:strVal val="#ppt_x"/>
                                          </p:val>
                                        </p:tav>
                                      </p:tavLst>
                                    </p:anim>
                                    <p:anim calcmode="lin" valueType="num">
                                      <p:cBhvr additive="base">
                                        <p:cTn id="300" dur="500" fill="hold"/>
                                        <p:tgtEl>
                                          <p:spTgt spid="83"/>
                                        </p:tgtEl>
                                        <p:attrNameLst>
                                          <p:attrName>ppt_y</p:attrName>
                                        </p:attrNameLst>
                                      </p:cBhvr>
                                      <p:tavLst>
                                        <p:tav tm="0">
                                          <p:val>
                                            <p:strVal val="#ppt_y"/>
                                          </p:val>
                                        </p:tav>
                                        <p:tav tm="100000">
                                          <p:val>
                                            <p:strVal val="#ppt_y"/>
                                          </p:val>
                                        </p:tav>
                                      </p:tavLst>
                                    </p:anim>
                                  </p:childTnLst>
                                </p:cTn>
                              </p:par>
                            </p:childTnLst>
                          </p:cTn>
                        </p:par>
                      </p:childTnLst>
                    </p:cTn>
                  </p:par>
                  <p:par>
                    <p:cTn id="301" fill="hold">
                      <p:stCondLst>
                        <p:cond delay="indefinite"/>
                      </p:stCondLst>
                      <p:childTnLst>
                        <p:par>
                          <p:cTn id="302" fill="hold">
                            <p:stCondLst>
                              <p:cond delay="0"/>
                            </p:stCondLst>
                            <p:childTnLst>
                              <p:par>
                                <p:cTn id="303" presetID="2" presetClass="exit" presetSubtype="8" fill="hold" nodeType="clickEffect">
                                  <p:stCondLst>
                                    <p:cond delay="0"/>
                                  </p:stCondLst>
                                  <p:childTnLst>
                                    <p:anim calcmode="lin" valueType="num">
                                      <p:cBhvr additive="base">
                                        <p:cTn id="304" dur="500"/>
                                        <p:tgtEl>
                                          <p:spTgt spid="81"/>
                                        </p:tgtEl>
                                        <p:attrNameLst>
                                          <p:attrName>ppt_x</p:attrName>
                                        </p:attrNameLst>
                                      </p:cBhvr>
                                      <p:tavLst>
                                        <p:tav tm="0">
                                          <p:val>
                                            <p:strVal val="ppt_x"/>
                                          </p:val>
                                        </p:tav>
                                        <p:tav tm="100000">
                                          <p:val>
                                            <p:strVal val="0-ppt_w/2"/>
                                          </p:val>
                                        </p:tav>
                                      </p:tavLst>
                                    </p:anim>
                                    <p:anim calcmode="lin" valueType="num">
                                      <p:cBhvr additive="base">
                                        <p:cTn id="305" dur="500"/>
                                        <p:tgtEl>
                                          <p:spTgt spid="81"/>
                                        </p:tgtEl>
                                        <p:attrNameLst>
                                          <p:attrName>ppt_y</p:attrName>
                                        </p:attrNameLst>
                                      </p:cBhvr>
                                      <p:tavLst>
                                        <p:tav tm="0">
                                          <p:val>
                                            <p:strVal val="ppt_y"/>
                                          </p:val>
                                        </p:tav>
                                        <p:tav tm="100000">
                                          <p:val>
                                            <p:strVal val="ppt_y"/>
                                          </p:val>
                                        </p:tav>
                                      </p:tavLst>
                                    </p:anim>
                                    <p:set>
                                      <p:cBhvr>
                                        <p:cTn id="306" dur="1" fill="hold">
                                          <p:stCondLst>
                                            <p:cond delay="499"/>
                                          </p:stCondLst>
                                        </p:cTn>
                                        <p:tgtEl>
                                          <p:spTgt spid="81"/>
                                        </p:tgtEl>
                                        <p:attrNameLst>
                                          <p:attrName>style.visibility</p:attrName>
                                        </p:attrNameLst>
                                      </p:cBhvr>
                                      <p:to>
                                        <p:strVal val="hidden"/>
                                      </p:to>
                                    </p:set>
                                  </p:childTnLst>
                                </p:cTn>
                              </p:par>
                              <p:par>
                                <p:cTn id="307" presetID="2" presetClass="exit" presetSubtype="8" fill="hold" grpId="2" nodeType="withEffect">
                                  <p:stCondLst>
                                    <p:cond delay="0"/>
                                  </p:stCondLst>
                                  <p:childTnLst>
                                    <p:anim calcmode="lin" valueType="num">
                                      <p:cBhvr additive="base">
                                        <p:cTn id="308" dur="500"/>
                                        <p:tgtEl>
                                          <p:spTgt spid="82"/>
                                        </p:tgtEl>
                                        <p:attrNameLst>
                                          <p:attrName>ppt_x</p:attrName>
                                        </p:attrNameLst>
                                      </p:cBhvr>
                                      <p:tavLst>
                                        <p:tav tm="0">
                                          <p:val>
                                            <p:strVal val="ppt_x"/>
                                          </p:val>
                                        </p:tav>
                                        <p:tav tm="100000">
                                          <p:val>
                                            <p:strVal val="0-ppt_w/2"/>
                                          </p:val>
                                        </p:tav>
                                      </p:tavLst>
                                    </p:anim>
                                    <p:anim calcmode="lin" valueType="num">
                                      <p:cBhvr additive="base">
                                        <p:cTn id="309" dur="500"/>
                                        <p:tgtEl>
                                          <p:spTgt spid="82"/>
                                        </p:tgtEl>
                                        <p:attrNameLst>
                                          <p:attrName>ppt_y</p:attrName>
                                        </p:attrNameLst>
                                      </p:cBhvr>
                                      <p:tavLst>
                                        <p:tav tm="0">
                                          <p:val>
                                            <p:strVal val="ppt_y"/>
                                          </p:val>
                                        </p:tav>
                                        <p:tav tm="100000">
                                          <p:val>
                                            <p:strVal val="ppt_y"/>
                                          </p:val>
                                        </p:tav>
                                      </p:tavLst>
                                    </p:anim>
                                    <p:set>
                                      <p:cBhvr>
                                        <p:cTn id="310" dur="1" fill="hold">
                                          <p:stCondLst>
                                            <p:cond delay="499"/>
                                          </p:stCondLst>
                                        </p:cTn>
                                        <p:tgtEl>
                                          <p:spTgt spid="82"/>
                                        </p:tgtEl>
                                        <p:attrNameLst>
                                          <p:attrName>style.visibility</p:attrName>
                                        </p:attrNameLst>
                                      </p:cBhvr>
                                      <p:to>
                                        <p:strVal val="hidden"/>
                                      </p:to>
                                    </p:set>
                                  </p:childTnLst>
                                </p:cTn>
                              </p:par>
                            </p:childTnLst>
                          </p:cTn>
                        </p:par>
                      </p:childTnLst>
                    </p:cTn>
                  </p:par>
                  <p:par>
                    <p:cTn id="311" fill="hold">
                      <p:stCondLst>
                        <p:cond delay="indefinite"/>
                      </p:stCondLst>
                      <p:childTnLst>
                        <p:par>
                          <p:cTn id="312" fill="hold">
                            <p:stCondLst>
                              <p:cond delay="0"/>
                            </p:stCondLst>
                            <p:childTnLst>
                              <p:par>
                                <p:cTn id="313" presetID="2" presetClass="exit" presetSubtype="8" fill="hold" nodeType="clickEffect">
                                  <p:stCondLst>
                                    <p:cond delay="0"/>
                                  </p:stCondLst>
                                  <p:childTnLst>
                                    <p:anim calcmode="lin" valueType="num">
                                      <p:cBhvr additive="base">
                                        <p:cTn id="314" dur="500"/>
                                        <p:tgtEl>
                                          <p:spTgt spid="83"/>
                                        </p:tgtEl>
                                        <p:attrNameLst>
                                          <p:attrName>ppt_x</p:attrName>
                                        </p:attrNameLst>
                                      </p:cBhvr>
                                      <p:tavLst>
                                        <p:tav tm="0">
                                          <p:val>
                                            <p:strVal val="ppt_x"/>
                                          </p:val>
                                        </p:tav>
                                        <p:tav tm="100000">
                                          <p:val>
                                            <p:strVal val="0-ppt_w/2"/>
                                          </p:val>
                                        </p:tav>
                                      </p:tavLst>
                                    </p:anim>
                                    <p:anim calcmode="lin" valueType="num">
                                      <p:cBhvr additive="base">
                                        <p:cTn id="315" dur="500"/>
                                        <p:tgtEl>
                                          <p:spTgt spid="83"/>
                                        </p:tgtEl>
                                        <p:attrNameLst>
                                          <p:attrName>ppt_y</p:attrName>
                                        </p:attrNameLst>
                                      </p:cBhvr>
                                      <p:tavLst>
                                        <p:tav tm="0">
                                          <p:val>
                                            <p:strVal val="ppt_y"/>
                                          </p:val>
                                        </p:tav>
                                        <p:tav tm="100000">
                                          <p:val>
                                            <p:strVal val="ppt_y"/>
                                          </p:val>
                                        </p:tav>
                                      </p:tavLst>
                                    </p:anim>
                                    <p:set>
                                      <p:cBhvr>
                                        <p:cTn id="316" dur="1" fill="hold">
                                          <p:stCondLst>
                                            <p:cond delay="499"/>
                                          </p:stCondLst>
                                        </p:cTn>
                                        <p:tgtEl>
                                          <p:spTgt spid="83"/>
                                        </p:tgtEl>
                                        <p:attrNameLst>
                                          <p:attrName>style.visibility</p:attrName>
                                        </p:attrNameLst>
                                      </p:cBhvr>
                                      <p:to>
                                        <p:strVal val="hidden"/>
                                      </p:to>
                                    </p:set>
                                  </p:childTnLst>
                                </p:cTn>
                              </p:par>
                              <p:par>
                                <p:cTn id="317" presetID="2" presetClass="exit" presetSubtype="8" fill="hold" grpId="2" nodeType="withEffect">
                                  <p:stCondLst>
                                    <p:cond delay="0"/>
                                  </p:stCondLst>
                                  <p:childTnLst>
                                    <p:anim calcmode="lin" valueType="num">
                                      <p:cBhvr additive="base">
                                        <p:cTn id="318" dur="500"/>
                                        <p:tgtEl>
                                          <p:spTgt spid="84"/>
                                        </p:tgtEl>
                                        <p:attrNameLst>
                                          <p:attrName>ppt_x</p:attrName>
                                        </p:attrNameLst>
                                      </p:cBhvr>
                                      <p:tavLst>
                                        <p:tav tm="0">
                                          <p:val>
                                            <p:strVal val="ppt_x"/>
                                          </p:val>
                                        </p:tav>
                                        <p:tav tm="100000">
                                          <p:val>
                                            <p:strVal val="0-ppt_w/2"/>
                                          </p:val>
                                        </p:tav>
                                      </p:tavLst>
                                    </p:anim>
                                    <p:anim calcmode="lin" valueType="num">
                                      <p:cBhvr additive="base">
                                        <p:cTn id="319" dur="500"/>
                                        <p:tgtEl>
                                          <p:spTgt spid="84"/>
                                        </p:tgtEl>
                                        <p:attrNameLst>
                                          <p:attrName>ppt_y</p:attrName>
                                        </p:attrNameLst>
                                      </p:cBhvr>
                                      <p:tavLst>
                                        <p:tav tm="0">
                                          <p:val>
                                            <p:strVal val="ppt_y"/>
                                          </p:val>
                                        </p:tav>
                                        <p:tav tm="100000">
                                          <p:val>
                                            <p:strVal val="ppt_y"/>
                                          </p:val>
                                        </p:tav>
                                      </p:tavLst>
                                    </p:anim>
                                    <p:set>
                                      <p:cBhvr>
                                        <p:cTn id="320" dur="1" fill="hold">
                                          <p:stCondLst>
                                            <p:cond delay="499"/>
                                          </p:stCondLst>
                                        </p:cTn>
                                        <p:tgtEl>
                                          <p:spTgt spid="84"/>
                                        </p:tgtEl>
                                        <p:attrNameLst>
                                          <p:attrName>style.visibility</p:attrName>
                                        </p:attrNameLst>
                                      </p:cBhvr>
                                      <p:to>
                                        <p:strVal val="hidden"/>
                                      </p:to>
                                    </p:set>
                                  </p:childTnLst>
                                </p:cTn>
                              </p:par>
                            </p:childTnLst>
                          </p:cTn>
                        </p:par>
                      </p:childTnLst>
                    </p:cTn>
                  </p:par>
                  <p:par>
                    <p:cTn id="321" fill="hold">
                      <p:stCondLst>
                        <p:cond delay="indefinite"/>
                      </p:stCondLst>
                      <p:childTnLst>
                        <p:par>
                          <p:cTn id="322" fill="hold">
                            <p:stCondLst>
                              <p:cond delay="0"/>
                            </p:stCondLst>
                            <p:childTnLst>
                              <p:par>
                                <p:cTn id="323" presetID="2" presetClass="entr" presetSubtype="8" fill="hold" nodeType="clickEffect">
                                  <p:stCondLst>
                                    <p:cond delay="0"/>
                                  </p:stCondLst>
                                  <p:childTnLst>
                                    <p:set>
                                      <p:cBhvr>
                                        <p:cTn id="324" dur="1" fill="hold">
                                          <p:stCondLst>
                                            <p:cond delay="0"/>
                                          </p:stCondLst>
                                        </p:cTn>
                                        <p:tgtEl>
                                          <p:spTgt spid="85"/>
                                        </p:tgtEl>
                                        <p:attrNameLst>
                                          <p:attrName>style.visibility</p:attrName>
                                        </p:attrNameLst>
                                      </p:cBhvr>
                                      <p:to>
                                        <p:strVal val="visible"/>
                                      </p:to>
                                    </p:set>
                                    <p:anim calcmode="lin" valueType="num">
                                      <p:cBhvr additive="base">
                                        <p:cTn id="325" dur="500" fill="hold"/>
                                        <p:tgtEl>
                                          <p:spTgt spid="85"/>
                                        </p:tgtEl>
                                        <p:attrNameLst>
                                          <p:attrName>ppt_x</p:attrName>
                                        </p:attrNameLst>
                                      </p:cBhvr>
                                      <p:tavLst>
                                        <p:tav tm="0">
                                          <p:val>
                                            <p:strVal val="0-#ppt_w/2"/>
                                          </p:val>
                                        </p:tav>
                                        <p:tav tm="100000">
                                          <p:val>
                                            <p:strVal val="#ppt_x"/>
                                          </p:val>
                                        </p:tav>
                                      </p:tavLst>
                                    </p:anim>
                                    <p:anim calcmode="lin" valueType="num">
                                      <p:cBhvr additive="base">
                                        <p:cTn id="326" dur="500" fill="hold"/>
                                        <p:tgtEl>
                                          <p:spTgt spid="85"/>
                                        </p:tgtEl>
                                        <p:attrNameLst>
                                          <p:attrName>ppt_y</p:attrName>
                                        </p:attrNameLst>
                                      </p:cBhvr>
                                      <p:tavLst>
                                        <p:tav tm="0">
                                          <p:val>
                                            <p:strVal val="#ppt_y"/>
                                          </p:val>
                                        </p:tav>
                                        <p:tav tm="100000">
                                          <p:val>
                                            <p:strVal val="#ppt_y"/>
                                          </p:val>
                                        </p:tav>
                                      </p:tavLst>
                                    </p:anim>
                                  </p:childTnLst>
                                </p:cTn>
                              </p:par>
                              <p:par>
                                <p:cTn id="327" presetID="2" presetClass="entr" presetSubtype="8" fill="hold" grpId="0" nodeType="withEffect">
                                  <p:stCondLst>
                                    <p:cond delay="0"/>
                                  </p:stCondLst>
                                  <p:childTnLst>
                                    <p:set>
                                      <p:cBhvr>
                                        <p:cTn id="328" dur="1" fill="hold">
                                          <p:stCondLst>
                                            <p:cond delay="0"/>
                                          </p:stCondLst>
                                        </p:cTn>
                                        <p:tgtEl>
                                          <p:spTgt spid="86"/>
                                        </p:tgtEl>
                                        <p:attrNameLst>
                                          <p:attrName>style.visibility</p:attrName>
                                        </p:attrNameLst>
                                      </p:cBhvr>
                                      <p:to>
                                        <p:strVal val="visible"/>
                                      </p:to>
                                    </p:set>
                                    <p:anim calcmode="lin" valueType="num">
                                      <p:cBhvr additive="base">
                                        <p:cTn id="329" dur="500" fill="hold"/>
                                        <p:tgtEl>
                                          <p:spTgt spid="86"/>
                                        </p:tgtEl>
                                        <p:attrNameLst>
                                          <p:attrName>ppt_x</p:attrName>
                                        </p:attrNameLst>
                                      </p:cBhvr>
                                      <p:tavLst>
                                        <p:tav tm="0">
                                          <p:val>
                                            <p:strVal val="0-#ppt_w/2"/>
                                          </p:val>
                                        </p:tav>
                                        <p:tav tm="100000">
                                          <p:val>
                                            <p:strVal val="#ppt_x"/>
                                          </p:val>
                                        </p:tav>
                                      </p:tavLst>
                                    </p:anim>
                                    <p:anim calcmode="lin" valueType="num">
                                      <p:cBhvr additive="base">
                                        <p:cTn id="330" dur="500" fill="hold"/>
                                        <p:tgtEl>
                                          <p:spTgt spid="86"/>
                                        </p:tgtEl>
                                        <p:attrNameLst>
                                          <p:attrName>ppt_y</p:attrName>
                                        </p:attrNameLst>
                                      </p:cBhvr>
                                      <p:tavLst>
                                        <p:tav tm="0">
                                          <p:val>
                                            <p:strVal val="#ppt_y"/>
                                          </p:val>
                                        </p:tav>
                                        <p:tav tm="100000">
                                          <p:val>
                                            <p:strVal val="#ppt_y"/>
                                          </p:val>
                                        </p:tav>
                                      </p:tavLst>
                                    </p:anim>
                                  </p:childTnLst>
                                </p:cTn>
                              </p:par>
                            </p:childTnLst>
                          </p:cTn>
                        </p:par>
                      </p:childTnLst>
                    </p:cTn>
                  </p:par>
                  <p:par>
                    <p:cTn id="331" fill="hold">
                      <p:stCondLst>
                        <p:cond delay="indefinite"/>
                      </p:stCondLst>
                      <p:childTnLst>
                        <p:par>
                          <p:cTn id="332" fill="hold">
                            <p:stCondLst>
                              <p:cond delay="0"/>
                            </p:stCondLst>
                            <p:childTnLst>
                              <p:par>
                                <p:cTn id="333" presetID="2" presetClass="entr" presetSubtype="8" fill="hold" grpId="0" nodeType="clickEffect">
                                  <p:stCondLst>
                                    <p:cond delay="0"/>
                                  </p:stCondLst>
                                  <p:childTnLst>
                                    <p:set>
                                      <p:cBhvr>
                                        <p:cTn id="334" dur="1" fill="hold">
                                          <p:stCondLst>
                                            <p:cond delay="0"/>
                                          </p:stCondLst>
                                        </p:cTn>
                                        <p:tgtEl>
                                          <p:spTgt spid="88"/>
                                        </p:tgtEl>
                                        <p:attrNameLst>
                                          <p:attrName>style.visibility</p:attrName>
                                        </p:attrNameLst>
                                      </p:cBhvr>
                                      <p:to>
                                        <p:strVal val="visible"/>
                                      </p:to>
                                    </p:set>
                                    <p:anim calcmode="lin" valueType="num">
                                      <p:cBhvr additive="base">
                                        <p:cTn id="335" dur="500" fill="hold"/>
                                        <p:tgtEl>
                                          <p:spTgt spid="88"/>
                                        </p:tgtEl>
                                        <p:attrNameLst>
                                          <p:attrName>ppt_x</p:attrName>
                                        </p:attrNameLst>
                                      </p:cBhvr>
                                      <p:tavLst>
                                        <p:tav tm="0">
                                          <p:val>
                                            <p:strVal val="0-#ppt_w/2"/>
                                          </p:val>
                                        </p:tav>
                                        <p:tav tm="100000">
                                          <p:val>
                                            <p:strVal val="#ppt_x"/>
                                          </p:val>
                                        </p:tav>
                                      </p:tavLst>
                                    </p:anim>
                                    <p:anim calcmode="lin" valueType="num">
                                      <p:cBhvr additive="base">
                                        <p:cTn id="336" dur="500" fill="hold"/>
                                        <p:tgtEl>
                                          <p:spTgt spid="88"/>
                                        </p:tgtEl>
                                        <p:attrNameLst>
                                          <p:attrName>ppt_y</p:attrName>
                                        </p:attrNameLst>
                                      </p:cBhvr>
                                      <p:tavLst>
                                        <p:tav tm="0">
                                          <p:val>
                                            <p:strVal val="#ppt_y"/>
                                          </p:val>
                                        </p:tav>
                                        <p:tav tm="100000">
                                          <p:val>
                                            <p:strVal val="#ppt_y"/>
                                          </p:val>
                                        </p:tav>
                                      </p:tavLst>
                                    </p:anim>
                                  </p:childTnLst>
                                </p:cTn>
                              </p:par>
                              <p:par>
                                <p:cTn id="337" presetID="2" presetClass="entr" presetSubtype="8" fill="hold" nodeType="withEffect">
                                  <p:stCondLst>
                                    <p:cond delay="0"/>
                                  </p:stCondLst>
                                  <p:childTnLst>
                                    <p:set>
                                      <p:cBhvr>
                                        <p:cTn id="338" dur="1" fill="hold">
                                          <p:stCondLst>
                                            <p:cond delay="0"/>
                                          </p:stCondLst>
                                        </p:cTn>
                                        <p:tgtEl>
                                          <p:spTgt spid="87"/>
                                        </p:tgtEl>
                                        <p:attrNameLst>
                                          <p:attrName>style.visibility</p:attrName>
                                        </p:attrNameLst>
                                      </p:cBhvr>
                                      <p:to>
                                        <p:strVal val="visible"/>
                                      </p:to>
                                    </p:set>
                                    <p:anim calcmode="lin" valueType="num">
                                      <p:cBhvr additive="base">
                                        <p:cTn id="339" dur="500" fill="hold"/>
                                        <p:tgtEl>
                                          <p:spTgt spid="87"/>
                                        </p:tgtEl>
                                        <p:attrNameLst>
                                          <p:attrName>ppt_x</p:attrName>
                                        </p:attrNameLst>
                                      </p:cBhvr>
                                      <p:tavLst>
                                        <p:tav tm="0">
                                          <p:val>
                                            <p:strVal val="0-#ppt_w/2"/>
                                          </p:val>
                                        </p:tav>
                                        <p:tav tm="100000">
                                          <p:val>
                                            <p:strVal val="#ppt_x"/>
                                          </p:val>
                                        </p:tav>
                                      </p:tavLst>
                                    </p:anim>
                                    <p:anim calcmode="lin" valueType="num">
                                      <p:cBhvr additive="base">
                                        <p:cTn id="340" dur="500" fill="hold"/>
                                        <p:tgtEl>
                                          <p:spTgt spid="87"/>
                                        </p:tgtEl>
                                        <p:attrNameLst>
                                          <p:attrName>ppt_y</p:attrName>
                                        </p:attrNameLst>
                                      </p:cBhvr>
                                      <p:tavLst>
                                        <p:tav tm="0">
                                          <p:val>
                                            <p:strVal val="#ppt_y"/>
                                          </p:val>
                                        </p:tav>
                                        <p:tav tm="100000">
                                          <p:val>
                                            <p:strVal val="#ppt_y"/>
                                          </p:val>
                                        </p:tav>
                                      </p:tavLst>
                                    </p:anim>
                                  </p:childTnLst>
                                </p:cTn>
                              </p:par>
                            </p:childTnLst>
                          </p:cTn>
                        </p:par>
                      </p:childTnLst>
                    </p:cTn>
                  </p:par>
                  <p:par>
                    <p:cTn id="341" fill="hold">
                      <p:stCondLst>
                        <p:cond delay="indefinite"/>
                      </p:stCondLst>
                      <p:childTnLst>
                        <p:par>
                          <p:cTn id="342" fill="hold">
                            <p:stCondLst>
                              <p:cond delay="0"/>
                            </p:stCondLst>
                            <p:childTnLst>
                              <p:par>
                                <p:cTn id="343" presetID="2" presetClass="exit" presetSubtype="8" fill="hold" nodeType="clickEffect">
                                  <p:stCondLst>
                                    <p:cond delay="0"/>
                                  </p:stCondLst>
                                  <p:childTnLst>
                                    <p:anim calcmode="lin" valueType="num">
                                      <p:cBhvr additive="base">
                                        <p:cTn id="344" dur="500"/>
                                        <p:tgtEl>
                                          <p:spTgt spid="85"/>
                                        </p:tgtEl>
                                        <p:attrNameLst>
                                          <p:attrName>ppt_x</p:attrName>
                                        </p:attrNameLst>
                                      </p:cBhvr>
                                      <p:tavLst>
                                        <p:tav tm="0">
                                          <p:val>
                                            <p:strVal val="ppt_x"/>
                                          </p:val>
                                        </p:tav>
                                        <p:tav tm="100000">
                                          <p:val>
                                            <p:strVal val="0-ppt_w/2"/>
                                          </p:val>
                                        </p:tav>
                                      </p:tavLst>
                                    </p:anim>
                                    <p:anim calcmode="lin" valueType="num">
                                      <p:cBhvr additive="base">
                                        <p:cTn id="345" dur="500"/>
                                        <p:tgtEl>
                                          <p:spTgt spid="85"/>
                                        </p:tgtEl>
                                        <p:attrNameLst>
                                          <p:attrName>ppt_y</p:attrName>
                                        </p:attrNameLst>
                                      </p:cBhvr>
                                      <p:tavLst>
                                        <p:tav tm="0">
                                          <p:val>
                                            <p:strVal val="ppt_y"/>
                                          </p:val>
                                        </p:tav>
                                        <p:tav tm="100000">
                                          <p:val>
                                            <p:strVal val="ppt_y"/>
                                          </p:val>
                                        </p:tav>
                                      </p:tavLst>
                                    </p:anim>
                                    <p:set>
                                      <p:cBhvr>
                                        <p:cTn id="346" dur="1" fill="hold">
                                          <p:stCondLst>
                                            <p:cond delay="499"/>
                                          </p:stCondLst>
                                        </p:cTn>
                                        <p:tgtEl>
                                          <p:spTgt spid="85"/>
                                        </p:tgtEl>
                                        <p:attrNameLst>
                                          <p:attrName>style.visibility</p:attrName>
                                        </p:attrNameLst>
                                      </p:cBhvr>
                                      <p:to>
                                        <p:strVal val="hidden"/>
                                      </p:to>
                                    </p:set>
                                  </p:childTnLst>
                                </p:cTn>
                              </p:par>
                              <p:par>
                                <p:cTn id="347" presetID="2" presetClass="exit" presetSubtype="8" fill="hold" grpId="2" nodeType="withEffect">
                                  <p:stCondLst>
                                    <p:cond delay="0"/>
                                  </p:stCondLst>
                                  <p:childTnLst>
                                    <p:anim calcmode="lin" valueType="num">
                                      <p:cBhvr additive="base">
                                        <p:cTn id="348" dur="500"/>
                                        <p:tgtEl>
                                          <p:spTgt spid="86"/>
                                        </p:tgtEl>
                                        <p:attrNameLst>
                                          <p:attrName>ppt_x</p:attrName>
                                        </p:attrNameLst>
                                      </p:cBhvr>
                                      <p:tavLst>
                                        <p:tav tm="0">
                                          <p:val>
                                            <p:strVal val="ppt_x"/>
                                          </p:val>
                                        </p:tav>
                                        <p:tav tm="100000">
                                          <p:val>
                                            <p:strVal val="0-ppt_w/2"/>
                                          </p:val>
                                        </p:tav>
                                      </p:tavLst>
                                    </p:anim>
                                    <p:anim calcmode="lin" valueType="num">
                                      <p:cBhvr additive="base">
                                        <p:cTn id="349" dur="500"/>
                                        <p:tgtEl>
                                          <p:spTgt spid="86"/>
                                        </p:tgtEl>
                                        <p:attrNameLst>
                                          <p:attrName>ppt_y</p:attrName>
                                        </p:attrNameLst>
                                      </p:cBhvr>
                                      <p:tavLst>
                                        <p:tav tm="0">
                                          <p:val>
                                            <p:strVal val="ppt_y"/>
                                          </p:val>
                                        </p:tav>
                                        <p:tav tm="100000">
                                          <p:val>
                                            <p:strVal val="ppt_y"/>
                                          </p:val>
                                        </p:tav>
                                      </p:tavLst>
                                    </p:anim>
                                    <p:set>
                                      <p:cBhvr>
                                        <p:cTn id="350" dur="1" fill="hold">
                                          <p:stCondLst>
                                            <p:cond delay="499"/>
                                          </p:stCondLst>
                                        </p:cTn>
                                        <p:tgtEl>
                                          <p:spTgt spid="86"/>
                                        </p:tgtEl>
                                        <p:attrNameLst>
                                          <p:attrName>style.visibility</p:attrName>
                                        </p:attrNameLst>
                                      </p:cBhvr>
                                      <p:to>
                                        <p:strVal val="hidden"/>
                                      </p:to>
                                    </p:set>
                                  </p:childTnLst>
                                </p:cTn>
                              </p:par>
                            </p:childTnLst>
                          </p:cTn>
                        </p:par>
                      </p:childTnLst>
                    </p:cTn>
                  </p:par>
                  <p:par>
                    <p:cTn id="351" fill="hold">
                      <p:stCondLst>
                        <p:cond delay="indefinite"/>
                      </p:stCondLst>
                      <p:childTnLst>
                        <p:par>
                          <p:cTn id="352" fill="hold">
                            <p:stCondLst>
                              <p:cond delay="0"/>
                            </p:stCondLst>
                            <p:childTnLst>
                              <p:par>
                                <p:cTn id="353" presetID="2" presetClass="exit" presetSubtype="8" fill="hold" nodeType="clickEffect">
                                  <p:stCondLst>
                                    <p:cond delay="0"/>
                                  </p:stCondLst>
                                  <p:childTnLst>
                                    <p:anim calcmode="lin" valueType="num">
                                      <p:cBhvr additive="base">
                                        <p:cTn id="354" dur="500"/>
                                        <p:tgtEl>
                                          <p:spTgt spid="87"/>
                                        </p:tgtEl>
                                        <p:attrNameLst>
                                          <p:attrName>ppt_x</p:attrName>
                                        </p:attrNameLst>
                                      </p:cBhvr>
                                      <p:tavLst>
                                        <p:tav tm="0">
                                          <p:val>
                                            <p:strVal val="ppt_x"/>
                                          </p:val>
                                        </p:tav>
                                        <p:tav tm="100000">
                                          <p:val>
                                            <p:strVal val="0-ppt_w/2"/>
                                          </p:val>
                                        </p:tav>
                                      </p:tavLst>
                                    </p:anim>
                                    <p:anim calcmode="lin" valueType="num">
                                      <p:cBhvr additive="base">
                                        <p:cTn id="355" dur="500"/>
                                        <p:tgtEl>
                                          <p:spTgt spid="87"/>
                                        </p:tgtEl>
                                        <p:attrNameLst>
                                          <p:attrName>ppt_y</p:attrName>
                                        </p:attrNameLst>
                                      </p:cBhvr>
                                      <p:tavLst>
                                        <p:tav tm="0">
                                          <p:val>
                                            <p:strVal val="ppt_y"/>
                                          </p:val>
                                        </p:tav>
                                        <p:tav tm="100000">
                                          <p:val>
                                            <p:strVal val="ppt_y"/>
                                          </p:val>
                                        </p:tav>
                                      </p:tavLst>
                                    </p:anim>
                                    <p:set>
                                      <p:cBhvr>
                                        <p:cTn id="356" dur="1" fill="hold">
                                          <p:stCondLst>
                                            <p:cond delay="499"/>
                                          </p:stCondLst>
                                        </p:cTn>
                                        <p:tgtEl>
                                          <p:spTgt spid="87"/>
                                        </p:tgtEl>
                                        <p:attrNameLst>
                                          <p:attrName>style.visibility</p:attrName>
                                        </p:attrNameLst>
                                      </p:cBhvr>
                                      <p:to>
                                        <p:strVal val="hidden"/>
                                      </p:to>
                                    </p:set>
                                  </p:childTnLst>
                                </p:cTn>
                              </p:par>
                              <p:par>
                                <p:cTn id="357" presetID="2" presetClass="exit" presetSubtype="8" fill="hold" grpId="2" nodeType="withEffect">
                                  <p:stCondLst>
                                    <p:cond delay="0"/>
                                  </p:stCondLst>
                                  <p:childTnLst>
                                    <p:anim calcmode="lin" valueType="num">
                                      <p:cBhvr additive="base">
                                        <p:cTn id="358" dur="500"/>
                                        <p:tgtEl>
                                          <p:spTgt spid="88"/>
                                        </p:tgtEl>
                                        <p:attrNameLst>
                                          <p:attrName>ppt_x</p:attrName>
                                        </p:attrNameLst>
                                      </p:cBhvr>
                                      <p:tavLst>
                                        <p:tav tm="0">
                                          <p:val>
                                            <p:strVal val="ppt_x"/>
                                          </p:val>
                                        </p:tav>
                                        <p:tav tm="100000">
                                          <p:val>
                                            <p:strVal val="0-ppt_w/2"/>
                                          </p:val>
                                        </p:tav>
                                      </p:tavLst>
                                    </p:anim>
                                    <p:anim calcmode="lin" valueType="num">
                                      <p:cBhvr additive="base">
                                        <p:cTn id="359" dur="500"/>
                                        <p:tgtEl>
                                          <p:spTgt spid="88"/>
                                        </p:tgtEl>
                                        <p:attrNameLst>
                                          <p:attrName>ppt_y</p:attrName>
                                        </p:attrNameLst>
                                      </p:cBhvr>
                                      <p:tavLst>
                                        <p:tav tm="0">
                                          <p:val>
                                            <p:strVal val="ppt_y"/>
                                          </p:val>
                                        </p:tav>
                                        <p:tav tm="100000">
                                          <p:val>
                                            <p:strVal val="ppt_y"/>
                                          </p:val>
                                        </p:tav>
                                      </p:tavLst>
                                    </p:anim>
                                    <p:set>
                                      <p:cBhvr>
                                        <p:cTn id="360" dur="1" fill="hold">
                                          <p:stCondLst>
                                            <p:cond delay="499"/>
                                          </p:stCondLst>
                                        </p:cTn>
                                        <p:tgtEl>
                                          <p:spTgt spid="88"/>
                                        </p:tgtEl>
                                        <p:attrNameLst>
                                          <p:attrName>style.visibility</p:attrName>
                                        </p:attrNameLst>
                                      </p:cBhvr>
                                      <p:to>
                                        <p:strVal val="hidden"/>
                                      </p:to>
                                    </p:set>
                                  </p:childTnLst>
                                </p:cTn>
                              </p:par>
                            </p:childTnLst>
                          </p:cTn>
                        </p:par>
                      </p:childTnLst>
                    </p:cTn>
                  </p:par>
                  <p:par>
                    <p:cTn id="361" fill="hold">
                      <p:stCondLst>
                        <p:cond delay="indefinite"/>
                      </p:stCondLst>
                      <p:childTnLst>
                        <p:par>
                          <p:cTn id="362" fill="hold">
                            <p:stCondLst>
                              <p:cond delay="0"/>
                            </p:stCondLst>
                            <p:childTnLst>
                              <p:par>
                                <p:cTn id="363" presetID="2" presetClass="entr" presetSubtype="8" fill="hold" nodeType="clickEffect">
                                  <p:stCondLst>
                                    <p:cond delay="0"/>
                                  </p:stCondLst>
                                  <p:childTnLst>
                                    <p:set>
                                      <p:cBhvr>
                                        <p:cTn id="364" dur="1" fill="hold">
                                          <p:stCondLst>
                                            <p:cond delay="0"/>
                                          </p:stCondLst>
                                        </p:cTn>
                                        <p:tgtEl>
                                          <p:spTgt spid="89"/>
                                        </p:tgtEl>
                                        <p:attrNameLst>
                                          <p:attrName>style.visibility</p:attrName>
                                        </p:attrNameLst>
                                      </p:cBhvr>
                                      <p:to>
                                        <p:strVal val="visible"/>
                                      </p:to>
                                    </p:set>
                                    <p:anim calcmode="lin" valueType="num">
                                      <p:cBhvr additive="base">
                                        <p:cTn id="365" dur="500" fill="hold"/>
                                        <p:tgtEl>
                                          <p:spTgt spid="89"/>
                                        </p:tgtEl>
                                        <p:attrNameLst>
                                          <p:attrName>ppt_x</p:attrName>
                                        </p:attrNameLst>
                                      </p:cBhvr>
                                      <p:tavLst>
                                        <p:tav tm="0">
                                          <p:val>
                                            <p:strVal val="0-#ppt_w/2"/>
                                          </p:val>
                                        </p:tav>
                                        <p:tav tm="100000">
                                          <p:val>
                                            <p:strVal val="#ppt_x"/>
                                          </p:val>
                                        </p:tav>
                                      </p:tavLst>
                                    </p:anim>
                                    <p:anim calcmode="lin" valueType="num">
                                      <p:cBhvr additive="base">
                                        <p:cTn id="366" dur="500" fill="hold"/>
                                        <p:tgtEl>
                                          <p:spTgt spid="89"/>
                                        </p:tgtEl>
                                        <p:attrNameLst>
                                          <p:attrName>ppt_y</p:attrName>
                                        </p:attrNameLst>
                                      </p:cBhvr>
                                      <p:tavLst>
                                        <p:tav tm="0">
                                          <p:val>
                                            <p:strVal val="#ppt_y"/>
                                          </p:val>
                                        </p:tav>
                                        <p:tav tm="100000">
                                          <p:val>
                                            <p:strVal val="#ppt_y"/>
                                          </p:val>
                                        </p:tav>
                                      </p:tavLst>
                                    </p:anim>
                                  </p:childTnLst>
                                </p:cTn>
                              </p:par>
                              <p:par>
                                <p:cTn id="367" presetID="2" presetClass="entr" presetSubtype="8" fill="hold" grpId="0" nodeType="withEffect">
                                  <p:stCondLst>
                                    <p:cond delay="0"/>
                                  </p:stCondLst>
                                  <p:childTnLst>
                                    <p:set>
                                      <p:cBhvr>
                                        <p:cTn id="368" dur="1" fill="hold">
                                          <p:stCondLst>
                                            <p:cond delay="0"/>
                                          </p:stCondLst>
                                        </p:cTn>
                                        <p:tgtEl>
                                          <p:spTgt spid="90"/>
                                        </p:tgtEl>
                                        <p:attrNameLst>
                                          <p:attrName>style.visibility</p:attrName>
                                        </p:attrNameLst>
                                      </p:cBhvr>
                                      <p:to>
                                        <p:strVal val="visible"/>
                                      </p:to>
                                    </p:set>
                                    <p:anim calcmode="lin" valueType="num">
                                      <p:cBhvr additive="base">
                                        <p:cTn id="369" dur="500" fill="hold"/>
                                        <p:tgtEl>
                                          <p:spTgt spid="90"/>
                                        </p:tgtEl>
                                        <p:attrNameLst>
                                          <p:attrName>ppt_x</p:attrName>
                                        </p:attrNameLst>
                                      </p:cBhvr>
                                      <p:tavLst>
                                        <p:tav tm="0">
                                          <p:val>
                                            <p:strVal val="0-#ppt_w/2"/>
                                          </p:val>
                                        </p:tav>
                                        <p:tav tm="100000">
                                          <p:val>
                                            <p:strVal val="#ppt_x"/>
                                          </p:val>
                                        </p:tav>
                                      </p:tavLst>
                                    </p:anim>
                                    <p:anim calcmode="lin" valueType="num">
                                      <p:cBhvr additive="base">
                                        <p:cTn id="370" dur="500" fill="hold"/>
                                        <p:tgtEl>
                                          <p:spTgt spid="90"/>
                                        </p:tgtEl>
                                        <p:attrNameLst>
                                          <p:attrName>ppt_y</p:attrName>
                                        </p:attrNameLst>
                                      </p:cBhvr>
                                      <p:tavLst>
                                        <p:tav tm="0">
                                          <p:val>
                                            <p:strVal val="#ppt_y"/>
                                          </p:val>
                                        </p:tav>
                                        <p:tav tm="100000">
                                          <p:val>
                                            <p:strVal val="#ppt_y"/>
                                          </p:val>
                                        </p:tav>
                                      </p:tavLst>
                                    </p:anim>
                                  </p:childTnLst>
                                </p:cTn>
                              </p:par>
                            </p:childTnLst>
                          </p:cTn>
                        </p:par>
                      </p:childTnLst>
                    </p:cTn>
                  </p:par>
                  <p:par>
                    <p:cTn id="371" fill="hold">
                      <p:stCondLst>
                        <p:cond delay="indefinite"/>
                      </p:stCondLst>
                      <p:childTnLst>
                        <p:par>
                          <p:cTn id="372" fill="hold">
                            <p:stCondLst>
                              <p:cond delay="0"/>
                            </p:stCondLst>
                            <p:childTnLst>
                              <p:par>
                                <p:cTn id="373" presetID="2" presetClass="entr" presetSubtype="8" fill="hold" grpId="0" nodeType="clickEffect">
                                  <p:stCondLst>
                                    <p:cond delay="0"/>
                                  </p:stCondLst>
                                  <p:childTnLst>
                                    <p:set>
                                      <p:cBhvr>
                                        <p:cTn id="374" dur="1" fill="hold">
                                          <p:stCondLst>
                                            <p:cond delay="0"/>
                                          </p:stCondLst>
                                        </p:cTn>
                                        <p:tgtEl>
                                          <p:spTgt spid="92"/>
                                        </p:tgtEl>
                                        <p:attrNameLst>
                                          <p:attrName>style.visibility</p:attrName>
                                        </p:attrNameLst>
                                      </p:cBhvr>
                                      <p:to>
                                        <p:strVal val="visible"/>
                                      </p:to>
                                    </p:set>
                                    <p:anim calcmode="lin" valueType="num">
                                      <p:cBhvr additive="base">
                                        <p:cTn id="375" dur="500" fill="hold"/>
                                        <p:tgtEl>
                                          <p:spTgt spid="92"/>
                                        </p:tgtEl>
                                        <p:attrNameLst>
                                          <p:attrName>ppt_x</p:attrName>
                                        </p:attrNameLst>
                                      </p:cBhvr>
                                      <p:tavLst>
                                        <p:tav tm="0">
                                          <p:val>
                                            <p:strVal val="0-#ppt_w/2"/>
                                          </p:val>
                                        </p:tav>
                                        <p:tav tm="100000">
                                          <p:val>
                                            <p:strVal val="#ppt_x"/>
                                          </p:val>
                                        </p:tav>
                                      </p:tavLst>
                                    </p:anim>
                                    <p:anim calcmode="lin" valueType="num">
                                      <p:cBhvr additive="base">
                                        <p:cTn id="376" dur="500" fill="hold"/>
                                        <p:tgtEl>
                                          <p:spTgt spid="92"/>
                                        </p:tgtEl>
                                        <p:attrNameLst>
                                          <p:attrName>ppt_y</p:attrName>
                                        </p:attrNameLst>
                                      </p:cBhvr>
                                      <p:tavLst>
                                        <p:tav tm="0">
                                          <p:val>
                                            <p:strVal val="#ppt_y"/>
                                          </p:val>
                                        </p:tav>
                                        <p:tav tm="100000">
                                          <p:val>
                                            <p:strVal val="#ppt_y"/>
                                          </p:val>
                                        </p:tav>
                                      </p:tavLst>
                                    </p:anim>
                                  </p:childTnLst>
                                </p:cTn>
                              </p:par>
                              <p:par>
                                <p:cTn id="377" presetID="2" presetClass="entr" presetSubtype="8" fill="hold" nodeType="withEffect">
                                  <p:stCondLst>
                                    <p:cond delay="0"/>
                                  </p:stCondLst>
                                  <p:childTnLst>
                                    <p:set>
                                      <p:cBhvr>
                                        <p:cTn id="378" dur="1" fill="hold">
                                          <p:stCondLst>
                                            <p:cond delay="0"/>
                                          </p:stCondLst>
                                        </p:cTn>
                                        <p:tgtEl>
                                          <p:spTgt spid="91"/>
                                        </p:tgtEl>
                                        <p:attrNameLst>
                                          <p:attrName>style.visibility</p:attrName>
                                        </p:attrNameLst>
                                      </p:cBhvr>
                                      <p:to>
                                        <p:strVal val="visible"/>
                                      </p:to>
                                    </p:set>
                                    <p:anim calcmode="lin" valueType="num">
                                      <p:cBhvr additive="base">
                                        <p:cTn id="379" dur="500" fill="hold"/>
                                        <p:tgtEl>
                                          <p:spTgt spid="91"/>
                                        </p:tgtEl>
                                        <p:attrNameLst>
                                          <p:attrName>ppt_x</p:attrName>
                                        </p:attrNameLst>
                                      </p:cBhvr>
                                      <p:tavLst>
                                        <p:tav tm="0">
                                          <p:val>
                                            <p:strVal val="0-#ppt_w/2"/>
                                          </p:val>
                                        </p:tav>
                                        <p:tav tm="100000">
                                          <p:val>
                                            <p:strVal val="#ppt_x"/>
                                          </p:val>
                                        </p:tav>
                                      </p:tavLst>
                                    </p:anim>
                                    <p:anim calcmode="lin" valueType="num">
                                      <p:cBhvr additive="base">
                                        <p:cTn id="380" dur="500" fill="hold"/>
                                        <p:tgtEl>
                                          <p:spTgt spid="91"/>
                                        </p:tgtEl>
                                        <p:attrNameLst>
                                          <p:attrName>ppt_y</p:attrName>
                                        </p:attrNameLst>
                                      </p:cBhvr>
                                      <p:tavLst>
                                        <p:tav tm="0">
                                          <p:val>
                                            <p:strVal val="#ppt_y"/>
                                          </p:val>
                                        </p:tav>
                                        <p:tav tm="100000">
                                          <p:val>
                                            <p:strVal val="#ppt_y"/>
                                          </p:val>
                                        </p:tav>
                                      </p:tavLst>
                                    </p:anim>
                                  </p:childTnLst>
                                </p:cTn>
                              </p:par>
                            </p:childTnLst>
                          </p:cTn>
                        </p:par>
                      </p:childTnLst>
                    </p:cTn>
                  </p:par>
                  <p:par>
                    <p:cTn id="381" fill="hold">
                      <p:stCondLst>
                        <p:cond delay="indefinite"/>
                      </p:stCondLst>
                      <p:childTnLst>
                        <p:par>
                          <p:cTn id="382" fill="hold">
                            <p:stCondLst>
                              <p:cond delay="0"/>
                            </p:stCondLst>
                            <p:childTnLst>
                              <p:par>
                                <p:cTn id="383" presetID="2" presetClass="exit" presetSubtype="8" fill="hold" nodeType="clickEffect">
                                  <p:stCondLst>
                                    <p:cond delay="0"/>
                                  </p:stCondLst>
                                  <p:childTnLst>
                                    <p:anim calcmode="lin" valueType="num">
                                      <p:cBhvr additive="base">
                                        <p:cTn id="384" dur="500"/>
                                        <p:tgtEl>
                                          <p:spTgt spid="89"/>
                                        </p:tgtEl>
                                        <p:attrNameLst>
                                          <p:attrName>ppt_x</p:attrName>
                                        </p:attrNameLst>
                                      </p:cBhvr>
                                      <p:tavLst>
                                        <p:tav tm="0">
                                          <p:val>
                                            <p:strVal val="ppt_x"/>
                                          </p:val>
                                        </p:tav>
                                        <p:tav tm="100000">
                                          <p:val>
                                            <p:strVal val="0-ppt_w/2"/>
                                          </p:val>
                                        </p:tav>
                                      </p:tavLst>
                                    </p:anim>
                                    <p:anim calcmode="lin" valueType="num">
                                      <p:cBhvr additive="base">
                                        <p:cTn id="385" dur="500"/>
                                        <p:tgtEl>
                                          <p:spTgt spid="89"/>
                                        </p:tgtEl>
                                        <p:attrNameLst>
                                          <p:attrName>ppt_y</p:attrName>
                                        </p:attrNameLst>
                                      </p:cBhvr>
                                      <p:tavLst>
                                        <p:tav tm="0">
                                          <p:val>
                                            <p:strVal val="ppt_y"/>
                                          </p:val>
                                        </p:tav>
                                        <p:tav tm="100000">
                                          <p:val>
                                            <p:strVal val="ppt_y"/>
                                          </p:val>
                                        </p:tav>
                                      </p:tavLst>
                                    </p:anim>
                                    <p:set>
                                      <p:cBhvr>
                                        <p:cTn id="386" dur="1" fill="hold">
                                          <p:stCondLst>
                                            <p:cond delay="499"/>
                                          </p:stCondLst>
                                        </p:cTn>
                                        <p:tgtEl>
                                          <p:spTgt spid="89"/>
                                        </p:tgtEl>
                                        <p:attrNameLst>
                                          <p:attrName>style.visibility</p:attrName>
                                        </p:attrNameLst>
                                      </p:cBhvr>
                                      <p:to>
                                        <p:strVal val="hidden"/>
                                      </p:to>
                                    </p:set>
                                  </p:childTnLst>
                                </p:cTn>
                              </p:par>
                              <p:par>
                                <p:cTn id="387" presetID="2" presetClass="exit" presetSubtype="8" fill="hold" grpId="2" nodeType="withEffect">
                                  <p:stCondLst>
                                    <p:cond delay="0"/>
                                  </p:stCondLst>
                                  <p:childTnLst>
                                    <p:anim calcmode="lin" valueType="num">
                                      <p:cBhvr additive="base">
                                        <p:cTn id="388" dur="500"/>
                                        <p:tgtEl>
                                          <p:spTgt spid="90"/>
                                        </p:tgtEl>
                                        <p:attrNameLst>
                                          <p:attrName>ppt_x</p:attrName>
                                        </p:attrNameLst>
                                      </p:cBhvr>
                                      <p:tavLst>
                                        <p:tav tm="0">
                                          <p:val>
                                            <p:strVal val="ppt_x"/>
                                          </p:val>
                                        </p:tav>
                                        <p:tav tm="100000">
                                          <p:val>
                                            <p:strVal val="0-ppt_w/2"/>
                                          </p:val>
                                        </p:tav>
                                      </p:tavLst>
                                    </p:anim>
                                    <p:anim calcmode="lin" valueType="num">
                                      <p:cBhvr additive="base">
                                        <p:cTn id="389" dur="500"/>
                                        <p:tgtEl>
                                          <p:spTgt spid="90"/>
                                        </p:tgtEl>
                                        <p:attrNameLst>
                                          <p:attrName>ppt_y</p:attrName>
                                        </p:attrNameLst>
                                      </p:cBhvr>
                                      <p:tavLst>
                                        <p:tav tm="0">
                                          <p:val>
                                            <p:strVal val="ppt_y"/>
                                          </p:val>
                                        </p:tav>
                                        <p:tav tm="100000">
                                          <p:val>
                                            <p:strVal val="ppt_y"/>
                                          </p:val>
                                        </p:tav>
                                      </p:tavLst>
                                    </p:anim>
                                    <p:set>
                                      <p:cBhvr>
                                        <p:cTn id="390" dur="1" fill="hold">
                                          <p:stCondLst>
                                            <p:cond delay="499"/>
                                          </p:stCondLst>
                                        </p:cTn>
                                        <p:tgtEl>
                                          <p:spTgt spid="90"/>
                                        </p:tgtEl>
                                        <p:attrNameLst>
                                          <p:attrName>style.visibility</p:attrName>
                                        </p:attrNameLst>
                                      </p:cBhvr>
                                      <p:to>
                                        <p:strVal val="hidden"/>
                                      </p:to>
                                    </p:set>
                                  </p:childTnLst>
                                </p:cTn>
                              </p:par>
                            </p:childTnLst>
                          </p:cTn>
                        </p:par>
                      </p:childTnLst>
                    </p:cTn>
                  </p:par>
                  <p:par>
                    <p:cTn id="391" fill="hold">
                      <p:stCondLst>
                        <p:cond delay="indefinite"/>
                      </p:stCondLst>
                      <p:childTnLst>
                        <p:par>
                          <p:cTn id="392" fill="hold">
                            <p:stCondLst>
                              <p:cond delay="0"/>
                            </p:stCondLst>
                            <p:childTnLst>
                              <p:par>
                                <p:cTn id="393" presetID="2" presetClass="exit" presetSubtype="8" fill="hold" nodeType="clickEffect">
                                  <p:stCondLst>
                                    <p:cond delay="0"/>
                                  </p:stCondLst>
                                  <p:childTnLst>
                                    <p:anim calcmode="lin" valueType="num">
                                      <p:cBhvr additive="base">
                                        <p:cTn id="394" dur="500"/>
                                        <p:tgtEl>
                                          <p:spTgt spid="91"/>
                                        </p:tgtEl>
                                        <p:attrNameLst>
                                          <p:attrName>ppt_x</p:attrName>
                                        </p:attrNameLst>
                                      </p:cBhvr>
                                      <p:tavLst>
                                        <p:tav tm="0">
                                          <p:val>
                                            <p:strVal val="ppt_x"/>
                                          </p:val>
                                        </p:tav>
                                        <p:tav tm="100000">
                                          <p:val>
                                            <p:strVal val="0-ppt_w/2"/>
                                          </p:val>
                                        </p:tav>
                                      </p:tavLst>
                                    </p:anim>
                                    <p:anim calcmode="lin" valueType="num">
                                      <p:cBhvr additive="base">
                                        <p:cTn id="395" dur="500"/>
                                        <p:tgtEl>
                                          <p:spTgt spid="91"/>
                                        </p:tgtEl>
                                        <p:attrNameLst>
                                          <p:attrName>ppt_y</p:attrName>
                                        </p:attrNameLst>
                                      </p:cBhvr>
                                      <p:tavLst>
                                        <p:tav tm="0">
                                          <p:val>
                                            <p:strVal val="ppt_y"/>
                                          </p:val>
                                        </p:tav>
                                        <p:tav tm="100000">
                                          <p:val>
                                            <p:strVal val="ppt_y"/>
                                          </p:val>
                                        </p:tav>
                                      </p:tavLst>
                                    </p:anim>
                                    <p:set>
                                      <p:cBhvr>
                                        <p:cTn id="396" dur="1" fill="hold">
                                          <p:stCondLst>
                                            <p:cond delay="499"/>
                                          </p:stCondLst>
                                        </p:cTn>
                                        <p:tgtEl>
                                          <p:spTgt spid="91"/>
                                        </p:tgtEl>
                                        <p:attrNameLst>
                                          <p:attrName>style.visibility</p:attrName>
                                        </p:attrNameLst>
                                      </p:cBhvr>
                                      <p:to>
                                        <p:strVal val="hidden"/>
                                      </p:to>
                                    </p:set>
                                  </p:childTnLst>
                                </p:cTn>
                              </p:par>
                              <p:par>
                                <p:cTn id="397" presetID="2" presetClass="exit" presetSubtype="8" fill="hold" grpId="2" nodeType="withEffect">
                                  <p:stCondLst>
                                    <p:cond delay="0"/>
                                  </p:stCondLst>
                                  <p:childTnLst>
                                    <p:anim calcmode="lin" valueType="num">
                                      <p:cBhvr additive="base">
                                        <p:cTn id="398" dur="500"/>
                                        <p:tgtEl>
                                          <p:spTgt spid="92"/>
                                        </p:tgtEl>
                                        <p:attrNameLst>
                                          <p:attrName>ppt_x</p:attrName>
                                        </p:attrNameLst>
                                      </p:cBhvr>
                                      <p:tavLst>
                                        <p:tav tm="0">
                                          <p:val>
                                            <p:strVal val="ppt_x"/>
                                          </p:val>
                                        </p:tav>
                                        <p:tav tm="100000">
                                          <p:val>
                                            <p:strVal val="0-ppt_w/2"/>
                                          </p:val>
                                        </p:tav>
                                      </p:tavLst>
                                    </p:anim>
                                    <p:anim calcmode="lin" valueType="num">
                                      <p:cBhvr additive="base">
                                        <p:cTn id="399" dur="500"/>
                                        <p:tgtEl>
                                          <p:spTgt spid="92"/>
                                        </p:tgtEl>
                                        <p:attrNameLst>
                                          <p:attrName>ppt_y</p:attrName>
                                        </p:attrNameLst>
                                      </p:cBhvr>
                                      <p:tavLst>
                                        <p:tav tm="0">
                                          <p:val>
                                            <p:strVal val="ppt_y"/>
                                          </p:val>
                                        </p:tav>
                                        <p:tav tm="100000">
                                          <p:val>
                                            <p:strVal val="ppt_y"/>
                                          </p:val>
                                        </p:tav>
                                      </p:tavLst>
                                    </p:anim>
                                    <p:set>
                                      <p:cBhvr>
                                        <p:cTn id="400" dur="1" fill="hold">
                                          <p:stCondLst>
                                            <p:cond delay="499"/>
                                          </p:stCondLst>
                                        </p:cTn>
                                        <p:tgtEl>
                                          <p:spTgt spid="92"/>
                                        </p:tgtEl>
                                        <p:attrNameLst>
                                          <p:attrName>style.visibility</p:attrName>
                                        </p:attrNameLst>
                                      </p:cBhvr>
                                      <p:to>
                                        <p:strVal val="hidden"/>
                                      </p:to>
                                    </p:set>
                                  </p:childTnLst>
                                </p:cTn>
                              </p:par>
                            </p:childTnLst>
                          </p:cTn>
                        </p:par>
                      </p:childTnLst>
                    </p:cTn>
                  </p:par>
                  <p:par>
                    <p:cTn id="401" fill="hold">
                      <p:stCondLst>
                        <p:cond delay="indefinite"/>
                      </p:stCondLst>
                      <p:childTnLst>
                        <p:par>
                          <p:cTn id="402" fill="hold">
                            <p:stCondLst>
                              <p:cond delay="0"/>
                            </p:stCondLst>
                            <p:childTnLst>
                              <p:par>
                                <p:cTn id="403" presetID="2" presetClass="entr" presetSubtype="8" fill="hold" nodeType="clickEffect">
                                  <p:stCondLst>
                                    <p:cond delay="0"/>
                                  </p:stCondLst>
                                  <p:childTnLst>
                                    <p:set>
                                      <p:cBhvr>
                                        <p:cTn id="404" dur="1" fill="hold">
                                          <p:stCondLst>
                                            <p:cond delay="0"/>
                                          </p:stCondLst>
                                        </p:cTn>
                                        <p:tgtEl>
                                          <p:spTgt spid="93"/>
                                        </p:tgtEl>
                                        <p:attrNameLst>
                                          <p:attrName>style.visibility</p:attrName>
                                        </p:attrNameLst>
                                      </p:cBhvr>
                                      <p:to>
                                        <p:strVal val="visible"/>
                                      </p:to>
                                    </p:set>
                                    <p:anim calcmode="lin" valueType="num">
                                      <p:cBhvr additive="base">
                                        <p:cTn id="405" dur="500" fill="hold"/>
                                        <p:tgtEl>
                                          <p:spTgt spid="93"/>
                                        </p:tgtEl>
                                        <p:attrNameLst>
                                          <p:attrName>ppt_x</p:attrName>
                                        </p:attrNameLst>
                                      </p:cBhvr>
                                      <p:tavLst>
                                        <p:tav tm="0">
                                          <p:val>
                                            <p:strVal val="0-#ppt_w/2"/>
                                          </p:val>
                                        </p:tav>
                                        <p:tav tm="100000">
                                          <p:val>
                                            <p:strVal val="#ppt_x"/>
                                          </p:val>
                                        </p:tav>
                                      </p:tavLst>
                                    </p:anim>
                                    <p:anim calcmode="lin" valueType="num">
                                      <p:cBhvr additive="base">
                                        <p:cTn id="406" dur="500" fill="hold"/>
                                        <p:tgtEl>
                                          <p:spTgt spid="93"/>
                                        </p:tgtEl>
                                        <p:attrNameLst>
                                          <p:attrName>ppt_y</p:attrName>
                                        </p:attrNameLst>
                                      </p:cBhvr>
                                      <p:tavLst>
                                        <p:tav tm="0">
                                          <p:val>
                                            <p:strVal val="#ppt_y"/>
                                          </p:val>
                                        </p:tav>
                                        <p:tav tm="100000">
                                          <p:val>
                                            <p:strVal val="#ppt_y"/>
                                          </p:val>
                                        </p:tav>
                                      </p:tavLst>
                                    </p:anim>
                                  </p:childTnLst>
                                </p:cTn>
                              </p:par>
                              <p:par>
                                <p:cTn id="407" presetID="2" presetClass="entr" presetSubtype="8" fill="hold" grpId="0" nodeType="withEffect">
                                  <p:stCondLst>
                                    <p:cond delay="0"/>
                                  </p:stCondLst>
                                  <p:childTnLst>
                                    <p:set>
                                      <p:cBhvr>
                                        <p:cTn id="408" dur="1" fill="hold">
                                          <p:stCondLst>
                                            <p:cond delay="0"/>
                                          </p:stCondLst>
                                        </p:cTn>
                                        <p:tgtEl>
                                          <p:spTgt spid="94"/>
                                        </p:tgtEl>
                                        <p:attrNameLst>
                                          <p:attrName>style.visibility</p:attrName>
                                        </p:attrNameLst>
                                      </p:cBhvr>
                                      <p:to>
                                        <p:strVal val="visible"/>
                                      </p:to>
                                    </p:set>
                                    <p:anim calcmode="lin" valueType="num">
                                      <p:cBhvr additive="base">
                                        <p:cTn id="409" dur="500" fill="hold"/>
                                        <p:tgtEl>
                                          <p:spTgt spid="94"/>
                                        </p:tgtEl>
                                        <p:attrNameLst>
                                          <p:attrName>ppt_x</p:attrName>
                                        </p:attrNameLst>
                                      </p:cBhvr>
                                      <p:tavLst>
                                        <p:tav tm="0">
                                          <p:val>
                                            <p:strVal val="0-#ppt_w/2"/>
                                          </p:val>
                                        </p:tav>
                                        <p:tav tm="100000">
                                          <p:val>
                                            <p:strVal val="#ppt_x"/>
                                          </p:val>
                                        </p:tav>
                                      </p:tavLst>
                                    </p:anim>
                                    <p:anim calcmode="lin" valueType="num">
                                      <p:cBhvr additive="base">
                                        <p:cTn id="410" dur="500" fill="hold"/>
                                        <p:tgtEl>
                                          <p:spTgt spid="94"/>
                                        </p:tgtEl>
                                        <p:attrNameLst>
                                          <p:attrName>ppt_y</p:attrName>
                                        </p:attrNameLst>
                                      </p:cBhvr>
                                      <p:tavLst>
                                        <p:tav tm="0">
                                          <p:val>
                                            <p:strVal val="#ppt_y"/>
                                          </p:val>
                                        </p:tav>
                                        <p:tav tm="100000">
                                          <p:val>
                                            <p:strVal val="#ppt_y"/>
                                          </p:val>
                                        </p:tav>
                                      </p:tavLst>
                                    </p:anim>
                                  </p:childTnLst>
                                </p:cTn>
                              </p:par>
                            </p:childTnLst>
                          </p:cTn>
                        </p:par>
                      </p:childTnLst>
                    </p:cTn>
                  </p:par>
                  <p:par>
                    <p:cTn id="411" fill="hold">
                      <p:stCondLst>
                        <p:cond delay="indefinite"/>
                      </p:stCondLst>
                      <p:childTnLst>
                        <p:par>
                          <p:cTn id="412" fill="hold">
                            <p:stCondLst>
                              <p:cond delay="0"/>
                            </p:stCondLst>
                            <p:childTnLst>
                              <p:par>
                                <p:cTn id="413" presetID="2" presetClass="entr" presetSubtype="8" fill="hold" grpId="0" nodeType="clickEffect">
                                  <p:stCondLst>
                                    <p:cond delay="0"/>
                                  </p:stCondLst>
                                  <p:childTnLst>
                                    <p:set>
                                      <p:cBhvr>
                                        <p:cTn id="414" dur="1" fill="hold">
                                          <p:stCondLst>
                                            <p:cond delay="0"/>
                                          </p:stCondLst>
                                        </p:cTn>
                                        <p:tgtEl>
                                          <p:spTgt spid="96"/>
                                        </p:tgtEl>
                                        <p:attrNameLst>
                                          <p:attrName>style.visibility</p:attrName>
                                        </p:attrNameLst>
                                      </p:cBhvr>
                                      <p:to>
                                        <p:strVal val="visible"/>
                                      </p:to>
                                    </p:set>
                                    <p:anim calcmode="lin" valueType="num">
                                      <p:cBhvr additive="base">
                                        <p:cTn id="415" dur="500" fill="hold"/>
                                        <p:tgtEl>
                                          <p:spTgt spid="96"/>
                                        </p:tgtEl>
                                        <p:attrNameLst>
                                          <p:attrName>ppt_x</p:attrName>
                                        </p:attrNameLst>
                                      </p:cBhvr>
                                      <p:tavLst>
                                        <p:tav tm="0">
                                          <p:val>
                                            <p:strVal val="0-#ppt_w/2"/>
                                          </p:val>
                                        </p:tav>
                                        <p:tav tm="100000">
                                          <p:val>
                                            <p:strVal val="#ppt_x"/>
                                          </p:val>
                                        </p:tav>
                                      </p:tavLst>
                                    </p:anim>
                                    <p:anim calcmode="lin" valueType="num">
                                      <p:cBhvr additive="base">
                                        <p:cTn id="416" dur="500" fill="hold"/>
                                        <p:tgtEl>
                                          <p:spTgt spid="96"/>
                                        </p:tgtEl>
                                        <p:attrNameLst>
                                          <p:attrName>ppt_y</p:attrName>
                                        </p:attrNameLst>
                                      </p:cBhvr>
                                      <p:tavLst>
                                        <p:tav tm="0">
                                          <p:val>
                                            <p:strVal val="#ppt_y"/>
                                          </p:val>
                                        </p:tav>
                                        <p:tav tm="100000">
                                          <p:val>
                                            <p:strVal val="#ppt_y"/>
                                          </p:val>
                                        </p:tav>
                                      </p:tavLst>
                                    </p:anim>
                                  </p:childTnLst>
                                </p:cTn>
                              </p:par>
                              <p:par>
                                <p:cTn id="417" presetID="2" presetClass="entr" presetSubtype="8" fill="hold" nodeType="withEffect">
                                  <p:stCondLst>
                                    <p:cond delay="0"/>
                                  </p:stCondLst>
                                  <p:childTnLst>
                                    <p:set>
                                      <p:cBhvr>
                                        <p:cTn id="418" dur="1" fill="hold">
                                          <p:stCondLst>
                                            <p:cond delay="0"/>
                                          </p:stCondLst>
                                        </p:cTn>
                                        <p:tgtEl>
                                          <p:spTgt spid="95"/>
                                        </p:tgtEl>
                                        <p:attrNameLst>
                                          <p:attrName>style.visibility</p:attrName>
                                        </p:attrNameLst>
                                      </p:cBhvr>
                                      <p:to>
                                        <p:strVal val="visible"/>
                                      </p:to>
                                    </p:set>
                                    <p:anim calcmode="lin" valueType="num">
                                      <p:cBhvr additive="base">
                                        <p:cTn id="419" dur="500" fill="hold"/>
                                        <p:tgtEl>
                                          <p:spTgt spid="95"/>
                                        </p:tgtEl>
                                        <p:attrNameLst>
                                          <p:attrName>ppt_x</p:attrName>
                                        </p:attrNameLst>
                                      </p:cBhvr>
                                      <p:tavLst>
                                        <p:tav tm="0">
                                          <p:val>
                                            <p:strVal val="0-#ppt_w/2"/>
                                          </p:val>
                                        </p:tav>
                                        <p:tav tm="100000">
                                          <p:val>
                                            <p:strVal val="#ppt_x"/>
                                          </p:val>
                                        </p:tav>
                                      </p:tavLst>
                                    </p:anim>
                                    <p:anim calcmode="lin" valueType="num">
                                      <p:cBhvr additive="base">
                                        <p:cTn id="420" dur="500" fill="hold"/>
                                        <p:tgtEl>
                                          <p:spTgt spid="95"/>
                                        </p:tgtEl>
                                        <p:attrNameLst>
                                          <p:attrName>ppt_y</p:attrName>
                                        </p:attrNameLst>
                                      </p:cBhvr>
                                      <p:tavLst>
                                        <p:tav tm="0">
                                          <p:val>
                                            <p:strVal val="#ppt_y"/>
                                          </p:val>
                                        </p:tav>
                                        <p:tav tm="100000">
                                          <p:val>
                                            <p:strVal val="#ppt_y"/>
                                          </p:val>
                                        </p:tav>
                                      </p:tavLst>
                                    </p:anim>
                                  </p:childTnLst>
                                </p:cTn>
                              </p:par>
                            </p:childTnLst>
                          </p:cTn>
                        </p:par>
                      </p:childTnLst>
                    </p:cTn>
                  </p:par>
                  <p:par>
                    <p:cTn id="421" fill="hold">
                      <p:stCondLst>
                        <p:cond delay="indefinite"/>
                      </p:stCondLst>
                      <p:childTnLst>
                        <p:par>
                          <p:cTn id="422" fill="hold">
                            <p:stCondLst>
                              <p:cond delay="0"/>
                            </p:stCondLst>
                            <p:childTnLst>
                              <p:par>
                                <p:cTn id="423" presetID="2" presetClass="exit" presetSubtype="8" fill="hold" nodeType="clickEffect">
                                  <p:stCondLst>
                                    <p:cond delay="0"/>
                                  </p:stCondLst>
                                  <p:childTnLst>
                                    <p:anim calcmode="lin" valueType="num">
                                      <p:cBhvr additive="base">
                                        <p:cTn id="424" dur="500"/>
                                        <p:tgtEl>
                                          <p:spTgt spid="93"/>
                                        </p:tgtEl>
                                        <p:attrNameLst>
                                          <p:attrName>ppt_x</p:attrName>
                                        </p:attrNameLst>
                                      </p:cBhvr>
                                      <p:tavLst>
                                        <p:tav tm="0">
                                          <p:val>
                                            <p:strVal val="ppt_x"/>
                                          </p:val>
                                        </p:tav>
                                        <p:tav tm="100000">
                                          <p:val>
                                            <p:strVal val="0-ppt_w/2"/>
                                          </p:val>
                                        </p:tav>
                                      </p:tavLst>
                                    </p:anim>
                                    <p:anim calcmode="lin" valueType="num">
                                      <p:cBhvr additive="base">
                                        <p:cTn id="425" dur="500"/>
                                        <p:tgtEl>
                                          <p:spTgt spid="93"/>
                                        </p:tgtEl>
                                        <p:attrNameLst>
                                          <p:attrName>ppt_y</p:attrName>
                                        </p:attrNameLst>
                                      </p:cBhvr>
                                      <p:tavLst>
                                        <p:tav tm="0">
                                          <p:val>
                                            <p:strVal val="ppt_y"/>
                                          </p:val>
                                        </p:tav>
                                        <p:tav tm="100000">
                                          <p:val>
                                            <p:strVal val="ppt_y"/>
                                          </p:val>
                                        </p:tav>
                                      </p:tavLst>
                                    </p:anim>
                                    <p:set>
                                      <p:cBhvr>
                                        <p:cTn id="426" dur="1" fill="hold">
                                          <p:stCondLst>
                                            <p:cond delay="499"/>
                                          </p:stCondLst>
                                        </p:cTn>
                                        <p:tgtEl>
                                          <p:spTgt spid="93"/>
                                        </p:tgtEl>
                                        <p:attrNameLst>
                                          <p:attrName>style.visibility</p:attrName>
                                        </p:attrNameLst>
                                      </p:cBhvr>
                                      <p:to>
                                        <p:strVal val="hidden"/>
                                      </p:to>
                                    </p:set>
                                  </p:childTnLst>
                                </p:cTn>
                              </p:par>
                              <p:par>
                                <p:cTn id="427" presetID="2" presetClass="exit" presetSubtype="8" fill="hold" grpId="2" nodeType="withEffect">
                                  <p:stCondLst>
                                    <p:cond delay="0"/>
                                  </p:stCondLst>
                                  <p:childTnLst>
                                    <p:anim calcmode="lin" valueType="num">
                                      <p:cBhvr additive="base">
                                        <p:cTn id="428" dur="500"/>
                                        <p:tgtEl>
                                          <p:spTgt spid="94"/>
                                        </p:tgtEl>
                                        <p:attrNameLst>
                                          <p:attrName>ppt_x</p:attrName>
                                        </p:attrNameLst>
                                      </p:cBhvr>
                                      <p:tavLst>
                                        <p:tav tm="0">
                                          <p:val>
                                            <p:strVal val="ppt_x"/>
                                          </p:val>
                                        </p:tav>
                                        <p:tav tm="100000">
                                          <p:val>
                                            <p:strVal val="0-ppt_w/2"/>
                                          </p:val>
                                        </p:tav>
                                      </p:tavLst>
                                    </p:anim>
                                    <p:anim calcmode="lin" valueType="num">
                                      <p:cBhvr additive="base">
                                        <p:cTn id="429" dur="500"/>
                                        <p:tgtEl>
                                          <p:spTgt spid="94"/>
                                        </p:tgtEl>
                                        <p:attrNameLst>
                                          <p:attrName>ppt_y</p:attrName>
                                        </p:attrNameLst>
                                      </p:cBhvr>
                                      <p:tavLst>
                                        <p:tav tm="0">
                                          <p:val>
                                            <p:strVal val="ppt_y"/>
                                          </p:val>
                                        </p:tav>
                                        <p:tav tm="100000">
                                          <p:val>
                                            <p:strVal val="ppt_y"/>
                                          </p:val>
                                        </p:tav>
                                      </p:tavLst>
                                    </p:anim>
                                    <p:set>
                                      <p:cBhvr>
                                        <p:cTn id="430" dur="1" fill="hold">
                                          <p:stCondLst>
                                            <p:cond delay="499"/>
                                          </p:stCondLst>
                                        </p:cTn>
                                        <p:tgtEl>
                                          <p:spTgt spid="94"/>
                                        </p:tgtEl>
                                        <p:attrNameLst>
                                          <p:attrName>style.visibility</p:attrName>
                                        </p:attrNameLst>
                                      </p:cBhvr>
                                      <p:to>
                                        <p:strVal val="hidden"/>
                                      </p:to>
                                    </p:set>
                                  </p:childTnLst>
                                </p:cTn>
                              </p:par>
                            </p:childTnLst>
                          </p:cTn>
                        </p:par>
                      </p:childTnLst>
                    </p:cTn>
                  </p:par>
                  <p:par>
                    <p:cTn id="431" fill="hold">
                      <p:stCondLst>
                        <p:cond delay="indefinite"/>
                      </p:stCondLst>
                      <p:childTnLst>
                        <p:par>
                          <p:cTn id="432" fill="hold">
                            <p:stCondLst>
                              <p:cond delay="0"/>
                            </p:stCondLst>
                            <p:childTnLst>
                              <p:par>
                                <p:cTn id="433" presetID="2" presetClass="exit" presetSubtype="8" fill="hold" nodeType="clickEffect">
                                  <p:stCondLst>
                                    <p:cond delay="0"/>
                                  </p:stCondLst>
                                  <p:childTnLst>
                                    <p:anim calcmode="lin" valueType="num">
                                      <p:cBhvr additive="base">
                                        <p:cTn id="434" dur="500"/>
                                        <p:tgtEl>
                                          <p:spTgt spid="95"/>
                                        </p:tgtEl>
                                        <p:attrNameLst>
                                          <p:attrName>ppt_x</p:attrName>
                                        </p:attrNameLst>
                                      </p:cBhvr>
                                      <p:tavLst>
                                        <p:tav tm="0">
                                          <p:val>
                                            <p:strVal val="ppt_x"/>
                                          </p:val>
                                        </p:tav>
                                        <p:tav tm="100000">
                                          <p:val>
                                            <p:strVal val="0-ppt_w/2"/>
                                          </p:val>
                                        </p:tav>
                                      </p:tavLst>
                                    </p:anim>
                                    <p:anim calcmode="lin" valueType="num">
                                      <p:cBhvr additive="base">
                                        <p:cTn id="435" dur="500"/>
                                        <p:tgtEl>
                                          <p:spTgt spid="95"/>
                                        </p:tgtEl>
                                        <p:attrNameLst>
                                          <p:attrName>ppt_y</p:attrName>
                                        </p:attrNameLst>
                                      </p:cBhvr>
                                      <p:tavLst>
                                        <p:tav tm="0">
                                          <p:val>
                                            <p:strVal val="ppt_y"/>
                                          </p:val>
                                        </p:tav>
                                        <p:tav tm="100000">
                                          <p:val>
                                            <p:strVal val="ppt_y"/>
                                          </p:val>
                                        </p:tav>
                                      </p:tavLst>
                                    </p:anim>
                                    <p:set>
                                      <p:cBhvr>
                                        <p:cTn id="436" dur="1" fill="hold">
                                          <p:stCondLst>
                                            <p:cond delay="499"/>
                                          </p:stCondLst>
                                        </p:cTn>
                                        <p:tgtEl>
                                          <p:spTgt spid="95"/>
                                        </p:tgtEl>
                                        <p:attrNameLst>
                                          <p:attrName>style.visibility</p:attrName>
                                        </p:attrNameLst>
                                      </p:cBhvr>
                                      <p:to>
                                        <p:strVal val="hidden"/>
                                      </p:to>
                                    </p:set>
                                  </p:childTnLst>
                                </p:cTn>
                              </p:par>
                              <p:par>
                                <p:cTn id="437" presetID="2" presetClass="exit" presetSubtype="8" fill="hold" grpId="2" nodeType="withEffect">
                                  <p:stCondLst>
                                    <p:cond delay="0"/>
                                  </p:stCondLst>
                                  <p:childTnLst>
                                    <p:anim calcmode="lin" valueType="num">
                                      <p:cBhvr additive="base">
                                        <p:cTn id="438" dur="500"/>
                                        <p:tgtEl>
                                          <p:spTgt spid="96"/>
                                        </p:tgtEl>
                                        <p:attrNameLst>
                                          <p:attrName>ppt_x</p:attrName>
                                        </p:attrNameLst>
                                      </p:cBhvr>
                                      <p:tavLst>
                                        <p:tav tm="0">
                                          <p:val>
                                            <p:strVal val="ppt_x"/>
                                          </p:val>
                                        </p:tav>
                                        <p:tav tm="100000">
                                          <p:val>
                                            <p:strVal val="0-ppt_w/2"/>
                                          </p:val>
                                        </p:tav>
                                      </p:tavLst>
                                    </p:anim>
                                    <p:anim calcmode="lin" valueType="num">
                                      <p:cBhvr additive="base">
                                        <p:cTn id="439" dur="500"/>
                                        <p:tgtEl>
                                          <p:spTgt spid="96"/>
                                        </p:tgtEl>
                                        <p:attrNameLst>
                                          <p:attrName>ppt_y</p:attrName>
                                        </p:attrNameLst>
                                      </p:cBhvr>
                                      <p:tavLst>
                                        <p:tav tm="0">
                                          <p:val>
                                            <p:strVal val="ppt_y"/>
                                          </p:val>
                                        </p:tav>
                                        <p:tav tm="100000">
                                          <p:val>
                                            <p:strVal val="ppt_y"/>
                                          </p:val>
                                        </p:tav>
                                      </p:tavLst>
                                    </p:anim>
                                    <p:set>
                                      <p:cBhvr>
                                        <p:cTn id="440" dur="1" fill="hold">
                                          <p:stCondLst>
                                            <p:cond delay="499"/>
                                          </p:stCondLst>
                                        </p:cTn>
                                        <p:tgtEl>
                                          <p:spTgt spid="9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38" grpId="1"/>
      <p:bldP spid="38" grpId="2"/>
      <p:bldP spid="41" grpId="0"/>
      <p:bldP spid="41" grpId="1"/>
      <p:bldP spid="43" grpId="0"/>
      <p:bldP spid="43" grpId="1"/>
      <p:bldP spid="43" grpId="2"/>
      <p:bldP spid="44" grpId="0"/>
      <p:bldP spid="44" grpId="1"/>
      <p:bldP spid="47" grpId="0"/>
      <p:bldP spid="47" grpId="1"/>
      <p:bldP spid="47" grpId="2"/>
      <p:bldP spid="47" grpId="3"/>
      <p:bldP spid="47" grpId="4"/>
      <p:bldP spid="48" grpId="0"/>
      <p:bldP spid="48" grpId="1"/>
      <p:bldP spid="53" grpId="0"/>
      <p:bldP spid="53" grpId="1"/>
      <p:bldP spid="53" grpId="2"/>
      <p:bldP spid="55" grpId="0"/>
      <p:bldP spid="55" grpId="1"/>
      <p:bldP spid="55" grpId="2"/>
      <p:bldP spid="24" grpId="0"/>
      <p:bldP spid="24" grpId="1"/>
      <p:bldP spid="24" grpId="2"/>
      <p:bldP spid="31" grpId="0"/>
      <p:bldP spid="31" grpId="1"/>
      <p:bldP spid="31" grpId="2"/>
      <p:bldP spid="37" grpId="0"/>
      <p:bldP spid="37" grpId="1"/>
      <p:bldP spid="37" grpId="2"/>
      <p:bldP spid="46" grpId="0"/>
      <p:bldP spid="46" grpId="1"/>
      <p:bldP spid="46" grpId="2"/>
      <p:bldP spid="50" grpId="0"/>
      <p:bldP spid="50" grpId="1"/>
      <p:bldP spid="50" grpId="2"/>
      <p:bldP spid="80" grpId="0"/>
      <p:bldP spid="80" grpId="1"/>
      <p:bldP spid="80" grpId="2"/>
      <p:bldP spid="82" grpId="0"/>
      <p:bldP spid="82" grpId="1"/>
      <p:bldP spid="82" grpId="2"/>
      <p:bldP spid="84" grpId="0"/>
      <p:bldP spid="84" grpId="1"/>
      <p:bldP spid="84" grpId="2"/>
      <p:bldP spid="86" grpId="0"/>
      <p:bldP spid="86" grpId="1"/>
      <p:bldP spid="86" grpId="2"/>
      <p:bldP spid="88" grpId="0"/>
      <p:bldP spid="88" grpId="1"/>
      <p:bldP spid="88" grpId="2"/>
      <p:bldP spid="90" grpId="0"/>
      <p:bldP spid="90" grpId="1"/>
      <p:bldP spid="90" grpId="2"/>
      <p:bldP spid="92" grpId="0"/>
      <p:bldP spid="92" grpId="1"/>
      <p:bldP spid="92" grpId="2"/>
      <p:bldP spid="94" grpId="0"/>
      <p:bldP spid="94" grpId="1"/>
      <p:bldP spid="94" grpId="2"/>
      <p:bldP spid="96" grpId="0"/>
      <p:bldP spid="96" grpId="1"/>
      <p:bldP spid="96" grpId="2"/>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p:cNvPicPr>
            <a:picLocks noChangeAspect="1"/>
          </p:cNvPicPr>
          <p:nvPr/>
        </p:nvPicPr>
        <p:blipFill>
          <a:blip r:embed="rId1"/>
          <a:stretch>
            <a:fillRect/>
          </a:stretch>
        </p:blipFill>
        <p:spPr>
          <a:xfrm>
            <a:off x="324485" y="2153920"/>
            <a:ext cx="3541395" cy="3625215"/>
          </a:xfrm>
          <a:prstGeom prst="rect">
            <a:avLst/>
          </a:prstGeom>
        </p:spPr>
      </p:pic>
      <p:sp>
        <p:nvSpPr>
          <p:cNvPr id="16386" name="Rectangle 2"/>
          <p:cNvSpPr>
            <a:spLocks noGrp="1"/>
          </p:cNvSpPr>
          <p:nvPr>
            <p:ph type="title"/>
          </p:nvPr>
        </p:nvSpPr>
        <p:spPr>
          <a:xfrm>
            <a:off x="1258888" y="333375"/>
            <a:ext cx="7793037" cy="1462088"/>
          </a:xfrm>
        </p:spPr>
        <p:txBody>
          <a:bodyPr vert="horz" wrap="square" lIns="91440" tIns="45720" rIns="91440" bIns="45720" anchor="b" anchorCtr="0"/>
          <a:lstStyle/>
          <a:p>
            <a:pPr eaLnBrk="1" hangingPunct="1">
              <a:buFont typeface="Wingdings" panose="05000000000000000000" pitchFamily="2" charset="2"/>
              <a:buNone/>
            </a:pPr>
            <a:r>
              <a:rPr lang="zh-CN" altLang="en-US" dirty="0"/>
              <a:t>1.</a:t>
            </a:r>
            <a:r>
              <a:rPr lang="en-US" altLang="zh-CN" dirty="0"/>
              <a:t>2 </a:t>
            </a:r>
            <a:r>
              <a:rPr lang="zh-CN" altLang="en-US" dirty="0"/>
              <a:t>如何实现堆</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7</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641350" y="1569403"/>
            <a:ext cx="5299075"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回顾整个逻辑：</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sp>
        <p:nvSpPr>
          <p:cNvPr id="2" name="矩形 1"/>
          <p:cNvSpPr/>
          <p:nvPr/>
        </p:nvSpPr>
        <p:spPr>
          <a:xfrm>
            <a:off x="256387" y="776511"/>
            <a:ext cx="2917825"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5" name="文本框 4"/>
          <p:cNvSpPr txBox="1"/>
          <p:nvPr/>
        </p:nvSpPr>
        <p:spPr>
          <a:xfrm>
            <a:off x="3563620" y="1557020"/>
            <a:ext cx="6231255" cy="3873500"/>
          </a:xfrm>
          <a:prstGeom prst="rect">
            <a:avLst/>
          </a:prstGeom>
          <a:noFill/>
        </p:spPr>
        <p:txBody>
          <a:bodyPr wrap="square" rtlCol="0" anchor="t">
            <a:noAutofit/>
          </a:bodyPr>
          <a:lstStyle/>
          <a:p>
            <a:r>
              <a:rPr lang="en-US" altLang="zh-CN" sz="1400">
                <a:solidFill>
                  <a:schemeClr val="tx1"/>
                </a:solidFill>
                <a:uFillTx/>
                <a:latin typeface="Times New Roman" panose="02020603050405020304" pitchFamily="18" charset="0"/>
              </a:rPr>
              <a:t>    def buildMyBigheap(self):</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length = len(self.heap)</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i = 1</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while i &lt; length:</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k = i</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 </a:t>
            </a:r>
            <a:r>
              <a:rPr lang="zh-CN" altLang="en-US" sz="1400">
                <a:solidFill>
                  <a:schemeClr val="tx1"/>
                </a:solidFill>
                <a:uFillTx/>
                <a:latin typeface="Times New Roman" panose="02020603050405020304" pitchFamily="18" charset="0"/>
              </a:rPr>
              <a:t>找父节点</a:t>
            </a:r>
            <a:endParaRPr lang="zh-CN" altLang="en-US"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while self.parent(k) &gt;= 0:</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parentP = self.parent(k)</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if self.heap[k] &gt; self.heap[parentP]:</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self.heap[k], self.heap[parentP] = self.heap[parentP], self.heap[k]</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k = parentP</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else:</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break</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i += 1</a:t>
            </a:r>
            <a:endParaRPr lang="en-US" altLang="zh-CN" sz="1400">
              <a:solidFill>
                <a:schemeClr val="tx1"/>
              </a:solidFill>
              <a:uFillTx/>
              <a:latin typeface="Times New Roman" panose="02020603050405020304" pitchFamily="18" charset="0"/>
            </a:endParaRPr>
          </a:p>
        </p:txBody>
      </p:sp>
      <p:sp>
        <p:nvSpPr>
          <p:cNvPr id="7" name="文本框 6"/>
          <p:cNvSpPr txBox="1"/>
          <p:nvPr/>
        </p:nvSpPr>
        <p:spPr>
          <a:xfrm>
            <a:off x="4139565" y="4853305"/>
            <a:ext cx="4992370" cy="699135"/>
          </a:xfrm>
          <a:prstGeom prst="rect">
            <a:avLst/>
          </a:prstGeom>
          <a:noFill/>
        </p:spPr>
        <p:txBody>
          <a:bodyPr wrap="square" rtlCol="0">
            <a:noAutofit/>
          </a:bodyPr>
          <a:lstStyle/>
          <a:p>
            <a:r>
              <a:rPr lang="zh-CN" altLang="en-US"/>
              <a:t>时间复杂度分析：</a:t>
            </a:r>
            <a:endParaRPr lang="zh-CN" altLang="en-US"/>
          </a:p>
          <a:p>
            <a:r>
              <a:rPr lang="en-US" altLang="zh-CN" sz="1400">
                <a:latin typeface="Times New Roman" panose="02020603050405020304" pitchFamily="18" charset="0"/>
                <a:cs typeface="Times New Roman" panose="02020603050405020304" pitchFamily="18" charset="0"/>
              </a:rPr>
              <a:t>T(n) = log(1)+log(2)+log(3)+...+log(n-1) = log((n-1)!)=O(nlogn)</a:t>
            </a:r>
            <a:endParaRPr lang="en-US" altLang="zh-CN" sz="1400">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p:cNvSpPr>
          <p:nvPr>
            <p:ph type="title"/>
          </p:nvPr>
        </p:nvSpPr>
        <p:spPr>
          <a:xfrm>
            <a:off x="1258888" y="333375"/>
            <a:ext cx="7793037" cy="1462088"/>
          </a:xfrm>
        </p:spPr>
        <p:txBody>
          <a:bodyPr vert="horz" wrap="square" lIns="91440" tIns="45720" rIns="91440" bIns="45720" anchor="b" anchorCtr="0"/>
          <a:lstStyle/>
          <a:p>
            <a:pPr eaLnBrk="1" hangingPunct="1">
              <a:buFont typeface="Wingdings" panose="05000000000000000000" pitchFamily="2" charset="2"/>
              <a:buNone/>
            </a:pPr>
            <a:r>
              <a:rPr lang="zh-CN" altLang="en-US" dirty="0"/>
              <a:t>1.</a:t>
            </a:r>
            <a:r>
              <a:rPr lang="en-US" altLang="zh-CN" dirty="0"/>
              <a:t>2 </a:t>
            </a:r>
            <a:r>
              <a:rPr lang="zh-CN" altLang="en-US" dirty="0"/>
              <a:t>如何实现堆</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5</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755180" y="1600518"/>
            <a:ext cx="5299075" cy="368300"/>
          </a:xfrm>
          <a:prstGeom prst="rect">
            <a:avLst/>
          </a:prstGeom>
          <a:noFill/>
        </p:spPr>
        <p:txBody>
          <a:bodyPr>
            <a:spAutoFit/>
          </a:bodyPr>
          <a:lstStyle/>
          <a:p>
            <a:pPr marR="0" defTabSz="914400">
              <a:buClrTx/>
              <a:buSzTx/>
              <a:buFontTx/>
              <a:buNone/>
              <a:defRPr/>
            </a:pPr>
            <a:r>
              <a:rPr kumimoji="0" lang="zh-CN" altLang="en-US" baseline="0" noProof="0">
                <a:solidFill>
                  <a:schemeClr val="tx2"/>
                </a:solidFill>
                <a:uFillTx/>
                <a:latin typeface="Times New Roman" panose="02020603050405020304" pitchFamily="18" charset="0"/>
                <a:cs typeface="Times New Roman" panose="02020603050405020304" pitchFamily="18" charset="0"/>
              </a:rPr>
              <a:t>①自底向上的构造方法</a:t>
            </a:r>
            <a:endParaRPr kumimoji="0" lang="zh-CN" altLang="en-US" baseline="0" noProof="0">
              <a:solidFill>
                <a:schemeClr val="tx2"/>
              </a:solidFill>
              <a:uFillTx/>
              <a:latin typeface="Times New Roman" panose="02020603050405020304" pitchFamily="18" charset="0"/>
              <a:cs typeface="Times New Roman" panose="02020603050405020304" pitchFamily="18" charset="0"/>
            </a:endParaRPr>
          </a:p>
        </p:txBody>
      </p:sp>
      <p:sp>
        <p:nvSpPr>
          <p:cNvPr id="5" name="矩形 4"/>
          <p:cNvSpPr/>
          <p:nvPr/>
        </p:nvSpPr>
        <p:spPr>
          <a:xfrm>
            <a:off x="567537" y="776511"/>
            <a:ext cx="2917825"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2" name="矩形 1"/>
          <p:cNvSpPr/>
          <p:nvPr/>
        </p:nvSpPr>
        <p:spPr>
          <a:xfrm>
            <a:off x="755180" y="1313086"/>
            <a:ext cx="2941320" cy="368300"/>
          </a:xfrm>
          <a:prstGeom prst="rect">
            <a:avLst/>
          </a:prstGeom>
        </p:spPr>
        <p:txBody>
          <a:bodyPr wrap="none">
            <a:spAutoFit/>
          </a:bodyPr>
          <a:lstStyle/>
          <a:p>
            <a:pPr algn="just">
              <a:spcBef>
                <a:spcPct val="50000"/>
              </a:spcBef>
              <a:defRPr/>
            </a:pPr>
            <a:r>
              <a:rPr lang="zh-CN" altLang="en-US" sz="1800" b="1" dirty="0">
                <a:solidFill>
                  <a:srgbClr val="FF0000"/>
                </a:solidFill>
                <a:uFillTx/>
                <a:latin typeface="Times New Roman" panose="02020603050405020304" pitchFamily="18" charset="0"/>
                <a:cs typeface="Times New Roman" panose="02020603050405020304" pitchFamily="18" charset="0"/>
              </a:rPr>
              <a:t>如何将一个数组构造成堆？</a:t>
            </a:r>
            <a:endParaRPr lang="zh-CN" altLang="en-US" sz="1800" b="1" dirty="0">
              <a:solidFill>
                <a:srgbClr val="FF0000"/>
              </a:solidFill>
              <a:uFillTx/>
              <a:latin typeface="Times New Roman" panose="02020603050405020304" pitchFamily="18" charset="0"/>
              <a:cs typeface="Times New Roman" panose="02020603050405020304" pitchFamily="18" charset="0"/>
            </a:endParaRPr>
          </a:p>
        </p:txBody>
      </p:sp>
      <p:grpSp>
        <p:nvGrpSpPr>
          <p:cNvPr id="10245" name="组合 2"/>
          <p:cNvGrpSpPr/>
          <p:nvPr/>
        </p:nvGrpSpPr>
        <p:grpSpPr>
          <a:xfrm>
            <a:off x="5862320" y="2829560"/>
            <a:ext cx="388620" cy="382270"/>
            <a:chOff x="1006488" y="2036167"/>
            <a:chExt cx="504800" cy="504056"/>
          </a:xfrm>
        </p:grpSpPr>
        <p:sp>
          <p:nvSpPr>
            <p:cNvPr id="1027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077683" y="2092692"/>
              <a:ext cx="298435" cy="404417"/>
            </a:xfrm>
            <a:prstGeom prst="rect">
              <a:avLst/>
            </a:prstGeom>
            <a:noFill/>
          </p:spPr>
          <p:txBody>
            <a:bodyPr>
              <a:sp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 name="组合 2"/>
          <p:cNvGrpSpPr/>
          <p:nvPr/>
        </p:nvGrpSpPr>
        <p:grpSpPr>
          <a:xfrm>
            <a:off x="5097780" y="3453765"/>
            <a:ext cx="396240" cy="382270"/>
            <a:chOff x="1006488" y="2036167"/>
            <a:chExt cx="514698" cy="504056"/>
          </a:xfrm>
        </p:grpSpPr>
        <p:sp>
          <p:nvSpPr>
            <p:cNvPr id="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 name="文本框 5"/>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 name="组合 6"/>
          <p:cNvGrpSpPr/>
          <p:nvPr/>
        </p:nvGrpSpPr>
        <p:grpSpPr>
          <a:xfrm>
            <a:off x="6578600" y="3453765"/>
            <a:ext cx="396240" cy="382270"/>
            <a:chOff x="1006488" y="2036167"/>
            <a:chExt cx="514698" cy="504056"/>
          </a:xfrm>
        </p:grpSpPr>
        <p:sp>
          <p:nvSpPr>
            <p:cNvPr id="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 name="文本框 8"/>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15</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 name="组合 9"/>
          <p:cNvGrpSpPr/>
          <p:nvPr/>
        </p:nvGrpSpPr>
        <p:grpSpPr>
          <a:xfrm>
            <a:off x="4568825" y="4127500"/>
            <a:ext cx="396240" cy="382270"/>
            <a:chOff x="1006488" y="2036167"/>
            <a:chExt cx="514698" cy="504056"/>
          </a:xfrm>
        </p:grpSpPr>
        <p:sp>
          <p:nvSpPr>
            <p:cNvPr id="1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 name="文本框 12"/>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 name="组合 14"/>
          <p:cNvGrpSpPr/>
          <p:nvPr/>
        </p:nvGrpSpPr>
        <p:grpSpPr>
          <a:xfrm>
            <a:off x="5499100" y="4127500"/>
            <a:ext cx="449580" cy="382270"/>
            <a:chOff x="1006488" y="2036167"/>
            <a:chExt cx="583984" cy="504056"/>
          </a:xfrm>
        </p:grpSpPr>
        <p:sp>
          <p:nvSpPr>
            <p:cNvPr id="1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8" name="文本框 17"/>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9" name="组合 18"/>
          <p:cNvGrpSpPr/>
          <p:nvPr/>
        </p:nvGrpSpPr>
        <p:grpSpPr>
          <a:xfrm>
            <a:off x="6116320" y="4119880"/>
            <a:ext cx="441960" cy="382270"/>
            <a:chOff x="1006488" y="2036167"/>
            <a:chExt cx="574086" cy="504056"/>
          </a:xfrm>
        </p:grpSpPr>
        <p:sp>
          <p:nvSpPr>
            <p:cNvPr id="2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2" name="文本框 21"/>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9</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3" name="组合 22"/>
          <p:cNvGrpSpPr/>
          <p:nvPr/>
        </p:nvGrpSpPr>
        <p:grpSpPr>
          <a:xfrm>
            <a:off x="7054215" y="4112260"/>
            <a:ext cx="449580" cy="382270"/>
            <a:chOff x="1006488" y="2036167"/>
            <a:chExt cx="583984" cy="504056"/>
          </a:xfrm>
        </p:grpSpPr>
        <p:sp>
          <p:nvSpPr>
            <p:cNvPr id="2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6" name="文本框 25"/>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7" name="组合 26"/>
          <p:cNvGrpSpPr/>
          <p:nvPr/>
        </p:nvGrpSpPr>
        <p:grpSpPr>
          <a:xfrm>
            <a:off x="4106545" y="4794250"/>
            <a:ext cx="441960" cy="382270"/>
            <a:chOff x="1006488" y="2036167"/>
            <a:chExt cx="574086" cy="504056"/>
          </a:xfrm>
        </p:grpSpPr>
        <p:sp>
          <p:nvSpPr>
            <p:cNvPr id="2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0" name="文本框 29"/>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2" name="组合 31"/>
          <p:cNvGrpSpPr/>
          <p:nvPr/>
        </p:nvGrpSpPr>
        <p:grpSpPr>
          <a:xfrm>
            <a:off x="5036820" y="4786630"/>
            <a:ext cx="449580" cy="382270"/>
            <a:chOff x="1006488" y="2036167"/>
            <a:chExt cx="583984" cy="504056"/>
          </a:xfrm>
        </p:grpSpPr>
        <p:sp>
          <p:nvSpPr>
            <p:cNvPr id="3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5" name="文本框 34"/>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9" name="文本框 38"/>
          <p:cNvSpPr txBox="1"/>
          <p:nvPr/>
        </p:nvSpPr>
        <p:spPr>
          <a:xfrm>
            <a:off x="967740" y="2060575"/>
            <a:ext cx="7132320" cy="401320"/>
          </a:xfrm>
          <a:prstGeom prst="rect">
            <a:avLst/>
          </a:prstGeom>
          <a:noFill/>
        </p:spPr>
        <p:txBody>
          <a:bodyPr wrap="square" rtlCol="0" anchor="t">
            <a:noAutofit/>
          </a:bodyPr>
          <a:lstStyle/>
          <a:p>
            <a:pPr marR="0" defTabSz="914400">
              <a:buClrTx/>
              <a:buSzTx/>
              <a:buFontTx/>
              <a:buNone/>
              <a:defRPr/>
            </a:pPr>
            <a:r>
              <a:rPr lang="zh-CN" altLang="en-US" noProof="0">
                <a:solidFill>
                  <a:schemeClr val="tx2"/>
                </a:solidFill>
                <a:uFillTx/>
                <a:latin typeface="Times New Roman" panose="02020603050405020304" pitchFamily="18" charset="0"/>
                <a:cs typeface="Times New Roman" panose="02020603050405020304" pitchFamily="18" charset="0"/>
                <a:sym typeface="+mn-ea"/>
              </a:rPr>
              <a:t>待重构的堆：</a:t>
            </a:r>
            <a:r>
              <a:rPr lang="en-US" altLang="zh-CN" noProof="0">
                <a:solidFill>
                  <a:schemeClr val="tx2"/>
                </a:solidFill>
                <a:uFillTx/>
                <a:latin typeface="Times New Roman" panose="02020603050405020304" pitchFamily="18" charset="0"/>
                <a:cs typeface="Times New Roman" panose="02020603050405020304" pitchFamily="18" charset="0"/>
                <a:sym typeface="+mn-ea"/>
              </a:rPr>
              <a:t>[8,10,15,17,7,9,3,2,4]</a:t>
            </a:r>
            <a:r>
              <a:rPr lang="zh-CN" altLang="en-US" noProof="0">
                <a:solidFill>
                  <a:schemeClr val="tx2"/>
                </a:solidFill>
                <a:uFillTx/>
                <a:latin typeface="Times New Roman" panose="02020603050405020304" pitchFamily="18" charset="0"/>
                <a:cs typeface="Times New Roman" panose="02020603050405020304" pitchFamily="18" charset="0"/>
                <a:sym typeface="+mn-ea"/>
              </a:rPr>
              <a:t>，定义</a:t>
            </a:r>
            <a:r>
              <a:rPr lang="en-US" altLang="zh-CN" noProof="0">
                <a:solidFill>
                  <a:schemeClr val="tx2"/>
                </a:solidFill>
                <a:uFillTx/>
                <a:latin typeface="Times New Roman" panose="02020603050405020304" pitchFamily="18" charset="0"/>
                <a:cs typeface="Times New Roman" panose="02020603050405020304" pitchFamily="18" charset="0"/>
                <a:sym typeface="+mn-ea"/>
              </a:rPr>
              <a:t>i</a:t>
            </a:r>
            <a:r>
              <a:rPr lang="zh-CN" altLang="en-US" noProof="0">
                <a:solidFill>
                  <a:schemeClr val="tx2"/>
                </a:solidFill>
                <a:uFillTx/>
                <a:latin typeface="Times New Roman" panose="02020603050405020304" pitchFamily="18" charset="0"/>
                <a:cs typeface="Times New Roman" panose="02020603050405020304" pitchFamily="18" charset="0"/>
                <a:sym typeface="+mn-ea"/>
              </a:rPr>
              <a:t>指针，指向重构节点，定义</a:t>
            </a:r>
            <a:r>
              <a:rPr lang="en-US" altLang="zh-CN" noProof="0">
                <a:solidFill>
                  <a:schemeClr val="tx2"/>
                </a:solidFill>
                <a:uFillTx/>
                <a:latin typeface="Times New Roman" panose="02020603050405020304" pitchFamily="18" charset="0"/>
                <a:cs typeface="Times New Roman" panose="02020603050405020304" pitchFamily="18" charset="0"/>
                <a:sym typeface="+mn-ea"/>
              </a:rPr>
              <a:t>k</a:t>
            </a:r>
            <a:r>
              <a:rPr lang="zh-CN" altLang="en-US" noProof="0">
                <a:solidFill>
                  <a:schemeClr val="tx2"/>
                </a:solidFill>
                <a:uFillTx/>
                <a:latin typeface="Times New Roman" panose="02020603050405020304" pitchFamily="18" charset="0"/>
                <a:cs typeface="Times New Roman" panose="02020603050405020304" pitchFamily="18" charset="0"/>
                <a:sym typeface="+mn-ea"/>
              </a:rPr>
              <a:t>表示待交换节点。</a:t>
            </a:r>
            <a:endParaRPr lang="zh-CN" altLang="en-US" noProof="0">
              <a:solidFill>
                <a:schemeClr val="tx2"/>
              </a:solidFill>
              <a:uFillTx/>
              <a:latin typeface="Times New Roman" panose="02020603050405020304" pitchFamily="18" charset="0"/>
              <a:cs typeface="Times New Roman" panose="02020603050405020304" pitchFamily="18" charset="0"/>
              <a:sym typeface="+mn-ea"/>
            </a:endParaRPr>
          </a:p>
        </p:txBody>
      </p:sp>
      <p:sp>
        <p:nvSpPr>
          <p:cNvPr id="41" name="矩形 40"/>
          <p:cNvSpPr/>
          <p:nvPr/>
        </p:nvSpPr>
        <p:spPr>
          <a:xfrm>
            <a:off x="594360" y="3429000"/>
            <a:ext cx="3282950" cy="647700"/>
          </a:xfrm>
          <a:prstGeom prst="rect">
            <a:avLst/>
          </a:prstGeom>
        </p:spPr>
        <p:txBody>
          <a:bodyPr wrap="none">
            <a:noAutofit/>
          </a:bodyPr>
          <a:lstStyle/>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①</a:t>
            </a:r>
            <a:r>
              <a:rPr lang="en-US" altLang="zh-CN" sz="1400" b="1" dirty="0">
                <a:solidFill>
                  <a:srgbClr val="FF0000"/>
                </a:solidFill>
                <a:uFillTx/>
                <a:latin typeface="Times New Roman" panose="02020603050405020304" pitchFamily="18" charset="0"/>
                <a:cs typeface="Times New Roman" panose="02020603050405020304" pitchFamily="18" charset="0"/>
              </a:rPr>
              <a:t>i</a:t>
            </a:r>
            <a:r>
              <a:rPr lang="zh-CN" altLang="en-US" sz="1400" b="1" dirty="0">
                <a:solidFill>
                  <a:srgbClr val="FF0000"/>
                </a:solidFill>
                <a:uFillTx/>
                <a:latin typeface="Times New Roman" panose="02020603050405020304" pitchFamily="18" charset="0"/>
                <a:cs typeface="Times New Roman" panose="02020603050405020304" pitchFamily="18" charset="0"/>
              </a:rPr>
              <a:t>指针指向一个待重构的节点，判断该</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节点是否为叶节点，是叶节点则</a:t>
            </a:r>
            <a:r>
              <a:rPr lang="en-US" altLang="zh-CN" sz="1400" b="1" dirty="0">
                <a:solidFill>
                  <a:srgbClr val="FF0000"/>
                </a:solidFill>
                <a:uFillTx/>
                <a:latin typeface="Times New Roman" panose="02020603050405020304" pitchFamily="18" charset="0"/>
                <a:cs typeface="Times New Roman" panose="02020603050405020304" pitchFamily="18" charset="0"/>
              </a:rPr>
              <a:t>i</a:t>
            </a:r>
            <a:r>
              <a:rPr lang="zh-CN" altLang="en-US" sz="1400" b="1" dirty="0">
                <a:solidFill>
                  <a:srgbClr val="FF0000"/>
                </a:solidFill>
                <a:uFillTx/>
                <a:latin typeface="Times New Roman" panose="02020603050405020304" pitchFamily="18" charset="0"/>
                <a:cs typeface="Times New Roman" panose="02020603050405020304" pitchFamily="18" charset="0"/>
              </a:rPr>
              <a:t>自减</a:t>
            </a:r>
            <a:r>
              <a:rPr lang="en-US" altLang="zh-CN" sz="1400" b="1" dirty="0">
                <a:solidFill>
                  <a:srgbClr val="FF0000"/>
                </a:solidFill>
                <a:uFillTx/>
                <a:latin typeface="Times New Roman" panose="02020603050405020304" pitchFamily="18" charset="0"/>
                <a:cs typeface="Times New Roman" panose="02020603050405020304" pitchFamily="18" charset="0"/>
              </a:rPr>
              <a:t>1</a:t>
            </a:r>
            <a:r>
              <a:rPr lang="zh-CN" altLang="en-US" sz="1400" b="1" dirty="0">
                <a:solidFill>
                  <a:srgbClr val="FF0000"/>
                </a:solidFill>
                <a:uFillTx/>
                <a:latin typeface="Times New Roman" panose="02020603050405020304" pitchFamily="18" charset="0"/>
                <a:cs typeface="Times New Roman" panose="02020603050405020304" pitchFamily="18" charset="0"/>
              </a:rPr>
              <a:t>。</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否则与最大子节点交换。</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p:txBody>
      </p:sp>
      <p:cxnSp>
        <p:nvCxnSpPr>
          <p:cNvPr id="52" name="直接箭头连接符 51"/>
          <p:cNvCxnSpPr/>
          <p:nvPr/>
        </p:nvCxnSpPr>
        <p:spPr>
          <a:xfrm>
            <a:off x="4737735" y="486918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3" name="文本框 52"/>
          <p:cNvSpPr txBox="1"/>
          <p:nvPr/>
        </p:nvSpPr>
        <p:spPr>
          <a:xfrm>
            <a:off x="4572000" y="467741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56" name="直接连接符 55"/>
          <p:cNvCxnSpPr>
            <a:stCxn id="10279" idx="4"/>
          </p:cNvCxnSpPr>
          <p:nvPr/>
        </p:nvCxnSpPr>
        <p:spPr>
          <a:xfrm flipH="1">
            <a:off x="6042025" y="321183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7" name="直接连接符 56"/>
          <p:cNvCxnSpPr/>
          <p:nvPr/>
        </p:nvCxnSpPr>
        <p:spPr>
          <a:xfrm>
            <a:off x="5295265" y="3348990"/>
            <a:ext cx="1508760"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8" name="直接箭头连接符 57"/>
          <p:cNvCxnSpPr/>
          <p:nvPr/>
        </p:nvCxnSpPr>
        <p:spPr>
          <a:xfrm flipH="1">
            <a:off x="5295265" y="3341370"/>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9" name="直接箭头连接符 58"/>
          <p:cNvCxnSpPr/>
          <p:nvPr/>
        </p:nvCxnSpPr>
        <p:spPr>
          <a:xfrm flipH="1">
            <a:off x="6804025" y="3345180"/>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0" name="直接连接符 59"/>
          <p:cNvCxnSpPr/>
          <p:nvPr/>
        </p:nvCxnSpPr>
        <p:spPr>
          <a:xfrm flipH="1">
            <a:off x="5292090" y="384683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1" name="直接连接符 60"/>
          <p:cNvCxnSpPr/>
          <p:nvPr/>
        </p:nvCxnSpPr>
        <p:spPr>
          <a:xfrm flipV="1">
            <a:off x="4784090" y="398145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2" name="直接箭头连接符 61"/>
          <p:cNvCxnSpPr/>
          <p:nvPr/>
        </p:nvCxnSpPr>
        <p:spPr>
          <a:xfrm flipH="1">
            <a:off x="4791710" y="399034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3" name="直接箭头连接符 62"/>
          <p:cNvCxnSpPr/>
          <p:nvPr/>
        </p:nvCxnSpPr>
        <p:spPr>
          <a:xfrm flipH="1">
            <a:off x="5716270" y="398018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4" name="直接连接符 63"/>
          <p:cNvCxnSpPr/>
          <p:nvPr/>
        </p:nvCxnSpPr>
        <p:spPr>
          <a:xfrm flipH="1">
            <a:off x="6790055" y="383794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5" name="直接连接符 64"/>
          <p:cNvCxnSpPr/>
          <p:nvPr/>
        </p:nvCxnSpPr>
        <p:spPr>
          <a:xfrm flipV="1">
            <a:off x="6320155" y="397256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6" name="直接箭头连接符 65"/>
          <p:cNvCxnSpPr/>
          <p:nvPr/>
        </p:nvCxnSpPr>
        <p:spPr>
          <a:xfrm flipH="1">
            <a:off x="6320155" y="397383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7" name="直接箭头连接符 66"/>
          <p:cNvCxnSpPr/>
          <p:nvPr/>
        </p:nvCxnSpPr>
        <p:spPr>
          <a:xfrm flipH="1">
            <a:off x="7252335" y="397129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8" name="直接连接符 67"/>
          <p:cNvCxnSpPr/>
          <p:nvPr/>
        </p:nvCxnSpPr>
        <p:spPr>
          <a:xfrm flipH="1">
            <a:off x="4768215" y="451612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9" name="直接连接符 68"/>
          <p:cNvCxnSpPr/>
          <p:nvPr/>
        </p:nvCxnSpPr>
        <p:spPr>
          <a:xfrm flipV="1">
            <a:off x="4298315" y="465074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0" name="直接箭头连接符 69"/>
          <p:cNvCxnSpPr/>
          <p:nvPr/>
        </p:nvCxnSpPr>
        <p:spPr>
          <a:xfrm flipH="1">
            <a:off x="4298315" y="465201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71" name="直接箭头连接符 70"/>
          <p:cNvCxnSpPr/>
          <p:nvPr/>
        </p:nvCxnSpPr>
        <p:spPr>
          <a:xfrm flipH="1">
            <a:off x="5230495" y="464947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0" name="直接箭头连接符 19"/>
          <p:cNvCxnSpPr/>
          <p:nvPr/>
        </p:nvCxnSpPr>
        <p:spPr>
          <a:xfrm>
            <a:off x="3779520" y="486918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24" name="文本框 23"/>
          <p:cNvSpPr txBox="1"/>
          <p:nvPr/>
        </p:nvSpPr>
        <p:spPr>
          <a:xfrm>
            <a:off x="3613785" y="467741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28" name="直接箭头连接符 27"/>
          <p:cNvCxnSpPr/>
          <p:nvPr/>
        </p:nvCxnSpPr>
        <p:spPr>
          <a:xfrm>
            <a:off x="6760845" y="414083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1" name="文本框 30"/>
          <p:cNvSpPr txBox="1"/>
          <p:nvPr/>
        </p:nvSpPr>
        <p:spPr>
          <a:xfrm>
            <a:off x="6595110" y="394906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34" name="直接箭头连接符 33"/>
          <p:cNvCxnSpPr/>
          <p:nvPr/>
        </p:nvCxnSpPr>
        <p:spPr>
          <a:xfrm flipV="1">
            <a:off x="6308725" y="4497705"/>
            <a:ext cx="0" cy="2590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7" name="文本框 36"/>
          <p:cNvSpPr txBox="1"/>
          <p:nvPr/>
        </p:nvSpPr>
        <p:spPr>
          <a:xfrm>
            <a:off x="6188075" y="468693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40" name="直接箭头连接符 39"/>
          <p:cNvCxnSpPr/>
          <p:nvPr/>
        </p:nvCxnSpPr>
        <p:spPr>
          <a:xfrm>
            <a:off x="5219700" y="4220845"/>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6" name="文本框 45"/>
          <p:cNvSpPr txBox="1"/>
          <p:nvPr/>
        </p:nvSpPr>
        <p:spPr>
          <a:xfrm>
            <a:off x="5031105" y="402336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49" name="直接箭头连接符 48"/>
          <p:cNvCxnSpPr/>
          <p:nvPr/>
        </p:nvCxnSpPr>
        <p:spPr>
          <a:xfrm>
            <a:off x="4273550" y="4218940"/>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0" name="文本框 49"/>
          <p:cNvSpPr txBox="1"/>
          <p:nvPr/>
        </p:nvSpPr>
        <p:spPr>
          <a:xfrm>
            <a:off x="4084955" y="402145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51" name="直接箭头连接符 50"/>
          <p:cNvCxnSpPr/>
          <p:nvPr/>
        </p:nvCxnSpPr>
        <p:spPr>
          <a:xfrm>
            <a:off x="6320155" y="3500755"/>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72" name="文本框 71"/>
          <p:cNvSpPr txBox="1"/>
          <p:nvPr/>
        </p:nvSpPr>
        <p:spPr>
          <a:xfrm>
            <a:off x="6131560" y="330327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73" name="直接箭头连接符 72"/>
          <p:cNvCxnSpPr/>
          <p:nvPr/>
        </p:nvCxnSpPr>
        <p:spPr>
          <a:xfrm>
            <a:off x="4859655" y="3502660"/>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74" name="文本框 73"/>
          <p:cNvSpPr txBox="1"/>
          <p:nvPr/>
        </p:nvSpPr>
        <p:spPr>
          <a:xfrm>
            <a:off x="4671060" y="330517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sp>
        <p:nvSpPr>
          <p:cNvPr id="75" name="文本框 74"/>
          <p:cNvSpPr txBox="1"/>
          <p:nvPr/>
        </p:nvSpPr>
        <p:spPr>
          <a:xfrm>
            <a:off x="613410" y="4234815"/>
            <a:ext cx="3595370" cy="521970"/>
          </a:xfrm>
          <a:prstGeom prst="rect">
            <a:avLst/>
          </a:prstGeom>
          <a:noFill/>
        </p:spPr>
        <p:txBody>
          <a:bodyPr wrap="square" rtlCol="0" anchor="t">
            <a:noAutofit/>
          </a:bodyPr>
          <a:lstStyle/>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sym typeface="+mn-ea"/>
              </a:rPr>
              <a:t>②然后继续让交换的子节点重复①步骤，</a:t>
            </a:r>
            <a:endParaRPr lang="zh-CN" altLang="en-US" sz="1400" b="1" dirty="0">
              <a:solidFill>
                <a:srgbClr val="FF0000"/>
              </a:solidFill>
              <a:uFillTx/>
              <a:latin typeface="Times New Roman" panose="02020603050405020304" pitchFamily="18" charset="0"/>
              <a:cs typeface="Times New Roman" panose="02020603050405020304" pitchFamily="18" charset="0"/>
              <a:sym typeface="+mn-ea"/>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sym typeface="+mn-ea"/>
              </a:rPr>
              <a:t>也就是一个递归的过程。</a:t>
            </a:r>
            <a:endParaRPr lang="zh-CN" altLang="en-US" sz="1400" b="1" dirty="0">
              <a:solidFill>
                <a:srgbClr val="FF0000"/>
              </a:solidFill>
              <a:uFillTx/>
              <a:latin typeface="Times New Roman" panose="02020603050405020304" pitchFamily="18" charset="0"/>
              <a:cs typeface="Times New Roman" panose="02020603050405020304" pitchFamily="18" charset="0"/>
              <a:sym typeface="+mn-ea"/>
            </a:endParaRPr>
          </a:p>
        </p:txBody>
      </p:sp>
      <p:cxnSp>
        <p:nvCxnSpPr>
          <p:cNvPr id="76" name="直接箭头连接符 75"/>
          <p:cNvCxnSpPr/>
          <p:nvPr/>
        </p:nvCxnSpPr>
        <p:spPr>
          <a:xfrm>
            <a:off x="5579745" y="2924810"/>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77" name="文本框 76"/>
          <p:cNvSpPr txBox="1"/>
          <p:nvPr/>
        </p:nvSpPr>
        <p:spPr>
          <a:xfrm>
            <a:off x="5391150" y="272732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sp>
        <p:nvSpPr>
          <p:cNvPr id="78" name="文本框 77"/>
          <p:cNvSpPr txBox="1"/>
          <p:nvPr/>
        </p:nvSpPr>
        <p:spPr>
          <a:xfrm>
            <a:off x="683260" y="5373370"/>
            <a:ext cx="8096885" cy="560070"/>
          </a:xfrm>
          <a:prstGeom prst="rect">
            <a:avLst/>
          </a:prstGeom>
          <a:noFill/>
        </p:spPr>
        <p:txBody>
          <a:bodyPr wrap="square" rtlCol="0">
            <a:noAutofit/>
          </a:bodyPr>
          <a:lstStyle/>
          <a:p>
            <a:r>
              <a:rPr lang="zh-CN" altLang="en-US">
                <a:solidFill>
                  <a:srgbClr val="FF0000"/>
                </a:solidFill>
              </a:rPr>
              <a:t>时间复杂度分析：</a:t>
            </a:r>
            <a:endParaRPr lang="zh-CN" altLang="en-US">
              <a:solidFill>
                <a:srgbClr val="FF0000"/>
              </a:solidFill>
            </a:endParaRPr>
          </a:p>
          <a:p>
            <a:r>
              <a:rPr lang="en-US" altLang="zh-CN" sz="1400">
                <a:solidFill>
                  <a:srgbClr val="FF0000"/>
                </a:solidFill>
                <a:latin typeface="Times New Roman" panose="02020603050405020304" pitchFamily="18" charset="0"/>
                <a:cs typeface="Times New Roman" panose="02020603050405020304" pitchFamily="18" charset="0"/>
              </a:rPr>
              <a:t>T(n) = 0 </a:t>
            </a:r>
            <a:r>
              <a:rPr lang="en-US" altLang="en-US" sz="1400">
                <a:solidFill>
                  <a:srgbClr val="FF0000"/>
                </a:solidFill>
                <a:latin typeface="Times New Roman" panose="02020603050405020304" pitchFamily="18" charset="0"/>
                <a:cs typeface="Times New Roman" panose="02020603050405020304" pitchFamily="18" charset="0"/>
              </a:rPr>
              <a:t>×</a:t>
            </a:r>
            <a:r>
              <a:rPr lang="en-US" altLang="zh-CN" sz="1400">
                <a:solidFill>
                  <a:srgbClr val="FF0000"/>
                </a:solidFill>
                <a:latin typeface="Times New Roman" panose="02020603050405020304" pitchFamily="18" charset="0"/>
                <a:cs typeface="Times New Roman" panose="02020603050405020304" pitchFamily="18" charset="0"/>
              </a:rPr>
              <a:t> n/2 + 1 </a:t>
            </a:r>
            <a:r>
              <a:rPr lang="en-US" altLang="en-US" sz="1400">
                <a:solidFill>
                  <a:srgbClr val="FF0000"/>
                </a:solidFill>
                <a:latin typeface="Times New Roman" panose="02020603050405020304" pitchFamily="18" charset="0"/>
                <a:cs typeface="Times New Roman" panose="02020603050405020304" pitchFamily="18" charset="0"/>
              </a:rPr>
              <a:t>×</a:t>
            </a:r>
            <a:r>
              <a:rPr lang="en-US" altLang="zh-CN" sz="1400">
                <a:solidFill>
                  <a:srgbClr val="FF0000"/>
                </a:solidFill>
                <a:latin typeface="Times New Roman" panose="02020603050405020304" pitchFamily="18" charset="0"/>
                <a:cs typeface="Times New Roman" panose="02020603050405020304" pitchFamily="18" charset="0"/>
              </a:rPr>
              <a:t> n/4 + 2 </a:t>
            </a:r>
            <a:r>
              <a:rPr lang="en-US" altLang="en-US" sz="1400">
                <a:solidFill>
                  <a:srgbClr val="FF0000"/>
                </a:solidFill>
                <a:latin typeface="Times New Roman" panose="02020603050405020304" pitchFamily="18" charset="0"/>
                <a:cs typeface="Times New Roman" panose="02020603050405020304" pitchFamily="18" charset="0"/>
              </a:rPr>
              <a:t>×</a:t>
            </a:r>
            <a:r>
              <a:rPr lang="en-US" altLang="zh-CN" sz="1400">
                <a:solidFill>
                  <a:srgbClr val="FF0000"/>
                </a:solidFill>
                <a:latin typeface="Times New Roman" panose="02020603050405020304" pitchFamily="18" charset="0"/>
                <a:cs typeface="Times New Roman" panose="02020603050405020304" pitchFamily="18" charset="0"/>
              </a:rPr>
              <a:t> n/8 + ... + h </a:t>
            </a:r>
            <a:r>
              <a:rPr lang="en-US" altLang="en-US" sz="1400">
                <a:solidFill>
                  <a:srgbClr val="FF0000"/>
                </a:solidFill>
                <a:latin typeface="Times New Roman" panose="02020603050405020304" pitchFamily="18" charset="0"/>
                <a:cs typeface="Times New Roman" panose="02020603050405020304" pitchFamily="18" charset="0"/>
              </a:rPr>
              <a:t>×</a:t>
            </a:r>
            <a:r>
              <a:rPr lang="en-US" altLang="zh-CN" sz="1400">
                <a:solidFill>
                  <a:srgbClr val="FF0000"/>
                </a:solidFill>
                <a:latin typeface="Times New Roman" panose="02020603050405020304" pitchFamily="18" charset="0"/>
                <a:cs typeface="Times New Roman" panose="02020603050405020304" pitchFamily="18" charset="0"/>
              </a:rPr>
              <a:t> 1= n </a:t>
            </a:r>
            <a:r>
              <a:rPr lang="en-US" altLang="en-US" sz="1400">
                <a:solidFill>
                  <a:srgbClr val="FF0000"/>
                </a:solidFill>
                <a:latin typeface="Times New Roman" panose="02020603050405020304" pitchFamily="18" charset="0"/>
                <a:cs typeface="Times New Roman" panose="02020603050405020304" pitchFamily="18" charset="0"/>
              </a:rPr>
              <a:t>×</a:t>
            </a:r>
            <a:r>
              <a:rPr lang="en-US" altLang="zh-CN" sz="1400">
                <a:solidFill>
                  <a:srgbClr val="FF0000"/>
                </a:solidFill>
                <a:latin typeface="Times New Roman" panose="02020603050405020304" pitchFamily="18" charset="0"/>
                <a:cs typeface="Times New Roman" panose="02020603050405020304" pitchFamily="18" charset="0"/>
              </a:rPr>
              <a:t> (1/4 + 2/8 + 3/16 + ...)=O(n)</a:t>
            </a:r>
            <a:endParaRPr lang="en-US" altLang="zh-CN" sz="1400">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 calcmode="lin" valueType="num">
                                      <p:cBhvr additive="base">
                                        <p:cTn id="7" dur="500" fill="hold"/>
                                        <p:tgtEl>
                                          <p:spTgt spid="52"/>
                                        </p:tgtEl>
                                        <p:attrNameLst>
                                          <p:attrName>ppt_x</p:attrName>
                                        </p:attrNameLst>
                                      </p:cBhvr>
                                      <p:tavLst>
                                        <p:tav tm="0">
                                          <p:val>
                                            <p:strVal val="0-#ppt_w/2"/>
                                          </p:val>
                                        </p:tav>
                                        <p:tav tm="100000">
                                          <p:val>
                                            <p:strVal val="#ppt_x"/>
                                          </p:val>
                                        </p:tav>
                                      </p:tavLst>
                                    </p:anim>
                                    <p:anim calcmode="lin" valueType="num">
                                      <p:cBhvr additive="base">
                                        <p:cTn id="8" dur="500" fill="hold"/>
                                        <p:tgtEl>
                                          <p:spTgt spid="52"/>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53"/>
                                        </p:tgtEl>
                                        <p:attrNameLst>
                                          <p:attrName>style.visibility</p:attrName>
                                        </p:attrNameLst>
                                      </p:cBhvr>
                                      <p:to>
                                        <p:strVal val="visible"/>
                                      </p:to>
                                    </p:set>
                                    <p:anim calcmode="lin" valueType="num">
                                      <p:cBhvr additive="base">
                                        <p:cTn id="11" dur="500" fill="hold"/>
                                        <p:tgtEl>
                                          <p:spTgt spid="53"/>
                                        </p:tgtEl>
                                        <p:attrNameLst>
                                          <p:attrName>ppt_x</p:attrName>
                                        </p:attrNameLst>
                                      </p:cBhvr>
                                      <p:tavLst>
                                        <p:tav tm="0">
                                          <p:val>
                                            <p:strVal val="0-#ppt_w/2"/>
                                          </p:val>
                                        </p:tav>
                                        <p:tav tm="100000">
                                          <p:val>
                                            <p:strVal val="#ppt_x"/>
                                          </p:val>
                                        </p:tav>
                                      </p:tavLst>
                                    </p:anim>
                                    <p:anim calcmode="lin" valueType="num">
                                      <p:cBhvr additive="base">
                                        <p:cTn id="12" dur="500" fill="hold"/>
                                        <p:tgtEl>
                                          <p:spTgt spid="53"/>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nodeType="clickEffect">
                                  <p:stCondLst>
                                    <p:cond delay="0"/>
                                  </p:stCondLst>
                                  <p:childTnLst>
                                    <p:anim calcmode="lin" valueType="num">
                                      <p:cBhvr additive="base">
                                        <p:cTn id="16" dur="500"/>
                                        <p:tgtEl>
                                          <p:spTgt spid="52"/>
                                        </p:tgtEl>
                                        <p:attrNameLst>
                                          <p:attrName>ppt_x</p:attrName>
                                        </p:attrNameLst>
                                      </p:cBhvr>
                                      <p:tavLst>
                                        <p:tav tm="0">
                                          <p:val>
                                            <p:strVal val="ppt_x"/>
                                          </p:val>
                                        </p:tav>
                                        <p:tav tm="100000">
                                          <p:val>
                                            <p:strVal val="0-ppt_w/2"/>
                                          </p:val>
                                        </p:tav>
                                      </p:tavLst>
                                    </p:anim>
                                    <p:anim calcmode="lin" valueType="num">
                                      <p:cBhvr additive="base">
                                        <p:cTn id="17" dur="500"/>
                                        <p:tgtEl>
                                          <p:spTgt spid="52"/>
                                        </p:tgtEl>
                                        <p:attrNameLst>
                                          <p:attrName>ppt_y</p:attrName>
                                        </p:attrNameLst>
                                      </p:cBhvr>
                                      <p:tavLst>
                                        <p:tav tm="0">
                                          <p:val>
                                            <p:strVal val="ppt_y"/>
                                          </p:val>
                                        </p:tav>
                                        <p:tav tm="100000">
                                          <p:val>
                                            <p:strVal val="ppt_y"/>
                                          </p:val>
                                        </p:tav>
                                      </p:tavLst>
                                    </p:anim>
                                    <p:set>
                                      <p:cBhvr>
                                        <p:cTn id="18" dur="1" fill="hold">
                                          <p:stCondLst>
                                            <p:cond delay="499"/>
                                          </p:stCondLst>
                                        </p:cTn>
                                        <p:tgtEl>
                                          <p:spTgt spid="52"/>
                                        </p:tgtEl>
                                        <p:attrNameLst>
                                          <p:attrName>style.visibility</p:attrName>
                                        </p:attrNameLst>
                                      </p:cBhvr>
                                      <p:to>
                                        <p:strVal val="hidden"/>
                                      </p:to>
                                    </p:set>
                                  </p:childTnLst>
                                </p:cTn>
                              </p:par>
                              <p:par>
                                <p:cTn id="19" presetID="2" presetClass="exit" presetSubtype="8" fill="hold" grpId="2" nodeType="withEffect">
                                  <p:stCondLst>
                                    <p:cond delay="0"/>
                                  </p:stCondLst>
                                  <p:childTnLst>
                                    <p:anim calcmode="lin" valueType="num">
                                      <p:cBhvr additive="base">
                                        <p:cTn id="20" dur="500"/>
                                        <p:tgtEl>
                                          <p:spTgt spid="53"/>
                                        </p:tgtEl>
                                        <p:attrNameLst>
                                          <p:attrName>ppt_x</p:attrName>
                                        </p:attrNameLst>
                                      </p:cBhvr>
                                      <p:tavLst>
                                        <p:tav tm="0">
                                          <p:val>
                                            <p:strVal val="ppt_x"/>
                                          </p:val>
                                        </p:tav>
                                        <p:tav tm="100000">
                                          <p:val>
                                            <p:strVal val="0-ppt_w/2"/>
                                          </p:val>
                                        </p:tav>
                                      </p:tavLst>
                                    </p:anim>
                                    <p:anim calcmode="lin" valueType="num">
                                      <p:cBhvr additive="base">
                                        <p:cTn id="21" dur="500"/>
                                        <p:tgtEl>
                                          <p:spTgt spid="53"/>
                                        </p:tgtEl>
                                        <p:attrNameLst>
                                          <p:attrName>ppt_y</p:attrName>
                                        </p:attrNameLst>
                                      </p:cBhvr>
                                      <p:tavLst>
                                        <p:tav tm="0">
                                          <p:val>
                                            <p:strVal val="ppt_y"/>
                                          </p:val>
                                        </p:tav>
                                        <p:tav tm="100000">
                                          <p:val>
                                            <p:strVal val="ppt_y"/>
                                          </p:val>
                                        </p:tav>
                                      </p:tavLst>
                                    </p:anim>
                                    <p:set>
                                      <p:cBhvr>
                                        <p:cTn id="22" dur="1" fill="hold">
                                          <p:stCondLst>
                                            <p:cond delay="499"/>
                                          </p:stCondLst>
                                        </p:cTn>
                                        <p:tgtEl>
                                          <p:spTgt spid="53"/>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 calcmode="lin" valueType="num">
                                      <p:cBhvr additive="base">
                                        <p:cTn id="27" dur="500" fill="hold"/>
                                        <p:tgtEl>
                                          <p:spTgt spid="20"/>
                                        </p:tgtEl>
                                        <p:attrNameLst>
                                          <p:attrName>ppt_x</p:attrName>
                                        </p:attrNameLst>
                                      </p:cBhvr>
                                      <p:tavLst>
                                        <p:tav tm="0">
                                          <p:val>
                                            <p:strVal val="0-#ppt_w/2"/>
                                          </p:val>
                                        </p:tav>
                                        <p:tav tm="100000">
                                          <p:val>
                                            <p:strVal val="#ppt_x"/>
                                          </p:val>
                                        </p:tav>
                                      </p:tavLst>
                                    </p:anim>
                                    <p:anim calcmode="lin" valueType="num">
                                      <p:cBhvr additive="base">
                                        <p:cTn id="28" dur="500" fill="hold"/>
                                        <p:tgtEl>
                                          <p:spTgt spid="2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24"/>
                                        </p:tgtEl>
                                        <p:attrNameLst>
                                          <p:attrName>style.visibility</p:attrName>
                                        </p:attrNameLst>
                                      </p:cBhvr>
                                      <p:to>
                                        <p:strVal val="visible"/>
                                      </p:to>
                                    </p:set>
                                    <p:anim calcmode="lin" valueType="num">
                                      <p:cBhvr additive="base">
                                        <p:cTn id="31" dur="500" fill="hold"/>
                                        <p:tgtEl>
                                          <p:spTgt spid="24"/>
                                        </p:tgtEl>
                                        <p:attrNameLst>
                                          <p:attrName>ppt_x</p:attrName>
                                        </p:attrNameLst>
                                      </p:cBhvr>
                                      <p:tavLst>
                                        <p:tav tm="0">
                                          <p:val>
                                            <p:strVal val="0-#ppt_w/2"/>
                                          </p:val>
                                        </p:tav>
                                        <p:tav tm="100000">
                                          <p:val>
                                            <p:strVal val="#ppt_x"/>
                                          </p:val>
                                        </p:tav>
                                      </p:tavLst>
                                    </p:anim>
                                    <p:anim calcmode="lin" valueType="num">
                                      <p:cBhvr additive="base">
                                        <p:cTn id="32" dur="500" fill="hold"/>
                                        <p:tgtEl>
                                          <p:spTgt spid="24"/>
                                        </p:tgtEl>
                                        <p:attrNameLst>
                                          <p:attrName>ppt_y</p:attrName>
                                        </p:attrNameLst>
                                      </p:cBhvr>
                                      <p:tavLst>
                                        <p:tav tm="0">
                                          <p:val>
                                            <p:strVal val="#ppt_y"/>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xit" presetSubtype="8" fill="hold" nodeType="clickEffect">
                                  <p:stCondLst>
                                    <p:cond delay="0"/>
                                  </p:stCondLst>
                                  <p:childTnLst>
                                    <p:anim calcmode="lin" valueType="num">
                                      <p:cBhvr additive="base">
                                        <p:cTn id="36" dur="500"/>
                                        <p:tgtEl>
                                          <p:spTgt spid="20"/>
                                        </p:tgtEl>
                                        <p:attrNameLst>
                                          <p:attrName>ppt_x</p:attrName>
                                        </p:attrNameLst>
                                      </p:cBhvr>
                                      <p:tavLst>
                                        <p:tav tm="0">
                                          <p:val>
                                            <p:strVal val="ppt_x"/>
                                          </p:val>
                                        </p:tav>
                                        <p:tav tm="100000">
                                          <p:val>
                                            <p:strVal val="0-ppt_w/2"/>
                                          </p:val>
                                        </p:tav>
                                      </p:tavLst>
                                    </p:anim>
                                    <p:anim calcmode="lin" valueType="num">
                                      <p:cBhvr additive="base">
                                        <p:cTn id="37" dur="500"/>
                                        <p:tgtEl>
                                          <p:spTgt spid="20"/>
                                        </p:tgtEl>
                                        <p:attrNameLst>
                                          <p:attrName>ppt_y</p:attrName>
                                        </p:attrNameLst>
                                      </p:cBhvr>
                                      <p:tavLst>
                                        <p:tav tm="0">
                                          <p:val>
                                            <p:strVal val="ppt_y"/>
                                          </p:val>
                                        </p:tav>
                                        <p:tav tm="100000">
                                          <p:val>
                                            <p:strVal val="ppt_y"/>
                                          </p:val>
                                        </p:tav>
                                      </p:tavLst>
                                    </p:anim>
                                    <p:set>
                                      <p:cBhvr>
                                        <p:cTn id="38" dur="1" fill="hold">
                                          <p:stCondLst>
                                            <p:cond delay="499"/>
                                          </p:stCondLst>
                                        </p:cTn>
                                        <p:tgtEl>
                                          <p:spTgt spid="20"/>
                                        </p:tgtEl>
                                        <p:attrNameLst>
                                          <p:attrName>style.visibility</p:attrName>
                                        </p:attrNameLst>
                                      </p:cBhvr>
                                      <p:to>
                                        <p:strVal val="hidden"/>
                                      </p:to>
                                    </p:set>
                                  </p:childTnLst>
                                </p:cTn>
                              </p:par>
                              <p:par>
                                <p:cTn id="39" presetID="2" presetClass="exit" presetSubtype="8" fill="hold" grpId="2" nodeType="withEffect">
                                  <p:stCondLst>
                                    <p:cond delay="0"/>
                                  </p:stCondLst>
                                  <p:childTnLst>
                                    <p:anim calcmode="lin" valueType="num">
                                      <p:cBhvr additive="base">
                                        <p:cTn id="40" dur="500"/>
                                        <p:tgtEl>
                                          <p:spTgt spid="24"/>
                                        </p:tgtEl>
                                        <p:attrNameLst>
                                          <p:attrName>ppt_x</p:attrName>
                                        </p:attrNameLst>
                                      </p:cBhvr>
                                      <p:tavLst>
                                        <p:tav tm="0">
                                          <p:val>
                                            <p:strVal val="ppt_x"/>
                                          </p:val>
                                        </p:tav>
                                        <p:tav tm="100000">
                                          <p:val>
                                            <p:strVal val="0-ppt_w/2"/>
                                          </p:val>
                                        </p:tav>
                                      </p:tavLst>
                                    </p:anim>
                                    <p:anim calcmode="lin" valueType="num">
                                      <p:cBhvr additive="base">
                                        <p:cTn id="41" dur="500"/>
                                        <p:tgtEl>
                                          <p:spTgt spid="24"/>
                                        </p:tgtEl>
                                        <p:attrNameLst>
                                          <p:attrName>ppt_y</p:attrName>
                                        </p:attrNameLst>
                                      </p:cBhvr>
                                      <p:tavLst>
                                        <p:tav tm="0">
                                          <p:val>
                                            <p:strVal val="ppt_y"/>
                                          </p:val>
                                        </p:tav>
                                        <p:tav tm="100000">
                                          <p:val>
                                            <p:strVal val="ppt_y"/>
                                          </p:val>
                                        </p:tav>
                                      </p:tavLst>
                                    </p:anim>
                                    <p:set>
                                      <p:cBhvr>
                                        <p:cTn id="42" dur="1" fill="hold">
                                          <p:stCondLst>
                                            <p:cond delay="499"/>
                                          </p:stCondLst>
                                        </p:cTn>
                                        <p:tgtEl>
                                          <p:spTgt spid="24"/>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2" presetClass="entr" presetSubtype="8"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 calcmode="lin" valueType="num">
                                      <p:cBhvr additive="base">
                                        <p:cTn id="47" dur="500" fill="hold"/>
                                        <p:tgtEl>
                                          <p:spTgt spid="28"/>
                                        </p:tgtEl>
                                        <p:attrNameLst>
                                          <p:attrName>ppt_x</p:attrName>
                                        </p:attrNameLst>
                                      </p:cBhvr>
                                      <p:tavLst>
                                        <p:tav tm="0">
                                          <p:val>
                                            <p:strVal val="0-#ppt_w/2"/>
                                          </p:val>
                                        </p:tav>
                                        <p:tav tm="100000">
                                          <p:val>
                                            <p:strVal val="#ppt_x"/>
                                          </p:val>
                                        </p:tav>
                                      </p:tavLst>
                                    </p:anim>
                                    <p:anim calcmode="lin" valueType="num">
                                      <p:cBhvr additive="base">
                                        <p:cTn id="48" dur="500" fill="hold"/>
                                        <p:tgtEl>
                                          <p:spTgt spid="28"/>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31"/>
                                        </p:tgtEl>
                                        <p:attrNameLst>
                                          <p:attrName>style.visibility</p:attrName>
                                        </p:attrNameLst>
                                      </p:cBhvr>
                                      <p:to>
                                        <p:strVal val="visible"/>
                                      </p:to>
                                    </p:set>
                                    <p:anim calcmode="lin" valueType="num">
                                      <p:cBhvr additive="base">
                                        <p:cTn id="51" dur="500" fill="hold"/>
                                        <p:tgtEl>
                                          <p:spTgt spid="31"/>
                                        </p:tgtEl>
                                        <p:attrNameLst>
                                          <p:attrName>ppt_x</p:attrName>
                                        </p:attrNameLst>
                                      </p:cBhvr>
                                      <p:tavLst>
                                        <p:tav tm="0">
                                          <p:val>
                                            <p:strVal val="0-#ppt_w/2"/>
                                          </p:val>
                                        </p:tav>
                                        <p:tav tm="100000">
                                          <p:val>
                                            <p:strVal val="#ppt_x"/>
                                          </p:val>
                                        </p:tav>
                                      </p:tavLst>
                                    </p:anim>
                                    <p:anim calcmode="lin" valueType="num">
                                      <p:cBhvr additive="base">
                                        <p:cTn id="52" dur="500" fill="hold"/>
                                        <p:tgtEl>
                                          <p:spTgt spid="31"/>
                                        </p:tgtEl>
                                        <p:attrNameLst>
                                          <p:attrName>ppt_y</p:attrName>
                                        </p:attrNameLst>
                                      </p:cBhvr>
                                      <p:tavLst>
                                        <p:tav tm="0">
                                          <p:val>
                                            <p:strVal val="#ppt_y"/>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xit" presetSubtype="8" fill="hold" nodeType="clickEffect">
                                  <p:stCondLst>
                                    <p:cond delay="0"/>
                                  </p:stCondLst>
                                  <p:childTnLst>
                                    <p:anim calcmode="lin" valueType="num">
                                      <p:cBhvr additive="base">
                                        <p:cTn id="56" dur="500"/>
                                        <p:tgtEl>
                                          <p:spTgt spid="28"/>
                                        </p:tgtEl>
                                        <p:attrNameLst>
                                          <p:attrName>ppt_x</p:attrName>
                                        </p:attrNameLst>
                                      </p:cBhvr>
                                      <p:tavLst>
                                        <p:tav tm="0">
                                          <p:val>
                                            <p:strVal val="ppt_x"/>
                                          </p:val>
                                        </p:tav>
                                        <p:tav tm="100000">
                                          <p:val>
                                            <p:strVal val="0-ppt_w/2"/>
                                          </p:val>
                                        </p:tav>
                                      </p:tavLst>
                                    </p:anim>
                                    <p:anim calcmode="lin" valueType="num">
                                      <p:cBhvr additive="base">
                                        <p:cTn id="57" dur="500"/>
                                        <p:tgtEl>
                                          <p:spTgt spid="28"/>
                                        </p:tgtEl>
                                        <p:attrNameLst>
                                          <p:attrName>ppt_y</p:attrName>
                                        </p:attrNameLst>
                                      </p:cBhvr>
                                      <p:tavLst>
                                        <p:tav tm="0">
                                          <p:val>
                                            <p:strVal val="ppt_y"/>
                                          </p:val>
                                        </p:tav>
                                        <p:tav tm="100000">
                                          <p:val>
                                            <p:strVal val="ppt_y"/>
                                          </p:val>
                                        </p:tav>
                                      </p:tavLst>
                                    </p:anim>
                                    <p:set>
                                      <p:cBhvr>
                                        <p:cTn id="58" dur="1" fill="hold">
                                          <p:stCondLst>
                                            <p:cond delay="499"/>
                                          </p:stCondLst>
                                        </p:cTn>
                                        <p:tgtEl>
                                          <p:spTgt spid="28"/>
                                        </p:tgtEl>
                                        <p:attrNameLst>
                                          <p:attrName>style.visibility</p:attrName>
                                        </p:attrNameLst>
                                      </p:cBhvr>
                                      <p:to>
                                        <p:strVal val="hidden"/>
                                      </p:to>
                                    </p:set>
                                  </p:childTnLst>
                                </p:cTn>
                              </p:par>
                              <p:par>
                                <p:cTn id="59" presetID="2" presetClass="exit" presetSubtype="8" fill="hold" grpId="2" nodeType="withEffect">
                                  <p:stCondLst>
                                    <p:cond delay="0"/>
                                  </p:stCondLst>
                                  <p:childTnLst>
                                    <p:anim calcmode="lin" valueType="num">
                                      <p:cBhvr additive="base">
                                        <p:cTn id="60" dur="500"/>
                                        <p:tgtEl>
                                          <p:spTgt spid="31"/>
                                        </p:tgtEl>
                                        <p:attrNameLst>
                                          <p:attrName>ppt_x</p:attrName>
                                        </p:attrNameLst>
                                      </p:cBhvr>
                                      <p:tavLst>
                                        <p:tav tm="0">
                                          <p:val>
                                            <p:strVal val="ppt_x"/>
                                          </p:val>
                                        </p:tav>
                                        <p:tav tm="100000">
                                          <p:val>
                                            <p:strVal val="0-ppt_w/2"/>
                                          </p:val>
                                        </p:tav>
                                      </p:tavLst>
                                    </p:anim>
                                    <p:anim calcmode="lin" valueType="num">
                                      <p:cBhvr additive="base">
                                        <p:cTn id="61" dur="500"/>
                                        <p:tgtEl>
                                          <p:spTgt spid="31"/>
                                        </p:tgtEl>
                                        <p:attrNameLst>
                                          <p:attrName>ppt_y</p:attrName>
                                        </p:attrNameLst>
                                      </p:cBhvr>
                                      <p:tavLst>
                                        <p:tav tm="0">
                                          <p:val>
                                            <p:strVal val="ppt_y"/>
                                          </p:val>
                                        </p:tav>
                                        <p:tav tm="100000">
                                          <p:val>
                                            <p:strVal val="ppt_y"/>
                                          </p:val>
                                        </p:tav>
                                      </p:tavLst>
                                    </p:anim>
                                    <p:set>
                                      <p:cBhvr>
                                        <p:cTn id="62" dur="1" fill="hold">
                                          <p:stCondLst>
                                            <p:cond delay="499"/>
                                          </p:stCondLst>
                                        </p:cTn>
                                        <p:tgtEl>
                                          <p:spTgt spid="31"/>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2" presetClass="entr" presetSubtype="8" fill="hold" nodeType="clickEffect">
                                  <p:stCondLst>
                                    <p:cond delay="0"/>
                                  </p:stCondLst>
                                  <p:childTnLst>
                                    <p:set>
                                      <p:cBhvr>
                                        <p:cTn id="66" dur="1" fill="hold">
                                          <p:stCondLst>
                                            <p:cond delay="0"/>
                                          </p:stCondLst>
                                        </p:cTn>
                                        <p:tgtEl>
                                          <p:spTgt spid="34"/>
                                        </p:tgtEl>
                                        <p:attrNameLst>
                                          <p:attrName>style.visibility</p:attrName>
                                        </p:attrNameLst>
                                      </p:cBhvr>
                                      <p:to>
                                        <p:strVal val="visible"/>
                                      </p:to>
                                    </p:set>
                                    <p:anim calcmode="lin" valueType="num">
                                      <p:cBhvr additive="base">
                                        <p:cTn id="67" dur="500" fill="hold"/>
                                        <p:tgtEl>
                                          <p:spTgt spid="34"/>
                                        </p:tgtEl>
                                        <p:attrNameLst>
                                          <p:attrName>ppt_x</p:attrName>
                                        </p:attrNameLst>
                                      </p:cBhvr>
                                      <p:tavLst>
                                        <p:tav tm="0">
                                          <p:val>
                                            <p:strVal val="0-#ppt_w/2"/>
                                          </p:val>
                                        </p:tav>
                                        <p:tav tm="100000">
                                          <p:val>
                                            <p:strVal val="#ppt_x"/>
                                          </p:val>
                                        </p:tav>
                                      </p:tavLst>
                                    </p:anim>
                                    <p:anim calcmode="lin" valueType="num">
                                      <p:cBhvr additive="base">
                                        <p:cTn id="68" dur="500" fill="hold"/>
                                        <p:tgtEl>
                                          <p:spTgt spid="34"/>
                                        </p:tgtEl>
                                        <p:attrNameLst>
                                          <p:attrName>ppt_y</p:attrName>
                                        </p:attrNameLst>
                                      </p:cBhvr>
                                      <p:tavLst>
                                        <p:tav tm="0">
                                          <p:val>
                                            <p:strVal val="#ppt_y"/>
                                          </p:val>
                                        </p:tav>
                                        <p:tav tm="100000">
                                          <p:val>
                                            <p:strVal val="#ppt_y"/>
                                          </p:val>
                                        </p:tav>
                                      </p:tavLst>
                                    </p:anim>
                                  </p:childTnLst>
                                </p:cTn>
                              </p:par>
                              <p:par>
                                <p:cTn id="69" presetID="2" presetClass="entr" presetSubtype="8" fill="hold" grpId="0" nodeType="withEffect">
                                  <p:stCondLst>
                                    <p:cond delay="0"/>
                                  </p:stCondLst>
                                  <p:childTnLst>
                                    <p:set>
                                      <p:cBhvr>
                                        <p:cTn id="70" dur="1" fill="hold">
                                          <p:stCondLst>
                                            <p:cond delay="0"/>
                                          </p:stCondLst>
                                        </p:cTn>
                                        <p:tgtEl>
                                          <p:spTgt spid="37"/>
                                        </p:tgtEl>
                                        <p:attrNameLst>
                                          <p:attrName>style.visibility</p:attrName>
                                        </p:attrNameLst>
                                      </p:cBhvr>
                                      <p:to>
                                        <p:strVal val="visible"/>
                                      </p:to>
                                    </p:set>
                                    <p:anim calcmode="lin" valueType="num">
                                      <p:cBhvr additive="base">
                                        <p:cTn id="71" dur="500" fill="hold"/>
                                        <p:tgtEl>
                                          <p:spTgt spid="37"/>
                                        </p:tgtEl>
                                        <p:attrNameLst>
                                          <p:attrName>ppt_x</p:attrName>
                                        </p:attrNameLst>
                                      </p:cBhvr>
                                      <p:tavLst>
                                        <p:tav tm="0">
                                          <p:val>
                                            <p:strVal val="0-#ppt_w/2"/>
                                          </p:val>
                                        </p:tav>
                                        <p:tav tm="100000">
                                          <p:val>
                                            <p:strVal val="#ppt_x"/>
                                          </p:val>
                                        </p:tav>
                                      </p:tavLst>
                                    </p:anim>
                                    <p:anim calcmode="lin" valueType="num">
                                      <p:cBhvr additive="base">
                                        <p:cTn id="72" dur="500" fill="hold"/>
                                        <p:tgtEl>
                                          <p:spTgt spid="37"/>
                                        </p:tgtEl>
                                        <p:attrNameLst>
                                          <p:attrName>ppt_y</p:attrName>
                                        </p:attrNameLst>
                                      </p:cBhvr>
                                      <p:tavLst>
                                        <p:tav tm="0">
                                          <p:val>
                                            <p:strVal val="#ppt_y"/>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2" presetClass="exit" presetSubtype="8" fill="hold" nodeType="clickEffect">
                                  <p:stCondLst>
                                    <p:cond delay="0"/>
                                  </p:stCondLst>
                                  <p:childTnLst>
                                    <p:anim calcmode="lin" valueType="num">
                                      <p:cBhvr additive="base">
                                        <p:cTn id="76" dur="500"/>
                                        <p:tgtEl>
                                          <p:spTgt spid="34"/>
                                        </p:tgtEl>
                                        <p:attrNameLst>
                                          <p:attrName>ppt_x</p:attrName>
                                        </p:attrNameLst>
                                      </p:cBhvr>
                                      <p:tavLst>
                                        <p:tav tm="0">
                                          <p:val>
                                            <p:strVal val="ppt_x"/>
                                          </p:val>
                                        </p:tav>
                                        <p:tav tm="100000">
                                          <p:val>
                                            <p:strVal val="0-ppt_w/2"/>
                                          </p:val>
                                        </p:tav>
                                      </p:tavLst>
                                    </p:anim>
                                    <p:anim calcmode="lin" valueType="num">
                                      <p:cBhvr additive="base">
                                        <p:cTn id="77" dur="500"/>
                                        <p:tgtEl>
                                          <p:spTgt spid="34"/>
                                        </p:tgtEl>
                                        <p:attrNameLst>
                                          <p:attrName>ppt_y</p:attrName>
                                        </p:attrNameLst>
                                      </p:cBhvr>
                                      <p:tavLst>
                                        <p:tav tm="0">
                                          <p:val>
                                            <p:strVal val="ppt_y"/>
                                          </p:val>
                                        </p:tav>
                                        <p:tav tm="100000">
                                          <p:val>
                                            <p:strVal val="ppt_y"/>
                                          </p:val>
                                        </p:tav>
                                      </p:tavLst>
                                    </p:anim>
                                    <p:set>
                                      <p:cBhvr>
                                        <p:cTn id="78" dur="1" fill="hold">
                                          <p:stCondLst>
                                            <p:cond delay="499"/>
                                          </p:stCondLst>
                                        </p:cTn>
                                        <p:tgtEl>
                                          <p:spTgt spid="34"/>
                                        </p:tgtEl>
                                        <p:attrNameLst>
                                          <p:attrName>style.visibility</p:attrName>
                                        </p:attrNameLst>
                                      </p:cBhvr>
                                      <p:to>
                                        <p:strVal val="hidden"/>
                                      </p:to>
                                    </p:set>
                                  </p:childTnLst>
                                </p:cTn>
                              </p:par>
                              <p:par>
                                <p:cTn id="79" presetID="2" presetClass="exit" presetSubtype="8" fill="hold" grpId="2" nodeType="withEffect">
                                  <p:stCondLst>
                                    <p:cond delay="0"/>
                                  </p:stCondLst>
                                  <p:childTnLst>
                                    <p:anim calcmode="lin" valueType="num">
                                      <p:cBhvr additive="base">
                                        <p:cTn id="80" dur="500"/>
                                        <p:tgtEl>
                                          <p:spTgt spid="37"/>
                                        </p:tgtEl>
                                        <p:attrNameLst>
                                          <p:attrName>ppt_x</p:attrName>
                                        </p:attrNameLst>
                                      </p:cBhvr>
                                      <p:tavLst>
                                        <p:tav tm="0">
                                          <p:val>
                                            <p:strVal val="ppt_x"/>
                                          </p:val>
                                        </p:tav>
                                        <p:tav tm="100000">
                                          <p:val>
                                            <p:strVal val="0-ppt_w/2"/>
                                          </p:val>
                                        </p:tav>
                                      </p:tavLst>
                                    </p:anim>
                                    <p:anim calcmode="lin" valueType="num">
                                      <p:cBhvr additive="base">
                                        <p:cTn id="81" dur="500"/>
                                        <p:tgtEl>
                                          <p:spTgt spid="37"/>
                                        </p:tgtEl>
                                        <p:attrNameLst>
                                          <p:attrName>ppt_y</p:attrName>
                                        </p:attrNameLst>
                                      </p:cBhvr>
                                      <p:tavLst>
                                        <p:tav tm="0">
                                          <p:val>
                                            <p:strVal val="ppt_y"/>
                                          </p:val>
                                        </p:tav>
                                        <p:tav tm="100000">
                                          <p:val>
                                            <p:strVal val="ppt_y"/>
                                          </p:val>
                                        </p:tav>
                                      </p:tavLst>
                                    </p:anim>
                                    <p:set>
                                      <p:cBhvr>
                                        <p:cTn id="82" dur="1" fill="hold">
                                          <p:stCondLst>
                                            <p:cond delay="499"/>
                                          </p:stCondLst>
                                        </p:cTn>
                                        <p:tgtEl>
                                          <p:spTgt spid="37"/>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2" presetClass="entr" presetSubtype="8" fill="hold" nodeType="clickEffect">
                                  <p:stCondLst>
                                    <p:cond delay="0"/>
                                  </p:stCondLst>
                                  <p:childTnLst>
                                    <p:set>
                                      <p:cBhvr>
                                        <p:cTn id="86" dur="1" fill="hold">
                                          <p:stCondLst>
                                            <p:cond delay="0"/>
                                          </p:stCondLst>
                                        </p:cTn>
                                        <p:tgtEl>
                                          <p:spTgt spid="40"/>
                                        </p:tgtEl>
                                        <p:attrNameLst>
                                          <p:attrName>style.visibility</p:attrName>
                                        </p:attrNameLst>
                                      </p:cBhvr>
                                      <p:to>
                                        <p:strVal val="visible"/>
                                      </p:to>
                                    </p:set>
                                    <p:anim calcmode="lin" valueType="num">
                                      <p:cBhvr additive="base">
                                        <p:cTn id="87" dur="500" fill="hold"/>
                                        <p:tgtEl>
                                          <p:spTgt spid="40"/>
                                        </p:tgtEl>
                                        <p:attrNameLst>
                                          <p:attrName>ppt_x</p:attrName>
                                        </p:attrNameLst>
                                      </p:cBhvr>
                                      <p:tavLst>
                                        <p:tav tm="0">
                                          <p:val>
                                            <p:strVal val="0-#ppt_w/2"/>
                                          </p:val>
                                        </p:tav>
                                        <p:tav tm="100000">
                                          <p:val>
                                            <p:strVal val="#ppt_x"/>
                                          </p:val>
                                        </p:tav>
                                      </p:tavLst>
                                    </p:anim>
                                    <p:anim calcmode="lin" valueType="num">
                                      <p:cBhvr additive="base">
                                        <p:cTn id="88" dur="500" fill="hold"/>
                                        <p:tgtEl>
                                          <p:spTgt spid="40"/>
                                        </p:tgtEl>
                                        <p:attrNameLst>
                                          <p:attrName>ppt_y</p:attrName>
                                        </p:attrNameLst>
                                      </p:cBhvr>
                                      <p:tavLst>
                                        <p:tav tm="0">
                                          <p:val>
                                            <p:strVal val="#ppt_y"/>
                                          </p:val>
                                        </p:tav>
                                        <p:tav tm="100000">
                                          <p:val>
                                            <p:strVal val="#ppt_y"/>
                                          </p:val>
                                        </p:tav>
                                      </p:tavLst>
                                    </p:anim>
                                  </p:childTnLst>
                                </p:cTn>
                              </p:par>
                              <p:par>
                                <p:cTn id="89" presetID="2" presetClass="entr" presetSubtype="8"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anim calcmode="lin" valueType="num">
                                      <p:cBhvr additive="base">
                                        <p:cTn id="91" dur="500" fill="hold"/>
                                        <p:tgtEl>
                                          <p:spTgt spid="46"/>
                                        </p:tgtEl>
                                        <p:attrNameLst>
                                          <p:attrName>ppt_x</p:attrName>
                                        </p:attrNameLst>
                                      </p:cBhvr>
                                      <p:tavLst>
                                        <p:tav tm="0">
                                          <p:val>
                                            <p:strVal val="0-#ppt_w/2"/>
                                          </p:val>
                                        </p:tav>
                                        <p:tav tm="100000">
                                          <p:val>
                                            <p:strVal val="#ppt_x"/>
                                          </p:val>
                                        </p:tav>
                                      </p:tavLst>
                                    </p:anim>
                                    <p:anim calcmode="lin" valueType="num">
                                      <p:cBhvr additive="base">
                                        <p:cTn id="92" dur="500" fill="hold"/>
                                        <p:tgtEl>
                                          <p:spTgt spid="46"/>
                                        </p:tgtEl>
                                        <p:attrNameLst>
                                          <p:attrName>ppt_y</p:attrName>
                                        </p:attrNameLst>
                                      </p:cBhvr>
                                      <p:tavLst>
                                        <p:tav tm="0">
                                          <p:val>
                                            <p:strVal val="#ppt_y"/>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95" presetID="2" presetClass="exit" presetSubtype="8" fill="hold" nodeType="clickEffect">
                                  <p:stCondLst>
                                    <p:cond delay="0"/>
                                  </p:stCondLst>
                                  <p:childTnLst>
                                    <p:anim calcmode="lin" valueType="num">
                                      <p:cBhvr additive="base">
                                        <p:cTn id="96" dur="500"/>
                                        <p:tgtEl>
                                          <p:spTgt spid="40"/>
                                        </p:tgtEl>
                                        <p:attrNameLst>
                                          <p:attrName>ppt_x</p:attrName>
                                        </p:attrNameLst>
                                      </p:cBhvr>
                                      <p:tavLst>
                                        <p:tav tm="0">
                                          <p:val>
                                            <p:strVal val="ppt_x"/>
                                          </p:val>
                                        </p:tav>
                                        <p:tav tm="100000">
                                          <p:val>
                                            <p:strVal val="0-ppt_w/2"/>
                                          </p:val>
                                        </p:tav>
                                      </p:tavLst>
                                    </p:anim>
                                    <p:anim calcmode="lin" valueType="num">
                                      <p:cBhvr additive="base">
                                        <p:cTn id="97" dur="500"/>
                                        <p:tgtEl>
                                          <p:spTgt spid="40"/>
                                        </p:tgtEl>
                                        <p:attrNameLst>
                                          <p:attrName>ppt_y</p:attrName>
                                        </p:attrNameLst>
                                      </p:cBhvr>
                                      <p:tavLst>
                                        <p:tav tm="0">
                                          <p:val>
                                            <p:strVal val="ppt_y"/>
                                          </p:val>
                                        </p:tav>
                                        <p:tav tm="100000">
                                          <p:val>
                                            <p:strVal val="ppt_y"/>
                                          </p:val>
                                        </p:tav>
                                      </p:tavLst>
                                    </p:anim>
                                    <p:set>
                                      <p:cBhvr>
                                        <p:cTn id="98" dur="1" fill="hold">
                                          <p:stCondLst>
                                            <p:cond delay="499"/>
                                          </p:stCondLst>
                                        </p:cTn>
                                        <p:tgtEl>
                                          <p:spTgt spid="40"/>
                                        </p:tgtEl>
                                        <p:attrNameLst>
                                          <p:attrName>style.visibility</p:attrName>
                                        </p:attrNameLst>
                                      </p:cBhvr>
                                      <p:to>
                                        <p:strVal val="hidden"/>
                                      </p:to>
                                    </p:set>
                                  </p:childTnLst>
                                </p:cTn>
                              </p:par>
                              <p:par>
                                <p:cTn id="99" presetID="2" presetClass="exit" presetSubtype="8" fill="hold" grpId="2" nodeType="withEffect">
                                  <p:stCondLst>
                                    <p:cond delay="0"/>
                                  </p:stCondLst>
                                  <p:childTnLst>
                                    <p:anim calcmode="lin" valueType="num">
                                      <p:cBhvr additive="base">
                                        <p:cTn id="100" dur="500"/>
                                        <p:tgtEl>
                                          <p:spTgt spid="46"/>
                                        </p:tgtEl>
                                        <p:attrNameLst>
                                          <p:attrName>ppt_x</p:attrName>
                                        </p:attrNameLst>
                                      </p:cBhvr>
                                      <p:tavLst>
                                        <p:tav tm="0">
                                          <p:val>
                                            <p:strVal val="ppt_x"/>
                                          </p:val>
                                        </p:tav>
                                        <p:tav tm="100000">
                                          <p:val>
                                            <p:strVal val="0-ppt_w/2"/>
                                          </p:val>
                                        </p:tav>
                                      </p:tavLst>
                                    </p:anim>
                                    <p:anim calcmode="lin" valueType="num">
                                      <p:cBhvr additive="base">
                                        <p:cTn id="101" dur="500"/>
                                        <p:tgtEl>
                                          <p:spTgt spid="46"/>
                                        </p:tgtEl>
                                        <p:attrNameLst>
                                          <p:attrName>ppt_y</p:attrName>
                                        </p:attrNameLst>
                                      </p:cBhvr>
                                      <p:tavLst>
                                        <p:tav tm="0">
                                          <p:val>
                                            <p:strVal val="ppt_y"/>
                                          </p:val>
                                        </p:tav>
                                        <p:tav tm="100000">
                                          <p:val>
                                            <p:strVal val="ppt_y"/>
                                          </p:val>
                                        </p:tav>
                                      </p:tavLst>
                                    </p:anim>
                                    <p:set>
                                      <p:cBhvr>
                                        <p:cTn id="102" dur="1" fill="hold">
                                          <p:stCondLst>
                                            <p:cond delay="499"/>
                                          </p:stCondLst>
                                        </p:cTn>
                                        <p:tgtEl>
                                          <p:spTgt spid="46"/>
                                        </p:tgtEl>
                                        <p:attrNameLst>
                                          <p:attrName>style.visibility</p:attrName>
                                        </p:attrNameLst>
                                      </p:cBhvr>
                                      <p:to>
                                        <p:strVal val="hidden"/>
                                      </p:to>
                                    </p:set>
                                  </p:childTnLst>
                                </p:cTn>
                              </p:par>
                            </p:childTnLst>
                          </p:cTn>
                        </p:par>
                      </p:childTnLst>
                    </p:cTn>
                  </p:par>
                  <p:par>
                    <p:cTn id="103" fill="hold">
                      <p:stCondLst>
                        <p:cond delay="indefinite"/>
                      </p:stCondLst>
                      <p:childTnLst>
                        <p:par>
                          <p:cTn id="104" fill="hold">
                            <p:stCondLst>
                              <p:cond delay="0"/>
                            </p:stCondLst>
                            <p:childTnLst>
                              <p:par>
                                <p:cTn id="105" presetID="2" presetClass="entr" presetSubtype="8" fill="hold" nodeType="clickEffect">
                                  <p:stCondLst>
                                    <p:cond delay="0"/>
                                  </p:stCondLst>
                                  <p:childTnLst>
                                    <p:set>
                                      <p:cBhvr>
                                        <p:cTn id="106" dur="1" fill="hold">
                                          <p:stCondLst>
                                            <p:cond delay="0"/>
                                          </p:stCondLst>
                                        </p:cTn>
                                        <p:tgtEl>
                                          <p:spTgt spid="49"/>
                                        </p:tgtEl>
                                        <p:attrNameLst>
                                          <p:attrName>style.visibility</p:attrName>
                                        </p:attrNameLst>
                                      </p:cBhvr>
                                      <p:to>
                                        <p:strVal val="visible"/>
                                      </p:to>
                                    </p:set>
                                    <p:anim calcmode="lin" valueType="num">
                                      <p:cBhvr additive="base">
                                        <p:cTn id="107" dur="500" fill="hold"/>
                                        <p:tgtEl>
                                          <p:spTgt spid="49"/>
                                        </p:tgtEl>
                                        <p:attrNameLst>
                                          <p:attrName>ppt_x</p:attrName>
                                        </p:attrNameLst>
                                      </p:cBhvr>
                                      <p:tavLst>
                                        <p:tav tm="0">
                                          <p:val>
                                            <p:strVal val="0-#ppt_w/2"/>
                                          </p:val>
                                        </p:tav>
                                        <p:tav tm="100000">
                                          <p:val>
                                            <p:strVal val="#ppt_x"/>
                                          </p:val>
                                        </p:tav>
                                      </p:tavLst>
                                    </p:anim>
                                    <p:anim calcmode="lin" valueType="num">
                                      <p:cBhvr additive="base">
                                        <p:cTn id="108" dur="500" fill="hold"/>
                                        <p:tgtEl>
                                          <p:spTgt spid="49"/>
                                        </p:tgtEl>
                                        <p:attrNameLst>
                                          <p:attrName>ppt_y</p:attrName>
                                        </p:attrNameLst>
                                      </p:cBhvr>
                                      <p:tavLst>
                                        <p:tav tm="0">
                                          <p:val>
                                            <p:strVal val="#ppt_y"/>
                                          </p:val>
                                        </p:tav>
                                        <p:tav tm="100000">
                                          <p:val>
                                            <p:strVal val="#ppt_y"/>
                                          </p:val>
                                        </p:tav>
                                      </p:tavLst>
                                    </p:anim>
                                  </p:childTnLst>
                                </p:cTn>
                              </p:par>
                              <p:par>
                                <p:cTn id="109" presetID="2" presetClass="entr" presetSubtype="8" fill="hold" grpId="0" nodeType="withEffect">
                                  <p:stCondLst>
                                    <p:cond delay="0"/>
                                  </p:stCondLst>
                                  <p:childTnLst>
                                    <p:set>
                                      <p:cBhvr>
                                        <p:cTn id="110" dur="1" fill="hold">
                                          <p:stCondLst>
                                            <p:cond delay="0"/>
                                          </p:stCondLst>
                                        </p:cTn>
                                        <p:tgtEl>
                                          <p:spTgt spid="50"/>
                                        </p:tgtEl>
                                        <p:attrNameLst>
                                          <p:attrName>style.visibility</p:attrName>
                                        </p:attrNameLst>
                                      </p:cBhvr>
                                      <p:to>
                                        <p:strVal val="visible"/>
                                      </p:to>
                                    </p:set>
                                    <p:anim calcmode="lin" valueType="num">
                                      <p:cBhvr additive="base">
                                        <p:cTn id="111" dur="500" fill="hold"/>
                                        <p:tgtEl>
                                          <p:spTgt spid="50"/>
                                        </p:tgtEl>
                                        <p:attrNameLst>
                                          <p:attrName>ppt_x</p:attrName>
                                        </p:attrNameLst>
                                      </p:cBhvr>
                                      <p:tavLst>
                                        <p:tav tm="0">
                                          <p:val>
                                            <p:strVal val="0-#ppt_w/2"/>
                                          </p:val>
                                        </p:tav>
                                        <p:tav tm="100000">
                                          <p:val>
                                            <p:strVal val="#ppt_x"/>
                                          </p:val>
                                        </p:tav>
                                      </p:tavLst>
                                    </p:anim>
                                    <p:anim calcmode="lin" valueType="num">
                                      <p:cBhvr additive="base">
                                        <p:cTn id="112" dur="500" fill="hold"/>
                                        <p:tgtEl>
                                          <p:spTgt spid="50"/>
                                        </p:tgtEl>
                                        <p:attrNameLst>
                                          <p:attrName>ppt_y</p:attrName>
                                        </p:attrNameLst>
                                      </p:cBhvr>
                                      <p:tavLst>
                                        <p:tav tm="0">
                                          <p:val>
                                            <p:strVal val="#ppt_y"/>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5" presetID="2" presetClass="exit" presetSubtype="8" fill="hold" nodeType="clickEffect">
                                  <p:stCondLst>
                                    <p:cond delay="0"/>
                                  </p:stCondLst>
                                  <p:childTnLst>
                                    <p:anim calcmode="lin" valueType="num">
                                      <p:cBhvr additive="base">
                                        <p:cTn id="116" dur="500"/>
                                        <p:tgtEl>
                                          <p:spTgt spid="49"/>
                                        </p:tgtEl>
                                        <p:attrNameLst>
                                          <p:attrName>ppt_x</p:attrName>
                                        </p:attrNameLst>
                                      </p:cBhvr>
                                      <p:tavLst>
                                        <p:tav tm="0">
                                          <p:val>
                                            <p:strVal val="ppt_x"/>
                                          </p:val>
                                        </p:tav>
                                        <p:tav tm="100000">
                                          <p:val>
                                            <p:strVal val="0-ppt_w/2"/>
                                          </p:val>
                                        </p:tav>
                                      </p:tavLst>
                                    </p:anim>
                                    <p:anim calcmode="lin" valueType="num">
                                      <p:cBhvr additive="base">
                                        <p:cTn id="117" dur="500"/>
                                        <p:tgtEl>
                                          <p:spTgt spid="49"/>
                                        </p:tgtEl>
                                        <p:attrNameLst>
                                          <p:attrName>ppt_y</p:attrName>
                                        </p:attrNameLst>
                                      </p:cBhvr>
                                      <p:tavLst>
                                        <p:tav tm="0">
                                          <p:val>
                                            <p:strVal val="ppt_y"/>
                                          </p:val>
                                        </p:tav>
                                        <p:tav tm="100000">
                                          <p:val>
                                            <p:strVal val="ppt_y"/>
                                          </p:val>
                                        </p:tav>
                                      </p:tavLst>
                                    </p:anim>
                                    <p:set>
                                      <p:cBhvr>
                                        <p:cTn id="118" dur="1" fill="hold">
                                          <p:stCondLst>
                                            <p:cond delay="499"/>
                                          </p:stCondLst>
                                        </p:cTn>
                                        <p:tgtEl>
                                          <p:spTgt spid="49"/>
                                        </p:tgtEl>
                                        <p:attrNameLst>
                                          <p:attrName>style.visibility</p:attrName>
                                        </p:attrNameLst>
                                      </p:cBhvr>
                                      <p:to>
                                        <p:strVal val="hidden"/>
                                      </p:to>
                                    </p:set>
                                  </p:childTnLst>
                                </p:cTn>
                              </p:par>
                              <p:par>
                                <p:cTn id="119" presetID="2" presetClass="exit" presetSubtype="8" fill="hold" grpId="2" nodeType="withEffect">
                                  <p:stCondLst>
                                    <p:cond delay="0"/>
                                  </p:stCondLst>
                                  <p:childTnLst>
                                    <p:anim calcmode="lin" valueType="num">
                                      <p:cBhvr additive="base">
                                        <p:cTn id="120" dur="500"/>
                                        <p:tgtEl>
                                          <p:spTgt spid="50"/>
                                        </p:tgtEl>
                                        <p:attrNameLst>
                                          <p:attrName>ppt_x</p:attrName>
                                        </p:attrNameLst>
                                      </p:cBhvr>
                                      <p:tavLst>
                                        <p:tav tm="0">
                                          <p:val>
                                            <p:strVal val="ppt_x"/>
                                          </p:val>
                                        </p:tav>
                                        <p:tav tm="100000">
                                          <p:val>
                                            <p:strVal val="0-ppt_w/2"/>
                                          </p:val>
                                        </p:tav>
                                      </p:tavLst>
                                    </p:anim>
                                    <p:anim calcmode="lin" valueType="num">
                                      <p:cBhvr additive="base">
                                        <p:cTn id="121" dur="500"/>
                                        <p:tgtEl>
                                          <p:spTgt spid="50"/>
                                        </p:tgtEl>
                                        <p:attrNameLst>
                                          <p:attrName>ppt_y</p:attrName>
                                        </p:attrNameLst>
                                      </p:cBhvr>
                                      <p:tavLst>
                                        <p:tav tm="0">
                                          <p:val>
                                            <p:strVal val="ppt_y"/>
                                          </p:val>
                                        </p:tav>
                                        <p:tav tm="100000">
                                          <p:val>
                                            <p:strVal val="ppt_y"/>
                                          </p:val>
                                        </p:tav>
                                      </p:tavLst>
                                    </p:anim>
                                    <p:set>
                                      <p:cBhvr>
                                        <p:cTn id="122" dur="1" fill="hold">
                                          <p:stCondLst>
                                            <p:cond delay="499"/>
                                          </p:stCondLst>
                                        </p:cTn>
                                        <p:tgtEl>
                                          <p:spTgt spid="50"/>
                                        </p:tgtEl>
                                        <p:attrNameLst>
                                          <p:attrName>style.visibility</p:attrName>
                                        </p:attrNameLst>
                                      </p:cBhvr>
                                      <p:to>
                                        <p:strVal val="hidden"/>
                                      </p:to>
                                    </p:set>
                                  </p:childTnLst>
                                </p:cTn>
                              </p:par>
                            </p:childTnLst>
                          </p:cTn>
                        </p:par>
                      </p:childTnLst>
                    </p:cTn>
                  </p:par>
                  <p:par>
                    <p:cTn id="123" fill="hold">
                      <p:stCondLst>
                        <p:cond delay="indefinite"/>
                      </p:stCondLst>
                      <p:childTnLst>
                        <p:par>
                          <p:cTn id="124" fill="hold">
                            <p:stCondLst>
                              <p:cond delay="0"/>
                            </p:stCondLst>
                            <p:childTnLst>
                              <p:par>
                                <p:cTn id="125" presetID="2" presetClass="entr" presetSubtype="8" fill="hold" nodeType="clickEffect">
                                  <p:stCondLst>
                                    <p:cond delay="0"/>
                                  </p:stCondLst>
                                  <p:childTnLst>
                                    <p:set>
                                      <p:cBhvr>
                                        <p:cTn id="126" dur="1" fill="hold">
                                          <p:stCondLst>
                                            <p:cond delay="0"/>
                                          </p:stCondLst>
                                        </p:cTn>
                                        <p:tgtEl>
                                          <p:spTgt spid="51"/>
                                        </p:tgtEl>
                                        <p:attrNameLst>
                                          <p:attrName>style.visibility</p:attrName>
                                        </p:attrNameLst>
                                      </p:cBhvr>
                                      <p:to>
                                        <p:strVal val="visible"/>
                                      </p:to>
                                    </p:set>
                                    <p:anim calcmode="lin" valueType="num">
                                      <p:cBhvr additive="base">
                                        <p:cTn id="127" dur="500" fill="hold"/>
                                        <p:tgtEl>
                                          <p:spTgt spid="51"/>
                                        </p:tgtEl>
                                        <p:attrNameLst>
                                          <p:attrName>ppt_x</p:attrName>
                                        </p:attrNameLst>
                                      </p:cBhvr>
                                      <p:tavLst>
                                        <p:tav tm="0">
                                          <p:val>
                                            <p:strVal val="0-#ppt_w/2"/>
                                          </p:val>
                                        </p:tav>
                                        <p:tav tm="100000">
                                          <p:val>
                                            <p:strVal val="#ppt_x"/>
                                          </p:val>
                                        </p:tav>
                                      </p:tavLst>
                                    </p:anim>
                                    <p:anim calcmode="lin" valueType="num">
                                      <p:cBhvr additive="base">
                                        <p:cTn id="128" dur="500" fill="hold"/>
                                        <p:tgtEl>
                                          <p:spTgt spid="51"/>
                                        </p:tgtEl>
                                        <p:attrNameLst>
                                          <p:attrName>ppt_y</p:attrName>
                                        </p:attrNameLst>
                                      </p:cBhvr>
                                      <p:tavLst>
                                        <p:tav tm="0">
                                          <p:val>
                                            <p:strVal val="#ppt_y"/>
                                          </p:val>
                                        </p:tav>
                                        <p:tav tm="100000">
                                          <p:val>
                                            <p:strVal val="#ppt_y"/>
                                          </p:val>
                                        </p:tav>
                                      </p:tavLst>
                                    </p:anim>
                                  </p:childTnLst>
                                </p:cTn>
                              </p:par>
                              <p:par>
                                <p:cTn id="129" presetID="2" presetClass="entr" presetSubtype="8" fill="hold" grpId="0" nodeType="withEffect">
                                  <p:stCondLst>
                                    <p:cond delay="0"/>
                                  </p:stCondLst>
                                  <p:childTnLst>
                                    <p:set>
                                      <p:cBhvr>
                                        <p:cTn id="130" dur="1" fill="hold">
                                          <p:stCondLst>
                                            <p:cond delay="0"/>
                                          </p:stCondLst>
                                        </p:cTn>
                                        <p:tgtEl>
                                          <p:spTgt spid="72"/>
                                        </p:tgtEl>
                                        <p:attrNameLst>
                                          <p:attrName>style.visibility</p:attrName>
                                        </p:attrNameLst>
                                      </p:cBhvr>
                                      <p:to>
                                        <p:strVal val="visible"/>
                                      </p:to>
                                    </p:set>
                                    <p:anim calcmode="lin" valueType="num">
                                      <p:cBhvr additive="base">
                                        <p:cTn id="131" dur="500" fill="hold"/>
                                        <p:tgtEl>
                                          <p:spTgt spid="72"/>
                                        </p:tgtEl>
                                        <p:attrNameLst>
                                          <p:attrName>ppt_x</p:attrName>
                                        </p:attrNameLst>
                                      </p:cBhvr>
                                      <p:tavLst>
                                        <p:tav tm="0">
                                          <p:val>
                                            <p:strVal val="0-#ppt_w/2"/>
                                          </p:val>
                                        </p:tav>
                                        <p:tav tm="100000">
                                          <p:val>
                                            <p:strVal val="#ppt_x"/>
                                          </p:val>
                                        </p:tav>
                                      </p:tavLst>
                                    </p:anim>
                                    <p:anim calcmode="lin" valueType="num">
                                      <p:cBhvr additive="base">
                                        <p:cTn id="132" dur="500" fill="hold"/>
                                        <p:tgtEl>
                                          <p:spTgt spid="72"/>
                                        </p:tgtEl>
                                        <p:attrNameLst>
                                          <p:attrName>ppt_y</p:attrName>
                                        </p:attrNameLst>
                                      </p:cBhvr>
                                      <p:tavLst>
                                        <p:tav tm="0">
                                          <p:val>
                                            <p:strVal val="#ppt_y"/>
                                          </p:val>
                                        </p:tav>
                                        <p:tav tm="100000">
                                          <p:val>
                                            <p:strVal val="#ppt_y"/>
                                          </p:val>
                                        </p:tav>
                                      </p:tavLst>
                                    </p:anim>
                                  </p:childTnLst>
                                </p:cTn>
                              </p:par>
                            </p:childTnLst>
                          </p:cTn>
                        </p:par>
                      </p:childTnLst>
                    </p:cTn>
                  </p:par>
                  <p:par>
                    <p:cTn id="133" fill="hold">
                      <p:stCondLst>
                        <p:cond delay="indefinite"/>
                      </p:stCondLst>
                      <p:childTnLst>
                        <p:par>
                          <p:cTn id="134" fill="hold">
                            <p:stCondLst>
                              <p:cond delay="0"/>
                            </p:stCondLst>
                            <p:childTnLst>
                              <p:par>
                                <p:cTn id="135" presetID="2" presetClass="exit" presetSubtype="8" fill="hold" nodeType="clickEffect">
                                  <p:stCondLst>
                                    <p:cond delay="0"/>
                                  </p:stCondLst>
                                  <p:childTnLst>
                                    <p:anim calcmode="lin" valueType="num">
                                      <p:cBhvr additive="base">
                                        <p:cTn id="136" dur="500"/>
                                        <p:tgtEl>
                                          <p:spTgt spid="51"/>
                                        </p:tgtEl>
                                        <p:attrNameLst>
                                          <p:attrName>ppt_x</p:attrName>
                                        </p:attrNameLst>
                                      </p:cBhvr>
                                      <p:tavLst>
                                        <p:tav tm="0">
                                          <p:val>
                                            <p:strVal val="ppt_x"/>
                                          </p:val>
                                        </p:tav>
                                        <p:tav tm="100000">
                                          <p:val>
                                            <p:strVal val="0-ppt_w/2"/>
                                          </p:val>
                                        </p:tav>
                                      </p:tavLst>
                                    </p:anim>
                                    <p:anim calcmode="lin" valueType="num">
                                      <p:cBhvr additive="base">
                                        <p:cTn id="137" dur="500"/>
                                        <p:tgtEl>
                                          <p:spTgt spid="51"/>
                                        </p:tgtEl>
                                        <p:attrNameLst>
                                          <p:attrName>ppt_y</p:attrName>
                                        </p:attrNameLst>
                                      </p:cBhvr>
                                      <p:tavLst>
                                        <p:tav tm="0">
                                          <p:val>
                                            <p:strVal val="ppt_y"/>
                                          </p:val>
                                        </p:tav>
                                        <p:tav tm="100000">
                                          <p:val>
                                            <p:strVal val="ppt_y"/>
                                          </p:val>
                                        </p:tav>
                                      </p:tavLst>
                                    </p:anim>
                                    <p:set>
                                      <p:cBhvr>
                                        <p:cTn id="138" dur="1" fill="hold">
                                          <p:stCondLst>
                                            <p:cond delay="499"/>
                                          </p:stCondLst>
                                        </p:cTn>
                                        <p:tgtEl>
                                          <p:spTgt spid="51"/>
                                        </p:tgtEl>
                                        <p:attrNameLst>
                                          <p:attrName>style.visibility</p:attrName>
                                        </p:attrNameLst>
                                      </p:cBhvr>
                                      <p:to>
                                        <p:strVal val="hidden"/>
                                      </p:to>
                                    </p:set>
                                  </p:childTnLst>
                                </p:cTn>
                              </p:par>
                              <p:par>
                                <p:cTn id="139" presetID="2" presetClass="exit" presetSubtype="8" fill="hold" grpId="2" nodeType="withEffect">
                                  <p:stCondLst>
                                    <p:cond delay="0"/>
                                  </p:stCondLst>
                                  <p:childTnLst>
                                    <p:anim calcmode="lin" valueType="num">
                                      <p:cBhvr additive="base">
                                        <p:cTn id="140" dur="500"/>
                                        <p:tgtEl>
                                          <p:spTgt spid="72"/>
                                        </p:tgtEl>
                                        <p:attrNameLst>
                                          <p:attrName>ppt_x</p:attrName>
                                        </p:attrNameLst>
                                      </p:cBhvr>
                                      <p:tavLst>
                                        <p:tav tm="0">
                                          <p:val>
                                            <p:strVal val="ppt_x"/>
                                          </p:val>
                                        </p:tav>
                                        <p:tav tm="100000">
                                          <p:val>
                                            <p:strVal val="0-ppt_w/2"/>
                                          </p:val>
                                        </p:tav>
                                      </p:tavLst>
                                    </p:anim>
                                    <p:anim calcmode="lin" valueType="num">
                                      <p:cBhvr additive="base">
                                        <p:cTn id="141" dur="500"/>
                                        <p:tgtEl>
                                          <p:spTgt spid="72"/>
                                        </p:tgtEl>
                                        <p:attrNameLst>
                                          <p:attrName>ppt_y</p:attrName>
                                        </p:attrNameLst>
                                      </p:cBhvr>
                                      <p:tavLst>
                                        <p:tav tm="0">
                                          <p:val>
                                            <p:strVal val="ppt_y"/>
                                          </p:val>
                                        </p:tav>
                                        <p:tav tm="100000">
                                          <p:val>
                                            <p:strVal val="ppt_y"/>
                                          </p:val>
                                        </p:tav>
                                      </p:tavLst>
                                    </p:anim>
                                    <p:set>
                                      <p:cBhvr>
                                        <p:cTn id="142" dur="1" fill="hold">
                                          <p:stCondLst>
                                            <p:cond delay="499"/>
                                          </p:stCondLst>
                                        </p:cTn>
                                        <p:tgtEl>
                                          <p:spTgt spid="72"/>
                                        </p:tgtEl>
                                        <p:attrNameLst>
                                          <p:attrName>style.visibility</p:attrName>
                                        </p:attrNameLst>
                                      </p:cBhvr>
                                      <p:to>
                                        <p:strVal val="hidden"/>
                                      </p:to>
                                    </p:set>
                                  </p:childTnLst>
                                </p:cTn>
                              </p:par>
                            </p:childTnLst>
                          </p:cTn>
                        </p:par>
                      </p:childTnLst>
                    </p:cTn>
                  </p:par>
                  <p:par>
                    <p:cTn id="143" fill="hold">
                      <p:stCondLst>
                        <p:cond delay="indefinite"/>
                      </p:stCondLst>
                      <p:childTnLst>
                        <p:par>
                          <p:cTn id="144" fill="hold">
                            <p:stCondLst>
                              <p:cond delay="0"/>
                            </p:stCondLst>
                            <p:childTnLst>
                              <p:par>
                                <p:cTn id="145" presetID="2" presetClass="entr" presetSubtype="8" fill="hold" nodeType="clickEffect">
                                  <p:stCondLst>
                                    <p:cond delay="0"/>
                                  </p:stCondLst>
                                  <p:childTnLst>
                                    <p:set>
                                      <p:cBhvr>
                                        <p:cTn id="146" dur="1" fill="hold">
                                          <p:stCondLst>
                                            <p:cond delay="0"/>
                                          </p:stCondLst>
                                        </p:cTn>
                                        <p:tgtEl>
                                          <p:spTgt spid="73"/>
                                        </p:tgtEl>
                                        <p:attrNameLst>
                                          <p:attrName>style.visibility</p:attrName>
                                        </p:attrNameLst>
                                      </p:cBhvr>
                                      <p:to>
                                        <p:strVal val="visible"/>
                                      </p:to>
                                    </p:set>
                                    <p:anim calcmode="lin" valueType="num">
                                      <p:cBhvr additive="base">
                                        <p:cTn id="147" dur="500" fill="hold"/>
                                        <p:tgtEl>
                                          <p:spTgt spid="73"/>
                                        </p:tgtEl>
                                        <p:attrNameLst>
                                          <p:attrName>ppt_x</p:attrName>
                                        </p:attrNameLst>
                                      </p:cBhvr>
                                      <p:tavLst>
                                        <p:tav tm="0">
                                          <p:val>
                                            <p:strVal val="0-#ppt_w/2"/>
                                          </p:val>
                                        </p:tav>
                                        <p:tav tm="100000">
                                          <p:val>
                                            <p:strVal val="#ppt_x"/>
                                          </p:val>
                                        </p:tav>
                                      </p:tavLst>
                                    </p:anim>
                                    <p:anim calcmode="lin" valueType="num">
                                      <p:cBhvr additive="base">
                                        <p:cTn id="148" dur="500" fill="hold"/>
                                        <p:tgtEl>
                                          <p:spTgt spid="73"/>
                                        </p:tgtEl>
                                        <p:attrNameLst>
                                          <p:attrName>ppt_y</p:attrName>
                                        </p:attrNameLst>
                                      </p:cBhvr>
                                      <p:tavLst>
                                        <p:tav tm="0">
                                          <p:val>
                                            <p:strVal val="#ppt_y"/>
                                          </p:val>
                                        </p:tav>
                                        <p:tav tm="100000">
                                          <p:val>
                                            <p:strVal val="#ppt_y"/>
                                          </p:val>
                                        </p:tav>
                                      </p:tavLst>
                                    </p:anim>
                                  </p:childTnLst>
                                </p:cTn>
                              </p:par>
                              <p:par>
                                <p:cTn id="149" presetID="2" presetClass="entr" presetSubtype="8" fill="hold" grpId="0" nodeType="withEffect">
                                  <p:stCondLst>
                                    <p:cond delay="0"/>
                                  </p:stCondLst>
                                  <p:childTnLst>
                                    <p:set>
                                      <p:cBhvr>
                                        <p:cTn id="150" dur="1" fill="hold">
                                          <p:stCondLst>
                                            <p:cond delay="0"/>
                                          </p:stCondLst>
                                        </p:cTn>
                                        <p:tgtEl>
                                          <p:spTgt spid="74"/>
                                        </p:tgtEl>
                                        <p:attrNameLst>
                                          <p:attrName>style.visibility</p:attrName>
                                        </p:attrNameLst>
                                      </p:cBhvr>
                                      <p:to>
                                        <p:strVal val="visible"/>
                                      </p:to>
                                    </p:set>
                                    <p:anim calcmode="lin" valueType="num">
                                      <p:cBhvr additive="base">
                                        <p:cTn id="151" dur="500" fill="hold"/>
                                        <p:tgtEl>
                                          <p:spTgt spid="74"/>
                                        </p:tgtEl>
                                        <p:attrNameLst>
                                          <p:attrName>ppt_x</p:attrName>
                                        </p:attrNameLst>
                                      </p:cBhvr>
                                      <p:tavLst>
                                        <p:tav tm="0">
                                          <p:val>
                                            <p:strVal val="0-#ppt_w/2"/>
                                          </p:val>
                                        </p:tav>
                                        <p:tav tm="100000">
                                          <p:val>
                                            <p:strVal val="#ppt_x"/>
                                          </p:val>
                                        </p:tav>
                                      </p:tavLst>
                                    </p:anim>
                                    <p:anim calcmode="lin" valueType="num">
                                      <p:cBhvr additive="base">
                                        <p:cTn id="152" dur="500" fill="hold"/>
                                        <p:tgtEl>
                                          <p:spTgt spid="74"/>
                                        </p:tgtEl>
                                        <p:attrNameLst>
                                          <p:attrName>ppt_y</p:attrName>
                                        </p:attrNameLst>
                                      </p:cBhvr>
                                      <p:tavLst>
                                        <p:tav tm="0">
                                          <p:val>
                                            <p:strVal val="#ppt_y"/>
                                          </p:val>
                                        </p:tav>
                                        <p:tav tm="100000">
                                          <p:val>
                                            <p:strVal val="#ppt_y"/>
                                          </p:val>
                                        </p:tav>
                                      </p:tavLst>
                                    </p:anim>
                                  </p:childTnLst>
                                </p:cTn>
                              </p:par>
                            </p:childTnLst>
                          </p:cTn>
                        </p:par>
                      </p:childTnLst>
                    </p:cTn>
                  </p:par>
                  <p:par>
                    <p:cTn id="153" fill="hold">
                      <p:stCondLst>
                        <p:cond delay="indefinite"/>
                      </p:stCondLst>
                      <p:childTnLst>
                        <p:par>
                          <p:cTn id="154" fill="hold">
                            <p:stCondLst>
                              <p:cond delay="0"/>
                            </p:stCondLst>
                            <p:childTnLst>
                              <p:par>
                                <p:cTn id="155" presetID="0" presetClass="path" presetSubtype="0" accel="50000" decel="50000" fill="hold" nodeType="clickEffect">
                                  <p:stCondLst>
                                    <p:cond delay="0"/>
                                  </p:stCondLst>
                                  <p:childTnLst>
                                    <p:animMotion origin="layout" path="M 0 0 L -0.0572917 0.0987963 " pathEditMode="relative" rAng="0" ptsTypes="">
                                      <p:cBhvr>
                                        <p:cTn id="156" dur="2000" fill="hold"/>
                                        <p:tgtEl>
                                          <p:spTgt spid="3"/>
                                        </p:tgtEl>
                                        <p:attrNameLst>
                                          <p:attrName>ppt_x</p:attrName>
                                          <p:attrName>ppt_y</p:attrName>
                                        </p:attrNameLst>
                                      </p:cBhvr>
                                      <p:rCtr x="-2700" y="4700"/>
                                    </p:animMotion>
                                  </p:childTnLst>
                                </p:cTn>
                              </p:par>
                              <p:par>
                                <p:cTn id="157" presetID="0" presetClass="path" presetSubtype="0" accel="50000" decel="50000" fill="hold" nodeType="withEffect">
                                  <p:stCondLst>
                                    <p:cond delay="0"/>
                                  </p:stCondLst>
                                  <p:childTnLst>
                                    <p:animMotion origin="layout" path="M 0.00229167 -0.0037037 L 0.0567361 -0.0961111 " pathEditMode="relative" rAng="0" ptsTypes="">
                                      <p:cBhvr>
                                        <p:cTn id="158" dur="2000" fill="hold"/>
                                        <p:tgtEl>
                                          <p:spTgt spid="10"/>
                                        </p:tgtEl>
                                        <p:attrNameLst>
                                          <p:attrName>ppt_x</p:attrName>
                                          <p:attrName>ppt_y</p:attrName>
                                        </p:attrNameLst>
                                      </p:cBhvr>
                                      <p:rCtr x="2800" y="-4700"/>
                                    </p:animMotion>
                                  </p:childTnLst>
                                </p:cTn>
                              </p:par>
                            </p:childTnLst>
                          </p:cTn>
                        </p:par>
                      </p:childTnLst>
                    </p:cTn>
                  </p:par>
                  <p:par>
                    <p:cTn id="159" fill="hold">
                      <p:stCondLst>
                        <p:cond delay="indefinite"/>
                      </p:stCondLst>
                      <p:childTnLst>
                        <p:par>
                          <p:cTn id="160" fill="hold">
                            <p:stCondLst>
                              <p:cond delay="0"/>
                            </p:stCondLst>
                            <p:childTnLst>
                              <p:par>
                                <p:cTn id="161" presetID="2" presetClass="exit" presetSubtype="8" fill="hold" nodeType="clickEffect">
                                  <p:stCondLst>
                                    <p:cond delay="0"/>
                                  </p:stCondLst>
                                  <p:childTnLst>
                                    <p:anim calcmode="lin" valueType="num">
                                      <p:cBhvr additive="base">
                                        <p:cTn id="162" dur="500"/>
                                        <p:tgtEl>
                                          <p:spTgt spid="73"/>
                                        </p:tgtEl>
                                        <p:attrNameLst>
                                          <p:attrName>ppt_x</p:attrName>
                                        </p:attrNameLst>
                                      </p:cBhvr>
                                      <p:tavLst>
                                        <p:tav tm="0">
                                          <p:val>
                                            <p:strVal val="ppt_x"/>
                                          </p:val>
                                        </p:tav>
                                        <p:tav tm="100000">
                                          <p:val>
                                            <p:strVal val="0-ppt_w/2"/>
                                          </p:val>
                                        </p:tav>
                                      </p:tavLst>
                                    </p:anim>
                                    <p:anim calcmode="lin" valueType="num">
                                      <p:cBhvr additive="base">
                                        <p:cTn id="163" dur="500"/>
                                        <p:tgtEl>
                                          <p:spTgt spid="73"/>
                                        </p:tgtEl>
                                        <p:attrNameLst>
                                          <p:attrName>ppt_y</p:attrName>
                                        </p:attrNameLst>
                                      </p:cBhvr>
                                      <p:tavLst>
                                        <p:tav tm="0">
                                          <p:val>
                                            <p:strVal val="ppt_y"/>
                                          </p:val>
                                        </p:tav>
                                        <p:tav tm="100000">
                                          <p:val>
                                            <p:strVal val="ppt_y"/>
                                          </p:val>
                                        </p:tav>
                                      </p:tavLst>
                                    </p:anim>
                                    <p:set>
                                      <p:cBhvr>
                                        <p:cTn id="164" dur="1" fill="hold">
                                          <p:stCondLst>
                                            <p:cond delay="499"/>
                                          </p:stCondLst>
                                        </p:cTn>
                                        <p:tgtEl>
                                          <p:spTgt spid="73"/>
                                        </p:tgtEl>
                                        <p:attrNameLst>
                                          <p:attrName>style.visibility</p:attrName>
                                        </p:attrNameLst>
                                      </p:cBhvr>
                                      <p:to>
                                        <p:strVal val="hidden"/>
                                      </p:to>
                                    </p:set>
                                  </p:childTnLst>
                                </p:cTn>
                              </p:par>
                              <p:par>
                                <p:cTn id="165" presetID="2" presetClass="exit" presetSubtype="8" fill="hold" grpId="2" nodeType="withEffect">
                                  <p:stCondLst>
                                    <p:cond delay="0"/>
                                  </p:stCondLst>
                                  <p:childTnLst>
                                    <p:anim calcmode="lin" valueType="num">
                                      <p:cBhvr additive="base">
                                        <p:cTn id="166" dur="500"/>
                                        <p:tgtEl>
                                          <p:spTgt spid="74"/>
                                        </p:tgtEl>
                                        <p:attrNameLst>
                                          <p:attrName>ppt_x</p:attrName>
                                        </p:attrNameLst>
                                      </p:cBhvr>
                                      <p:tavLst>
                                        <p:tav tm="0">
                                          <p:val>
                                            <p:strVal val="ppt_x"/>
                                          </p:val>
                                        </p:tav>
                                        <p:tav tm="100000">
                                          <p:val>
                                            <p:strVal val="0-ppt_w/2"/>
                                          </p:val>
                                        </p:tav>
                                      </p:tavLst>
                                    </p:anim>
                                    <p:anim calcmode="lin" valueType="num">
                                      <p:cBhvr additive="base">
                                        <p:cTn id="167" dur="500"/>
                                        <p:tgtEl>
                                          <p:spTgt spid="74"/>
                                        </p:tgtEl>
                                        <p:attrNameLst>
                                          <p:attrName>ppt_y</p:attrName>
                                        </p:attrNameLst>
                                      </p:cBhvr>
                                      <p:tavLst>
                                        <p:tav tm="0">
                                          <p:val>
                                            <p:strVal val="ppt_y"/>
                                          </p:val>
                                        </p:tav>
                                        <p:tav tm="100000">
                                          <p:val>
                                            <p:strVal val="ppt_y"/>
                                          </p:val>
                                        </p:tav>
                                      </p:tavLst>
                                    </p:anim>
                                    <p:set>
                                      <p:cBhvr>
                                        <p:cTn id="168" dur="1" fill="hold">
                                          <p:stCondLst>
                                            <p:cond delay="499"/>
                                          </p:stCondLst>
                                        </p:cTn>
                                        <p:tgtEl>
                                          <p:spTgt spid="74"/>
                                        </p:tgtEl>
                                        <p:attrNameLst>
                                          <p:attrName>style.visibility</p:attrName>
                                        </p:attrNameLst>
                                      </p:cBhvr>
                                      <p:to>
                                        <p:strVal val="hidden"/>
                                      </p:to>
                                    </p:set>
                                  </p:childTnLst>
                                </p:cTn>
                              </p:par>
                            </p:childTnLst>
                          </p:cTn>
                        </p:par>
                      </p:childTnLst>
                    </p:cTn>
                  </p:par>
                  <p:par>
                    <p:cTn id="169" fill="hold">
                      <p:stCondLst>
                        <p:cond delay="indefinite"/>
                      </p:stCondLst>
                      <p:childTnLst>
                        <p:par>
                          <p:cTn id="170" fill="hold">
                            <p:stCondLst>
                              <p:cond delay="0"/>
                            </p:stCondLst>
                            <p:childTnLst>
                              <p:par>
                                <p:cTn id="171" presetID="2" presetClass="entr" presetSubtype="8" fill="hold" nodeType="clickEffect">
                                  <p:stCondLst>
                                    <p:cond delay="0"/>
                                  </p:stCondLst>
                                  <p:childTnLst>
                                    <p:set>
                                      <p:cBhvr>
                                        <p:cTn id="172" dur="1" fill="hold">
                                          <p:stCondLst>
                                            <p:cond delay="0"/>
                                          </p:stCondLst>
                                        </p:cTn>
                                        <p:tgtEl>
                                          <p:spTgt spid="76"/>
                                        </p:tgtEl>
                                        <p:attrNameLst>
                                          <p:attrName>style.visibility</p:attrName>
                                        </p:attrNameLst>
                                      </p:cBhvr>
                                      <p:to>
                                        <p:strVal val="visible"/>
                                      </p:to>
                                    </p:set>
                                    <p:anim calcmode="lin" valueType="num">
                                      <p:cBhvr additive="base">
                                        <p:cTn id="173" dur="500" fill="hold"/>
                                        <p:tgtEl>
                                          <p:spTgt spid="76"/>
                                        </p:tgtEl>
                                        <p:attrNameLst>
                                          <p:attrName>ppt_x</p:attrName>
                                        </p:attrNameLst>
                                      </p:cBhvr>
                                      <p:tavLst>
                                        <p:tav tm="0">
                                          <p:val>
                                            <p:strVal val="0-#ppt_w/2"/>
                                          </p:val>
                                        </p:tav>
                                        <p:tav tm="100000">
                                          <p:val>
                                            <p:strVal val="#ppt_x"/>
                                          </p:val>
                                        </p:tav>
                                      </p:tavLst>
                                    </p:anim>
                                    <p:anim calcmode="lin" valueType="num">
                                      <p:cBhvr additive="base">
                                        <p:cTn id="174" dur="500" fill="hold"/>
                                        <p:tgtEl>
                                          <p:spTgt spid="76"/>
                                        </p:tgtEl>
                                        <p:attrNameLst>
                                          <p:attrName>ppt_y</p:attrName>
                                        </p:attrNameLst>
                                      </p:cBhvr>
                                      <p:tavLst>
                                        <p:tav tm="0">
                                          <p:val>
                                            <p:strVal val="#ppt_y"/>
                                          </p:val>
                                        </p:tav>
                                        <p:tav tm="100000">
                                          <p:val>
                                            <p:strVal val="#ppt_y"/>
                                          </p:val>
                                        </p:tav>
                                      </p:tavLst>
                                    </p:anim>
                                  </p:childTnLst>
                                </p:cTn>
                              </p:par>
                              <p:par>
                                <p:cTn id="175" presetID="2" presetClass="entr" presetSubtype="8" fill="hold" grpId="0" nodeType="withEffect">
                                  <p:stCondLst>
                                    <p:cond delay="0"/>
                                  </p:stCondLst>
                                  <p:childTnLst>
                                    <p:set>
                                      <p:cBhvr>
                                        <p:cTn id="176" dur="1" fill="hold">
                                          <p:stCondLst>
                                            <p:cond delay="0"/>
                                          </p:stCondLst>
                                        </p:cTn>
                                        <p:tgtEl>
                                          <p:spTgt spid="77"/>
                                        </p:tgtEl>
                                        <p:attrNameLst>
                                          <p:attrName>style.visibility</p:attrName>
                                        </p:attrNameLst>
                                      </p:cBhvr>
                                      <p:to>
                                        <p:strVal val="visible"/>
                                      </p:to>
                                    </p:set>
                                    <p:anim calcmode="lin" valueType="num">
                                      <p:cBhvr additive="base">
                                        <p:cTn id="177" dur="500" fill="hold"/>
                                        <p:tgtEl>
                                          <p:spTgt spid="77"/>
                                        </p:tgtEl>
                                        <p:attrNameLst>
                                          <p:attrName>ppt_x</p:attrName>
                                        </p:attrNameLst>
                                      </p:cBhvr>
                                      <p:tavLst>
                                        <p:tav tm="0">
                                          <p:val>
                                            <p:strVal val="0-#ppt_w/2"/>
                                          </p:val>
                                        </p:tav>
                                        <p:tav tm="100000">
                                          <p:val>
                                            <p:strVal val="#ppt_x"/>
                                          </p:val>
                                        </p:tav>
                                      </p:tavLst>
                                    </p:anim>
                                    <p:anim calcmode="lin" valueType="num">
                                      <p:cBhvr additive="base">
                                        <p:cTn id="178" dur="500" fill="hold"/>
                                        <p:tgtEl>
                                          <p:spTgt spid="77"/>
                                        </p:tgtEl>
                                        <p:attrNameLst>
                                          <p:attrName>ppt_y</p:attrName>
                                        </p:attrNameLst>
                                      </p:cBhvr>
                                      <p:tavLst>
                                        <p:tav tm="0">
                                          <p:val>
                                            <p:strVal val="#ppt_y"/>
                                          </p:val>
                                        </p:tav>
                                        <p:tav tm="100000">
                                          <p:val>
                                            <p:strVal val="#ppt_y"/>
                                          </p:val>
                                        </p:tav>
                                      </p:tavLst>
                                    </p:anim>
                                  </p:childTnLst>
                                </p:cTn>
                              </p:par>
                            </p:childTnLst>
                          </p:cTn>
                        </p:par>
                      </p:childTnLst>
                    </p:cTn>
                  </p:par>
                  <p:par>
                    <p:cTn id="179" fill="hold">
                      <p:stCondLst>
                        <p:cond delay="indefinite"/>
                      </p:stCondLst>
                      <p:childTnLst>
                        <p:par>
                          <p:cTn id="180" fill="hold">
                            <p:stCondLst>
                              <p:cond delay="0"/>
                            </p:stCondLst>
                            <p:childTnLst>
                              <p:par>
                                <p:cTn id="181" presetID="0" presetClass="path" presetSubtype="0" accel="50000" decel="50000" fill="hold" nodeType="clickEffect">
                                  <p:stCondLst>
                                    <p:cond delay="0"/>
                                  </p:stCondLst>
                                  <p:childTnLst>
                                    <p:animMotion origin="layout" path="M 0 0 L -0.0838889 0.0924074 " pathEditMode="relative" rAng="0" ptsTypes="">
                                      <p:cBhvr>
                                        <p:cTn id="182" dur="2000" fill="hold"/>
                                        <p:tgtEl>
                                          <p:spTgt spid="10245"/>
                                        </p:tgtEl>
                                        <p:attrNameLst>
                                          <p:attrName>ppt_x</p:attrName>
                                          <p:attrName>ppt_y</p:attrName>
                                        </p:attrNameLst>
                                      </p:cBhvr>
                                      <p:rCtr x="-4100" y="4600"/>
                                    </p:animMotion>
                                  </p:childTnLst>
                                </p:cTn>
                              </p:par>
                              <p:par>
                                <p:cTn id="183" presetID="0" presetClass="path" presetSubtype="0" accel="50000" decel="50000" fill="hold" nodeType="withEffect">
                                  <p:stCondLst>
                                    <p:cond delay="0"/>
                                  </p:stCondLst>
                                  <p:childTnLst>
                                    <p:animMotion origin="layout" path="M 0.0574306 -0.0982407 L 0.142153 -0.187778 " pathEditMode="relative" rAng="0" ptsTypes="">
                                      <p:cBhvr>
                                        <p:cTn id="184" dur="2000" fill="hold"/>
                                        <p:tgtEl>
                                          <p:spTgt spid="10"/>
                                        </p:tgtEl>
                                        <p:attrNameLst>
                                          <p:attrName>ppt_x</p:attrName>
                                          <p:attrName>ppt_y</p:attrName>
                                        </p:attrNameLst>
                                      </p:cBhvr>
                                      <p:rCtr x="3900" y="-4100"/>
                                    </p:animMotion>
                                  </p:childTnLst>
                                </p:cTn>
                              </p:par>
                            </p:childTnLst>
                          </p:cTn>
                        </p:par>
                      </p:childTnLst>
                    </p:cTn>
                  </p:par>
                  <p:par>
                    <p:cTn id="185" fill="hold">
                      <p:stCondLst>
                        <p:cond delay="indefinite"/>
                      </p:stCondLst>
                      <p:childTnLst>
                        <p:par>
                          <p:cTn id="186" fill="hold">
                            <p:stCondLst>
                              <p:cond delay="0"/>
                            </p:stCondLst>
                            <p:childTnLst>
                              <p:par>
                                <p:cTn id="187" presetID="0" presetClass="path" presetSubtype="0" accel="50000" decel="50000" fill="hold" nodeType="clickEffect">
                                  <p:stCondLst>
                                    <p:cond delay="0"/>
                                  </p:stCondLst>
                                  <p:childTnLst>
                                    <p:animMotion origin="layout" path="M -0.0839583 0.0909259 L -0.140347 0.189907 " pathEditMode="relative" rAng="0" ptsTypes="">
                                      <p:cBhvr>
                                        <p:cTn id="188" dur="2000" fill="hold"/>
                                        <p:tgtEl>
                                          <p:spTgt spid="10245"/>
                                        </p:tgtEl>
                                        <p:attrNameLst>
                                          <p:attrName>ppt_x</p:attrName>
                                          <p:attrName>ppt_y</p:attrName>
                                        </p:attrNameLst>
                                      </p:cBhvr>
                                      <p:rCtr x="-2800" y="4900"/>
                                    </p:animMotion>
                                  </p:childTnLst>
                                </p:cTn>
                              </p:par>
                              <p:par>
                                <p:cTn id="189" presetID="0" presetClass="path" presetSubtype="0" accel="50000" decel="50000" fill="hold" nodeType="withEffect">
                                  <p:stCondLst>
                                    <p:cond delay="0"/>
                                  </p:stCondLst>
                                  <p:childTnLst>
                                    <p:animMotion origin="layout" path="M -0.0551389 0.094537 L 0 0 " pathEditMode="relative" ptsTypes="">
                                      <p:cBhvr>
                                        <p:cTn id="190" dur="2000" fill="hold"/>
                                        <p:tgtEl>
                                          <p:spTgt spid="3"/>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1"/>
      <p:bldP spid="53" grpId="0"/>
      <p:bldP spid="53" grpId="1"/>
      <p:bldP spid="53" grpId="2"/>
      <p:bldP spid="24" grpId="0"/>
      <p:bldP spid="24" grpId="1"/>
      <p:bldP spid="24" grpId="2"/>
      <p:bldP spid="31" grpId="0"/>
      <p:bldP spid="31" grpId="1"/>
      <p:bldP spid="31" grpId="2"/>
      <p:bldP spid="37" grpId="0"/>
      <p:bldP spid="37" grpId="1"/>
      <p:bldP spid="37" grpId="2"/>
      <p:bldP spid="46" grpId="0"/>
      <p:bldP spid="46" grpId="1"/>
      <p:bldP spid="46" grpId="2"/>
      <p:bldP spid="50" grpId="0"/>
      <p:bldP spid="50" grpId="1"/>
      <p:bldP spid="50" grpId="2"/>
      <p:bldP spid="72" grpId="0"/>
      <p:bldP spid="72" grpId="1"/>
      <p:bldP spid="72" grpId="2"/>
      <p:bldP spid="74" grpId="0"/>
      <p:bldP spid="74" grpId="1"/>
      <p:bldP spid="74" grpId="2"/>
      <p:bldP spid="77" grpId="0"/>
      <p:bldP spid="77" grpId="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p:cNvSpPr>
          <p:nvPr>
            <p:ph type="title"/>
          </p:nvPr>
        </p:nvSpPr>
        <p:spPr>
          <a:xfrm>
            <a:off x="1258888" y="333375"/>
            <a:ext cx="7793037" cy="1462088"/>
          </a:xfrm>
        </p:spPr>
        <p:txBody>
          <a:bodyPr vert="horz" wrap="square" lIns="91440" tIns="45720" rIns="91440" bIns="45720" anchor="b" anchorCtr="0"/>
          <a:lstStyle/>
          <a:p>
            <a:pPr eaLnBrk="1" hangingPunct="1">
              <a:buFont typeface="Wingdings" panose="05000000000000000000" pitchFamily="2" charset="2"/>
              <a:buNone/>
            </a:pPr>
            <a:r>
              <a:rPr lang="zh-CN" altLang="en-US" dirty="0"/>
              <a:t>1.</a:t>
            </a:r>
            <a:r>
              <a:rPr lang="en-US" altLang="zh-CN" dirty="0"/>
              <a:t>3 </a:t>
            </a:r>
            <a:r>
              <a:rPr lang="zh-CN" altLang="en-US" dirty="0"/>
              <a:t>利用堆进行排序</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8</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649605" y="1484313"/>
            <a:ext cx="5299075"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宋体" panose="02010600030101010101" pitchFamily="2" charset="-122"/>
                <a:cs typeface="Times New Roman" panose="02020603050405020304" pitchFamily="18" charset="0"/>
              </a:rPr>
              <a:t>如何利用堆性质进行排序？</a:t>
            </a:r>
            <a:endParaRPr kumimoji="0" lang="zh-CN" altLang="en-US" kern="1200" cap="none" spc="0" normalizeH="0" baseline="0" noProof="0">
              <a:solidFill>
                <a:srgbClr val="FF0000"/>
              </a:solidFill>
              <a:latin typeface="宋体" panose="02010600030101010101" pitchFamily="2" charset="-122"/>
              <a:cs typeface="Times New Roman" panose="02020603050405020304" pitchFamily="18" charset="0"/>
            </a:endParaRPr>
          </a:p>
        </p:txBody>
      </p:sp>
      <p:sp>
        <p:nvSpPr>
          <p:cNvPr id="10" name="文本框 9"/>
          <p:cNvSpPr txBox="1"/>
          <p:nvPr/>
        </p:nvSpPr>
        <p:spPr>
          <a:xfrm>
            <a:off x="2051685" y="5557203"/>
            <a:ext cx="4932363" cy="583565"/>
          </a:xfrm>
          <a:prstGeom prst="rect">
            <a:avLst/>
          </a:prstGeom>
          <a:noFill/>
        </p:spPr>
        <p:txBody>
          <a:bodyPr>
            <a:spAutoFit/>
          </a:bodyPr>
          <a:lstStyle/>
          <a:p>
            <a:pPr marR="0" defTabSz="914400">
              <a:buClrTx/>
              <a:buSzTx/>
              <a:buFontTx/>
              <a:buNone/>
              <a:defRPr/>
            </a:pPr>
            <a:r>
              <a:rPr kumimoji="0" lang="zh-CN" altLang="en-US" sz="1600" kern="1200" cap="none" spc="0" normalizeH="0" baseline="0" noProof="0">
                <a:solidFill>
                  <a:schemeClr val="tx2"/>
                </a:solidFill>
                <a:latin typeface="宋体" panose="02010600030101010101" pitchFamily="2" charset="-122"/>
                <a:cs typeface="Times New Roman" panose="02020603050405020304" pitchFamily="18" charset="0"/>
              </a:rPr>
              <a:t>断开尾部并替换根节点，同时堆长度需要减</a:t>
            </a:r>
            <a:r>
              <a:rPr kumimoji="0" lang="en-US" altLang="zh-CN" sz="1600" kern="1200" cap="none" spc="0" normalizeH="0" baseline="0" noProof="0">
                <a:solidFill>
                  <a:schemeClr val="tx2"/>
                </a:solidFill>
                <a:latin typeface="宋体" panose="02010600030101010101" pitchFamily="2" charset="-122"/>
                <a:cs typeface="Times New Roman" panose="02020603050405020304" pitchFamily="18" charset="0"/>
              </a:rPr>
              <a:t>1</a:t>
            </a:r>
            <a:r>
              <a:rPr kumimoji="0" lang="zh-CN" altLang="en-US" sz="1600" kern="1200" cap="none" spc="0" normalizeH="0" baseline="0" noProof="0">
                <a:solidFill>
                  <a:schemeClr val="tx2"/>
                </a:solidFill>
                <a:latin typeface="宋体" panose="02010600030101010101" pitchFamily="2" charset="-122"/>
                <a:cs typeface="Times New Roman" panose="02020603050405020304" pitchFamily="18" charset="0"/>
              </a:rPr>
              <a:t>，此时完成最大值的排序</a:t>
            </a:r>
            <a:endParaRPr kumimoji="0" lang="zh-CN" altLang="en-US" sz="1600" kern="1200" cap="none" spc="0" normalizeH="0" baseline="0" noProof="0">
              <a:solidFill>
                <a:srgbClr val="FF0000"/>
              </a:solidFill>
              <a:latin typeface="宋体" panose="02010600030101010101" pitchFamily="2" charset="-122"/>
              <a:cs typeface="Times New Roman" panose="02020603050405020304" pitchFamily="18" charset="0"/>
            </a:endParaRPr>
          </a:p>
        </p:txBody>
      </p:sp>
      <p:sp>
        <p:nvSpPr>
          <p:cNvPr id="2" name="矩形 1"/>
          <p:cNvSpPr/>
          <p:nvPr/>
        </p:nvSpPr>
        <p:spPr>
          <a:xfrm>
            <a:off x="256387" y="776511"/>
            <a:ext cx="2917825"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grpSp>
        <p:nvGrpSpPr>
          <p:cNvPr id="10245" name="组合 2"/>
          <p:cNvGrpSpPr/>
          <p:nvPr/>
        </p:nvGrpSpPr>
        <p:grpSpPr>
          <a:xfrm>
            <a:off x="4505325" y="2348865"/>
            <a:ext cx="452120" cy="433070"/>
            <a:chOff x="1006488" y="2036167"/>
            <a:chExt cx="587284" cy="571040"/>
          </a:xfrm>
        </p:grpSpPr>
        <p:sp>
          <p:nvSpPr>
            <p:cNvPr id="1027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022985" y="2083893"/>
              <a:ext cx="570787" cy="523314"/>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 name="组合 2"/>
          <p:cNvGrpSpPr/>
          <p:nvPr/>
        </p:nvGrpSpPr>
        <p:grpSpPr>
          <a:xfrm>
            <a:off x="3740785" y="2973070"/>
            <a:ext cx="396240" cy="382270"/>
            <a:chOff x="1006488" y="2036167"/>
            <a:chExt cx="514698" cy="504056"/>
          </a:xfrm>
        </p:grpSpPr>
        <p:sp>
          <p:nvSpPr>
            <p:cNvPr id="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 name="文本框 5"/>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15</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 name="组合 6"/>
          <p:cNvGrpSpPr/>
          <p:nvPr/>
        </p:nvGrpSpPr>
        <p:grpSpPr>
          <a:xfrm>
            <a:off x="5221605" y="2973070"/>
            <a:ext cx="445135" cy="382270"/>
            <a:chOff x="1006488" y="2036167"/>
            <a:chExt cx="578210" cy="504056"/>
          </a:xfrm>
        </p:grpSpPr>
        <p:sp>
          <p:nvSpPr>
            <p:cNvPr id="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 name="文本框 8"/>
            <p:cNvSpPr txBox="1"/>
            <p:nvPr/>
          </p:nvSpPr>
          <p:spPr>
            <a:xfrm>
              <a:off x="1082373" y="2088917"/>
              <a:ext cx="502325" cy="415302"/>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1" name="组合 10"/>
          <p:cNvGrpSpPr/>
          <p:nvPr/>
        </p:nvGrpSpPr>
        <p:grpSpPr>
          <a:xfrm>
            <a:off x="3211830" y="3646805"/>
            <a:ext cx="396240" cy="382270"/>
            <a:chOff x="1006488" y="2036167"/>
            <a:chExt cx="514698" cy="504056"/>
          </a:xfrm>
        </p:grpSpPr>
        <p:sp>
          <p:nvSpPr>
            <p:cNvPr id="1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 name="文本框 14"/>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7" name="组合 16"/>
          <p:cNvGrpSpPr/>
          <p:nvPr/>
        </p:nvGrpSpPr>
        <p:grpSpPr>
          <a:xfrm>
            <a:off x="4142105" y="3646805"/>
            <a:ext cx="449580" cy="382270"/>
            <a:chOff x="1006488" y="2036167"/>
            <a:chExt cx="583984" cy="504056"/>
          </a:xfrm>
        </p:grpSpPr>
        <p:sp>
          <p:nvSpPr>
            <p:cNvPr id="1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9" name="文本框 18"/>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0" name="组合 19"/>
          <p:cNvGrpSpPr/>
          <p:nvPr/>
        </p:nvGrpSpPr>
        <p:grpSpPr>
          <a:xfrm>
            <a:off x="4759325" y="3639185"/>
            <a:ext cx="441960" cy="382270"/>
            <a:chOff x="1006488" y="2036167"/>
            <a:chExt cx="574086" cy="504056"/>
          </a:xfrm>
        </p:grpSpPr>
        <p:sp>
          <p:nvSpPr>
            <p:cNvPr id="2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2" name="文本框 21"/>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9</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3" name="组合 22"/>
          <p:cNvGrpSpPr/>
          <p:nvPr/>
        </p:nvGrpSpPr>
        <p:grpSpPr>
          <a:xfrm>
            <a:off x="5697220" y="3631565"/>
            <a:ext cx="449580" cy="382270"/>
            <a:chOff x="1006488" y="2036167"/>
            <a:chExt cx="583984" cy="504056"/>
          </a:xfrm>
        </p:grpSpPr>
        <p:sp>
          <p:nvSpPr>
            <p:cNvPr id="2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6" name="文本框 25"/>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7" name="组合 26"/>
          <p:cNvGrpSpPr/>
          <p:nvPr/>
        </p:nvGrpSpPr>
        <p:grpSpPr>
          <a:xfrm>
            <a:off x="2749550" y="4313555"/>
            <a:ext cx="441960" cy="382270"/>
            <a:chOff x="1006488" y="2036167"/>
            <a:chExt cx="574086" cy="504056"/>
          </a:xfrm>
        </p:grpSpPr>
        <p:sp>
          <p:nvSpPr>
            <p:cNvPr id="2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0" name="文本框 29"/>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2" name="组合 31"/>
          <p:cNvGrpSpPr/>
          <p:nvPr/>
        </p:nvGrpSpPr>
        <p:grpSpPr>
          <a:xfrm>
            <a:off x="3679825" y="4305935"/>
            <a:ext cx="449580" cy="382270"/>
            <a:chOff x="1006488" y="2036167"/>
            <a:chExt cx="583984" cy="504056"/>
          </a:xfrm>
        </p:grpSpPr>
        <p:sp>
          <p:nvSpPr>
            <p:cNvPr id="3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5" name="文本框 34"/>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56" name="直接连接符 55"/>
          <p:cNvCxnSpPr/>
          <p:nvPr/>
        </p:nvCxnSpPr>
        <p:spPr>
          <a:xfrm flipH="1">
            <a:off x="4699635" y="2731135"/>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7" name="直接连接符 56"/>
          <p:cNvCxnSpPr/>
          <p:nvPr/>
        </p:nvCxnSpPr>
        <p:spPr>
          <a:xfrm>
            <a:off x="3938270" y="2868295"/>
            <a:ext cx="1508760"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8" name="直接箭头连接符 57"/>
          <p:cNvCxnSpPr/>
          <p:nvPr/>
        </p:nvCxnSpPr>
        <p:spPr>
          <a:xfrm flipH="1">
            <a:off x="3938270" y="2860675"/>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9" name="直接箭头连接符 58"/>
          <p:cNvCxnSpPr/>
          <p:nvPr/>
        </p:nvCxnSpPr>
        <p:spPr>
          <a:xfrm flipH="1">
            <a:off x="5447030" y="2864485"/>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0" name="直接连接符 59"/>
          <p:cNvCxnSpPr/>
          <p:nvPr/>
        </p:nvCxnSpPr>
        <p:spPr>
          <a:xfrm flipH="1">
            <a:off x="3935095" y="3366135"/>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1" name="直接连接符 60"/>
          <p:cNvCxnSpPr/>
          <p:nvPr/>
        </p:nvCxnSpPr>
        <p:spPr>
          <a:xfrm flipV="1">
            <a:off x="3427095" y="3500755"/>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2" name="直接箭头连接符 61"/>
          <p:cNvCxnSpPr/>
          <p:nvPr/>
        </p:nvCxnSpPr>
        <p:spPr>
          <a:xfrm flipH="1">
            <a:off x="3434715" y="350964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3" name="直接箭头连接符 62"/>
          <p:cNvCxnSpPr/>
          <p:nvPr/>
        </p:nvCxnSpPr>
        <p:spPr>
          <a:xfrm flipH="1">
            <a:off x="4359275" y="349948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4" name="直接连接符 63"/>
          <p:cNvCxnSpPr/>
          <p:nvPr/>
        </p:nvCxnSpPr>
        <p:spPr>
          <a:xfrm flipH="1">
            <a:off x="5433060" y="3357245"/>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5" name="直接连接符 64"/>
          <p:cNvCxnSpPr/>
          <p:nvPr/>
        </p:nvCxnSpPr>
        <p:spPr>
          <a:xfrm flipV="1">
            <a:off x="4963160" y="3491865"/>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6" name="直接箭头连接符 65"/>
          <p:cNvCxnSpPr/>
          <p:nvPr/>
        </p:nvCxnSpPr>
        <p:spPr>
          <a:xfrm flipH="1">
            <a:off x="4963160" y="349313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7" name="直接箭头连接符 66"/>
          <p:cNvCxnSpPr/>
          <p:nvPr/>
        </p:nvCxnSpPr>
        <p:spPr>
          <a:xfrm flipH="1">
            <a:off x="5895340" y="349059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8" name="直接连接符 67"/>
          <p:cNvCxnSpPr/>
          <p:nvPr/>
        </p:nvCxnSpPr>
        <p:spPr>
          <a:xfrm flipH="1">
            <a:off x="3411220" y="4035425"/>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9" name="直接连接符 68"/>
          <p:cNvCxnSpPr/>
          <p:nvPr/>
        </p:nvCxnSpPr>
        <p:spPr>
          <a:xfrm>
            <a:off x="2940685" y="4168775"/>
            <a:ext cx="466090" cy="44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0" name="直接箭头连接符 69"/>
          <p:cNvCxnSpPr/>
          <p:nvPr/>
        </p:nvCxnSpPr>
        <p:spPr>
          <a:xfrm flipH="1">
            <a:off x="2941320" y="417131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71" name="直接箭头连接符 70"/>
          <p:cNvCxnSpPr/>
          <p:nvPr/>
        </p:nvCxnSpPr>
        <p:spPr>
          <a:xfrm flipH="1">
            <a:off x="3873500" y="416877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76" name="直接箭头连接符 75"/>
          <p:cNvCxnSpPr/>
          <p:nvPr/>
        </p:nvCxnSpPr>
        <p:spPr>
          <a:xfrm>
            <a:off x="4222750" y="2444115"/>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77" name="文本框 76"/>
          <p:cNvSpPr txBox="1"/>
          <p:nvPr/>
        </p:nvSpPr>
        <p:spPr>
          <a:xfrm>
            <a:off x="4034155" y="224663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38" name="直接连接符 37"/>
          <p:cNvCxnSpPr/>
          <p:nvPr/>
        </p:nvCxnSpPr>
        <p:spPr>
          <a:xfrm flipV="1">
            <a:off x="3415665" y="4164965"/>
            <a:ext cx="452755" cy="254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箭头连接符 38"/>
          <p:cNvCxnSpPr/>
          <p:nvPr/>
        </p:nvCxnSpPr>
        <p:spPr>
          <a:xfrm>
            <a:off x="3411220" y="3213100"/>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1" name="文本框 40"/>
          <p:cNvSpPr txBox="1"/>
          <p:nvPr/>
        </p:nvSpPr>
        <p:spPr>
          <a:xfrm>
            <a:off x="3222625" y="301561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42" name="直接箭头连接符 41"/>
          <p:cNvCxnSpPr/>
          <p:nvPr/>
        </p:nvCxnSpPr>
        <p:spPr>
          <a:xfrm>
            <a:off x="2879090" y="3860800"/>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3" name="文本框 42"/>
          <p:cNvSpPr txBox="1"/>
          <p:nvPr/>
        </p:nvSpPr>
        <p:spPr>
          <a:xfrm>
            <a:off x="2690495" y="366331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 0 L 0.0890972 -0.285278 " pathEditMode="relative" rAng="0" ptsTypes="">
                                      <p:cBhvr>
                                        <p:cTn id="6" dur="2000" fill="hold"/>
                                        <p:tgtEl>
                                          <p:spTgt spid="32"/>
                                        </p:tgtEl>
                                        <p:attrNameLst>
                                          <p:attrName>ppt_x</p:attrName>
                                          <p:attrName>ppt_y</p:attrName>
                                        </p:attrNameLst>
                                      </p:cBhvr>
                                      <p:rCtr x="4400" y="-14300"/>
                                    </p:animMotion>
                                  </p:childTnLst>
                                </p:cTn>
                              </p:par>
                              <p:par>
                                <p:cTn id="7" presetID="0" presetClass="path" presetSubtype="0" accel="50000" decel="50000" fill="hold" nodeType="withEffect">
                                  <p:stCondLst>
                                    <p:cond delay="0"/>
                                  </p:stCondLst>
                                  <p:childTnLst>
                                    <p:animMotion origin="layout" path="M 0 0 L -0.0898611 0.283981 " pathEditMode="relative" rAng="0" ptsTypes="">
                                      <p:cBhvr>
                                        <p:cTn id="8" dur="2000" fill="hold"/>
                                        <p:tgtEl>
                                          <p:spTgt spid="10245"/>
                                        </p:tgtEl>
                                        <p:attrNameLst>
                                          <p:attrName>ppt_x</p:attrName>
                                          <p:attrName>ppt_y</p:attrName>
                                        </p:attrNameLst>
                                      </p:cBhvr>
                                      <p:rCtr x="-4500" y="14300"/>
                                    </p:animMotion>
                                  </p:childTnLst>
                                </p:cTn>
                              </p:par>
                            </p:childTnLst>
                          </p:cTn>
                        </p:par>
                      </p:childTnLst>
                    </p:cTn>
                  </p:par>
                  <p:par>
                    <p:cTn id="9" fill="hold">
                      <p:stCondLst>
                        <p:cond delay="indefinite"/>
                      </p:stCondLst>
                      <p:childTnLst>
                        <p:par>
                          <p:cTn id="10" fill="hold">
                            <p:stCondLst>
                              <p:cond delay="0"/>
                            </p:stCondLst>
                            <p:childTnLst>
                              <p:par>
                                <p:cTn id="11" presetID="22" presetClass="exit" presetSubtype="4" fill="hold" nodeType="clickEffect">
                                  <p:stCondLst>
                                    <p:cond delay="0"/>
                                  </p:stCondLst>
                                  <p:childTnLst>
                                    <p:animEffect transition="out" filter="wipe(down)">
                                      <p:cBhvr>
                                        <p:cTn id="12" dur="500"/>
                                        <p:tgtEl>
                                          <p:spTgt spid="71"/>
                                        </p:tgtEl>
                                      </p:cBhvr>
                                    </p:animEffect>
                                    <p:set>
                                      <p:cBhvr>
                                        <p:cTn id="13" dur="1" fill="hold">
                                          <p:stCondLst>
                                            <p:cond delay="499"/>
                                          </p:stCondLst>
                                        </p:cTn>
                                        <p:tgtEl>
                                          <p:spTgt spid="71"/>
                                        </p:tgtEl>
                                        <p:attrNameLst>
                                          <p:attrName>style.visibility</p:attrName>
                                        </p:attrNameLst>
                                      </p:cBhvr>
                                      <p:to>
                                        <p:strVal val="hidden"/>
                                      </p:to>
                                    </p:set>
                                  </p:childTnLst>
                                </p:cTn>
                              </p:par>
                              <p:par>
                                <p:cTn id="14" presetID="22" presetClass="exit" presetSubtype="4" fill="hold" nodeType="withEffect">
                                  <p:stCondLst>
                                    <p:cond delay="0"/>
                                  </p:stCondLst>
                                  <p:childTnLst>
                                    <p:animEffect transition="out" filter="wipe(down)">
                                      <p:cBhvr>
                                        <p:cTn id="15" dur="500"/>
                                        <p:tgtEl>
                                          <p:spTgt spid="38"/>
                                        </p:tgtEl>
                                      </p:cBhvr>
                                    </p:animEffect>
                                    <p:set>
                                      <p:cBhvr>
                                        <p:cTn id="16" dur="1" fill="hold">
                                          <p:stCondLst>
                                            <p:cond delay="499"/>
                                          </p:stCondLst>
                                        </p:cTn>
                                        <p:tgtEl>
                                          <p:spTgt spid="38"/>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2" presetClass="entr" presetSubtype="8" fill="hold" nodeType="clickEffect">
                                  <p:stCondLst>
                                    <p:cond delay="0"/>
                                  </p:stCondLst>
                                  <p:childTnLst>
                                    <p:set>
                                      <p:cBhvr>
                                        <p:cTn id="20" dur="1" fill="hold">
                                          <p:stCondLst>
                                            <p:cond delay="0"/>
                                          </p:stCondLst>
                                        </p:cTn>
                                        <p:tgtEl>
                                          <p:spTgt spid="76"/>
                                        </p:tgtEl>
                                        <p:attrNameLst>
                                          <p:attrName>style.visibility</p:attrName>
                                        </p:attrNameLst>
                                      </p:cBhvr>
                                      <p:to>
                                        <p:strVal val="visible"/>
                                      </p:to>
                                    </p:set>
                                    <p:anim calcmode="lin" valueType="num">
                                      <p:cBhvr additive="base">
                                        <p:cTn id="21" dur="500" fill="hold"/>
                                        <p:tgtEl>
                                          <p:spTgt spid="76"/>
                                        </p:tgtEl>
                                        <p:attrNameLst>
                                          <p:attrName>ppt_x</p:attrName>
                                        </p:attrNameLst>
                                      </p:cBhvr>
                                      <p:tavLst>
                                        <p:tav tm="0">
                                          <p:val>
                                            <p:strVal val="0-#ppt_w/2"/>
                                          </p:val>
                                        </p:tav>
                                        <p:tav tm="100000">
                                          <p:val>
                                            <p:strVal val="#ppt_x"/>
                                          </p:val>
                                        </p:tav>
                                      </p:tavLst>
                                    </p:anim>
                                    <p:anim calcmode="lin" valueType="num">
                                      <p:cBhvr additive="base">
                                        <p:cTn id="22" dur="500" fill="hold"/>
                                        <p:tgtEl>
                                          <p:spTgt spid="76"/>
                                        </p:tgtEl>
                                        <p:attrNameLst>
                                          <p:attrName>ppt_y</p:attrName>
                                        </p:attrNameLst>
                                      </p:cBhvr>
                                      <p:tavLst>
                                        <p:tav tm="0">
                                          <p:val>
                                            <p:strVal val="#ppt_y"/>
                                          </p:val>
                                        </p:tav>
                                        <p:tav tm="100000">
                                          <p:val>
                                            <p:strVal val="#ppt_y"/>
                                          </p:val>
                                        </p:tav>
                                      </p:tavLst>
                                    </p:anim>
                                  </p:childTnLst>
                                </p:cTn>
                              </p:par>
                              <p:par>
                                <p:cTn id="23" presetID="2" presetClass="entr" presetSubtype="8"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anim calcmode="lin" valueType="num">
                                      <p:cBhvr additive="base">
                                        <p:cTn id="25" dur="500" fill="hold"/>
                                        <p:tgtEl>
                                          <p:spTgt spid="77"/>
                                        </p:tgtEl>
                                        <p:attrNameLst>
                                          <p:attrName>ppt_x</p:attrName>
                                        </p:attrNameLst>
                                      </p:cBhvr>
                                      <p:tavLst>
                                        <p:tav tm="0">
                                          <p:val>
                                            <p:strVal val="0-#ppt_w/2"/>
                                          </p:val>
                                        </p:tav>
                                        <p:tav tm="100000">
                                          <p:val>
                                            <p:strVal val="#ppt_x"/>
                                          </p:val>
                                        </p:tav>
                                      </p:tavLst>
                                    </p:anim>
                                    <p:anim calcmode="lin" valueType="num">
                                      <p:cBhvr additive="base">
                                        <p:cTn id="26" dur="500" fill="hold"/>
                                        <p:tgtEl>
                                          <p:spTgt spid="77"/>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nodeType="clickEffect">
                                  <p:stCondLst>
                                    <p:cond delay="0"/>
                                  </p:stCondLst>
                                  <p:childTnLst>
                                    <p:animMotion origin="layout" path="M 0 0 L 0.0830556 -0.0916667 " pathEditMode="relative" rAng="0" ptsTypes="">
                                      <p:cBhvr>
                                        <p:cTn id="30" dur="2000" fill="hold"/>
                                        <p:tgtEl>
                                          <p:spTgt spid="3"/>
                                        </p:tgtEl>
                                        <p:attrNameLst>
                                          <p:attrName>ppt_x</p:attrName>
                                          <p:attrName>ppt_y</p:attrName>
                                        </p:attrNameLst>
                                      </p:cBhvr>
                                      <p:rCtr x="4100" y="-4400"/>
                                    </p:animMotion>
                                  </p:childTnLst>
                                </p:cTn>
                              </p:par>
                              <p:par>
                                <p:cTn id="31" presetID="0" presetClass="path" presetSubtype="0" accel="50000" decel="50000" fill="hold" nodeType="withEffect">
                                  <p:stCondLst>
                                    <p:cond delay="0"/>
                                  </p:stCondLst>
                                  <p:childTnLst>
                                    <p:animMotion origin="layout" path="M 0.08875 -0.281759 L 0.00708333 -0.195 " pathEditMode="relative" rAng="0" ptsTypes="">
                                      <p:cBhvr>
                                        <p:cTn id="32" dur="2000" fill="hold"/>
                                        <p:tgtEl>
                                          <p:spTgt spid="32"/>
                                        </p:tgtEl>
                                        <p:attrNameLst>
                                          <p:attrName>ppt_x</p:attrName>
                                          <p:attrName>ppt_y</p:attrName>
                                        </p:attrNameLst>
                                      </p:cBhvr>
                                      <p:rCtr x="-4100" y="4300"/>
                                    </p:animMotion>
                                  </p:childTnLst>
                                </p:cTn>
                              </p:par>
                            </p:childTnLst>
                          </p:cTn>
                        </p:par>
                      </p:childTnLst>
                    </p:cTn>
                  </p:par>
                  <p:par>
                    <p:cTn id="33" fill="hold">
                      <p:stCondLst>
                        <p:cond delay="indefinite"/>
                      </p:stCondLst>
                      <p:childTnLst>
                        <p:par>
                          <p:cTn id="34" fill="hold">
                            <p:stCondLst>
                              <p:cond delay="0"/>
                            </p:stCondLst>
                            <p:childTnLst>
                              <p:par>
                                <p:cTn id="35" presetID="2" presetClass="exit" presetSubtype="8" fill="hold" nodeType="clickEffect">
                                  <p:stCondLst>
                                    <p:cond delay="0"/>
                                  </p:stCondLst>
                                  <p:childTnLst>
                                    <p:anim calcmode="lin" valueType="num">
                                      <p:cBhvr additive="base">
                                        <p:cTn id="36" dur="500"/>
                                        <p:tgtEl>
                                          <p:spTgt spid="76"/>
                                        </p:tgtEl>
                                        <p:attrNameLst>
                                          <p:attrName>ppt_x</p:attrName>
                                        </p:attrNameLst>
                                      </p:cBhvr>
                                      <p:tavLst>
                                        <p:tav tm="0">
                                          <p:val>
                                            <p:strVal val="ppt_x"/>
                                          </p:val>
                                        </p:tav>
                                        <p:tav tm="100000">
                                          <p:val>
                                            <p:strVal val="0-ppt_w/2"/>
                                          </p:val>
                                        </p:tav>
                                      </p:tavLst>
                                    </p:anim>
                                    <p:anim calcmode="lin" valueType="num">
                                      <p:cBhvr additive="base">
                                        <p:cTn id="37" dur="500"/>
                                        <p:tgtEl>
                                          <p:spTgt spid="76"/>
                                        </p:tgtEl>
                                        <p:attrNameLst>
                                          <p:attrName>ppt_y</p:attrName>
                                        </p:attrNameLst>
                                      </p:cBhvr>
                                      <p:tavLst>
                                        <p:tav tm="0">
                                          <p:val>
                                            <p:strVal val="ppt_y"/>
                                          </p:val>
                                        </p:tav>
                                        <p:tav tm="100000">
                                          <p:val>
                                            <p:strVal val="ppt_y"/>
                                          </p:val>
                                        </p:tav>
                                      </p:tavLst>
                                    </p:anim>
                                    <p:set>
                                      <p:cBhvr>
                                        <p:cTn id="38" dur="1" fill="hold">
                                          <p:stCondLst>
                                            <p:cond delay="499"/>
                                          </p:stCondLst>
                                        </p:cTn>
                                        <p:tgtEl>
                                          <p:spTgt spid="76"/>
                                        </p:tgtEl>
                                        <p:attrNameLst>
                                          <p:attrName>style.visibility</p:attrName>
                                        </p:attrNameLst>
                                      </p:cBhvr>
                                      <p:to>
                                        <p:strVal val="hidden"/>
                                      </p:to>
                                    </p:set>
                                  </p:childTnLst>
                                </p:cTn>
                              </p:par>
                              <p:par>
                                <p:cTn id="39" presetID="2" presetClass="exit" presetSubtype="8" fill="hold" grpId="2" nodeType="withEffect">
                                  <p:stCondLst>
                                    <p:cond delay="0"/>
                                  </p:stCondLst>
                                  <p:childTnLst>
                                    <p:anim calcmode="lin" valueType="num">
                                      <p:cBhvr additive="base">
                                        <p:cTn id="40" dur="500"/>
                                        <p:tgtEl>
                                          <p:spTgt spid="77"/>
                                        </p:tgtEl>
                                        <p:attrNameLst>
                                          <p:attrName>ppt_x</p:attrName>
                                        </p:attrNameLst>
                                      </p:cBhvr>
                                      <p:tavLst>
                                        <p:tav tm="0">
                                          <p:val>
                                            <p:strVal val="ppt_x"/>
                                          </p:val>
                                        </p:tav>
                                        <p:tav tm="100000">
                                          <p:val>
                                            <p:strVal val="0-ppt_w/2"/>
                                          </p:val>
                                        </p:tav>
                                      </p:tavLst>
                                    </p:anim>
                                    <p:anim calcmode="lin" valueType="num">
                                      <p:cBhvr additive="base">
                                        <p:cTn id="41" dur="500"/>
                                        <p:tgtEl>
                                          <p:spTgt spid="77"/>
                                        </p:tgtEl>
                                        <p:attrNameLst>
                                          <p:attrName>ppt_y</p:attrName>
                                        </p:attrNameLst>
                                      </p:cBhvr>
                                      <p:tavLst>
                                        <p:tav tm="0">
                                          <p:val>
                                            <p:strVal val="ppt_y"/>
                                          </p:val>
                                        </p:tav>
                                        <p:tav tm="100000">
                                          <p:val>
                                            <p:strVal val="ppt_y"/>
                                          </p:val>
                                        </p:tav>
                                      </p:tavLst>
                                    </p:anim>
                                    <p:set>
                                      <p:cBhvr>
                                        <p:cTn id="42" dur="1" fill="hold">
                                          <p:stCondLst>
                                            <p:cond delay="499"/>
                                          </p:stCondLst>
                                        </p:cTn>
                                        <p:tgtEl>
                                          <p:spTgt spid="77"/>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2" presetClass="entr" presetSubtype="8" fill="hold" nodeType="clickEffect">
                                  <p:stCondLst>
                                    <p:cond delay="0"/>
                                  </p:stCondLst>
                                  <p:childTnLst>
                                    <p:set>
                                      <p:cBhvr>
                                        <p:cTn id="46" dur="1" fill="hold">
                                          <p:stCondLst>
                                            <p:cond delay="0"/>
                                          </p:stCondLst>
                                        </p:cTn>
                                        <p:tgtEl>
                                          <p:spTgt spid="39"/>
                                        </p:tgtEl>
                                        <p:attrNameLst>
                                          <p:attrName>style.visibility</p:attrName>
                                        </p:attrNameLst>
                                      </p:cBhvr>
                                      <p:to>
                                        <p:strVal val="visible"/>
                                      </p:to>
                                    </p:set>
                                    <p:anim calcmode="lin" valueType="num">
                                      <p:cBhvr additive="base">
                                        <p:cTn id="47" dur="500" fill="hold"/>
                                        <p:tgtEl>
                                          <p:spTgt spid="39"/>
                                        </p:tgtEl>
                                        <p:attrNameLst>
                                          <p:attrName>ppt_x</p:attrName>
                                        </p:attrNameLst>
                                      </p:cBhvr>
                                      <p:tavLst>
                                        <p:tav tm="0">
                                          <p:val>
                                            <p:strVal val="0-#ppt_w/2"/>
                                          </p:val>
                                        </p:tav>
                                        <p:tav tm="100000">
                                          <p:val>
                                            <p:strVal val="#ppt_x"/>
                                          </p:val>
                                        </p:tav>
                                      </p:tavLst>
                                    </p:anim>
                                    <p:anim calcmode="lin" valueType="num">
                                      <p:cBhvr additive="base">
                                        <p:cTn id="48" dur="500" fill="hold"/>
                                        <p:tgtEl>
                                          <p:spTgt spid="39"/>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41"/>
                                        </p:tgtEl>
                                        <p:attrNameLst>
                                          <p:attrName>style.visibility</p:attrName>
                                        </p:attrNameLst>
                                      </p:cBhvr>
                                      <p:to>
                                        <p:strVal val="visible"/>
                                      </p:to>
                                    </p:set>
                                    <p:anim calcmode="lin" valueType="num">
                                      <p:cBhvr additive="base">
                                        <p:cTn id="51" dur="500" fill="hold"/>
                                        <p:tgtEl>
                                          <p:spTgt spid="41"/>
                                        </p:tgtEl>
                                        <p:attrNameLst>
                                          <p:attrName>ppt_x</p:attrName>
                                        </p:attrNameLst>
                                      </p:cBhvr>
                                      <p:tavLst>
                                        <p:tav tm="0">
                                          <p:val>
                                            <p:strVal val="0-#ppt_w/2"/>
                                          </p:val>
                                        </p:tav>
                                        <p:tav tm="100000">
                                          <p:val>
                                            <p:strVal val="#ppt_x"/>
                                          </p:val>
                                        </p:tav>
                                      </p:tavLst>
                                    </p:anim>
                                    <p:anim calcmode="lin" valueType="num">
                                      <p:cBhvr additive="base">
                                        <p:cTn id="52" dur="500" fill="hold"/>
                                        <p:tgtEl>
                                          <p:spTgt spid="41"/>
                                        </p:tgtEl>
                                        <p:attrNameLst>
                                          <p:attrName>ppt_y</p:attrName>
                                        </p:attrNameLst>
                                      </p:cBhvr>
                                      <p:tavLst>
                                        <p:tav tm="0">
                                          <p:val>
                                            <p:strVal val="#ppt_y"/>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0" presetClass="path" presetSubtype="0" accel="50000" decel="50000" fill="hold" nodeType="clickEffect">
                                  <p:stCondLst>
                                    <p:cond delay="0"/>
                                  </p:stCondLst>
                                  <p:childTnLst>
                                    <p:animMotion origin="layout" path="M 0 0 L 0.0590278 -0.0973148 " pathEditMode="relative" rAng="0" ptsTypes="">
                                      <p:cBhvr>
                                        <p:cTn id="56" dur="2000" fill="hold"/>
                                        <p:tgtEl>
                                          <p:spTgt spid="11"/>
                                        </p:tgtEl>
                                        <p:attrNameLst>
                                          <p:attrName>ppt_x</p:attrName>
                                          <p:attrName>ppt_y</p:attrName>
                                        </p:attrNameLst>
                                      </p:cBhvr>
                                      <p:rCtr x="3000" y="-5000"/>
                                    </p:animMotion>
                                  </p:childTnLst>
                                </p:cTn>
                              </p:par>
                              <p:par>
                                <p:cTn id="57" presetID="0" presetClass="path" presetSubtype="0" accel="50000" decel="50000" fill="hold" nodeType="withEffect">
                                  <p:stCondLst>
                                    <p:cond delay="0"/>
                                  </p:stCondLst>
                                  <p:childTnLst>
                                    <p:animMotion origin="layout" path="M 0.00201389 -0.19787 L -0.0518056 -0.0955556 " pathEditMode="relative" rAng="0" ptsTypes="">
                                      <p:cBhvr>
                                        <p:cTn id="58" dur="2000" fill="hold"/>
                                        <p:tgtEl>
                                          <p:spTgt spid="32"/>
                                        </p:tgtEl>
                                        <p:attrNameLst>
                                          <p:attrName>ppt_x</p:attrName>
                                          <p:attrName>ppt_y</p:attrName>
                                        </p:attrNameLst>
                                      </p:cBhvr>
                                      <p:rCtr x="-2600" y="5200"/>
                                    </p:animMotion>
                                  </p:childTnLst>
                                </p:cTn>
                              </p:par>
                            </p:childTnLst>
                          </p:cTn>
                        </p:par>
                      </p:childTnLst>
                    </p:cTn>
                  </p:par>
                  <p:par>
                    <p:cTn id="59" fill="hold">
                      <p:stCondLst>
                        <p:cond delay="indefinite"/>
                      </p:stCondLst>
                      <p:childTnLst>
                        <p:par>
                          <p:cTn id="60" fill="hold">
                            <p:stCondLst>
                              <p:cond delay="0"/>
                            </p:stCondLst>
                            <p:childTnLst>
                              <p:par>
                                <p:cTn id="61" presetID="2" presetClass="exit" presetSubtype="4" fill="hold" nodeType="clickEffect">
                                  <p:stCondLst>
                                    <p:cond delay="0"/>
                                  </p:stCondLst>
                                  <p:childTnLst>
                                    <p:anim calcmode="lin" valueType="num">
                                      <p:cBhvr additive="base">
                                        <p:cTn id="62" dur="500"/>
                                        <p:tgtEl>
                                          <p:spTgt spid="39"/>
                                        </p:tgtEl>
                                        <p:attrNameLst>
                                          <p:attrName>ppt_x</p:attrName>
                                        </p:attrNameLst>
                                      </p:cBhvr>
                                      <p:tavLst>
                                        <p:tav tm="0">
                                          <p:val>
                                            <p:strVal val="ppt_x"/>
                                          </p:val>
                                        </p:tav>
                                        <p:tav tm="100000">
                                          <p:val>
                                            <p:strVal val="ppt_x"/>
                                          </p:val>
                                        </p:tav>
                                      </p:tavLst>
                                    </p:anim>
                                    <p:anim calcmode="lin" valueType="num">
                                      <p:cBhvr additive="base">
                                        <p:cTn id="63" dur="500"/>
                                        <p:tgtEl>
                                          <p:spTgt spid="39"/>
                                        </p:tgtEl>
                                        <p:attrNameLst>
                                          <p:attrName>ppt_y</p:attrName>
                                        </p:attrNameLst>
                                      </p:cBhvr>
                                      <p:tavLst>
                                        <p:tav tm="0">
                                          <p:val>
                                            <p:strVal val="ppt_y"/>
                                          </p:val>
                                        </p:tav>
                                        <p:tav tm="100000">
                                          <p:val>
                                            <p:strVal val="1+ppt_h/2"/>
                                          </p:val>
                                        </p:tav>
                                      </p:tavLst>
                                    </p:anim>
                                    <p:set>
                                      <p:cBhvr>
                                        <p:cTn id="64" dur="1" fill="hold">
                                          <p:stCondLst>
                                            <p:cond delay="499"/>
                                          </p:stCondLst>
                                        </p:cTn>
                                        <p:tgtEl>
                                          <p:spTgt spid="39"/>
                                        </p:tgtEl>
                                        <p:attrNameLst>
                                          <p:attrName>style.visibility</p:attrName>
                                        </p:attrNameLst>
                                      </p:cBhvr>
                                      <p:to>
                                        <p:strVal val="hidden"/>
                                      </p:to>
                                    </p:set>
                                  </p:childTnLst>
                                </p:cTn>
                              </p:par>
                              <p:par>
                                <p:cTn id="65" presetID="2" presetClass="exit" presetSubtype="4" fill="hold" grpId="2" nodeType="withEffect">
                                  <p:stCondLst>
                                    <p:cond delay="0"/>
                                  </p:stCondLst>
                                  <p:childTnLst>
                                    <p:anim calcmode="lin" valueType="num">
                                      <p:cBhvr additive="base">
                                        <p:cTn id="66" dur="500"/>
                                        <p:tgtEl>
                                          <p:spTgt spid="41"/>
                                        </p:tgtEl>
                                        <p:attrNameLst>
                                          <p:attrName>ppt_x</p:attrName>
                                        </p:attrNameLst>
                                      </p:cBhvr>
                                      <p:tavLst>
                                        <p:tav tm="0">
                                          <p:val>
                                            <p:strVal val="ppt_x"/>
                                          </p:val>
                                        </p:tav>
                                        <p:tav tm="100000">
                                          <p:val>
                                            <p:strVal val="ppt_x"/>
                                          </p:val>
                                        </p:tav>
                                      </p:tavLst>
                                    </p:anim>
                                    <p:anim calcmode="lin" valueType="num">
                                      <p:cBhvr additive="base">
                                        <p:cTn id="67" dur="500"/>
                                        <p:tgtEl>
                                          <p:spTgt spid="41"/>
                                        </p:tgtEl>
                                        <p:attrNameLst>
                                          <p:attrName>ppt_y</p:attrName>
                                        </p:attrNameLst>
                                      </p:cBhvr>
                                      <p:tavLst>
                                        <p:tav tm="0">
                                          <p:val>
                                            <p:strVal val="ppt_y"/>
                                          </p:val>
                                        </p:tav>
                                        <p:tav tm="100000">
                                          <p:val>
                                            <p:strVal val="1+ppt_h/2"/>
                                          </p:val>
                                        </p:tav>
                                      </p:tavLst>
                                    </p:anim>
                                    <p:set>
                                      <p:cBhvr>
                                        <p:cTn id="68" dur="1" fill="hold">
                                          <p:stCondLst>
                                            <p:cond delay="499"/>
                                          </p:stCondLst>
                                        </p:cTn>
                                        <p:tgtEl>
                                          <p:spTgt spid="41"/>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2" presetClass="entr" presetSubtype="8" fill="hold" nodeType="clickEffect">
                                  <p:stCondLst>
                                    <p:cond delay="0"/>
                                  </p:stCondLst>
                                  <p:childTnLst>
                                    <p:set>
                                      <p:cBhvr>
                                        <p:cTn id="72" dur="1" fill="hold">
                                          <p:stCondLst>
                                            <p:cond delay="0"/>
                                          </p:stCondLst>
                                        </p:cTn>
                                        <p:tgtEl>
                                          <p:spTgt spid="42"/>
                                        </p:tgtEl>
                                        <p:attrNameLst>
                                          <p:attrName>style.visibility</p:attrName>
                                        </p:attrNameLst>
                                      </p:cBhvr>
                                      <p:to>
                                        <p:strVal val="visible"/>
                                      </p:to>
                                    </p:set>
                                    <p:anim calcmode="lin" valueType="num">
                                      <p:cBhvr additive="base">
                                        <p:cTn id="73" dur="500" fill="hold"/>
                                        <p:tgtEl>
                                          <p:spTgt spid="42"/>
                                        </p:tgtEl>
                                        <p:attrNameLst>
                                          <p:attrName>ppt_x</p:attrName>
                                        </p:attrNameLst>
                                      </p:cBhvr>
                                      <p:tavLst>
                                        <p:tav tm="0">
                                          <p:val>
                                            <p:strVal val="0-#ppt_w/2"/>
                                          </p:val>
                                        </p:tav>
                                        <p:tav tm="100000">
                                          <p:val>
                                            <p:strVal val="#ppt_x"/>
                                          </p:val>
                                        </p:tav>
                                      </p:tavLst>
                                    </p:anim>
                                    <p:anim calcmode="lin" valueType="num">
                                      <p:cBhvr additive="base">
                                        <p:cTn id="74" dur="500" fill="hold"/>
                                        <p:tgtEl>
                                          <p:spTgt spid="42"/>
                                        </p:tgtEl>
                                        <p:attrNameLst>
                                          <p:attrName>ppt_y</p:attrName>
                                        </p:attrNameLst>
                                      </p:cBhvr>
                                      <p:tavLst>
                                        <p:tav tm="0">
                                          <p:val>
                                            <p:strVal val="#ppt_y"/>
                                          </p:val>
                                        </p:tav>
                                        <p:tav tm="100000">
                                          <p:val>
                                            <p:strVal val="#ppt_y"/>
                                          </p:val>
                                        </p:tav>
                                      </p:tavLst>
                                    </p:anim>
                                  </p:childTnLst>
                                </p:cTn>
                              </p:par>
                              <p:par>
                                <p:cTn id="75" presetID="2" presetClass="entr" presetSubtype="8" fill="hold" grpId="0" nodeType="withEffect">
                                  <p:stCondLst>
                                    <p:cond delay="0"/>
                                  </p:stCondLst>
                                  <p:childTnLst>
                                    <p:set>
                                      <p:cBhvr>
                                        <p:cTn id="76" dur="1" fill="hold">
                                          <p:stCondLst>
                                            <p:cond delay="0"/>
                                          </p:stCondLst>
                                        </p:cTn>
                                        <p:tgtEl>
                                          <p:spTgt spid="43"/>
                                        </p:tgtEl>
                                        <p:attrNameLst>
                                          <p:attrName>style.visibility</p:attrName>
                                        </p:attrNameLst>
                                      </p:cBhvr>
                                      <p:to>
                                        <p:strVal val="visible"/>
                                      </p:to>
                                    </p:set>
                                    <p:anim calcmode="lin" valueType="num">
                                      <p:cBhvr additive="base">
                                        <p:cTn id="77" dur="500" fill="hold"/>
                                        <p:tgtEl>
                                          <p:spTgt spid="43"/>
                                        </p:tgtEl>
                                        <p:attrNameLst>
                                          <p:attrName>ppt_x</p:attrName>
                                        </p:attrNameLst>
                                      </p:cBhvr>
                                      <p:tavLst>
                                        <p:tav tm="0">
                                          <p:val>
                                            <p:strVal val="0-#ppt_w/2"/>
                                          </p:val>
                                        </p:tav>
                                        <p:tav tm="100000">
                                          <p:val>
                                            <p:strVal val="#ppt_x"/>
                                          </p:val>
                                        </p:tav>
                                      </p:tavLst>
                                    </p:anim>
                                    <p:anim calcmode="lin" valueType="num">
                                      <p:cBhvr additive="base">
                                        <p:cTn id="78" dur="500" fill="hold"/>
                                        <p:tgtEl>
                                          <p:spTgt spid="43"/>
                                        </p:tgtEl>
                                        <p:attrNameLst>
                                          <p:attrName>ppt_y</p:attrName>
                                        </p:attrNameLst>
                                      </p:cBhvr>
                                      <p:tavLst>
                                        <p:tav tm="0">
                                          <p:val>
                                            <p:strVal val="#ppt_y"/>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81" presetID="2" presetClass="exit" presetSubtype="8" fill="hold" nodeType="clickEffect">
                                  <p:stCondLst>
                                    <p:cond delay="0"/>
                                  </p:stCondLst>
                                  <p:childTnLst>
                                    <p:anim calcmode="lin" valueType="num">
                                      <p:cBhvr additive="base">
                                        <p:cTn id="82" dur="500"/>
                                        <p:tgtEl>
                                          <p:spTgt spid="42"/>
                                        </p:tgtEl>
                                        <p:attrNameLst>
                                          <p:attrName>ppt_x</p:attrName>
                                        </p:attrNameLst>
                                      </p:cBhvr>
                                      <p:tavLst>
                                        <p:tav tm="0">
                                          <p:val>
                                            <p:strVal val="ppt_x"/>
                                          </p:val>
                                        </p:tav>
                                        <p:tav tm="100000">
                                          <p:val>
                                            <p:strVal val="0-ppt_w/2"/>
                                          </p:val>
                                        </p:tav>
                                      </p:tavLst>
                                    </p:anim>
                                    <p:anim calcmode="lin" valueType="num">
                                      <p:cBhvr additive="base">
                                        <p:cTn id="83" dur="500"/>
                                        <p:tgtEl>
                                          <p:spTgt spid="42"/>
                                        </p:tgtEl>
                                        <p:attrNameLst>
                                          <p:attrName>ppt_y</p:attrName>
                                        </p:attrNameLst>
                                      </p:cBhvr>
                                      <p:tavLst>
                                        <p:tav tm="0">
                                          <p:val>
                                            <p:strVal val="ppt_y"/>
                                          </p:val>
                                        </p:tav>
                                        <p:tav tm="100000">
                                          <p:val>
                                            <p:strVal val="ppt_y"/>
                                          </p:val>
                                        </p:tav>
                                      </p:tavLst>
                                    </p:anim>
                                    <p:set>
                                      <p:cBhvr>
                                        <p:cTn id="84" dur="1" fill="hold">
                                          <p:stCondLst>
                                            <p:cond delay="499"/>
                                          </p:stCondLst>
                                        </p:cTn>
                                        <p:tgtEl>
                                          <p:spTgt spid="42"/>
                                        </p:tgtEl>
                                        <p:attrNameLst>
                                          <p:attrName>style.visibility</p:attrName>
                                        </p:attrNameLst>
                                      </p:cBhvr>
                                      <p:to>
                                        <p:strVal val="hidden"/>
                                      </p:to>
                                    </p:set>
                                  </p:childTnLst>
                                </p:cTn>
                              </p:par>
                              <p:par>
                                <p:cTn id="85" presetID="2" presetClass="exit" presetSubtype="8" fill="hold" grpId="2" nodeType="withEffect">
                                  <p:stCondLst>
                                    <p:cond delay="0"/>
                                  </p:stCondLst>
                                  <p:childTnLst>
                                    <p:anim calcmode="lin" valueType="num">
                                      <p:cBhvr additive="base">
                                        <p:cTn id="86" dur="500"/>
                                        <p:tgtEl>
                                          <p:spTgt spid="43"/>
                                        </p:tgtEl>
                                        <p:attrNameLst>
                                          <p:attrName>ppt_x</p:attrName>
                                        </p:attrNameLst>
                                      </p:cBhvr>
                                      <p:tavLst>
                                        <p:tav tm="0">
                                          <p:val>
                                            <p:strVal val="ppt_x"/>
                                          </p:val>
                                        </p:tav>
                                        <p:tav tm="100000">
                                          <p:val>
                                            <p:strVal val="0-ppt_w/2"/>
                                          </p:val>
                                        </p:tav>
                                      </p:tavLst>
                                    </p:anim>
                                    <p:anim calcmode="lin" valueType="num">
                                      <p:cBhvr additive="base">
                                        <p:cTn id="87" dur="500"/>
                                        <p:tgtEl>
                                          <p:spTgt spid="43"/>
                                        </p:tgtEl>
                                        <p:attrNameLst>
                                          <p:attrName>ppt_y</p:attrName>
                                        </p:attrNameLst>
                                      </p:cBhvr>
                                      <p:tavLst>
                                        <p:tav tm="0">
                                          <p:val>
                                            <p:strVal val="ppt_y"/>
                                          </p:val>
                                        </p:tav>
                                        <p:tav tm="100000">
                                          <p:val>
                                            <p:strVal val="ppt_y"/>
                                          </p:val>
                                        </p:tav>
                                      </p:tavLst>
                                    </p:anim>
                                    <p:set>
                                      <p:cBhvr>
                                        <p:cTn id="88" dur="1" fill="hold">
                                          <p:stCondLst>
                                            <p:cond delay="499"/>
                                          </p:stCondLst>
                                        </p:cTn>
                                        <p:tgtEl>
                                          <p:spTgt spid="4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7" grpId="1"/>
      <p:bldP spid="77" grpId="2"/>
      <p:bldP spid="41" grpId="0"/>
      <p:bldP spid="41" grpId="1"/>
      <p:bldP spid="41" grpId="2"/>
      <p:bldP spid="43" grpId="0"/>
      <p:bldP spid="43" grpId="1"/>
      <p:bldP spid="43" grpId="2"/>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p:cNvSpPr>
          <p:nvPr>
            <p:ph type="title"/>
          </p:nvPr>
        </p:nvSpPr>
        <p:spPr>
          <a:xfrm>
            <a:off x="1258888" y="333375"/>
            <a:ext cx="7793037" cy="1462088"/>
          </a:xfrm>
        </p:spPr>
        <p:txBody>
          <a:bodyPr vert="horz" wrap="square" lIns="91440" tIns="45720" rIns="91440" bIns="45720" anchor="b" anchorCtr="0"/>
          <a:lstStyle/>
          <a:p>
            <a:pPr eaLnBrk="1" hangingPunct="1">
              <a:buFont typeface="Wingdings" panose="05000000000000000000" pitchFamily="2" charset="2"/>
              <a:buNone/>
            </a:pPr>
            <a:r>
              <a:rPr lang="zh-CN" altLang="en-US" dirty="0"/>
              <a:t>1.</a:t>
            </a:r>
            <a:r>
              <a:rPr lang="en-US" altLang="zh-CN" dirty="0"/>
              <a:t>3 </a:t>
            </a:r>
            <a:r>
              <a:rPr lang="zh-CN" altLang="en-US" dirty="0"/>
              <a:t>利用堆进行排序</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13</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5" name="文本框 14"/>
          <p:cNvSpPr txBox="1"/>
          <p:nvPr/>
        </p:nvSpPr>
        <p:spPr>
          <a:xfrm>
            <a:off x="755650" y="2025650"/>
            <a:ext cx="3455988" cy="369888"/>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堆排序流程及代码实现</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pic>
        <p:nvPicPr>
          <p:cNvPr id="28677" name="图片 4"/>
          <p:cNvPicPr>
            <a:picLocks noChangeAspect="1"/>
          </p:cNvPicPr>
          <p:nvPr/>
        </p:nvPicPr>
        <p:blipFill>
          <a:blip r:embed="rId1"/>
          <a:stretch>
            <a:fillRect/>
          </a:stretch>
        </p:blipFill>
        <p:spPr>
          <a:xfrm>
            <a:off x="558800" y="2503488"/>
            <a:ext cx="1584325" cy="3603625"/>
          </a:xfrm>
          <a:prstGeom prst="rect">
            <a:avLst/>
          </a:prstGeom>
          <a:noFill/>
          <a:ln w="9525">
            <a:noFill/>
          </a:ln>
        </p:spPr>
      </p:pic>
      <p:pic>
        <p:nvPicPr>
          <p:cNvPr id="28678" name="图片 5"/>
          <p:cNvPicPr>
            <a:picLocks noChangeAspect="1"/>
          </p:cNvPicPr>
          <p:nvPr/>
        </p:nvPicPr>
        <p:blipFill>
          <a:blip r:embed="rId2"/>
          <a:stretch>
            <a:fillRect/>
          </a:stretch>
        </p:blipFill>
        <p:spPr>
          <a:xfrm>
            <a:off x="2185988" y="2987675"/>
            <a:ext cx="2914650" cy="2190750"/>
          </a:xfrm>
          <a:prstGeom prst="rect">
            <a:avLst/>
          </a:prstGeom>
          <a:noFill/>
          <a:ln w="9525">
            <a:noFill/>
          </a:ln>
        </p:spPr>
      </p:pic>
      <p:sp>
        <p:nvSpPr>
          <p:cNvPr id="2" name="矩形 1"/>
          <p:cNvSpPr/>
          <p:nvPr/>
        </p:nvSpPr>
        <p:spPr>
          <a:xfrm>
            <a:off x="256387" y="776511"/>
            <a:ext cx="2917825" cy="521970"/>
          </a:xfrm>
          <a:prstGeom prst="rect">
            <a:avLst/>
          </a:prstGeom>
        </p:spPr>
        <p:txBody>
          <a:bodyPr wrap="none">
            <a:spAutoFit/>
          </a:bodyPr>
          <a:lstStyle/>
          <a:p>
            <a:pPr algn="just">
              <a:spcBef>
                <a:spcPct val="50000"/>
              </a:spcBef>
              <a:defRPr/>
            </a:pPr>
            <a:r>
              <a:rPr lang="en-US" altLang="zh-CN" sz="28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pic>
        <p:nvPicPr>
          <p:cNvPr id="3" name="图片 2"/>
          <p:cNvPicPr>
            <a:picLocks noChangeAspect="1"/>
          </p:cNvPicPr>
          <p:nvPr/>
        </p:nvPicPr>
        <p:blipFill>
          <a:blip r:embed="rId3"/>
          <a:stretch>
            <a:fillRect/>
          </a:stretch>
        </p:blipFill>
        <p:spPr>
          <a:xfrm>
            <a:off x="4859655" y="2987675"/>
            <a:ext cx="3825240" cy="2872740"/>
          </a:xfrm>
          <a:prstGeom prst="rect">
            <a:avLst/>
          </a:prstGeom>
        </p:spPr>
      </p:pic>
    </p:spTree>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6534" y="776511"/>
            <a:ext cx="3275330" cy="521970"/>
          </a:xfrm>
          <a:prstGeom prst="rect">
            <a:avLst/>
          </a:prstGeom>
        </p:spPr>
        <p:txBody>
          <a:bodyPr wrap="none">
            <a:spAutoFit/>
          </a:bodyPr>
          <a:lstStyle/>
          <a:p>
            <a:pPr algn="just">
              <a:spcBef>
                <a:spcPct val="50000"/>
              </a:spcBef>
              <a:defRPr/>
            </a:pPr>
            <a:r>
              <a:rPr lang="en-US" altLang="zh-CN" sz="28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(3)</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哈夫曼实现</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6" name="文本框 5"/>
          <p:cNvSpPr txBox="1"/>
          <p:nvPr/>
        </p:nvSpPr>
        <p:spPr>
          <a:xfrm>
            <a:off x="179705" y="2777490"/>
            <a:ext cx="5539740" cy="2306955"/>
          </a:xfrm>
          <a:prstGeom prst="rect">
            <a:avLst/>
          </a:prstGeom>
          <a:noFill/>
        </p:spPr>
        <p:txBody>
          <a:bodyPr wrap="square" rtlCol="0" anchor="t">
            <a:spAutoFit/>
          </a:bodyPr>
          <a:lstStyle/>
          <a:p>
            <a:r>
              <a:rPr lang="en-US" altLang="zh-CN">
                <a:solidFill>
                  <a:schemeClr val="tx1"/>
                </a:solidFill>
                <a:uFillTx/>
                <a:latin typeface="Times New Roman" panose="02020603050405020304" pitchFamily="18" charset="0"/>
                <a:cs typeface="Times New Roman" panose="02020603050405020304" pitchFamily="18" charset="0"/>
              </a:rPr>
              <a:t>class TreeNode(object):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def __init__(self, val=0, left=None, right=None):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self.val = val</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self.left = left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self.right = right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r>
              <a:rPr lang="zh-CN" altLang="en-US">
                <a:solidFill>
                  <a:schemeClr val="tx1"/>
                </a:solidFill>
                <a:uFillTx/>
                <a:latin typeface="Times New Roman" panose="02020603050405020304" pitchFamily="18" charset="0"/>
                <a:cs typeface="Times New Roman" panose="02020603050405020304" pitchFamily="18" charset="0"/>
              </a:rPr>
              <a:t>实现比较函数</a:t>
            </a:r>
            <a:endParaRPr lang="zh-CN" altLang="en-US">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def __lt__(self, other):</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return self.val &lt; other.val</a:t>
            </a:r>
            <a:endParaRPr lang="en-US" altLang="zh-CN">
              <a:solidFill>
                <a:schemeClr val="tx1"/>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191135" y="2348865"/>
            <a:ext cx="2292350" cy="422910"/>
          </a:xfrm>
          <a:prstGeom prst="rect">
            <a:avLst/>
          </a:prstGeom>
          <a:noFill/>
        </p:spPr>
        <p:txBody>
          <a:bodyPr wrap="square" rtlCol="0">
            <a:noAutofit/>
          </a:bodyPr>
          <a:lstStyle/>
          <a:p>
            <a:r>
              <a:rPr lang="zh-CN" altLang="en-US">
                <a:latin typeface="Times New Roman" panose="02020603050405020304" pitchFamily="18" charset="0"/>
                <a:cs typeface="Times New Roman" panose="02020603050405020304" pitchFamily="18" charset="0"/>
              </a:rPr>
              <a:t>哈夫曼节点的实现：</a:t>
            </a:r>
            <a:endParaRPr lang="zh-CN" altLang="en-US">
              <a:latin typeface="Times New Roman" panose="02020603050405020304" pitchFamily="18" charset="0"/>
              <a:cs typeface="Times New Roman" panose="02020603050405020304" pitchFamily="18" charset="0"/>
            </a:endParaRPr>
          </a:p>
        </p:txBody>
      </p:sp>
      <p:sp>
        <p:nvSpPr>
          <p:cNvPr id="8" name="文本框 7"/>
          <p:cNvSpPr txBox="1"/>
          <p:nvPr/>
        </p:nvSpPr>
        <p:spPr>
          <a:xfrm>
            <a:off x="280035" y="1732280"/>
            <a:ext cx="5659120" cy="392430"/>
          </a:xfrm>
          <a:prstGeom prst="rect">
            <a:avLst/>
          </a:prstGeom>
          <a:noFill/>
        </p:spPr>
        <p:txBody>
          <a:bodyPr wrap="square" rtlCol="0">
            <a:noAutofit/>
          </a:bodyPr>
          <a:lstStyle/>
          <a:p>
            <a:r>
              <a:rPr lang="zh-CN" altLang="en-US">
                <a:solidFill>
                  <a:schemeClr val="tx1"/>
                </a:solidFill>
                <a:latin typeface="Times New Roman" panose="02020603050405020304" pitchFamily="18" charset="0"/>
                <a:cs typeface="Times New Roman" panose="02020603050405020304" pitchFamily="18" charset="0"/>
              </a:rPr>
              <a:t>哈夫曼树的输入是一组数字</a:t>
            </a:r>
            <a:r>
              <a:rPr lang="en-US" altLang="zh-CN">
                <a:solidFill>
                  <a:schemeClr val="tx1"/>
                </a:solidFill>
                <a:latin typeface="Times New Roman" panose="02020603050405020304" pitchFamily="18" charset="0"/>
                <a:cs typeface="Times New Roman" panose="02020603050405020304" pitchFamily="18" charset="0"/>
              </a:rPr>
              <a:t>[4,6,7,1,3,9,10]</a:t>
            </a:r>
            <a:endParaRPr lang="en-US" altLang="zh-CN">
              <a:solidFill>
                <a:schemeClr val="tx1"/>
              </a:solidFill>
              <a:latin typeface="Times New Roman" panose="02020603050405020304" pitchFamily="18" charset="0"/>
              <a:cs typeface="Times New Roman" panose="02020603050405020304" pitchFamily="18" charset="0"/>
            </a:endParaRPr>
          </a:p>
        </p:txBody>
      </p:sp>
      <p:sp>
        <p:nvSpPr>
          <p:cNvPr id="11" name="文本框 10"/>
          <p:cNvSpPr txBox="1"/>
          <p:nvPr/>
        </p:nvSpPr>
        <p:spPr>
          <a:xfrm>
            <a:off x="5076190" y="2777490"/>
            <a:ext cx="4572000" cy="1753235"/>
          </a:xfrm>
          <a:prstGeom prst="rect">
            <a:avLst/>
          </a:prstGeom>
          <a:noFill/>
        </p:spPr>
        <p:txBody>
          <a:bodyPr wrap="square" rtlCol="0" anchor="t">
            <a:spAutoFit/>
          </a:bodyPr>
          <a:lstStyle/>
          <a:p>
            <a:r>
              <a:rPr lang="en-US" altLang="zh-CN">
                <a:latin typeface="Times New Roman" panose="02020603050405020304" pitchFamily="18" charset="0"/>
                <a:cs typeface="Times New Roman" panose="02020603050405020304" pitchFamily="18" charset="0"/>
              </a:rPr>
              <a:t>def creat_node(node:list)-&gt;list: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result = []</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item in node: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tempNode= TreeNode(item)</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result.append(tempNode)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result</a:t>
            </a:r>
            <a:endParaRPr lang="zh-CN" altLang="en-US">
              <a:latin typeface="Times New Roman" panose="02020603050405020304" pitchFamily="18" charset="0"/>
              <a:cs typeface="Times New Roman" panose="02020603050405020304" pitchFamily="18" charset="0"/>
            </a:endParaRPr>
          </a:p>
        </p:txBody>
      </p:sp>
      <p:sp>
        <p:nvSpPr>
          <p:cNvPr id="12" name="文本框 11"/>
          <p:cNvSpPr txBox="1"/>
          <p:nvPr/>
        </p:nvSpPr>
        <p:spPr>
          <a:xfrm>
            <a:off x="4706620" y="2348865"/>
            <a:ext cx="4208780" cy="373380"/>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cs typeface="Times New Roman" panose="02020603050405020304" pitchFamily="18" charset="0"/>
              </a:rPr>
              <a:t>将所有的节点全部转换成</a:t>
            </a:r>
            <a:r>
              <a:rPr lang="en-US" altLang="zh-CN">
                <a:solidFill>
                  <a:schemeClr val="tx1"/>
                </a:solidFill>
                <a:uFillTx/>
                <a:latin typeface="Times New Roman" panose="02020603050405020304" pitchFamily="18" charset="0"/>
                <a:cs typeface="Times New Roman" panose="02020603050405020304" pitchFamily="18" charset="0"/>
              </a:rPr>
              <a:t>TreeNode</a:t>
            </a:r>
            <a:r>
              <a:rPr lang="zh-CN" altLang="en-US">
                <a:solidFill>
                  <a:schemeClr val="tx1"/>
                </a:solidFill>
                <a:uFillTx/>
                <a:latin typeface="Times New Roman" panose="02020603050405020304" pitchFamily="18" charset="0"/>
                <a:cs typeface="Times New Roman" panose="02020603050405020304" pitchFamily="18" charset="0"/>
              </a:rPr>
              <a:t>类：</a:t>
            </a:r>
            <a:endParaRPr lang="zh-CN" altLang="en-US">
              <a:solidFill>
                <a:schemeClr val="tx1"/>
              </a:solidFill>
              <a:uFillTx/>
              <a:latin typeface="Times New Roman" panose="02020603050405020304" pitchFamily="18" charset="0"/>
              <a:cs typeface="Times New Roman" panose="02020603050405020304" pitchFamily="18" charset="0"/>
            </a:endParaRPr>
          </a:p>
        </p:txBody>
      </p:sp>
      <p:sp>
        <p:nvSpPr>
          <p:cNvPr id="2" name="文本框 1"/>
          <p:cNvSpPr txBox="1"/>
          <p:nvPr/>
        </p:nvSpPr>
        <p:spPr>
          <a:xfrm>
            <a:off x="280035" y="1330960"/>
            <a:ext cx="5659120" cy="392430"/>
          </a:xfrm>
          <a:prstGeom prst="rect">
            <a:avLst/>
          </a:prstGeom>
          <a:noFill/>
        </p:spPr>
        <p:txBody>
          <a:bodyPr wrap="square" rtlCol="0">
            <a:noAutofit/>
          </a:bodyPr>
          <a:lstStyle/>
          <a:p>
            <a:r>
              <a:rPr lang="zh-CN" altLang="en-US">
                <a:solidFill>
                  <a:srgbClr val="FF0000"/>
                </a:solidFill>
                <a:latin typeface="Times New Roman" panose="02020603050405020304" pitchFamily="18" charset="0"/>
                <a:cs typeface="Times New Roman" panose="02020603050405020304" pitchFamily="18" charset="0"/>
              </a:rPr>
              <a:t>利用优选队列实现哈夫曼树的构造：</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02094" y="776511"/>
            <a:ext cx="3275330" cy="521970"/>
          </a:xfrm>
          <a:prstGeom prst="rect">
            <a:avLst/>
          </a:prstGeom>
        </p:spPr>
        <p:txBody>
          <a:bodyPr wrap="none">
            <a:spAutoFit/>
          </a:bodyPr>
          <a:lstStyle/>
          <a:p>
            <a:pPr algn="just">
              <a:spcBef>
                <a:spcPct val="50000"/>
              </a:spcBef>
              <a:defRPr/>
            </a:pPr>
            <a:r>
              <a:rPr lang="en-US" altLang="zh-CN" sz="28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(3)</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哈夫曼实现</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7" name="文本框 6"/>
          <p:cNvSpPr txBox="1"/>
          <p:nvPr/>
        </p:nvSpPr>
        <p:spPr>
          <a:xfrm>
            <a:off x="201930" y="1341120"/>
            <a:ext cx="2292350" cy="422910"/>
          </a:xfrm>
          <a:prstGeom prst="rect">
            <a:avLst/>
          </a:prstGeom>
          <a:noFill/>
        </p:spPr>
        <p:txBody>
          <a:bodyPr wrap="square" rtlCol="0">
            <a:noAutofit/>
          </a:bodyPr>
          <a:lstStyle/>
          <a:p>
            <a:r>
              <a:rPr lang="zh-CN" altLang="en-US">
                <a:latin typeface="Times New Roman" panose="02020603050405020304" pitchFamily="18" charset="0"/>
                <a:cs typeface="Times New Roman" panose="02020603050405020304" pitchFamily="18" charset="0"/>
              </a:rPr>
              <a:t>哈夫曼树构造实现：</a:t>
            </a:r>
            <a:endParaRPr lang="zh-CN" altLang="en-US">
              <a:latin typeface="Times New Roman" panose="02020603050405020304" pitchFamily="18" charset="0"/>
              <a:cs typeface="Times New Roman" panose="02020603050405020304" pitchFamily="18" charset="0"/>
            </a:endParaRPr>
          </a:p>
        </p:txBody>
      </p:sp>
      <p:sp>
        <p:nvSpPr>
          <p:cNvPr id="9" name="文本框 8"/>
          <p:cNvSpPr txBox="1"/>
          <p:nvPr/>
        </p:nvSpPr>
        <p:spPr>
          <a:xfrm>
            <a:off x="251460" y="1701165"/>
            <a:ext cx="5747385" cy="3969385"/>
          </a:xfrm>
          <a:prstGeom prst="rect">
            <a:avLst/>
          </a:prstGeom>
          <a:noFill/>
        </p:spPr>
        <p:txBody>
          <a:bodyPr wrap="square" rtlCol="0" anchor="t">
            <a:spAutoFit/>
          </a:bodyPr>
          <a:lstStyle/>
          <a:p>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def creat_huffman(node:list)-&gt;TreeNode: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res = creat_node(node)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qu = queue.PriorityQueue()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item in res:</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qu.put(item)</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while qu.qsize()&gt;1: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node1 = qu.get()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node2 = qu.get()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tempNode = TreeNode(node2.val+node1.val)</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tempNode.right = node1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tempNode.left = node2</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qu.put(tempNode)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return qu.get()</a:t>
            </a:r>
            <a:endParaRPr lang="en-US" altLang="zh-CN">
              <a:solidFill>
                <a:schemeClr val="tx1"/>
              </a:solidFill>
              <a:uFillTx/>
              <a:latin typeface="Times New Roman" panose="02020603050405020304" pitchFamily="18" charset="0"/>
              <a:cs typeface="Times New Roman" panose="02020603050405020304" pitchFamily="18" charset="0"/>
            </a:endParaRPr>
          </a:p>
        </p:txBody>
      </p:sp>
      <p:cxnSp>
        <p:nvCxnSpPr>
          <p:cNvPr id="2" name="直接箭头连接符 1"/>
          <p:cNvCxnSpPr/>
          <p:nvPr/>
        </p:nvCxnSpPr>
        <p:spPr>
          <a:xfrm flipV="1">
            <a:off x="2722880" y="2204720"/>
            <a:ext cx="2785110" cy="29908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 name="文本框 2"/>
          <p:cNvSpPr txBox="1"/>
          <p:nvPr/>
        </p:nvSpPr>
        <p:spPr>
          <a:xfrm>
            <a:off x="5682615" y="1844675"/>
            <a:ext cx="3360420" cy="659130"/>
          </a:xfrm>
          <a:prstGeom prst="rect">
            <a:avLst/>
          </a:prstGeom>
          <a:noFill/>
        </p:spPr>
        <p:txBody>
          <a:bodyPr wrap="square" rtlCol="0">
            <a:noAutofit/>
          </a:bodyPr>
          <a:lstStyle/>
          <a:p>
            <a:r>
              <a:rPr lang="en-US" altLang="zh-CN">
                <a:solidFill>
                  <a:schemeClr val="tx1"/>
                </a:solidFill>
                <a:uFillTx/>
                <a:latin typeface="Times New Roman" panose="02020603050405020304" pitchFamily="18" charset="0"/>
              </a:rPr>
              <a:t>python</a:t>
            </a:r>
            <a:r>
              <a:rPr lang="zh-CN" altLang="en-US">
                <a:solidFill>
                  <a:schemeClr val="tx1"/>
                </a:solidFill>
                <a:uFillTx/>
                <a:latin typeface="Times New Roman" panose="02020603050405020304" pitchFamily="18" charset="0"/>
              </a:rPr>
              <a:t>中的优先队列构</a:t>
            </a:r>
            <a:r>
              <a:rPr lang="en-US" altLang="zh-CN">
                <a:solidFill>
                  <a:schemeClr val="tx1"/>
                </a:solidFill>
                <a:uFillTx/>
                <a:latin typeface="Times New Roman" panose="02020603050405020304" pitchFamily="18" charset="0"/>
              </a:rPr>
              <a:t>O(nlogn)</a:t>
            </a:r>
            <a:endParaRPr lang="en-US" altLang="zh-CN">
              <a:solidFill>
                <a:schemeClr val="tx1"/>
              </a:solidFill>
              <a:uFillTx/>
              <a:latin typeface="Times New Roman" panose="02020603050405020304" pitchFamily="18" charset="0"/>
            </a:endParaRPr>
          </a:p>
        </p:txBody>
      </p:sp>
      <p:cxnSp>
        <p:nvCxnSpPr>
          <p:cNvPr id="4" name="直接箭头连接符 3"/>
          <p:cNvCxnSpPr/>
          <p:nvPr/>
        </p:nvCxnSpPr>
        <p:spPr>
          <a:xfrm flipV="1">
            <a:off x="2411730" y="3357245"/>
            <a:ext cx="3312160" cy="1549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6" name="文本框 5"/>
          <p:cNvSpPr txBox="1"/>
          <p:nvPr/>
        </p:nvSpPr>
        <p:spPr>
          <a:xfrm>
            <a:off x="5783580" y="3141345"/>
            <a:ext cx="3360420" cy="1330960"/>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rPr>
              <a:t>每取出两个节点构建一次堆</a:t>
            </a:r>
            <a:r>
              <a:rPr lang="en-US" altLang="zh-CN">
                <a:solidFill>
                  <a:schemeClr val="tx1"/>
                </a:solidFill>
                <a:uFillTx/>
                <a:latin typeface="Times New Roman" panose="02020603050405020304" pitchFamily="18" charset="0"/>
              </a:rPr>
              <a:t>2*(logn),</a:t>
            </a:r>
            <a:r>
              <a:rPr lang="zh-CN" altLang="en-US">
                <a:solidFill>
                  <a:schemeClr val="tx1"/>
                </a:solidFill>
                <a:uFillTx/>
                <a:latin typeface="Times New Roman" panose="02020603050405020304" pitchFamily="18" charset="0"/>
              </a:rPr>
              <a:t>加入一个节点在构建一次堆</a:t>
            </a:r>
            <a:r>
              <a:rPr lang="en-US" altLang="zh-CN">
                <a:solidFill>
                  <a:schemeClr val="tx1"/>
                </a:solidFill>
                <a:uFillTx/>
                <a:latin typeface="Times New Roman" panose="02020603050405020304" pitchFamily="18" charset="0"/>
              </a:rPr>
              <a:t>logn</a:t>
            </a:r>
            <a:r>
              <a:rPr lang="zh-CN" altLang="en-US">
                <a:solidFill>
                  <a:schemeClr val="tx1"/>
                </a:solidFill>
                <a:uFillTx/>
                <a:latin typeface="Times New Roman" panose="02020603050405020304" pitchFamily="18" charset="0"/>
              </a:rPr>
              <a:t>。所以时间复杂度是</a:t>
            </a:r>
            <a:r>
              <a:rPr lang="en-US" altLang="zh-CN">
                <a:solidFill>
                  <a:schemeClr val="tx1"/>
                </a:solidFill>
                <a:uFillTx/>
                <a:latin typeface="Times New Roman" panose="02020603050405020304" pitchFamily="18" charset="0"/>
              </a:rPr>
              <a:t>O(</a:t>
            </a:r>
            <a:r>
              <a:rPr lang="en-US" altLang="zh-CN">
                <a:uFillTx/>
                <a:latin typeface="Times New Roman" panose="02020603050405020304" pitchFamily="18" charset="0"/>
                <a:sym typeface="+mn-ea"/>
              </a:rPr>
              <a:t>nlogn</a:t>
            </a:r>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p:txBody>
      </p:sp>
      <p:sp>
        <p:nvSpPr>
          <p:cNvPr id="8" name="文本框 7"/>
          <p:cNvSpPr txBox="1"/>
          <p:nvPr/>
        </p:nvSpPr>
        <p:spPr>
          <a:xfrm>
            <a:off x="539750" y="5877560"/>
            <a:ext cx="2474595" cy="346075"/>
          </a:xfrm>
          <a:prstGeom prst="rect">
            <a:avLst/>
          </a:prstGeom>
          <a:noFill/>
        </p:spPr>
        <p:txBody>
          <a:bodyPr wrap="square" rtlCol="0">
            <a:noAutofit/>
          </a:bodyPr>
          <a:lstStyle/>
          <a:p>
            <a:r>
              <a:rPr lang="zh-CN" altLang="en-US">
                <a:solidFill>
                  <a:srgbClr val="FF0000"/>
                </a:solidFill>
                <a:uFillTx/>
                <a:latin typeface="Times New Roman" panose="02020603050405020304" pitchFamily="18" charset="0"/>
              </a:rPr>
              <a:t>时间复杂度：</a:t>
            </a:r>
            <a:r>
              <a:rPr lang="en-US" altLang="zh-CN">
                <a:solidFill>
                  <a:srgbClr val="FF0000"/>
                </a:solidFill>
                <a:uFillTx/>
                <a:latin typeface="Times New Roman" panose="02020603050405020304" pitchFamily="18" charset="0"/>
              </a:rPr>
              <a:t>O(nlogn)</a:t>
            </a:r>
            <a:endParaRPr lang="en-US" altLang="zh-CN">
              <a:solidFill>
                <a:srgbClr val="FF0000"/>
              </a:solidFill>
              <a:uFillTx/>
              <a:latin typeface="Times New Roman" panose="02020603050405020304" pitchFamily="18" charset="0"/>
            </a:endParaRPr>
          </a:p>
        </p:txBody>
      </p:sp>
    </p:spTree>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3" name="Text Box 3"/>
          <p:cNvSpPr txBox="1">
            <a:spLocks noChangeArrowheads="1"/>
          </p:cNvSpPr>
          <p:nvPr/>
        </p:nvSpPr>
        <p:spPr bwMode="auto">
          <a:xfrm>
            <a:off x="683568" y="1517779"/>
            <a:ext cx="8135937" cy="3138170"/>
          </a:xfrm>
          <a:prstGeom prst="rect">
            <a:avLst/>
          </a:prstGeom>
          <a:noFill/>
          <a:ln w="9525">
            <a:noFill/>
            <a:miter lim="800000"/>
          </a:ln>
          <a:effectLst/>
        </p:spPr>
        <p:txBody>
          <a:bodyPr>
            <a:spAutoFit/>
          </a:bodyPr>
          <a:lstStyle/>
          <a:p>
            <a:pPr indent="457200"/>
            <a:r>
              <a:rPr lang="zh-CN" altLang="en-US" sz="2200" b="1" dirty="0">
                <a:solidFill>
                  <a:schemeClr val="tx1"/>
                </a:solidFill>
                <a:uFillTx/>
                <a:latin typeface="Times New Roman" panose="02020603050405020304" pitchFamily="18" charset="0"/>
                <a:cs typeface="Times New Roman" panose="02020603050405020304" pitchFamily="18" charset="0"/>
              </a:rPr>
              <a:t>什么是最小生成树：将所有节点连起来，且树中的边的权值最小的连通子图。</a:t>
            </a:r>
            <a:endParaRPr lang="zh-CN" altLang="en-US" sz="2200" b="1" dirty="0">
              <a:solidFill>
                <a:schemeClr val="tx1"/>
              </a:solidFill>
              <a:uFillTx/>
              <a:latin typeface="Times New Roman" panose="02020603050405020304" pitchFamily="18" charset="0"/>
              <a:cs typeface="Times New Roman" panose="02020603050405020304" pitchFamily="18" charset="0"/>
            </a:endParaRPr>
          </a:p>
          <a:p>
            <a:pPr indent="457200"/>
            <a:r>
              <a:rPr lang="zh-CN" altLang="en-US" sz="2200" b="1" dirty="0">
                <a:solidFill>
                  <a:schemeClr val="tx1"/>
                </a:solidFill>
                <a:uFillTx/>
                <a:latin typeface="Times New Roman" panose="02020603050405020304" pitchFamily="18" charset="0"/>
                <a:cs typeface="Times New Roman" panose="02020603050405020304" pitchFamily="18" charset="0"/>
              </a:rPr>
              <a:t>最小生成树问题有以下两种贪心策略：最近顶点策略</a:t>
            </a:r>
            <a:r>
              <a:rPr lang="en-US" altLang="zh-CN" sz="2200" b="1" dirty="0">
                <a:solidFill>
                  <a:schemeClr val="tx1"/>
                </a:solidFill>
                <a:uFillTx/>
                <a:latin typeface="Times New Roman" panose="02020603050405020304" pitchFamily="18" charset="0"/>
                <a:cs typeface="Times New Roman" panose="02020603050405020304" pitchFamily="18" charset="0"/>
              </a:rPr>
              <a:t>(prim</a:t>
            </a:r>
            <a:r>
              <a:rPr lang="zh-CN" altLang="en-US" sz="2200" b="1" dirty="0">
                <a:solidFill>
                  <a:schemeClr val="tx1"/>
                </a:solidFill>
                <a:uFillTx/>
                <a:latin typeface="Times New Roman" panose="02020603050405020304" pitchFamily="18" charset="0"/>
                <a:cs typeface="Times New Roman" panose="02020603050405020304" pitchFamily="18" charset="0"/>
              </a:rPr>
              <a:t>算法</a:t>
            </a:r>
            <a:r>
              <a:rPr lang="en-US" altLang="zh-CN" sz="2200" b="1" dirty="0">
                <a:solidFill>
                  <a:schemeClr val="tx1"/>
                </a:solidFill>
                <a:uFillTx/>
                <a:latin typeface="Times New Roman" panose="02020603050405020304" pitchFamily="18" charset="0"/>
                <a:cs typeface="Times New Roman" panose="02020603050405020304" pitchFamily="18" charset="0"/>
              </a:rPr>
              <a:t>)</a:t>
            </a:r>
            <a:r>
              <a:rPr lang="zh-CN" altLang="en-US" sz="2200" b="1" dirty="0">
                <a:solidFill>
                  <a:schemeClr val="tx1"/>
                </a:solidFill>
                <a:uFillTx/>
                <a:latin typeface="Times New Roman" panose="02020603050405020304" pitchFamily="18" charset="0"/>
                <a:cs typeface="Times New Roman" panose="02020603050405020304" pitchFamily="18" charset="0"/>
              </a:rPr>
              <a:t>和最短边策略（</a:t>
            </a:r>
            <a:r>
              <a:rPr lang="en-US" altLang="zh-CN" sz="2200" b="1" dirty="0">
                <a:solidFill>
                  <a:schemeClr val="tx1"/>
                </a:solidFill>
                <a:uFillTx/>
                <a:latin typeface="Times New Roman" panose="02020603050405020304" pitchFamily="18" charset="0"/>
                <a:cs typeface="Times New Roman" panose="02020603050405020304" pitchFamily="18" charset="0"/>
              </a:rPr>
              <a:t>kruskal</a:t>
            </a:r>
            <a:r>
              <a:rPr lang="zh-CN" altLang="en-US" sz="2200" b="1" dirty="0">
                <a:solidFill>
                  <a:schemeClr val="tx1"/>
                </a:solidFill>
                <a:uFillTx/>
                <a:latin typeface="Times New Roman" panose="02020603050405020304" pitchFamily="18" charset="0"/>
                <a:cs typeface="Times New Roman" panose="02020603050405020304" pitchFamily="18" charset="0"/>
              </a:rPr>
              <a:t>算法）</a:t>
            </a:r>
            <a:endParaRPr lang="zh-CN" altLang="en-US" sz="2200" b="1" dirty="0">
              <a:solidFill>
                <a:schemeClr val="tx1"/>
              </a:solidFill>
              <a:uFillTx/>
              <a:latin typeface="Times New Roman" panose="02020603050405020304" pitchFamily="18" charset="0"/>
              <a:cs typeface="Times New Roman" panose="02020603050405020304" pitchFamily="18" charset="0"/>
            </a:endParaRPr>
          </a:p>
          <a:p>
            <a:pPr indent="457200"/>
            <a:r>
              <a:rPr lang="zh-CN" altLang="en-US" sz="2200" b="1" dirty="0">
                <a:uFillTx/>
                <a:latin typeface="Times New Roman" panose="02020603050405020304" pitchFamily="18" charset="0"/>
                <a:cs typeface="Times New Roman" panose="02020603050405020304" pitchFamily="18" charset="0"/>
                <a:sym typeface="+mn-ea"/>
              </a:rPr>
              <a:t>设</a:t>
            </a:r>
            <a:r>
              <a:rPr lang="en-US" altLang="zh-CN" sz="2200" b="1" dirty="0">
                <a:uFillTx/>
                <a:latin typeface="Times New Roman" panose="02020603050405020304" pitchFamily="18" charset="0"/>
                <a:cs typeface="Times New Roman" panose="02020603050405020304" pitchFamily="18" charset="0"/>
                <a:sym typeface="+mn-ea"/>
              </a:rPr>
              <a:t>G=(V</a:t>
            </a:r>
            <a:r>
              <a:rPr lang="zh-CN" altLang="en-US" sz="2200" b="1" dirty="0">
                <a:uFillTx/>
                <a:latin typeface="Times New Roman" panose="02020603050405020304" pitchFamily="18" charset="0"/>
                <a:cs typeface="Times New Roman" panose="02020603050405020304" pitchFamily="18" charset="0"/>
                <a:sym typeface="+mn-ea"/>
              </a:rPr>
              <a:t>，</a:t>
            </a:r>
            <a:r>
              <a:rPr lang="en-US" altLang="zh-CN" sz="2200" b="1" dirty="0">
                <a:uFillTx/>
                <a:latin typeface="Times New Roman" panose="02020603050405020304" pitchFamily="18" charset="0"/>
                <a:cs typeface="Times New Roman" panose="02020603050405020304" pitchFamily="18" charset="0"/>
                <a:sym typeface="+mn-ea"/>
              </a:rPr>
              <a:t>E)</a:t>
            </a:r>
            <a:r>
              <a:rPr lang="zh-CN" altLang="en-US" sz="2200" b="1" dirty="0">
                <a:uFillTx/>
                <a:latin typeface="Times New Roman" panose="02020603050405020304" pitchFamily="18" charset="0"/>
                <a:cs typeface="Times New Roman" panose="02020603050405020304" pitchFamily="18" charset="0"/>
                <a:sym typeface="+mn-ea"/>
              </a:rPr>
              <a:t>是一个无向连通带权图，生成树是原图的极小连通子图，它包含原图中的所有</a:t>
            </a:r>
            <a:r>
              <a:rPr lang="en-US" altLang="zh-CN" sz="2200" b="1" dirty="0">
                <a:uFillTx/>
                <a:latin typeface="Times New Roman" panose="02020603050405020304" pitchFamily="18" charset="0"/>
                <a:cs typeface="Times New Roman" panose="02020603050405020304" pitchFamily="18" charset="0"/>
                <a:sym typeface="+mn-ea"/>
              </a:rPr>
              <a:t>n</a:t>
            </a:r>
            <a:r>
              <a:rPr lang="zh-CN" altLang="en-US" sz="2200" b="1" dirty="0">
                <a:uFillTx/>
                <a:latin typeface="Times New Roman" panose="02020603050405020304" pitchFamily="18" charset="0"/>
                <a:cs typeface="Times New Roman" panose="02020603050405020304" pitchFamily="18" charset="0"/>
                <a:sym typeface="+mn-ea"/>
              </a:rPr>
              <a:t>个顶点，并且有保持图连通的最少的边。图的所有生成树在必有一棵边的权值总和最小的生成树，称做该图的最小生成树。</a:t>
            </a:r>
            <a:endParaRPr lang="zh-CN" altLang="en-US" sz="2200" b="1" dirty="0">
              <a:solidFill>
                <a:schemeClr val="tx1"/>
              </a:solidFill>
              <a:uFillTx/>
              <a:latin typeface="Times New Roman" panose="02020603050405020304" pitchFamily="18" charset="0"/>
              <a:cs typeface="Times New Roman" panose="02020603050405020304" pitchFamily="18" charset="0"/>
            </a:endParaRPr>
          </a:p>
          <a:p>
            <a:endParaRPr lang="zh-CN" altLang="en-US" sz="2200" b="1"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4" name="Text Box 2"/>
          <p:cNvSpPr txBox="1">
            <a:spLocks noChangeArrowheads="1"/>
          </p:cNvSpPr>
          <p:nvPr/>
        </p:nvSpPr>
        <p:spPr bwMode="auto">
          <a:xfrm>
            <a:off x="323528" y="949608"/>
            <a:ext cx="2478405"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(1)</a:t>
            </a:r>
            <a:r>
              <a:rPr kumimoji="1" lang="en-US" altLang="zh-CN" sz="2400" b="1" dirty="0">
                <a:solidFill>
                  <a:schemeClr val="tx1"/>
                </a:solidFill>
                <a:uFillTx/>
                <a:latin typeface="Times New Roman" panose="02020603050405020304" pitchFamily="18" charset="0"/>
                <a:cs typeface="Times New Roman" panose="02020603050405020304" pitchFamily="18" charset="0"/>
              </a:rPr>
              <a:t>prim</a:t>
            </a:r>
            <a:r>
              <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rPr>
              <a:t>算法</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p:txBody>
      </p:sp>
      <p:grpSp>
        <p:nvGrpSpPr>
          <p:cNvPr id="6" name="组合 5"/>
          <p:cNvGrpSpPr/>
          <p:nvPr/>
        </p:nvGrpSpPr>
        <p:grpSpPr>
          <a:xfrm>
            <a:off x="4567555" y="412559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5159375" y="498983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3919855" y="491807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4711700" y="570992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5935980" y="570992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6367780" y="498475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4" name="组合 23"/>
          <p:cNvGrpSpPr/>
          <p:nvPr/>
        </p:nvGrpSpPr>
        <p:grpSpPr>
          <a:xfrm>
            <a:off x="5723890" y="412559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5102860" y="4395470"/>
            <a:ext cx="621030"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p:nvPr/>
        </p:nvCxnSpPr>
        <p:spPr>
          <a:xfrm flipH="1">
            <a:off x="4380865" y="4586605"/>
            <a:ext cx="265430" cy="41021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p:nvPr/>
        </p:nvCxnSpPr>
        <p:spPr>
          <a:xfrm>
            <a:off x="6184900" y="4586605"/>
            <a:ext cx="261620" cy="4768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3" name="直接连接符 32"/>
          <p:cNvCxnSpPr/>
          <p:nvPr/>
        </p:nvCxnSpPr>
        <p:spPr>
          <a:xfrm>
            <a:off x="4455160" y="5187950"/>
            <a:ext cx="704215" cy="717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4" name="直接连接符 33"/>
          <p:cNvCxnSpPr/>
          <p:nvPr/>
        </p:nvCxnSpPr>
        <p:spPr>
          <a:xfrm>
            <a:off x="4189730" y="5457825"/>
            <a:ext cx="521970" cy="52197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5" name="直接连接符 34"/>
          <p:cNvCxnSpPr/>
          <p:nvPr/>
        </p:nvCxnSpPr>
        <p:spPr>
          <a:xfrm flipV="1">
            <a:off x="5694680" y="5254625"/>
            <a:ext cx="673100" cy="50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6" name="直接连接符 35"/>
          <p:cNvCxnSpPr/>
          <p:nvPr/>
        </p:nvCxnSpPr>
        <p:spPr>
          <a:xfrm>
            <a:off x="5247005" y="5979795"/>
            <a:ext cx="688975"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7" name="直接连接符 36"/>
          <p:cNvCxnSpPr/>
          <p:nvPr/>
        </p:nvCxnSpPr>
        <p:spPr>
          <a:xfrm flipH="1">
            <a:off x="6471285" y="5524500"/>
            <a:ext cx="166370" cy="4552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8" name="文本框 37"/>
          <p:cNvSpPr txBox="1"/>
          <p:nvPr/>
        </p:nvSpPr>
        <p:spPr>
          <a:xfrm>
            <a:off x="4711700" y="6309360"/>
            <a:ext cx="2275205" cy="302260"/>
          </a:xfrm>
          <a:prstGeom prst="rect">
            <a:avLst/>
          </a:prstGeom>
          <a:noFill/>
        </p:spPr>
        <p:txBody>
          <a:bodyPr wrap="square" rtlCol="0">
            <a:noAutofit/>
          </a:bodyPr>
          <a:lstStyle/>
          <a:p>
            <a:r>
              <a:rPr lang="zh-CN" altLang="en-US">
                <a:solidFill>
                  <a:srgbClr val="FF0000"/>
                </a:solidFill>
              </a:rPr>
              <a:t>无向连通带权图</a:t>
            </a:r>
            <a:endParaRPr lang="zh-CN" altLang="en-US">
              <a:solidFill>
                <a:srgbClr val="FF0000"/>
              </a:solidFill>
            </a:endParaRPr>
          </a:p>
        </p:txBody>
      </p:sp>
      <p:sp>
        <p:nvSpPr>
          <p:cNvPr id="39" name="文本框 38"/>
          <p:cNvSpPr txBox="1"/>
          <p:nvPr/>
        </p:nvSpPr>
        <p:spPr>
          <a:xfrm>
            <a:off x="5344795" y="4095750"/>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40" name="文本框 39"/>
          <p:cNvSpPr txBox="1"/>
          <p:nvPr/>
        </p:nvSpPr>
        <p:spPr>
          <a:xfrm>
            <a:off x="6286500" y="4509135"/>
            <a:ext cx="445770" cy="346075"/>
          </a:xfrm>
          <a:prstGeom prst="rect">
            <a:avLst/>
          </a:prstGeom>
          <a:noFill/>
        </p:spPr>
        <p:txBody>
          <a:bodyPr wrap="square" rtlCol="0">
            <a:noAutofit/>
          </a:bodyPr>
          <a:lstStyle/>
          <a:p>
            <a:r>
              <a:rPr lang="en-US" altLang="zh-CN">
                <a:latin typeface="+mj-lt"/>
                <a:cs typeface="+mj-lt"/>
              </a:rPr>
              <a:t>13</a:t>
            </a:r>
            <a:endParaRPr lang="en-US" altLang="zh-CN">
              <a:latin typeface="+mj-lt"/>
              <a:cs typeface="+mj-lt"/>
            </a:endParaRPr>
          </a:p>
        </p:txBody>
      </p:sp>
      <p:sp>
        <p:nvSpPr>
          <p:cNvPr id="41" name="文本框 40"/>
          <p:cNvSpPr txBox="1"/>
          <p:nvPr/>
        </p:nvSpPr>
        <p:spPr>
          <a:xfrm>
            <a:off x="6595745" y="5619750"/>
            <a:ext cx="445770" cy="346075"/>
          </a:xfrm>
          <a:prstGeom prst="rect">
            <a:avLst/>
          </a:prstGeom>
          <a:noFill/>
        </p:spPr>
        <p:txBody>
          <a:bodyPr wrap="square" rtlCol="0">
            <a:noAutofit/>
          </a:bodyPr>
          <a:lstStyle/>
          <a:p>
            <a:r>
              <a:rPr lang="en-US" altLang="zh-CN">
                <a:latin typeface="+mj-lt"/>
                <a:cs typeface="+mj-lt"/>
              </a:rPr>
              <a:t>18</a:t>
            </a:r>
            <a:endParaRPr lang="en-US" altLang="zh-CN">
              <a:latin typeface="+mj-lt"/>
              <a:cs typeface="+mj-lt"/>
            </a:endParaRPr>
          </a:p>
        </p:txBody>
      </p:sp>
      <p:sp>
        <p:nvSpPr>
          <p:cNvPr id="42" name="文本框 41"/>
          <p:cNvSpPr txBox="1"/>
          <p:nvPr/>
        </p:nvSpPr>
        <p:spPr>
          <a:xfrm>
            <a:off x="5407025" y="5628005"/>
            <a:ext cx="445770" cy="346075"/>
          </a:xfrm>
          <a:prstGeom prst="rect">
            <a:avLst/>
          </a:prstGeom>
          <a:noFill/>
        </p:spPr>
        <p:txBody>
          <a:bodyPr wrap="square" rtlCol="0">
            <a:noAutofit/>
          </a:bodyPr>
          <a:lstStyle/>
          <a:p>
            <a:r>
              <a:rPr lang="en-US" altLang="zh-CN">
                <a:latin typeface="+mj-lt"/>
                <a:cs typeface="+mj-lt"/>
              </a:rPr>
              <a:t>7</a:t>
            </a:r>
            <a:endParaRPr lang="en-US" altLang="zh-CN">
              <a:latin typeface="+mj-lt"/>
              <a:cs typeface="+mj-lt"/>
            </a:endParaRPr>
          </a:p>
        </p:txBody>
      </p:sp>
      <p:sp>
        <p:nvSpPr>
          <p:cNvPr id="43" name="文本框 42"/>
          <p:cNvSpPr txBox="1"/>
          <p:nvPr/>
        </p:nvSpPr>
        <p:spPr>
          <a:xfrm>
            <a:off x="4067810" y="5628005"/>
            <a:ext cx="445770" cy="346075"/>
          </a:xfrm>
          <a:prstGeom prst="rect">
            <a:avLst/>
          </a:prstGeom>
          <a:noFill/>
        </p:spPr>
        <p:txBody>
          <a:bodyPr wrap="square" rtlCol="0">
            <a:noAutofit/>
          </a:bodyPr>
          <a:lstStyle/>
          <a:p>
            <a:r>
              <a:rPr lang="en-US" altLang="zh-CN">
                <a:latin typeface="+mj-lt"/>
                <a:cs typeface="+mj-lt"/>
              </a:rPr>
              <a:t>26</a:t>
            </a:r>
            <a:endParaRPr lang="en-US" altLang="zh-CN">
              <a:latin typeface="+mj-lt"/>
              <a:cs typeface="+mj-lt"/>
            </a:endParaRPr>
          </a:p>
        </p:txBody>
      </p:sp>
      <p:sp>
        <p:nvSpPr>
          <p:cNvPr id="44" name="文本框 43"/>
          <p:cNvSpPr txBox="1"/>
          <p:nvPr/>
        </p:nvSpPr>
        <p:spPr>
          <a:xfrm>
            <a:off x="4067810" y="4452620"/>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sp>
        <p:nvSpPr>
          <p:cNvPr id="45" name="文本框 44"/>
          <p:cNvSpPr txBox="1"/>
          <p:nvPr/>
        </p:nvSpPr>
        <p:spPr>
          <a:xfrm>
            <a:off x="5868035" y="485521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46" name="文本框 45"/>
          <p:cNvSpPr txBox="1"/>
          <p:nvPr/>
        </p:nvSpPr>
        <p:spPr>
          <a:xfrm>
            <a:off x="4612005" y="4818380"/>
            <a:ext cx="445770" cy="346075"/>
          </a:xfrm>
          <a:prstGeom prst="rect">
            <a:avLst/>
          </a:prstGeom>
          <a:noFill/>
        </p:spPr>
        <p:txBody>
          <a:bodyPr wrap="square" rtlCol="0">
            <a:noAutofit/>
          </a:bodyPr>
          <a:lstStyle/>
          <a:p>
            <a:r>
              <a:rPr lang="en-US" altLang="zh-CN">
                <a:latin typeface="+mj-lt"/>
                <a:cs typeface="+mj-lt"/>
              </a:rPr>
              <a:t>9</a:t>
            </a:r>
            <a:endParaRPr lang="en-US" altLang="zh-CN">
              <a:latin typeface="+mj-lt"/>
              <a:cs typeface="+mj-lt"/>
            </a:endParaRPr>
          </a:p>
        </p:txBody>
      </p:sp>
    </p:spTree>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579880" y="3337560"/>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2443480" y="4998720"/>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1471295" y="5028565"/>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1651635" y="6007100"/>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2983865" y="6034405"/>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3411220" y="5028565"/>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3020060" y="413448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187450" y="346138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4067810" y="544512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109" name="文本框 108"/>
          <p:cNvSpPr txBox="1"/>
          <p:nvPr/>
        </p:nvSpPr>
        <p:spPr>
          <a:xfrm>
            <a:off x="2445385" y="3706495"/>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20</a:t>
            </a:r>
            <a:endParaRPr lang="en-US" altLang="zh-CN">
              <a:latin typeface="Times New Roman" panose="02020603050405020304" pitchFamily="18" charset="0"/>
              <a:cs typeface="Times New Roman" panose="02020603050405020304" pitchFamily="18" charset="0"/>
            </a:endParaRPr>
          </a:p>
        </p:txBody>
      </p:sp>
      <p:sp>
        <p:nvSpPr>
          <p:cNvPr id="110" name="文本框 109"/>
          <p:cNvSpPr txBox="1"/>
          <p:nvPr/>
        </p:nvSpPr>
        <p:spPr>
          <a:xfrm>
            <a:off x="1304290" y="4134485"/>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15</a:t>
            </a:r>
            <a:endParaRPr lang="en-US" altLang="zh-CN">
              <a:latin typeface="Times New Roman" panose="02020603050405020304" pitchFamily="18" charset="0"/>
              <a:cs typeface="Times New Roman" panose="02020603050405020304" pitchFamily="18" charset="0"/>
            </a:endParaRPr>
          </a:p>
        </p:txBody>
      </p:sp>
      <p:cxnSp>
        <p:nvCxnSpPr>
          <p:cNvPr id="111" name="直接连接符 110"/>
          <p:cNvCxnSpPr/>
          <p:nvPr/>
        </p:nvCxnSpPr>
        <p:spPr>
          <a:xfrm>
            <a:off x="1849755" y="3877310"/>
            <a:ext cx="1242060" cy="331470"/>
          </a:xfrm>
          <a:prstGeom prst="line">
            <a:avLst/>
          </a:prstGeom>
          <a:solidFill>
            <a:schemeClr val="accent1"/>
          </a:solidFill>
          <a:ln w="28575" cap="flat" cmpd="sng" algn="ctr">
            <a:solidFill>
              <a:srgbClr val="000000"/>
            </a:solidFill>
            <a:prstDash val="solid"/>
            <a:round/>
            <a:headEnd type="none" w="med" len="med"/>
            <a:tailEnd type="none" w="med" len="med"/>
          </a:ln>
        </p:spPr>
      </p:cxnSp>
      <p:cxnSp>
        <p:nvCxnSpPr>
          <p:cNvPr id="112" name="直接连接符 111"/>
          <p:cNvCxnSpPr>
            <a:stCxn id="2" idx="4"/>
          </p:cNvCxnSpPr>
          <p:nvPr/>
        </p:nvCxnSpPr>
        <p:spPr>
          <a:xfrm flipH="1">
            <a:off x="1734185" y="3877310"/>
            <a:ext cx="115570" cy="1146810"/>
          </a:xfrm>
          <a:prstGeom prst="line">
            <a:avLst/>
          </a:prstGeom>
          <a:solidFill>
            <a:schemeClr val="accent1"/>
          </a:solidFill>
          <a:ln w="28575" cap="flat" cmpd="sng" algn="ctr">
            <a:solidFill>
              <a:srgbClr val="000000"/>
            </a:solidFill>
            <a:prstDash val="solid"/>
            <a:round/>
            <a:headEnd type="none" w="med" len="med"/>
            <a:tailEnd type="none" w="med" len="med"/>
          </a:ln>
        </p:spPr>
      </p:cxnSp>
      <p:sp>
        <p:nvSpPr>
          <p:cNvPr id="27" name="文本框 26"/>
          <p:cNvSpPr txBox="1"/>
          <p:nvPr/>
        </p:nvSpPr>
        <p:spPr>
          <a:xfrm>
            <a:off x="4698365" y="422529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6708775" y="412178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30" name="组合 29"/>
          <p:cNvGrpSpPr/>
          <p:nvPr/>
        </p:nvGrpSpPr>
        <p:grpSpPr>
          <a:xfrm>
            <a:off x="5770880" y="4217670"/>
            <a:ext cx="408938" cy="382270"/>
            <a:chOff x="1006488" y="2036167"/>
            <a:chExt cx="531192" cy="504056"/>
          </a:xfrm>
        </p:grpSpPr>
        <p:sp>
          <p:nvSpPr>
            <p:cNvPr id="3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6" name="文本框 3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15</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7" name="左大括号 36"/>
          <p:cNvSpPr/>
          <p:nvPr/>
        </p:nvSpPr>
        <p:spPr>
          <a:xfrm>
            <a:off x="5547360" y="412369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6299835" y="421767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4627880" y="271399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294505" y="2809875"/>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067810" y="271589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512060" y="2832100"/>
            <a:ext cx="1647190" cy="299720"/>
          </a:xfrm>
          <a:prstGeom prst="rect">
            <a:avLst/>
          </a:prstGeom>
          <a:noFill/>
        </p:spPr>
        <p:txBody>
          <a:bodyPr wrap="square" rtlCol="0" anchor="t">
            <a:noAutofit/>
          </a:bodyPr>
          <a:lstStyle/>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4774565" y="2806700"/>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1729105" y="3883025"/>
            <a:ext cx="120015" cy="113919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303655" y="4134485"/>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28" name="椭圆 27"/>
          <p:cNvSpPr/>
          <p:nvPr/>
        </p:nvSpPr>
        <p:spPr>
          <a:xfrm>
            <a:off x="1187450" y="3194050"/>
            <a:ext cx="1368425" cy="882650"/>
          </a:xfrm>
          <a:prstGeom prst="ellipse">
            <a:avLst/>
          </a:prstGeom>
          <a:noFill/>
          <a:ln w="28575" cap="flat" cmpd="sng" algn="ctr">
            <a:solidFill>
              <a:schemeClr val="tx2"/>
            </a:solidFill>
            <a:prstDash val="solid"/>
            <a:round/>
            <a:headEnd type="none" w="med" len="med"/>
            <a:tailEnd type="none" w="med" len="med"/>
          </a:ln>
          <a:extLst>
            <a:ext uri="{909E8E84-426E-40DD-AFC4-6F175D3DCCD1}">
              <a14:hiddenFill xmlns:a14="http://schemas.microsoft.com/office/drawing/2010/main">
                <a:solidFill>
                  <a:schemeClr val="accent2"/>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1" name="椭圆 30"/>
          <p:cNvSpPr/>
          <p:nvPr/>
        </p:nvSpPr>
        <p:spPr>
          <a:xfrm>
            <a:off x="1001395" y="4076700"/>
            <a:ext cx="3609340" cy="2667635"/>
          </a:xfrm>
          <a:prstGeom prst="ellipse">
            <a:avLst/>
          </a:prstGeom>
          <a:noFill/>
          <a:ln w="28575" cap="flat" cmpd="sng" algn="ctr">
            <a:solidFill>
              <a:schemeClr val="tx2"/>
            </a:solidFill>
            <a:prstDash val="solid"/>
            <a:round/>
            <a:headEnd type="none" w="med" len="med"/>
            <a:tailEnd type="none" w="med" len="med"/>
          </a:ln>
          <a:extLst>
            <a:ext uri="{909E8E84-426E-40DD-AFC4-6F175D3DCCD1}">
              <a14:hiddenFill xmlns:a14="http://schemas.microsoft.com/office/drawing/2010/main">
                <a:solidFill>
                  <a:schemeClr val="accent2"/>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44"/>
                                        </p:tgtEl>
                                        <p:attrNameLst>
                                          <p:attrName>style.visibility</p:attrName>
                                        </p:attrNameLst>
                                      </p:cBhvr>
                                      <p:to>
                                        <p:strVal val="visible"/>
                                      </p:to>
                                    </p:set>
                                    <p:anim calcmode="lin" valueType="num">
                                      <p:cBhvr additive="base">
                                        <p:cTn id="7" dur="500" fill="hold"/>
                                        <p:tgtEl>
                                          <p:spTgt spid="44"/>
                                        </p:tgtEl>
                                        <p:attrNameLst>
                                          <p:attrName>ppt_x</p:attrName>
                                        </p:attrNameLst>
                                      </p:cBhvr>
                                      <p:tavLst>
                                        <p:tav tm="0">
                                          <p:val>
                                            <p:strVal val="1+#ppt_w/2"/>
                                          </p:val>
                                        </p:tav>
                                        <p:tav tm="100000">
                                          <p:val>
                                            <p:strVal val="#ppt_x"/>
                                          </p:val>
                                        </p:tav>
                                      </p:tavLst>
                                    </p:anim>
                                    <p:anim calcmode="lin" valueType="num">
                                      <p:cBhvr additive="base">
                                        <p:cTn id="8" dur="500" fill="hold"/>
                                        <p:tgtEl>
                                          <p:spTgt spid="4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1"/>
                                        </p:tgtEl>
                                        <p:attrNameLst>
                                          <p:attrName>style.visibility</p:attrName>
                                        </p:attrNameLst>
                                      </p:cBhvr>
                                      <p:to>
                                        <p:strVal val="visible"/>
                                      </p:to>
                                    </p:set>
                                    <p:anim calcmode="lin" valueType="num">
                                      <p:cBhvr additive="base">
                                        <p:cTn id="11" dur="500" fill="hold"/>
                                        <p:tgtEl>
                                          <p:spTgt spid="51"/>
                                        </p:tgtEl>
                                        <p:attrNameLst>
                                          <p:attrName>ppt_x</p:attrName>
                                        </p:attrNameLst>
                                      </p:cBhvr>
                                      <p:tavLst>
                                        <p:tav tm="0">
                                          <p:val>
                                            <p:strVal val="1+#ppt_w/2"/>
                                          </p:val>
                                        </p:tav>
                                        <p:tav tm="100000">
                                          <p:val>
                                            <p:strVal val="#ppt_x"/>
                                          </p:val>
                                        </p:tav>
                                      </p:tavLst>
                                    </p:anim>
                                    <p:anim calcmode="lin" valueType="num">
                                      <p:cBhvr additive="base">
                                        <p:cTn id="12" dur="500" fill="hold"/>
                                        <p:tgtEl>
                                          <p:spTgt spid="51"/>
                                        </p:tgtEl>
                                        <p:attrNameLst>
                                          <p:attrName>ppt_y</p:attrName>
                                        </p:attrNameLst>
                                      </p:cBhvr>
                                      <p:tavLst>
                                        <p:tav tm="0">
                                          <p:val>
                                            <p:strVal val="#ppt_y"/>
                                          </p:val>
                                        </p:tav>
                                        <p:tav tm="100000">
                                          <p:val>
                                            <p:strVal val="#ppt_y"/>
                                          </p:val>
                                        </p:tav>
                                      </p:tavLst>
                                    </p:anim>
                                  </p:childTnLst>
                                </p:cTn>
                              </p:par>
                              <p:par>
                                <p:cTn id="13" presetID="2" presetClass="entr" presetSubtype="2" fill="hold" grpId="0" nodeType="withEffect">
                                  <p:stCondLst>
                                    <p:cond delay="0"/>
                                  </p:stCondLst>
                                  <p:childTnLst>
                                    <p:set>
                                      <p:cBhvr>
                                        <p:cTn id="14" dur="1" fill="hold">
                                          <p:stCondLst>
                                            <p:cond delay="0"/>
                                          </p:stCondLst>
                                        </p:cTn>
                                        <p:tgtEl>
                                          <p:spTgt spid="55"/>
                                        </p:tgtEl>
                                        <p:attrNameLst>
                                          <p:attrName>style.visibility</p:attrName>
                                        </p:attrNameLst>
                                      </p:cBhvr>
                                      <p:to>
                                        <p:strVal val="visible"/>
                                      </p:to>
                                    </p:set>
                                    <p:anim calcmode="lin" valueType="num">
                                      <p:cBhvr additive="base">
                                        <p:cTn id="15" dur="500" fill="hold"/>
                                        <p:tgtEl>
                                          <p:spTgt spid="55"/>
                                        </p:tgtEl>
                                        <p:attrNameLst>
                                          <p:attrName>ppt_x</p:attrName>
                                        </p:attrNameLst>
                                      </p:cBhvr>
                                      <p:tavLst>
                                        <p:tav tm="0">
                                          <p:val>
                                            <p:strVal val="1+#ppt_w/2"/>
                                          </p:val>
                                        </p:tav>
                                        <p:tav tm="100000">
                                          <p:val>
                                            <p:strVal val="#ppt_x"/>
                                          </p:val>
                                        </p:tav>
                                      </p:tavLst>
                                    </p:anim>
                                    <p:anim calcmode="lin" valueType="num">
                                      <p:cBhvr additive="base">
                                        <p:cTn id="16" dur="500" fill="hold"/>
                                        <p:tgtEl>
                                          <p:spTgt spid="55"/>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anim calcmode="lin" valueType="num">
                                      <p:cBhvr additive="base">
                                        <p:cTn id="21" dur="500" fill="hold"/>
                                        <p:tgtEl>
                                          <p:spTgt spid="28"/>
                                        </p:tgtEl>
                                        <p:attrNameLst>
                                          <p:attrName>ppt_x</p:attrName>
                                        </p:attrNameLst>
                                      </p:cBhvr>
                                      <p:tavLst>
                                        <p:tav tm="0">
                                          <p:val>
                                            <p:strVal val="#ppt_x"/>
                                          </p:val>
                                        </p:tav>
                                        <p:tav tm="100000">
                                          <p:val>
                                            <p:strVal val="#ppt_x"/>
                                          </p:val>
                                        </p:tav>
                                      </p:tavLst>
                                    </p:anim>
                                    <p:anim calcmode="lin" valueType="num">
                                      <p:cBhvr additive="base">
                                        <p:cTn id="22" dur="500" fill="hold"/>
                                        <p:tgtEl>
                                          <p:spTgt spid="28"/>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31"/>
                                        </p:tgtEl>
                                        <p:attrNameLst>
                                          <p:attrName>style.visibility</p:attrName>
                                        </p:attrNameLst>
                                      </p:cBhvr>
                                      <p:to>
                                        <p:strVal val="visible"/>
                                      </p:to>
                                    </p:set>
                                    <p:anim calcmode="lin" valueType="num">
                                      <p:cBhvr additive="base">
                                        <p:cTn id="27" dur="500" fill="hold"/>
                                        <p:tgtEl>
                                          <p:spTgt spid="31"/>
                                        </p:tgtEl>
                                        <p:attrNameLst>
                                          <p:attrName>ppt_x</p:attrName>
                                        </p:attrNameLst>
                                      </p:cBhvr>
                                      <p:tavLst>
                                        <p:tav tm="0">
                                          <p:val>
                                            <p:strVal val="#ppt_x"/>
                                          </p:val>
                                        </p:tav>
                                        <p:tav tm="100000">
                                          <p:val>
                                            <p:strVal val="#ppt_x"/>
                                          </p:val>
                                        </p:tav>
                                      </p:tavLst>
                                    </p:anim>
                                    <p:anim calcmode="lin" valueType="num">
                                      <p:cBhvr additive="base">
                                        <p:cTn id="28" dur="500" fill="hold"/>
                                        <p:tgtEl>
                                          <p:spTgt spid="31"/>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1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10"/>
                                        </p:tgtEl>
                                        <p:attrNameLst>
                                          <p:attrName>style.visibility</p:attrName>
                                        </p:attrNameLst>
                                      </p:cBhvr>
                                      <p:to>
                                        <p:strVal val="visible"/>
                                      </p:to>
                                    </p:set>
                                  </p:childTnLst>
                                </p:cTn>
                              </p:par>
                            </p:childTnLst>
                          </p:cTn>
                        </p:par>
                        <p:par>
                          <p:cTn id="39" fill="hold">
                            <p:stCondLst>
                              <p:cond delay="0"/>
                            </p:stCondLst>
                            <p:childTnLst>
                              <p:par>
                                <p:cTn id="40" presetID="1" presetClass="exit" presetSubtype="0" fill="hold" nodeType="afterEffect">
                                  <p:stCondLst>
                                    <p:cond delay="500"/>
                                  </p:stCondLst>
                                  <p:childTnLst>
                                    <p:set>
                                      <p:cBhvr>
                                        <p:cTn id="41" dur="1" fill="hold">
                                          <p:stCondLst>
                                            <p:cond delay="0"/>
                                          </p:stCondLst>
                                        </p:cTn>
                                        <p:tgtEl>
                                          <p:spTgt spid="111"/>
                                        </p:tgtEl>
                                        <p:attrNameLst>
                                          <p:attrName>style.visibility</p:attrName>
                                        </p:attrNameLst>
                                      </p:cBhvr>
                                      <p:to>
                                        <p:strVal val="hidden"/>
                                      </p:to>
                                    </p:set>
                                  </p:childTnLst>
                                </p:cTn>
                              </p:par>
                              <p:par>
                                <p:cTn id="42" presetID="1" presetClass="exit" presetSubtype="0" fill="hold" nodeType="withEffect">
                                  <p:stCondLst>
                                    <p:cond delay="500"/>
                                  </p:stCondLst>
                                  <p:childTnLst>
                                    <p:set>
                                      <p:cBhvr>
                                        <p:cTn id="43" dur="1" fill="hold">
                                          <p:stCondLst>
                                            <p:cond delay="0"/>
                                          </p:stCondLst>
                                        </p:cTn>
                                        <p:tgtEl>
                                          <p:spTgt spid="112"/>
                                        </p:tgtEl>
                                        <p:attrNameLst>
                                          <p:attrName>style.visibility</p:attrName>
                                        </p:attrNameLst>
                                      </p:cBhvr>
                                      <p:to>
                                        <p:strVal val="hidden"/>
                                      </p:to>
                                    </p:set>
                                  </p:childTnLst>
                                </p:cTn>
                              </p:par>
                              <p:par>
                                <p:cTn id="44" presetID="1" presetClass="exit" presetSubtype="0" fill="hold" grpId="2" nodeType="withEffect">
                                  <p:stCondLst>
                                    <p:cond delay="500"/>
                                  </p:stCondLst>
                                  <p:childTnLst>
                                    <p:set>
                                      <p:cBhvr>
                                        <p:cTn id="45" dur="1" fill="hold">
                                          <p:stCondLst>
                                            <p:cond delay="0"/>
                                          </p:stCondLst>
                                        </p:cTn>
                                        <p:tgtEl>
                                          <p:spTgt spid="109"/>
                                        </p:tgtEl>
                                        <p:attrNameLst>
                                          <p:attrName>style.visibility</p:attrName>
                                        </p:attrNameLst>
                                      </p:cBhvr>
                                      <p:to>
                                        <p:strVal val="hidden"/>
                                      </p:to>
                                    </p:set>
                                  </p:childTnLst>
                                </p:cTn>
                              </p:par>
                              <p:par>
                                <p:cTn id="46" presetID="1" presetClass="exit" presetSubtype="0" fill="hold" grpId="2" nodeType="withEffect">
                                  <p:stCondLst>
                                    <p:cond delay="500"/>
                                  </p:stCondLst>
                                  <p:childTnLst>
                                    <p:set>
                                      <p:cBhvr>
                                        <p:cTn id="47" dur="1" fill="hold">
                                          <p:stCondLst>
                                            <p:cond delay="0"/>
                                          </p:stCondLst>
                                        </p:cTn>
                                        <p:tgtEl>
                                          <p:spTgt spid="110"/>
                                        </p:tgtEl>
                                        <p:attrNameLst>
                                          <p:attrName>style.visibility</p:attrName>
                                        </p:attrNameLst>
                                      </p:cBhvr>
                                      <p:to>
                                        <p:strVal val="hidden"/>
                                      </p:to>
                                    </p:set>
                                  </p:childTnLst>
                                </p:cTn>
                              </p:par>
                            </p:childTnLst>
                          </p:cTn>
                        </p:par>
                        <p:par>
                          <p:cTn id="48" fill="hold">
                            <p:stCondLst>
                              <p:cond delay="500"/>
                            </p:stCondLst>
                            <p:childTnLst>
                              <p:par>
                                <p:cTn id="49" presetID="1" presetClass="entr" presetSubtype="0" fill="hold" nodeType="afterEffect">
                                  <p:stCondLst>
                                    <p:cond delay="500"/>
                                  </p:stCondLst>
                                  <p:childTnLst>
                                    <p:set>
                                      <p:cBhvr>
                                        <p:cTn id="50" dur="1" fill="hold">
                                          <p:stCondLst>
                                            <p:cond delay="0"/>
                                          </p:stCondLst>
                                        </p:cTn>
                                        <p:tgtEl>
                                          <p:spTgt spid="111"/>
                                        </p:tgtEl>
                                        <p:attrNameLst>
                                          <p:attrName>style.visibility</p:attrName>
                                        </p:attrNameLst>
                                      </p:cBhvr>
                                      <p:to>
                                        <p:strVal val="visible"/>
                                      </p:to>
                                    </p:set>
                                  </p:childTnLst>
                                </p:cTn>
                              </p:par>
                              <p:par>
                                <p:cTn id="51" presetID="1" presetClass="entr" presetSubtype="0" fill="hold" nodeType="withEffect">
                                  <p:stCondLst>
                                    <p:cond delay="500"/>
                                  </p:stCondLst>
                                  <p:childTnLst>
                                    <p:set>
                                      <p:cBhvr>
                                        <p:cTn id="52" dur="1" fill="hold">
                                          <p:stCondLst>
                                            <p:cond delay="0"/>
                                          </p:stCondLst>
                                        </p:cTn>
                                        <p:tgtEl>
                                          <p:spTgt spid="112"/>
                                        </p:tgtEl>
                                        <p:attrNameLst>
                                          <p:attrName>style.visibility</p:attrName>
                                        </p:attrNameLst>
                                      </p:cBhvr>
                                      <p:to>
                                        <p:strVal val="visible"/>
                                      </p:to>
                                    </p:set>
                                  </p:childTnLst>
                                </p:cTn>
                              </p:par>
                              <p:par>
                                <p:cTn id="53" presetID="1" presetClass="entr" presetSubtype="0" fill="hold" grpId="3" nodeType="withEffect">
                                  <p:stCondLst>
                                    <p:cond delay="500"/>
                                  </p:stCondLst>
                                  <p:childTnLst>
                                    <p:set>
                                      <p:cBhvr>
                                        <p:cTn id="54" dur="1" fill="hold">
                                          <p:stCondLst>
                                            <p:cond delay="0"/>
                                          </p:stCondLst>
                                        </p:cTn>
                                        <p:tgtEl>
                                          <p:spTgt spid="109"/>
                                        </p:tgtEl>
                                        <p:attrNameLst>
                                          <p:attrName>style.visibility</p:attrName>
                                        </p:attrNameLst>
                                      </p:cBhvr>
                                      <p:to>
                                        <p:strVal val="visible"/>
                                      </p:to>
                                    </p:set>
                                  </p:childTnLst>
                                </p:cTn>
                              </p:par>
                              <p:par>
                                <p:cTn id="55" presetID="1" presetClass="entr" presetSubtype="0" fill="hold" grpId="3" nodeType="withEffect">
                                  <p:stCondLst>
                                    <p:cond delay="500"/>
                                  </p:stCondLst>
                                  <p:childTnLst>
                                    <p:set>
                                      <p:cBhvr>
                                        <p:cTn id="56" dur="1" fill="hold">
                                          <p:stCondLst>
                                            <p:cond delay="0"/>
                                          </p:stCondLst>
                                        </p:cTn>
                                        <p:tgtEl>
                                          <p:spTgt spid="110"/>
                                        </p:tgtEl>
                                        <p:attrNameLst>
                                          <p:attrName>style.visibility</p:attrName>
                                        </p:attrNameLst>
                                      </p:cBhvr>
                                      <p:to>
                                        <p:strVal val="visible"/>
                                      </p:to>
                                    </p:set>
                                  </p:childTnLst>
                                </p:cTn>
                              </p:par>
                            </p:childTnLst>
                          </p:cTn>
                        </p:par>
                        <p:par>
                          <p:cTn id="57" fill="hold">
                            <p:stCondLst>
                              <p:cond delay="1000"/>
                            </p:stCondLst>
                            <p:childTnLst>
                              <p:par>
                                <p:cTn id="58" presetID="1" presetClass="exit" presetSubtype="0" fill="hold" nodeType="afterEffect">
                                  <p:stCondLst>
                                    <p:cond delay="500"/>
                                  </p:stCondLst>
                                  <p:childTnLst>
                                    <p:set>
                                      <p:cBhvr>
                                        <p:cTn id="59" dur="1" fill="hold">
                                          <p:stCondLst>
                                            <p:cond delay="0"/>
                                          </p:stCondLst>
                                        </p:cTn>
                                        <p:tgtEl>
                                          <p:spTgt spid="111"/>
                                        </p:tgtEl>
                                        <p:attrNameLst>
                                          <p:attrName>style.visibility</p:attrName>
                                        </p:attrNameLst>
                                      </p:cBhvr>
                                      <p:to>
                                        <p:strVal val="hidden"/>
                                      </p:to>
                                    </p:set>
                                  </p:childTnLst>
                                </p:cTn>
                              </p:par>
                              <p:par>
                                <p:cTn id="60" presetID="1" presetClass="exit" presetSubtype="0" fill="hold" nodeType="withEffect">
                                  <p:stCondLst>
                                    <p:cond delay="500"/>
                                  </p:stCondLst>
                                  <p:childTnLst>
                                    <p:set>
                                      <p:cBhvr>
                                        <p:cTn id="61" dur="1" fill="hold">
                                          <p:stCondLst>
                                            <p:cond delay="0"/>
                                          </p:stCondLst>
                                        </p:cTn>
                                        <p:tgtEl>
                                          <p:spTgt spid="112"/>
                                        </p:tgtEl>
                                        <p:attrNameLst>
                                          <p:attrName>style.visibility</p:attrName>
                                        </p:attrNameLst>
                                      </p:cBhvr>
                                      <p:to>
                                        <p:strVal val="hidden"/>
                                      </p:to>
                                    </p:set>
                                  </p:childTnLst>
                                </p:cTn>
                              </p:par>
                              <p:par>
                                <p:cTn id="62" presetID="1" presetClass="exit" presetSubtype="0" fill="hold" grpId="4" nodeType="withEffect">
                                  <p:stCondLst>
                                    <p:cond delay="500"/>
                                  </p:stCondLst>
                                  <p:childTnLst>
                                    <p:set>
                                      <p:cBhvr>
                                        <p:cTn id="63" dur="1" fill="hold">
                                          <p:stCondLst>
                                            <p:cond delay="0"/>
                                          </p:stCondLst>
                                        </p:cTn>
                                        <p:tgtEl>
                                          <p:spTgt spid="109"/>
                                        </p:tgtEl>
                                        <p:attrNameLst>
                                          <p:attrName>style.visibility</p:attrName>
                                        </p:attrNameLst>
                                      </p:cBhvr>
                                      <p:to>
                                        <p:strVal val="hidden"/>
                                      </p:to>
                                    </p:set>
                                  </p:childTnLst>
                                </p:cTn>
                              </p:par>
                              <p:par>
                                <p:cTn id="64" presetID="1" presetClass="exit" presetSubtype="0" fill="hold" grpId="4" nodeType="withEffect">
                                  <p:stCondLst>
                                    <p:cond delay="500"/>
                                  </p:stCondLst>
                                  <p:childTnLst>
                                    <p:set>
                                      <p:cBhvr>
                                        <p:cTn id="65" dur="1" fill="hold">
                                          <p:stCondLst>
                                            <p:cond delay="0"/>
                                          </p:stCondLst>
                                        </p:cTn>
                                        <p:tgtEl>
                                          <p:spTgt spid="110"/>
                                        </p:tgtEl>
                                        <p:attrNameLst>
                                          <p:attrName>style.visibility</p:attrName>
                                        </p:attrNameLst>
                                      </p:cBhvr>
                                      <p:to>
                                        <p:strVal val="hidden"/>
                                      </p:to>
                                    </p:set>
                                  </p:childTnLst>
                                </p:cTn>
                              </p:par>
                            </p:childTnLst>
                          </p:cTn>
                        </p:par>
                      </p:childTnLst>
                    </p:cTn>
                  </p:par>
                  <p:par>
                    <p:cTn id="66" fill="hold">
                      <p:stCondLst>
                        <p:cond delay="indefinite"/>
                      </p:stCondLst>
                      <p:childTnLst>
                        <p:par>
                          <p:cTn id="67" fill="hold">
                            <p:stCondLst>
                              <p:cond delay="0"/>
                            </p:stCondLst>
                            <p:childTnLst>
                              <p:par>
                                <p:cTn id="68" presetID="2" presetClass="entr" presetSubtype="2" fill="hold" grpId="0" nodeType="clickEffect">
                                  <p:stCondLst>
                                    <p:cond delay="0"/>
                                  </p:stCondLst>
                                  <p:childTnLst>
                                    <p:set>
                                      <p:cBhvr>
                                        <p:cTn id="69" dur="1" fill="hold">
                                          <p:stCondLst>
                                            <p:cond delay="0"/>
                                          </p:stCondLst>
                                        </p:cTn>
                                        <p:tgtEl>
                                          <p:spTgt spid="27"/>
                                        </p:tgtEl>
                                        <p:attrNameLst>
                                          <p:attrName>style.visibility</p:attrName>
                                        </p:attrNameLst>
                                      </p:cBhvr>
                                      <p:to>
                                        <p:strVal val="visible"/>
                                      </p:to>
                                    </p:set>
                                    <p:anim calcmode="lin" valueType="num">
                                      <p:cBhvr additive="base">
                                        <p:cTn id="70" dur="500" fill="hold"/>
                                        <p:tgtEl>
                                          <p:spTgt spid="27"/>
                                        </p:tgtEl>
                                        <p:attrNameLst>
                                          <p:attrName>ppt_x</p:attrName>
                                        </p:attrNameLst>
                                      </p:cBhvr>
                                      <p:tavLst>
                                        <p:tav tm="0">
                                          <p:val>
                                            <p:strVal val="1+#ppt_w/2"/>
                                          </p:val>
                                        </p:tav>
                                        <p:tav tm="100000">
                                          <p:val>
                                            <p:strVal val="#ppt_x"/>
                                          </p:val>
                                        </p:tav>
                                      </p:tavLst>
                                    </p:anim>
                                    <p:anim calcmode="lin" valueType="num">
                                      <p:cBhvr additive="base">
                                        <p:cTn id="71" dur="500" fill="hold"/>
                                        <p:tgtEl>
                                          <p:spTgt spid="27"/>
                                        </p:tgtEl>
                                        <p:attrNameLst>
                                          <p:attrName>ppt_y</p:attrName>
                                        </p:attrNameLst>
                                      </p:cBhvr>
                                      <p:tavLst>
                                        <p:tav tm="0">
                                          <p:val>
                                            <p:strVal val="#ppt_y"/>
                                          </p:val>
                                        </p:tav>
                                        <p:tav tm="100000">
                                          <p:val>
                                            <p:strVal val="#ppt_y"/>
                                          </p:val>
                                        </p:tav>
                                      </p:tavLst>
                                    </p:anim>
                                  </p:childTnLst>
                                </p:cTn>
                              </p:par>
                            </p:childTnLst>
                          </p:cTn>
                        </p:par>
                      </p:childTnLst>
                    </p:cTn>
                  </p:par>
                  <p:par>
                    <p:cTn id="72" fill="hold">
                      <p:stCondLst>
                        <p:cond delay="indefinite"/>
                      </p:stCondLst>
                      <p:childTnLst>
                        <p:par>
                          <p:cTn id="73" fill="hold">
                            <p:stCondLst>
                              <p:cond delay="0"/>
                            </p:stCondLst>
                            <p:childTnLst>
                              <p:par>
                                <p:cTn id="74" presetID="2" presetClass="entr" presetSubtype="2" fill="hold" grpId="0" nodeType="clickEffect">
                                  <p:stCondLst>
                                    <p:cond delay="0"/>
                                  </p:stCondLst>
                                  <p:childTnLst>
                                    <p:set>
                                      <p:cBhvr>
                                        <p:cTn id="75" dur="1" fill="hold">
                                          <p:stCondLst>
                                            <p:cond delay="0"/>
                                          </p:stCondLst>
                                        </p:cTn>
                                        <p:tgtEl>
                                          <p:spTgt spid="37"/>
                                        </p:tgtEl>
                                        <p:attrNameLst>
                                          <p:attrName>style.visibility</p:attrName>
                                        </p:attrNameLst>
                                      </p:cBhvr>
                                      <p:to>
                                        <p:strVal val="visible"/>
                                      </p:to>
                                    </p:set>
                                    <p:anim calcmode="lin" valueType="num">
                                      <p:cBhvr additive="base">
                                        <p:cTn id="76" dur="500" fill="hold"/>
                                        <p:tgtEl>
                                          <p:spTgt spid="37"/>
                                        </p:tgtEl>
                                        <p:attrNameLst>
                                          <p:attrName>ppt_x</p:attrName>
                                        </p:attrNameLst>
                                      </p:cBhvr>
                                      <p:tavLst>
                                        <p:tav tm="0">
                                          <p:val>
                                            <p:strVal val="1+#ppt_w/2"/>
                                          </p:val>
                                        </p:tav>
                                        <p:tav tm="100000">
                                          <p:val>
                                            <p:strVal val="#ppt_x"/>
                                          </p:val>
                                        </p:tav>
                                      </p:tavLst>
                                    </p:anim>
                                    <p:anim calcmode="lin" valueType="num">
                                      <p:cBhvr additive="base">
                                        <p:cTn id="77" dur="500" fill="hold"/>
                                        <p:tgtEl>
                                          <p:spTgt spid="37"/>
                                        </p:tgtEl>
                                        <p:attrNameLst>
                                          <p:attrName>ppt_y</p:attrName>
                                        </p:attrNameLst>
                                      </p:cBhvr>
                                      <p:tavLst>
                                        <p:tav tm="0">
                                          <p:val>
                                            <p:strVal val="#ppt_y"/>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80" presetID="2" presetClass="entr" presetSubtype="2" fill="hold" nodeType="clickEffect">
                                  <p:stCondLst>
                                    <p:cond delay="0"/>
                                  </p:stCondLst>
                                  <p:childTnLst>
                                    <p:set>
                                      <p:cBhvr>
                                        <p:cTn id="81" dur="1" fill="hold">
                                          <p:stCondLst>
                                            <p:cond delay="0"/>
                                          </p:stCondLst>
                                        </p:cTn>
                                        <p:tgtEl>
                                          <p:spTgt spid="30"/>
                                        </p:tgtEl>
                                        <p:attrNameLst>
                                          <p:attrName>style.visibility</p:attrName>
                                        </p:attrNameLst>
                                      </p:cBhvr>
                                      <p:to>
                                        <p:strVal val="visible"/>
                                      </p:to>
                                    </p:set>
                                    <p:anim calcmode="lin" valueType="num">
                                      <p:cBhvr additive="base">
                                        <p:cTn id="82" dur="500" fill="hold"/>
                                        <p:tgtEl>
                                          <p:spTgt spid="30"/>
                                        </p:tgtEl>
                                        <p:attrNameLst>
                                          <p:attrName>ppt_x</p:attrName>
                                        </p:attrNameLst>
                                      </p:cBhvr>
                                      <p:tavLst>
                                        <p:tav tm="0">
                                          <p:val>
                                            <p:strVal val="1+#ppt_w/2"/>
                                          </p:val>
                                        </p:tav>
                                        <p:tav tm="100000">
                                          <p:val>
                                            <p:strVal val="#ppt_x"/>
                                          </p:val>
                                        </p:tav>
                                      </p:tavLst>
                                    </p:anim>
                                    <p:anim calcmode="lin" valueType="num">
                                      <p:cBhvr additive="base">
                                        <p:cTn id="83" dur="500" fill="hold"/>
                                        <p:tgtEl>
                                          <p:spTgt spid="30"/>
                                        </p:tgtEl>
                                        <p:attrNameLst>
                                          <p:attrName>ppt_y</p:attrName>
                                        </p:attrNameLst>
                                      </p:cBhvr>
                                      <p:tavLst>
                                        <p:tav tm="0">
                                          <p:val>
                                            <p:strVal val="#ppt_y"/>
                                          </p:val>
                                        </p:tav>
                                        <p:tav tm="100000">
                                          <p:val>
                                            <p:strVal val="#ppt_y"/>
                                          </p:val>
                                        </p:tav>
                                      </p:tavLst>
                                    </p:anim>
                                  </p:childTnLst>
                                </p:cTn>
                              </p:par>
                            </p:childTnLst>
                          </p:cTn>
                        </p:par>
                      </p:childTnLst>
                    </p:cTn>
                  </p:par>
                  <p:par>
                    <p:cTn id="84" fill="hold">
                      <p:stCondLst>
                        <p:cond delay="indefinite"/>
                      </p:stCondLst>
                      <p:childTnLst>
                        <p:par>
                          <p:cTn id="85" fill="hold">
                            <p:stCondLst>
                              <p:cond delay="0"/>
                            </p:stCondLst>
                            <p:childTnLst>
                              <p:par>
                                <p:cTn id="86" presetID="2" presetClass="entr" presetSubtype="2" fill="hold" nodeType="clickEffect">
                                  <p:stCondLst>
                                    <p:cond delay="0"/>
                                  </p:stCondLst>
                                  <p:childTnLst>
                                    <p:set>
                                      <p:cBhvr>
                                        <p:cTn id="87" dur="1" fill="hold">
                                          <p:stCondLst>
                                            <p:cond delay="0"/>
                                          </p:stCondLst>
                                        </p:cTn>
                                        <p:tgtEl>
                                          <p:spTgt spid="38"/>
                                        </p:tgtEl>
                                        <p:attrNameLst>
                                          <p:attrName>style.visibility</p:attrName>
                                        </p:attrNameLst>
                                      </p:cBhvr>
                                      <p:to>
                                        <p:strVal val="visible"/>
                                      </p:to>
                                    </p:set>
                                    <p:anim calcmode="lin" valueType="num">
                                      <p:cBhvr additive="base">
                                        <p:cTn id="88" dur="500" fill="hold"/>
                                        <p:tgtEl>
                                          <p:spTgt spid="38"/>
                                        </p:tgtEl>
                                        <p:attrNameLst>
                                          <p:attrName>ppt_x</p:attrName>
                                        </p:attrNameLst>
                                      </p:cBhvr>
                                      <p:tavLst>
                                        <p:tav tm="0">
                                          <p:val>
                                            <p:strVal val="1+#ppt_w/2"/>
                                          </p:val>
                                        </p:tav>
                                        <p:tav tm="100000">
                                          <p:val>
                                            <p:strVal val="#ppt_x"/>
                                          </p:val>
                                        </p:tav>
                                      </p:tavLst>
                                    </p:anim>
                                    <p:anim calcmode="lin" valueType="num">
                                      <p:cBhvr additive="base">
                                        <p:cTn id="89" dur="500" fill="hold"/>
                                        <p:tgtEl>
                                          <p:spTgt spid="38"/>
                                        </p:tgtEl>
                                        <p:attrNameLst>
                                          <p:attrName>ppt_y</p:attrName>
                                        </p:attrNameLst>
                                      </p:cBhvr>
                                      <p:tavLst>
                                        <p:tav tm="0">
                                          <p:val>
                                            <p:strVal val="#ppt_y"/>
                                          </p:val>
                                        </p:tav>
                                        <p:tav tm="100000">
                                          <p:val>
                                            <p:strVal val="#ppt_y"/>
                                          </p:val>
                                        </p:tav>
                                      </p:tavLst>
                                    </p:anim>
                                  </p:childTnLst>
                                </p:cTn>
                              </p:par>
                            </p:childTnLst>
                          </p:cTn>
                        </p:par>
                      </p:childTnLst>
                    </p:cTn>
                  </p:par>
                  <p:par>
                    <p:cTn id="90" fill="hold">
                      <p:stCondLst>
                        <p:cond delay="indefinite"/>
                      </p:stCondLst>
                      <p:childTnLst>
                        <p:par>
                          <p:cTn id="91" fill="hold">
                            <p:stCondLst>
                              <p:cond delay="0"/>
                            </p:stCondLst>
                            <p:childTnLst>
                              <p:par>
                                <p:cTn id="92" presetID="2" presetClass="entr" presetSubtype="4" fill="hold" grpId="1" nodeType="clickEffect">
                                  <p:stCondLst>
                                    <p:cond delay="0"/>
                                  </p:stCondLst>
                                  <p:childTnLst>
                                    <p:set>
                                      <p:cBhvr>
                                        <p:cTn id="93" dur="1" fill="hold">
                                          <p:stCondLst>
                                            <p:cond delay="0"/>
                                          </p:stCondLst>
                                        </p:cTn>
                                        <p:tgtEl>
                                          <p:spTgt spid="29"/>
                                        </p:tgtEl>
                                        <p:attrNameLst>
                                          <p:attrName>style.visibility</p:attrName>
                                        </p:attrNameLst>
                                      </p:cBhvr>
                                      <p:to>
                                        <p:strVal val="visible"/>
                                      </p:to>
                                    </p:set>
                                    <p:anim calcmode="lin" valueType="num">
                                      <p:cBhvr additive="base">
                                        <p:cTn id="94" dur="500" fill="hold"/>
                                        <p:tgtEl>
                                          <p:spTgt spid="29"/>
                                        </p:tgtEl>
                                        <p:attrNameLst>
                                          <p:attrName>ppt_x</p:attrName>
                                        </p:attrNameLst>
                                      </p:cBhvr>
                                      <p:tavLst>
                                        <p:tav tm="0">
                                          <p:val>
                                            <p:strVal val="#ppt_x"/>
                                          </p:val>
                                        </p:tav>
                                        <p:tav tm="100000">
                                          <p:val>
                                            <p:strVal val="#ppt_x"/>
                                          </p:val>
                                        </p:tav>
                                      </p:tavLst>
                                    </p:anim>
                                    <p:anim calcmode="lin" valueType="num">
                                      <p:cBhvr additive="base">
                                        <p:cTn id="95" dur="500" fill="hold"/>
                                        <p:tgtEl>
                                          <p:spTgt spid="29"/>
                                        </p:tgtEl>
                                        <p:attrNameLst>
                                          <p:attrName>ppt_y</p:attrName>
                                        </p:attrNameLst>
                                      </p:cBhvr>
                                      <p:tavLst>
                                        <p:tav tm="0">
                                          <p:val>
                                            <p:strVal val="1+#ppt_h/2"/>
                                          </p:val>
                                        </p:tav>
                                        <p:tav tm="100000">
                                          <p:val>
                                            <p:strVal val="#ppt_y"/>
                                          </p:val>
                                        </p:tav>
                                      </p:tavLst>
                                    </p:anim>
                                  </p:childTnLst>
                                </p:cTn>
                              </p:par>
                            </p:childTnLst>
                          </p:cTn>
                        </p:par>
                      </p:childTnLst>
                    </p:cTn>
                  </p:par>
                  <p:par>
                    <p:cTn id="96" fill="hold">
                      <p:stCondLst>
                        <p:cond delay="indefinite"/>
                      </p:stCondLst>
                      <p:childTnLst>
                        <p:par>
                          <p:cTn id="97" fill="hold">
                            <p:stCondLst>
                              <p:cond delay="0"/>
                            </p:stCondLst>
                            <p:childTnLst>
                              <p:par>
                                <p:cTn id="98" presetID="0" presetClass="path" presetSubtype="0" accel="50000" decel="50000" fill="hold" grpId="0" nodeType="clickEffect">
                                  <p:stCondLst>
                                    <p:cond delay="0"/>
                                  </p:stCondLst>
                                  <p:childTnLst>
                                    <p:animMotion origin="layout" path="M 0 0 L 0.0551389 0 " pathEditMode="relative" ptsTypes="">
                                      <p:cBhvr>
                                        <p:cTn id="99" dur="2000" fill="hold"/>
                                        <p:tgtEl>
                                          <p:spTgt spid="43"/>
                                        </p:tgtEl>
                                        <p:attrNameLst>
                                          <p:attrName>ppt_x</p:attrName>
                                          <p:attrName>ppt_y</p:attrName>
                                        </p:attrNameLst>
                                      </p:cBhvr>
                                    </p:animMotion>
                                  </p:childTnLst>
                                </p:cTn>
                              </p:par>
                            </p:childTnLst>
                          </p:cTn>
                        </p:par>
                      </p:childTnLst>
                    </p:cTn>
                  </p:par>
                  <p:par>
                    <p:cTn id="100" fill="hold">
                      <p:stCondLst>
                        <p:cond delay="indefinite"/>
                      </p:stCondLst>
                      <p:childTnLst>
                        <p:par>
                          <p:cTn id="101" fill="hold">
                            <p:stCondLst>
                              <p:cond delay="0"/>
                            </p:stCondLst>
                            <p:childTnLst>
                              <p:par>
                                <p:cTn id="102" presetID="2" presetClass="entr" presetSubtype="2" fill="hold" nodeType="clickEffect">
                                  <p:stCondLst>
                                    <p:cond delay="0"/>
                                  </p:stCondLst>
                                  <p:childTnLst>
                                    <p:set>
                                      <p:cBhvr>
                                        <p:cTn id="103" dur="1" fill="hold">
                                          <p:stCondLst>
                                            <p:cond delay="0"/>
                                          </p:stCondLst>
                                        </p:cTn>
                                        <p:tgtEl>
                                          <p:spTgt spid="62"/>
                                        </p:tgtEl>
                                        <p:attrNameLst>
                                          <p:attrName>style.visibility</p:attrName>
                                        </p:attrNameLst>
                                      </p:cBhvr>
                                      <p:to>
                                        <p:strVal val="visible"/>
                                      </p:to>
                                    </p:set>
                                    <p:anim calcmode="lin" valueType="num">
                                      <p:cBhvr additive="base">
                                        <p:cTn id="104" dur="500" fill="hold"/>
                                        <p:tgtEl>
                                          <p:spTgt spid="62"/>
                                        </p:tgtEl>
                                        <p:attrNameLst>
                                          <p:attrName>ppt_x</p:attrName>
                                        </p:attrNameLst>
                                      </p:cBhvr>
                                      <p:tavLst>
                                        <p:tav tm="0">
                                          <p:val>
                                            <p:strVal val="1+#ppt_w/2"/>
                                          </p:val>
                                        </p:tav>
                                        <p:tav tm="100000">
                                          <p:val>
                                            <p:strVal val="#ppt_x"/>
                                          </p:val>
                                        </p:tav>
                                      </p:tavLst>
                                    </p:anim>
                                    <p:anim calcmode="lin" valueType="num">
                                      <p:cBhvr additive="base">
                                        <p:cTn id="105" dur="500" fill="hold"/>
                                        <p:tgtEl>
                                          <p:spTgt spid="62"/>
                                        </p:tgtEl>
                                        <p:attrNameLst>
                                          <p:attrName>ppt_y</p:attrName>
                                        </p:attrNameLst>
                                      </p:cBhvr>
                                      <p:tavLst>
                                        <p:tav tm="0">
                                          <p:val>
                                            <p:strVal val="#ppt_y"/>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8" presetID="1" presetClass="entr" presetSubtype="0" fill="hold" nodeType="clickEffect">
                                  <p:stCondLst>
                                    <p:cond delay="0"/>
                                  </p:stCondLst>
                                  <p:childTnLst>
                                    <p:set>
                                      <p:cBhvr>
                                        <p:cTn id="109" dur="1" fill="hold">
                                          <p:stCondLst>
                                            <p:cond delay="0"/>
                                          </p:stCondLst>
                                        </p:cTn>
                                        <p:tgtEl>
                                          <p:spTgt spid="93"/>
                                        </p:tgtEl>
                                        <p:attrNameLst>
                                          <p:attrName>style.visibility</p:attrName>
                                        </p:attrNameLst>
                                      </p:cBhvr>
                                      <p:to>
                                        <p:strVal val="visible"/>
                                      </p:to>
                                    </p:set>
                                  </p:childTnLst>
                                </p:cTn>
                              </p:par>
                              <p:par>
                                <p:cTn id="110" presetID="1" presetClass="entr" presetSubtype="0" fill="hold" grpId="2" nodeType="withEffect">
                                  <p:stCondLst>
                                    <p:cond delay="0"/>
                                  </p:stCondLst>
                                  <p:childTnLst>
                                    <p:set>
                                      <p:cBhvr>
                                        <p:cTn id="111" dur="1" fill="hold">
                                          <p:stCondLst>
                                            <p:cond delay="0"/>
                                          </p:stCondLst>
                                        </p:cTn>
                                        <p:tgtEl>
                                          <p:spTgt spid="102"/>
                                        </p:tgtEl>
                                        <p:attrNameLst>
                                          <p:attrName>style.visibility</p:attrName>
                                        </p:attrNameLst>
                                      </p:cBhvr>
                                      <p:to>
                                        <p:strVal val="visible"/>
                                      </p:to>
                                    </p:set>
                                  </p:childTnLst>
                                </p:cTn>
                              </p:par>
                            </p:childTnLst>
                          </p:cTn>
                        </p:par>
                      </p:childTnLst>
                    </p:cTn>
                  </p:par>
                  <p:par>
                    <p:cTn id="112" fill="hold">
                      <p:stCondLst>
                        <p:cond delay="indefinite"/>
                      </p:stCondLst>
                      <p:childTnLst>
                        <p:par>
                          <p:cTn id="113" fill="hold">
                            <p:stCondLst>
                              <p:cond delay="0"/>
                            </p:stCondLst>
                            <p:childTnLst>
                              <p:par>
                                <p:cTn id="114" presetID="2" presetClass="exit" presetSubtype="4" fill="hold" grpId="2" nodeType="clickEffect">
                                  <p:stCondLst>
                                    <p:cond delay="0"/>
                                  </p:stCondLst>
                                  <p:childTnLst>
                                    <p:anim calcmode="lin" valueType="num">
                                      <p:cBhvr additive="base">
                                        <p:cTn id="115" dur="500"/>
                                        <p:tgtEl>
                                          <p:spTgt spid="28"/>
                                        </p:tgtEl>
                                        <p:attrNameLst>
                                          <p:attrName>ppt_x</p:attrName>
                                        </p:attrNameLst>
                                      </p:cBhvr>
                                      <p:tavLst>
                                        <p:tav tm="0">
                                          <p:val>
                                            <p:strVal val="ppt_x"/>
                                          </p:val>
                                        </p:tav>
                                        <p:tav tm="100000">
                                          <p:val>
                                            <p:strVal val="ppt_x"/>
                                          </p:val>
                                        </p:tav>
                                      </p:tavLst>
                                    </p:anim>
                                    <p:anim calcmode="lin" valueType="num">
                                      <p:cBhvr additive="base">
                                        <p:cTn id="116" dur="500"/>
                                        <p:tgtEl>
                                          <p:spTgt spid="28"/>
                                        </p:tgtEl>
                                        <p:attrNameLst>
                                          <p:attrName>ppt_y</p:attrName>
                                        </p:attrNameLst>
                                      </p:cBhvr>
                                      <p:tavLst>
                                        <p:tav tm="0">
                                          <p:val>
                                            <p:strVal val="ppt_y"/>
                                          </p:val>
                                        </p:tav>
                                        <p:tav tm="100000">
                                          <p:val>
                                            <p:strVal val="1+ppt_h/2"/>
                                          </p:val>
                                        </p:tav>
                                      </p:tavLst>
                                    </p:anim>
                                    <p:set>
                                      <p:cBhvr>
                                        <p:cTn id="117" dur="1" fill="hold">
                                          <p:stCondLst>
                                            <p:cond delay="499"/>
                                          </p:stCondLst>
                                        </p:cTn>
                                        <p:tgtEl>
                                          <p:spTgt spid="28"/>
                                        </p:tgtEl>
                                        <p:attrNameLst>
                                          <p:attrName>style.visibility</p:attrName>
                                        </p:attrNameLst>
                                      </p:cBhvr>
                                      <p:to>
                                        <p:strVal val="hidden"/>
                                      </p:to>
                                    </p:set>
                                  </p:childTnLst>
                                </p:cTn>
                              </p:par>
                            </p:childTnLst>
                          </p:cTn>
                        </p:par>
                      </p:childTnLst>
                    </p:cTn>
                  </p:par>
                  <p:par>
                    <p:cTn id="118" fill="hold">
                      <p:stCondLst>
                        <p:cond delay="indefinite"/>
                      </p:stCondLst>
                      <p:childTnLst>
                        <p:par>
                          <p:cTn id="119" fill="hold">
                            <p:stCondLst>
                              <p:cond delay="0"/>
                            </p:stCondLst>
                            <p:childTnLst>
                              <p:par>
                                <p:cTn id="120" presetID="2" presetClass="exit" presetSubtype="4" fill="hold" grpId="2" nodeType="clickEffect">
                                  <p:stCondLst>
                                    <p:cond delay="0"/>
                                  </p:stCondLst>
                                  <p:childTnLst>
                                    <p:anim calcmode="lin" valueType="num">
                                      <p:cBhvr additive="base">
                                        <p:cTn id="121" dur="500"/>
                                        <p:tgtEl>
                                          <p:spTgt spid="31"/>
                                        </p:tgtEl>
                                        <p:attrNameLst>
                                          <p:attrName>ppt_x</p:attrName>
                                        </p:attrNameLst>
                                      </p:cBhvr>
                                      <p:tavLst>
                                        <p:tav tm="0">
                                          <p:val>
                                            <p:strVal val="ppt_x"/>
                                          </p:val>
                                        </p:tav>
                                        <p:tav tm="100000">
                                          <p:val>
                                            <p:strVal val="ppt_x"/>
                                          </p:val>
                                        </p:tav>
                                      </p:tavLst>
                                    </p:anim>
                                    <p:anim calcmode="lin" valueType="num">
                                      <p:cBhvr additive="base">
                                        <p:cTn id="122" dur="500"/>
                                        <p:tgtEl>
                                          <p:spTgt spid="31"/>
                                        </p:tgtEl>
                                        <p:attrNameLst>
                                          <p:attrName>ppt_y</p:attrName>
                                        </p:attrNameLst>
                                      </p:cBhvr>
                                      <p:tavLst>
                                        <p:tav tm="0">
                                          <p:val>
                                            <p:strVal val="ppt_y"/>
                                          </p:val>
                                        </p:tav>
                                        <p:tav tm="100000">
                                          <p:val>
                                            <p:strVal val="1+ppt_h/2"/>
                                          </p:val>
                                        </p:tav>
                                      </p:tavLst>
                                    </p:anim>
                                    <p:set>
                                      <p:cBhvr>
                                        <p:cTn id="123" dur="1" fill="hold">
                                          <p:stCondLst>
                                            <p:cond delay="499"/>
                                          </p:stCondLst>
                                        </p:cTn>
                                        <p:tgtEl>
                                          <p:spTgt spid="3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9" grpId="0"/>
      <p:bldP spid="109" grpId="1"/>
      <p:bldP spid="109" grpId="2"/>
      <p:bldP spid="109" grpId="3"/>
      <p:bldP spid="109" grpId="4"/>
      <p:bldP spid="110" grpId="0"/>
      <p:bldP spid="110" grpId="1"/>
      <p:bldP spid="110" grpId="2"/>
      <p:bldP spid="110" grpId="3"/>
      <p:bldP spid="110" grpId="4"/>
      <p:bldP spid="27" grpId="0"/>
      <p:bldP spid="27" grpId="1"/>
      <p:bldP spid="29" grpId="1" animBg="1"/>
      <p:bldP spid="37" grpId="0" bldLvl="0" animBg="1"/>
      <p:bldP spid="37" grpId="1" animBg="1"/>
      <p:bldP spid="43" grpId="0" animBg="1"/>
      <p:bldP spid="51" grpId="0" bldLvl="0" animBg="1"/>
      <p:bldP spid="51" grpId="1" animBg="1"/>
      <p:bldP spid="55" grpId="0"/>
      <p:bldP spid="55" grpId="1"/>
      <p:bldP spid="102" grpId="1"/>
      <p:bldP spid="102" grpId="2"/>
      <p:bldP spid="28" grpId="0" animBg="1"/>
      <p:bldP spid="28" grpId="1" animBg="1"/>
      <p:bldP spid="28" grpId="2" animBg="1"/>
      <p:bldP spid="31" grpId="0" bldLvl="0" animBg="1"/>
      <p:bldP spid="31" grpId="1" animBg="1"/>
      <p:bldP spid="31" grpId="2"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579880" y="3337560"/>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2443480" y="4998720"/>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1003300" y="4436745"/>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1979930" y="5661660"/>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3131820" y="5805170"/>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3411220" y="5028565"/>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3091815" y="424624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117600" y="3717290"/>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2555875" y="627062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7" name="文本框 26"/>
          <p:cNvSpPr txBox="1"/>
          <p:nvPr/>
        </p:nvSpPr>
        <p:spPr>
          <a:xfrm>
            <a:off x="4227195" y="4178935"/>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6668135" y="407543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左大括号 36"/>
          <p:cNvSpPr/>
          <p:nvPr/>
        </p:nvSpPr>
        <p:spPr>
          <a:xfrm>
            <a:off x="5076190" y="407733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5345430" y="416179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5196840" y="271399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294505" y="2809875"/>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067810" y="271589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512060" y="2832100"/>
            <a:ext cx="1647190" cy="299720"/>
          </a:xfrm>
          <a:prstGeom prst="rect">
            <a:avLst/>
          </a:prstGeom>
          <a:noFill/>
        </p:spPr>
        <p:txBody>
          <a:bodyPr wrap="square" rtlCol="0" anchor="t">
            <a:noAutofit/>
          </a:bodyPr>
          <a:lstStyle/>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4774565" y="2806700"/>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5828665" y="4161790"/>
            <a:ext cx="408938" cy="382270"/>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9</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6" name="组合 85"/>
          <p:cNvGrpSpPr/>
          <p:nvPr/>
        </p:nvGrpSpPr>
        <p:grpSpPr>
          <a:xfrm>
            <a:off x="6275705" y="4161790"/>
            <a:ext cx="408938" cy="382270"/>
            <a:chOff x="1006488" y="2036167"/>
            <a:chExt cx="531192" cy="504056"/>
          </a:xfrm>
        </p:grpSpPr>
        <p:sp>
          <p:nvSpPr>
            <p:cNvPr id="8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2" name="文本框 9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26</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1333500" y="3877310"/>
            <a:ext cx="516255" cy="5753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534795" y="4063365"/>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4" name="椭圆 33"/>
          <p:cNvSpPr/>
          <p:nvPr/>
        </p:nvSpPr>
        <p:spPr>
          <a:xfrm rot="1860000">
            <a:off x="948055" y="3192145"/>
            <a:ext cx="1296035" cy="1944370"/>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1" name="文本框 40"/>
          <p:cNvSpPr txBox="1"/>
          <p:nvPr/>
        </p:nvSpPr>
        <p:spPr>
          <a:xfrm>
            <a:off x="2071370" y="4731385"/>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9</a:t>
            </a:r>
            <a:endParaRPr lang="en-US" altLang="zh-CN">
              <a:latin typeface="Times New Roman" panose="02020603050405020304" pitchFamily="18" charset="0"/>
              <a:cs typeface="Times New Roman" panose="02020603050405020304" pitchFamily="18" charset="0"/>
            </a:endParaRPr>
          </a:p>
        </p:txBody>
      </p:sp>
      <p:cxnSp>
        <p:nvCxnSpPr>
          <p:cNvPr id="42" name="直接连接符 41"/>
          <p:cNvCxnSpPr/>
          <p:nvPr/>
        </p:nvCxnSpPr>
        <p:spPr>
          <a:xfrm>
            <a:off x="1475740" y="4902200"/>
            <a:ext cx="953770" cy="351790"/>
          </a:xfrm>
          <a:prstGeom prst="line">
            <a:avLst/>
          </a:prstGeom>
          <a:solidFill>
            <a:schemeClr val="accent1"/>
          </a:solidFill>
          <a:ln w="28575" cap="flat" cmpd="sng" algn="ctr">
            <a:solidFill>
              <a:srgbClr val="000000"/>
            </a:solidFill>
            <a:prstDash val="solid"/>
            <a:round/>
            <a:headEnd type="none" w="med" len="med"/>
            <a:tailEnd type="none" w="med" len="med"/>
          </a:ln>
        </p:spPr>
      </p:cxnSp>
      <p:cxnSp>
        <p:nvCxnSpPr>
          <p:cNvPr id="45" name="直接连接符 44"/>
          <p:cNvCxnSpPr>
            <a:endCxn id="12" idx="2"/>
          </p:cNvCxnSpPr>
          <p:nvPr/>
        </p:nvCxnSpPr>
        <p:spPr>
          <a:xfrm>
            <a:off x="1475740" y="4902200"/>
            <a:ext cx="504190" cy="1029335"/>
          </a:xfrm>
          <a:prstGeom prst="line">
            <a:avLst/>
          </a:prstGeom>
          <a:solidFill>
            <a:schemeClr val="accent1"/>
          </a:solidFill>
          <a:ln w="28575" cap="flat" cmpd="sng" algn="ctr">
            <a:solidFill>
              <a:srgbClr val="000000"/>
            </a:solidFill>
            <a:prstDash val="solid"/>
            <a:round/>
            <a:headEnd type="none" w="med" len="med"/>
            <a:tailEnd type="none" w="med" len="med"/>
          </a:ln>
        </p:spPr>
      </p:cxnSp>
      <p:sp>
        <p:nvSpPr>
          <p:cNvPr id="47" name="文本框 46"/>
          <p:cNvSpPr txBox="1"/>
          <p:nvPr/>
        </p:nvSpPr>
        <p:spPr>
          <a:xfrm>
            <a:off x="1259840" y="5386705"/>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26</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p:txBody>
      </p:sp>
      <p:sp>
        <p:nvSpPr>
          <p:cNvPr id="49" name="文本框 48"/>
          <p:cNvSpPr txBox="1"/>
          <p:nvPr/>
        </p:nvSpPr>
        <p:spPr>
          <a:xfrm>
            <a:off x="2628265" y="3611880"/>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20</a:t>
            </a:r>
            <a:endParaRPr lang="en-US" altLang="zh-CN">
              <a:latin typeface="Times New Roman" panose="02020603050405020304" pitchFamily="18" charset="0"/>
              <a:cs typeface="Times New Roman" panose="02020603050405020304" pitchFamily="18" charset="0"/>
            </a:endParaRPr>
          </a:p>
        </p:txBody>
      </p:sp>
      <p:cxnSp>
        <p:nvCxnSpPr>
          <p:cNvPr id="53" name="直接连接符 52"/>
          <p:cNvCxnSpPr>
            <a:endCxn id="21" idx="1"/>
          </p:cNvCxnSpPr>
          <p:nvPr/>
        </p:nvCxnSpPr>
        <p:spPr>
          <a:xfrm>
            <a:off x="2106295" y="3698875"/>
            <a:ext cx="1064260" cy="626110"/>
          </a:xfrm>
          <a:prstGeom prst="line">
            <a:avLst/>
          </a:prstGeom>
          <a:solidFill>
            <a:schemeClr val="accent1"/>
          </a:solidFill>
          <a:ln w="28575" cap="flat" cmpd="sng" algn="ctr">
            <a:solidFill>
              <a:srgbClr val="000000"/>
            </a:solidFill>
            <a:prstDash val="solid"/>
            <a:round/>
            <a:headEnd type="none" w="med" len="med"/>
            <a:tailEnd type="none" w="med" len="med"/>
          </a:ln>
        </p:spPr>
      </p:cxnSp>
      <p:sp>
        <p:nvSpPr>
          <p:cNvPr id="54" name="文本框 53"/>
          <p:cNvSpPr txBox="1"/>
          <p:nvPr/>
        </p:nvSpPr>
        <p:spPr>
          <a:xfrm>
            <a:off x="2071370" y="473456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9</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56" name="直接连接符 55"/>
          <p:cNvCxnSpPr/>
          <p:nvPr/>
        </p:nvCxnSpPr>
        <p:spPr>
          <a:xfrm flipH="1" flipV="1">
            <a:off x="1469390" y="4902835"/>
            <a:ext cx="975360" cy="35052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7" name="椭圆 56"/>
          <p:cNvSpPr/>
          <p:nvPr/>
        </p:nvSpPr>
        <p:spPr>
          <a:xfrm rot="1860000">
            <a:off x="1957070" y="4084955"/>
            <a:ext cx="2157095" cy="2633345"/>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8" name="组合 57"/>
          <p:cNvGrpSpPr/>
          <p:nvPr/>
        </p:nvGrpSpPr>
        <p:grpSpPr>
          <a:xfrm>
            <a:off x="5292090" y="2806700"/>
            <a:ext cx="408938" cy="382270"/>
            <a:chOff x="1006488" y="2036167"/>
            <a:chExt cx="531192" cy="504056"/>
          </a:xfrm>
        </p:grpSpPr>
        <p:sp>
          <p:nvSpPr>
            <p:cNvPr id="5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0" name="文本框 5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7"/>
                                        </p:tgtEl>
                                        <p:attrNameLst>
                                          <p:attrName>style.visibility</p:attrName>
                                        </p:attrNameLst>
                                      </p:cBhvr>
                                      <p:to>
                                        <p:strVal val="visible"/>
                                      </p:to>
                                    </p:set>
                                    <p:anim calcmode="lin" valueType="num">
                                      <p:cBhvr additive="base">
                                        <p:cTn id="13" dur="500" fill="hold"/>
                                        <p:tgtEl>
                                          <p:spTgt spid="57"/>
                                        </p:tgtEl>
                                        <p:attrNameLst>
                                          <p:attrName>ppt_x</p:attrName>
                                        </p:attrNameLst>
                                      </p:cBhvr>
                                      <p:tavLst>
                                        <p:tav tm="0">
                                          <p:val>
                                            <p:strVal val="#ppt_x"/>
                                          </p:val>
                                        </p:tav>
                                        <p:tav tm="100000">
                                          <p:val>
                                            <p:strVal val="#ppt_x"/>
                                          </p:val>
                                        </p:tav>
                                      </p:tavLst>
                                    </p:anim>
                                    <p:anim calcmode="lin" valueType="num">
                                      <p:cBhvr additive="base">
                                        <p:cTn id="14"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childTnLst>
                          </p:cTn>
                        </p:par>
                        <p:par>
                          <p:cTn id="29" fill="hold">
                            <p:stCondLst>
                              <p:cond delay="0"/>
                            </p:stCondLst>
                            <p:childTnLst>
                              <p:par>
                                <p:cTn id="30" presetID="1" presetClass="exit" presetSubtype="0" fill="hold" nodeType="afterEffect">
                                  <p:stCondLst>
                                    <p:cond delay="500"/>
                                  </p:stCondLst>
                                  <p:childTnLst>
                                    <p:set>
                                      <p:cBhvr>
                                        <p:cTn id="31" dur="1" fill="hold">
                                          <p:stCondLst>
                                            <p:cond delay="0"/>
                                          </p:stCondLst>
                                        </p:cTn>
                                        <p:tgtEl>
                                          <p:spTgt spid="42"/>
                                        </p:tgtEl>
                                        <p:attrNameLst>
                                          <p:attrName>style.visibility</p:attrName>
                                        </p:attrNameLst>
                                      </p:cBhvr>
                                      <p:to>
                                        <p:strVal val="hidden"/>
                                      </p:to>
                                    </p:set>
                                  </p:childTnLst>
                                </p:cTn>
                              </p:par>
                              <p:par>
                                <p:cTn id="32" presetID="1" presetClass="exit" presetSubtype="0" fill="hold" nodeType="withEffect">
                                  <p:stCondLst>
                                    <p:cond delay="500"/>
                                  </p:stCondLst>
                                  <p:childTnLst>
                                    <p:set>
                                      <p:cBhvr>
                                        <p:cTn id="33" dur="1" fill="hold">
                                          <p:stCondLst>
                                            <p:cond delay="0"/>
                                          </p:stCondLst>
                                        </p:cTn>
                                        <p:tgtEl>
                                          <p:spTgt spid="45"/>
                                        </p:tgtEl>
                                        <p:attrNameLst>
                                          <p:attrName>style.visibility</p:attrName>
                                        </p:attrNameLst>
                                      </p:cBhvr>
                                      <p:to>
                                        <p:strVal val="hidden"/>
                                      </p:to>
                                    </p:set>
                                  </p:childTnLst>
                                </p:cTn>
                              </p:par>
                              <p:par>
                                <p:cTn id="34" presetID="1" presetClass="exit" presetSubtype="0" fill="hold" grpId="2" nodeType="withEffect">
                                  <p:stCondLst>
                                    <p:cond delay="500"/>
                                  </p:stCondLst>
                                  <p:childTnLst>
                                    <p:set>
                                      <p:cBhvr>
                                        <p:cTn id="35" dur="1" fill="hold">
                                          <p:stCondLst>
                                            <p:cond delay="0"/>
                                          </p:stCondLst>
                                        </p:cTn>
                                        <p:tgtEl>
                                          <p:spTgt spid="41"/>
                                        </p:tgtEl>
                                        <p:attrNameLst>
                                          <p:attrName>style.visibility</p:attrName>
                                        </p:attrNameLst>
                                      </p:cBhvr>
                                      <p:to>
                                        <p:strVal val="hidden"/>
                                      </p:to>
                                    </p:set>
                                  </p:childTnLst>
                                </p:cTn>
                              </p:par>
                              <p:par>
                                <p:cTn id="36" presetID="1" presetClass="exit" presetSubtype="0" fill="hold" grpId="2" nodeType="withEffect">
                                  <p:stCondLst>
                                    <p:cond delay="500"/>
                                  </p:stCondLst>
                                  <p:childTnLst>
                                    <p:set>
                                      <p:cBhvr>
                                        <p:cTn id="37" dur="1" fill="hold">
                                          <p:stCondLst>
                                            <p:cond delay="0"/>
                                          </p:stCondLst>
                                        </p:cTn>
                                        <p:tgtEl>
                                          <p:spTgt spid="47"/>
                                        </p:tgtEl>
                                        <p:attrNameLst>
                                          <p:attrName>style.visibility</p:attrName>
                                        </p:attrNameLst>
                                      </p:cBhvr>
                                      <p:to>
                                        <p:strVal val="hidden"/>
                                      </p:to>
                                    </p:set>
                                  </p:childTnLst>
                                </p:cTn>
                              </p:par>
                              <p:par>
                                <p:cTn id="38" presetID="1" presetClass="exit" presetSubtype="0" fill="hold" nodeType="withEffect">
                                  <p:stCondLst>
                                    <p:cond delay="500"/>
                                  </p:stCondLst>
                                  <p:childTnLst>
                                    <p:set>
                                      <p:cBhvr>
                                        <p:cTn id="39" dur="1" fill="hold">
                                          <p:stCondLst>
                                            <p:cond delay="0"/>
                                          </p:stCondLst>
                                        </p:cTn>
                                        <p:tgtEl>
                                          <p:spTgt spid="53"/>
                                        </p:tgtEl>
                                        <p:attrNameLst>
                                          <p:attrName>style.visibility</p:attrName>
                                        </p:attrNameLst>
                                      </p:cBhvr>
                                      <p:to>
                                        <p:strVal val="hidden"/>
                                      </p:to>
                                    </p:set>
                                  </p:childTnLst>
                                </p:cTn>
                              </p:par>
                              <p:par>
                                <p:cTn id="40" presetID="1" presetClass="exit" presetSubtype="0" fill="hold" grpId="2" nodeType="withEffect">
                                  <p:stCondLst>
                                    <p:cond delay="500"/>
                                  </p:stCondLst>
                                  <p:childTnLst>
                                    <p:set>
                                      <p:cBhvr>
                                        <p:cTn id="41" dur="1" fill="hold">
                                          <p:stCondLst>
                                            <p:cond delay="0"/>
                                          </p:stCondLst>
                                        </p:cTn>
                                        <p:tgtEl>
                                          <p:spTgt spid="49"/>
                                        </p:tgtEl>
                                        <p:attrNameLst>
                                          <p:attrName>style.visibility</p:attrName>
                                        </p:attrNameLst>
                                      </p:cBhvr>
                                      <p:to>
                                        <p:strVal val="hidden"/>
                                      </p:to>
                                    </p:set>
                                  </p:childTnLst>
                                </p:cTn>
                              </p:par>
                            </p:childTnLst>
                          </p:cTn>
                        </p:par>
                        <p:par>
                          <p:cTn id="42" fill="hold">
                            <p:stCondLst>
                              <p:cond delay="500"/>
                            </p:stCondLst>
                            <p:childTnLst>
                              <p:par>
                                <p:cTn id="43" presetID="1" presetClass="entr" presetSubtype="0" fill="hold" nodeType="afterEffect">
                                  <p:stCondLst>
                                    <p:cond delay="500"/>
                                  </p:stCondLst>
                                  <p:childTnLst>
                                    <p:set>
                                      <p:cBhvr>
                                        <p:cTn id="44" dur="1" fill="hold">
                                          <p:stCondLst>
                                            <p:cond delay="0"/>
                                          </p:stCondLst>
                                        </p:cTn>
                                        <p:tgtEl>
                                          <p:spTgt spid="42"/>
                                        </p:tgtEl>
                                        <p:attrNameLst>
                                          <p:attrName>style.visibility</p:attrName>
                                        </p:attrNameLst>
                                      </p:cBhvr>
                                      <p:to>
                                        <p:strVal val="visible"/>
                                      </p:to>
                                    </p:set>
                                  </p:childTnLst>
                                </p:cTn>
                              </p:par>
                              <p:par>
                                <p:cTn id="45" presetID="1" presetClass="entr" presetSubtype="0" fill="hold" nodeType="withEffect">
                                  <p:stCondLst>
                                    <p:cond delay="500"/>
                                  </p:stCondLst>
                                  <p:childTnLst>
                                    <p:set>
                                      <p:cBhvr>
                                        <p:cTn id="46" dur="1" fill="hold">
                                          <p:stCondLst>
                                            <p:cond delay="0"/>
                                          </p:stCondLst>
                                        </p:cTn>
                                        <p:tgtEl>
                                          <p:spTgt spid="45"/>
                                        </p:tgtEl>
                                        <p:attrNameLst>
                                          <p:attrName>style.visibility</p:attrName>
                                        </p:attrNameLst>
                                      </p:cBhvr>
                                      <p:to>
                                        <p:strVal val="visible"/>
                                      </p:to>
                                    </p:set>
                                  </p:childTnLst>
                                </p:cTn>
                              </p:par>
                              <p:par>
                                <p:cTn id="47" presetID="1" presetClass="entr" presetSubtype="0" fill="hold" grpId="3" nodeType="withEffect">
                                  <p:stCondLst>
                                    <p:cond delay="500"/>
                                  </p:stCondLst>
                                  <p:childTnLst>
                                    <p:set>
                                      <p:cBhvr>
                                        <p:cTn id="48" dur="1" fill="hold">
                                          <p:stCondLst>
                                            <p:cond delay="0"/>
                                          </p:stCondLst>
                                        </p:cTn>
                                        <p:tgtEl>
                                          <p:spTgt spid="41"/>
                                        </p:tgtEl>
                                        <p:attrNameLst>
                                          <p:attrName>style.visibility</p:attrName>
                                        </p:attrNameLst>
                                      </p:cBhvr>
                                      <p:to>
                                        <p:strVal val="visible"/>
                                      </p:to>
                                    </p:set>
                                  </p:childTnLst>
                                </p:cTn>
                              </p:par>
                              <p:par>
                                <p:cTn id="49" presetID="1" presetClass="entr" presetSubtype="0" fill="hold" grpId="3" nodeType="withEffect">
                                  <p:stCondLst>
                                    <p:cond delay="500"/>
                                  </p:stCondLst>
                                  <p:childTnLst>
                                    <p:set>
                                      <p:cBhvr>
                                        <p:cTn id="50" dur="1" fill="hold">
                                          <p:stCondLst>
                                            <p:cond delay="0"/>
                                          </p:stCondLst>
                                        </p:cTn>
                                        <p:tgtEl>
                                          <p:spTgt spid="47"/>
                                        </p:tgtEl>
                                        <p:attrNameLst>
                                          <p:attrName>style.visibility</p:attrName>
                                        </p:attrNameLst>
                                      </p:cBhvr>
                                      <p:to>
                                        <p:strVal val="visible"/>
                                      </p:to>
                                    </p:set>
                                  </p:childTnLst>
                                </p:cTn>
                              </p:par>
                              <p:par>
                                <p:cTn id="51" presetID="1" presetClass="entr" presetSubtype="0" fill="hold" nodeType="withEffect">
                                  <p:stCondLst>
                                    <p:cond delay="500"/>
                                  </p:stCondLst>
                                  <p:childTnLst>
                                    <p:set>
                                      <p:cBhvr>
                                        <p:cTn id="52" dur="1" fill="hold">
                                          <p:stCondLst>
                                            <p:cond delay="0"/>
                                          </p:stCondLst>
                                        </p:cTn>
                                        <p:tgtEl>
                                          <p:spTgt spid="53"/>
                                        </p:tgtEl>
                                        <p:attrNameLst>
                                          <p:attrName>style.visibility</p:attrName>
                                        </p:attrNameLst>
                                      </p:cBhvr>
                                      <p:to>
                                        <p:strVal val="visible"/>
                                      </p:to>
                                    </p:set>
                                  </p:childTnLst>
                                </p:cTn>
                              </p:par>
                              <p:par>
                                <p:cTn id="53" presetID="1" presetClass="entr" presetSubtype="0" fill="hold" grpId="3" nodeType="withEffect">
                                  <p:stCondLst>
                                    <p:cond delay="500"/>
                                  </p:stCondLst>
                                  <p:childTnLst>
                                    <p:set>
                                      <p:cBhvr>
                                        <p:cTn id="54" dur="1" fill="hold">
                                          <p:stCondLst>
                                            <p:cond delay="0"/>
                                          </p:stCondLst>
                                        </p:cTn>
                                        <p:tgtEl>
                                          <p:spTgt spid="49"/>
                                        </p:tgtEl>
                                        <p:attrNameLst>
                                          <p:attrName>style.visibility</p:attrName>
                                        </p:attrNameLst>
                                      </p:cBhvr>
                                      <p:to>
                                        <p:strVal val="visible"/>
                                      </p:to>
                                    </p:set>
                                  </p:childTnLst>
                                </p:cTn>
                              </p:par>
                            </p:childTnLst>
                          </p:cTn>
                        </p:par>
                        <p:par>
                          <p:cTn id="55" fill="hold">
                            <p:stCondLst>
                              <p:cond delay="1000"/>
                            </p:stCondLst>
                            <p:childTnLst>
                              <p:par>
                                <p:cTn id="56" presetID="1" presetClass="exit" presetSubtype="0" fill="hold" nodeType="afterEffect">
                                  <p:stCondLst>
                                    <p:cond delay="500"/>
                                  </p:stCondLst>
                                  <p:childTnLst>
                                    <p:set>
                                      <p:cBhvr>
                                        <p:cTn id="57" dur="1" fill="hold">
                                          <p:stCondLst>
                                            <p:cond delay="0"/>
                                          </p:stCondLst>
                                        </p:cTn>
                                        <p:tgtEl>
                                          <p:spTgt spid="42"/>
                                        </p:tgtEl>
                                        <p:attrNameLst>
                                          <p:attrName>style.visibility</p:attrName>
                                        </p:attrNameLst>
                                      </p:cBhvr>
                                      <p:to>
                                        <p:strVal val="hidden"/>
                                      </p:to>
                                    </p:set>
                                  </p:childTnLst>
                                </p:cTn>
                              </p:par>
                              <p:par>
                                <p:cTn id="58" presetID="1" presetClass="exit" presetSubtype="0" fill="hold" nodeType="withEffect">
                                  <p:stCondLst>
                                    <p:cond delay="500"/>
                                  </p:stCondLst>
                                  <p:childTnLst>
                                    <p:set>
                                      <p:cBhvr>
                                        <p:cTn id="59" dur="1" fill="hold">
                                          <p:stCondLst>
                                            <p:cond delay="0"/>
                                          </p:stCondLst>
                                        </p:cTn>
                                        <p:tgtEl>
                                          <p:spTgt spid="45"/>
                                        </p:tgtEl>
                                        <p:attrNameLst>
                                          <p:attrName>style.visibility</p:attrName>
                                        </p:attrNameLst>
                                      </p:cBhvr>
                                      <p:to>
                                        <p:strVal val="hidden"/>
                                      </p:to>
                                    </p:set>
                                  </p:childTnLst>
                                </p:cTn>
                              </p:par>
                              <p:par>
                                <p:cTn id="60" presetID="1" presetClass="exit" presetSubtype="0" fill="hold" grpId="4" nodeType="withEffect">
                                  <p:stCondLst>
                                    <p:cond delay="500"/>
                                  </p:stCondLst>
                                  <p:childTnLst>
                                    <p:set>
                                      <p:cBhvr>
                                        <p:cTn id="61" dur="1" fill="hold">
                                          <p:stCondLst>
                                            <p:cond delay="0"/>
                                          </p:stCondLst>
                                        </p:cTn>
                                        <p:tgtEl>
                                          <p:spTgt spid="41"/>
                                        </p:tgtEl>
                                        <p:attrNameLst>
                                          <p:attrName>style.visibility</p:attrName>
                                        </p:attrNameLst>
                                      </p:cBhvr>
                                      <p:to>
                                        <p:strVal val="hidden"/>
                                      </p:to>
                                    </p:set>
                                  </p:childTnLst>
                                </p:cTn>
                              </p:par>
                              <p:par>
                                <p:cTn id="62" presetID="1" presetClass="exit" presetSubtype="0" fill="hold" grpId="4" nodeType="withEffect">
                                  <p:stCondLst>
                                    <p:cond delay="500"/>
                                  </p:stCondLst>
                                  <p:childTnLst>
                                    <p:set>
                                      <p:cBhvr>
                                        <p:cTn id="63" dur="1" fill="hold">
                                          <p:stCondLst>
                                            <p:cond delay="0"/>
                                          </p:stCondLst>
                                        </p:cTn>
                                        <p:tgtEl>
                                          <p:spTgt spid="47"/>
                                        </p:tgtEl>
                                        <p:attrNameLst>
                                          <p:attrName>style.visibility</p:attrName>
                                        </p:attrNameLst>
                                      </p:cBhvr>
                                      <p:to>
                                        <p:strVal val="hidden"/>
                                      </p:to>
                                    </p:set>
                                  </p:childTnLst>
                                </p:cTn>
                              </p:par>
                              <p:par>
                                <p:cTn id="64" presetID="1" presetClass="exit" presetSubtype="0" fill="hold" nodeType="withEffect">
                                  <p:stCondLst>
                                    <p:cond delay="500"/>
                                  </p:stCondLst>
                                  <p:childTnLst>
                                    <p:set>
                                      <p:cBhvr>
                                        <p:cTn id="65" dur="1" fill="hold">
                                          <p:stCondLst>
                                            <p:cond delay="0"/>
                                          </p:stCondLst>
                                        </p:cTn>
                                        <p:tgtEl>
                                          <p:spTgt spid="53"/>
                                        </p:tgtEl>
                                        <p:attrNameLst>
                                          <p:attrName>style.visibility</p:attrName>
                                        </p:attrNameLst>
                                      </p:cBhvr>
                                      <p:to>
                                        <p:strVal val="hidden"/>
                                      </p:to>
                                    </p:set>
                                  </p:childTnLst>
                                </p:cTn>
                              </p:par>
                              <p:par>
                                <p:cTn id="66" presetID="1" presetClass="exit" presetSubtype="0" fill="hold" grpId="4" nodeType="withEffect">
                                  <p:stCondLst>
                                    <p:cond delay="500"/>
                                  </p:stCondLst>
                                  <p:childTnLst>
                                    <p:set>
                                      <p:cBhvr>
                                        <p:cTn id="67" dur="1" fill="hold">
                                          <p:stCondLst>
                                            <p:cond delay="0"/>
                                          </p:stCondLst>
                                        </p:cTn>
                                        <p:tgtEl>
                                          <p:spTgt spid="49"/>
                                        </p:tgtEl>
                                        <p:attrNameLst>
                                          <p:attrName>style.visibility</p:attrName>
                                        </p:attrNameLst>
                                      </p:cBhvr>
                                      <p:to>
                                        <p:strVal val="hidden"/>
                                      </p:to>
                                    </p:set>
                                  </p:childTnLst>
                                </p:cTn>
                              </p:par>
                            </p:childTnLst>
                          </p:cTn>
                        </p:par>
                      </p:childTnLst>
                    </p:cTn>
                  </p:par>
                  <p:par>
                    <p:cTn id="68" fill="hold">
                      <p:stCondLst>
                        <p:cond delay="indefinite"/>
                      </p:stCondLst>
                      <p:childTnLst>
                        <p:par>
                          <p:cTn id="69" fill="hold">
                            <p:stCondLst>
                              <p:cond delay="0"/>
                            </p:stCondLst>
                            <p:childTnLst>
                              <p:par>
                                <p:cTn id="70" presetID="2" presetClass="entr" presetSubtype="2" fill="hold" grpId="0" nodeType="clickEffect">
                                  <p:stCondLst>
                                    <p:cond delay="0"/>
                                  </p:stCondLst>
                                  <p:childTnLst>
                                    <p:set>
                                      <p:cBhvr>
                                        <p:cTn id="71" dur="1" fill="hold">
                                          <p:stCondLst>
                                            <p:cond delay="0"/>
                                          </p:stCondLst>
                                        </p:cTn>
                                        <p:tgtEl>
                                          <p:spTgt spid="27"/>
                                        </p:tgtEl>
                                        <p:attrNameLst>
                                          <p:attrName>style.visibility</p:attrName>
                                        </p:attrNameLst>
                                      </p:cBhvr>
                                      <p:to>
                                        <p:strVal val="visible"/>
                                      </p:to>
                                    </p:set>
                                    <p:anim calcmode="lin" valueType="num">
                                      <p:cBhvr additive="base">
                                        <p:cTn id="72" dur="500" fill="hold"/>
                                        <p:tgtEl>
                                          <p:spTgt spid="27"/>
                                        </p:tgtEl>
                                        <p:attrNameLst>
                                          <p:attrName>ppt_x</p:attrName>
                                        </p:attrNameLst>
                                      </p:cBhvr>
                                      <p:tavLst>
                                        <p:tav tm="0">
                                          <p:val>
                                            <p:strVal val="1+#ppt_w/2"/>
                                          </p:val>
                                        </p:tav>
                                        <p:tav tm="100000">
                                          <p:val>
                                            <p:strVal val="#ppt_x"/>
                                          </p:val>
                                        </p:tav>
                                      </p:tavLst>
                                    </p:anim>
                                    <p:anim calcmode="lin" valueType="num">
                                      <p:cBhvr additive="base">
                                        <p:cTn id="73" dur="500" fill="hold"/>
                                        <p:tgtEl>
                                          <p:spTgt spid="27"/>
                                        </p:tgtEl>
                                        <p:attrNameLst>
                                          <p:attrName>ppt_y</p:attrName>
                                        </p:attrNameLst>
                                      </p:cBhvr>
                                      <p:tavLst>
                                        <p:tav tm="0">
                                          <p:val>
                                            <p:strVal val="#ppt_y"/>
                                          </p:val>
                                        </p:tav>
                                        <p:tav tm="100000">
                                          <p:val>
                                            <p:strVal val="#ppt_y"/>
                                          </p:val>
                                        </p:tav>
                                      </p:tavLst>
                                    </p:anim>
                                  </p:childTnLst>
                                </p:cTn>
                              </p:par>
                              <p:par>
                                <p:cTn id="74" presetID="2" presetClass="entr" presetSubtype="2" fill="hold" grpId="0" nodeType="withEffect">
                                  <p:stCondLst>
                                    <p:cond delay="0"/>
                                  </p:stCondLst>
                                  <p:childTnLst>
                                    <p:set>
                                      <p:cBhvr>
                                        <p:cTn id="75" dur="1" fill="hold">
                                          <p:stCondLst>
                                            <p:cond delay="0"/>
                                          </p:stCondLst>
                                        </p:cTn>
                                        <p:tgtEl>
                                          <p:spTgt spid="29"/>
                                        </p:tgtEl>
                                        <p:attrNameLst>
                                          <p:attrName>style.visibility</p:attrName>
                                        </p:attrNameLst>
                                      </p:cBhvr>
                                      <p:to>
                                        <p:strVal val="visible"/>
                                      </p:to>
                                    </p:set>
                                    <p:anim calcmode="lin" valueType="num">
                                      <p:cBhvr additive="base">
                                        <p:cTn id="76" dur="500" fill="hold"/>
                                        <p:tgtEl>
                                          <p:spTgt spid="29"/>
                                        </p:tgtEl>
                                        <p:attrNameLst>
                                          <p:attrName>ppt_x</p:attrName>
                                        </p:attrNameLst>
                                      </p:cBhvr>
                                      <p:tavLst>
                                        <p:tav tm="0">
                                          <p:val>
                                            <p:strVal val="1+#ppt_w/2"/>
                                          </p:val>
                                        </p:tav>
                                        <p:tav tm="100000">
                                          <p:val>
                                            <p:strVal val="#ppt_x"/>
                                          </p:val>
                                        </p:tav>
                                      </p:tavLst>
                                    </p:anim>
                                    <p:anim calcmode="lin" valueType="num">
                                      <p:cBhvr additive="base">
                                        <p:cTn id="77" dur="500" fill="hold"/>
                                        <p:tgtEl>
                                          <p:spTgt spid="29"/>
                                        </p:tgtEl>
                                        <p:attrNameLst>
                                          <p:attrName>ppt_y</p:attrName>
                                        </p:attrNameLst>
                                      </p:cBhvr>
                                      <p:tavLst>
                                        <p:tav tm="0">
                                          <p:val>
                                            <p:strVal val="#ppt_y"/>
                                          </p:val>
                                        </p:tav>
                                        <p:tav tm="100000">
                                          <p:val>
                                            <p:strVal val="#ppt_y"/>
                                          </p:val>
                                        </p:tav>
                                      </p:tavLst>
                                    </p:anim>
                                  </p:childTnLst>
                                </p:cTn>
                              </p:par>
                              <p:par>
                                <p:cTn id="78" presetID="2" presetClass="entr" presetSubtype="2" fill="hold" grpId="0" nodeType="withEffect">
                                  <p:stCondLst>
                                    <p:cond delay="0"/>
                                  </p:stCondLst>
                                  <p:childTnLst>
                                    <p:set>
                                      <p:cBhvr>
                                        <p:cTn id="79" dur="1" fill="hold">
                                          <p:stCondLst>
                                            <p:cond delay="0"/>
                                          </p:stCondLst>
                                        </p:cTn>
                                        <p:tgtEl>
                                          <p:spTgt spid="37"/>
                                        </p:tgtEl>
                                        <p:attrNameLst>
                                          <p:attrName>style.visibility</p:attrName>
                                        </p:attrNameLst>
                                      </p:cBhvr>
                                      <p:to>
                                        <p:strVal val="visible"/>
                                      </p:to>
                                    </p:set>
                                    <p:anim calcmode="lin" valueType="num">
                                      <p:cBhvr additive="base">
                                        <p:cTn id="80" dur="500" fill="hold"/>
                                        <p:tgtEl>
                                          <p:spTgt spid="37"/>
                                        </p:tgtEl>
                                        <p:attrNameLst>
                                          <p:attrName>ppt_x</p:attrName>
                                        </p:attrNameLst>
                                      </p:cBhvr>
                                      <p:tavLst>
                                        <p:tav tm="0">
                                          <p:val>
                                            <p:strVal val="1+#ppt_w/2"/>
                                          </p:val>
                                        </p:tav>
                                        <p:tav tm="100000">
                                          <p:val>
                                            <p:strVal val="#ppt_x"/>
                                          </p:val>
                                        </p:tav>
                                      </p:tavLst>
                                    </p:anim>
                                    <p:anim calcmode="lin" valueType="num">
                                      <p:cBhvr additive="base">
                                        <p:cTn id="81" dur="500" fill="hold"/>
                                        <p:tgtEl>
                                          <p:spTgt spid="37"/>
                                        </p:tgtEl>
                                        <p:attrNameLst>
                                          <p:attrName>ppt_y</p:attrName>
                                        </p:attrNameLst>
                                      </p:cBhvr>
                                      <p:tavLst>
                                        <p:tav tm="0">
                                          <p:val>
                                            <p:strVal val="#ppt_y"/>
                                          </p:val>
                                        </p:tav>
                                        <p:tav tm="100000">
                                          <p:val>
                                            <p:strVal val="#ppt_y"/>
                                          </p:val>
                                        </p:tav>
                                      </p:tavLst>
                                    </p:anim>
                                  </p:childTnLst>
                                </p:cTn>
                              </p:par>
                              <p:par>
                                <p:cTn id="82" presetID="2" presetClass="entr" presetSubtype="2" fill="hold" nodeType="withEffect">
                                  <p:stCondLst>
                                    <p:cond delay="0"/>
                                  </p:stCondLst>
                                  <p:childTnLst>
                                    <p:set>
                                      <p:cBhvr>
                                        <p:cTn id="83" dur="1" fill="hold">
                                          <p:stCondLst>
                                            <p:cond delay="0"/>
                                          </p:stCondLst>
                                        </p:cTn>
                                        <p:tgtEl>
                                          <p:spTgt spid="38"/>
                                        </p:tgtEl>
                                        <p:attrNameLst>
                                          <p:attrName>style.visibility</p:attrName>
                                        </p:attrNameLst>
                                      </p:cBhvr>
                                      <p:to>
                                        <p:strVal val="visible"/>
                                      </p:to>
                                    </p:set>
                                    <p:anim calcmode="lin" valueType="num">
                                      <p:cBhvr additive="base">
                                        <p:cTn id="84" dur="500" fill="hold"/>
                                        <p:tgtEl>
                                          <p:spTgt spid="38"/>
                                        </p:tgtEl>
                                        <p:attrNameLst>
                                          <p:attrName>ppt_x</p:attrName>
                                        </p:attrNameLst>
                                      </p:cBhvr>
                                      <p:tavLst>
                                        <p:tav tm="0">
                                          <p:val>
                                            <p:strVal val="1+#ppt_w/2"/>
                                          </p:val>
                                        </p:tav>
                                        <p:tav tm="100000">
                                          <p:val>
                                            <p:strVal val="#ppt_x"/>
                                          </p:val>
                                        </p:tav>
                                      </p:tavLst>
                                    </p:anim>
                                    <p:anim calcmode="lin" valueType="num">
                                      <p:cBhvr additive="base">
                                        <p:cTn id="85" dur="500" fill="hold"/>
                                        <p:tgtEl>
                                          <p:spTgt spid="38"/>
                                        </p:tgtEl>
                                        <p:attrNameLst>
                                          <p:attrName>ppt_y</p:attrName>
                                        </p:attrNameLst>
                                      </p:cBhvr>
                                      <p:tavLst>
                                        <p:tav tm="0">
                                          <p:val>
                                            <p:strVal val="#ppt_y"/>
                                          </p:val>
                                        </p:tav>
                                        <p:tav tm="100000">
                                          <p:val>
                                            <p:strVal val="#ppt_y"/>
                                          </p:val>
                                        </p:tav>
                                      </p:tavLst>
                                    </p:anim>
                                  </p:childTnLst>
                                </p:cTn>
                              </p:par>
                              <p:par>
                                <p:cTn id="86" presetID="2" presetClass="entr" presetSubtype="2" fill="hold" nodeType="withEffect">
                                  <p:stCondLst>
                                    <p:cond delay="0"/>
                                  </p:stCondLst>
                                  <p:childTnLst>
                                    <p:set>
                                      <p:cBhvr>
                                        <p:cTn id="87" dur="1" fill="hold">
                                          <p:stCondLst>
                                            <p:cond delay="0"/>
                                          </p:stCondLst>
                                        </p:cTn>
                                        <p:tgtEl>
                                          <p:spTgt spid="75"/>
                                        </p:tgtEl>
                                        <p:attrNameLst>
                                          <p:attrName>style.visibility</p:attrName>
                                        </p:attrNameLst>
                                      </p:cBhvr>
                                      <p:to>
                                        <p:strVal val="visible"/>
                                      </p:to>
                                    </p:set>
                                    <p:anim calcmode="lin" valueType="num">
                                      <p:cBhvr additive="base">
                                        <p:cTn id="88" dur="500" fill="hold"/>
                                        <p:tgtEl>
                                          <p:spTgt spid="75"/>
                                        </p:tgtEl>
                                        <p:attrNameLst>
                                          <p:attrName>ppt_x</p:attrName>
                                        </p:attrNameLst>
                                      </p:cBhvr>
                                      <p:tavLst>
                                        <p:tav tm="0">
                                          <p:val>
                                            <p:strVal val="1+#ppt_w/2"/>
                                          </p:val>
                                        </p:tav>
                                        <p:tav tm="100000">
                                          <p:val>
                                            <p:strVal val="#ppt_x"/>
                                          </p:val>
                                        </p:tav>
                                      </p:tavLst>
                                    </p:anim>
                                    <p:anim calcmode="lin" valueType="num">
                                      <p:cBhvr additive="base">
                                        <p:cTn id="89" dur="500" fill="hold"/>
                                        <p:tgtEl>
                                          <p:spTgt spid="75"/>
                                        </p:tgtEl>
                                        <p:attrNameLst>
                                          <p:attrName>ppt_y</p:attrName>
                                        </p:attrNameLst>
                                      </p:cBhvr>
                                      <p:tavLst>
                                        <p:tav tm="0">
                                          <p:val>
                                            <p:strVal val="#ppt_y"/>
                                          </p:val>
                                        </p:tav>
                                        <p:tav tm="100000">
                                          <p:val>
                                            <p:strVal val="#ppt_y"/>
                                          </p:val>
                                        </p:tav>
                                      </p:tavLst>
                                    </p:anim>
                                  </p:childTnLst>
                                </p:cTn>
                              </p:par>
                              <p:par>
                                <p:cTn id="90" presetID="2" presetClass="entr" presetSubtype="2" fill="hold" nodeType="withEffect">
                                  <p:stCondLst>
                                    <p:cond delay="0"/>
                                  </p:stCondLst>
                                  <p:childTnLst>
                                    <p:set>
                                      <p:cBhvr>
                                        <p:cTn id="91" dur="1" fill="hold">
                                          <p:stCondLst>
                                            <p:cond delay="0"/>
                                          </p:stCondLst>
                                        </p:cTn>
                                        <p:tgtEl>
                                          <p:spTgt spid="86"/>
                                        </p:tgtEl>
                                        <p:attrNameLst>
                                          <p:attrName>style.visibility</p:attrName>
                                        </p:attrNameLst>
                                      </p:cBhvr>
                                      <p:to>
                                        <p:strVal val="visible"/>
                                      </p:to>
                                    </p:set>
                                    <p:anim calcmode="lin" valueType="num">
                                      <p:cBhvr additive="base">
                                        <p:cTn id="92" dur="500" fill="hold"/>
                                        <p:tgtEl>
                                          <p:spTgt spid="86"/>
                                        </p:tgtEl>
                                        <p:attrNameLst>
                                          <p:attrName>ppt_x</p:attrName>
                                        </p:attrNameLst>
                                      </p:cBhvr>
                                      <p:tavLst>
                                        <p:tav tm="0">
                                          <p:val>
                                            <p:strVal val="1+#ppt_w/2"/>
                                          </p:val>
                                        </p:tav>
                                        <p:tav tm="100000">
                                          <p:val>
                                            <p:strVal val="#ppt_x"/>
                                          </p:val>
                                        </p:tav>
                                      </p:tavLst>
                                    </p:anim>
                                    <p:anim calcmode="lin" valueType="num">
                                      <p:cBhvr additive="base">
                                        <p:cTn id="93" dur="500" fill="hold"/>
                                        <p:tgtEl>
                                          <p:spTgt spid="86"/>
                                        </p:tgtEl>
                                        <p:attrNameLst>
                                          <p:attrName>ppt_y</p:attrName>
                                        </p:attrNameLst>
                                      </p:cBhvr>
                                      <p:tavLst>
                                        <p:tav tm="0">
                                          <p:val>
                                            <p:strVal val="#ppt_y"/>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6" presetID="1" presetClass="entr" presetSubtype="0" fill="hold" nodeType="clickEffect">
                                  <p:stCondLst>
                                    <p:cond delay="0"/>
                                  </p:stCondLst>
                                  <p:childTnLst>
                                    <p:set>
                                      <p:cBhvr>
                                        <p:cTn id="97" dur="1" fill="hold">
                                          <p:stCondLst>
                                            <p:cond delay="0"/>
                                          </p:stCondLst>
                                        </p:cTn>
                                        <p:tgtEl>
                                          <p:spTgt spid="56"/>
                                        </p:tgtEl>
                                        <p:attrNameLst>
                                          <p:attrName>style.visibility</p:attrName>
                                        </p:attrNameLst>
                                      </p:cBhvr>
                                      <p:to>
                                        <p:strVal val="visible"/>
                                      </p:to>
                                    </p:set>
                                  </p:childTnLst>
                                </p:cTn>
                              </p:par>
                              <p:par>
                                <p:cTn id="98" presetID="1" presetClass="entr" presetSubtype="0" fill="hold" grpId="0" nodeType="withEffect">
                                  <p:stCondLst>
                                    <p:cond delay="0"/>
                                  </p:stCondLst>
                                  <p:childTnLst>
                                    <p:set>
                                      <p:cBhvr>
                                        <p:cTn id="99" dur="1" fill="hold">
                                          <p:stCondLst>
                                            <p:cond delay="0"/>
                                          </p:stCondLst>
                                        </p:cTn>
                                        <p:tgtEl>
                                          <p:spTgt spid="54"/>
                                        </p:tgtEl>
                                        <p:attrNameLst>
                                          <p:attrName>style.visibility</p:attrName>
                                        </p:attrNameLst>
                                      </p:cBhvr>
                                      <p:to>
                                        <p:strVal val="visible"/>
                                      </p:to>
                                    </p:set>
                                  </p:childTnLst>
                                </p:cTn>
                              </p:par>
                            </p:childTnLst>
                          </p:cTn>
                        </p:par>
                      </p:childTnLst>
                    </p:cTn>
                  </p:par>
                  <p:par>
                    <p:cTn id="100" fill="hold">
                      <p:stCondLst>
                        <p:cond delay="indefinite"/>
                      </p:stCondLst>
                      <p:childTnLst>
                        <p:par>
                          <p:cTn id="101" fill="hold">
                            <p:stCondLst>
                              <p:cond delay="0"/>
                            </p:stCondLst>
                            <p:childTnLst>
                              <p:par>
                                <p:cTn id="102" presetID="0" presetClass="path" presetSubtype="0" accel="50000" decel="50000" fill="hold" grpId="0" nodeType="clickEffect">
                                  <p:stCondLst>
                                    <p:cond delay="0"/>
                                  </p:stCondLst>
                                  <p:childTnLst>
                                    <p:animMotion origin="layout" path="M 0 0 L 0.0629861 0 " pathEditMode="relative" ptsTypes="">
                                      <p:cBhvr>
                                        <p:cTn id="103" dur="2000" fill="hold"/>
                                        <p:tgtEl>
                                          <p:spTgt spid="43"/>
                                        </p:tgtEl>
                                        <p:attrNameLst>
                                          <p:attrName>ppt_x</p:attrName>
                                          <p:attrName>ppt_y</p:attrName>
                                        </p:attrNameLst>
                                      </p:cBhvr>
                                    </p:animMotion>
                                  </p:childTnLst>
                                </p:cTn>
                              </p:par>
                            </p:childTnLst>
                          </p:cTn>
                        </p:par>
                      </p:childTnLst>
                    </p:cTn>
                  </p:par>
                  <p:par>
                    <p:cTn id="104" fill="hold">
                      <p:stCondLst>
                        <p:cond delay="indefinite"/>
                      </p:stCondLst>
                      <p:childTnLst>
                        <p:par>
                          <p:cTn id="105" fill="hold">
                            <p:stCondLst>
                              <p:cond delay="0"/>
                            </p:stCondLst>
                            <p:childTnLst>
                              <p:par>
                                <p:cTn id="106" presetID="2" presetClass="entr" presetSubtype="2" fill="hold" nodeType="clickEffect">
                                  <p:stCondLst>
                                    <p:cond delay="0"/>
                                  </p:stCondLst>
                                  <p:childTnLst>
                                    <p:set>
                                      <p:cBhvr>
                                        <p:cTn id="107" dur="1" fill="hold">
                                          <p:stCondLst>
                                            <p:cond delay="0"/>
                                          </p:stCondLst>
                                        </p:cTn>
                                        <p:tgtEl>
                                          <p:spTgt spid="58"/>
                                        </p:tgtEl>
                                        <p:attrNameLst>
                                          <p:attrName>style.visibility</p:attrName>
                                        </p:attrNameLst>
                                      </p:cBhvr>
                                      <p:to>
                                        <p:strVal val="visible"/>
                                      </p:to>
                                    </p:set>
                                    <p:anim calcmode="lin" valueType="num">
                                      <p:cBhvr additive="base">
                                        <p:cTn id="108" dur="500" fill="hold"/>
                                        <p:tgtEl>
                                          <p:spTgt spid="58"/>
                                        </p:tgtEl>
                                        <p:attrNameLst>
                                          <p:attrName>ppt_x</p:attrName>
                                        </p:attrNameLst>
                                      </p:cBhvr>
                                      <p:tavLst>
                                        <p:tav tm="0">
                                          <p:val>
                                            <p:strVal val="1+#ppt_w/2"/>
                                          </p:val>
                                        </p:tav>
                                        <p:tav tm="100000">
                                          <p:val>
                                            <p:strVal val="#ppt_x"/>
                                          </p:val>
                                        </p:tav>
                                      </p:tavLst>
                                    </p:anim>
                                    <p:anim calcmode="lin" valueType="num">
                                      <p:cBhvr additive="base">
                                        <p:cTn id="109" dur="500" fill="hold"/>
                                        <p:tgtEl>
                                          <p:spTgt spid="5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27" grpId="1"/>
      <p:bldP spid="29" grpId="0" animBg="1"/>
      <p:bldP spid="29" grpId="1" animBg="1"/>
      <p:bldP spid="37" grpId="0" animBg="1"/>
      <p:bldP spid="37" grpId="1" animBg="1"/>
      <p:bldP spid="43" grpId="0" animBg="1"/>
      <p:bldP spid="51" grpId="1" animBg="1"/>
      <p:bldP spid="55" grpId="1"/>
      <p:bldP spid="102" grpId="1"/>
      <p:bldP spid="34" grpId="0" animBg="1"/>
      <p:bldP spid="34" grpId="1" animBg="1"/>
      <p:bldP spid="41" grpId="0"/>
      <p:bldP spid="41" grpId="1"/>
      <p:bldP spid="41" grpId="2"/>
      <p:bldP spid="41" grpId="3"/>
      <p:bldP spid="41" grpId="4"/>
      <p:bldP spid="47" grpId="0"/>
      <p:bldP spid="47" grpId="1"/>
      <p:bldP spid="47" grpId="2"/>
      <p:bldP spid="47" grpId="3"/>
      <p:bldP spid="47" grpId="4"/>
      <p:bldP spid="49" grpId="0"/>
      <p:bldP spid="49" grpId="1"/>
      <p:bldP spid="49" grpId="2"/>
      <p:bldP spid="49" grpId="3"/>
      <p:bldP spid="49" grpId="4"/>
      <p:bldP spid="54" grpId="0"/>
      <p:bldP spid="54" grpId="1"/>
      <p:bldP spid="57" grpId="0" bldLvl="0" animBg="1"/>
      <p:bldP spid="57" grpId="1"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188085" y="3074035"/>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1723390" y="4100830"/>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611505" y="4173220"/>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1979930" y="5661660"/>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3131820" y="5805170"/>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2772410" y="5028565"/>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3091815" y="424624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849755" y="2806700"/>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3533775" y="501332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7" name="文本框 26"/>
          <p:cNvSpPr txBox="1"/>
          <p:nvPr/>
        </p:nvSpPr>
        <p:spPr>
          <a:xfrm>
            <a:off x="4227195" y="4178935"/>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6668135" y="407543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左大括号 36"/>
          <p:cNvSpPr/>
          <p:nvPr/>
        </p:nvSpPr>
        <p:spPr>
          <a:xfrm>
            <a:off x="5076190" y="407733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5345430" y="416179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5654040" y="271399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294505" y="2809875"/>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067810" y="271589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512060" y="2832100"/>
            <a:ext cx="1647190" cy="299720"/>
          </a:xfrm>
          <a:prstGeom prst="rect">
            <a:avLst/>
          </a:prstGeom>
          <a:noFill/>
        </p:spPr>
        <p:txBody>
          <a:bodyPr wrap="square" rtlCol="0" anchor="t">
            <a:noAutofit/>
          </a:bodyPr>
          <a:lstStyle/>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4774565" y="2806700"/>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5828665" y="4161790"/>
            <a:ext cx="408938" cy="382270"/>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6" name="组合 85"/>
          <p:cNvGrpSpPr/>
          <p:nvPr/>
        </p:nvGrpSpPr>
        <p:grpSpPr>
          <a:xfrm>
            <a:off x="6275705" y="4161790"/>
            <a:ext cx="408938" cy="382270"/>
            <a:chOff x="1006488" y="2036167"/>
            <a:chExt cx="531192" cy="504056"/>
          </a:xfrm>
        </p:grpSpPr>
        <p:sp>
          <p:nvSpPr>
            <p:cNvPr id="8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2" name="文本框 9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26</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941705" y="3613785"/>
            <a:ext cx="516255" cy="5753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143000" y="379984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4" name="椭圆 33"/>
          <p:cNvSpPr/>
          <p:nvPr/>
        </p:nvSpPr>
        <p:spPr>
          <a:xfrm rot="1860000">
            <a:off x="514985" y="3001010"/>
            <a:ext cx="1880870" cy="2042795"/>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45" name="直接连接符 44"/>
          <p:cNvCxnSpPr>
            <a:stCxn id="9" idx="4"/>
            <a:endCxn id="12" idx="2"/>
          </p:cNvCxnSpPr>
          <p:nvPr/>
        </p:nvCxnSpPr>
        <p:spPr>
          <a:xfrm>
            <a:off x="881380" y="4712970"/>
            <a:ext cx="1098550" cy="1218565"/>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sp>
        <p:nvSpPr>
          <p:cNvPr id="47" name="文本框 46"/>
          <p:cNvSpPr txBox="1"/>
          <p:nvPr/>
        </p:nvSpPr>
        <p:spPr>
          <a:xfrm>
            <a:off x="1259840" y="5386705"/>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26</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p:txBody>
      </p:sp>
      <p:sp>
        <p:nvSpPr>
          <p:cNvPr id="49" name="文本框 48"/>
          <p:cNvSpPr txBox="1"/>
          <p:nvPr/>
        </p:nvSpPr>
        <p:spPr>
          <a:xfrm>
            <a:off x="2628265" y="3611880"/>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20</a:t>
            </a:r>
            <a:endParaRPr lang="en-US" altLang="zh-CN">
              <a:latin typeface="Times New Roman" panose="02020603050405020304" pitchFamily="18" charset="0"/>
              <a:cs typeface="Times New Roman" panose="02020603050405020304" pitchFamily="18" charset="0"/>
            </a:endParaRPr>
          </a:p>
        </p:txBody>
      </p:sp>
      <p:cxnSp>
        <p:nvCxnSpPr>
          <p:cNvPr id="53" name="直接连接符 52"/>
          <p:cNvCxnSpPr>
            <a:stCxn id="3" idx="3"/>
            <a:endCxn id="21" idx="1"/>
          </p:cNvCxnSpPr>
          <p:nvPr/>
        </p:nvCxnSpPr>
        <p:spPr>
          <a:xfrm>
            <a:off x="1723390" y="3343910"/>
            <a:ext cx="1447165" cy="981075"/>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sp>
        <p:nvSpPr>
          <p:cNvPr id="54" name="文本框 53"/>
          <p:cNvSpPr txBox="1"/>
          <p:nvPr/>
        </p:nvSpPr>
        <p:spPr>
          <a:xfrm>
            <a:off x="1320800" y="436880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9</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56" name="直接连接符 55"/>
          <p:cNvCxnSpPr>
            <a:stCxn id="6" idx="2"/>
          </p:cNvCxnSpPr>
          <p:nvPr/>
        </p:nvCxnSpPr>
        <p:spPr>
          <a:xfrm flipH="1">
            <a:off x="1151255" y="4370705"/>
            <a:ext cx="572135" cy="577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7" name="椭圆 56"/>
          <p:cNvSpPr/>
          <p:nvPr/>
        </p:nvSpPr>
        <p:spPr>
          <a:xfrm rot="1860000">
            <a:off x="1957070" y="4084955"/>
            <a:ext cx="2157095" cy="2633345"/>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8" name="组合 57"/>
          <p:cNvGrpSpPr/>
          <p:nvPr/>
        </p:nvGrpSpPr>
        <p:grpSpPr>
          <a:xfrm>
            <a:off x="5292090" y="2806700"/>
            <a:ext cx="408938" cy="382270"/>
            <a:chOff x="1006488" y="2036167"/>
            <a:chExt cx="531192" cy="504056"/>
          </a:xfrm>
        </p:grpSpPr>
        <p:sp>
          <p:nvSpPr>
            <p:cNvPr id="5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0" name="文本框 5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28" name="文本框 27"/>
          <p:cNvSpPr txBox="1"/>
          <p:nvPr/>
        </p:nvSpPr>
        <p:spPr>
          <a:xfrm>
            <a:off x="2701925" y="4638675"/>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23</a:t>
            </a:r>
            <a:endParaRPr lang="en-US" altLang="zh-CN">
              <a:latin typeface="Times New Roman" panose="02020603050405020304" pitchFamily="18" charset="0"/>
              <a:cs typeface="Times New Roman" panose="02020603050405020304" pitchFamily="18" charset="0"/>
            </a:endParaRPr>
          </a:p>
        </p:txBody>
      </p:sp>
      <p:cxnSp>
        <p:nvCxnSpPr>
          <p:cNvPr id="30" name="直接连接符 29"/>
          <p:cNvCxnSpPr>
            <a:endCxn id="18" idx="1"/>
          </p:cNvCxnSpPr>
          <p:nvPr/>
        </p:nvCxnSpPr>
        <p:spPr>
          <a:xfrm>
            <a:off x="2179955" y="4566285"/>
            <a:ext cx="671195" cy="541020"/>
          </a:xfrm>
          <a:prstGeom prst="line">
            <a:avLst/>
          </a:prstGeom>
          <a:ln>
            <a:headEnd type="none" w="med" len="med"/>
            <a:tailEnd type="none" w="med" len="med"/>
          </a:ln>
        </p:spPr>
        <p:style>
          <a:lnRef idx="2">
            <a:schemeClr val="accent1"/>
          </a:lnRef>
          <a:fillRef idx="0">
            <a:schemeClr val="accent1"/>
          </a:fillRef>
          <a:effectRef idx="1">
            <a:schemeClr val="accent1"/>
          </a:effectRef>
          <a:fontRef idx="minor">
            <a:schemeClr val="tx1"/>
          </a:fontRef>
        </p:style>
      </p:cxnSp>
      <p:grpSp>
        <p:nvGrpSpPr>
          <p:cNvPr id="31" name="组合 30"/>
          <p:cNvGrpSpPr/>
          <p:nvPr/>
        </p:nvGrpSpPr>
        <p:grpSpPr>
          <a:xfrm>
            <a:off x="5807710" y="2809875"/>
            <a:ext cx="408938" cy="382270"/>
            <a:chOff x="1006488" y="2036167"/>
            <a:chExt cx="531192" cy="504056"/>
          </a:xfrm>
        </p:grpSpPr>
        <p:sp>
          <p:nvSpPr>
            <p:cNvPr id="3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3" name="文本框 3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5" name="文本框 34"/>
          <p:cNvSpPr txBox="1"/>
          <p:nvPr/>
        </p:nvSpPr>
        <p:spPr>
          <a:xfrm>
            <a:off x="2623820" y="361188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20</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36" name="直接连接符 35"/>
          <p:cNvCxnSpPr/>
          <p:nvPr/>
        </p:nvCxnSpPr>
        <p:spPr>
          <a:xfrm flipH="1" flipV="1">
            <a:off x="1723390" y="3343910"/>
            <a:ext cx="1441450" cy="972820"/>
          </a:xfrm>
          <a:prstGeom prst="line">
            <a:avLst/>
          </a:prstGeom>
          <a:solidFill>
            <a:schemeClr val="accent1"/>
          </a:solidFill>
          <a:ln w="28575" cap="flat" cmpd="sng" algn="ctr">
            <a:solidFill>
              <a:srgbClr val="FF0000"/>
            </a:solidFill>
            <a:prstDash val="solid"/>
            <a:round/>
            <a:headEnd type="none" w="med" len="med"/>
            <a:tailEnd type="none" w="med" len="med"/>
          </a:ln>
        </p:spPr>
      </p:cxn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7"/>
                                        </p:tgtEl>
                                        <p:attrNameLst>
                                          <p:attrName>style.visibility</p:attrName>
                                        </p:attrNameLst>
                                      </p:cBhvr>
                                      <p:to>
                                        <p:strVal val="visible"/>
                                      </p:to>
                                    </p:set>
                                    <p:anim calcmode="lin" valueType="num">
                                      <p:cBhvr additive="base">
                                        <p:cTn id="13" dur="500" fill="hold"/>
                                        <p:tgtEl>
                                          <p:spTgt spid="57"/>
                                        </p:tgtEl>
                                        <p:attrNameLst>
                                          <p:attrName>ppt_x</p:attrName>
                                        </p:attrNameLst>
                                      </p:cBhvr>
                                      <p:tavLst>
                                        <p:tav tm="0">
                                          <p:val>
                                            <p:strVal val="#ppt_x"/>
                                          </p:val>
                                        </p:tav>
                                        <p:tav tm="100000">
                                          <p:val>
                                            <p:strVal val="#ppt_x"/>
                                          </p:val>
                                        </p:tav>
                                      </p:tavLst>
                                    </p:anim>
                                    <p:anim calcmode="lin" valueType="num">
                                      <p:cBhvr additive="base">
                                        <p:cTn id="14"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5"/>
                                        </p:tgtEl>
                                        <p:attrNameLst>
                                          <p:attrName>style.visibility</p:attrName>
                                        </p:attrNameLst>
                                      </p:cBhvr>
                                      <p:to>
                                        <p:strVal val="visible"/>
                                      </p:to>
                                    </p:set>
                                  </p:childTnLst>
                                </p:cTn>
                              </p:par>
                              <p:par>
                                <p:cTn id="19" presetID="1" presetClass="entr" presetSubtype="0" fill="hold" grpId="4"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4" nodeType="withEffect">
                                  <p:stCondLst>
                                    <p:cond delay="0"/>
                                  </p:stCondLst>
                                  <p:childTnLst>
                                    <p:set>
                                      <p:cBhvr>
                                        <p:cTn id="22" dur="1" fill="hold">
                                          <p:stCondLst>
                                            <p:cond delay="0"/>
                                          </p:stCondLst>
                                        </p:cTn>
                                        <p:tgtEl>
                                          <p:spTgt spid="4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par>
                                <p:cTn id="25" presetID="1" presetClass="entr" presetSubtype="0" fill="hold" grpId="4" nodeType="with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35" presetClass="emph" presetSubtype="0" fill="hold" nodeType="clickEffect">
                                  <p:stCondLst>
                                    <p:cond delay="0"/>
                                  </p:stCondLst>
                                  <p:childTnLst>
                                    <p:anim calcmode="discrete" valueType="str">
                                      <p:cBhvr>
                                        <p:cTn id="32" dur="1000" fill="hold"/>
                                        <p:tgtEl>
                                          <p:spTgt spid="53"/>
                                        </p:tgtEl>
                                        <p:attrNameLst>
                                          <p:attrName>style.visibility</p:attrName>
                                        </p:attrNameLst>
                                      </p:cBhvr>
                                      <p:tavLst>
                                        <p:tav tm="0">
                                          <p:val>
                                            <p:strVal val="hidden"/>
                                          </p:val>
                                        </p:tav>
                                        <p:tav tm="50000">
                                          <p:val>
                                            <p:strVal val="visible"/>
                                          </p:val>
                                        </p:tav>
                                      </p:tavLst>
                                    </p:anim>
                                  </p:childTnLst>
                                </p:cTn>
                              </p:par>
                              <p:par>
                                <p:cTn id="33" presetID="35" presetClass="emph" presetSubtype="0" fill="hold" grpId="0" nodeType="withEffect">
                                  <p:stCondLst>
                                    <p:cond delay="0"/>
                                  </p:stCondLst>
                                  <p:childTnLst>
                                    <p:anim calcmode="discrete" valueType="str">
                                      <p:cBhvr>
                                        <p:cTn id="34" dur="1000" fill="hold"/>
                                        <p:tgtEl>
                                          <p:spTgt spid="49"/>
                                        </p:tgtEl>
                                        <p:attrNameLst>
                                          <p:attrName>style.visibility</p:attrName>
                                        </p:attrNameLst>
                                      </p:cBhvr>
                                      <p:tavLst>
                                        <p:tav tm="0">
                                          <p:val>
                                            <p:strVal val="hidden"/>
                                          </p:val>
                                        </p:tav>
                                        <p:tav tm="50000">
                                          <p:val>
                                            <p:strVal val="visible"/>
                                          </p:val>
                                        </p:tav>
                                      </p:tavLst>
                                    </p:anim>
                                  </p:childTnLst>
                                </p:cTn>
                              </p:par>
                              <p:par>
                                <p:cTn id="35" presetID="35" presetClass="emph" presetSubtype="0" fill="hold" grpId="0" nodeType="withEffect">
                                  <p:stCondLst>
                                    <p:cond delay="0"/>
                                  </p:stCondLst>
                                  <p:childTnLst>
                                    <p:anim calcmode="discrete" valueType="str">
                                      <p:cBhvr>
                                        <p:cTn id="36" dur="1000" fill="hold"/>
                                        <p:tgtEl>
                                          <p:spTgt spid="28"/>
                                        </p:tgtEl>
                                        <p:attrNameLst>
                                          <p:attrName>style.visibility</p:attrName>
                                        </p:attrNameLst>
                                      </p:cBhvr>
                                      <p:tavLst>
                                        <p:tav tm="0">
                                          <p:val>
                                            <p:strVal val="hidden"/>
                                          </p:val>
                                        </p:tav>
                                        <p:tav tm="50000">
                                          <p:val>
                                            <p:strVal val="visible"/>
                                          </p:val>
                                        </p:tav>
                                      </p:tavLst>
                                    </p:anim>
                                  </p:childTnLst>
                                </p:cTn>
                              </p:par>
                              <p:par>
                                <p:cTn id="37" presetID="35" presetClass="emph" presetSubtype="0" fill="hold" nodeType="withEffect">
                                  <p:stCondLst>
                                    <p:cond delay="0"/>
                                  </p:stCondLst>
                                  <p:childTnLst>
                                    <p:anim calcmode="discrete" valueType="str">
                                      <p:cBhvr>
                                        <p:cTn id="38" dur="1000" fill="hold"/>
                                        <p:tgtEl>
                                          <p:spTgt spid="30"/>
                                        </p:tgtEl>
                                        <p:attrNameLst>
                                          <p:attrName>style.visibility</p:attrName>
                                        </p:attrNameLst>
                                      </p:cBhvr>
                                      <p:tavLst>
                                        <p:tav tm="0">
                                          <p:val>
                                            <p:strVal val="hidden"/>
                                          </p:val>
                                        </p:tav>
                                        <p:tav tm="50000">
                                          <p:val>
                                            <p:strVal val="visible"/>
                                          </p:val>
                                        </p:tav>
                                      </p:tavLst>
                                    </p:anim>
                                  </p:childTnLst>
                                </p:cTn>
                              </p:par>
                              <p:par>
                                <p:cTn id="39" presetID="35" presetClass="emph" presetSubtype="0" fill="hold" grpId="0" nodeType="withEffect">
                                  <p:stCondLst>
                                    <p:cond delay="0"/>
                                  </p:stCondLst>
                                  <p:childTnLst>
                                    <p:anim calcmode="discrete" valueType="str">
                                      <p:cBhvr>
                                        <p:cTn id="40" dur="1000" fill="hold"/>
                                        <p:tgtEl>
                                          <p:spTgt spid="47"/>
                                        </p:tgtEl>
                                        <p:attrNameLst>
                                          <p:attrName>style.visibility</p:attrName>
                                        </p:attrNameLst>
                                      </p:cBhvr>
                                      <p:tavLst>
                                        <p:tav tm="0">
                                          <p:val>
                                            <p:strVal val="hidden"/>
                                          </p:val>
                                        </p:tav>
                                        <p:tav tm="50000">
                                          <p:val>
                                            <p:strVal val="visible"/>
                                          </p:val>
                                        </p:tav>
                                      </p:tavLst>
                                    </p:anim>
                                  </p:childTnLst>
                                </p:cTn>
                              </p:par>
                              <p:par>
                                <p:cTn id="41" presetID="35" presetClass="emph" presetSubtype="0" fill="hold" nodeType="withEffect">
                                  <p:stCondLst>
                                    <p:cond delay="0"/>
                                  </p:stCondLst>
                                  <p:childTnLst>
                                    <p:anim calcmode="discrete" valueType="str">
                                      <p:cBhvr>
                                        <p:cTn id="42" dur="1000" fill="hold"/>
                                        <p:tgtEl>
                                          <p:spTgt spid="45"/>
                                        </p:tgtEl>
                                        <p:attrNameLst>
                                          <p:attrName>style.visibility</p:attrName>
                                        </p:attrNameLst>
                                      </p:cBhvr>
                                      <p:tavLst>
                                        <p:tav tm="0">
                                          <p:val>
                                            <p:strVal val="hidden"/>
                                          </p:val>
                                        </p:tav>
                                        <p:tav tm="50000">
                                          <p:val>
                                            <p:strVal val="visible"/>
                                          </p:val>
                                        </p:tav>
                                      </p:tavLst>
                                    </p:anim>
                                  </p:childTnLst>
                                </p:cTn>
                              </p:par>
                            </p:childTnLst>
                          </p:cTn>
                        </p:par>
                        <p:par>
                          <p:cTn id="43" fill="hold">
                            <p:stCondLst>
                              <p:cond delay="1000"/>
                            </p:stCondLst>
                            <p:childTnLst>
                              <p:par>
                                <p:cTn id="44" presetID="35" presetClass="emph" presetSubtype="0" fill="hold" nodeType="afterEffect">
                                  <p:stCondLst>
                                    <p:cond delay="0"/>
                                  </p:stCondLst>
                                  <p:childTnLst>
                                    <p:anim calcmode="discrete" valueType="str">
                                      <p:cBhvr>
                                        <p:cTn id="45" dur="1000" fill="hold"/>
                                        <p:tgtEl>
                                          <p:spTgt spid="53"/>
                                        </p:tgtEl>
                                        <p:attrNameLst>
                                          <p:attrName>style.visibility</p:attrName>
                                        </p:attrNameLst>
                                      </p:cBhvr>
                                      <p:tavLst>
                                        <p:tav tm="0">
                                          <p:val>
                                            <p:strVal val="hidden"/>
                                          </p:val>
                                        </p:tav>
                                        <p:tav tm="50000">
                                          <p:val>
                                            <p:strVal val="visible"/>
                                          </p:val>
                                        </p:tav>
                                      </p:tavLst>
                                    </p:anim>
                                  </p:childTnLst>
                                </p:cTn>
                              </p:par>
                              <p:par>
                                <p:cTn id="46" presetID="35" presetClass="emph" presetSubtype="0" fill="hold" grpId="2" nodeType="withEffect">
                                  <p:stCondLst>
                                    <p:cond delay="0"/>
                                  </p:stCondLst>
                                  <p:childTnLst>
                                    <p:anim calcmode="discrete" valueType="str">
                                      <p:cBhvr>
                                        <p:cTn id="47" dur="1000" fill="hold"/>
                                        <p:tgtEl>
                                          <p:spTgt spid="49"/>
                                        </p:tgtEl>
                                        <p:attrNameLst>
                                          <p:attrName>style.visibility</p:attrName>
                                        </p:attrNameLst>
                                      </p:cBhvr>
                                      <p:tavLst>
                                        <p:tav tm="0">
                                          <p:val>
                                            <p:strVal val="hidden"/>
                                          </p:val>
                                        </p:tav>
                                        <p:tav tm="50000">
                                          <p:val>
                                            <p:strVal val="visible"/>
                                          </p:val>
                                        </p:tav>
                                      </p:tavLst>
                                    </p:anim>
                                  </p:childTnLst>
                                </p:cTn>
                              </p:par>
                              <p:par>
                                <p:cTn id="48" presetID="35" presetClass="emph" presetSubtype="0" fill="hold" grpId="2" nodeType="withEffect">
                                  <p:stCondLst>
                                    <p:cond delay="0"/>
                                  </p:stCondLst>
                                  <p:childTnLst>
                                    <p:anim calcmode="discrete" valueType="str">
                                      <p:cBhvr>
                                        <p:cTn id="49" dur="1000" fill="hold"/>
                                        <p:tgtEl>
                                          <p:spTgt spid="28"/>
                                        </p:tgtEl>
                                        <p:attrNameLst>
                                          <p:attrName>style.visibility</p:attrName>
                                        </p:attrNameLst>
                                      </p:cBhvr>
                                      <p:tavLst>
                                        <p:tav tm="0">
                                          <p:val>
                                            <p:strVal val="hidden"/>
                                          </p:val>
                                        </p:tav>
                                        <p:tav tm="50000">
                                          <p:val>
                                            <p:strVal val="visible"/>
                                          </p:val>
                                        </p:tav>
                                      </p:tavLst>
                                    </p:anim>
                                  </p:childTnLst>
                                </p:cTn>
                              </p:par>
                              <p:par>
                                <p:cTn id="50" presetID="35" presetClass="emph" presetSubtype="0" fill="hold" nodeType="withEffect">
                                  <p:stCondLst>
                                    <p:cond delay="0"/>
                                  </p:stCondLst>
                                  <p:childTnLst>
                                    <p:anim calcmode="discrete" valueType="str">
                                      <p:cBhvr>
                                        <p:cTn id="51" dur="1000" fill="hold"/>
                                        <p:tgtEl>
                                          <p:spTgt spid="30"/>
                                        </p:tgtEl>
                                        <p:attrNameLst>
                                          <p:attrName>style.visibility</p:attrName>
                                        </p:attrNameLst>
                                      </p:cBhvr>
                                      <p:tavLst>
                                        <p:tav tm="0">
                                          <p:val>
                                            <p:strVal val="hidden"/>
                                          </p:val>
                                        </p:tav>
                                        <p:tav tm="50000">
                                          <p:val>
                                            <p:strVal val="visible"/>
                                          </p:val>
                                        </p:tav>
                                      </p:tavLst>
                                    </p:anim>
                                  </p:childTnLst>
                                </p:cTn>
                              </p:par>
                              <p:par>
                                <p:cTn id="52" presetID="35" presetClass="emph" presetSubtype="0" fill="hold" grpId="2" nodeType="withEffect">
                                  <p:stCondLst>
                                    <p:cond delay="0"/>
                                  </p:stCondLst>
                                  <p:childTnLst>
                                    <p:anim calcmode="discrete" valueType="str">
                                      <p:cBhvr>
                                        <p:cTn id="53" dur="1000" fill="hold"/>
                                        <p:tgtEl>
                                          <p:spTgt spid="47"/>
                                        </p:tgtEl>
                                        <p:attrNameLst>
                                          <p:attrName>style.visibility</p:attrName>
                                        </p:attrNameLst>
                                      </p:cBhvr>
                                      <p:tavLst>
                                        <p:tav tm="0">
                                          <p:val>
                                            <p:strVal val="hidden"/>
                                          </p:val>
                                        </p:tav>
                                        <p:tav tm="50000">
                                          <p:val>
                                            <p:strVal val="visible"/>
                                          </p:val>
                                        </p:tav>
                                      </p:tavLst>
                                    </p:anim>
                                  </p:childTnLst>
                                </p:cTn>
                              </p:par>
                              <p:par>
                                <p:cTn id="54" presetID="35" presetClass="emph" presetSubtype="0" fill="hold" nodeType="withEffect">
                                  <p:stCondLst>
                                    <p:cond delay="0"/>
                                  </p:stCondLst>
                                  <p:childTnLst>
                                    <p:anim calcmode="discrete" valueType="str">
                                      <p:cBhvr>
                                        <p:cTn id="55" dur="1000" fill="hold"/>
                                        <p:tgtEl>
                                          <p:spTgt spid="45"/>
                                        </p:tgtEl>
                                        <p:attrNameLst>
                                          <p:attrName>style.visibility</p:attrName>
                                        </p:attrNameLst>
                                      </p:cBhvr>
                                      <p:tavLst>
                                        <p:tav tm="0">
                                          <p:val>
                                            <p:strVal val="hidden"/>
                                          </p:val>
                                        </p:tav>
                                        <p:tav tm="50000">
                                          <p:val>
                                            <p:strVal val="visible"/>
                                          </p:val>
                                        </p:tav>
                                      </p:tavLst>
                                    </p:anim>
                                  </p:childTnLst>
                                </p:cTn>
                              </p:par>
                            </p:childTnLst>
                          </p:cTn>
                        </p:par>
                        <p:par>
                          <p:cTn id="56" fill="hold">
                            <p:stCondLst>
                              <p:cond delay="2000"/>
                            </p:stCondLst>
                            <p:childTnLst>
                              <p:par>
                                <p:cTn id="57" presetID="1" presetClass="exit" presetSubtype="0" fill="hold" nodeType="afterEffect">
                                  <p:stCondLst>
                                    <p:cond delay="0"/>
                                  </p:stCondLst>
                                  <p:childTnLst>
                                    <p:set>
                                      <p:cBhvr>
                                        <p:cTn id="58" dur="1" fill="hold">
                                          <p:stCondLst>
                                            <p:cond delay="0"/>
                                          </p:stCondLst>
                                        </p:cTn>
                                        <p:tgtEl>
                                          <p:spTgt spid="45"/>
                                        </p:tgtEl>
                                        <p:attrNameLst>
                                          <p:attrName>style.visibility</p:attrName>
                                        </p:attrNameLst>
                                      </p:cBhvr>
                                      <p:to>
                                        <p:strVal val="hidden"/>
                                      </p:to>
                                    </p:set>
                                  </p:childTnLst>
                                </p:cTn>
                              </p:par>
                              <p:par>
                                <p:cTn id="59" presetID="1" presetClass="exit" presetSubtype="0" fill="hold" grpId="3" nodeType="withEffect">
                                  <p:stCondLst>
                                    <p:cond delay="0"/>
                                  </p:stCondLst>
                                  <p:childTnLst>
                                    <p:set>
                                      <p:cBhvr>
                                        <p:cTn id="60" dur="1" fill="hold">
                                          <p:stCondLst>
                                            <p:cond delay="0"/>
                                          </p:stCondLst>
                                        </p:cTn>
                                        <p:tgtEl>
                                          <p:spTgt spid="47"/>
                                        </p:tgtEl>
                                        <p:attrNameLst>
                                          <p:attrName>style.visibility</p:attrName>
                                        </p:attrNameLst>
                                      </p:cBhvr>
                                      <p:to>
                                        <p:strVal val="hidden"/>
                                      </p:to>
                                    </p:set>
                                  </p:childTnLst>
                                </p:cTn>
                              </p:par>
                              <p:par>
                                <p:cTn id="61" presetID="1" presetClass="exit" presetSubtype="0" fill="hold" grpId="3" nodeType="withEffect">
                                  <p:stCondLst>
                                    <p:cond delay="0"/>
                                  </p:stCondLst>
                                  <p:childTnLst>
                                    <p:set>
                                      <p:cBhvr>
                                        <p:cTn id="62" dur="1" fill="hold">
                                          <p:stCondLst>
                                            <p:cond delay="0"/>
                                          </p:stCondLst>
                                        </p:cTn>
                                        <p:tgtEl>
                                          <p:spTgt spid="49"/>
                                        </p:tgtEl>
                                        <p:attrNameLst>
                                          <p:attrName>style.visibility</p:attrName>
                                        </p:attrNameLst>
                                      </p:cBhvr>
                                      <p:to>
                                        <p:strVal val="hidden"/>
                                      </p:to>
                                    </p:set>
                                  </p:childTnLst>
                                </p:cTn>
                              </p:par>
                              <p:par>
                                <p:cTn id="63" presetID="1" presetClass="exit" presetSubtype="0" fill="hold" nodeType="withEffect">
                                  <p:stCondLst>
                                    <p:cond delay="0"/>
                                  </p:stCondLst>
                                  <p:childTnLst>
                                    <p:set>
                                      <p:cBhvr>
                                        <p:cTn id="64" dur="1" fill="hold">
                                          <p:stCondLst>
                                            <p:cond delay="0"/>
                                          </p:stCondLst>
                                        </p:cTn>
                                        <p:tgtEl>
                                          <p:spTgt spid="53"/>
                                        </p:tgtEl>
                                        <p:attrNameLst>
                                          <p:attrName>style.visibility</p:attrName>
                                        </p:attrNameLst>
                                      </p:cBhvr>
                                      <p:to>
                                        <p:strVal val="hidden"/>
                                      </p:to>
                                    </p:set>
                                  </p:childTnLst>
                                </p:cTn>
                              </p:par>
                              <p:par>
                                <p:cTn id="65" presetID="1" presetClass="exit" presetSubtype="0" fill="hold" grpId="3" nodeType="withEffect">
                                  <p:stCondLst>
                                    <p:cond delay="0"/>
                                  </p:stCondLst>
                                  <p:childTnLst>
                                    <p:set>
                                      <p:cBhvr>
                                        <p:cTn id="66" dur="1" fill="hold">
                                          <p:stCondLst>
                                            <p:cond delay="0"/>
                                          </p:stCondLst>
                                        </p:cTn>
                                        <p:tgtEl>
                                          <p:spTgt spid="28"/>
                                        </p:tgtEl>
                                        <p:attrNameLst>
                                          <p:attrName>style.visibility</p:attrName>
                                        </p:attrNameLst>
                                      </p:cBhvr>
                                      <p:to>
                                        <p:strVal val="hidden"/>
                                      </p:to>
                                    </p:set>
                                  </p:childTnLst>
                                </p:cTn>
                              </p:par>
                              <p:par>
                                <p:cTn id="67" presetID="1" presetClass="exit" presetSubtype="0" fill="hold" nodeType="withEffect">
                                  <p:stCondLst>
                                    <p:cond delay="0"/>
                                  </p:stCondLst>
                                  <p:childTnLst>
                                    <p:set>
                                      <p:cBhvr>
                                        <p:cTn id="68" dur="1" fill="hold">
                                          <p:stCondLst>
                                            <p:cond delay="0"/>
                                          </p:stCondLst>
                                        </p:cTn>
                                        <p:tgtEl>
                                          <p:spTgt spid="30"/>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2" presetClass="entr" presetSubtype="2" fill="hold" grpId="0" nodeType="clickEffect">
                                  <p:stCondLst>
                                    <p:cond delay="0"/>
                                  </p:stCondLst>
                                  <p:childTnLst>
                                    <p:set>
                                      <p:cBhvr>
                                        <p:cTn id="72" dur="1" fill="hold">
                                          <p:stCondLst>
                                            <p:cond delay="0"/>
                                          </p:stCondLst>
                                        </p:cTn>
                                        <p:tgtEl>
                                          <p:spTgt spid="27"/>
                                        </p:tgtEl>
                                        <p:attrNameLst>
                                          <p:attrName>style.visibility</p:attrName>
                                        </p:attrNameLst>
                                      </p:cBhvr>
                                      <p:to>
                                        <p:strVal val="visible"/>
                                      </p:to>
                                    </p:set>
                                    <p:anim calcmode="lin" valueType="num">
                                      <p:cBhvr additive="base">
                                        <p:cTn id="73" dur="500" fill="hold"/>
                                        <p:tgtEl>
                                          <p:spTgt spid="27"/>
                                        </p:tgtEl>
                                        <p:attrNameLst>
                                          <p:attrName>ppt_x</p:attrName>
                                        </p:attrNameLst>
                                      </p:cBhvr>
                                      <p:tavLst>
                                        <p:tav tm="0">
                                          <p:val>
                                            <p:strVal val="1+#ppt_w/2"/>
                                          </p:val>
                                        </p:tav>
                                        <p:tav tm="100000">
                                          <p:val>
                                            <p:strVal val="#ppt_x"/>
                                          </p:val>
                                        </p:tav>
                                      </p:tavLst>
                                    </p:anim>
                                    <p:anim calcmode="lin" valueType="num">
                                      <p:cBhvr additive="base">
                                        <p:cTn id="74" dur="500" fill="hold"/>
                                        <p:tgtEl>
                                          <p:spTgt spid="27"/>
                                        </p:tgtEl>
                                        <p:attrNameLst>
                                          <p:attrName>ppt_y</p:attrName>
                                        </p:attrNameLst>
                                      </p:cBhvr>
                                      <p:tavLst>
                                        <p:tav tm="0">
                                          <p:val>
                                            <p:strVal val="#ppt_y"/>
                                          </p:val>
                                        </p:tav>
                                        <p:tav tm="100000">
                                          <p:val>
                                            <p:strVal val="#ppt_y"/>
                                          </p:val>
                                        </p:tav>
                                      </p:tavLst>
                                    </p:anim>
                                  </p:childTnLst>
                                </p:cTn>
                              </p:par>
                              <p:par>
                                <p:cTn id="75" presetID="2" presetClass="entr" presetSubtype="2" fill="hold" grpId="0" nodeType="withEffect">
                                  <p:stCondLst>
                                    <p:cond delay="0"/>
                                  </p:stCondLst>
                                  <p:childTnLst>
                                    <p:set>
                                      <p:cBhvr>
                                        <p:cTn id="76" dur="1" fill="hold">
                                          <p:stCondLst>
                                            <p:cond delay="0"/>
                                          </p:stCondLst>
                                        </p:cTn>
                                        <p:tgtEl>
                                          <p:spTgt spid="29"/>
                                        </p:tgtEl>
                                        <p:attrNameLst>
                                          <p:attrName>style.visibility</p:attrName>
                                        </p:attrNameLst>
                                      </p:cBhvr>
                                      <p:to>
                                        <p:strVal val="visible"/>
                                      </p:to>
                                    </p:set>
                                    <p:anim calcmode="lin" valueType="num">
                                      <p:cBhvr additive="base">
                                        <p:cTn id="77" dur="500" fill="hold"/>
                                        <p:tgtEl>
                                          <p:spTgt spid="29"/>
                                        </p:tgtEl>
                                        <p:attrNameLst>
                                          <p:attrName>ppt_x</p:attrName>
                                        </p:attrNameLst>
                                      </p:cBhvr>
                                      <p:tavLst>
                                        <p:tav tm="0">
                                          <p:val>
                                            <p:strVal val="1+#ppt_w/2"/>
                                          </p:val>
                                        </p:tav>
                                        <p:tav tm="100000">
                                          <p:val>
                                            <p:strVal val="#ppt_x"/>
                                          </p:val>
                                        </p:tav>
                                      </p:tavLst>
                                    </p:anim>
                                    <p:anim calcmode="lin" valueType="num">
                                      <p:cBhvr additive="base">
                                        <p:cTn id="78" dur="500" fill="hold"/>
                                        <p:tgtEl>
                                          <p:spTgt spid="29"/>
                                        </p:tgtEl>
                                        <p:attrNameLst>
                                          <p:attrName>ppt_y</p:attrName>
                                        </p:attrNameLst>
                                      </p:cBhvr>
                                      <p:tavLst>
                                        <p:tav tm="0">
                                          <p:val>
                                            <p:strVal val="#ppt_y"/>
                                          </p:val>
                                        </p:tav>
                                        <p:tav tm="100000">
                                          <p:val>
                                            <p:strVal val="#ppt_y"/>
                                          </p:val>
                                        </p:tav>
                                      </p:tavLst>
                                    </p:anim>
                                  </p:childTnLst>
                                </p:cTn>
                              </p:par>
                              <p:par>
                                <p:cTn id="79" presetID="2" presetClass="entr" presetSubtype="2" fill="hold" grpId="0" nodeType="withEffect">
                                  <p:stCondLst>
                                    <p:cond delay="0"/>
                                  </p:stCondLst>
                                  <p:childTnLst>
                                    <p:set>
                                      <p:cBhvr>
                                        <p:cTn id="80" dur="1" fill="hold">
                                          <p:stCondLst>
                                            <p:cond delay="0"/>
                                          </p:stCondLst>
                                        </p:cTn>
                                        <p:tgtEl>
                                          <p:spTgt spid="37"/>
                                        </p:tgtEl>
                                        <p:attrNameLst>
                                          <p:attrName>style.visibility</p:attrName>
                                        </p:attrNameLst>
                                      </p:cBhvr>
                                      <p:to>
                                        <p:strVal val="visible"/>
                                      </p:to>
                                    </p:set>
                                    <p:anim calcmode="lin" valueType="num">
                                      <p:cBhvr additive="base">
                                        <p:cTn id="81" dur="500" fill="hold"/>
                                        <p:tgtEl>
                                          <p:spTgt spid="37"/>
                                        </p:tgtEl>
                                        <p:attrNameLst>
                                          <p:attrName>ppt_x</p:attrName>
                                        </p:attrNameLst>
                                      </p:cBhvr>
                                      <p:tavLst>
                                        <p:tav tm="0">
                                          <p:val>
                                            <p:strVal val="1+#ppt_w/2"/>
                                          </p:val>
                                        </p:tav>
                                        <p:tav tm="100000">
                                          <p:val>
                                            <p:strVal val="#ppt_x"/>
                                          </p:val>
                                        </p:tav>
                                      </p:tavLst>
                                    </p:anim>
                                    <p:anim calcmode="lin" valueType="num">
                                      <p:cBhvr additive="base">
                                        <p:cTn id="82" dur="500" fill="hold"/>
                                        <p:tgtEl>
                                          <p:spTgt spid="37"/>
                                        </p:tgtEl>
                                        <p:attrNameLst>
                                          <p:attrName>ppt_y</p:attrName>
                                        </p:attrNameLst>
                                      </p:cBhvr>
                                      <p:tavLst>
                                        <p:tav tm="0">
                                          <p:val>
                                            <p:strVal val="#ppt_y"/>
                                          </p:val>
                                        </p:tav>
                                        <p:tav tm="100000">
                                          <p:val>
                                            <p:strVal val="#ppt_y"/>
                                          </p:val>
                                        </p:tav>
                                      </p:tavLst>
                                    </p:anim>
                                  </p:childTnLst>
                                </p:cTn>
                              </p:par>
                              <p:par>
                                <p:cTn id="83" presetID="2" presetClass="entr" presetSubtype="2" fill="hold" nodeType="withEffect">
                                  <p:stCondLst>
                                    <p:cond delay="0"/>
                                  </p:stCondLst>
                                  <p:childTnLst>
                                    <p:set>
                                      <p:cBhvr>
                                        <p:cTn id="84" dur="1" fill="hold">
                                          <p:stCondLst>
                                            <p:cond delay="0"/>
                                          </p:stCondLst>
                                        </p:cTn>
                                        <p:tgtEl>
                                          <p:spTgt spid="38"/>
                                        </p:tgtEl>
                                        <p:attrNameLst>
                                          <p:attrName>style.visibility</p:attrName>
                                        </p:attrNameLst>
                                      </p:cBhvr>
                                      <p:to>
                                        <p:strVal val="visible"/>
                                      </p:to>
                                    </p:set>
                                    <p:anim calcmode="lin" valueType="num">
                                      <p:cBhvr additive="base">
                                        <p:cTn id="85" dur="500" fill="hold"/>
                                        <p:tgtEl>
                                          <p:spTgt spid="38"/>
                                        </p:tgtEl>
                                        <p:attrNameLst>
                                          <p:attrName>ppt_x</p:attrName>
                                        </p:attrNameLst>
                                      </p:cBhvr>
                                      <p:tavLst>
                                        <p:tav tm="0">
                                          <p:val>
                                            <p:strVal val="1+#ppt_w/2"/>
                                          </p:val>
                                        </p:tav>
                                        <p:tav tm="100000">
                                          <p:val>
                                            <p:strVal val="#ppt_x"/>
                                          </p:val>
                                        </p:tav>
                                      </p:tavLst>
                                    </p:anim>
                                    <p:anim calcmode="lin" valueType="num">
                                      <p:cBhvr additive="base">
                                        <p:cTn id="86" dur="500" fill="hold"/>
                                        <p:tgtEl>
                                          <p:spTgt spid="38"/>
                                        </p:tgtEl>
                                        <p:attrNameLst>
                                          <p:attrName>ppt_y</p:attrName>
                                        </p:attrNameLst>
                                      </p:cBhvr>
                                      <p:tavLst>
                                        <p:tav tm="0">
                                          <p:val>
                                            <p:strVal val="#ppt_y"/>
                                          </p:val>
                                        </p:tav>
                                        <p:tav tm="100000">
                                          <p:val>
                                            <p:strVal val="#ppt_y"/>
                                          </p:val>
                                        </p:tav>
                                      </p:tavLst>
                                    </p:anim>
                                  </p:childTnLst>
                                </p:cTn>
                              </p:par>
                              <p:par>
                                <p:cTn id="87" presetID="2" presetClass="entr" presetSubtype="2" fill="hold" nodeType="withEffect">
                                  <p:stCondLst>
                                    <p:cond delay="0"/>
                                  </p:stCondLst>
                                  <p:childTnLst>
                                    <p:set>
                                      <p:cBhvr>
                                        <p:cTn id="88" dur="1" fill="hold">
                                          <p:stCondLst>
                                            <p:cond delay="0"/>
                                          </p:stCondLst>
                                        </p:cTn>
                                        <p:tgtEl>
                                          <p:spTgt spid="75"/>
                                        </p:tgtEl>
                                        <p:attrNameLst>
                                          <p:attrName>style.visibility</p:attrName>
                                        </p:attrNameLst>
                                      </p:cBhvr>
                                      <p:to>
                                        <p:strVal val="visible"/>
                                      </p:to>
                                    </p:set>
                                    <p:anim calcmode="lin" valueType="num">
                                      <p:cBhvr additive="base">
                                        <p:cTn id="89" dur="500" fill="hold"/>
                                        <p:tgtEl>
                                          <p:spTgt spid="75"/>
                                        </p:tgtEl>
                                        <p:attrNameLst>
                                          <p:attrName>ppt_x</p:attrName>
                                        </p:attrNameLst>
                                      </p:cBhvr>
                                      <p:tavLst>
                                        <p:tav tm="0">
                                          <p:val>
                                            <p:strVal val="1+#ppt_w/2"/>
                                          </p:val>
                                        </p:tav>
                                        <p:tav tm="100000">
                                          <p:val>
                                            <p:strVal val="#ppt_x"/>
                                          </p:val>
                                        </p:tav>
                                      </p:tavLst>
                                    </p:anim>
                                    <p:anim calcmode="lin" valueType="num">
                                      <p:cBhvr additive="base">
                                        <p:cTn id="90" dur="500" fill="hold"/>
                                        <p:tgtEl>
                                          <p:spTgt spid="75"/>
                                        </p:tgtEl>
                                        <p:attrNameLst>
                                          <p:attrName>ppt_y</p:attrName>
                                        </p:attrNameLst>
                                      </p:cBhvr>
                                      <p:tavLst>
                                        <p:tav tm="0">
                                          <p:val>
                                            <p:strVal val="#ppt_y"/>
                                          </p:val>
                                        </p:tav>
                                        <p:tav tm="100000">
                                          <p:val>
                                            <p:strVal val="#ppt_y"/>
                                          </p:val>
                                        </p:tav>
                                      </p:tavLst>
                                    </p:anim>
                                  </p:childTnLst>
                                </p:cTn>
                              </p:par>
                              <p:par>
                                <p:cTn id="91" presetID="2" presetClass="entr" presetSubtype="2" fill="hold" nodeType="withEffect">
                                  <p:stCondLst>
                                    <p:cond delay="0"/>
                                  </p:stCondLst>
                                  <p:childTnLst>
                                    <p:set>
                                      <p:cBhvr>
                                        <p:cTn id="92" dur="1" fill="hold">
                                          <p:stCondLst>
                                            <p:cond delay="0"/>
                                          </p:stCondLst>
                                        </p:cTn>
                                        <p:tgtEl>
                                          <p:spTgt spid="86"/>
                                        </p:tgtEl>
                                        <p:attrNameLst>
                                          <p:attrName>style.visibility</p:attrName>
                                        </p:attrNameLst>
                                      </p:cBhvr>
                                      <p:to>
                                        <p:strVal val="visible"/>
                                      </p:to>
                                    </p:set>
                                    <p:anim calcmode="lin" valueType="num">
                                      <p:cBhvr additive="base">
                                        <p:cTn id="93" dur="500" fill="hold"/>
                                        <p:tgtEl>
                                          <p:spTgt spid="86"/>
                                        </p:tgtEl>
                                        <p:attrNameLst>
                                          <p:attrName>ppt_x</p:attrName>
                                        </p:attrNameLst>
                                      </p:cBhvr>
                                      <p:tavLst>
                                        <p:tav tm="0">
                                          <p:val>
                                            <p:strVal val="1+#ppt_w/2"/>
                                          </p:val>
                                        </p:tav>
                                        <p:tav tm="100000">
                                          <p:val>
                                            <p:strVal val="#ppt_x"/>
                                          </p:val>
                                        </p:tav>
                                      </p:tavLst>
                                    </p:anim>
                                    <p:anim calcmode="lin" valueType="num">
                                      <p:cBhvr additive="base">
                                        <p:cTn id="94" dur="500" fill="hold"/>
                                        <p:tgtEl>
                                          <p:spTgt spid="86"/>
                                        </p:tgtEl>
                                        <p:attrNameLst>
                                          <p:attrName>ppt_y</p:attrName>
                                        </p:attrNameLst>
                                      </p:cBhvr>
                                      <p:tavLst>
                                        <p:tav tm="0">
                                          <p:val>
                                            <p:strVal val="#ppt_y"/>
                                          </p:val>
                                        </p:tav>
                                        <p:tav tm="100000">
                                          <p:val>
                                            <p:strVal val="#ppt_y"/>
                                          </p:val>
                                        </p:tav>
                                      </p:tavLst>
                                    </p:anim>
                                  </p:childTnLst>
                                </p:cTn>
                              </p:par>
                            </p:childTnLst>
                          </p:cTn>
                        </p:par>
                      </p:childTnLst>
                    </p:cTn>
                  </p:par>
                  <p:par>
                    <p:cTn id="95" fill="hold">
                      <p:stCondLst>
                        <p:cond delay="indefinite"/>
                      </p:stCondLst>
                      <p:childTnLst>
                        <p:par>
                          <p:cTn id="96" fill="hold">
                            <p:stCondLst>
                              <p:cond delay="0"/>
                            </p:stCondLst>
                            <p:childTnLst>
                              <p:par>
                                <p:cTn id="97" presetID="0" presetClass="path" presetSubtype="0" accel="50000" decel="50000" fill="hold" grpId="0" nodeType="clickEffect">
                                  <p:stCondLst>
                                    <p:cond delay="0"/>
                                  </p:stCondLst>
                                  <p:childTnLst>
                                    <p:animMotion origin="layout" path="M 0 0 L 0.0630556 0 " pathEditMode="relative" ptsTypes="">
                                      <p:cBhvr>
                                        <p:cTn id="98" dur="2000" fill="hold"/>
                                        <p:tgtEl>
                                          <p:spTgt spid="43"/>
                                        </p:tgtEl>
                                        <p:attrNameLst>
                                          <p:attrName>ppt_x</p:attrName>
                                          <p:attrName>ppt_y</p:attrName>
                                        </p:attrNameLst>
                                      </p:cBhvr>
                                    </p:animMotion>
                                  </p:childTnLst>
                                </p:cTn>
                              </p:par>
                            </p:childTnLst>
                          </p:cTn>
                        </p:par>
                      </p:childTnLst>
                    </p:cTn>
                  </p:par>
                  <p:par>
                    <p:cTn id="99" fill="hold">
                      <p:stCondLst>
                        <p:cond delay="indefinite"/>
                      </p:stCondLst>
                      <p:childTnLst>
                        <p:par>
                          <p:cTn id="100" fill="hold">
                            <p:stCondLst>
                              <p:cond delay="0"/>
                            </p:stCondLst>
                            <p:childTnLst>
                              <p:par>
                                <p:cTn id="101" presetID="2" presetClass="entr" presetSubtype="2" fill="hold" nodeType="clickEffect">
                                  <p:stCondLst>
                                    <p:cond delay="0"/>
                                  </p:stCondLst>
                                  <p:childTnLst>
                                    <p:set>
                                      <p:cBhvr>
                                        <p:cTn id="102" dur="1" fill="hold">
                                          <p:stCondLst>
                                            <p:cond delay="0"/>
                                          </p:stCondLst>
                                        </p:cTn>
                                        <p:tgtEl>
                                          <p:spTgt spid="31"/>
                                        </p:tgtEl>
                                        <p:attrNameLst>
                                          <p:attrName>style.visibility</p:attrName>
                                        </p:attrNameLst>
                                      </p:cBhvr>
                                      <p:to>
                                        <p:strVal val="visible"/>
                                      </p:to>
                                    </p:set>
                                    <p:anim calcmode="lin" valueType="num">
                                      <p:cBhvr additive="base">
                                        <p:cTn id="103" dur="500" fill="hold"/>
                                        <p:tgtEl>
                                          <p:spTgt spid="31"/>
                                        </p:tgtEl>
                                        <p:attrNameLst>
                                          <p:attrName>ppt_x</p:attrName>
                                        </p:attrNameLst>
                                      </p:cBhvr>
                                      <p:tavLst>
                                        <p:tav tm="0">
                                          <p:val>
                                            <p:strVal val="1+#ppt_w/2"/>
                                          </p:val>
                                        </p:tav>
                                        <p:tav tm="100000">
                                          <p:val>
                                            <p:strVal val="#ppt_x"/>
                                          </p:val>
                                        </p:tav>
                                      </p:tavLst>
                                    </p:anim>
                                    <p:anim calcmode="lin" valueType="num">
                                      <p:cBhvr additive="base">
                                        <p:cTn id="104" dur="500" fill="hold"/>
                                        <p:tgtEl>
                                          <p:spTgt spid="31"/>
                                        </p:tgtEl>
                                        <p:attrNameLst>
                                          <p:attrName>ppt_y</p:attrName>
                                        </p:attrNameLst>
                                      </p:cBhvr>
                                      <p:tavLst>
                                        <p:tav tm="0">
                                          <p:val>
                                            <p:strVal val="#ppt_y"/>
                                          </p:val>
                                        </p:tav>
                                        <p:tav tm="100000">
                                          <p:val>
                                            <p:strVal val="#ppt_y"/>
                                          </p:val>
                                        </p:tav>
                                      </p:tavLst>
                                    </p:anim>
                                  </p:childTnLst>
                                </p:cTn>
                              </p:par>
                            </p:childTnLst>
                          </p:cTn>
                        </p:par>
                      </p:childTnLst>
                    </p:cTn>
                  </p:par>
                  <p:par>
                    <p:cTn id="105" fill="hold">
                      <p:stCondLst>
                        <p:cond delay="indefinite"/>
                      </p:stCondLst>
                      <p:childTnLst>
                        <p:par>
                          <p:cTn id="106" fill="hold">
                            <p:stCondLst>
                              <p:cond delay="0"/>
                            </p:stCondLst>
                            <p:childTnLst>
                              <p:par>
                                <p:cTn id="107" presetID="1" presetClass="entr" presetSubtype="0" fill="hold" grpId="0" nodeType="clickEffect">
                                  <p:stCondLst>
                                    <p:cond delay="0"/>
                                  </p:stCondLst>
                                  <p:childTnLst>
                                    <p:set>
                                      <p:cBhvr>
                                        <p:cTn id="108" dur="1" fill="hold">
                                          <p:stCondLst>
                                            <p:cond delay="0"/>
                                          </p:stCondLst>
                                        </p:cTn>
                                        <p:tgtEl>
                                          <p:spTgt spid="3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27" grpId="1"/>
      <p:bldP spid="29" grpId="0" animBg="1"/>
      <p:bldP spid="29" grpId="1" animBg="1"/>
      <p:bldP spid="37" grpId="0" animBg="1"/>
      <p:bldP spid="37" grpId="1" animBg="1"/>
      <p:bldP spid="43" grpId="0" animBg="1"/>
      <p:bldP spid="51" grpId="1" animBg="1"/>
      <p:bldP spid="55" grpId="1"/>
      <p:bldP spid="102" grpId="1"/>
      <p:bldP spid="34" grpId="0" bldLvl="0" animBg="1"/>
      <p:bldP spid="34" grpId="1" animBg="1"/>
      <p:bldP spid="47" grpId="0"/>
      <p:bldP spid="47" grpId="1"/>
      <p:bldP spid="47" grpId="2"/>
      <p:bldP spid="47" grpId="3"/>
      <p:bldP spid="47" grpId="4"/>
      <p:bldP spid="49" grpId="0"/>
      <p:bldP spid="49" grpId="1"/>
      <p:bldP spid="49" grpId="2"/>
      <p:bldP spid="49" grpId="3"/>
      <p:bldP spid="49" grpId="4"/>
      <p:bldP spid="54" grpId="1"/>
      <p:bldP spid="57" grpId="0" bldLvl="0" animBg="1"/>
      <p:bldP spid="57" grpId="1" animBg="1"/>
      <p:bldP spid="28" grpId="0"/>
      <p:bldP spid="28" grpId="1"/>
      <p:bldP spid="28" grpId="2"/>
      <p:bldP spid="28" grpId="3"/>
      <p:bldP spid="28" grpId="4"/>
      <p:bldP spid="35" grpId="0"/>
      <p:bldP spid="35" grpId="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188085" y="3074035"/>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1723390" y="4100830"/>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611505" y="4173220"/>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2844165" y="5424805"/>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3996055" y="5568315"/>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3636645" y="4791710"/>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2556510" y="335470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849755" y="2806700"/>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4371975" y="486600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7" name="文本框 26"/>
          <p:cNvSpPr txBox="1"/>
          <p:nvPr/>
        </p:nvSpPr>
        <p:spPr>
          <a:xfrm>
            <a:off x="5303520" y="4178935"/>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7744460" y="407543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左大括号 36"/>
          <p:cNvSpPr/>
          <p:nvPr/>
        </p:nvSpPr>
        <p:spPr>
          <a:xfrm>
            <a:off x="6152515" y="407733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6421755" y="416179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6581140" y="233743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726940" y="2433320"/>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500245" y="233934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944495" y="2455545"/>
            <a:ext cx="1647190" cy="299720"/>
          </a:xfrm>
          <a:prstGeom prst="rect">
            <a:avLst/>
          </a:prstGeom>
          <a:noFill/>
        </p:spPr>
        <p:txBody>
          <a:bodyPr wrap="square" rtlCol="0" anchor="t">
            <a:noAutofit/>
          </a:bodyPr>
          <a:lstStyle/>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5207000" y="2430145"/>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6904990" y="4161790"/>
            <a:ext cx="408938" cy="382270"/>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6" name="组合 85"/>
          <p:cNvGrpSpPr/>
          <p:nvPr/>
        </p:nvGrpSpPr>
        <p:grpSpPr>
          <a:xfrm>
            <a:off x="7352030" y="4161790"/>
            <a:ext cx="408938" cy="382270"/>
            <a:chOff x="1006488" y="2036167"/>
            <a:chExt cx="531192" cy="504056"/>
          </a:xfrm>
        </p:grpSpPr>
        <p:sp>
          <p:nvSpPr>
            <p:cNvPr id="8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2" name="文本框 9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26</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941705" y="3613785"/>
            <a:ext cx="516255" cy="5753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143000" y="379984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4" name="椭圆 33"/>
          <p:cNvSpPr/>
          <p:nvPr/>
        </p:nvSpPr>
        <p:spPr>
          <a:xfrm rot="1860000">
            <a:off x="631190" y="2454910"/>
            <a:ext cx="2423160" cy="2898140"/>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45" name="直接连接符 44"/>
          <p:cNvCxnSpPr/>
          <p:nvPr/>
        </p:nvCxnSpPr>
        <p:spPr>
          <a:xfrm>
            <a:off x="881380" y="4712970"/>
            <a:ext cx="1962785" cy="981710"/>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sp>
        <p:nvSpPr>
          <p:cNvPr id="47" name="文本框 46"/>
          <p:cNvSpPr txBox="1"/>
          <p:nvPr/>
        </p:nvSpPr>
        <p:spPr>
          <a:xfrm>
            <a:off x="1795145" y="5386705"/>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26</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p:txBody>
      </p:sp>
      <p:sp>
        <p:nvSpPr>
          <p:cNvPr id="54" name="文本框 53"/>
          <p:cNvSpPr txBox="1"/>
          <p:nvPr/>
        </p:nvSpPr>
        <p:spPr>
          <a:xfrm>
            <a:off x="1320800" y="436880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9</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56" name="直接连接符 55"/>
          <p:cNvCxnSpPr>
            <a:stCxn id="6" idx="2"/>
          </p:cNvCxnSpPr>
          <p:nvPr/>
        </p:nvCxnSpPr>
        <p:spPr>
          <a:xfrm flipH="1">
            <a:off x="1151255" y="4370705"/>
            <a:ext cx="572135" cy="577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7" name="椭圆 56"/>
          <p:cNvSpPr/>
          <p:nvPr/>
        </p:nvSpPr>
        <p:spPr>
          <a:xfrm rot="1860000">
            <a:off x="2719705" y="4228465"/>
            <a:ext cx="2157095" cy="2633345"/>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8" name="组合 57"/>
          <p:cNvGrpSpPr/>
          <p:nvPr/>
        </p:nvGrpSpPr>
        <p:grpSpPr>
          <a:xfrm>
            <a:off x="5724525" y="2430145"/>
            <a:ext cx="408938" cy="382270"/>
            <a:chOff x="1006488" y="2036167"/>
            <a:chExt cx="531192" cy="504056"/>
          </a:xfrm>
        </p:grpSpPr>
        <p:sp>
          <p:nvSpPr>
            <p:cNvPr id="5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0" name="文本框 5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28" name="文本框 27"/>
          <p:cNvSpPr txBox="1"/>
          <p:nvPr/>
        </p:nvSpPr>
        <p:spPr>
          <a:xfrm>
            <a:off x="3091815" y="4797425"/>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23</a:t>
            </a:r>
            <a:endParaRPr lang="en-US" altLang="zh-CN">
              <a:latin typeface="Times New Roman" panose="02020603050405020304" pitchFamily="18" charset="0"/>
              <a:cs typeface="Times New Roman" panose="02020603050405020304" pitchFamily="18" charset="0"/>
            </a:endParaRPr>
          </a:p>
        </p:txBody>
      </p:sp>
      <p:cxnSp>
        <p:nvCxnSpPr>
          <p:cNvPr id="30" name="直接连接符 29"/>
          <p:cNvCxnSpPr/>
          <p:nvPr/>
        </p:nvCxnSpPr>
        <p:spPr>
          <a:xfrm>
            <a:off x="2258695" y="4370705"/>
            <a:ext cx="1456690" cy="499745"/>
          </a:xfrm>
          <a:prstGeom prst="line">
            <a:avLst/>
          </a:prstGeom>
          <a:ln>
            <a:headEnd type="none" w="med" len="med"/>
            <a:tailEnd type="none" w="med" len="med"/>
          </a:ln>
        </p:spPr>
        <p:style>
          <a:lnRef idx="2">
            <a:schemeClr val="accent1"/>
          </a:lnRef>
          <a:fillRef idx="0">
            <a:schemeClr val="accent1"/>
          </a:fillRef>
          <a:effectRef idx="1">
            <a:schemeClr val="accent1"/>
          </a:effectRef>
          <a:fontRef idx="minor">
            <a:schemeClr val="tx1"/>
          </a:fontRef>
        </p:style>
      </p:cxnSp>
      <p:grpSp>
        <p:nvGrpSpPr>
          <p:cNvPr id="31" name="组合 30"/>
          <p:cNvGrpSpPr/>
          <p:nvPr/>
        </p:nvGrpSpPr>
        <p:grpSpPr>
          <a:xfrm>
            <a:off x="6240145" y="2433320"/>
            <a:ext cx="408938" cy="382270"/>
            <a:chOff x="1006488" y="2036167"/>
            <a:chExt cx="531192" cy="504056"/>
          </a:xfrm>
        </p:grpSpPr>
        <p:sp>
          <p:nvSpPr>
            <p:cNvPr id="3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3" name="文本框 3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5" name="文本框 34"/>
          <p:cNvSpPr txBox="1"/>
          <p:nvPr/>
        </p:nvSpPr>
        <p:spPr>
          <a:xfrm>
            <a:off x="1979930" y="313182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20</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36" name="直接连接符 35"/>
          <p:cNvCxnSpPr>
            <a:stCxn id="21" idx="2"/>
            <a:endCxn id="3" idx="3"/>
          </p:cNvCxnSpPr>
          <p:nvPr/>
        </p:nvCxnSpPr>
        <p:spPr>
          <a:xfrm flipH="1" flipV="1">
            <a:off x="1723390" y="3343910"/>
            <a:ext cx="833120" cy="28067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6" name="文本框 45"/>
          <p:cNvSpPr txBox="1"/>
          <p:nvPr/>
        </p:nvSpPr>
        <p:spPr>
          <a:xfrm>
            <a:off x="3430905" y="3957320"/>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13</a:t>
            </a:r>
            <a:endParaRPr lang="en-US" altLang="zh-CN">
              <a:latin typeface="Times New Roman" panose="02020603050405020304" pitchFamily="18" charset="0"/>
              <a:cs typeface="Times New Roman" panose="02020603050405020304" pitchFamily="18" charset="0"/>
            </a:endParaRPr>
          </a:p>
        </p:txBody>
      </p:sp>
      <p:cxnSp>
        <p:nvCxnSpPr>
          <p:cNvPr id="52" name="直接连接符 51"/>
          <p:cNvCxnSpPr/>
          <p:nvPr/>
        </p:nvCxnSpPr>
        <p:spPr>
          <a:xfrm>
            <a:off x="3017520" y="3815715"/>
            <a:ext cx="690245" cy="1053465"/>
          </a:xfrm>
          <a:prstGeom prst="line">
            <a:avLst/>
          </a:prstGeom>
          <a:ln>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61" name="文本框 60"/>
          <p:cNvSpPr txBox="1"/>
          <p:nvPr/>
        </p:nvSpPr>
        <p:spPr>
          <a:xfrm>
            <a:off x="3430905" y="395732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13</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65" name="直接连接符 64"/>
          <p:cNvCxnSpPr/>
          <p:nvPr/>
        </p:nvCxnSpPr>
        <p:spPr>
          <a:xfrm flipH="1" flipV="1">
            <a:off x="2987675" y="3789045"/>
            <a:ext cx="720090" cy="1080135"/>
          </a:xfrm>
          <a:prstGeom prst="line">
            <a:avLst/>
          </a:prstGeom>
          <a:solidFill>
            <a:schemeClr val="accent1"/>
          </a:solidFill>
          <a:ln w="28575" cap="flat" cmpd="sng" algn="ctr">
            <a:solidFill>
              <a:srgbClr val="FF0000"/>
            </a:solidFill>
            <a:prstDash val="solid"/>
            <a:round/>
            <a:headEnd type="none" w="med" len="med"/>
            <a:tailEnd type="none" w="med" len="med"/>
          </a:ln>
        </p:spPr>
      </p:cxnSp>
      <p:grpSp>
        <p:nvGrpSpPr>
          <p:cNvPr id="66" name="组合 65"/>
          <p:cNvGrpSpPr/>
          <p:nvPr/>
        </p:nvGrpSpPr>
        <p:grpSpPr>
          <a:xfrm>
            <a:off x="6802755" y="2433955"/>
            <a:ext cx="408938" cy="382270"/>
            <a:chOff x="1006488" y="2036167"/>
            <a:chExt cx="531192" cy="504056"/>
          </a:xfrm>
        </p:grpSpPr>
        <p:sp>
          <p:nvSpPr>
            <p:cNvPr id="6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8" name="文本框 6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7"/>
                                        </p:tgtEl>
                                        <p:attrNameLst>
                                          <p:attrName>style.visibility</p:attrName>
                                        </p:attrNameLst>
                                      </p:cBhvr>
                                      <p:to>
                                        <p:strVal val="visible"/>
                                      </p:to>
                                    </p:set>
                                    <p:anim calcmode="lin" valueType="num">
                                      <p:cBhvr additive="base">
                                        <p:cTn id="13" dur="500" fill="hold"/>
                                        <p:tgtEl>
                                          <p:spTgt spid="57"/>
                                        </p:tgtEl>
                                        <p:attrNameLst>
                                          <p:attrName>ppt_x</p:attrName>
                                        </p:attrNameLst>
                                      </p:cBhvr>
                                      <p:tavLst>
                                        <p:tav tm="0">
                                          <p:val>
                                            <p:strVal val="#ppt_x"/>
                                          </p:val>
                                        </p:tav>
                                        <p:tav tm="100000">
                                          <p:val>
                                            <p:strVal val="#ppt_x"/>
                                          </p:val>
                                        </p:tav>
                                      </p:tavLst>
                                    </p:anim>
                                    <p:anim calcmode="lin" valueType="num">
                                      <p:cBhvr additive="base">
                                        <p:cTn id="14"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7"/>
                                        </p:tgtEl>
                                        <p:attrNameLst>
                                          <p:attrName>style.visibility</p:attrName>
                                        </p:attrNameLst>
                                      </p:cBhvr>
                                      <p:to>
                                        <p:strVal val="visible"/>
                                      </p:to>
                                    </p:set>
                                  </p:childTnLst>
                                </p:cTn>
                              </p:par>
                            </p:childTnLst>
                          </p:cTn>
                        </p:par>
                        <p:par>
                          <p:cTn id="29" fill="hold">
                            <p:stCondLst>
                              <p:cond delay="0"/>
                            </p:stCondLst>
                            <p:childTnLst>
                              <p:par>
                                <p:cTn id="30" presetID="35" presetClass="emph" presetSubtype="0" fill="hold" grpId="2" nodeType="afterEffect">
                                  <p:stCondLst>
                                    <p:cond delay="0"/>
                                  </p:stCondLst>
                                  <p:childTnLst>
                                    <p:anim calcmode="discrete" valueType="str">
                                      <p:cBhvr>
                                        <p:cTn id="31" dur="1000" fill="hold"/>
                                        <p:tgtEl>
                                          <p:spTgt spid="46"/>
                                        </p:tgtEl>
                                        <p:attrNameLst>
                                          <p:attrName>style.visibility</p:attrName>
                                        </p:attrNameLst>
                                      </p:cBhvr>
                                      <p:tavLst>
                                        <p:tav tm="0">
                                          <p:val>
                                            <p:strVal val="hidden"/>
                                          </p:val>
                                        </p:tav>
                                        <p:tav tm="50000">
                                          <p:val>
                                            <p:strVal val="visible"/>
                                          </p:val>
                                        </p:tav>
                                      </p:tavLst>
                                    </p:anim>
                                  </p:childTnLst>
                                </p:cTn>
                              </p:par>
                              <p:par>
                                <p:cTn id="32" presetID="35" presetClass="emph" presetSubtype="0" fill="hold" nodeType="withEffect">
                                  <p:stCondLst>
                                    <p:cond delay="0"/>
                                  </p:stCondLst>
                                  <p:childTnLst>
                                    <p:anim calcmode="discrete" valueType="str">
                                      <p:cBhvr>
                                        <p:cTn id="33" dur="1000" fill="hold"/>
                                        <p:tgtEl>
                                          <p:spTgt spid="52"/>
                                        </p:tgtEl>
                                        <p:attrNameLst>
                                          <p:attrName>style.visibility</p:attrName>
                                        </p:attrNameLst>
                                      </p:cBhvr>
                                      <p:tavLst>
                                        <p:tav tm="0">
                                          <p:val>
                                            <p:strVal val="hidden"/>
                                          </p:val>
                                        </p:tav>
                                        <p:tav tm="50000">
                                          <p:val>
                                            <p:strVal val="visible"/>
                                          </p:val>
                                        </p:tav>
                                      </p:tavLst>
                                    </p:anim>
                                  </p:childTnLst>
                                </p:cTn>
                              </p:par>
                              <p:par>
                                <p:cTn id="34" presetID="35" presetClass="emph" presetSubtype="0" fill="hold" nodeType="withEffect">
                                  <p:stCondLst>
                                    <p:cond delay="0"/>
                                  </p:stCondLst>
                                  <p:childTnLst>
                                    <p:anim calcmode="discrete" valueType="str">
                                      <p:cBhvr>
                                        <p:cTn id="35" dur="1000" fill="hold"/>
                                        <p:tgtEl>
                                          <p:spTgt spid="30"/>
                                        </p:tgtEl>
                                        <p:attrNameLst>
                                          <p:attrName>style.visibility</p:attrName>
                                        </p:attrNameLst>
                                      </p:cBhvr>
                                      <p:tavLst>
                                        <p:tav tm="0">
                                          <p:val>
                                            <p:strVal val="hidden"/>
                                          </p:val>
                                        </p:tav>
                                        <p:tav tm="50000">
                                          <p:val>
                                            <p:strVal val="visible"/>
                                          </p:val>
                                        </p:tav>
                                      </p:tavLst>
                                    </p:anim>
                                  </p:childTnLst>
                                </p:cTn>
                              </p:par>
                              <p:par>
                                <p:cTn id="36" presetID="35" presetClass="emph" presetSubtype="0" fill="hold" grpId="2" nodeType="withEffect">
                                  <p:stCondLst>
                                    <p:cond delay="0"/>
                                  </p:stCondLst>
                                  <p:childTnLst>
                                    <p:anim calcmode="discrete" valueType="str">
                                      <p:cBhvr>
                                        <p:cTn id="37" dur="1000" fill="hold"/>
                                        <p:tgtEl>
                                          <p:spTgt spid="28"/>
                                        </p:tgtEl>
                                        <p:attrNameLst>
                                          <p:attrName>style.visibility</p:attrName>
                                        </p:attrNameLst>
                                      </p:cBhvr>
                                      <p:tavLst>
                                        <p:tav tm="0">
                                          <p:val>
                                            <p:strVal val="hidden"/>
                                          </p:val>
                                        </p:tav>
                                        <p:tav tm="50000">
                                          <p:val>
                                            <p:strVal val="visible"/>
                                          </p:val>
                                        </p:tav>
                                      </p:tavLst>
                                    </p:anim>
                                  </p:childTnLst>
                                </p:cTn>
                              </p:par>
                              <p:par>
                                <p:cTn id="38" presetID="35" presetClass="emph" presetSubtype="0" fill="hold" nodeType="withEffect">
                                  <p:stCondLst>
                                    <p:cond delay="0"/>
                                  </p:stCondLst>
                                  <p:childTnLst>
                                    <p:anim calcmode="discrete" valueType="str">
                                      <p:cBhvr>
                                        <p:cTn id="39" dur="1000" fill="hold"/>
                                        <p:tgtEl>
                                          <p:spTgt spid="45"/>
                                        </p:tgtEl>
                                        <p:attrNameLst>
                                          <p:attrName>style.visibility</p:attrName>
                                        </p:attrNameLst>
                                      </p:cBhvr>
                                      <p:tavLst>
                                        <p:tav tm="0">
                                          <p:val>
                                            <p:strVal val="hidden"/>
                                          </p:val>
                                        </p:tav>
                                        <p:tav tm="50000">
                                          <p:val>
                                            <p:strVal val="visible"/>
                                          </p:val>
                                        </p:tav>
                                      </p:tavLst>
                                    </p:anim>
                                  </p:childTnLst>
                                </p:cTn>
                              </p:par>
                              <p:par>
                                <p:cTn id="40" presetID="35" presetClass="emph" presetSubtype="0" fill="hold" grpId="2" nodeType="withEffect">
                                  <p:stCondLst>
                                    <p:cond delay="0"/>
                                  </p:stCondLst>
                                  <p:childTnLst>
                                    <p:anim calcmode="discrete" valueType="str">
                                      <p:cBhvr>
                                        <p:cTn id="41"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42" fill="hold">
                            <p:stCondLst>
                              <p:cond delay="1000"/>
                            </p:stCondLst>
                            <p:childTnLst>
                              <p:par>
                                <p:cTn id="43" presetID="35" presetClass="emph" presetSubtype="0" fill="hold" grpId="3" nodeType="afterEffect">
                                  <p:stCondLst>
                                    <p:cond delay="0"/>
                                  </p:stCondLst>
                                  <p:childTnLst>
                                    <p:anim calcmode="discrete" valueType="str">
                                      <p:cBhvr>
                                        <p:cTn id="44" dur="1000" fill="hold"/>
                                        <p:tgtEl>
                                          <p:spTgt spid="46"/>
                                        </p:tgtEl>
                                        <p:attrNameLst>
                                          <p:attrName>style.visibility</p:attrName>
                                        </p:attrNameLst>
                                      </p:cBhvr>
                                      <p:tavLst>
                                        <p:tav tm="0">
                                          <p:val>
                                            <p:strVal val="hidden"/>
                                          </p:val>
                                        </p:tav>
                                        <p:tav tm="50000">
                                          <p:val>
                                            <p:strVal val="visible"/>
                                          </p:val>
                                        </p:tav>
                                      </p:tavLst>
                                    </p:anim>
                                  </p:childTnLst>
                                </p:cTn>
                              </p:par>
                              <p:par>
                                <p:cTn id="45" presetID="35" presetClass="emph" presetSubtype="0" fill="hold" nodeType="withEffect">
                                  <p:stCondLst>
                                    <p:cond delay="0"/>
                                  </p:stCondLst>
                                  <p:childTnLst>
                                    <p:anim calcmode="discrete" valueType="str">
                                      <p:cBhvr>
                                        <p:cTn id="46" dur="1000" fill="hold"/>
                                        <p:tgtEl>
                                          <p:spTgt spid="52"/>
                                        </p:tgtEl>
                                        <p:attrNameLst>
                                          <p:attrName>style.visibility</p:attrName>
                                        </p:attrNameLst>
                                      </p:cBhvr>
                                      <p:tavLst>
                                        <p:tav tm="0">
                                          <p:val>
                                            <p:strVal val="hidden"/>
                                          </p:val>
                                        </p:tav>
                                        <p:tav tm="50000">
                                          <p:val>
                                            <p:strVal val="visible"/>
                                          </p:val>
                                        </p:tav>
                                      </p:tavLst>
                                    </p:anim>
                                  </p:childTnLst>
                                </p:cTn>
                              </p:par>
                              <p:par>
                                <p:cTn id="47" presetID="35" presetClass="emph" presetSubtype="0" fill="hold" nodeType="withEffect">
                                  <p:stCondLst>
                                    <p:cond delay="0"/>
                                  </p:stCondLst>
                                  <p:childTnLst>
                                    <p:anim calcmode="discrete" valueType="str">
                                      <p:cBhvr>
                                        <p:cTn id="48" dur="1000" fill="hold"/>
                                        <p:tgtEl>
                                          <p:spTgt spid="30"/>
                                        </p:tgtEl>
                                        <p:attrNameLst>
                                          <p:attrName>style.visibility</p:attrName>
                                        </p:attrNameLst>
                                      </p:cBhvr>
                                      <p:tavLst>
                                        <p:tav tm="0">
                                          <p:val>
                                            <p:strVal val="hidden"/>
                                          </p:val>
                                        </p:tav>
                                        <p:tav tm="50000">
                                          <p:val>
                                            <p:strVal val="visible"/>
                                          </p:val>
                                        </p:tav>
                                      </p:tavLst>
                                    </p:anim>
                                  </p:childTnLst>
                                </p:cTn>
                              </p:par>
                              <p:par>
                                <p:cTn id="49" presetID="35" presetClass="emph" presetSubtype="0" fill="hold" grpId="3" nodeType="withEffect">
                                  <p:stCondLst>
                                    <p:cond delay="0"/>
                                  </p:stCondLst>
                                  <p:childTnLst>
                                    <p:anim calcmode="discrete" valueType="str">
                                      <p:cBhvr>
                                        <p:cTn id="50" dur="1000" fill="hold"/>
                                        <p:tgtEl>
                                          <p:spTgt spid="28"/>
                                        </p:tgtEl>
                                        <p:attrNameLst>
                                          <p:attrName>style.visibility</p:attrName>
                                        </p:attrNameLst>
                                      </p:cBhvr>
                                      <p:tavLst>
                                        <p:tav tm="0">
                                          <p:val>
                                            <p:strVal val="hidden"/>
                                          </p:val>
                                        </p:tav>
                                        <p:tav tm="50000">
                                          <p:val>
                                            <p:strVal val="visible"/>
                                          </p:val>
                                        </p:tav>
                                      </p:tavLst>
                                    </p:anim>
                                  </p:childTnLst>
                                </p:cTn>
                              </p:par>
                              <p:par>
                                <p:cTn id="51" presetID="35" presetClass="emph" presetSubtype="0" fill="hold" nodeType="withEffect">
                                  <p:stCondLst>
                                    <p:cond delay="0"/>
                                  </p:stCondLst>
                                  <p:childTnLst>
                                    <p:anim calcmode="discrete" valueType="str">
                                      <p:cBhvr>
                                        <p:cTn id="52" dur="1000" fill="hold"/>
                                        <p:tgtEl>
                                          <p:spTgt spid="45"/>
                                        </p:tgtEl>
                                        <p:attrNameLst>
                                          <p:attrName>style.visibility</p:attrName>
                                        </p:attrNameLst>
                                      </p:cBhvr>
                                      <p:tavLst>
                                        <p:tav tm="0">
                                          <p:val>
                                            <p:strVal val="hidden"/>
                                          </p:val>
                                        </p:tav>
                                        <p:tav tm="50000">
                                          <p:val>
                                            <p:strVal val="visible"/>
                                          </p:val>
                                        </p:tav>
                                      </p:tavLst>
                                    </p:anim>
                                  </p:childTnLst>
                                </p:cTn>
                              </p:par>
                              <p:par>
                                <p:cTn id="53" presetID="35" presetClass="emph" presetSubtype="0" fill="hold" grpId="3" nodeType="withEffect">
                                  <p:stCondLst>
                                    <p:cond delay="0"/>
                                  </p:stCondLst>
                                  <p:childTnLst>
                                    <p:anim calcmode="discrete" valueType="str">
                                      <p:cBhvr>
                                        <p:cTn id="54"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par>
                    <p:cTn id="55" fill="hold">
                      <p:stCondLst>
                        <p:cond delay="indefinite"/>
                      </p:stCondLst>
                      <p:childTnLst>
                        <p:par>
                          <p:cTn id="56" fill="hold">
                            <p:stCondLst>
                              <p:cond delay="0"/>
                            </p:stCondLst>
                            <p:childTnLst>
                              <p:par>
                                <p:cTn id="57" presetID="1" presetClass="exit" presetSubtype="0" fill="hold" grpId="4" nodeType="clickEffect">
                                  <p:stCondLst>
                                    <p:cond delay="0"/>
                                  </p:stCondLst>
                                  <p:childTnLst>
                                    <p:set>
                                      <p:cBhvr>
                                        <p:cTn id="58" dur="1" fill="hold">
                                          <p:stCondLst>
                                            <p:cond delay="0"/>
                                          </p:stCondLst>
                                        </p:cTn>
                                        <p:tgtEl>
                                          <p:spTgt spid="46"/>
                                        </p:tgtEl>
                                        <p:attrNameLst>
                                          <p:attrName>style.visibility</p:attrName>
                                        </p:attrNameLst>
                                      </p:cBhvr>
                                      <p:to>
                                        <p:strVal val="hidden"/>
                                      </p:to>
                                    </p:set>
                                  </p:childTnLst>
                                </p:cTn>
                              </p:par>
                              <p:par>
                                <p:cTn id="59" presetID="1" presetClass="exit" presetSubtype="0" fill="hold" nodeType="withEffect">
                                  <p:stCondLst>
                                    <p:cond delay="0"/>
                                  </p:stCondLst>
                                  <p:childTnLst>
                                    <p:set>
                                      <p:cBhvr>
                                        <p:cTn id="60" dur="1" fill="hold">
                                          <p:stCondLst>
                                            <p:cond delay="0"/>
                                          </p:stCondLst>
                                        </p:cTn>
                                        <p:tgtEl>
                                          <p:spTgt spid="52"/>
                                        </p:tgtEl>
                                        <p:attrNameLst>
                                          <p:attrName>style.visibility</p:attrName>
                                        </p:attrNameLst>
                                      </p:cBhvr>
                                      <p:to>
                                        <p:strVal val="hidden"/>
                                      </p:to>
                                    </p:set>
                                  </p:childTnLst>
                                </p:cTn>
                              </p:par>
                              <p:par>
                                <p:cTn id="61" presetID="1" presetClass="exit" presetSubtype="0" fill="hold" nodeType="withEffect">
                                  <p:stCondLst>
                                    <p:cond delay="0"/>
                                  </p:stCondLst>
                                  <p:childTnLst>
                                    <p:set>
                                      <p:cBhvr>
                                        <p:cTn id="62" dur="1" fill="hold">
                                          <p:stCondLst>
                                            <p:cond delay="0"/>
                                          </p:stCondLst>
                                        </p:cTn>
                                        <p:tgtEl>
                                          <p:spTgt spid="30"/>
                                        </p:tgtEl>
                                        <p:attrNameLst>
                                          <p:attrName>style.visibility</p:attrName>
                                        </p:attrNameLst>
                                      </p:cBhvr>
                                      <p:to>
                                        <p:strVal val="hidden"/>
                                      </p:to>
                                    </p:set>
                                  </p:childTnLst>
                                </p:cTn>
                              </p:par>
                              <p:par>
                                <p:cTn id="63" presetID="1" presetClass="exit" presetSubtype="0" fill="hold" grpId="4" nodeType="withEffect">
                                  <p:stCondLst>
                                    <p:cond delay="0"/>
                                  </p:stCondLst>
                                  <p:childTnLst>
                                    <p:set>
                                      <p:cBhvr>
                                        <p:cTn id="64" dur="1" fill="hold">
                                          <p:stCondLst>
                                            <p:cond delay="0"/>
                                          </p:stCondLst>
                                        </p:cTn>
                                        <p:tgtEl>
                                          <p:spTgt spid="28"/>
                                        </p:tgtEl>
                                        <p:attrNameLst>
                                          <p:attrName>style.visibility</p:attrName>
                                        </p:attrNameLst>
                                      </p:cBhvr>
                                      <p:to>
                                        <p:strVal val="hidden"/>
                                      </p:to>
                                    </p:set>
                                  </p:childTnLst>
                                </p:cTn>
                              </p:par>
                              <p:par>
                                <p:cTn id="65" presetID="1" presetClass="exit" presetSubtype="0" fill="hold" nodeType="withEffect">
                                  <p:stCondLst>
                                    <p:cond delay="0"/>
                                  </p:stCondLst>
                                  <p:childTnLst>
                                    <p:set>
                                      <p:cBhvr>
                                        <p:cTn id="66" dur="1" fill="hold">
                                          <p:stCondLst>
                                            <p:cond delay="0"/>
                                          </p:stCondLst>
                                        </p:cTn>
                                        <p:tgtEl>
                                          <p:spTgt spid="45"/>
                                        </p:tgtEl>
                                        <p:attrNameLst>
                                          <p:attrName>style.visibility</p:attrName>
                                        </p:attrNameLst>
                                      </p:cBhvr>
                                      <p:to>
                                        <p:strVal val="hidden"/>
                                      </p:to>
                                    </p:set>
                                  </p:childTnLst>
                                </p:cTn>
                              </p:par>
                              <p:par>
                                <p:cTn id="67" presetID="1" presetClass="exit" presetSubtype="0" fill="hold" grpId="4" nodeType="withEffect">
                                  <p:stCondLst>
                                    <p:cond delay="0"/>
                                  </p:stCondLst>
                                  <p:childTnLst>
                                    <p:set>
                                      <p:cBhvr>
                                        <p:cTn id="68" dur="1" fill="hold">
                                          <p:stCondLst>
                                            <p:cond delay="0"/>
                                          </p:stCondLst>
                                        </p:cTn>
                                        <p:tgtEl>
                                          <p:spTgt spid="47"/>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2" presetClass="entr" presetSubtype="2" fill="hold" grpId="0" nodeType="clickEffect">
                                  <p:stCondLst>
                                    <p:cond delay="0"/>
                                  </p:stCondLst>
                                  <p:childTnLst>
                                    <p:set>
                                      <p:cBhvr>
                                        <p:cTn id="72" dur="1" fill="hold">
                                          <p:stCondLst>
                                            <p:cond delay="0"/>
                                          </p:stCondLst>
                                        </p:cTn>
                                        <p:tgtEl>
                                          <p:spTgt spid="27"/>
                                        </p:tgtEl>
                                        <p:attrNameLst>
                                          <p:attrName>style.visibility</p:attrName>
                                        </p:attrNameLst>
                                      </p:cBhvr>
                                      <p:to>
                                        <p:strVal val="visible"/>
                                      </p:to>
                                    </p:set>
                                    <p:anim calcmode="lin" valueType="num">
                                      <p:cBhvr additive="base">
                                        <p:cTn id="73" dur="500" fill="hold"/>
                                        <p:tgtEl>
                                          <p:spTgt spid="27"/>
                                        </p:tgtEl>
                                        <p:attrNameLst>
                                          <p:attrName>ppt_x</p:attrName>
                                        </p:attrNameLst>
                                      </p:cBhvr>
                                      <p:tavLst>
                                        <p:tav tm="0">
                                          <p:val>
                                            <p:strVal val="1+#ppt_w/2"/>
                                          </p:val>
                                        </p:tav>
                                        <p:tav tm="100000">
                                          <p:val>
                                            <p:strVal val="#ppt_x"/>
                                          </p:val>
                                        </p:tav>
                                      </p:tavLst>
                                    </p:anim>
                                    <p:anim calcmode="lin" valueType="num">
                                      <p:cBhvr additive="base">
                                        <p:cTn id="74" dur="500" fill="hold"/>
                                        <p:tgtEl>
                                          <p:spTgt spid="27"/>
                                        </p:tgtEl>
                                        <p:attrNameLst>
                                          <p:attrName>ppt_y</p:attrName>
                                        </p:attrNameLst>
                                      </p:cBhvr>
                                      <p:tavLst>
                                        <p:tav tm="0">
                                          <p:val>
                                            <p:strVal val="#ppt_y"/>
                                          </p:val>
                                        </p:tav>
                                        <p:tav tm="100000">
                                          <p:val>
                                            <p:strVal val="#ppt_y"/>
                                          </p:val>
                                        </p:tav>
                                      </p:tavLst>
                                    </p:anim>
                                  </p:childTnLst>
                                </p:cTn>
                              </p:par>
                              <p:par>
                                <p:cTn id="75" presetID="2" presetClass="entr" presetSubtype="2" fill="hold" grpId="0" nodeType="withEffect">
                                  <p:stCondLst>
                                    <p:cond delay="0"/>
                                  </p:stCondLst>
                                  <p:childTnLst>
                                    <p:set>
                                      <p:cBhvr>
                                        <p:cTn id="76" dur="1" fill="hold">
                                          <p:stCondLst>
                                            <p:cond delay="0"/>
                                          </p:stCondLst>
                                        </p:cTn>
                                        <p:tgtEl>
                                          <p:spTgt spid="29"/>
                                        </p:tgtEl>
                                        <p:attrNameLst>
                                          <p:attrName>style.visibility</p:attrName>
                                        </p:attrNameLst>
                                      </p:cBhvr>
                                      <p:to>
                                        <p:strVal val="visible"/>
                                      </p:to>
                                    </p:set>
                                    <p:anim calcmode="lin" valueType="num">
                                      <p:cBhvr additive="base">
                                        <p:cTn id="77" dur="500" fill="hold"/>
                                        <p:tgtEl>
                                          <p:spTgt spid="29"/>
                                        </p:tgtEl>
                                        <p:attrNameLst>
                                          <p:attrName>ppt_x</p:attrName>
                                        </p:attrNameLst>
                                      </p:cBhvr>
                                      <p:tavLst>
                                        <p:tav tm="0">
                                          <p:val>
                                            <p:strVal val="1+#ppt_w/2"/>
                                          </p:val>
                                        </p:tav>
                                        <p:tav tm="100000">
                                          <p:val>
                                            <p:strVal val="#ppt_x"/>
                                          </p:val>
                                        </p:tav>
                                      </p:tavLst>
                                    </p:anim>
                                    <p:anim calcmode="lin" valueType="num">
                                      <p:cBhvr additive="base">
                                        <p:cTn id="78" dur="500" fill="hold"/>
                                        <p:tgtEl>
                                          <p:spTgt spid="29"/>
                                        </p:tgtEl>
                                        <p:attrNameLst>
                                          <p:attrName>ppt_y</p:attrName>
                                        </p:attrNameLst>
                                      </p:cBhvr>
                                      <p:tavLst>
                                        <p:tav tm="0">
                                          <p:val>
                                            <p:strVal val="#ppt_y"/>
                                          </p:val>
                                        </p:tav>
                                        <p:tav tm="100000">
                                          <p:val>
                                            <p:strVal val="#ppt_y"/>
                                          </p:val>
                                        </p:tav>
                                      </p:tavLst>
                                    </p:anim>
                                  </p:childTnLst>
                                </p:cTn>
                              </p:par>
                              <p:par>
                                <p:cTn id="79" presetID="2" presetClass="entr" presetSubtype="2" fill="hold" grpId="0" nodeType="withEffect">
                                  <p:stCondLst>
                                    <p:cond delay="0"/>
                                  </p:stCondLst>
                                  <p:childTnLst>
                                    <p:set>
                                      <p:cBhvr>
                                        <p:cTn id="80" dur="1" fill="hold">
                                          <p:stCondLst>
                                            <p:cond delay="0"/>
                                          </p:stCondLst>
                                        </p:cTn>
                                        <p:tgtEl>
                                          <p:spTgt spid="37"/>
                                        </p:tgtEl>
                                        <p:attrNameLst>
                                          <p:attrName>style.visibility</p:attrName>
                                        </p:attrNameLst>
                                      </p:cBhvr>
                                      <p:to>
                                        <p:strVal val="visible"/>
                                      </p:to>
                                    </p:set>
                                    <p:anim calcmode="lin" valueType="num">
                                      <p:cBhvr additive="base">
                                        <p:cTn id="81" dur="500" fill="hold"/>
                                        <p:tgtEl>
                                          <p:spTgt spid="37"/>
                                        </p:tgtEl>
                                        <p:attrNameLst>
                                          <p:attrName>ppt_x</p:attrName>
                                        </p:attrNameLst>
                                      </p:cBhvr>
                                      <p:tavLst>
                                        <p:tav tm="0">
                                          <p:val>
                                            <p:strVal val="1+#ppt_w/2"/>
                                          </p:val>
                                        </p:tav>
                                        <p:tav tm="100000">
                                          <p:val>
                                            <p:strVal val="#ppt_x"/>
                                          </p:val>
                                        </p:tav>
                                      </p:tavLst>
                                    </p:anim>
                                    <p:anim calcmode="lin" valueType="num">
                                      <p:cBhvr additive="base">
                                        <p:cTn id="82" dur="500" fill="hold"/>
                                        <p:tgtEl>
                                          <p:spTgt spid="37"/>
                                        </p:tgtEl>
                                        <p:attrNameLst>
                                          <p:attrName>ppt_y</p:attrName>
                                        </p:attrNameLst>
                                      </p:cBhvr>
                                      <p:tavLst>
                                        <p:tav tm="0">
                                          <p:val>
                                            <p:strVal val="#ppt_y"/>
                                          </p:val>
                                        </p:tav>
                                        <p:tav tm="100000">
                                          <p:val>
                                            <p:strVal val="#ppt_y"/>
                                          </p:val>
                                        </p:tav>
                                      </p:tavLst>
                                    </p:anim>
                                  </p:childTnLst>
                                </p:cTn>
                              </p:par>
                              <p:par>
                                <p:cTn id="83" presetID="2" presetClass="entr" presetSubtype="2" fill="hold" nodeType="withEffect">
                                  <p:stCondLst>
                                    <p:cond delay="0"/>
                                  </p:stCondLst>
                                  <p:childTnLst>
                                    <p:set>
                                      <p:cBhvr>
                                        <p:cTn id="84" dur="1" fill="hold">
                                          <p:stCondLst>
                                            <p:cond delay="0"/>
                                          </p:stCondLst>
                                        </p:cTn>
                                        <p:tgtEl>
                                          <p:spTgt spid="38"/>
                                        </p:tgtEl>
                                        <p:attrNameLst>
                                          <p:attrName>style.visibility</p:attrName>
                                        </p:attrNameLst>
                                      </p:cBhvr>
                                      <p:to>
                                        <p:strVal val="visible"/>
                                      </p:to>
                                    </p:set>
                                    <p:anim calcmode="lin" valueType="num">
                                      <p:cBhvr additive="base">
                                        <p:cTn id="85" dur="500" fill="hold"/>
                                        <p:tgtEl>
                                          <p:spTgt spid="38"/>
                                        </p:tgtEl>
                                        <p:attrNameLst>
                                          <p:attrName>ppt_x</p:attrName>
                                        </p:attrNameLst>
                                      </p:cBhvr>
                                      <p:tavLst>
                                        <p:tav tm="0">
                                          <p:val>
                                            <p:strVal val="1+#ppt_w/2"/>
                                          </p:val>
                                        </p:tav>
                                        <p:tav tm="100000">
                                          <p:val>
                                            <p:strVal val="#ppt_x"/>
                                          </p:val>
                                        </p:tav>
                                      </p:tavLst>
                                    </p:anim>
                                    <p:anim calcmode="lin" valueType="num">
                                      <p:cBhvr additive="base">
                                        <p:cTn id="86" dur="500" fill="hold"/>
                                        <p:tgtEl>
                                          <p:spTgt spid="38"/>
                                        </p:tgtEl>
                                        <p:attrNameLst>
                                          <p:attrName>ppt_y</p:attrName>
                                        </p:attrNameLst>
                                      </p:cBhvr>
                                      <p:tavLst>
                                        <p:tav tm="0">
                                          <p:val>
                                            <p:strVal val="#ppt_y"/>
                                          </p:val>
                                        </p:tav>
                                        <p:tav tm="100000">
                                          <p:val>
                                            <p:strVal val="#ppt_y"/>
                                          </p:val>
                                        </p:tav>
                                      </p:tavLst>
                                    </p:anim>
                                  </p:childTnLst>
                                </p:cTn>
                              </p:par>
                              <p:par>
                                <p:cTn id="87" presetID="2" presetClass="entr" presetSubtype="2" fill="hold" nodeType="withEffect">
                                  <p:stCondLst>
                                    <p:cond delay="0"/>
                                  </p:stCondLst>
                                  <p:childTnLst>
                                    <p:set>
                                      <p:cBhvr>
                                        <p:cTn id="88" dur="1" fill="hold">
                                          <p:stCondLst>
                                            <p:cond delay="0"/>
                                          </p:stCondLst>
                                        </p:cTn>
                                        <p:tgtEl>
                                          <p:spTgt spid="75"/>
                                        </p:tgtEl>
                                        <p:attrNameLst>
                                          <p:attrName>style.visibility</p:attrName>
                                        </p:attrNameLst>
                                      </p:cBhvr>
                                      <p:to>
                                        <p:strVal val="visible"/>
                                      </p:to>
                                    </p:set>
                                    <p:anim calcmode="lin" valueType="num">
                                      <p:cBhvr additive="base">
                                        <p:cTn id="89" dur="500" fill="hold"/>
                                        <p:tgtEl>
                                          <p:spTgt spid="75"/>
                                        </p:tgtEl>
                                        <p:attrNameLst>
                                          <p:attrName>ppt_x</p:attrName>
                                        </p:attrNameLst>
                                      </p:cBhvr>
                                      <p:tavLst>
                                        <p:tav tm="0">
                                          <p:val>
                                            <p:strVal val="1+#ppt_w/2"/>
                                          </p:val>
                                        </p:tav>
                                        <p:tav tm="100000">
                                          <p:val>
                                            <p:strVal val="#ppt_x"/>
                                          </p:val>
                                        </p:tav>
                                      </p:tavLst>
                                    </p:anim>
                                    <p:anim calcmode="lin" valueType="num">
                                      <p:cBhvr additive="base">
                                        <p:cTn id="90" dur="500" fill="hold"/>
                                        <p:tgtEl>
                                          <p:spTgt spid="75"/>
                                        </p:tgtEl>
                                        <p:attrNameLst>
                                          <p:attrName>ppt_y</p:attrName>
                                        </p:attrNameLst>
                                      </p:cBhvr>
                                      <p:tavLst>
                                        <p:tav tm="0">
                                          <p:val>
                                            <p:strVal val="#ppt_y"/>
                                          </p:val>
                                        </p:tav>
                                        <p:tav tm="100000">
                                          <p:val>
                                            <p:strVal val="#ppt_y"/>
                                          </p:val>
                                        </p:tav>
                                      </p:tavLst>
                                    </p:anim>
                                  </p:childTnLst>
                                </p:cTn>
                              </p:par>
                              <p:par>
                                <p:cTn id="91" presetID="2" presetClass="entr" presetSubtype="2" fill="hold" nodeType="withEffect">
                                  <p:stCondLst>
                                    <p:cond delay="0"/>
                                  </p:stCondLst>
                                  <p:childTnLst>
                                    <p:set>
                                      <p:cBhvr>
                                        <p:cTn id="92" dur="1" fill="hold">
                                          <p:stCondLst>
                                            <p:cond delay="0"/>
                                          </p:stCondLst>
                                        </p:cTn>
                                        <p:tgtEl>
                                          <p:spTgt spid="86"/>
                                        </p:tgtEl>
                                        <p:attrNameLst>
                                          <p:attrName>style.visibility</p:attrName>
                                        </p:attrNameLst>
                                      </p:cBhvr>
                                      <p:to>
                                        <p:strVal val="visible"/>
                                      </p:to>
                                    </p:set>
                                    <p:anim calcmode="lin" valueType="num">
                                      <p:cBhvr additive="base">
                                        <p:cTn id="93" dur="500" fill="hold"/>
                                        <p:tgtEl>
                                          <p:spTgt spid="86"/>
                                        </p:tgtEl>
                                        <p:attrNameLst>
                                          <p:attrName>ppt_x</p:attrName>
                                        </p:attrNameLst>
                                      </p:cBhvr>
                                      <p:tavLst>
                                        <p:tav tm="0">
                                          <p:val>
                                            <p:strVal val="1+#ppt_w/2"/>
                                          </p:val>
                                        </p:tav>
                                        <p:tav tm="100000">
                                          <p:val>
                                            <p:strVal val="#ppt_x"/>
                                          </p:val>
                                        </p:tav>
                                      </p:tavLst>
                                    </p:anim>
                                    <p:anim calcmode="lin" valueType="num">
                                      <p:cBhvr additive="base">
                                        <p:cTn id="94" dur="500" fill="hold"/>
                                        <p:tgtEl>
                                          <p:spTgt spid="86"/>
                                        </p:tgtEl>
                                        <p:attrNameLst>
                                          <p:attrName>ppt_y</p:attrName>
                                        </p:attrNameLst>
                                      </p:cBhvr>
                                      <p:tavLst>
                                        <p:tav tm="0">
                                          <p:val>
                                            <p:strVal val="#ppt_y"/>
                                          </p:val>
                                        </p:tav>
                                        <p:tav tm="100000">
                                          <p:val>
                                            <p:strVal val="#ppt_y"/>
                                          </p:val>
                                        </p:tav>
                                      </p:tavLst>
                                    </p:anim>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61"/>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65"/>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0" presetClass="path" presetSubtype="0" accel="50000" decel="50000" fill="hold" grpId="0" nodeType="clickEffect">
                                  <p:stCondLst>
                                    <p:cond delay="0"/>
                                  </p:stCondLst>
                                  <p:childTnLst>
                                    <p:animMotion origin="layout" path="M 0 0 L 0.0634722 -0.00037037 " pathEditMode="relative" rAng="0" ptsTypes="">
                                      <p:cBhvr>
                                        <p:cTn id="104" dur="2000" fill="hold"/>
                                        <p:tgtEl>
                                          <p:spTgt spid="43"/>
                                        </p:tgtEl>
                                        <p:attrNameLst>
                                          <p:attrName>ppt_x</p:attrName>
                                          <p:attrName>ppt_y</p:attrName>
                                        </p:attrNameLst>
                                      </p:cBhvr>
                                      <p:rCtr x="31" y="0"/>
                                    </p:animMotion>
                                  </p:childTnLst>
                                </p:cTn>
                              </p:par>
                            </p:childTnLst>
                          </p:cTn>
                        </p:par>
                      </p:childTnLst>
                    </p:cTn>
                  </p:par>
                  <p:par>
                    <p:cTn id="105" fill="hold">
                      <p:stCondLst>
                        <p:cond delay="indefinite"/>
                      </p:stCondLst>
                      <p:childTnLst>
                        <p:par>
                          <p:cTn id="106" fill="hold">
                            <p:stCondLst>
                              <p:cond delay="0"/>
                            </p:stCondLst>
                            <p:childTnLst>
                              <p:par>
                                <p:cTn id="107" presetID="2" presetClass="entr" presetSubtype="2" fill="hold" nodeType="clickEffect">
                                  <p:stCondLst>
                                    <p:cond delay="0"/>
                                  </p:stCondLst>
                                  <p:childTnLst>
                                    <p:set>
                                      <p:cBhvr>
                                        <p:cTn id="108" dur="1" fill="hold">
                                          <p:stCondLst>
                                            <p:cond delay="0"/>
                                          </p:stCondLst>
                                        </p:cTn>
                                        <p:tgtEl>
                                          <p:spTgt spid="66"/>
                                        </p:tgtEl>
                                        <p:attrNameLst>
                                          <p:attrName>style.visibility</p:attrName>
                                        </p:attrNameLst>
                                      </p:cBhvr>
                                      <p:to>
                                        <p:strVal val="visible"/>
                                      </p:to>
                                    </p:set>
                                    <p:anim calcmode="lin" valueType="num">
                                      <p:cBhvr additive="base">
                                        <p:cTn id="109" dur="500" fill="hold"/>
                                        <p:tgtEl>
                                          <p:spTgt spid="66"/>
                                        </p:tgtEl>
                                        <p:attrNameLst>
                                          <p:attrName>ppt_x</p:attrName>
                                        </p:attrNameLst>
                                      </p:cBhvr>
                                      <p:tavLst>
                                        <p:tav tm="0">
                                          <p:val>
                                            <p:strVal val="1+#ppt_w/2"/>
                                          </p:val>
                                        </p:tav>
                                        <p:tav tm="100000">
                                          <p:val>
                                            <p:strVal val="#ppt_x"/>
                                          </p:val>
                                        </p:tav>
                                      </p:tavLst>
                                    </p:anim>
                                    <p:anim calcmode="lin" valueType="num">
                                      <p:cBhvr additive="base">
                                        <p:cTn id="110" dur="500" fill="hold"/>
                                        <p:tgtEl>
                                          <p:spTgt spid="6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27" grpId="1"/>
      <p:bldP spid="29" grpId="0" animBg="1"/>
      <p:bldP spid="29" grpId="1" animBg="1"/>
      <p:bldP spid="37" grpId="0" animBg="1"/>
      <p:bldP spid="37" grpId="1" animBg="1"/>
      <p:bldP spid="43" grpId="0" animBg="1"/>
      <p:bldP spid="51" grpId="1" animBg="1"/>
      <p:bldP spid="55" grpId="1"/>
      <p:bldP spid="102" grpId="1"/>
      <p:bldP spid="34" grpId="0" bldLvl="0" animBg="1"/>
      <p:bldP spid="34" grpId="1" animBg="1"/>
      <p:bldP spid="47" grpId="0"/>
      <p:bldP spid="47" grpId="1"/>
      <p:bldP spid="47" grpId="2"/>
      <p:bldP spid="47" grpId="3"/>
      <p:bldP spid="47" grpId="4"/>
      <p:bldP spid="54" grpId="1"/>
      <p:bldP spid="57" grpId="0" bldLvl="0" animBg="1"/>
      <p:bldP spid="57" grpId="1" animBg="1"/>
      <p:bldP spid="28" grpId="0"/>
      <p:bldP spid="28" grpId="1"/>
      <p:bldP spid="28" grpId="2"/>
      <p:bldP spid="28" grpId="3"/>
      <p:bldP spid="28" grpId="4"/>
      <p:bldP spid="35" grpId="1"/>
      <p:bldP spid="46" grpId="0"/>
      <p:bldP spid="46" grpId="1"/>
      <p:bldP spid="46" grpId="2"/>
      <p:bldP spid="46" grpId="3"/>
      <p:bldP spid="46" grpId="4"/>
      <p:bldP spid="61" grpId="0"/>
      <p:bldP spid="61" grpId="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188085" y="3074035"/>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1685290" y="4189095"/>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611505" y="4173220"/>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2844165" y="5424805"/>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3996055" y="5568315"/>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2772410" y="4218940"/>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2556510" y="335470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849755" y="2806700"/>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3489960" y="590486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7" name="文本框 26"/>
          <p:cNvSpPr txBox="1"/>
          <p:nvPr/>
        </p:nvSpPr>
        <p:spPr>
          <a:xfrm>
            <a:off x="5303520" y="4178935"/>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7242175" y="407543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左大括号 36"/>
          <p:cNvSpPr/>
          <p:nvPr/>
        </p:nvSpPr>
        <p:spPr>
          <a:xfrm>
            <a:off x="6152515" y="407733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6421755" y="416179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7155180" y="233743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726940" y="2433320"/>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500245" y="233934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944495" y="2455545"/>
            <a:ext cx="1647190" cy="299720"/>
          </a:xfrm>
          <a:prstGeom prst="rect">
            <a:avLst/>
          </a:prstGeom>
          <a:noFill/>
        </p:spPr>
        <p:txBody>
          <a:bodyPr wrap="square" rtlCol="0" anchor="t">
            <a:noAutofit/>
          </a:bodyPr>
          <a:lstStyle/>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5207000" y="2430145"/>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6904990" y="4161790"/>
            <a:ext cx="408938" cy="382270"/>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26</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941705" y="3613785"/>
            <a:ext cx="516255" cy="5753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143000" y="379984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4" name="椭圆 33"/>
          <p:cNvSpPr/>
          <p:nvPr/>
        </p:nvSpPr>
        <p:spPr>
          <a:xfrm>
            <a:off x="440055" y="2592070"/>
            <a:ext cx="3084195" cy="2760980"/>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4" name="文本框 53"/>
          <p:cNvSpPr txBox="1"/>
          <p:nvPr/>
        </p:nvSpPr>
        <p:spPr>
          <a:xfrm>
            <a:off x="1327150" y="442976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9</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56" name="直接连接符 55"/>
          <p:cNvCxnSpPr/>
          <p:nvPr/>
        </p:nvCxnSpPr>
        <p:spPr>
          <a:xfrm flipH="1">
            <a:off x="1115695" y="4437380"/>
            <a:ext cx="575945" cy="7175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7" name="椭圆 56"/>
          <p:cNvSpPr/>
          <p:nvPr/>
        </p:nvSpPr>
        <p:spPr>
          <a:xfrm>
            <a:off x="2529205" y="5073015"/>
            <a:ext cx="2157095" cy="1173480"/>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8" name="组合 57"/>
          <p:cNvGrpSpPr/>
          <p:nvPr/>
        </p:nvGrpSpPr>
        <p:grpSpPr>
          <a:xfrm>
            <a:off x="5724525" y="2430145"/>
            <a:ext cx="408938" cy="382270"/>
            <a:chOff x="1006488" y="2036167"/>
            <a:chExt cx="531192" cy="504056"/>
          </a:xfrm>
        </p:grpSpPr>
        <p:sp>
          <p:nvSpPr>
            <p:cNvPr id="5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0" name="文本框 5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1" name="组合 30"/>
          <p:cNvGrpSpPr/>
          <p:nvPr/>
        </p:nvGrpSpPr>
        <p:grpSpPr>
          <a:xfrm>
            <a:off x="6240145" y="2433320"/>
            <a:ext cx="408938" cy="382270"/>
            <a:chOff x="1006488" y="2036167"/>
            <a:chExt cx="531192" cy="504056"/>
          </a:xfrm>
        </p:grpSpPr>
        <p:sp>
          <p:nvSpPr>
            <p:cNvPr id="3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3" name="文本框 3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5" name="文本框 34"/>
          <p:cNvSpPr txBox="1"/>
          <p:nvPr/>
        </p:nvSpPr>
        <p:spPr>
          <a:xfrm>
            <a:off x="1979930" y="313182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20</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36" name="直接连接符 35"/>
          <p:cNvCxnSpPr>
            <a:stCxn id="21" idx="2"/>
            <a:endCxn id="3" idx="3"/>
          </p:cNvCxnSpPr>
          <p:nvPr/>
        </p:nvCxnSpPr>
        <p:spPr>
          <a:xfrm flipH="1" flipV="1">
            <a:off x="1723390" y="3343910"/>
            <a:ext cx="833120" cy="28067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61" name="文本框 60"/>
          <p:cNvSpPr txBox="1"/>
          <p:nvPr/>
        </p:nvSpPr>
        <p:spPr>
          <a:xfrm>
            <a:off x="3060065" y="3829685"/>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13</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65" name="直接连接符 64"/>
          <p:cNvCxnSpPr>
            <a:stCxn id="18" idx="0"/>
          </p:cNvCxnSpPr>
          <p:nvPr/>
        </p:nvCxnSpPr>
        <p:spPr>
          <a:xfrm flipH="1" flipV="1">
            <a:off x="2907665" y="3894455"/>
            <a:ext cx="134620" cy="324485"/>
          </a:xfrm>
          <a:prstGeom prst="line">
            <a:avLst/>
          </a:prstGeom>
          <a:solidFill>
            <a:schemeClr val="accent1"/>
          </a:solidFill>
          <a:ln w="28575" cap="flat" cmpd="sng" algn="ctr">
            <a:solidFill>
              <a:srgbClr val="FF0000"/>
            </a:solidFill>
            <a:prstDash val="solid"/>
            <a:round/>
            <a:headEnd type="none" w="med" len="med"/>
            <a:tailEnd type="none" w="med" len="med"/>
          </a:ln>
        </p:spPr>
      </p:cxnSp>
      <p:grpSp>
        <p:nvGrpSpPr>
          <p:cNvPr id="66" name="组合 65"/>
          <p:cNvGrpSpPr/>
          <p:nvPr/>
        </p:nvGrpSpPr>
        <p:grpSpPr>
          <a:xfrm>
            <a:off x="6802755" y="2433955"/>
            <a:ext cx="408938" cy="382270"/>
            <a:chOff x="1006488" y="2036167"/>
            <a:chExt cx="531192" cy="504056"/>
          </a:xfrm>
        </p:grpSpPr>
        <p:sp>
          <p:nvSpPr>
            <p:cNvPr id="6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8" name="文本框 6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41" name="直接连接符 40"/>
          <p:cNvCxnSpPr>
            <a:stCxn id="10" idx="2"/>
            <a:endCxn id="13" idx="1"/>
          </p:cNvCxnSpPr>
          <p:nvPr/>
        </p:nvCxnSpPr>
        <p:spPr>
          <a:xfrm>
            <a:off x="915035" y="4638675"/>
            <a:ext cx="2000885" cy="1056005"/>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cxnSp>
        <p:nvCxnSpPr>
          <p:cNvPr id="42" name="直接连接符 41"/>
          <p:cNvCxnSpPr>
            <a:endCxn id="15" idx="0"/>
          </p:cNvCxnSpPr>
          <p:nvPr/>
        </p:nvCxnSpPr>
        <p:spPr>
          <a:xfrm>
            <a:off x="3203575" y="4653280"/>
            <a:ext cx="1062355" cy="915035"/>
          </a:xfrm>
          <a:prstGeom prst="line">
            <a:avLst/>
          </a:prstGeom>
          <a:ln>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49" name="文本框 48"/>
          <p:cNvSpPr txBox="1"/>
          <p:nvPr/>
        </p:nvSpPr>
        <p:spPr>
          <a:xfrm>
            <a:off x="3616960" y="458152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18</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53" name="文本框 52"/>
          <p:cNvSpPr txBox="1"/>
          <p:nvPr/>
        </p:nvSpPr>
        <p:spPr>
          <a:xfrm>
            <a:off x="1835785" y="5373370"/>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26</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grpSp>
        <p:nvGrpSpPr>
          <p:cNvPr id="69" name="组合 68"/>
          <p:cNvGrpSpPr/>
          <p:nvPr/>
        </p:nvGrpSpPr>
        <p:grpSpPr>
          <a:xfrm>
            <a:off x="7293610" y="2424430"/>
            <a:ext cx="408938" cy="382270"/>
            <a:chOff x="1006488" y="2036167"/>
            <a:chExt cx="531192" cy="504056"/>
          </a:xfrm>
        </p:grpSpPr>
        <p:sp>
          <p:nvSpPr>
            <p:cNvPr id="7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1" name="文本框 7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72" name="直接连接符 71"/>
          <p:cNvCxnSpPr/>
          <p:nvPr/>
        </p:nvCxnSpPr>
        <p:spPr>
          <a:xfrm flipH="1" flipV="1">
            <a:off x="3244850" y="4684395"/>
            <a:ext cx="1021080" cy="88392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73" name="文本框 72"/>
          <p:cNvSpPr txBox="1"/>
          <p:nvPr/>
        </p:nvSpPr>
        <p:spPr>
          <a:xfrm>
            <a:off x="3616960" y="4587875"/>
            <a:ext cx="534035" cy="341630"/>
          </a:xfrm>
          <a:prstGeom prst="rect">
            <a:avLst/>
          </a:prstGeom>
          <a:noFill/>
        </p:spPr>
        <p:txBody>
          <a:bodyPr wrap="square" rtlCol="0">
            <a:noAutofit/>
          </a:bodyPr>
          <a:lstStyle/>
          <a:p>
            <a:r>
              <a:rPr lang="en-US" altLang="zh-CN" sz="1800">
                <a:solidFill>
                  <a:srgbClr val="FF0000"/>
                </a:solidFill>
                <a:uFillTx/>
                <a:latin typeface="Times New Roman" panose="02020603050405020304" pitchFamily="18" charset="0"/>
                <a:cs typeface="Times New Roman" panose="02020603050405020304" pitchFamily="18" charset="0"/>
              </a:rPr>
              <a:t>18</a:t>
            </a:r>
            <a:endParaRPr lang="en-US" altLang="zh-CN" sz="1800">
              <a:solidFill>
                <a:srgbClr val="FF0000"/>
              </a:solidFill>
              <a:uFillTx/>
              <a:latin typeface="Times New Roman" panose="02020603050405020304" pitchFamily="18" charset="0"/>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7"/>
                                        </p:tgtEl>
                                        <p:attrNameLst>
                                          <p:attrName>style.visibility</p:attrName>
                                        </p:attrNameLst>
                                      </p:cBhvr>
                                      <p:to>
                                        <p:strVal val="visible"/>
                                      </p:to>
                                    </p:set>
                                    <p:anim calcmode="lin" valueType="num">
                                      <p:cBhvr additive="base">
                                        <p:cTn id="13" dur="500" fill="hold"/>
                                        <p:tgtEl>
                                          <p:spTgt spid="57"/>
                                        </p:tgtEl>
                                        <p:attrNameLst>
                                          <p:attrName>ppt_x</p:attrName>
                                        </p:attrNameLst>
                                      </p:cBhvr>
                                      <p:tavLst>
                                        <p:tav tm="0">
                                          <p:val>
                                            <p:strVal val="#ppt_x"/>
                                          </p:val>
                                        </p:tav>
                                        <p:tav tm="100000">
                                          <p:val>
                                            <p:strVal val="#ppt_x"/>
                                          </p:val>
                                        </p:tav>
                                      </p:tavLst>
                                    </p:anim>
                                    <p:anim calcmode="lin" valueType="num">
                                      <p:cBhvr additive="base">
                                        <p:cTn id="14"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35" presetClass="emph" presetSubtype="0" fill="hold" grpId="2" nodeType="clickEffect">
                                  <p:stCondLst>
                                    <p:cond delay="0"/>
                                  </p:stCondLst>
                                  <p:childTnLst>
                                    <p:anim calcmode="discrete" valueType="str">
                                      <p:cBhvr>
                                        <p:cTn id="28" dur="1000" fill="hold"/>
                                        <p:tgtEl>
                                          <p:spTgt spid="49"/>
                                        </p:tgtEl>
                                        <p:attrNameLst>
                                          <p:attrName>style.visibility</p:attrName>
                                        </p:attrNameLst>
                                      </p:cBhvr>
                                      <p:tavLst>
                                        <p:tav tm="0">
                                          <p:val>
                                            <p:strVal val="hidden"/>
                                          </p:val>
                                        </p:tav>
                                        <p:tav tm="50000">
                                          <p:val>
                                            <p:strVal val="visible"/>
                                          </p:val>
                                        </p:tav>
                                      </p:tavLst>
                                    </p:anim>
                                  </p:childTnLst>
                                </p:cTn>
                              </p:par>
                              <p:par>
                                <p:cTn id="29" presetID="35" presetClass="emph" presetSubtype="0" fill="hold" nodeType="withEffect">
                                  <p:stCondLst>
                                    <p:cond delay="0"/>
                                  </p:stCondLst>
                                  <p:childTnLst>
                                    <p:anim calcmode="discrete" valueType="str">
                                      <p:cBhvr>
                                        <p:cTn id="30" dur="1000" fill="hold"/>
                                        <p:tgtEl>
                                          <p:spTgt spid="42"/>
                                        </p:tgtEl>
                                        <p:attrNameLst>
                                          <p:attrName>style.visibility</p:attrName>
                                        </p:attrNameLst>
                                      </p:cBhvr>
                                      <p:tavLst>
                                        <p:tav tm="0">
                                          <p:val>
                                            <p:strVal val="hidden"/>
                                          </p:val>
                                        </p:tav>
                                        <p:tav tm="50000">
                                          <p:val>
                                            <p:strVal val="visible"/>
                                          </p:val>
                                        </p:tav>
                                      </p:tavLst>
                                    </p:anim>
                                  </p:childTnLst>
                                </p:cTn>
                              </p:par>
                              <p:par>
                                <p:cTn id="31" presetID="35" presetClass="emph" presetSubtype="0" fill="hold" grpId="2" nodeType="withEffect">
                                  <p:stCondLst>
                                    <p:cond delay="0"/>
                                  </p:stCondLst>
                                  <p:childTnLst>
                                    <p:anim calcmode="discrete" valueType="str">
                                      <p:cBhvr>
                                        <p:cTn id="32" dur="1000" fill="hold"/>
                                        <p:tgtEl>
                                          <p:spTgt spid="53"/>
                                        </p:tgtEl>
                                        <p:attrNameLst>
                                          <p:attrName>style.visibility</p:attrName>
                                        </p:attrNameLst>
                                      </p:cBhvr>
                                      <p:tavLst>
                                        <p:tav tm="0">
                                          <p:val>
                                            <p:strVal val="hidden"/>
                                          </p:val>
                                        </p:tav>
                                        <p:tav tm="50000">
                                          <p:val>
                                            <p:strVal val="visible"/>
                                          </p:val>
                                        </p:tav>
                                      </p:tavLst>
                                    </p:anim>
                                  </p:childTnLst>
                                </p:cTn>
                              </p:par>
                              <p:par>
                                <p:cTn id="33" presetID="35" presetClass="emph" presetSubtype="0" fill="hold" nodeType="withEffect">
                                  <p:stCondLst>
                                    <p:cond delay="0"/>
                                  </p:stCondLst>
                                  <p:childTnLst>
                                    <p:anim calcmode="discrete" valueType="str">
                                      <p:cBhvr>
                                        <p:cTn id="34" dur="1000" fill="hold"/>
                                        <p:tgtEl>
                                          <p:spTgt spid="41"/>
                                        </p:tgtEl>
                                        <p:attrNameLst>
                                          <p:attrName>style.visibility</p:attrName>
                                        </p:attrNameLst>
                                      </p:cBhvr>
                                      <p:tavLst>
                                        <p:tav tm="0">
                                          <p:val>
                                            <p:strVal val="hidden"/>
                                          </p:val>
                                        </p:tav>
                                        <p:tav tm="50000">
                                          <p:val>
                                            <p:strVal val="visible"/>
                                          </p:val>
                                        </p:tav>
                                      </p:tavLst>
                                    </p:anim>
                                  </p:childTnLst>
                                </p:cTn>
                              </p:par>
                            </p:childTnLst>
                          </p:cTn>
                        </p:par>
                        <p:par>
                          <p:cTn id="35" fill="hold">
                            <p:stCondLst>
                              <p:cond delay="1000"/>
                            </p:stCondLst>
                            <p:childTnLst>
                              <p:par>
                                <p:cTn id="36" presetID="35" presetClass="emph" presetSubtype="0" fill="hold" grpId="3" nodeType="afterEffect">
                                  <p:stCondLst>
                                    <p:cond delay="0"/>
                                  </p:stCondLst>
                                  <p:childTnLst>
                                    <p:anim calcmode="discrete" valueType="str">
                                      <p:cBhvr>
                                        <p:cTn id="37" dur="1000" fill="hold"/>
                                        <p:tgtEl>
                                          <p:spTgt spid="49"/>
                                        </p:tgtEl>
                                        <p:attrNameLst>
                                          <p:attrName>style.visibility</p:attrName>
                                        </p:attrNameLst>
                                      </p:cBhvr>
                                      <p:tavLst>
                                        <p:tav tm="0">
                                          <p:val>
                                            <p:strVal val="hidden"/>
                                          </p:val>
                                        </p:tav>
                                        <p:tav tm="50000">
                                          <p:val>
                                            <p:strVal val="visible"/>
                                          </p:val>
                                        </p:tav>
                                      </p:tavLst>
                                    </p:anim>
                                  </p:childTnLst>
                                </p:cTn>
                              </p:par>
                              <p:par>
                                <p:cTn id="38" presetID="35" presetClass="emph" presetSubtype="0" fill="hold" nodeType="withEffect">
                                  <p:stCondLst>
                                    <p:cond delay="0"/>
                                  </p:stCondLst>
                                  <p:childTnLst>
                                    <p:anim calcmode="discrete" valueType="str">
                                      <p:cBhvr>
                                        <p:cTn id="39" dur="1000" fill="hold"/>
                                        <p:tgtEl>
                                          <p:spTgt spid="42"/>
                                        </p:tgtEl>
                                        <p:attrNameLst>
                                          <p:attrName>style.visibility</p:attrName>
                                        </p:attrNameLst>
                                      </p:cBhvr>
                                      <p:tavLst>
                                        <p:tav tm="0">
                                          <p:val>
                                            <p:strVal val="hidden"/>
                                          </p:val>
                                        </p:tav>
                                        <p:tav tm="50000">
                                          <p:val>
                                            <p:strVal val="visible"/>
                                          </p:val>
                                        </p:tav>
                                      </p:tavLst>
                                    </p:anim>
                                  </p:childTnLst>
                                </p:cTn>
                              </p:par>
                              <p:par>
                                <p:cTn id="40" presetID="35" presetClass="emph" presetSubtype="0" fill="hold" grpId="3" nodeType="withEffect">
                                  <p:stCondLst>
                                    <p:cond delay="0"/>
                                  </p:stCondLst>
                                  <p:childTnLst>
                                    <p:anim calcmode="discrete" valueType="str">
                                      <p:cBhvr>
                                        <p:cTn id="41" dur="1000" fill="hold"/>
                                        <p:tgtEl>
                                          <p:spTgt spid="53"/>
                                        </p:tgtEl>
                                        <p:attrNameLst>
                                          <p:attrName>style.visibility</p:attrName>
                                        </p:attrNameLst>
                                      </p:cBhvr>
                                      <p:tavLst>
                                        <p:tav tm="0">
                                          <p:val>
                                            <p:strVal val="hidden"/>
                                          </p:val>
                                        </p:tav>
                                        <p:tav tm="50000">
                                          <p:val>
                                            <p:strVal val="visible"/>
                                          </p:val>
                                        </p:tav>
                                      </p:tavLst>
                                    </p:anim>
                                  </p:childTnLst>
                                </p:cTn>
                              </p:par>
                              <p:par>
                                <p:cTn id="42" presetID="35" presetClass="emph" presetSubtype="0" fill="hold" nodeType="withEffect">
                                  <p:stCondLst>
                                    <p:cond delay="0"/>
                                  </p:stCondLst>
                                  <p:childTnLst>
                                    <p:anim calcmode="discrete" valueType="str">
                                      <p:cBhvr>
                                        <p:cTn id="43"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44" fill="hold">
                      <p:stCondLst>
                        <p:cond delay="indefinite"/>
                      </p:stCondLst>
                      <p:childTnLst>
                        <p:par>
                          <p:cTn id="45" fill="hold">
                            <p:stCondLst>
                              <p:cond delay="0"/>
                            </p:stCondLst>
                            <p:childTnLst>
                              <p:par>
                                <p:cTn id="46" presetID="1" presetClass="exit" presetSubtype="0" fill="hold" nodeType="clickEffect">
                                  <p:stCondLst>
                                    <p:cond delay="0"/>
                                  </p:stCondLst>
                                  <p:childTnLst>
                                    <p:set>
                                      <p:cBhvr>
                                        <p:cTn id="47" dur="1" fill="hold">
                                          <p:stCondLst>
                                            <p:cond delay="0"/>
                                          </p:stCondLst>
                                        </p:cTn>
                                        <p:tgtEl>
                                          <p:spTgt spid="42"/>
                                        </p:tgtEl>
                                        <p:attrNameLst>
                                          <p:attrName>style.visibility</p:attrName>
                                        </p:attrNameLst>
                                      </p:cBhvr>
                                      <p:to>
                                        <p:strVal val="hidden"/>
                                      </p:to>
                                    </p:set>
                                  </p:childTnLst>
                                </p:cTn>
                              </p:par>
                              <p:par>
                                <p:cTn id="48" presetID="1" presetClass="exit" presetSubtype="0" fill="hold" grpId="4" nodeType="withEffect">
                                  <p:stCondLst>
                                    <p:cond delay="0"/>
                                  </p:stCondLst>
                                  <p:childTnLst>
                                    <p:set>
                                      <p:cBhvr>
                                        <p:cTn id="49" dur="1" fill="hold">
                                          <p:stCondLst>
                                            <p:cond delay="0"/>
                                          </p:stCondLst>
                                        </p:cTn>
                                        <p:tgtEl>
                                          <p:spTgt spid="49"/>
                                        </p:tgtEl>
                                        <p:attrNameLst>
                                          <p:attrName>style.visibility</p:attrName>
                                        </p:attrNameLst>
                                      </p:cBhvr>
                                      <p:to>
                                        <p:strVal val="hidden"/>
                                      </p:to>
                                    </p:set>
                                  </p:childTnLst>
                                </p:cTn>
                              </p:par>
                              <p:par>
                                <p:cTn id="50" presetID="1" presetClass="exit" presetSubtype="0" fill="hold" nodeType="withEffect">
                                  <p:stCondLst>
                                    <p:cond delay="0"/>
                                  </p:stCondLst>
                                  <p:childTnLst>
                                    <p:set>
                                      <p:cBhvr>
                                        <p:cTn id="51" dur="1" fill="hold">
                                          <p:stCondLst>
                                            <p:cond delay="0"/>
                                          </p:stCondLst>
                                        </p:cTn>
                                        <p:tgtEl>
                                          <p:spTgt spid="41"/>
                                        </p:tgtEl>
                                        <p:attrNameLst>
                                          <p:attrName>style.visibility</p:attrName>
                                        </p:attrNameLst>
                                      </p:cBhvr>
                                      <p:to>
                                        <p:strVal val="hidden"/>
                                      </p:to>
                                    </p:set>
                                  </p:childTnLst>
                                </p:cTn>
                              </p:par>
                              <p:par>
                                <p:cTn id="52" presetID="1" presetClass="exit" presetSubtype="0" fill="hold" grpId="4" nodeType="withEffect">
                                  <p:stCondLst>
                                    <p:cond delay="0"/>
                                  </p:stCondLst>
                                  <p:childTnLst>
                                    <p:set>
                                      <p:cBhvr>
                                        <p:cTn id="53" dur="1" fill="hold">
                                          <p:stCondLst>
                                            <p:cond delay="0"/>
                                          </p:stCondLst>
                                        </p:cTn>
                                        <p:tgtEl>
                                          <p:spTgt spid="53"/>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56" presetID="2" presetClass="entr" presetSubtype="2"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 calcmode="lin" valueType="num">
                                      <p:cBhvr additive="base">
                                        <p:cTn id="58" dur="500" fill="hold"/>
                                        <p:tgtEl>
                                          <p:spTgt spid="27"/>
                                        </p:tgtEl>
                                        <p:attrNameLst>
                                          <p:attrName>ppt_x</p:attrName>
                                        </p:attrNameLst>
                                      </p:cBhvr>
                                      <p:tavLst>
                                        <p:tav tm="0">
                                          <p:val>
                                            <p:strVal val="1+#ppt_w/2"/>
                                          </p:val>
                                        </p:tav>
                                        <p:tav tm="100000">
                                          <p:val>
                                            <p:strVal val="#ppt_x"/>
                                          </p:val>
                                        </p:tav>
                                      </p:tavLst>
                                    </p:anim>
                                    <p:anim calcmode="lin" valueType="num">
                                      <p:cBhvr additive="base">
                                        <p:cTn id="59" dur="500" fill="hold"/>
                                        <p:tgtEl>
                                          <p:spTgt spid="27"/>
                                        </p:tgtEl>
                                        <p:attrNameLst>
                                          <p:attrName>ppt_y</p:attrName>
                                        </p:attrNameLst>
                                      </p:cBhvr>
                                      <p:tavLst>
                                        <p:tav tm="0">
                                          <p:val>
                                            <p:strVal val="#ppt_y"/>
                                          </p:val>
                                        </p:tav>
                                        <p:tav tm="100000">
                                          <p:val>
                                            <p:strVal val="#ppt_y"/>
                                          </p:val>
                                        </p:tav>
                                      </p:tavLst>
                                    </p:anim>
                                  </p:childTnLst>
                                </p:cTn>
                              </p:par>
                              <p:par>
                                <p:cTn id="60" presetID="2" presetClass="entr" presetSubtype="2" fill="hold" grpId="0" nodeType="withEffect">
                                  <p:stCondLst>
                                    <p:cond delay="0"/>
                                  </p:stCondLst>
                                  <p:childTnLst>
                                    <p:set>
                                      <p:cBhvr>
                                        <p:cTn id="61" dur="1" fill="hold">
                                          <p:stCondLst>
                                            <p:cond delay="0"/>
                                          </p:stCondLst>
                                        </p:cTn>
                                        <p:tgtEl>
                                          <p:spTgt spid="29"/>
                                        </p:tgtEl>
                                        <p:attrNameLst>
                                          <p:attrName>style.visibility</p:attrName>
                                        </p:attrNameLst>
                                      </p:cBhvr>
                                      <p:to>
                                        <p:strVal val="visible"/>
                                      </p:to>
                                    </p:set>
                                    <p:anim calcmode="lin" valueType="num">
                                      <p:cBhvr additive="base">
                                        <p:cTn id="62" dur="500" fill="hold"/>
                                        <p:tgtEl>
                                          <p:spTgt spid="29"/>
                                        </p:tgtEl>
                                        <p:attrNameLst>
                                          <p:attrName>ppt_x</p:attrName>
                                        </p:attrNameLst>
                                      </p:cBhvr>
                                      <p:tavLst>
                                        <p:tav tm="0">
                                          <p:val>
                                            <p:strVal val="1+#ppt_w/2"/>
                                          </p:val>
                                        </p:tav>
                                        <p:tav tm="100000">
                                          <p:val>
                                            <p:strVal val="#ppt_x"/>
                                          </p:val>
                                        </p:tav>
                                      </p:tavLst>
                                    </p:anim>
                                    <p:anim calcmode="lin" valueType="num">
                                      <p:cBhvr additive="base">
                                        <p:cTn id="63" dur="500" fill="hold"/>
                                        <p:tgtEl>
                                          <p:spTgt spid="29"/>
                                        </p:tgtEl>
                                        <p:attrNameLst>
                                          <p:attrName>ppt_y</p:attrName>
                                        </p:attrNameLst>
                                      </p:cBhvr>
                                      <p:tavLst>
                                        <p:tav tm="0">
                                          <p:val>
                                            <p:strVal val="#ppt_y"/>
                                          </p:val>
                                        </p:tav>
                                        <p:tav tm="100000">
                                          <p:val>
                                            <p:strVal val="#ppt_y"/>
                                          </p:val>
                                        </p:tav>
                                      </p:tavLst>
                                    </p:anim>
                                  </p:childTnLst>
                                </p:cTn>
                              </p:par>
                              <p:par>
                                <p:cTn id="64" presetID="2" presetClass="entr" presetSubtype="2" fill="hold" grpId="0" nodeType="withEffect">
                                  <p:stCondLst>
                                    <p:cond delay="0"/>
                                  </p:stCondLst>
                                  <p:childTnLst>
                                    <p:set>
                                      <p:cBhvr>
                                        <p:cTn id="65" dur="1" fill="hold">
                                          <p:stCondLst>
                                            <p:cond delay="0"/>
                                          </p:stCondLst>
                                        </p:cTn>
                                        <p:tgtEl>
                                          <p:spTgt spid="37"/>
                                        </p:tgtEl>
                                        <p:attrNameLst>
                                          <p:attrName>style.visibility</p:attrName>
                                        </p:attrNameLst>
                                      </p:cBhvr>
                                      <p:to>
                                        <p:strVal val="visible"/>
                                      </p:to>
                                    </p:set>
                                    <p:anim calcmode="lin" valueType="num">
                                      <p:cBhvr additive="base">
                                        <p:cTn id="66" dur="500" fill="hold"/>
                                        <p:tgtEl>
                                          <p:spTgt spid="37"/>
                                        </p:tgtEl>
                                        <p:attrNameLst>
                                          <p:attrName>ppt_x</p:attrName>
                                        </p:attrNameLst>
                                      </p:cBhvr>
                                      <p:tavLst>
                                        <p:tav tm="0">
                                          <p:val>
                                            <p:strVal val="1+#ppt_w/2"/>
                                          </p:val>
                                        </p:tav>
                                        <p:tav tm="100000">
                                          <p:val>
                                            <p:strVal val="#ppt_x"/>
                                          </p:val>
                                        </p:tav>
                                      </p:tavLst>
                                    </p:anim>
                                    <p:anim calcmode="lin" valueType="num">
                                      <p:cBhvr additive="base">
                                        <p:cTn id="67" dur="500" fill="hold"/>
                                        <p:tgtEl>
                                          <p:spTgt spid="37"/>
                                        </p:tgtEl>
                                        <p:attrNameLst>
                                          <p:attrName>ppt_y</p:attrName>
                                        </p:attrNameLst>
                                      </p:cBhvr>
                                      <p:tavLst>
                                        <p:tav tm="0">
                                          <p:val>
                                            <p:strVal val="#ppt_y"/>
                                          </p:val>
                                        </p:tav>
                                        <p:tav tm="100000">
                                          <p:val>
                                            <p:strVal val="#ppt_y"/>
                                          </p:val>
                                        </p:tav>
                                      </p:tavLst>
                                    </p:anim>
                                  </p:childTnLst>
                                </p:cTn>
                              </p:par>
                              <p:par>
                                <p:cTn id="68" presetID="2" presetClass="entr" presetSubtype="2" fill="hold" nodeType="withEffect">
                                  <p:stCondLst>
                                    <p:cond delay="0"/>
                                  </p:stCondLst>
                                  <p:childTnLst>
                                    <p:set>
                                      <p:cBhvr>
                                        <p:cTn id="69" dur="1" fill="hold">
                                          <p:stCondLst>
                                            <p:cond delay="0"/>
                                          </p:stCondLst>
                                        </p:cTn>
                                        <p:tgtEl>
                                          <p:spTgt spid="38"/>
                                        </p:tgtEl>
                                        <p:attrNameLst>
                                          <p:attrName>style.visibility</p:attrName>
                                        </p:attrNameLst>
                                      </p:cBhvr>
                                      <p:to>
                                        <p:strVal val="visible"/>
                                      </p:to>
                                    </p:set>
                                    <p:anim calcmode="lin" valueType="num">
                                      <p:cBhvr additive="base">
                                        <p:cTn id="70" dur="500" fill="hold"/>
                                        <p:tgtEl>
                                          <p:spTgt spid="38"/>
                                        </p:tgtEl>
                                        <p:attrNameLst>
                                          <p:attrName>ppt_x</p:attrName>
                                        </p:attrNameLst>
                                      </p:cBhvr>
                                      <p:tavLst>
                                        <p:tav tm="0">
                                          <p:val>
                                            <p:strVal val="1+#ppt_w/2"/>
                                          </p:val>
                                        </p:tav>
                                        <p:tav tm="100000">
                                          <p:val>
                                            <p:strVal val="#ppt_x"/>
                                          </p:val>
                                        </p:tav>
                                      </p:tavLst>
                                    </p:anim>
                                    <p:anim calcmode="lin" valueType="num">
                                      <p:cBhvr additive="base">
                                        <p:cTn id="71" dur="500" fill="hold"/>
                                        <p:tgtEl>
                                          <p:spTgt spid="38"/>
                                        </p:tgtEl>
                                        <p:attrNameLst>
                                          <p:attrName>ppt_y</p:attrName>
                                        </p:attrNameLst>
                                      </p:cBhvr>
                                      <p:tavLst>
                                        <p:tav tm="0">
                                          <p:val>
                                            <p:strVal val="#ppt_y"/>
                                          </p:val>
                                        </p:tav>
                                        <p:tav tm="100000">
                                          <p:val>
                                            <p:strVal val="#ppt_y"/>
                                          </p:val>
                                        </p:tav>
                                      </p:tavLst>
                                    </p:anim>
                                  </p:childTnLst>
                                </p:cTn>
                              </p:par>
                              <p:par>
                                <p:cTn id="72" presetID="2" presetClass="entr" presetSubtype="2" fill="hold" nodeType="withEffect">
                                  <p:stCondLst>
                                    <p:cond delay="0"/>
                                  </p:stCondLst>
                                  <p:childTnLst>
                                    <p:set>
                                      <p:cBhvr>
                                        <p:cTn id="73" dur="1" fill="hold">
                                          <p:stCondLst>
                                            <p:cond delay="0"/>
                                          </p:stCondLst>
                                        </p:cTn>
                                        <p:tgtEl>
                                          <p:spTgt spid="75"/>
                                        </p:tgtEl>
                                        <p:attrNameLst>
                                          <p:attrName>style.visibility</p:attrName>
                                        </p:attrNameLst>
                                      </p:cBhvr>
                                      <p:to>
                                        <p:strVal val="visible"/>
                                      </p:to>
                                    </p:set>
                                    <p:anim calcmode="lin" valueType="num">
                                      <p:cBhvr additive="base">
                                        <p:cTn id="74" dur="500" fill="hold"/>
                                        <p:tgtEl>
                                          <p:spTgt spid="75"/>
                                        </p:tgtEl>
                                        <p:attrNameLst>
                                          <p:attrName>ppt_x</p:attrName>
                                        </p:attrNameLst>
                                      </p:cBhvr>
                                      <p:tavLst>
                                        <p:tav tm="0">
                                          <p:val>
                                            <p:strVal val="1+#ppt_w/2"/>
                                          </p:val>
                                        </p:tav>
                                        <p:tav tm="100000">
                                          <p:val>
                                            <p:strVal val="#ppt_x"/>
                                          </p:val>
                                        </p:tav>
                                      </p:tavLst>
                                    </p:anim>
                                    <p:anim calcmode="lin" valueType="num">
                                      <p:cBhvr additive="base">
                                        <p:cTn id="75" dur="500" fill="hold"/>
                                        <p:tgtEl>
                                          <p:spTgt spid="75"/>
                                        </p:tgtEl>
                                        <p:attrNameLst>
                                          <p:attrName>ppt_y</p:attrName>
                                        </p:attrNameLst>
                                      </p:cBhvr>
                                      <p:tavLst>
                                        <p:tav tm="0">
                                          <p:val>
                                            <p:strVal val="#ppt_y"/>
                                          </p:val>
                                        </p:tav>
                                        <p:tav tm="100000">
                                          <p:val>
                                            <p:strVal val="#ppt_y"/>
                                          </p:val>
                                        </p:tav>
                                      </p:tavLst>
                                    </p:anim>
                                  </p:childTnLst>
                                </p:cTn>
                              </p:par>
                            </p:childTnLst>
                          </p:cTn>
                        </p:par>
                      </p:childTnLst>
                    </p:cTn>
                  </p:par>
                  <p:par>
                    <p:cTn id="76" fill="hold">
                      <p:stCondLst>
                        <p:cond delay="indefinite"/>
                      </p:stCondLst>
                      <p:childTnLst>
                        <p:par>
                          <p:cTn id="77" fill="hold">
                            <p:stCondLst>
                              <p:cond delay="0"/>
                            </p:stCondLst>
                            <p:childTnLst>
                              <p:par>
                                <p:cTn id="78" presetID="0" presetClass="path" presetSubtype="0" accel="50000" decel="50000" fill="hold" grpId="0" nodeType="clickEffect">
                                  <p:stCondLst>
                                    <p:cond delay="0"/>
                                  </p:stCondLst>
                                  <p:childTnLst>
                                    <p:animMotion origin="layout" path="M 0 0 L 0.0551389 0 " pathEditMode="relative" ptsTypes="">
                                      <p:cBhvr>
                                        <p:cTn id="79" dur="2000" fill="hold"/>
                                        <p:tgtEl>
                                          <p:spTgt spid="43"/>
                                        </p:tgtEl>
                                        <p:attrNameLst>
                                          <p:attrName>ppt_x</p:attrName>
                                          <p:attrName>ppt_y</p:attrName>
                                        </p:attrNameLst>
                                      </p:cBhvr>
                                    </p:animMotion>
                                  </p:childTnLst>
                                </p:cTn>
                              </p:par>
                            </p:childTnLst>
                          </p:cTn>
                        </p:par>
                      </p:childTnLst>
                    </p:cTn>
                  </p:par>
                  <p:par>
                    <p:cTn id="80" fill="hold">
                      <p:stCondLst>
                        <p:cond delay="indefinite"/>
                      </p:stCondLst>
                      <p:childTnLst>
                        <p:par>
                          <p:cTn id="81" fill="hold">
                            <p:stCondLst>
                              <p:cond delay="0"/>
                            </p:stCondLst>
                            <p:childTnLst>
                              <p:par>
                                <p:cTn id="82" presetID="2" presetClass="entr" presetSubtype="2" fill="hold" nodeType="clickEffect">
                                  <p:stCondLst>
                                    <p:cond delay="0"/>
                                  </p:stCondLst>
                                  <p:childTnLst>
                                    <p:set>
                                      <p:cBhvr>
                                        <p:cTn id="83" dur="1" fill="hold">
                                          <p:stCondLst>
                                            <p:cond delay="0"/>
                                          </p:stCondLst>
                                        </p:cTn>
                                        <p:tgtEl>
                                          <p:spTgt spid="69"/>
                                        </p:tgtEl>
                                        <p:attrNameLst>
                                          <p:attrName>style.visibility</p:attrName>
                                        </p:attrNameLst>
                                      </p:cBhvr>
                                      <p:to>
                                        <p:strVal val="visible"/>
                                      </p:to>
                                    </p:set>
                                    <p:anim calcmode="lin" valueType="num">
                                      <p:cBhvr additive="base">
                                        <p:cTn id="84" dur="500" fill="hold"/>
                                        <p:tgtEl>
                                          <p:spTgt spid="69"/>
                                        </p:tgtEl>
                                        <p:attrNameLst>
                                          <p:attrName>ppt_x</p:attrName>
                                        </p:attrNameLst>
                                      </p:cBhvr>
                                      <p:tavLst>
                                        <p:tav tm="0">
                                          <p:val>
                                            <p:strVal val="1+#ppt_w/2"/>
                                          </p:val>
                                        </p:tav>
                                        <p:tav tm="100000">
                                          <p:val>
                                            <p:strVal val="#ppt_x"/>
                                          </p:val>
                                        </p:tav>
                                      </p:tavLst>
                                    </p:anim>
                                    <p:anim calcmode="lin" valueType="num">
                                      <p:cBhvr additive="base">
                                        <p:cTn id="85" dur="500" fill="hold"/>
                                        <p:tgtEl>
                                          <p:spTgt spid="69"/>
                                        </p:tgtEl>
                                        <p:attrNameLst>
                                          <p:attrName>ppt_y</p:attrName>
                                        </p:attrNameLst>
                                      </p:cBhvr>
                                      <p:tavLst>
                                        <p:tav tm="0">
                                          <p:val>
                                            <p:strVal val="#ppt_y"/>
                                          </p:val>
                                        </p:tav>
                                        <p:tav tm="100000">
                                          <p:val>
                                            <p:strVal val="#ppt_y"/>
                                          </p:val>
                                        </p:tav>
                                      </p:tavLst>
                                    </p:anim>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nodeType="clickEffect">
                                  <p:stCondLst>
                                    <p:cond delay="0"/>
                                  </p:stCondLst>
                                  <p:childTnLst>
                                    <p:set>
                                      <p:cBhvr>
                                        <p:cTn id="89" dur="1" fill="hold">
                                          <p:stCondLst>
                                            <p:cond delay="0"/>
                                          </p:stCondLst>
                                        </p:cTn>
                                        <p:tgtEl>
                                          <p:spTgt spid="72"/>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7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27" grpId="1"/>
      <p:bldP spid="29" grpId="0" animBg="1"/>
      <p:bldP spid="29" grpId="1" animBg="1"/>
      <p:bldP spid="37" grpId="0" animBg="1"/>
      <p:bldP spid="37" grpId="1" animBg="1"/>
      <p:bldP spid="43" grpId="0" animBg="1"/>
      <p:bldP spid="51" grpId="1" animBg="1"/>
      <p:bldP spid="55" grpId="1"/>
      <p:bldP spid="102" grpId="1"/>
      <p:bldP spid="34" grpId="0" animBg="1"/>
      <p:bldP spid="34" grpId="1" animBg="1"/>
      <p:bldP spid="54" grpId="1"/>
      <p:bldP spid="57" grpId="0" animBg="1"/>
      <p:bldP spid="57" grpId="1" animBg="1"/>
      <p:bldP spid="35" grpId="1"/>
      <p:bldP spid="61" grpId="1"/>
      <p:bldP spid="49" grpId="0"/>
      <p:bldP spid="49" grpId="1"/>
      <p:bldP spid="49" grpId="2"/>
      <p:bldP spid="49" grpId="3"/>
      <p:bldP spid="49" grpId="4"/>
      <p:bldP spid="53" grpId="0"/>
      <p:bldP spid="53" grpId="1"/>
      <p:bldP spid="53" grpId="2"/>
      <p:bldP spid="53" grpId="3"/>
      <p:bldP spid="53" grpId="4"/>
      <p:bldP spid="73" grpId="0"/>
      <p:bldP spid="73" grpId="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188085" y="3074035"/>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1685290" y="4189095"/>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611505" y="4173220"/>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2844165" y="5730875"/>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2195830" y="4794885"/>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2772410" y="4218940"/>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2556510" y="335470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849755" y="2806700"/>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3489960" y="590486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7" name="文本框 26"/>
          <p:cNvSpPr txBox="1"/>
          <p:nvPr/>
        </p:nvSpPr>
        <p:spPr>
          <a:xfrm>
            <a:off x="5303520" y="4178935"/>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7242175" y="407543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左大括号 36"/>
          <p:cNvSpPr/>
          <p:nvPr/>
        </p:nvSpPr>
        <p:spPr>
          <a:xfrm>
            <a:off x="6152515" y="407733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6421755" y="416179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7657465" y="233743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726940" y="2433320"/>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500245" y="233934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944495" y="2455545"/>
            <a:ext cx="1647190" cy="299720"/>
          </a:xfrm>
          <a:prstGeom prst="rect">
            <a:avLst/>
          </a:prstGeom>
          <a:noFill/>
        </p:spPr>
        <p:txBody>
          <a:bodyPr wrap="square" rtlCol="0" anchor="t">
            <a:noAutofit/>
          </a:bodyPr>
          <a:lstStyle/>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5207000" y="2430145"/>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6904990" y="4161790"/>
            <a:ext cx="408938" cy="382270"/>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26</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941705" y="3613785"/>
            <a:ext cx="516255" cy="5753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143000" y="379984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4" name="椭圆 33"/>
          <p:cNvSpPr/>
          <p:nvPr/>
        </p:nvSpPr>
        <p:spPr>
          <a:xfrm>
            <a:off x="440055" y="2592070"/>
            <a:ext cx="3348990" cy="2833370"/>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4" name="文本框 53"/>
          <p:cNvSpPr txBox="1"/>
          <p:nvPr/>
        </p:nvSpPr>
        <p:spPr>
          <a:xfrm>
            <a:off x="1327150" y="442976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9</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56" name="直接连接符 55"/>
          <p:cNvCxnSpPr/>
          <p:nvPr/>
        </p:nvCxnSpPr>
        <p:spPr>
          <a:xfrm flipH="1">
            <a:off x="1115695" y="4437380"/>
            <a:ext cx="575945" cy="7175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7" name="椭圆 56"/>
          <p:cNvSpPr/>
          <p:nvPr/>
        </p:nvSpPr>
        <p:spPr>
          <a:xfrm>
            <a:off x="2577465" y="5527040"/>
            <a:ext cx="1427480" cy="899795"/>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8" name="组合 57"/>
          <p:cNvGrpSpPr/>
          <p:nvPr/>
        </p:nvGrpSpPr>
        <p:grpSpPr>
          <a:xfrm>
            <a:off x="5724525" y="2430145"/>
            <a:ext cx="408938" cy="382270"/>
            <a:chOff x="1006488" y="2036167"/>
            <a:chExt cx="531192" cy="504056"/>
          </a:xfrm>
        </p:grpSpPr>
        <p:sp>
          <p:nvSpPr>
            <p:cNvPr id="5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0" name="文本框 5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1" name="组合 30"/>
          <p:cNvGrpSpPr/>
          <p:nvPr/>
        </p:nvGrpSpPr>
        <p:grpSpPr>
          <a:xfrm>
            <a:off x="6240145" y="2433320"/>
            <a:ext cx="408938" cy="382270"/>
            <a:chOff x="1006488" y="2036167"/>
            <a:chExt cx="531192" cy="504056"/>
          </a:xfrm>
        </p:grpSpPr>
        <p:sp>
          <p:nvSpPr>
            <p:cNvPr id="3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3" name="文本框 3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5" name="文本框 34"/>
          <p:cNvSpPr txBox="1"/>
          <p:nvPr/>
        </p:nvSpPr>
        <p:spPr>
          <a:xfrm>
            <a:off x="1979930" y="313182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20</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36" name="直接连接符 35"/>
          <p:cNvCxnSpPr>
            <a:stCxn id="21" idx="2"/>
            <a:endCxn id="3" idx="3"/>
          </p:cNvCxnSpPr>
          <p:nvPr/>
        </p:nvCxnSpPr>
        <p:spPr>
          <a:xfrm flipH="1" flipV="1">
            <a:off x="1723390" y="3343910"/>
            <a:ext cx="833120" cy="28067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61" name="文本框 60"/>
          <p:cNvSpPr txBox="1"/>
          <p:nvPr/>
        </p:nvSpPr>
        <p:spPr>
          <a:xfrm>
            <a:off x="3060065" y="3829685"/>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13</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65" name="直接连接符 64"/>
          <p:cNvCxnSpPr>
            <a:stCxn id="18" idx="0"/>
          </p:cNvCxnSpPr>
          <p:nvPr/>
        </p:nvCxnSpPr>
        <p:spPr>
          <a:xfrm flipH="1" flipV="1">
            <a:off x="2907665" y="3894455"/>
            <a:ext cx="134620" cy="324485"/>
          </a:xfrm>
          <a:prstGeom prst="line">
            <a:avLst/>
          </a:prstGeom>
          <a:solidFill>
            <a:schemeClr val="accent1"/>
          </a:solidFill>
          <a:ln w="28575" cap="flat" cmpd="sng" algn="ctr">
            <a:solidFill>
              <a:srgbClr val="FF0000"/>
            </a:solidFill>
            <a:prstDash val="solid"/>
            <a:round/>
            <a:headEnd type="none" w="med" len="med"/>
            <a:tailEnd type="none" w="med" len="med"/>
          </a:ln>
        </p:spPr>
      </p:cxnSp>
      <p:grpSp>
        <p:nvGrpSpPr>
          <p:cNvPr id="66" name="组合 65"/>
          <p:cNvGrpSpPr/>
          <p:nvPr/>
        </p:nvGrpSpPr>
        <p:grpSpPr>
          <a:xfrm>
            <a:off x="6802755" y="2433955"/>
            <a:ext cx="408938" cy="382270"/>
            <a:chOff x="1006488" y="2036167"/>
            <a:chExt cx="531192" cy="504056"/>
          </a:xfrm>
        </p:grpSpPr>
        <p:sp>
          <p:nvSpPr>
            <p:cNvPr id="6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8" name="文本框 6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69" name="组合 68"/>
          <p:cNvGrpSpPr/>
          <p:nvPr/>
        </p:nvGrpSpPr>
        <p:grpSpPr>
          <a:xfrm>
            <a:off x="7293610" y="2424430"/>
            <a:ext cx="408938" cy="382270"/>
            <a:chOff x="1006488" y="2036167"/>
            <a:chExt cx="531192" cy="504056"/>
          </a:xfrm>
        </p:grpSpPr>
        <p:sp>
          <p:nvSpPr>
            <p:cNvPr id="7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1" name="文本框 7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72" name="直接连接符 71"/>
          <p:cNvCxnSpPr>
            <a:stCxn id="16" idx="3"/>
            <a:endCxn id="18" idx="4"/>
          </p:cNvCxnSpPr>
          <p:nvPr/>
        </p:nvCxnSpPr>
        <p:spPr>
          <a:xfrm flipV="1">
            <a:off x="2731135" y="4758690"/>
            <a:ext cx="311150" cy="30607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73" name="文本框 72"/>
          <p:cNvSpPr txBox="1"/>
          <p:nvPr/>
        </p:nvSpPr>
        <p:spPr>
          <a:xfrm>
            <a:off x="2843530" y="4869180"/>
            <a:ext cx="534035" cy="341630"/>
          </a:xfrm>
          <a:prstGeom prst="rect">
            <a:avLst/>
          </a:prstGeom>
          <a:noFill/>
        </p:spPr>
        <p:txBody>
          <a:bodyPr wrap="square" rtlCol="0">
            <a:noAutofit/>
          </a:bodyPr>
          <a:lstStyle/>
          <a:p>
            <a:r>
              <a:rPr lang="en-US" altLang="zh-CN" sz="1800">
                <a:solidFill>
                  <a:srgbClr val="FF0000"/>
                </a:solidFill>
                <a:uFillTx/>
                <a:latin typeface="Times New Roman" panose="02020603050405020304" pitchFamily="18" charset="0"/>
                <a:cs typeface="Times New Roman" panose="02020603050405020304" pitchFamily="18" charset="0"/>
              </a:rPr>
              <a:t>18</a:t>
            </a:r>
            <a:endParaRPr lang="en-US" altLang="zh-CN" sz="1800">
              <a:solidFill>
                <a:srgbClr val="FF0000"/>
              </a:solidFill>
              <a:uFillTx/>
              <a:latin typeface="Times New Roman" panose="02020603050405020304" pitchFamily="18" charset="0"/>
              <a:cs typeface="Times New Roman" panose="02020603050405020304" pitchFamily="18" charset="0"/>
            </a:endParaRPr>
          </a:p>
        </p:txBody>
      </p:sp>
      <p:cxnSp>
        <p:nvCxnSpPr>
          <p:cNvPr id="28" name="直接连接符 27"/>
          <p:cNvCxnSpPr>
            <a:endCxn id="12" idx="2"/>
          </p:cNvCxnSpPr>
          <p:nvPr/>
        </p:nvCxnSpPr>
        <p:spPr>
          <a:xfrm>
            <a:off x="971550" y="4684395"/>
            <a:ext cx="1872615" cy="1316355"/>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sp>
        <p:nvSpPr>
          <p:cNvPr id="30" name="文本框 29"/>
          <p:cNvSpPr txBox="1"/>
          <p:nvPr/>
        </p:nvSpPr>
        <p:spPr>
          <a:xfrm>
            <a:off x="1849755" y="556323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26</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cxnSp>
        <p:nvCxnSpPr>
          <p:cNvPr id="45" name="直接连接符 44"/>
          <p:cNvCxnSpPr/>
          <p:nvPr/>
        </p:nvCxnSpPr>
        <p:spPr>
          <a:xfrm>
            <a:off x="2411730" y="5210810"/>
            <a:ext cx="504190" cy="594360"/>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sp>
        <p:nvSpPr>
          <p:cNvPr id="46" name="文本框 45"/>
          <p:cNvSpPr txBox="1"/>
          <p:nvPr/>
        </p:nvSpPr>
        <p:spPr>
          <a:xfrm>
            <a:off x="2731135" y="5260340"/>
            <a:ext cx="364490" cy="33147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7</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grpSp>
        <p:nvGrpSpPr>
          <p:cNvPr id="47" name="组合 46"/>
          <p:cNvGrpSpPr/>
          <p:nvPr/>
        </p:nvGrpSpPr>
        <p:grpSpPr>
          <a:xfrm>
            <a:off x="7801610" y="2433320"/>
            <a:ext cx="408938" cy="382270"/>
            <a:chOff x="1006488" y="2036167"/>
            <a:chExt cx="531192" cy="504056"/>
          </a:xfrm>
        </p:grpSpPr>
        <p:sp>
          <p:nvSpPr>
            <p:cNvPr id="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4" name="文本框 7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76" name="文本框 75"/>
          <p:cNvSpPr txBox="1"/>
          <p:nvPr/>
        </p:nvSpPr>
        <p:spPr>
          <a:xfrm>
            <a:off x="2726055" y="526034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7</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77" name="直接连接符 76"/>
          <p:cNvCxnSpPr/>
          <p:nvPr/>
        </p:nvCxnSpPr>
        <p:spPr>
          <a:xfrm flipH="1" flipV="1">
            <a:off x="2520950" y="5329555"/>
            <a:ext cx="394970" cy="47561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78" name="文本框 77"/>
          <p:cNvSpPr txBox="1"/>
          <p:nvPr/>
        </p:nvSpPr>
        <p:spPr>
          <a:xfrm>
            <a:off x="5004435" y="5527040"/>
            <a:ext cx="3813810" cy="297180"/>
          </a:xfrm>
          <a:prstGeom prst="rect">
            <a:avLst/>
          </a:prstGeom>
          <a:noFill/>
        </p:spPr>
        <p:txBody>
          <a:bodyPr wrap="square" rtlCol="0" anchor="t">
            <a:noAutofit/>
          </a:bodyPr>
          <a:lstStyle/>
          <a:p>
            <a:r>
              <a:rPr lang="zh-CN" altLang="en-US" sz="1400">
                <a:solidFill>
                  <a:srgbClr val="FF0000"/>
                </a:solidFill>
                <a:uFillTx/>
                <a:sym typeface="+mn-ea"/>
              </a:rPr>
              <a:t>当最小生成树集合包含所有节点则停止算法！</a:t>
            </a:r>
            <a:endParaRPr lang="zh-CN" altLang="en-US" sz="1400">
              <a:solidFill>
                <a:srgbClr val="FF0000"/>
              </a:solidFill>
              <a:uFillTx/>
              <a:sym typeface="+mn-ea"/>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anim calcmode="lin" valueType="num">
                                      <p:cBhvr additive="base">
                                        <p:cTn id="11" dur="500" fill="hold"/>
                                        <p:tgtEl>
                                          <p:spTgt spid="57"/>
                                        </p:tgtEl>
                                        <p:attrNameLst>
                                          <p:attrName>ppt_x</p:attrName>
                                        </p:attrNameLst>
                                      </p:cBhvr>
                                      <p:tavLst>
                                        <p:tav tm="0">
                                          <p:val>
                                            <p:strVal val="#ppt_x"/>
                                          </p:val>
                                        </p:tav>
                                        <p:tav tm="100000">
                                          <p:val>
                                            <p:strVal val="#ppt_x"/>
                                          </p:val>
                                        </p:tav>
                                      </p:tavLst>
                                    </p:anim>
                                    <p:anim calcmode="lin" valueType="num">
                                      <p:cBhvr additive="base">
                                        <p:cTn id="12"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childTnLst>
                          </p:cTn>
                        </p:par>
                        <p:par>
                          <p:cTn id="23" fill="hold">
                            <p:stCondLst>
                              <p:cond delay="0"/>
                            </p:stCondLst>
                            <p:childTnLst>
                              <p:par>
                                <p:cTn id="24" presetID="35" presetClass="emph" presetSubtype="0" fill="hold" nodeType="afterEffect">
                                  <p:stCondLst>
                                    <p:cond delay="0"/>
                                  </p:stCondLst>
                                  <p:childTnLst>
                                    <p:anim calcmode="discrete" valueType="str">
                                      <p:cBhvr>
                                        <p:cTn id="25" dur="1000" fill="hold"/>
                                        <p:tgtEl>
                                          <p:spTgt spid="45"/>
                                        </p:tgtEl>
                                        <p:attrNameLst>
                                          <p:attrName>style.visibility</p:attrName>
                                        </p:attrNameLst>
                                      </p:cBhvr>
                                      <p:tavLst>
                                        <p:tav tm="0">
                                          <p:val>
                                            <p:strVal val="hidden"/>
                                          </p:val>
                                        </p:tav>
                                        <p:tav tm="50000">
                                          <p:val>
                                            <p:strVal val="visible"/>
                                          </p:val>
                                        </p:tav>
                                      </p:tavLst>
                                    </p:anim>
                                  </p:childTnLst>
                                </p:cTn>
                              </p:par>
                              <p:par>
                                <p:cTn id="26" presetID="35" presetClass="emph" presetSubtype="0" fill="hold" grpId="2" nodeType="withEffect">
                                  <p:stCondLst>
                                    <p:cond delay="0"/>
                                  </p:stCondLst>
                                  <p:childTnLst>
                                    <p:anim calcmode="discrete" valueType="str">
                                      <p:cBhvr>
                                        <p:cTn id="27" dur="1000" fill="hold"/>
                                        <p:tgtEl>
                                          <p:spTgt spid="46"/>
                                        </p:tgtEl>
                                        <p:attrNameLst>
                                          <p:attrName>style.visibility</p:attrName>
                                        </p:attrNameLst>
                                      </p:cBhvr>
                                      <p:tavLst>
                                        <p:tav tm="0">
                                          <p:val>
                                            <p:strVal val="hidden"/>
                                          </p:val>
                                        </p:tav>
                                        <p:tav tm="50000">
                                          <p:val>
                                            <p:strVal val="visible"/>
                                          </p:val>
                                        </p:tav>
                                      </p:tavLst>
                                    </p:anim>
                                  </p:childTnLst>
                                </p:cTn>
                              </p:par>
                              <p:par>
                                <p:cTn id="28" presetID="35" presetClass="emph" presetSubtype="0" fill="hold" nodeType="withEffect">
                                  <p:stCondLst>
                                    <p:cond delay="0"/>
                                  </p:stCondLst>
                                  <p:childTnLst>
                                    <p:anim calcmode="discrete" valueType="str">
                                      <p:cBhvr>
                                        <p:cTn id="29" dur="1000" fill="hold"/>
                                        <p:tgtEl>
                                          <p:spTgt spid="28"/>
                                        </p:tgtEl>
                                        <p:attrNameLst>
                                          <p:attrName>style.visibility</p:attrName>
                                        </p:attrNameLst>
                                      </p:cBhvr>
                                      <p:tavLst>
                                        <p:tav tm="0">
                                          <p:val>
                                            <p:strVal val="hidden"/>
                                          </p:val>
                                        </p:tav>
                                        <p:tav tm="50000">
                                          <p:val>
                                            <p:strVal val="visible"/>
                                          </p:val>
                                        </p:tav>
                                      </p:tavLst>
                                    </p:anim>
                                  </p:childTnLst>
                                </p:cTn>
                              </p:par>
                              <p:par>
                                <p:cTn id="30" presetID="35" presetClass="emph" presetSubtype="0" fill="hold" grpId="2" nodeType="withEffect">
                                  <p:stCondLst>
                                    <p:cond delay="0"/>
                                  </p:stCondLst>
                                  <p:childTnLst>
                                    <p:anim calcmode="discrete" valueType="str">
                                      <p:cBhvr>
                                        <p:cTn id="31" dur="1000" fill="hold"/>
                                        <p:tgtEl>
                                          <p:spTgt spid="30"/>
                                        </p:tgtEl>
                                        <p:attrNameLst>
                                          <p:attrName>style.visibility</p:attrName>
                                        </p:attrNameLst>
                                      </p:cBhvr>
                                      <p:tavLst>
                                        <p:tav tm="0">
                                          <p:val>
                                            <p:strVal val="hidden"/>
                                          </p:val>
                                        </p:tav>
                                        <p:tav tm="50000">
                                          <p:val>
                                            <p:strVal val="visible"/>
                                          </p:val>
                                        </p:tav>
                                      </p:tavLst>
                                    </p:anim>
                                  </p:childTnLst>
                                </p:cTn>
                              </p:par>
                            </p:childTnLst>
                          </p:cTn>
                        </p:par>
                        <p:par>
                          <p:cTn id="32" fill="hold">
                            <p:stCondLst>
                              <p:cond delay="1000"/>
                            </p:stCondLst>
                            <p:childTnLst>
                              <p:par>
                                <p:cTn id="33" presetID="35" presetClass="emph" presetSubtype="0" fill="hold" grpId="3" nodeType="afterEffect">
                                  <p:stCondLst>
                                    <p:cond delay="0"/>
                                  </p:stCondLst>
                                  <p:childTnLst>
                                    <p:anim calcmode="discrete" valueType="str">
                                      <p:cBhvr>
                                        <p:cTn id="34" dur="1000" fill="hold"/>
                                        <p:tgtEl>
                                          <p:spTgt spid="46"/>
                                        </p:tgtEl>
                                        <p:attrNameLst>
                                          <p:attrName>style.visibility</p:attrName>
                                        </p:attrNameLst>
                                      </p:cBhvr>
                                      <p:tavLst>
                                        <p:tav tm="0">
                                          <p:val>
                                            <p:strVal val="hidden"/>
                                          </p:val>
                                        </p:tav>
                                        <p:tav tm="50000">
                                          <p:val>
                                            <p:strVal val="visible"/>
                                          </p:val>
                                        </p:tav>
                                      </p:tavLst>
                                    </p:anim>
                                  </p:childTnLst>
                                </p:cTn>
                              </p:par>
                              <p:par>
                                <p:cTn id="35" presetID="35" presetClass="emph" presetSubtype="0" fill="hold" nodeType="withEffect">
                                  <p:stCondLst>
                                    <p:cond delay="0"/>
                                  </p:stCondLst>
                                  <p:childTnLst>
                                    <p:anim calcmode="discrete" valueType="str">
                                      <p:cBhvr>
                                        <p:cTn id="36" dur="1000" fill="hold"/>
                                        <p:tgtEl>
                                          <p:spTgt spid="45"/>
                                        </p:tgtEl>
                                        <p:attrNameLst>
                                          <p:attrName>style.visibility</p:attrName>
                                        </p:attrNameLst>
                                      </p:cBhvr>
                                      <p:tavLst>
                                        <p:tav tm="0">
                                          <p:val>
                                            <p:strVal val="hidden"/>
                                          </p:val>
                                        </p:tav>
                                        <p:tav tm="50000">
                                          <p:val>
                                            <p:strVal val="visible"/>
                                          </p:val>
                                        </p:tav>
                                      </p:tavLst>
                                    </p:anim>
                                  </p:childTnLst>
                                </p:cTn>
                              </p:par>
                              <p:par>
                                <p:cTn id="37" presetID="35" presetClass="emph" presetSubtype="0" fill="hold" nodeType="withEffect">
                                  <p:stCondLst>
                                    <p:cond delay="0"/>
                                  </p:stCondLst>
                                  <p:childTnLst>
                                    <p:anim calcmode="discrete" valueType="str">
                                      <p:cBhvr>
                                        <p:cTn id="38" dur="1000" fill="hold"/>
                                        <p:tgtEl>
                                          <p:spTgt spid="28"/>
                                        </p:tgtEl>
                                        <p:attrNameLst>
                                          <p:attrName>style.visibility</p:attrName>
                                        </p:attrNameLst>
                                      </p:cBhvr>
                                      <p:tavLst>
                                        <p:tav tm="0">
                                          <p:val>
                                            <p:strVal val="hidden"/>
                                          </p:val>
                                        </p:tav>
                                        <p:tav tm="50000">
                                          <p:val>
                                            <p:strVal val="visible"/>
                                          </p:val>
                                        </p:tav>
                                      </p:tavLst>
                                    </p:anim>
                                  </p:childTnLst>
                                </p:cTn>
                              </p:par>
                              <p:par>
                                <p:cTn id="39" presetID="35" presetClass="emph" presetSubtype="0" fill="hold" grpId="3" nodeType="withEffect">
                                  <p:stCondLst>
                                    <p:cond delay="0"/>
                                  </p:stCondLst>
                                  <p:childTnLst>
                                    <p:anim calcmode="discrete" valueType="str">
                                      <p:cBhvr>
                                        <p:cTn id="40" dur="1000" fill="hold"/>
                                        <p:tgtEl>
                                          <p:spTgt spid="30"/>
                                        </p:tgtEl>
                                        <p:attrNameLst>
                                          <p:attrName>style.visibility</p:attrName>
                                        </p:attrNameLst>
                                      </p:cBhvr>
                                      <p:tavLst>
                                        <p:tav tm="0">
                                          <p:val>
                                            <p:strVal val="hidden"/>
                                          </p:val>
                                        </p:tav>
                                        <p:tav tm="50000">
                                          <p:val>
                                            <p:strVal val="visible"/>
                                          </p:val>
                                        </p:tav>
                                      </p:tavLst>
                                    </p:anim>
                                  </p:childTnLst>
                                </p:cTn>
                              </p:par>
                            </p:childTnLst>
                          </p:cTn>
                        </p:par>
                      </p:childTnLst>
                    </p:cTn>
                  </p:par>
                  <p:par>
                    <p:cTn id="41" fill="hold">
                      <p:stCondLst>
                        <p:cond delay="indefinite"/>
                      </p:stCondLst>
                      <p:childTnLst>
                        <p:par>
                          <p:cTn id="42" fill="hold">
                            <p:stCondLst>
                              <p:cond delay="0"/>
                            </p:stCondLst>
                            <p:childTnLst>
                              <p:par>
                                <p:cTn id="43" presetID="1" presetClass="exit" presetSubtype="0" fill="hold" grpId="4" nodeType="clickEffect">
                                  <p:stCondLst>
                                    <p:cond delay="0"/>
                                  </p:stCondLst>
                                  <p:childTnLst>
                                    <p:set>
                                      <p:cBhvr>
                                        <p:cTn id="44" dur="1" fill="hold">
                                          <p:stCondLst>
                                            <p:cond delay="0"/>
                                          </p:stCondLst>
                                        </p:cTn>
                                        <p:tgtEl>
                                          <p:spTgt spid="46"/>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45"/>
                                        </p:tgtEl>
                                        <p:attrNameLst>
                                          <p:attrName>style.visibility</p:attrName>
                                        </p:attrNameLst>
                                      </p:cBhvr>
                                      <p:to>
                                        <p:strVal val="hidden"/>
                                      </p:to>
                                    </p:set>
                                  </p:childTnLst>
                                </p:cTn>
                              </p:par>
                              <p:par>
                                <p:cTn id="47" presetID="1" presetClass="exit" presetSubtype="0" fill="hold" nodeType="withEffect">
                                  <p:stCondLst>
                                    <p:cond delay="0"/>
                                  </p:stCondLst>
                                  <p:childTnLst>
                                    <p:set>
                                      <p:cBhvr>
                                        <p:cTn id="48" dur="1" fill="hold">
                                          <p:stCondLst>
                                            <p:cond delay="0"/>
                                          </p:stCondLst>
                                        </p:cTn>
                                        <p:tgtEl>
                                          <p:spTgt spid="28"/>
                                        </p:tgtEl>
                                        <p:attrNameLst>
                                          <p:attrName>style.visibility</p:attrName>
                                        </p:attrNameLst>
                                      </p:cBhvr>
                                      <p:to>
                                        <p:strVal val="hidden"/>
                                      </p:to>
                                    </p:set>
                                  </p:childTnLst>
                                </p:cTn>
                              </p:par>
                              <p:par>
                                <p:cTn id="49" presetID="1" presetClass="exit" presetSubtype="0" fill="hold" grpId="4" nodeType="withEffect">
                                  <p:stCondLst>
                                    <p:cond delay="0"/>
                                  </p:stCondLst>
                                  <p:childTnLst>
                                    <p:set>
                                      <p:cBhvr>
                                        <p:cTn id="50" dur="1" fill="hold">
                                          <p:stCondLst>
                                            <p:cond delay="0"/>
                                          </p:stCondLst>
                                        </p:cTn>
                                        <p:tgtEl>
                                          <p:spTgt spid="30"/>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2" presetClass="entr" presetSubtype="2" fill="hold" grpId="0" nodeType="clickEffect">
                                  <p:stCondLst>
                                    <p:cond delay="0"/>
                                  </p:stCondLst>
                                  <p:childTnLst>
                                    <p:set>
                                      <p:cBhvr>
                                        <p:cTn id="54" dur="1" fill="hold">
                                          <p:stCondLst>
                                            <p:cond delay="0"/>
                                          </p:stCondLst>
                                        </p:cTn>
                                        <p:tgtEl>
                                          <p:spTgt spid="27"/>
                                        </p:tgtEl>
                                        <p:attrNameLst>
                                          <p:attrName>style.visibility</p:attrName>
                                        </p:attrNameLst>
                                      </p:cBhvr>
                                      <p:to>
                                        <p:strVal val="visible"/>
                                      </p:to>
                                    </p:set>
                                    <p:anim calcmode="lin" valueType="num">
                                      <p:cBhvr additive="base">
                                        <p:cTn id="55" dur="500" fill="hold"/>
                                        <p:tgtEl>
                                          <p:spTgt spid="27"/>
                                        </p:tgtEl>
                                        <p:attrNameLst>
                                          <p:attrName>ppt_x</p:attrName>
                                        </p:attrNameLst>
                                      </p:cBhvr>
                                      <p:tavLst>
                                        <p:tav tm="0">
                                          <p:val>
                                            <p:strVal val="1+#ppt_w/2"/>
                                          </p:val>
                                        </p:tav>
                                        <p:tav tm="100000">
                                          <p:val>
                                            <p:strVal val="#ppt_x"/>
                                          </p:val>
                                        </p:tav>
                                      </p:tavLst>
                                    </p:anim>
                                    <p:anim calcmode="lin" valueType="num">
                                      <p:cBhvr additive="base">
                                        <p:cTn id="56" dur="500" fill="hold"/>
                                        <p:tgtEl>
                                          <p:spTgt spid="27"/>
                                        </p:tgtEl>
                                        <p:attrNameLst>
                                          <p:attrName>ppt_y</p:attrName>
                                        </p:attrNameLst>
                                      </p:cBhvr>
                                      <p:tavLst>
                                        <p:tav tm="0">
                                          <p:val>
                                            <p:strVal val="#ppt_y"/>
                                          </p:val>
                                        </p:tav>
                                        <p:tav tm="100000">
                                          <p:val>
                                            <p:strVal val="#ppt_y"/>
                                          </p:val>
                                        </p:tav>
                                      </p:tavLst>
                                    </p:anim>
                                  </p:childTnLst>
                                </p:cTn>
                              </p:par>
                              <p:par>
                                <p:cTn id="57" presetID="2" presetClass="entr" presetSubtype="2" fill="hold" grpId="0" nodeType="withEffect">
                                  <p:stCondLst>
                                    <p:cond delay="0"/>
                                  </p:stCondLst>
                                  <p:childTnLst>
                                    <p:set>
                                      <p:cBhvr>
                                        <p:cTn id="58" dur="1" fill="hold">
                                          <p:stCondLst>
                                            <p:cond delay="0"/>
                                          </p:stCondLst>
                                        </p:cTn>
                                        <p:tgtEl>
                                          <p:spTgt spid="29"/>
                                        </p:tgtEl>
                                        <p:attrNameLst>
                                          <p:attrName>style.visibility</p:attrName>
                                        </p:attrNameLst>
                                      </p:cBhvr>
                                      <p:to>
                                        <p:strVal val="visible"/>
                                      </p:to>
                                    </p:set>
                                    <p:anim calcmode="lin" valueType="num">
                                      <p:cBhvr additive="base">
                                        <p:cTn id="59" dur="500" fill="hold"/>
                                        <p:tgtEl>
                                          <p:spTgt spid="29"/>
                                        </p:tgtEl>
                                        <p:attrNameLst>
                                          <p:attrName>ppt_x</p:attrName>
                                        </p:attrNameLst>
                                      </p:cBhvr>
                                      <p:tavLst>
                                        <p:tav tm="0">
                                          <p:val>
                                            <p:strVal val="1+#ppt_w/2"/>
                                          </p:val>
                                        </p:tav>
                                        <p:tav tm="100000">
                                          <p:val>
                                            <p:strVal val="#ppt_x"/>
                                          </p:val>
                                        </p:tav>
                                      </p:tavLst>
                                    </p:anim>
                                    <p:anim calcmode="lin" valueType="num">
                                      <p:cBhvr additive="base">
                                        <p:cTn id="60" dur="500" fill="hold"/>
                                        <p:tgtEl>
                                          <p:spTgt spid="29"/>
                                        </p:tgtEl>
                                        <p:attrNameLst>
                                          <p:attrName>ppt_y</p:attrName>
                                        </p:attrNameLst>
                                      </p:cBhvr>
                                      <p:tavLst>
                                        <p:tav tm="0">
                                          <p:val>
                                            <p:strVal val="#ppt_y"/>
                                          </p:val>
                                        </p:tav>
                                        <p:tav tm="100000">
                                          <p:val>
                                            <p:strVal val="#ppt_y"/>
                                          </p:val>
                                        </p:tav>
                                      </p:tavLst>
                                    </p:anim>
                                  </p:childTnLst>
                                </p:cTn>
                              </p:par>
                              <p:par>
                                <p:cTn id="61" presetID="2" presetClass="entr" presetSubtype="2" fill="hold" grpId="0" nodeType="withEffect">
                                  <p:stCondLst>
                                    <p:cond delay="0"/>
                                  </p:stCondLst>
                                  <p:childTnLst>
                                    <p:set>
                                      <p:cBhvr>
                                        <p:cTn id="62" dur="1" fill="hold">
                                          <p:stCondLst>
                                            <p:cond delay="0"/>
                                          </p:stCondLst>
                                        </p:cTn>
                                        <p:tgtEl>
                                          <p:spTgt spid="37"/>
                                        </p:tgtEl>
                                        <p:attrNameLst>
                                          <p:attrName>style.visibility</p:attrName>
                                        </p:attrNameLst>
                                      </p:cBhvr>
                                      <p:to>
                                        <p:strVal val="visible"/>
                                      </p:to>
                                    </p:set>
                                    <p:anim calcmode="lin" valueType="num">
                                      <p:cBhvr additive="base">
                                        <p:cTn id="63" dur="500" fill="hold"/>
                                        <p:tgtEl>
                                          <p:spTgt spid="37"/>
                                        </p:tgtEl>
                                        <p:attrNameLst>
                                          <p:attrName>ppt_x</p:attrName>
                                        </p:attrNameLst>
                                      </p:cBhvr>
                                      <p:tavLst>
                                        <p:tav tm="0">
                                          <p:val>
                                            <p:strVal val="1+#ppt_w/2"/>
                                          </p:val>
                                        </p:tav>
                                        <p:tav tm="100000">
                                          <p:val>
                                            <p:strVal val="#ppt_x"/>
                                          </p:val>
                                        </p:tav>
                                      </p:tavLst>
                                    </p:anim>
                                    <p:anim calcmode="lin" valueType="num">
                                      <p:cBhvr additive="base">
                                        <p:cTn id="64" dur="500" fill="hold"/>
                                        <p:tgtEl>
                                          <p:spTgt spid="37"/>
                                        </p:tgtEl>
                                        <p:attrNameLst>
                                          <p:attrName>ppt_y</p:attrName>
                                        </p:attrNameLst>
                                      </p:cBhvr>
                                      <p:tavLst>
                                        <p:tav tm="0">
                                          <p:val>
                                            <p:strVal val="#ppt_y"/>
                                          </p:val>
                                        </p:tav>
                                        <p:tav tm="100000">
                                          <p:val>
                                            <p:strVal val="#ppt_y"/>
                                          </p:val>
                                        </p:tav>
                                      </p:tavLst>
                                    </p:anim>
                                  </p:childTnLst>
                                </p:cTn>
                              </p:par>
                              <p:par>
                                <p:cTn id="65" presetID="2" presetClass="entr" presetSubtype="2" fill="hold" nodeType="withEffect">
                                  <p:stCondLst>
                                    <p:cond delay="0"/>
                                  </p:stCondLst>
                                  <p:childTnLst>
                                    <p:set>
                                      <p:cBhvr>
                                        <p:cTn id="66" dur="1" fill="hold">
                                          <p:stCondLst>
                                            <p:cond delay="0"/>
                                          </p:stCondLst>
                                        </p:cTn>
                                        <p:tgtEl>
                                          <p:spTgt spid="38"/>
                                        </p:tgtEl>
                                        <p:attrNameLst>
                                          <p:attrName>style.visibility</p:attrName>
                                        </p:attrNameLst>
                                      </p:cBhvr>
                                      <p:to>
                                        <p:strVal val="visible"/>
                                      </p:to>
                                    </p:set>
                                    <p:anim calcmode="lin" valueType="num">
                                      <p:cBhvr additive="base">
                                        <p:cTn id="67" dur="500" fill="hold"/>
                                        <p:tgtEl>
                                          <p:spTgt spid="38"/>
                                        </p:tgtEl>
                                        <p:attrNameLst>
                                          <p:attrName>ppt_x</p:attrName>
                                        </p:attrNameLst>
                                      </p:cBhvr>
                                      <p:tavLst>
                                        <p:tav tm="0">
                                          <p:val>
                                            <p:strVal val="1+#ppt_w/2"/>
                                          </p:val>
                                        </p:tav>
                                        <p:tav tm="100000">
                                          <p:val>
                                            <p:strVal val="#ppt_x"/>
                                          </p:val>
                                        </p:tav>
                                      </p:tavLst>
                                    </p:anim>
                                    <p:anim calcmode="lin" valueType="num">
                                      <p:cBhvr additive="base">
                                        <p:cTn id="68" dur="500" fill="hold"/>
                                        <p:tgtEl>
                                          <p:spTgt spid="38"/>
                                        </p:tgtEl>
                                        <p:attrNameLst>
                                          <p:attrName>ppt_y</p:attrName>
                                        </p:attrNameLst>
                                      </p:cBhvr>
                                      <p:tavLst>
                                        <p:tav tm="0">
                                          <p:val>
                                            <p:strVal val="#ppt_y"/>
                                          </p:val>
                                        </p:tav>
                                        <p:tav tm="100000">
                                          <p:val>
                                            <p:strVal val="#ppt_y"/>
                                          </p:val>
                                        </p:tav>
                                      </p:tavLst>
                                    </p:anim>
                                  </p:childTnLst>
                                </p:cTn>
                              </p:par>
                              <p:par>
                                <p:cTn id="69" presetID="2" presetClass="entr" presetSubtype="2" fill="hold" nodeType="withEffect">
                                  <p:stCondLst>
                                    <p:cond delay="0"/>
                                  </p:stCondLst>
                                  <p:childTnLst>
                                    <p:set>
                                      <p:cBhvr>
                                        <p:cTn id="70" dur="1" fill="hold">
                                          <p:stCondLst>
                                            <p:cond delay="0"/>
                                          </p:stCondLst>
                                        </p:cTn>
                                        <p:tgtEl>
                                          <p:spTgt spid="75"/>
                                        </p:tgtEl>
                                        <p:attrNameLst>
                                          <p:attrName>style.visibility</p:attrName>
                                        </p:attrNameLst>
                                      </p:cBhvr>
                                      <p:to>
                                        <p:strVal val="visible"/>
                                      </p:to>
                                    </p:set>
                                    <p:anim calcmode="lin" valueType="num">
                                      <p:cBhvr additive="base">
                                        <p:cTn id="71" dur="500" fill="hold"/>
                                        <p:tgtEl>
                                          <p:spTgt spid="75"/>
                                        </p:tgtEl>
                                        <p:attrNameLst>
                                          <p:attrName>ppt_x</p:attrName>
                                        </p:attrNameLst>
                                      </p:cBhvr>
                                      <p:tavLst>
                                        <p:tav tm="0">
                                          <p:val>
                                            <p:strVal val="1+#ppt_w/2"/>
                                          </p:val>
                                        </p:tav>
                                        <p:tav tm="100000">
                                          <p:val>
                                            <p:strVal val="#ppt_x"/>
                                          </p:val>
                                        </p:tav>
                                      </p:tavLst>
                                    </p:anim>
                                    <p:anim calcmode="lin" valueType="num">
                                      <p:cBhvr additive="base">
                                        <p:cTn id="72" dur="500" fill="hold"/>
                                        <p:tgtEl>
                                          <p:spTgt spid="75"/>
                                        </p:tgtEl>
                                        <p:attrNameLst>
                                          <p:attrName>ppt_y</p:attrName>
                                        </p:attrNameLst>
                                      </p:cBhvr>
                                      <p:tavLst>
                                        <p:tav tm="0">
                                          <p:val>
                                            <p:strVal val="#ppt_y"/>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0" presetClass="path" presetSubtype="0" accel="50000" decel="50000" fill="hold" grpId="0" nodeType="clickEffect">
                                  <p:stCondLst>
                                    <p:cond delay="0"/>
                                  </p:stCondLst>
                                  <p:childTnLst>
                                    <p:animMotion origin="layout" path="M 0 0 L 0.0472917 0 " pathEditMode="relative" ptsTypes="">
                                      <p:cBhvr>
                                        <p:cTn id="76" dur="2000" fill="hold"/>
                                        <p:tgtEl>
                                          <p:spTgt spid="43"/>
                                        </p:tgtEl>
                                        <p:attrNameLst>
                                          <p:attrName>ppt_x</p:attrName>
                                          <p:attrName>ppt_y</p:attrName>
                                        </p:attrNameLst>
                                      </p:cBhvr>
                                    </p:animMotion>
                                  </p:childTnLst>
                                </p:cTn>
                              </p:par>
                            </p:childTnLst>
                          </p:cTn>
                        </p:par>
                      </p:childTnLst>
                    </p:cTn>
                  </p:par>
                  <p:par>
                    <p:cTn id="77" fill="hold">
                      <p:stCondLst>
                        <p:cond delay="indefinite"/>
                      </p:stCondLst>
                      <p:childTnLst>
                        <p:par>
                          <p:cTn id="78" fill="hold">
                            <p:stCondLst>
                              <p:cond delay="0"/>
                            </p:stCondLst>
                            <p:childTnLst>
                              <p:par>
                                <p:cTn id="79" presetID="2" presetClass="entr" presetSubtype="2" fill="hold" nodeType="clickEffect">
                                  <p:stCondLst>
                                    <p:cond delay="0"/>
                                  </p:stCondLst>
                                  <p:childTnLst>
                                    <p:set>
                                      <p:cBhvr>
                                        <p:cTn id="80" dur="1" fill="hold">
                                          <p:stCondLst>
                                            <p:cond delay="0"/>
                                          </p:stCondLst>
                                        </p:cTn>
                                        <p:tgtEl>
                                          <p:spTgt spid="47"/>
                                        </p:tgtEl>
                                        <p:attrNameLst>
                                          <p:attrName>style.visibility</p:attrName>
                                        </p:attrNameLst>
                                      </p:cBhvr>
                                      <p:to>
                                        <p:strVal val="visible"/>
                                      </p:to>
                                    </p:set>
                                    <p:anim calcmode="lin" valueType="num">
                                      <p:cBhvr additive="base">
                                        <p:cTn id="81" dur="500" fill="hold"/>
                                        <p:tgtEl>
                                          <p:spTgt spid="47"/>
                                        </p:tgtEl>
                                        <p:attrNameLst>
                                          <p:attrName>ppt_x</p:attrName>
                                        </p:attrNameLst>
                                      </p:cBhvr>
                                      <p:tavLst>
                                        <p:tav tm="0">
                                          <p:val>
                                            <p:strVal val="1+#ppt_w/2"/>
                                          </p:val>
                                        </p:tav>
                                        <p:tav tm="100000">
                                          <p:val>
                                            <p:strVal val="#ppt_x"/>
                                          </p:val>
                                        </p:tav>
                                      </p:tavLst>
                                    </p:anim>
                                    <p:anim calcmode="lin" valueType="num">
                                      <p:cBhvr additive="base">
                                        <p:cTn id="82" dur="500" fill="hold"/>
                                        <p:tgtEl>
                                          <p:spTgt spid="47"/>
                                        </p:tgtEl>
                                        <p:attrNameLst>
                                          <p:attrName>ppt_y</p:attrName>
                                        </p:attrNameLst>
                                      </p:cBhvr>
                                      <p:tavLst>
                                        <p:tav tm="0">
                                          <p:val>
                                            <p:strVal val="#ppt_y"/>
                                          </p:val>
                                        </p:tav>
                                        <p:tav tm="100000">
                                          <p:val>
                                            <p:strVal val="#ppt_y"/>
                                          </p:val>
                                        </p:tav>
                                      </p:tavLst>
                                    </p:anim>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nodeType="clickEffect">
                                  <p:stCondLst>
                                    <p:cond delay="0"/>
                                  </p:stCondLst>
                                  <p:childTnLst>
                                    <p:set>
                                      <p:cBhvr>
                                        <p:cTn id="86" dur="1" fill="hold">
                                          <p:stCondLst>
                                            <p:cond delay="0"/>
                                          </p:stCondLst>
                                        </p:cTn>
                                        <p:tgtEl>
                                          <p:spTgt spid="7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76"/>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2" presetClass="entr" presetSubtype="4" fill="hold" grpId="0" nodeType="clickEffect">
                                  <p:stCondLst>
                                    <p:cond delay="0"/>
                                  </p:stCondLst>
                                  <p:childTnLst>
                                    <p:set>
                                      <p:cBhvr>
                                        <p:cTn id="92" dur="1" fill="hold">
                                          <p:stCondLst>
                                            <p:cond delay="0"/>
                                          </p:stCondLst>
                                        </p:cTn>
                                        <p:tgtEl>
                                          <p:spTgt spid="78"/>
                                        </p:tgtEl>
                                        <p:attrNameLst>
                                          <p:attrName>style.visibility</p:attrName>
                                        </p:attrNameLst>
                                      </p:cBhvr>
                                      <p:to>
                                        <p:strVal val="visible"/>
                                      </p:to>
                                    </p:set>
                                    <p:anim calcmode="lin" valueType="num">
                                      <p:cBhvr additive="base">
                                        <p:cTn id="93" dur="500" fill="hold"/>
                                        <p:tgtEl>
                                          <p:spTgt spid="78"/>
                                        </p:tgtEl>
                                        <p:attrNameLst>
                                          <p:attrName>ppt_x</p:attrName>
                                        </p:attrNameLst>
                                      </p:cBhvr>
                                      <p:tavLst>
                                        <p:tav tm="0">
                                          <p:val>
                                            <p:strVal val="#ppt_x"/>
                                          </p:val>
                                        </p:tav>
                                        <p:tav tm="100000">
                                          <p:val>
                                            <p:strVal val="#ppt_x"/>
                                          </p:val>
                                        </p:tav>
                                      </p:tavLst>
                                    </p:anim>
                                    <p:anim calcmode="lin" valueType="num">
                                      <p:cBhvr additive="base">
                                        <p:cTn id="94" dur="500" fill="hold"/>
                                        <p:tgtEl>
                                          <p:spTgt spid="7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27" grpId="1"/>
      <p:bldP spid="29" grpId="0" animBg="1"/>
      <p:bldP spid="29" grpId="1" animBg="1"/>
      <p:bldP spid="37" grpId="0" animBg="1"/>
      <p:bldP spid="37" grpId="1" animBg="1"/>
      <p:bldP spid="43" grpId="0" animBg="1"/>
      <p:bldP spid="51" grpId="1" animBg="1"/>
      <p:bldP spid="55" grpId="1"/>
      <p:bldP spid="102" grpId="1"/>
      <p:bldP spid="34" grpId="0" animBg="1"/>
      <p:bldP spid="34" grpId="1" animBg="1"/>
      <p:bldP spid="54" grpId="1"/>
      <p:bldP spid="57" grpId="0" animBg="1"/>
      <p:bldP spid="57" grpId="1" animBg="1"/>
      <p:bldP spid="35" grpId="1"/>
      <p:bldP spid="61" grpId="1"/>
      <p:bldP spid="73" grpId="1"/>
      <p:bldP spid="30" grpId="0"/>
      <p:bldP spid="30" grpId="1"/>
      <p:bldP spid="30" grpId="2"/>
      <p:bldP spid="30" grpId="3"/>
      <p:bldP spid="30" grpId="4"/>
      <p:bldP spid="46" grpId="0"/>
      <p:bldP spid="46" grpId="1"/>
      <p:bldP spid="46" grpId="2"/>
      <p:bldP spid="46" grpId="3"/>
      <p:bldP spid="46" grpId="4"/>
      <p:bldP spid="76" grpId="0"/>
      <p:bldP spid="76" grpId="1"/>
      <p:bldP spid="78" grpId="0"/>
      <p:bldP spid="78" grpId="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文本框 22"/>
          <p:cNvSpPr txBox="1"/>
          <p:nvPr/>
        </p:nvSpPr>
        <p:spPr>
          <a:xfrm>
            <a:off x="563880"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如何实现最近顶点策略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679450"/>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若图是是用邻接矩阵表示，可以遍历所有</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节点与</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节点连接的最短边，然后选择最短边。</a:t>
            </a:r>
            <a:endParaRPr lang="zh-CN" altLang="en-US" sz="1600" dirty="0">
              <a:solidFill>
                <a:schemeClr val="tx1"/>
              </a:solidFill>
              <a:uFillTx/>
              <a:latin typeface="Times New Roman" panose="02020603050405020304" pitchFamily="18" charset="0"/>
              <a:cs typeface="Times New Roman" panose="02020603050405020304" pitchFamily="18" charset="0"/>
              <a:sym typeface="+mn-ea"/>
            </a:endParaRPr>
          </a:p>
        </p:txBody>
      </p:sp>
      <p:graphicFrame>
        <p:nvGraphicFramePr>
          <p:cNvPr id="32" name="表格 31"/>
          <p:cNvGraphicFramePr/>
          <p:nvPr>
            <p:custDataLst>
              <p:tags r:id="rId1"/>
            </p:custDataLst>
          </p:nvPr>
        </p:nvGraphicFramePr>
        <p:xfrm>
          <a:off x="755015" y="2492375"/>
          <a:ext cx="4093845" cy="2926080"/>
        </p:xfrm>
        <a:graphic>
          <a:graphicData uri="http://schemas.openxmlformats.org/drawingml/2006/table">
            <a:tbl>
              <a:tblPr firstRow="1" bandRow="1">
                <a:tableStyleId>{5C22544A-7EE6-4342-B048-85BDC9FD1C3A}</a:tableStyleId>
              </a:tblPr>
              <a:tblGrid>
                <a:gridCol w="511731"/>
                <a:gridCol w="511730"/>
                <a:gridCol w="511731"/>
                <a:gridCol w="511731"/>
                <a:gridCol w="539750"/>
                <a:gridCol w="483711"/>
                <a:gridCol w="511730"/>
                <a:gridCol w="511731"/>
              </a:tblGrid>
              <a:tr h="365760">
                <a:tc>
                  <a:txBody>
                    <a:bodyPr/>
                    <a:lstStyle/>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solidFill>
                            <a:schemeClr val="tx1"/>
                          </a:solidFill>
                        </a:rPr>
                        <a:t>A</a:t>
                      </a:r>
                      <a:endParaRPr lang="en-US" altLang="zh-CN">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solidFill>
                            <a:schemeClr val="tx1"/>
                          </a:solidFill>
                        </a:rPr>
                        <a:t>B</a:t>
                      </a:r>
                      <a:endParaRPr lang="en-US" altLang="zh-CN">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sz="1800">
                          <a:solidFill>
                            <a:schemeClr val="tx1"/>
                          </a:solidFill>
                          <a:sym typeface="+mn-ea"/>
                        </a:rPr>
                        <a:t>C</a:t>
                      </a:r>
                      <a:endParaRPr lang="en-US" altLang="zh-CN" sz="1800">
                        <a:solidFill>
                          <a:schemeClr val="tx1"/>
                        </a:solidFill>
                        <a:sym typeface="+mn-ea"/>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solidFill>
                            <a:schemeClr val="tx1"/>
                          </a:solidFill>
                        </a:rPr>
                        <a:t>D</a:t>
                      </a:r>
                      <a:endParaRPr lang="en-US" altLang="zh-CN">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solidFill>
                            <a:schemeClr val="tx1"/>
                          </a:solidFill>
                        </a:rPr>
                        <a:t>E</a:t>
                      </a:r>
                      <a:endParaRPr lang="en-US" altLang="zh-CN">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solidFill>
                            <a:schemeClr val="tx1"/>
                          </a:solidFill>
                        </a:rPr>
                        <a:t>F</a:t>
                      </a:r>
                      <a:endParaRPr lang="en-US" altLang="zh-CN">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solidFill>
                            <a:schemeClr val="tx1"/>
                          </a:solidFill>
                        </a:rPr>
                        <a:t>G</a:t>
                      </a:r>
                      <a:endParaRPr lang="en-US" altLang="zh-CN">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lstStyle/>
                    <a:p>
                      <a:pPr>
                        <a:buNone/>
                      </a:pPr>
                      <a:r>
                        <a:rPr lang="en-US" altLang="zh-CN" b="1"/>
                        <a:t>A</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20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15</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lstStyle/>
                    <a:p>
                      <a:pPr>
                        <a:buNone/>
                      </a:pPr>
                      <a:r>
                        <a:rPr lang="en-US" altLang="zh-CN" b="1"/>
                        <a:t>B</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20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13</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lstStyle/>
                    <a:p>
                      <a:pPr>
                        <a:buNone/>
                      </a:pPr>
                      <a:r>
                        <a:rPr lang="en-US" altLang="zh-CN" b="1"/>
                        <a:t>C</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sz="1800">
                          <a:sym typeface="+mn-ea"/>
                        </a:rPr>
                        <a:t>13</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18</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23</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lstStyle/>
                    <a:p>
                      <a:pPr>
                        <a:buNone/>
                      </a:pPr>
                      <a:r>
                        <a:rPr lang="en-US" altLang="zh-CN" b="1"/>
                        <a:t>D</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18</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7</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lstStyle/>
                    <a:p>
                      <a:pPr>
                        <a:buNone/>
                      </a:pPr>
                      <a:r>
                        <a:rPr lang="en-US" altLang="zh-CN" b="1"/>
                        <a:t>E</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7</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26</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lstStyle/>
                    <a:p>
                      <a:pPr>
                        <a:buNone/>
                      </a:pPr>
                      <a:r>
                        <a:rPr lang="en-US" altLang="zh-CN" b="1"/>
                        <a:t>F</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15</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26</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9</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lstStyle/>
                    <a:p>
                      <a:pPr>
                        <a:buNone/>
                      </a:pPr>
                      <a:r>
                        <a:rPr lang="en-US" altLang="zh-CN" b="1"/>
                        <a:t>G</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23</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9</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bl>
          </a:graphicData>
        </a:graphic>
      </p:graphicFrame>
      <p:grpSp>
        <p:nvGrpSpPr>
          <p:cNvPr id="34" name="组合 33"/>
          <p:cNvGrpSpPr/>
          <p:nvPr/>
        </p:nvGrpSpPr>
        <p:grpSpPr>
          <a:xfrm>
            <a:off x="6368415" y="2492375"/>
            <a:ext cx="539750" cy="539750"/>
            <a:chOff x="3572" y="3586"/>
            <a:chExt cx="850" cy="850"/>
          </a:xfrm>
        </p:grpSpPr>
        <p:sp>
          <p:nvSpPr>
            <p:cNvPr id="41" name="椭圆 4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42" name="文本框 41"/>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45" name="组合 44"/>
          <p:cNvGrpSpPr/>
          <p:nvPr/>
        </p:nvGrpSpPr>
        <p:grpSpPr>
          <a:xfrm>
            <a:off x="6960235" y="3356610"/>
            <a:ext cx="539750" cy="539750"/>
            <a:chOff x="3572" y="3586"/>
            <a:chExt cx="850" cy="850"/>
          </a:xfrm>
        </p:grpSpPr>
        <p:sp>
          <p:nvSpPr>
            <p:cNvPr id="46" name="椭圆 4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47" name="文本框 4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49" name="组合 48"/>
          <p:cNvGrpSpPr/>
          <p:nvPr/>
        </p:nvGrpSpPr>
        <p:grpSpPr>
          <a:xfrm>
            <a:off x="5720715" y="3284855"/>
            <a:ext cx="539750" cy="539750"/>
            <a:chOff x="3572" y="3586"/>
            <a:chExt cx="850" cy="850"/>
          </a:xfrm>
        </p:grpSpPr>
        <p:sp>
          <p:nvSpPr>
            <p:cNvPr id="52" name="椭圆 5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3" name="文本框 5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4" name="组合 53"/>
          <p:cNvGrpSpPr/>
          <p:nvPr/>
        </p:nvGrpSpPr>
        <p:grpSpPr>
          <a:xfrm>
            <a:off x="6512560" y="4076700"/>
            <a:ext cx="539750" cy="539750"/>
            <a:chOff x="3572" y="3586"/>
            <a:chExt cx="850" cy="850"/>
          </a:xfrm>
        </p:grpSpPr>
        <p:sp>
          <p:nvSpPr>
            <p:cNvPr id="56" name="椭圆 5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7" name="文本框 5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8" name="组合 57"/>
          <p:cNvGrpSpPr/>
          <p:nvPr/>
        </p:nvGrpSpPr>
        <p:grpSpPr>
          <a:xfrm>
            <a:off x="7736840" y="4076700"/>
            <a:ext cx="539750" cy="539750"/>
            <a:chOff x="3572" y="3586"/>
            <a:chExt cx="850" cy="850"/>
          </a:xfrm>
        </p:grpSpPr>
        <p:sp>
          <p:nvSpPr>
            <p:cNvPr id="59" name="椭圆 5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0" name="文本框 5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61" name="组合 60"/>
          <p:cNvGrpSpPr/>
          <p:nvPr/>
        </p:nvGrpSpPr>
        <p:grpSpPr>
          <a:xfrm>
            <a:off x="8168640" y="3351530"/>
            <a:ext cx="539750" cy="539750"/>
            <a:chOff x="3572" y="3586"/>
            <a:chExt cx="850" cy="850"/>
          </a:xfrm>
        </p:grpSpPr>
        <p:sp>
          <p:nvSpPr>
            <p:cNvPr id="65" name="椭圆 6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6" name="文本框 6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67" name="组合 66"/>
          <p:cNvGrpSpPr/>
          <p:nvPr/>
        </p:nvGrpSpPr>
        <p:grpSpPr>
          <a:xfrm>
            <a:off x="7524750" y="2492375"/>
            <a:ext cx="539750" cy="539750"/>
            <a:chOff x="3572" y="3586"/>
            <a:chExt cx="850" cy="850"/>
          </a:xfrm>
        </p:grpSpPr>
        <p:sp>
          <p:nvSpPr>
            <p:cNvPr id="68" name="椭圆 6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9" name="文本框 68"/>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70" name="直接连接符 69"/>
          <p:cNvCxnSpPr/>
          <p:nvPr/>
        </p:nvCxnSpPr>
        <p:spPr>
          <a:xfrm>
            <a:off x="6903720" y="2762250"/>
            <a:ext cx="621030"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1" name="直接连接符 70"/>
          <p:cNvCxnSpPr/>
          <p:nvPr/>
        </p:nvCxnSpPr>
        <p:spPr>
          <a:xfrm flipH="1">
            <a:off x="6181725" y="2953385"/>
            <a:ext cx="265430" cy="41021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p:nvPr/>
        </p:nvCxnSpPr>
        <p:spPr>
          <a:xfrm>
            <a:off x="7985760" y="2953385"/>
            <a:ext cx="261620" cy="4768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p:nvPr/>
        </p:nvCxnSpPr>
        <p:spPr>
          <a:xfrm>
            <a:off x="6256020" y="3554730"/>
            <a:ext cx="704215" cy="717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p:nvPr/>
        </p:nvCxnSpPr>
        <p:spPr>
          <a:xfrm>
            <a:off x="5990590" y="3824605"/>
            <a:ext cx="521970" cy="52197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p:nvPr/>
        </p:nvCxnSpPr>
        <p:spPr>
          <a:xfrm flipV="1">
            <a:off x="7495540" y="3621405"/>
            <a:ext cx="673100" cy="50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p:nvPr/>
        </p:nvCxnSpPr>
        <p:spPr>
          <a:xfrm>
            <a:off x="7047865" y="4346575"/>
            <a:ext cx="688975"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p:nvPr/>
        </p:nvCxnSpPr>
        <p:spPr>
          <a:xfrm flipH="1">
            <a:off x="8272145" y="3891280"/>
            <a:ext cx="166370" cy="4552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8" name="文本框 77"/>
          <p:cNvSpPr txBox="1"/>
          <p:nvPr/>
        </p:nvSpPr>
        <p:spPr>
          <a:xfrm>
            <a:off x="755015" y="5494020"/>
            <a:ext cx="2275205" cy="302260"/>
          </a:xfrm>
          <a:prstGeom prst="rect">
            <a:avLst/>
          </a:prstGeom>
          <a:noFill/>
        </p:spPr>
        <p:txBody>
          <a:bodyPr wrap="square" rtlCol="0">
            <a:noAutofit/>
          </a:bodyPr>
          <a:lstStyle/>
          <a:p>
            <a:r>
              <a:rPr lang="zh-CN" altLang="en-US">
                <a:solidFill>
                  <a:srgbClr val="FF0000"/>
                </a:solidFill>
              </a:rPr>
              <a:t>邻接矩阵表示图</a:t>
            </a:r>
            <a:r>
              <a:rPr lang="en-US" altLang="zh-CN">
                <a:solidFill>
                  <a:srgbClr val="FF0000"/>
                </a:solidFill>
                <a:latin typeface="Times New Roman" panose="02020603050405020304" pitchFamily="18" charset="0"/>
                <a:cs typeface="Times New Roman" panose="02020603050405020304" pitchFamily="18" charset="0"/>
              </a:rPr>
              <a:t>G</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79" name="文本框 78"/>
          <p:cNvSpPr txBox="1"/>
          <p:nvPr/>
        </p:nvSpPr>
        <p:spPr>
          <a:xfrm>
            <a:off x="7145655" y="2462530"/>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80" name="文本框 79"/>
          <p:cNvSpPr txBox="1"/>
          <p:nvPr/>
        </p:nvSpPr>
        <p:spPr>
          <a:xfrm>
            <a:off x="8087360" y="2875915"/>
            <a:ext cx="445770" cy="346075"/>
          </a:xfrm>
          <a:prstGeom prst="rect">
            <a:avLst/>
          </a:prstGeom>
          <a:noFill/>
        </p:spPr>
        <p:txBody>
          <a:bodyPr wrap="square" rtlCol="0">
            <a:noAutofit/>
          </a:bodyPr>
          <a:lstStyle/>
          <a:p>
            <a:r>
              <a:rPr lang="en-US" altLang="zh-CN">
                <a:latin typeface="+mj-lt"/>
                <a:cs typeface="+mj-lt"/>
              </a:rPr>
              <a:t>13</a:t>
            </a:r>
            <a:endParaRPr lang="en-US" altLang="zh-CN">
              <a:latin typeface="+mj-lt"/>
              <a:cs typeface="+mj-lt"/>
            </a:endParaRPr>
          </a:p>
        </p:txBody>
      </p:sp>
      <p:sp>
        <p:nvSpPr>
          <p:cNvPr id="81" name="文本框 80"/>
          <p:cNvSpPr txBox="1"/>
          <p:nvPr/>
        </p:nvSpPr>
        <p:spPr>
          <a:xfrm>
            <a:off x="8396605" y="3986530"/>
            <a:ext cx="445770" cy="346075"/>
          </a:xfrm>
          <a:prstGeom prst="rect">
            <a:avLst/>
          </a:prstGeom>
          <a:noFill/>
        </p:spPr>
        <p:txBody>
          <a:bodyPr wrap="square" rtlCol="0">
            <a:noAutofit/>
          </a:bodyPr>
          <a:lstStyle/>
          <a:p>
            <a:r>
              <a:rPr lang="en-US" altLang="zh-CN">
                <a:latin typeface="+mj-lt"/>
                <a:cs typeface="+mj-lt"/>
              </a:rPr>
              <a:t>18</a:t>
            </a:r>
            <a:endParaRPr lang="en-US" altLang="zh-CN">
              <a:latin typeface="+mj-lt"/>
              <a:cs typeface="+mj-lt"/>
            </a:endParaRPr>
          </a:p>
        </p:txBody>
      </p:sp>
      <p:sp>
        <p:nvSpPr>
          <p:cNvPr id="82" name="文本框 81"/>
          <p:cNvSpPr txBox="1"/>
          <p:nvPr/>
        </p:nvSpPr>
        <p:spPr>
          <a:xfrm>
            <a:off x="7207885" y="3994785"/>
            <a:ext cx="445770" cy="346075"/>
          </a:xfrm>
          <a:prstGeom prst="rect">
            <a:avLst/>
          </a:prstGeom>
          <a:noFill/>
        </p:spPr>
        <p:txBody>
          <a:bodyPr wrap="square" rtlCol="0">
            <a:noAutofit/>
          </a:bodyPr>
          <a:lstStyle/>
          <a:p>
            <a:r>
              <a:rPr lang="en-US" altLang="zh-CN">
                <a:latin typeface="+mj-lt"/>
                <a:cs typeface="+mj-lt"/>
              </a:rPr>
              <a:t>7</a:t>
            </a:r>
            <a:endParaRPr lang="en-US" altLang="zh-CN">
              <a:latin typeface="+mj-lt"/>
              <a:cs typeface="+mj-lt"/>
            </a:endParaRPr>
          </a:p>
        </p:txBody>
      </p:sp>
      <p:sp>
        <p:nvSpPr>
          <p:cNvPr id="83" name="文本框 82"/>
          <p:cNvSpPr txBox="1"/>
          <p:nvPr/>
        </p:nvSpPr>
        <p:spPr>
          <a:xfrm>
            <a:off x="5868670" y="3994785"/>
            <a:ext cx="445770" cy="346075"/>
          </a:xfrm>
          <a:prstGeom prst="rect">
            <a:avLst/>
          </a:prstGeom>
          <a:noFill/>
        </p:spPr>
        <p:txBody>
          <a:bodyPr wrap="square" rtlCol="0">
            <a:noAutofit/>
          </a:bodyPr>
          <a:lstStyle/>
          <a:p>
            <a:r>
              <a:rPr lang="en-US" altLang="zh-CN">
                <a:latin typeface="+mj-lt"/>
                <a:cs typeface="+mj-lt"/>
              </a:rPr>
              <a:t>26</a:t>
            </a:r>
            <a:endParaRPr lang="en-US" altLang="zh-CN">
              <a:latin typeface="+mj-lt"/>
              <a:cs typeface="+mj-lt"/>
            </a:endParaRPr>
          </a:p>
        </p:txBody>
      </p:sp>
      <p:sp>
        <p:nvSpPr>
          <p:cNvPr id="84" name="文本框 83"/>
          <p:cNvSpPr txBox="1"/>
          <p:nvPr/>
        </p:nvSpPr>
        <p:spPr>
          <a:xfrm>
            <a:off x="5868670" y="2819400"/>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sp>
        <p:nvSpPr>
          <p:cNvPr id="85" name="文本框 84"/>
          <p:cNvSpPr txBox="1"/>
          <p:nvPr/>
        </p:nvSpPr>
        <p:spPr>
          <a:xfrm>
            <a:off x="7668895" y="322199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86" name="文本框 85"/>
          <p:cNvSpPr txBox="1"/>
          <p:nvPr/>
        </p:nvSpPr>
        <p:spPr>
          <a:xfrm>
            <a:off x="6412865" y="3185160"/>
            <a:ext cx="445770" cy="346075"/>
          </a:xfrm>
          <a:prstGeom prst="rect">
            <a:avLst/>
          </a:prstGeom>
          <a:noFill/>
        </p:spPr>
        <p:txBody>
          <a:bodyPr wrap="square" rtlCol="0">
            <a:noAutofit/>
          </a:bodyPr>
          <a:lstStyle/>
          <a:p>
            <a:r>
              <a:rPr lang="en-US" altLang="zh-CN">
                <a:latin typeface="+mj-lt"/>
                <a:cs typeface="+mj-lt"/>
              </a:rPr>
              <a:t>9</a:t>
            </a:r>
            <a:endParaRPr lang="en-US" altLang="zh-CN">
              <a:latin typeface="+mj-lt"/>
              <a:cs typeface="+mj-lt"/>
            </a:endParaRPr>
          </a:p>
        </p:txBody>
      </p:sp>
      <p:sp>
        <p:nvSpPr>
          <p:cNvPr id="87" name="文本框 86"/>
          <p:cNvSpPr txBox="1"/>
          <p:nvPr/>
        </p:nvSpPr>
        <p:spPr>
          <a:xfrm>
            <a:off x="6433185" y="5487670"/>
            <a:ext cx="2275205" cy="302260"/>
          </a:xfrm>
          <a:prstGeom prst="rect">
            <a:avLst/>
          </a:prstGeom>
          <a:noFill/>
        </p:spPr>
        <p:txBody>
          <a:bodyPr wrap="square" rtlCol="0">
            <a:noAutofit/>
          </a:bodyPr>
          <a:lstStyle/>
          <a:p>
            <a:r>
              <a:rPr lang="zh-CN" altLang="en-US">
                <a:solidFill>
                  <a:srgbClr val="FF0000"/>
                </a:solidFill>
                <a:latin typeface="Times New Roman" panose="02020603050405020304" pitchFamily="18" charset="0"/>
                <a:cs typeface="Times New Roman" panose="02020603050405020304" pitchFamily="18" charset="0"/>
              </a:rPr>
              <a:t>无向联通带权图</a:t>
            </a:r>
            <a:r>
              <a:rPr lang="en-US" altLang="zh-CN">
                <a:solidFill>
                  <a:srgbClr val="FF0000"/>
                </a:solidFill>
                <a:latin typeface="Times New Roman" panose="02020603050405020304" pitchFamily="18" charset="0"/>
                <a:cs typeface="Times New Roman" panose="02020603050405020304" pitchFamily="18" charset="0"/>
              </a:rPr>
              <a:t>G</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文本框 22"/>
          <p:cNvSpPr txBox="1"/>
          <p:nvPr/>
        </p:nvSpPr>
        <p:spPr>
          <a:xfrm>
            <a:off x="563880"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如何实现最近顶点策略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679450"/>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若图是是用邻接矩阵表示，可以遍历所有</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节点与</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节点连接的最短边，然后选择最短边。</a:t>
            </a:r>
            <a:endParaRPr lang="zh-CN" altLang="en-US" sz="1600" dirty="0">
              <a:solidFill>
                <a:schemeClr val="tx1"/>
              </a:solidFill>
              <a:uFillTx/>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1907540" y="2348865"/>
            <a:ext cx="6567805" cy="2584450"/>
          </a:xfrm>
          <a:prstGeom prst="rect">
            <a:avLst/>
          </a:prstGeom>
          <a:noFill/>
        </p:spPr>
        <p:txBody>
          <a:bodyPr wrap="square" rtlCol="0" anchor="t">
            <a:spAutoFit/>
          </a:bodyPr>
          <a:lstStyle/>
          <a:p>
            <a:r>
              <a:rPr lang="en-US" altLang="zh-CN">
                <a:solidFill>
                  <a:schemeClr val="tx1"/>
                </a:solidFill>
                <a:uFillTx/>
                <a:latin typeface="Times New Roman" panose="02020603050405020304" pitchFamily="18" charset="0"/>
              </a:rPr>
              <a:t>def prim_for(graph:list):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num_vertices = len(graph)</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selected = [False] * num_vertices  # </a:t>
            </a:r>
            <a:r>
              <a:rPr lang="zh-CN" altLang="en-US">
                <a:solidFill>
                  <a:schemeClr val="tx1"/>
                </a:solidFill>
                <a:uFillTx/>
                <a:latin typeface="Times New Roman" panose="02020603050405020304" pitchFamily="18" charset="0"/>
              </a:rPr>
              <a:t>标记节点是否已加入</a:t>
            </a:r>
            <a:r>
              <a:rPr lang="en-US" altLang="zh-CN">
                <a:solidFill>
                  <a:schemeClr val="tx1"/>
                </a:solidFill>
                <a:uFillTx/>
                <a:latin typeface="Times New Roman" panose="02020603050405020304" pitchFamily="18" charset="0"/>
              </a:rPr>
              <a:t> MST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用于存储</a:t>
            </a:r>
            <a:r>
              <a:rPr lang="en-US" altLang="zh-CN">
                <a:solidFill>
                  <a:schemeClr val="tx1"/>
                </a:solidFill>
                <a:uFillTx/>
                <a:latin typeface="Times New Roman" panose="02020603050405020304" pitchFamily="18" charset="0"/>
              </a:rPr>
              <a:t> MST </a:t>
            </a:r>
            <a:r>
              <a:rPr lang="zh-CN" altLang="en-US">
                <a:solidFill>
                  <a:schemeClr val="tx1"/>
                </a:solidFill>
                <a:uFillTx/>
                <a:latin typeface="Times New Roman" panose="02020603050405020304" pitchFamily="18" charset="0"/>
              </a:rPr>
              <a:t>的边</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mst_edges =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初始化，从第一个节点开始</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selected[0] = True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edge_count = 0</a:t>
            </a:r>
            <a:endParaRPr lang="en-US" altLang="zh-CN">
              <a:solidFill>
                <a:schemeClr val="tx1"/>
              </a:solidFill>
              <a:uFillTx/>
              <a:latin typeface="Times New Roman" panose="02020603050405020304" pitchFamily="18" charset="0"/>
            </a:endParaRPr>
          </a:p>
          <a:p>
            <a:r>
              <a:rPr lang="en-US" altLang="zh-CN"/>
              <a:t>   </a:t>
            </a:r>
            <a:endParaRPr lang="zh-CN" altLang="en-US"/>
          </a:p>
        </p:txBody>
      </p:sp>
    </p:spTree>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文本框 22"/>
          <p:cNvSpPr txBox="1"/>
          <p:nvPr/>
        </p:nvSpPr>
        <p:spPr>
          <a:xfrm>
            <a:off x="563880"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如何实现最近顶点策略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679450"/>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若图是是用邻接矩阵表示，可以遍历所有</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节点与</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节点连接的最短边，然后选择最短边。</a:t>
            </a:r>
            <a:endParaRPr lang="zh-CN" altLang="en-US" sz="1600" dirty="0">
              <a:solidFill>
                <a:schemeClr val="tx1"/>
              </a:solidFill>
              <a:uFillTx/>
              <a:latin typeface="Times New Roman" panose="02020603050405020304" pitchFamily="18" charset="0"/>
              <a:cs typeface="Times New Roman" panose="02020603050405020304" pitchFamily="18" charset="0"/>
              <a:sym typeface="+mn-ea"/>
            </a:endParaRPr>
          </a:p>
        </p:txBody>
      </p:sp>
      <p:sp>
        <p:nvSpPr>
          <p:cNvPr id="2" name="文本框 1"/>
          <p:cNvSpPr txBox="1"/>
          <p:nvPr/>
        </p:nvSpPr>
        <p:spPr>
          <a:xfrm>
            <a:off x="1209040" y="1772285"/>
            <a:ext cx="7406640" cy="4799965"/>
          </a:xfrm>
          <a:prstGeom prst="rect">
            <a:avLst/>
          </a:prstGeom>
          <a:noFill/>
        </p:spPr>
        <p:txBody>
          <a:bodyPr wrap="square" rtlCol="0" anchor="t">
            <a:spAutoFit/>
          </a:bodyPr>
          <a:lstStyle/>
          <a:p>
            <a:r>
              <a:rPr lang="en-US" altLang="zh-CN">
                <a:solidFill>
                  <a:schemeClr val="tx1"/>
                </a:solidFill>
                <a:uFillTx/>
                <a:latin typeface="Times New Roman" panose="02020603050405020304" pitchFamily="18" charset="0"/>
                <a:sym typeface="+mn-ea"/>
              </a:rPr>
              <a:t> while edge_count &lt; num_vertices - 1:# </a:t>
            </a:r>
            <a:r>
              <a:rPr lang="zh-CN" altLang="en-US">
                <a:solidFill>
                  <a:schemeClr val="tx1"/>
                </a:solidFill>
                <a:uFillTx/>
                <a:latin typeface="Times New Roman" panose="02020603050405020304" pitchFamily="18" charset="0"/>
                <a:sym typeface="+mn-ea"/>
              </a:rPr>
              <a:t>判断是否所有的点都已经连接上</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min_weight = sys.maxsize# </a:t>
            </a:r>
            <a:r>
              <a:rPr lang="zh-CN" altLang="en-US">
                <a:solidFill>
                  <a:schemeClr val="tx1"/>
                </a:solidFill>
                <a:uFillTx/>
                <a:latin typeface="Times New Roman" panose="02020603050405020304" pitchFamily="18" charset="0"/>
                <a:sym typeface="+mn-ea"/>
              </a:rPr>
              <a:t>筛选最小值</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u = v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 </a:t>
            </a:r>
            <a:r>
              <a:rPr lang="zh-CN" altLang="en-US">
                <a:solidFill>
                  <a:schemeClr val="tx1"/>
                </a:solidFill>
                <a:uFillTx/>
                <a:latin typeface="Times New Roman" panose="02020603050405020304" pitchFamily="18" charset="0"/>
                <a:sym typeface="+mn-ea"/>
              </a:rPr>
              <a:t>遍历已加入</a:t>
            </a:r>
            <a:r>
              <a:rPr lang="en-US" altLang="zh-CN">
                <a:solidFill>
                  <a:schemeClr val="tx1"/>
                </a:solidFill>
                <a:uFillTx/>
                <a:latin typeface="Times New Roman" panose="02020603050405020304" pitchFamily="18" charset="0"/>
                <a:sym typeface="+mn-ea"/>
              </a:rPr>
              <a:t> MST </a:t>
            </a:r>
            <a:r>
              <a:rPr lang="zh-CN" altLang="en-US">
                <a:solidFill>
                  <a:schemeClr val="tx1"/>
                </a:solidFill>
                <a:uFillTx/>
                <a:latin typeface="Times New Roman" panose="02020603050405020304" pitchFamily="18" charset="0"/>
                <a:sym typeface="+mn-ea"/>
              </a:rPr>
              <a:t>的节点</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for i in range(num_vertices):</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if selected[i]: # prim</a:t>
            </a:r>
            <a:r>
              <a:rPr lang="zh-CN" altLang="en-US">
                <a:solidFill>
                  <a:schemeClr val="tx1"/>
                </a:solidFill>
                <a:uFillTx/>
                <a:latin typeface="Times New Roman" panose="02020603050405020304" pitchFamily="18" charset="0"/>
                <a:sym typeface="+mn-ea"/>
              </a:rPr>
              <a:t>算法的核心思想表现，</a:t>
            </a:r>
            <a:r>
              <a:rPr lang="en-US" altLang="zh-CN">
                <a:solidFill>
                  <a:schemeClr val="tx1"/>
                </a:solidFill>
                <a:uFillTx/>
                <a:latin typeface="Times New Roman" panose="02020603050405020304" pitchFamily="18" charset="0"/>
                <a:sym typeface="+mn-ea"/>
              </a:rPr>
              <a:t>w</a:t>
            </a:r>
            <a:r>
              <a:rPr lang="zh-CN" altLang="en-US">
                <a:solidFill>
                  <a:schemeClr val="tx1"/>
                </a:solidFill>
                <a:uFillTx/>
                <a:latin typeface="Times New Roman" panose="02020603050405020304" pitchFamily="18" charset="0"/>
                <a:sym typeface="+mn-ea"/>
              </a:rPr>
              <a:t>中的节点相连的</a:t>
            </a:r>
            <a:r>
              <a:rPr lang="en-US" altLang="zh-CN">
                <a:solidFill>
                  <a:schemeClr val="tx1"/>
                </a:solidFill>
                <a:uFillTx/>
                <a:latin typeface="Times New Roman" panose="02020603050405020304" pitchFamily="18" charset="0"/>
                <a:sym typeface="+mn-ea"/>
              </a:rPr>
              <a:t>s</a:t>
            </a:r>
            <a:r>
              <a:rPr lang="zh-CN" altLang="en-US">
                <a:solidFill>
                  <a:schemeClr val="tx1"/>
                </a:solidFill>
                <a:uFillTx/>
                <a:latin typeface="Times New Roman" panose="02020603050405020304" pitchFamily="18" charset="0"/>
                <a:sym typeface="+mn-ea"/>
              </a:rPr>
              <a:t>节点</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 </a:t>
            </a:r>
            <a:r>
              <a:rPr lang="zh-CN" altLang="en-US">
                <a:solidFill>
                  <a:schemeClr val="tx1"/>
                </a:solidFill>
                <a:uFillTx/>
                <a:latin typeface="Times New Roman" panose="02020603050405020304" pitchFamily="18" charset="0"/>
                <a:sym typeface="+mn-ea"/>
              </a:rPr>
              <a:t>遍历未加入</a:t>
            </a:r>
            <a:r>
              <a:rPr lang="en-US" altLang="zh-CN">
                <a:solidFill>
                  <a:schemeClr val="tx1"/>
                </a:solidFill>
                <a:uFillTx/>
                <a:latin typeface="Times New Roman" panose="02020603050405020304" pitchFamily="18" charset="0"/>
                <a:sym typeface="+mn-ea"/>
              </a:rPr>
              <a:t> MST </a:t>
            </a:r>
            <a:r>
              <a:rPr lang="zh-CN" altLang="en-US">
                <a:solidFill>
                  <a:schemeClr val="tx1"/>
                </a:solidFill>
                <a:uFillTx/>
                <a:latin typeface="Times New Roman" panose="02020603050405020304" pitchFamily="18" charset="0"/>
                <a:sym typeface="+mn-ea"/>
              </a:rPr>
              <a:t>的节点</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for j in range(num_vertices):</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if not selected[j] and graph[i][j]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if graph[i][j] &lt; min_weight: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min_weight = graph[i][j]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u, v = i, 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if u != -1 and v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mst_edges.append((u, v, graph[u][v]))</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selected[v] = True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edge_count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return mst_edges</a:t>
            </a:r>
            <a:endParaRPr lang="en-US" altLang="zh-CN">
              <a:solidFill>
                <a:schemeClr val="tx1"/>
              </a:solidFill>
              <a:uFillTx/>
              <a:latin typeface="Times New Roman" panose="02020603050405020304" pitchFamily="18" charset="0"/>
              <a:sym typeface="+mn-ea"/>
            </a:endParaRPr>
          </a:p>
        </p:txBody>
      </p:sp>
    </p:spTree>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920115"/>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算法原则是：将所有的边按照长度排序，选择最小长度的边做最小生成树的边，直至将所有节点连接在一起。</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1327785" y="479679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2552065" y="479679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983865" y="407162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p:nvPr/>
        </p:nvCxnSpPr>
        <p:spPr>
          <a:xfrm>
            <a:off x="2800985" y="3673475"/>
            <a:ext cx="261620" cy="47688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4" name="直接连接符 33"/>
          <p:cNvCxnSpPr/>
          <p:nvPr/>
        </p:nvCxnSpPr>
        <p:spPr>
          <a:xfrm>
            <a:off x="805815" y="4544695"/>
            <a:ext cx="521970" cy="52197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p:nvPr/>
        </p:nvCxnSpPr>
        <p:spPr>
          <a:xfrm flipV="1">
            <a:off x="2310765" y="4341495"/>
            <a:ext cx="673100" cy="508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6" name="直接连接符 35"/>
          <p:cNvCxnSpPr/>
          <p:nvPr/>
        </p:nvCxnSpPr>
        <p:spPr>
          <a:xfrm>
            <a:off x="1863090" y="5066665"/>
            <a:ext cx="688975"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7" name="直接连接符 36"/>
          <p:cNvCxnSpPr/>
          <p:nvPr/>
        </p:nvCxnSpPr>
        <p:spPr>
          <a:xfrm flipH="1">
            <a:off x="3087370" y="4611370"/>
            <a:ext cx="166370" cy="45529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40" name="文本框 39"/>
          <p:cNvSpPr txBox="1"/>
          <p:nvPr/>
        </p:nvSpPr>
        <p:spPr>
          <a:xfrm>
            <a:off x="2902585" y="3596005"/>
            <a:ext cx="445770" cy="346075"/>
          </a:xfrm>
          <a:prstGeom prst="rect">
            <a:avLst/>
          </a:prstGeom>
          <a:noFill/>
        </p:spPr>
        <p:txBody>
          <a:bodyPr wrap="square" rtlCol="0">
            <a:noAutofit/>
          </a:bodyPr>
          <a:lstStyle/>
          <a:p>
            <a:r>
              <a:rPr lang="en-US" altLang="zh-CN">
                <a:latin typeface="+mj-lt"/>
                <a:cs typeface="+mj-lt"/>
              </a:rPr>
              <a:t>13</a:t>
            </a:r>
            <a:endParaRPr lang="en-US" altLang="zh-CN">
              <a:latin typeface="+mj-lt"/>
              <a:cs typeface="+mj-lt"/>
            </a:endParaRPr>
          </a:p>
        </p:txBody>
      </p:sp>
      <p:sp>
        <p:nvSpPr>
          <p:cNvPr id="41" name="文本框 40"/>
          <p:cNvSpPr txBox="1"/>
          <p:nvPr/>
        </p:nvSpPr>
        <p:spPr>
          <a:xfrm>
            <a:off x="3211830" y="4706620"/>
            <a:ext cx="445770" cy="346075"/>
          </a:xfrm>
          <a:prstGeom prst="rect">
            <a:avLst/>
          </a:prstGeom>
          <a:noFill/>
        </p:spPr>
        <p:txBody>
          <a:bodyPr wrap="square" rtlCol="0">
            <a:noAutofit/>
          </a:bodyPr>
          <a:lstStyle/>
          <a:p>
            <a:r>
              <a:rPr lang="en-US" altLang="zh-CN">
                <a:latin typeface="+mj-lt"/>
                <a:cs typeface="+mj-lt"/>
              </a:rPr>
              <a:t>18</a:t>
            </a:r>
            <a:endParaRPr lang="en-US" altLang="zh-CN">
              <a:latin typeface="+mj-lt"/>
              <a:cs typeface="+mj-lt"/>
            </a:endParaRPr>
          </a:p>
        </p:txBody>
      </p:sp>
      <p:sp>
        <p:nvSpPr>
          <p:cNvPr id="42" name="文本框 41"/>
          <p:cNvSpPr txBox="1"/>
          <p:nvPr/>
        </p:nvSpPr>
        <p:spPr>
          <a:xfrm>
            <a:off x="2023110" y="4714875"/>
            <a:ext cx="445770" cy="346075"/>
          </a:xfrm>
          <a:prstGeom prst="rect">
            <a:avLst/>
          </a:prstGeom>
          <a:noFill/>
        </p:spPr>
        <p:txBody>
          <a:bodyPr wrap="square" rtlCol="0">
            <a:noAutofit/>
          </a:bodyPr>
          <a:lstStyle/>
          <a:p>
            <a:r>
              <a:rPr lang="en-US" altLang="zh-CN">
                <a:latin typeface="+mj-lt"/>
                <a:cs typeface="+mj-lt"/>
              </a:rPr>
              <a:t>7</a:t>
            </a:r>
            <a:endParaRPr lang="en-US" altLang="zh-CN">
              <a:latin typeface="+mj-lt"/>
              <a:cs typeface="+mj-lt"/>
            </a:endParaRPr>
          </a:p>
        </p:txBody>
      </p:sp>
      <p:sp>
        <p:nvSpPr>
          <p:cNvPr id="43" name="文本框 42"/>
          <p:cNvSpPr txBox="1"/>
          <p:nvPr/>
        </p:nvSpPr>
        <p:spPr>
          <a:xfrm>
            <a:off x="683895" y="4714875"/>
            <a:ext cx="445770" cy="346075"/>
          </a:xfrm>
          <a:prstGeom prst="rect">
            <a:avLst/>
          </a:prstGeom>
          <a:noFill/>
        </p:spPr>
        <p:txBody>
          <a:bodyPr wrap="square" rtlCol="0">
            <a:noAutofit/>
          </a:bodyPr>
          <a:lstStyle/>
          <a:p>
            <a:r>
              <a:rPr lang="en-US" altLang="zh-CN">
                <a:latin typeface="+mj-lt"/>
                <a:cs typeface="+mj-lt"/>
              </a:rPr>
              <a:t>26</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sp>
        <p:nvSpPr>
          <p:cNvPr id="45" name="文本框 44"/>
          <p:cNvSpPr txBox="1"/>
          <p:nvPr/>
        </p:nvSpPr>
        <p:spPr>
          <a:xfrm>
            <a:off x="2484120" y="394208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46" name="文本框 45"/>
          <p:cNvSpPr txBox="1"/>
          <p:nvPr/>
        </p:nvSpPr>
        <p:spPr>
          <a:xfrm>
            <a:off x="1228090" y="3905250"/>
            <a:ext cx="445770" cy="346075"/>
          </a:xfrm>
          <a:prstGeom prst="rect">
            <a:avLst/>
          </a:prstGeom>
          <a:noFill/>
        </p:spPr>
        <p:txBody>
          <a:bodyPr wrap="square" rtlCol="0">
            <a:noAutofit/>
          </a:bodyPr>
          <a:lstStyle/>
          <a:p>
            <a:r>
              <a:rPr lang="en-US" altLang="zh-CN">
                <a:latin typeface="+mj-lt"/>
                <a:cs typeface="+mj-lt"/>
              </a:rPr>
              <a:t>9</a:t>
            </a:r>
            <a:endParaRPr lang="en-US" altLang="zh-CN">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705100"/>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705100"/>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101" name="组合 100"/>
          <p:cNvGrpSpPr/>
          <p:nvPr/>
        </p:nvGrpSpPr>
        <p:grpSpPr>
          <a:xfrm>
            <a:off x="6155690" y="2720975"/>
            <a:ext cx="892175" cy="382270"/>
            <a:chOff x="9776" y="4285"/>
            <a:chExt cx="1405" cy="602"/>
          </a:xfrm>
        </p:grpSpPr>
        <p:grpSp>
          <p:nvGrpSpPr>
            <p:cNvPr id="38" name="组合 37"/>
            <p:cNvGrpSpPr/>
            <p:nvPr/>
          </p:nvGrpSpPr>
          <p:grpSpPr>
            <a:xfrm>
              <a:off x="9776" y="4285"/>
              <a:ext cx="644" cy="602"/>
              <a:chOff x="1006488" y="2036167"/>
              <a:chExt cx="531192" cy="504056"/>
            </a:xfrm>
          </p:grpSpPr>
          <p:sp>
            <p:nvSpPr>
              <p:cNvPr id="2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0" name="文本框 2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10537" y="4285"/>
              <a:ext cx="644" cy="602"/>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47" name="直接连接符 4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02" name="组合 101"/>
          <p:cNvGrpSpPr/>
          <p:nvPr/>
        </p:nvGrpSpPr>
        <p:grpSpPr>
          <a:xfrm>
            <a:off x="6155690" y="3169285"/>
            <a:ext cx="892175" cy="382270"/>
            <a:chOff x="9776" y="4285"/>
            <a:chExt cx="1405" cy="602"/>
          </a:xfrm>
        </p:grpSpPr>
        <p:grpSp>
          <p:nvGrpSpPr>
            <p:cNvPr id="103" name="组合 102"/>
            <p:cNvGrpSpPr/>
            <p:nvPr/>
          </p:nvGrpSpPr>
          <p:grpSpPr>
            <a:xfrm>
              <a:off x="9776" y="4285"/>
              <a:ext cx="644" cy="602"/>
              <a:chOff x="1006488" y="2036167"/>
              <a:chExt cx="531192" cy="504056"/>
            </a:xfrm>
          </p:grpSpPr>
          <p:sp>
            <p:nvSpPr>
              <p:cNvPr id="10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5" name="文本框 10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6" name="组合 105"/>
            <p:cNvGrpSpPr/>
            <p:nvPr/>
          </p:nvGrpSpPr>
          <p:grpSpPr>
            <a:xfrm>
              <a:off x="10537" y="4285"/>
              <a:ext cx="644" cy="602"/>
              <a:chOff x="1006488" y="2036167"/>
              <a:chExt cx="531192" cy="504056"/>
            </a:xfrm>
          </p:grpSpPr>
          <p:sp>
            <p:nvSpPr>
              <p:cNvPr id="10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8" name="文本框 10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09" name="直接连接符 10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10" name="组合 109"/>
          <p:cNvGrpSpPr/>
          <p:nvPr/>
        </p:nvGrpSpPr>
        <p:grpSpPr>
          <a:xfrm>
            <a:off x="6155690" y="3694430"/>
            <a:ext cx="892175" cy="382270"/>
            <a:chOff x="9776" y="4285"/>
            <a:chExt cx="1405" cy="602"/>
          </a:xfrm>
        </p:grpSpPr>
        <p:grpSp>
          <p:nvGrpSpPr>
            <p:cNvPr id="111" name="组合 110"/>
            <p:cNvGrpSpPr/>
            <p:nvPr/>
          </p:nvGrpSpPr>
          <p:grpSpPr>
            <a:xfrm>
              <a:off x="9776" y="4285"/>
              <a:ext cx="644" cy="602"/>
              <a:chOff x="1006488" y="2036167"/>
              <a:chExt cx="531192" cy="504056"/>
            </a:xfrm>
          </p:grpSpPr>
          <p:sp>
            <p:nvSpPr>
              <p:cNvPr id="11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13" name="文本框 11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14" name="组合 113"/>
            <p:cNvGrpSpPr/>
            <p:nvPr/>
          </p:nvGrpSpPr>
          <p:grpSpPr>
            <a:xfrm>
              <a:off x="10537" y="4285"/>
              <a:ext cx="644" cy="602"/>
              <a:chOff x="1006488" y="2036167"/>
              <a:chExt cx="531192" cy="504056"/>
            </a:xfrm>
          </p:grpSpPr>
          <p:sp>
            <p:nvSpPr>
              <p:cNvPr id="11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16" name="文本框 11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17" name="直接连接符 11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18" name="组合 117"/>
          <p:cNvGrpSpPr/>
          <p:nvPr/>
        </p:nvGrpSpPr>
        <p:grpSpPr>
          <a:xfrm>
            <a:off x="6155690" y="4203700"/>
            <a:ext cx="892175" cy="382270"/>
            <a:chOff x="9776" y="4285"/>
            <a:chExt cx="1405" cy="602"/>
          </a:xfrm>
        </p:grpSpPr>
        <p:grpSp>
          <p:nvGrpSpPr>
            <p:cNvPr id="119" name="组合 118"/>
            <p:cNvGrpSpPr/>
            <p:nvPr/>
          </p:nvGrpSpPr>
          <p:grpSpPr>
            <a:xfrm>
              <a:off x="9776" y="4285"/>
              <a:ext cx="644" cy="602"/>
              <a:chOff x="1006488" y="2036167"/>
              <a:chExt cx="531192" cy="504056"/>
            </a:xfrm>
          </p:grpSpPr>
          <p:sp>
            <p:nvSpPr>
              <p:cNvPr id="12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1" name="文本框 12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22" name="组合 121"/>
            <p:cNvGrpSpPr/>
            <p:nvPr/>
          </p:nvGrpSpPr>
          <p:grpSpPr>
            <a:xfrm>
              <a:off x="10537" y="4285"/>
              <a:ext cx="644" cy="602"/>
              <a:chOff x="1006488" y="2036167"/>
              <a:chExt cx="531192" cy="504056"/>
            </a:xfrm>
          </p:grpSpPr>
          <p:sp>
            <p:nvSpPr>
              <p:cNvPr id="12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4" name="文本框 12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25" name="直接连接符 124"/>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26" name="组合 125"/>
          <p:cNvGrpSpPr/>
          <p:nvPr/>
        </p:nvGrpSpPr>
        <p:grpSpPr>
          <a:xfrm>
            <a:off x="6155690" y="4725035"/>
            <a:ext cx="892175" cy="382270"/>
            <a:chOff x="9776" y="4285"/>
            <a:chExt cx="1405" cy="602"/>
          </a:xfrm>
        </p:grpSpPr>
        <p:grpSp>
          <p:nvGrpSpPr>
            <p:cNvPr id="127" name="组合 126"/>
            <p:cNvGrpSpPr/>
            <p:nvPr/>
          </p:nvGrpSpPr>
          <p:grpSpPr>
            <a:xfrm>
              <a:off x="9776" y="4285"/>
              <a:ext cx="644" cy="602"/>
              <a:chOff x="1006488" y="2036167"/>
              <a:chExt cx="531192" cy="504056"/>
            </a:xfrm>
          </p:grpSpPr>
          <p:sp>
            <p:nvSpPr>
              <p:cNvPr id="12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9" name="文本框 128"/>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0" name="组合 129"/>
            <p:cNvGrpSpPr/>
            <p:nvPr/>
          </p:nvGrpSpPr>
          <p:grpSpPr>
            <a:xfrm>
              <a:off x="10537" y="4285"/>
              <a:ext cx="644" cy="602"/>
              <a:chOff x="1006488" y="2036167"/>
              <a:chExt cx="531192" cy="504056"/>
            </a:xfrm>
          </p:grpSpPr>
          <p:sp>
            <p:nvSpPr>
              <p:cNvPr id="13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2" name="文本框 13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33" name="直接连接符 132"/>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34" name="组合 133"/>
          <p:cNvGrpSpPr/>
          <p:nvPr/>
        </p:nvGrpSpPr>
        <p:grpSpPr>
          <a:xfrm>
            <a:off x="6155690" y="5229225"/>
            <a:ext cx="892175" cy="382270"/>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42" name="组合 141"/>
          <p:cNvGrpSpPr/>
          <p:nvPr/>
        </p:nvGrpSpPr>
        <p:grpSpPr>
          <a:xfrm>
            <a:off x="6155690" y="5677535"/>
            <a:ext cx="892175" cy="382270"/>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50" name="组合 149"/>
          <p:cNvGrpSpPr/>
          <p:nvPr/>
        </p:nvGrpSpPr>
        <p:grpSpPr>
          <a:xfrm>
            <a:off x="6155690" y="6092825"/>
            <a:ext cx="892175" cy="382270"/>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58" name="文本框 157"/>
          <p:cNvSpPr txBox="1"/>
          <p:nvPr/>
        </p:nvSpPr>
        <p:spPr>
          <a:xfrm>
            <a:off x="7235825" y="2750185"/>
            <a:ext cx="360045" cy="382905"/>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7</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p:txBody>
      </p:sp>
      <p:sp>
        <p:nvSpPr>
          <p:cNvPr id="159" name="文本框 158"/>
          <p:cNvSpPr txBox="1"/>
          <p:nvPr/>
        </p:nvSpPr>
        <p:spPr>
          <a:xfrm>
            <a:off x="7235825" y="3171190"/>
            <a:ext cx="434340" cy="383540"/>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9</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sp>
        <p:nvSpPr>
          <p:cNvPr id="160" name="文本框 159"/>
          <p:cNvSpPr txBox="1"/>
          <p:nvPr/>
        </p:nvSpPr>
        <p:spPr>
          <a:xfrm>
            <a:off x="7235825" y="3677920"/>
            <a:ext cx="479425" cy="312420"/>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13</a:t>
            </a:r>
            <a:endParaRPr lang="en-US" altLang="zh-CN">
              <a:latin typeface="Times New Roman" panose="02020603050405020304" pitchFamily="18" charset="0"/>
              <a:cs typeface="Times New Roman" panose="02020603050405020304" pitchFamily="18" charset="0"/>
              <a:sym typeface="+mn-ea"/>
            </a:endParaRPr>
          </a:p>
        </p:txBody>
      </p:sp>
      <p:sp>
        <p:nvSpPr>
          <p:cNvPr id="161" name="文本框 160"/>
          <p:cNvSpPr txBox="1"/>
          <p:nvPr/>
        </p:nvSpPr>
        <p:spPr>
          <a:xfrm>
            <a:off x="7235825" y="4145915"/>
            <a:ext cx="728980" cy="445135"/>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15</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sp>
        <p:nvSpPr>
          <p:cNvPr id="162" name="文本框 161"/>
          <p:cNvSpPr txBox="1"/>
          <p:nvPr/>
        </p:nvSpPr>
        <p:spPr>
          <a:xfrm>
            <a:off x="7235825" y="4677410"/>
            <a:ext cx="718820" cy="402590"/>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18</a:t>
            </a:r>
            <a:endParaRPr lang="en-US" altLang="zh-CN">
              <a:latin typeface="Times New Roman" panose="02020603050405020304" pitchFamily="18" charset="0"/>
              <a:cs typeface="Times New Roman" panose="02020603050405020304" pitchFamily="18" charset="0"/>
              <a:sym typeface="+mn-ea"/>
            </a:endParaRPr>
          </a:p>
        </p:txBody>
      </p:sp>
      <p:sp>
        <p:nvSpPr>
          <p:cNvPr id="163" name="文本框 162"/>
          <p:cNvSpPr txBox="1"/>
          <p:nvPr/>
        </p:nvSpPr>
        <p:spPr>
          <a:xfrm>
            <a:off x="7235825" y="5143500"/>
            <a:ext cx="433705" cy="370205"/>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20</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sp>
        <p:nvSpPr>
          <p:cNvPr id="164" name="文本框 163"/>
          <p:cNvSpPr txBox="1"/>
          <p:nvPr/>
        </p:nvSpPr>
        <p:spPr>
          <a:xfrm>
            <a:off x="7235825" y="5653405"/>
            <a:ext cx="534035" cy="395605"/>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23</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sp>
        <p:nvSpPr>
          <p:cNvPr id="165" name="文本框 164"/>
          <p:cNvSpPr txBox="1"/>
          <p:nvPr/>
        </p:nvSpPr>
        <p:spPr>
          <a:xfrm>
            <a:off x="7235825" y="6097905"/>
            <a:ext cx="434340" cy="344170"/>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26</a:t>
            </a:r>
            <a:endParaRPr lang="en-US" altLang="zh-CN">
              <a:latin typeface="Times New Roman" panose="02020603050405020304" pitchFamily="18" charset="0"/>
              <a:cs typeface="Times New Roman" panose="02020603050405020304" pitchFamily="18" charset="0"/>
              <a:sym typeface="+mn-ea"/>
            </a:endParaRPr>
          </a:p>
        </p:txBody>
      </p:sp>
      <p:cxnSp>
        <p:nvCxnSpPr>
          <p:cNvPr id="166" name="直接连接符 165"/>
          <p:cNvCxnSpPr/>
          <p:nvPr/>
        </p:nvCxnSpPr>
        <p:spPr>
          <a:xfrm>
            <a:off x="1863090" y="5066665"/>
            <a:ext cx="688975" cy="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67" name="文本框 166"/>
          <p:cNvSpPr txBox="1"/>
          <p:nvPr/>
        </p:nvSpPr>
        <p:spPr>
          <a:xfrm>
            <a:off x="2023110" y="4714875"/>
            <a:ext cx="445770" cy="346075"/>
          </a:xfrm>
          <a:prstGeom prst="rect">
            <a:avLst/>
          </a:prstGeom>
          <a:noFill/>
        </p:spPr>
        <p:txBody>
          <a:bodyPr wrap="square" rtlCol="0">
            <a:noAutofit/>
          </a:bodyPr>
          <a:lstStyle/>
          <a:p>
            <a:r>
              <a:rPr lang="en-US" altLang="zh-CN">
                <a:solidFill>
                  <a:srgbClr val="FF0000"/>
                </a:solidFill>
                <a:latin typeface="+mj-lt"/>
                <a:cs typeface="+mj-lt"/>
              </a:rPr>
              <a:t>7</a:t>
            </a:r>
            <a:endParaRPr lang="en-US" altLang="zh-CN">
              <a:solidFill>
                <a:srgbClr val="FF0000"/>
              </a:solidFill>
              <a:latin typeface="+mj-lt"/>
              <a:cs typeface="+mj-lt"/>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nodeType="clickEffect">
                                  <p:stCondLst>
                                    <p:cond delay="0"/>
                                  </p:stCondLst>
                                  <p:childTnLst>
                                    <p:anim calcmode="discrete" valueType="str">
                                      <p:cBhvr>
                                        <p:cTn id="6" dur="1000" fill="hold"/>
                                        <p:tgtEl>
                                          <p:spTgt spid="31"/>
                                        </p:tgtEl>
                                        <p:attrNameLst>
                                          <p:attrName>style.visibility</p:attrName>
                                        </p:attrNameLst>
                                      </p:cBhvr>
                                      <p:tavLst>
                                        <p:tav tm="0">
                                          <p:val>
                                            <p:strVal val="hidden"/>
                                          </p:val>
                                        </p:tav>
                                        <p:tav tm="50000">
                                          <p:val>
                                            <p:strVal val="visible"/>
                                          </p:val>
                                        </p:tav>
                                      </p:tavLst>
                                    </p:anim>
                                  </p:childTnLst>
                                </p:cTn>
                              </p:par>
                              <p:par>
                                <p:cTn id="7" presetID="35" presetClass="emph" presetSubtype="0" fill="hold" nodeType="withEffect">
                                  <p:stCondLst>
                                    <p:cond delay="0"/>
                                  </p:stCondLst>
                                  <p:childTnLst>
                                    <p:anim calcmode="discrete" valueType="str">
                                      <p:cBhvr>
                                        <p:cTn id="8" dur="1000" fill="hold"/>
                                        <p:tgtEl>
                                          <p:spTgt spid="33"/>
                                        </p:tgtEl>
                                        <p:attrNameLst>
                                          <p:attrName>style.visibility</p:attrName>
                                        </p:attrNameLst>
                                      </p:cBhvr>
                                      <p:tavLst>
                                        <p:tav tm="0">
                                          <p:val>
                                            <p:strVal val="hidden"/>
                                          </p:val>
                                        </p:tav>
                                        <p:tav tm="50000">
                                          <p:val>
                                            <p:strVal val="visible"/>
                                          </p:val>
                                        </p:tav>
                                      </p:tavLst>
                                    </p:anim>
                                  </p:childTnLst>
                                </p:cTn>
                              </p:par>
                              <p:par>
                                <p:cTn id="9" presetID="35" presetClass="emph" presetSubtype="0" fill="hold" nodeType="withEffect">
                                  <p:stCondLst>
                                    <p:cond delay="0"/>
                                  </p:stCondLst>
                                  <p:childTnLst>
                                    <p:anim calcmode="discrete" valueType="str">
                                      <p:cBhvr>
                                        <p:cTn id="10" dur="1000" fill="hold"/>
                                        <p:tgtEl>
                                          <p:spTgt spid="34"/>
                                        </p:tgtEl>
                                        <p:attrNameLst>
                                          <p:attrName>style.visibility</p:attrName>
                                        </p:attrNameLst>
                                      </p:cBhvr>
                                      <p:tavLst>
                                        <p:tav tm="0">
                                          <p:val>
                                            <p:strVal val="hidden"/>
                                          </p:val>
                                        </p:tav>
                                        <p:tav tm="50000">
                                          <p:val>
                                            <p:strVal val="visible"/>
                                          </p:val>
                                        </p:tav>
                                      </p:tavLst>
                                    </p:anim>
                                  </p:childTnLst>
                                </p:cTn>
                              </p:par>
                              <p:par>
                                <p:cTn id="11" presetID="35" presetClass="emph" presetSubtype="0" fill="hold" nodeType="withEffect">
                                  <p:stCondLst>
                                    <p:cond delay="0"/>
                                  </p:stCondLst>
                                  <p:childTnLst>
                                    <p:anim calcmode="discrete" valueType="str">
                                      <p:cBhvr>
                                        <p:cTn id="12" dur="1000" fill="hold"/>
                                        <p:tgtEl>
                                          <p:spTgt spid="36"/>
                                        </p:tgtEl>
                                        <p:attrNameLst>
                                          <p:attrName>style.visibility</p:attrName>
                                        </p:attrNameLst>
                                      </p:cBhvr>
                                      <p:tavLst>
                                        <p:tav tm="0">
                                          <p:val>
                                            <p:strVal val="hidden"/>
                                          </p:val>
                                        </p:tav>
                                        <p:tav tm="50000">
                                          <p:val>
                                            <p:strVal val="visible"/>
                                          </p:val>
                                        </p:tav>
                                      </p:tavLst>
                                    </p:anim>
                                  </p:childTnLst>
                                </p:cTn>
                              </p:par>
                              <p:par>
                                <p:cTn id="13" presetID="35" presetClass="emph" presetSubtype="0" fill="hold" nodeType="with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par>
                                <p:cTn id="15" presetID="35" presetClass="emph" presetSubtype="0" fill="hold" grpId="0" nodeType="withEffect">
                                  <p:stCondLst>
                                    <p:cond delay="0"/>
                                  </p:stCondLst>
                                  <p:childTnLst>
                                    <p:anim calcmode="discrete" valueType="str">
                                      <p:cBhvr>
                                        <p:cTn id="16" dur="1000" fill="hold"/>
                                        <p:tgtEl>
                                          <p:spTgt spid="41"/>
                                        </p:tgtEl>
                                        <p:attrNameLst>
                                          <p:attrName>style.visibility</p:attrName>
                                        </p:attrNameLst>
                                      </p:cBhvr>
                                      <p:tavLst>
                                        <p:tav tm="0">
                                          <p:val>
                                            <p:strVal val="hidden"/>
                                          </p:val>
                                        </p:tav>
                                        <p:tav tm="50000">
                                          <p:val>
                                            <p:strVal val="visible"/>
                                          </p:val>
                                        </p:tav>
                                      </p:tavLst>
                                    </p:anim>
                                  </p:childTnLst>
                                </p:cTn>
                              </p:par>
                              <p:par>
                                <p:cTn id="17" presetID="35" presetClass="emph" presetSubtype="0" fill="hold" grpId="0" nodeType="withEffect">
                                  <p:stCondLst>
                                    <p:cond delay="0"/>
                                  </p:stCondLst>
                                  <p:childTnLst>
                                    <p:anim calcmode="discrete" valueType="str">
                                      <p:cBhvr>
                                        <p:cTn id="18" dur="1000" fill="hold"/>
                                        <p:tgtEl>
                                          <p:spTgt spid="42"/>
                                        </p:tgtEl>
                                        <p:attrNameLst>
                                          <p:attrName>style.visibility</p:attrName>
                                        </p:attrNameLst>
                                      </p:cBhvr>
                                      <p:tavLst>
                                        <p:tav tm="0">
                                          <p:val>
                                            <p:strVal val="hidden"/>
                                          </p:val>
                                        </p:tav>
                                        <p:tav tm="50000">
                                          <p:val>
                                            <p:strVal val="visible"/>
                                          </p:val>
                                        </p:tav>
                                      </p:tavLst>
                                    </p:anim>
                                  </p:childTnLst>
                                </p:cTn>
                              </p:par>
                              <p:par>
                                <p:cTn id="19" presetID="35" presetClass="emph" presetSubtype="0" fill="hold" grpId="0" nodeType="withEffect">
                                  <p:stCondLst>
                                    <p:cond delay="0"/>
                                  </p:stCondLst>
                                  <p:childTnLst>
                                    <p:anim calcmode="discrete" valueType="str">
                                      <p:cBhvr>
                                        <p:cTn id="20" dur="1000" fill="hold"/>
                                        <p:tgtEl>
                                          <p:spTgt spid="43"/>
                                        </p:tgtEl>
                                        <p:attrNameLst>
                                          <p:attrName>style.visibility</p:attrName>
                                        </p:attrNameLst>
                                      </p:cBhvr>
                                      <p:tavLst>
                                        <p:tav tm="0">
                                          <p:val>
                                            <p:strVal val="hidden"/>
                                          </p:val>
                                        </p:tav>
                                        <p:tav tm="50000">
                                          <p:val>
                                            <p:strVal val="visible"/>
                                          </p:val>
                                        </p:tav>
                                      </p:tavLst>
                                    </p:anim>
                                  </p:childTnLst>
                                </p:cTn>
                              </p:par>
                              <p:par>
                                <p:cTn id="21" presetID="35" presetClass="emph" presetSubtype="0" fill="hold" grpId="0" nodeType="withEffect">
                                  <p:stCondLst>
                                    <p:cond delay="0"/>
                                  </p:stCondLst>
                                  <p:childTnLst>
                                    <p:anim calcmode="discrete" valueType="str">
                                      <p:cBhvr>
                                        <p:cTn id="22" dur="1000" fill="hold"/>
                                        <p:tgtEl>
                                          <p:spTgt spid="44"/>
                                        </p:tgtEl>
                                        <p:attrNameLst>
                                          <p:attrName>style.visibility</p:attrName>
                                        </p:attrNameLst>
                                      </p:cBhvr>
                                      <p:tavLst>
                                        <p:tav tm="0">
                                          <p:val>
                                            <p:strVal val="hidden"/>
                                          </p:val>
                                        </p:tav>
                                        <p:tav tm="50000">
                                          <p:val>
                                            <p:strVal val="visible"/>
                                          </p:val>
                                        </p:tav>
                                      </p:tavLst>
                                    </p:anim>
                                  </p:childTnLst>
                                </p:cTn>
                              </p:par>
                              <p:par>
                                <p:cTn id="23" presetID="35" presetClass="emph" presetSubtype="0" fill="hold" grpId="0" nodeType="withEffect">
                                  <p:stCondLst>
                                    <p:cond delay="0"/>
                                  </p:stCondLst>
                                  <p:childTnLst>
                                    <p:anim calcmode="discrete" valueType="str">
                                      <p:cBhvr>
                                        <p:cTn id="24" dur="1000" fill="hold"/>
                                        <p:tgtEl>
                                          <p:spTgt spid="45"/>
                                        </p:tgtEl>
                                        <p:attrNameLst>
                                          <p:attrName>style.visibility</p:attrName>
                                        </p:attrNameLst>
                                      </p:cBhvr>
                                      <p:tavLst>
                                        <p:tav tm="0">
                                          <p:val>
                                            <p:strVal val="hidden"/>
                                          </p:val>
                                        </p:tav>
                                        <p:tav tm="50000">
                                          <p:val>
                                            <p:strVal val="visible"/>
                                          </p:val>
                                        </p:tav>
                                      </p:tavLst>
                                    </p:anim>
                                  </p:childTnLst>
                                </p:cTn>
                              </p:par>
                              <p:par>
                                <p:cTn id="25" presetID="35" presetClass="emph" presetSubtype="0" fill="hold" grpId="0" nodeType="withEffect">
                                  <p:stCondLst>
                                    <p:cond delay="0"/>
                                  </p:stCondLst>
                                  <p:childTnLst>
                                    <p:anim calcmode="discrete" valueType="str">
                                      <p:cBhvr>
                                        <p:cTn id="26" dur="1000" fill="hold"/>
                                        <p:tgtEl>
                                          <p:spTgt spid="46"/>
                                        </p:tgtEl>
                                        <p:attrNameLst>
                                          <p:attrName>style.visibility</p:attrName>
                                        </p:attrNameLst>
                                      </p:cBhvr>
                                      <p:tavLst>
                                        <p:tav tm="0">
                                          <p:val>
                                            <p:strVal val="hidden"/>
                                          </p:val>
                                        </p:tav>
                                        <p:tav tm="50000">
                                          <p:val>
                                            <p:strVal val="visible"/>
                                          </p:val>
                                        </p:tav>
                                      </p:tavLst>
                                    </p:anim>
                                  </p:childTnLst>
                                </p:cTn>
                              </p:par>
                              <p:par>
                                <p:cTn id="27" presetID="35" presetClass="emph" presetSubtype="0" fill="hold" nodeType="withEffect">
                                  <p:stCondLst>
                                    <p:cond delay="0"/>
                                  </p:stCondLst>
                                  <p:childTnLst>
                                    <p:anim calcmode="discrete" valueType="str">
                                      <p:cBhvr>
                                        <p:cTn id="28" dur="1000" fill="hold"/>
                                        <p:tgtEl>
                                          <p:spTgt spid="35"/>
                                        </p:tgtEl>
                                        <p:attrNameLst>
                                          <p:attrName>style.visibility</p:attrName>
                                        </p:attrNameLst>
                                      </p:cBhvr>
                                      <p:tavLst>
                                        <p:tav tm="0">
                                          <p:val>
                                            <p:strVal val="hidden"/>
                                          </p:val>
                                        </p:tav>
                                        <p:tav tm="50000">
                                          <p:val>
                                            <p:strVal val="visible"/>
                                          </p:val>
                                        </p:tav>
                                      </p:tavLst>
                                    </p:anim>
                                  </p:childTnLst>
                                </p:cTn>
                              </p:par>
                              <p:par>
                                <p:cTn id="29" presetID="35" presetClass="emph" presetSubtype="0" fill="hold" nodeType="withEffect">
                                  <p:stCondLst>
                                    <p:cond delay="0"/>
                                  </p:stCondLst>
                                  <p:childTnLst>
                                    <p:anim calcmode="discrete" valueType="str">
                                      <p:cBhvr>
                                        <p:cTn id="30" dur="1000" fill="hold"/>
                                        <p:tgtEl>
                                          <p:spTgt spid="32"/>
                                        </p:tgtEl>
                                        <p:attrNameLst>
                                          <p:attrName>style.visibility</p:attrName>
                                        </p:attrNameLst>
                                      </p:cBhvr>
                                      <p:tavLst>
                                        <p:tav tm="0">
                                          <p:val>
                                            <p:strVal val="hidden"/>
                                          </p:val>
                                        </p:tav>
                                        <p:tav tm="50000">
                                          <p:val>
                                            <p:strVal val="visible"/>
                                          </p:val>
                                        </p:tav>
                                      </p:tavLst>
                                    </p:anim>
                                  </p:childTnLst>
                                </p:cTn>
                              </p:par>
                              <p:par>
                                <p:cTn id="31" presetID="35" presetClass="emph" presetSubtype="0" fill="hold" grpId="0" nodeType="withEffect">
                                  <p:stCondLst>
                                    <p:cond delay="0"/>
                                  </p:stCondLst>
                                  <p:childTnLst>
                                    <p:anim calcmode="discrete" valueType="str">
                                      <p:cBhvr>
                                        <p:cTn id="32" dur="1000" fill="hold"/>
                                        <p:tgtEl>
                                          <p:spTgt spid="40"/>
                                        </p:tgtEl>
                                        <p:attrNameLst>
                                          <p:attrName>style.visibility</p:attrName>
                                        </p:attrNameLst>
                                      </p:cBhvr>
                                      <p:tavLst>
                                        <p:tav tm="0">
                                          <p:val>
                                            <p:strVal val="hidden"/>
                                          </p:val>
                                        </p:tav>
                                        <p:tav tm="50000">
                                          <p:val>
                                            <p:strVal val="visible"/>
                                          </p:val>
                                        </p:tav>
                                      </p:tavLst>
                                    </p:anim>
                                  </p:childTnLst>
                                </p:cTn>
                              </p:par>
                              <p:par>
                                <p:cTn id="33" presetID="35" presetClass="emph" presetSubtype="0" fill="hold" grpId="0" nodeType="withEffect">
                                  <p:stCondLst>
                                    <p:cond delay="0"/>
                                  </p:stCondLst>
                                  <p:childTnLst>
                                    <p:anim calcmode="discrete" valueType="str">
                                      <p:cBhvr>
                                        <p:cTn id="34" dur="1000" fill="hold"/>
                                        <p:tgtEl>
                                          <p:spTgt spid="39"/>
                                        </p:tgtEl>
                                        <p:attrNameLst>
                                          <p:attrName>style.visibility</p:attrName>
                                        </p:attrNameLst>
                                      </p:cBhvr>
                                      <p:tavLst>
                                        <p:tav tm="0">
                                          <p:val>
                                            <p:strVal val="hidden"/>
                                          </p:val>
                                        </p:tav>
                                        <p:tav tm="50000">
                                          <p:val>
                                            <p:strVal val="visible"/>
                                          </p:val>
                                        </p:tav>
                                      </p:tavLst>
                                    </p:anim>
                                  </p:childTnLst>
                                </p:cTn>
                              </p:par>
                              <p:par>
                                <p:cTn id="35" presetID="35" presetClass="emph" presetSubtype="0" fill="hold" nodeType="withEffect">
                                  <p:stCondLst>
                                    <p:cond delay="0"/>
                                  </p:stCondLst>
                                  <p:childTnLst>
                                    <p:anim calcmode="discrete" valueType="str">
                                      <p:cBhvr>
                                        <p:cTn id="36" dur="1000" fill="hold"/>
                                        <p:tgtEl>
                                          <p:spTgt spid="29"/>
                                        </p:tgtEl>
                                        <p:attrNameLst>
                                          <p:attrName>style.visibility</p:attrName>
                                        </p:attrNameLst>
                                      </p:cBhvr>
                                      <p:tavLst>
                                        <p:tav tm="0">
                                          <p:val>
                                            <p:strVal val="hidden"/>
                                          </p:val>
                                        </p:tav>
                                        <p:tav tm="50000">
                                          <p:val>
                                            <p:strVal val="visible"/>
                                          </p:val>
                                        </p:tav>
                                      </p:tavLst>
                                    </p:anim>
                                  </p:childTnLst>
                                </p:cTn>
                              </p:par>
                            </p:childTnLst>
                          </p:cTn>
                        </p:par>
                        <p:par>
                          <p:cTn id="37" fill="hold">
                            <p:stCondLst>
                              <p:cond delay="1000"/>
                            </p:stCondLst>
                            <p:childTnLst>
                              <p:par>
                                <p:cTn id="38" presetID="35" presetClass="emph" presetSubtype="0" fill="hold" nodeType="afterEffect">
                                  <p:stCondLst>
                                    <p:cond delay="0"/>
                                  </p:stCondLst>
                                  <p:childTnLst>
                                    <p:anim calcmode="discrete" valueType="str">
                                      <p:cBhvr>
                                        <p:cTn id="39" dur="1000" fill="hold"/>
                                        <p:tgtEl>
                                          <p:spTgt spid="31"/>
                                        </p:tgtEl>
                                        <p:attrNameLst>
                                          <p:attrName>style.visibility</p:attrName>
                                        </p:attrNameLst>
                                      </p:cBhvr>
                                      <p:tavLst>
                                        <p:tav tm="0">
                                          <p:val>
                                            <p:strVal val="hidden"/>
                                          </p:val>
                                        </p:tav>
                                        <p:tav tm="50000">
                                          <p:val>
                                            <p:strVal val="visible"/>
                                          </p:val>
                                        </p:tav>
                                      </p:tavLst>
                                    </p:anim>
                                  </p:childTnLst>
                                </p:cTn>
                              </p:par>
                              <p:par>
                                <p:cTn id="40" presetID="35" presetClass="emph" presetSubtype="0" fill="hold" nodeType="withEffect">
                                  <p:stCondLst>
                                    <p:cond delay="0"/>
                                  </p:stCondLst>
                                  <p:childTnLst>
                                    <p:anim calcmode="discrete" valueType="str">
                                      <p:cBhvr>
                                        <p:cTn id="41" dur="1000" fill="hold"/>
                                        <p:tgtEl>
                                          <p:spTgt spid="33"/>
                                        </p:tgtEl>
                                        <p:attrNameLst>
                                          <p:attrName>style.visibility</p:attrName>
                                        </p:attrNameLst>
                                      </p:cBhvr>
                                      <p:tavLst>
                                        <p:tav tm="0">
                                          <p:val>
                                            <p:strVal val="hidden"/>
                                          </p:val>
                                        </p:tav>
                                        <p:tav tm="50000">
                                          <p:val>
                                            <p:strVal val="visible"/>
                                          </p:val>
                                        </p:tav>
                                      </p:tavLst>
                                    </p:anim>
                                  </p:childTnLst>
                                </p:cTn>
                              </p:par>
                              <p:par>
                                <p:cTn id="42" presetID="35" presetClass="emph" presetSubtype="0" fill="hold" nodeType="withEffect">
                                  <p:stCondLst>
                                    <p:cond delay="0"/>
                                  </p:stCondLst>
                                  <p:childTnLst>
                                    <p:anim calcmode="discrete" valueType="str">
                                      <p:cBhvr>
                                        <p:cTn id="43" dur="1000" fill="hold"/>
                                        <p:tgtEl>
                                          <p:spTgt spid="34"/>
                                        </p:tgtEl>
                                        <p:attrNameLst>
                                          <p:attrName>style.visibility</p:attrName>
                                        </p:attrNameLst>
                                      </p:cBhvr>
                                      <p:tavLst>
                                        <p:tav tm="0">
                                          <p:val>
                                            <p:strVal val="hidden"/>
                                          </p:val>
                                        </p:tav>
                                        <p:tav tm="50000">
                                          <p:val>
                                            <p:strVal val="visible"/>
                                          </p:val>
                                        </p:tav>
                                      </p:tavLst>
                                    </p:anim>
                                  </p:childTnLst>
                                </p:cTn>
                              </p:par>
                              <p:par>
                                <p:cTn id="44" presetID="35" presetClass="emph" presetSubtype="0" fill="hold" nodeType="withEffect">
                                  <p:stCondLst>
                                    <p:cond delay="0"/>
                                  </p:stCondLst>
                                  <p:childTnLst>
                                    <p:anim calcmode="discrete" valueType="str">
                                      <p:cBhvr>
                                        <p:cTn id="45" dur="1000" fill="hold"/>
                                        <p:tgtEl>
                                          <p:spTgt spid="36"/>
                                        </p:tgtEl>
                                        <p:attrNameLst>
                                          <p:attrName>style.visibility</p:attrName>
                                        </p:attrNameLst>
                                      </p:cBhvr>
                                      <p:tavLst>
                                        <p:tav tm="0">
                                          <p:val>
                                            <p:strVal val="hidden"/>
                                          </p:val>
                                        </p:tav>
                                        <p:tav tm="50000">
                                          <p:val>
                                            <p:strVal val="visible"/>
                                          </p:val>
                                        </p:tav>
                                      </p:tavLst>
                                    </p:anim>
                                  </p:childTnLst>
                                </p:cTn>
                              </p:par>
                              <p:par>
                                <p:cTn id="46" presetID="35" presetClass="emph" presetSubtype="0" fill="hold" nodeType="withEffect">
                                  <p:stCondLst>
                                    <p:cond delay="0"/>
                                  </p:stCondLst>
                                  <p:childTnLst>
                                    <p:anim calcmode="discrete" valueType="str">
                                      <p:cBhvr>
                                        <p:cTn id="47" dur="1000" fill="hold"/>
                                        <p:tgtEl>
                                          <p:spTgt spid="37"/>
                                        </p:tgtEl>
                                        <p:attrNameLst>
                                          <p:attrName>style.visibility</p:attrName>
                                        </p:attrNameLst>
                                      </p:cBhvr>
                                      <p:tavLst>
                                        <p:tav tm="0">
                                          <p:val>
                                            <p:strVal val="hidden"/>
                                          </p:val>
                                        </p:tav>
                                        <p:tav tm="50000">
                                          <p:val>
                                            <p:strVal val="visible"/>
                                          </p:val>
                                        </p:tav>
                                      </p:tavLst>
                                    </p:anim>
                                  </p:childTnLst>
                                </p:cTn>
                              </p:par>
                              <p:par>
                                <p:cTn id="48" presetID="35" presetClass="emph" presetSubtype="0" fill="hold" grpId="2" nodeType="withEffect">
                                  <p:stCondLst>
                                    <p:cond delay="0"/>
                                  </p:stCondLst>
                                  <p:childTnLst>
                                    <p:anim calcmode="discrete" valueType="str">
                                      <p:cBhvr>
                                        <p:cTn id="49" dur="1000" fill="hold"/>
                                        <p:tgtEl>
                                          <p:spTgt spid="41"/>
                                        </p:tgtEl>
                                        <p:attrNameLst>
                                          <p:attrName>style.visibility</p:attrName>
                                        </p:attrNameLst>
                                      </p:cBhvr>
                                      <p:tavLst>
                                        <p:tav tm="0">
                                          <p:val>
                                            <p:strVal val="hidden"/>
                                          </p:val>
                                        </p:tav>
                                        <p:tav tm="50000">
                                          <p:val>
                                            <p:strVal val="visible"/>
                                          </p:val>
                                        </p:tav>
                                      </p:tavLst>
                                    </p:anim>
                                  </p:childTnLst>
                                </p:cTn>
                              </p:par>
                              <p:par>
                                <p:cTn id="50" presetID="35" presetClass="emph" presetSubtype="0" fill="hold" grpId="2" nodeType="withEffect">
                                  <p:stCondLst>
                                    <p:cond delay="0"/>
                                  </p:stCondLst>
                                  <p:childTnLst>
                                    <p:anim calcmode="discrete" valueType="str">
                                      <p:cBhvr>
                                        <p:cTn id="51" dur="1000" fill="hold"/>
                                        <p:tgtEl>
                                          <p:spTgt spid="42"/>
                                        </p:tgtEl>
                                        <p:attrNameLst>
                                          <p:attrName>style.visibility</p:attrName>
                                        </p:attrNameLst>
                                      </p:cBhvr>
                                      <p:tavLst>
                                        <p:tav tm="0">
                                          <p:val>
                                            <p:strVal val="hidden"/>
                                          </p:val>
                                        </p:tav>
                                        <p:tav tm="50000">
                                          <p:val>
                                            <p:strVal val="visible"/>
                                          </p:val>
                                        </p:tav>
                                      </p:tavLst>
                                    </p:anim>
                                  </p:childTnLst>
                                </p:cTn>
                              </p:par>
                              <p:par>
                                <p:cTn id="52" presetID="35" presetClass="emph" presetSubtype="0" fill="hold" grpId="2" nodeType="withEffect">
                                  <p:stCondLst>
                                    <p:cond delay="0"/>
                                  </p:stCondLst>
                                  <p:childTnLst>
                                    <p:anim calcmode="discrete" valueType="str">
                                      <p:cBhvr>
                                        <p:cTn id="53" dur="1000" fill="hold"/>
                                        <p:tgtEl>
                                          <p:spTgt spid="43"/>
                                        </p:tgtEl>
                                        <p:attrNameLst>
                                          <p:attrName>style.visibility</p:attrName>
                                        </p:attrNameLst>
                                      </p:cBhvr>
                                      <p:tavLst>
                                        <p:tav tm="0">
                                          <p:val>
                                            <p:strVal val="hidden"/>
                                          </p:val>
                                        </p:tav>
                                        <p:tav tm="50000">
                                          <p:val>
                                            <p:strVal val="visible"/>
                                          </p:val>
                                        </p:tav>
                                      </p:tavLst>
                                    </p:anim>
                                  </p:childTnLst>
                                </p:cTn>
                              </p:par>
                              <p:par>
                                <p:cTn id="54" presetID="35" presetClass="emph" presetSubtype="0" fill="hold" grpId="2" nodeType="withEffect">
                                  <p:stCondLst>
                                    <p:cond delay="0"/>
                                  </p:stCondLst>
                                  <p:childTnLst>
                                    <p:anim calcmode="discrete" valueType="str">
                                      <p:cBhvr>
                                        <p:cTn id="55" dur="1000" fill="hold"/>
                                        <p:tgtEl>
                                          <p:spTgt spid="44"/>
                                        </p:tgtEl>
                                        <p:attrNameLst>
                                          <p:attrName>style.visibility</p:attrName>
                                        </p:attrNameLst>
                                      </p:cBhvr>
                                      <p:tavLst>
                                        <p:tav tm="0">
                                          <p:val>
                                            <p:strVal val="hidden"/>
                                          </p:val>
                                        </p:tav>
                                        <p:tav tm="50000">
                                          <p:val>
                                            <p:strVal val="visible"/>
                                          </p:val>
                                        </p:tav>
                                      </p:tavLst>
                                    </p:anim>
                                  </p:childTnLst>
                                </p:cTn>
                              </p:par>
                              <p:par>
                                <p:cTn id="56" presetID="35" presetClass="emph" presetSubtype="0" fill="hold" grpId="2" nodeType="withEffect">
                                  <p:stCondLst>
                                    <p:cond delay="0"/>
                                  </p:stCondLst>
                                  <p:childTnLst>
                                    <p:anim calcmode="discrete" valueType="str">
                                      <p:cBhvr>
                                        <p:cTn id="57" dur="1000" fill="hold"/>
                                        <p:tgtEl>
                                          <p:spTgt spid="45"/>
                                        </p:tgtEl>
                                        <p:attrNameLst>
                                          <p:attrName>style.visibility</p:attrName>
                                        </p:attrNameLst>
                                      </p:cBhvr>
                                      <p:tavLst>
                                        <p:tav tm="0">
                                          <p:val>
                                            <p:strVal val="hidden"/>
                                          </p:val>
                                        </p:tav>
                                        <p:tav tm="50000">
                                          <p:val>
                                            <p:strVal val="visible"/>
                                          </p:val>
                                        </p:tav>
                                      </p:tavLst>
                                    </p:anim>
                                  </p:childTnLst>
                                </p:cTn>
                              </p:par>
                              <p:par>
                                <p:cTn id="58" presetID="35" presetClass="emph" presetSubtype="0" fill="hold" grpId="2" nodeType="withEffect">
                                  <p:stCondLst>
                                    <p:cond delay="0"/>
                                  </p:stCondLst>
                                  <p:childTnLst>
                                    <p:anim calcmode="discrete" valueType="str">
                                      <p:cBhvr>
                                        <p:cTn id="59" dur="1000" fill="hold"/>
                                        <p:tgtEl>
                                          <p:spTgt spid="46"/>
                                        </p:tgtEl>
                                        <p:attrNameLst>
                                          <p:attrName>style.visibility</p:attrName>
                                        </p:attrNameLst>
                                      </p:cBhvr>
                                      <p:tavLst>
                                        <p:tav tm="0">
                                          <p:val>
                                            <p:strVal val="hidden"/>
                                          </p:val>
                                        </p:tav>
                                        <p:tav tm="50000">
                                          <p:val>
                                            <p:strVal val="visible"/>
                                          </p:val>
                                        </p:tav>
                                      </p:tavLst>
                                    </p:anim>
                                  </p:childTnLst>
                                </p:cTn>
                              </p:par>
                              <p:par>
                                <p:cTn id="60" presetID="35" presetClass="emph" presetSubtype="0" fill="hold" nodeType="withEffect">
                                  <p:stCondLst>
                                    <p:cond delay="0"/>
                                  </p:stCondLst>
                                  <p:childTnLst>
                                    <p:anim calcmode="discrete" valueType="str">
                                      <p:cBhvr>
                                        <p:cTn id="61" dur="1000" fill="hold"/>
                                        <p:tgtEl>
                                          <p:spTgt spid="35"/>
                                        </p:tgtEl>
                                        <p:attrNameLst>
                                          <p:attrName>style.visibility</p:attrName>
                                        </p:attrNameLst>
                                      </p:cBhvr>
                                      <p:tavLst>
                                        <p:tav tm="0">
                                          <p:val>
                                            <p:strVal val="hidden"/>
                                          </p:val>
                                        </p:tav>
                                        <p:tav tm="50000">
                                          <p:val>
                                            <p:strVal val="visible"/>
                                          </p:val>
                                        </p:tav>
                                      </p:tavLst>
                                    </p:anim>
                                  </p:childTnLst>
                                </p:cTn>
                              </p:par>
                              <p:par>
                                <p:cTn id="62" presetID="35" presetClass="emph" presetSubtype="0" fill="hold" nodeType="withEffect">
                                  <p:stCondLst>
                                    <p:cond delay="0"/>
                                  </p:stCondLst>
                                  <p:childTnLst>
                                    <p:anim calcmode="discrete" valueType="str">
                                      <p:cBhvr>
                                        <p:cTn id="63" dur="1000" fill="hold"/>
                                        <p:tgtEl>
                                          <p:spTgt spid="32"/>
                                        </p:tgtEl>
                                        <p:attrNameLst>
                                          <p:attrName>style.visibility</p:attrName>
                                        </p:attrNameLst>
                                      </p:cBhvr>
                                      <p:tavLst>
                                        <p:tav tm="0">
                                          <p:val>
                                            <p:strVal val="hidden"/>
                                          </p:val>
                                        </p:tav>
                                        <p:tav tm="50000">
                                          <p:val>
                                            <p:strVal val="visible"/>
                                          </p:val>
                                        </p:tav>
                                      </p:tavLst>
                                    </p:anim>
                                  </p:childTnLst>
                                </p:cTn>
                              </p:par>
                              <p:par>
                                <p:cTn id="64" presetID="35" presetClass="emph" presetSubtype="0" fill="hold" grpId="2" nodeType="withEffect">
                                  <p:stCondLst>
                                    <p:cond delay="0"/>
                                  </p:stCondLst>
                                  <p:childTnLst>
                                    <p:anim calcmode="discrete" valueType="str">
                                      <p:cBhvr>
                                        <p:cTn id="65" dur="1000" fill="hold"/>
                                        <p:tgtEl>
                                          <p:spTgt spid="40"/>
                                        </p:tgtEl>
                                        <p:attrNameLst>
                                          <p:attrName>style.visibility</p:attrName>
                                        </p:attrNameLst>
                                      </p:cBhvr>
                                      <p:tavLst>
                                        <p:tav tm="0">
                                          <p:val>
                                            <p:strVal val="hidden"/>
                                          </p:val>
                                        </p:tav>
                                        <p:tav tm="50000">
                                          <p:val>
                                            <p:strVal val="visible"/>
                                          </p:val>
                                        </p:tav>
                                      </p:tavLst>
                                    </p:anim>
                                  </p:childTnLst>
                                </p:cTn>
                              </p:par>
                              <p:par>
                                <p:cTn id="66" presetID="35" presetClass="emph" presetSubtype="0" fill="hold" grpId="2" nodeType="withEffect">
                                  <p:stCondLst>
                                    <p:cond delay="0"/>
                                  </p:stCondLst>
                                  <p:childTnLst>
                                    <p:anim calcmode="discrete" valueType="str">
                                      <p:cBhvr>
                                        <p:cTn id="67" dur="1000" fill="hold"/>
                                        <p:tgtEl>
                                          <p:spTgt spid="39"/>
                                        </p:tgtEl>
                                        <p:attrNameLst>
                                          <p:attrName>style.visibility</p:attrName>
                                        </p:attrNameLst>
                                      </p:cBhvr>
                                      <p:tavLst>
                                        <p:tav tm="0">
                                          <p:val>
                                            <p:strVal val="hidden"/>
                                          </p:val>
                                        </p:tav>
                                        <p:tav tm="50000">
                                          <p:val>
                                            <p:strVal val="visible"/>
                                          </p:val>
                                        </p:tav>
                                      </p:tavLst>
                                    </p:anim>
                                  </p:childTnLst>
                                </p:cTn>
                              </p:par>
                              <p:par>
                                <p:cTn id="68" presetID="35" presetClass="emph" presetSubtype="0" fill="hold" nodeType="withEffect">
                                  <p:stCondLst>
                                    <p:cond delay="0"/>
                                  </p:stCondLst>
                                  <p:childTnLst>
                                    <p:anim calcmode="discrete" valueType="str">
                                      <p:cBhvr>
                                        <p:cTn id="69" dur="1000" fill="hold"/>
                                        <p:tgtEl>
                                          <p:spTgt spid="29"/>
                                        </p:tgtEl>
                                        <p:attrNameLst>
                                          <p:attrName>style.visibility</p:attrName>
                                        </p:attrNameLst>
                                      </p:cBhvr>
                                      <p:tavLst>
                                        <p:tav tm="0">
                                          <p:val>
                                            <p:strVal val="hidden"/>
                                          </p:val>
                                        </p:tav>
                                        <p:tav tm="50000">
                                          <p:val>
                                            <p:strVal val="visible"/>
                                          </p:val>
                                        </p:tav>
                                      </p:tavLst>
                                    </p:anim>
                                  </p:childTnLst>
                                </p:cTn>
                              </p:par>
                            </p:childTnLst>
                          </p:cTn>
                        </p:par>
                      </p:childTnLst>
                    </p:cTn>
                  </p:par>
                  <p:par>
                    <p:cTn id="70" fill="hold">
                      <p:stCondLst>
                        <p:cond delay="indefinite"/>
                      </p:stCondLst>
                      <p:childTnLst>
                        <p:par>
                          <p:cTn id="71" fill="hold">
                            <p:stCondLst>
                              <p:cond delay="0"/>
                            </p:stCondLst>
                            <p:childTnLst>
                              <p:par>
                                <p:cTn id="72" presetID="1" presetClass="exit" presetSubtype="0" fill="hold" nodeType="clickEffect">
                                  <p:stCondLst>
                                    <p:cond delay="0"/>
                                  </p:stCondLst>
                                  <p:childTnLst>
                                    <p:set>
                                      <p:cBhvr>
                                        <p:cTn id="73" dur="1" fill="hold">
                                          <p:stCondLst>
                                            <p:cond delay="0"/>
                                          </p:stCondLst>
                                        </p:cTn>
                                        <p:tgtEl>
                                          <p:spTgt spid="31"/>
                                        </p:tgtEl>
                                        <p:attrNameLst>
                                          <p:attrName>style.visibility</p:attrName>
                                        </p:attrNameLst>
                                      </p:cBhvr>
                                      <p:to>
                                        <p:strVal val="hidden"/>
                                      </p:to>
                                    </p:set>
                                  </p:childTnLst>
                                </p:cTn>
                              </p:par>
                              <p:par>
                                <p:cTn id="74" presetID="1" presetClass="exit" presetSubtype="0" fill="hold" grpId="3" nodeType="withEffect">
                                  <p:stCondLst>
                                    <p:cond delay="0"/>
                                  </p:stCondLst>
                                  <p:childTnLst>
                                    <p:set>
                                      <p:cBhvr>
                                        <p:cTn id="75" dur="1" fill="hold">
                                          <p:stCondLst>
                                            <p:cond delay="0"/>
                                          </p:stCondLst>
                                        </p:cTn>
                                        <p:tgtEl>
                                          <p:spTgt spid="39"/>
                                        </p:tgtEl>
                                        <p:attrNameLst>
                                          <p:attrName>style.visibility</p:attrName>
                                        </p:attrNameLst>
                                      </p:cBhvr>
                                      <p:to>
                                        <p:strVal val="hidden"/>
                                      </p:to>
                                    </p:set>
                                  </p:childTnLst>
                                </p:cTn>
                              </p:par>
                              <p:par>
                                <p:cTn id="76" presetID="1" presetClass="exit" presetSubtype="0" fill="hold" grpId="3" nodeType="withEffect">
                                  <p:stCondLst>
                                    <p:cond delay="0"/>
                                  </p:stCondLst>
                                  <p:childTnLst>
                                    <p:set>
                                      <p:cBhvr>
                                        <p:cTn id="77" dur="1" fill="hold">
                                          <p:stCondLst>
                                            <p:cond delay="0"/>
                                          </p:stCondLst>
                                        </p:cTn>
                                        <p:tgtEl>
                                          <p:spTgt spid="40"/>
                                        </p:tgtEl>
                                        <p:attrNameLst>
                                          <p:attrName>style.visibility</p:attrName>
                                        </p:attrNameLst>
                                      </p:cBhvr>
                                      <p:to>
                                        <p:strVal val="hidden"/>
                                      </p:to>
                                    </p:set>
                                  </p:childTnLst>
                                </p:cTn>
                              </p:par>
                              <p:par>
                                <p:cTn id="78" presetID="1" presetClass="exit" presetSubtype="0" fill="hold" grpId="3" nodeType="withEffect">
                                  <p:stCondLst>
                                    <p:cond delay="0"/>
                                  </p:stCondLst>
                                  <p:childTnLst>
                                    <p:set>
                                      <p:cBhvr>
                                        <p:cTn id="79" dur="1" fill="hold">
                                          <p:stCondLst>
                                            <p:cond delay="0"/>
                                          </p:stCondLst>
                                        </p:cTn>
                                        <p:tgtEl>
                                          <p:spTgt spid="44"/>
                                        </p:tgtEl>
                                        <p:attrNameLst>
                                          <p:attrName>style.visibility</p:attrName>
                                        </p:attrNameLst>
                                      </p:cBhvr>
                                      <p:to>
                                        <p:strVal val="hidden"/>
                                      </p:to>
                                    </p:set>
                                  </p:childTnLst>
                                </p:cTn>
                              </p:par>
                              <p:par>
                                <p:cTn id="80" presetID="1" presetClass="exit" presetSubtype="0" fill="hold" nodeType="withEffect">
                                  <p:stCondLst>
                                    <p:cond delay="0"/>
                                  </p:stCondLst>
                                  <p:childTnLst>
                                    <p:set>
                                      <p:cBhvr>
                                        <p:cTn id="81" dur="1" fill="hold">
                                          <p:stCondLst>
                                            <p:cond delay="0"/>
                                          </p:stCondLst>
                                        </p:cTn>
                                        <p:tgtEl>
                                          <p:spTgt spid="29"/>
                                        </p:tgtEl>
                                        <p:attrNameLst>
                                          <p:attrName>style.visibility</p:attrName>
                                        </p:attrNameLst>
                                      </p:cBhvr>
                                      <p:to>
                                        <p:strVal val="hidden"/>
                                      </p:to>
                                    </p:set>
                                  </p:childTnLst>
                                </p:cTn>
                              </p:par>
                              <p:par>
                                <p:cTn id="82" presetID="1" presetClass="exit" presetSubtype="0" fill="hold" nodeType="withEffect">
                                  <p:stCondLst>
                                    <p:cond delay="0"/>
                                  </p:stCondLst>
                                  <p:childTnLst>
                                    <p:set>
                                      <p:cBhvr>
                                        <p:cTn id="83" dur="1" fill="hold">
                                          <p:stCondLst>
                                            <p:cond delay="0"/>
                                          </p:stCondLst>
                                        </p:cTn>
                                        <p:tgtEl>
                                          <p:spTgt spid="32"/>
                                        </p:tgtEl>
                                        <p:attrNameLst>
                                          <p:attrName>style.visibility</p:attrName>
                                        </p:attrNameLst>
                                      </p:cBhvr>
                                      <p:to>
                                        <p:strVal val="hidden"/>
                                      </p:to>
                                    </p:set>
                                  </p:childTnLst>
                                </p:cTn>
                              </p:par>
                              <p:par>
                                <p:cTn id="84" presetID="1" presetClass="exit" presetSubtype="0" fill="hold" grpId="3" nodeType="withEffect">
                                  <p:stCondLst>
                                    <p:cond delay="0"/>
                                  </p:stCondLst>
                                  <p:childTnLst>
                                    <p:set>
                                      <p:cBhvr>
                                        <p:cTn id="85" dur="1" fill="hold">
                                          <p:stCondLst>
                                            <p:cond delay="0"/>
                                          </p:stCondLst>
                                        </p:cTn>
                                        <p:tgtEl>
                                          <p:spTgt spid="45"/>
                                        </p:tgtEl>
                                        <p:attrNameLst>
                                          <p:attrName>style.visibility</p:attrName>
                                        </p:attrNameLst>
                                      </p:cBhvr>
                                      <p:to>
                                        <p:strVal val="hidden"/>
                                      </p:to>
                                    </p:set>
                                  </p:childTnLst>
                                </p:cTn>
                              </p:par>
                              <p:par>
                                <p:cTn id="86" presetID="1" presetClass="exit" presetSubtype="0" fill="hold" nodeType="withEffect">
                                  <p:stCondLst>
                                    <p:cond delay="0"/>
                                  </p:stCondLst>
                                  <p:childTnLst>
                                    <p:set>
                                      <p:cBhvr>
                                        <p:cTn id="87" dur="1" fill="hold">
                                          <p:stCondLst>
                                            <p:cond delay="0"/>
                                          </p:stCondLst>
                                        </p:cTn>
                                        <p:tgtEl>
                                          <p:spTgt spid="35"/>
                                        </p:tgtEl>
                                        <p:attrNameLst>
                                          <p:attrName>style.visibility</p:attrName>
                                        </p:attrNameLst>
                                      </p:cBhvr>
                                      <p:to>
                                        <p:strVal val="hidden"/>
                                      </p:to>
                                    </p:set>
                                  </p:childTnLst>
                                </p:cTn>
                              </p:par>
                              <p:par>
                                <p:cTn id="88" presetID="1" presetClass="exit" presetSubtype="0" fill="hold" grpId="3" nodeType="withEffect">
                                  <p:stCondLst>
                                    <p:cond delay="0"/>
                                  </p:stCondLst>
                                  <p:childTnLst>
                                    <p:set>
                                      <p:cBhvr>
                                        <p:cTn id="89" dur="1" fill="hold">
                                          <p:stCondLst>
                                            <p:cond delay="0"/>
                                          </p:stCondLst>
                                        </p:cTn>
                                        <p:tgtEl>
                                          <p:spTgt spid="46"/>
                                        </p:tgtEl>
                                        <p:attrNameLst>
                                          <p:attrName>style.visibility</p:attrName>
                                        </p:attrNameLst>
                                      </p:cBhvr>
                                      <p:to>
                                        <p:strVal val="hidden"/>
                                      </p:to>
                                    </p:set>
                                  </p:childTnLst>
                                </p:cTn>
                              </p:par>
                              <p:par>
                                <p:cTn id="90" presetID="1" presetClass="exit" presetSubtype="0" fill="hold" nodeType="withEffect">
                                  <p:stCondLst>
                                    <p:cond delay="0"/>
                                  </p:stCondLst>
                                  <p:childTnLst>
                                    <p:set>
                                      <p:cBhvr>
                                        <p:cTn id="91" dur="1" fill="hold">
                                          <p:stCondLst>
                                            <p:cond delay="0"/>
                                          </p:stCondLst>
                                        </p:cTn>
                                        <p:tgtEl>
                                          <p:spTgt spid="33"/>
                                        </p:tgtEl>
                                        <p:attrNameLst>
                                          <p:attrName>style.visibility</p:attrName>
                                        </p:attrNameLst>
                                      </p:cBhvr>
                                      <p:to>
                                        <p:strVal val="hidden"/>
                                      </p:to>
                                    </p:set>
                                  </p:childTnLst>
                                </p:cTn>
                              </p:par>
                              <p:par>
                                <p:cTn id="92" presetID="1" presetClass="exit" presetSubtype="0" fill="hold" nodeType="withEffect">
                                  <p:stCondLst>
                                    <p:cond delay="0"/>
                                  </p:stCondLst>
                                  <p:childTnLst>
                                    <p:set>
                                      <p:cBhvr>
                                        <p:cTn id="93" dur="1" fill="hold">
                                          <p:stCondLst>
                                            <p:cond delay="0"/>
                                          </p:stCondLst>
                                        </p:cTn>
                                        <p:tgtEl>
                                          <p:spTgt spid="37"/>
                                        </p:tgtEl>
                                        <p:attrNameLst>
                                          <p:attrName>style.visibility</p:attrName>
                                        </p:attrNameLst>
                                      </p:cBhvr>
                                      <p:to>
                                        <p:strVal val="hidden"/>
                                      </p:to>
                                    </p:set>
                                  </p:childTnLst>
                                </p:cTn>
                              </p:par>
                              <p:par>
                                <p:cTn id="94" presetID="1" presetClass="exit" presetSubtype="0" fill="hold" grpId="3" nodeType="withEffect">
                                  <p:stCondLst>
                                    <p:cond delay="0"/>
                                  </p:stCondLst>
                                  <p:childTnLst>
                                    <p:set>
                                      <p:cBhvr>
                                        <p:cTn id="95" dur="1" fill="hold">
                                          <p:stCondLst>
                                            <p:cond delay="0"/>
                                          </p:stCondLst>
                                        </p:cTn>
                                        <p:tgtEl>
                                          <p:spTgt spid="41"/>
                                        </p:tgtEl>
                                        <p:attrNameLst>
                                          <p:attrName>style.visibility</p:attrName>
                                        </p:attrNameLst>
                                      </p:cBhvr>
                                      <p:to>
                                        <p:strVal val="hidden"/>
                                      </p:to>
                                    </p:set>
                                  </p:childTnLst>
                                </p:cTn>
                              </p:par>
                              <p:par>
                                <p:cTn id="96" presetID="1" presetClass="exit" presetSubtype="0" fill="hold" grpId="3" nodeType="withEffect">
                                  <p:stCondLst>
                                    <p:cond delay="0"/>
                                  </p:stCondLst>
                                  <p:childTnLst>
                                    <p:set>
                                      <p:cBhvr>
                                        <p:cTn id="97" dur="1" fill="hold">
                                          <p:stCondLst>
                                            <p:cond delay="0"/>
                                          </p:stCondLst>
                                        </p:cTn>
                                        <p:tgtEl>
                                          <p:spTgt spid="42"/>
                                        </p:tgtEl>
                                        <p:attrNameLst>
                                          <p:attrName>style.visibility</p:attrName>
                                        </p:attrNameLst>
                                      </p:cBhvr>
                                      <p:to>
                                        <p:strVal val="hidden"/>
                                      </p:to>
                                    </p:set>
                                  </p:childTnLst>
                                </p:cTn>
                              </p:par>
                              <p:par>
                                <p:cTn id="98" presetID="1" presetClass="exit" presetSubtype="0" fill="hold" nodeType="withEffect">
                                  <p:stCondLst>
                                    <p:cond delay="0"/>
                                  </p:stCondLst>
                                  <p:childTnLst>
                                    <p:set>
                                      <p:cBhvr>
                                        <p:cTn id="99" dur="1" fill="hold">
                                          <p:stCondLst>
                                            <p:cond delay="0"/>
                                          </p:stCondLst>
                                        </p:cTn>
                                        <p:tgtEl>
                                          <p:spTgt spid="36"/>
                                        </p:tgtEl>
                                        <p:attrNameLst>
                                          <p:attrName>style.visibility</p:attrName>
                                        </p:attrNameLst>
                                      </p:cBhvr>
                                      <p:to>
                                        <p:strVal val="hidden"/>
                                      </p:to>
                                    </p:set>
                                  </p:childTnLst>
                                </p:cTn>
                              </p:par>
                              <p:par>
                                <p:cTn id="100" presetID="1" presetClass="exit" presetSubtype="0" fill="hold" nodeType="withEffect">
                                  <p:stCondLst>
                                    <p:cond delay="0"/>
                                  </p:stCondLst>
                                  <p:childTnLst>
                                    <p:set>
                                      <p:cBhvr>
                                        <p:cTn id="101" dur="1" fill="hold">
                                          <p:stCondLst>
                                            <p:cond delay="0"/>
                                          </p:stCondLst>
                                        </p:cTn>
                                        <p:tgtEl>
                                          <p:spTgt spid="34"/>
                                        </p:tgtEl>
                                        <p:attrNameLst>
                                          <p:attrName>style.visibility</p:attrName>
                                        </p:attrNameLst>
                                      </p:cBhvr>
                                      <p:to>
                                        <p:strVal val="hidden"/>
                                      </p:to>
                                    </p:set>
                                  </p:childTnLst>
                                </p:cTn>
                              </p:par>
                              <p:par>
                                <p:cTn id="102" presetID="1" presetClass="exit" presetSubtype="0" fill="hold" grpId="3" nodeType="withEffect">
                                  <p:stCondLst>
                                    <p:cond delay="0"/>
                                  </p:stCondLst>
                                  <p:childTnLst>
                                    <p:set>
                                      <p:cBhvr>
                                        <p:cTn id="103" dur="1" fill="hold">
                                          <p:stCondLst>
                                            <p:cond delay="0"/>
                                          </p:stCondLst>
                                        </p:cTn>
                                        <p:tgtEl>
                                          <p:spTgt spid="43"/>
                                        </p:tgtEl>
                                        <p:attrNameLst>
                                          <p:attrName>style.visibility</p:attrName>
                                        </p:attrNameLst>
                                      </p:cBhvr>
                                      <p:to>
                                        <p:strVal val="hidden"/>
                                      </p:to>
                                    </p:set>
                                  </p:childTnLst>
                                </p:cTn>
                              </p:par>
                            </p:childTnLst>
                          </p:cTn>
                        </p:par>
                      </p:childTnLst>
                    </p:cTn>
                  </p:par>
                  <p:par>
                    <p:cTn id="104" fill="hold">
                      <p:stCondLst>
                        <p:cond delay="indefinite"/>
                      </p:stCondLst>
                      <p:childTnLst>
                        <p:par>
                          <p:cTn id="105" fill="hold">
                            <p:stCondLst>
                              <p:cond delay="0"/>
                            </p:stCondLst>
                            <p:childTnLst>
                              <p:par>
                                <p:cTn id="106" presetID="2" presetClass="entr" presetSubtype="2" fill="hold" grpId="0" nodeType="clickEffect">
                                  <p:stCondLst>
                                    <p:cond delay="0"/>
                                  </p:stCondLst>
                                  <p:childTnLst>
                                    <p:set>
                                      <p:cBhvr>
                                        <p:cTn id="107" dur="1" fill="hold">
                                          <p:stCondLst>
                                            <p:cond delay="0"/>
                                          </p:stCondLst>
                                        </p:cTn>
                                        <p:tgtEl>
                                          <p:spTgt spid="27"/>
                                        </p:tgtEl>
                                        <p:attrNameLst>
                                          <p:attrName>style.visibility</p:attrName>
                                        </p:attrNameLst>
                                      </p:cBhvr>
                                      <p:to>
                                        <p:strVal val="visible"/>
                                      </p:to>
                                    </p:set>
                                    <p:anim calcmode="lin" valueType="num">
                                      <p:cBhvr additive="base">
                                        <p:cTn id="108" dur="500" fill="hold"/>
                                        <p:tgtEl>
                                          <p:spTgt spid="27"/>
                                        </p:tgtEl>
                                        <p:attrNameLst>
                                          <p:attrName>ppt_x</p:attrName>
                                        </p:attrNameLst>
                                      </p:cBhvr>
                                      <p:tavLst>
                                        <p:tav tm="0">
                                          <p:val>
                                            <p:strVal val="1+#ppt_w/2"/>
                                          </p:val>
                                        </p:tav>
                                        <p:tav tm="100000">
                                          <p:val>
                                            <p:strVal val="#ppt_x"/>
                                          </p:val>
                                        </p:tav>
                                      </p:tavLst>
                                    </p:anim>
                                    <p:anim calcmode="lin" valueType="num">
                                      <p:cBhvr additive="base">
                                        <p:cTn id="109" dur="500" fill="hold"/>
                                        <p:tgtEl>
                                          <p:spTgt spid="27"/>
                                        </p:tgtEl>
                                        <p:attrNameLst>
                                          <p:attrName>ppt_y</p:attrName>
                                        </p:attrNameLst>
                                      </p:cBhvr>
                                      <p:tavLst>
                                        <p:tav tm="0">
                                          <p:val>
                                            <p:strVal val="#ppt_y"/>
                                          </p:val>
                                        </p:tav>
                                        <p:tav tm="100000">
                                          <p:val>
                                            <p:strVal val="#ppt_y"/>
                                          </p:val>
                                        </p:tav>
                                      </p:tavLst>
                                    </p:anim>
                                  </p:childTnLst>
                                </p:cTn>
                              </p:par>
                              <p:par>
                                <p:cTn id="110" presetID="2" presetClass="entr" presetSubtype="2" fill="hold" grpId="0" nodeType="withEffect">
                                  <p:stCondLst>
                                    <p:cond delay="0"/>
                                  </p:stCondLst>
                                  <p:childTnLst>
                                    <p:set>
                                      <p:cBhvr>
                                        <p:cTn id="111" dur="1" fill="hold">
                                          <p:stCondLst>
                                            <p:cond delay="0"/>
                                          </p:stCondLst>
                                        </p:cTn>
                                        <p:tgtEl>
                                          <p:spTgt spid="3"/>
                                        </p:tgtEl>
                                        <p:attrNameLst>
                                          <p:attrName>style.visibility</p:attrName>
                                        </p:attrNameLst>
                                      </p:cBhvr>
                                      <p:to>
                                        <p:strVal val="visible"/>
                                      </p:to>
                                    </p:set>
                                    <p:anim calcmode="lin" valueType="num">
                                      <p:cBhvr additive="base">
                                        <p:cTn id="112" dur="500" fill="hold"/>
                                        <p:tgtEl>
                                          <p:spTgt spid="3"/>
                                        </p:tgtEl>
                                        <p:attrNameLst>
                                          <p:attrName>ppt_x</p:attrName>
                                        </p:attrNameLst>
                                      </p:cBhvr>
                                      <p:tavLst>
                                        <p:tav tm="0">
                                          <p:val>
                                            <p:strVal val="1+#ppt_w/2"/>
                                          </p:val>
                                        </p:tav>
                                        <p:tav tm="100000">
                                          <p:val>
                                            <p:strVal val="#ppt_x"/>
                                          </p:val>
                                        </p:tav>
                                      </p:tavLst>
                                    </p:anim>
                                    <p:anim calcmode="lin" valueType="num">
                                      <p:cBhvr additive="base">
                                        <p:cTn id="113" dur="500" fill="hold"/>
                                        <p:tgtEl>
                                          <p:spTgt spid="3"/>
                                        </p:tgtEl>
                                        <p:attrNameLst>
                                          <p:attrName>ppt_y</p:attrName>
                                        </p:attrNameLst>
                                      </p:cBhvr>
                                      <p:tavLst>
                                        <p:tav tm="0">
                                          <p:val>
                                            <p:strVal val="#ppt_y"/>
                                          </p:val>
                                        </p:tav>
                                        <p:tav tm="100000">
                                          <p:val>
                                            <p:strVal val="#ppt_y"/>
                                          </p:val>
                                        </p:tav>
                                      </p:tavLst>
                                    </p:anim>
                                  </p:childTnLst>
                                </p:cTn>
                              </p:par>
                              <p:par>
                                <p:cTn id="114" presetID="2" presetClass="entr" presetSubtype="2" fill="hold" grpId="0" nodeType="withEffect">
                                  <p:stCondLst>
                                    <p:cond delay="0"/>
                                  </p:stCondLst>
                                  <p:childTnLst>
                                    <p:set>
                                      <p:cBhvr>
                                        <p:cTn id="115" dur="1" fill="hold">
                                          <p:stCondLst>
                                            <p:cond delay="0"/>
                                          </p:stCondLst>
                                        </p:cTn>
                                        <p:tgtEl>
                                          <p:spTgt spid="5"/>
                                        </p:tgtEl>
                                        <p:attrNameLst>
                                          <p:attrName>style.visibility</p:attrName>
                                        </p:attrNameLst>
                                      </p:cBhvr>
                                      <p:to>
                                        <p:strVal val="visible"/>
                                      </p:to>
                                    </p:set>
                                    <p:anim calcmode="lin" valueType="num">
                                      <p:cBhvr additive="base">
                                        <p:cTn id="116" dur="500" fill="hold"/>
                                        <p:tgtEl>
                                          <p:spTgt spid="5"/>
                                        </p:tgtEl>
                                        <p:attrNameLst>
                                          <p:attrName>ppt_x</p:attrName>
                                        </p:attrNameLst>
                                      </p:cBhvr>
                                      <p:tavLst>
                                        <p:tav tm="0">
                                          <p:val>
                                            <p:strVal val="1+#ppt_w/2"/>
                                          </p:val>
                                        </p:tav>
                                        <p:tav tm="100000">
                                          <p:val>
                                            <p:strVal val="#ppt_x"/>
                                          </p:val>
                                        </p:tav>
                                      </p:tavLst>
                                    </p:anim>
                                    <p:anim calcmode="lin" valueType="num">
                                      <p:cBhvr additive="base">
                                        <p:cTn id="117" dur="500" fill="hold"/>
                                        <p:tgtEl>
                                          <p:spTgt spid="5"/>
                                        </p:tgtEl>
                                        <p:attrNameLst>
                                          <p:attrName>ppt_y</p:attrName>
                                        </p:attrNameLst>
                                      </p:cBhvr>
                                      <p:tavLst>
                                        <p:tav tm="0">
                                          <p:val>
                                            <p:strVal val="#ppt_y"/>
                                          </p:val>
                                        </p:tav>
                                        <p:tav tm="100000">
                                          <p:val>
                                            <p:strVal val="#ppt_y"/>
                                          </p:val>
                                        </p:tav>
                                      </p:tavLst>
                                    </p:anim>
                                  </p:childTnLst>
                                </p:cTn>
                              </p:par>
                              <p:par>
                                <p:cTn id="118" presetID="2" presetClass="entr" presetSubtype="2" fill="hold" nodeType="withEffect">
                                  <p:stCondLst>
                                    <p:cond delay="0"/>
                                  </p:stCondLst>
                                  <p:childTnLst>
                                    <p:set>
                                      <p:cBhvr>
                                        <p:cTn id="119" dur="1" fill="hold">
                                          <p:stCondLst>
                                            <p:cond delay="0"/>
                                          </p:stCondLst>
                                        </p:cTn>
                                        <p:tgtEl>
                                          <p:spTgt spid="101"/>
                                        </p:tgtEl>
                                        <p:attrNameLst>
                                          <p:attrName>style.visibility</p:attrName>
                                        </p:attrNameLst>
                                      </p:cBhvr>
                                      <p:to>
                                        <p:strVal val="visible"/>
                                      </p:to>
                                    </p:set>
                                    <p:anim calcmode="lin" valueType="num">
                                      <p:cBhvr additive="base">
                                        <p:cTn id="120" dur="500" fill="hold"/>
                                        <p:tgtEl>
                                          <p:spTgt spid="101"/>
                                        </p:tgtEl>
                                        <p:attrNameLst>
                                          <p:attrName>ppt_x</p:attrName>
                                        </p:attrNameLst>
                                      </p:cBhvr>
                                      <p:tavLst>
                                        <p:tav tm="0">
                                          <p:val>
                                            <p:strVal val="1+#ppt_w/2"/>
                                          </p:val>
                                        </p:tav>
                                        <p:tav tm="100000">
                                          <p:val>
                                            <p:strVal val="#ppt_x"/>
                                          </p:val>
                                        </p:tav>
                                      </p:tavLst>
                                    </p:anim>
                                    <p:anim calcmode="lin" valueType="num">
                                      <p:cBhvr additive="base">
                                        <p:cTn id="121" dur="500" fill="hold"/>
                                        <p:tgtEl>
                                          <p:spTgt spid="101"/>
                                        </p:tgtEl>
                                        <p:attrNameLst>
                                          <p:attrName>ppt_y</p:attrName>
                                        </p:attrNameLst>
                                      </p:cBhvr>
                                      <p:tavLst>
                                        <p:tav tm="0">
                                          <p:val>
                                            <p:strVal val="#ppt_y"/>
                                          </p:val>
                                        </p:tav>
                                        <p:tav tm="100000">
                                          <p:val>
                                            <p:strVal val="#ppt_y"/>
                                          </p:val>
                                        </p:tav>
                                      </p:tavLst>
                                    </p:anim>
                                  </p:childTnLst>
                                </p:cTn>
                              </p:par>
                              <p:par>
                                <p:cTn id="122" presetID="2" presetClass="entr" presetSubtype="2" fill="hold" nodeType="withEffect">
                                  <p:stCondLst>
                                    <p:cond delay="0"/>
                                  </p:stCondLst>
                                  <p:childTnLst>
                                    <p:set>
                                      <p:cBhvr>
                                        <p:cTn id="123" dur="1" fill="hold">
                                          <p:stCondLst>
                                            <p:cond delay="0"/>
                                          </p:stCondLst>
                                        </p:cTn>
                                        <p:tgtEl>
                                          <p:spTgt spid="102"/>
                                        </p:tgtEl>
                                        <p:attrNameLst>
                                          <p:attrName>style.visibility</p:attrName>
                                        </p:attrNameLst>
                                      </p:cBhvr>
                                      <p:to>
                                        <p:strVal val="visible"/>
                                      </p:to>
                                    </p:set>
                                    <p:anim calcmode="lin" valueType="num">
                                      <p:cBhvr additive="base">
                                        <p:cTn id="124" dur="500" fill="hold"/>
                                        <p:tgtEl>
                                          <p:spTgt spid="102"/>
                                        </p:tgtEl>
                                        <p:attrNameLst>
                                          <p:attrName>ppt_x</p:attrName>
                                        </p:attrNameLst>
                                      </p:cBhvr>
                                      <p:tavLst>
                                        <p:tav tm="0">
                                          <p:val>
                                            <p:strVal val="1+#ppt_w/2"/>
                                          </p:val>
                                        </p:tav>
                                        <p:tav tm="100000">
                                          <p:val>
                                            <p:strVal val="#ppt_x"/>
                                          </p:val>
                                        </p:tav>
                                      </p:tavLst>
                                    </p:anim>
                                    <p:anim calcmode="lin" valueType="num">
                                      <p:cBhvr additive="base">
                                        <p:cTn id="125" dur="500" fill="hold"/>
                                        <p:tgtEl>
                                          <p:spTgt spid="102"/>
                                        </p:tgtEl>
                                        <p:attrNameLst>
                                          <p:attrName>ppt_y</p:attrName>
                                        </p:attrNameLst>
                                      </p:cBhvr>
                                      <p:tavLst>
                                        <p:tav tm="0">
                                          <p:val>
                                            <p:strVal val="#ppt_y"/>
                                          </p:val>
                                        </p:tav>
                                        <p:tav tm="100000">
                                          <p:val>
                                            <p:strVal val="#ppt_y"/>
                                          </p:val>
                                        </p:tav>
                                      </p:tavLst>
                                    </p:anim>
                                  </p:childTnLst>
                                </p:cTn>
                              </p:par>
                              <p:par>
                                <p:cTn id="126" presetID="2" presetClass="entr" presetSubtype="2" fill="hold" nodeType="withEffect">
                                  <p:stCondLst>
                                    <p:cond delay="0"/>
                                  </p:stCondLst>
                                  <p:childTnLst>
                                    <p:set>
                                      <p:cBhvr>
                                        <p:cTn id="127" dur="1" fill="hold">
                                          <p:stCondLst>
                                            <p:cond delay="0"/>
                                          </p:stCondLst>
                                        </p:cTn>
                                        <p:tgtEl>
                                          <p:spTgt spid="110"/>
                                        </p:tgtEl>
                                        <p:attrNameLst>
                                          <p:attrName>style.visibility</p:attrName>
                                        </p:attrNameLst>
                                      </p:cBhvr>
                                      <p:to>
                                        <p:strVal val="visible"/>
                                      </p:to>
                                    </p:set>
                                    <p:anim calcmode="lin" valueType="num">
                                      <p:cBhvr additive="base">
                                        <p:cTn id="128" dur="500" fill="hold"/>
                                        <p:tgtEl>
                                          <p:spTgt spid="110"/>
                                        </p:tgtEl>
                                        <p:attrNameLst>
                                          <p:attrName>ppt_x</p:attrName>
                                        </p:attrNameLst>
                                      </p:cBhvr>
                                      <p:tavLst>
                                        <p:tav tm="0">
                                          <p:val>
                                            <p:strVal val="1+#ppt_w/2"/>
                                          </p:val>
                                        </p:tav>
                                        <p:tav tm="100000">
                                          <p:val>
                                            <p:strVal val="#ppt_x"/>
                                          </p:val>
                                        </p:tav>
                                      </p:tavLst>
                                    </p:anim>
                                    <p:anim calcmode="lin" valueType="num">
                                      <p:cBhvr additive="base">
                                        <p:cTn id="129" dur="500" fill="hold"/>
                                        <p:tgtEl>
                                          <p:spTgt spid="110"/>
                                        </p:tgtEl>
                                        <p:attrNameLst>
                                          <p:attrName>ppt_y</p:attrName>
                                        </p:attrNameLst>
                                      </p:cBhvr>
                                      <p:tavLst>
                                        <p:tav tm="0">
                                          <p:val>
                                            <p:strVal val="#ppt_y"/>
                                          </p:val>
                                        </p:tav>
                                        <p:tav tm="100000">
                                          <p:val>
                                            <p:strVal val="#ppt_y"/>
                                          </p:val>
                                        </p:tav>
                                      </p:tavLst>
                                    </p:anim>
                                  </p:childTnLst>
                                </p:cTn>
                              </p:par>
                              <p:par>
                                <p:cTn id="130" presetID="2" presetClass="entr" presetSubtype="2" fill="hold" nodeType="withEffect">
                                  <p:stCondLst>
                                    <p:cond delay="0"/>
                                  </p:stCondLst>
                                  <p:childTnLst>
                                    <p:set>
                                      <p:cBhvr>
                                        <p:cTn id="131" dur="1" fill="hold">
                                          <p:stCondLst>
                                            <p:cond delay="0"/>
                                          </p:stCondLst>
                                        </p:cTn>
                                        <p:tgtEl>
                                          <p:spTgt spid="118"/>
                                        </p:tgtEl>
                                        <p:attrNameLst>
                                          <p:attrName>style.visibility</p:attrName>
                                        </p:attrNameLst>
                                      </p:cBhvr>
                                      <p:to>
                                        <p:strVal val="visible"/>
                                      </p:to>
                                    </p:set>
                                    <p:anim calcmode="lin" valueType="num">
                                      <p:cBhvr additive="base">
                                        <p:cTn id="132" dur="500" fill="hold"/>
                                        <p:tgtEl>
                                          <p:spTgt spid="118"/>
                                        </p:tgtEl>
                                        <p:attrNameLst>
                                          <p:attrName>ppt_x</p:attrName>
                                        </p:attrNameLst>
                                      </p:cBhvr>
                                      <p:tavLst>
                                        <p:tav tm="0">
                                          <p:val>
                                            <p:strVal val="1+#ppt_w/2"/>
                                          </p:val>
                                        </p:tav>
                                        <p:tav tm="100000">
                                          <p:val>
                                            <p:strVal val="#ppt_x"/>
                                          </p:val>
                                        </p:tav>
                                      </p:tavLst>
                                    </p:anim>
                                    <p:anim calcmode="lin" valueType="num">
                                      <p:cBhvr additive="base">
                                        <p:cTn id="133" dur="500" fill="hold"/>
                                        <p:tgtEl>
                                          <p:spTgt spid="118"/>
                                        </p:tgtEl>
                                        <p:attrNameLst>
                                          <p:attrName>ppt_y</p:attrName>
                                        </p:attrNameLst>
                                      </p:cBhvr>
                                      <p:tavLst>
                                        <p:tav tm="0">
                                          <p:val>
                                            <p:strVal val="#ppt_y"/>
                                          </p:val>
                                        </p:tav>
                                        <p:tav tm="100000">
                                          <p:val>
                                            <p:strVal val="#ppt_y"/>
                                          </p:val>
                                        </p:tav>
                                      </p:tavLst>
                                    </p:anim>
                                  </p:childTnLst>
                                </p:cTn>
                              </p:par>
                              <p:par>
                                <p:cTn id="134" presetID="2" presetClass="entr" presetSubtype="2" fill="hold" nodeType="withEffect">
                                  <p:stCondLst>
                                    <p:cond delay="0"/>
                                  </p:stCondLst>
                                  <p:childTnLst>
                                    <p:set>
                                      <p:cBhvr>
                                        <p:cTn id="135" dur="1" fill="hold">
                                          <p:stCondLst>
                                            <p:cond delay="0"/>
                                          </p:stCondLst>
                                        </p:cTn>
                                        <p:tgtEl>
                                          <p:spTgt spid="126"/>
                                        </p:tgtEl>
                                        <p:attrNameLst>
                                          <p:attrName>style.visibility</p:attrName>
                                        </p:attrNameLst>
                                      </p:cBhvr>
                                      <p:to>
                                        <p:strVal val="visible"/>
                                      </p:to>
                                    </p:set>
                                    <p:anim calcmode="lin" valueType="num">
                                      <p:cBhvr additive="base">
                                        <p:cTn id="136" dur="500" fill="hold"/>
                                        <p:tgtEl>
                                          <p:spTgt spid="126"/>
                                        </p:tgtEl>
                                        <p:attrNameLst>
                                          <p:attrName>ppt_x</p:attrName>
                                        </p:attrNameLst>
                                      </p:cBhvr>
                                      <p:tavLst>
                                        <p:tav tm="0">
                                          <p:val>
                                            <p:strVal val="1+#ppt_w/2"/>
                                          </p:val>
                                        </p:tav>
                                        <p:tav tm="100000">
                                          <p:val>
                                            <p:strVal val="#ppt_x"/>
                                          </p:val>
                                        </p:tav>
                                      </p:tavLst>
                                    </p:anim>
                                    <p:anim calcmode="lin" valueType="num">
                                      <p:cBhvr additive="base">
                                        <p:cTn id="137" dur="500" fill="hold"/>
                                        <p:tgtEl>
                                          <p:spTgt spid="126"/>
                                        </p:tgtEl>
                                        <p:attrNameLst>
                                          <p:attrName>ppt_y</p:attrName>
                                        </p:attrNameLst>
                                      </p:cBhvr>
                                      <p:tavLst>
                                        <p:tav tm="0">
                                          <p:val>
                                            <p:strVal val="#ppt_y"/>
                                          </p:val>
                                        </p:tav>
                                        <p:tav tm="100000">
                                          <p:val>
                                            <p:strVal val="#ppt_y"/>
                                          </p:val>
                                        </p:tav>
                                      </p:tavLst>
                                    </p:anim>
                                  </p:childTnLst>
                                </p:cTn>
                              </p:par>
                              <p:par>
                                <p:cTn id="138" presetID="2" presetClass="entr" presetSubtype="2" fill="hold" nodeType="withEffect">
                                  <p:stCondLst>
                                    <p:cond delay="0"/>
                                  </p:stCondLst>
                                  <p:childTnLst>
                                    <p:set>
                                      <p:cBhvr>
                                        <p:cTn id="139" dur="1" fill="hold">
                                          <p:stCondLst>
                                            <p:cond delay="0"/>
                                          </p:stCondLst>
                                        </p:cTn>
                                        <p:tgtEl>
                                          <p:spTgt spid="134"/>
                                        </p:tgtEl>
                                        <p:attrNameLst>
                                          <p:attrName>style.visibility</p:attrName>
                                        </p:attrNameLst>
                                      </p:cBhvr>
                                      <p:to>
                                        <p:strVal val="visible"/>
                                      </p:to>
                                    </p:set>
                                    <p:anim calcmode="lin" valueType="num">
                                      <p:cBhvr additive="base">
                                        <p:cTn id="140" dur="500" fill="hold"/>
                                        <p:tgtEl>
                                          <p:spTgt spid="134"/>
                                        </p:tgtEl>
                                        <p:attrNameLst>
                                          <p:attrName>ppt_x</p:attrName>
                                        </p:attrNameLst>
                                      </p:cBhvr>
                                      <p:tavLst>
                                        <p:tav tm="0">
                                          <p:val>
                                            <p:strVal val="1+#ppt_w/2"/>
                                          </p:val>
                                        </p:tav>
                                        <p:tav tm="100000">
                                          <p:val>
                                            <p:strVal val="#ppt_x"/>
                                          </p:val>
                                        </p:tav>
                                      </p:tavLst>
                                    </p:anim>
                                    <p:anim calcmode="lin" valueType="num">
                                      <p:cBhvr additive="base">
                                        <p:cTn id="141" dur="500" fill="hold"/>
                                        <p:tgtEl>
                                          <p:spTgt spid="134"/>
                                        </p:tgtEl>
                                        <p:attrNameLst>
                                          <p:attrName>ppt_y</p:attrName>
                                        </p:attrNameLst>
                                      </p:cBhvr>
                                      <p:tavLst>
                                        <p:tav tm="0">
                                          <p:val>
                                            <p:strVal val="#ppt_y"/>
                                          </p:val>
                                        </p:tav>
                                        <p:tav tm="100000">
                                          <p:val>
                                            <p:strVal val="#ppt_y"/>
                                          </p:val>
                                        </p:tav>
                                      </p:tavLst>
                                    </p:anim>
                                  </p:childTnLst>
                                </p:cTn>
                              </p:par>
                              <p:par>
                                <p:cTn id="142" presetID="2" presetClass="entr" presetSubtype="2" fill="hold" nodeType="withEffect">
                                  <p:stCondLst>
                                    <p:cond delay="0"/>
                                  </p:stCondLst>
                                  <p:childTnLst>
                                    <p:set>
                                      <p:cBhvr>
                                        <p:cTn id="143" dur="1" fill="hold">
                                          <p:stCondLst>
                                            <p:cond delay="0"/>
                                          </p:stCondLst>
                                        </p:cTn>
                                        <p:tgtEl>
                                          <p:spTgt spid="142"/>
                                        </p:tgtEl>
                                        <p:attrNameLst>
                                          <p:attrName>style.visibility</p:attrName>
                                        </p:attrNameLst>
                                      </p:cBhvr>
                                      <p:to>
                                        <p:strVal val="visible"/>
                                      </p:to>
                                    </p:set>
                                    <p:anim calcmode="lin" valueType="num">
                                      <p:cBhvr additive="base">
                                        <p:cTn id="144" dur="500" fill="hold"/>
                                        <p:tgtEl>
                                          <p:spTgt spid="142"/>
                                        </p:tgtEl>
                                        <p:attrNameLst>
                                          <p:attrName>ppt_x</p:attrName>
                                        </p:attrNameLst>
                                      </p:cBhvr>
                                      <p:tavLst>
                                        <p:tav tm="0">
                                          <p:val>
                                            <p:strVal val="1+#ppt_w/2"/>
                                          </p:val>
                                        </p:tav>
                                        <p:tav tm="100000">
                                          <p:val>
                                            <p:strVal val="#ppt_x"/>
                                          </p:val>
                                        </p:tav>
                                      </p:tavLst>
                                    </p:anim>
                                    <p:anim calcmode="lin" valueType="num">
                                      <p:cBhvr additive="base">
                                        <p:cTn id="145" dur="500" fill="hold"/>
                                        <p:tgtEl>
                                          <p:spTgt spid="142"/>
                                        </p:tgtEl>
                                        <p:attrNameLst>
                                          <p:attrName>ppt_y</p:attrName>
                                        </p:attrNameLst>
                                      </p:cBhvr>
                                      <p:tavLst>
                                        <p:tav tm="0">
                                          <p:val>
                                            <p:strVal val="#ppt_y"/>
                                          </p:val>
                                        </p:tav>
                                        <p:tav tm="100000">
                                          <p:val>
                                            <p:strVal val="#ppt_y"/>
                                          </p:val>
                                        </p:tav>
                                      </p:tavLst>
                                    </p:anim>
                                  </p:childTnLst>
                                </p:cTn>
                              </p:par>
                              <p:par>
                                <p:cTn id="146" presetID="2" presetClass="entr" presetSubtype="2" fill="hold" nodeType="withEffect">
                                  <p:stCondLst>
                                    <p:cond delay="0"/>
                                  </p:stCondLst>
                                  <p:childTnLst>
                                    <p:set>
                                      <p:cBhvr>
                                        <p:cTn id="147" dur="1" fill="hold">
                                          <p:stCondLst>
                                            <p:cond delay="0"/>
                                          </p:stCondLst>
                                        </p:cTn>
                                        <p:tgtEl>
                                          <p:spTgt spid="150"/>
                                        </p:tgtEl>
                                        <p:attrNameLst>
                                          <p:attrName>style.visibility</p:attrName>
                                        </p:attrNameLst>
                                      </p:cBhvr>
                                      <p:to>
                                        <p:strVal val="visible"/>
                                      </p:to>
                                    </p:set>
                                    <p:anim calcmode="lin" valueType="num">
                                      <p:cBhvr additive="base">
                                        <p:cTn id="148" dur="500" fill="hold"/>
                                        <p:tgtEl>
                                          <p:spTgt spid="150"/>
                                        </p:tgtEl>
                                        <p:attrNameLst>
                                          <p:attrName>ppt_x</p:attrName>
                                        </p:attrNameLst>
                                      </p:cBhvr>
                                      <p:tavLst>
                                        <p:tav tm="0">
                                          <p:val>
                                            <p:strVal val="1+#ppt_w/2"/>
                                          </p:val>
                                        </p:tav>
                                        <p:tav tm="100000">
                                          <p:val>
                                            <p:strVal val="#ppt_x"/>
                                          </p:val>
                                        </p:tav>
                                      </p:tavLst>
                                    </p:anim>
                                    <p:anim calcmode="lin" valueType="num">
                                      <p:cBhvr additive="base">
                                        <p:cTn id="149" dur="500" fill="hold"/>
                                        <p:tgtEl>
                                          <p:spTgt spid="150"/>
                                        </p:tgtEl>
                                        <p:attrNameLst>
                                          <p:attrName>ppt_y</p:attrName>
                                        </p:attrNameLst>
                                      </p:cBhvr>
                                      <p:tavLst>
                                        <p:tav tm="0">
                                          <p:val>
                                            <p:strVal val="#ppt_y"/>
                                          </p:val>
                                        </p:tav>
                                        <p:tav tm="100000">
                                          <p:val>
                                            <p:strVal val="#ppt_y"/>
                                          </p:val>
                                        </p:tav>
                                      </p:tavLst>
                                    </p:anim>
                                  </p:childTnLst>
                                </p:cTn>
                              </p:par>
                              <p:par>
                                <p:cTn id="150" presetID="2" presetClass="entr" presetSubtype="2" fill="hold" grpId="0" nodeType="withEffect">
                                  <p:stCondLst>
                                    <p:cond delay="0"/>
                                  </p:stCondLst>
                                  <p:childTnLst>
                                    <p:set>
                                      <p:cBhvr>
                                        <p:cTn id="151" dur="1" fill="hold">
                                          <p:stCondLst>
                                            <p:cond delay="0"/>
                                          </p:stCondLst>
                                        </p:cTn>
                                        <p:tgtEl>
                                          <p:spTgt spid="158"/>
                                        </p:tgtEl>
                                        <p:attrNameLst>
                                          <p:attrName>style.visibility</p:attrName>
                                        </p:attrNameLst>
                                      </p:cBhvr>
                                      <p:to>
                                        <p:strVal val="visible"/>
                                      </p:to>
                                    </p:set>
                                    <p:anim calcmode="lin" valueType="num">
                                      <p:cBhvr additive="base">
                                        <p:cTn id="152" dur="500" fill="hold"/>
                                        <p:tgtEl>
                                          <p:spTgt spid="158"/>
                                        </p:tgtEl>
                                        <p:attrNameLst>
                                          <p:attrName>ppt_x</p:attrName>
                                        </p:attrNameLst>
                                      </p:cBhvr>
                                      <p:tavLst>
                                        <p:tav tm="0">
                                          <p:val>
                                            <p:strVal val="1+#ppt_w/2"/>
                                          </p:val>
                                        </p:tav>
                                        <p:tav tm="100000">
                                          <p:val>
                                            <p:strVal val="#ppt_x"/>
                                          </p:val>
                                        </p:tav>
                                      </p:tavLst>
                                    </p:anim>
                                    <p:anim calcmode="lin" valueType="num">
                                      <p:cBhvr additive="base">
                                        <p:cTn id="153" dur="500" fill="hold"/>
                                        <p:tgtEl>
                                          <p:spTgt spid="158"/>
                                        </p:tgtEl>
                                        <p:attrNameLst>
                                          <p:attrName>ppt_y</p:attrName>
                                        </p:attrNameLst>
                                      </p:cBhvr>
                                      <p:tavLst>
                                        <p:tav tm="0">
                                          <p:val>
                                            <p:strVal val="#ppt_y"/>
                                          </p:val>
                                        </p:tav>
                                        <p:tav tm="100000">
                                          <p:val>
                                            <p:strVal val="#ppt_y"/>
                                          </p:val>
                                        </p:tav>
                                      </p:tavLst>
                                    </p:anim>
                                  </p:childTnLst>
                                </p:cTn>
                              </p:par>
                              <p:par>
                                <p:cTn id="154" presetID="2" presetClass="entr" presetSubtype="2" fill="hold" grpId="0" nodeType="withEffect">
                                  <p:stCondLst>
                                    <p:cond delay="0"/>
                                  </p:stCondLst>
                                  <p:childTnLst>
                                    <p:set>
                                      <p:cBhvr>
                                        <p:cTn id="155" dur="1" fill="hold">
                                          <p:stCondLst>
                                            <p:cond delay="0"/>
                                          </p:stCondLst>
                                        </p:cTn>
                                        <p:tgtEl>
                                          <p:spTgt spid="159"/>
                                        </p:tgtEl>
                                        <p:attrNameLst>
                                          <p:attrName>style.visibility</p:attrName>
                                        </p:attrNameLst>
                                      </p:cBhvr>
                                      <p:to>
                                        <p:strVal val="visible"/>
                                      </p:to>
                                    </p:set>
                                    <p:anim calcmode="lin" valueType="num">
                                      <p:cBhvr additive="base">
                                        <p:cTn id="156" dur="500" fill="hold"/>
                                        <p:tgtEl>
                                          <p:spTgt spid="159"/>
                                        </p:tgtEl>
                                        <p:attrNameLst>
                                          <p:attrName>ppt_x</p:attrName>
                                        </p:attrNameLst>
                                      </p:cBhvr>
                                      <p:tavLst>
                                        <p:tav tm="0">
                                          <p:val>
                                            <p:strVal val="1+#ppt_w/2"/>
                                          </p:val>
                                        </p:tav>
                                        <p:tav tm="100000">
                                          <p:val>
                                            <p:strVal val="#ppt_x"/>
                                          </p:val>
                                        </p:tav>
                                      </p:tavLst>
                                    </p:anim>
                                    <p:anim calcmode="lin" valueType="num">
                                      <p:cBhvr additive="base">
                                        <p:cTn id="157" dur="500" fill="hold"/>
                                        <p:tgtEl>
                                          <p:spTgt spid="159"/>
                                        </p:tgtEl>
                                        <p:attrNameLst>
                                          <p:attrName>ppt_y</p:attrName>
                                        </p:attrNameLst>
                                      </p:cBhvr>
                                      <p:tavLst>
                                        <p:tav tm="0">
                                          <p:val>
                                            <p:strVal val="#ppt_y"/>
                                          </p:val>
                                        </p:tav>
                                        <p:tav tm="100000">
                                          <p:val>
                                            <p:strVal val="#ppt_y"/>
                                          </p:val>
                                        </p:tav>
                                      </p:tavLst>
                                    </p:anim>
                                  </p:childTnLst>
                                </p:cTn>
                              </p:par>
                              <p:par>
                                <p:cTn id="158" presetID="2" presetClass="entr" presetSubtype="2" fill="hold" grpId="0" nodeType="withEffect">
                                  <p:stCondLst>
                                    <p:cond delay="0"/>
                                  </p:stCondLst>
                                  <p:childTnLst>
                                    <p:set>
                                      <p:cBhvr>
                                        <p:cTn id="159" dur="1" fill="hold">
                                          <p:stCondLst>
                                            <p:cond delay="0"/>
                                          </p:stCondLst>
                                        </p:cTn>
                                        <p:tgtEl>
                                          <p:spTgt spid="160"/>
                                        </p:tgtEl>
                                        <p:attrNameLst>
                                          <p:attrName>style.visibility</p:attrName>
                                        </p:attrNameLst>
                                      </p:cBhvr>
                                      <p:to>
                                        <p:strVal val="visible"/>
                                      </p:to>
                                    </p:set>
                                    <p:anim calcmode="lin" valueType="num">
                                      <p:cBhvr additive="base">
                                        <p:cTn id="160" dur="500" fill="hold"/>
                                        <p:tgtEl>
                                          <p:spTgt spid="160"/>
                                        </p:tgtEl>
                                        <p:attrNameLst>
                                          <p:attrName>ppt_x</p:attrName>
                                        </p:attrNameLst>
                                      </p:cBhvr>
                                      <p:tavLst>
                                        <p:tav tm="0">
                                          <p:val>
                                            <p:strVal val="1+#ppt_w/2"/>
                                          </p:val>
                                        </p:tav>
                                        <p:tav tm="100000">
                                          <p:val>
                                            <p:strVal val="#ppt_x"/>
                                          </p:val>
                                        </p:tav>
                                      </p:tavLst>
                                    </p:anim>
                                    <p:anim calcmode="lin" valueType="num">
                                      <p:cBhvr additive="base">
                                        <p:cTn id="161" dur="500" fill="hold"/>
                                        <p:tgtEl>
                                          <p:spTgt spid="160"/>
                                        </p:tgtEl>
                                        <p:attrNameLst>
                                          <p:attrName>ppt_y</p:attrName>
                                        </p:attrNameLst>
                                      </p:cBhvr>
                                      <p:tavLst>
                                        <p:tav tm="0">
                                          <p:val>
                                            <p:strVal val="#ppt_y"/>
                                          </p:val>
                                        </p:tav>
                                        <p:tav tm="100000">
                                          <p:val>
                                            <p:strVal val="#ppt_y"/>
                                          </p:val>
                                        </p:tav>
                                      </p:tavLst>
                                    </p:anim>
                                  </p:childTnLst>
                                </p:cTn>
                              </p:par>
                              <p:par>
                                <p:cTn id="162" presetID="2" presetClass="entr" presetSubtype="2" fill="hold" grpId="0" nodeType="withEffect">
                                  <p:stCondLst>
                                    <p:cond delay="0"/>
                                  </p:stCondLst>
                                  <p:childTnLst>
                                    <p:set>
                                      <p:cBhvr>
                                        <p:cTn id="163" dur="1" fill="hold">
                                          <p:stCondLst>
                                            <p:cond delay="0"/>
                                          </p:stCondLst>
                                        </p:cTn>
                                        <p:tgtEl>
                                          <p:spTgt spid="161"/>
                                        </p:tgtEl>
                                        <p:attrNameLst>
                                          <p:attrName>style.visibility</p:attrName>
                                        </p:attrNameLst>
                                      </p:cBhvr>
                                      <p:to>
                                        <p:strVal val="visible"/>
                                      </p:to>
                                    </p:set>
                                    <p:anim calcmode="lin" valueType="num">
                                      <p:cBhvr additive="base">
                                        <p:cTn id="164" dur="500" fill="hold"/>
                                        <p:tgtEl>
                                          <p:spTgt spid="161"/>
                                        </p:tgtEl>
                                        <p:attrNameLst>
                                          <p:attrName>ppt_x</p:attrName>
                                        </p:attrNameLst>
                                      </p:cBhvr>
                                      <p:tavLst>
                                        <p:tav tm="0">
                                          <p:val>
                                            <p:strVal val="1+#ppt_w/2"/>
                                          </p:val>
                                        </p:tav>
                                        <p:tav tm="100000">
                                          <p:val>
                                            <p:strVal val="#ppt_x"/>
                                          </p:val>
                                        </p:tav>
                                      </p:tavLst>
                                    </p:anim>
                                    <p:anim calcmode="lin" valueType="num">
                                      <p:cBhvr additive="base">
                                        <p:cTn id="165" dur="500" fill="hold"/>
                                        <p:tgtEl>
                                          <p:spTgt spid="161"/>
                                        </p:tgtEl>
                                        <p:attrNameLst>
                                          <p:attrName>ppt_y</p:attrName>
                                        </p:attrNameLst>
                                      </p:cBhvr>
                                      <p:tavLst>
                                        <p:tav tm="0">
                                          <p:val>
                                            <p:strVal val="#ppt_y"/>
                                          </p:val>
                                        </p:tav>
                                        <p:tav tm="100000">
                                          <p:val>
                                            <p:strVal val="#ppt_y"/>
                                          </p:val>
                                        </p:tav>
                                      </p:tavLst>
                                    </p:anim>
                                  </p:childTnLst>
                                </p:cTn>
                              </p:par>
                              <p:par>
                                <p:cTn id="166" presetID="2" presetClass="entr" presetSubtype="2" fill="hold" grpId="0" nodeType="withEffect">
                                  <p:stCondLst>
                                    <p:cond delay="0"/>
                                  </p:stCondLst>
                                  <p:childTnLst>
                                    <p:set>
                                      <p:cBhvr>
                                        <p:cTn id="167" dur="1" fill="hold">
                                          <p:stCondLst>
                                            <p:cond delay="0"/>
                                          </p:stCondLst>
                                        </p:cTn>
                                        <p:tgtEl>
                                          <p:spTgt spid="162"/>
                                        </p:tgtEl>
                                        <p:attrNameLst>
                                          <p:attrName>style.visibility</p:attrName>
                                        </p:attrNameLst>
                                      </p:cBhvr>
                                      <p:to>
                                        <p:strVal val="visible"/>
                                      </p:to>
                                    </p:set>
                                    <p:anim calcmode="lin" valueType="num">
                                      <p:cBhvr additive="base">
                                        <p:cTn id="168" dur="500" fill="hold"/>
                                        <p:tgtEl>
                                          <p:spTgt spid="162"/>
                                        </p:tgtEl>
                                        <p:attrNameLst>
                                          <p:attrName>ppt_x</p:attrName>
                                        </p:attrNameLst>
                                      </p:cBhvr>
                                      <p:tavLst>
                                        <p:tav tm="0">
                                          <p:val>
                                            <p:strVal val="1+#ppt_w/2"/>
                                          </p:val>
                                        </p:tav>
                                        <p:tav tm="100000">
                                          <p:val>
                                            <p:strVal val="#ppt_x"/>
                                          </p:val>
                                        </p:tav>
                                      </p:tavLst>
                                    </p:anim>
                                    <p:anim calcmode="lin" valueType="num">
                                      <p:cBhvr additive="base">
                                        <p:cTn id="169" dur="500" fill="hold"/>
                                        <p:tgtEl>
                                          <p:spTgt spid="162"/>
                                        </p:tgtEl>
                                        <p:attrNameLst>
                                          <p:attrName>ppt_y</p:attrName>
                                        </p:attrNameLst>
                                      </p:cBhvr>
                                      <p:tavLst>
                                        <p:tav tm="0">
                                          <p:val>
                                            <p:strVal val="#ppt_y"/>
                                          </p:val>
                                        </p:tav>
                                        <p:tav tm="100000">
                                          <p:val>
                                            <p:strVal val="#ppt_y"/>
                                          </p:val>
                                        </p:tav>
                                      </p:tavLst>
                                    </p:anim>
                                  </p:childTnLst>
                                </p:cTn>
                              </p:par>
                              <p:par>
                                <p:cTn id="170" presetID="2" presetClass="entr" presetSubtype="2" fill="hold" grpId="0" nodeType="withEffect">
                                  <p:stCondLst>
                                    <p:cond delay="0"/>
                                  </p:stCondLst>
                                  <p:childTnLst>
                                    <p:set>
                                      <p:cBhvr>
                                        <p:cTn id="171" dur="1" fill="hold">
                                          <p:stCondLst>
                                            <p:cond delay="0"/>
                                          </p:stCondLst>
                                        </p:cTn>
                                        <p:tgtEl>
                                          <p:spTgt spid="163"/>
                                        </p:tgtEl>
                                        <p:attrNameLst>
                                          <p:attrName>style.visibility</p:attrName>
                                        </p:attrNameLst>
                                      </p:cBhvr>
                                      <p:to>
                                        <p:strVal val="visible"/>
                                      </p:to>
                                    </p:set>
                                    <p:anim calcmode="lin" valueType="num">
                                      <p:cBhvr additive="base">
                                        <p:cTn id="172" dur="500" fill="hold"/>
                                        <p:tgtEl>
                                          <p:spTgt spid="163"/>
                                        </p:tgtEl>
                                        <p:attrNameLst>
                                          <p:attrName>ppt_x</p:attrName>
                                        </p:attrNameLst>
                                      </p:cBhvr>
                                      <p:tavLst>
                                        <p:tav tm="0">
                                          <p:val>
                                            <p:strVal val="1+#ppt_w/2"/>
                                          </p:val>
                                        </p:tav>
                                        <p:tav tm="100000">
                                          <p:val>
                                            <p:strVal val="#ppt_x"/>
                                          </p:val>
                                        </p:tav>
                                      </p:tavLst>
                                    </p:anim>
                                    <p:anim calcmode="lin" valueType="num">
                                      <p:cBhvr additive="base">
                                        <p:cTn id="173" dur="500" fill="hold"/>
                                        <p:tgtEl>
                                          <p:spTgt spid="163"/>
                                        </p:tgtEl>
                                        <p:attrNameLst>
                                          <p:attrName>ppt_y</p:attrName>
                                        </p:attrNameLst>
                                      </p:cBhvr>
                                      <p:tavLst>
                                        <p:tav tm="0">
                                          <p:val>
                                            <p:strVal val="#ppt_y"/>
                                          </p:val>
                                        </p:tav>
                                        <p:tav tm="100000">
                                          <p:val>
                                            <p:strVal val="#ppt_y"/>
                                          </p:val>
                                        </p:tav>
                                      </p:tavLst>
                                    </p:anim>
                                  </p:childTnLst>
                                </p:cTn>
                              </p:par>
                              <p:par>
                                <p:cTn id="174" presetID="2" presetClass="entr" presetSubtype="2" fill="hold" grpId="0" nodeType="withEffect">
                                  <p:stCondLst>
                                    <p:cond delay="0"/>
                                  </p:stCondLst>
                                  <p:childTnLst>
                                    <p:set>
                                      <p:cBhvr>
                                        <p:cTn id="175" dur="1" fill="hold">
                                          <p:stCondLst>
                                            <p:cond delay="0"/>
                                          </p:stCondLst>
                                        </p:cTn>
                                        <p:tgtEl>
                                          <p:spTgt spid="164"/>
                                        </p:tgtEl>
                                        <p:attrNameLst>
                                          <p:attrName>style.visibility</p:attrName>
                                        </p:attrNameLst>
                                      </p:cBhvr>
                                      <p:to>
                                        <p:strVal val="visible"/>
                                      </p:to>
                                    </p:set>
                                    <p:anim calcmode="lin" valueType="num">
                                      <p:cBhvr additive="base">
                                        <p:cTn id="176" dur="500" fill="hold"/>
                                        <p:tgtEl>
                                          <p:spTgt spid="164"/>
                                        </p:tgtEl>
                                        <p:attrNameLst>
                                          <p:attrName>ppt_x</p:attrName>
                                        </p:attrNameLst>
                                      </p:cBhvr>
                                      <p:tavLst>
                                        <p:tav tm="0">
                                          <p:val>
                                            <p:strVal val="1+#ppt_w/2"/>
                                          </p:val>
                                        </p:tav>
                                        <p:tav tm="100000">
                                          <p:val>
                                            <p:strVal val="#ppt_x"/>
                                          </p:val>
                                        </p:tav>
                                      </p:tavLst>
                                    </p:anim>
                                    <p:anim calcmode="lin" valueType="num">
                                      <p:cBhvr additive="base">
                                        <p:cTn id="177" dur="500" fill="hold"/>
                                        <p:tgtEl>
                                          <p:spTgt spid="164"/>
                                        </p:tgtEl>
                                        <p:attrNameLst>
                                          <p:attrName>ppt_y</p:attrName>
                                        </p:attrNameLst>
                                      </p:cBhvr>
                                      <p:tavLst>
                                        <p:tav tm="0">
                                          <p:val>
                                            <p:strVal val="#ppt_y"/>
                                          </p:val>
                                        </p:tav>
                                        <p:tav tm="100000">
                                          <p:val>
                                            <p:strVal val="#ppt_y"/>
                                          </p:val>
                                        </p:tav>
                                      </p:tavLst>
                                    </p:anim>
                                  </p:childTnLst>
                                </p:cTn>
                              </p:par>
                              <p:par>
                                <p:cTn id="178" presetID="2" presetClass="entr" presetSubtype="2" fill="hold" grpId="0" nodeType="withEffect">
                                  <p:stCondLst>
                                    <p:cond delay="0"/>
                                  </p:stCondLst>
                                  <p:childTnLst>
                                    <p:set>
                                      <p:cBhvr>
                                        <p:cTn id="179" dur="1" fill="hold">
                                          <p:stCondLst>
                                            <p:cond delay="0"/>
                                          </p:stCondLst>
                                        </p:cTn>
                                        <p:tgtEl>
                                          <p:spTgt spid="165"/>
                                        </p:tgtEl>
                                        <p:attrNameLst>
                                          <p:attrName>style.visibility</p:attrName>
                                        </p:attrNameLst>
                                      </p:cBhvr>
                                      <p:to>
                                        <p:strVal val="visible"/>
                                      </p:to>
                                    </p:set>
                                    <p:anim calcmode="lin" valueType="num">
                                      <p:cBhvr additive="base">
                                        <p:cTn id="180" dur="500" fill="hold"/>
                                        <p:tgtEl>
                                          <p:spTgt spid="165"/>
                                        </p:tgtEl>
                                        <p:attrNameLst>
                                          <p:attrName>ppt_x</p:attrName>
                                        </p:attrNameLst>
                                      </p:cBhvr>
                                      <p:tavLst>
                                        <p:tav tm="0">
                                          <p:val>
                                            <p:strVal val="1+#ppt_w/2"/>
                                          </p:val>
                                        </p:tav>
                                        <p:tav tm="100000">
                                          <p:val>
                                            <p:strVal val="#ppt_x"/>
                                          </p:val>
                                        </p:tav>
                                      </p:tavLst>
                                    </p:anim>
                                    <p:anim calcmode="lin" valueType="num">
                                      <p:cBhvr additive="base">
                                        <p:cTn id="181" dur="500" fill="hold"/>
                                        <p:tgtEl>
                                          <p:spTgt spid="165"/>
                                        </p:tgtEl>
                                        <p:attrNameLst>
                                          <p:attrName>ppt_y</p:attrName>
                                        </p:attrNameLst>
                                      </p:cBhvr>
                                      <p:tavLst>
                                        <p:tav tm="0">
                                          <p:val>
                                            <p:strVal val="#ppt_y"/>
                                          </p:val>
                                        </p:tav>
                                        <p:tav tm="100000">
                                          <p:val>
                                            <p:strVal val="#ppt_y"/>
                                          </p:val>
                                        </p:tav>
                                      </p:tavLst>
                                    </p:anim>
                                  </p:childTnLst>
                                </p:cTn>
                              </p:par>
                            </p:childTnLst>
                          </p:cTn>
                        </p:par>
                      </p:childTnLst>
                    </p:cTn>
                  </p:par>
                  <p:par>
                    <p:cTn id="182" fill="hold">
                      <p:stCondLst>
                        <p:cond delay="indefinite"/>
                      </p:stCondLst>
                      <p:childTnLst>
                        <p:par>
                          <p:cTn id="183" fill="hold">
                            <p:stCondLst>
                              <p:cond delay="0"/>
                            </p:stCondLst>
                            <p:childTnLst>
                              <p:par>
                                <p:cTn id="184" presetID="1" presetClass="entr" presetSubtype="0" fill="hold" nodeType="clickEffect">
                                  <p:stCondLst>
                                    <p:cond delay="0"/>
                                  </p:stCondLst>
                                  <p:childTnLst>
                                    <p:set>
                                      <p:cBhvr>
                                        <p:cTn id="185" dur="1" fill="hold">
                                          <p:stCondLst>
                                            <p:cond delay="0"/>
                                          </p:stCondLst>
                                        </p:cTn>
                                        <p:tgtEl>
                                          <p:spTgt spid="166"/>
                                        </p:tgtEl>
                                        <p:attrNameLst>
                                          <p:attrName>style.visibility</p:attrName>
                                        </p:attrNameLst>
                                      </p:cBhvr>
                                      <p:to>
                                        <p:strVal val="visible"/>
                                      </p:to>
                                    </p:set>
                                  </p:childTnLst>
                                </p:cTn>
                              </p:par>
                              <p:par>
                                <p:cTn id="186" presetID="1" presetClass="entr" presetSubtype="0" fill="hold" grpId="0" nodeType="withEffect">
                                  <p:stCondLst>
                                    <p:cond delay="0"/>
                                  </p:stCondLst>
                                  <p:childTnLst>
                                    <p:set>
                                      <p:cBhvr>
                                        <p:cTn id="187" dur="1" fill="hold">
                                          <p:stCondLst>
                                            <p:cond delay="0"/>
                                          </p:stCondLst>
                                        </p:cTn>
                                        <p:tgtEl>
                                          <p:spTgt spid="167"/>
                                        </p:tgtEl>
                                        <p:attrNameLst>
                                          <p:attrName>style.visibility</p:attrName>
                                        </p:attrNameLst>
                                      </p:cBhvr>
                                      <p:to>
                                        <p:strVal val="visible"/>
                                      </p:to>
                                    </p:set>
                                  </p:childTnLst>
                                </p:cTn>
                              </p:par>
                            </p:childTnLst>
                          </p:cTn>
                        </p:par>
                      </p:childTnLst>
                    </p:cTn>
                  </p:par>
                  <p:par>
                    <p:cTn id="188" fill="hold">
                      <p:stCondLst>
                        <p:cond delay="indefinite"/>
                      </p:stCondLst>
                      <p:childTnLst>
                        <p:par>
                          <p:cTn id="189" fill="hold">
                            <p:stCondLst>
                              <p:cond delay="0"/>
                            </p:stCondLst>
                            <p:childTnLst>
                              <p:par>
                                <p:cTn id="190" presetID="0" presetClass="path" presetSubtype="0" accel="50000" decel="50000" fill="hold" grpId="2" nodeType="clickEffect">
                                  <p:stCondLst>
                                    <p:cond delay="0"/>
                                  </p:stCondLst>
                                  <p:childTnLst>
                                    <p:animMotion origin="layout" path="M 0 0 C 0.0176389 -0.0250926 0.0264583 -0.137685 0.125208 -0.0946296 C 0.223958 -0.0515741 0.420069 0.15287 0.49375 0.215463 C 0.567431 0.278056 0.501111 0.223796 0.49375 0.218148 " pathEditMode="relative" ptsTypes="">
                                      <p:cBhvr>
                                        <p:cTn id="191" dur="2000" fill="hold"/>
                                        <p:tgtEl>
                                          <p:spTgt spid="158"/>
                                        </p:tgtEl>
                                        <p:attrNameLst>
                                          <p:attrName>ppt_x</p:attrName>
                                          <p:attrName>ppt_y</p:attrName>
                                        </p:attrNameLst>
                                      </p:cBhvr>
                                    </p:animMotion>
                                  </p:childTnLst>
                                </p:cTn>
                              </p:par>
                              <p:par>
                                <p:cTn id="192" presetID="0" presetClass="path" presetSubtype="0" accel="50000" decel="50000" fill="hold" nodeType="withEffect">
                                  <p:stCondLst>
                                    <p:cond delay="0"/>
                                  </p:stCondLst>
                                  <p:childTnLst>
                                    <p:animMotion origin="layout" path="M 0 0 C 0.0176389 -0.0250926 0.0264583 -0.137685 0.125208 -0.0946296 C 0.223958 -0.0515741 0.420069 0.15287 0.49375 0.215463 C 0.567431 0.278056 0.501111 0.223796 0.49375 0.218148 " pathEditMode="relative" ptsTypes="">
                                      <p:cBhvr>
                                        <p:cTn id="193" dur="2000" fill="hold"/>
                                        <p:tgtEl>
                                          <p:spTgt spid="101"/>
                                        </p:tgtEl>
                                        <p:attrNameLst>
                                          <p:attrName>ppt_x</p:attrName>
                                          <p:attrName>ppt_y</p:attrName>
                                        </p:attrNameLst>
                                      </p:cBhvr>
                                    </p:animMotion>
                                  </p:childTnLst>
                                </p:cTn>
                              </p:par>
                            </p:childTnLst>
                          </p:cTn>
                        </p:par>
                      </p:childTnLst>
                    </p:cTn>
                  </p:par>
                  <p:par>
                    <p:cTn id="194" fill="hold">
                      <p:stCondLst>
                        <p:cond delay="indefinite"/>
                      </p:stCondLst>
                      <p:childTnLst>
                        <p:par>
                          <p:cTn id="195" fill="hold">
                            <p:stCondLst>
                              <p:cond delay="0"/>
                            </p:stCondLst>
                            <p:childTnLst>
                              <p:par>
                                <p:cTn id="196" presetID="0" presetClass="path" presetSubtype="0" accel="50000" decel="50000" fill="hold" nodeType="clickEffect">
                                  <p:stCondLst>
                                    <p:cond delay="0"/>
                                  </p:stCondLst>
                                  <p:childTnLst>
                                    <p:animMotion origin="layout" path="M 0 0 L 0 -0.062963 " pathEditMode="relative" ptsTypes="">
                                      <p:cBhvr>
                                        <p:cTn id="197" dur="2000" fill="hold"/>
                                        <p:tgtEl>
                                          <p:spTgt spid="102"/>
                                        </p:tgtEl>
                                        <p:attrNameLst>
                                          <p:attrName>ppt_x</p:attrName>
                                          <p:attrName>ppt_y</p:attrName>
                                        </p:attrNameLst>
                                      </p:cBhvr>
                                    </p:animMotion>
                                  </p:childTnLst>
                                </p:cTn>
                              </p:par>
                              <p:par>
                                <p:cTn id="198" presetID="0" presetClass="path" presetSubtype="0" accel="50000" decel="50000" fill="hold" nodeType="withEffect">
                                  <p:stCondLst>
                                    <p:cond delay="0"/>
                                  </p:stCondLst>
                                  <p:childTnLst>
                                    <p:animMotion origin="layout" path="M 0 0 L 0 -0.062963 " pathEditMode="relative" ptsTypes="">
                                      <p:cBhvr>
                                        <p:cTn id="199" dur="2000" fill="hold"/>
                                        <p:tgtEl>
                                          <p:spTgt spid="110"/>
                                        </p:tgtEl>
                                        <p:attrNameLst>
                                          <p:attrName>ppt_x</p:attrName>
                                          <p:attrName>ppt_y</p:attrName>
                                        </p:attrNameLst>
                                      </p:cBhvr>
                                    </p:animMotion>
                                  </p:childTnLst>
                                </p:cTn>
                              </p:par>
                              <p:par>
                                <p:cTn id="200" presetID="0" presetClass="path" presetSubtype="0" accel="50000" decel="50000" fill="hold" nodeType="withEffect">
                                  <p:stCondLst>
                                    <p:cond delay="0"/>
                                  </p:stCondLst>
                                  <p:childTnLst>
                                    <p:animMotion origin="layout" path="M 0 0 L 0 -0.062963 " pathEditMode="relative" ptsTypes="">
                                      <p:cBhvr>
                                        <p:cTn id="201" dur="2000" fill="hold"/>
                                        <p:tgtEl>
                                          <p:spTgt spid="118"/>
                                        </p:tgtEl>
                                        <p:attrNameLst>
                                          <p:attrName>ppt_x</p:attrName>
                                          <p:attrName>ppt_y</p:attrName>
                                        </p:attrNameLst>
                                      </p:cBhvr>
                                    </p:animMotion>
                                  </p:childTnLst>
                                </p:cTn>
                              </p:par>
                              <p:par>
                                <p:cTn id="202" presetID="0" presetClass="path" presetSubtype="0" accel="50000" decel="50000" fill="hold" nodeType="withEffect">
                                  <p:stCondLst>
                                    <p:cond delay="0"/>
                                  </p:stCondLst>
                                  <p:childTnLst>
                                    <p:animMotion origin="layout" path="M 0 0 L 0 -0.062963 " pathEditMode="relative" ptsTypes="">
                                      <p:cBhvr>
                                        <p:cTn id="203" dur="2000" fill="hold"/>
                                        <p:tgtEl>
                                          <p:spTgt spid="126"/>
                                        </p:tgtEl>
                                        <p:attrNameLst>
                                          <p:attrName>ppt_x</p:attrName>
                                          <p:attrName>ppt_y</p:attrName>
                                        </p:attrNameLst>
                                      </p:cBhvr>
                                    </p:animMotion>
                                  </p:childTnLst>
                                </p:cTn>
                              </p:par>
                              <p:par>
                                <p:cTn id="204" presetID="0" presetClass="path" presetSubtype="0" accel="50000" decel="50000" fill="hold" nodeType="withEffect">
                                  <p:stCondLst>
                                    <p:cond delay="0"/>
                                  </p:stCondLst>
                                  <p:childTnLst>
                                    <p:animMotion origin="layout" path="M 0 0 L 0 -0.062963 " pathEditMode="relative" ptsTypes="">
                                      <p:cBhvr>
                                        <p:cTn id="205" dur="2000" fill="hold"/>
                                        <p:tgtEl>
                                          <p:spTgt spid="134"/>
                                        </p:tgtEl>
                                        <p:attrNameLst>
                                          <p:attrName>ppt_x</p:attrName>
                                          <p:attrName>ppt_y</p:attrName>
                                        </p:attrNameLst>
                                      </p:cBhvr>
                                    </p:animMotion>
                                  </p:childTnLst>
                                </p:cTn>
                              </p:par>
                              <p:par>
                                <p:cTn id="206" presetID="0" presetClass="path" presetSubtype="0" accel="50000" decel="50000" fill="hold" nodeType="withEffect">
                                  <p:stCondLst>
                                    <p:cond delay="0"/>
                                  </p:stCondLst>
                                  <p:childTnLst>
                                    <p:animMotion origin="layout" path="M 0 0 L 0 -0.062963 " pathEditMode="relative" ptsTypes="">
                                      <p:cBhvr>
                                        <p:cTn id="207" dur="2000" fill="hold"/>
                                        <p:tgtEl>
                                          <p:spTgt spid="142"/>
                                        </p:tgtEl>
                                        <p:attrNameLst>
                                          <p:attrName>ppt_x</p:attrName>
                                          <p:attrName>ppt_y</p:attrName>
                                        </p:attrNameLst>
                                      </p:cBhvr>
                                    </p:animMotion>
                                  </p:childTnLst>
                                </p:cTn>
                              </p:par>
                              <p:par>
                                <p:cTn id="208" presetID="0" presetClass="path" presetSubtype="0" accel="50000" decel="50000" fill="hold" nodeType="withEffect">
                                  <p:stCondLst>
                                    <p:cond delay="0"/>
                                  </p:stCondLst>
                                  <p:childTnLst>
                                    <p:animMotion origin="layout" path="M 0 0 L 0 -0.062963 " pathEditMode="relative" ptsTypes="">
                                      <p:cBhvr>
                                        <p:cTn id="209" dur="2000" fill="hold"/>
                                        <p:tgtEl>
                                          <p:spTgt spid="150"/>
                                        </p:tgtEl>
                                        <p:attrNameLst>
                                          <p:attrName>ppt_x</p:attrName>
                                          <p:attrName>ppt_y</p:attrName>
                                        </p:attrNameLst>
                                      </p:cBhvr>
                                    </p:animMotion>
                                  </p:childTnLst>
                                </p:cTn>
                              </p:par>
                              <p:par>
                                <p:cTn id="210" presetID="0" presetClass="path" presetSubtype="0" accel="50000" decel="50000" fill="hold" grpId="2" nodeType="withEffect">
                                  <p:stCondLst>
                                    <p:cond delay="0"/>
                                  </p:stCondLst>
                                  <p:childTnLst>
                                    <p:animMotion origin="layout" path="M 0 0 L 0 -0.062963 " pathEditMode="relative" ptsTypes="">
                                      <p:cBhvr>
                                        <p:cTn id="211" dur="2000" fill="hold"/>
                                        <p:tgtEl>
                                          <p:spTgt spid="159"/>
                                        </p:tgtEl>
                                        <p:attrNameLst>
                                          <p:attrName>ppt_x</p:attrName>
                                          <p:attrName>ppt_y</p:attrName>
                                        </p:attrNameLst>
                                      </p:cBhvr>
                                    </p:animMotion>
                                  </p:childTnLst>
                                </p:cTn>
                              </p:par>
                              <p:par>
                                <p:cTn id="212" presetID="0" presetClass="path" presetSubtype="0" accel="50000" decel="50000" fill="hold" grpId="2" nodeType="withEffect">
                                  <p:stCondLst>
                                    <p:cond delay="0"/>
                                  </p:stCondLst>
                                  <p:childTnLst>
                                    <p:animMotion origin="layout" path="M 0 0 L 0 -0.062963 " pathEditMode="relative" ptsTypes="">
                                      <p:cBhvr>
                                        <p:cTn id="213" dur="2000" fill="hold"/>
                                        <p:tgtEl>
                                          <p:spTgt spid="160"/>
                                        </p:tgtEl>
                                        <p:attrNameLst>
                                          <p:attrName>ppt_x</p:attrName>
                                          <p:attrName>ppt_y</p:attrName>
                                        </p:attrNameLst>
                                      </p:cBhvr>
                                    </p:animMotion>
                                  </p:childTnLst>
                                </p:cTn>
                              </p:par>
                              <p:par>
                                <p:cTn id="214" presetID="0" presetClass="path" presetSubtype="0" accel="50000" decel="50000" fill="hold" grpId="2" nodeType="withEffect">
                                  <p:stCondLst>
                                    <p:cond delay="0"/>
                                  </p:stCondLst>
                                  <p:childTnLst>
                                    <p:animMotion origin="layout" path="M 0 0 L 0 -0.062963 " pathEditMode="relative" ptsTypes="">
                                      <p:cBhvr>
                                        <p:cTn id="215" dur="2000" fill="hold"/>
                                        <p:tgtEl>
                                          <p:spTgt spid="161"/>
                                        </p:tgtEl>
                                        <p:attrNameLst>
                                          <p:attrName>ppt_x</p:attrName>
                                          <p:attrName>ppt_y</p:attrName>
                                        </p:attrNameLst>
                                      </p:cBhvr>
                                    </p:animMotion>
                                  </p:childTnLst>
                                </p:cTn>
                              </p:par>
                              <p:par>
                                <p:cTn id="216" presetID="0" presetClass="path" presetSubtype="0" accel="50000" decel="50000" fill="hold" grpId="2" nodeType="withEffect">
                                  <p:stCondLst>
                                    <p:cond delay="0"/>
                                  </p:stCondLst>
                                  <p:childTnLst>
                                    <p:animMotion origin="layout" path="M 0 0 L 0 -0.062963 " pathEditMode="relative" ptsTypes="">
                                      <p:cBhvr>
                                        <p:cTn id="217" dur="2000" fill="hold"/>
                                        <p:tgtEl>
                                          <p:spTgt spid="162"/>
                                        </p:tgtEl>
                                        <p:attrNameLst>
                                          <p:attrName>ppt_x</p:attrName>
                                          <p:attrName>ppt_y</p:attrName>
                                        </p:attrNameLst>
                                      </p:cBhvr>
                                    </p:animMotion>
                                  </p:childTnLst>
                                </p:cTn>
                              </p:par>
                              <p:par>
                                <p:cTn id="218" presetID="0" presetClass="path" presetSubtype="0" accel="50000" decel="50000" fill="hold" grpId="2" nodeType="withEffect">
                                  <p:stCondLst>
                                    <p:cond delay="0"/>
                                  </p:stCondLst>
                                  <p:childTnLst>
                                    <p:animMotion origin="layout" path="M 0 0 L 0 -0.062963 " pathEditMode="relative" ptsTypes="">
                                      <p:cBhvr>
                                        <p:cTn id="219" dur="2000" fill="hold"/>
                                        <p:tgtEl>
                                          <p:spTgt spid="163"/>
                                        </p:tgtEl>
                                        <p:attrNameLst>
                                          <p:attrName>ppt_x</p:attrName>
                                          <p:attrName>ppt_y</p:attrName>
                                        </p:attrNameLst>
                                      </p:cBhvr>
                                    </p:animMotion>
                                  </p:childTnLst>
                                </p:cTn>
                              </p:par>
                              <p:par>
                                <p:cTn id="220" presetID="0" presetClass="path" presetSubtype="0" accel="50000" decel="50000" fill="hold" grpId="2" nodeType="withEffect">
                                  <p:stCondLst>
                                    <p:cond delay="0"/>
                                  </p:stCondLst>
                                  <p:childTnLst>
                                    <p:animMotion origin="layout" path="M 0 0 L 0 -0.062963 " pathEditMode="relative" ptsTypes="">
                                      <p:cBhvr>
                                        <p:cTn id="221" dur="2000" fill="hold"/>
                                        <p:tgtEl>
                                          <p:spTgt spid="164"/>
                                        </p:tgtEl>
                                        <p:attrNameLst>
                                          <p:attrName>ppt_x</p:attrName>
                                          <p:attrName>ppt_y</p:attrName>
                                        </p:attrNameLst>
                                      </p:cBhvr>
                                    </p:animMotion>
                                  </p:childTnLst>
                                </p:cTn>
                              </p:par>
                              <p:par>
                                <p:cTn id="222" presetID="0" presetClass="path" presetSubtype="0" accel="50000" decel="50000" fill="hold" grpId="2" nodeType="withEffect">
                                  <p:stCondLst>
                                    <p:cond delay="0"/>
                                  </p:stCondLst>
                                  <p:childTnLst>
                                    <p:animMotion origin="layout" path="M 0 0 L 0 -0.062963 " pathEditMode="relative" ptsTypes="">
                                      <p:cBhvr>
                                        <p:cTn id="223" dur="2000" fill="hold"/>
                                        <p:tgtEl>
                                          <p:spTgt spid="16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p:bldP spid="39" grpId="1"/>
      <p:bldP spid="39" grpId="2"/>
      <p:bldP spid="39" grpId="3"/>
      <p:bldP spid="40" grpId="0"/>
      <p:bldP spid="40" grpId="1"/>
      <p:bldP spid="40" grpId="2"/>
      <p:bldP spid="40" grpId="3"/>
      <p:bldP spid="41" grpId="0"/>
      <p:bldP spid="41" grpId="1"/>
      <p:bldP spid="41" grpId="2"/>
      <p:bldP spid="41" grpId="3"/>
      <p:bldP spid="42" grpId="0"/>
      <p:bldP spid="42" grpId="1"/>
      <p:bldP spid="42" grpId="2"/>
      <p:bldP spid="42" grpId="3"/>
      <p:bldP spid="43" grpId="0"/>
      <p:bldP spid="43" grpId="1"/>
      <p:bldP spid="43" grpId="2"/>
      <p:bldP spid="43" grpId="3"/>
      <p:bldP spid="44" grpId="0"/>
      <p:bldP spid="44" grpId="1"/>
      <p:bldP spid="44" grpId="2"/>
      <p:bldP spid="44" grpId="3"/>
      <p:bldP spid="45" grpId="0"/>
      <p:bldP spid="45" grpId="1"/>
      <p:bldP spid="45" grpId="2"/>
      <p:bldP spid="45" grpId="3"/>
      <p:bldP spid="46" grpId="0"/>
      <p:bldP spid="46" grpId="1"/>
      <p:bldP spid="46" grpId="2"/>
      <p:bldP spid="46" grpId="3"/>
      <p:bldP spid="27" grpId="0"/>
      <p:bldP spid="27" grpId="1"/>
      <p:bldP spid="3" grpId="0" animBg="1"/>
      <p:bldP spid="3" grpId="1" animBg="1"/>
      <p:bldP spid="5" grpId="0" animBg="1"/>
      <p:bldP spid="5" grpId="1" animBg="1"/>
      <p:bldP spid="158" grpId="0"/>
      <p:bldP spid="158" grpId="1"/>
      <p:bldP spid="158" grpId="2"/>
      <p:bldP spid="159" grpId="0"/>
      <p:bldP spid="159" grpId="1"/>
      <p:bldP spid="159" grpId="2"/>
      <p:bldP spid="160" grpId="0"/>
      <p:bldP spid="160" grpId="1"/>
      <p:bldP spid="160" grpId="2"/>
      <p:bldP spid="161" grpId="0"/>
      <p:bldP spid="161" grpId="1"/>
      <p:bldP spid="161" grpId="2"/>
      <p:bldP spid="162" grpId="0"/>
      <p:bldP spid="162" grpId="1"/>
      <p:bldP spid="162" grpId="2"/>
      <p:bldP spid="163" grpId="0"/>
      <p:bldP spid="163" grpId="1"/>
      <p:bldP spid="163" grpId="2"/>
      <p:bldP spid="164" grpId="0"/>
      <p:bldP spid="164" grpId="1"/>
      <p:bldP spid="164" grpId="2"/>
      <p:bldP spid="165" grpId="0"/>
      <p:bldP spid="165" grpId="1"/>
      <p:bldP spid="165" grpId="2"/>
      <p:bldP spid="167" grpId="0"/>
      <p:bldP spid="167" grpId="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920115"/>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算法原则是：将所有的边按照长度排序，选择最小长度的边做最小生成树的边，直至将所有节点连接在一起。</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1327785" y="479679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2552065" y="479679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983865" y="407162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p:nvPr/>
        </p:nvCxnSpPr>
        <p:spPr>
          <a:xfrm>
            <a:off x="2800985" y="3673475"/>
            <a:ext cx="261620" cy="47688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4" name="直接连接符 33"/>
          <p:cNvCxnSpPr/>
          <p:nvPr/>
        </p:nvCxnSpPr>
        <p:spPr>
          <a:xfrm>
            <a:off x="805815" y="4544695"/>
            <a:ext cx="521970" cy="52197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p:nvPr/>
        </p:nvCxnSpPr>
        <p:spPr>
          <a:xfrm flipV="1">
            <a:off x="2310765" y="4341495"/>
            <a:ext cx="673100" cy="508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6" name="直接连接符 35"/>
          <p:cNvCxnSpPr/>
          <p:nvPr/>
        </p:nvCxnSpPr>
        <p:spPr>
          <a:xfrm>
            <a:off x="1863090" y="5066665"/>
            <a:ext cx="688975" cy="0"/>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7" name="直接连接符 36"/>
          <p:cNvCxnSpPr/>
          <p:nvPr/>
        </p:nvCxnSpPr>
        <p:spPr>
          <a:xfrm flipH="1">
            <a:off x="3087370" y="4611370"/>
            <a:ext cx="166370" cy="45529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40" name="文本框 39"/>
          <p:cNvSpPr txBox="1"/>
          <p:nvPr/>
        </p:nvSpPr>
        <p:spPr>
          <a:xfrm>
            <a:off x="2902585" y="3596005"/>
            <a:ext cx="445770" cy="346075"/>
          </a:xfrm>
          <a:prstGeom prst="rect">
            <a:avLst/>
          </a:prstGeom>
          <a:noFill/>
        </p:spPr>
        <p:txBody>
          <a:bodyPr wrap="square" rtlCol="0">
            <a:noAutofit/>
          </a:bodyPr>
          <a:lstStyle/>
          <a:p>
            <a:r>
              <a:rPr lang="en-US" altLang="zh-CN">
                <a:latin typeface="+mj-lt"/>
                <a:cs typeface="+mj-lt"/>
              </a:rPr>
              <a:t>13</a:t>
            </a:r>
            <a:endParaRPr lang="en-US" altLang="zh-CN">
              <a:latin typeface="+mj-lt"/>
              <a:cs typeface="+mj-lt"/>
            </a:endParaRPr>
          </a:p>
        </p:txBody>
      </p:sp>
      <p:sp>
        <p:nvSpPr>
          <p:cNvPr id="41" name="文本框 40"/>
          <p:cNvSpPr txBox="1"/>
          <p:nvPr/>
        </p:nvSpPr>
        <p:spPr>
          <a:xfrm>
            <a:off x="3211830" y="4706620"/>
            <a:ext cx="445770" cy="346075"/>
          </a:xfrm>
          <a:prstGeom prst="rect">
            <a:avLst/>
          </a:prstGeom>
          <a:noFill/>
        </p:spPr>
        <p:txBody>
          <a:bodyPr wrap="square" rtlCol="0">
            <a:noAutofit/>
          </a:bodyPr>
          <a:lstStyle/>
          <a:p>
            <a:r>
              <a:rPr lang="en-US" altLang="zh-CN">
                <a:latin typeface="+mj-lt"/>
                <a:cs typeface="+mj-lt"/>
              </a:rPr>
              <a:t>18</a:t>
            </a:r>
            <a:endParaRPr lang="en-US" altLang="zh-CN">
              <a:latin typeface="+mj-lt"/>
              <a:cs typeface="+mj-lt"/>
            </a:endParaRPr>
          </a:p>
        </p:txBody>
      </p:sp>
      <p:sp>
        <p:nvSpPr>
          <p:cNvPr id="42" name="文本框 41"/>
          <p:cNvSpPr txBox="1"/>
          <p:nvPr/>
        </p:nvSpPr>
        <p:spPr>
          <a:xfrm>
            <a:off x="2023110" y="4714875"/>
            <a:ext cx="445770" cy="346075"/>
          </a:xfrm>
          <a:prstGeom prst="rect">
            <a:avLst/>
          </a:prstGeom>
          <a:noFill/>
        </p:spPr>
        <p:txBody>
          <a:bodyPr wrap="square" rtlCol="0">
            <a:noAutofit/>
          </a:bodyPr>
          <a:lstStyle/>
          <a:p>
            <a:r>
              <a:rPr lang="en-US" altLang="zh-CN">
                <a:solidFill>
                  <a:srgbClr val="FF0000"/>
                </a:solidFill>
                <a:latin typeface="+mj-lt"/>
                <a:cs typeface="+mj-lt"/>
              </a:rPr>
              <a:t>7</a:t>
            </a:r>
            <a:endParaRPr lang="en-US" altLang="zh-CN">
              <a:solidFill>
                <a:srgbClr val="FF0000"/>
              </a:solidFill>
              <a:latin typeface="+mj-lt"/>
              <a:cs typeface="+mj-lt"/>
            </a:endParaRPr>
          </a:p>
        </p:txBody>
      </p:sp>
      <p:sp>
        <p:nvSpPr>
          <p:cNvPr id="43" name="文本框 42"/>
          <p:cNvSpPr txBox="1"/>
          <p:nvPr/>
        </p:nvSpPr>
        <p:spPr>
          <a:xfrm>
            <a:off x="683895" y="4714875"/>
            <a:ext cx="445770" cy="346075"/>
          </a:xfrm>
          <a:prstGeom prst="rect">
            <a:avLst/>
          </a:prstGeom>
          <a:noFill/>
        </p:spPr>
        <p:txBody>
          <a:bodyPr wrap="square" rtlCol="0">
            <a:noAutofit/>
          </a:bodyPr>
          <a:lstStyle/>
          <a:p>
            <a:r>
              <a:rPr lang="en-US" altLang="zh-CN">
                <a:latin typeface="+mj-lt"/>
                <a:cs typeface="+mj-lt"/>
              </a:rPr>
              <a:t>26</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sp>
        <p:nvSpPr>
          <p:cNvPr id="45" name="文本框 44"/>
          <p:cNvSpPr txBox="1"/>
          <p:nvPr/>
        </p:nvSpPr>
        <p:spPr>
          <a:xfrm>
            <a:off x="2484120" y="394208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46" name="文本框 45"/>
          <p:cNvSpPr txBox="1"/>
          <p:nvPr/>
        </p:nvSpPr>
        <p:spPr>
          <a:xfrm>
            <a:off x="1228090" y="3905250"/>
            <a:ext cx="445770" cy="346075"/>
          </a:xfrm>
          <a:prstGeom prst="rect">
            <a:avLst/>
          </a:prstGeom>
          <a:noFill/>
        </p:spPr>
        <p:txBody>
          <a:bodyPr wrap="square" rtlCol="0">
            <a:noAutofit/>
          </a:bodyPr>
          <a:lstStyle/>
          <a:p>
            <a:r>
              <a:rPr lang="en-US" altLang="zh-CN">
                <a:latin typeface="+mj-lt"/>
                <a:cs typeface="+mj-lt"/>
              </a:rPr>
              <a:t>9</a:t>
            </a:r>
            <a:endParaRPr lang="en-US" altLang="zh-CN">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705100"/>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705100"/>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102" name="组合 101"/>
          <p:cNvGrpSpPr/>
          <p:nvPr/>
        </p:nvGrpSpPr>
        <p:grpSpPr>
          <a:xfrm>
            <a:off x="6155690" y="2830830"/>
            <a:ext cx="892175" cy="382270"/>
            <a:chOff x="9776" y="4285"/>
            <a:chExt cx="1405" cy="602"/>
          </a:xfrm>
        </p:grpSpPr>
        <p:grpSp>
          <p:nvGrpSpPr>
            <p:cNvPr id="103" name="组合 102"/>
            <p:cNvGrpSpPr/>
            <p:nvPr/>
          </p:nvGrpSpPr>
          <p:grpSpPr>
            <a:xfrm>
              <a:off x="9776" y="4285"/>
              <a:ext cx="644" cy="602"/>
              <a:chOff x="1006488" y="2036167"/>
              <a:chExt cx="531192" cy="504056"/>
            </a:xfrm>
          </p:grpSpPr>
          <p:sp>
            <p:nvSpPr>
              <p:cNvPr id="10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5" name="文本框 10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6" name="组合 105"/>
            <p:cNvGrpSpPr/>
            <p:nvPr/>
          </p:nvGrpSpPr>
          <p:grpSpPr>
            <a:xfrm>
              <a:off x="10537" y="4285"/>
              <a:ext cx="644" cy="602"/>
              <a:chOff x="1006488" y="2036167"/>
              <a:chExt cx="531192" cy="504056"/>
            </a:xfrm>
          </p:grpSpPr>
          <p:sp>
            <p:nvSpPr>
              <p:cNvPr id="10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8" name="文本框 10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09" name="直接连接符 10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59" name="文本框 158"/>
          <p:cNvSpPr txBox="1"/>
          <p:nvPr/>
        </p:nvSpPr>
        <p:spPr>
          <a:xfrm>
            <a:off x="7235825" y="2832735"/>
            <a:ext cx="434340" cy="383540"/>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9</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nvGrpSpPr>
          <p:cNvPr id="50" name="组合 49"/>
          <p:cNvGrpSpPr/>
          <p:nvPr/>
        </p:nvGrpSpPr>
        <p:grpSpPr>
          <a:xfrm>
            <a:off x="6155690" y="3339465"/>
            <a:ext cx="1558925" cy="398780"/>
            <a:chOff x="9694" y="5259"/>
            <a:chExt cx="2455" cy="628"/>
          </a:xfrm>
        </p:grpSpPr>
        <p:grpSp>
          <p:nvGrpSpPr>
            <p:cNvPr id="111" name="组合 110"/>
            <p:cNvGrpSpPr/>
            <p:nvPr/>
          </p:nvGrpSpPr>
          <p:grpSpPr>
            <a:xfrm>
              <a:off x="9694" y="5285"/>
              <a:ext cx="644" cy="602"/>
              <a:chOff x="1006488" y="2036167"/>
              <a:chExt cx="531192" cy="504056"/>
            </a:xfrm>
          </p:grpSpPr>
          <p:sp>
            <p:nvSpPr>
              <p:cNvPr id="11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13" name="文本框 11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14" name="组合 113"/>
            <p:cNvGrpSpPr/>
            <p:nvPr/>
          </p:nvGrpSpPr>
          <p:grpSpPr>
            <a:xfrm>
              <a:off x="10455" y="5285"/>
              <a:ext cx="644" cy="602"/>
              <a:chOff x="1006488" y="2036167"/>
              <a:chExt cx="531192" cy="504056"/>
            </a:xfrm>
          </p:grpSpPr>
          <p:sp>
            <p:nvSpPr>
              <p:cNvPr id="11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16" name="文本框 11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17" name="直接连接符 116"/>
            <p:cNvCxnSpPr/>
            <p:nvPr/>
          </p:nvCxnSpPr>
          <p:spPr>
            <a:xfrm>
              <a:off x="10312" y="5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sp>
          <p:nvSpPr>
            <p:cNvPr id="160" name="文本框 159"/>
            <p:cNvSpPr txBox="1"/>
            <p:nvPr/>
          </p:nvSpPr>
          <p:spPr>
            <a:xfrm>
              <a:off x="11395" y="5259"/>
              <a:ext cx="755" cy="49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13</a:t>
              </a:r>
              <a:endParaRPr lang="en-US" altLang="zh-CN">
                <a:latin typeface="Times New Roman" panose="02020603050405020304" pitchFamily="18" charset="0"/>
                <a:cs typeface="Times New Roman" panose="02020603050405020304" pitchFamily="18" charset="0"/>
                <a:sym typeface="+mn-ea"/>
              </a:endParaRPr>
            </a:p>
          </p:txBody>
        </p:sp>
      </p:grpSp>
      <p:grpSp>
        <p:nvGrpSpPr>
          <p:cNvPr id="51" name="组合 50"/>
          <p:cNvGrpSpPr/>
          <p:nvPr/>
        </p:nvGrpSpPr>
        <p:grpSpPr>
          <a:xfrm>
            <a:off x="6155690" y="3807460"/>
            <a:ext cx="1809115" cy="444500"/>
            <a:chOff x="9694" y="5996"/>
            <a:chExt cx="2849" cy="700"/>
          </a:xfrm>
        </p:grpSpPr>
        <p:grpSp>
          <p:nvGrpSpPr>
            <p:cNvPr id="118" name="组合 117"/>
            <p:cNvGrpSpPr/>
            <p:nvPr/>
          </p:nvGrpSpPr>
          <p:grpSpPr>
            <a:xfrm>
              <a:off x="9694" y="6087"/>
              <a:ext cx="1405" cy="602"/>
              <a:chOff x="9776" y="4285"/>
              <a:chExt cx="1405" cy="602"/>
            </a:xfrm>
          </p:grpSpPr>
          <p:grpSp>
            <p:nvGrpSpPr>
              <p:cNvPr id="119" name="组合 118"/>
              <p:cNvGrpSpPr/>
              <p:nvPr/>
            </p:nvGrpSpPr>
            <p:grpSpPr>
              <a:xfrm>
                <a:off x="9776" y="4285"/>
                <a:ext cx="644" cy="602"/>
                <a:chOff x="1006488" y="2036167"/>
                <a:chExt cx="531192" cy="504056"/>
              </a:xfrm>
            </p:grpSpPr>
            <p:sp>
              <p:nvSpPr>
                <p:cNvPr id="12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1" name="文本框 12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22" name="组合 121"/>
              <p:cNvGrpSpPr/>
              <p:nvPr/>
            </p:nvGrpSpPr>
            <p:grpSpPr>
              <a:xfrm>
                <a:off x="10537" y="4285"/>
                <a:ext cx="644" cy="602"/>
                <a:chOff x="1006488" y="2036167"/>
                <a:chExt cx="531192" cy="504056"/>
              </a:xfrm>
            </p:grpSpPr>
            <p:sp>
              <p:nvSpPr>
                <p:cNvPr id="12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4" name="文本框 12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25" name="直接连接符 124"/>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1" name="文本框 160"/>
            <p:cNvSpPr txBox="1"/>
            <p:nvPr/>
          </p:nvSpPr>
          <p:spPr>
            <a:xfrm>
              <a:off x="11395" y="5996"/>
              <a:ext cx="1148" cy="701"/>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15</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2" name="组合 51"/>
          <p:cNvGrpSpPr/>
          <p:nvPr/>
        </p:nvGrpSpPr>
        <p:grpSpPr>
          <a:xfrm>
            <a:off x="6155690" y="4338955"/>
            <a:ext cx="1798955" cy="429895"/>
            <a:chOff x="9694" y="6833"/>
            <a:chExt cx="2833" cy="677"/>
          </a:xfrm>
        </p:grpSpPr>
        <p:grpSp>
          <p:nvGrpSpPr>
            <p:cNvPr id="126" name="组合 125"/>
            <p:cNvGrpSpPr/>
            <p:nvPr/>
          </p:nvGrpSpPr>
          <p:grpSpPr>
            <a:xfrm>
              <a:off x="9694" y="6908"/>
              <a:ext cx="1405" cy="602"/>
              <a:chOff x="9776" y="4285"/>
              <a:chExt cx="1405" cy="602"/>
            </a:xfrm>
          </p:grpSpPr>
          <p:grpSp>
            <p:nvGrpSpPr>
              <p:cNvPr id="127" name="组合 126"/>
              <p:cNvGrpSpPr/>
              <p:nvPr/>
            </p:nvGrpSpPr>
            <p:grpSpPr>
              <a:xfrm>
                <a:off x="9776" y="4285"/>
                <a:ext cx="644" cy="602"/>
                <a:chOff x="1006488" y="2036167"/>
                <a:chExt cx="531192" cy="504056"/>
              </a:xfrm>
            </p:grpSpPr>
            <p:sp>
              <p:nvSpPr>
                <p:cNvPr id="12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9" name="文本框 128"/>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0" name="组合 129"/>
              <p:cNvGrpSpPr/>
              <p:nvPr/>
            </p:nvGrpSpPr>
            <p:grpSpPr>
              <a:xfrm>
                <a:off x="10537" y="4285"/>
                <a:ext cx="644" cy="602"/>
                <a:chOff x="1006488" y="2036167"/>
                <a:chExt cx="531192" cy="504056"/>
              </a:xfrm>
            </p:grpSpPr>
            <p:sp>
              <p:nvSpPr>
                <p:cNvPr id="13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2" name="文本框 13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33" name="直接连接符 132"/>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2" name="文本框 161"/>
            <p:cNvSpPr txBox="1"/>
            <p:nvPr/>
          </p:nvSpPr>
          <p:spPr>
            <a:xfrm>
              <a:off x="11395" y="6833"/>
              <a:ext cx="1132" cy="634"/>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18</a:t>
              </a:r>
              <a:endParaRPr lang="en-US" altLang="zh-CN">
                <a:latin typeface="Times New Roman" panose="02020603050405020304" pitchFamily="18" charset="0"/>
                <a:cs typeface="Times New Roman" panose="02020603050405020304" pitchFamily="18" charset="0"/>
                <a:sym typeface="+mn-ea"/>
              </a:endParaRPr>
            </a:p>
          </p:txBody>
        </p:sp>
      </p:grpSp>
      <p:grpSp>
        <p:nvGrpSpPr>
          <p:cNvPr id="53" name="组合 52"/>
          <p:cNvGrpSpPr/>
          <p:nvPr/>
        </p:nvGrpSpPr>
        <p:grpSpPr>
          <a:xfrm>
            <a:off x="6155690" y="4805045"/>
            <a:ext cx="1513205" cy="467995"/>
            <a:chOff x="9694" y="7567"/>
            <a:chExt cx="2383" cy="737"/>
          </a:xfrm>
        </p:grpSpPr>
        <p:grpSp>
          <p:nvGrpSpPr>
            <p:cNvPr id="134" name="组合 133"/>
            <p:cNvGrpSpPr/>
            <p:nvPr/>
          </p:nvGrpSpPr>
          <p:grpSpPr>
            <a:xfrm>
              <a:off x="9694" y="7702"/>
              <a:ext cx="1405" cy="602"/>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3" name="文本框 162"/>
            <p:cNvSpPr txBox="1"/>
            <p:nvPr/>
          </p:nvSpPr>
          <p:spPr>
            <a:xfrm>
              <a:off x="11395" y="7567"/>
              <a:ext cx="683" cy="58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20</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4" name="组合 53"/>
          <p:cNvGrpSpPr/>
          <p:nvPr/>
        </p:nvGrpSpPr>
        <p:grpSpPr>
          <a:xfrm>
            <a:off x="6155690" y="5314950"/>
            <a:ext cx="1613535" cy="406400"/>
            <a:chOff x="9694" y="8370"/>
            <a:chExt cx="2541" cy="640"/>
          </a:xfrm>
        </p:grpSpPr>
        <p:grpSp>
          <p:nvGrpSpPr>
            <p:cNvPr id="142" name="组合 141"/>
            <p:cNvGrpSpPr/>
            <p:nvPr/>
          </p:nvGrpSpPr>
          <p:grpSpPr>
            <a:xfrm>
              <a:off x="9694" y="8408"/>
              <a:ext cx="1405" cy="602"/>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4" name="文本框 163"/>
            <p:cNvSpPr txBox="1"/>
            <p:nvPr/>
          </p:nvSpPr>
          <p:spPr>
            <a:xfrm>
              <a:off x="11395" y="8370"/>
              <a:ext cx="841" cy="62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23</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5" name="组合 54"/>
          <p:cNvGrpSpPr/>
          <p:nvPr/>
        </p:nvGrpSpPr>
        <p:grpSpPr>
          <a:xfrm>
            <a:off x="6155690" y="5754370"/>
            <a:ext cx="1514475" cy="382270"/>
            <a:chOff x="9694" y="9062"/>
            <a:chExt cx="2385" cy="602"/>
          </a:xfrm>
        </p:grpSpPr>
        <p:grpSp>
          <p:nvGrpSpPr>
            <p:cNvPr id="150" name="组合 149"/>
            <p:cNvGrpSpPr/>
            <p:nvPr/>
          </p:nvGrpSpPr>
          <p:grpSpPr>
            <a:xfrm>
              <a:off x="9694" y="9062"/>
              <a:ext cx="1405" cy="602"/>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5" name="文本框 164"/>
            <p:cNvSpPr txBox="1"/>
            <p:nvPr/>
          </p:nvSpPr>
          <p:spPr>
            <a:xfrm>
              <a:off x="11395" y="9070"/>
              <a:ext cx="684" cy="54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26</a:t>
              </a:r>
              <a:endParaRPr lang="en-US" altLang="zh-CN">
                <a:latin typeface="Times New Roman" panose="02020603050405020304" pitchFamily="18" charset="0"/>
                <a:cs typeface="Times New Roman" panose="02020603050405020304" pitchFamily="18" charset="0"/>
                <a:sym typeface="+mn-ea"/>
              </a:endParaRPr>
            </a:p>
          </p:txBody>
        </p:sp>
      </p:grpSp>
      <p:cxnSp>
        <p:nvCxnSpPr>
          <p:cNvPr id="48" name="直接连接符 47"/>
          <p:cNvCxnSpPr/>
          <p:nvPr/>
        </p:nvCxnSpPr>
        <p:spPr>
          <a:xfrm>
            <a:off x="1071245" y="4274185"/>
            <a:ext cx="704215" cy="7175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9" name="文本框 48"/>
          <p:cNvSpPr txBox="1"/>
          <p:nvPr/>
        </p:nvSpPr>
        <p:spPr>
          <a:xfrm>
            <a:off x="1228090" y="3904615"/>
            <a:ext cx="445770" cy="346075"/>
          </a:xfrm>
          <a:prstGeom prst="rect">
            <a:avLst/>
          </a:prstGeom>
          <a:noFill/>
        </p:spPr>
        <p:txBody>
          <a:bodyPr wrap="square" rtlCol="0">
            <a:noAutofit/>
          </a:bodyPr>
          <a:lstStyle/>
          <a:p>
            <a:r>
              <a:rPr lang="en-US" altLang="zh-CN">
                <a:solidFill>
                  <a:srgbClr val="FF0000"/>
                </a:solidFill>
                <a:latin typeface="+mj-lt"/>
                <a:cs typeface="+mj-lt"/>
              </a:rPr>
              <a:t>9</a:t>
            </a:r>
            <a:endParaRPr lang="en-US" altLang="zh-CN">
              <a:solidFill>
                <a:srgbClr val="FF0000"/>
              </a:solidFill>
              <a:latin typeface="+mj-lt"/>
              <a:cs typeface="+mj-lt"/>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nodeType="clickEffect">
                                  <p:stCondLst>
                                    <p:cond delay="0"/>
                                  </p:stCondLst>
                                  <p:childTnLst>
                                    <p:anim calcmode="discrete" valueType="str">
                                      <p:cBhvr>
                                        <p:cTn id="6" dur="1000" fill="hold"/>
                                        <p:tgtEl>
                                          <p:spTgt spid="37"/>
                                        </p:tgtEl>
                                        <p:attrNameLst>
                                          <p:attrName>style.visibility</p:attrName>
                                        </p:attrNameLst>
                                      </p:cBhvr>
                                      <p:tavLst>
                                        <p:tav tm="0">
                                          <p:val>
                                            <p:strVal val="hidden"/>
                                          </p:val>
                                        </p:tav>
                                        <p:tav tm="50000">
                                          <p:val>
                                            <p:strVal val="visible"/>
                                          </p:val>
                                        </p:tav>
                                      </p:tavLst>
                                    </p:anim>
                                  </p:childTnLst>
                                </p:cTn>
                              </p:par>
                              <p:par>
                                <p:cTn id="7" presetID="35" presetClass="emph" presetSubtype="0" fill="hold" grpId="0" nodeType="withEffect">
                                  <p:stCondLst>
                                    <p:cond delay="0"/>
                                  </p:stCondLst>
                                  <p:childTnLst>
                                    <p:anim calcmode="discrete" valueType="str">
                                      <p:cBhvr>
                                        <p:cTn id="8" dur="1000" fill="hold"/>
                                        <p:tgtEl>
                                          <p:spTgt spid="43"/>
                                        </p:tgtEl>
                                        <p:attrNameLst>
                                          <p:attrName>style.visibility</p:attrName>
                                        </p:attrNameLst>
                                      </p:cBhvr>
                                      <p:tavLst>
                                        <p:tav tm="0">
                                          <p:val>
                                            <p:strVal val="hidden"/>
                                          </p:val>
                                        </p:tav>
                                        <p:tav tm="50000">
                                          <p:val>
                                            <p:strVal val="visible"/>
                                          </p:val>
                                        </p:tav>
                                      </p:tavLst>
                                    </p:anim>
                                  </p:childTnLst>
                                </p:cTn>
                              </p:par>
                              <p:par>
                                <p:cTn id="9" presetID="35" presetClass="emph" presetSubtype="0" fill="hold" grpId="0" nodeType="withEffect">
                                  <p:stCondLst>
                                    <p:cond delay="0"/>
                                  </p:stCondLst>
                                  <p:childTnLst>
                                    <p:anim calcmode="discrete" valueType="str">
                                      <p:cBhvr>
                                        <p:cTn id="10" dur="1000" fill="hold"/>
                                        <p:tgtEl>
                                          <p:spTgt spid="41"/>
                                        </p:tgtEl>
                                        <p:attrNameLst>
                                          <p:attrName>style.visibility</p:attrName>
                                        </p:attrNameLst>
                                      </p:cBhvr>
                                      <p:tavLst>
                                        <p:tav tm="0">
                                          <p:val>
                                            <p:strVal val="hidden"/>
                                          </p:val>
                                        </p:tav>
                                        <p:tav tm="50000">
                                          <p:val>
                                            <p:strVal val="visible"/>
                                          </p:val>
                                        </p:tav>
                                      </p:tavLst>
                                    </p:anim>
                                  </p:childTnLst>
                                </p:cTn>
                              </p:par>
                              <p:par>
                                <p:cTn id="11" presetID="35" presetClass="emph" presetSubtype="0" fill="hold" nodeType="withEffect">
                                  <p:stCondLst>
                                    <p:cond delay="0"/>
                                  </p:stCondLst>
                                  <p:childTnLst>
                                    <p:anim calcmode="discrete" valueType="str">
                                      <p:cBhvr>
                                        <p:cTn id="12" dur="1000" fill="hold"/>
                                        <p:tgtEl>
                                          <p:spTgt spid="34"/>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46"/>
                                        </p:tgtEl>
                                        <p:attrNameLst>
                                          <p:attrName>style.visibility</p:attrName>
                                        </p:attrNameLst>
                                      </p:cBhvr>
                                      <p:tavLst>
                                        <p:tav tm="0">
                                          <p:val>
                                            <p:strVal val="hidden"/>
                                          </p:val>
                                        </p:tav>
                                        <p:tav tm="50000">
                                          <p:val>
                                            <p:strVal val="visible"/>
                                          </p:val>
                                        </p:tav>
                                      </p:tavLst>
                                    </p:anim>
                                  </p:childTnLst>
                                </p:cTn>
                              </p:par>
                              <p:par>
                                <p:cTn id="15" presetID="35" presetClass="emph" presetSubtype="0" fill="hold" nodeType="withEffect">
                                  <p:stCondLst>
                                    <p:cond delay="0"/>
                                  </p:stCondLst>
                                  <p:childTnLst>
                                    <p:anim calcmode="discrete" valueType="str">
                                      <p:cBhvr>
                                        <p:cTn id="16" dur="1000" fill="hold"/>
                                        <p:tgtEl>
                                          <p:spTgt spid="33"/>
                                        </p:tgtEl>
                                        <p:attrNameLst>
                                          <p:attrName>style.visibility</p:attrName>
                                        </p:attrNameLst>
                                      </p:cBhvr>
                                      <p:tavLst>
                                        <p:tav tm="0">
                                          <p:val>
                                            <p:strVal val="hidden"/>
                                          </p:val>
                                        </p:tav>
                                        <p:tav tm="50000">
                                          <p:val>
                                            <p:strVal val="visible"/>
                                          </p:val>
                                        </p:tav>
                                      </p:tavLst>
                                    </p:anim>
                                  </p:childTnLst>
                                </p:cTn>
                              </p:par>
                              <p:par>
                                <p:cTn id="17" presetID="35" presetClass="emph" presetSubtype="0" fill="hold" grpId="0" nodeType="withEffect">
                                  <p:stCondLst>
                                    <p:cond delay="0"/>
                                  </p:stCondLst>
                                  <p:childTnLst>
                                    <p:anim calcmode="discrete" valueType="str">
                                      <p:cBhvr>
                                        <p:cTn id="18" dur="1000" fill="hold"/>
                                        <p:tgtEl>
                                          <p:spTgt spid="45"/>
                                        </p:tgtEl>
                                        <p:attrNameLst>
                                          <p:attrName>style.visibility</p:attrName>
                                        </p:attrNameLst>
                                      </p:cBhvr>
                                      <p:tavLst>
                                        <p:tav tm="0">
                                          <p:val>
                                            <p:strVal val="hidden"/>
                                          </p:val>
                                        </p:tav>
                                        <p:tav tm="50000">
                                          <p:val>
                                            <p:strVal val="visible"/>
                                          </p:val>
                                        </p:tav>
                                      </p:tavLst>
                                    </p:anim>
                                  </p:childTnLst>
                                </p:cTn>
                              </p:par>
                              <p:par>
                                <p:cTn id="19" presetID="35" presetClass="emph" presetSubtype="0" fill="hold" nodeType="withEffect">
                                  <p:stCondLst>
                                    <p:cond delay="0"/>
                                  </p:stCondLst>
                                  <p:childTnLst>
                                    <p:anim calcmode="discrete" valueType="str">
                                      <p:cBhvr>
                                        <p:cTn id="20" dur="1000" fill="hold"/>
                                        <p:tgtEl>
                                          <p:spTgt spid="35"/>
                                        </p:tgtEl>
                                        <p:attrNameLst>
                                          <p:attrName>style.visibility</p:attrName>
                                        </p:attrNameLst>
                                      </p:cBhvr>
                                      <p:tavLst>
                                        <p:tav tm="0">
                                          <p:val>
                                            <p:strVal val="hidden"/>
                                          </p:val>
                                        </p:tav>
                                        <p:tav tm="50000">
                                          <p:val>
                                            <p:strVal val="visible"/>
                                          </p:val>
                                        </p:tav>
                                      </p:tavLst>
                                    </p:anim>
                                  </p:childTnLst>
                                </p:cTn>
                              </p:par>
                              <p:par>
                                <p:cTn id="21" presetID="35" presetClass="emph" presetSubtype="0" fill="hold" nodeType="withEffect">
                                  <p:stCondLst>
                                    <p:cond delay="0"/>
                                  </p:stCondLst>
                                  <p:childTnLst>
                                    <p:anim calcmode="discrete" valueType="str">
                                      <p:cBhvr>
                                        <p:cTn id="22" dur="1000" fill="hold"/>
                                        <p:tgtEl>
                                          <p:spTgt spid="32"/>
                                        </p:tgtEl>
                                        <p:attrNameLst>
                                          <p:attrName>style.visibility</p:attrName>
                                        </p:attrNameLst>
                                      </p:cBhvr>
                                      <p:tavLst>
                                        <p:tav tm="0">
                                          <p:val>
                                            <p:strVal val="hidden"/>
                                          </p:val>
                                        </p:tav>
                                        <p:tav tm="50000">
                                          <p:val>
                                            <p:strVal val="visible"/>
                                          </p:val>
                                        </p:tav>
                                      </p:tavLst>
                                    </p:anim>
                                  </p:childTnLst>
                                </p:cTn>
                              </p:par>
                              <p:par>
                                <p:cTn id="23" presetID="35" presetClass="emph" presetSubtype="0" fill="hold" grpId="0" nodeType="withEffect">
                                  <p:stCondLst>
                                    <p:cond delay="0"/>
                                  </p:stCondLst>
                                  <p:childTnLst>
                                    <p:anim calcmode="discrete" valueType="str">
                                      <p:cBhvr>
                                        <p:cTn id="24" dur="1000" fill="hold"/>
                                        <p:tgtEl>
                                          <p:spTgt spid="40"/>
                                        </p:tgtEl>
                                        <p:attrNameLst>
                                          <p:attrName>style.visibility</p:attrName>
                                        </p:attrNameLst>
                                      </p:cBhvr>
                                      <p:tavLst>
                                        <p:tav tm="0">
                                          <p:val>
                                            <p:strVal val="hidden"/>
                                          </p:val>
                                        </p:tav>
                                        <p:tav tm="50000">
                                          <p:val>
                                            <p:strVal val="visible"/>
                                          </p:val>
                                        </p:tav>
                                      </p:tavLst>
                                    </p:anim>
                                  </p:childTnLst>
                                </p:cTn>
                              </p:par>
                              <p:par>
                                <p:cTn id="25" presetID="35" presetClass="emph" presetSubtype="0" fill="hold" grpId="0" nodeType="withEffect">
                                  <p:stCondLst>
                                    <p:cond delay="0"/>
                                  </p:stCondLst>
                                  <p:childTnLst>
                                    <p:anim calcmode="discrete" valueType="str">
                                      <p:cBhvr>
                                        <p:cTn id="26" dur="1000" fill="hold"/>
                                        <p:tgtEl>
                                          <p:spTgt spid="39"/>
                                        </p:tgtEl>
                                        <p:attrNameLst>
                                          <p:attrName>style.visibility</p:attrName>
                                        </p:attrNameLst>
                                      </p:cBhvr>
                                      <p:tavLst>
                                        <p:tav tm="0">
                                          <p:val>
                                            <p:strVal val="hidden"/>
                                          </p:val>
                                        </p:tav>
                                        <p:tav tm="50000">
                                          <p:val>
                                            <p:strVal val="visible"/>
                                          </p:val>
                                        </p:tav>
                                      </p:tavLst>
                                    </p:anim>
                                  </p:childTnLst>
                                </p:cTn>
                              </p:par>
                              <p:par>
                                <p:cTn id="27" presetID="35" presetClass="emph" presetSubtype="0" fill="hold" nodeType="withEffect">
                                  <p:stCondLst>
                                    <p:cond delay="0"/>
                                  </p:stCondLst>
                                  <p:childTnLst>
                                    <p:anim calcmode="discrete" valueType="str">
                                      <p:cBhvr>
                                        <p:cTn id="28" dur="1000" fill="hold"/>
                                        <p:tgtEl>
                                          <p:spTgt spid="29"/>
                                        </p:tgtEl>
                                        <p:attrNameLst>
                                          <p:attrName>style.visibility</p:attrName>
                                        </p:attrNameLst>
                                      </p:cBhvr>
                                      <p:tavLst>
                                        <p:tav tm="0">
                                          <p:val>
                                            <p:strVal val="hidden"/>
                                          </p:val>
                                        </p:tav>
                                        <p:tav tm="50000">
                                          <p:val>
                                            <p:strVal val="visible"/>
                                          </p:val>
                                        </p:tav>
                                      </p:tavLst>
                                    </p:anim>
                                  </p:childTnLst>
                                </p:cTn>
                              </p:par>
                              <p:par>
                                <p:cTn id="29" presetID="35" presetClass="emph" presetSubtype="0" fill="hold" nodeType="withEffect">
                                  <p:stCondLst>
                                    <p:cond delay="0"/>
                                  </p:stCondLst>
                                  <p:childTnLst>
                                    <p:anim calcmode="discrete" valueType="str">
                                      <p:cBhvr>
                                        <p:cTn id="30" dur="1000" fill="hold"/>
                                        <p:tgtEl>
                                          <p:spTgt spid="31"/>
                                        </p:tgtEl>
                                        <p:attrNameLst>
                                          <p:attrName>style.visibility</p:attrName>
                                        </p:attrNameLst>
                                      </p:cBhvr>
                                      <p:tavLst>
                                        <p:tav tm="0">
                                          <p:val>
                                            <p:strVal val="hidden"/>
                                          </p:val>
                                        </p:tav>
                                        <p:tav tm="50000">
                                          <p:val>
                                            <p:strVal val="visible"/>
                                          </p:val>
                                        </p:tav>
                                      </p:tavLst>
                                    </p:anim>
                                  </p:childTnLst>
                                </p:cTn>
                              </p:par>
                              <p:par>
                                <p:cTn id="31" presetID="35" presetClass="emph" presetSubtype="0" fill="hold" grpId="0" nodeType="withEffect">
                                  <p:stCondLst>
                                    <p:cond delay="0"/>
                                  </p:stCondLst>
                                  <p:childTnLst>
                                    <p:anim calcmode="discrete" valueType="str">
                                      <p:cBhvr>
                                        <p:cTn id="32" dur="1000" fill="hold"/>
                                        <p:tgtEl>
                                          <p:spTgt spid="44"/>
                                        </p:tgtEl>
                                        <p:attrNameLst>
                                          <p:attrName>style.visibility</p:attrName>
                                        </p:attrNameLst>
                                      </p:cBhvr>
                                      <p:tavLst>
                                        <p:tav tm="0">
                                          <p:val>
                                            <p:strVal val="hidden"/>
                                          </p:val>
                                        </p:tav>
                                        <p:tav tm="50000">
                                          <p:val>
                                            <p:strVal val="visible"/>
                                          </p:val>
                                        </p:tav>
                                      </p:tavLst>
                                    </p:anim>
                                  </p:childTnLst>
                                </p:cTn>
                              </p:par>
                            </p:childTnLst>
                          </p:cTn>
                        </p:par>
                        <p:par>
                          <p:cTn id="33" fill="hold">
                            <p:stCondLst>
                              <p:cond delay="1000"/>
                            </p:stCondLst>
                            <p:childTnLst>
                              <p:par>
                                <p:cTn id="34" presetID="35" presetClass="emph" presetSubtype="0" fill="hold" nodeType="afterEffect">
                                  <p:stCondLst>
                                    <p:cond delay="0"/>
                                  </p:stCondLst>
                                  <p:childTnLst>
                                    <p:anim calcmode="discrete" valueType="str">
                                      <p:cBhvr>
                                        <p:cTn id="35" dur="1000" fill="hold"/>
                                        <p:tgtEl>
                                          <p:spTgt spid="37"/>
                                        </p:tgtEl>
                                        <p:attrNameLst>
                                          <p:attrName>style.visibility</p:attrName>
                                        </p:attrNameLst>
                                      </p:cBhvr>
                                      <p:tavLst>
                                        <p:tav tm="0">
                                          <p:val>
                                            <p:strVal val="hidden"/>
                                          </p:val>
                                        </p:tav>
                                        <p:tav tm="50000">
                                          <p:val>
                                            <p:strVal val="visible"/>
                                          </p:val>
                                        </p:tav>
                                      </p:tavLst>
                                    </p:anim>
                                  </p:childTnLst>
                                </p:cTn>
                              </p:par>
                              <p:par>
                                <p:cTn id="36" presetID="35" presetClass="emph" presetSubtype="0" fill="hold" grpId="2" nodeType="withEffect">
                                  <p:stCondLst>
                                    <p:cond delay="0"/>
                                  </p:stCondLst>
                                  <p:childTnLst>
                                    <p:anim calcmode="discrete" valueType="str">
                                      <p:cBhvr>
                                        <p:cTn id="37" dur="1000" fill="hold"/>
                                        <p:tgtEl>
                                          <p:spTgt spid="43"/>
                                        </p:tgtEl>
                                        <p:attrNameLst>
                                          <p:attrName>style.visibility</p:attrName>
                                        </p:attrNameLst>
                                      </p:cBhvr>
                                      <p:tavLst>
                                        <p:tav tm="0">
                                          <p:val>
                                            <p:strVal val="hidden"/>
                                          </p:val>
                                        </p:tav>
                                        <p:tav tm="50000">
                                          <p:val>
                                            <p:strVal val="visible"/>
                                          </p:val>
                                        </p:tav>
                                      </p:tavLst>
                                    </p:anim>
                                  </p:childTnLst>
                                </p:cTn>
                              </p:par>
                              <p:par>
                                <p:cTn id="38" presetID="35" presetClass="emph" presetSubtype="0" fill="hold" grpId="2" nodeType="withEffect">
                                  <p:stCondLst>
                                    <p:cond delay="0"/>
                                  </p:stCondLst>
                                  <p:childTnLst>
                                    <p:anim calcmode="discrete" valueType="str">
                                      <p:cBhvr>
                                        <p:cTn id="39" dur="1000" fill="hold"/>
                                        <p:tgtEl>
                                          <p:spTgt spid="41"/>
                                        </p:tgtEl>
                                        <p:attrNameLst>
                                          <p:attrName>style.visibility</p:attrName>
                                        </p:attrNameLst>
                                      </p:cBhvr>
                                      <p:tavLst>
                                        <p:tav tm="0">
                                          <p:val>
                                            <p:strVal val="hidden"/>
                                          </p:val>
                                        </p:tav>
                                        <p:tav tm="50000">
                                          <p:val>
                                            <p:strVal val="visible"/>
                                          </p:val>
                                        </p:tav>
                                      </p:tavLst>
                                    </p:anim>
                                  </p:childTnLst>
                                </p:cTn>
                              </p:par>
                              <p:par>
                                <p:cTn id="40" presetID="35" presetClass="emph" presetSubtype="0" fill="hold" nodeType="withEffect">
                                  <p:stCondLst>
                                    <p:cond delay="0"/>
                                  </p:stCondLst>
                                  <p:childTnLst>
                                    <p:anim calcmode="discrete" valueType="str">
                                      <p:cBhvr>
                                        <p:cTn id="41" dur="1000" fill="hold"/>
                                        <p:tgtEl>
                                          <p:spTgt spid="34"/>
                                        </p:tgtEl>
                                        <p:attrNameLst>
                                          <p:attrName>style.visibility</p:attrName>
                                        </p:attrNameLst>
                                      </p:cBhvr>
                                      <p:tavLst>
                                        <p:tav tm="0">
                                          <p:val>
                                            <p:strVal val="hidden"/>
                                          </p:val>
                                        </p:tav>
                                        <p:tav tm="50000">
                                          <p:val>
                                            <p:strVal val="visible"/>
                                          </p:val>
                                        </p:tav>
                                      </p:tavLst>
                                    </p:anim>
                                  </p:childTnLst>
                                </p:cTn>
                              </p:par>
                              <p:par>
                                <p:cTn id="42" presetID="35" presetClass="emph" presetSubtype="0" fill="hold" grpId="2" nodeType="withEffect">
                                  <p:stCondLst>
                                    <p:cond delay="0"/>
                                  </p:stCondLst>
                                  <p:childTnLst>
                                    <p:anim calcmode="discrete" valueType="str">
                                      <p:cBhvr>
                                        <p:cTn id="43" dur="1000" fill="hold"/>
                                        <p:tgtEl>
                                          <p:spTgt spid="46"/>
                                        </p:tgtEl>
                                        <p:attrNameLst>
                                          <p:attrName>style.visibility</p:attrName>
                                        </p:attrNameLst>
                                      </p:cBhvr>
                                      <p:tavLst>
                                        <p:tav tm="0">
                                          <p:val>
                                            <p:strVal val="hidden"/>
                                          </p:val>
                                        </p:tav>
                                        <p:tav tm="50000">
                                          <p:val>
                                            <p:strVal val="visible"/>
                                          </p:val>
                                        </p:tav>
                                      </p:tavLst>
                                    </p:anim>
                                  </p:childTnLst>
                                </p:cTn>
                              </p:par>
                              <p:par>
                                <p:cTn id="44" presetID="35" presetClass="emph" presetSubtype="0" fill="hold" nodeType="withEffect">
                                  <p:stCondLst>
                                    <p:cond delay="0"/>
                                  </p:stCondLst>
                                  <p:childTnLst>
                                    <p:anim calcmode="discrete" valueType="str">
                                      <p:cBhvr>
                                        <p:cTn id="45" dur="1000" fill="hold"/>
                                        <p:tgtEl>
                                          <p:spTgt spid="33"/>
                                        </p:tgtEl>
                                        <p:attrNameLst>
                                          <p:attrName>style.visibility</p:attrName>
                                        </p:attrNameLst>
                                      </p:cBhvr>
                                      <p:tavLst>
                                        <p:tav tm="0">
                                          <p:val>
                                            <p:strVal val="hidden"/>
                                          </p:val>
                                        </p:tav>
                                        <p:tav tm="50000">
                                          <p:val>
                                            <p:strVal val="visible"/>
                                          </p:val>
                                        </p:tav>
                                      </p:tavLst>
                                    </p:anim>
                                  </p:childTnLst>
                                </p:cTn>
                              </p:par>
                              <p:par>
                                <p:cTn id="46" presetID="35" presetClass="emph" presetSubtype="0" fill="hold" grpId="2" nodeType="withEffect">
                                  <p:stCondLst>
                                    <p:cond delay="0"/>
                                  </p:stCondLst>
                                  <p:childTnLst>
                                    <p:anim calcmode="discrete" valueType="str">
                                      <p:cBhvr>
                                        <p:cTn id="47" dur="1000" fill="hold"/>
                                        <p:tgtEl>
                                          <p:spTgt spid="45"/>
                                        </p:tgtEl>
                                        <p:attrNameLst>
                                          <p:attrName>style.visibility</p:attrName>
                                        </p:attrNameLst>
                                      </p:cBhvr>
                                      <p:tavLst>
                                        <p:tav tm="0">
                                          <p:val>
                                            <p:strVal val="hidden"/>
                                          </p:val>
                                        </p:tav>
                                        <p:tav tm="50000">
                                          <p:val>
                                            <p:strVal val="visible"/>
                                          </p:val>
                                        </p:tav>
                                      </p:tavLst>
                                    </p:anim>
                                  </p:childTnLst>
                                </p:cTn>
                              </p:par>
                              <p:par>
                                <p:cTn id="48" presetID="35" presetClass="emph" presetSubtype="0" fill="hold" nodeType="withEffect">
                                  <p:stCondLst>
                                    <p:cond delay="0"/>
                                  </p:stCondLst>
                                  <p:childTnLst>
                                    <p:anim calcmode="discrete" valueType="str">
                                      <p:cBhvr>
                                        <p:cTn id="49" dur="1000" fill="hold"/>
                                        <p:tgtEl>
                                          <p:spTgt spid="35"/>
                                        </p:tgtEl>
                                        <p:attrNameLst>
                                          <p:attrName>style.visibility</p:attrName>
                                        </p:attrNameLst>
                                      </p:cBhvr>
                                      <p:tavLst>
                                        <p:tav tm="0">
                                          <p:val>
                                            <p:strVal val="hidden"/>
                                          </p:val>
                                        </p:tav>
                                        <p:tav tm="50000">
                                          <p:val>
                                            <p:strVal val="visible"/>
                                          </p:val>
                                        </p:tav>
                                      </p:tavLst>
                                    </p:anim>
                                  </p:childTnLst>
                                </p:cTn>
                              </p:par>
                              <p:par>
                                <p:cTn id="50" presetID="35" presetClass="emph" presetSubtype="0" fill="hold" nodeType="withEffect">
                                  <p:stCondLst>
                                    <p:cond delay="0"/>
                                  </p:stCondLst>
                                  <p:childTnLst>
                                    <p:anim calcmode="discrete" valueType="str">
                                      <p:cBhvr>
                                        <p:cTn id="51" dur="1000" fill="hold"/>
                                        <p:tgtEl>
                                          <p:spTgt spid="32"/>
                                        </p:tgtEl>
                                        <p:attrNameLst>
                                          <p:attrName>style.visibility</p:attrName>
                                        </p:attrNameLst>
                                      </p:cBhvr>
                                      <p:tavLst>
                                        <p:tav tm="0">
                                          <p:val>
                                            <p:strVal val="hidden"/>
                                          </p:val>
                                        </p:tav>
                                        <p:tav tm="50000">
                                          <p:val>
                                            <p:strVal val="visible"/>
                                          </p:val>
                                        </p:tav>
                                      </p:tavLst>
                                    </p:anim>
                                  </p:childTnLst>
                                </p:cTn>
                              </p:par>
                              <p:par>
                                <p:cTn id="52" presetID="35" presetClass="emph" presetSubtype="0" fill="hold" grpId="2" nodeType="withEffect">
                                  <p:stCondLst>
                                    <p:cond delay="0"/>
                                  </p:stCondLst>
                                  <p:childTnLst>
                                    <p:anim calcmode="discrete" valueType="str">
                                      <p:cBhvr>
                                        <p:cTn id="53" dur="1000" fill="hold"/>
                                        <p:tgtEl>
                                          <p:spTgt spid="40"/>
                                        </p:tgtEl>
                                        <p:attrNameLst>
                                          <p:attrName>style.visibility</p:attrName>
                                        </p:attrNameLst>
                                      </p:cBhvr>
                                      <p:tavLst>
                                        <p:tav tm="0">
                                          <p:val>
                                            <p:strVal val="hidden"/>
                                          </p:val>
                                        </p:tav>
                                        <p:tav tm="50000">
                                          <p:val>
                                            <p:strVal val="visible"/>
                                          </p:val>
                                        </p:tav>
                                      </p:tavLst>
                                    </p:anim>
                                  </p:childTnLst>
                                </p:cTn>
                              </p:par>
                              <p:par>
                                <p:cTn id="54" presetID="35" presetClass="emph" presetSubtype="0" fill="hold" grpId="2" nodeType="withEffect">
                                  <p:stCondLst>
                                    <p:cond delay="0"/>
                                  </p:stCondLst>
                                  <p:childTnLst>
                                    <p:anim calcmode="discrete" valueType="str">
                                      <p:cBhvr>
                                        <p:cTn id="55" dur="1000" fill="hold"/>
                                        <p:tgtEl>
                                          <p:spTgt spid="39"/>
                                        </p:tgtEl>
                                        <p:attrNameLst>
                                          <p:attrName>style.visibility</p:attrName>
                                        </p:attrNameLst>
                                      </p:cBhvr>
                                      <p:tavLst>
                                        <p:tav tm="0">
                                          <p:val>
                                            <p:strVal val="hidden"/>
                                          </p:val>
                                        </p:tav>
                                        <p:tav tm="50000">
                                          <p:val>
                                            <p:strVal val="visible"/>
                                          </p:val>
                                        </p:tav>
                                      </p:tavLst>
                                    </p:anim>
                                  </p:childTnLst>
                                </p:cTn>
                              </p:par>
                              <p:par>
                                <p:cTn id="56" presetID="35" presetClass="emph" presetSubtype="0" fill="hold" nodeType="withEffect">
                                  <p:stCondLst>
                                    <p:cond delay="0"/>
                                  </p:stCondLst>
                                  <p:childTnLst>
                                    <p:anim calcmode="discrete" valueType="str">
                                      <p:cBhvr>
                                        <p:cTn id="57" dur="1000" fill="hold"/>
                                        <p:tgtEl>
                                          <p:spTgt spid="29"/>
                                        </p:tgtEl>
                                        <p:attrNameLst>
                                          <p:attrName>style.visibility</p:attrName>
                                        </p:attrNameLst>
                                      </p:cBhvr>
                                      <p:tavLst>
                                        <p:tav tm="0">
                                          <p:val>
                                            <p:strVal val="hidden"/>
                                          </p:val>
                                        </p:tav>
                                        <p:tav tm="50000">
                                          <p:val>
                                            <p:strVal val="visible"/>
                                          </p:val>
                                        </p:tav>
                                      </p:tavLst>
                                    </p:anim>
                                  </p:childTnLst>
                                </p:cTn>
                              </p:par>
                              <p:par>
                                <p:cTn id="58" presetID="35" presetClass="emph" presetSubtype="0" fill="hold" nodeType="withEffect">
                                  <p:stCondLst>
                                    <p:cond delay="0"/>
                                  </p:stCondLst>
                                  <p:childTnLst>
                                    <p:anim calcmode="discrete" valueType="str">
                                      <p:cBhvr>
                                        <p:cTn id="59" dur="1000" fill="hold"/>
                                        <p:tgtEl>
                                          <p:spTgt spid="31"/>
                                        </p:tgtEl>
                                        <p:attrNameLst>
                                          <p:attrName>style.visibility</p:attrName>
                                        </p:attrNameLst>
                                      </p:cBhvr>
                                      <p:tavLst>
                                        <p:tav tm="0">
                                          <p:val>
                                            <p:strVal val="hidden"/>
                                          </p:val>
                                        </p:tav>
                                        <p:tav tm="50000">
                                          <p:val>
                                            <p:strVal val="visible"/>
                                          </p:val>
                                        </p:tav>
                                      </p:tavLst>
                                    </p:anim>
                                  </p:childTnLst>
                                </p:cTn>
                              </p:par>
                              <p:par>
                                <p:cTn id="60" presetID="35" presetClass="emph" presetSubtype="0" fill="hold" grpId="2" nodeType="withEffect">
                                  <p:stCondLst>
                                    <p:cond delay="0"/>
                                  </p:stCondLst>
                                  <p:childTnLst>
                                    <p:anim calcmode="discrete" valueType="str">
                                      <p:cBhvr>
                                        <p:cTn id="61"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par>
                    <p:cTn id="62" fill="hold">
                      <p:stCondLst>
                        <p:cond delay="indefinite"/>
                      </p:stCondLst>
                      <p:childTnLst>
                        <p:par>
                          <p:cTn id="63" fill="hold">
                            <p:stCondLst>
                              <p:cond delay="0"/>
                            </p:stCondLst>
                            <p:childTnLst>
                              <p:par>
                                <p:cTn id="64" presetID="1" presetClass="exit" presetSubtype="0" fill="hold" nodeType="clickEffect">
                                  <p:stCondLst>
                                    <p:cond delay="0"/>
                                  </p:stCondLst>
                                  <p:childTnLst>
                                    <p:set>
                                      <p:cBhvr>
                                        <p:cTn id="65" dur="1" fill="hold">
                                          <p:stCondLst>
                                            <p:cond delay="0"/>
                                          </p:stCondLst>
                                        </p:cTn>
                                        <p:tgtEl>
                                          <p:spTgt spid="34"/>
                                        </p:tgtEl>
                                        <p:attrNameLst>
                                          <p:attrName>style.visibility</p:attrName>
                                        </p:attrNameLst>
                                      </p:cBhvr>
                                      <p:to>
                                        <p:strVal val="hidden"/>
                                      </p:to>
                                    </p:set>
                                  </p:childTnLst>
                                </p:cTn>
                              </p:par>
                              <p:par>
                                <p:cTn id="66" presetID="1" presetClass="exit" presetSubtype="0" fill="hold" grpId="3" nodeType="withEffect">
                                  <p:stCondLst>
                                    <p:cond delay="0"/>
                                  </p:stCondLst>
                                  <p:childTnLst>
                                    <p:set>
                                      <p:cBhvr>
                                        <p:cTn id="67" dur="1" fill="hold">
                                          <p:stCondLst>
                                            <p:cond delay="0"/>
                                          </p:stCondLst>
                                        </p:cTn>
                                        <p:tgtEl>
                                          <p:spTgt spid="43"/>
                                        </p:tgtEl>
                                        <p:attrNameLst>
                                          <p:attrName>style.visibility</p:attrName>
                                        </p:attrNameLst>
                                      </p:cBhvr>
                                      <p:to>
                                        <p:strVal val="hidden"/>
                                      </p:to>
                                    </p:set>
                                  </p:childTnLst>
                                </p:cTn>
                              </p:par>
                              <p:par>
                                <p:cTn id="68" presetID="1" presetClass="exit" presetSubtype="0" fill="hold" nodeType="withEffect">
                                  <p:stCondLst>
                                    <p:cond delay="0"/>
                                  </p:stCondLst>
                                  <p:childTnLst>
                                    <p:set>
                                      <p:cBhvr>
                                        <p:cTn id="69" dur="1" fill="hold">
                                          <p:stCondLst>
                                            <p:cond delay="0"/>
                                          </p:stCondLst>
                                        </p:cTn>
                                        <p:tgtEl>
                                          <p:spTgt spid="37"/>
                                        </p:tgtEl>
                                        <p:attrNameLst>
                                          <p:attrName>style.visibility</p:attrName>
                                        </p:attrNameLst>
                                      </p:cBhvr>
                                      <p:to>
                                        <p:strVal val="hidden"/>
                                      </p:to>
                                    </p:set>
                                  </p:childTnLst>
                                </p:cTn>
                              </p:par>
                              <p:par>
                                <p:cTn id="70" presetID="1" presetClass="exit" presetSubtype="0" fill="hold" grpId="3" nodeType="withEffect">
                                  <p:stCondLst>
                                    <p:cond delay="0"/>
                                  </p:stCondLst>
                                  <p:childTnLst>
                                    <p:set>
                                      <p:cBhvr>
                                        <p:cTn id="71" dur="1" fill="hold">
                                          <p:stCondLst>
                                            <p:cond delay="0"/>
                                          </p:stCondLst>
                                        </p:cTn>
                                        <p:tgtEl>
                                          <p:spTgt spid="41"/>
                                        </p:tgtEl>
                                        <p:attrNameLst>
                                          <p:attrName>style.visibility</p:attrName>
                                        </p:attrNameLst>
                                      </p:cBhvr>
                                      <p:to>
                                        <p:strVal val="hidden"/>
                                      </p:to>
                                    </p:set>
                                  </p:childTnLst>
                                </p:cTn>
                              </p:par>
                              <p:par>
                                <p:cTn id="72" presetID="1" presetClass="exit" presetSubtype="0" fill="hold" nodeType="withEffect">
                                  <p:stCondLst>
                                    <p:cond delay="0"/>
                                  </p:stCondLst>
                                  <p:childTnLst>
                                    <p:set>
                                      <p:cBhvr>
                                        <p:cTn id="73" dur="1" fill="hold">
                                          <p:stCondLst>
                                            <p:cond delay="0"/>
                                          </p:stCondLst>
                                        </p:cTn>
                                        <p:tgtEl>
                                          <p:spTgt spid="35"/>
                                        </p:tgtEl>
                                        <p:attrNameLst>
                                          <p:attrName>style.visibility</p:attrName>
                                        </p:attrNameLst>
                                      </p:cBhvr>
                                      <p:to>
                                        <p:strVal val="hidden"/>
                                      </p:to>
                                    </p:set>
                                  </p:childTnLst>
                                </p:cTn>
                              </p:par>
                              <p:par>
                                <p:cTn id="74" presetID="1" presetClass="exit" presetSubtype="0" fill="hold" grpId="3" nodeType="withEffect">
                                  <p:stCondLst>
                                    <p:cond delay="0"/>
                                  </p:stCondLst>
                                  <p:childTnLst>
                                    <p:set>
                                      <p:cBhvr>
                                        <p:cTn id="75" dur="1" fill="hold">
                                          <p:stCondLst>
                                            <p:cond delay="0"/>
                                          </p:stCondLst>
                                        </p:cTn>
                                        <p:tgtEl>
                                          <p:spTgt spid="45"/>
                                        </p:tgtEl>
                                        <p:attrNameLst>
                                          <p:attrName>style.visibility</p:attrName>
                                        </p:attrNameLst>
                                      </p:cBhvr>
                                      <p:to>
                                        <p:strVal val="hidden"/>
                                      </p:to>
                                    </p:set>
                                  </p:childTnLst>
                                </p:cTn>
                              </p:par>
                              <p:par>
                                <p:cTn id="76" presetID="1" presetClass="exit" presetSubtype="0" fill="hold" nodeType="withEffect">
                                  <p:stCondLst>
                                    <p:cond delay="0"/>
                                  </p:stCondLst>
                                  <p:childTnLst>
                                    <p:set>
                                      <p:cBhvr>
                                        <p:cTn id="77" dur="1" fill="hold">
                                          <p:stCondLst>
                                            <p:cond delay="0"/>
                                          </p:stCondLst>
                                        </p:cTn>
                                        <p:tgtEl>
                                          <p:spTgt spid="33"/>
                                        </p:tgtEl>
                                        <p:attrNameLst>
                                          <p:attrName>style.visibility</p:attrName>
                                        </p:attrNameLst>
                                      </p:cBhvr>
                                      <p:to>
                                        <p:strVal val="hidden"/>
                                      </p:to>
                                    </p:set>
                                  </p:childTnLst>
                                </p:cTn>
                              </p:par>
                              <p:par>
                                <p:cTn id="78" presetID="1" presetClass="exit" presetSubtype="0" fill="hold" grpId="3" nodeType="withEffect">
                                  <p:stCondLst>
                                    <p:cond delay="0"/>
                                  </p:stCondLst>
                                  <p:childTnLst>
                                    <p:set>
                                      <p:cBhvr>
                                        <p:cTn id="79" dur="1" fill="hold">
                                          <p:stCondLst>
                                            <p:cond delay="0"/>
                                          </p:stCondLst>
                                        </p:cTn>
                                        <p:tgtEl>
                                          <p:spTgt spid="46"/>
                                        </p:tgtEl>
                                        <p:attrNameLst>
                                          <p:attrName>style.visibility</p:attrName>
                                        </p:attrNameLst>
                                      </p:cBhvr>
                                      <p:to>
                                        <p:strVal val="hidden"/>
                                      </p:to>
                                    </p:set>
                                  </p:childTnLst>
                                </p:cTn>
                              </p:par>
                              <p:par>
                                <p:cTn id="80" presetID="1" presetClass="exit" presetSubtype="0" fill="hold" grpId="3" nodeType="withEffect">
                                  <p:stCondLst>
                                    <p:cond delay="0"/>
                                  </p:stCondLst>
                                  <p:childTnLst>
                                    <p:set>
                                      <p:cBhvr>
                                        <p:cTn id="81" dur="1" fill="hold">
                                          <p:stCondLst>
                                            <p:cond delay="0"/>
                                          </p:stCondLst>
                                        </p:cTn>
                                        <p:tgtEl>
                                          <p:spTgt spid="44"/>
                                        </p:tgtEl>
                                        <p:attrNameLst>
                                          <p:attrName>style.visibility</p:attrName>
                                        </p:attrNameLst>
                                      </p:cBhvr>
                                      <p:to>
                                        <p:strVal val="hidden"/>
                                      </p:to>
                                    </p:set>
                                  </p:childTnLst>
                                </p:cTn>
                              </p:par>
                              <p:par>
                                <p:cTn id="82" presetID="1" presetClass="exit" presetSubtype="0" fill="hold" nodeType="withEffect">
                                  <p:stCondLst>
                                    <p:cond delay="0"/>
                                  </p:stCondLst>
                                  <p:childTnLst>
                                    <p:set>
                                      <p:cBhvr>
                                        <p:cTn id="83" dur="1" fill="hold">
                                          <p:stCondLst>
                                            <p:cond delay="0"/>
                                          </p:stCondLst>
                                        </p:cTn>
                                        <p:tgtEl>
                                          <p:spTgt spid="31"/>
                                        </p:tgtEl>
                                        <p:attrNameLst>
                                          <p:attrName>style.visibility</p:attrName>
                                        </p:attrNameLst>
                                      </p:cBhvr>
                                      <p:to>
                                        <p:strVal val="hidden"/>
                                      </p:to>
                                    </p:set>
                                  </p:childTnLst>
                                </p:cTn>
                              </p:par>
                              <p:par>
                                <p:cTn id="84" presetID="1" presetClass="exit" presetSubtype="0" fill="hold" nodeType="withEffect">
                                  <p:stCondLst>
                                    <p:cond delay="0"/>
                                  </p:stCondLst>
                                  <p:childTnLst>
                                    <p:set>
                                      <p:cBhvr>
                                        <p:cTn id="85" dur="1" fill="hold">
                                          <p:stCondLst>
                                            <p:cond delay="0"/>
                                          </p:stCondLst>
                                        </p:cTn>
                                        <p:tgtEl>
                                          <p:spTgt spid="32"/>
                                        </p:tgtEl>
                                        <p:attrNameLst>
                                          <p:attrName>style.visibility</p:attrName>
                                        </p:attrNameLst>
                                      </p:cBhvr>
                                      <p:to>
                                        <p:strVal val="hidden"/>
                                      </p:to>
                                    </p:set>
                                  </p:childTnLst>
                                </p:cTn>
                              </p:par>
                              <p:par>
                                <p:cTn id="86" presetID="1" presetClass="exit" presetSubtype="0" fill="hold" grpId="3" nodeType="withEffect">
                                  <p:stCondLst>
                                    <p:cond delay="0"/>
                                  </p:stCondLst>
                                  <p:childTnLst>
                                    <p:set>
                                      <p:cBhvr>
                                        <p:cTn id="87" dur="1" fill="hold">
                                          <p:stCondLst>
                                            <p:cond delay="0"/>
                                          </p:stCondLst>
                                        </p:cTn>
                                        <p:tgtEl>
                                          <p:spTgt spid="40"/>
                                        </p:tgtEl>
                                        <p:attrNameLst>
                                          <p:attrName>style.visibility</p:attrName>
                                        </p:attrNameLst>
                                      </p:cBhvr>
                                      <p:to>
                                        <p:strVal val="hidden"/>
                                      </p:to>
                                    </p:set>
                                  </p:childTnLst>
                                </p:cTn>
                              </p:par>
                              <p:par>
                                <p:cTn id="88" presetID="1" presetClass="exit" presetSubtype="0" fill="hold" grpId="3" nodeType="withEffect">
                                  <p:stCondLst>
                                    <p:cond delay="0"/>
                                  </p:stCondLst>
                                  <p:childTnLst>
                                    <p:set>
                                      <p:cBhvr>
                                        <p:cTn id="89" dur="1" fill="hold">
                                          <p:stCondLst>
                                            <p:cond delay="0"/>
                                          </p:stCondLst>
                                        </p:cTn>
                                        <p:tgtEl>
                                          <p:spTgt spid="39"/>
                                        </p:tgtEl>
                                        <p:attrNameLst>
                                          <p:attrName>style.visibility</p:attrName>
                                        </p:attrNameLst>
                                      </p:cBhvr>
                                      <p:to>
                                        <p:strVal val="hidden"/>
                                      </p:to>
                                    </p:set>
                                  </p:childTnLst>
                                </p:cTn>
                              </p:par>
                              <p:par>
                                <p:cTn id="90" presetID="1" presetClass="exit" presetSubtype="0" fill="hold" nodeType="withEffect">
                                  <p:stCondLst>
                                    <p:cond delay="0"/>
                                  </p:stCondLst>
                                  <p:childTnLst>
                                    <p:set>
                                      <p:cBhvr>
                                        <p:cTn id="91" dur="1" fill="hold">
                                          <p:stCondLst>
                                            <p:cond delay="0"/>
                                          </p:stCondLst>
                                        </p:cTn>
                                        <p:tgtEl>
                                          <p:spTgt spid="29"/>
                                        </p:tgtEl>
                                        <p:attrNameLst>
                                          <p:attrName>style.visibility</p:attrName>
                                        </p:attrNameLst>
                                      </p:cBhvr>
                                      <p:to>
                                        <p:strVal val="hidden"/>
                                      </p:to>
                                    </p:set>
                                  </p:childTnLst>
                                </p:cTn>
                              </p:par>
                            </p:childTnLst>
                          </p:cTn>
                        </p:par>
                      </p:childTnLst>
                    </p:cTn>
                  </p:par>
                  <p:par>
                    <p:cTn id="92" fill="hold">
                      <p:stCondLst>
                        <p:cond delay="indefinite"/>
                      </p:stCondLst>
                      <p:childTnLst>
                        <p:par>
                          <p:cTn id="93" fill="hold">
                            <p:stCondLst>
                              <p:cond delay="0"/>
                            </p:stCondLst>
                            <p:childTnLst>
                              <p:par>
                                <p:cTn id="94" presetID="0" presetClass="path" presetSubtype="0" accel="50000" decel="50000" fill="hold" nodeType="clickEffect">
                                  <p:stCondLst>
                                    <p:cond delay="0"/>
                                  </p:stCondLst>
                                  <p:childTnLst>
                                    <p:animMotion origin="layout" path="M 0 0 C 0.0105556 -0.0215741 0.00583333 -0.114815 0.0833333 -0.0842593 C 0.160833 -0.0537037 0.328333 0.103704 0.3875 0.152778 " pathEditMode="relative" ptsTypes="">
                                      <p:cBhvr>
                                        <p:cTn id="95" dur="2000" fill="hold"/>
                                        <p:tgtEl>
                                          <p:spTgt spid="102"/>
                                        </p:tgtEl>
                                        <p:attrNameLst>
                                          <p:attrName>ppt_x</p:attrName>
                                          <p:attrName>ppt_y</p:attrName>
                                        </p:attrNameLst>
                                      </p:cBhvr>
                                    </p:animMotion>
                                  </p:childTnLst>
                                </p:cTn>
                              </p:par>
                              <p:par>
                                <p:cTn id="96" presetID="0" presetClass="path" presetSubtype="0" accel="50000" decel="50000" fill="hold" grpId="2" nodeType="withEffect">
                                  <p:stCondLst>
                                    <p:cond delay="0"/>
                                  </p:stCondLst>
                                  <p:childTnLst>
                                    <p:animMotion origin="layout" path="M 0 0 C 0.0105556 -0.0215741 0.00583333 -0.114815 0.0833333 -0.0842593 C 0.160833 -0.0537037 0.328333 0.103704 0.3875 0.152778 " pathEditMode="relative" ptsTypes="">
                                      <p:cBhvr>
                                        <p:cTn id="97" dur="2000" fill="hold"/>
                                        <p:tgtEl>
                                          <p:spTgt spid="159"/>
                                        </p:tgtEl>
                                        <p:attrNameLst>
                                          <p:attrName>ppt_x</p:attrName>
                                          <p:attrName>ppt_y</p:attrName>
                                        </p:attrNameLst>
                                      </p:cBhvr>
                                    </p:animMotion>
                                  </p:childTnLst>
                                </p:cTn>
                              </p:par>
                            </p:childTnLst>
                          </p:cTn>
                        </p:par>
                      </p:childTnLst>
                    </p:cTn>
                  </p:par>
                  <p:par>
                    <p:cTn id="98" fill="hold">
                      <p:stCondLst>
                        <p:cond delay="indefinite"/>
                      </p:stCondLst>
                      <p:childTnLst>
                        <p:par>
                          <p:cTn id="99" fill="hold">
                            <p:stCondLst>
                              <p:cond delay="0"/>
                            </p:stCondLst>
                            <p:childTnLst>
                              <p:par>
                                <p:cTn id="100" presetID="1" presetClass="entr" presetSubtype="0" fill="hold" grpId="2" nodeType="clickEffect">
                                  <p:stCondLst>
                                    <p:cond delay="0"/>
                                  </p:stCondLst>
                                  <p:childTnLst>
                                    <p:set>
                                      <p:cBhvr>
                                        <p:cTn id="101" dur="1" fill="hold">
                                          <p:stCondLst>
                                            <p:cond delay="0"/>
                                          </p:stCondLst>
                                        </p:cTn>
                                        <p:tgtEl>
                                          <p:spTgt spid="49"/>
                                        </p:tgtEl>
                                        <p:attrNameLst>
                                          <p:attrName>style.visibility</p:attrName>
                                        </p:attrNameLst>
                                      </p:cBhvr>
                                      <p:to>
                                        <p:strVal val="visible"/>
                                      </p:to>
                                    </p:set>
                                  </p:childTnLst>
                                </p:cTn>
                              </p:par>
                              <p:par>
                                <p:cTn id="102" presetID="1" presetClass="entr" presetSubtype="0" fill="hold" nodeType="withEffect">
                                  <p:stCondLst>
                                    <p:cond delay="0"/>
                                  </p:stCondLst>
                                  <p:childTnLst>
                                    <p:set>
                                      <p:cBhvr>
                                        <p:cTn id="103" dur="1" fill="hold">
                                          <p:stCondLst>
                                            <p:cond delay="0"/>
                                          </p:stCondLst>
                                        </p:cTn>
                                        <p:tgtEl>
                                          <p:spTgt spid="48"/>
                                        </p:tgtEl>
                                        <p:attrNameLst>
                                          <p:attrName>style.visibility</p:attrName>
                                        </p:attrNameLst>
                                      </p:cBhvr>
                                      <p:to>
                                        <p:strVal val="visible"/>
                                      </p:to>
                                    </p:set>
                                  </p:childTnLst>
                                </p:cTn>
                              </p:par>
                            </p:childTnLst>
                          </p:cTn>
                        </p:par>
                      </p:childTnLst>
                    </p:cTn>
                  </p:par>
                  <p:par>
                    <p:cTn id="104" fill="hold">
                      <p:stCondLst>
                        <p:cond delay="indefinite"/>
                      </p:stCondLst>
                      <p:childTnLst>
                        <p:par>
                          <p:cTn id="105" fill="hold">
                            <p:stCondLst>
                              <p:cond delay="0"/>
                            </p:stCondLst>
                            <p:childTnLst>
                              <p:par>
                                <p:cTn id="106" presetID="0" presetClass="path" presetSubtype="0" accel="50000" decel="50000" fill="hold" nodeType="clickEffect">
                                  <p:stCondLst>
                                    <p:cond delay="0"/>
                                  </p:stCondLst>
                                  <p:childTnLst>
                                    <p:animMotion origin="layout" path="M 0 0 L 0 -0.0839815 " pathEditMode="relative" ptsTypes="">
                                      <p:cBhvr>
                                        <p:cTn id="107" dur="2000" fill="hold"/>
                                        <p:tgtEl>
                                          <p:spTgt spid="55"/>
                                        </p:tgtEl>
                                        <p:attrNameLst>
                                          <p:attrName>ppt_x</p:attrName>
                                          <p:attrName>ppt_y</p:attrName>
                                        </p:attrNameLst>
                                      </p:cBhvr>
                                    </p:animMotion>
                                  </p:childTnLst>
                                </p:cTn>
                              </p:par>
                              <p:par>
                                <p:cTn id="108" presetID="0" presetClass="path" presetSubtype="0" accel="50000" decel="50000" fill="hold" nodeType="withEffect">
                                  <p:stCondLst>
                                    <p:cond delay="0"/>
                                  </p:stCondLst>
                                  <p:childTnLst>
                                    <p:animMotion origin="layout" path="M 0 0 L 0 -0.0839815 " pathEditMode="relative" ptsTypes="">
                                      <p:cBhvr>
                                        <p:cTn id="109" dur="2000" fill="hold"/>
                                        <p:tgtEl>
                                          <p:spTgt spid="54"/>
                                        </p:tgtEl>
                                        <p:attrNameLst>
                                          <p:attrName>ppt_x</p:attrName>
                                          <p:attrName>ppt_y</p:attrName>
                                        </p:attrNameLst>
                                      </p:cBhvr>
                                    </p:animMotion>
                                  </p:childTnLst>
                                </p:cTn>
                              </p:par>
                              <p:par>
                                <p:cTn id="110" presetID="0" presetClass="path" presetSubtype="0" accel="50000" decel="50000" fill="hold" nodeType="withEffect">
                                  <p:stCondLst>
                                    <p:cond delay="0"/>
                                  </p:stCondLst>
                                  <p:childTnLst>
                                    <p:animMotion origin="layout" path="M 0 0 L 0 -0.0839815 " pathEditMode="relative" ptsTypes="">
                                      <p:cBhvr>
                                        <p:cTn id="111" dur="2000" fill="hold"/>
                                        <p:tgtEl>
                                          <p:spTgt spid="53"/>
                                        </p:tgtEl>
                                        <p:attrNameLst>
                                          <p:attrName>ppt_x</p:attrName>
                                          <p:attrName>ppt_y</p:attrName>
                                        </p:attrNameLst>
                                      </p:cBhvr>
                                    </p:animMotion>
                                  </p:childTnLst>
                                </p:cTn>
                              </p:par>
                              <p:par>
                                <p:cTn id="112" presetID="0" presetClass="path" presetSubtype="0" accel="50000" decel="50000" fill="hold" nodeType="withEffect">
                                  <p:stCondLst>
                                    <p:cond delay="0"/>
                                  </p:stCondLst>
                                  <p:childTnLst>
                                    <p:animMotion origin="layout" path="M 0 0 L 0 -0.0839815 " pathEditMode="relative" ptsTypes="">
                                      <p:cBhvr>
                                        <p:cTn id="113" dur="2000" fill="hold"/>
                                        <p:tgtEl>
                                          <p:spTgt spid="52"/>
                                        </p:tgtEl>
                                        <p:attrNameLst>
                                          <p:attrName>ppt_x</p:attrName>
                                          <p:attrName>ppt_y</p:attrName>
                                        </p:attrNameLst>
                                      </p:cBhvr>
                                    </p:animMotion>
                                  </p:childTnLst>
                                </p:cTn>
                              </p:par>
                              <p:par>
                                <p:cTn id="114" presetID="0" presetClass="path" presetSubtype="0" accel="50000" decel="50000" fill="hold" nodeType="withEffect">
                                  <p:stCondLst>
                                    <p:cond delay="0"/>
                                  </p:stCondLst>
                                  <p:childTnLst>
                                    <p:animMotion origin="layout" path="M 0 0 L 0 -0.0839815 " pathEditMode="relative" ptsTypes="">
                                      <p:cBhvr>
                                        <p:cTn id="115" dur="2000" fill="hold"/>
                                        <p:tgtEl>
                                          <p:spTgt spid="51"/>
                                        </p:tgtEl>
                                        <p:attrNameLst>
                                          <p:attrName>ppt_x</p:attrName>
                                          <p:attrName>ppt_y</p:attrName>
                                        </p:attrNameLst>
                                      </p:cBhvr>
                                    </p:animMotion>
                                  </p:childTnLst>
                                </p:cTn>
                              </p:par>
                              <p:par>
                                <p:cTn id="116" presetID="0" presetClass="path" presetSubtype="0" accel="50000" decel="50000" fill="hold" nodeType="withEffect">
                                  <p:stCondLst>
                                    <p:cond delay="0"/>
                                  </p:stCondLst>
                                  <p:childTnLst>
                                    <p:animMotion origin="layout" path="M 0 0 L 0 -0.0839815 " pathEditMode="relative" ptsTypes="">
                                      <p:cBhvr>
                                        <p:cTn id="117" dur="2000" fill="hold"/>
                                        <p:tgtEl>
                                          <p:spTgt spid="50"/>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p:bldP spid="39" grpId="1"/>
      <p:bldP spid="39" grpId="2"/>
      <p:bldP spid="39" grpId="3"/>
      <p:bldP spid="40" grpId="0"/>
      <p:bldP spid="40" grpId="1"/>
      <p:bldP spid="40" grpId="2"/>
      <p:bldP spid="40" grpId="3"/>
      <p:bldP spid="41" grpId="0"/>
      <p:bldP spid="41" grpId="1"/>
      <p:bldP spid="41" grpId="2"/>
      <p:bldP spid="41" grpId="3"/>
      <p:bldP spid="42" grpId="1"/>
      <p:bldP spid="43" grpId="0"/>
      <p:bldP spid="43" grpId="1"/>
      <p:bldP spid="43" grpId="2"/>
      <p:bldP spid="43" grpId="3"/>
      <p:bldP spid="44" grpId="0"/>
      <p:bldP spid="44" grpId="1"/>
      <p:bldP spid="44" grpId="2"/>
      <p:bldP spid="44" grpId="3"/>
      <p:bldP spid="45" grpId="0"/>
      <p:bldP spid="45" grpId="1"/>
      <p:bldP spid="45" grpId="2"/>
      <p:bldP spid="45" grpId="3"/>
      <p:bldP spid="46" grpId="0"/>
      <p:bldP spid="46" grpId="1"/>
      <p:bldP spid="46" grpId="2"/>
      <p:bldP spid="46" grpId="3"/>
      <p:bldP spid="27" grpId="1"/>
      <p:bldP spid="3" grpId="1" animBg="1"/>
      <p:bldP spid="5" grpId="1" animBg="1"/>
      <p:bldP spid="159" grpId="1"/>
      <p:bldP spid="159" grpId="2"/>
      <p:bldP spid="49" grpId="1"/>
      <p:bldP spid="49" grpId="2"/>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920115"/>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算法原则是：将所有的边按照长度排序，选择最小长度的边做最小生成树的边，直至将所有节点连接在一起。</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1327785" y="479679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2552065" y="479679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983865" y="407162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p:nvPr/>
        </p:nvCxnSpPr>
        <p:spPr>
          <a:xfrm>
            <a:off x="2800985" y="3673475"/>
            <a:ext cx="261620" cy="47688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4" name="直接连接符 33"/>
          <p:cNvCxnSpPr/>
          <p:nvPr/>
        </p:nvCxnSpPr>
        <p:spPr>
          <a:xfrm>
            <a:off x="805815" y="4544695"/>
            <a:ext cx="521970" cy="52197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p:nvPr/>
        </p:nvCxnSpPr>
        <p:spPr>
          <a:xfrm flipV="1">
            <a:off x="2310765" y="4341495"/>
            <a:ext cx="673100" cy="508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6" name="直接连接符 35"/>
          <p:cNvCxnSpPr/>
          <p:nvPr/>
        </p:nvCxnSpPr>
        <p:spPr>
          <a:xfrm>
            <a:off x="1863090" y="5066665"/>
            <a:ext cx="688975" cy="0"/>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7" name="直接连接符 36"/>
          <p:cNvCxnSpPr/>
          <p:nvPr/>
        </p:nvCxnSpPr>
        <p:spPr>
          <a:xfrm flipH="1">
            <a:off x="3087370" y="4611370"/>
            <a:ext cx="166370" cy="45529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40" name="文本框 39"/>
          <p:cNvSpPr txBox="1"/>
          <p:nvPr/>
        </p:nvSpPr>
        <p:spPr>
          <a:xfrm>
            <a:off x="2902585" y="3596005"/>
            <a:ext cx="445770" cy="346075"/>
          </a:xfrm>
          <a:prstGeom prst="rect">
            <a:avLst/>
          </a:prstGeom>
          <a:noFill/>
        </p:spPr>
        <p:txBody>
          <a:bodyPr wrap="square" rtlCol="0">
            <a:noAutofit/>
          </a:bodyPr>
          <a:lstStyle/>
          <a:p>
            <a:r>
              <a:rPr lang="en-US" altLang="zh-CN">
                <a:latin typeface="+mj-lt"/>
                <a:cs typeface="+mj-lt"/>
              </a:rPr>
              <a:t>13</a:t>
            </a:r>
            <a:endParaRPr lang="en-US" altLang="zh-CN">
              <a:latin typeface="+mj-lt"/>
              <a:cs typeface="+mj-lt"/>
            </a:endParaRPr>
          </a:p>
        </p:txBody>
      </p:sp>
      <p:sp>
        <p:nvSpPr>
          <p:cNvPr id="41" name="文本框 40"/>
          <p:cNvSpPr txBox="1"/>
          <p:nvPr/>
        </p:nvSpPr>
        <p:spPr>
          <a:xfrm>
            <a:off x="3211830" y="4706620"/>
            <a:ext cx="445770" cy="346075"/>
          </a:xfrm>
          <a:prstGeom prst="rect">
            <a:avLst/>
          </a:prstGeom>
          <a:noFill/>
        </p:spPr>
        <p:txBody>
          <a:bodyPr wrap="square" rtlCol="0">
            <a:noAutofit/>
          </a:bodyPr>
          <a:lstStyle/>
          <a:p>
            <a:r>
              <a:rPr lang="en-US" altLang="zh-CN">
                <a:latin typeface="+mj-lt"/>
                <a:cs typeface="+mj-lt"/>
              </a:rPr>
              <a:t>18</a:t>
            </a:r>
            <a:endParaRPr lang="en-US" altLang="zh-CN">
              <a:latin typeface="+mj-lt"/>
              <a:cs typeface="+mj-lt"/>
            </a:endParaRPr>
          </a:p>
        </p:txBody>
      </p:sp>
      <p:sp>
        <p:nvSpPr>
          <p:cNvPr id="42" name="文本框 41"/>
          <p:cNvSpPr txBox="1"/>
          <p:nvPr/>
        </p:nvSpPr>
        <p:spPr>
          <a:xfrm>
            <a:off x="2023110" y="4714875"/>
            <a:ext cx="445770" cy="346075"/>
          </a:xfrm>
          <a:prstGeom prst="rect">
            <a:avLst/>
          </a:prstGeom>
          <a:noFill/>
        </p:spPr>
        <p:txBody>
          <a:bodyPr wrap="square" rtlCol="0">
            <a:noAutofit/>
          </a:bodyPr>
          <a:lstStyle/>
          <a:p>
            <a:r>
              <a:rPr lang="en-US" altLang="zh-CN">
                <a:solidFill>
                  <a:srgbClr val="FF0000"/>
                </a:solidFill>
                <a:latin typeface="+mj-lt"/>
                <a:cs typeface="+mj-lt"/>
              </a:rPr>
              <a:t>7</a:t>
            </a:r>
            <a:endParaRPr lang="en-US" altLang="zh-CN">
              <a:solidFill>
                <a:srgbClr val="FF0000"/>
              </a:solidFill>
              <a:latin typeface="+mj-lt"/>
              <a:cs typeface="+mj-lt"/>
            </a:endParaRPr>
          </a:p>
        </p:txBody>
      </p:sp>
      <p:sp>
        <p:nvSpPr>
          <p:cNvPr id="43" name="文本框 42"/>
          <p:cNvSpPr txBox="1"/>
          <p:nvPr/>
        </p:nvSpPr>
        <p:spPr>
          <a:xfrm>
            <a:off x="683895" y="4714875"/>
            <a:ext cx="445770" cy="346075"/>
          </a:xfrm>
          <a:prstGeom prst="rect">
            <a:avLst/>
          </a:prstGeom>
          <a:noFill/>
        </p:spPr>
        <p:txBody>
          <a:bodyPr wrap="square" rtlCol="0">
            <a:noAutofit/>
          </a:bodyPr>
          <a:lstStyle/>
          <a:p>
            <a:r>
              <a:rPr lang="en-US" altLang="zh-CN">
                <a:latin typeface="+mj-lt"/>
                <a:cs typeface="+mj-lt"/>
              </a:rPr>
              <a:t>26</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sp>
        <p:nvSpPr>
          <p:cNvPr id="45" name="文本框 44"/>
          <p:cNvSpPr txBox="1"/>
          <p:nvPr/>
        </p:nvSpPr>
        <p:spPr>
          <a:xfrm>
            <a:off x="2484120" y="394208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46" name="文本框 45"/>
          <p:cNvSpPr txBox="1"/>
          <p:nvPr/>
        </p:nvSpPr>
        <p:spPr>
          <a:xfrm>
            <a:off x="1228090" y="3905250"/>
            <a:ext cx="445770" cy="346075"/>
          </a:xfrm>
          <a:prstGeom prst="rect">
            <a:avLst/>
          </a:prstGeom>
          <a:noFill/>
          <a:ln>
            <a:noFill/>
          </a:ln>
        </p:spPr>
        <p:txBody>
          <a:bodyPr wrap="square" rtlCol="0">
            <a:noAutofit/>
          </a:bodyPr>
          <a:lstStyle/>
          <a:p>
            <a:r>
              <a:rPr lang="en-US" altLang="zh-CN">
                <a:solidFill>
                  <a:srgbClr val="FF0000"/>
                </a:solidFill>
                <a:latin typeface="+mj-lt"/>
                <a:cs typeface="+mj-lt"/>
              </a:rPr>
              <a:t>9</a:t>
            </a:r>
            <a:endParaRPr lang="en-US" altLang="zh-CN">
              <a:solidFill>
                <a:srgbClr val="FF0000"/>
              </a:solidFill>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705100"/>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705100"/>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0" name="组合 49"/>
          <p:cNvGrpSpPr/>
          <p:nvPr/>
        </p:nvGrpSpPr>
        <p:grpSpPr>
          <a:xfrm>
            <a:off x="6155690" y="2758440"/>
            <a:ext cx="1558925" cy="398780"/>
            <a:chOff x="9694" y="5259"/>
            <a:chExt cx="2455" cy="628"/>
          </a:xfrm>
        </p:grpSpPr>
        <p:grpSp>
          <p:nvGrpSpPr>
            <p:cNvPr id="111" name="组合 110"/>
            <p:cNvGrpSpPr/>
            <p:nvPr/>
          </p:nvGrpSpPr>
          <p:grpSpPr>
            <a:xfrm>
              <a:off x="9694" y="5285"/>
              <a:ext cx="644" cy="602"/>
              <a:chOff x="1006488" y="2036167"/>
              <a:chExt cx="531192" cy="504056"/>
            </a:xfrm>
          </p:grpSpPr>
          <p:sp>
            <p:nvSpPr>
              <p:cNvPr id="11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13" name="文本框 11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14" name="组合 113"/>
            <p:cNvGrpSpPr/>
            <p:nvPr/>
          </p:nvGrpSpPr>
          <p:grpSpPr>
            <a:xfrm>
              <a:off x="10455" y="5285"/>
              <a:ext cx="644" cy="602"/>
              <a:chOff x="1006488" y="2036167"/>
              <a:chExt cx="531192" cy="504056"/>
            </a:xfrm>
          </p:grpSpPr>
          <p:sp>
            <p:nvSpPr>
              <p:cNvPr id="11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16" name="文本框 11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17" name="直接连接符 116"/>
            <p:cNvCxnSpPr/>
            <p:nvPr/>
          </p:nvCxnSpPr>
          <p:spPr>
            <a:xfrm>
              <a:off x="10312" y="5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sp>
          <p:nvSpPr>
            <p:cNvPr id="160" name="文本框 159"/>
            <p:cNvSpPr txBox="1"/>
            <p:nvPr/>
          </p:nvSpPr>
          <p:spPr>
            <a:xfrm>
              <a:off x="11395" y="5259"/>
              <a:ext cx="755" cy="49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13</a:t>
              </a:r>
              <a:endParaRPr lang="en-US" altLang="zh-CN">
                <a:latin typeface="Times New Roman" panose="02020603050405020304" pitchFamily="18" charset="0"/>
                <a:cs typeface="Times New Roman" panose="02020603050405020304" pitchFamily="18" charset="0"/>
                <a:sym typeface="+mn-ea"/>
              </a:endParaRPr>
            </a:p>
          </p:txBody>
        </p:sp>
      </p:grpSp>
      <p:grpSp>
        <p:nvGrpSpPr>
          <p:cNvPr id="51" name="组合 50"/>
          <p:cNvGrpSpPr/>
          <p:nvPr/>
        </p:nvGrpSpPr>
        <p:grpSpPr>
          <a:xfrm>
            <a:off x="6155690" y="3226435"/>
            <a:ext cx="1809115" cy="444500"/>
            <a:chOff x="9694" y="5996"/>
            <a:chExt cx="2849" cy="700"/>
          </a:xfrm>
        </p:grpSpPr>
        <p:grpSp>
          <p:nvGrpSpPr>
            <p:cNvPr id="118" name="组合 117"/>
            <p:cNvGrpSpPr/>
            <p:nvPr/>
          </p:nvGrpSpPr>
          <p:grpSpPr>
            <a:xfrm>
              <a:off x="9694" y="6087"/>
              <a:ext cx="1405" cy="602"/>
              <a:chOff x="9776" y="4285"/>
              <a:chExt cx="1405" cy="602"/>
            </a:xfrm>
          </p:grpSpPr>
          <p:grpSp>
            <p:nvGrpSpPr>
              <p:cNvPr id="119" name="组合 118"/>
              <p:cNvGrpSpPr/>
              <p:nvPr/>
            </p:nvGrpSpPr>
            <p:grpSpPr>
              <a:xfrm>
                <a:off x="9776" y="4285"/>
                <a:ext cx="644" cy="602"/>
                <a:chOff x="1006488" y="2036167"/>
                <a:chExt cx="531192" cy="504056"/>
              </a:xfrm>
            </p:grpSpPr>
            <p:sp>
              <p:nvSpPr>
                <p:cNvPr id="12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1" name="文本框 12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22" name="组合 121"/>
              <p:cNvGrpSpPr/>
              <p:nvPr/>
            </p:nvGrpSpPr>
            <p:grpSpPr>
              <a:xfrm>
                <a:off x="10537" y="4285"/>
                <a:ext cx="644" cy="602"/>
                <a:chOff x="1006488" y="2036167"/>
                <a:chExt cx="531192" cy="504056"/>
              </a:xfrm>
            </p:grpSpPr>
            <p:sp>
              <p:nvSpPr>
                <p:cNvPr id="12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4" name="文本框 12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25" name="直接连接符 124"/>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1" name="文本框 160"/>
            <p:cNvSpPr txBox="1"/>
            <p:nvPr/>
          </p:nvSpPr>
          <p:spPr>
            <a:xfrm>
              <a:off x="11395" y="5996"/>
              <a:ext cx="1148" cy="701"/>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15</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2" name="组合 51"/>
          <p:cNvGrpSpPr/>
          <p:nvPr/>
        </p:nvGrpSpPr>
        <p:grpSpPr>
          <a:xfrm>
            <a:off x="6155690" y="3757930"/>
            <a:ext cx="1798955" cy="429895"/>
            <a:chOff x="9694" y="6833"/>
            <a:chExt cx="2833" cy="677"/>
          </a:xfrm>
        </p:grpSpPr>
        <p:grpSp>
          <p:nvGrpSpPr>
            <p:cNvPr id="126" name="组合 125"/>
            <p:cNvGrpSpPr/>
            <p:nvPr/>
          </p:nvGrpSpPr>
          <p:grpSpPr>
            <a:xfrm>
              <a:off x="9694" y="6908"/>
              <a:ext cx="1405" cy="602"/>
              <a:chOff x="9776" y="4285"/>
              <a:chExt cx="1405" cy="602"/>
            </a:xfrm>
          </p:grpSpPr>
          <p:grpSp>
            <p:nvGrpSpPr>
              <p:cNvPr id="127" name="组合 126"/>
              <p:cNvGrpSpPr/>
              <p:nvPr/>
            </p:nvGrpSpPr>
            <p:grpSpPr>
              <a:xfrm>
                <a:off x="9776" y="4285"/>
                <a:ext cx="644" cy="602"/>
                <a:chOff x="1006488" y="2036167"/>
                <a:chExt cx="531192" cy="504056"/>
              </a:xfrm>
            </p:grpSpPr>
            <p:sp>
              <p:nvSpPr>
                <p:cNvPr id="12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9" name="文本框 128"/>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0" name="组合 129"/>
              <p:cNvGrpSpPr/>
              <p:nvPr/>
            </p:nvGrpSpPr>
            <p:grpSpPr>
              <a:xfrm>
                <a:off x="10537" y="4285"/>
                <a:ext cx="644" cy="602"/>
                <a:chOff x="1006488" y="2036167"/>
                <a:chExt cx="531192" cy="504056"/>
              </a:xfrm>
            </p:grpSpPr>
            <p:sp>
              <p:nvSpPr>
                <p:cNvPr id="13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2" name="文本框 13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33" name="直接连接符 132"/>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2" name="文本框 161"/>
            <p:cNvSpPr txBox="1"/>
            <p:nvPr/>
          </p:nvSpPr>
          <p:spPr>
            <a:xfrm>
              <a:off x="11395" y="6833"/>
              <a:ext cx="1132" cy="634"/>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18</a:t>
              </a:r>
              <a:endParaRPr lang="en-US" altLang="zh-CN">
                <a:latin typeface="Times New Roman" panose="02020603050405020304" pitchFamily="18" charset="0"/>
                <a:cs typeface="Times New Roman" panose="02020603050405020304" pitchFamily="18" charset="0"/>
                <a:sym typeface="+mn-ea"/>
              </a:endParaRPr>
            </a:p>
          </p:txBody>
        </p:sp>
      </p:grpSp>
      <p:grpSp>
        <p:nvGrpSpPr>
          <p:cNvPr id="53" name="组合 52"/>
          <p:cNvGrpSpPr/>
          <p:nvPr/>
        </p:nvGrpSpPr>
        <p:grpSpPr>
          <a:xfrm>
            <a:off x="6155690" y="4224020"/>
            <a:ext cx="1513205" cy="467995"/>
            <a:chOff x="9694" y="7567"/>
            <a:chExt cx="2383" cy="737"/>
          </a:xfrm>
        </p:grpSpPr>
        <p:grpSp>
          <p:nvGrpSpPr>
            <p:cNvPr id="134" name="组合 133"/>
            <p:cNvGrpSpPr/>
            <p:nvPr/>
          </p:nvGrpSpPr>
          <p:grpSpPr>
            <a:xfrm>
              <a:off x="9694" y="7702"/>
              <a:ext cx="1405" cy="602"/>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3" name="文本框 162"/>
            <p:cNvSpPr txBox="1"/>
            <p:nvPr/>
          </p:nvSpPr>
          <p:spPr>
            <a:xfrm>
              <a:off x="11395" y="7567"/>
              <a:ext cx="683" cy="58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20</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4" name="组合 53"/>
          <p:cNvGrpSpPr/>
          <p:nvPr/>
        </p:nvGrpSpPr>
        <p:grpSpPr>
          <a:xfrm>
            <a:off x="6155690" y="4733925"/>
            <a:ext cx="1613535" cy="406400"/>
            <a:chOff x="9694" y="8370"/>
            <a:chExt cx="2541" cy="640"/>
          </a:xfrm>
        </p:grpSpPr>
        <p:grpSp>
          <p:nvGrpSpPr>
            <p:cNvPr id="142" name="组合 141"/>
            <p:cNvGrpSpPr/>
            <p:nvPr/>
          </p:nvGrpSpPr>
          <p:grpSpPr>
            <a:xfrm>
              <a:off x="9694" y="8408"/>
              <a:ext cx="1405" cy="602"/>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4" name="文本框 163"/>
            <p:cNvSpPr txBox="1"/>
            <p:nvPr/>
          </p:nvSpPr>
          <p:spPr>
            <a:xfrm>
              <a:off x="11395" y="8370"/>
              <a:ext cx="841" cy="62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23</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5" name="组合 54"/>
          <p:cNvGrpSpPr/>
          <p:nvPr/>
        </p:nvGrpSpPr>
        <p:grpSpPr>
          <a:xfrm>
            <a:off x="6155690" y="5173345"/>
            <a:ext cx="1514475" cy="382270"/>
            <a:chOff x="9694" y="9062"/>
            <a:chExt cx="2385" cy="602"/>
          </a:xfrm>
        </p:grpSpPr>
        <p:grpSp>
          <p:nvGrpSpPr>
            <p:cNvPr id="150" name="组合 149"/>
            <p:cNvGrpSpPr/>
            <p:nvPr/>
          </p:nvGrpSpPr>
          <p:grpSpPr>
            <a:xfrm>
              <a:off x="9694" y="9062"/>
              <a:ext cx="1405" cy="602"/>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5" name="文本框 164"/>
            <p:cNvSpPr txBox="1"/>
            <p:nvPr/>
          </p:nvSpPr>
          <p:spPr>
            <a:xfrm>
              <a:off x="11395" y="9070"/>
              <a:ext cx="684" cy="54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26</a:t>
              </a:r>
              <a:endParaRPr lang="en-US" altLang="zh-CN">
                <a:latin typeface="Times New Roman" panose="02020603050405020304" pitchFamily="18" charset="0"/>
                <a:cs typeface="Times New Roman" panose="02020603050405020304" pitchFamily="18" charset="0"/>
                <a:sym typeface="+mn-ea"/>
              </a:endParaRPr>
            </a:p>
          </p:txBody>
        </p:sp>
      </p:grpSp>
      <p:cxnSp>
        <p:nvCxnSpPr>
          <p:cNvPr id="28" name="直接连接符 27"/>
          <p:cNvCxnSpPr/>
          <p:nvPr/>
        </p:nvCxnSpPr>
        <p:spPr>
          <a:xfrm>
            <a:off x="2799715" y="3670935"/>
            <a:ext cx="261620" cy="4768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30" name="文本框 29"/>
          <p:cNvSpPr txBox="1"/>
          <p:nvPr/>
        </p:nvSpPr>
        <p:spPr>
          <a:xfrm>
            <a:off x="2901315" y="3593465"/>
            <a:ext cx="445770" cy="346075"/>
          </a:xfrm>
          <a:prstGeom prst="rect">
            <a:avLst/>
          </a:prstGeom>
          <a:noFill/>
          <a:extLst>
            <a:ext uri="{909E8E84-426E-40DD-AFC4-6F175D3DCCD1}">
              <a14:hiddenFill xmlns:a14="http://schemas.microsoft.com/office/drawing/2010/main">
                <a:solidFill>
                  <a:srgbClr val="FF0000"/>
                </a:solidFill>
              </a14:hiddenFill>
            </a:ext>
          </a:extLst>
        </p:spPr>
        <p:txBody>
          <a:bodyPr wrap="square" rtlCol="0">
            <a:noAutofit/>
          </a:bodyPr>
          <a:lstStyle/>
          <a:p>
            <a:r>
              <a:rPr lang="en-US" altLang="zh-CN">
                <a:solidFill>
                  <a:srgbClr val="FF0000"/>
                </a:solidFill>
                <a:latin typeface="+mj-lt"/>
                <a:cs typeface="+mj-lt"/>
              </a:rPr>
              <a:t>13</a:t>
            </a:r>
            <a:endParaRPr lang="en-US" altLang="zh-CN">
              <a:solidFill>
                <a:srgbClr val="FF0000"/>
              </a:solidFill>
              <a:latin typeface="+mj-lt"/>
              <a:cs typeface="+mj-lt"/>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43"/>
                                        </p:tgtEl>
                                        <p:attrNameLst>
                                          <p:attrName>style.visibility</p:attrName>
                                        </p:attrNameLst>
                                      </p:cBhvr>
                                      <p:tavLst>
                                        <p:tav tm="0">
                                          <p:val>
                                            <p:strVal val="hidden"/>
                                          </p:val>
                                        </p:tav>
                                        <p:tav tm="50000">
                                          <p:val>
                                            <p:strVal val="visible"/>
                                          </p:val>
                                        </p:tav>
                                      </p:tavLst>
                                    </p:anim>
                                  </p:childTnLst>
                                </p:cTn>
                              </p:par>
                              <p:par>
                                <p:cTn id="7" presetID="35" presetClass="emph" presetSubtype="0" fill="hold" nodeType="withEffect">
                                  <p:stCondLst>
                                    <p:cond delay="0"/>
                                  </p:stCondLst>
                                  <p:childTnLst>
                                    <p:anim calcmode="discrete" valueType="str">
                                      <p:cBhvr>
                                        <p:cTn id="8" dur="1000" fill="hold"/>
                                        <p:tgtEl>
                                          <p:spTgt spid="34"/>
                                        </p:tgtEl>
                                        <p:attrNameLst>
                                          <p:attrName>style.visibility</p:attrName>
                                        </p:attrNameLst>
                                      </p:cBhvr>
                                      <p:tavLst>
                                        <p:tav tm="0">
                                          <p:val>
                                            <p:strVal val="hidden"/>
                                          </p:val>
                                        </p:tav>
                                        <p:tav tm="50000">
                                          <p:val>
                                            <p:strVal val="visible"/>
                                          </p:val>
                                        </p:tav>
                                      </p:tavLst>
                                    </p:anim>
                                  </p:childTnLst>
                                </p:cTn>
                              </p:par>
                              <p:par>
                                <p:cTn id="9" presetID="35" presetClass="emph" presetSubtype="0" fill="hold" grpId="0" nodeType="withEffect">
                                  <p:stCondLst>
                                    <p:cond delay="0"/>
                                  </p:stCondLst>
                                  <p:childTnLst>
                                    <p:anim calcmode="discrete" valueType="str">
                                      <p:cBhvr>
                                        <p:cTn id="10" dur="1000" fill="hold"/>
                                        <p:tgtEl>
                                          <p:spTgt spid="41"/>
                                        </p:tgtEl>
                                        <p:attrNameLst>
                                          <p:attrName>style.visibility</p:attrName>
                                        </p:attrNameLst>
                                      </p:cBhvr>
                                      <p:tavLst>
                                        <p:tav tm="0">
                                          <p:val>
                                            <p:strVal val="hidden"/>
                                          </p:val>
                                        </p:tav>
                                        <p:tav tm="50000">
                                          <p:val>
                                            <p:strVal val="visible"/>
                                          </p:val>
                                        </p:tav>
                                      </p:tavLst>
                                    </p:anim>
                                  </p:childTnLst>
                                </p:cTn>
                              </p:par>
                              <p:par>
                                <p:cTn id="11" presetID="35" presetClass="emph" presetSubtype="0" fill="hold" nodeType="withEffect">
                                  <p:stCondLst>
                                    <p:cond delay="0"/>
                                  </p:stCondLst>
                                  <p:childTnLst>
                                    <p:anim calcmode="discrete" valueType="str">
                                      <p:cBhvr>
                                        <p:cTn id="12" dur="1000" fill="hold"/>
                                        <p:tgtEl>
                                          <p:spTgt spid="37"/>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39"/>
                                        </p:tgtEl>
                                        <p:attrNameLst>
                                          <p:attrName>style.visibility</p:attrName>
                                        </p:attrNameLst>
                                      </p:cBhvr>
                                      <p:tavLst>
                                        <p:tav tm="0">
                                          <p:val>
                                            <p:strVal val="hidden"/>
                                          </p:val>
                                        </p:tav>
                                        <p:tav tm="50000">
                                          <p:val>
                                            <p:strVal val="visible"/>
                                          </p:val>
                                        </p:tav>
                                      </p:tavLst>
                                    </p:anim>
                                  </p:childTnLst>
                                </p:cTn>
                              </p:par>
                              <p:par>
                                <p:cTn id="15" presetID="35" presetClass="emph" presetSubtype="0" fill="hold" nodeType="withEffect">
                                  <p:stCondLst>
                                    <p:cond delay="0"/>
                                  </p:stCondLst>
                                  <p:childTnLst>
                                    <p:anim calcmode="discrete" valueType="str">
                                      <p:cBhvr>
                                        <p:cTn id="16" dur="1000" fill="hold"/>
                                        <p:tgtEl>
                                          <p:spTgt spid="29"/>
                                        </p:tgtEl>
                                        <p:attrNameLst>
                                          <p:attrName>style.visibility</p:attrName>
                                        </p:attrNameLst>
                                      </p:cBhvr>
                                      <p:tavLst>
                                        <p:tav tm="0">
                                          <p:val>
                                            <p:strVal val="hidden"/>
                                          </p:val>
                                        </p:tav>
                                        <p:tav tm="50000">
                                          <p:val>
                                            <p:strVal val="visible"/>
                                          </p:val>
                                        </p:tav>
                                      </p:tavLst>
                                    </p:anim>
                                  </p:childTnLst>
                                </p:cTn>
                              </p:par>
                              <p:par>
                                <p:cTn id="17" presetID="35" presetClass="emph" presetSubtype="0" fill="hold" grpId="0" nodeType="withEffect">
                                  <p:stCondLst>
                                    <p:cond delay="0"/>
                                  </p:stCondLst>
                                  <p:childTnLst>
                                    <p:anim calcmode="discrete" valueType="str">
                                      <p:cBhvr>
                                        <p:cTn id="18" dur="1000" fill="hold"/>
                                        <p:tgtEl>
                                          <p:spTgt spid="40"/>
                                        </p:tgtEl>
                                        <p:attrNameLst>
                                          <p:attrName>style.visibility</p:attrName>
                                        </p:attrNameLst>
                                      </p:cBhvr>
                                      <p:tavLst>
                                        <p:tav tm="0">
                                          <p:val>
                                            <p:strVal val="hidden"/>
                                          </p:val>
                                        </p:tav>
                                        <p:tav tm="50000">
                                          <p:val>
                                            <p:strVal val="visible"/>
                                          </p:val>
                                        </p:tav>
                                      </p:tavLst>
                                    </p:anim>
                                  </p:childTnLst>
                                </p:cTn>
                              </p:par>
                              <p:par>
                                <p:cTn id="19" presetID="35" presetClass="emph" presetSubtype="0" fill="hold" nodeType="withEffect">
                                  <p:stCondLst>
                                    <p:cond delay="0"/>
                                  </p:stCondLst>
                                  <p:childTnLst>
                                    <p:anim calcmode="discrete" valueType="str">
                                      <p:cBhvr>
                                        <p:cTn id="20" dur="1000" fill="hold"/>
                                        <p:tgtEl>
                                          <p:spTgt spid="32"/>
                                        </p:tgtEl>
                                        <p:attrNameLst>
                                          <p:attrName>style.visibility</p:attrName>
                                        </p:attrNameLst>
                                      </p:cBhvr>
                                      <p:tavLst>
                                        <p:tav tm="0">
                                          <p:val>
                                            <p:strVal val="hidden"/>
                                          </p:val>
                                        </p:tav>
                                        <p:tav tm="50000">
                                          <p:val>
                                            <p:strVal val="visible"/>
                                          </p:val>
                                        </p:tav>
                                      </p:tavLst>
                                    </p:anim>
                                  </p:childTnLst>
                                </p:cTn>
                              </p:par>
                              <p:par>
                                <p:cTn id="21" presetID="35" presetClass="emph" presetSubtype="0" fill="hold" grpId="0" nodeType="withEffect">
                                  <p:stCondLst>
                                    <p:cond delay="0"/>
                                  </p:stCondLst>
                                  <p:childTnLst>
                                    <p:anim calcmode="discrete" valueType="str">
                                      <p:cBhvr>
                                        <p:cTn id="22" dur="1000" fill="hold"/>
                                        <p:tgtEl>
                                          <p:spTgt spid="45"/>
                                        </p:tgtEl>
                                        <p:attrNameLst>
                                          <p:attrName>style.visibility</p:attrName>
                                        </p:attrNameLst>
                                      </p:cBhvr>
                                      <p:tavLst>
                                        <p:tav tm="0">
                                          <p:val>
                                            <p:strVal val="hidden"/>
                                          </p:val>
                                        </p:tav>
                                        <p:tav tm="50000">
                                          <p:val>
                                            <p:strVal val="visible"/>
                                          </p:val>
                                        </p:tav>
                                      </p:tavLst>
                                    </p:anim>
                                  </p:childTnLst>
                                </p:cTn>
                              </p:par>
                              <p:par>
                                <p:cTn id="23" presetID="35" presetClass="emph" presetSubtype="0" fill="hold" nodeType="withEffect">
                                  <p:stCondLst>
                                    <p:cond delay="0"/>
                                  </p:stCondLst>
                                  <p:childTnLst>
                                    <p:anim calcmode="discrete" valueType="str">
                                      <p:cBhvr>
                                        <p:cTn id="24" dur="1000" fill="hold"/>
                                        <p:tgtEl>
                                          <p:spTgt spid="35"/>
                                        </p:tgtEl>
                                        <p:attrNameLst>
                                          <p:attrName>style.visibility</p:attrName>
                                        </p:attrNameLst>
                                      </p:cBhvr>
                                      <p:tavLst>
                                        <p:tav tm="0">
                                          <p:val>
                                            <p:strVal val="hidden"/>
                                          </p:val>
                                        </p:tav>
                                        <p:tav tm="50000">
                                          <p:val>
                                            <p:strVal val="visible"/>
                                          </p:val>
                                        </p:tav>
                                      </p:tavLst>
                                    </p:anim>
                                  </p:childTnLst>
                                </p:cTn>
                              </p:par>
                              <p:par>
                                <p:cTn id="25" presetID="35" presetClass="emph" presetSubtype="0" fill="hold" grpId="0" nodeType="withEffect">
                                  <p:stCondLst>
                                    <p:cond delay="0"/>
                                  </p:stCondLst>
                                  <p:childTnLst>
                                    <p:anim calcmode="discrete" valueType="str">
                                      <p:cBhvr>
                                        <p:cTn id="26" dur="1000" fill="hold"/>
                                        <p:tgtEl>
                                          <p:spTgt spid="44"/>
                                        </p:tgtEl>
                                        <p:attrNameLst>
                                          <p:attrName>style.visibility</p:attrName>
                                        </p:attrNameLst>
                                      </p:cBhvr>
                                      <p:tavLst>
                                        <p:tav tm="0">
                                          <p:val>
                                            <p:strVal val="hidden"/>
                                          </p:val>
                                        </p:tav>
                                        <p:tav tm="50000">
                                          <p:val>
                                            <p:strVal val="visible"/>
                                          </p:val>
                                        </p:tav>
                                      </p:tavLst>
                                    </p:anim>
                                  </p:childTnLst>
                                </p:cTn>
                              </p:par>
                              <p:par>
                                <p:cTn id="27" presetID="35" presetClass="emph" presetSubtype="0" fill="hold" nodeType="withEffect">
                                  <p:stCondLst>
                                    <p:cond delay="0"/>
                                  </p:stCondLst>
                                  <p:childTnLst>
                                    <p:anim calcmode="discrete" valueType="str">
                                      <p:cBhvr>
                                        <p:cTn id="28" dur="1000" fill="hold"/>
                                        <p:tgtEl>
                                          <p:spTgt spid="31"/>
                                        </p:tgtEl>
                                        <p:attrNameLst>
                                          <p:attrName>style.visibility</p:attrName>
                                        </p:attrNameLst>
                                      </p:cBhvr>
                                      <p:tavLst>
                                        <p:tav tm="0">
                                          <p:val>
                                            <p:strVal val="hidden"/>
                                          </p:val>
                                        </p:tav>
                                        <p:tav tm="50000">
                                          <p:val>
                                            <p:strVal val="visible"/>
                                          </p:val>
                                        </p:tav>
                                      </p:tavLst>
                                    </p:anim>
                                  </p:childTnLst>
                                </p:cTn>
                              </p:par>
                            </p:childTnLst>
                          </p:cTn>
                        </p:par>
                        <p:par>
                          <p:cTn id="29" fill="hold">
                            <p:stCondLst>
                              <p:cond delay="1000"/>
                            </p:stCondLst>
                            <p:childTnLst>
                              <p:par>
                                <p:cTn id="30" presetID="35" presetClass="emph" presetSubtype="0" fill="hold" grpId="2" nodeType="afterEffect">
                                  <p:stCondLst>
                                    <p:cond delay="0"/>
                                  </p:stCondLst>
                                  <p:childTnLst>
                                    <p:anim calcmode="discrete" valueType="str">
                                      <p:cBhvr>
                                        <p:cTn id="31" dur="1000" fill="hold"/>
                                        <p:tgtEl>
                                          <p:spTgt spid="43"/>
                                        </p:tgtEl>
                                        <p:attrNameLst>
                                          <p:attrName>style.visibility</p:attrName>
                                        </p:attrNameLst>
                                      </p:cBhvr>
                                      <p:tavLst>
                                        <p:tav tm="0">
                                          <p:val>
                                            <p:strVal val="hidden"/>
                                          </p:val>
                                        </p:tav>
                                        <p:tav tm="50000">
                                          <p:val>
                                            <p:strVal val="visible"/>
                                          </p:val>
                                        </p:tav>
                                      </p:tavLst>
                                    </p:anim>
                                  </p:childTnLst>
                                </p:cTn>
                              </p:par>
                              <p:par>
                                <p:cTn id="32" presetID="35" presetClass="emph" presetSubtype="0" fill="hold" nodeType="withEffect">
                                  <p:stCondLst>
                                    <p:cond delay="0"/>
                                  </p:stCondLst>
                                  <p:childTnLst>
                                    <p:anim calcmode="discrete" valueType="str">
                                      <p:cBhvr>
                                        <p:cTn id="33" dur="1000" fill="hold"/>
                                        <p:tgtEl>
                                          <p:spTgt spid="34"/>
                                        </p:tgtEl>
                                        <p:attrNameLst>
                                          <p:attrName>style.visibility</p:attrName>
                                        </p:attrNameLst>
                                      </p:cBhvr>
                                      <p:tavLst>
                                        <p:tav tm="0">
                                          <p:val>
                                            <p:strVal val="hidden"/>
                                          </p:val>
                                        </p:tav>
                                        <p:tav tm="50000">
                                          <p:val>
                                            <p:strVal val="visible"/>
                                          </p:val>
                                        </p:tav>
                                      </p:tavLst>
                                    </p:anim>
                                  </p:childTnLst>
                                </p:cTn>
                              </p:par>
                              <p:par>
                                <p:cTn id="34" presetID="35" presetClass="emph" presetSubtype="0" fill="hold" grpId="2" nodeType="withEffect">
                                  <p:stCondLst>
                                    <p:cond delay="0"/>
                                  </p:stCondLst>
                                  <p:childTnLst>
                                    <p:anim calcmode="discrete" valueType="str">
                                      <p:cBhvr>
                                        <p:cTn id="35" dur="1000" fill="hold"/>
                                        <p:tgtEl>
                                          <p:spTgt spid="41"/>
                                        </p:tgtEl>
                                        <p:attrNameLst>
                                          <p:attrName>style.visibility</p:attrName>
                                        </p:attrNameLst>
                                      </p:cBhvr>
                                      <p:tavLst>
                                        <p:tav tm="0">
                                          <p:val>
                                            <p:strVal val="hidden"/>
                                          </p:val>
                                        </p:tav>
                                        <p:tav tm="50000">
                                          <p:val>
                                            <p:strVal val="visible"/>
                                          </p:val>
                                        </p:tav>
                                      </p:tavLst>
                                    </p:anim>
                                  </p:childTnLst>
                                </p:cTn>
                              </p:par>
                              <p:par>
                                <p:cTn id="36" presetID="35" presetClass="emph" presetSubtype="0" fill="hold" nodeType="withEffect">
                                  <p:stCondLst>
                                    <p:cond delay="0"/>
                                  </p:stCondLst>
                                  <p:childTnLst>
                                    <p:anim calcmode="discrete" valueType="str">
                                      <p:cBhvr>
                                        <p:cTn id="37" dur="1000" fill="hold"/>
                                        <p:tgtEl>
                                          <p:spTgt spid="37"/>
                                        </p:tgtEl>
                                        <p:attrNameLst>
                                          <p:attrName>style.visibility</p:attrName>
                                        </p:attrNameLst>
                                      </p:cBhvr>
                                      <p:tavLst>
                                        <p:tav tm="0">
                                          <p:val>
                                            <p:strVal val="hidden"/>
                                          </p:val>
                                        </p:tav>
                                        <p:tav tm="50000">
                                          <p:val>
                                            <p:strVal val="visible"/>
                                          </p:val>
                                        </p:tav>
                                      </p:tavLst>
                                    </p:anim>
                                  </p:childTnLst>
                                </p:cTn>
                              </p:par>
                              <p:par>
                                <p:cTn id="38" presetID="35" presetClass="emph" presetSubtype="0" fill="hold" grpId="2" nodeType="withEffect">
                                  <p:stCondLst>
                                    <p:cond delay="0"/>
                                  </p:stCondLst>
                                  <p:childTnLst>
                                    <p:anim calcmode="discrete" valueType="str">
                                      <p:cBhvr>
                                        <p:cTn id="39" dur="1000" fill="hold"/>
                                        <p:tgtEl>
                                          <p:spTgt spid="39"/>
                                        </p:tgtEl>
                                        <p:attrNameLst>
                                          <p:attrName>style.visibility</p:attrName>
                                        </p:attrNameLst>
                                      </p:cBhvr>
                                      <p:tavLst>
                                        <p:tav tm="0">
                                          <p:val>
                                            <p:strVal val="hidden"/>
                                          </p:val>
                                        </p:tav>
                                        <p:tav tm="50000">
                                          <p:val>
                                            <p:strVal val="visible"/>
                                          </p:val>
                                        </p:tav>
                                      </p:tavLst>
                                    </p:anim>
                                  </p:childTnLst>
                                </p:cTn>
                              </p:par>
                              <p:par>
                                <p:cTn id="40" presetID="35" presetClass="emph" presetSubtype="0" fill="hold" nodeType="withEffect">
                                  <p:stCondLst>
                                    <p:cond delay="0"/>
                                  </p:stCondLst>
                                  <p:childTnLst>
                                    <p:anim calcmode="discrete" valueType="str">
                                      <p:cBhvr>
                                        <p:cTn id="41" dur="1000" fill="hold"/>
                                        <p:tgtEl>
                                          <p:spTgt spid="29"/>
                                        </p:tgtEl>
                                        <p:attrNameLst>
                                          <p:attrName>style.visibility</p:attrName>
                                        </p:attrNameLst>
                                      </p:cBhvr>
                                      <p:tavLst>
                                        <p:tav tm="0">
                                          <p:val>
                                            <p:strVal val="hidden"/>
                                          </p:val>
                                        </p:tav>
                                        <p:tav tm="50000">
                                          <p:val>
                                            <p:strVal val="visible"/>
                                          </p:val>
                                        </p:tav>
                                      </p:tavLst>
                                    </p:anim>
                                  </p:childTnLst>
                                </p:cTn>
                              </p:par>
                              <p:par>
                                <p:cTn id="42" presetID="35" presetClass="emph" presetSubtype="0" fill="hold" grpId="2" nodeType="withEffect">
                                  <p:stCondLst>
                                    <p:cond delay="0"/>
                                  </p:stCondLst>
                                  <p:childTnLst>
                                    <p:anim calcmode="discrete" valueType="str">
                                      <p:cBhvr>
                                        <p:cTn id="43" dur="1000" fill="hold"/>
                                        <p:tgtEl>
                                          <p:spTgt spid="40"/>
                                        </p:tgtEl>
                                        <p:attrNameLst>
                                          <p:attrName>style.visibility</p:attrName>
                                        </p:attrNameLst>
                                      </p:cBhvr>
                                      <p:tavLst>
                                        <p:tav tm="0">
                                          <p:val>
                                            <p:strVal val="hidden"/>
                                          </p:val>
                                        </p:tav>
                                        <p:tav tm="50000">
                                          <p:val>
                                            <p:strVal val="visible"/>
                                          </p:val>
                                        </p:tav>
                                      </p:tavLst>
                                    </p:anim>
                                  </p:childTnLst>
                                </p:cTn>
                              </p:par>
                              <p:par>
                                <p:cTn id="44" presetID="35" presetClass="emph" presetSubtype="0" fill="hold" nodeType="withEffect">
                                  <p:stCondLst>
                                    <p:cond delay="0"/>
                                  </p:stCondLst>
                                  <p:childTnLst>
                                    <p:anim calcmode="discrete" valueType="str">
                                      <p:cBhvr>
                                        <p:cTn id="45" dur="1000" fill="hold"/>
                                        <p:tgtEl>
                                          <p:spTgt spid="32"/>
                                        </p:tgtEl>
                                        <p:attrNameLst>
                                          <p:attrName>style.visibility</p:attrName>
                                        </p:attrNameLst>
                                      </p:cBhvr>
                                      <p:tavLst>
                                        <p:tav tm="0">
                                          <p:val>
                                            <p:strVal val="hidden"/>
                                          </p:val>
                                        </p:tav>
                                        <p:tav tm="50000">
                                          <p:val>
                                            <p:strVal val="visible"/>
                                          </p:val>
                                        </p:tav>
                                      </p:tavLst>
                                    </p:anim>
                                  </p:childTnLst>
                                </p:cTn>
                              </p:par>
                              <p:par>
                                <p:cTn id="46" presetID="35" presetClass="emph" presetSubtype="0" fill="hold" grpId="2" nodeType="withEffect">
                                  <p:stCondLst>
                                    <p:cond delay="0"/>
                                  </p:stCondLst>
                                  <p:childTnLst>
                                    <p:anim calcmode="discrete" valueType="str">
                                      <p:cBhvr>
                                        <p:cTn id="47" dur="1000" fill="hold"/>
                                        <p:tgtEl>
                                          <p:spTgt spid="45"/>
                                        </p:tgtEl>
                                        <p:attrNameLst>
                                          <p:attrName>style.visibility</p:attrName>
                                        </p:attrNameLst>
                                      </p:cBhvr>
                                      <p:tavLst>
                                        <p:tav tm="0">
                                          <p:val>
                                            <p:strVal val="hidden"/>
                                          </p:val>
                                        </p:tav>
                                        <p:tav tm="50000">
                                          <p:val>
                                            <p:strVal val="visible"/>
                                          </p:val>
                                        </p:tav>
                                      </p:tavLst>
                                    </p:anim>
                                  </p:childTnLst>
                                </p:cTn>
                              </p:par>
                              <p:par>
                                <p:cTn id="48" presetID="35" presetClass="emph" presetSubtype="0" fill="hold" nodeType="withEffect">
                                  <p:stCondLst>
                                    <p:cond delay="0"/>
                                  </p:stCondLst>
                                  <p:childTnLst>
                                    <p:anim calcmode="discrete" valueType="str">
                                      <p:cBhvr>
                                        <p:cTn id="49" dur="1000" fill="hold"/>
                                        <p:tgtEl>
                                          <p:spTgt spid="35"/>
                                        </p:tgtEl>
                                        <p:attrNameLst>
                                          <p:attrName>style.visibility</p:attrName>
                                        </p:attrNameLst>
                                      </p:cBhvr>
                                      <p:tavLst>
                                        <p:tav tm="0">
                                          <p:val>
                                            <p:strVal val="hidden"/>
                                          </p:val>
                                        </p:tav>
                                        <p:tav tm="50000">
                                          <p:val>
                                            <p:strVal val="visible"/>
                                          </p:val>
                                        </p:tav>
                                      </p:tavLst>
                                    </p:anim>
                                  </p:childTnLst>
                                </p:cTn>
                              </p:par>
                              <p:par>
                                <p:cTn id="50" presetID="35" presetClass="emph" presetSubtype="0" fill="hold" grpId="2" nodeType="withEffect">
                                  <p:stCondLst>
                                    <p:cond delay="0"/>
                                  </p:stCondLst>
                                  <p:childTnLst>
                                    <p:anim calcmode="discrete" valueType="str">
                                      <p:cBhvr>
                                        <p:cTn id="51" dur="1000" fill="hold"/>
                                        <p:tgtEl>
                                          <p:spTgt spid="44"/>
                                        </p:tgtEl>
                                        <p:attrNameLst>
                                          <p:attrName>style.visibility</p:attrName>
                                        </p:attrNameLst>
                                      </p:cBhvr>
                                      <p:tavLst>
                                        <p:tav tm="0">
                                          <p:val>
                                            <p:strVal val="hidden"/>
                                          </p:val>
                                        </p:tav>
                                        <p:tav tm="50000">
                                          <p:val>
                                            <p:strVal val="visible"/>
                                          </p:val>
                                        </p:tav>
                                      </p:tavLst>
                                    </p:anim>
                                  </p:childTnLst>
                                </p:cTn>
                              </p:par>
                              <p:par>
                                <p:cTn id="52" presetID="35" presetClass="emph" presetSubtype="0" fill="hold" nodeType="withEffect">
                                  <p:stCondLst>
                                    <p:cond delay="0"/>
                                  </p:stCondLst>
                                  <p:childTnLst>
                                    <p:anim calcmode="discrete" valueType="str">
                                      <p:cBhvr>
                                        <p:cTn id="53" dur="1000" fill="hold"/>
                                        <p:tgtEl>
                                          <p:spTgt spid="31"/>
                                        </p:tgtEl>
                                        <p:attrNameLst>
                                          <p:attrName>style.visibility</p:attrName>
                                        </p:attrNameLst>
                                      </p:cBhvr>
                                      <p:tavLst>
                                        <p:tav tm="0">
                                          <p:val>
                                            <p:strVal val="hidden"/>
                                          </p:val>
                                        </p:tav>
                                        <p:tav tm="50000">
                                          <p:val>
                                            <p:strVal val="visible"/>
                                          </p:val>
                                        </p:tav>
                                      </p:tavLst>
                                    </p:anim>
                                  </p:childTnLst>
                                </p:cTn>
                              </p:par>
                            </p:childTnLst>
                          </p:cTn>
                        </p:par>
                      </p:childTnLst>
                    </p:cTn>
                  </p:par>
                  <p:par>
                    <p:cTn id="54" fill="hold">
                      <p:stCondLst>
                        <p:cond delay="indefinite"/>
                      </p:stCondLst>
                      <p:childTnLst>
                        <p:par>
                          <p:cTn id="55" fill="hold">
                            <p:stCondLst>
                              <p:cond delay="0"/>
                            </p:stCondLst>
                            <p:childTnLst>
                              <p:par>
                                <p:cTn id="56" presetID="1" presetClass="exit" presetSubtype="0" fill="hold" nodeType="clickEffect">
                                  <p:stCondLst>
                                    <p:cond delay="0"/>
                                  </p:stCondLst>
                                  <p:childTnLst>
                                    <p:set>
                                      <p:cBhvr>
                                        <p:cTn id="57" dur="1" fill="hold">
                                          <p:stCondLst>
                                            <p:cond delay="0"/>
                                          </p:stCondLst>
                                        </p:cTn>
                                        <p:tgtEl>
                                          <p:spTgt spid="35"/>
                                        </p:tgtEl>
                                        <p:attrNameLst>
                                          <p:attrName>style.visibility</p:attrName>
                                        </p:attrNameLst>
                                      </p:cBhvr>
                                      <p:to>
                                        <p:strVal val="hidden"/>
                                      </p:to>
                                    </p:set>
                                  </p:childTnLst>
                                </p:cTn>
                              </p:par>
                              <p:par>
                                <p:cTn id="58" presetID="1" presetClass="exit" presetSubtype="0" fill="hold" grpId="3" nodeType="withEffect">
                                  <p:stCondLst>
                                    <p:cond delay="0"/>
                                  </p:stCondLst>
                                  <p:childTnLst>
                                    <p:set>
                                      <p:cBhvr>
                                        <p:cTn id="59" dur="1" fill="hold">
                                          <p:stCondLst>
                                            <p:cond delay="0"/>
                                          </p:stCondLst>
                                        </p:cTn>
                                        <p:tgtEl>
                                          <p:spTgt spid="45"/>
                                        </p:tgtEl>
                                        <p:attrNameLst>
                                          <p:attrName>style.visibility</p:attrName>
                                        </p:attrNameLst>
                                      </p:cBhvr>
                                      <p:to>
                                        <p:strVal val="hidden"/>
                                      </p:to>
                                    </p:set>
                                  </p:childTnLst>
                                </p:cTn>
                              </p:par>
                              <p:par>
                                <p:cTn id="60" presetID="1" presetClass="exit" presetSubtype="0" fill="hold" nodeType="withEffect">
                                  <p:stCondLst>
                                    <p:cond delay="0"/>
                                  </p:stCondLst>
                                  <p:childTnLst>
                                    <p:set>
                                      <p:cBhvr>
                                        <p:cTn id="61" dur="1" fill="hold">
                                          <p:stCondLst>
                                            <p:cond delay="0"/>
                                          </p:stCondLst>
                                        </p:cTn>
                                        <p:tgtEl>
                                          <p:spTgt spid="32"/>
                                        </p:tgtEl>
                                        <p:attrNameLst>
                                          <p:attrName>style.visibility</p:attrName>
                                        </p:attrNameLst>
                                      </p:cBhvr>
                                      <p:to>
                                        <p:strVal val="hidden"/>
                                      </p:to>
                                    </p:set>
                                  </p:childTnLst>
                                </p:cTn>
                              </p:par>
                              <p:par>
                                <p:cTn id="62" presetID="1" presetClass="exit" presetSubtype="0" fill="hold" grpId="3" nodeType="withEffect">
                                  <p:stCondLst>
                                    <p:cond delay="0"/>
                                  </p:stCondLst>
                                  <p:childTnLst>
                                    <p:set>
                                      <p:cBhvr>
                                        <p:cTn id="63" dur="1" fill="hold">
                                          <p:stCondLst>
                                            <p:cond delay="0"/>
                                          </p:stCondLst>
                                        </p:cTn>
                                        <p:tgtEl>
                                          <p:spTgt spid="40"/>
                                        </p:tgtEl>
                                        <p:attrNameLst>
                                          <p:attrName>style.visibility</p:attrName>
                                        </p:attrNameLst>
                                      </p:cBhvr>
                                      <p:to>
                                        <p:strVal val="hidden"/>
                                      </p:to>
                                    </p:set>
                                  </p:childTnLst>
                                </p:cTn>
                              </p:par>
                              <p:par>
                                <p:cTn id="64" presetID="1" presetClass="exit" presetSubtype="0" fill="hold" grpId="3" nodeType="withEffect">
                                  <p:stCondLst>
                                    <p:cond delay="0"/>
                                  </p:stCondLst>
                                  <p:childTnLst>
                                    <p:set>
                                      <p:cBhvr>
                                        <p:cTn id="65" dur="1" fill="hold">
                                          <p:stCondLst>
                                            <p:cond delay="0"/>
                                          </p:stCondLst>
                                        </p:cTn>
                                        <p:tgtEl>
                                          <p:spTgt spid="41"/>
                                        </p:tgtEl>
                                        <p:attrNameLst>
                                          <p:attrName>style.visibility</p:attrName>
                                        </p:attrNameLst>
                                      </p:cBhvr>
                                      <p:to>
                                        <p:strVal val="hidden"/>
                                      </p:to>
                                    </p:set>
                                  </p:childTnLst>
                                </p:cTn>
                              </p:par>
                              <p:par>
                                <p:cTn id="66" presetID="1" presetClass="exit" presetSubtype="0" fill="hold" nodeType="withEffect">
                                  <p:stCondLst>
                                    <p:cond delay="0"/>
                                  </p:stCondLst>
                                  <p:childTnLst>
                                    <p:set>
                                      <p:cBhvr>
                                        <p:cTn id="67" dur="1" fill="hold">
                                          <p:stCondLst>
                                            <p:cond delay="0"/>
                                          </p:stCondLst>
                                        </p:cTn>
                                        <p:tgtEl>
                                          <p:spTgt spid="37"/>
                                        </p:tgtEl>
                                        <p:attrNameLst>
                                          <p:attrName>style.visibility</p:attrName>
                                        </p:attrNameLst>
                                      </p:cBhvr>
                                      <p:to>
                                        <p:strVal val="hidden"/>
                                      </p:to>
                                    </p:set>
                                  </p:childTnLst>
                                </p:cTn>
                              </p:par>
                              <p:par>
                                <p:cTn id="68" presetID="1" presetClass="exit" presetSubtype="0" fill="hold" grpId="3" nodeType="withEffect">
                                  <p:stCondLst>
                                    <p:cond delay="0"/>
                                  </p:stCondLst>
                                  <p:childTnLst>
                                    <p:set>
                                      <p:cBhvr>
                                        <p:cTn id="69" dur="1" fill="hold">
                                          <p:stCondLst>
                                            <p:cond delay="0"/>
                                          </p:stCondLst>
                                        </p:cTn>
                                        <p:tgtEl>
                                          <p:spTgt spid="43"/>
                                        </p:tgtEl>
                                        <p:attrNameLst>
                                          <p:attrName>style.visibility</p:attrName>
                                        </p:attrNameLst>
                                      </p:cBhvr>
                                      <p:to>
                                        <p:strVal val="hidden"/>
                                      </p:to>
                                    </p:set>
                                  </p:childTnLst>
                                </p:cTn>
                              </p:par>
                              <p:par>
                                <p:cTn id="70" presetID="1" presetClass="exit" presetSubtype="0" fill="hold" nodeType="withEffect">
                                  <p:stCondLst>
                                    <p:cond delay="0"/>
                                  </p:stCondLst>
                                  <p:childTnLst>
                                    <p:set>
                                      <p:cBhvr>
                                        <p:cTn id="71" dur="1" fill="hold">
                                          <p:stCondLst>
                                            <p:cond delay="0"/>
                                          </p:stCondLst>
                                        </p:cTn>
                                        <p:tgtEl>
                                          <p:spTgt spid="34"/>
                                        </p:tgtEl>
                                        <p:attrNameLst>
                                          <p:attrName>style.visibility</p:attrName>
                                        </p:attrNameLst>
                                      </p:cBhvr>
                                      <p:to>
                                        <p:strVal val="hidden"/>
                                      </p:to>
                                    </p:set>
                                  </p:childTnLst>
                                </p:cTn>
                              </p:par>
                              <p:par>
                                <p:cTn id="72" presetID="1" presetClass="exit" presetSubtype="0" fill="hold" grpId="3" nodeType="withEffect">
                                  <p:stCondLst>
                                    <p:cond delay="0"/>
                                  </p:stCondLst>
                                  <p:childTnLst>
                                    <p:set>
                                      <p:cBhvr>
                                        <p:cTn id="73" dur="1" fill="hold">
                                          <p:stCondLst>
                                            <p:cond delay="0"/>
                                          </p:stCondLst>
                                        </p:cTn>
                                        <p:tgtEl>
                                          <p:spTgt spid="44"/>
                                        </p:tgtEl>
                                        <p:attrNameLst>
                                          <p:attrName>style.visibility</p:attrName>
                                        </p:attrNameLst>
                                      </p:cBhvr>
                                      <p:to>
                                        <p:strVal val="hidden"/>
                                      </p:to>
                                    </p:set>
                                  </p:childTnLst>
                                </p:cTn>
                              </p:par>
                              <p:par>
                                <p:cTn id="74" presetID="1" presetClass="exit" presetSubtype="0" fill="hold" nodeType="withEffect">
                                  <p:stCondLst>
                                    <p:cond delay="0"/>
                                  </p:stCondLst>
                                  <p:childTnLst>
                                    <p:set>
                                      <p:cBhvr>
                                        <p:cTn id="75" dur="1" fill="hold">
                                          <p:stCondLst>
                                            <p:cond delay="0"/>
                                          </p:stCondLst>
                                        </p:cTn>
                                        <p:tgtEl>
                                          <p:spTgt spid="31"/>
                                        </p:tgtEl>
                                        <p:attrNameLst>
                                          <p:attrName>style.visibility</p:attrName>
                                        </p:attrNameLst>
                                      </p:cBhvr>
                                      <p:to>
                                        <p:strVal val="hidden"/>
                                      </p:to>
                                    </p:set>
                                  </p:childTnLst>
                                </p:cTn>
                              </p:par>
                              <p:par>
                                <p:cTn id="76" presetID="1" presetClass="exit" presetSubtype="0" fill="hold" grpId="3" nodeType="withEffect">
                                  <p:stCondLst>
                                    <p:cond delay="0"/>
                                  </p:stCondLst>
                                  <p:childTnLst>
                                    <p:set>
                                      <p:cBhvr>
                                        <p:cTn id="77" dur="1" fill="hold">
                                          <p:stCondLst>
                                            <p:cond delay="0"/>
                                          </p:stCondLst>
                                        </p:cTn>
                                        <p:tgtEl>
                                          <p:spTgt spid="39"/>
                                        </p:tgtEl>
                                        <p:attrNameLst>
                                          <p:attrName>style.visibility</p:attrName>
                                        </p:attrNameLst>
                                      </p:cBhvr>
                                      <p:to>
                                        <p:strVal val="hidden"/>
                                      </p:to>
                                    </p:set>
                                  </p:childTnLst>
                                </p:cTn>
                              </p:par>
                              <p:par>
                                <p:cTn id="78" presetID="1" presetClass="exit" presetSubtype="0" fill="hold" nodeType="withEffect">
                                  <p:stCondLst>
                                    <p:cond delay="0"/>
                                  </p:stCondLst>
                                  <p:childTnLst>
                                    <p:set>
                                      <p:cBhvr>
                                        <p:cTn id="79" dur="1" fill="hold">
                                          <p:stCondLst>
                                            <p:cond delay="0"/>
                                          </p:stCondLst>
                                        </p:cTn>
                                        <p:tgtEl>
                                          <p:spTgt spid="29"/>
                                        </p:tgtEl>
                                        <p:attrNameLst>
                                          <p:attrName>style.visibility</p:attrName>
                                        </p:attrNameLst>
                                      </p:cBhvr>
                                      <p:to>
                                        <p:strVal val="hidden"/>
                                      </p:to>
                                    </p:set>
                                  </p:childTnLst>
                                </p:cTn>
                              </p:par>
                            </p:childTnLst>
                          </p:cTn>
                        </p:par>
                      </p:childTnLst>
                    </p:cTn>
                  </p:par>
                  <p:par>
                    <p:cTn id="80" fill="hold">
                      <p:stCondLst>
                        <p:cond delay="indefinite"/>
                      </p:stCondLst>
                      <p:childTnLst>
                        <p:par>
                          <p:cTn id="81" fill="hold">
                            <p:stCondLst>
                              <p:cond delay="0"/>
                            </p:stCondLst>
                            <p:childTnLst>
                              <p:par>
                                <p:cTn id="82" presetID="0" presetClass="path" presetSubtype="0" accel="50000" decel="50000" fill="hold" nodeType="clickEffect">
                                  <p:stCondLst>
                                    <p:cond delay="0"/>
                                  </p:stCondLst>
                                  <p:childTnLst>
                                    <p:animMotion origin="layout" path="M 0 0 C 0.0108333 -0.024537 0.00229167 -0.125556 0.0885417 -0.1 C 0.174792 -0.0744444 0.364444 0.0801852 0.43125 0.127778 " pathEditMode="relative" ptsTypes="">
                                      <p:cBhvr>
                                        <p:cTn id="83" dur="2000" fill="hold"/>
                                        <p:tgtEl>
                                          <p:spTgt spid="50"/>
                                        </p:tgtEl>
                                        <p:attrNameLst>
                                          <p:attrName>ppt_x</p:attrName>
                                          <p:attrName>ppt_y</p:attrName>
                                        </p:attrNameLst>
                                      </p:cBhvr>
                                    </p:animMotion>
                                  </p:childTnLst>
                                </p:cTn>
                              </p:par>
                            </p:childTnLst>
                          </p:cTn>
                        </p:par>
                      </p:childTnLst>
                    </p:cTn>
                  </p:par>
                  <p:par>
                    <p:cTn id="84" fill="hold">
                      <p:stCondLst>
                        <p:cond delay="indefinite"/>
                      </p:stCondLst>
                      <p:childTnLst>
                        <p:par>
                          <p:cTn id="85" fill="hold">
                            <p:stCondLst>
                              <p:cond delay="0"/>
                            </p:stCondLst>
                            <p:childTnLst>
                              <p:par>
                                <p:cTn id="86" presetID="1" presetClass="entr" presetSubtype="0" fill="hold" grpId="0" nodeType="clickEffect">
                                  <p:stCondLst>
                                    <p:cond delay="0"/>
                                  </p:stCondLst>
                                  <p:childTnLst>
                                    <p:set>
                                      <p:cBhvr>
                                        <p:cTn id="87" dur="1" fill="hold">
                                          <p:stCondLst>
                                            <p:cond delay="0"/>
                                          </p:stCondLst>
                                        </p:cTn>
                                        <p:tgtEl>
                                          <p:spTgt spid="30"/>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28"/>
                                        </p:tgtEl>
                                        <p:attrNameLst>
                                          <p:attrName>style.visibility</p:attrName>
                                        </p:attrNameLst>
                                      </p:cBhvr>
                                      <p:to>
                                        <p:strVal val="visible"/>
                                      </p:to>
                                    </p:set>
                                  </p:childTnLst>
                                </p:cTn>
                              </p:par>
                            </p:childTnLst>
                          </p:cTn>
                        </p:par>
                      </p:childTnLst>
                    </p:cTn>
                  </p:par>
                  <p:par>
                    <p:cTn id="90" fill="hold">
                      <p:stCondLst>
                        <p:cond delay="indefinite"/>
                      </p:stCondLst>
                      <p:childTnLst>
                        <p:par>
                          <p:cTn id="91" fill="hold">
                            <p:stCondLst>
                              <p:cond delay="0"/>
                            </p:stCondLst>
                            <p:childTnLst>
                              <p:par>
                                <p:cTn id="92" presetID="0" presetClass="path" presetSubtype="0" accel="50000" decel="50000" fill="hold" nodeType="clickEffect">
                                  <p:stCondLst>
                                    <p:cond delay="0"/>
                                  </p:stCondLst>
                                  <p:childTnLst>
                                    <p:animMotion origin="layout" path="M 0 0 L 0 -0.0735185 " pathEditMode="relative" ptsTypes="">
                                      <p:cBhvr>
                                        <p:cTn id="93" dur="2000" fill="hold"/>
                                        <p:tgtEl>
                                          <p:spTgt spid="51"/>
                                        </p:tgtEl>
                                        <p:attrNameLst>
                                          <p:attrName>ppt_x</p:attrName>
                                          <p:attrName>ppt_y</p:attrName>
                                        </p:attrNameLst>
                                      </p:cBhvr>
                                    </p:animMotion>
                                  </p:childTnLst>
                                </p:cTn>
                              </p:par>
                              <p:par>
                                <p:cTn id="94" presetID="0" presetClass="path" presetSubtype="0" accel="50000" decel="50000" fill="hold" nodeType="withEffect">
                                  <p:stCondLst>
                                    <p:cond delay="0"/>
                                  </p:stCondLst>
                                  <p:childTnLst>
                                    <p:animMotion origin="layout" path="M 0 0 L 0 -0.0735185 " pathEditMode="relative" ptsTypes="">
                                      <p:cBhvr>
                                        <p:cTn id="95" dur="2000" fill="hold"/>
                                        <p:tgtEl>
                                          <p:spTgt spid="52"/>
                                        </p:tgtEl>
                                        <p:attrNameLst>
                                          <p:attrName>ppt_x</p:attrName>
                                          <p:attrName>ppt_y</p:attrName>
                                        </p:attrNameLst>
                                      </p:cBhvr>
                                    </p:animMotion>
                                  </p:childTnLst>
                                </p:cTn>
                              </p:par>
                              <p:par>
                                <p:cTn id="96" presetID="0" presetClass="path" presetSubtype="0" accel="50000" decel="50000" fill="hold" nodeType="withEffect">
                                  <p:stCondLst>
                                    <p:cond delay="0"/>
                                  </p:stCondLst>
                                  <p:childTnLst>
                                    <p:animMotion origin="layout" path="M 0 0 L 0 -0.0735185 " pathEditMode="relative" ptsTypes="">
                                      <p:cBhvr>
                                        <p:cTn id="97" dur="2000" fill="hold"/>
                                        <p:tgtEl>
                                          <p:spTgt spid="53"/>
                                        </p:tgtEl>
                                        <p:attrNameLst>
                                          <p:attrName>ppt_x</p:attrName>
                                          <p:attrName>ppt_y</p:attrName>
                                        </p:attrNameLst>
                                      </p:cBhvr>
                                    </p:animMotion>
                                  </p:childTnLst>
                                </p:cTn>
                              </p:par>
                              <p:par>
                                <p:cTn id="98" presetID="0" presetClass="path" presetSubtype="0" accel="50000" decel="50000" fill="hold" nodeType="withEffect">
                                  <p:stCondLst>
                                    <p:cond delay="0"/>
                                  </p:stCondLst>
                                  <p:childTnLst>
                                    <p:animMotion origin="layout" path="M 0 0 L 0 -0.0735185 " pathEditMode="relative" ptsTypes="">
                                      <p:cBhvr>
                                        <p:cTn id="99" dur="2000" fill="hold"/>
                                        <p:tgtEl>
                                          <p:spTgt spid="54"/>
                                        </p:tgtEl>
                                        <p:attrNameLst>
                                          <p:attrName>ppt_x</p:attrName>
                                          <p:attrName>ppt_y</p:attrName>
                                        </p:attrNameLst>
                                      </p:cBhvr>
                                    </p:animMotion>
                                  </p:childTnLst>
                                </p:cTn>
                              </p:par>
                              <p:par>
                                <p:cTn id="100" presetID="0" presetClass="path" presetSubtype="0" accel="50000" decel="50000" fill="hold" nodeType="withEffect">
                                  <p:stCondLst>
                                    <p:cond delay="0"/>
                                  </p:stCondLst>
                                  <p:childTnLst>
                                    <p:animMotion origin="layout" path="M 0 0 L 0 -0.0735185 " pathEditMode="relative" ptsTypes="">
                                      <p:cBhvr>
                                        <p:cTn id="101" dur="2000" fill="hold"/>
                                        <p:tgtEl>
                                          <p:spTgt spid="5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p:bldP spid="39" grpId="1"/>
      <p:bldP spid="39" grpId="2"/>
      <p:bldP spid="39" grpId="3"/>
      <p:bldP spid="40" grpId="0"/>
      <p:bldP spid="40" grpId="1"/>
      <p:bldP spid="40" grpId="2"/>
      <p:bldP spid="40" grpId="3"/>
      <p:bldP spid="41" grpId="0"/>
      <p:bldP spid="41" grpId="1"/>
      <p:bldP spid="41" grpId="2"/>
      <p:bldP spid="41" grpId="3"/>
      <p:bldP spid="42" grpId="1"/>
      <p:bldP spid="43" grpId="0"/>
      <p:bldP spid="43" grpId="1"/>
      <p:bldP spid="43" grpId="2"/>
      <p:bldP spid="43" grpId="3"/>
      <p:bldP spid="44" grpId="0"/>
      <p:bldP spid="44" grpId="1"/>
      <p:bldP spid="44" grpId="2"/>
      <p:bldP spid="44" grpId="3"/>
      <p:bldP spid="45" grpId="0"/>
      <p:bldP spid="45" grpId="1"/>
      <p:bldP spid="45" grpId="2"/>
      <p:bldP spid="45" grpId="3"/>
      <p:bldP spid="46" grpId="1"/>
      <p:bldP spid="27" grpId="1"/>
      <p:bldP spid="3" grpId="1" animBg="1"/>
      <p:bldP spid="5" grpId="1" animBg="1"/>
      <p:bldP spid="30" grpId="0"/>
      <p:bldP spid="30" grpId="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920115"/>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算法原则是：将所有的边按照长度排序，选择最小长度的边做最小生成树的边，直至将所有节点连接在一起。</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1327785" y="479679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2552065" y="479679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983865" y="407162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p:nvPr/>
        </p:nvCxnSpPr>
        <p:spPr>
          <a:xfrm>
            <a:off x="2800985" y="3673475"/>
            <a:ext cx="261620" cy="47688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4" name="直接连接符 33"/>
          <p:cNvCxnSpPr/>
          <p:nvPr/>
        </p:nvCxnSpPr>
        <p:spPr>
          <a:xfrm>
            <a:off x="805815" y="4544695"/>
            <a:ext cx="521970" cy="52197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p:nvPr/>
        </p:nvCxnSpPr>
        <p:spPr>
          <a:xfrm flipV="1">
            <a:off x="2310765" y="4341495"/>
            <a:ext cx="673100" cy="508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6" name="直接连接符 35"/>
          <p:cNvCxnSpPr/>
          <p:nvPr/>
        </p:nvCxnSpPr>
        <p:spPr>
          <a:xfrm>
            <a:off x="1863090" y="5066665"/>
            <a:ext cx="688975" cy="0"/>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7" name="直接连接符 36"/>
          <p:cNvCxnSpPr/>
          <p:nvPr/>
        </p:nvCxnSpPr>
        <p:spPr>
          <a:xfrm flipH="1">
            <a:off x="3087370" y="4611370"/>
            <a:ext cx="166370" cy="45529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40" name="文本框 39"/>
          <p:cNvSpPr txBox="1"/>
          <p:nvPr/>
        </p:nvSpPr>
        <p:spPr>
          <a:xfrm>
            <a:off x="2902585" y="3596005"/>
            <a:ext cx="445770" cy="346075"/>
          </a:xfrm>
          <a:prstGeom prst="rect">
            <a:avLst/>
          </a:prstGeom>
          <a:noFill/>
        </p:spPr>
        <p:txBody>
          <a:bodyPr wrap="square" rtlCol="0">
            <a:noAutofit/>
          </a:bodyPr>
          <a:lstStyle/>
          <a:p>
            <a:r>
              <a:rPr lang="en-US" altLang="zh-CN">
                <a:latin typeface="+mj-lt"/>
                <a:cs typeface="+mj-lt"/>
              </a:rPr>
              <a:t>13</a:t>
            </a:r>
            <a:endParaRPr lang="en-US" altLang="zh-CN">
              <a:latin typeface="+mj-lt"/>
              <a:cs typeface="+mj-lt"/>
            </a:endParaRPr>
          </a:p>
        </p:txBody>
      </p:sp>
      <p:sp>
        <p:nvSpPr>
          <p:cNvPr id="41" name="文本框 40"/>
          <p:cNvSpPr txBox="1"/>
          <p:nvPr/>
        </p:nvSpPr>
        <p:spPr>
          <a:xfrm>
            <a:off x="3211830" y="4706620"/>
            <a:ext cx="445770" cy="346075"/>
          </a:xfrm>
          <a:prstGeom prst="rect">
            <a:avLst/>
          </a:prstGeom>
          <a:noFill/>
        </p:spPr>
        <p:txBody>
          <a:bodyPr wrap="square" rtlCol="0">
            <a:noAutofit/>
          </a:bodyPr>
          <a:lstStyle/>
          <a:p>
            <a:r>
              <a:rPr lang="en-US" altLang="zh-CN">
                <a:latin typeface="+mj-lt"/>
                <a:cs typeface="+mj-lt"/>
              </a:rPr>
              <a:t>18</a:t>
            </a:r>
            <a:endParaRPr lang="en-US" altLang="zh-CN">
              <a:latin typeface="+mj-lt"/>
              <a:cs typeface="+mj-lt"/>
            </a:endParaRPr>
          </a:p>
        </p:txBody>
      </p:sp>
      <p:sp>
        <p:nvSpPr>
          <p:cNvPr id="42" name="文本框 41"/>
          <p:cNvSpPr txBox="1"/>
          <p:nvPr/>
        </p:nvSpPr>
        <p:spPr>
          <a:xfrm>
            <a:off x="2023110" y="4714875"/>
            <a:ext cx="445770" cy="346075"/>
          </a:xfrm>
          <a:prstGeom prst="rect">
            <a:avLst/>
          </a:prstGeom>
          <a:noFill/>
        </p:spPr>
        <p:txBody>
          <a:bodyPr wrap="square" rtlCol="0">
            <a:noAutofit/>
          </a:bodyPr>
          <a:lstStyle/>
          <a:p>
            <a:r>
              <a:rPr lang="en-US" altLang="zh-CN">
                <a:solidFill>
                  <a:srgbClr val="FF0000"/>
                </a:solidFill>
                <a:latin typeface="+mj-lt"/>
                <a:cs typeface="+mj-lt"/>
              </a:rPr>
              <a:t>7</a:t>
            </a:r>
            <a:endParaRPr lang="en-US" altLang="zh-CN">
              <a:solidFill>
                <a:srgbClr val="FF0000"/>
              </a:solidFill>
              <a:latin typeface="+mj-lt"/>
              <a:cs typeface="+mj-lt"/>
            </a:endParaRPr>
          </a:p>
        </p:txBody>
      </p:sp>
      <p:sp>
        <p:nvSpPr>
          <p:cNvPr id="43" name="文本框 42"/>
          <p:cNvSpPr txBox="1"/>
          <p:nvPr/>
        </p:nvSpPr>
        <p:spPr>
          <a:xfrm>
            <a:off x="683895" y="4714875"/>
            <a:ext cx="445770" cy="346075"/>
          </a:xfrm>
          <a:prstGeom prst="rect">
            <a:avLst/>
          </a:prstGeom>
          <a:noFill/>
        </p:spPr>
        <p:txBody>
          <a:bodyPr wrap="square" rtlCol="0">
            <a:noAutofit/>
          </a:bodyPr>
          <a:lstStyle/>
          <a:p>
            <a:r>
              <a:rPr lang="en-US" altLang="zh-CN">
                <a:latin typeface="+mj-lt"/>
                <a:cs typeface="+mj-lt"/>
              </a:rPr>
              <a:t>26</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sp>
        <p:nvSpPr>
          <p:cNvPr id="45" name="文本框 44"/>
          <p:cNvSpPr txBox="1"/>
          <p:nvPr/>
        </p:nvSpPr>
        <p:spPr>
          <a:xfrm>
            <a:off x="2484120" y="394208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46" name="文本框 45"/>
          <p:cNvSpPr txBox="1"/>
          <p:nvPr/>
        </p:nvSpPr>
        <p:spPr>
          <a:xfrm>
            <a:off x="1228090" y="3905250"/>
            <a:ext cx="445770" cy="346075"/>
          </a:xfrm>
          <a:prstGeom prst="rect">
            <a:avLst/>
          </a:prstGeom>
          <a:noFill/>
          <a:ln>
            <a:noFill/>
          </a:ln>
        </p:spPr>
        <p:txBody>
          <a:bodyPr wrap="square" rtlCol="0">
            <a:noAutofit/>
          </a:bodyPr>
          <a:lstStyle/>
          <a:p>
            <a:r>
              <a:rPr lang="en-US" altLang="zh-CN">
                <a:solidFill>
                  <a:srgbClr val="FF0000"/>
                </a:solidFill>
                <a:latin typeface="+mj-lt"/>
                <a:cs typeface="+mj-lt"/>
              </a:rPr>
              <a:t>9</a:t>
            </a:r>
            <a:endParaRPr lang="en-US" altLang="zh-CN">
              <a:solidFill>
                <a:srgbClr val="FF0000"/>
              </a:solidFill>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657475"/>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657475"/>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1" name="组合 50"/>
          <p:cNvGrpSpPr/>
          <p:nvPr/>
        </p:nvGrpSpPr>
        <p:grpSpPr>
          <a:xfrm>
            <a:off x="6155690" y="2652395"/>
            <a:ext cx="1809115" cy="444500"/>
            <a:chOff x="9694" y="5996"/>
            <a:chExt cx="2849" cy="700"/>
          </a:xfrm>
        </p:grpSpPr>
        <p:grpSp>
          <p:nvGrpSpPr>
            <p:cNvPr id="118" name="组合 117"/>
            <p:cNvGrpSpPr/>
            <p:nvPr/>
          </p:nvGrpSpPr>
          <p:grpSpPr>
            <a:xfrm>
              <a:off x="9694" y="6087"/>
              <a:ext cx="1405" cy="602"/>
              <a:chOff x="9776" y="4285"/>
              <a:chExt cx="1405" cy="602"/>
            </a:xfrm>
          </p:grpSpPr>
          <p:grpSp>
            <p:nvGrpSpPr>
              <p:cNvPr id="119" name="组合 118"/>
              <p:cNvGrpSpPr/>
              <p:nvPr/>
            </p:nvGrpSpPr>
            <p:grpSpPr>
              <a:xfrm>
                <a:off x="9776" y="4285"/>
                <a:ext cx="644" cy="602"/>
                <a:chOff x="1006488" y="2036167"/>
                <a:chExt cx="531192" cy="504056"/>
              </a:xfrm>
            </p:grpSpPr>
            <p:sp>
              <p:nvSpPr>
                <p:cNvPr id="12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1" name="文本框 12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22" name="组合 121"/>
              <p:cNvGrpSpPr/>
              <p:nvPr/>
            </p:nvGrpSpPr>
            <p:grpSpPr>
              <a:xfrm>
                <a:off x="10537" y="4285"/>
                <a:ext cx="644" cy="602"/>
                <a:chOff x="1006488" y="2036167"/>
                <a:chExt cx="531192" cy="504056"/>
              </a:xfrm>
            </p:grpSpPr>
            <p:sp>
              <p:nvSpPr>
                <p:cNvPr id="12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4" name="文本框 12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25" name="直接连接符 124"/>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1" name="文本框 160"/>
            <p:cNvSpPr txBox="1"/>
            <p:nvPr/>
          </p:nvSpPr>
          <p:spPr>
            <a:xfrm>
              <a:off x="11395" y="5996"/>
              <a:ext cx="1148" cy="701"/>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15</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2" name="组合 51"/>
          <p:cNvGrpSpPr/>
          <p:nvPr/>
        </p:nvGrpSpPr>
        <p:grpSpPr>
          <a:xfrm>
            <a:off x="6155690" y="3183890"/>
            <a:ext cx="1798955" cy="429895"/>
            <a:chOff x="9694" y="6833"/>
            <a:chExt cx="2833" cy="677"/>
          </a:xfrm>
        </p:grpSpPr>
        <p:grpSp>
          <p:nvGrpSpPr>
            <p:cNvPr id="126" name="组合 125"/>
            <p:cNvGrpSpPr/>
            <p:nvPr/>
          </p:nvGrpSpPr>
          <p:grpSpPr>
            <a:xfrm>
              <a:off x="9694" y="6908"/>
              <a:ext cx="1405" cy="602"/>
              <a:chOff x="9776" y="4285"/>
              <a:chExt cx="1405" cy="602"/>
            </a:xfrm>
          </p:grpSpPr>
          <p:grpSp>
            <p:nvGrpSpPr>
              <p:cNvPr id="127" name="组合 126"/>
              <p:cNvGrpSpPr/>
              <p:nvPr/>
            </p:nvGrpSpPr>
            <p:grpSpPr>
              <a:xfrm>
                <a:off x="9776" y="4285"/>
                <a:ext cx="644" cy="602"/>
                <a:chOff x="1006488" y="2036167"/>
                <a:chExt cx="531192" cy="504056"/>
              </a:xfrm>
            </p:grpSpPr>
            <p:sp>
              <p:nvSpPr>
                <p:cNvPr id="12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9" name="文本框 128"/>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0" name="组合 129"/>
              <p:cNvGrpSpPr/>
              <p:nvPr/>
            </p:nvGrpSpPr>
            <p:grpSpPr>
              <a:xfrm>
                <a:off x="10537" y="4285"/>
                <a:ext cx="644" cy="602"/>
                <a:chOff x="1006488" y="2036167"/>
                <a:chExt cx="531192" cy="504056"/>
              </a:xfrm>
            </p:grpSpPr>
            <p:sp>
              <p:nvSpPr>
                <p:cNvPr id="13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2" name="文本框 13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33" name="直接连接符 132"/>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2" name="文本框 161"/>
            <p:cNvSpPr txBox="1"/>
            <p:nvPr/>
          </p:nvSpPr>
          <p:spPr>
            <a:xfrm>
              <a:off x="11395" y="6833"/>
              <a:ext cx="1132" cy="634"/>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18</a:t>
              </a:r>
              <a:endParaRPr lang="en-US" altLang="zh-CN">
                <a:latin typeface="Times New Roman" panose="02020603050405020304" pitchFamily="18" charset="0"/>
                <a:cs typeface="Times New Roman" panose="02020603050405020304" pitchFamily="18" charset="0"/>
                <a:sym typeface="+mn-ea"/>
              </a:endParaRPr>
            </a:p>
          </p:txBody>
        </p:sp>
      </p:grpSp>
      <p:grpSp>
        <p:nvGrpSpPr>
          <p:cNvPr id="53" name="组合 52"/>
          <p:cNvGrpSpPr/>
          <p:nvPr/>
        </p:nvGrpSpPr>
        <p:grpSpPr>
          <a:xfrm>
            <a:off x="6155690" y="3649980"/>
            <a:ext cx="1513205" cy="467995"/>
            <a:chOff x="9694" y="7567"/>
            <a:chExt cx="2383" cy="737"/>
          </a:xfrm>
        </p:grpSpPr>
        <p:grpSp>
          <p:nvGrpSpPr>
            <p:cNvPr id="134" name="组合 133"/>
            <p:cNvGrpSpPr/>
            <p:nvPr/>
          </p:nvGrpSpPr>
          <p:grpSpPr>
            <a:xfrm>
              <a:off x="9694" y="7702"/>
              <a:ext cx="1405" cy="602"/>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3" name="文本框 162"/>
            <p:cNvSpPr txBox="1"/>
            <p:nvPr/>
          </p:nvSpPr>
          <p:spPr>
            <a:xfrm>
              <a:off x="11395" y="7567"/>
              <a:ext cx="683" cy="58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20</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4" name="组合 53"/>
          <p:cNvGrpSpPr/>
          <p:nvPr/>
        </p:nvGrpSpPr>
        <p:grpSpPr>
          <a:xfrm>
            <a:off x="6155690" y="4159885"/>
            <a:ext cx="1613535" cy="406400"/>
            <a:chOff x="9694" y="8370"/>
            <a:chExt cx="2541" cy="640"/>
          </a:xfrm>
        </p:grpSpPr>
        <p:grpSp>
          <p:nvGrpSpPr>
            <p:cNvPr id="142" name="组合 141"/>
            <p:cNvGrpSpPr/>
            <p:nvPr/>
          </p:nvGrpSpPr>
          <p:grpSpPr>
            <a:xfrm>
              <a:off x="9694" y="8408"/>
              <a:ext cx="1405" cy="602"/>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4" name="文本框 163"/>
            <p:cNvSpPr txBox="1"/>
            <p:nvPr/>
          </p:nvSpPr>
          <p:spPr>
            <a:xfrm>
              <a:off x="11395" y="8370"/>
              <a:ext cx="841" cy="62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23</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5" name="组合 54"/>
          <p:cNvGrpSpPr/>
          <p:nvPr/>
        </p:nvGrpSpPr>
        <p:grpSpPr>
          <a:xfrm>
            <a:off x="6155690" y="4599305"/>
            <a:ext cx="1514475" cy="382270"/>
            <a:chOff x="9694" y="9062"/>
            <a:chExt cx="2385" cy="602"/>
          </a:xfrm>
        </p:grpSpPr>
        <p:grpSp>
          <p:nvGrpSpPr>
            <p:cNvPr id="150" name="组合 149"/>
            <p:cNvGrpSpPr/>
            <p:nvPr/>
          </p:nvGrpSpPr>
          <p:grpSpPr>
            <a:xfrm>
              <a:off x="9694" y="9062"/>
              <a:ext cx="1405" cy="602"/>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5" name="文本框 164"/>
            <p:cNvSpPr txBox="1"/>
            <p:nvPr/>
          </p:nvSpPr>
          <p:spPr>
            <a:xfrm>
              <a:off x="11395" y="9070"/>
              <a:ext cx="684" cy="54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26</a:t>
              </a:r>
              <a:endParaRPr lang="en-US" altLang="zh-CN">
                <a:latin typeface="Times New Roman" panose="02020603050405020304" pitchFamily="18" charset="0"/>
                <a:cs typeface="Times New Roman" panose="02020603050405020304" pitchFamily="18" charset="0"/>
                <a:sym typeface="+mn-ea"/>
              </a:endParaRPr>
            </a:p>
          </p:txBody>
        </p:sp>
      </p:grpSp>
      <p:cxnSp>
        <p:nvCxnSpPr>
          <p:cNvPr id="28" name="直接连接符 27"/>
          <p:cNvCxnSpPr/>
          <p:nvPr/>
        </p:nvCxnSpPr>
        <p:spPr>
          <a:xfrm>
            <a:off x="2799715" y="3670935"/>
            <a:ext cx="261620" cy="4768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30" name="文本框 29"/>
          <p:cNvSpPr txBox="1"/>
          <p:nvPr/>
        </p:nvSpPr>
        <p:spPr>
          <a:xfrm>
            <a:off x="2901315" y="3593465"/>
            <a:ext cx="445770" cy="346075"/>
          </a:xfrm>
          <a:prstGeom prst="rect">
            <a:avLst/>
          </a:prstGeom>
          <a:noFill/>
          <a:extLst>
            <a:ext uri="{909E8E84-426E-40DD-AFC4-6F175D3DCCD1}">
              <a14:hiddenFill xmlns:a14="http://schemas.microsoft.com/office/drawing/2010/main">
                <a:solidFill>
                  <a:srgbClr val="FF0000"/>
                </a:solidFill>
              </a14:hiddenFill>
            </a:ext>
          </a:extLst>
        </p:spPr>
        <p:txBody>
          <a:bodyPr wrap="square" rtlCol="0">
            <a:noAutofit/>
          </a:bodyPr>
          <a:lstStyle/>
          <a:p>
            <a:r>
              <a:rPr lang="en-US" altLang="zh-CN">
                <a:solidFill>
                  <a:srgbClr val="FF0000"/>
                </a:solidFill>
                <a:latin typeface="+mj-lt"/>
                <a:cs typeface="+mj-lt"/>
              </a:rPr>
              <a:t>13</a:t>
            </a:r>
            <a:endParaRPr lang="en-US" altLang="zh-CN">
              <a:solidFill>
                <a:srgbClr val="FF0000"/>
              </a:solidFill>
              <a:latin typeface="+mj-lt"/>
              <a:cs typeface="+mj-lt"/>
            </a:endParaRPr>
          </a:p>
        </p:txBody>
      </p:sp>
      <p:cxnSp>
        <p:nvCxnSpPr>
          <p:cNvPr id="38" name="直接连接符 37"/>
          <p:cNvCxnSpPr/>
          <p:nvPr/>
        </p:nvCxnSpPr>
        <p:spPr>
          <a:xfrm flipH="1">
            <a:off x="996950" y="3673475"/>
            <a:ext cx="265430" cy="4102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7" name="文本框 46"/>
          <p:cNvSpPr txBox="1"/>
          <p:nvPr/>
        </p:nvSpPr>
        <p:spPr>
          <a:xfrm>
            <a:off x="683895" y="3539490"/>
            <a:ext cx="445770" cy="346075"/>
          </a:xfrm>
          <a:prstGeom prst="rect">
            <a:avLst/>
          </a:prstGeom>
          <a:noFill/>
          <a:ln>
            <a:noFill/>
          </a:ln>
        </p:spPr>
        <p:txBody>
          <a:bodyPr wrap="square" rtlCol="0">
            <a:noAutofit/>
          </a:bodyPr>
          <a:lstStyle/>
          <a:p>
            <a:r>
              <a:rPr lang="en-US" altLang="zh-CN">
                <a:solidFill>
                  <a:srgbClr val="FF0000"/>
                </a:solidFill>
                <a:latin typeface="+mj-lt"/>
                <a:cs typeface="+mj-lt"/>
              </a:rPr>
              <a:t>15</a:t>
            </a:r>
            <a:endParaRPr lang="en-US" altLang="zh-CN">
              <a:solidFill>
                <a:srgbClr val="FF0000"/>
              </a:solidFill>
              <a:latin typeface="+mj-lt"/>
              <a:cs typeface="+mj-lt"/>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45"/>
                                        </p:tgtEl>
                                        <p:attrNameLst>
                                          <p:attrName>style.visibility</p:attrName>
                                        </p:attrNameLst>
                                      </p:cBhvr>
                                      <p:tavLst>
                                        <p:tav tm="0">
                                          <p:val>
                                            <p:strVal val="hidden"/>
                                          </p:val>
                                        </p:tav>
                                        <p:tav tm="50000">
                                          <p:val>
                                            <p:strVal val="visible"/>
                                          </p:val>
                                        </p:tav>
                                      </p:tavLst>
                                    </p:anim>
                                  </p:childTnLst>
                                </p:cTn>
                              </p:par>
                              <p:par>
                                <p:cTn id="7" presetID="35" presetClass="emph" presetSubtype="0" fill="hold" nodeType="withEffect">
                                  <p:stCondLst>
                                    <p:cond delay="0"/>
                                  </p:stCondLst>
                                  <p:childTnLst>
                                    <p:anim calcmode="discrete" valueType="str">
                                      <p:cBhvr>
                                        <p:cTn id="8" dur="1000" fill="hold"/>
                                        <p:tgtEl>
                                          <p:spTgt spid="35"/>
                                        </p:tgtEl>
                                        <p:attrNameLst>
                                          <p:attrName>style.visibility</p:attrName>
                                        </p:attrNameLst>
                                      </p:cBhvr>
                                      <p:tavLst>
                                        <p:tav tm="0">
                                          <p:val>
                                            <p:strVal val="hidden"/>
                                          </p:val>
                                        </p:tav>
                                        <p:tav tm="50000">
                                          <p:val>
                                            <p:strVal val="visible"/>
                                          </p:val>
                                        </p:tav>
                                      </p:tavLst>
                                    </p:anim>
                                  </p:childTnLst>
                                </p:cTn>
                              </p:par>
                              <p:par>
                                <p:cTn id="9" presetID="35" presetClass="emph" presetSubtype="0" fill="hold" grpId="0" nodeType="withEffect">
                                  <p:stCondLst>
                                    <p:cond delay="0"/>
                                  </p:stCondLst>
                                  <p:childTnLst>
                                    <p:anim calcmode="discrete" valueType="str">
                                      <p:cBhvr>
                                        <p:cTn id="10" dur="1000" fill="hold"/>
                                        <p:tgtEl>
                                          <p:spTgt spid="41"/>
                                        </p:tgtEl>
                                        <p:attrNameLst>
                                          <p:attrName>style.visibility</p:attrName>
                                        </p:attrNameLst>
                                      </p:cBhvr>
                                      <p:tavLst>
                                        <p:tav tm="0">
                                          <p:val>
                                            <p:strVal val="hidden"/>
                                          </p:val>
                                        </p:tav>
                                        <p:tav tm="50000">
                                          <p:val>
                                            <p:strVal val="visible"/>
                                          </p:val>
                                        </p:tav>
                                      </p:tavLst>
                                    </p:anim>
                                  </p:childTnLst>
                                </p:cTn>
                              </p:par>
                              <p:par>
                                <p:cTn id="11" presetID="35" presetClass="emph" presetSubtype="0" fill="hold" nodeType="withEffect">
                                  <p:stCondLst>
                                    <p:cond delay="0"/>
                                  </p:stCondLst>
                                  <p:childTnLst>
                                    <p:anim calcmode="discrete" valueType="str">
                                      <p:cBhvr>
                                        <p:cTn id="12" dur="1000" fill="hold"/>
                                        <p:tgtEl>
                                          <p:spTgt spid="37"/>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43"/>
                                        </p:tgtEl>
                                        <p:attrNameLst>
                                          <p:attrName>style.visibility</p:attrName>
                                        </p:attrNameLst>
                                      </p:cBhvr>
                                      <p:tavLst>
                                        <p:tav tm="0">
                                          <p:val>
                                            <p:strVal val="hidden"/>
                                          </p:val>
                                        </p:tav>
                                        <p:tav tm="50000">
                                          <p:val>
                                            <p:strVal val="visible"/>
                                          </p:val>
                                        </p:tav>
                                      </p:tavLst>
                                    </p:anim>
                                  </p:childTnLst>
                                </p:cTn>
                              </p:par>
                              <p:par>
                                <p:cTn id="15" presetID="35" presetClass="emph" presetSubtype="0" fill="hold" nodeType="withEffect">
                                  <p:stCondLst>
                                    <p:cond delay="0"/>
                                  </p:stCondLst>
                                  <p:childTnLst>
                                    <p:anim calcmode="discrete" valueType="str">
                                      <p:cBhvr>
                                        <p:cTn id="16" dur="1000" fill="hold"/>
                                        <p:tgtEl>
                                          <p:spTgt spid="34"/>
                                        </p:tgtEl>
                                        <p:attrNameLst>
                                          <p:attrName>style.visibility</p:attrName>
                                        </p:attrNameLst>
                                      </p:cBhvr>
                                      <p:tavLst>
                                        <p:tav tm="0">
                                          <p:val>
                                            <p:strVal val="hidden"/>
                                          </p:val>
                                        </p:tav>
                                        <p:tav tm="50000">
                                          <p:val>
                                            <p:strVal val="visible"/>
                                          </p:val>
                                        </p:tav>
                                      </p:tavLst>
                                    </p:anim>
                                  </p:childTnLst>
                                </p:cTn>
                              </p:par>
                              <p:par>
                                <p:cTn id="17" presetID="35" presetClass="emph" presetSubtype="0" fill="hold" grpId="0" nodeType="withEffect">
                                  <p:stCondLst>
                                    <p:cond delay="0"/>
                                  </p:stCondLst>
                                  <p:childTnLst>
                                    <p:anim calcmode="discrete" valueType="str">
                                      <p:cBhvr>
                                        <p:cTn id="18" dur="1000" fill="hold"/>
                                        <p:tgtEl>
                                          <p:spTgt spid="44"/>
                                        </p:tgtEl>
                                        <p:attrNameLst>
                                          <p:attrName>style.visibility</p:attrName>
                                        </p:attrNameLst>
                                      </p:cBhvr>
                                      <p:tavLst>
                                        <p:tav tm="0">
                                          <p:val>
                                            <p:strVal val="hidden"/>
                                          </p:val>
                                        </p:tav>
                                        <p:tav tm="50000">
                                          <p:val>
                                            <p:strVal val="visible"/>
                                          </p:val>
                                        </p:tav>
                                      </p:tavLst>
                                    </p:anim>
                                  </p:childTnLst>
                                </p:cTn>
                              </p:par>
                              <p:par>
                                <p:cTn id="19" presetID="35" presetClass="emph" presetSubtype="0" fill="hold" nodeType="withEffect">
                                  <p:stCondLst>
                                    <p:cond delay="0"/>
                                  </p:stCondLst>
                                  <p:childTnLst>
                                    <p:anim calcmode="discrete" valueType="str">
                                      <p:cBhvr>
                                        <p:cTn id="20" dur="1000" fill="hold"/>
                                        <p:tgtEl>
                                          <p:spTgt spid="31"/>
                                        </p:tgtEl>
                                        <p:attrNameLst>
                                          <p:attrName>style.visibility</p:attrName>
                                        </p:attrNameLst>
                                      </p:cBhvr>
                                      <p:tavLst>
                                        <p:tav tm="0">
                                          <p:val>
                                            <p:strVal val="hidden"/>
                                          </p:val>
                                        </p:tav>
                                        <p:tav tm="50000">
                                          <p:val>
                                            <p:strVal val="visible"/>
                                          </p:val>
                                        </p:tav>
                                      </p:tavLst>
                                    </p:anim>
                                  </p:childTnLst>
                                </p:cTn>
                              </p:par>
                              <p:par>
                                <p:cTn id="21" presetID="35" presetClass="emph" presetSubtype="0" fill="hold" grpId="0" nodeType="withEffect">
                                  <p:stCondLst>
                                    <p:cond delay="0"/>
                                  </p:stCondLst>
                                  <p:childTnLst>
                                    <p:anim calcmode="discrete" valueType="str">
                                      <p:cBhvr>
                                        <p:cTn id="22" dur="1000" fill="hold"/>
                                        <p:tgtEl>
                                          <p:spTgt spid="39"/>
                                        </p:tgtEl>
                                        <p:attrNameLst>
                                          <p:attrName>style.visibility</p:attrName>
                                        </p:attrNameLst>
                                      </p:cBhvr>
                                      <p:tavLst>
                                        <p:tav tm="0">
                                          <p:val>
                                            <p:strVal val="hidden"/>
                                          </p:val>
                                        </p:tav>
                                        <p:tav tm="50000">
                                          <p:val>
                                            <p:strVal val="visible"/>
                                          </p:val>
                                        </p:tav>
                                      </p:tavLst>
                                    </p:anim>
                                  </p:childTnLst>
                                </p:cTn>
                              </p:par>
                              <p:par>
                                <p:cTn id="23" presetID="35" presetClass="emph" presetSubtype="0" fill="hold" nodeType="withEffect">
                                  <p:stCondLst>
                                    <p:cond delay="0"/>
                                  </p:stCondLst>
                                  <p:childTnLst>
                                    <p:anim calcmode="discrete" valueType="str">
                                      <p:cBhvr>
                                        <p:cTn id="24" dur="1000" fill="hold"/>
                                        <p:tgtEl>
                                          <p:spTgt spid="29"/>
                                        </p:tgtEl>
                                        <p:attrNameLst>
                                          <p:attrName>style.visibility</p:attrName>
                                        </p:attrNameLst>
                                      </p:cBhvr>
                                      <p:tavLst>
                                        <p:tav tm="0">
                                          <p:val>
                                            <p:strVal val="hidden"/>
                                          </p:val>
                                        </p:tav>
                                        <p:tav tm="50000">
                                          <p:val>
                                            <p:strVal val="visible"/>
                                          </p:val>
                                        </p:tav>
                                      </p:tavLst>
                                    </p:anim>
                                  </p:childTnLst>
                                </p:cTn>
                              </p:par>
                            </p:childTnLst>
                          </p:cTn>
                        </p:par>
                        <p:par>
                          <p:cTn id="25" fill="hold">
                            <p:stCondLst>
                              <p:cond delay="1000"/>
                            </p:stCondLst>
                            <p:childTnLst>
                              <p:par>
                                <p:cTn id="26" presetID="35" presetClass="emph" presetSubtype="0" fill="hold" grpId="2" nodeType="afterEffect">
                                  <p:stCondLst>
                                    <p:cond delay="0"/>
                                  </p:stCondLst>
                                  <p:childTnLst>
                                    <p:anim calcmode="discrete" valueType="str">
                                      <p:cBhvr>
                                        <p:cTn id="27" dur="1000" fill="hold"/>
                                        <p:tgtEl>
                                          <p:spTgt spid="45"/>
                                        </p:tgtEl>
                                        <p:attrNameLst>
                                          <p:attrName>style.visibility</p:attrName>
                                        </p:attrNameLst>
                                      </p:cBhvr>
                                      <p:tavLst>
                                        <p:tav tm="0">
                                          <p:val>
                                            <p:strVal val="hidden"/>
                                          </p:val>
                                        </p:tav>
                                        <p:tav tm="50000">
                                          <p:val>
                                            <p:strVal val="visible"/>
                                          </p:val>
                                        </p:tav>
                                      </p:tavLst>
                                    </p:anim>
                                  </p:childTnLst>
                                </p:cTn>
                              </p:par>
                              <p:par>
                                <p:cTn id="28" presetID="35" presetClass="emph" presetSubtype="0" fill="hold" nodeType="withEffect">
                                  <p:stCondLst>
                                    <p:cond delay="0"/>
                                  </p:stCondLst>
                                  <p:childTnLst>
                                    <p:anim calcmode="discrete" valueType="str">
                                      <p:cBhvr>
                                        <p:cTn id="29" dur="1000" fill="hold"/>
                                        <p:tgtEl>
                                          <p:spTgt spid="35"/>
                                        </p:tgtEl>
                                        <p:attrNameLst>
                                          <p:attrName>style.visibility</p:attrName>
                                        </p:attrNameLst>
                                      </p:cBhvr>
                                      <p:tavLst>
                                        <p:tav tm="0">
                                          <p:val>
                                            <p:strVal val="hidden"/>
                                          </p:val>
                                        </p:tav>
                                        <p:tav tm="50000">
                                          <p:val>
                                            <p:strVal val="visible"/>
                                          </p:val>
                                        </p:tav>
                                      </p:tavLst>
                                    </p:anim>
                                  </p:childTnLst>
                                </p:cTn>
                              </p:par>
                              <p:par>
                                <p:cTn id="30" presetID="35" presetClass="emph" presetSubtype="0" fill="hold" grpId="2" nodeType="withEffect">
                                  <p:stCondLst>
                                    <p:cond delay="0"/>
                                  </p:stCondLst>
                                  <p:childTnLst>
                                    <p:anim calcmode="discrete" valueType="str">
                                      <p:cBhvr>
                                        <p:cTn id="31" dur="1000" fill="hold"/>
                                        <p:tgtEl>
                                          <p:spTgt spid="41"/>
                                        </p:tgtEl>
                                        <p:attrNameLst>
                                          <p:attrName>style.visibility</p:attrName>
                                        </p:attrNameLst>
                                      </p:cBhvr>
                                      <p:tavLst>
                                        <p:tav tm="0">
                                          <p:val>
                                            <p:strVal val="hidden"/>
                                          </p:val>
                                        </p:tav>
                                        <p:tav tm="50000">
                                          <p:val>
                                            <p:strVal val="visible"/>
                                          </p:val>
                                        </p:tav>
                                      </p:tavLst>
                                    </p:anim>
                                  </p:childTnLst>
                                </p:cTn>
                              </p:par>
                              <p:par>
                                <p:cTn id="32" presetID="35" presetClass="emph" presetSubtype="0" fill="hold" nodeType="withEffect">
                                  <p:stCondLst>
                                    <p:cond delay="0"/>
                                  </p:stCondLst>
                                  <p:childTnLst>
                                    <p:anim calcmode="discrete" valueType="str">
                                      <p:cBhvr>
                                        <p:cTn id="33" dur="1000" fill="hold"/>
                                        <p:tgtEl>
                                          <p:spTgt spid="37"/>
                                        </p:tgtEl>
                                        <p:attrNameLst>
                                          <p:attrName>style.visibility</p:attrName>
                                        </p:attrNameLst>
                                      </p:cBhvr>
                                      <p:tavLst>
                                        <p:tav tm="0">
                                          <p:val>
                                            <p:strVal val="hidden"/>
                                          </p:val>
                                        </p:tav>
                                        <p:tav tm="50000">
                                          <p:val>
                                            <p:strVal val="visible"/>
                                          </p:val>
                                        </p:tav>
                                      </p:tavLst>
                                    </p:anim>
                                  </p:childTnLst>
                                </p:cTn>
                              </p:par>
                              <p:par>
                                <p:cTn id="34" presetID="35" presetClass="emph" presetSubtype="0" fill="hold" grpId="2" nodeType="withEffect">
                                  <p:stCondLst>
                                    <p:cond delay="0"/>
                                  </p:stCondLst>
                                  <p:childTnLst>
                                    <p:anim calcmode="discrete" valueType="str">
                                      <p:cBhvr>
                                        <p:cTn id="35" dur="1000" fill="hold"/>
                                        <p:tgtEl>
                                          <p:spTgt spid="43"/>
                                        </p:tgtEl>
                                        <p:attrNameLst>
                                          <p:attrName>style.visibility</p:attrName>
                                        </p:attrNameLst>
                                      </p:cBhvr>
                                      <p:tavLst>
                                        <p:tav tm="0">
                                          <p:val>
                                            <p:strVal val="hidden"/>
                                          </p:val>
                                        </p:tav>
                                        <p:tav tm="50000">
                                          <p:val>
                                            <p:strVal val="visible"/>
                                          </p:val>
                                        </p:tav>
                                      </p:tavLst>
                                    </p:anim>
                                  </p:childTnLst>
                                </p:cTn>
                              </p:par>
                              <p:par>
                                <p:cTn id="36" presetID="35" presetClass="emph" presetSubtype="0" fill="hold" nodeType="withEffect">
                                  <p:stCondLst>
                                    <p:cond delay="0"/>
                                  </p:stCondLst>
                                  <p:childTnLst>
                                    <p:anim calcmode="discrete" valueType="str">
                                      <p:cBhvr>
                                        <p:cTn id="37" dur="1000" fill="hold"/>
                                        <p:tgtEl>
                                          <p:spTgt spid="34"/>
                                        </p:tgtEl>
                                        <p:attrNameLst>
                                          <p:attrName>style.visibility</p:attrName>
                                        </p:attrNameLst>
                                      </p:cBhvr>
                                      <p:tavLst>
                                        <p:tav tm="0">
                                          <p:val>
                                            <p:strVal val="hidden"/>
                                          </p:val>
                                        </p:tav>
                                        <p:tav tm="50000">
                                          <p:val>
                                            <p:strVal val="visible"/>
                                          </p:val>
                                        </p:tav>
                                      </p:tavLst>
                                    </p:anim>
                                  </p:childTnLst>
                                </p:cTn>
                              </p:par>
                              <p:par>
                                <p:cTn id="38" presetID="35" presetClass="emph" presetSubtype="0" fill="hold" grpId="2" nodeType="withEffect">
                                  <p:stCondLst>
                                    <p:cond delay="0"/>
                                  </p:stCondLst>
                                  <p:childTnLst>
                                    <p:anim calcmode="discrete" valueType="str">
                                      <p:cBhvr>
                                        <p:cTn id="39" dur="1000" fill="hold"/>
                                        <p:tgtEl>
                                          <p:spTgt spid="44"/>
                                        </p:tgtEl>
                                        <p:attrNameLst>
                                          <p:attrName>style.visibility</p:attrName>
                                        </p:attrNameLst>
                                      </p:cBhvr>
                                      <p:tavLst>
                                        <p:tav tm="0">
                                          <p:val>
                                            <p:strVal val="hidden"/>
                                          </p:val>
                                        </p:tav>
                                        <p:tav tm="50000">
                                          <p:val>
                                            <p:strVal val="visible"/>
                                          </p:val>
                                        </p:tav>
                                      </p:tavLst>
                                    </p:anim>
                                  </p:childTnLst>
                                </p:cTn>
                              </p:par>
                              <p:par>
                                <p:cTn id="40" presetID="35" presetClass="emph" presetSubtype="0" fill="hold" nodeType="withEffect">
                                  <p:stCondLst>
                                    <p:cond delay="0"/>
                                  </p:stCondLst>
                                  <p:childTnLst>
                                    <p:anim calcmode="discrete" valueType="str">
                                      <p:cBhvr>
                                        <p:cTn id="41" dur="1000" fill="hold"/>
                                        <p:tgtEl>
                                          <p:spTgt spid="31"/>
                                        </p:tgtEl>
                                        <p:attrNameLst>
                                          <p:attrName>style.visibility</p:attrName>
                                        </p:attrNameLst>
                                      </p:cBhvr>
                                      <p:tavLst>
                                        <p:tav tm="0">
                                          <p:val>
                                            <p:strVal val="hidden"/>
                                          </p:val>
                                        </p:tav>
                                        <p:tav tm="50000">
                                          <p:val>
                                            <p:strVal val="visible"/>
                                          </p:val>
                                        </p:tav>
                                      </p:tavLst>
                                    </p:anim>
                                  </p:childTnLst>
                                </p:cTn>
                              </p:par>
                              <p:par>
                                <p:cTn id="42" presetID="35" presetClass="emph" presetSubtype="0" fill="hold" grpId="2" nodeType="withEffect">
                                  <p:stCondLst>
                                    <p:cond delay="0"/>
                                  </p:stCondLst>
                                  <p:childTnLst>
                                    <p:anim calcmode="discrete" valueType="str">
                                      <p:cBhvr>
                                        <p:cTn id="43" dur="1000" fill="hold"/>
                                        <p:tgtEl>
                                          <p:spTgt spid="39"/>
                                        </p:tgtEl>
                                        <p:attrNameLst>
                                          <p:attrName>style.visibility</p:attrName>
                                        </p:attrNameLst>
                                      </p:cBhvr>
                                      <p:tavLst>
                                        <p:tav tm="0">
                                          <p:val>
                                            <p:strVal val="hidden"/>
                                          </p:val>
                                        </p:tav>
                                        <p:tav tm="50000">
                                          <p:val>
                                            <p:strVal val="visible"/>
                                          </p:val>
                                        </p:tav>
                                      </p:tavLst>
                                    </p:anim>
                                  </p:childTnLst>
                                </p:cTn>
                              </p:par>
                              <p:par>
                                <p:cTn id="44" presetID="35" presetClass="emph" presetSubtype="0" fill="hold" nodeType="withEffect">
                                  <p:stCondLst>
                                    <p:cond delay="0"/>
                                  </p:stCondLst>
                                  <p:childTnLst>
                                    <p:anim calcmode="discrete" valueType="str">
                                      <p:cBhvr>
                                        <p:cTn id="45" dur="1000" fill="hold"/>
                                        <p:tgtEl>
                                          <p:spTgt spid="29"/>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1" presetClass="exit" presetSubtype="0" fill="hold" grpId="3" nodeType="clickEffect">
                                  <p:stCondLst>
                                    <p:cond delay="0"/>
                                  </p:stCondLst>
                                  <p:childTnLst>
                                    <p:set>
                                      <p:cBhvr>
                                        <p:cTn id="49" dur="1" fill="hold">
                                          <p:stCondLst>
                                            <p:cond delay="0"/>
                                          </p:stCondLst>
                                        </p:cTn>
                                        <p:tgtEl>
                                          <p:spTgt spid="45"/>
                                        </p:tgtEl>
                                        <p:attrNameLst>
                                          <p:attrName>style.visibility</p:attrName>
                                        </p:attrNameLst>
                                      </p:cBhvr>
                                      <p:to>
                                        <p:strVal val="hidden"/>
                                      </p:to>
                                    </p:set>
                                  </p:childTnLst>
                                </p:cTn>
                              </p:par>
                              <p:par>
                                <p:cTn id="50" presetID="1" presetClass="exit" presetSubtype="0" fill="hold" nodeType="withEffect">
                                  <p:stCondLst>
                                    <p:cond delay="0"/>
                                  </p:stCondLst>
                                  <p:childTnLst>
                                    <p:set>
                                      <p:cBhvr>
                                        <p:cTn id="51" dur="1" fill="hold">
                                          <p:stCondLst>
                                            <p:cond delay="0"/>
                                          </p:stCondLst>
                                        </p:cTn>
                                        <p:tgtEl>
                                          <p:spTgt spid="35"/>
                                        </p:tgtEl>
                                        <p:attrNameLst>
                                          <p:attrName>style.visibility</p:attrName>
                                        </p:attrNameLst>
                                      </p:cBhvr>
                                      <p:to>
                                        <p:strVal val="hidden"/>
                                      </p:to>
                                    </p:set>
                                  </p:childTnLst>
                                </p:cTn>
                              </p:par>
                              <p:par>
                                <p:cTn id="52" presetID="1" presetClass="exit" presetSubtype="0" fill="hold" grpId="3" nodeType="withEffect">
                                  <p:stCondLst>
                                    <p:cond delay="0"/>
                                  </p:stCondLst>
                                  <p:childTnLst>
                                    <p:set>
                                      <p:cBhvr>
                                        <p:cTn id="53" dur="1" fill="hold">
                                          <p:stCondLst>
                                            <p:cond delay="0"/>
                                          </p:stCondLst>
                                        </p:cTn>
                                        <p:tgtEl>
                                          <p:spTgt spid="41"/>
                                        </p:tgtEl>
                                        <p:attrNameLst>
                                          <p:attrName>style.visibility</p:attrName>
                                        </p:attrNameLst>
                                      </p:cBhvr>
                                      <p:to>
                                        <p:strVal val="hidden"/>
                                      </p:to>
                                    </p:set>
                                  </p:childTnLst>
                                </p:cTn>
                              </p:par>
                              <p:par>
                                <p:cTn id="54" presetID="1" presetClass="exit" presetSubtype="0" fill="hold" nodeType="withEffect">
                                  <p:stCondLst>
                                    <p:cond delay="0"/>
                                  </p:stCondLst>
                                  <p:childTnLst>
                                    <p:set>
                                      <p:cBhvr>
                                        <p:cTn id="55" dur="1" fill="hold">
                                          <p:stCondLst>
                                            <p:cond delay="0"/>
                                          </p:stCondLst>
                                        </p:cTn>
                                        <p:tgtEl>
                                          <p:spTgt spid="37"/>
                                        </p:tgtEl>
                                        <p:attrNameLst>
                                          <p:attrName>style.visibility</p:attrName>
                                        </p:attrNameLst>
                                      </p:cBhvr>
                                      <p:to>
                                        <p:strVal val="hidden"/>
                                      </p:to>
                                    </p:set>
                                  </p:childTnLst>
                                </p:cTn>
                              </p:par>
                              <p:par>
                                <p:cTn id="56" presetID="1" presetClass="exit" presetSubtype="0" fill="hold" grpId="3" nodeType="withEffect">
                                  <p:stCondLst>
                                    <p:cond delay="0"/>
                                  </p:stCondLst>
                                  <p:childTnLst>
                                    <p:set>
                                      <p:cBhvr>
                                        <p:cTn id="57" dur="1" fill="hold">
                                          <p:stCondLst>
                                            <p:cond delay="0"/>
                                          </p:stCondLst>
                                        </p:cTn>
                                        <p:tgtEl>
                                          <p:spTgt spid="43"/>
                                        </p:tgtEl>
                                        <p:attrNameLst>
                                          <p:attrName>style.visibility</p:attrName>
                                        </p:attrNameLst>
                                      </p:cBhvr>
                                      <p:to>
                                        <p:strVal val="hidden"/>
                                      </p:to>
                                    </p:set>
                                  </p:childTnLst>
                                </p:cTn>
                              </p:par>
                              <p:par>
                                <p:cTn id="58" presetID="1" presetClass="exit" presetSubtype="0" fill="hold" nodeType="withEffect">
                                  <p:stCondLst>
                                    <p:cond delay="0"/>
                                  </p:stCondLst>
                                  <p:childTnLst>
                                    <p:set>
                                      <p:cBhvr>
                                        <p:cTn id="59" dur="1" fill="hold">
                                          <p:stCondLst>
                                            <p:cond delay="0"/>
                                          </p:stCondLst>
                                        </p:cTn>
                                        <p:tgtEl>
                                          <p:spTgt spid="34"/>
                                        </p:tgtEl>
                                        <p:attrNameLst>
                                          <p:attrName>style.visibility</p:attrName>
                                        </p:attrNameLst>
                                      </p:cBhvr>
                                      <p:to>
                                        <p:strVal val="hidden"/>
                                      </p:to>
                                    </p:set>
                                  </p:childTnLst>
                                </p:cTn>
                              </p:par>
                              <p:par>
                                <p:cTn id="60" presetID="1" presetClass="exit" presetSubtype="0" fill="hold" grpId="3" nodeType="withEffect">
                                  <p:stCondLst>
                                    <p:cond delay="0"/>
                                  </p:stCondLst>
                                  <p:childTnLst>
                                    <p:set>
                                      <p:cBhvr>
                                        <p:cTn id="61" dur="1" fill="hold">
                                          <p:stCondLst>
                                            <p:cond delay="0"/>
                                          </p:stCondLst>
                                        </p:cTn>
                                        <p:tgtEl>
                                          <p:spTgt spid="44"/>
                                        </p:tgtEl>
                                        <p:attrNameLst>
                                          <p:attrName>style.visibility</p:attrName>
                                        </p:attrNameLst>
                                      </p:cBhvr>
                                      <p:to>
                                        <p:strVal val="hidden"/>
                                      </p:to>
                                    </p:set>
                                  </p:childTnLst>
                                </p:cTn>
                              </p:par>
                              <p:par>
                                <p:cTn id="62" presetID="1" presetClass="exit" presetSubtype="0" fill="hold" nodeType="withEffect">
                                  <p:stCondLst>
                                    <p:cond delay="0"/>
                                  </p:stCondLst>
                                  <p:childTnLst>
                                    <p:set>
                                      <p:cBhvr>
                                        <p:cTn id="63" dur="1" fill="hold">
                                          <p:stCondLst>
                                            <p:cond delay="0"/>
                                          </p:stCondLst>
                                        </p:cTn>
                                        <p:tgtEl>
                                          <p:spTgt spid="31"/>
                                        </p:tgtEl>
                                        <p:attrNameLst>
                                          <p:attrName>style.visibility</p:attrName>
                                        </p:attrNameLst>
                                      </p:cBhvr>
                                      <p:to>
                                        <p:strVal val="hidden"/>
                                      </p:to>
                                    </p:set>
                                  </p:childTnLst>
                                </p:cTn>
                              </p:par>
                              <p:par>
                                <p:cTn id="64" presetID="1" presetClass="exit" presetSubtype="0" fill="hold" grpId="3" nodeType="withEffect">
                                  <p:stCondLst>
                                    <p:cond delay="0"/>
                                  </p:stCondLst>
                                  <p:childTnLst>
                                    <p:set>
                                      <p:cBhvr>
                                        <p:cTn id="65" dur="1" fill="hold">
                                          <p:stCondLst>
                                            <p:cond delay="0"/>
                                          </p:stCondLst>
                                        </p:cTn>
                                        <p:tgtEl>
                                          <p:spTgt spid="39"/>
                                        </p:tgtEl>
                                        <p:attrNameLst>
                                          <p:attrName>style.visibility</p:attrName>
                                        </p:attrNameLst>
                                      </p:cBhvr>
                                      <p:to>
                                        <p:strVal val="hidden"/>
                                      </p:to>
                                    </p:set>
                                  </p:childTnLst>
                                </p:cTn>
                              </p:par>
                              <p:par>
                                <p:cTn id="66" presetID="1" presetClass="exit" presetSubtype="0" fill="hold" nodeType="withEffect">
                                  <p:stCondLst>
                                    <p:cond delay="0"/>
                                  </p:stCondLst>
                                  <p:childTnLst>
                                    <p:set>
                                      <p:cBhvr>
                                        <p:cTn id="67" dur="1" fill="hold">
                                          <p:stCondLst>
                                            <p:cond delay="0"/>
                                          </p:stCondLst>
                                        </p:cTn>
                                        <p:tgtEl>
                                          <p:spTgt spid="29"/>
                                        </p:tgtEl>
                                        <p:attrNameLst>
                                          <p:attrName>style.visibility</p:attrName>
                                        </p:attrNameLst>
                                      </p:cBhvr>
                                      <p:to>
                                        <p:strVal val="hidden"/>
                                      </p:to>
                                    </p:set>
                                  </p:childTnLst>
                                </p:cTn>
                              </p:par>
                            </p:childTnLst>
                          </p:cTn>
                        </p:par>
                      </p:childTnLst>
                    </p:cTn>
                  </p:par>
                  <p:par>
                    <p:cTn id="68" fill="hold">
                      <p:stCondLst>
                        <p:cond delay="indefinite"/>
                      </p:stCondLst>
                      <p:childTnLst>
                        <p:par>
                          <p:cTn id="69" fill="hold">
                            <p:stCondLst>
                              <p:cond delay="0"/>
                            </p:stCondLst>
                            <p:childTnLst>
                              <p:par>
                                <p:cTn id="70" presetID="1" presetClass="entr" presetSubtype="0" fill="hold" nodeType="clickEffect">
                                  <p:stCondLst>
                                    <p:cond delay="0"/>
                                  </p:stCondLst>
                                  <p:childTnLst>
                                    <p:set>
                                      <p:cBhvr>
                                        <p:cTn id="71" dur="1" fill="hold">
                                          <p:stCondLst>
                                            <p:cond delay="0"/>
                                          </p:stCondLst>
                                        </p:cTn>
                                        <p:tgtEl>
                                          <p:spTgt spid="38"/>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0" presetClass="path" presetSubtype="0" accel="50000" decel="50000" fill="hold" nodeType="clickEffect">
                                  <p:stCondLst>
                                    <p:cond delay="0"/>
                                  </p:stCondLst>
                                  <p:childTnLst>
                                    <p:animMotion origin="layout" path="M 0 0 C 0.0146528 -0.0249074 0.016875 -0.135278 0.108333 -0.0944444 C 0.199792 -0.0536111 0.387917 0.145278 0.457292 0.204167 C 0.526667 0.263056 0.462569 0.206759 0.455208 0.2 " pathEditMode="relative" ptsTypes="">
                                      <p:cBhvr>
                                        <p:cTn id="77" dur="2000" fill="hold"/>
                                        <p:tgtEl>
                                          <p:spTgt spid="51"/>
                                        </p:tgtEl>
                                        <p:attrNameLst>
                                          <p:attrName>ppt_x</p:attrName>
                                          <p:attrName>ppt_y</p:attrName>
                                        </p:attrNameLst>
                                      </p:cBhvr>
                                    </p:animMotion>
                                  </p:childTnLst>
                                </p:cTn>
                              </p:par>
                            </p:childTnLst>
                          </p:cTn>
                        </p:par>
                      </p:childTnLst>
                    </p:cTn>
                  </p:par>
                  <p:par>
                    <p:cTn id="78" fill="hold">
                      <p:stCondLst>
                        <p:cond delay="indefinite"/>
                      </p:stCondLst>
                      <p:childTnLst>
                        <p:par>
                          <p:cTn id="79" fill="hold">
                            <p:stCondLst>
                              <p:cond delay="0"/>
                            </p:stCondLst>
                            <p:childTnLst>
                              <p:par>
                                <p:cTn id="80" presetID="0" presetClass="path" presetSubtype="0" accel="50000" decel="50000" fill="hold" nodeType="clickEffect">
                                  <p:stCondLst>
                                    <p:cond delay="0"/>
                                  </p:stCondLst>
                                  <p:childTnLst>
                                    <p:animMotion origin="layout" path="M 0 0 L 0 -0.0840741 " pathEditMode="relative" ptsTypes="">
                                      <p:cBhvr>
                                        <p:cTn id="81" dur="2000" fill="hold"/>
                                        <p:tgtEl>
                                          <p:spTgt spid="52"/>
                                        </p:tgtEl>
                                        <p:attrNameLst>
                                          <p:attrName>ppt_x</p:attrName>
                                          <p:attrName>ppt_y</p:attrName>
                                        </p:attrNameLst>
                                      </p:cBhvr>
                                    </p:animMotion>
                                  </p:childTnLst>
                                </p:cTn>
                              </p:par>
                              <p:par>
                                <p:cTn id="82" presetID="0" presetClass="path" presetSubtype="0" accel="50000" decel="50000" fill="hold" nodeType="withEffect">
                                  <p:stCondLst>
                                    <p:cond delay="0"/>
                                  </p:stCondLst>
                                  <p:childTnLst>
                                    <p:animMotion origin="layout" path="M 0 0 L 0 -0.0840741 " pathEditMode="relative" ptsTypes="">
                                      <p:cBhvr>
                                        <p:cTn id="83" dur="2000" fill="hold"/>
                                        <p:tgtEl>
                                          <p:spTgt spid="53"/>
                                        </p:tgtEl>
                                        <p:attrNameLst>
                                          <p:attrName>ppt_x</p:attrName>
                                          <p:attrName>ppt_y</p:attrName>
                                        </p:attrNameLst>
                                      </p:cBhvr>
                                    </p:animMotion>
                                  </p:childTnLst>
                                </p:cTn>
                              </p:par>
                              <p:par>
                                <p:cTn id="84" presetID="0" presetClass="path" presetSubtype="0" accel="50000" decel="50000" fill="hold" nodeType="withEffect">
                                  <p:stCondLst>
                                    <p:cond delay="0"/>
                                  </p:stCondLst>
                                  <p:childTnLst>
                                    <p:animMotion origin="layout" path="M 0 0 L 0 -0.0840741 " pathEditMode="relative" ptsTypes="">
                                      <p:cBhvr>
                                        <p:cTn id="85" dur="2000" fill="hold"/>
                                        <p:tgtEl>
                                          <p:spTgt spid="54"/>
                                        </p:tgtEl>
                                        <p:attrNameLst>
                                          <p:attrName>ppt_x</p:attrName>
                                          <p:attrName>ppt_y</p:attrName>
                                        </p:attrNameLst>
                                      </p:cBhvr>
                                    </p:animMotion>
                                  </p:childTnLst>
                                </p:cTn>
                              </p:par>
                              <p:par>
                                <p:cTn id="86" presetID="0" presetClass="path" presetSubtype="0" accel="50000" decel="50000" fill="hold" nodeType="withEffect">
                                  <p:stCondLst>
                                    <p:cond delay="0"/>
                                  </p:stCondLst>
                                  <p:childTnLst>
                                    <p:animMotion origin="layout" path="M 0 0 L 0 -0.0840741 " pathEditMode="relative" ptsTypes="">
                                      <p:cBhvr>
                                        <p:cTn id="87" dur="2000" fill="hold"/>
                                        <p:tgtEl>
                                          <p:spTgt spid="5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p:bldP spid="39" grpId="1"/>
      <p:bldP spid="39" grpId="2"/>
      <p:bldP spid="39" grpId="3"/>
      <p:bldP spid="40" grpId="1"/>
      <p:bldP spid="41" grpId="0"/>
      <p:bldP spid="41" grpId="1"/>
      <p:bldP spid="41" grpId="2"/>
      <p:bldP spid="41" grpId="3"/>
      <p:bldP spid="42" grpId="1"/>
      <p:bldP spid="43" grpId="0"/>
      <p:bldP spid="43" grpId="1"/>
      <p:bldP spid="43" grpId="2"/>
      <p:bldP spid="43" grpId="3"/>
      <p:bldP spid="44" grpId="0"/>
      <p:bldP spid="44" grpId="1"/>
      <p:bldP spid="44" grpId="2"/>
      <p:bldP spid="44" grpId="3"/>
      <p:bldP spid="45" grpId="0"/>
      <p:bldP spid="45" grpId="1"/>
      <p:bldP spid="45" grpId="2"/>
      <p:bldP spid="45" grpId="3"/>
      <p:bldP spid="46" grpId="1"/>
      <p:bldP spid="27" grpId="1"/>
      <p:bldP spid="3" grpId="1" animBg="1"/>
      <p:bldP spid="5" grpId="1" animBg="1"/>
      <p:bldP spid="30" grpId="1"/>
      <p:bldP spid="47" grpId="0"/>
      <p:bldP spid="47" grpId="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920115"/>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算法原则是：将所有的边按照长度排序，选择最小长度的边做最小生成树的边，直至将所有节点连接在一起。</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1327785" y="479679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2552065" y="479679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983865" y="407162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p:nvPr/>
        </p:nvCxnSpPr>
        <p:spPr>
          <a:xfrm>
            <a:off x="2800985" y="3673475"/>
            <a:ext cx="261620" cy="47688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4" name="直接连接符 33"/>
          <p:cNvCxnSpPr/>
          <p:nvPr/>
        </p:nvCxnSpPr>
        <p:spPr>
          <a:xfrm>
            <a:off x="805815" y="4544695"/>
            <a:ext cx="521970" cy="52197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p:nvPr/>
        </p:nvCxnSpPr>
        <p:spPr>
          <a:xfrm flipV="1">
            <a:off x="2310765" y="4341495"/>
            <a:ext cx="673100" cy="508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6" name="直接连接符 35"/>
          <p:cNvCxnSpPr/>
          <p:nvPr/>
        </p:nvCxnSpPr>
        <p:spPr>
          <a:xfrm>
            <a:off x="1863090" y="5066665"/>
            <a:ext cx="688975" cy="0"/>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7" name="直接连接符 36"/>
          <p:cNvCxnSpPr/>
          <p:nvPr/>
        </p:nvCxnSpPr>
        <p:spPr>
          <a:xfrm flipH="1">
            <a:off x="3087370" y="4611370"/>
            <a:ext cx="166370" cy="45529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40" name="文本框 39"/>
          <p:cNvSpPr txBox="1"/>
          <p:nvPr/>
        </p:nvSpPr>
        <p:spPr>
          <a:xfrm>
            <a:off x="2902585" y="3596005"/>
            <a:ext cx="445770" cy="346075"/>
          </a:xfrm>
          <a:prstGeom prst="rect">
            <a:avLst/>
          </a:prstGeom>
          <a:noFill/>
        </p:spPr>
        <p:txBody>
          <a:bodyPr wrap="square" rtlCol="0">
            <a:noAutofit/>
          </a:bodyPr>
          <a:lstStyle/>
          <a:p>
            <a:r>
              <a:rPr lang="en-US" altLang="zh-CN">
                <a:latin typeface="+mj-lt"/>
                <a:cs typeface="+mj-lt"/>
              </a:rPr>
              <a:t>13</a:t>
            </a:r>
            <a:endParaRPr lang="en-US" altLang="zh-CN">
              <a:latin typeface="+mj-lt"/>
              <a:cs typeface="+mj-lt"/>
            </a:endParaRPr>
          </a:p>
        </p:txBody>
      </p:sp>
      <p:sp>
        <p:nvSpPr>
          <p:cNvPr id="41" name="文本框 40"/>
          <p:cNvSpPr txBox="1"/>
          <p:nvPr/>
        </p:nvSpPr>
        <p:spPr>
          <a:xfrm>
            <a:off x="3211830" y="4706620"/>
            <a:ext cx="445770" cy="346075"/>
          </a:xfrm>
          <a:prstGeom prst="rect">
            <a:avLst/>
          </a:prstGeom>
          <a:noFill/>
        </p:spPr>
        <p:txBody>
          <a:bodyPr wrap="square" rtlCol="0">
            <a:noAutofit/>
          </a:bodyPr>
          <a:lstStyle/>
          <a:p>
            <a:r>
              <a:rPr lang="en-US" altLang="zh-CN">
                <a:latin typeface="+mj-lt"/>
                <a:cs typeface="+mj-lt"/>
              </a:rPr>
              <a:t>18</a:t>
            </a:r>
            <a:endParaRPr lang="en-US" altLang="zh-CN">
              <a:latin typeface="+mj-lt"/>
              <a:cs typeface="+mj-lt"/>
            </a:endParaRPr>
          </a:p>
        </p:txBody>
      </p:sp>
      <p:sp>
        <p:nvSpPr>
          <p:cNvPr id="42" name="文本框 41"/>
          <p:cNvSpPr txBox="1"/>
          <p:nvPr/>
        </p:nvSpPr>
        <p:spPr>
          <a:xfrm>
            <a:off x="2023110" y="4714875"/>
            <a:ext cx="445770" cy="346075"/>
          </a:xfrm>
          <a:prstGeom prst="rect">
            <a:avLst/>
          </a:prstGeom>
          <a:noFill/>
        </p:spPr>
        <p:txBody>
          <a:bodyPr wrap="square" rtlCol="0">
            <a:noAutofit/>
          </a:bodyPr>
          <a:lstStyle/>
          <a:p>
            <a:r>
              <a:rPr lang="en-US" altLang="zh-CN">
                <a:solidFill>
                  <a:srgbClr val="FF0000"/>
                </a:solidFill>
                <a:latin typeface="+mj-lt"/>
                <a:cs typeface="+mj-lt"/>
              </a:rPr>
              <a:t>7</a:t>
            </a:r>
            <a:endParaRPr lang="en-US" altLang="zh-CN">
              <a:solidFill>
                <a:srgbClr val="FF0000"/>
              </a:solidFill>
              <a:latin typeface="+mj-lt"/>
              <a:cs typeface="+mj-lt"/>
            </a:endParaRPr>
          </a:p>
        </p:txBody>
      </p:sp>
      <p:sp>
        <p:nvSpPr>
          <p:cNvPr id="43" name="文本框 42"/>
          <p:cNvSpPr txBox="1"/>
          <p:nvPr/>
        </p:nvSpPr>
        <p:spPr>
          <a:xfrm>
            <a:off x="683895" y="4714875"/>
            <a:ext cx="445770" cy="346075"/>
          </a:xfrm>
          <a:prstGeom prst="rect">
            <a:avLst/>
          </a:prstGeom>
          <a:noFill/>
        </p:spPr>
        <p:txBody>
          <a:bodyPr wrap="square" rtlCol="0">
            <a:noAutofit/>
          </a:bodyPr>
          <a:lstStyle/>
          <a:p>
            <a:r>
              <a:rPr lang="en-US" altLang="zh-CN">
                <a:latin typeface="+mj-lt"/>
                <a:cs typeface="+mj-lt"/>
              </a:rPr>
              <a:t>26</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sp>
        <p:nvSpPr>
          <p:cNvPr id="45" name="文本框 44"/>
          <p:cNvSpPr txBox="1"/>
          <p:nvPr/>
        </p:nvSpPr>
        <p:spPr>
          <a:xfrm>
            <a:off x="2484120" y="394208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46" name="文本框 45"/>
          <p:cNvSpPr txBox="1"/>
          <p:nvPr/>
        </p:nvSpPr>
        <p:spPr>
          <a:xfrm>
            <a:off x="1228090" y="3905250"/>
            <a:ext cx="445770" cy="346075"/>
          </a:xfrm>
          <a:prstGeom prst="rect">
            <a:avLst/>
          </a:prstGeom>
          <a:noFill/>
          <a:ln>
            <a:noFill/>
          </a:ln>
        </p:spPr>
        <p:txBody>
          <a:bodyPr wrap="square" rtlCol="0">
            <a:noAutofit/>
          </a:bodyPr>
          <a:lstStyle/>
          <a:p>
            <a:r>
              <a:rPr lang="en-US" altLang="zh-CN">
                <a:solidFill>
                  <a:srgbClr val="FF0000"/>
                </a:solidFill>
                <a:latin typeface="+mj-lt"/>
                <a:cs typeface="+mj-lt"/>
              </a:rPr>
              <a:t>9</a:t>
            </a:r>
            <a:endParaRPr lang="en-US" altLang="zh-CN">
              <a:solidFill>
                <a:srgbClr val="FF0000"/>
              </a:solidFill>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657475"/>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657475"/>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2" name="组合 51"/>
          <p:cNvGrpSpPr/>
          <p:nvPr/>
        </p:nvGrpSpPr>
        <p:grpSpPr>
          <a:xfrm>
            <a:off x="6174740" y="2681605"/>
            <a:ext cx="1798955" cy="429895"/>
            <a:chOff x="9694" y="6833"/>
            <a:chExt cx="2833" cy="677"/>
          </a:xfrm>
        </p:grpSpPr>
        <p:grpSp>
          <p:nvGrpSpPr>
            <p:cNvPr id="126" name="组合 125"/>
            <p:cNvGrpSpPr/>
            <p:nvPr/>
          </p:nvGrpSpPr>
          <p:grpSpPr>
            <a:xfrm>
              <a:off x="9694" y="6908"/>
              <a:ext cx="1405" cy="602"/>
              <a:chOff x="9776" y="4285"/>
              <a:chExt cx="1405" cy="602"/>
            </a:xfrm>
          </p:grpSpPr>
          <p:grpSp>
            <p:nvGrpSpPr>
              <p:cNvPr id="127" name="组合 126"/>
              <p:cNvGrpSpPr/>
              <p:nvPr/>
            </p:nvGrpSpPr>
            <p:grpSpPr>
              <a:xfrm>
                <a:off x="9776" y="4285"/>
                <a:ext cx="644" cy="602"/>
                <a:chOff x="1006488" y="2036167"/>
                <a:chExt cx="531192" cy="504056"/>
              </a:xfrm>
            </p:grpSpPr>
            <p:sp>
              <p:nvSpPr>
                <p:cNvPr id="12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9" name="文本框 128"/>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0" name="组合 129"/>
              <p:cNvGrpSpPr/>
              <p:nvPr/>
            </p:nvGrpSpPr>
            <p:grpSpPr>
              <a:xfrm>
                <a:off x="10537" y="4285"/>
                <a:ext cx="644" cy="602"/>
                <a:chOff x="1006488" y="2036167"/>
                <a:chExt cx="531192" cy="504056"/>
              </a:xfrm>
            </p:grpSpPr>
            <p:sp>
              <p:nvSpPr>
                <p:cNvPr id="13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2" name="文本框 13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33" name="直接连接符 132"/>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2" name="文本框 161"/>
            <p:cNvSpPr txBox="1"/>
            <p:nvPr/>
          </p:nvSpPr>
          <p:spPr>
            <a:xfrm>
              <a:off x="11395" y="6833"/>
              <a:ext cx="1132" cy="634"/>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18</a:t>
              </a:r>
              <a:endParaRPr lang="en-US" altLang="zh-CN">
                <a:latin typeface="Times New Roman" panose="02020603050405020304" pitchFamily="18" charset="0"/>
                <a:cs typeface="Times New Roman" panose="02020603050405020304" pitchFamily="18" charset="0"/>
                <a:sym typeface="+mn-ea"/>
              </a:endParaRPr>
            </a:p>
          </p:txBody>
        </p:sp>
      </p:grpSp>
      <p:grpSp>
        <p:nvGrpSpPr>
          <p:cNvPr id="53" name="组合 52"/>
          <p:cNvGrpSpPr/>
          <p:nvPr/>
        </p:nvGrpSpPr>
        <p:grpSpPr>
          <a:xfrm>
            <a:off x="6174740" y="3147695"/>
            <a:ext cx="1513205" cy="467995"/>
            <a:chOff x="9694" y="7567"/>
            <a:chExt cx="2383" cy="737"/>
          </a:xfrm>
        </p:grpSpPr>
        <p:grpSp>
          <p:nvGrpSpPr>
            <p:cNvPr id="134" name="组合 133"/>
            <p:cNvGrpSpPr/>
            <p:nvPr/>
          </p:nvGrpSpPr>
          <p:grpSpPr>
            <a:xfrm>
              <a:off x="9694" y="7702"/>
              <a:ext cx="1405" cy="602"/>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3" name="文本框 162"/>
            <p:cNvSpPr txBox="1"/>
            <p:nvPr/>
          </p:nvSpPr>
          <p:spPr>
            <a:xfrm>
              <a:off x="11395" y="7567"/>
              <a:ext cx="683" cy="58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20</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4" name="组合 53"/>
          <p:cNvGrpSpPr/>
          <p:nvPr/>
        </p:nvGrpSpPr>
        <p:grpSpPr>
          <a:xfrm>
            <a:off x="6174740" y="3657600"/>
            <a:ext cx="1613535" cy="406400"/>
            <a:chOff x="9694" y="8370"/>
            <a:chExt cx="2541" cy="640"/>
          </a:xfrm>
        </p:grpSpPr>
        <p:grpSp>
          <p:nvGrpSpPr>
            <p:cNvPr id="142" name="组合 141"/>
            <p:cNvGrpSpPr/>
            <p:nvPr/>
          </p:nvGrpSpPr>
          <p:grpSpPr>
            <a:xfrm>
              <a:off x="9694" y="8408"/>
              <a:ext cx="1405" cy="602"/>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4" name="文本框 163"/>
            <p:cNvSpPr txBox="1"/>
            <p:nvPr/>
          </p:nvSpPr>
          <p:spPr>
            <a:xfrm>
              <a:off x="11395" y="8370"/>
              <a:ext cx="841" cy="62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23</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5" name="组合 54"/>
          <p:cNvGrpSpPr/>
          <p:nvPr/>
        </p:nvGrpSpPr>
        <p:grpSpPr>
          <a:xfrm>
            <a:off x="6174740" y="4097020"/>
            <a:ext cx="1514475" cy="382270"/>
            <a:chOff x="9694" y="9062"/>
            <a:chExt cx="2385" cy="602"/>
          </a:xfrm>
        </p:grpSpPr>
        <p:grpSp>
          <p:nvGrpSpPr>
            <p:cNvPr id="150" name="组合 149"/>
            <p:cNvGrpSpPr/>
            <p:nvPr/>
          </p:nvGrpSpPr>
          <p:grpSpPr>
            <a:xfrm>
              <a:off x="9694" y="9062"/>
              <a:ext cx="1405" cy="602"/>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5" name="文本框 164"/>
            <p:cNvSpPr txBox="1"/>
            <p:nvPr/>
          </p:nvSpPr>
          <p:spPr>
            <a:xfrm>
              <a:off x="11395" y="9070"/>
              <a:ext cx="684" cy="54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26</a:t>
              </a:r>
              <a:endParaRPr lang="en-US" altLang="zh-CN">
                <a:latin typeface="Times New Roman" panose="02020603050405020304" pitchFamily="18" charset="0"/>
                <a:cs typeface="Times New Roman" panose="02020603050405020304" pitchFamily="18" charset="0"/>
                <a:sym typeface="+mn-ea"/>
              </a:endParaRPr>
            </a:p>
          </p:txBody>
        </p:sp>
      </p:grpSp>
      <p:cxnSp>
        <p:nvCxnSpPr>
          <p:cNvPr id="28" name="直接连接符 27"/>
          <p:cNvCxnSpPr/>
          <p:nvPr/>
        </p:nvCxnSpPr>
        <p:spPr>
          <a:xfrm>
            <a:off x="2799715" y="3670935"/>
            <a:ext cx="261620" cy="4768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30" name="文本框 29"/>
          <p:cNvSpPr txBox="1"/>
          <p:nvPr/>
        </p:nvSpPr>
        <p:spPr>
          <a:xfrm>
            <a:off x="2901315" y="3593465"/>
            <a:ext cx="445770" cy="346075"/>
          </a:xfrm>
          <a:prstGeom prst="rect">
            <a:avLst/>
          </a:prstGeom>
          <a:noFill/>
          <a:extLst>
            <a:ext uri="{909E8E84-426E-40DD-AFC4-6F175D3DCCD1}">
              <a14:hiddenFill xmlns:a14="http://schemas.microsoft.com/office/drawing/2010/main">
                <a:solidFill>
                  <a:srgbClr val="FF0000"/>
                </a:solidFill>
              </a14:hiddenFill>
            </a:ext>
          </a:extLst>
        </p:spPr>
        <p:txBody>
          <a:bodyPr wrap="square" rtlCol="0">
            <a:noAutofit/>
          </a:bodyPr>
          <a:lstStyle/>
          <a:p>
            <a:r>
              <a:rPr lang="en-US" altLang="zh-CN">
                <a:solidFill>
                  <a:srgbClr val="FF0000"/>
                </a:solidFill>
                <a:latin typeface="+mj-lt"/>
                <a:cs typeface="+mj-lt"/>
              </a:rPr>
              <a:t>13</a:t>
            </a:r>
            <a:endParaRPr lang="en-US" altLang="zh-CN">
              <a:solidFill>
                <a:srgbClr val="FF0000"/>
              </a:solidFill>
              <a:latin typeface="+mj-lt"/>
              <a:cs typeface="+mj-lt"/>
            </a:endParaRPr>
          </a:p>
        </p:txBody>
      </p:sp>
      <p:cxnSp>
        <p:nvCxnSpPr>
          <p:cNvPr id="38" name="直接连接符 37"/>
          <p:cNvCxnSpPr/>
          <p:nvPr/>
        </p:nvCxnSpPr>
        <p:spPr>
          <a:xfrm flipH="1">
            <a:off x="996950" y="3673475"/>
            <a:ext cx="265430" cy="4102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7" name="文本框 46"/>
          <p:cNvSpPr txBox="1"/>
          <p:nvPr/>
        </p:nvSpPr>
        <p:spPr>
          <a:xfrm>
            <a:off x="683895" y="3539490"/>
            <a:ext cx="445770" cy="346075"/>
          </a:xfrm>
          <a:prstGeom prst="rect">
            <a:avLst/>
          </a:prstGeom>
          <a:noFill/>
          <a:ln>
            <a:noFill/>
          </a:ln>
        </p:spPr>
        <p:txBody>
          <a:bodyPr wrap="square" rtlCol="0">
            <a:noAutofit/>
          </a:bodyPr>
          <a:lstStyle/>
          <a:p>
            <a:r>
              <a:rPr lang="en-US" altLang="zh-CN">
                <a:solidFill>
                  <a:srgbClr val="FF0000"/>
                </a:solidFill>
                <a:latin typeface="+mj-lt"/>
                <a:cs typeface="+mj-lt"/>
              </a:rPr>
              <a:t>15</a:t>
            </a:r>
            <a:endParaRPr lang="en-US" altLang="zh-CN">
              <a:solidFill>
                <a:srgbClr val="FF0000"/>
              </a:solidFill>
              <a:latin typeface="+mj-lt"/>
              <a:cs typeface="+mj-lt"/>
            </a:endParaRPr>
          </a:p>
        </p:txBody>
      </p:sp>
      <p:cxnSp>
        <p:nvCxnSpPr>
          <p:cNvPr id="48" name="直接连接符 47"/>
          <p:cNvCxnSpPr/>
          <p:nvPr/>
        </p:nvCxnSpPr>
        <p:spPr>
          <a:xfrm flipH="1">
            <a:off x="3087370" y="4611370"/>
            <a:ext cx="166370" cy="45529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9" name="文本框 48"/>
          <p:cNvSpPr txBox="1"/>
          <p:nvPr/>
        </p:nvSpPr>
        <p:spPr>
          <a:xfrm>
            <a:off x="3211830" y="4706620"/>
            <a:ext cx="445770" cy="346075"/>
          </a:xfrm>
          <a:prstGeom prst="rect">
            <a:avLst/>
          </a:prstGeom>
          <a:noFill/>
        </p:spPr>
        <p:txBody>
          <a:bodyPr wrap="square" rtlCol="0">
            <a:noAutofit/>
          </a:bodyPr>
          <a:lstStyle/>
          <a:p>
            <a:r>
              <a:rPr lang="en-US" altLang="zh-CN">
                <a:solidFill>
                  <a:srgbClr val="FF0000"/>
                </a:solidFill>
                <a:latin typeface="+mj-lt"/>
                <a:cs typeface="+mj-lt"/>
              </a:rPr>
              <a:t>18</a:t>
            </a:r>
            <a:endParaRPr lang="en-US" altLang="zh-CN">
              <a:solidFill>
                <a:srgbClr val="FF0000"/>
              </a:solidFill>
              <a:latin typeface="+mj-lt"/>
              <a:cs typeface="+mj-lt"/>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41"/>
                                        </p:tgtEl>
                                        <p:attrNameLst>
                                          <p:attrName>style.visibility</p:attrName>
                                        </p:attrNameLst>
                                      </p:cBhvr>
                                      <p:tavLst>
                                        <p:tav tm="0">
                                          <p:val>
                                            <p:strVal val="hidden"/>
                                          </p:val>
                                        </p:tav>
                                        <p:tav tm="50000">
                                          <p:val>
                                            <p:strVal val="visible"/>
                                          </p:val>
                                        </p:tav>
                                      </p:tavLst>
                                    </p:anim>
                                  </p:childTnLst>
                                </p:cTn>
                              </p:par>
                              <p:par>
                                <p:cTn id="7" presetID="35" presetClass="emph" presetSubtype="0" fill="hold" nodeType="withEffect">
                                  <p:stCondLst>
                                    <p:cond delay="0"/>
                                  </p:stCondLst>
                                  <p:childTnLst>
                                    <p:anim calcmode="discrete" valueType="str">
                                      <p:cBhvr>
                                        <p:cTn id="8" dur="1000" fill="hold"/>
                                        <p:tgtEl>
                                          <p:spTgt spid="37"/>
                                        </p:tgtEl>
                                        <p:attrNameLst>
                                          <p:attrName>style.visibility</p:attrName>
                                        </p:attrNameLst>
                                      </p:cBhvr>
                                      <p:tavLst>
                                        <p:tav tm="0">
                                          <p:val>
                                            <p:strVal val="hidden"/>
                                          </p:val>
                                        </p:tav>
                                        <p:tav tm="50000">
                                          <p:val>
                                            <p:strVal val="visible"/>
                                          </p:val>
                                        </p:tav>
                                      </p:tavLst>
                                    </p:anim>
                                  </p:childTnLst>
                                </p:cTn>
                              </p:par>
                              <p:par>
                                <p:cTn id="9" presetID="35" presetClass="emph" presetSubtype="0" fill="hold" grpId="0" nodeType="withEffect">
                                  <p:stCondLst>
                                    <p:cond delay="0"/>
                                  </p:st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par>
                                <p:cTn id="11" presetID="35" presetClass="emph" presetSubtype="0" fill="hold" nodeType="withEffect">
                                  <p:stCondLst>
                                    <p:cond delay="0"/>
                                  </p:stCondLst>
                                  <p:childTnLst>
                                    <p:anim calcmode="discrete" valueType="str">
                                      <p:cBhvr>
                                        <p:cTn id="12" dur="1000" fill="hold"/>
                                        <p:tgtEl>
                                          <p:spTgt spid="34"/>
                                        </p:tgtEl>
                                        <p:attrNameLst>
                                          <p:attrName>style.visibility</p:attrName>
                                        </p:attrNameLst>
                                      </p:cBhvr>
                                      <p:tavLst>
                                        <p:tav tm="0">
                                          <p:val>
                                            <p:strVal val="hidden"/>
                                          </p:val>
                                        </p:tav>
                                        <p:tav tm="50000">
                                          <p:val>
                                            <p:strVal val="visible"/>
                                          </p:val>
                                        </p:tav>
                                      </p:tavLst>
                                    </p:anim>
                                  </p:childTnLst>
                                </p:cTn>
                              </p:par>
                              <p:par>
                                <p:cTn id="13" presetID="35" presetClass="emph" presetSubtype="0" fill="hold" nodeType="withEffect">
                                  <p:stCondLst>
                                    <p:cond delay="0"/>
                                  </p:stCondLst>
                                  <p:childTnLst>
                                    <p:anim calcmode="discrete" valueType="str">
                                      <p:cBhvr>
                                        <p:cTn id="14" dur="1000" fill="hold"/>
                                        <p:tgtEl>
                                          <p:spTgt spid="29"/>
                                        </p:tgtEl>
                                        <p:attrNameLst>
                                          <p:attrName>style.visibility</p:attrName>
                                        </p:attrNameLst>
                                      </p:cBhvr>
                                      <p:tavLst>
                                        <p:tav tm="0">
                                          <p:val>
                                            <p:strVal val="hidden"/>
                                          </p:val>
                                        </p:tav>
                                        <p:tav tm="50000">
                                          <p:val>
                                            <p:strVal val="visible"/>
                                          </p:val>
                                        </p:tav>
                                      </p:tavLst>
                                    </p:anim>
                                  </p:childTnLst>
                                </p:cTn>
                              </p:par>
                              <p:par>
                                <p:cTn id="15" presetID="35" presetClass="emph" presetSubtype="0" fill="hold" grpId="0" nodeType="withEffect">
                                  <p:stCondLst>
                                    <p:cond delay="0"/>
                                  </p:stCondLst>
                                  <p:childTnLst>
                                    <p:anim calcmode="discrete" valueType="str">
                                      <p:cBhvr>
                                        <p:cTn id="16" dur="1000" fill="hold"/>
                                        <p:tgtEl>
                                          <p:spTgt spid="39"/>
                                        </p:tgtEl>
                                        <p:attrNameLst>
                                          <p:attrName>style.visibility</p:attrName>
                                        </p:attrNameLst>
                                      </p:cBhvr>
                                      <p:tavLst>
                                        <p:tav tm="0">
                                          <p:val>
                                            <p:strVal val="hidden"/>
                                          </p:val>
                                        </p:tav>
                                        <p:tav tm="50000">
                                          <p:val>
                                            <p:strVal val="visible"/>
                                          </p:val>
                                        </p:tav>
                                      </p:tavLst>
                                    </p:anim>
                                  </p:childTnLst>
                                </p:cTn>
                              </p:par>
                              <p:par>
                                <p:cTn id="17" presetID="35" presetClass="emph" presetSubtype="0" fill="hold" grpId="0" nodeType="withEffect">
                                  <p:stCondLst>
                                    <p:cond delay="0"/>
                                  </p:stCondLst>
                                  <p:childTnLst>
                                    <p:anim calcmode="discrete" valueType="str">
                                      <p:cBhvr>
                                        <p:cTn id="18" dur="1000" fill="hold"/>
                                        <p:tgtEl>
                                          <p:spTgt spid="45"/>
                                        </p:tgtEl>
                                        <p:attrNameLst>
                                          <p:attrName>style.visibility</p:attrName>
                                        </p:attrNameLst>
                                      </p:cBhvr>
                                      <p:tavLst>
                                        <p:tav tm="0">
                                          <p:val>
                                            <p:strVal val="hidden"/>
                                          </p:val>
                                        </p:tav>
                                        <p:tav tm="50000">
                                          <p:val>
                                            <p:strVal val="visible"/>
                                          </p:val>
                                        </p:tav>
                                      </p:tavLst>
                                    </p:anim>
                                  </p:childTnLst>
                                </p:cTn>
                              </p:par>
                              <p:par>
                                <p:cTn id="19" presetID="35" presetClass="emph" presetSubtype="0" fill="hold" nodeType="withEffect">
                                  <p:stCondLst>
                                    <p:cond delay="0"/>
                                  </p:stCondLst>
                                  <p:childTnLst>
                                    <p:anim calcmode="discrete" valueType="str">
                                      <p:cBhvr>
                                        <p:cTn id="20" dur="1000" fill="hold"/>
                                        <p:tgtEl>
                                          <p:spTgt spid="35"/>
                                        </p:tgtEl>
                                        <p:attrNameLst>
                                          <p:attrName>style.visibility</p:attrName>
                                        </p:attrNameLst>
                                      </p:cBhvr>
                                      <p:tavLst>
                                        <p:tav tm="0">
                                          <p:val>
                                            <p:strVal val="hidden"/>
                                          </p:val>
                                        </p:tav>
                                        <p:tav tm="50000">
                                          <p:val>
                                            <p:strVal val="visible"/>
                                          </p:val>
                                        </p:tav>
                                      </p:tavLst>
                                    </p:anim>
                                  </p:childTnLst>
                                </p:cTn>
                              </p:par>
                            </p:childTnLst>
                          </p:cTn>
                        </p:par>
                        <p:par>
                          <p:cTn id="21" fill="hold">
                            <p:stCondLst>
                              <p:cond delay="1000"/>
                            </p:stCondLst>
                            <p:childTnLst>
                              <p:par>
                                <p:cTn id="22" presetID="35" presetClass="emph" presetSubtype="0" fill="hold" grpId="2" nodeType="afterEffect">
                                  <p:stCondLst>
                                    <p:cond delay="0"/>
                                  </p:stCondLst>
                                  <p:childTnLst>
                                    <p:anim calcmode="discrete" valueType="str">
                                      <p:cBhvr>
                                        <p:cTn id="23" dur="1000" fill="hold"/>
                                        <p:tgtEl>
                                          <p:spTgt spid="41"/>
                                        </p:tgtEl>
                                        <p:attrNameLst>
                                          <p:attrName>style.visibility</p:attrName>
                                        </p:attrNameLst>
                                      </p:cBhvr>
                                      <p:tavLst>
                                        <p:tav tm="0">
                                          <p:val>
                                            <p:strVal val="hidden"/>
                                          </p:val>
                                        </p:tav>
                                        <p:tav tm="50000">
                                          <p:val>
                                            <p:strVal val="visible"/>
                                          </p:val>
                                        </p:tav>
                                      </p:tavLst>
                                    </p:anim>
                                  </p:childTnLst>
                                </p:cTn>
                              </p:par>
                              <p:par>
                                <p:cTn id="24" presetID="35" presetClass="emph" presetSubtype="0" fill="hold" nodeType="withEffect">
                                  <p:stCondLst>
                                    <p:cond delay="0"/>
                                  </p:stCondLst>
                                  <p:childTnLst>
                                    <p:anim calcmode="discrete" valueType="str">
                                      <p:cBhvr>
                                        <p:cTn id="25" dur="1000" fill="hold"/>
                                        <p:tgtEl>
                                          <p:spTgt spid="37"/>
                                        </p:tgtEl>
                                        <p:attrNameLst>
                                          <p:attrName>style.visibility</p:attrName>
                                        </p:attrNameLst>
                                      </p:cBhvr>
                                      <p:tavLst>
                                        <p:tav tm="0">
                                          <p:val>
                                            <p:strVal val="hidden"/>
                                          </p:val>
                                        </p:tav>
                                        <p:tav tm="50000">
                                          <p:val>
                                            <p:strVal val="visible"/>
                                          </p:val>
                                        </p:tav>
                                      </p:tavLst>
                                    </p:anim>
                                  </p:childTnLst>
                                </p:cTn>
                              </p:par>
                              <p:par>
                                <p:cTn id="26" presetID="35" presetClass="emph" presetSubtype="0" fill="hold" grpId="2" nodeType="withEffect">
                                  <p:stCondLst>
                                    <p:cond delay="0"/>
                                  </p:stCondLst>
                                  <p:childTnLst>
                                    <p:anim calcmode="discrete" valueType="str">
                                      <p:cBhvr>
                                        <p:cTn id="27" dur="1000" fill="hold"/>
                                        <p:tgtEl>
                                          <p:spTgt spid="43"/>
                                        </p:tgtEl>
                                        <p:attrNameLst>
                                          <p:attrName>style.visibility</p:attrName>
                                        </p:attrNameLst>
                                      </p:cBhvr>
                                      <p:tavLst>
                                        <p:tav tm="0">
                                          <p:val>
                                            <p:strVal val="hidden"/>
                                          </p:val>
                                        </p:tav>
                                        <p:tav tm="50000">
                                          <p:val>
                                            <p:strVal val="visible"/>
                                          </p:val>
                                        </p:tav>
                                      </p:tavLst>
                                    </p:anim>
                                  </p:childTnLst>
                                </p:cTn>
                              </p:par>
                              <p:par>
                                <p:cTn id="28" presetID="35" presetClass="emph" presetSubtype="0" fill="hold" nodeType="withEffect">
                                  <p:stCondLst>
                                    <p:cond delay="0"/>
                                  </p:stCondLst>
                                  <p:childTnLst>
                                    <p:anim calcmode="discrete" valueType="str">
                                      <p:cBhvr>
                                        <p:cTn id="29" dur="1000" fill="hold"/>
                                        <p:tgtEl>
                                          <p:spTgt spid="34"/>
                                        </p:tgtEl>
                                        <p:attrNameLst>
                                          <p:attrName>style.visibility</p:attrName>
                                        </p:attrNameLst>
                                      </p:cBhvr>
                                      <p:tavLst>
                                        <p:tav tm="0">
                                          <p:val>
                                            <p:strVal val="hidden"/>
                                          </p:val>
                                        </p:tav>
                                        <p:tav tm="50000">
                                          <p:val>
                                            <p:strVal val="visible"/>
                                          </p:val>
                                        </p:tav>
                                      </p:tavLst>
                                    </p:anim>
                                  </p:childTnLst>
                                </p:cTn>
                              </p:par>
                              <p:par>
                                <p:cTn id="30" presetID="35" presetClass="emph" presetSubtype="0" fill="hold" nodeType="withEffect">
                                  <p:stCondLst>
                                    <p:cond delay="0"/>
                                  </p:stCondLst>
                                  <p:childTnLst>
                                    <p:anim calcmode="discrete" valueType="str">
                                      <p:cBhvr>
                                        <p:cTn id="31" dur="1000" fill="hold"/>
                                        <p:tgtEl>
                                          <p:spTgt spid="29"/>
                                        </p:tgtEl>
                                        <p:attrNameLst>
                                          <p:attrName>style.visibility</p:attrName>
                                        </p:attrNameLst>
                                      </p:cBhvr>
                                      <p:tavLst>
                                        <p:tav tm="0">
                                          <p:val>
                                            <p:strVal val="hidden"/>
                                          </p:val>
                                        </p:tav>
                                        <p:tav tm="50000">
                                          <p:val>
                                            <p:strVal val="visible"/>
                                          </p:val>
                                        </p:tav>
                                      </p:tavLst>
                                    </p:anim>
                                  </p:childTnLst>
                                </p:cTn>
                              </p:par>
                              <p:par>
                                <p:cTn id="32" presetID="35" presetClass="emph" presetSubtype="0" fill="hold" grpId="2" nodeType="withEffect">
                                  <p:stCondLst>
                                    <p:cond delay="0"/>
                                  </p:stCondLst>
                                  <p:childTnLst>
                                    <p:anim calcmode="discrete" valueType="str">
                                      <p:cBhvr>
                                        <p:cTn id="33" dur="1000" fill="hold"/>
                                        <p:tgtEl>
                                          <p:spTgt spid="39"/>
                                        </p:tgtEl>
                                        <p:attrNameLst>
                                          <p:attrName>style.visibility</p:attrName>
                                        </p:attrNameLst>
                                      </p:cBhvr>
                                      <p:tavLst>
                                        <p:tav tm="0">
                                          <p:val>
                                            <p:strVal val="hidden"/>
                                          </p:val>
                                        </p:tav>
                                        <p:tav tm="50000">
                                          <p:val>
                                            <p:strVal val="visible"/>
                                          </p:val>
                                        </p:tav>
                                      </p:tavLst>
                                    </p:anim>
                                  </p:childTnLst>
                                </p:cTn>
                              </p:par>
                              <p:par>
                                <p:cTn id="34" presetID="35" presetClass="emph" presetSubtype="0" fill="hold" grpId="2" nodeType="withEffect">
                                  <p:stCondLst>
                                    <p:cond delay="0"/>
                                  </p:stCondLst>
                                  <p:childTnLst>
                                    <p:anim calcmode="discrete" valueType="str">
                                      <p:cBhvr>
                                        <p:cTn id="35" dur="1000" fill="hold"/>
                                        <p:tgtEl>
                                          <p:spTgt spid="45"/>
                                        </p:tgtEl>
                                        <p:attrNameLst>
                                          <p:attrName>style.visibility</p:attrName>
                                        </p:attrNameLst>
                                      </p:cBhvr>
                                      <p:tavLst>
                                        <p:tav tm="0">
                                          <p:val>
                                            <p:strVal val="hidden"/>
                                          </p:val>
                                        </p:tav>
                                        <p:tav tm="50000">
                                          <p:val>
                                            <p:strVal val="visible"/>
                                          </p:val>
                                        </p:tav>
                                      </p:tavLst>
                                    </p:anim>
                                  </p:childTnLst>
                                </p:cTn>
                              </p:par>
                              <p:par>
                                <p:cTn id="36" presetID="35" presetClass="emph" presetSubtype="0" fill="hold" nodeType="withEffect">
                                  <p:stCondLst>
                                    <p:cond delay="0"/>
                                  </p:stCondLst>
                                  <p:childTnLst>
                                    <p:anim calcmode="discrete" valueType="str">
                                      <p:cBhvr>
                                        <p:cTn id="37"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1" presetClass="exit" presetSubtype="0" fill="hold" grpId="3" nodeType="clickEffect">
                                  <p:stCondLst>
                                    <p:cond delay="0"/>
                                  </p:stCondLst>
                                  <p:childTnLst>
                                    <p:set>
                                      <p:cBhvr>
                                        <p:cTn id="41" dur="1" fill="hold">
                                          <p:stCondLst>
                                            <p:cond delay="0"/>
                                          </p:stCondLst>
                                        </p:cTn>
                                        <p:tgtEl>
                                          <p:spTgt spid="41"/>
                                        </p:tgtEl>
                                        <p:attrNameLst>
                                          <p:attrName>style.visibility</p:attrName>
                                        </p:attrNameLst>
                                      </p:cBhvr>
                                      <p:to>
                                        <p:strVal val="hidden"/>
                                      </p:to>
                                    </p:set>
                                  </p:childTnLst>
                                </p:cTn>
                              </p:par>
                              <p:par>
                                <p:cTn id="42" presetID="1" presetClass="exit" presetSubtype="0" fill="hold" nodeType="withEffect">
                                  <p:stCondLst>
                                    <p:cond delay="0"/>
                                  </p:stCondLst>
                                  <p:childTnLst>
                                    <p:set>
                                      <p:cBhvr>
                                        <p:cTn id="43" dur="1" fill="hold">
                                          <p:stCondLst>
                                            <p:cond delay="0"/>
                                          </p:stCondLst>
                                        </p:cTn>
                                        <p:tgtEl>
                                          <p:spTgt spid="37"/>
                                        </p:tgtEl>
                                        <p:attrNameLst>
                                          <p:attrName>style.visibility</p:attrName>
                                        </p:attrNameLst>
                                      </p:cBhvr>
                                      <p:to>
                                        <p:strVal val="hidden"/>
                                      </p:to>
                                    </p:set>
                                  </p:childTnLst>
                                </p:cTn>
                              </p:par>
                              <p:par>
                                <p:cTn id="44" presetID="1" presetClass="exit" presetSubtype="0" fill="hold" grpId="3" nodeType="withEffect">
                                  <p:stCondLst>
                                    <p:cond delay="0"/>
                                  </p:stCondLst>
                                  <p:childTnLst>
                                    <p:set>
                                      <p:cBhvr>
                                        <p:cTn id="45" dur="1" fill="hold">
                                          <p:stCondLst>
                                            <p:cond delay="0"/>
                                          </p:stCondLst>
                                        </p:cTn>
                                        <p:tgtEl>
                                          <p:spTgt spid="43"/>
                                        </p:tgtEl>
                                        <p:attrNameLst>
                                          <p:attrName>style.visibility</p:attrName>
                                        </p:attrNameLst>
                                      </p:cBhvr>
                                      <p:to>
                                        <p:strVal val="hidden"/>
                                      </p:to>
                                    </p:set>
                                  </p:childTnLst>
                                </p:cTn>
                              </p:par>
                              <p:par>
                                <p:cTn id="46" presetID="1" presetClass="exit" presetSubtype="0" fill="hold" nodeType="withEffect">
                                  <p:stCondLst>
                                    <p:cond delay="0"/>
                                  </p:stCondLst>
                                  <p:childTnLst>
                                    <p:set>
                                      <p:cBhvr>
                                        <p:cTn id="47" dur="1" fill="hold">
                                          <p:stCondLst>
                                            <p:cond delay="0"/>
                                          </p:stCondLst>
                                        </p:cTn>
                                        <p:tgtEl>
                                          <p:spTgt spid="34"/>
                                        </p:tgtEl>
                                        <p:attrNameLst>
                                          <p:attrName>style.visibility</p:attrName>
                                        </p:attrNameLst>
                                      </p:cBhvr>
                                      <p:to>
                                        <p:strVal val="hidden"/>
                                      </p:to>
                                    </p:set>
                                  </p:childTnLst>
                                </p:cTn>
                              </p:par>
                              <p:par>
                                <p:cTn id="48" presetID="1" presetClass="exit" presetSubtype="0" fill="hold" nodeType="withEffect">
                                  <p:stCondLst>
                                    <p:cond delay="0"/>
                                  </p:stCondLst>
                                  <p:childTnLst>
                                    <p:set>
                                      <p:cBhvr>
                                        <p:cTn id="49" dur="1" fill="hold">
                                          <p:stCondLst>
                                            <p:cond delay="0"/>
                                          </p:stCondLst>
                                        </p:cTn>
                                        <p:tgtEl>
                                          <p:spTgt spid="29"/>
                                        </p:tgtEl>
                                        <p:attrNameLst>
                                          <p:attrName>style.visibility</p:attrName>
                                        </p:attrNameLst>
                                      </p:cBhvr>
                                      <p:to>
                                        <p:strVal val="hidden"/>
                                      </p:to>
                                    </p:set>
                                  </p:childTnLst>
                                </p:cTn>
                              </p:par>
                              <p:par>
                                <p:cTn id="50" presetID="1" presetClass="exit" presetSubtype="0" fill="hold" grpId="3" nodeType="withEffect">
                                  <p:stCondLst>
                                    <p:cond delay="0"/>
                                  </p:stCondLst>
                                  <p:childTnLst>
                                    <p:set>
                                      <p:cBhvr>
                                        <p:cTn id="51" dur="1" fill="hold">
                                          <p:stCondLst>
                                            <p:cond delay="0"/>
                                          </p:stCondLst>
                                        </p:cTn>
                                        <p:tgtEl>
                                          <p:spTgt spid="39"/>
                                        </p:tgtEl>
                                        <p:attrNameLst>
                                          <p:attrName>style.visibility</p:attrName>
                                        </p:attrNameLst>
                                      </p:cBhvr>
                                      <p:to>
                                        <p:strVal val="hidden"/>
                                      </p:to>
                                    </p:set>
                                  </p:childTnLst>
                                </p:cTn>
                              </p:par>
                              <p:par>
                                <p:cTn id="52" presetID="1" presetClass="exit" presetSubtype="0" fill="hold" grpId="3" nodeType="withEffect">
                                  <p:stCondLst>
                                    <p:cond delay="0"/>
                                  </p:stCondLst>
                                  <p:childTnLst>
                                    <p:set>
                                      <p:cBhvr>
                                        <p:cTn id="53" dur="1" fill="hold">
                                          <p:stCondLst>
                                            <p:cond delay="0"/>
                                          </p:stCondLst>
                                        </p:cTn>
                                        <p:tgtEl>
                                          <p:spTgt spid="45"/>
                                        </p:tgtEl>
                                        <p:attrNameLst>
                                          <p:attrName>style.visibility</p:attrName>
                                        </p:attrNameLst>
                                      </p:cBhvr>
                                      <p:to>
                                        <p:strVal val="hidden"/>
                                      </p:to>
                                    </p:set>
                                  </p:childTnLst>
                                </p:cTn>
                              </p:par>
                              <p:par>
                                <p:cTn id="54" presetID="1" presetClass="exit" presetSubtype="0" fill="hold" nodeType="withEffect">
                                  <p:stCondLst>
                                    <p:cond delay="0"/>
                                  </p:stCondLst>
                                  <p:childTnLst>
                                    <p:set>
                                      <p:cBhvr>
                                        <p:cTn id="55" dur="1" fill="hold">
                                          <p:stCondLst>
                                            <p:cond delay="0"/>
                                          </p:stCondLst>
                                        </p:cTn>
                                        <p:tgtEl>
                                          <p:spTgt spid="35"/>
                                        </p:tgtEl>
                                        <p:attrNameLst>
                                          <p:attrName>style.visibility</p:attrName>
                                        </p:attrNameLst>
                                      </p:cBhvr>
                                      <p:to>
                                        <p:strVal val="hidden"/>
                                      </p:to>
                                    </p:set>
                                  </p:childTnLst>
                                </p:cTn>
                              </p:par>
                            </p:childTnLst>
                          </p:cTn>
                        </p:par>
                      </p:childTnLst>
                    </p:cTn>
                  </p:par>
                  <p:par>
                    <p:cTn id="56" fill="hold">
                      <p:stCondLst>
                        <p:cond delay="indefinite"/>
                      </p:stCondLst>
                      <p:childTnLst>
                        <p:par>
                          <p:cTn id="57" fill="hold">
                            <p:stCondLst>
                              <p:cond delay="0"/>
                            </p:stCondLst>
                            <p:childTnLst>
                              <p:par>
                                <p:cTn id="58" presetID="0" presetClass="path" presetSubtype="0" accel="50000" decel="50000" fill="hold" nodeType="clickEffect">
                                  <p:stCondLst>
                                    <p:cond delay="0"/>
                                  </p:stCondLst>
                                  <p:childTnLst>
                                    <p:animMotion origin="layout" path="M 0 0 C 0.00861111 -0.0235185 -0.00791667 -0.116667 0.078125 -0.0986111 C 0.164167 -0.0805556 0.356667 0.0486111 0.430208 0.0902778 C 0.50375 0.131944 0.449722 0.10963 0.445833 0.109722 " pathEditMode="relative" ptsTypes="">
                                      <p:cBhvr>
                                        <p:cTn id="59" dur="2000" fill="hold"/>
                                        <p:tgtEl>
                                          <p:spTgt spid="52"/>
                                        </p:tgtEl>
                                        <p:attrNameLst>
                                          <p:attrName>ppt_x</p:attrName>
                                          <p:attrName>ppt_y</p:attrName>
                                        </p:attrNameLst>
                                      </p:cBhvr>
                                    </p:animMotion>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click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grpId="0"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childTnLst>
                          </p:cTn>
                        </p:par>
                      </p:childTnLst>
                    </p:cTn>
                  </p:par>
                  <p:par>
                    <p:cTn id="66" fill="hold">
                      <p:stCondLst>
                        <p:cond delay="indefinite"/>
                      </p:stCondLst>
                      <p:childTnLst>
                        <p:par>
                          <p:cTn id="67" fill="hold">
                            <p:stCondLst>
                              <p:cond delay="0"/>
                            </p:stCondLst>
                            <p:childTnLst>
                              <p:par>
                                <p:cTn id="68" presetID="0" presetClass="path" presetSubtype="0" accel="50000" decel="50000" fill="hold" nodeType="clickEffect">
                                  <p:stCondLst>
                                    <p:cond delay="0"/>
                                  </p:stCondLst>
                                  <p:childTnLst>
                                    <p:animMotion origin="layout" path="M 0 0 C 0 -0.0151852 -0.000138889 -0.0609259 0 -0.0755556 C 0.000138889 -0.0901852 0.000694444 -0.0752778 0.000833333 -0.0733333 " pathEditMode="relative" ptsTypes="">
                                      <p:cBhvr>
                                        <p:cTn id="69" dur="2000" fill="hold"/>
                                        <p:tgtEl>
                                          <p:spTgt spid="53"/>
                                        </p:tgtEl>
                                        <p:attrNameLst>
                                          <p:attrName>ppt_x</p:attrName>
                                          <p:attrName>ppt_y</p:attrName>
                                        </p:attrNameLst>
                                      </p:cBhvr>
                                    </p:animMotion>
                                  </p:childTnLst>
                                </p:cTn>
                              </p:par>
                              <p:par>
                                <p:cTn id="70" presetID="0" presetClass="path" presetSubtype="0" accel="50000" decel="50000" fill="hold" nodeType="withEffect">
                                  <p:stCondLst>
                                    <p:cond delay="0"/>
                                  </p:stCondLst>
                                  <p:childTnLst>
                                    <p:animMotion origin="layout" path="M 0 0 C 0 -0.0151852 -0.000138889 -0.0609259 0 -0.0755556 C 0.000138889 -0.0901852 0.000694444 -0.0752778 0.000833333 -0.0733333 " pathEditMode="relative" ptsTypes="">
                                      <p:cBhvr>
                                        <p:cTn id="71" dur="2000" fill="hold"/>
                                        <p:tgtEl>
                                          <p:spTgt spid="54"/>
                                        </p:tgtEl>
                                        <p:attrNameLst>
                                          <p:attrName>ppt_x</p:attrName>
                                          <p:attrName>ppt_y</p:attrName>
                                        </p:attrNameLst>
                                      </p:cBhvr>
                                    </p:animMotion>
                                  </p:childTnLst>
                                </p:cTn>
                              </p:par>
                              <p:par>
                                <p:cTn id="72" presetID="0" presetClass="path" presetSubtype="0" accel="50000" decel="50000" fill="hold" nodeType="withEffect">
                                  <p:stCondLst>
                                    <p:cond delay="0"/>
                                  </p:stCondLst>
                                  <p:childTnLst>
                                    <p:animMotion origin="layout" path="M 0 0 C 0 -0.0151852 -0.000138889 -0.0609259 0 -0.0755556 C 0.000138889 -0.0901852 0.000694444 -0.0752778 0.000833333 -0.0733333 " pathEditMode="relative" ptsTypes="">
                                      <p:cBhvr>
                                        <p:cTn id="73" dur="2000" fill="hold"/>
                                        <p:tgtEl>
                                          <p:spTgt spid="5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p:bldP spid="39" grpId="1"/>
      <p:bldP spid="39" grpId="2"/>
      <p:bldP spid="39" grpId="3"/>
      <p:bldP spid="40" grpId="1"/>
      <p:bldP spid="41" grpId="0"/>
      <p:bldP spid="41" grpId="1"/>
      <p:bldP spid="41" grpId="2"/>
      <p:bldP spid="41" grpId="3"/>
      <p:bldP spid="42" grpId="1"/>
      <p:bldP spid="43" grpId="0"/>
      <p:bldP spid="43" grpId="1"/>
      <p:bldP spid="43" grpId="2"/>
      <p:bldP spid="43" grpId="3"/>
      <p:bldP spid="44" grpId="1"/>
      <p:bldP spid="45" grpId="0"/>
      <p:bldP spid="45" grpId="1"/>
      <p:bldP spid="45" grpId="2"/>
      <p:bldP spid="45" grpId="3"/>
      <p:bldP spid="46" grpId="1"/>
      <p:bldP spid="27" grpId="1"/>
      <p:bldP spid="3" grpId="1" animBg="1"/>
      <p:bldP spid="5" grpId="1" animBg="1"/>
      <p:bldP spid="30" grpId="1"/>
      <p:bldP spid="47" grpId="1"/>
      <p:bldP spid="49" grpId="0"/>
      <p:bldP spid="49" grpId="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920115"/>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算法原则是：将所有的边按照长度排序，选择最小长度的边做最小生成树的边，直至将所有节点连接在一起。</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1327785" y="479679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2552065" y="479679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983865" y="407162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p:nvPr/>
        </p:nvCxnSpPr>
        <p:spPr>
          <a:xfrm>
            <a:off x="2800985" y="3673475"/>
            <a:ext cx="261620" cy="47688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4" name="直接连接符 33"/>
          <p:cNvCxnSpPr/>
          <p:nvPr/>
        </p:nvCxnSpPr>
        <p:spPr>
          <a:xfrm>
            <a:off x="805815" y="4544695"/>
            <a:ext cx="521970" cy="52197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p:nvPr/>
        </p:nvCxnSpPr>
        <p:spPr>
          <a:xfrm flipV="1">
            <a:off x="2310765" y="4341495"/>
            <a:ext cx="673100" cy="508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6" name="直接连接符 35"/>
          <p:cNvCxnSpPr/>
          <p:nvPr/>
        </p:nvCxnSpPr>
        <p:spPr>
          <a:xfrm>
            <a:off x="1863090" y="5066665"/>
            <a:ext cx="688975" cy="0"/>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7" name="直接连接符 36"/>
          <p:cNvCxnSpPr/>
          <p:nvPr/>
        </p:nvCxnSpPr>
        <p:spPr>
          <a:xfrm flipH="1">
            <a:off x="3087370" y="4611370"/>
            <a:ext cx="166370" cy="45529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40" name="文本框 39"/>
          <p:cNvSpPr txBox="1"/>
          <p:nvPr/>
        </p:nvSpPr>
        <p:spPr>
          <a:xfrm>
            <a:off x="2902585" y="3596005"/>
            <a:ext cx="445770" cy="346075"/>
          </a:xfrm>
          <a:prstGeom prst="rect">
            <a:avLst/>
          </a:prstGeom>
          <a:noFill/>
        </p:spPr>
        <p:txBody>
          <a:bodyPr wrap="square" rtlCol="0">
            <a:noAutofit/>
          </a:bodyPr>
          <a:lstStyle/>
          <a:p>
            <a:r>
              <a:rPr lang="en-US" altLang="zh-CN">
                <a:latin typeface="+mj-lt"/>
                <a:cs typeface="+mj-lt"/>
              </a:rPr>
              <a:t>13</a:t>
            </a:r>
            <a:endParaRPr lang="en-US" altLang="zh-CN">
              <a:latin typeface="+mj-lt"/>
              <a:cs typeface="+mj-lt"/>
            </a:endParaRPr>
          </a:p>
        </p:txBody>
      </p:sp>
      <p:sp>
        <p:nvSpPr>
          <p:cNvPr id="41" name="文本框 40"/>
          <p:cNvSpPr txBox="1"/>
          <p:nvPr/>
        </p:nvSpPr>
        <p:spPr>
          <a:xfrm>
            <a:off x="3211830" y="4706620"/>
            <a:ext cx="445770" cy="346075"/>
          </a:xfrm>
          <a:prstGeom prst="rect">
            <a:avLst/>
          </a:prstGeom>
          <a:noFill/>
        </p:spPr>
        <p:txBody>
          <a:bodyPr wrap="square" rtlCol="0">
            <a:noAutofit/>
          </a:bodyPr>
          <a:lstStyle/>
          <a:p>
            <a:r>
              <a:rPr lang="en-US" altLang="zh-CN">
                <a:latin typeface="+mj-lt"/>
                <a:cs typeface="+mj-lt"/>
              </a:rPr>
              <a:t>18</a:t>
            </a:r>
            <a:endParaRPr lang="en-US" altLang="zh-CN">
              <a:latin typeface="+mj-lt"/>
              <a:cs typeface="+mj-lt"/>
            </a:endParaRPr>
          </a:p>
        </p:txBody>
      </p:sp>
      <p:sp>
        <p:nvSpPr>
          <p:cNvPr id="42" name="文本框 41"/>
          <p:cNvSpPr txBox="1"/>
          <p:nvPr/>
        </p:nvSpPr>
        <p:spPr>
          <a:xfrm>
            <a:off x="2023110" y="4714875"/>
            <a:ext cx="445770" cy="346075"/>
          </a:xfrm>
          <a:prstGeom prst="rect">
            <a:avLst/>
          </a:prstGeom>
          <a:noFill/>
        </p:spPr>
        <p:txBody>
          <a:bodyPr wrap="square" rtlCol="0">
            <a:noAutofit/>
          </a:bodyPr>
          <a:lstStyle/>
          <a:p>
            <a:r>
              <a:rPr lang="en-US" altLang="zh-CN">
                <a:solidFill>
                  <a:srgbClr val="FF0000"/>
                </a:solidFill>
                <a:latin typeface="+mj-lt"/>
                <a:cs typeface="+mj-lt"/>
              </a:rPr>
              <a:t>7</a:t>
            </a:r>
            <a:endParaRPr lang="en-US" altLang="zh-CN">
              <a:solidFill>
                <a:srgbClr val="FF0000"/>
              </a:solidFill>
              <a:latin typeface="+mj-lt"/>
              <a:cs typeface="+mj-lt"/>
            </a:endParaRPr>
          </a:p>
        </p:txBody>
      </p:sp>
      <p:sp>
        <p:nvSpPr>
          <p:cNvPr id="43" name="文本框 42"/>
          <p:cNvSpPr txBox="1"/>
          <p:nvPr/>
        </p:nvSpPr>
        <p:spPr>
          <a:xfrm>
            <a:off x="683895" y="4714875"/>
            <a:ext cx="445770" cy="346075"/>
          </a:xfrm>
          <a:prstGeom prst="rect">
            <a:avLst/>
          </a:prstGeom>
          <a:noFill/>
        </p:spPr>
        <p:txBody>
          <a:bodyPr wrap="square" rtlCol="0">
            <a:noAutofit/>
          </a:bodyPr>
          <a:lstStyle/>
          <a:p>
            <a:r>
              <a:rPr lang="en-US" altLang="zh-CN">
                <a:latin typeface="+mj-lt"/>
                <a:cs typeface="+mj-lt"/>
              </a:rPr>
              <a:t>26</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sp>
        <p:nvSpPr>
          <p:cNvPr id="45" name="文本框 44"/>
          <p:cNvSpPr txBox="1"/>
          <p:nvPr/>
        </p:nvSpPr>
        <p:spPr>
          <a:xfrm>
            <a:off x="2484120" y="394208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46" name="文本框 45"/>
          <p:cNvSpPr txBox="1"/>
          <p:nvPr/>
        </p:nvSpPr>
        <p:spPr>
          <a:xfrm>
            <a:off x="1228090" y="3905250"/>
            <a:ext cx="445770" cy="346075"/>
          </a:xfrm>
          <a:prstGeom prst="rect">
            <a:avLst/>
          </a:prstGeom>
          <a:noFill/>
          <a:ln>
            <a:noFill/>
          </a:ln>
        </p:spPr>
        <p:txBody>
          <a:bodyPr wrap="square" rtlCol="0">
            <a:noAutofit/>
          </a:bodyPr>
          <a:lstStyle/>
          <a:p>
            <a:r>
              <a:rPr lang="en-US" altLang="zh-CN">
                <a:solidFill>
                  <a:srgbClr val="FF0000"/>
                </a:solidFill>
                <a:latin typeface="+mj-lt"/>
                <a:cs typeface="+mj-lt"/>
              </a:rPr>
              <a:t>9</a:t>
            </a:r>
            <a:endParaRPr lang="en-US" altLang="zh-CN">
              <a:solidFill>
                <a:srgbClr val="FF0000"/>
              </a:solidFill>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657475"/>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657475"/>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3" name="组合 52"/>
          <p:cNvGrpSpPr/>
          <p:nvPr/>
        </p:nvGrpSpPr>
        <p:grpSpPr>
          <a:xfrm>
            <a:off x="6155690" y="2640330"/>
            <a:ext cx="1513205" cy="467995"/>
            <a:chOff x="9694" y="7567"/>
            <a:chExt cx="2383" cy="737"/>
          </a:xfrm>
        </p:grpSpPr>
        <p:grpSp>
          <p:nvGrpSpPr>
            <p:cNvPr id="134" name="组合 133"/>
            <p:cNvGrpSpPr/>
            <p:nvPr/>
          </p:nvGrpSpPr>
          <p:grpSpPr>
            <a:xfrm>
              <a:off x="9694" y="7702"/>
              <a:ext cx="1405" cy="602"/>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3" name="文本框 162"/>
            <p:cNvSpPr txBox="1"/>
            <p:nvPr/>
          </p:nvSpPr>
          <p:spPr>
            <a:xfrm>
              <a:off x="11395" y="7567"/>
              <a:ext cx="683" cy="58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20</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4" name="组合 53"/>
          <p:cNvGrpSpPr/>
          <p:nvPr/>
        </p:nvGrpSpPr>
        <p:grpSpPr>
          <a:xfrm>
            <a:off x="6155690" y="3150235"/>
            <a:ext cx="1613535" cy="406400"/>
            <a:chOff x="9694" y="8370"/>
            <a:chExt cx="2541" cy="640"/>
          </a:xfrm>
        </p:grpSpPr>
        <p:grpSp>
          <p:nvGrpSpPr>
            <p:cNvPr id="142" name="组合 141"/>
            <p:cNvGrpSpPr/>
            <p:nvPr/>
          </p:nvGrpSpPr>
          <p:grpSpPr>
            <a:xfrm>
              <a:off x="9694" y="8408"/>
              <a:ext cx="1405" cy="602"/>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4" name="文本框 163"/>
            <p:cNvSpPr txBox="1"/>
            <p:nvPr/>
          </p:nvSpPr>
          <p:spPr>
            <a:xfrm>
              <a:off x="11395" y="8370"/>
              <a:ext cx="841" cy="62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23</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5" name="组合 54"/>
          <p:cNvGrpSpPr/>
          <p:nvPr/>
        </p:nvGrpSpPr>
        <p:grpSpPr>
          <a:xfrm>
            <a:off x="6155690" y="3589655"/>
            <a:ext cx="1514475" cy="382270"/>
            <a:chOff x="9694" y="9062"/>
            <a:chExt cx="2385" cy="602"/>
          </a:xfrm>
        </p:grpSpPr>
        <p:grpSp>
          <p:nvGrpSpPr>
            <p:cNvPr id="150" name="组合 149"/>
            <p:cNvGrpSpPr/>
            <p:nvPr/>
          </p:nvGrpSpPr>
          <p:grpSpPr>
            <a:xfrm>
              <a:off x="9694" y="9062"/>
              <a:ext cx="1405" cy="602"/>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5" name="文本框 164"/>
            <p:cNvSpPr txBox="1"/>
            <p:nvPr/>
          </p:nvSpPr>
          <p:spPr>
            <a:xfrm>
              <a:off x="11395" y="9070"/>
              <a:ext cx="684" cy="54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26</a:t>
              </a:r>
              <a:endParaRPr lang="en-US" altLang="zh-CN">
                <a:latin typeface="Times New Roman" panose="02020603050405020304" pitchFamily="18" charset="0"/>
                <a:cs typeface="Times New Roman" panose="02020603050405020304" pitchFamily="18" charset="0"/>
                <a:sym typeface="+mn-ea"/>
              </a:endParaRPr>
            </a:p>
          </p:txBody>
        </p:sp>
      </p:grpSp>
      <p:cxnSp>
        <p:nvCxnSpPr>
          <p:cNvPr id="28" name="直接连接符 27"/>
          <p:cNvCxnSpPr/>
          <p:nvPr/>
        </p:nvCxnSpPr>
        <p:spPr>
          <a:xfrm>
            <a:off x="2799715" y="3670935"/>
            <a:ext cx="261620" cy="4768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30" name="文本框 29"/>
          <p:cNvSpPr txBox="1"/>
          <p:nvPr/>
        </p:nvSpPr>
        <p:spPr>
          <a:xfrm>
            <a:off x="2901315" y="3593465"/>
            <a:ext cx="445770" cy="346075"/>
          </a:xfrm>
          <a:prstGeom prst="rect">
            <a:avLst/>
          </a:prstGeom>
          <a:noFill/>
          <a:extLst>
            <a:ext uri="{909E8E84-426E-40DD-AFC4-6F175D3DCCD1}">
              <a14:hiddenFill xmlns:a14="http://schemas.microsoft.com/office/drawing/2010/main">
                <a:solidFill>
                  <a:srgbClr val="FF0000"/>
                </a:solidFill>
              </a14:hiddenFill>
            </a:ext>
          </a:extLst>
        </p:spPr>
        <p:txBody>
          <a:bodyPr wrap="square" rtlCol="0">
            <a:noAutofit/>
          </a:bodyPr>
          <a:lstStyle/>
          <a:p>
            <a:r>
              <a:rPr lang="en-US" altLang="zh-CN">
                <a:solidFill>
                  <a:srgbClr val="FF0000"/>
                </a:solidFill>
                <a:latin typeface="+mj-lt"/>
                <a:cs typeface="+mj-lt"/>
              </a:rPr>
              <a:t>13</a:t>
            </a:r>
            <a:endParaRPr lang="en-US" altLang="zh-CN">
              <a:solidFill>
                <a:srgbClr val="FF0000"/>
              </a:solidFill>
              <a:latin typeface="+mj-lt"/>
              <a:cs typeface="+mj-lt"/>
            </a:endParaRPr>
          </a:p>
        </p:txBody>
      </p:sp>
      <p:cxnSp>
        <p:nvCxnSpPr>
          <p:cNvPr id="38" name="直接连接符 37"/>
          <p:cNvCxnSpPr/>
          <p:nvPr/>
        </p:nvCxnSpPr>
        <p:spPr>
          <a:xfrm flipH="1">
            <a:off x="996950" y="3673475"/>
            <a:ext cx="265430" cy="4102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7" name="文本框 46"/>
          <p:cNvSpPr txBox="1"/>
          <p:nvPr/>
        </p:nvSpPr>
        <p:spPr>
          <a:xfrm>
            <a:off x="683895" y="3539490"/>
            <a:ext cx="445770" cy="346075"/>
          </a:xfrm>
          <a:prstGeom prst="rect">
            <a:avLst/>
          </a:prstGeom>
          <a:noFill/>
          <a:ln>
            <a:noFill/>
          </a:ln>
        </p:spPr>
        <p:txBody>
          <a:bodyPr wrap="square" rtlCol="0">
            <a:noAutofit/>
          </a:bodyPr>
          <a:lstStyle/>
          <a:p>
            <a:r>
              <a:rPr lang="en-US" altLang="zh-CN">
                <a:solidFill>
                  <a:srgbClr val="FF0000"/>
                </a:solidFill>
                <a:latin typeface="+mj-lt"/>
                <a:cs typeface="+mj-lt"/>
              </a:rPr>
              <a:t>15</a:t>
            </a:r>
            <a:endParaRPr lang="en-US" altLang="zh-CN">
              <a:solidFill>
                <a:srgbClr val="FF0000"/>
              </a:solidFill>
              <a:latin typeface="+mj-lt"/>
              <a:cs typeface="+mj-lt"/>
            </a:endParaRPr>
          </a:p>
        </p:txBody>
      </p:sp>
      <p:cxnSp>
        <p:nvCxnSpPr>
          <p:cNvPr id="48" name="直接连接符 47"/>
          <p:cNvCxnSpPr/>
          <p:nvPr/>
        </p:nvCxnSpPr>
        <p:spPr>
          <a:xfrm flipH="1">
            <a:off x="3087370" y="4610100"/>
            <a:ext cx="166370" cy="45529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9" name="文本框 48"/>
          <p:cNvSpPr txBox="1"/>
          <p:nvPr/>
        </p:nvSpPr>
        <p:spPr>
          <a:xfrm>
            <a:off x="3211830" y="4705350"/>
            <a:ext cx="445770" cy="346075"/>
          </a:xfrm>
          <a:prstGeom prst="rect">
            <a:avLst/>
          </a:prstGeom>
          <a:noFill/>
        </p:spPr>
        <p:txBody>
          <a:bodyPr wrap="square" rtlCol="0">
            <a:noAutofit/>
          </a:bodyPr>
          <a:lstStyle/>
          <a:p>
            <a:r>
              <a:rPr lang="en-US" altLang="zh-CN">
                <a:solidFill>
                  <a:srgbClr val="FF0000"/>
                </a:solidFill>
                <a:latin typeface="+mj-lt"/>
                <a:cs typeface="+mj-lt"/>
              </a:rPr>
              <a:t>18</a:t>
            </a:r>
            <a:endParaRPr lang="en-US" altLang="zh-CN">
              <a:solidFill>
                <a:srgbClr val="FF0000"/>
              </a:solidFill>
              <a:latin typeface="+mj-lt"/>
              <a:cs typeface="+mj-lt"/>
            </a:endParaRPr>
          </a:p>
        </p:txBody>
      </p:sp>
      <p:cxnSp>
        <p:nvCxnSpPr>
          <p:cNvPr id="50" name="直接连接符 49"/>
          <p:cNvCxnSpPr/>
          <p:nvPr/>
        </p:nvCxnSpPr>
        <p:spPr>
          <a:xfrm>
            <a:off x="1718945" y="3482340"/>
            <a:ext cx="621030" cy="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6" name="文本框 55"/>
          <p:cNvSpPr txBox="1"/>
          <p:nvPr/>
        </p:nvSpPr>
        <p:spPr>
          <a:xfrm>
            <a:off x="1960880" y="3182620"/>
            <a:ext cx="445770" cy="346075"/>
          </a:xfrm>
          <a:prstGeom prst="rect">
            <a:avLst/>
          </a:prstGeom>
          <a:noFill/>
          <a:ln>
            <a:noFill/>
          </a:ln>
          <a:extLst>
            <a:ext uri="{909E8E84-426E-40DD-AFC4-6F175D3DCCD1}">
              <a14:hiddenFill xmlns:a14="http://schemas.microsoft.com/office/drawing/2010/main">
                <a:solidFill>
                  <a:srgbClr val="FF0000"/>
                </a:solidFill>
              </a14:hiddenFill>
            </a:ext>
          </a:extLst>
        </p:spPr>
        <p:txBody>
          <a:bodyPr wrap="square" rtlCol="0">
            <a:noAutofit/>
          </a:bodyPr>
          <a:lstStyle/>
          <a:p>
            <a:r>
              <a:rPr lang="en-US" altLang="zh-CN">
                <a:solidFill>
                  <a:srgbClr val="FF0000"/>
                </a:solidFill>
                <a:latin typeface="+mj-lt"/>
                <a:cs typeface="+mj-lt"/>
              </a:rPr>
              <a:t>20</a:t>
            </a:r>
            <a:endParaRPr lang="en-US" altLang="zh-CN">
              <a:solidFill>
                <a:srgbClr val="FF0000"/>
              </a:solidFill>
              <a:latin typeface="+mj-lt"/>
              <a:cs typeface="+mj-lt"/>
            </a:endParaRPr>
          </a:p>
        </p:txBody>
      </p:sp>
      <p:sp>
        <p:nvSpPr>
          <p:cNvPr id="57" name="文本框 56"/>
          <p:cNvSpPr txBox="1"/>
          <p:nvPr/>
        </p:nvSpPr>
        <p:spPr>
          <a:xfrm>
            <a:off x="1718945" y="6092825"/>
            <a:ext cx="4397375" cy="436880"/>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当所有节点均添加到</a:t>
            </a:r>
            <a:r>
              <a:rPr lang="en-US" altLang="zh-CN" sz="1600" dirty="0">
                <a:solidFill>
                  <a:srgbClr val="FF0000"/>
                </a:solidFill>
                <a:uFillTx/>
                <a:latin typeface="Times New Roman" panose="02020603050405020304" pitchFamily="18" charset="0"/>
                <a:cs typeface="Times New Roman" panose="02020603050405020304" pitchFamily="18" charset="0"/>
                <a:sym typeface="+mn-ea"/>
              </a:rPr>
              <a:t>MST</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中则直接结束算法。</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par>
                                <p:cTn id="7" presetID="35" presetClass="emph" presetSubtype="0" fill="hold" nodeType="withEffect">
                                  <p:stCondLst>
                                    <p:cond delay="0"/>
                                  </p:stCondLst>
                                  <p:childTnLst>
                                    <p:anim calcmode="discrete" valueType="str">
                                      <p:cBhvr>
                                        <p:cTn id="8" dur="1000" fill="hold"/>
                                        <p:tgtEl>
                                          <p:spTgt spid="29"/>
                                        </p:tgtEl>
                                        <p:attrNameLst>
                                          <p:attrName>style.visibility</p:attrName>
                                        </p:attrNameLst>
                                      </p:cBhvr>
                                      <p:tavLst>
                                        <p:tav tm="0">
                                          <p:val>
                                            <p:strVal val="hidden"/>
                                          </p:val>
                                        </p:tav>
                                        <p:tav tm="50000">
                                          <p:val>
                                            <p:strVal val="visible"/>
                                          </p:val>
                                        </p:tav>
                                      </p:tavLst>
                                    </p:anim>
                                  </p:childTnLst>
                                </p:cTn>
                              </p:par>
                              <p:par>
                                <p:cTn id="9" presetID="35" presetClass="emph" presetSubtype="0" fill="hold" grpId="0" nodeType="withEffect">
                                  <p:stCondLst>
                                    <p:cond delay="0"/>
                                  </p:stCondLst>
                                  <p:childTnLst>
                                    <p:anim calcmode="discrete" valueType="str">
                                      <p:cBhvr>
                                        <p:cTn id="10" dur="1000" fill="hold"/>
                                        <p:tgtEl>
                                          <p:spTgt spid="45"/>
                                        </p:tgtEl>
                                        <p:attrNameLst>
                                          <p:attrName>style.visibility</p:attrName>
                                        </p:attrNameLst>
                                      </p:cBhvr>
                                      <p:tavLst>
                                        <p:tav tm="0">
                                          <p:val>
                                            <p:strVal val="hidden"/>
                                          </p:val>
                                        </p:tav>
                                        <p:tav tm="50000">
                                          <p:val>
                                            <p:strVal val="visible"/>
                                          </p:val>
                                        </p:tav>
                                      </p:tavLst>
                                    </p:anim>
                                  </p:childTnLst>
                                </p:cTn>
                              </p:par>
                              <p:par>
                                <p:cTn id="11" presetID="35" presetClass="emph" presetSubtype="0" fill="hold" nodeType="withEffect">
                                  <p:stCondLst>
                                    <p:cond delay="0"/>
                                  </p:stCondLst>
                                  <p:childTnLst>
                                    <p:anim calcmode="discrete" valueType="str">
                                      <p:cBhvr>
                                        <p:cTn id="12" dur="1000" fill="hold"/>
                                        <p:tgtEl>
                                          <p:spTgt spid="35"/>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43"/>
                                        </p:tgtEl>
                                        <p:attrNameLst>
                                          <p:attrName>style.visibility</p:attrName>
                                        </p:attrNameLst>
                                      </p:cBhvr>
                                      <p:tavLst>
                                        <p:tav tm="0">
                                          <p:val>
                                            <p:strVal val="hidden"/>
                                          </p:val>
                                        </p:tav>
                                        <p:tav tm="50000">
                                          <p:val>
                                            <p:strVal val="visible"/>
                                          </p:val>
                                        </p:tav>
                                      </p:tavLst>
                                    </p:anim>
                                  </p:childTnLst>
                                </p:cTn>
                              </p:par>
                              <p:par>
                                <p:cTn id="15" presetID="35" presetClass="emph" presetSubtype="0" fill="hold" nodeType="withEffect">
                                  <p:stCondLst>
                                    <p:cond delay="0"/>
                                  </p:stCondLst>
                                  <p:childTnLst>
                                    <p:anim calcmode="discrete" valueType="str">
                                      <p:cBhvr>
                                        <p:cTn id="16" dur="1000" fill="hold"/>
                                        <p:tgtEl>
                                          <p:spTgt spid="34"/>
                                        </p:tgtEl>
                                        <p:attrNameLst>
                                          <p:attrName>style.visibility</p:attrName>
                                        </p:attrNameLst>
                                      </p:cBhvr>
                                      <p:tavLst>
                                        <p:tav tm="0">
                                          <p:val>
                                            <p:strVal val="hidden"/>
                                          </p:val>
                                        </p:tav>
                                        <p:tav tm="50000">
                                          <p:val>
                                            <p:strVal val="visible"/>
                                          </p:val>
                                        </p:tav>
                                      </p:tavLst>
                                    </p:anim>
                                  </p:childTnLst>
                                </p:cTn>
                              </p:par>
                            </p:childTnLst>
                          </p:cTn>
                        </p:par>
                        <p:par>
                          <p:cTn id="17" fill="hold">
                            <p:stCondLst>
                              <p:cond delay="1000"/>
                            </p:stCondLst>
                            <p:childTnLst>
                              <p:par>
                                <p:cTn id="18" presetID="35" presetClass="emph" presetSubtype="0" fill="hold" grpId="2" nodeType="afterEffect">
                                  <p:stCondLst>
                                    <p:cond delay="0"/>
                                  </p:stCondLst>
                                  <p:childTnLst>
                                    <p:anim calcmode="discrete" valueType="str">
                                      <p:cBhvr>
                                        <p:cTn id="19" dur="1000" fill="hold"/>
                                        <p:tgtEl>
                                          <p:spTgt spid="39"/>
                                        </p:tgtEl>
                                        <p:attrNameLst>
                                          <p:attrName>style.visibility</p:attrName>
                                        </p:attrNameLst>
                                      </p:cBhvr>
                                      <p:tavLst>
                                        <p:tav tm="0">
                                          <p:val>
                                            <p:strVal val="hidden"/>
                                          </p:val>
                                        </p:tav>
                                        <p:tav tm="50000">
                                          <p:val>
                                            <p:strVal val="visible"/>
                                          </p:val>
                                        </p:tav>
                                      </p:tavLst>
                                    </p:anim>
                                  </p:childTnLst>
                                </p:cTn>
                              </p:par>
                              <p:par>
                                <p:cTn id="20" presetID="35" presetClass="emph" presetSubtype="0" fill="hold" nodeType="withEffect">
                                  <p:stCondLst>
                                    <p:cond delay="0"/>
                                  </p:stCondLst>
                                  <p:childTnLst>
                                    <p:anim calcmode="discrete" valueType="str">
                                      <p:cBhvr>
                                        <p:cTn id="21" dur="1000" fill="hold"/>
                                        <p:tgtEl>
                                          <p:spTgt spid="29"/>
                                        </p:tgtEl>
                                        <p:attrNameLst>
                                          <p:attrName>style.visibility</p:attrName>
                                        </p:attrNameLst>
                                      </p:cBhvr>
                                      <p:tavLst>
                                        <p:tav tm="0">
                                          <p:val>
                                            <p:strVal val="hidden"/>
                                          </p:val>
                                        </p:tav>
                                        <p:tav tm="50000">
                                          <p:val>
                                            <p:strVal val="visible"/>
                                          </p:val>
                                        </p:tav>
                                      </p:tavLst>
                                    </p:anim>
                                  </p:childTnLst>
                                </p:cTn>
                              </p:par>
                              <p:par>
                                <p:cTn id="22" presetID="35" presetClass="emph" presetSubtype="0" fill="hold" grpId="2" nodeType="withEffect">
                                  <p:stCondLst>
                                    <p:cond delay="0"/>
                                  </p:stCondLst>
                                  <p:childTnLst>
                                    <p:anim calcmode="discrete" valueType="str">
                                      <p:cBhvr>
                                        <p:cTn id="23" dur="1000" fill="hold"/>
                                        <p:tgtEl>
                                          <p:spTgt spid="45"/>
                                        </p:tgtEl>
                                        <p:attrNameLst>
                                          <p:attrName>style.visibility</p:attrName>
                                        </p:attrNameLst>
                                      </p:cBhvr>
                                      <p:tavLst>
                                        <p:tav tm="0">
                                          <p:val>
                                            <p:strVal val="hidden"/>
                                          </p:val>
                                        </p:tav>
                                        <p:tav tm="50000">
                                          <p:val>
                                            <p:strVal val="visible"/>
                                          </p:val>
                                        </p:tav>
                                      </p:tavLst>
                                    </p:anim>
                                  </p:childTnLst>
                                </p:cTn>
                              </p:par>
                              <p:par>
                                <p:cTn id="24" presetID="35" presetClass="emph" presetSubtype="0" fill="hold" nodeType="withEffect">
                                  <p:stCondLst>
                                    <p:cond delay="0"/>
                                  </p:stCondLst>
                                  <p:childTnLst>
                                    <p:anim calcmode="discrete" valueType="str">
                                      <p:cBhvr>
                                        <p:cTn id="25" dur="1000" fill="hold"/>
                                        <p:tgtEl>
                                          <p:spTgt spid="35"/>
                                        </p:tgtEl>
                                        <p:attrNameLst>
                                          <p:attrName>style.visibility</p:attrName>
                                        </p:attrNameLst>
                                      </p:cBhvr>
                                      <p:tavLst>
                                        <p:tav tm="0">
                                          <p:val>
                                            <p:strVal val="hidden"/>
                                          </p:val>
                                        </p:tav>
                                        <p:tav tm="50000">
                                          <p:val>
                                            <p:strVal val="visible"/>
                                          </p:val>
                                        </p:tav>
                                      </p:tavLst>
                                    </p:anim>
                                  </p:childTnLst>
                                </p:cTn>
                              </p:par>
                              <p:par>
                                <p:cTn id="26" presetID="35" presetClass="emph" presetSubtype="0" fill="hold" grpId="2" nodeType="withEffect">
                                  <p:stCondLst>
                                    <p:cond delay="0"/>
                                  </p:stCondLst>
                                  <p:childTnLst>
                                    <p:anim calcmode="discrete" valueType="str">
                                      <p:cBhvr>
                                        <p:cTn id="27" dur="1000" fill="hold"/>
                                        <p:tgtEl>
                                          <p:spTgt spid="43"/>
                                        </p:tgtEl>
                                        <p:attrNameLst>
                                          <p:attrName>style.visibility</p:attrName>
                                        </p:attrNameLst>
                                      </p:cBhvr>
                                      <p:tavLst>
                                        <p:tav tm="0">
                                          <p:val>
                                            <p:strVal val="hidden"/>
                                          </p:val>
                                        </p:tav>
                                        <p:tav tm="50000">
                                          <p:val>
                                            <p:strVal val="visible"/>
                                          </p:val>
                                        </p:tav>
                                      </p:tavLst>
                                    </p:anim>
                                  </p:childTnLst>
                                </p:cTn>
                              </p:par>
                              <p:par>
                                <p:cTn id="28" presetID="35" presetClass="emph" presetSubtype="0" fill="hold" nodeType="withEffect">
                                  <p:stCondLst>
                                    <p:cond delay="0"/>
                                  </p:stCondLst>
                                  <p:childTnLst>
                                    <p:anim calcmode="discrete" valueType="str">
                                      <p:cBhvr>
                                        <p:cTn id="29" dur="1000" fill="hold"/>
                                        <p:tgtEl>
                                          <p:spTgt spid="34"/>
                                        </p:tgtEl>
                                        <p:attrNameLst>
                                          <p:attrName>style.visibility</p:attrName>
                                        </p:attrNameLst>
                                      </p:cBhvr>
                                      <p:tavLst>
                                        <p:tav tm="0">
                                          <p:val>
                                            <p:strVal val="hidden"/>
                                          </p:val>
                                        </p:tav>
                                        <p:tav tm="50000">
                                          <p:val>
                                            <p:strVal val="visible"/>
                                          </p:val>
                                        </p:tav>
                                      </p:tavLst>
                                    </p:anim>
                                  </p:childTnLst>
                                </p:cTn>
                              </p:par>
                            </p:childTnLst>
                          </p:cTn>
                        </p:par>
                      </p:childTnLst>
                    </p:cTn>
                  </p:par>
                  <p:par>
                    <p:cTn id="30" fill="hold">
                      <p:stCondLst>
                        <p:cond delay="indefinite"/>
                      </p:stCondLst>
                      <p:childTnLst>
                        <p:par>
                          <p:cTn id="31" fill="hold">
                            <p:stCondLst>
                              <p:cond delay="0"/>
                            </p:stCondLst>
                            <p:childTnLst>
                              <p:par>
                                <p:cTn id="32" presetID="1" presetClass="exit" presetSubtype="0" fill="hold" grpId="3" nodeType="clickEffect">
                                  <p:stCondLst>
                                    <p:cond delay="0"/>
                                  </p:stCondLst>
                                  <p:childTnLst>
                                    <p:set>
                                      <p:cBhvr>
                                        <p:cTn id="33" dur="1" fill="hold">
                                          <p:stCondLst>
                                            <p:cond delay="0"/>
                                          </p:stCondLst>
                                        </p:cTn>
                                        <p:tgtEl>
                                          <p:spTgt spid="39"/>
                                        </p:tgtEl>
                                        <p:attrNameLst>
                                          <p:attrName>style.visibility</p:attrName>
                                        </p:attrNameLst>
                                      </p:cBhvr>
                                      <p:to>
                                        <p:strVal val="hidden"/>
                                      </p:to>
                                    </p:set>
                                  </p:childTnLst>
                                </p:cTn>
                              </p:par>
                              <p:par>
                                <p:cTn id="34" presetID="1" presetClass="exit" presetSubtype="0" fill="hold" nodeType="withEffect">
                                  <p:stCondLst>
                                    <p:cond delay="0"/>
                                  </p:stCondLst>
                                  <p:childTnLst>
                                    <p:set>
                                      <p:cBhvr>
                                        <p:cTn id="35" dur="1" fill="hold">
                                          <p:stCondLst>
                                            <p:cond delay="0"/>
                                          </p:stCondLst>
                                        </p:cTn>
                                        <p:tgtEl>
                                          <p:spTgt spid="29"/>
                                        </p:tgtEl>
                                        <p:attrNameLst>
                                          <p:attrName>style.visibility</p:attrName>
                                        </p:attrNameLst>
                                      </p:cBhvr>
                                      <p:to>
                                        <p:strVal val="hidden"/>
                                      </p:to>
                                    </p:set>
                                  </p:childTnLst>
                                </p:cTn>
                              </p:par>
                              <p:par>
                                <p:cTn id="36" presetID="1" presetClass="exit" presetSubtype="0" fill="hold" grpId="3" nodeType="withEffect">
                                  <p:stCondLst>
                                    <p:cond delay="0"/>
                                  </p:stCondLst>
                                  <p:childTnLst>
                                    <p:set>
                                      <p:cBhvr>
                                        <p:cTn id="37" dur="1" fill="hold">
                                          <p:stCondLst>
                                            <p:cond delay="0"/>
                                          </p:stCondLst>
                                        </p:cTn>
                                        <p:tgtEl>
                                          <p:spTgt spid="45"/>
                                        </p:tgtEl>
                                        <p:attrNameLst>
                                          <p:attrName>style.visibility</p:attrName>
                                        </p:attrNameLst>
                                      </p:cBhvr>
                                      <p:to>
                                        <p:strVal val="hidden"/>
                                      </p:to>
                                    </p:set>
                                  </p:childTnLst>
                                </p:cTn>
                              </p:par>
                              <p:par>
                                <p:cTn id="38" presetID="1" presetClass="exit" presetSubtype="0" fill="hold" nodeType="withEffect">
                                  <p:stCondLst>
                                    <p:cond delay="0"/>
                                  </p:stCondLst>
                                  <p:childTnLst>
                                    <p:set>
                                      <p:cBhvr>
                                        <p:cTn id="39" dur="1" fill="hold">
                                          <p:stCondLst>
                                            <p:cond delay="0"/>
                                          </p:stCondLst>
                                        </p:cTn>
                                        <p:tgtEl>
                                          <p:spTgt spid="35"/>
                                        </p:tgtEl>
                                        <p:attrNameLst>
                                          <p:attrName>style.visibility</p:attrName>
                                        </p:attrNameLst>
                                      </p:cBhvr>
                                      <p:to>
                                        <p:strVal val="hidden"/>
                                      </p:to>
                                    </p:set>
                                  </p:childTnLst>
                                </p:cTn>
                              </p:par>
                              <p:par>
                                <p:cTn id="40" presetID="1" presetClass="exit" presetSubtype="0" fill="hold" grpId="3" nodeType="withEffect">
                                  <p:stCondLst>
                                    <p:cond delay="0"/>
                                  </p:stCondLst>
                                  <p:childTnLst>
                                    <p:set>
                                      <p:cBhvr>
                                        <p:cTn id="41" dur="1" fill="hold">
                                          <p:stCondLst>
                                            <p:cond delay="0"/>
                                          </p:stCondLst>
                                        </p:cTn>
                                        <p:tgtEl>
                                          <p:spTgt spid="43"/>
                                        </p:tgtEl>
                                        <p:attrNameLst>
                                          <p:attrName>style.visibility</p:attrName>
                                        </p:attrNameLst>
                                      </p:cBhvr>
                                      <p:to>
                                        <p:strVal val="hidden"/>
                                      </p:to>
                                    </p:set>
                                  </p:childTnLst>
                                </p:cTn>
                              </p:par>
                              <p:par>
                                <p:cTn id="42" presetID="1" presetClass="exit" presetSubtype="0" fill="hold" nodeType="withEffect">
                                  <p:stCondLst>
                                    <p:cond delay="0"/>
                                  </p:stCondLst>
                                  <p:childTnLst>
                                    <p:set>
                                      <p:cBhvr>
                                        <p:cTn id="43" dur="1" fill="hold">
                                          <p:stCondLst>
                                            <p:cond delay="0"/>
                                          </p:stCondLst>
                                        </p:cTn>
                                        <p:tgtEl>
                                          <p:spTgt spid="34"/>
                                        </p:tgtEl>
                                        <p:attrNameLst>
                                          <p:attrName>style.visibility</p:attrName>
                                        </p:attrNameLst>
                                      </p:cBhvr>
                                      <p:to>
                                        <p:strVal val="hidden"/>
                                      </p:to>
                                    </p:set>
                                  </p:childTnLst>
                                </p:cTn>
                              </p:par>
                            </p:childTnLst>
                          </p:cTn>
                        </p:par>
                      </p:childTnLst>
                    </p:cTn>
                  </p:par>
                  <p:par>
                    <p:cTn id="44" fill="hold">
                      <p:stCondLst>
                        <p:cond delay="indefinite"/>
                      </p:stCondLst>
                      <p:childTnLst>
                        <p:par>
                          <p:cTn id="45" fill="hold">
                            <p:stCondLst>
                              <p:cond delay="0"/>
                            </p:stCondLst>
                            <p:childTnLst>
                              <p:par>
                                <p:cTn id="46" presetID="0" presetClass="path" presetSubtype="0" accel="50000" decel="50000" fill="hold" nodeType="clickEffect">
                                  <p:stCondLst>
                                    <p:cond delay="0"/>
                                  </p:stCondLst>
                                  <p:childTnLst>
                                    <p:animMotion origin="layout" path="M 0 0 C 0.0106944 -0.0239815 -0.000833333 -0.123056 0.0895833 -0.0972222 C 0.18 -0.0713889 0.381389 0.0819444 0.452083 0.129167 " pathEditMode="relative" ptsTypes="">
                                      <p:cBhvr>
                                        <p:cTn id="47" dur="2000" fill="hold"/>
                                        <p:tgtEl>
                                          <p:spTgt spid="53"/>
                                        </p:tgtEl>
                                        <p:attrNameLst>
                                          <p:attrName>ppt_x</p:attrName>
                                          <p:attrName>ppt_y</p:attrName>
                                        </p:attrNameLst>
                                      </p:cBhvr>
                                    </p:animMotion>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0" nodeType="clickEffect">
                                  <p:stCondLst>
                                    <p:cond delay="0"/>
                                  </p:stCondLst>
                                  <p:childTnLst>
                                    <p:set>
                                      <p:cBhvr>
                                        <p:cTn id="51" dur="1" fill="hold">
                                          <p:stCondLst>
                                            <p:cond delay="0"/>
                                          </p:stCondLst>
                                        </p:cTn>
                                        <p:tgtEl>
                                          <p:spTgt spid="56"/>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50"/>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0" presetClass="path" presetSubtype="0" accel="50000" decel="50000" fill="hold" nodeType="clickEffect">
                                  <p:stCondLst>
                                    <p:cond delay="0"/>
                                  </p:stCondLst>
                                  <p:childTnLst>
                                    <p:animMotion origin="layout" path="M 0 0 L 0 -0.0735185 " pathEditMode="relative" ptsTypes="">
                                      <p:cBhvr>
                                        <p:cTn id="57" dur="2000" fill="hold"/>
                                        <p:tgtEl>
                                          <p:spTgt spid="55"/>
                                        </p:tgtEl>
                                        <p:attrNameLst>
                                          <p:attrName>ppt_x</p:attrName>
                                          <p:attrName>ppt_y</p:attrName>
                                        </p:attrNameLst>
                                      </p:cBhvr>
                                    </p:animMotion>
                                  </p:childTnLst>
                                </p:cTn>
                              </p:par>
                              <p:par>
                                <p:cTn id="58" presetID="0" presetClass="path" presetSubtype="0" accel="50000" decel="50000" fill="hold" nodeType="withEffect">
                                  <p:stCondLst>
                                    <p:cond delay="0"/>
                                  </p:stCondLst>
                                  <p:childTnLst>
                                    <p:animMotion origin="layout" path="M 0 0 L 0 -0.0735185 " pathEditMode="relative" ptsTypes="">
                                      <p:cBhvr>
                                        <p:cTn id="59" dur="2000" fill="hold"/>
                                        <p:tgtEl>
                                          <p:spTgt spid="54"/>
                                        </p:tgtEl>
                                        <p:attrNameLst>
                                          <p:attrName>ppt_x</p:attrName>
                                          <p:attrName>ppt_y</p:attrName>
                                        </p:attrNameLst>
                                      </p:cBhvr>
                                    </p:animMotion>
                                  </p:childTnLst>
                                </p:cTn>
                              </p:par>
                            </p:childTnLst>
                          </p:cTn>
                        </p:par>
                      </p:childTnLst>
                    </p:cTn>
                  </p:par>
                  <p:par>
                    <p:cTn id="60" fill="hold">
                      <p:stCondLst>
                        <p:cond delay="indefinite"/>
                      </p:stCondLst>
                      <p:childTnLst>
                        <p:par>
                          <p:cTn id="61" fill="hold">
                            <p:stCondLst>
                              <p:cond delay="0"/>
                            </p:stCondLst>
                            <p:childTnLst>
                              <p:par>
                                <p:cTn id="62" presetID="2" presetClass="entr" presetSubtype="4" fill="hold" grpId="0" nodeType="clickEffect">
                                  <p:stCondLst>
                                    <p:cond delay="0"/>
                                  </p:stCondLst>
                                  <p:childTnLst>
                                    <p:set>
                                      <p:cBhvr>
                                        <p:cTn id="63" dur="1" fill="hold">
                                          <p:stCondLst>
                                            <p:cond delay="0"/>
                                          </p:stCondLst>
                                        </p:cTn>
                                        <p:tgtEl>
                                          <p:spTgt spid="57"/>
                                        </p:tgtEl>
                                        <p:attrNameLst>
                                          <p:attrName>style.visibility</p:attrName>
                                        </p:attrNameLst>
                                      </p:cBhvr>
                                      <p:to>
                                        <p:strVal val="visible"/>
                                      </p:to>
                                    </p:set>
                                    <p:anim calcmode="lin" valueType="num">
                                      <p:cBhvr additive="base">
                                        <p:cTn id="64" dur="500" fill="hold"/>
                                        <p:tgtEl>
                                          <p:spTgt spid="57"/>
                                        </p:tgtEl>
                                        <p:attrNameLst>
                                          <p:attrName>ppt_x</p:attrName>
                                        </p:attrNameLst>
                                      </p:cBhvr>
                                      <p:tavLst>
                                        <p:tav tm="0">
                                          <p:val>
                                            <p:strVal val="#ppt_x"/>
                                          </p:val>
                                        </p:tav>
                                        <p:tav tm="100000">
                                          <p:val>
                                            <p:strVal val="#ppt_x"/>
                                          </p:val>
                                        </p:tav>
                                      </p:tavLst>
                                    </p:anim>
                                    <p:anim calcmode="lin" valueType="num">
                                      <p:cBhvr additive="base">
                                        <p:cTn id="65"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p:bldP spid="39" grpId="1"/>
      <p:bldP spid="39" grpId="2"/>
      <p:bldP spid="39" grpId="3"/>
      <p:bldP spid="40" grpId="1"/>
      <p:bldP spid="41" grpId="1"/>
      <p:bldP spid="42" grpId="1"/>
      <p:bldP spid="43" grpId="0"/>
      <p:bldP spid="43" grpId="1"/>
      <p:bldP spid="43" grpId="2"/>
      <p:bldP spid="43" grpId="3"/>
      <p:bldP spid="44" grpId="1"/>
      <p:bldP spid="45" grpId="0"/>
      <p:bldP spid="45" grpId="1"/>
      <p:bldP spid="45" grpId="2"/>
      <p:bldP spid="45" grpId="3"/>
      <p:bldP spid="46" grpId="1"/>
      <p:bldP spid="27" grpId="1"/>
      <p:bldP spid="3" grpId="1" animBg="1"/>
      <p:bldP spid="5" grpId="1" animBg="1"/>
      <p:bldP spid="30" grpId="1"/>
      <p:bldP spid="47" grpId="1"/>
      <p:bldP spid="49" grpId="1"/>
      <p:bldP spid="56" grpId="0"/>
      <p:bldP spid="56" grpId="1"/>
      <p:bldP spid="57" grpId="0"/>
      <p:bldP spid="57" grpId="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480695"/>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算法如何实现：两个重要问题需要解决①成环问题。</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endParaRPr>
            </a:p>
          </p:txBody>
        </p:sp>
      </p:grpSp>
      <p:grpSp>
        <p:nvGrpSpPr>
          <p:cNvPr id="15" name="组合 14"/>
          <p:cNvGrpSpPr/>
          <p:nvPr/>
        </p:nvGrpSpPr>
        <p:grpSpPr>
          <a:xfrm>
            <a:off x="3420110" y="4363085"/>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a:stCxn id="25" idx="4"/>
            <a:endCxn id="10" idx="7"/>
          </p:cNvCxnSpPr>
          <p:nvPr/>
        </p:nvCxnSpPr>
        <p:spPr>
          <a:xfrm flipH="1">
            <a:off x="2236470" y="3752215"/>
            <a:ext cx="373380" cy="40322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a:endCxn id="16" idx="2"/>
          </p:cNvCxnSpPr>
          <p:nvPr/>
        </p:nvCxnSpPr>
        <p:spPr>
          <a:xfrm>
            <a:off x="2310765" y="4346575"/>
            <a:ext cx="1109345" cy="28638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lstStyle/>
          <a:p>
            <a:r>
              <a:rPr lang="en-US" altLang="zh-CN">
                <a:latin typeface="+mj-lt"/>
                <a:cs typeface="+mj-lt"/>
              </a:rPr>
              <a:t>1</a:t>
            </a:r>
            <a:endParaRPr lang="en-US" altLang="zh-CN">
              <a:latin typeface="+mj-lt"/>
              <a:cs typeface="+mj-lt"/>
            </a:endParaRPr>
          </a:p>
        </p:txBody>
      </p:sp>
      <p:sp>
        <p:nvSpPr>
          <p:cNvPr id="40" name="文本框 39"/>
          <p:cNvSpPr txBox="1"/>
          <p:nvPr/>
        </p:nvSpPr>
        <p:spPr>
          <a:xfrm>
            <a:off x="2124075" y="3737610"/>
            <a:ext cx="445770" cy="346075"/>
          </a:xfrm>
          <a:prstGeom prst="rect">
            <a:avLst/>
          </a:prstGeom>
          <a:noFill/>
        </p:spPr>
        <p:txBody>
          <a:bodyPr wrap="square" rtlCol="0">
            <a:noAutofit/>
          </a:bodyPr>
          <a:lstStyle/>
          <a:p>
            <a:r>
              <a:rPr lang="en-US" altLang="zh-CN">
                <a:latin typeface="+mj-lt"/>
                <a:cs typeface="+mj-lt"/>
              </a:rPr>
              <a:t>4</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lstStyle/>
          <a:p>
            <a:r>
              <a:rPr lang="en-US" altLang="zh-CN">
                <a:latin typeface="+mj-lt"/>
                <a:cs typeface="+mj-lt"/>
              </a:rPr>
              <a:t>1</a:t>
            </a:r>
            <a:endParaRPr lang="en-US" altLang="zh-CN">
              <a:latin typeface="+mj-lt"/>
              <a:cs typeface="+mj-lt"/>
            </a:endParaRPr>
          </a:p>
        </p:txBody>
      </p:sp>
      <p:sp>
        <p:nvSpPr>
          <p:cNvPr id="45" name="文本框 44"/>
          <p:cNvSpPr txBox="1"/>
          <p:nvPr/>
        </p:nvSpPr>
        <p:spPr>
          <a:xfrm>
            <a:off x="2700020" y="4124325"/>
            <a:ext cx="445770" cy="346075"/>
          </a:xfrm>
          <a:prstGeom prst="rect">
            <a:avLst/>
          </a:prstGeom>
          <a:noFill/>
        </p:spPr>
        <p:txBody>
          <a:bodyPr wrap="square" rtlCol="0">
            <a:noAutofit/>
          </a:bodyPr>
          <a:lstStyle/>
          <a:p>
            <a:r>
              <a:rPr lang="en-US" altLang="zh-CN">
                <a:latin typeface="+mj-lt"/>
                <a:cs typeface="+mj-lt"/>
              </a:rPr>
              <a:t>1</a:t>
            </a:r>
            <a:endParaRPr lang="en-US" altLang="zh-CN">
              <a:latin typeface="+mj-lt"/>
              <a:cs typeface="+mj-lt"/>
            </a:endParaRPr>
          </a:p>
        </p:txBody>
      </p:sp>
      <p:sp>
        <p:nvSpPr>
          <p:cNvPr id="46" name="文本框 45"/>
          <p:cNvSpPr txBox="1"/>
          <p:nvPr/>
        </p:nvSpPr>
        <p:spPr>
          <a:xfrm>
            <a:off x="1273175" y="4270375"/>
            <a:ext cx="445770" cy="346075"/>
          </a:xfrm>
          <a:prstGeom prst="rect">
            <a:avLst/>
          </a:prstGeom>
          <a:noFill/>
          <a:ln>
            <a:noFill/>
          </a:ln>
        </p:spPr>
        <p:txBody>
          <a:bodyPr wrap="square" rtlCol="0">
            <a:noAutofit/>
          </a:bodyPr>
          <a:lstStyle/>
          <a:p>
            <a:r>
              <a:rPr lang="en-US" altLang="zh-CN">
                <a:solidFill>
                  <a:schemeClr val="tx1"/>
                </a:solidFill>
                <a:latin typeface="+mj-lt"/>
                <a:cs typeface="+mj-lt"/>
              </a:rPr>
              <a:t>3</a:t>
            </a:r>
            <a:endParaRPr lang="en-US" altLang="zh-CN">
              <a:solidFill>
                <a:schemeClr val="tx1"/>
              </a:solidFill>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657475"/>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657475"/>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3" name="组合 52"/>
          <p:cNvGrpSpPr/>
          <p:nvPr/>
        </p:nvGrpSpPr>
        <p:grpSpPr>
          <a:xfrm>
            <a:off x="6155690" y="2640330"/>
            <a:ext cx="1513205" cy="467995"/>
            <a:chOff x="9694" y="7567"/>
            <a:chExt cx="2383" cy="737"/>
          </a:xfrm>
        </p:grpSpPr>
        <p:grpSp>
          <p:nvGrpSpPr>
            <p:cNvPr id="134" name="组合 133"/>
            <p:cNvGrpSpPr/>
            <p:nvPr/>
          </p:nvGrpSpPr>
          <p:grpSpPr>
            <a:xfrm>
              <a:off x="9694" y="7702"/>
              <a:ext cx="1405" cy="602"/>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3" name="文本框 162"/>
            <p:cNvSpPr txBox="1"/>
            <p:nvPr/>
          </p:nvSpPr>
          <p:spPr>
            <a:xfrm>
              <a:off x="11395" y="7567"/>
              <a:ext cx="683" cy="58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4" name="组合 53"/>
          <p:cNvGrpSpPr/>
          <p:nvPr/>
        </p:nvGrpSpPr>
        <p:grpSpPr>
          <a:xfrm>
            <a:off x="6155690" y="3150235"/>
            <a:ext cx="1613535" cy="406400"/>
            <a:chOff x="9694" y="8370"/>
            <a:chExt cx="2541" cy="640"/>
          </a:xfrm>
        </p:grpSpPr>
        <p:grpSp>
          <p:nvGrpSpPr>
            <p:cNvPr id="142" name="组合 141"/>
            <p:cNvGrpSpPr/>
            <p:nvPr/>
          </p:nvGrpSpPr>
          <p:grpSpPr>
            <a:xfrm>
              <a:off x="9694" y="8408"/>
              <a:ext cx="1405" cy="602"/>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4" name="文本框 163"/>
            <p:cNvSpPr txBox="1"/>
            <p:nvPr/>
          </p:nvSpPr>
          <p:spPr>
            <a:xfrm>
              <a:off x="11395" y="8370"/>
              <a:ext cx="841" cy="62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a:t>
              </a:r>
              <a:endParaRPr lang="en-US" altLang="zh-CN">
                <a:latin typeface="Times New Roman" panose="02020603050405020304" pitchFamily="18" charset="0"/>
                <a:cs typeface="Times New Roman" panose="02020603050405020304" pitchFamily="18" charset="0"/>
                <a:sym typeface="+mn-ea"/>
              </a:endParaRPr>
            </a:p>
          </p:txBody>
        </p:sp>
      </p:grpSp>
      <p:grpSp>
        <p:nvGrpSpPr>
          <p:cNvPr id="55" name="组合 54"/>
          <p:cNvGrpSpPr/>
          <p:nvPr/>
        </p:nvGrpSpPr>
        <p:grpSpPr>
          <a:xfrm>
            <a:off x="6155690" y="3589655"/>
            <a:ext cx="1514475" cy="382270"/>
            <a:chOff x="9694" y="9062"/>
            <a:chExt cx="2385" cy="602"/>
          </a:xfrm>
        </p:grpSpPr>
        <p:grpSp>
          <p:nvGrpSpPr>
            <p:cNvPr id="150" name="组合 149"/>
            <p:cNvGrpSpPr/>
            <p:nvPr/>
          </p:nvGrpSpPr>
          <p:grpSpPr>
            <a:xfrm>
              <a:off x="9694" y="9062"/>
              <a:ext cx="1405" cy="602"/>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5" name="文本框 164"/>
            <p:cNvSpPr txBox="1"/>
            <p:nvPr/>
          </p:nvSpPr>
          <p:spPr>
            <a:xfrm>
              <a:off x="11395" y="9070"/>
              <a:ext cx="684" cy="54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a:t>
              </a:r>
              <a:endParaRPr lang="en-US" altLang="zh-CN">
                <a:latin typeface="Times New Roman" panose="02020603050405020304" pitchFamily="18" charset="0"/>
                <a:cs typeface="Times New Roman" panose="02020603050405020304" pitchFamily="18" charset="0"/>
                <a:sym typeface="+mn-ea"/>
              </a:endParaRPr>
            </a:p>
          </p:txBody>
        </p:sp>
      </p:grpSp>
      <p:cxnSp>
        <p:nvCxnSpPr>
          <p:cNvPr id="51" name="直接连接符 50"/>
          <p:cNvCxnSpPr>
            <a:endCxn id="25" idx="3"/>
          </p:cNvCxnSpPr>
          <p:nvPr/>
        </p:nvCxnSpPr>
        <p:spPr>
          <a:xfrm flipV="1">
            <a:off x="1043940" y="3673475"/>
            <a:ext cx="1374775" cy="48196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52" name="文本框 51"/>
          <p:cNvSpPr txBox="1"/>
          <p:nvPr/>
        </p:nvSpPr>
        <p:spPr>
          <a:xfrm>
            <a:off x="1548130" y="3618230"/>
            <a:ext cx="445770" cy="346075"/>
          </a:xfrm>
          <a:prstGeom prst="rect">
            <a:avLst/>
          </a:prstGeom>
          <a:noFill/>
          <a:ln>
            <a:noFill/>
          </a:ln>
        </p:spPr>
        <p:txBody>
          <a:bodyPr wrap="square" rtlCol="0">
            <a:noAutofit/>
          </a:bodyPr>
          <a:lstStyle/>
          <a:p>
            <a:r>
              <a:rPr lang="en-US" altLang="zh-CN">
                <a:solidFill>
                  <a:schemeClr val="tx1"/>
                </a:solidFill>
                <a:latin typeface="+mj-lt"/>
                <a:cs typeface="+mj-lt"/>
              </a:rPr>
              <a:t>2</a:t>
            </a:r>
            <a:endParaRPr lang="en-US" altLang="zh-CN">
              <a:solidFill>
                <a:schemeClr val="tx1"/>
              </a:solidFill>
              <a:latin typeface="+mj-lt"/>
              <a:cs typeface="+mj-lt"/>
            </a:endParaRPr>
          </a:p>
        </p:txBody>
      </p:sp>
      <p:grpSp>
        <p:nvGrpSpPr>
          <p:cNvPr id="58" name="组合 57"/>
          <p:cNvGrpSpPr/>
          <p:nvPr/>
        </p:nvGrpSpPr>
        <p:grpSpPr>
          <a:xfrm>
            <a:off x="6170930" y="3954145"/>
            <a:ext cx="1513205" cy="467995"/>
            <a:chOff x="9694" y="7567"/>
            <a:chExt cx="2383" cy="737"/>
          </a:xfrm>
        </p:grpSpPr>
        <p:grpSp>
          <p:nvGrpSpPr>
            <p:cNvPr id="59" name="组合 58"/>
            <p:cNvGrpSpPr/>
            <p:nvPr/>
          </p:nvGrpSpPr>
          <p:grpSpPr>
            <a:xfrm>
              <a:off x="9694" y="7702"/>
              <a:ext cx="1405" cy="602"/>
              <a:chOff x="9776" y="4285"/>
              <a:chExt cx="1405" cy="602"/>
            </a:xfrm>
          </p:grpSpPr>
          <p:grpSp>
            <p:nvGrpSpPr>
              <p:cNvPr id="60" name="组合 59"/>
              <p:cNvGrpSpPr/>
              <p:nvPr/>
            </p:nvGrpSpPr>
            <p:grpSpPr>
              <a:xfrm>
                <a:off x="9776" y="4285"/>
                <a:ext cx="644" cy="602"/>
                <a:chOff x="1006488" y="2036167"/>
                <a:chExt cx="531192" cy="504056"/>
              </a:xfrm>
            </p:grpSpPr>
            <p:sp>
              <p:nvSpPr>
                <p:cNvPr id="6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2" name="文本框 6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63" name="组合 62"/>
              <p:cNvGrpSpPr/>
              <p:nvPr/>
            </p:nvGrpSpPr>
            <p:grpSpPr>
              <a:xfrm>
                <a:off x="10537" y="4285"/>
                <a:ext cx="644" cy="602"/>
                <a:chOff x="1006488" y="2036167"/>
                <a:chExt cx="531192" cy="504056"/>
              </a:xfrm>
            </p:grpSpPr>
            <p:sp>
              <p:nvSpPr>
                <p:cNvPr id="6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5" name="文本框 6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66" name="直接连接符 65"/>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67" name="文本框 66"/>
            <p:cNvSpPr txBox="1"/>
            <p:nvPr/>
          </p:nvSpPr>
          <p:spPr>
            <a:xfrm>
              <a:off x="11395" y="7567"/>
              <a:ext cx="683" cy="58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68" name="组合 67"/>
          <p:cNvGrpSpPr/>
          <p:nvPr/>
        </p:nvGrpSpPr>
        <p:grpSpPr>
          <a:xfrm>
            <a:off x="6170930" y="4464050"/>
            <a:ext cx="1613535" cy="406400"/>
            <a:chOff x="9694" y="8370"/>
            <a:chExt cx="2541" cy="640"/>
          </a:xfrm>
        </p:grpSpPr>
        <p:grpSp>
          <p:nvGrpSpPr>
            <p:cNvPr id="69" name="组合 68"/>
            <p:cNvGrpSpPr/>
            <p:nvPr/>
          </p:nvGrpSpPr>
          <p:grpSpPr>
            <a:xfrm>
              <a:off x="9694" y="8408"/>
              <a:ext cx="1405" cy="602"/>
              <a:chOff x="9776" y="4285"/>
              <a:chExt cx="1405" cy="602"/>
            </a:xfrm>
          </p:grpSpPr>
          <p:grpSp>
            <p:nvGrpSpPr>
              <p:cNvPr id="70" name="组合 69"/>
              <p:cNvGrpSpPr/>
              <p:nvPr/>
            </p:nvGrpSpPr>
            <p:grpSpPr>
              <a:xfrm>
                <a:off x="9776" y="4285"/>
                <a:ext cx="644" cy="602"/>
                <a:chOff x="1006488" y="2036167"/>
                <a:chExt cx="531192" cy="504056"/>
              </a:xfrm>
            </p:grpSpPr>
            <p:sp>
              <p:nvSpPr>
                <p:cNvPr id="7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2" name="文本框 7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3" name="组合 72"/>
              <p:cNvGrpSpPr/>
              <p:nvPr/>
            </p:nvGrpSpPr>
            <p:grpSpPr>
              <a:xfrm>
                <a:off x="10537" y="4285"/>
                <a:ext cx="644" cy="602"/>
                <a:chOff x="1006488" y="2036167"/>
                <a:chExt cx="531192" cy="504056"/>
              </a:xfrm>
            </p:grpSpPr>
            <p:sp>
              <p:nvSpPr>
                <p:cNvPr id="7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5" name="文本框 7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76" name="直接连接符 75"/>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77" name="文本框 76"/>
            <p:cNvSpPr txBox="1"/>
            <p:nvPr/>
          </p:nvSpPr>
          <p:spPr>
            <a:xfrm>
              <a:off x="11395" y="8370"/>
              <a:ext cx="841" cy="62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3</a:t>
              </a:r>
              <a:endParaRPr lang="en-US" altLang="zh-CN">
                <a:latin typeface="Times New Roman" panose="02020603050405020304" pitchFamily="18" charset="0"/>
                <a:cs typeface="Times New Roman" panose="02020603050405020304" pitchFamily="18" charset="0"/>
                <a:sym typeface="+mn-ea"/>
              </a:endParaRPr>
            </a:p>
          </p:txBody>
        </p:sp>
      </p:grpSp>
      <p:grpSp>
        <p:nvGrpSpPr>
          <p:cNvPr id="78" name="组合 77"/>
          <p:cNvGrpSpPr/>
          <p:nvPr/>
        </p:nvGrpSpPr>
        <p:grpSpPr>
          <a:xfrm>
            <a:off x="6170930" y="4903470"/>
            <a:ext cx="1514475" cy="382270"/>
            <a:chOff x="9694" y="9062"/>
            <a:chExt cx="2385" cy="602"/>
          </a:xfrm>
        </p:grpSpPr>
        <p:grpSp>
          <p:nvGrpSpPr>
            <p:cNvPr id="79" name="组合 78"/>
            <p:cNvGrpSpPr/>
            <p:nvPr/>
          </p:nvGrpSpPr>
          <p:grpSpPr>
            <a:xfrm>
              <a:off x="9694" y="9062"/>
              <a:ext cx="1405" cy="602"/>
              <a:chOff x="9776" y="4285"/>
              <a:chExt cx="1405" cy="602"/>
            </a:xfrm>
          </p:grpSpPr>
          <p:grpSp>
            <p:nvGrpSpPr>
              <p:cNvPr id="80" name="组合 79"/>
              <p:cNvGrpSpPr/>
              <p:nvPr/>
            </p:nvGrpSpPr>
            <p:grpSpPr>
              <a:xfrm>
                <a:off x="9776" y="4285"/>
                <a:ext cx="644" cy="602"/>
                <a:chOff x="1006488" y="2036167"/>
                <a:chExt cx="531192" cy="504056"/>
              </a:xfrm>
            </p:grpSpPr>
            <p:sp>
              <p:nvSpPr>
                <p:cNvPr id="8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2" name="文本框 8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3" name="组合 82"/>
              <p:cNvGrpSpPr/>
              <p:nvPr/>
            </p:nvGrpSpPr>
            <p:grpSpPr>
              <a:xfrm>
                <a:off x="10537" y="4285"/>
                <a:ext cx="644" cy="602"/>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86" name="直接连接符 85"/>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87" name="文本框 86"/>
            <p:cNvSpPr txBox="1"/>
            <p:nvPr/>
          </p:nvSpPr>
          <p:spPr>
            <a:xfrm>
              <a:off x="11395" y="9070"/>
              <a:ext cx="684" cy="54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4</a:t>
              </a:r>
              <a:endParaRPr lang="en-US" altLang="zh-CN">
                <a:latin typeface="Times New Roman" panose="02020603050405020304" pitchFamily="18" charset="0"/>
                <a:cs typeface="Times New Roman" panose="02020603050405020304" pitchFamily="18" charset="0"/>
                <a:sym typeface="+mn-ea"/>
              </a:endParaRPr>
            </a:p>
          </p:txBody>
        </p:sp>
      </p:grpSp>
      <p:cxnSp>
        <p:nvCxnSpPr>
          <p:cNvPr id="88" name="直接连接符 87"/>
          <p:cNvCxnSpPr/>
          <p:nvPr/>
        </p:nvCxnSpPr>
        <p:spPr>
          <a:xfrm flipH="1">
            <a:off x="1000125" y="3673475"/>
            <a:ext cx="265430" cy="4102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89" name="文本框 88"/>
          <p:cNvSpPr txBox="1"/>
          <p:nvPr/>
        </p:nvSpPr>
        <p:spPr>
          <a:xfrm>
            <a:off x="687070" y="3539490"/>
            <a:ext cx="445770" cy="346075"/>
          </a:xfrm>
          <a:prstGeom prst="rect">
            <a:avLst/>
          </a:prstGeom>
          <a:noFill/>
        </p:spPr>
        <p:txBody>
          <a:bodyPr wrap="square" rtlCol="0">
            <a:noAutofit/>
          </a:bodyPr>
          <a:lstStyle/>
          <a:p>
            <a:r>
              <a:rPr lang="en-US" altLang="zh-CN">
                <a:solidFill>
                  <a:srgbClr val="FF0000"/>
                </a:solidFill>
                <a:latin typeface="+mj-lt"/>
                <a:cs typeface="+mj-lt"/>
              </a:rPr>
              <a:t>1</a:t>
            </a:r>
            <a:endParaRPr lang="en-US" altLang="zh-CN">
              <a:solidFill>
                <a:srgbClr val="FF0000"/>
              </a:solidFill>
              <a:latin typeface="+mj-lt"/>
              <a:cs typeface="+mj-lt"/>
            </a:endParaRPr>
          </a:p>
        </p:txBody>
      </p:sp>
      <p:cxnSp>
        <p:nvCxnSpPr>
          <p:cNvPr id="90" name="直接连接符 89"/>
          <p:cNvCxnSpPr/>
          <p:nvPr/>
        </p:nvCxnSpPr>
        <p:spPr>
          <a:xfrm>
            <a:off x="1718945" y="3482340"/>
            <a:ext cx="621030" cy="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91" name="文本框 90"/>
          <p:cNvSpPr txBox="1"/>
          <p:nvPr/>
        </p:nvSpPr>
        <p:spPr>
          <a:xfrm>
            <a:off x="1960880" y="3182620"/>
            <a:ext cx="445770" cy="346075"/>
          </a:xfrm>
          <a:prstGeom prst="rect">
            <a:avLst/>
          </a:prstGeom>
          <a:noFill/>
        </p:spPr>
        <p:txBody>
          <a:bodyPr wrap="square" rtlCol="0">
            <a:noAutofit/>
          </a:bodyPr>
          <a:lstStyle/>
          <a:p>
            <a:r>
              <a:rPr lang="en-US" altLang="zh-CN">
                <a:solidFill>
                  <a:srgbClr val="FF0000"/>
                </a:solidFill>
                <a:latin typeface="+mj-lt"/>
                <a:cs typeface="+mj-lt"/>
              </a:rPr>
              <a:t>1</a:t>
            </a:r>
            <a:endParaRPr lang="en-US" altLang="zh-CN">
              <a:solidFill>
                <a:srgbClr val="FF0000"/>
              </a:solidFill>
              <a:latin typeface="+mj-lt"/>
              <a:cs typeface="+mj-lt"/>
            </a:endParaRPr>
          </a:p>
        </p:txBody>
      </p:sp>
      <p:cxnSp>
        <p:nvCxnSpPr>
          <p:cNvPr id="92" name="直接连接符 91"/>
          <p:cNvCxnSpPr/>
          <p:nvPr/>
        </p:nvCxnSpPr>
        <p:spPr>
          <a:xfrm>
            <a:off x="2310765" y="4346575"/>
            <a:ext cx="1109345" cy="2863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93" name="文本框 92"/>
          <p:cNvSpPr txBox="1"/>
          <p:nvPr/>
        </p:nvSpPr>
        <p:spPr>
          <a:xfrm>
            <a:off x="2700020" y="4124325"/>
            <a:ext cx="445770" cy="346075"/>
          </a:xfrm>
          <a:prstGeom prst="rect">
            <a:avLst/>
          </a:prstGeom>
          <a:noFill/>
        </p:spPr>
        <p:txBody>
          <a:bodyPr wrap="square" rtlCol="0">
            <a:noAutofit/>
          </a:bodyPr>
          <a:lstStyle/>
          <a:p>
            <a:r>
              <a:rPr lang="en-US" altLang="zh-CN">
                <a:solidFill>
                  <a:srgbClr val="FF0000"/>
                </a:solidFill>
                <a:latin typeface="+mj-lt"/>
                <a:cs typeface="+mj-lt"/>
              </a:rPr>
              <a:t>1</a:t>
            </a:r>
            <a:endParaRPr lang="en-US" altLang="zh-CN">
              <a:solidFill>
                <a:srgbClr val="FF0000"/>
              </a:solidFill>
              <a:latin typeface="+mj-lt"/>
              <a:cs typeface="+mj-lt"/>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 0 C 0.0121528 -0.0286111 0.0165278 -0.139537 0.0875 -0.122222 C 0.158472 -0.104907 0.303264 0.0424074 0.355 0.0866667 " pathEditMode="relative" ptsTypes="">
                                      <p:cBhvr>
                                        <p:cTn id="6" dur="2000" fill="hold"/>
                                        <p:tgtEl>
                                          <p:spTgt spid="53"/>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0" presetClass="path" presetSubtype="0" accel="50000" decel="50000" fill="hold" nodeType="clickEffect">
                                  <p:stCondLst>
                                    <p:cond delay="0"/>
                                  </p:stCondLst>
                                  <p:childTnLst>
                                    <p:animMotion origin="layout" path="M 0 0 L 0 -0.0630556 " pathEditMode="relative" ptsTypes="">
                                      <p:cBhvr>
                                        <p:cTn id="16" dur="2000" fill="hold"/>
                                        <p:tgtEl>
                                          <p:spTgt spid="54"/>
                                        </p:tgtEl>
                                        <p:attrNameLst>
                                          <p:attrName>ppt_x</p:attrName>
                                          <p:attrName>ppt_y</p:attrName>
                                        </p:attrNameLst>
                                      </p:cBhvr>
                                    </p:animMotion>
                                  </p:childTnLst>
                                </p:cTn>
                              </p:par>
                              <p:par>
                                <p:cTn id="17" presetID="0" presetClass="path" presetSubtype="0" accel="50000" decel="50000" fill="hold" nodeType="withEffect">
                                  <p:stCondLst>
                                    <p:cond delay="0"/>
                                  </p:stCondLst>
                                  <p:childTnLst>
                                    <p:animMotion origin="layout" path="M 0 0 L 0 -0.0630556 " pathEditMode="relative" ptsTypes="">
                                      <p:cBhvr>
                                        <p:cTn id="18" dur="2000" fill="hold"/>
                                        <p:tgtEl>
                                          <p:spTgt spid="55"/>
                                        </p:tgtEl>
                                        <p:attrNameLst>
                                          <p:attrName>ppt_x</p:attrName>
                                          <p:attrName>ppt_y</p:attrName>
                                        </p:attrNameLst>
                                      </p:cBhvr>
                                    </p:animMotion>
                                  </p:childTnLst>
                                </p:cTn>
                              </p:par>
                              <p:par>
                                <p:cTn id="19" presetID="0" presetClass="path" presetSubtype="0" accel="50000" decel="50000" fill="hold" nodeType="withEffect">
                                  <p:stCondLst>
                                    <p:cond delay="0"/>
                                  </p:stCondLst>
                                  <p:childTnLst>
                                    <p:animMotion origin="layout" path="M 0 0 L 0 -0.0630556 " pathEditMode="relative" ptsTypes="">
                                      <p:cBhvr>
                                        <p:cTn id="20" dur="2000" fill="hold"/>
                                        <p:tgtEl>
                                          <p:spTgt spid="58"/>
                                        </p:tgtEl>
                                        <p:attrNameLst>
                                          <p:attrName>ppt_x</p:attrName>
                                          <p:attrName>ppt_y</p:attrName>
                                        </p:attrNameLst>
                                      </p:cBhvr>
                                    </p:animMotion>
                                  </p:childTnLst>
                                </p:cTn>
                              </p:par>
                              <p:par>
                                <p:cTn id="21" presetID="0" presetClass="path" presetSubtype="0" accel="50000" decel="50000" fill="hold" nodeType="withEffect">
                                  <p:stCondLst>
                                    <p:cond delay="0"/>
                                  </p:stCondLst>
                                  <p:childTnLst>
                                    <p:animMotion origin="layout" path="M 0 0 L 0 -0.0630556 " pathEditMode="relative" ptsTypes="">
                                      <p:cBhvr>
                                        <p:cTn id="22" dur="2000" fill="hold"/>
                                        <p:tgtEl>
                                          <p:spTgt spid="68"/>
                                        </p:tgtEl>
                                        <p:attrNameLst>
                                          <p:attrName>ppt_x</p:attrName>
                                          <p:attrName>ppt_y</p:attrName>
                                        </p:attrNameLst>
                                      </p:cBhvr>
                                    </p:animMotion>
                                  </p:childTnLst>
                                </p:cTn>
                              </p:par>
                              <p:par>
                                <p:cTn id="23" presetID="0" presetClass="path" presetSubtype="0" accel="50000" decel="50000" fill="hold" nodeType="withEffect">
                                  <p:stCondLst>
                                    <p:cond delay="0"/>
                                  </p:stCondLst>
                                  <p:childTnLst>
                                    <p:animMotion origin="layout" path="M 0 0 L 0 -0.0630556 " pathEditMode="relative" ptsTypes="">
                                      <p:cBhvr>
                                        <p:cTn id="24" dur="2000" fill="hold"/>
                                        <p:tgtEl>
                                          <p:spTgt spid="78"/>
                                        </p:tgtEl>
                                        <p:attrNameLst>
                                          <p:attrName>ppt_x</p:attrName>
                                          <p:attrName>ppt_y</p:attrName>
                                        </p:attrNameLst>
                                      </p:cBhvr>
                                    </p:animMotion>
                                  </p:childTnLst>
                                </p:cTn>
                              </p:par>
                            </p:childTnLst>
                          </p:cTn>
                        </p:par>
                      </p:childTnLst>
                    </p:cTn>
                  </p:par>
                  <p:par>
                    <p:cTn id="25" fill="hold">
                      <p:stCondLst>
                        <p:cond delay="indefinite"/>
                      </p:stCondLst>
                      <p:childTnLst>
                        <p:par>
                          <p:cTn id="26" fill="hold">
                            <p:stCondLst>
                              <p:cond delay="0"/>
                            </p:stCondLst>
                            <p:childTnLst>
                              <p:par>
                                <p:cTn id="27" presetID="0" presetClass="path" presetSubtype="0" accel="50000" decel="50000" fill="hold" nodeType="clickEffect">
                                  <p:stCondLst>
                                    <p:cond delay="0"/>
                                  </p:stCondLst>
                                  <p:childTnLst>
                                    <p:animMotion origin="layout" path="M -0.00155414 -0.0662963 C 0.0101828 -0.0959259 0.0129593 -0.210741 0.0840123 -0.192963 C 0.155065 -0.175185 0.3014 -0.0230556 0.353585 0.0225926 " pathEditMode="relative" rAng="0" ptsTypes="">
                                      <p:cBhvr>
                                        <p:cTn id="28" dur="2000" fill="hold"/>
                                        <p:tgtEl>
                                          <p:spTgt spid="54"/>
                                        </p:tgtEl>
                                        <p:attrNameLst>
                                          <p:attrName>ppt_x</p:attrName>
                                          <p:attrName>ppt_y</p:attrName>
                                        </p:attrNameLst>
                                      </p:cBhvr>
                                      <p:rCtr x="178" y="-19"/>
                                    </p:animMotion>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9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9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0" presetClass="path" presetSubtype="0" accel="50000" decel="50000" fill="hold" nodeType="clickEffect">
                                  <p:stCondLst>
                                    <p:cond delay="0"/>
                                  </p:stCondLst>
                                  <p:childTnLst>
                                    <p:animMotion origin="layout" path="M 0 -0.0668519 L 0 -0.129907 " pathEditMode="relative" rAng="0" ptsTypes="">
                                      <p:cBhvr>
                                        <p:cTn id="38" dur="2000" fill="hold"/>
                                        <p:tgtEl>
                                          <p:spTgt spid="55"/>
                                        </p:tgtEl>
                                        <p:attrNameLst>
                                          <p:attrName>ppt_x</p:attrName>
                                          <p:attrName>ppt_y</p:attrName>
                                        </p:attrNameLst>
                                      </p:cBhvr>
                                      <p:rCtr x="0" y="-31"/>
                                    </p:animMotion>
                                  </p:childTnLst>
                                </p:cTn>
                              </p:par>
                              <p:par>
                                <p:cTn id="39" presetID="0" presetClass="path" presetSubtype="0" accel="50000" decel="50000" fill="hold" nodeType="withEffect">
                                  <p:stCondLst>
                                    <p:cond delay="0"/>
                                  </p:stCondLst>
                                  <p:childTnLst>
                                    <p:animMotion origin="layout" path="M 0 -0.0668519 L 0 -0.129907 " pathEditMode="relative" rAng="0" ptsTypes="">
                                      <p:cBhvr>
                                        <p:cTn id="40" dur="2000" fill="hold"/>
                                        <p:tgtEl>
                                          <p:spTgt spid="58"/>
                                        </p:tgtEl>
                                        <p:attrNameLst>
                                          <p:attrName>ppt_x</p:attrName>
                                          <p:attrName>ppt_y</p:attrName>
                                        </p:attrNameLst>
                                      </p:cBhvr>
                                      <p:rCtr x="0" y="-31"/>
                                    </p:animMotion>
                                  </p:childTnLst>
                                </p:cTn>
                              </p:par>
                              <p:par>
                                <p:cTn id="41" presetID="0" presetClass="path" presetSubtype="0" accel="50000" decel="50000" fill="hold" nodeType="withEffect">
                                  <p:stCondLst>
                                    <p:cond delay="0"/>
                                  </p:stCondLst>
                                  <p:childTnLst>
                                    <p:animMotion origin="layout" path="M 0 -0.0668519 L 0 -0.129907 " pathEditMode="relative" rAng="0" ptsTypes="">
                                      <p:cBhvr>
                                        <p:cTn id="42" dur="2000" fill="hold"/>
                                        <p:tgtEl>
                                          <p:spTgt spid="68"/>
                                        </p:tgtEl>
                                        <p:attrNameLst>
                                          <p:attrName>ppt_x</p:attrName>
                                          <p:attrName>ppt_y</p:attrName>
                                        </p:attrNameLst>
                                      </p:cBhvr>
                                      <p:rCtr x="0" y="-31"/>
                                    </p:animMotion>
                                  </p:childTnLst>
                                </p:cTn>
                              </p:par>
                              <p:par>
                                <p:cTn id="43" presetID="0" presetClass="path" presetSubtype="0" accel="50000" decel="50000" fill="hold" nodeType="withEffect">
                                  <p:stCondLst>
                                    <p:cond delay="0"/>
                                  </p:stCondLst>
                                  <p:childTnLst>
                                    <p:animMotion origin="layout" path="M 0 -0.0668519 L 0 -0.129907 " pathEditMode="relative" rAng="0" ptsTypes="">
                                      <p:cBhvr>
                                        <p:cTn id="44" dur="2000" fill="hold"/>
                                        <p:tgtEl>
                                          <p:spTgt spid="78"/>
                                        </p:tgtEl>
                                        <p:attrNameLst>
                                          <p:attrName>ppt_x</p:attrName>
                                          <p:attrName>ppt_y</p:attrName>
                                        </p:attrNameLst>
                                      </p:cBhvr>
                                      <p:rCtr x="0" y="-31"/>
                                    </p:animMotion>
                                  </p:childTnLst>
                                </p:cTn>
                              </p:par>
                            </p:childTnLst>
                          </p:cTn>
                        </p:par>
                      </p:childTnLst>
                    </p:cTn>
                  </p:par>
                  <p:par>
                    <p:cTn id="45" fill="hold">
                      <p:stCondLst>
                        <p:cond delay="indefinite"/>
                      </p:stCondLst>
                      <p:childTnLst>
                        <p:par>
                          <p:cTn id="46" fill="hold">
                            <p:stCondLst>
                              <p:cond delay="0"/>
                            </p:stCondLst>
                            <p:childTnLst>
                              <p:par>
                                <p:cTn id="47" presetID="0" presetClass="path" presetSubtype="0" accel="50000" decel="50000" fill="hold" nodeType="clickEffect">
                                  <p:stCondLst>
                                    <p:cond delay="0"/>
                                  </p:stCondLst>
                                  <p:childTnLst>
                                    <p:animMotion origin="layout" path="M 0.00486111 -0.130741 C 0.0119444 -0.160833 -0.00416667 -0.278056 0.0715278 -0.258519 C 0.147222 -0.238981 0.322222 -0.0806481 0.383194 -0.032963 " pathEditMode="relative" ptsTypes="">
                                      <p:cBhvr>
                                        <p:cTn id="48" dur="2000" fill="hold"/>
                                        <p:tgtEl>
                                          <p:spTgt spid="55"/>
                                        </p:tgtEl>
                                        <p:attrNameLst>
                                          <p:attrName>ppt_x</p:attrName>
                                          <p:attrName>ppt_y</p:attrName>
                                        </p:attrNameLst>
                                      </p:cBhvr>
                                    </p:animMotion>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9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3"/>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0" presetClass="path" presetSubtype="0" accel="50000" decel="50000" fill="hold" nodeType="clickEffect">
                                  <p:stCondLst>
                                    <p:cond delay="0"/>
                                  </p:stCondLst>
                                  <p:childTnLst>
                                    <p:animMotion origin="layout" path="M -0.00395833 -0.119352 L -0.00395833 -0.182407 " pathEditMode="relative" rAng="0" ptsTypes="">
                                      <p:cBhvr>
                                        <p:cTn id="58" dur="2000" fill="hold"/>
                                        <p:tgtEl>
                                          <p:spTgt spid="58"/>
                                        </p:tgtEl>
                                        <p:attrNameLst>
                                          <p:attrName>ppt_x</p:attrName>
                                          <p:attrName>ppt_y</p:attrName>
                                        </p:attrNameLst>
                                      </p:cBhvr>
                                      <p:rCtr x="0" y="-31"/>
                                    </p:animMotion>
                                  </p:childTnLst>
                                </p:cTn>
                              </p:par>
                              <p:par>
                                <p:cTn id="59" presetID="0" presetClass="path" presetSubtype="0" accel="50000" decel="50000" fill="hold" nodeType="withEffect">
                                  <p:stCondLst>
                                    <p:cond delay="0"/>
                                  </p:stCondLst>
                                  <p:childTnLst>
                                    <p:animMotion origin="layout" path="M -0.00395833 -0.119352 L -0.00395833 -0.182407 " pathEditMode="relative" rAng="0" ptsTypes="">
                                      <p:cBhvr>
                                        <p:cTn id="60" dur="2000" fill="hold"/>
                                        <p:tgtEl>
                                          <p:spTgt spid="68"/>
                                        </p:tgtEl>
                                        <p:attrNameLst>
                                          <p:attrName>ppt_x</p:attrName>
                                          <p:attrName>ppt_y</p:attrName>
                                        </p:attrNameLst>
                                      </p:cBhvr>
                                      <p:rCtr x="0" y="-31"/>
                                    </p:animMotion>
                                  </p:childTnLst>
                                </p:cTn>
                              </p:par>
                              <p:par>
                                <p:cTn id="61" presetID="0" presetClass="path" presetSubtype="0" accel="50000" decel="50000" fill="hold" nodeType="withEffect">
                                  <p:stCondLst>
                                    <p:cond delay="0"/>
                                  </p:stCondLst>
                                  <p:childTnLst>
                                    <p:animMotion origin="layout" path="M -0.00395833 -0.119352 L -0.00395833 -0.182407 " pathEditMode="relative" rAng="0" ptsTypes="">
                                      <p:cBhvr>
                                        <p:cTn id="62" dur="2000" fill="hold"/>
                                        <p:tgtEl>
                                          <p:spTgt spid="78"/>
                                        </p:tgtEl>
                                        <p:attrNameLst>
                                          <p:attrName>ppt_x</p:attrName>
                                          <p:attrName>ppt_y</p:attrName>
                                        </p:attrNameLst>
                                      </p:cBhvr>
                                      <p:rCtr x="0" y="-31"/>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1"/>
      <p:bldP spid="40" grpId="1"/>
      <p:bldP spid="44" grpId="1"/>
      <p:bldP spid="45" grpId="1"/>
      <p:bldP spid="46" grpId="1"/>
      <p:bldP spid="27" grpId="1"/>
      <p:bldP spid="3" grpId="1" animBg="1"/>
      <p:bldP spid="5" grpId="1" animBg="1"/>
      <p:bldP spid="89" grpId="0"/>
      <p:bldP spid="89" grpId="1"/>
      <p:bldP spid="91" grpId="0"/>
      <p:bldP spid="91" grpId="1"/>
      <p:bldP spid="93" grpId="0"/>
      <p:bldP spid="93" grpId="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480695"/>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算法如何实现：两个重要问题需要解决①成环问题，②连接问题。</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endParaRPr>
            </a:p>
          </p:txBody>
        </p:sp>
      </p:grpSp>
      <p:grpSp>
        <p:nvGrpSpPr>
          <p:cNvPr id="15" name="组合 14"/>
          <p:cNvGrpSpPr/>
          <p:nvPr/>
        </p:nvGrpSpPr>
        <p:grpSpPr>
          <a:xfrm>
            <a:off x="3420110" y="4363085"/>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a:stCxn id="25" idx="4"/>
            <a:endCxn id="10" idx="7"/>
          </p:cNvCxnSpPr>
          <p:nvPr/>
        </p:nvCxnSpPr>
        <p:spPr>
          <a:xfrm flipH="1">
            <a:off x="2236470" y="3752215"/>
            <a:ext cx="373380" cy="40322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a:endCxn id="16" idx="2"/>
          </p:cNvCxnSpPr>
          <p:nvPr/>
        </p:nvCxnSpPr>
        <p:spPr>
          <a:xfrm>
            <a:off x="2310765" y="4346575"/>
            <a:ext cx="1109345" cy="28638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lstStyle/>
          <a:p>
            <a:r>
              <a:rPr lang="en-US" altLang="zh-CN">
                <a:latin typeface="+mj-lt"/>
                <a:cs typeface="+mj-lt"/>
              </a:rPr>
              <a:t>1</a:t>
            </a:r>
            <a:endParaRPr lang="en-US" altLang="zh-CN">
              <a:latin typeface="+mj-lt"/>
              <a:cs typeface="+mj-lt"/>
            </a:endParaRPr>
          </a:p>
        </p:txBody>
      </p:sp>
      <p:sp>
        <p:nvSpPr>
          <p:cNvPr id="40" name="文本框 39"/>
          <p:cNvSpPr txBox="1"/>
          <p:nvPr/>
        </p:nvSpPr>
        <p:spPr>
          <a:xfrm>
            <a:off x="2124075" y="3737610"/>
            <a:ext cx="445770" cy="346075"/>
          </a:xfrm>
          <a:prstGeom prst="rect">
            <a:avLst/>
          </a:prstGeom>
          <a:noFill/>
        </p:spPr>
        <p:txBody>
          <a:bodyPr wrap="square" rtlCol="0">
            <a:noAutofit/>
          </a:bodyPr>
          <a:lstStyle/>
          <a:p>
            <a:r>
              <a:rPr lang="en-US" altLang="zh-CN">
                <a:latin typeface="+mj-lt"/>
                <a:cs typeface="+mj-lt"/>
              </a:rPr>
              <a:t>4</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lstStyle/>
          <a:p>
            <a:r>
              <a:rPr lang="en-US" altLang="zh-CN">
                <a:latin typeface="+mj-lt"/>
                <a:cs typeface="+mj-lt"/>
              </a:rPr>
              <a:t>1</a:t>
            </a:r>
            <a:endParaRPr lang="en-US" altLang="zh-CN">
              <a:latin typeface="+mj-lt"/>
              <a:cs typeface="+mj-lt"/>
            </a:endParaRPr>
          </a:p>
        </p:txBody>
      </p:sp>
      <p:sp>
        <p:nvSpPr>
          <p:cNvPr id="45" name="文本框 44"/>
          <p:cNvSpPr txBox="1"/>
          <p:nvPr/>
        </p:nvSpPr>
        <p:spPr>
          <a:xfrm>
            <a:off x="2700020" y="4124325"/>
            <a:ext cx="445770" cy="346075"/>
          </a:xfrm>
          <a:prstGeom prst="rect">
            <a:avLst/>
          </a:prstGeom>
          <a:noFill/>
        </p:spPr>
        <p:txBody>
          <a:bodyPr wrap="square" rtlCol="0">
            <a:noAutofit/>
          </a:bodyPr>
          <a:lstStyle/>
          <a:p>
            <a:r>
              <a:rPr lang="en-US" altLang="zh-CN">
                <a:latin typeface="+mj-lt"/>
                <a:cs typeface="+mj-lt"/>
              </a:rPr>
              <a:t>1</a:t>
            </a:r>
            <a:endParaRPr lang="en-US" altLang="zh-CN">
              <a:latin typeface="+mj-lt"/>
              <a:cs typeface="+mj-lt"/>
            </a:endParaRPr>
          </a:p>
        </p:txBody>
      </p:sp>
      <p:sp>
        <p:nvSpPr>
          <p:cNvPr id="46" name="文本框 45"/>
          <p:cNvSpPr txBox="1"/>
          <p:nvPr/>
        </p:nvSpPr>
        <p:spPr>
          <a:xfrm>
            <a:off x="1273175" y="4270375"/>
            <a:ext cx="445770" cy="346075"/>
          </a:xfrm>
          <a:prstGeom prst="rect">
            <a:avLst/>
          </a:prstGeom>
          <a:noFill/>
          <a:ln>
            <a:noFill/>
          </a:ln>
        </p:spPr>
        <p:txBody>
          <a:bodyPr wrap="square" rtlCol="0">
            <a:noAutofit/>
          </a:bodyPr>
          <a:lstStyle/>
          <a:p>
            <a:r>
              <a:rPr lang="en-US" altLang="zh-CN">
                <a:solidFill>
                  <a:schemeClr val="tx1"/>
                </a:solidFill>
                <a:latin typeface="+mj-lt"/>
                <a:cs typeface="+mj-lt"/>
              </a:rPr>
              <a:t>3</a:t>
            </a:r>
            <a:endParaRPr lang="en-US" altLang="zh-CN">
              <a:solidFill>
                <a:schemeClr val="tx1"/>
              </a:solidFill>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657475"/>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657475"/>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51" name="直接连接符 50"/>
          <p:cNvCxnSpPr>
            <a:endCxn id="25" idx="3"/>
          </p:cNvCxnSpPr>
          <p:nvPr/>
        </p:nvCxnSpPr>
        <p:spPr>
          <a:xfrm flipV="1">
            <a:off x="1043940" y="3673475"/>
            <a:ext cx="1374775" cy="48196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52" name="文本框 51"/>
          <p:cNvSpPr txBox="1"/>
          <p:nvPr/>
        </p:nvSpPr>
        <p:spPr>
          <a:xfrm>
            <a:off x="1548130" y="3618230"/>
            <a:ext cx="445770" cy="346075"/>
          </a:xfrm>
          <a:prstGeom prst="rect">
            <a:avLst/>
          </a:prstGeom>
          <a:noFill/>
          <a:ln>
            <a:noFill/>
          </a:ln>
        </p:spPr>
        <p:txBody>
          <a:bodyPr wrap="square" rtlCol="0">
            <a:noAutofit/>
          </a:bodyPr>
          <a:lstStyle/>
          <a:p>
            <a:r>
              <a:rPr lang="en-US" altLang="zh-CN">
                <a:solidFill>
                  <a:schemeClr val="tx1"/>
                </a:solidFill>
                <a:latin typeface="+mj-lt"/>
                <a:cs typeface="+mj-lt"/>
              </a:rPr>
              <a:t>2</a:t>
            </a:r>
            <a:endParaRPr lang="en-US" altLang="zh-CN">
              <a:solidFill>
                <a:schemeClr val="tx1"/>
              </a:solidFill>
              <a:latin typeface="+mj-lt"/>
              <a:cs typeface="+mj-lt"/>
            </a:endParaRPr>
          </a:p>
        </p:txBody>
      </p:sp>
      <p:grpSp>
        <p:nvGrpSpPr>
          <p:cNvPr id="58" name="组合 57"/>
          <p:cNvGrpSpPr/>
          <p:nvPr/>
        </p:nvGrpSpPr>
        <p:grpSpPr>
          <a:xfrm>
            <a:off x="6170930" y="2662555"/>
            <a:ext cx="1513205" cy="467995"/>
            <a:chOff x="9694" y="7567"/>
            <a:chExt cx="2383" cy="737"/>
          </a:xfrm>
        </p:grpSpPr>
        <p:grpSp>
          <p:nvGrpSpPr>
            <p:cNvPr id="59" name="组合 58"/>
            <p:cNvGrpSpPr/>
            <p:nvPr/>
          </p:nvGrpSpPr>
          <p:grpSpPr>
            <a:xfrm>
              <a:off x="9694" y="7702"/>
              <a:ext cx="1405" cy="602"/>
              <a:chOff x="9776" y="4285"/>
              <a:chExt cx="1405" cy="602"/>
            </a:xfrm>
          </p:grpSpPr>
          <p:grpSp>
            <p:nvGrpSpPr>
              <p:cNvPr id="60" name="组合 59"/>
              <p:cNvGrpSpPr/>
              <p:nvPr/>
            </p:nvGrpSpPr>
            <p:grpSpPr>
              <a:xfrm>
                <a:off x="9776" y="4285"/>
                <a:ext cx="644" cy="602"/>
                <a:chOff x="1006488" y="2036167"/>
                <a:chExt cx="531192" cy="504056"/>
              </a:xfrm>
            </p:grpSpPr>
            <p:sp>
              <p:nvSpPr>
                <p:cNvPr id="6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2" name="文本框 6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63" name="组合 62"/>
              <p:cNvGrpSpPr/>
              <p:nvPr/>
            </p:nvGrpSpPr>
            <p:grpSpPr>
              <a:xfrm>
                <a:off x="10537" y="4285"/>
                <a:ext cx="644" cy="602"/>
                <a:chOff x="1006488" y="2036167"/>
                <a:chExt cx="531192" cy="504056"/>
              </a:xfrm>
            </p:grpSpPr>
            <p:sp>
              <p:nvSpPr>
                <p:cNvPr id="6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5" name="文本框 6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66" name="直接连接符 65"/>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67" name="文本框 66"/>
            <p:cNvSpPr txBox="1"/>
            <p:nvPr/>
          </p:nvSpPr>
          <p:spPr>
            <a:xfrm>
              <a:off x="11395" y="7567"/>
              <a:ext cx="683" cy="58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68" name="组合 67"/>
          <p:cNvGrpSpPr/>
          <p:nvPr/>
        </p:nvGrpSpPr>
        <p:grpSpPr>
          <a:xfrm>
            <a:off x="6170930" y="3172460"/>
            <a:ext cx="1613535" cy="406400"/>
            <a:chOff x="9694" y="8370"/>
            <a:chExt cx="2541" cy="640"/>
          </a:xfrm>
        </p:grpSpPr>
        <p:grpSp>
          <p:nvGrpSpPr>
            <p:cNvPr id="69" name="组合 68"/>
            <p:cNvGrpSpPr/>
            <p:nvPr/>
          </p:nvGrpSpPr>
          <p:grpSpPr>
            <a:xfrm>
              <a:off x="9694" y="8408"/>
              <a:ext cx="1405" cy="602"/>
              <a:chOff x="9776" y="4285"/>
              <a:chExt cx="1405" cy="602"/>
            </a:xfrm>
          </p:grpSpPr>
          <p:grpSp>
            <p:nvGrpSpPr>
              <p:cNvPr id="70" name="组合 69"/>
              <p:cNvGrpSpPr/>
              <p:nvPr/>
            </p:nvGrpSpPr>
            <p:grpSpPr>
              <a:xfrm>
                <a:off x="9776" y="4285"/>
                <a:ext cx="644" cy="602"/>
                <a:chOff x="1006488" y="2036167"/>
                <a:chExt cx="531192" cy="504056"/>
              </a:xfrm>
            </p:grpSpPr>
            <p:sp>
              <p:nvSpPr>
                <p:cNvPr id="7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2" name="文本框 7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3" name="组合 72"/>
              <p:cNvGrpSpPr/>
              <p:nvPr/>
            </p:nvGrpSpPr>
            <p:grpSpPr>
              <a:xfrm>
                <a:off x="10537" y="4285"/>
                <a:ext cx="644" cy="602"/>
                <a:chOff x="1006488" y="2036167"/>
                <a:chExt cx="531192" cy="504056"/>
              </a:xfrm>
            </p:grpSpPr>
            <p:sp>
              <p:nvSpPr>
                <p:cNvPr id="7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5" name="文本框 7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76" name="直接连接符 75"/>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77" name="文本框 76"/>
            <p:cNvSpPr txBox="1"/>
            <p:nvPr/>
          </p:nvSpPr>
          <p:spPr>
            <a:xfrm>
              <a:off x="11395" y="8370"/>
              <a:ext cx="841" cy="62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3</a:t>
              </a:r>
              <a:endParaRPr lang="en-US" altLang="zh-CN">
                <a:latin typeface="Times New Roman" panose="02020603050405020304" pitchFamily="18" charset="0"/>
                <a:cs typeface="Times New Roman" panose="02020603050405020304" pitchFamily="18" charset="0"/>
                <a:sym typeface="+mn-ea"/>
              </a:endParaRPr>
            </a:p>
          </p:txBody>
        </p:sp>
      </p:grpSp>
      <p:grpSp>
        <p:nvGrpSpPr>
          <p:cNvPr id="78" name="组合 77"/>
          <p:cNvGrpSpPr/>
          <p:nvPr/>
        </p:nvGrpSpPr>
        <p:grpSpPr>
          <a:xfrm>
            <a:off x="6170930" y="3611880"/>
            <a:ext cx="1514475" cy="382270"/>
            <a:chOff x="9694" y="9062"/>
            <a:chExt cx="2385" cy="602"/>
          </a:xfrm>
        </p:grpSpPr>
        <p:grpSp>
          <p:nvGrpSpPr>
            <p:cNvPr id="79" name="组合 78"/>
            <p:cNvGrpSpPr/>
            <p:nvPr/>
          </p:nvGrpSpPr>
          <p:grpSpPr>
            <a:xfrm>
              <a:off x="9694" y="9062"/>
              <a:ext cx="1405" cy="602"/>
              <a:chOff x="9776" y="4285"/>
              <a:chExt cx="1405" cy="602"/>
            </a:xfrm>
          </p:grpSpPr>
          <p:grpSp>
            <p:nvGrpSpPr>
              <p:cNvPr id="80" name="组合 79"/>
              <p:cNvGrpSpPr/>
              <p:nvPr/>
            </p:nvGrpSpPr>
            <p:grpSpPr>
              <a:xfrm>
                <a:off x="9776" y="4285"/>
                <a:ext cx="644" cy="602"/>
                <a:chOff x="1006488" y="2036167"/>
                <a:chExt cx="531192" cy="504056"/>
              </a:xfrm>
            </p:grpSpPr>
            <p:sp>
              <p:nvSpPr>
                <p:cNvPr id="8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2" name="文本框 8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3" name="组合 82"/>
              <p:cNvGrpSpPr/>
              <p:nvPr/>
            </p:nvGrpSpPr>
            <p:grpSpPr>
              <a:xfrm>
                <a:off x="10537" y="4285"/>
                <a:ext cx="644" cy="602"/>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86" name="直接连接符 85"/>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87" name="文本框 86"/>
            <p:cNvSpPr txBox="1"/>
            <p:nvPr/>
          </p:nvSpPr>
          <p:spPr>
            <a:xfrm>
              <a:off x="11395" y="9070"/>
              <a:ext cx="684" cy="54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4</a:t>
              </a:r>
              <a:endParaRPr lang="en-US" altLang="zh-CN">
                <a:latin typeface="Times New Roman" panose="02020603050405020304" pitchFamily="18" charset="0"/>
                <a:cs typeface="Times New Roman" panose="02020603050405020304" pitchFamily="18" charset="0"/>
                <a:sym typeface="+mn-ea"/>
              </a:endParaRPr>
            </a:p>
          </p:txBody>
        </p:sp>
      </p:grpSp>
      <p:cxnSp>
        <p:nvCxnSpPr>
          <p:cNvPr id="88" name="直接连接符 87"/>
          <p:cNvCxnSpPr/>
          <p:nvPr/>
        </p:nvCxnSpPr>
        <p:spPr>
          <a:xfrm flipH="1">
            <a:off x="1000125" y="3673475"/>
            <a:ext cx="265430" cy="4102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89" name="文本框 88"/>
          <p:cNvSpPr txBox="1"/>
          <p:nvPr/>
        </p:nvSpPr>
        <p:spPr>
          <a:xfrm>
            <a:off x="687070" y="3539490"/>
            <a:ext cx="445770" cy="346075"/>
          </a:xfrm>
          <a:prstGeom prst="rect">
            <a:avLst/>
          </a:prstGeom>
          <a:noFill/>
        </p:spPr>
        <p:txBody>
          <a:bodyPr wrap="square" rtlCol="0">
            <a:noAutofit/>
          </a:bodyPr>
          <a:lstStyle/>
          <a:p>
            <a:r>
              <a:rPr lang="en-US" altLang="zh-CN">
                <a:solidFill>
                  <a:srgbClr val="FF0000"/>
                </a:solidFill>
                <a:latin typeface="+mj-lt"/>
                <a:cs typeface="+mj-lt"/>
              </a:rPr>
              <a:t>1</a:t>
            </a:r>
            <a:endParaRPr lang="en-US" altLang="zh-CN">
              <a:solidFill>
                <a:srgbClr val="FF0000"/>
              </a:solidFill>
              <a:latin typeface="+mj-lt"/>
              <a:cs typeface="+mj-lt"/>
            </a:endParaRPr>
          </a:p>
        </p:txBody>
      </p:sp>
      <p:cxnSp>
        <p:nvCxnSpPr>
          <p:cNvPr id="90" name="直接连接符 89"/>
          <p:cNvCxnSpPr/>
          <p:nvPr/>
        </p:nvCxnSpPr>
        <p:spPr>
          <a:xfrm>
            <a:off x="1718945" y="3482340"/>
            <a:ext cx="621030" cy="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91" name="文本框 90"/>
          <p:cNvSpPr txBox="1"/>
          <p:nvPr/>
        </p:nvSpPr>
        <p:spPr>
          <a:xfrm>
            <a:off x="1960880" y="3182620"/>
            <a:ext cx="445770" cy="346075"/>
          </a:xfrm>
          <a:prstGeom prst="rect">
            <a:avLst/>
          </a:prstGeom>
          <a:noFill/>
        </p:spPr>
        <p:txBody>
          <a:bodyPr wrap="square" rtlCol="0">
            <a:noAutofit/>
          </a:bodyPr>
          <a:lstStyle/>
          <a:p>
            <a:r>
              <a:rPr lang="en-US" altLang="zh-CN">
                <a:solidFill>
                  <a:srgbClr val="FF0000"/>
                </a:solidFill>
                <a:latin typeface="+mj-lt"/>
                <a:cs typeface="+mj-lt"/>
              </a:rPr>
              <a:t>1</a:t>
            </a:r>
            <a:endParaRPr lang="en-US" altLang="zh-CN">
              <a:solidFill>
                <a:srgbClr val="FF0000"/>
              </a:solidFill>
              <a:latin typeface="+mj-lt"/>
              <a:cs typeface="+mj-lt"/>
            </a:endParaRPr>
          </a:p>
        </p:txBody>
      </p:sp>
      <p:cxnSp>
        <p:nvCxnSpPr>
          <p:cNvPr id="92" name="直接连接符 91"/>
          <p:cNvCxnSpPr/>
          <p:nvPr/>
        </p:nvCxnSpPr>
        <p:spPr>
          <a:xfrm>
            <a:off x="2310765" y="4346575"/>
            <a:ext cx="1109345" cy="2863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93" name="文本框 92"/>
          <p:cNvSpPr txBox="1"/>
          <p:nvPr/>
        </p:nvSpPr>
        <p:spPr>
          <a:xfrm>
            <a:off x="2700020" y="4124325"/>
            <a:ext cx="445770" cy="346075"/>
          </a:xfrm>
          <a:prstGeom prst="rect">
            <a:avLst/>
          </a:prstGeom>
          <a:noFill/>
        </p:spPr>
        <p:txBody>
          <a:bodyPr wrap="square" rtlCol="0">
            <a:noAutofit/>
          </a:bodyPr>
          <a:lstStyle/>
          <a:p>
            <a:r>
              <a:rPr lang="en-US" altLang="zh-CN">
                <a:solidFill>
                  <a:srgbClr val="FF0000"/>
                </a:solidFill>
                <a:latin typeface="+mj-lt"/>
                <a:cs typeface="+mj-lt"/>
              </a:rPr>
              <a:t>1</a:t>
            </a:r>
            <a:endParaRPr lang="en-US" altLang="zh-CN">
              <a:solidFill>
                <a:srgbClr val="FF0000"/>
              </a:solidFill>
              <a:latin typeface="+mj-lt"/>
              <a:cs typeface="+mj-lt"/>
            </a:endParaRPr>
          </a:p>
        </p:txBody>
      </p:sp>
      <p:sp>
        <p:nvSpPr>
          <p:cNvPr id="18" name="文本框 17"/>
          <p:cNvSpPr txBox="1"/>
          <p:nvPr/>
        </p:nvSpPr>
        <p:spPr>
          <a:xfrm>
            <a:off x="3740785" y="3021965"/>
            <a:ext cx="2123440" cy="645160"/>
          </a:xfrm>
          <a:prstGeom prst="rect">
            <a:avLst/>
          </a:prstGeom>
          <a:noFill/>
        </p:spPr>
        <p:txBody>
          <a:bodyPr wrap="square" rtlCol="0">
            <a:spAutoFit/>
          </a:bodyPr>
          <a:lstStyle/>
          <a:p>
            <a:r>
              <a:rPr lang="zh-CN" altLang="en-US" sz="1200">
                <a:solidFill>
                  <a:srgbClr val="FF0000"/>
                </a:solidFill>
                <a:uFillTx/>
                <a:latin typeface="Times New Roman" panose="02020603050405020304" pitchFamily="18" charset="0"/>
              </a:rPr>
              <a:t>此时发现</a:t>
            </a:r>
            <a:r>
              <a:rPr lang="en-US" altLang="zh-CN" sz="1200">
                <a:solidFill>
                  <a:srgbClr val="FF0000"/>
                </a:solidFill>
                <a:uFillTx/>
                <a:latin typeface="Times New Roman" panose="02020603050405020304" pitchFamily="18" charset="0"/>
              </a:rPr>
              <a:t>B-C</a:t>
            </a:r>
            <a:r>
              <a:rPr lang="zh-CN" altLang="en-US" sz="1200">
                <a:solidFill>
                  <a:srgbClr val="FF0000"/>
                </a:solidFill>
                <a:uFillTx/>
                <a:latin typeface="Times New Roman" panose="02020603050405020304" pitchFamily="18" charset="0"/>
              </a:rPr>
              <a:t>这个边成环不需要选择。所以说要有个办法判断是否成环？</a:t>
            </a:r>
            <a:endParaRPr lang="zh-CN" altLang="en-US" sz="1200">
              <a:solidFill>
                <a:srgbClr val="FF0000"/>
              </a:solidFill>
              <a:uFillTx/>
              <a:latin typeface="Times New Roman" panose="02020603050405020304" pitchFamily="18" charset="0"/>
            </a:endParaRPr>
          </a:p>
        </p:txBody>
      </p:sp>
      <p:sp>
        <p:nvSpPr>
          <p:cNvPr id="19" name="文本框 18"/>
          <p:cNvSpPr txBox="1"/>
          <p:nvPr/>
        </p:nvSpPr>
        <p:spPr>
          <a:xfrm>
            <a:off x="3775710" y="3787140"/>
            <a:ext cx="2198370" cy="460375"/>
          </a:xfrm>
          <a:prstGeom prst="rect">
            <a:avLst/>
          </a:prstGeom>
          <a:noFill/>
        </p:spPr>
        <p:txBody>
          <a:bodyPr wrap="square" rtlCol="0">
            <a:spAutoFit/>
          </a:bodyPr>
          <a:lstStyle/>
          <a:p>
            <a:r>
              <a:rPr lang="zh-CN" altLang="en-US" sz="1200">
                <a:solidFill>
                  <a:srgbClr val="FF0000"/>
                </a:solidFill>
                <a:uFillTx/>
                <a:latin typeface="Times New Roman" panose="02020603050405020304" pitchFamily="18" charset="0"/>
              </a:rPr>
              <a:t>还需要判断多个树是否连接成一个树。</a:t>
            </a:r>
            <a:endParaRPr lang="zh-CN" altLang="en-US" sz="1200">
              <a:solidFill>
                <a:srgbClr val="FF0000"/>
              </a:solidFill>
              <a:uFillTx/>
              <a:latin typeface="Times New Roman" panose="02020603050405020304" pitchFamily="18" charset="0"/>
            </a:endParaRPr>
          </a:p>
        </p:txBody>
      </p:sp>
      <p:cxnSp>
        <p:nvCxnSpPr>
          <p:cNvPr id="20" name="直接连接符 19"/>
          <p:cNvCxnSpPr/>
          <p:nvPr/>
        </p:nvCxnSpPr>
        <p:spPr>
          <a:xfrm>
            <a:off x="1075690" y="4274820"/>
            <a:ext cx="704215" cy="7175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21" name="文本框 20"/>
          <p:cNvSpPr txBox="1"/>
          <p:nvPr/>
        </p:nvSpPr>
        <p:spPr>
          <a:xfrm>
            <a:off x="1277620" y="4270375"/>
            <a:ext cx="445770" cy="346075"/>
          </a:xfrm>
          <a:prstGeom prst="rect">
            <a:avLst/>
          </a:prstGeom>
          <a:noFill/>
          <a:ln>
            <a:noFill/>
          </a:ln>
        </p:spPr>
        <p:txBody>
          <a:bodyPr wrap="square" rtlCol="0">
            <a:noAutofit/>
          </a:bodyPr>
          <a:lstStyle/>
          <a:p>
            <a:r>
              <a:rPr lang="en-US" altLang="zh-CN">
                <a:solidFill>
                  <a:srgbClr val="FF0000"/>
                </a:solidFill>
                <a:latin typeface="+mj-lt"/>
                <a:cs typeface="+mj-lt"/>
              </a:rPr>
              <a:t>3</a:t>
            </a:r>
            <a:endParaRPr lang="en-US" altLang="zh-CN">
              <a:solidFill>
                <a:srgbClr val="FF0000"/>
              </a:solidFill>
              <a:latin typeface="+mj-lt"/>
              <a:cs typeface="+mj-lt"/>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nodeType="clickEffect">
                                  <p:stCondLst>
                                    <p:cond delay="0"/>
                                  </p:stCondLst>
                                  <p:childTnLst>
                                    <p:animMotion origin="layout" path="M 0 0 C 0.0122917 -0.0287037 0.00784722 -0.136481 0.0958333 -0.125556 C 0.183819 -0.11463 0.373056 0.0159259 0.44 0.0544444 " pathEditMode="relative" ptsTypes="">
                                      <p:cBhvr>
                                        <p:cTn id="12" dur="2000" fill="hold"/>
                                        <p:tgtEl>
                                          <p:spTgt spid="58"/>
                                        </p:tgtEl>
                                        <p:attrNameLst>
                                          <p:attrName>ppt_x</p:attrName>
                                          <p:attrName>ppt_y</p:attrName>
                                        </p:attrNameLst>
                                      </p:cBhvr>
                                    </p:animMotion>
                                  </p:childTnLst>
                                </p:cTn>
                              </p:par>
                            </p:childTnLst>
                          </p:cTn>
                        </p:par>
                      </p:childTnLst>
                    </p:cTn>
                  </p:par>
                  <p:par>
                    <p:cTn id="13" fill="hold">
                      <p:stCondLst>
                        <p:cond delay="indefinite"/>
                      </p:stCondLst>
                      <p:childTnLst>
                        <p:par>
                          <p:cTn id="14" fill="hold">
                            <p:stCondLst>
                              <p:cond delay="0"/>
                            </p:stCondLst>
                            <p:childTnLst>
                              <p:par>
                                <p:cTn id="15" presetID="0" presetClass="path" presetSubtype="0" accel="50000" decel="50000" fill="hold" nodeType="clickEffect">
                                  <p:stCondLst>
                                    <p:cond delay="0"/>
                                  </p:stCondLst>
                                  <p:childTnLst>
                                    <p:animMotion origin="layout" path="M 0 0 L 0 -0.0630556 " pathEditMode="relative" ptsTypes="">
                                      <p:cBhvr>
                                        <p:cTn id="16" dur="2000" fill="hold"/>
                                        <p:tgtEl>
                                          <p:spTgt spid="68"/>
                                        </p:tgtEl>
                                        <p:attrNameLst>
                                          <p:attrName>ppt_x</p:attrName>
                                          <p:attrName>ppt_y</p:attrName>
                                        </p:attrNameLst>
                                      </p:cBhvr>
                                    </p:animMotion>
                                  </p:childTnLst>
                                </p:cTn>
                              </p:par>
                              <p:par>
                                <p:cTn id="17" presetID="0" presetClass="path" presetSubtype="0" accel="50000" decel="50000" fill="hold" nodeType="withEffect">
                                  <p:stCondLst>
                                    <p:cond delay="0"/>
                                  </p:stCondLst>
                                  <p:childTnLst>
                                    <p:animMotion origin="layout" path="M 0 0 L 0 -0.0630556 " pathEditMode="relative" ptsTypes="">
                                      <p:cBhvr>
                                        <p:cTn id="18" dur="2000" fill="hold"/>
                                        <p:tgtEl>
                                          <p:spTgt spid="78"/>
                                        </p:tgtEl>
                                        <p:attrNameLst>
                                          <p:attrName>ppt_x</p:attrName>
                                          <p:attrName>ppt_y</p:attrName>
                                        </p:attrNameLst>
                                      </p:cBhvr>
                                    </p:animMotion>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anim calcmode="lin" valueType="num">
                                      <p:cBhvr additive="base">
                                        <p:cTn id="23" dur="500" fill="hold"/>
                                        <p:tgtEl>
                                          <p:spTgt spid="19"/>
                                        </p:tgtEl>
                                        <p:attrNameLst>
                                          <p:attrName>ppt_x</p:attrName>
                                        </p:attrNameLst>
                                      </p:cBhvr>
                                      <p:tavLst>
                                        <p:tav tm="0">
                                          <p:val>
                                            <p:strVal val="#ppt_x"/>
                                          </p:val>
                                        </p:tav>
                                        <p:tav tm="100000">
                                          <p:val>
                                            <p:strVal val="#ppt_x"/>
                                          </p:val>
                                        </p:tav>
                                      </p:tavLst>
                                    </p:anim>
                                    <p:anim calcmode="lin" valueType="num">
                                      <p:cBhvr additive="base">
                                        <p:cTn id="24"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0" presetClass="path" presetSubtype="0" accel="50000" decel="50000" fill="hold" nodeType="clickEffect">
                                  <p:stCondLst>
                                    <p:cond delay="0"/>
                                  </p:stCondLst>
                                  <p:childTnLst>
                                    <p:animMotion origin="layout" path="M -0.00472222 -0.0683333 C 0.00513889 -0.0975 -0.00708333 -0.205185 0.0794444 -0.197222 C 0.165972 -0.189259 0.359792 -0.0647222 0.427778 -0.0283333 " pathEditMode="relative" ptsTypes="">
                                      <p:cBhvr>
                                        <p:cTn id="28" dur="2000" fill="hold"/>
                                        <p:tgtEl>
                                          <p:spTgt spid="68"/>
                                        </p:tgtEl>
                                        <p:attrNameLst>
                                          <p:attrName>ppt_x</p:attrName>
                                          <p:attrName>ppt_y</p:attrName>
                                        </p:attrNameLst>
                                      </p:cBhvr>
                                    </p:animMotion>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1"/>
      <p:bldP spid="40" grpId="1"/>
      <p:bldP spid="44" grpId="1"/>
      <p:bldP spid="45" grpId="1"/>
      <p:bldP spid="46" grpId="1"/>
      <p:bldP spid="27" grpId="1"/>
      <p:bldP spid="3" grpId="1" animBg="1"/>
      <p:bldP spid="5" grpId="1" animBg="1"/>
      <p:bldP spid="89" grpId="1"/>
      <p:bldP spid="91" grpId="1"/>
      <p:bldP spid="93" grpId="1"/>
      <p:bldP spid="18" grpId="0"/>
      <p:bldP spid="18" grpId="1"/>
      <p:bldP spid="19" grpId="0"/>
      <p:bldP spid="19" grpId="1"/>
      <p:bldP spid="21" grpId="0"/>
      <p:bldP spid="21" grpId="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2" name="文本框 21"/>
          <p:cNvSpPr txBox="1"/>
          <p:nvPr/>
        </p:nvSpPr>
        <p:spPr>
          <a:xfrm>
            <a:off x="611505" y="1988820"/>
            <a:ext cx="5942330" cy="357505"/>
          </a:xfrm>
          <a:prstGeom prst="rect">
            <a:avLst/>
          </a:prstGeom>
          <a:noFill/>
        </p:spPr>
        <p:txBody>
          <a:bodyPr wrap="square" rtlCol="0">
            <a:noAutofit/>
          </a:bodyPr>
          <a:lstStyle/>
          <a:p>
            <a:r>
              <a:rPr lang="zh-CN" altLang="en-US">
                <a:solidFill>
                  <a:srgbClr val="FF0000"/>
                </a:solidFill>
              </a:rPr>
              <a:t>并查集</a:t>
            </a:r>
            <a:r>
              <a:rPr lang="zh-CN" altLang="en-US"/>
              <a:t>可以解决成环与连接问题！那么什么是并查集？</a:t>
            </a:r>
            <a:endParaRPr lang="zh-CN" altLang="en-US"/>
          </a:p>
        </p:txBody>
      </p:sp>
      <p:graphicFrame>
        <p:nvGraphicFramePr>
          <p:cNvPr id="23" name="表格 22"/>
          <p:cNvGraphicFramePr/>
          <p:nvPr>
            <p:custDataLst>
              <p:tags r:id="rId1"/>
            </p:custDataLst>
          </p:nvPr>
        </p:nvGraphicFramePr>
        <p:xfrm>
          <a:off x="755650" y="3068955"/>
          <a:ext cx="4191635" cy="365760"/>
        </p:xfrm>
        <a:graphic>
          <a:graphicData uri="http://schemas.openxmlformats.org/drawingml/2006/table">
            <a:tbl>
              <a:tblPr firstRow="1" bandRow="1">
                <a:tableStyleId>{5C22544A-7EE6-4342-B048-85BDC9FD1C3A}</a:tableStyleId>
              </a:tblPr>
              <a:tblGrid>
                <a:gridCol w="598805"/>
                <a:gridCol w="598805"/>
                <a:gridCol w="598805"/>
                <a:gridCol w="598805"/>
                <a:gridCol w="598805"/>
              </a:tblGrid>
              <a:tr h="365760">
                <a:tc>
                  <a:txBody>
                    <a:bodyPr/>
                    <a:lstStyle/>
                    <a:p>
                      <a:pPr>
                        <a:buNone/>
                      </a:pPr>
                      <a:r>
                        <a:rPr lang="en-US" altLang="zh-CN">
                          <a:solidFill>
                            <a:schemeClr val="tx1"/>
                          </a:solidFill>
                        </a:rPr>
                        <a:t>0</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1</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2</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3</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4</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28" name="文本框 27"/>
          <p:cNvSpPr txBox="1"/>
          <p:nvPr/>
        </p:nvSpPr>
        <p:spPr>
          <a:xfrm>
            <a:off x="609600" y="2492375"/>
            <a:ext cx="5969000" cy="368300"/>
          </a:xfrm>
          <a:prstGeom prst="rect">
            <a:avLst/>
          </a:prstGeom>
          <a:noFill/>
        </p:spPr>
        <p:txBody>
          <a:bodyPr wrap="square" rtlCol="0">
            <a:spAutoFit/>
          </a:bodyPr>
          <a:lstStyle/>
          <a:p>
            <a:r>
              <a:rPr lang="zh-CN" altLang="en-US"/>
              <a:t>并查集的操作是用一个数组表示节点存储的父节点。</a:t>
            </a:r>
            <a:endParaRPr lang="zh-CN" altLang="en-US"/>
          </a:p>
        </p:txBody>
      </p:sp>
      <p:grpSp>
        <p:nvGrpSpPr>
          <p:cNvPr id="30" name="组合 29"/>
          <p:cNvGrpSpPr/>
          <p:nvPr/>
        </p:nvGrpSpPr>
        <p:grpSpPr>
          <a:xfrm>
            <a:off x="640715" y="4146550"/>
            <a:ext cx="539750" cy="539750"/>
            <a:chOff x="3572" y="3586"/>
            <a:chExt cx="850" cy="850"/>
          </a:xfrm>
        </p:grpSpPr>
        <p:sp>
          <p:nvSpPr>
            <p:cNvPr id="34" name="椭圆 33"/>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6" name="文本框 3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0</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37" name="组合 36"/>
          <p:cNvGrpSpPr/>
          <p:nvPr/>
        </p:nvGrpSpPr>
        <p:grpSpPr>
          <a:xfrm>
            <a:off x="3950970" y="4146550"/>
            <a:ext cx="539750" cy="539750"/>
            <a:chOff x="3572" y="3586"/>
            <a:chExt cx="850" cy="850"/>
          </a:xfrm>
        </p:grpSpPr>
        <p:sp>
          <p:nvSpPr>
            <p:cNvPr id="38" name="椭圆 3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41" name="文本框 4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3</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42" name="组合 41"/>
          <p:cNvGrpSpPr/>
          <p:nvPr/>
        </p:nvGrpSpPr>
        <p:grpSpPr>
          <a:xfrm>
            <a:off x="2852420" y="4146550"/>
            <a:ext cx="539750" cy="539750"/>
            <a:chOff x="3572" y="3586"/>
            <a:chExt cx="850" cy="850"/>
          </a:xfrm>
        </p:grpSpPr>
        <p:sp>
          <p:nvSpPr>
            <p:cNvPr id="43" name="椭圆 4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47" name="文本框 4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2</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endParaRPr>
            </a:p>
          </p:txBody>
        </p:sp>
      </p:grpSp>
      <p:grpSp>
        <p:nvGrpSpPr>
          <p:cNvPr id="48" name="组合 47"/>
          <p:cNvGrpSpPr/>
          <p:nvPr/>
        </p:nvGrpSpPr>
        <p:grpSpPr>
          <a:xfrm>
            <a:off x="4965700" y="4146550"/>
            <a:ext cx="539750" cy="539750"/>
            <a:chOff x="3572" y="3586"/>
            <a:chExt cx="850" cy="850"/>
          </a:xfrm>
        </p:grpSpPr>
        <p:sp>
          <p:nvSpPr>
            <p:cNvPr id="49" name="椭圆 4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0" name="文本框 4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4</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3" name="组合 52"/>
          <p:cNvGrpSpPr/>
          <p:nvPr/>
        </p:nvGrpSpPr>
        <p:grpSpPr>
          <a:xfrm>
            <a:off x="1797050" y="4146550"/>
            <a:ext cx="539750" cy="539750"/>
            <a:chOff x="3572" y="3586"/>
            <a:chExt cx="850" cy="850"/>
          </a:xfrm>
        </p:grpSpPr>
        <p:sp>
          <p:nvSpPr>
            <p:cNvPr id="54" name="椭圆 53"/>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5" name="文本框 54"/>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1</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56" name="环形箭头 55"/>
          <p:cNvSpPr/>
          <p:nvPr/>
        </p:nvSpPr>
        <p:spPr>
          <a:xfrm>
            <a:off x="802640" y="3928745"/>
            <a:ext cx="215900" cy="288290"/>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7" name="环形箭头 56"/>
          <p:cNvSpPr/>
          <p:nvPr/>
        </p:nvSpPr>
        <p:spPr>
          <a:xfrm>
            <a:off x="1971040" y="3928745"/>
            <a:ext cx="215900" cy="288290"/>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4" name="环形箭头 93"/>
          <p:cNvSpPr/>
          <p:nvPr/>
        </p:nvSpPr>
        <p:spPr>
          <a:xfrm>
            <a:off x="3033395" y="3932555"/>
            <a:ext cx="215900" cy="288290"/>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5" name="环形箭头 94"/>
          <p:cNvSpPr/>
          <p:nvPr/>
        </p:nvSpPr>
        <p:spPr>
          <a:xfrm>
            <a:off x="4107180" y="3932555"/>
            <a:ext cx="215900" cy="288290"/>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6" name="环形箭头 95"/>
          <p:cNvSpPr/>
          <p:nvPr/>
        </p:nvSpPr>
        <p:spPr>
          <a:xfrm>
            <a:off x="5106670" y="3932555"/>
            <a:ext cx="215900" cy="288290"/>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8" name="环形箭头 97"/>
          <p:cNvSpPr/>
          <p:nvPr/>
        </p:nvSpPr>
        <p:spPr>
          <a:xfrm>
            <a:off x="1043940" y="4004945"/>
            <a:ext cx="935990" cy="360045"/>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aphicFrame>
        <p:nvGraphicFramePr>
          <p:cNvPr id="101" name="表格 100"/>
          <p:cNvGraphicFramePr/>
          <p:nvPr>
            <p:custDataLst>
              <p:tags r:id="rId2"/>
            </p:custDataLst>
          </p:nvPr>
        </p:nvGraphicFramePr>
        <p:xfrm>
          <a:off x="755650" y="3434715"/>
          <a:ext cx="4191635" cy="365760"/>
        </p:xfrm>
        <a:graphic>
          <a:graphicData uri="http://schemas.openxmlformats.org/drawingml/2006/table">
            <a:tbl>
              <a:tblPr firstRow="1" bandRow="1">
                <a:tableStyleId>{5C22544A-7EE6-4342-B048-85BDC9FD1C3A}</a:tableStyleId>
              </a:tblPr>
              <a:tblGrid>
                <a:gridCol w="598805"/>
                <a:gridCol w="598805"/>
                <a:gridCol w="598805"/>
                <a:gridCol w="598805"/>
                <a:gridCol w="598805"/>
              </a:tblGrid>
              <a:tr h="365760">
                <a:tc>
                  <a:txBody>
                    <a:bodyPr/>
                    <a:lstStyle/>
                    <a:p>
                      <a:pPr>
                        <a:buNone/>
                      </a:pPr>
                      <a:r>
                        <a:rPr lang="en-US" altLang="zh-CN">
                          <a:solidFill>
                            <a:schemeClr val="tx1"/>
                          </a:solidFill>
                        </a:rPr>
                        <a:t>0</a:t>
                      </a:r>
                      <a:endParaRPr lang="en-US" altLang="zh-CN">
                        <a:solidFill>
                          <a:schemeClr val="tx1"/>
                        </a:solidFill>
                      </a:endParaRPr>
                    </a:p>
                  </a:txBody>
                  <a:tcPr>
                    <a:lnL>
                      <a:noFill/>
                    </a:lnL>
                    <a:lnR>
                      <a:noFill/>
                    </a:lnR>
                    <a:lnT>
                      <a:noFill/>
                    </a:lnT>
                    <a:lnB>
                      <a:noFill/>
                    </a:lnB>
                    <a:lnTlToBr>
                      <a:noFill/>
                    </a:lnTlToBr>
                    <a:lnBlToTr>
                      <a:noFill/>
                    </a:lnBlToTr>
                    <a:noFill/>
                  </a:tcPr>
                </a:tc>
                <a:tc>
                  <a:txBody>
                    <a:bodyPr/>
                    <a:lstStyle/>
                    <a:p>
                      <a:pPr>
                        <a:buNone/>
                      </a:pPr>
                      <a:r>
                        <a:rPr lang="en-US" altLang="zh-CN">
                          <a:solidFill>
                            <a:schemeClr val="tx1"/>
                          </a:solidFill>
                        </a:rPr>
                        <a:t>1</a:t>
                      </a:r>
                      <a:endParaRPr lang="en-US" altLang="zh-CN">
                        <a:solidFill>
                          <a:schemeClr val="tx1"/>
                        </a:solidFill>
                      </a:endParaRPr>
                    </a:p>
                  </a:txBody>
                  <a:tcPr>
                    <a:lnL>
                      <a:noFill/>
                    </a:lnL>
                    <a:lnR>
                      <a:noFill/>
                    </a:lnR>
                    <a:lnT>
                      <a:noFill/>
                    </a:lnT>
                    <a:lnB>
                      <a:noFill/>
                    </a:lnB>
                    <a:lnTlToBr>
                      <a:noFill/>
                    </a:lnTlToBr>
                    <a:lnBlToTr>
                      <a:noFill/>
                    </a:lnBlToTr>
                    <a:noFill/>
                  </a:tcPr>
                </a:tc>
                <a:tc>
                  <a:txBody>
                    <a:bodyPr/>
                    <a:lstStyle/>
                    <a:p>
                      <a:pPr>
                        <a:buNone/>
                      </a:pPr>
                      <a:r>
                        <a:rPr lang="en-US" altLang="zh-CN">
                          <a:solidFill>
                            <a:schemeClr val="tx1"/>
                          </a:solidFill>
                        </a:rPr>
                        <a:t>2</a:t>
                      </a:r>
                      <a:endParaRPr lang="en-US" altLang="zh-CN">
                        <a:solidFill>
                          <a:schemeClr val="tx1"/>
                        </a:solidFill>
                      </a:endParaRPr>
                    </a:p>
                  </a:txBody>
                  <a:tcPr>
                    <a:lnL>
                      <a:noFill/>
                    </a:lnL>
                    <a:lnR>
                      <a:noFill/>
                    </a:lnR>
                    <a:lnT>
                      <a:noFill/>
                    </a:lnT>
                    <a:lnB>
                      <a:noFill/>
                    </a:lnB>
                    <a:lnTlToBr>
                      <a:noFill/>
                    </a:lnTlToBr>
                    <a:lnBlToTr>
                      <a:noFill/>
                    </a:lnBlToTr>
                    <a:noFill/>
                  </a:tcPr>
                </a:tc>
                <a:tc>
                  <a:txBody>
                    <a:bodyPr/>
                    <a:lstStyle/>
                    <a:p>
                      <a:pPr>
                        <a:buNone/>
                      </a:pPr>
                      <a:r>
                        <a:rPr lang="en-US" altLang="zh-CN">
                          <a:solidFill>
                            <a:schemeClr val="tx1"/>
                          </a:solidFill>
                        </a:rPr>
                        <a:t>3</a:t>
                      </a:r>
                      <a:endParaRPr lang="en-US" altLang="zh-CN">
                        <a:solidFill>
                          <a:schemeClr val="tx1"/>
                        </a:solidFill>
                      </a:endParaRPr>
                    </a:p>
                  </a:txBody>
                  <a:tcPr>
                    <a:lnL>
                      <a:noFill/>
                    </a:lnL>
                    <a:lnR>
                      <a:noFill/>
                    </a:lnR>
                    <a:lnT>
                      <a:noFill/>
                    </a:lnT>
                    <a:lnB>
                      <a:noFill/>
                    </a:lnB>
                    <a:lnTlToBr>
                      <a:noFill/>
                    </a:lnTlToBr>
                    <a:lnBlToTr>
                      <a:noFill/>
                    </a:lnBlToTr>
                    <a:noFill/>
                  </a:tcPr>
                </a:tc>
                <a:tc>
                  <a:txBody>
                    <a:bodyPr/>
                    <a:lstStyle/>
                    <a:p>
                      <a:pPr>
                        <a:buNone/>
                      </a:pPr>
                      <a:r>
                        <a:rPr lang="en-US" altLang="zh-CN">
                          <a:solidFill>
                            <a:schemeClr val="tx1"/>
                          </a:solidFill>
                        </a:rPr>
                        <a:t>4</a:t>
                      </a:r>
                      <a:endParaRPr lang="en-US" altLang="zh-CN">
                        <a:solidFill>
                          <a:schemeClr val="tx1"/>
                        </a:solidFill>
                      </a:endParaRPr>
                    </a:p>
                  </a:txBody>
                  <a:tcPr>
                    <a:lnL>
                      <a:noFill/>
                    </a:lnL>
                    <a:lnR>
                      <a:noFill/>
                    </a:lnR>
                    <a:lnT>
                      <a:noFill/>
                    </a:lnT>
                    <a:lnB>
                      <a:noFill/>
                    </a:lnB>
                    <a:lnTlToBr>
                      <a:noFill/>
                    </a:lnTlToBr>
                    <a:lnBlToTr>
                      <a:noFill/>
                    </a:lnBlToTr>
                    <a:noFill/>
                  </a:tcPr>
                </a:tc>
              </a:tr>
            </a:tbl>
          </a:graphicData>
        </a:graphic>
      </p:graphicFrame>
      <p:graphicFrame>
        <p:nvGraphicFramePr>
          <p:cNvPr id="102" name="表格 101"/>
          <p:cNvGraphicFramePr/>
          <p:nvPr>
            <p:custDataLst>
              <p:tags r:id="rId3"/>
            </p:custDataLst>
          </p:nvPr>
        </p:nvGraphicFramePr>
        <p:xfrm>
          <a:off x="755650" y="3063875"/>
          <a:ext cx="4191635" cy="365760"/>
        </p:xfrm>
        <a:graphic>
          <a:graphicData uri="http://schemas.openxmlformats.org/drawingml/2006/table">
            <a:tbl>
              <a:tblPr firstRow="1" bandRow="1">
                <a:tableStyleId>{5C22544A-7EE6-4342-B048-85BDC9FD1C3A}</a:tableStyleId>
              </a:tblPr>
              <a:tblGrid>
                <a:gridCol w="598805"/>
                <a:gridCol w="598805"/>
                <a:gridCol w="598805"/>
                <a:gridCol w="598805"/>
                <a:gridCol w="598805"/>
              </a:tblGrid>
              <a:tr h="365760">
                <a:tc>
                  <a:txBody>
                    <a:bodyPr/>
                    <a:lstStyle/>
                    <a:p>
                      <a:pPr>
                        <a:buNone/>
                      </a:pPr>
                      <a:r>
                        <a:rPr lang="en-US" altLang="zh-CN">
                          <a:solidFill>
                            <a:srgbClr val="FF0000"/>
                          </a:solidFill>
                        </a:rPr>
                        <a:t>1</a:t>
                      </a:r>
                      <a:endParaRPr lang="en-US" altLang="zh-CN">
                        <a:solidFill>
                          <a:srgbClr val="FF0000"/>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1</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2</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3</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4</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03" name="环形箭头 102"/>
          <p:cNvSpPr/>
          <p:nvPr/>
        </p:nvSpPr>
        <p:spPr>
          <a:xfrm>
            <a:off x="3249295" y="3642360"/>
            <a:ext cx="1923415" cy="1056640"/>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aphicFrame>
        <p:nvGraphicFramePr>
          <p:cNvPr id="104" name="表格 103"/>
          <p:cNvGraphicFramePr/>
          <p:nvPr>
            <p:custDataLst>
              <p:tags r:id="rId4"/>
            </p:custDataLst>
          </p:nvPr>
        </p:nvGraphicFramePr>
        <p:xfrm>
          <a:off x="755650" y="3068955"/>
          <a:ext cx="4191635" cy="365760"/>
        </p:xfrm>
        <a:graphic>
          <a:graphicData uri="http://schemas.openxmlformats.org/drawingml/2006/table">
            <a:tbl>
              <a:tblPr firstRow="1" bandRow="1">
                <a:tableStyleId>{5C22544A-7EE6-4342-B048-85BDC9FD1C3A}</a:tableStyleId>
              </a:tblPr>
              <a:tblGrid>
                <a:gridCol w="598805"/>
                <a:gridCol w="598805"/>
                <a:gridCol w="598805"/>
                <a:gridCol w="598805"/>
                <a:gridCol w="598805"/>
              </a:tblGrid>
              <a:tr h="365760">
                <a:tc>
                  <a:txBody>
                    <a:bodyPr/>
                    <a:lstStyle/>
                    <a:p>
                      <a:pPr>
                        <a:buNone/>
                      </a:pPr>
                      <a:r>
                        <a:rPr lang="en-US" altLang="zh-CN">
                          <a:solidFill>
                            <a:srgbClr val="FF0000"/>
                          </a:solidFill>
                        </a:rPr>
                        <a:t>1</a:t>
                      </a:r>
                      <a:endParaRPr lang="en-US" altLang="zh-CN">
                        <a:solidFill>
                          <a:srgbClr val="FF0000"/>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1</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rgbClr val="FF0000"/>
                          </a:solidFill>
                        </a:rPr>
                        <a:t>4</a:t>
                      </a:r>
                      <a:endParaRPr lang="en-US" altLang="zh-CN">
                        <a:solidFill>
                          <a:srgbClr val="FF0000"/>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3</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4</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05" name="环形箭头 104"/>
          <p:cNvSpPr/>
          <p:nvPr/>
        </p:nvSpPr>
        <p:spPr>
          <a:xfrm flipV="1">
            <a:off x="4284345" y="4509135"/>
            <a:ext cx="935990" cy="433705"/>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aphicFrame>
        <p:nvGraphicFramePr>
          <p:cNvPr id="106" name="表格 105"/>
          <p:cNvGraphicFramePr/>
          <p:nvPr>
            <p:custDataLst>
              <p:tags r:id="rId5"/>
            </p:custDataLst>
          </p:nvPr>
        </p:nvGraphicFramePr>
        <p:xfrm>
          <a:off x="755650" y="3068955"/>
          <a:ext cx="4191635" cy="365760"/>
        </p:xfrm>
        <a:graphic>
          <a:graphicData uri="http://schemas.openxmlformats.org/drawingml/2006/table">
            <a:tbl>
              <a:tblPr firstRow="1" bandRow="1">
                <a:tableStyleId>{5C22544A-7EE6-4342-B048-85BDC9FD1C3A}</a:tableStyleId>
              </a:tblPr>
              <a:tblGrid>
                <a:gridCol w="598805"/>
                <a:gridCol w="598805"/>
                <a:gridCol w="598805"/>
                <a:gridCol w="598805"/>
                <a:gridCol w="598805"/>
              </a:tblGrid>
              <a:tr h="365760">
                <a:tc>
                  <a:txBody>
                    <a:bodyPr/>
                    <a:lstStyle/>
                    <a:p>
                      <a:pPr>
                        <a:buNone/>
                      </a:pPr>
                      <a:r>
                        <a:rPr lang="en-US" altLang="zh-CN">
                          <a:solidFill>
                            <a:srgbClr val="FF0000"/>
                          </a:solidFill>
                        </a:rPr>
                        <a:t>1</a:t>
                      </a:r>
                      <a:endParaRPr lang="en-US" altLang="zh-CN">
                        <a:solidFill>
                          <a:srgbClr val="FF0000"/>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1</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rgbClr val="FF0000"/>
                          </a:solidFill>
                        </a:rPr>
                        <a:t>4</a:t>
                      </a:r>
                      <a:endParaRPr lang="en-US" altLang="zh-CN">
                        <a:solidFill>
                          <a:srgbClr val="FF0000"/>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rgbClr val="FF0000"/>
                          </a:solidFill>
                        </a:rPr>
                        <a:t>4</a:t>
                      </a:r>
                      <a:endParaRPr lang="en-US" altLang="zh-CN">
                        <a:solidFill>
                          <a:srgbClr val="FF0000"/>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4</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07" name="文本框 106"/>
          <p:cNvSpPr txBox="1"/>
          <p:nvPr/>
        </p:nvSpPr>
        <p:spPr>
          <a:xfrm>
            <a:off x="712470" y="5434330"/>
            <a:ext cx="5946775" cy="645160"/>
          </a:xfrm>
          <a:prstGeom prst="rect">
            <a:avLst/>
          </a:prstGeom>
          <a:noFill/>
        </p:spPr>
        <p:txBody>
          <a:bodyPr wrap="square" rtlCol="0">
            <a:spAutoFit/>
          </a:bodyPr>
          <a:lstStyle/>
          <a:p>
            <a:r>
              <a:rPr lang="zh-CN" altLang="en-US">
                <a:solidFill>
                  <a:srgbClr val="FF0000"/>
                </a:solidFill>
              </a:rPr>
              <a:t>现在如何从并查集中找到根节点，如何判断两个节点是否在同一个树中？</a:t>
            </a:r>
            <a:endParaRPr lang="zh-CN" altLang="en-US">
              <a:solidFill>
                <a:srgbClr val="FF0000"/>
              </a:solidFill>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98"/>
                                        </p:tgtEl>
                                        <p:attrNameLst>
                                          <p:attrName>style.visibility</p:attrName>
                                        </p:attrNameLst>
                                      </p:cBhvr>
                                      <p:to>
                                        <p:strVal val="visible"/>
                                      </p:to>
                                    </p:set>
                                    <p:anim calcmode="lin" valueType="num">
                                      <p:cBhvr additive="base">
                                        <p:cTn id="11" dur="500" fill="hold"/>
                                        <p:tgtEl>
                                          <p:spTgt spid="98"/>
                                        </p:tgtEl>
                                        <p:attrNameLst>
                                          <p:attrName>ppt_x</p:attrName>
                                        </p:attrNameLst>
                                      </p:cBhvr>
                                      <p:tavLst>
                                        <p:tav tm="0">
                                          <p:val>
                                            <p:strVal val="#ppt_x"/>
                                          </p:val>
                                        </p:tav>
                                        <p:tav tm="100000">
                                          <p:val>
                                            <p:strVal val="#ppt_x"/>
                                          </p:val>
                                        </p:tav>
                                      </p:tavLst>
                                    </p:anim>
                                    <p:anim calcmode="lin" valueType="num">
                                      <p:cBhvr additive="base">
                                        <p:cTn id="12" dur="500" fill="hold"/>
                                        <p:tgtEl>
                                          <p:spTgt spid="98"/>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xit" presetSubtype="4" fill="hold" nodeType="clickEffect">
                                  <p:stCondLst>
                                    <p:cond delay="0"/>
                                  </p:stCondLst>
                                  <p:childTnLst>
                                    <p:anim calcmode="lin" valueType="num">
                                      <p:cBhvr additive="base">
                                        <p:cTn id="16" dur="500"/>
                                        <p:tgtEl>
                                          <p:spTgt spid="23"/>
                                        </p:tgtEl>
                                        <p:attrNameLst>
                                          <p:attrName>ppt_x</p:attrName>
                                        </p:attrNameLst>
                                      </p:cBhvr>
                                      <p:tavLst>
                                        <p:tav tm="0">
                                          <p:val>
                                            <p:strVal val="ppt_x"/>
                                          </p:val>
                                        </p:tav>
                                        <p:tav tm="100000">
                                          <p:val>
                                            <p:strVal val="ppt_x"/>
                                          </p:val>
                                        </p:tav>
                                      </p:tavLst>
                                    </p:anim>
                                    <p:anim calcmode="lin" valueType="num">
                                      <p:cBhvr additive="base">
                                        <p:cTn id="17" dur="500"/>
                                        <p:tgtEl>
                                          <p:spTgt spid="23"/>
                                        </p:tgtEl>
                                        <p:attrNameLst>
                                          <p:attrName>ppt_y</p:attrName>
                                        </p:attrNameLst>
                                      </p:cBhvr>
                                      <p:tavLst>
                                        <p:tav tm="0">
                                          <p:val>
                                            <p:strVal val="ppt_y"/>
                                          </p:val>
                                        </p:tav>
                                        <p:tav tm="100000">
                                          <p:val>
                                            <p:strVal val="1+ppt_h/2"/>
                                          </p:val>
                                        </p:tav>
                                      </p:tavLst>
                                    </p:anim>
                                    <p:set>
                                      <p:cBhvr>
                                        <p:cTn id="18" dur="1" fill="hold">
                                          <p:stCondLst>
                                            <p:cond delay="499"/>
                                          </p:stCondLst>
                                        </p:cTn>
                                        <p:tgtEl>
                                          <p:spTgt spid="23"/>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102"/>
                                        </p:tgtEl>
                                        <p:attrNameLst>
                                          <p:attrName>style.visibility</p:attrName>
                                        </p:attrNameLst>
                                      </p:cBhvr>
                                      <p:to>
                                        <p:strVal val="visible"/>
                                      </p:to>
                                    </p:set>
                                    <p:anim calcmode="lin" valueType="num">
                                      <p:cBhvr additive="base">
                                        <p:cTn id="23" dur="500" fill="hold"/>
                                        <p:tgtEl>
                                          <p:spTgt spid="102"/>
                                        </p:tgtEl>
                                        <p:attrNameLst>
                                          <p:attrName>ppt_x</p:attrName>
                                        </p:attrNameLst>
                                      </p:cBhvr>
                                      <p:tavLst>
                                        <p:tav tm="0">
                                          <p:val>
                                            <p:strVal val="#ppt_x"/>
                                          </p:val>
                                        </p:tav>
                                        <p:tav tm="100000">
                                          <p:val>
                                            <p:strVal val="#ppt_x"/>
                                          </p:val>
                                        </p:tav>
                                      </p:tavLst>
                                    </p:anim>
                                    <p:anim calcmode="lin" valueType="num">
                                      <p:cBhvr additive="base">
                                        <p:cTn id="24" dur="500" fill="hold"/>
                                        <p:tgtEl>
                                          <p:spTgt spid="102"/>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xit" presetSubtype="4" fill="hold" nodeType="clickEffect">
                                  <p:stCondLst>
                                    <p:cond delay="0"/>
                                  </p:stCondLst>
                                  <p:childTnLst>
                                    <p:anim calcmode="lin" valueType="num">
                                      <p:cBhvr additive="base">
                                        <p:cTn id="28" dur="500"/>
                                        <p:tgtEl>
                                          <p:spTgt spid="23"/>
                                        </p:tgtEl>
                                        <p:attrNameLst>
                                          <p:attrName>ppt_x</p:attrName>
                                        </p:attrNameLst>
                                      </p:cBhvr>
                                      <p:tavLst>
                                        <p:tav tm="0">
                                          <p:val>
                                            <p:strVal val="ppt_x"/>
                                          </p:val>
                                        </p:tav>
                                        <p:tav tm="100000">
                                          <p:val>
                                            <p:strVal val="ppt_x"/>
                                          </p:val>
                                        </p:tav>
                                      </p:tavLst>
                                    </p:anim>
                                    <p:anim calcmode="lin" valueType="num">
                                      <p:cBhvr additive="base">
                                        <p:cTn id="29" dur="500"/>
                                        <p:tgtEl>
                                          <p:spTgt spid="23"/>
                                        </p:tgtEl>
                                        <p:attrNameLst>
                                          <p:attrName>ppt_y</p:attrName>
                                        </p:attrNameLst>
                                      </p:cBhvr>
                                      <p:tavLst>
                                        <p:tav tm="0">
                                          <p:val>
                                            <p:strVal val="ppt_y"/>
                                          </p:val>
                                        </p:tav>
                                        <p:tav tm="100000">
                                          <p:val>
                                            <p:strVal val="1+ppt_h/2"/>
                                          </p:val>
                                        </p:tav>
                                      </p:tavLst>
                                    </p:anim>
                                    <p:set>
                                      <p:cBhvr>
                                        <p:cTn id="30" dur="1" fill="hold">
                                          <p:stCondLst>
                                            <p:cond delay="499"/>
                                          </p:stCondLst>
                                        </p:cTn>
                                        <p:tgtEl>
                                          <p:spTgt spid="23"/>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2" presetClass="exit" presetSubtype="4" fill="hold" grpId="0" nodeType="clickEffect">
                                  <p:stCondLst>
                                    <p:cond delay="0"/>
                                  </p:stCondLst>
                                  <p:childTnLst>
                                    <p:anim calcmode="lin" valueType="num">
                                      <p:cBhvr additive="base">
                                        <p:cTn id="34" dur="500"/>
                                        <p:tgtEl>
                                          <p:spTgt spid="94"/>
                                        </p:tgtEl>
                                        <p:attrNameLst>
                                          <p:attrName>ppt_x</p:attrName>
                                        </p:attrNameLst>
                                      </p:cBhvr>
                                      <p:tavLst>
                                        <p:tav tm="0">
                                          <p:val>
                                            <p:strVal val="ppt_x"/>
                                          </p:val>
                                        </p:tav>
                                        <p:tav tm="100000">
                                          <p:val>
                                            <p:strVal val="ppt_x"/>
                                          </p:val>
                                        </p:tav>
                                      </p:tavLst>
                                    </p:anim>
                                    <p:anim calcmode="lin" valueType="num">
                                      <p:cBhvr additive="base">
                                        <p:cTn id="35" dur="500"/>
                                        <p:tgtEl>
                                          <p:spTgt spid="94"/>
                                        </p:tgtEl>
                                        <p:attrNameLst>
                                          <p:attrName>ppt_y</p:attrName>
                                        </p:attrNameLst>
                                      </p:cBhvr>
                                      <p:tavLst>
                                        <p:tav tm="0">
                                          <p:val>
                                            <p:strVal val="ppt_y"/>
                                          </p:val>
                                        </p:tav>
                                        <p:tav tm="100000">
                                          <p:val>
                                            <p:strVal val="1+ppt_h/2"/>
                                          </p:val>
                                        </p:tav>
                                      </p:tavLst>
                                    </p:anim>
                                    <p:set>
                                      <p:cBhvr>
                                        <p:cTn id="36" dur="1" fill="hold">
                                          <p:stCondLst>
                                            <p:cond delay="499"/>
                                          </p:stCondLst>
                                        </p:cTn>
                                        <p:tgtEl>
                                          <p:spTgt spid="94"/>
                                        </p:tgtEl>
                                        <p:attrNameLst>
                                          <p:attrName>style.visibility</p:attrName>
                                        </p:attrNameLst>
                                      </p:cBhvr>
                                      <p:to>
                                        <p:strVal val="hidden"/>
                                      </p:to>
                                    </p:set>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grpId="0" nodeType="clickEffect">
                                  <p:stCondLst>
                                    <p:cond delay="0"/>
                                  </p:stCondLst>
                                  <p:childTnLst>
                                    <p:set>
                                      <p:cBhvr>
                                        <p:cTn id="40" dur="1" fill="hold">
                                          <p:stCondLst>
                                            <p:cond delay="0"/>
                                          </p:stCondLst>
                                        </p:cTn>
                                        <p:tgtEl>
                                          <p:spTgt spid="103"/>
                                        </p:tgtEl>
                                        <p:attrNameLst>
                                          <p:attrName>style.visibility</p:attrName>
                                        </p:attrNameLst>
                                      </p:cBhvr>
                                      <p:to>
                                        <p:strVal val="visible"/>
                                      </p:to>
                                    </p:set>
                                    <p:anim calcmode="lin" valueType="num">
                                      <p:cBhvr additive="base">
                                        <p:cTn id="41" dur="500" fill="hold"/>
                                        <p:tgtEl>
                                          <p:spTgt spid="103"/>
                                        </p:tgtEl>
                                        <p:attrNameLst>
                                          <p:attrName>ppt_x</p:attrName>
                                        </p:attrNameLst>
                                      </p:cBhvr>
                                      <p:tavLst>
                                        <p:tav tm="0">
                                          <p:val>
                                            <p:strVal val="#ppt_x"/>
                                          </p:val>
                                        </p:tav>
                                        <p:tav tm="100000">
                                          <p:val>
                                            <p:strVal val="#ppt_x"/>
                                          </p:val>
                                        </p:tav>
                                      </p:tavLst>
                                    </p:anim>
                                    <p:anim calcmode="lin" valueType="num">
                                      <p:cBhvr additive="base">
                                        <p:cTn id="42" dur="500" fill="hold"/>
                                        <p:tgtEl>
                                          <p:spTgt spid="103"/>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xit" presetSubtype="4" fill="hold" nodeType="clickEffect">
                                  <p:stCondLst>
                                    <p:cond delay="0"/>
                                  </p:stCondLst>
                                  <p:childTnLst>
                                    <p:anim calcmode="lin" valueType="num">
                                      <p:cBhvr additive="base">
                                        <p:cTn id="46" dur="500"/>
                                        <p:tgtEl>
                                          <p:spTgt spid="102"/>
                                        </p:tgtEl>
                                        <p:attrNameLst>
                                          <p:attrName>ppt_x</p:attrName>
                                        </p:attrNameLst>
                                      </p:cBhvr>
                                      <p:tavLst>
                                        <p:tav tm="0">
                                          <p:val>
                                            <p:strVal val="ppt_x"/>
                                          </p:val>
                                        </p:tav>
                                        <p:tav tm="100000">
                                          <p:val>
                                            <p:strVal val="ppt_x"/>
                                          </p:val>
                                        </p:tav>
                                      </p:tavLst>
                                    </p:anim>
                                    <p:anim calcmode="lin" valueType="num">
                                      <p:cBhvr additive="base">
                                        <p:cTn id="47" dur="500"/>
                                        <p:tgtEl>
                                          <p:spTgt spid="102"/>
                                        </p:tgtEl>
                                        <p:attrNameLst>
                                          <p:attrName>ppt_y</p:attrName>
                                        </p:attrNameLst>
                                      </p:cBhvr>
                                      <p:tavLst>
                                        <p:tav tm="0">
                                          <p:val>
                                            <p:strVal val="ppt_y"/>
                                          </p:val>
                                        </p:tav>
                                        <p:tav tm="100000">
                                          <p:val>
                                            <p:strVal val="1+ppt_h/2"/>
                                          </p:val>
                                        </p:tav>
                                      </p:tavLst>
                                    </p:anim>
                                    <p:set>
                                      <p:cBhvr>
                                        <p:cTn id="48" dur="1" fill="hold">
                                          <p:stCondLst>
                                            <p:cond delay="499"/>
                                          </p:stCondLst>
                                        </p:cTn>
                                        <p:tgtEl>
                                          <p:spTgt spid="102"/>
                                        </p:tgtEl>
                                        <p:attrNameLst>
                                          <p:attrName>style.visibility</p:attrName>
                                        </p:attrNameLst>
                                      </p:cBhvr>
                                      <p:to>
                                        <p:strVal val="hidden"/>
                                      </p:to>
                                    </p:set>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nodeType="clickEffect">
                                  <p:stCondLst>
                                    <p:cond delay="0"/>
                                  </p:stCondLst>
                                  <p:childTnLst>
                                    <p:set>
                                      <p:cBhvr>
                                        <p:cTn id="52" dur="1" fill="hold">
                                          <p:stCondLst>
                                            <p:cond delay="0"/>
                                          </p:stCondLst>
                                        </p:cTn>
                                        <p:tgtEl>
                                          <p:spTgt spid="104"/>
                                        </p:tgtEl>
                                        <p:attrNameLst>
                                          <p:attrName>style.visibility</p:attrName>
                                        </p:attrNameLst>
                                      </p:cBhvr>
                                      <p:to>
                                        <p:strVal val="visible"/>
                                      </p:to>
                                    </p:set>
                                    <p:anim calcmode="lin" valueType="num">
                                      <p:cBhvr additive="base">
                                        <p:cTn id="53" dur="500" fill="hold"/>
                                        <p:tgtEl>
                                          <p:spTgt spid="104"/>
                                        </p:tgtEl>
                                        <p:attrNameLst>
                                          <p:attrName>ppt_x</p:attrName>
                                        </p:attrNameLst>
                                      </p:cBhvr>
                                      <p:tavLst>
                                        <p:tav tm="0">
                                          <p:val>
                                            <p:strVal val="#ppt_x"/>
                                          </p:val>
                                        </p:tav>
                                        <p:tav tm="100000">
                                          <p:val>
                                            <p:strVal val="#ppt_x"/>
                                          </p:val>
                                        </p:tav>
                                      </p:tavLst>
                                    </p:anim>
                                    <p:anim calcmode="lin" valueType="num">
                                      <p:cBhvr additive="base">
                                        <p:cTn id="54" dur="500" fill="hold"/>
                                        <p:tgtEl>
                                          <p:spTgt spid="104"/>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xit" presetSubtype="4" fill="hold" grpId="0" nodeType="clickEffect">
                                  <p:stCondLst>
                                    <p:cond delay="0"/>
                                  </p:stCondLst>
                                  <p:childTnLst>
                                    <p:anim calcmode="lin" valueType="num">
                                      <p:cBhvr additive="base">
                                        <p:cTn id="58" dur="500"/>
                                        <p:tgtEl>
                                          <p:spTgt spid="95"/>
                                        </p:tgtEl>
                                        <p:attrNameLst>
                                          <p:attrName>ppt_x</p:attrName>
                                        </p:attrNameLst>
                                      </p:cBhvr>
                                      <p:tavLst>
                                        <p:tav tm="0">
                                          <p:val>
                                            <p:strVal val="ppt_x"/>
                                          </p:val>
                                        </p:tav>
                                        <p:tav tm="100000">
                                          <p:val>
                                            <p:strVal val="ppt_x"/>
                                          </p:val>
                                        </p:tav>
                                      </p:tavLst>
                                    </p:anim>
                                    <p:anim calcmode="lin" valueType="num">
                                      <p:cBhvr additive="base">
                                        <p:cTn id="59" dur="500"/>
                                        <p:tgtEl>
                                          <p:spTgt spid="95"/>
                                        </p:tgtEl>
                                        <p:attrNameLst>
                                          <p:attrName>ppt_y</p:attrName>
                                        </p:attrNameLst>
                                      </p:cBhvr>
                                      <p:tavLst>
                                        <p:tav tm="0">
                                          <p:val>
                                            <p:strVal val="ppt_y"/>
                                          </p:val>
                                        </p:tav>
                                        <p:tav tm="100000">
                                          <p:val>
                                            <p:strVal val="1+ppt_h/2"/>
                                          </p:val>
                                        </p:tav>
                                      </p:tavLst>
                                    </p:anim>
                                    <p:set>
                                      <p:cBhvr>
                                        <p:cTn id="60" dur="1" fill="hold">
                                          <p:stCondLst>
                                            <p:cond delay="499"/>
                                          </p:stCondLst>
                                        </p:cTn>
                                        <p:tgtEl>
                                          <p:spTgt spid="95"/>
                                        </p:tgtEl>
                                        <p:attrNameLst>
                                          <p:attrName>style.visibility</p:attrName>
                                        </p:attrNameLst>
                                      </p:cBhvr>
                                      <p:to>
                                        <p:strVal val="hidden"/>
                                      </p:to>
                                    </p:set>
                                  </p:childTnLst>
                                </p:cTn>
                              </p:par>
                            </p:childTnLst>
                          </p:cTn>
                        </p:par>
                      </p:childTnLst>
                    </p:cTn>
                  </p:par>
                  <p:par>
                    <p:cTn id="61" fill="hold">
                      <p:stCondLst>
                        <p:cond delay="indefinite"/>
                      </p:stCondLst>
                      <p:childTnLst>
                        <p:par>
                          <p:cTn id="62" fill="hold">
                            <p:stCondLst>
                              <p:cond delay="0"/>
                            </p:stCondLst>
                            <p:childTnLst>
                              <p:par>
                                <p:cTn id="63" presetID="2" presetClass="entr" presetSubtype="4" fill="hold" grpId="0" nodeType="clickEffect">
                                  <p:stCondLst>
                                    <p:cond delay="0"/>
                                  </p:stCondLst>
                                  <p:childTnLst>
                                    <p:set>
                                      <p:cBhvr>
                                        <p:cTn id="64" dur="1" fill="hold">
                                          <p:stCondLst>
                                            <p:cond delay="0"/>
                                          </p:stCondLst>
                                        </p:cTn>
                                        <p:tgtEl>
                                          <p:spTgt spid="105"/>
                                        </p:tgtEl>
                                        <p:attrNameLst>
                                          <p:attrName>style.visibility</p:attrName>
                                        </p:attrNameLst>
                                      </p:cBhvr>
                                      <p:to>
                                        <p:strVal val="visible"/>
                                      </p:to>
                                    </p:set>
                                    <p:anim calcmode="lin" valueType="num">
                                      <p:cBhvr additive="base">
                                        <p:cTn id="65" dur="500" fill="hold"/>
                                        <p:tgtEl>
                                          <p:spTgt spid="105"/>
                                        </p:tgtEl>
                                        <p:attrNameLst>
                                          <p:attrName>ppt_x</p:attrName>
                                        </p:attrNameLst>
                                      </p:cBhvr>
                                      <p:tavLst>
                                        <p:tav tm="0">
                                          <p:val>
                                            <p:strVal val="#ppt_x"/>
                                          </p:val>
                                        </p:tav>
                                        <p:tav tm="100000">
                                          <p:val>
                                            <p:strVal val="#ppt_x"/>
                                          </p:val>
                                        </p:tav>
                                      </p:tavLst>
                                    </p:anim>
                                    <p:anim calcmode="lin" valueType="num">
                                      <p:cBhvr additive="base">
                                        <p:cTn id="66" dur="500" fill="hold"/>
                                        <p:tgtEl>
                                          <p:spTgt spid="105"/>
                                        </p:tgtEl>
                                        <p:attrNameLst>
                                          <p:attrName>ppt_y</p:attrName>
                                        </p:attrNameLst>
                                      </p:cBhvr>
                                      <p:tavLst>
                                        <p:tav tm="0">
                                          <p:val>
                                            <p:strVal val="1+#ppt_h/2"/>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2" presetClass="exit" presetSubtype="4" fill="hold" nodeType="clickEffect">
                                  <p:stCondLst>
                                    <p:cond delay="0"/>
                                  </p:stCondLst>
                                  <p:childTnLst>
                                    <p:anim calcmode="lin" valueType="num">
                                      <p:cBhvr additive="base">
                                        <p:cTn id="70" dur="500"/>
                                        <p:tgtEl>
                                          <p:spTgt spid="104"/>
                                        </p:tgtEl>
                                        <p:attrNameLst>
                                          <p:attrName>ppt_x</p:attrName>
                                        </p:attrNameLst>
                                      </p:cBhvr>
                                      <p:tavLst>
                                        <p:tav tm="0">
                                          <p:val>
                                            <p:strVal val="ppt_x"/>
                                          </p:val>
                                        </p:tav>
                                        <p:tav tm="100000">
                                          <p:val>
                                            <p:strVal val="ppt_x"/>
                                          </p:val>
                                        </p:tav>
                                      </p:tavLst>
                                    </p:anim>
                                    <p:anim calcmode="lin" valueType="num">
                                      <p:cBhvr additive="base">
                                        <p:cTn id="71" dur="500"/>
                                        <p:tgtEl>
                                          <p:spTgt spid="104"/>
                                        </p:tgtEl>
                                        <p:attrNameLst>
                                          <p:attrName>ppt_y</p:attrName>
                                        </p:attrNameLst>
                                      </p:cBhvr>
                                      <p:tavLst>
                                        <p:tav tm="0">
                                          <p:val>
                                            <p:strVal val="ppt_y"/>
                                          </p:val>
                                        </p:tav>
                                        <p:tav tm="100000">
                                          <p:val>
                                            <p:strVal val="1+ppt_h/2"/>
                                          </p:val>
                                        </p:tav>
                                      </p:tavLst>
                                    </p:anim>
                                    <p:set>
                                      <p:cBhvr>
                                        <p:cTn id="72" dur="1" fill="hold">
                                          <p:stCondLst>
                                            <p:cond delay="499"/>
                                          </p:stCondLst>
                                        </p:cTn>
                                        <p:tgtEl>
                                          <p:spTgt spid="104"/>
                                        </p:tgtEl>
                                        <p:attrNameLst>
                                          <p:attrName>style.visibility</p:attrName>
                                        </p:attrNameLst>
                                      </p:cBhvr>
                                      <p:to>
                                        <p:strVal val="hidden"/>
                                      </p:to>
                                    </p:set>
                                  </p:childTnLst>
                                </p:cTn>
                              </p:par>
                            </p:childTnLst>
                          </p:cTn>
                        </p:par>
                      </p:childTnLst>
                    </p:cTn>
                  </p:par>
                  <p:par>
                    <p:cTn id="73" fill="hold">
                      <p:stCondLst>
                        <p:cond delay="indefinite"/>
                      </p:stCondLst>
                      <p:childTnLst>
                        <p:par>
                          <p:cTn id="74" fill="hold">
                            <p:stCondLst>
                              <p:cond delay="0"/>
                            </p:stCondLst>
                            <p:childTnLst>
                              <p:par>
                                <p:cTn id="75" presetID="2" presetClass="entr" presetSubtype="4" fill="hold" nodeType="clickEffect">
                                  <p:stCondLst>
                                    <p:cond delay="0"/>
                                  </p:stCondLst>
                                  <p:childTnLst>
                                    <p:set>
                                      <p:cBhvr>
                                        <p:cTn id="76" dur="1" fill="hold">
                                          <p:stCondLst>
                                            <p:cond delay="0"/>
                                          </p:stCondLst>
                                        </p:cTn>
                                        <p:tgtEl>
                                          <p:spTgt spid="106"/>
                                        </p:tgtEl>
                                        <p:attrNameLst>
                                          <p:attrName>style.visibility</p:attrName>
                                        </p:attrNameLst>
                                      </p:cBhvr>
                                      <p:to>
                                        <p:strVal val="visible"/>
                                      </p:to>
                                    </p:set>
                                    <p:anim calcmode="lin" valueType="num">
                                      <p:cBhvr additive="base">
                                        <p:cTn id="77" dur="500" fill="hold"/>
                                        <p:tgtEl>
                                          <p:spTgt spid="106"/>
                                        </p:tgtEl>
                                        <p:attrNameLst>
                                          <p:attrName>ppt_x</p:attrName>
                                        </p:attrNameLst>
                                      </p:cBhvr>
                                      <p:tavLst>
                                        <p:tav tm="0">
                                          <p:val>
                                            <p:strVal val="#ppt_x"/>
                                          </p:val>
                                        </p:tav>
                                        <p:tav tm="100000">
                                          <p:val>
                                            <p:strVal val="#ppt_x"/>
                                          </p:val>
                                        </p:tav>
                                      </p:tavLst>
                                    </p:anim>
                                    <p:anim calcmode="lin" valueType="num">
                                      <p:cBhvr additive="base">
                                        <p:cTn id="78" dur="500" fill="hold"/>
                                        <p:tgtEl>
                                          <p:spTgt spid="106"/>
                                        </p:tgtEl>
                                        <p:attrNameLst>
                                          <p:attrName>ppt_y</p:attrName>
                                        </p:attrNameLst>
                                      </p:cBhvr>
                                      <p:tavLst>
                                        <p:tav tm="0">
                                          <p:val>
                                            <p:strVal val="1+#ppt_h/2"/>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81" presetID="2" presetClass="exit" presetSubtype="4" fill="hold" nodeType="clickEffect">
                                  <p:stCondLst>
                                    <p:cond delay="0"/>
                                  </p:stCondLst>
                                  <p:childTnLst>
                                    <p:anim calcmode="lin" valueType="num">
                                      <p:cBhvr additive="base">
                                        <p:cTn id="82" dur="500"/>
                                        <p:tgtEl>
                                          <p:spTgt spid="106"/>
                                        </p:tgtEl>
                                        <p:attrNameLst>
                                          <p:attrName>ppt_x</p:attrName>
                                        </p:attrNameLst>
                                      </p:cBhvr>
                                      <p:tavLst>
                                        <p:tav tm="0">
                                          <p:val>
                                            <p:strVal val="ppt_x"/>
                                          </p:val>
                                        </p:tav>
                                        <p:tav tm="100000">
                                          <p:val>
                                            <p:strVal val="ppt_x"/>
                                          </p:val>
                                        </p:tav>
                                      </p:tavLst>
                                    </p:anim>
                                    <p:anim calcmode="lin" valueType="num">
                                      <p:cBhvr additive="base">
                                        <p:cTn id="83" dur="500"/>
                                        <p:tgtEl>
                                          <p:spTgt spid="106"/>
                                        </p:tgtEl>
                                        <p:attrNameLst>
                                          <p:attrName>ppt_y</p:attrName>
                                        </p:attrNameLst>
                                      </p:cBhvr>
                                      <p:tavLst>
                                        <p:tav tm="0">
                                          <p:val>
                                            <p:strVal val="ppt_y"/>
                                          </p:val>
                                        </p:tav>
                                        <p:tav tm="100000">
                                          <p:val>
                                            <p:strVal val="1+ppt_h/2"/>
                                          </p:val>
                                        </p:tav>
                                      </p:tavLst>
                                    </p:anim>
                                    <p:set>
                                      <p:cBhvr>
                                        <p:cTn id="84" dur="1" fill="hold">
                                          <p:stCondLst>
                                            <p:cond delay="499"/>
                                          </p:stCondLst>
                                        </p:cTn>
                                        <p:tgtEl>
                                          <p:spTgt spid="106"/>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7" presetID="2" presetClass="entr" presetSubtype="4" fill="hold" nodeType="clickEffect">
                                  <p:stCondLst>
                                    <p:cond delay="0"/>
                                  </p:stCondLst>
                                  <p:childTnLst>
                                    <p:set>
                                      <p:cBhvr>
                                        <p:cTn id="88" dur="1" fill="hold">
                                          <p:stCondLst>
                                            <p:cond delay="0"/>
                                          </p:stCondLst>
                                        </p:cTn>
                                        <p:tgtEl>
                                          <p:spTgt spid="107">
                                            <p:txEl>
                                              <p:pRg st="0" end="0"/>
                                            </p:txEl>
                                          </p:spTgt>
                                        </p:tgtEl>
                                        <p:attrNameLst>
                                          <p:attrName>style.visibility</p:attrName>
                                        </p:attrNameLst>
                                      </p:cBhvr>
                                      <p:to>
                                        <p:strVal val="visible"/>
                                      </p:to>
                                    </p:set>
                                    <p:anim calcmode="lin" valueType="num">
                                      <p:cBhvr additive="base">
                                        <p:cTn id="89" dur="500" fill="hold"/>
                                        <p:tgtEl>
                                          <p:spTgt spid="107">
                                            <p:txEl>
                                              <p:pRg st="0" end="0"/>
                                            </p:txEl>
                                          </p:spTgt>
                                        </p:tgtEl>
                                        <p:attrNameLst>
                                          <p:attrName>ppt_x</p:attrName>
                                        </p:attrNameLst>
                                      </p:cBhvr>
                                      <p:tavLst>
                                        <p:tav tm="0">
                                          <p:val>
                                            <p:strVal val="#ppt_x"/>
                                          </p:val>
                                        </p:tav>
                                        <p:tav tm="100000">
                                          <p:val>
                                            <p:strVal val="#ppt_x"/>
                                          </p:val>
                                        </p:tav>
                                      </p:tavLst>
                                    </p:anim>
                                    <p:anim calcmode="lin" valueType="num">
                                      <p:cBhvr additive="base">
                                        <p:cTn id="90" dur="500" fill="hold"/>
                                        <p:tgtEl>
                                          <p:spTgt spid="107">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6" grpId="1" animBg="1"/>
      <p:bldP spid="94" grpId="0" animBg="1"/>
      <p:bldP spid="94" grpId="1" animBg="1"/>
      <p:bldP spid="95" grpId="0" animBg="1"/>
      <p:bldP spid="95" grpId="1" animBg="1"/>
      <p:bldP spid="98" grpId="0" animBg="1"/>
      <p:bldP spid="98" grpId="1" animBg="1"/>
      <p:bldP spid="103" grpId="0" bldLvl="0" animBg="1"/>
      <p:bldP spid="103" grpId="1" animBg="1"/>
      <p:bldP spid="105" grpId="0" bldLvl="0" animBg="1"/>
      <p:bldP spid="105" grpId="1"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107" name="文本框 106"/>
          <p:cNvSpPr txBox="1"/>
          <p:nvPr/>
        </p:nvSpPr>
        <p:spPr>
          <a:xfrm>
            <a:off x="539750" y="1844675"/>
            <a:ext cx="5946775" cy="645160"/>
          </a:xfrm>
          <a:prstGeom prst="rect">
            <a:avLst/>
          </a:prstGeom>
          <a:noFill/>
        </p:spPr>
        <p:txBody>
          <a:bodyPr wrap="square" rtlCol="0">
            <a:spAutoFit/>
          </a:bodyPr>
          <a:lstStyle/>
          <a:p>
            <a:r>
              <a:rPr lang="zh-CN" altLang="en-US">
                <a:solidFill>
                  <a:srgbClr val="FF0000"/>
                </a:solidFill>
              </a:rPr>
              <a:t>并查集中找到根节点，只需要看他的存储的值是不是自己就可以判断是否为根节点。</a:t>
            </a:r>
            <a:endParaRPr lang="zh-CN" altLang="en-US">
              <a:solidFill>
                <a:srgbClr val="FF0000"/>
              </a:solidFill>
            </a:endParaRPr>
          </a:p>
        </p:txBody>
      </p:sp>
      <p:sp>
        <p:nvSpPr>
          <p:cNvPr id="3" name="文本框 2"/>
          <p:cNvSpPr txBox="1"/>
          <p:nvPr/>
        </p:nvSpPr>
        <p:spPr>
          <a:xfrm>
            <a:off x="611505" y="2708910"/>
            <a:ext cx="4572000" cy="1476375"/>
          </a:xfrm>
          <a:prstGeom prst="rect">
            <a:avLst/>
          </a:prstGeom>
          <a:noFill/>
        </p:spPr>
        <p:txBody>
          <a:bodyPr wrap="square" rtlCol="0" anchor="t">
            <a:spAutoFit/>
          </a:bodyPr>
          <a:lstStyle/>
          <a:p>
            <a:r>
              <a:rPr lang="en-US" altLang="zh-CN">
                <a:latin typeface="Times New Roman" panose="02020603050405020304" pitchFamily="18" charset="0"/>
                <a:cs typeface="Times New Roman" panose="02020603050405020304" pitchFamily="18" charset="0"/>
              </a:rPr>
              <a:t>    def findRoot(self,x):</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node = x</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while self.root[node]!=node: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node = self.root[node]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node</a:t>
            </a:r>
            <a:endParaRPr lang="zh-CN" altLang="en-US">
              <a:latin typeface="Times New Roman" panose="02020603050405020304" pitchFamily="18" charset="0"/>
              <a:cs typeface="Times New Roman" panose="02020603050405020304" pitchFamily="18" charset="0"/>
            </a:endParaRPr>
          </a:p>
        </p:txBody>
      </p:sp>
      <p:sp>
        <p:nvSpPr>
          <p:cNvPr id="5" name="文本框 4"/>
          <p:cNvSpPr txBox="1"/>
          <p:nvPr/>
        </p:nvSpPr>
        <p:spPr>
          <a:xfrm>
            <a:off x="539750" y="4149090"/>
            <a:ext cx="6784340" cy="363220"/>
          </a:xfrm>
          <a:prstGeom prst="rect">
            <a:avLst/>
          </a:prstGeom>
          <a:noFill/>
        </p:spPr>
        <p:txBody>
          <a:bodyPr wrap="square" rtlCol="0" anchor="t">
            <a:noAutofit/>
          </a:bodyPr>
          <a:lstStyle/>
          <a:p>
            <a:r>
              <a:rPr lang="zh-CN" altLang="en-US">
                <a:solidFill>
                  <a:srgbClr val="FF0000"/>
                </a:solidFill>
                <a:sym typeface="+mn-ea"/>
              </a:rPr>
              <a:t>如何判断两个节点是否在同一个树中？如何并两个树？</a:t>
            </a:r>
            <a:endParaRPr lang="zh-CN" altLang="en-US">
              <a:solidFill>
                <a:srgbClr val="FF0000"/>
              </a:solidFill>
              <a:sym typeface="+mn-ea"/>
            </a:endParaRPr>
          </a:p>
        </p:txBody>
      </p:sp>
      <p:sp>
        <p:nvSpPr>
          <p:cNvPr id="6" name="文本框 5"/>
          <p:cNvSpPr txBox="1"/>
          <p:nvPr/>
        </p:nvSpPr>
        <p:spPr>
          <a:xfrm>
            <a:off x="828040" y="4509135"/>
            <a:ext cx="4572000" cy="2306955"/>
          </a:xfrm>
          <a:prstGeom prst="rect">
            <a:avLst/>
          </a:prstGeom>
          <a:noFill/>
        </p:spPr>
        <p:txBody>
          <a:bodyPr wrap="square" rtlCol="0" anchor="t">
            <a:spAutoFit/>
          </a:bodyPr>
          <a:lstStyle/>
          <a:p>
            <a:r>
              <a:rPr lang="en-US" altLang="zh-CN">
                <a:latin typeface="Times New Roman" panose="02020603050405020304" pitchFamily="18" charset="0"/>
                <a:cs typeface="Times New Roman" panose="02020603050405020304" pitchFamily="18" charset="0"/>
              </a:rPr>
              <a:t>    def merageRoot(self,x,y):</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xroot = self.findRoot(x)</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yroot = self.findRoot(y)</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if xroot!=yroot: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self.root[xroot] = yroot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True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else: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False</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07">
                                            <p:txEl>
                                              <p:pRg st="0" end="0"/>
                                            </p:txEl>
                                          </p:spTgt>
                                        </p:tgtEl>
                                        <p:attrNameLst>
                                          <p:attrName>style.visibility</p:attrName>
                                        </p:attrNameLst>
                                      </p:cBhvr>
                                      <p:to>
                                        <p:strVal val="visible"/>
                                      </p:to>
                                    </p:set>
                                    <p:anim calcmode="lin" valueType="num">
                                      <p:cBhvr additive="base">
                                        <p:cTn id="7" dur="500" fill="hold"/>
                                        <p:tgtEl>
                                          <p:spTgt spid="107">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07">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344805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算法实现</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4787900" y="1916430"/>
            <a:ext cx="4572000" cy="2584450"/>
          </a:xfrm>
          <a:prstGeom prst="rect">
            <a:avLst/>
          </a:prstGeom>
          <a:noFill/>
        </p:spPr>
        <p:txBody>
          <a:bodyPr wrap="square" rtlCol="0" anchor="t">
            <a:spAutoFit/>
          </a:bodyPr>
          <a:lstStyle/>
          <a:p>
            <a:r>
              <a:rPr lang="en-US" altLang="zh-CN">
                <a:solidFill>
                  <a:schemeClr val="tx1"/>
                </a:solidFill>
                <a:uFillTx/>
                <a:latin typeface="Times New Roman" panose="02020603050405020304" pitchFamily="18" charset="0"/>
              </a:rPr>
              <a:t>    def kruskal_work(self):</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while not self.pq.empty():</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next = self.pq.get()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nexti , nextj = next[1][0] , next[1][1]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self.</a:t>
            </a:r>
            <a:r>
              <a:rPr lang="en-US" altLang="zh-CN">
                <a:solidFill>
                  <a:srgbClr val="FF0000"/>
                </a:solidFill>
                <a:uFillTx/>
                <a:latin typeface="Times New Roman" panose="02020603050405020304" pitchFamily="18" charset="0"/>
              </a:rPr>
              <a:t>merageRoot</a:t>
            </a:r>
            <a:r>
              <a:rPr lang="en-US" altLang="zh-CN">
                <a:solidFill>
                  <a:schemeClr val="tx1"/>
                </a:solidFill>
                <a:uFillTx/>
                <a:latin typeface="Times New Roman" panose="02020603050405020304" pitchFamily="18" charset="0"/>
              </a:rPr>
              <a:t>(nexti,nextj):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 += next[0]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print(nexti,nextj,next[0])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res</a:t>
            </a:r>
            <a:endParaRPr lang="en-US" altLang="zh-CN">
              <a:solidFill>
                <a:schemeClr val="tx1"/>
              </a:solidFill>
              <a:uFillTx/>
              <a:latin typeface="Times New Roman" panose="02020603050405020304" pitchFamily="18" charset="0"/>
            </a:endParaRPr>
          </a:p>
        </p:txBody>
      </p:sp>
      <p:sp>
        <p:nvSpPr>
          <p:cNvPr id="8" name="文本框 7"/>
          <p:cNvSpPr txBox="1"/>
          <p:nvPr/>
        </p:nvSpPr>
        <p:spPr>
          <a:xfrm>
            <a:off x="394970" y="1916430"/>
            <a:ext cx="4572000" cy="3415030"/>
          </a:xfrm>
          <a:prstGeom prst="rect">
            <a:avLst/>
          </a:prstGeom>
          <a:noFill/>
        </p:spPr>
        <p:txBody>
          <a:bodyPr wrap="square" rtlCol="0" anchor="t">
            <a:spAutoFit/>
          </a:bodyPr>
          <a:lstStyle/>
          <a:p>
            <a:r>
              <a:rPr lang="en-US" altLang="zh-CN">
                <a:solidFill>
                  <a:schemeClr val="tx1"/>
                </a:solidFill>
                <a:uFillTx/>
                <a:latin typeface="Times New Roman" panose="02020603050405020304" pitchFamily="18" charset="0"/>
              </a:rPr>
              <a:t>class Kruskal:</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def __init__(self,G,node):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self.g = G</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找到所有的边，由于我们使用的是无向图，邻接矩阵转置相同</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self.pq = PriorityQueue()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range(node):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range(i+1,node):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distance = self.g[i][j]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distance !=math.inf:</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self.pq.put((distance,[i,j]))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self.root = [i for i in range(node)]</a:t>
            </a:r>
            <a:endParaRPr lang="en-US" altLang="zh-CN">
              <a:solidFill>
                <a:schemeClr val="tx1"/>
              </a:solidFill>
              <a:uFillTx/>
              <a:latin typeface="Times New Roman" panose="02020603050405020304" pitchFamily="18" charset="0"/>
            </a:endParaRPr>
          </a:p>
        </p:txBody>
      </p:sp>
    </p:spTree>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2"/>
          <p:cNvSpPr txBox="1">
            <a:spLocks noChangeArrowheads="1"/>
          </p:cNvSpPr>
          <p:nvPr/>
        </p:nvSpPr>
        <p:spPr bwMode="auto">
          <a:xfrm>
            <a:off x="467360" y="980440"/>
            <a:ext cx="2858135" cy="45847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o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4.2.3 </a:t>
            </a:r>
            <a:r>
              <a:rPr kumimoji="1" lang="zh-CN" altLang="en-US" sz="2400" b="1" dirty="0">
                <a:uFillTx/>
                <a:latin typeface="Times New Roman" panose="02020603050405020304" pitchFamily="18" charset="0"/>
                <a:cs typeface="Times New Roman" panose="02020603050405020304" pitchFamily="18" charset="0"/>
                <a:sym typeface="+mn-ea"/>
              </a:rPr>
              <a:t>单源最短路径</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a:p>
            <a:pPr algn="l">
              <a:spcBef>
                <a:spcPct val="50000"/>
              </a:spcBef>
            </a:pP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grpSp>
        <p:nvGrpSpPr>
          <p:cNvPr id="6" name="组合 5"/>
          <p:cNvGrpSpPr/>
          <p:nvPr/>
        </p:nvGrpSpPr>
        <p:grpSpPr>
          <a:xfrm>
            <a:off x="1763395" y="2206625"/>
            <a:ext cx="539750" cy="539750"/>
            <a:chOff x="3572" y="3586"/>
            <a:chExt cx="850" cy="850"/>
          </a:xfrm>
          <a:solidFill>
            <a:srgbClr val="FF0000"/>
          </a:solidFill>
        </p:grpSpPr>
        <p:sp>
          <p:nvSpPr>
            <p:cNvPr id="7" name="椭圆 6"/>
            <p:cNvSpPr/>
            <p:nvPr/>
          </p:nvSpPr>
          <p:spPr>
            <a:xfrm>
              <a:off x="3572" y="3586"/>
              <a:ext cx="850" cy="850"/>
            </a:xfrm>
            <a:prstGeom prst="ellipse">
              <a:avLst/>
            </a:prstGeom>
            <a:grpFill/>
            <a:ln w="9525" cap="flat" cmpd="sng" algn="ctr">
              <a:no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a:ln>
              <a:noFill/>
            </a:ln>
            <a:extLst>
              <a:ext uri="{909E8E84-426E-40DD-AFC4-6F175D3DCCD1}">
                <a14:hiddenFill xmlns:a14="http://schemas.microsoft.com/office/drawing/2010/main">
                  <a:grpFill/>
                </a14:hiddenFill>
              </a:ext>
            </a:extLst>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683260" y="307086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1187450" y="4330065"/>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623820" y="422275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3" name="组合 2"/>
          <p:cNvGrpSpPr/>
          <p:nvPr/>
        </p:nvGrpSpPr>
        <p:grpSpPr>
          <a:xfrm>
            <a:off x="2695575" y="299910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31" name="直接连接符 30"/>
          <p:cNvCxnSpPr/>
          <p:nvPr/>
        </p:nvCxnSpPr>
        <p:spPr>
          <a:xfrm flipH="1">
            <a:off x="1144270" y="2667635"/>
            <a:ext cx="697865" cy="48196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34" name="直接连接符 33"/>
          <p:cNvCxnSpPr/>
          <p:nvPr/>
        </p:nvCxnSpPr>
        <p:spPr>
          <a:xfrm>
            <a:off x="953135" y="3610610"/>
            <a:ext cx="313055" cy="79819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37" name="直接连接符 36"/>
          <p:cNvCxnSpPr/>
          <p:nvPr/>
        </p:nvCxnSpPr>
        <p:spPr>
          <a:xfrm flipH="1">
            <a:off x="2893695" y="3538855"/>
            <a:ext cx="71755" cy="683895"/>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39" name="文本框 38"/>
          <p:cNvSpPr txBox="1"/>
          <p:nvPr/>
        </p:nvSpPr>
        <p:spPr>
          <a:xfrm>
            <a:off x="2411730" y="2460625"/>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41" name="文本框 40"/>
          <p:cNvSpPr txBox="1"/>
          <p:nvPr/>
        </p:nvSpPr>
        <p:spPr>
          <a:xfrm>
            <a:off x="1187450" y="2460625"/>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cxnSp>
        <p:nvCxnSpPr>
          <p:cNvPr id="5" name="直接连接符 4"/>
          <p:cNvCxnSpPr/>
          <p:nvPr/>
        </p:nvCxnSpPr>
        <p:spPr>
          <a:xfrm>
            <a:off x="2224405" y="2667635"/>
            <a:ext cx="549910" cy="410210"/>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24" name="直接连接符 23"/>
          <p:cNvCxnSpPr/>
          <p:nvPr/>
        </p:nvCxnSpPr>
        <p:spPr>
          <a:xfrm flipV="1">
            <a:off x="1722755" y="4492625"/>
            <a:ext cx="901065" cy="10731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27" name="直接连接符 26"/>
          <p:cNvCxnSpPr/>
          <p:nvPr/>
        </p:nvCxnSpPr>
        <p:spPr>
          <a:xfrm flipH="1">
            <a:off x="1457325" y="2746375"/>
            <a:ext cx="575945" cy="1583690"/>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28" name="文本框 27"/>
          <p:cNvSpPr txBox="1"/>
          <p:nvPr/>
        </p:nvSpPr>
        <p:spPr>
          <a:xfrm>
            <a:off x="633095" y="387477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30" name="文本框 29"/>
          <p:cNvSpPr txBox="1"/>
          <p:nvPr/>
        </p:nvSpPr>
        <p:spPr>
          <a:xfrm>
            <a:off x="1704975" y="3324225"/>
            <a:ext cx="445770" cy="346075"/>
          </a:xfrm>
          <a:prstGeom prst="rect">
            <a:avLst/>
          </a:prstGeom>
          <a:noFill/>
        </p:spPr>
        <p:txBody>
          <a:bodyPr wrap="square" rtlCol="0">
            <a:noAutofit/>
          </a:bodyPr>
          <a:lstStyle/>
          <a:p>
            <a:r>
              <a:rPr lang="en-US" altLang="zh-CN">
                <a:latin typeface="+mj-lt"/>
                <a:cs typeface="+mj-lt"/>
              </a:rPr>
              <a:t>60</a:t>
            </a:r>
            <a:endParaRPr lang="en-US" altLang="zh-CN">
              <a:latin typeface="+mj-lt"/>
              <a:cs typeface="+mj-lt"/>
            </a:endParaRPr>
          </a:p>
        </p:txBody>
      </p:sp>
      <p:sp>
        <p:nvSpPr>
          <p:cNvPr id="38" name="文本框 37"/>
          <p:cNvSpPr txBox="1"/>
          <p:nvPr/>
        </p:nvSpPr>
        <p:spPr>
          <a:xfrm>
            <a:off x="1988820" y="4531995"/>
            <a:ext cx="445770" cy="346075"/>
          </a:xfrm>
          <a:prstGeom prst="rect">
            <a:avLst/>
          </a:prstGeom>
          <a:noFill/>
        </p:spPr>
        <p:txBody>
          <a:bodyPr wrap="square" rtlCol="0">
            <a:noAutofit/>
          </a:bodyPr>
          <a:lstStyle/>
          <a:p>
            <a:r>
              <a:rPr lang="en-US" altLang="zh-CN">
                <a:latin typeface="+mj-lt"/>
                <a:cs typeface="+mj-lt"/>
              </a:rPr>
              <a:t>30</a:t>
            </a:r>
            <a:endParaRPr lang="en-US" altLang="zh-CN">
              <a:latin typeface="+mj-lt"/>
              <a:cs typeface="+mj-lt"/>
            </a:endParaRPr>
          </a:p>
        </p:txBody>
      </p:sp>
      <p:sp>
        <p:nvSpPr>
          <p:cNvPr id="47" name="文本框 46"/>
          <p:cNvSpPr txBox="1"/>
          <p:nvPr/>
        </p:nvSpPr>
        <p:spPr>
          <a:xfrm>
            <a:off x="2965450" y="3684270"/>
            <a:ext cx="445770" cy="346075"/>
          </a:xfrm>
          <a:prstGeom prst="rect">
            <a:avLst/>
          </a:prstGeom>
          <a:noFill/>
        </p:spPr>
        <p:txBody>
          <a:bodyPr wrap="square" rtlCol="0">
            <a:noAutofit/>
          </a:bodyPr>
          <a:lstStyle/>
          <a:p>
            <a:r>
              <a:rPr lang="en-US" altLang="zh-CN">
                <a:latin typeface="+mj-lt"/>
                <a:cs typeface="+mj-lt"/>
              </a:rPr>
              <a:t>42</a:t>
            </a:r>
            <a:endParaRPr lang="en-US" altLang="zh-CN">
              <a:latin typeface="+mj-lt"/>
              <a:cs typeface="+mj-lt"/>
            </a:endParaRPr>
          </a:p>
        </p:txBody>
      </p:sp>
      <p:sp>
        <p:nvSpPr>
          <p:cNvPr id="1025" name="矩形 1024"/>
          <p:cNvSpPr>
            <a:spLocks noChangeAspect="1"/>
          </p:cNvSpPr>
          <p:nvPr/>
        </p:nvSpPr>
        <p:spPr>
          <a:xfrm>
            <a:off x="3402013" y="2017713"/>
            <a:ext cx="5514975" cy="3038475"/>
          </a:xfrm>
          <a:prstGeom prst="rect">
            <a:avLst/>
          </a:prstGeom>
          <a:noFill/>
          <a:ln w="9525">
            <a:noFill/>
          </a:ln>
        </p:spPr>
      </p:sp>
      <p:grpSp>
        <p:nvGrpSpPr>
          <p:cNvPr id="10" name="Group 4"/>
          <p:cNvGrpSpPr>
            <a:grpSpLocks noChangeAspect="1"/>
          </p:cNvGrpSpPr>
          <p:nvPr/>
        </p:nvGrpSpPr>
        <p:grpSpPr bwMode="auto">
          <a:xfrm>
            <a:off x="3636010" y="1786255"/>
            <a:ext cx="5514975" cy="3028950"/>
            <a:chOff x="2216" y="1249"/>
            <a:chExt cx="3474" cy="1908"/>
          </a:xfrm>
        </p:grpSpPr>
        <p:sp>
          <p:nvSpPr>
            <p:cNvPr id="11" name="AutoShape 3"/>
            <p:cNvSpPr>
              <a:spLocks noChangeAspect="1" noChangeArrowheads="1" noTextEdit="1"/>
            </p:cNvSpPr>
            <p:nvPr/>
          </p:nvSpPr>
          <p:spPr bwMode="auto">
            <a:xfrm>
              <a:off x="2216" y="1249"/>
              <a:ext cx="3474" cy="19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43" name="Line 15"/>
            <p:cNvSpPr>
              <a:spLocks noChangeShapeType="1"/>
            </p:cNvSpPr>
            <p:nvPr/>
          </p:nvSpPr>
          <p:spPr bwMode="auto">
            <a:xfrm>
              <a:off x="2911"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4" name="Line 16"/>
            <p:cNvSpPr>
              <a:spLocks noChangeShapeType="1"/>
            </p:cNvSpPr>
            <p:nvPr/>
          </p:nvSpPr>
          <p:spPr bwMode="auto">
            <a:xfrm>
              <a:off x="3470"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5" name="Line 17"/>
            <p:cNvSpPr>
              <a:spLocks noChangeShapeType="1"/>
            </p:cNvSpPr>
            <p:nvPr/>
          </p:nvSpPr>
          <p:spPr bwMode="auto">
            <a:xfrm>
              <a:off x="3953"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6" name="Line 18"/>
            <p:cNvSpPr>
              <a:spLocks noChangeShapeType="1"/>
            </p:cNvSpPr>
            <p:nvPr/>
          </p:nvSpPr>
          <p:spPr bwMode="auto">
            <a:xfrm>
              <a:off x="3953"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8" name="Line 19"/>
            <p:cNvSpPr>
              <a:spLocks noChangeShapeType="1"/>
            </p:cNvSpPr>
            <p:nvPr/>
          </p:nvSpPr>
          <p:spPr bwMode="auto">
            <a:xfrm>
              <a:off x="3953"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9" name="Line 20"/>
            <p:cNvSpPr>
              <a:spLocks noChangeShapeType="1"/>
            </p:cNvSpPr>
            <p:nvPr/>
          </p:nvSpPr>
          <p:spPr bwMode="auto">
            <a:xfrm>
              <a:off x="4529"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0" name="Line 21"/>
            <p:cNvSpPr>
              <a:spLocks noChangeShapeType="1"/>
            </p:cNvSpPr>
            <p:nvPr/>
          </p:nvSpPr>
          <p:spPr bwMode="auto">
            <a:xfrm>
              <a:off x="4529"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1" name="Line 22"/>
            <p:cNvSpPr>
              <a:spLocks noChangeShapeType="1"/>
            </p:cNvSpPr>
            <p:nvPr/>
          </p:nvSpPr>
          <p:spPr bwMode="auto">
            <a:xfrm>
              <a:off x="4529"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2" name="Line 23"/>
            <p:cNvSpPr>
              <a:spLocks noChangeShapeType="1"/>
            </p:cNvSpPr>
            <p:nvPr/>
          </p:nvSpPr>
          <p:spPr bwMode="auto">
            <a:xfrm>
              <a:off x="5094"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3" name="Line 24"/>
            <p:cNvSpPr>
              <a:spLocks noChangeShapeType="1"/>
            </p:cNvSpPr>
            <p:nvPr/>
          </p:nvSpPr>
          <p:spPr bwMode="auto">
            <a:xfrm>
              <a:off x="5094"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4" name="Line 25"/>
            <p:cNvSpPr>
              <a:spLocks noChangeShapeType="1"/>
            </p:cNvSpPr>
            <p:nvPr/>
          </p:nvSpPr>
          <p:spPr bwMode="auto">
            <a:xfrm>
              <a:off x="5094"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5" name="Line 26"/>
            <p:cNvSpPr>
              <a:spLocks noChangeShapeType="1"/>
            </p:cNvSpPr>
            <p:nvPr/>
          </p:nvSpPr>
          <p:spPr bwMode="auto">
            <a:xfrm>
              <a:off x="2222" y="1521"/>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6" name="Line 27"/>
            <p:cNvSpPr>
              <a:spLocks noChangeShapeType="1"/>
            </p:cNvSpPr>
            <p:nvPr/>
          </p:nvSpPr>
          <p:spPr bwMode="auto">
            <a:xfrm>
              <a:off x="2222" y="1778"/>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7" name="Line 28"/>
            <p:cNvSpPr>
              <a:spLocks noChangeShapeType="1"/>
            </p:cNvSpPr>
            <p:nvPr/>
          </p:nvSpPr>
          <p:spPr bwMode="auto">
            <a:xfrm>
              <a:off x="2222" y="2053"/>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8" name="Line 29"/>
            <p:cNvSpPr>
              <a:spLocks noChangeShapeType="1"/>
            </p:cNvSpPr>
            <p:nvPr/>
          </p:nvSpPr>
          <p:spPr bwMode="auto">
            <a:xfrm>
              <a:off x="2222" y="2327"/>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9" name="Line 30"/>
            <p:cNvSpPr>
              <a:spLocks noChangeShapeType="1"/>
            </p:cNvSpPr>
            <p:nvPr/>
          </p:nvSpPr>
          <p:spPr bwMode="auto">
            <a:xfrm>
              <a:off x="2222" y="2601"/>
              <a:ext cx="1731"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0" name="Line 31"/>
            <p:cNvSpPr>
              <a:spLocks noChangeShapeType="1"/>
            </p:cNvSpPr>
            <p:nvPr/>
          </p:nvSpPr>
          <p:spPr bwMode="auto">
            <a:xfrm>
              <a:off x="3953" y="2601"/>
              <a:ext cx="1732"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1" name="Line 32"/>
            <p:cNvSpPr>
              <a:spLocks noChangeShapeType="1"/>
            </p:cNvSpPr>
            <p:nvPr/>
          </p:nvSpPr>
          <p:spPr bwMode="auto">
            <a:xfrm>
              <a:off x="2222" y="2870"/>
              <a:ext cx="1731"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2" name="Line 33"/>
            <p:cNvSpPr>
              <a:spLocks noChangeShapeType="1"/>
            </p:cNvSpPr>
            <p:nvPr/>
          </p:nvSpPr>
          <p:spPr bwMode="auto">
            <a:xfrm>
              <a:off x="3953" y="2870"/>
              <a:ext cx="1732"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3" name="Line 34"/>
            <p:cNvSpPr>
              <a:spLocks noChangeShapeType="1"/>
            </p:cNvSpPr>
            <p:nvPr/>
          </p:nvSpPr>
          <p:spPr bwMode="auto">
            <a:xfrm>
              <a:off x="2226"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4" name="Line 35"/>
            <p:cNvSpPr>
              <a:spLocks noChangeShapeType="1"/>
            </p:cNvSpPr>
            <p:nvPr/>
          </p:nvSpPr>
          <p:spPr bwMode="auto">
            <a:xfrm>
              <a:off x="5681"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6" name="Line 36"/>
            <p:cNvSpPr>
              <a:spLocks noChangeShapeType="1"/>
            </p:cNvSpPr>
            <p:nvPr/>
          </p:nvSpPr>
          <p:spPr bwMode="auto">
            <a:xfrm>
              <a:off x="5681"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7" name="Line 37"/>
            <p:cNvSpPr>
              <a:spLocks noChangeShapeType="1"/>
            </p:cNvSpPr>
            <p:nvPr/>
          </p:nvSpPr>
          <p:spPr bwMode="auto">
            <a:xfrm>
              <a:off x="5681"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8" name="Line 38"/>
            <p:cNvSpPr>
              <a:spLocks noChangeShapeType="1"/>
            </p:cNvSpPr>
            <p:nvPr/>
          </p:nvSpPr>
          <p:spPr bwMode="auto">
            <a:xfrm>
              <a:off x="2222" y="1265"/>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9" name="Line 39"/>
            <p:cNvSpPr>
              <a:spLocks noChangeShapeType="1"/>
            </p:cNvSpPr>
            <p:nvPr/>
          </p:nvSpPr>
          <p:spPr bwMode="auto">
            <a:xfrm>
              <a:off x="2222" y="3145"/>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30" name="Rectangle 40"/>
            <p:cNvSpPr>
              <a:spLocks noChangeArrowheads="1"/>
            </p:cNvSpPr>
            <p:nvPr/>
          </p:nvSpPr>
          <p:spPr bwMode="auto">
            <a:xfrm>
              <a:off x="3122" y="1309"/>
              <a:ext cx="151"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①</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1" name="Rectangle 41"/>
            <p:cNvSpPr>
              <a:spLocks noChangeArrowheads="1"/>
            </p:cNvSpPr>
            <p:nvPr/>
          </p:nvSpPr>
          <p:spPr bwMode="auto">
            <a:xfrm>
              <a:off x="3639"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②</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2" name="Rectangle 42"/>
            <p:cNvSpPr>
              <a:spLocks noChangeArrowheads="1"/>
            </p:cNvSpPr>
            <p:nvPr/>
          </p:nvSpPr>
          <p:spPr bwMode="auto">
            <a:xfrm>
              <a:off x="4170" y="1309"/>
              <a:ext cx="151"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③</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3" name="Rectangle 43"/>
            <p:cNvSpPr>
              <a:spLocks noChangeArrowheads="1"/>
            </p:cNvSpPr>
            <p:nvPr/>
          </p:nvSpPr>
          <p:spPr bwMode="auto">
            <a:xfrm>
              <a:off x="4740"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④</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4" name="Rectangle 44"/>
            <p:cNvSpPr>
              <a:spLocks noChangeArrowheads="1"/>
            </p:cNvSpPr>
            <p:nvPr/>
          </p:nvSpPr>
          <p:spPr bwMode="auto">
            <a:xfrm>
              <a:off x="5317"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⑤</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7" name="Rectangle 47"/>
            <p:cNvSpPr>
              <a:spLocks noChangeArrowheads="1"/>
            </p:cNvSpPr>
            <p:nvPr/>
          </p:nvSpPr>
          <p:spPr bwMode="auto">
            <a:xfrm>
              <a:off x="2539" y="1816"/>
              <a:ext cx="102" cy="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B</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1" name="Rectangle 51"/>
            <p:cNvSpPr>
              <a:spLocks noChangeArrowheads="1"/>
            </p:cNvSpPr>
            <p:nvPr/>
          </p:nvSpPr>
          <p:spPr bwMode="auto">
            <a:xfrm>
              <a:off x="2539" y="2091"/>
              <a:ext cx="102" cy="1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7" name="Rectangle 57"/>
            <p:cNvSpPr>
              <a:spLocks noChangeArrowheads="1"/>
            </p:cNvSpPr>
            <p:nvPr/>
          </p:nvSpPr>
          <p:spPr bwMode="auto">
            <a:xfrm>
              <a:off x="2539" y="2365"/>
              <a:ext cx="102" cy="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D</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2" name="Rectangle 62"/>
            <p:cNvSpPr>
              <a:spLocks noChangeArrowheads="1"/>
            </p:cNvSpPr>
            <p:nvPr/>
          </p:nvSpPr>
          <p:spPr bwMode="auto">
            <a:xfrm>
              <a:off x="2545" y="2640"/>
              <a:ext cx="96" cy="1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E</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5" name="Rectangle 65"/>
            <p:cNvSpPr>
              <a:spLocks noChangeArrowheads="1"/>
            </p:cNvSpPr>
            <p:nvPr/>
          </p:nvSpPr>
          <p:spPr bwMode="auto">
            <a:xfrm>
              <a:off x="2286" y="2913"/>
              <a:ext cx="241" cy="1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宋体" panose="02010600030101010101" pitchFamily="2" charset="-122"/>
                  <a:ea typeface="宋体" panose="02010600030101010101" pitchFamily="2" charset="-122"/>
                </a:rPr>
                <a:t>最短点集</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101" name="Rectangle 45"/>
          <p:cNvSpPr>
            <a:spLocks noChangeArrowheads="1"/>
          </p:cNvSpPr>
          <p:nvPr/>
        </p:nvSpPr>
        <p:spPr bwMode="auto">
          <a:xfrm>
            <a:off x="4141788" y="2339658"/>
            <a:ext cx="1809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dirty="0">
                <a:ln>
                  <a:noFill/>
                </a:ln>
                <a:solidFill>
                  <a:srgbClr val="000000"/>
                </a:solidFill>
                <a:effectLst/>
                <a:latin typeface="Times New Roman" panose="02020603050405020304" pitchFamily="18" charset="0"/>
              </a:rPr>
              <a:t>A</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4" name="Rectangle 46"/>
          <p:cNvSpPr>
            <a:spLocks noChangeArrowheads="1"/>
          </p:cNvSpPr>
          <p:nvPr/>
        </p:nvSpPr>
        <p:spPr bwMode="auto">
          <a:xfrm>
            <a:off x="4829175" y="2339658"/>
            <a:ext cx="1428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 name="Rectangle 48"/>
          <p:cNvSpPr>
            <a:spLocks noChangeArrowheads="1"/>
          </p:cNvSpPr>
          <p:nvPr/>
        </p:nvSpPr>
        <p:spPr bwMode="auto">
          <a:xfrm>
            <a:off x="4829175" y="2749233"/>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4" name="Rectangle 52"/>
          <p:cNvSpPr>
            <a:spLocks noChangeArrowheads="1"/>
          </p:cNvSpPr>
          <p:nvPr/>
        </p:nvSpPr>
        <p:spPr bwMode="auto">
          <a:xfrm>
            <a:off x="4829175"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5" name="Rectangle 58"/>
          <p:cNvSpPr>
            <a:spLocks noChangeArrowheads="1"/>
          </p:cNvSpPr>
          <p:nvPr/>
        </p:nvSpPr>
        <p:spPr bwMode="auto">
          <a:xfrm>
            <a:off x="4829175" y="3620770"/>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6" name="Rectangle 63"/>
          <p:cNvSpPr>
            <a:spLocks noChangeArrowheads="1"/>
          </p:cNvSpPr>
          <p:nvPr/>
        </p:nvSpPr>
        <p:spPr bwMode="auto">
          <a:xfrm>
            <a:off x="4829175" y="4057333"/>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7" name="Rectangle 66"/>
          <p:cNvSpPr>
            <a:spLocks noChangeArrowheads="1"/>
          </p:cNvSpPr>
          <p:nvPr/>
        </p:nvSpPr>
        <p:spPr bwMode="auto">
          <a:xfrm>
            <a:off x="4829175" y="4481195"/>
            <a:ext cx="1809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8" name="Rectangle 5"/>
          <p:cNvSpPr>
            <a:spLocks noChangeArrowheads="1"/>
          </p:cNvSpPr>
          <p:nvPr/>
        </p:nvSpPr>
        <p:spPr bwMode="auto">
          <a:xfrm>
            <a:off x="5628640" y="2218690"/>
            <a:ext cx="766763"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69" name="Rectangle 6"/>
          <p:cNvSpPr>
            <a:spLocks noChangeArrowheads="1"/>
          </p:cNvSpPr>
          <p:nvPr/>
        </p:nvSpPr>
        <p:spPr bwMode="auto">
          <a:xfrm>
            <a:off x="6395403" y="2218690"/>
            <a:ext cx="914400"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0" name="Rectangle 7"/>
          <p:cNvSpPr>
            <a:spLocks noChangeArrowheads="1"/>
          </p:cNvSpPr>
          <p:nvPr/>
        </p:nvSpPr>
        <p:spPr bwMode="auto">
          <a:xfrm>
            <a:off x="7309803" y="2218690"/>
            <a:ext cx="896938"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1" name="Rectangle 8"/>
          <p:cNvSpPr>
            <a:spLocks noChangeArrowheads="1"/>
          </p:cNvSpPr>
          <p:nvPr/>
        </p:nvSpPr>
        <p:spPr bwMode="auto">
          <a:xfrm>
            <a:off x="8206740" y="2218690"/>
            <a:ext cx="931863"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2" name="Rectangle 67"/>
          <p:cNvSpPr>
            <a:spLocks noChangeArrowheads="1"/>
          </p:cNvSpPr>
          <p:nvPr/>
        </p:nvSpPr>
        <p:spPr bwMode="auto">
          <a:xfrm>
            <a:off x="5715000" y="4481195"/>
            <a:ext cx="325438"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文本框 72"/>
          <p:cNvSpPr txBox="1"/>
          <p:nvPr/>
        </p:nvSpPr>
        <p:spPr>
          <a:xfrm>
            <a:off x="755650" y="5372735"/>
            <a:ext cx="7075805"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rPr>
              <a:t>算法初始化：设置</a:t>
            </a:r>
            <a:r>
              <a:rPr lang="en-US" altLang="zh-CN">
                <a:solidFill>
                  <a:srgbClr val="FF0000"/>
                </a:solidFill>
                <a:uFillTx/>
                <a:latin typeface="Times New Roman" panose="02020603050405020304" pitchFamily="18" charset="0"/>
                <a:cs typeface="Times New Roman" panose="02020603050405020304" pitchFamily="18" charset="0"/>
              </a:rPr>
              <a:t>A</a:t>
            </a:r>
            <a:r>
              <a:rPr lang="zh-CN" altLang="en-US">
                <a:solidFill>
                  <a:srgbClr val="FF0000"/>
                </a:solidFill>
                <a:uFillTx/>
                <a:latin typeface="Times New Roman" panose="02020603050405020304" pitchFamily="18" charset="0"/>
              </a:rPr>
              <a:t>作为源点，</a:t>
            </a:r>
            <a:r>
              <a:rPr lang="en-US" altLang="zh-CN">
                <a:solidFill>
                  <a:srgbClr val="FF0000"/>
                </a:solidFill>
                <a:uFillTx/>
                <a:latin typeface="Times New Roman" panose="02020603050405020304" pitchFamily="18" charset="0"/>
              </a:rPr>
              <a:t>A</a:t>
            </a:r>
            <a:r>
              <a:rPr lang="zh-CN" altLang="en-US">
                <a:solidFill>
                  <a:srgbClr val="FF0000"/>
                </a:solidFill>
                <a:uFillTx/>
                <a:latin typeface="Times New Roman" panose="02020603050405020304" pitchFamily="18" charset="0"/>
              </a:rPr>
              <a:t>的距离为</a:t>
            </a:r>
            <a:r>
              <a:rPr lang="en-US" altLang="zh-CN">
                <a:solidFill>
                  <a:srgbClr val="FF0000"/>
                </a:solidFill>
                <a:uFillTx/>
                <a:latin typeface="Times New Roman" panose="02020603050405020304" pitchFamily="18" charset="0"/>
              </a:rPr>
              <a:t>0</a:t>
            </a:r>
            <a:r>
              <a:rPr lang="zh-CN" altLang="en-US">
                <a:solidFill>
                  <a:srgbClr val="FF0000"/>
                </a:solidFill>
                <a:uFillTx/>
                <a:latin typeface="Times New Roman" panose="02020603050405020304" pitchFamily="18" charset="0"/>
              </a:rPr>
              <a:t>，其余节点均为</a:t>
            </a:r>
            <a:r>
              <a:rPr lang="zh-CN" altLang="en-US">
                <a:solidFill>
                  <a:srgbClr val="FF0000"/>
                </a:solidFill>
                <a:uFillTx/>
                <a:latin typeface="Times New Roman" panose="02020603050405020304" pitchFamily="18" charset="0"/>
                <a:cs typeface="Arial" panose="020B0604020202020204" pitchFamily="34" charset="0"/>
              </a:rPr>
              <a:t>∞</a:t>
            </a:r>
            <a:r>
              <a:rPr lang="en-US" altLang="zh-CN">
                <a:solidFill>
                  <a:srgbClr val="FF0000"/>
                </a:solidFill>
                <a:uFillTx/>
                <a:latin typeface="Times New Roman" panose="02020603050405020304" pitchFamily="18" charset="0"/>
                <a:cs typeface="Arial" panose="020B0604020202020204" pitchFamily="34" charset="0"/>
              </a:rPr>
              <a:t>.</a:t>
            </a:r>
            <a:endParaRPr lang="en-US" altLang="zh-CN">
              <a:solidFill>
                <a:srgbClr val="FF0000"/>
              </a:solidFill>
              <a:uFillTx/>
              <a:latin typeface="Times New Roman" panose="02020603050405020304" pitchFamily="18" charset="0"/>
              <a:cs typeface="Arial" panose="020B0604020202020204" pitchFamily="34" charset="0"/>
            </a:endParaRPr>
          </a:p>
        </p:txBody>
      </p:sp>
      <p:sp>
        <p:nvSpPr>
          <p:cNvPr id="74" name="文本框 73"/>
          <p:cNvSpPr txBox="1"/>
          <p:nvPr/>
        </p:nvSpPr>
        <p:spPr>
          <a:xfrm>
            <a:off x="827405" y="5372735"/>
            <a:ext cx="7075805"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cs typeface="Arial" panose="020B0604020202020204" pitchFamily="34" charset="0"/>
              </a:rPr>
              <a:t>此时选择最短路径的点</a:t>
            </a:r>
            <a:r>
              <a:rPr lang="en-US" altLang="zh-CN">
                <a:solidFill>
                  <a:srgbClr val="FF0000"/>
                </a:solidFill>
                <a:uFillTx/>
                <a:latin typeface="Times New Roman" panose="02020603050405020304" pitchFamily="18" charset="0"/>
                <a:cs typeface="Arial" panose="020B0604020202020204" pitchFamily="34" charset="0"/>
              </a:rPr>
              <a:t>A</a:t>
            </a:r>
            <a:r>
              <a:rPr lang="zh-CN" altLang="en-US">
                <a:solidFill>
                  <a:srgbClr val="FF0000"/>
                </a:solidFill>
                <a:uFillTx/>
                <a:latin typeface="Times New Roman" panose="02020603050405020304" pitchFamily="18" charset="0"/>
                <a:cs typeface="Arial" panose="020B0604020202020204" pitchFamily="34" charset="0"/>
              </a:rPr>
              <a:t>，加入路径</a:t>
            </a:r>
            <a:r>
              <a:rPr lang="zh-CN" altLang="en-US">
                <a:solidFill>
                  <a:srgbClr val="FF0000"/>
                </a:solidFill>
                <a:uFillTx/>
                <a:latin typeface="Times New Roman" panose="02020603050405020304" pitchFamily="18" charset="0"/>
                <a:cs typeface="Arial" panose="020B0604020202020204" pitchFamily="34" charset="0"/>
              </a:rPr>
              <a:t>树。</a:t>
            </a:r>
            <a:endParaRPr lang="zh-CN" altLang="en-US">
              <a:solidFill>
                <a:srgbClr val="FF0000"/>
              </a:solidFill>
              <a:uFillTx/>
              <a:latin typeface="Times New Roman" panose="02020603050405020304" pitchFamily="18" charset="0"/>
              <a:cs typeface="Arial" panose="020B0604020202020204" pitchFamily="34" charset="0"/>
            </a:endParaRPr>
          </a:p>
        </p:txBody>
      </p:sp>
      <p:sp>
        <p:nvSpPr>
          <p:cNvPr id="75" name="文本框 74"/>
          <p:cNvSpPr txBox="1"/>
          <p:nvPr/>
        </p:nvSpPr>
        <p:spPr>
          <a:xfrm>
            <a:off x="827405" y="5445125"/>
            <a:ext cx="7075805"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cs typeface="Arial" panose="020B0604020202020204" pitchFamily="34" charset="0"/>
              </a:rPr>
              <a:t>此时可以标记</a:t>
            </a:r>
            <a:r>
              <a:rPr lang="en-US" altLang="zh-CN">
                <a:solidFill>
                  <a:srgbClr val="FF0000"/>
                </a:solidFill>
                <a:uFillTx/>
                <a:latin typeface="Times New Roman" panose="02020603050405020304" pitchFamily="18" charset="0"/>
                <a:cs typeface="Arial" panose="020B0604020202020204" pitchFamily="34" charset="0"/>
              </a:rPr>
              <a:t>A</a:t>
            </a:r>
            <a:r>
              <a:rPr lang="zh-CN" altLang="en-US">
                <a:solidFill>
                  <a:srgbClr val="FF0000"/>
                </a:solidFill>
                <a:uFillTx/>
                <a:latin typeface="Times New Roman" panose="02020603050405020304" pitchFamily="18" charset="0"/>
                <a:cs typeface="Arial" panose="020B0604020202020204" pitchFamily="34" charset="0"/>
              </a:rPr>
              <a:t>节点已完成，同时更新从</a:t>
            </a:r>
            <a:r>
              <a:rPr lang="en-US" altLang="zh-CN">
                <a:solidFill>
                  <a:srgbClr val="FF0000"/>
                </a:solidFill>
                <a:uFillTx/>
                <a:latin typeface="Times New Roman" panose="02020603050405020304" pitchFamily="18" charset="0"/>
                <a:cs typeface="Arial" panose="020B0604020202020204" pitchFamily="34" charset="0"/>
              </a:rPr>
              <a:t>A</a:t>
            </a:r>
            <a:r>
              <a:rPr lang="zh-CN" altLang="en-US">
                <a:solidFill>
                  <a:srgbClr val="FF0000"/>
                </a:solidFill>
                <a:uFillTx/>
                <a:latin typeface="Times New Roman" panose="02020603050405020304" pitchFamily="18" charset="0"/>
                <a:cs typeface="Arial" panose="020B0604020202020204" pitchFamily="34" charset="0"/>
              </a:rPr>
              <a:t>点能通过的</a:t>
            </a:r>
            <a:r>
              <a:rPr lang="zh-CN" altLang="en-US">
                <a:solidFill>
                  <a:srgbClr val="FF0000"/>
                </a:solidFill>
                <a:uFillTx/>
                <a:latin typeface="Times New Roman" panose="02020603050405020304" pitchFamily="18" charset="0"/>
                <a:cs typeface="Arial" panose="020B0604020202020204" pitchFamily="34" charset="0"/>
              </a:rPr>
              <a:t>节点。</a:t>
            </a:r>
            <a:endParaRPr lang="zh-CN" altLang="en-US">
              <a:solidFill>
                <a:srgbClr val="FF0000"/>
              </a:solidFill>
              <a:uFillTx/>
              <a:latin typeface="Times New Roman" panose="02020603050405020304" pitchFamily="18" charset="0"/>
              <a:cs typeface="Arial" panose="020B0604020202020204" pitchFamily="34" charset="0"/>
            </a:endParaRPr>
          </a:p>
        </p:txBody>
      </p:sp>
      <p:sp>
        <p:nvSpPr>
          <p:cNvPr id="76" name="Rectangle 49"/>
          <p:cNvSpPr>
            <a:spLocks noChangeArrowheads="1"/>
          </p:cNvSpPr>
          <p:nvPr/>
        </p:nvSpPr>
        <p:spPr bwMode="auto">
          <a:xfrm>
            <a:off x="5715000" y="2749233"/>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20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53"/>
          <p:cNvSpPr>
            <a:spLocks noChangeArrowheads="1"/>
          </p:cNvSpPr>
          <p:nvPr/>
        </p:nvSpPr>
        <p:spPr bwMode="auto">
          <a:xfrm>
            <a:off x="5715000"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78" name="Rectangle 59"/>
          <p:cNvSpPr>
            <a:spLocks noChangeArrowheads="1"/>
          </p:cNvSpPr>
          <p:nvPr/>
        </p:nvSpPr>
        <p:spPr bwMode="auto">
          <a:xfrm>
            <a:off x="5715000" y="3620770"/>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9" name="Rectangle 64"/>
          <p:cNvSpPr>
            <a:spLocks noChangeArrowheads="1"/>
          </p:cNvSpPr>
          <p:nvPr/>
        </p:nvSpPr>
        <p:spPr bwMode="auto">
          <a:xfrm>
            <a:off x="5715000" y="4057333"/>
            <a:ext cx="209550" cy="209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15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0" name="文本框 79"/>
          <p:cNvSpPr txBox="1"/>
          <p:nvPr/>
        </p:nvSpPr>
        <p:spPr>
          <a:xfrm>
            <a:off x="827405" y="5372735"/>
            <a:ext cx="7075805"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cs typeface="Arial" panose="020B0604020202020204" pitchFamily="34" charset="0"/>
              </a:rPr>
              <a:t>此时距离最短路径的节点是</a:t>
            </a:r>
            <a:r>
              <a:rPr lang="en-US" altLang="zh-CN">
                <a:solidFill>
                  <a:srgbClr val="FF0000"/>
                </a:solidFill>
                <a:uFillTx/>
                <a:latin typeface="Times New Roman" panose="02020603050405020304" pitchFamily="18" charset="0"/>
                <a:cs typeface="Arial" panose="020B0604020202020204" pitchFamily="34" charset="0"/>
              </a:rPr>
              <a:t>E</a:t>
            </a:r>
            <a:r>
              <a:rPr lang="zh-CN" altLang="en-US">
                <a:solidFill>
                  <a:srgbClr val="FF0000"/>
                </a:solidFill>
                <a:uFillTx/>
                <a:latin typeface="Times New Roman" panose="02020603050405020304" pitchFamily="18" charset="0"/>
                <a:cs typeface="Arial" panose="020B0604020202020204" pitchFamily="34" charset="0"/>
              </a:rPr>
              <a:t>，将</a:t>
            </a:r>
            <a:r>
              <a:rPr lang="en-US" altLang="zh-CN">
                <a:solidFill>
                  <a:srgbClr val="FF0000"/>
                </a:solidFill>
                <a:uFillTx/>
                <a:latin typeface="Times New Roman" panose="02020603050405020304" pitchFamily="18" charset="0"/>
                <a:cs typeface="Arial" panose="020B0604020202020204" pitchFamily="34" charset="0"/>
              </a:rPr>
              <a:t>E</a:t>
            </a:r>
            <a:r>
              <a:rPr lang="zh-CN" altLang="en-US">
                <a:solidFill>
                  <a:srgbClr val="FF0000"/>
                </a:solidFill>
                <a:uFillTx/>
                <a:latin typeface="Times New Roman" panose="02020603050405020304" pitchFamily="18" charset="0"/>
                <a:cs typeface="Arial" panose="020B0604020202020204" pitchFamily="34" charset="0"/>
              </a:rPr>
              <a:t>加入</a:t>
            </a:r>
            <a:r>
              <a:rPr lang="zh-CN" altLang="en-US">
                <a:solidFill>
                  <a:srgbClr val="FF0000"/>
                </a:solidFill>
                <a:uFillTx/>
                <a:latin typeface="Times New Roman" panose="02020603050405020304" pitchFamily="18" charset="0"/>
                <a:cs typeface="Arial" panose="020B0604020202020204" pitchFamily="34" charset="0"/>
              </a:rPr>
              <a:t>点集。</a:t>
            </a:r>
            <a:endParaRPr lang="zh-CN" altLang="en-US">
              <a:solidFill>
                <a:srgbClr val="FF0000"/>
              </a:solidFill>
              <a:uFillTx/>
              <a:latin typeface="Times New Roman" panose="02020603050405020304" pitchFamily="18" charset="0"/>
              <a:cs typeface="Arial" panose="020B0604020202020204" pitchFamily="34" charset="0"/>
            </a:endParaRPr>
          </a:p>
        </p:txBody>
      </p:sp>
      <p:cxnSp>
        <p:nvCxnSpPr>
          <p:cNvPr id="81" name="直接连接符 80"/>
          <p:cNvCxnSpPr/>
          <p:nvPr/>
        </p:nvCxnSpPr>
        <p:spPr>
          <a:xfrm flipH="1">
            <a:off x="1144270" y="2667635"/>
            <a:ext cx="697865" cy="481965"/>
          </a:xfrm>
          <a:prstGeom prst="line">
            <a:avLst/>
          </a:prstGeom>
          <a:solidFill>
            <a:schemeClr val="accent1"/>
          </a:solidFill>
          <a:ln w="28575" cap="flat" cmpd="sng" algn="ctr">
            <a:solidFill>
              <a:srgbClr val="FF0000"/>
            </a:solidFill>
            <a:prstDash val="solid"/>
            <a:round/>
            <a:headEnd type="none" w="med" len="med"/>
            <a:tailEnd type="triangle" w="med" len="med"/>
          </a:ln>
        </p:spPr>
      </p:cxnSp>
      <p:sp>
        <p:nvSpPr>
          <p:cNvPr id="82" name="文本框 81"/>
          <p:cNvSpPr txBox="1"/>
          <p:nvPr/>
        </p:nvSpPr>
        <p:spPr>
          <a:xfrm>
            <a:off x="1187450" y="2460625"/>
            <a:ext cx="445770" cy="346075"/>
          </a:xfrm>
          <a:prstGeom prst="rect">
            <a:avLst/>
          </a:prstGeom>
          <a:noFill/>
        </p:spPr>
        <p:txBody>
          <a:bodyPr wrap="square" rtlCol="0">
            <a:noAutofit/>
          </a:bodyPr>
          <a:lstStyle/>
          <a:p>
            <a:r>
              <a:rPr lang="en-US" altLang="zh-CN">
                <a:solidFill>
                  <a:srgbClr val="FF0000"/>
                </a:solidFill>
                <a:latin typeface="+mj-lt"/>
                <a:cs typeface="+mj-lt"/>
              </a:rPr>
              <a:t>15</a:t>
            </a:r>
            <a:endParaRPr lang="en-US" altLang="zh-CN">
              <a:solidFill>
                <a:srgbClr val="FF0000"/>
              </a:solidFill>
              <a:latin typeface="+mj-lt"/>
              <a:cs typeface="+mj-lt"/>
            </a:endParaRPr>
          </a:p>
        </p:txBody>
      </p:sp>
      <p:sp>
        <p:nvSpPr>
          <p:cNvPr id="12" name="文本框 11"/>
          <p:cNvSpPr txBox="1"/>
          <p:nvPr/>
        </p:nvSpPr>
        <p:spPr>
          <a:xfrm>
            <a:off x="3216910" y="4940935"/>
            <a:ext cx="1880235" cy="365760"/>
          </a:xfrm>
          <a:prstGeom prst="rect">
            <a:avLst/>
          </a:prstGeom>
          <a:noFill/>
        </p:spPr>
        <p:txBody>
          <a:bodyPr wrap="square" rtlCol="0">
            <a:noAutofit/>
          </a:bodyPr>
          <a:lstStyle/>
          <a:p>
            <a:r>
              <a:rPr lang="zh-CN" altLang="en-US"/>
              <a:t>待距离源点长度</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5630545" y="485457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3" name="左大括号 12"/>
          <p:cNvSpPr/>
          <p:nvPr/>
        </p:nvSpPr>
        <p:spPr>
          <a:xfrm>
            <a:off x="5043170" y="485648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14" name="组合 13"/>
          <p:cNvGrpSpPr/>
          <p:nvPr/>
        </p:nvGrpSpPr>
        <p:grpSpPr>
          <a:xfrm>
            <a:off x="5235575" y="4940935"/>
            <a:ext cx="589280" cy="382270"/>
            <a:chOff x="906683" y="2036167"/>
            <a:chExt cx="765448" cy="504056"/>
          </a:xfrm>
        </p:grpSpPr>
        <p:sp>
          <p:nvSpPr>
            <p:cNvPr id="3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5" name="组合 34"/>
          <p:cNvGrpSpPr/>
          <p:nvPr/>
        </p:nvGrpSpPr>
        <p:grpSpPr>
          <a:xfrm>
            <a:off x="5235575" y="4940300"/>
            <a:ext cx="589280" cy="382270"/>
            <a:chOff x="906683" y="2036167"/>
            <a:chExt cx="765448" cy="504056"/>
          </a:xfrm>
        </p:grpSpPr>
        <p:sp>
          <p:nvSpPr>
            <p:cNvPr id="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2" name="文本框 41"/>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E:15</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3" name="组合 82"/>
          <p:cNvGrpSpPr/>
          <p:nvPr/>
        </p:nvGrpSpPr>
        <p:grpSpPr>
          <a:xfrm>
            <a:off x="5824855" y="4954270"/>
            <a:ext cx="589280" cy="382270"/>
            <a:chOff x="906683" y="2036167"/>
            <a:chExt cx="765448" cy="504056"/>
          </a:xfrm>
        </p:grpSpPr>
        <p:sp>
          <p:nvSpPr>
            <p:cNvPr id="8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7" name="文本框 86"/>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B:20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98" name="组合 97"/>
          <p:cNvGrpSpPr/>
          <p:nvPr/>
        </p:nvGrpSpPr>
        <p:grpSpPr>
          <a:xfrm>
            <a:off x="6414135" y="4940300"/>
            <a:ext cx="589280" cy="382270"/>
            <a:chOff x="906683" y="2036167"/>
            <a:chExt cx="765448" cy="504056"/>
          </a:xfrm>
        </p:grpSpPr>
        <p:sp>
          <p:nvSpPr>
            <p:cNvPr id="9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0" name="文本框 99"/>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D:60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anim calcmode="lin" valueType="num">
                                      <p:cBhvr additive="base">
                                        <p:cTn id="7" dur="500" fill="hold"/>
                                        <p:tgtEl>
                                          <p:spTgt spid="73"/>
                                        </p:tgtEl>
                                        <p:attrNameLst>
                                          <p:attrName>ppt_x</p:attrName>
                                        </p:attrNameLst>
                                      </p:cBhvr>
                                      <p:tavLst>
                                        <p:tav tm="0">
                                          <p:val>
                                            <p:strVal val="#ppt_x"/>
                                          </p:val>
                                        </p:tav>
                                        <p:tav tm="100000">
                                          <p:val>
                                            <p:strVal val="#ppt_x"/>
                                          </p:val>
                                        </p:tav>
                                      </p:tavLst>
                                    </p:anim>
                                    <p:anim calcmode="lin" valueType="num">
                                      <p:cBhvr additive="base">
                                        <p:cTn id="8"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fill="hold" nodeType="clickEffect">
                                  <p:stCondLst>
                                    <p:cond delay="0"/>
                                  </p:stCondLst>
                                  <p:childTnLst>
                                    <p:anim calcmode="discrete" valueType="str">
                                      <p:cBhvr>
                                        <p:cTn id="12" dur="1000" fill="hold"/>
                                        <p:tgtEl>
                                          <p:spTgt spid="6"/>
                                        </p:tgtEl>
                                        <p:attrNameLst>
                                          <p:attrName>style.visibility</p:attrName>
                                        </p:attrNameLst>
                                      </p:cBhvr>
                                      <p:tavLst>
                                        <p:tav tm="0">
                                          <p:val>
                                            <p:strVal val="hidden"/>
                                          </p:val>
                                        </p:tav>
                                        <p:tav tm="50000">
                                          <p:val>
                                            <p:strVal val="visible"/>
                                          </p:val>
                                        </p:tav>
                                      </p:tavLst>
                                    </p:anim>
                                  </p:childTnLst>
                                </p:cTn>
                              </p:par>
                            </p:childTnLst>
                          </p:cTn>
                        </p:par>
                        <p:par>
                          <p:cTn id="13" fill="hold">
                            <p:stCondLst>
                              <p:cond delay="1000"/>
                            </p:stCondLst>
                            <p:childTnLst>
                              <p:par>
                                <p:cTn id="14" presetID="35" presetClass="emph" presetSubtype="0" fill="hold" nodeType="afterEffect">
                                  <p:stCondLst>
                                    <p:cond delay="0"/>
                                  </p:stCondLst>
                                  <p:childTnLst>
                                    <p:anim calcmode="discrete" valueType="str">
                                      <p:cBhvr>
                                        <p:cTn id="15"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par>
                    <p:cTn id="16" fill="hold">
                      <p:stCondLst>
                        <p:cond delay="indefinite"/>
                      </p:stCondLst>
                      <p:childTnLst>
                        <p:par>
                          <p:cTn id="17" fill="hold">
                            <p:stCondLst>
                              <p:cond delay="0"/>
                            </p:stCondLst>
                            <p:childTnLst>
                              <p:par>
                                <p:cTn id="18" presetID="2" presetClass="entr" presetSubtype="4" fill="hold" grpId="0" nodeType="clickEffect">
                                  <p:stCondLst>
                                    <p:cond delay="0"/>
                                  </p:stCondLst>
                                  <p:childTnLst>
                                    <p:set>
                                      <p:cBhvr>
                                        <p:cTn id="19" dur="1" fill="hold">
                                          <p:stCondLst>
                                            <p:cond delay="0"/>
                                          </p:stCondLst>
                                        </p:cTn>
                                        <p:tgtEl>
                                          <p:spTgt spid="4"/>
                                        </p:tgtEl>
                                        <p:attrNameLst>
                                          <p:attrName>style.visibility</p:attrName>
                                        </p:attrNameLst>
                                      </p:cBhvr>
                                      <p:to>
                                        <p:strVal val="visible"/>
                                      </p:to>
                                    </p:set>
                                    <p:anim calcmode="lin" valueType="num">
                                      <p:cBhvr additive="base">
                                        <p:cTn id="20" dur="500" fill="hold"/>
                                        <p:tgtEl>
                                          <p:spTgt spid="4"/>
                                        </p:tgtEl>
                                        <p:attrNameLst>
                                          <p:attrName>ppt_x</p:attrName>
                                        </p:attrNameLst>
                                      </p:cBhvr>
                                      <p:tavLst>
                                        <p:tav tm="0">
                                          <p:val>
                                            <p:strVal val="#ppt_x"/>
                                          </p:val>
                                        </p:tav>
                                        <p:tav tm="100000">
                                          <p:val>
                                            <p:strVal val="#ppt_x"/>
                                          </p:val>
                                        </p:tav>
                                      </p:tavLst>
                                    </p:anim>
                                    <p:anim calcmode="lin" valueType="num">
                                      <p:cBhvr additive="base">
                                        <p:cTn id="21" dur="500" fill="hold"/>
                                        <p:tgtEl>
                                          <p:spTgt spid="4"/>
                                        </p:tgtEl>
                                        <p:attrNameLst>
                                          <p:attrName>ppt_y</p:attrName>
                                        </p:attrNameLst>
                                      </p:cBhvr>
                                      <p:tavLst>
                                        <p:tav tm="0">
                                          <p:val>
                                            <p:strVal val="1+#ppt_h/2"/>
                                          </p:val>
                                        </p:tav>
                                        <p:tav tm="100000">
                                          <p:val>
                                            <p:strVal val="#ppt_y"/>
                                          </p:val>
                                        </p:tav>
                                      </p:tavLst>
                                    </p:anim>
                                  </p:childTnLst>
                                </p:cTn>
                              </p:par>
                              <p:par>
                                <p:cTn id="22" presetID="2" presetClass="entr" presetSubtype="4"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 calcmode="lin" valueType="num">
                                      <p:cBhvr additive="base">
                                        <p:cTn id="24" dur="500" fill="hold"/>
                                        <p:tgtEl>
                                          <p:spTgt spid="9"/>
                                        </p:tgtEl>
                                        <p:attrNameLst>
                                          <p:attrName>ppt_x</p:attrName>
                                        </p:attrNameLst>
                                      </p:cBhvr>
                                      <p:tavLst>
                                        <p:tav tm="0">
                                          <p:val>
                                            <p:strVal val="#ppt_x"/>
                                          </p:val>
                                        </p:tav>
                                        <p:tav tm="100000">
                                          <p:val>
                                            <p:strVal val="#ppt_x"/>
                                          </p:val>
                                        </p:tav>
                                      </p:tavLst>
                                    </p:anim>
                                    <p:anim calcmode="lin" valueType="num">
                                      <p:cBhvr additive="base">
                                        <p:cTn id="25" dur="500" fill="hold"/>
                                        <p:tgtEl>
                                          <p:spTgt spid="9"/>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64"/>
                                        </p:tgtEl>
                                        <p:attrNameLst>
                                          <p:attrName>style.visibility</p:attrName>
                                        </p:attrNameLst>
                                      </p:cBhvr>
                                      <p:to>
                                        <p:strVal val="visible"/>
                                      </p:to>
                                    </p:set>
                                    <p:anim calcmode="lin" valueType="num">
                                      <p:cBhvr additive="base">
                                        <p:cTn id="28" dur="500" fill="hold"/>
                                        <p:tgtEl>
                                          <p:spTgt spid="64"/>
                                        </p:tgtEl>
                                        <p:attrNameLst>
                                          <p:attrName>ppt_x</p:attrName>
                                        </p:attrNameLst>
                                      </p:cBhvr>
                                      <p:tavLst>
                                        <p:tav tm="0">
                                          <p:val>
                                            <p:strVal val="#ppt_x"/>
                                          </p:val>
                                        </p:tav>
                                        <p:tav tm="100000">
                                          <p:val>
                                            <p:strVal val="#ppt_x"/>
                                          </p:val>
                                        </p:tav>
                                      </p:tavLst>
                                    </p:anim>
                                    <p:anim calcmode="lin" valueType="num">
                                      <p:cBhvr additive="base">
                                        <p:cTn id="29" dur="500" fill="hold"/>
                                        <p:tgtEl>
                                          <p:spTgt spid="64"/>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65"/>
                                        </p:tgtEl>
                                        <p:attrNameLst>
                                          <p:attrName>style.visibility</p:attrName>
                                        </p:attrNameLst>
                                      </p:cBhvr>
                                      <p:to>
                                        <p:strVal val="visible"/>
                                      </p:to>
                                    </p:set>
                                    <p:anim calcmode="lin" valueType="num">
                                      <p:cBhvr additive="base">
                                        <p:cTn id="32" dur="500" fill="hold"/>
                                        <p:tgtEl>
                                          <p:spTgt spid="65"/>
                                        </p:tgtEl>
                                        <p:attrNameLst>
                                          <p:attrName>ppt_x</p:attrName>
                                        </p:attrNameLst>
                                      </p:cBhvr>
                                      <p:tavLst>
                                        <p:tav tm="0">
                                          <p:val>
                                            <p:strVal val="#ppt_x"/>
                                          </p:val>
                                        </p:tav>
                                        <p:tav tm="100000">
                                          <p:val>
                                            <p:strVal val="#ppt_x"/>
                                          </p:val>
                                        </p:tav>
                                      </p:tavLst>
                                    </p:anim>
                                    <p:anim calcmode="lin" valueType="num">
                                      <p:cBhvr additive="base">
                                        <p:cTn id="33" dur="500" fill="hold"/>
                                        <p:tgtEl>
                                          <p:spTgt spid="65"/>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66"/>
                                        </p:tgtEl>
                                        <p:attrNameLst>
                                          <p:attrName>style.visibility</p:attrName>
                                        </p:attrNameLst>
                                      </p:cBhvr>
                                      <p:to>
                                        <p:strVal val="visible"/>
                                      </p:to>
                                    </p:set>
                                    <p:anim calcmode="lin" valueType="num">
                                      <p:cBhvr additive="base">
                                        <p:cTn id="36" dur="500" fill="hold"/>
                                        <p:tgtEl>
                                          <p:spTgt spid="66"/>
                                        </p:tgtEl>
                                        <p:attrNameLst>
                                          <p:attrName>ppt_x</p:attrName>
                                        </p:attrNameLst>
                                      </p:cBhvr>
                                      <p:tavLst>
                                        <p:tav tm="0">
                                          <p:val>
                                            <p:strVal val="#ppt_x"/>
                                          </p:val>
                                        </p:tav>
                                        <p:tav tm="100000">
                                          <p:val>
                                            <p:strVal val="#ppt_x"/>
                                          </p:val>
                                        </p:tav>
                                      </p:tavLst>
                                    </p:anim>
                                    <p:anim calcmode="lin" valueType="num">
                                      <p:cBhvr additive="base">
                                        <p:cTn id="37" dur="500" fill="hold"/>
                                        <p:tgtEl>
                                          <p:spTgt spid="66"/>
                                        </p:tgtEl>
                                        <p:attrNameLst>
                                          <p:attrName>ppt_y</p:attrName>
                                        </p:attrNameLst>
                                      </p:cBhvr>
                                      <p:tavLst>
                                        <p:tav tm="0">
                                          <p:val>
                                            <p:strVal val="1+#ppt_h/2"/>
                                          </p:val>
                                        </p:tav>
                                        <p:tav tm="100000">
                                          <p:val>
                                            <p:strVal val="#ppt_y"/>
                                          </p:val>
                                        </p:tav>
                                      </p:tavLst>
                                    </p:anim>
                                  </p:childTnLst>
                                </p:cTn>
                              </p:par>
                              <p:par>
                                <p:cTn id="38" presetID="2" presetClass="entr" presetSubtype="4" fill="hold" grpId="0" nodeType="withEffect">
                                  <p:stCondLst>
                                    <p:cond delay="0"/>
                                  </p:stCondLst>
                                  <p:childTnLst>
                                    <p:set>
                                      <p:cBhvr>
                                        <p:cTn id="39" dur="1" fill="hold">
                                          <p:stCondLst>
                                            <p:cond delay="0"/>
                                          </p:stCondLst>
                                        </p:cTn>
                                        <p:tgtEl>
                                          <p:spTgt spid="67"/>
                                        </p:tgtEl>
                                        <p:attrNameLst>
                                          <p:attrName>style.visibility</p:attrName>
                                        </p:attrNameLst>
                                      </p:cBhvr>
                                      <p:to>
                                        <p:strVal val="visible"/>
                                      </p:to>
                                    </p:set>
                                    <p:anim calcmode="lin" valueType="num">
                                      <p:cBhvr additive="base">
                                        <p:cTn id="40" dur="500" fill="hold"/>
                                        <p:tgtEl>
                                          <p:spTgt spid="67"/>
                                        </p:tgtEl>
                                        <p:attrNameLst>
                                          <p:attrName>ppt_x</p:attrName>
                                        </p:attrNameLst>
                                      </p:cBhvr>
                                      <p:tavLst>
                                        <p:tav tm="0">
                                          <p:val>
                                            <p:strVal val="#ppt_x"/>
                                          </p:val>
                                        </p:tav>
                                        <p:tav tm="100000">
                                          <p:val>
                                            <p:strVal val="#ppt_x"/>
                                          </p:val>
                                        </p:tav>
                                      </p:tavLst>
                                    </p:anim>
                                    <p:anim calcmode="lin" valueType="num">
                                      <p:cBhvr additive="base">
                                        <p:cTn id="41" dur="500" fill="hold"/>
                                        <p:tgtEl>
                                          <p:spTgt spid="67"/>
                                        </p:tgtEl>
                                        <p:attrNameLst>
                                          <p:attrName>ppt_y</p:attrName>
                                        </p:attrNameLst>
                                      </p:cBhvr>
                                      <p:tavLst>
                                        <p:tav tm="0">
                                          <p:val>
                                            <p:strVal val="1+#ppt_h/2"/>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2" presetClass="entr" presetSubtype="2"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 calcmode="lin" valueType="num">
                                      <p:cBhvr additive="base">
                                        <p:cTn id="46" dur="500" fill="hold"/>
                                        <p:tgtEl>
                                          <p:spTgt spid="12"/>
                                        </p:tgtEl>
                                        <p:attrNameLst>
                                          <p:attrName>ppt_x</p:attrName>
                                        </p:attrNameLst>
                                      </p:cBhvr>
                                      <p:tavLst>
                                        <p:tav tm="0">
                                          <p:val>
                                            <p:strVal val="1+#ppt_w/2"/>
                                          </p:val>
                                        </p:tav>
                                        <p:tav tm="100000">
                                          <p:val>
                                            <p:strVal val="#ppt_x"/>
                                          </p:val>
                                        </p:tav>
                                      </p:tavLst>
                                    </p:anim>
                                    <p:anim calcmode="lin" valueType="num">
                                      <p:cBhvr additive="base">
                                        <p:cTn id="47" dur="500" fill="hold"/>
                                        <p:tgtEl>
                                          <p:spTgt spid="12"/>
                                        </p:tgtEl>
                                        <p:attrNameLst>
                                          <p:attrName>ppt_y</p:attrName>
                                        </p:attrNameLst>
                                      </p:cBhvr>
                                      <p:tavLst>
                                        <p:tav tm="0">
                                          <p:val>
                                            <p:strVal val="#ppt_y"/>
                                          </p:val>
                                        </p:tav>
                                        <p:tav tm="100000">
                                          <p:val>
                                            <p:strVal val="#ppt_y"/>
                                          </p:val>
                                        </p:tav>
                                      </p:tavLst>
                                    </p:anim>
                                  </p:childTnLst>
                                </p:cTn>
                              </p:par>
                              <p:par>
                                <p:cTn id="48" presetID="2" presetClass="entr" presetSubtype="2" fill="hold" grpId="0" nodeType="withEffect">
                                  <p:stCondLst>
                                    <p:cond delay="0"/>
                                  </p:stCondLst>
                                  <p:childTnLst>
                                    <p:set>
                                      <p:cBhvr>
                                        <p:cTn id="49" dur="1" fill="hold">
                                          <p:stCondLst>
                                            <p:cond delay="0"/>
                                          </p:stCondLst>
                                        </p:cTn>
                                        <p:tgtEl>
                                          <p:spTgt spid="13"/>
                                        </p:tgtEl>
                                        <p:attrNameLst>
                                          <p:attrName>style.visibility</p:attrName>
                                        </p:attrNameLst>
                                      </p:cBhvr>
                                      <p:to>
                                        <p:strVal val="visible"/>
                                      </p:to>
                                    </p:set>
                                    <p:anim calcmode="lin" valueType="num">
                                      <p:cBhvr additive="base">
                                        <p:cTn id="50" dur="500" fill="hold"/>
                                        <p:tgtEl>
                                          <p:spTgt spid="13"/>
                                        </p:tgtEl>
                                        <p:attrNameLst>
                                          <p:attrName>ppt_x</p:attrName>
                                        </p:attrNameLst>
                                      </p:cBhvr>
                                      <p:tavLst>
                                        <p:tav tm="0">
                                          <p:val>
                                            <p:strVal val="1+#ppt_w/2"/>
                                          </p:val>
                                        </p:tav>
                                        <p:tav tm="100000">
                                          <p:val>
                                            <p:strVal val="#ppt_x"/>
                                          </p:val>
                                        </p:tav>
                                      </p:tavLst>
                                    </p:anim>
                                    <p:anim calcmode="lin" valueType="num">
                                      <p:cBhvr additive="base">
                                        <p:cTn id="51" dur="500" fill="hold"/>
                                        <p:tgtEl>
                                          <p:spTgt spid="13"/>
                                        </p:tgtEl>
                                        <p:attrNameLst>
                                          <p:attrName>ppt_y</p:attrName>
                                        </p:attrNameLst>
                                      </p:cBhvr>
                                      <p:tavLst>
                                        <p:tav tm="0">
                                          <p:val>
                                            <p:strVal val="#ppt_y"/>
                                          </p:val>
                                        </p:tav>
                                        <p:tav tm="100000">
                                          <p:val>
                                            <p:strVal val="#ppt_y"/>
                                          </p:val>
                                        </p:tav>
                                      </p:tavLst>
                                    </p:anim>
                                  </p:childTnLst>
                                </p:cTn>
                              </p:par>
                              <p:par>
                                <p:cTn id="52" presetID="2" presetClass="entr" presetSubtype="2" fill="hold" nodeType="withEffect">
                                  <p:stCondLst>
                                    <p:cond delay="0"/>
                                  </p:stCondLst>
                                  <p:childTnLst>
                                    <p:set>
                                      <p:cBhvr>
                                        <p:cTn id="53" dur="1" fill="hold">
                                          <p:stCondLst>
                                            <p:cond delay="0"/>
                                          </p:stCondLst>
                                        </p:cTn>
                                        <p:tgtEl>
                                          <p:spTgt spid="14"/>
                                        </p:tgtEl>
                                        <p:attrNameLst>
                                          <p:attrName>style.visibility</p:attrName>
                                        </p:attrNameLst>
                                      </p:cBhvr>
                                      <p:to>
                                        <p:strVal val="visible"/>
                                      </p:to>
                                    </p:set>
                                    <p:anim calcmode="lin" valueType="num">
                                      <p:cBhvr additive="base">
                                        <p:cTn id="54" dur="500" fill="hold"/>
                                        <p:tgtEl>
                                          <p:spTgt spid="14"/>
                                        </p:tgtEl>
                                        <p:attrNameLst>
                                          <p:attrName>ppt_x</p:attrName>
                                        </p:attrNameLst>
                                      </p:cBhvr>
                                      <p:tavLst>
                                        <p:tav tm="0">
                                          <p:val>
                                            <p:strVal val="1+#ppt_w/2"/>
                                          </p:val>
                                        </p:tav>
                                        <p:tav tm="100000">
                                          <p:val>
                                            <p:strVal val="#ppt_x"/>
                                          </p:val>
                                        </p:tav>
                                      </p:tavLst>
                                    </p:anim>
                                    <p:anim calcmode="lin" valueType="num">
                                      <p:cBhvr additive="base">
                                        <p:cTn id="55" dur="500" fill="hold"/>
                                        <p:tgtEl>
                                          <p:spTgt spid="14"/>
                                        </p:tgtEl>
                                        <p:attrNameLst>
                                          <p:attrName>ppt_y</p:attrName>
                                        </p:attrNameLst>
                                      </p:cBhvr>
                                      <p:tavLst>
                                        <p:tav tm="0">
                                          <p:val>
                                            <p:strVal val="#ppt_y"/>
                                          </p:val>
                                        </p:tav>
                                        <p:tav tm="100000">
                                          <p:val>
                                            <p:strVal val="#ppt_y"/>
                                          </p:val>
                                        </p:tav>
                                      </p:tavLst>
                                    </p:anim>
                                  </p:childTnLst>
                                </p:cTn>
                              </p:par>
                              <p:par>
                                <p:cTn id="56" presetID="2" presetClass="entr" presetSubtype="2" fill="hold" grpId="1" nodeType="withEffect">
                                  <p:stCondLst>
                                    <p:cond delay="0"/>
                                  </p:stCondLst>
                                  <p:childTnLst>
                                    <p:set>
                                      <p:cBhvr>
                                        <p:cTn id="57" dur="1" fill="hold">
                                          <p:stCondLst>
                                            <p:cond delay="0"/>
                                          </p:stCondLst>
                                        </p:cTn>
                                        <p:tgtEl>
                                          <p:spTgt spid="29"/>
                                        </p:tgtEl>
                                        <p:attrNameLst>
                                          <p:attrName>style.visibility</p:attrName>
                                        </p:attrNameLst>
                                      </p:cBhvr>
                                      <p:to>
                                        <p:strVal val="visible"/>
                                      </p:to>
                                    </p:set>
                                    <p:anim calcmode="lin" valueType="num">
                                      <p:cBhvr additive="base">
                                        <p:cTn id="58" dur="500" fill="hold"/>
                                        <p:tgtEl>
                                          <p:spTgt spid="29"/>
                                        </p:tgtEl>
                                        <p:attrNameLst>
                                          <p:attrName>ppt_x</p:attrName>
                                        </p:attrNameLst>
                                      </p:cBhvr>
                                      <p:tavLst>
                                        <p:tav tm="0">
                                          <p:val>
                                            <p:strVal val="1+#ppt_w/2"/>
                                          </p:val>
                                        </p:tav>
                                        <p:tav tm="100000">
                                          <p:val>
                                            <p:strVal val="#ppt_x"/>
                                          </p:val>
                                        </p:tav>
                                      </p:tavLst>
                                    </p:anim>
                                    <p:anim calcmode="lin" valueType="num">
                                      <p:cBhvr additive="base">
                                        <p:cTn id="59" dur="500" fill="hold"/>
                                        <p:tgtEl>
                                          <p:spTgt spid="29"/>
                                        </p:tgtEl>
                                        <p:attrNameLst>
                                          <p:attrName>ppt_y</p:attrName>
                                        </p:attrNameLst>
                                      </p:cBhvr>
                                      <p:tavLst>
                                        <p:tav tm="0">
                                          <p:val>
                                            <p:strVal val="#ppt_y"/>
                                          </p:val>
                                        </p:tav>
                                        <p:tav tm="100000">
                                          <p:val>
                                            <p:strVal val="#ppt_y"/>
                                          </p:val>
                                        </p:tav>
                                      </p:tavLst>
                                    </p:anim>
                                  </p:childTnLst>
                                </p:cTn>
                              </p:par>
                            </p:childTnLst>
                          </p:cTn>
                        </p:par>
                      </p:childTnLst>
                    </p:cTn>
                  </p:par>
                  <p:par>
                    <p:cTn id="60" fill="hold">
                      <p:stCondLst>
                        <p:cond delay="indefinite"/>
                      </p:stCondLst>
                      <p:childTnLst>
                        <p:par>
                          <p:cTn id="61" fill="hold">
                            <p:stCondLst>
                              <p:cond delay="0"/>
                            </p:stCondLst>
                            <p:childTnLst>
                              <p:par>
                                <p:cTn id="62" presetID="2" presetClass="exit" presetSubtype="4" fill="hold" grpId="2" nodeType="clickEffect">
                                  <p:stCondLst>
                                    <p:cond delay="0"/>
                                  </p:stCondLst>
                                  <p:childTnLst>
                                    <p:anim calcmode="lin" valueType="num">
                                      <p:cBhvr additive="base">
                                        <p:cTn id="63" dur="500"/>
                                        <p:tgtEl>
                                          <p:spTgt spid="73"/>
                                        </p:tgtEl>
                                        <p:attrNameLst>
                                          <p:attrName>ppt_x</p:attrName>
                                        </p:attrNameLst>
                                      </p:cBhvr>
                                      <p:tavLst>
                                        <p:tav tm="0">
                                          <p:val>
                                            <p:strVal val="ppt_x"/>
                                          </p:val>
                                        </p:tav>
                                        <p:tav tm="100000">
                                          <p:val>
                                            <p:strVal val="ppt_x"/>
                                          </p:val>
                                        </p:tav>
                                      </p:tavLst>
                                    </p:anim>
                                    <p:anim calcmode="lin" valueType="num">
                                      <p:cBhvr additive="base">
                                        <p:cTn id="64" dur="500"/>
                                        <p:tgtEl>
                                          <p:spTgt spid="73"/>
                                        </p:tgtEl>
                                        <p:attrNameLst>
                                          <p:attrName>ppt_y</p:attrName>
                                        </p:attrNameLst>
                                      </p:cBhvr>
                                      <p:tavLst>
                                        <p:tav tm="0">
                                          <p:val>
                                            <p:strVal val="ppt_y"/>
                                          </p:val>
                                        </p:tav>
                                        <p:tav tm="100000">
                                          <p:val>
                                            <p:strVal val="1+ppt_h/2"/>
                                          </p:val>
                                        </p:tav>
                                      </p:tavLst>
                                    </p:anim>
                                    <p:set>
                                      <p:cBhvr>
                                        <p:cTn id="65" dur="1" fill="hold">
                                          <p:stCondLst>
                                            <p:cond delay="499"/>
                                          </p:stCondLst>
                                        </p:cTn>
                                        <p:tgtEl>
                                          <p:spTgt spid="73"/>
                                        </p:tgtEl>
                                        <p:attrNameLst>
                                          <p:attrName>style.visibility</p:attrName>
                                        </p:attrNameLst>
                                      </p:cBhvr>
                                      <p:to>
                                        <p:strVal val="hidden"/>
                                      </p:to>
                                    </p:set>
                                  </p:childTnLst>
                                </p:cTn>
                              </p:par>
                            </p:childTnLst>
                          </p:cTn>
                        </p:par>
                      </p:childTnLst>
                    </p:cTn>
                  </p:par>
                  <p:par>
                    <p:cTn id="66" fill="hold">
                      <p:stCondLst>
                        <p:cond delay="indefinite"/>
                      </p:stCondLst>
                      <p:childTnLst>
                        <p:par>
                          <p:cTn id="67" fill="hold">
                            <p:stCondLst>
                              <p:cond delay="0"/>
                            </p:stCondLst>
                            <p:childTnLst>
                              <p:par>
                                <p:cTn id="68" presetID="2" presetClass="entr" presetSubtype="4" fill="hold" grpId="0" nodeType="clickEffect">
                                  <p:stCondLst>
                                    <p:cond delay="0"/>
                                  </p:stCondLst>
                                  <p:childTnLst>
                                    <p:set>
                                      <p:cBhvr>
                                        <p:cTn id="69" dur="1" fill="hold">
                                          <p:stCondLst>
                                            <p:cond delay="0"/>
                                          </p:stCondLst>
                                        </p:cTn>
                                        <p:tgtEl>
                                          <p:spTgt spid="74"/>
                                        </p:tgtEl>
                                        <p:attrNameLst>
                                          <p:attrName>style.visibility</p:attrName>
                                        </p:attrNameLst>
                                      </p:cBhvr>
                                      <p:to>
                                        <p:strVal val="visible"/>
                                      </p:to>
                                    </p:set>
                                    <p:anim calcmode="lin" valueType="num">
                                      <p:cBhvr additive="base">
                                        <p:cTn id="70" dur="500" fill="hold"/>
                                        <p:tgtEl>
                                          <p:spTgt spid="74"/>
                                        </p:tgtEl>
                                        <p:attrNameLst>
                                          <p:attrName>ppt_x</p:attrName>
                                        </p:attrNameLst>
                                      </p:cBhvr>
                                      <p:tavLst>
                                        <p:tav tm="0">
                                          <p:val>
                                            <p:strVal val="#ppt_x"/>
                                          </p:val>
                                        </p:tav>
                                        <p:tav tm="100000">
                                          <p:val>
                                            <p:strVal val="#ppt_x"/>
                                          </p:val>
                                        </p:tav>
                                      </p:tavLst>
                                    </p:anim>
                                    <p:anim calcmode="lin" valueType="num">
                                      <p:cBhvr additive="base">
                                        <p:cTn id="71" dur="500" fill="hold"/>
                                        <p:tgtEl>
                                          <p:spTgt spid="74"/>
                                        </p:tgtEl>
                                        <p:attrNameLst>
                                          <p:attrName>ppt_y</p:attrName>
                                        </p:attrNameLst>
                                      </p:cBhvr>
                                      <p:tavLst>
                                        <p:tav tm="0">
                                          <p:val>
                                            <p:strVal val="1+#ppt_h/2"/>
                                          </p:val>
                                        </p:tav>
                                        <p:tav tm="100000">
                                          <p:val>
                                            <p:strVal val="#ppt_y"/>
                                          </p:val>
                                        </p:tav>
                                      </p:tavLst>
                                    </p:anim>
                                  </p:childTnLst>
                                </p:cTn>
                              </p:par>
                            </p:childTnLst>
                          </p:cTn>
                        </p:par>
                      </p:childTnLst>
                    </p:cTn>
                  </p:par>
                  <p:par>
                    <p:cTn id="72" fill="hold">
                      <p:stCondLst>
                        <p:cond delay="indefinite"/>
                      </p:stCondLst>
                      <p:childTnLst>
                        <p:par>
                          <p:cTn id="73" fill="hold">
                            <p:stCondLst>
                              <p:cond delay="0"/>
                            </p:stCondLst>
                            <p:childTnLst>
                              <p:par>
                                <p:cTn id="74" presetID="0" presetClass="path" presetSubtype="0" accel="50000" decel="50000" fill="hold" nodeType="clickEffect">
                                  <p:stCondLst>
                                    <p:cond delay="0"/>
                                  </p:stCondLst>
                                  <p:childTnLst>
                                    <p:animMotion origin="layout" path="M 0 0 C 0.00979167 -0.015463 -0.01 -0.0710185 0.0901389 -0.0694444 C 0.190278 -0.0678704 0.420417 -0.00888889 0.500764 0.00796296 " pathEditMode="relative" ptsTypes="">
                                      <p:cBhvr>
                                        <p:cTn id="75" dur="2000" fill="hold"/>
                                        <p:tgtEl>
                                          <p:spTgt spid="14"/>
                                        </p:tgtEl>
                                        <p:attrNameLst>
                                          <p:attrName>ppt_x</p:attrName>
                                          <p:attrName>ppt_y</p:attrName>
                                        </p:attrNameLst>
                                      </p:cBhvr>
                                    </p:animMotion>
                                  </p:childTnLst>
                                </p:cTn>
                              </p:par>
                            </p:childTnLst>
                          </p:cTn>
                        </p:par>
                      </p:childTnLst>
                    </p:cTn>
                  </p:par>
                  <p:par>
                    <p:cTn id="76" fill="hold">
                      <p:stCondLst>
                        <p:cond delay="indefinite"/>
                      </p:stCondLst>
                      <p:childTnLst>
                        <p:par>
                          <p:cTn id="77" fill="hold">
                            <p:stCondLst>
                              <p:cond delay="0"/>
                            </p:stCondLst>
                            <p:childTnLst>
                              <p:par>
                                <p:cTn id="78" presetID="2" presetClass="exit" presetSubtype="4" fill="hold" grpId="2" nodeType="clickEffect">
                                  <p:stCondLst>
                                    <p:cond delay="0"/>
                                  </p:stCondLst>
                                  <p:childTnLst>
                                    <p:anim calcmode="lin" valueType="num">
                                      <p:cBhvr additive="base">
                                        <p:cTn id="79" dur="500"/>
                                        <p:tgtEl>
                                          <p:spTgt spid="74"/>
                                        </p:tgtEl>
                                        <p:attrNameLst>
                                          <p:attrName>ppt_x</p:attrName>
                                        </p:attrNameLst>
                                      </p:cBhvr>
                                      <p:tavLst>
                                        <p:tav tm="0">
                                          <p:val>
                                            <p:strVal val="ppt_x"/>
                                          </p:val>
                                        </p:tav>
                                        <p:tav tm="100000">
                                          <p:val>
                                            <p:strVal val="ppt_x"/>
                                          </p:val>
                                        </p:tav>
                                      </p:tavLst>
                                    </p:anim>
                                    <p:anim calcmode="lin" valueType="num">
                                      <p:cBhvr additive="base">
                                        <p:cTn id="80" dur="500"/>
                                        <p:tgtEl>
                                          <p:spTgt spid="74"/>
                                        </p:tgtEl>
                                        <p:attrNameLst>
                                          <p:attrName>ppt_y</p:attrName>
                                        </p:attrNameLst>
                                      </p:cBhvr>
                                      <p:tavLst>
                                        <p:tav tm="0">
                                          <p:val>
                                            <p:strVal val="ppt_y"/>
                                          </p:val>
                                        </p:tav>
                                        <p:tav tm="100000">
                                          <p:val>
                                            <p:strVal val="1+ppt_h/2"/>
                                          </p:val>
                                        </p:tav>
                                      </p:tavLst>
                                    </p:anim>
                                    <p:set>
                                      <p:cBhvr>
                                        <p:cTn id="81" dur="1" fill="hold">
                                          <p:stCondLst>
                                            <p:cond delay="499"/>
                                          </p:stCondLst>
                                        </p:cTn>
                                        <p:tgtEl>
                                          <p:spTgt spid="74"/>
                                        </p:tgtEl>
                                        <p:attrNameLst>
                                          <p:attrName>style.visibility</p:attrName>
                                        </p:attrNameLst>
                                      </p:cBhvr>
                                      <p:to>
                                        <p:strVal val="hidden"/>
                                      </p:to>
                                    </p:set>
                                  </p:childTnLst>
                                </p:cTn>
                              </p:par>
                            </p:childTnLst>
                          </p:cTn>
                        </p:par>
                      </p:childTnLst>
                    </p:cTn>
                  </p:par>
                  <p:par>
                    <p:cTn id="82" fill="hold">
                      <p:stCondLst>
                        <p:cond delay="indefinite"/>
                      </p:stCondLst>
                      <p:childTnLst>
                        <p:par>
                          <p:cTn id="83" fill="hold">
                            <p:stCondLst>
                              <p:cond delay="0"/>
                            </p:stCondLst>
                            <p:childTnLst>
                              <p:par>
                                <p:cTn id="84" presetID="2" presetClass="entr" presetSubtype="4" fill="hold" grpId="0" nodeType="clickEffect">
                                  <p:stCondLst>
                                    <p:cond delay="0"/>
                                  </p:stCondLst>
                                  <p:childTnLst>
                                    <p:set>
                                      <p:cBhvr>
                                        <p:cTn id="85" dur="1" fill="hold">
                                          <p:stCondLst>
                                            <p:cond delay="0"/>
                                          </p:stCondLst>
                                        </p:cTn>
                                        <p:tgtEl>
                                          <p:spTgt spid="75"/>
                                        </p:tgtEl>
                                        <p:attrNameLst>
                                          <p:attrName>style.visibility</p:attrName>
                                        </p:attrNameLst>
                                      </p:cBhvr>
                                      <p:to>
                                        <p:strVal val="visible"/>
                                      </p:to>
                                    </p:set>
                                    <p:anim calcmode="lin" valueType="num">
                                      <p:cBhvr additive="base">
                                        <p:cTn id="86" dur="500" fill="hold"/>
                                        <p:tgtEl>
                                          <p:spTgt spid="75"/>
                                        </p:tgtEl>
                                        <p:attrNameLst>
                                          <p:attrName>ppt_x</p:attrName>
                                        </p:attrNameLst>
                                      </p:cBhvr>
                                      <p:tavLst>
                                        <p:tav tm="0">
                                          <p:val>
                                            <p:strVal val="#ppt_x"/>
                                          </p:val>
                                        </p:tav>
                                        <p:tav tm="100000">
                                          <p:val>
                                            <p:strVal val="#ppt_x"/>
                                          </p:val>
                                        </p:tav>
                                      </p:tavLst>
                                    </p:anim>
                                    <p:anim calcmode="lin" valueType="num">
                                      <p:cBhvr additive="base">
                                        <p:cTn id="87" dur="500" fill="hold"/>
                                        <p:tgtEl>
                                          <p:spTgt spid="75"/>
                                        </p:tgtEl>
                                        <p:attrNameLst>
                                          <p:attrName>ppt_y</p:attrName>
                                        </p:attrNameLst>
                                      </p:cBhvr>
                                      <p:tavLst>
                                        <p:tav tm="0">
                                          <p:val>
                                            <p:strVal val="1+#ppt_h/2"/>
                                          </p:val>
                                        </p:tav>
                                        <p:tav tm="100000">
                                          <p:val>
                                            <p:strVal val="#ppt_y"/>
                                          </p:val>
                                        </p:tav>
                                      </p:tavLst>
                                    </p:anim>
                                  </p:childTnLst>
                                </p:cTn>
                              </p:par>
                            </p:childTnLst>
                          </p:cTn>
                        </p:par>
                      </p:childTnLst>
                    </p:cTn>
                  </p:par>
                  <p:par>
                    <p:cTn id="88" fill="hold">
                      <p:stCondLst>
                        <p:cond delay="indefinite"/>
                      </p:stCondLst>
                      <p:childTnLst>
                        <p:par>
                          <p:cTn id="89" fill="hold">
                            <p:stCondLst>
                              <p:cond delay="0"/>
                            </p:stCondLst>
                            <p:childTnLst>
                              <p:par>
                                <p:cTn id="90" presetID="1" presetClass="entr" presetSubtype="0" fill="hold" grpId="0" nodeType="clickEffect">
                                  <p:stCondLst>
                                    <p:cond delay="0"/>
                                  </p:stCondLst>
                                  <p:childTnLst>
                                    <p:set>
                                      <p:cBhvr>
                                        <p:cTn id="91" dur="1" fill="hold">
                                          <p:stCondLst>
                                            <p:cond delay="0"/>
                                          </p:stCondLst>
                                        </p:cTn>
                                        <p:tgtEl>
                                          <p:spTgt spid="68"/>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69"/>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70"/>
                                        </p:tgtEl>
                                        <p:attrNameLst>
                                          <p:attrName>style.visibility</p:attrName>
                                        </p:attrNameLst>
                                      </p:cBhvr>
                                      <p:to>
                                        <p:strVal val="visible"/>
                                      </p:to>
                                    </p:set>
                                  </p:childTnLst>
                                </p:cTn>
                              </p:par>
                              <p:par>
                                <p:cTn id="96" presetID="1" presetClass="entr" presetSubtype="0" fill="hold" grpId="0" nodeType="withEffect">
                                  <p:stCondLst>
                                    <p:cond delay="0"/>
                                  </p:stCondLst>
                                  <p:childTnLst>
                                    <p:set>
                                      <p:cBhvr>
                                        <p:cTn id="97" dur="1" fill="hold">
                                          <p:stCondLst>
                                            <p:cond delay="0"/>
                                          </p:stCondLst>
                                        </p:cTn>
                                        <p:tgtEl>
                                          <p:spTgt spid="71"/>
                                        </p:tgtEl>
                                        <p:attrNameLst>
                                          <p:attrName>style.visibility</p:attrName>
                                        </p:attrNameLst>
                                      </p:cBhvr>
                                      <p:to>
                                        <p:strVal val="visible"/>
                                      </p:to>
                                    </p:set>
                                  </p:childTnLst>
                                </p:cTn>
                              </p:par>
                            </p:childTnLst>
                          </p:cTn>
                        </p:par>
                      </p:childTnLst>
                    </p:cTn>
                  </p:par>
                  <p:par>
                    <p:cTn id="98" fill="hold">
                      <p:stCondLst>
                        <p:cond delay="indefinite"/>
                      </p:stCondLst>
                      <p:childTnLst>
                        <p:par>
                          <p:cTn id="99" fill="hold">
                            <p:stCondLst>
                              <p:cond delay="0"/>
                            </p:stCondLst>
                            <p:childTnLst>
                              <p:par>
                                <p:cTn id="100" presetID="35" presetClass="emph" presetSubtype="0" fill="hold" nodeType="clickEffect">
                                  <p:stCondLst>
                                    <p:cond delay="0"/>
                                  </p:stCondLst>
                                  <p:childTnLst>
                                    <p:anim calcmode="discrete" valueType="str">
                                      <p:cBhvr>
                                        <p:cTn id="101" dur="1000" fill="hold"/>
                                        <p:tgtEl>
                                          <p:spTgt spid="31"/>
                                        </p:tgtEl>
                                        <p:attrNameLst>
                                          <p:attrName>style.visibility</p:attrName>
                                        </p:attrNameLst>
                                      </p:cBhvr>
                                      <p:tavLst>
                                        <p:tav tm="0">
                                          <p:val>
                                            <p:strVal val="hidden"/>
                                          </p:val>
                                        </p:tav>
                                        <p:tav tm="50000">
                                          <p:val>
                                            <p:strVal val="visible"/>
                                          </p:val>
                                        </p:tav>
                                      </p:tavLst>
                                    </p:anim>
                                  </p:childTnLst>
                                </p:cTn>
                              </p:par>
                              <p:par>
                                <p:cTn id="102" presetID="35" presetClass="emph" presetSubtype="0" fill="hold" grpId="0" nodeType="withEffect">
                                  <p:stCondLst>
                                    <p:cond delay="0"/>
                                  </p:stCondLst>
                                  <p:childTnLst>
                                    <p:anim calcmode="discrete" valueType="str">
                                      <p:cBhvr>
                                        <p:cTn id="103" dur="1000" fill="hold"/>
                                        <p:tgtEl>
                                          <p:spTgt spid="41"/>
                                        </p:tgtEl>
                                        <p:attrNameLst>
                                          <p:attrName>style.visibility</p:attrName>
                                        </p:attrNameLst>
                                      </p:cBhvr>
                                      <p:tavLst>
                                        <p:tav tm="0">
                                          <p:val>
                                            <p:strVal val="hidden"/>
                                          </p:val>
                                        </p:tav>
                                        <p:tav tm="50000">
                                          <p:val>
                                            <p:strVal val="visible"/>
                                          </p:val>
                                        </p:tav>
                                      </p:tavLst>
                                    </p:anim>
                                  </p:childTnLst>
                                </p:cTn>
                              </p:par>
                              <p:par>
                                <p:cTn id="104" presetID="35" presetClass="emph" presetSubtype="0" fill="hold" grpId="0" nodeType="withEffect">
                                  <p:stCondLst>
                                    <p:cond delay="0"/>
                                  </p:stCondLst>
                                  <p:childTnLst>
                                    <p:anim calcmode="discrete" valueType="str">
                                      <p:cBhvr>
                                        <p:cTn id="105" dur="1000" fill="hold"/>
                                        <p:tgtEl>
                                          <p:spTgt spid="30"/>
                                        </p:tgtEl>
                                        <p:attrNameLst>
                                          <p:attrName>style.visibility</p:attrName>
                                        </p:attrNameLst>
                                      </p:cBhvr>
                                      <p:tavLst>
                                        <p:tav tm="0">
                                          <p:val>
                                            <p:strVal val="hidden"/>
                                          </p:val>
                                        </p:tav>
                                        <p:tav tm="50000">
                                          <p:val>
                                            <p:strVal val="visible"/>
                                          </p:val>
                                        </p:tav>
                                      </p:tavLst>
                                    </p:anim>
                                  </p:childTnLst>
                                </p:cTn>
                              </p:par>
                              <p:par>
                                <p:cTn id="106" presetID="35" presetClass="emph" presetSubtype="0" fill="hold" nodeType="withEffect">
                                  <p:stCondLst>
                                    <p:cond delay="0"/>
                                  </p:stCondLst>
                                  <p:childTnLst>
                                    <p:anim calcmode="discrete" valueType="str">
                                      <p:cBhvr>
                                        <p:cTn id="107" dur="1000" fill="hold"/>
                                        <p:tgtEl>
                                          <p:spTgt spid="27"/>
                                        </p:tgtEl>
                                        <p:attrNameLst>
                                          <p:attrName>style.visibility</p:attrName>
                                        </p:attrNameLst>
                                      </p:cBhvr>
                                      <p:tavLst>
                                        <p:tav tm="0">
                                          <p:val>
                                            <p:strVal val="hidden"/>
                                          </p:val>
                                        </p:tav>
                                        <p:tav tm="50000">
                                          <p:val>
                                            <p:strVal val="visible"/>
                                          </p:val>
                                        </p:tav>
                                      </p:tavLst>
                                    </p:anim>
                                  </p:childTnLst>
                                </p:cTn>
                              </p:par>
                              <p:par>
                                <p:cTn id="108" presetID="35" presetClass="emph" presetSubtype="0" fill="hold" nodeType="withEffect">
                                  <p:stCondLst>
                                    <p:cond delay="0"/>
                                  </p:stCondLst>
                                  <p:childTnLst>
                                    <p:anim calcmode="discrete" valueType="str">
                                      <p:cBhvr>
                                        <p:cTn id="109" dur="1000" fill="hold"/>
                                        <p:tgtEl>
                                          <p:spTgt spid="5"/>
                                        </p:tgtEl>
                                        <p:attrNameLst>
                                          <p:attrName>style.visibility</p:attrName>
                                        </p:attrNameLst>
                                      </p:cBhvr>
                                      <p:tavLst>
                                        <p:tav tm="0">
                                          <p:val>
                                            <p:strVal val="hidden"/>
                                          </p:val>
                                        </p:tav>
                                        <p:tav tm="50000">
                                          <p:val>
                                            <p:strVal val="visible"/>
                                          </p:val>
                                        </p:tav>
                                      </p:tavLst>
                                    </p:anim>
                                  </p:childTnLst>
                                </p:cTn>
                              </p:par>
                              <p:par>
                                <p:cTn id="110" presetID="35" presetClass="emph" presetSubtype="0" fill="hold" grpId="0" nodeType="withEffect">
                                  <p:stCondLst>
                                    <p:cond delay="0"/>
                                  </p:stCondLst>
                                  <p:childTnLst>
                                    <p:anim calcmode="discrete" valueType="str">
                                      <p:cBhvr>
                                        <p:cTn id="111" dur="1000" fill="hold"/>
                                        <p:tgtEl>
                                          <p:spTgt spid="39"/>
                                        </p:tgtEl>
                                        <p:attrNameLst>
                                          <p:attrName>style.visibility</p:attrName>
                                        </p:attrNameLst>
                                      </p:cBhvr>
                                      <p:tavLst>
                                        <p:tav tm="0">
                                          <p:val>
                                            <p:strVal val="hidden"/>
                                          </p:val>
                                        </p:tav>
                                        <p:tav tm="50000">
                                          <p:val>
                                            <p:strVal val="visible"/>
                                          </p:val>
                                        </p:tav>
                                      </p:tavLst>
                                    </p:anim>
                                  </p:childTnLst>
                                </p:cTn>
                              </p:par>
                            </p:childTnLst>
                          </p:cTn>
                        </p:par>
                        <p:par>
                          <p:cTn id="112" fill="hold">
                            <p:stCondLst>
                              <p:cond delay="1000"/>
                            </p:stCondLst>
                            <p:childTnLst>
                              <p:par>
                                <p:cTn id="113" presetID="35" presetClass="emph" presetSubtype="0" fill="hold" nodeType="afterEffect">
                                  <p:stCondLst>
                                    <p:cond delay="0"/>
                                  </p:stCondLst>
                                  <p:childTnLst>
                                    <p:anim calcmode="discrete" valueType="str">
                                      <p:cBhvr>
                                        <p:cTn id="114" dur="1000" fill="hold"/>
                                        <p:tgtEl>
                                          <p:spTgt spid="31"/>
                                        </p:tgtEl>
                                        <p:attrNameLst>
                                          <p:attrName>style.visibility</p:attrName>
                                        </p:attrNameLst>
                                      </p:cBhvr>
                                      <p:tavLst>
                                        <p:tav tm="0">
                                          <p:val>
                                            <p:strVal val="hidden"/>
                                          </p:val>
                                        </p:tav>
                                        <p:tav tm="50000">
                                          <p:val>
                                            <p:strVal val="visible"/>
                                          </p:val>
                                        </p:tav>
                                      </p:tavLst>
                                    </p:anim>
                                  </p:childTnLst>
                                </p:cTn>
                              </p:par>
                              <p:par>
                                <p:cTn id="115" presetID="35" presetClass="emph" presetSubtype="0" fill="hold" grpId="2" nodeType="withEffect">
                                  <p:stCondLst>
                                    <p:cond delay="0"/>
                                  </p:stCondLst>
                                  <p:childTnLst>
                                    <p:anim calcmode="discrete" valueType="str">
                                      <p:cBhvr>
                                        <p:cTn id="116" dur="1000" fill="hold"/>
                                        <p:tgtEl>
                                          <p:spTgt spid="41"/>
                                        </p:tgtEl>
                                        <p:attrNameLst>
                                          <p:attrName>style.visibility</p:attrName>
                                        </p:attrNameLst>
                                      </p:cBhvr>
                                      <p:tavLst>
                                        <p:tav tm="0">
                                          <p:val>
                                            <p:strVal val="hidden"/>
                                          </p:val>
                                        </p:tav>
                                        <p:tav tm="50000">
                                          <p:val>
                                            <p:strVal val="visible"/>
                                          </p:val>
                                        </p:tav>
                                      </p:tavLst>
                                    </p:anim>
                                  </p:childTnLst>
                                </p:cTn>
                              </p:par>
                              <p:par>
                                <p:cTn id="117" presetID="35" presetClass="emph" presetSubtype="0" fill="hold" grpId="2" nodeType="withEffect">
                                  <p:stCondLst>
                                    <p:cond delay="0"/>
                                  </p:stCondLst>
                                  <p:childTnLst>
                                    <p:anim calcmode="discrete" valueType="str">
                                      <p:cBhvr>
                                        <p:cTn id="118" dur="1000" fill="hold"/>
                                        <p:tgtEl>
                                          <p:spTgt spid="30"/>
                                        </p:tgtEl>
                                        <p:attrNameLst>
                                          <p:attrName>style.visibility</p:attrName>
                                        </p:attrNameLst>
                                      </p:cBhvr>
                                      <p:tavLst>
                                        <p:tav tm="0">
                                          <p:val>
                                            <p:strVal val="hidden"/>
                                          </p:val>
                                        </p:tav>
                                        <p:tav tm="50000">
                                          <p:val>
                                            <p:strVal val="visible"/>
                                          </p:val>
                                        </p:tav>
                                      </p:tavLst>
                                    </p:anim>
                                  </p:childTnLst>
                                </p:cTn>
                              </p:par>
                              <p:par>
                                <p:cTn id="119" presetID="35" presetClass="emph" presetSubtype="0" fill="hold" nodeType="withEffect">
                                  <p:stCondLst>
                                    <p:cond delay="0"/>
                                  </p:stCondLst>
                                  <p:childTnLst>
                                    <p:anim calcmode="discrete" valueType="str">
                                      <p:cBhvr>
                                        <p:cTn id="120" dur="1000" fill="hold"/>
                                        <p:tgtEl>
                                          <p:spTgt spid="27"/>
                                        </p:tgtEl>
                                        <p:attrNameLst>
                                          <p:attrName>style.visibility</p:attrName>
                                        </p:attrNameLst>
                                      </p:cBhvr>
                                      <p:tavLst>
                                        <p:tav tm="0">
                                          <p:val>
                                            <p:strVal val="hidden"/>
                                          </p:val>
                                        </p:tav>
                                        <p:tav tm="50000">
                                          <p:val>
                                            <p:strVal val="visible"/>
                                          </p:val>
                                        </p:tav>
                                      </p:tavLst>
                                    </p:anim>
                                  </p:childTnLst>
                                </p:cTn>
                              </p:par>
                              <p:par>
                                <p:cTn id="121" presetID="35" presetClass="emph" presetSubtype="0" fill="hold" nodeType="withEffect">
                                  <p:stCondLst>
                                    <p:cond delay="0"/>
                                  </p:stCondLst>
                                  <p:childTnLst>
                                    <p:anim calcmode="discrete" valueType="str">
                                      <p:cBhvr>
                                        <p:cTn id="122" dur="1000" fill="hold"/>
                                        <p:tgtEl>
                                          <p:spTgt spid="5"/>
                                        </p:tgtEl>
                                        <p:attrNameLst>
                                          <p:attrName>style.visibility</p:attrName>
                                        </p:attrNameLst>
                                      </p:cBhvr>
                                      <p:tavLst>
                                        <p:tav tm="0">
                                          <p:val>
                                            <p:strVal val="hidden"/>
                                          </p:val>
                                        </p:tav>
                                        <p:tav tm="50000">
                                          <p:val>
                                            <p:strVal val="visible"/>
                                          </p:val>
                                        </p:tav>
                                      </p:tavLst>
                                    </p:anim>
                                  </p:childTnLst>
                                </p:cTn>
                              </p:par>
                              <p:par>
                                <p:cTn id="123" presetID="35" presetClass="emph" presetSubtype="0" fill="hold" grpId="2" nodeType="withEffect">
                                  <p:stCondLst>
                                    <p:cond delay="0"/>
                                  </p:stCondLst>
                                  <p:childTnLst>
                                    <p:anim calcmode="discrete" valueType="str">
                                      <p:cBhvr>
                                        <p:cTn id="124"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125" fill="hold">
                      <p:stCondLst>
                        <p:cond delay="indefinite"/>
                      </p:stCondLst>
                      <p:childTnLst>
                        <p:par>
                          <p:cTn id="126" fill="hold">
                            <p:stCondLst>
                              <p:cond delay="0"/>
                            </p:stCondLst>
                            <p:childTnLst>
                              <p:par>
                                <p:cTn id="127" presetID="2" presetClass="entr" presetSubtype="4" fill="hold" grpId="0" nodeType="clickEffect">
                                  <p:stCondLst>
                                    <p:cond delay="0"/>
                                  </p:stCondLst>
                                  <p:childTnLst>
                                    <p:set>
                                      <p:cBhvr>
                                        <p:cTn id="128" dur="1" fill="hold">
                                          <p:stCondLst>
                                            <p:cond delay="0"/>
                                          </p:stCondLst>
                                        </p:cTn>
                                        <p:tgtEl>
                                          <p:spTgt spid="76"/>
                                        </p:tgtEl>
                                        <p:attrNameLst>
                                          <p:attrName>style.visibility</p:attrName>
                                        </p:attrNameLst>
                                      </p:cBhvr>
                                      <p:to>
                                        <p:strVal val="visible"/>
                                      </p:to>
                                    </p:set>
                                    <p:anim calcmode="lin" valueType="num">
                                      <p:cBhvr additive="base">
                                        <p:cTn id="129" dur="500" fill="hold"/>
                                        <p:tgtEl>
                                          <p:spTgt spid="76"/>
                                        </p:tgtEl>
                                        <p:attrNameLst>
                                          <p:attrName>ppt_x</p:attrName>
                                        </p:attrNameLst>
                                      </p:cBhvr>
                                      <p:tavLst>
                                        <p:tav tm="0">
                                          <p:val>
                                            <p:strVal val="#ppt_x"/>
                                          </p:val>
                                        </p:tav>
                                        <p:tav tm="100000">
                                          <p:val>
                                            <p:strVal val="#ppt_x"/>
                                          </p:val>
                                        </p:tav>
                                      </p:tavLst>
                                    </p:anim>
                                    <p:anim calcmode="lin" valueType="num">
                                      <p:cBhvr additive="base">
                                        <p:cTn id="130" dur="500" fill="hold"/>
                                        <p:tgtEl>
                                          <p:spTgt spid="76"/>
                                        </p:tgtEl>
                                        <p:attrNameLst>
                                          <p:attrName>ppt_y</p:attrName>
                                        </p:attrNameLst>
                                      </p:cBhvr>
                                      <p:tavLst>
                                        <p:tav tm="0">
                                          <p:val>
                                            <p:strVal val="1+#ppt_h/2"/>
                                          </p:val>
                                        </p:tav>
                                        <p:tav tm="100000">
                                          <p:val>
                                            <p:strVal val="#ppt_y"/>
                                          </p:val>
                                        </p:tav>
                                      </p:tavLst>
                                    </p:anim>
                                  </p:childTnLst>
                                </p:cTn>
                              </p:par>
                              <p:par>
                                <p:cTn id="131" presetID="2" presetClass="entr" presetSubtype="4" fill="hold" grpId="0" nodeType="withEffect">
                                  <p:stCondLst>
                                    <p:cond delay="0"/>
                                  </p:stCondLst>
                                  <p:childTnLst>
                                    <p:set>
                                      <p:cBhvr>
                                        <p:cTn id="132" dur="1" fill="hold">
                                          <p:stCondLst>
                                            <p:cond delay="0"/>
                                          </p:stCondLst>
                                        </p:cTn>
                                        <p:tgtEl>
                                          <p:spTgt spid="77"/>
                                        </p:tgtEl>
                                        <p:attrNameLst>
                                          <p:attrName>style.visibility</p:attrName>
                                        </p:attrNameLst>
                                      </p:cBhvr>
                                      <p:to>
                                        <p:strVal val="visible"/>
                                      </p:to>
                                    </p:set>
                                    <p:anim calcmode="lin" valueType="num">
                                      <p:cBhvr additive="base">
                                        <p:cTn id="133" dur="500" fill="hold"/>
                                        <p:tgtEl>
                                          <p:spTgt spid="77"/>
                                        </p:tgtEl>
                                        <p:attrNameLst>
                                          <p:attrName>ppt_x</p:attrName>
                                        </p:attrNameLst>
                                      </p:cBhvr>
                                      <p:tavLst>
                                        <p:tav tm="0">
                                          <p:val>
                                            <p:strVal val="#ppt_x"/>
                                          </p:val>
                                        </p:tav>
                                        <p:tav tm="100000">
                                          <p:val>
                                            <p:strVal val="#ppt_x"/>
                                          </p:val>
                                        </p:tav>
                                      </p:tavLst>
                                    </p:anim>
                                    <p:anim calcmode="lin" valueType="num">
                                      <p:cBhvr additive="base">
                                        <p:cTn id="134" dur="500" fill="hold"/>
                                        <p:tgtEl>
                                          <p:spTgt spid="77"/>
                                        </p:tgtEl>
                                        <p:attrNameLst>
                                          <p:attrName>ppt_y</p:attrName>
                                        </p:attrNameLst>
                                      </p:cBhvr>
                                      <p:tavLst>
                                        <p:tav tm="0">
                                          <p:val>
                                            <p:strVal val="1+#ppt_h/2"/>
                                          </p:val>
                                        </p:tav>
                                        <p:tav tm="100000">
                                          <p:val>
                                            <p:strVal val="#ppt_y"/>
                                          </p:val>
                                        </p:tav>
                                      </p:tavLst>
                                    </p:anim>
                                  </p:childTnLst>
                                </p:cTn>
                              </p:par>
                              <p:par>
                                <p:cTn id="135" presetID="2" presetClass="entr" presetSubtype="4" fill="hold" grpId="0" nodeType="withEffect">
                                  <p:stCondLst>
                                    <p:cond delay="0"/>
                                  </p:stCondLst>
                                  <p:childTnLst>
                                    <p:set>
                                      <p:cBhvr>
                                        <p:cTn id="136" dur="1" fill="hold">
                                          <p:stCondLst>
                                            <p:cond delay="0"/>
                                          </p:stCondLst>
                                        </p:cTn>
                                        <p:tgtEl>
                                          <p:spTgt spid="78"/>
                                        </p:tgtEl>
                                        <p:attrNameLst>
                                          <p:attrName>style.visibility</p:attrName>
                                        </p:attrNameLst>
                                      </p:cBhvr>
                                      <p:to>
                                        <p:strVal val="visible"/>
                                      </p:to>
                                    </p:set>
                                    <p:anim calcmode="lin" valueType="num">
                                      <p:cBhvr additive="base">
                                        <p:cTn id="137" dur="500" fill="hold"/>
                                        <p:tgtEl>
                                          <p:spTgt spid="78"/>
                                        </p:tgtEl>
                                        <p:attrNameLst>
                                          <p:attrName>ppt_x</p:attrName>
                                        </p:attrNameLst>
                                      </p:cBhvr>
                                      <p:tavLst>
                                        <p:tav tm="0">
                                          <p:val>
                                            <p:strVal val="#ppt_x"/>
                                          </p:val>
                                        </p:tav>
                                        <p:tav tm="100000">
                                          <p:val>
                                            <p:strVal val="#ppt_x"/>
                                          </p:val>
                                        </p:tav>
                                      </p:tavLst>
                                    </p:anim>
                                    <p:anim calcmode="lin" valueType="num">
                                      <p:cBhvr additive="base">
                                        <p:cTn id="138" dur="500" fill="hold"/>
                                        <p:tgtEl>
                                          <p:spTgt spid="78"/>
                                        </p:tgtEl>
                                        <p:attrNameLst>
                                          <p:attrName>ppt_y</p:attrName>
                                        </p:attrNameLst>
                                      </p:cBhvr>
                                      <p:tavLst>
                                        <p:tav tm="0">
                                          <p:val>
                                            <p:strVal val="1+#ppt_h/2"/>
                                          </p:val>
                                        </p:tav>
                                        <p:tav tm="100000">
                                          <p:val>
                                            <p:strVal val="#ppt_y"/>
                                          </p:val>
                                        </p:tav>
                                      </p:tavLst>
                                    </p:anim>
                                  </p:childTnLst>
                                </p:cTn>
                              </p:par>
                              <p:par>
                                <p:cTn id="139" presetID="2" presetClass="entr" presetSubtype="4" fill="hold" grpId="0" nodeType="withEffect">
                                  <p:stCondLst>
                                    <p:cond delay="0"/>
                                  </p:stCondLst>
                                  <p:childTnLst>
                                    <p:set>
                                      <p:cBhvr>
                                        <p:cTn id="140" dur="1" fill="hold">
                                          <p:stCondLst>
                                            <p:cond delay="0"/>
                                          </p:stCondLst>
                                        </p:cTn>
                                        <p:tgtEl>
                                          <p:spTgt spid="79"/>
                                        </p:tgtEl>
                                        <p:attrNameLst>
                                          <p:attrName>style.visibility</p:attrName>
                                        </p:attrNameLst>
                                      </p:cBhvr>
                                      <p:to>
                                        <p:strVal val="visible"/>
                                      </p:to>
                                    </p:set>
                                    <p:anim calcmode="lin" valueType="num">
                                      <p:cBhvr additive="base">
                                        <p:cTn id="141" dur="500" fill="hold"/>
                                        <p:tgtEl>
                                          <p:spTgt spid="79"/>
                                        </p:tgtEl>
                                        <p:attrNameLst>
                                          <p:attrName>ppt_x</p:attrName>
                                        </p:attrNameLst>
                                      </p:cBhvr>
                                      <p:tavLst>
                                        <p:tav tm="0">
                                          <p:val>
                                            <p:strVal val="#ppt_x"/>
                                          </p:val>
                                        </p:tav>
                                        <p:tav tm="100000">
                                          <p:val>
                                            <p:strVal val="#ppt_x"/>
                                          </p:val>
                                        </p:tav>
                                      </p:tavLst>
                                    </p:anim>
                                    <p:anim calcmode="lin" valueType="num">
                                      <p:cBhvr additive="base">
                                        <p:cTn id="142" dur="500" fill="hold"/>
                                        <p:tgtEl>
                                          <p:spTgt spid="79"/>
                                        </p:tgtEl>
                                        <p:attrNameLst>
                                          <p:attrName>ppt_y</p:attrName>
                                        </p:attrNameLst>
                                      </p:cBhvr>
                                      <p:tavLst>
                                        <p:tav tm="0">
                                          <p:val>
                                            <p:strVal val="1+#ppt_h/2"/>
                                          </p:val>
                                        </p:tav>
                                        <p:tav tm="100000">
                                          <p:val>
                                            <p:strVal val="#ppt_y"/>
                                          </p:val>
                                        </p:tav>
                                      </p:tavLst>
                                    </p:anim>
                                  </p:childTnLst>
                                </p:cTn>
                              </p:par>
                            </p:childTnLst>
                          </p:cTn>
                        </p:par>
                      </p:childTnLst>
                    </p:cTn>
                  </p:par>
                  <p:par>
                    <p:cTn id="143" fill="hold">
                      <p:stCondLst>
                        <p:cond delay="indefinite"/>
                      </p:stCondLst>
                      <p:childTnLst>
                        <p:par>
                          <p:cTn id="144" fill="hold">
                            <p:stCondLst>
                              <p:cond delay="0"/>
                            </p:stCondLst>
                            <p:childTnLst>
                              <p:par>
                                <p:cTn id="145" presetID="0" presetClass="path" presetSubtype="0" accel="50000" decel="50000" fill="hold" grpId="0" nodeType="clickEffect">
                                  <p:stCondLst>
                                    <p:cond delay="0"/>
                                  </p:stCondLst>
                                  <p:childTnLst>
                                    <p:animMotion origin="layout" path="M 0 0 L 0.1575 0 " pathEditMode="relative" ptsTypes="">
                                      <p:cBhvr>
                                        <p:cTn id="146" dur="2000" fill="hold"/>
                                        <p:tgtEl>
                                          <p:spTgt spid="29"/>
                                        </p:tgtEl>
                                        <p:attrNameLst>
                                          <p:attrName>ppt_x</p:attrName>
                                          <p:attrName>ppt_y</p:attrName>
                                        </p:attrNameLst>
                                      </p:cBhvr>
                                    </p:animMotion>
                                  </p:childTnLst>
                                </p:cTn>
                              </p:par>
                            </p:childTnLst>
                          </p:cTn>
                        </p:par>
                      </p:childTnLst>
                    </p:cTn>
                  </p:par>
                  <p:par>
                    <p:cTn id="147" fill="hold">
                      <p:stCondLst>
                        <p:cond delay="indefinite"/>
                      </p:stCondLst>
                      <p:childTnLst>
                        <p:par>
                          <p:cTn id="148" fill="hold">
                            <p:stCondLst>
                              <p:cond delay="0"/>
                            </p:stCondLst>
                            <p:childTnLst>
                              <p:par>
                                <p:cTn id="149" presetID="2" presetClass="entr" presetSubtype="2" fill="hold" nodeType="clickEffect">
                                  <p:stCondLst>
                                    <p:cond delay="0"/>
                                  </p:stCondLst>
                                  <p:childTnLst>
                                    <p:set>
                                      <p:cBhvr>
                                        <p:cTn id="150" dur="1" fill="hold">
                                          <p:stCondLst>
                                            <p:cond delay="0"/>
                                          </p:stCondLst>
                                        </p:cTn>
                                        <p:tgtEl>
                                          <p:spTgt spid="35"/>
                                        </p:tgtEl>
                                        <p:attrNameLst>
                                          <p:attrName>style.visibility</p:attrName>
                                        </p:attrNameLst>
                                      </p:cBhvr>
                                      <p:to>
                                        <p:strVal val="visible"/>
                                      </p:to>
                                    </p:set>
                                    <p:anim calcmode="lin" valueType="num">
                                      <p:cBhvr additive="base">
                                        <p:cTn id="151" dur="500" fill="hold"/>
                                        <p:tgtEl>
                                          <p:spTgt spid="35"/>
                                        </p:tgtEl>
                                        <p:attrNameLst>
                                          <p:attrName>ppt_x</p:attrName>
                                        </p:attrNameLst>
                                      </p:cBhvr>
                                      <p:tavLst>
                                        <p:tav tm="0">
                                          <p:val>
                                            <p:strVal val="1+#ppt_w/2"/>
                                          </p:val>
                                        </p:tav>
                                        <p:tav tm="100000">
                                          <p:val>
                                            <p:strVal val="#ppt_x"/>
                                          </p:val>
                                        </p:tav>
                                      </p:tavLst>
                                    </p:anim>
                                    <p:anim calcmode="lin" valueType="num">
                                      <p:cBhvr additive="base">
                                        <p:cTn id="152" dur="500" fill="hold"/>
                                        <p:tgtEl>
                                          <p:spTgt spid="35"/>
                                        </p:tgtEl>
                                        <p:attrNameLst>
                                          <p:attrName>ppt_y</p:attrName>
                                        </p:attrNameLst>
                                      </p:cBhvr>
                                      <p:tavLst>
                                        <p:tav tm="0">
                                          <p:val>
                                            <p:strVal val="#ppt_y"/>
                                          </p:val>
                                        </p:tav>
                                        <p:tav tm="100000">
                                          <p:val>
                                            <p:strVal val="#ppt_y"/>
                                          </p:val>
                                        </p:tav>
                                      </p:tavLst>
                                    </p:anim>
                                  </p:childTnLst>
                                </p:cTn>
                              </p:par>
                              <p:par>
                                <p:cTn id="153" presetID="2" presetClass="entr" presetSubtype="2" fill="hold" nodeType="withEffect">
                                  <p:stCondLst>
                                    <p:cond delay="0"/>
                                  </p:stCondLst>
                                  <p:childTnLst>
                                    <p:set>
                                      <p:cBhvr>
                                        <p:cTn id="154" dur="1" fill="hold">
                                          <p:stCondLst>
                                            <p:cond delay="0"/>
                                          </p:stCondLst>
                                        </p:cTn>
                                        <p:tgtEl>
                                          <p:spTgt spid="83"/>
                                        </p:tgtEl>
                                        <p:attrNameLst>
                                          <p:attrName>style.visibility</p:attrName>
                                        </p:attrNameLst>
                                      </p:cBhvr>
                                      <p:to>
                                        <p:strVal val="visible"/>
                                      </p:to>
                                    </p:set>
                                    <p:anim calcmode="lin" valueType="num">
                                      <p:cBhvr additive="base">
                                        <p:cTn id="155" dur="500" fill="hold"/>
                                        <p:tgtEl>
                                          <p:spTgt spid="83"/>
                                        </p:tgtEl>
                                        <p:attrNameLst>
                                          <p:attrName>ppt_x</p:attrName>
                                        </p:attrNameLst>
                                      </p:cBhvr>
                                      <p:tavLst>
                                        <p:tav tm="0">
                                          <p:val>
                                            <p:strVal val="1+#ppt_w/2"/>
                                          </p:val>
                                        </p:tav>
                                        <p:tav tm="100000">
                                          <p:val>
                                            <p:strVal val="#ppt_x"/>
                                          </p:val>
                                        </p:tav>
                                      </p:tavLst>
                                    </p:anim>
                                    <p:anim calcmode="lin" valueType="num">
                                      <p:cBhvr additive="base">
                                        <p:cTn id="156" dur="500" fill="hold"/>
                                        <p:tgtEl>
                                          <p:spTgt spid="83"/>
                                        </p:tgtEl>
                                        <p:attrNameLst>
                                          <p:attrName>ppt_y</p:attrName>
                                        </p:attrNameLst>
                                      </p:cBhvr>
                                      <p:tavLst>
                                        <p:tav tm="0">
                                          <p:val>
                                            <p:strVal val="#ppt_y"/>
                                          </p:val>
                                        </p:tav>
                                        <p:tav tm="100000">
                                          <p:val>
                                            <p:strVal val="#ppt_y"/>
                                          </p:val>
                                        </p:tav>
                                      </p:tavLst>
                                    </p:anim>
                                  </p:childTnLst>
                                </p:cTn>
                              </p:par>
                              <p:par>
                                <p:cTn id="157" presetID="2" presetClass="entr" presetSubtype="2" fill="hold" nodeType="withEffect">
                                  <p:stCondLst>
                                    <p:cond delay="0"/>
                                  </p:stCondLst>
                                  <p:childTnLst>
                                    <p:set>
                                      <p:cBhvr>
                                        <p:cTn id="158" dur="1" fill="hold">
                                          <p:stCondLst>
                                            <p:cond delay="0"/>
                                          </p:stCondLst>
                                        </p:cTn>
                                        <p:tgtEl>
                                          <p:spTgt spid="98"/>
                                        </p:tgtEl>
                                        <p:attrNameLst>
                                          <p:attrName>style.visibility</p:attrName>
                                        </p:attrNameLst>
                                      </p:cBhvr>
                                      <p:to>
                                        <p:strVal val="visible"/>
                                      </p:to>
                                    </p:set>
                                    <p:anim calcmode="lin" valueType="num">
                                      <p:cBhvr additive="base">
                                        <p:cTn id="159" dur="500" fill="hold"/>
                                        <p:tgtEl>
                                          <p:spTgt spid="98"/>
                                        </p:tgtEl>
                                        <p:attrNameLst>
                                          <p:attrName>ppt_x</p:attrName>
                                        </p:attrNameLst>
                                      </p:cBhvr>
                                      <p:tavLst>
                                        <p:tav tm="0">
                                          <p:val>
                                            <p:strVal val="1+#ppt_w/2"/>
                                          </p:val>
                                        </p:tav>
                                        <p:tav tm="100000">
                                          <p:val>
                                            <p:strVal val="#ppt_x"/>
                                          </p:val>
                                        </p:tav>
                                      </p:tavLst>
                                    </p:anim>
                                    <p:anim calcmode="lin" valueType="num">
                                      <p:cBhvr additive="base">
                                        <p:cTn id="160" dur="500" fill="hold"/>
                                        <p:tgtEl>
                                          <p:spTgt spid="98"/>
                                        </p:tgtEl>
                                        <p:attrNameLst>
                                          <p:attrName>ppt_y</p:attrName>
                                        </p:attrNameLst>
                                      </p:cBhvr>
                                      <p:tavLst>
                                        <p:tav tm="0">
                                          <p:val>
                                            <p:strVal val="#ppt_y"/>
                                          </p:val>
                                        </p:tav>
                                        <p:tav tm="100000">
                                          <p:val>
                                            <p:strVal val="#ppt_y"/>
                                          </p:val>
                                        </p:tav>
                                      </p:tavLst>
                                    </p:anim>
                                  </p:childTnLst>
                                </p:cTn>
                              </p:par>
                            </p:childTnLst>
                          </p:cTn>
                        </p:par>
                      </p:childTnLst>
                    </p:cTn>
                  </p:par>
                  <p:par>
                    <p:cTn id="161" fill="hold">
                      <p:stCondLst>
                        <p:cond delay="indefinite"/>
                      </p:stCondLst>
                      <p:childTnLst>
                        <p:par>
                          <p:cTn id="162" fill="hold">
                            <p:stCondLst>
                              <p:cond delay="0"/>
                            </p:stCondLst>
                            <p:childTnLst>
                              <p:par>
                                <p:cTn id="163" presetID="2" presetClass="exit" presetSubtype="4" fill="hold" grpId="2" nodeType="clickEffect">
                                  <p:stCondLst>
                                    <p:cond delay="0"/>
                                  </p:stCondLst>
                                  <p:childTnLst>
                                    <p:anim calcmode="lin" valueType="num">
                                      <p:cBhvr additive="base">
                                        <p:cTn id="164" dur="500"/>
                                        <p:tgtEl>
                                          <p:spTgt spid="75"/>
                                        </p:tgtEl>
                                        <p:attrNameLst>
                                          <p:attrName>ppt_x</p:attrName>
                                        </p:attrNameLst>
                                      </p:cBhvr>
                                      <p:tavLst>
                                        <p:tav tm="0">
                                          <p:val>
                                            <p:strVal val="ppt_x"/>
                                          </p:val>
                                        </p:tav>
                                        <p:tav tm="100000">
                                          <p:val>
                                            <p:strVal val="ppt_x"/>
                                          </p:val>
                                        </p:tav>
                                      </p:tavLst>
                                    </p:anim>
                                    <p:anim calcmode="lin" valueType="num">
                                      <p:cBhvr additive="base">
                                        <p:cTn id="165" dur="500"/>
                                        <p:tgtEl>
                                          <p:spTgt spid="75"/>
                                        </p:tgtEl>
                                        <p:attrNameLst>
                                          <p:attrName>ppt_y</p:attrName>
                                        </p:attrNameLst>
                                      </p:cBhvr>
                                      <p:tavLst>
                                        <p:tav tm="0">
                                          <p:val>
                                            <p:strVal val="ppt_y"/>
                                          </p:val>
                                        </p:tav>
                                        <p:tav tm="100000">
                                          <p:val>
                                            <p:strVal val="1+ppt_h/2"/>
                                          </p:val>
                                        </p:tav>
                                      </p:tavLst>
                                    </p:anim>
                                    <p:set>
                                      <p:cBhvr>
                                        <p:cTn id="166" dur="1" fill="hold">
                                          <p:stCondLst>
                                            <p:cond delay="499"/>
                                          </p:stCondLst>
                                        </p:cTn>
                                        <p:tgtEl>
                                          <p:spTgt spid="75"/>
                                        </p:tgtEl>
                                        <p:attrNameLst>
                                          <p:attrName>style.visibility</p:attrName>
                                        </p:attrNameLst>
                                      </p:cBhvr>
                                      <p:to>
                                        <p:strVal val="hidden"/>
                                      </p:to>
                                    </p:set>
                                  </p:childTnLst>
                                </p:cTn>
                              </p:par>
                            </p:childTnLst>
                          </p:cTn>
                        </p:par>
                      </p:childTnLst>
                    </p:cTn>
                  </p:par>
                  <p:par>
                    <p:cTn id="167" fill="hold">
                      <p:stCondLst>
                        <p:cond delay="indefinite"/>
                      </p:stCondLst>
                      <p:childTnLst>
                        <p:par>
                          <p:cTn id="168" fill="hold">
                            <p:stCondLst>
                              <p:cond delay="0"/>
                            </p:stCondLst>
                            <p:childTnLst>
                              <p:par>
                                <p:cTn id="169" presetID="2" presetClass="entr" presetSubtype="4" fill="hold" grpId="0" nodeType="clickEffect">
                                  <p:stCondLst>
                                    <p:cond delay="0"/>
                                  </p:stCondLst>
                                  <p:childTnLst>
                                    <p:set>
                                      <p:cBhvr>
                                        <p:cTn id="170" dur="1" fill="hold">
                                          <p:stCondLst>
                                            <p:cond delay="0"/>
                                          </p:stCondLst>
                                        </p:cTn>
                                        <p:tgtEl>
                                          <p:spTgt spid="80"/>
                                        </p:tgtEl>
                                        <p:attrNameLst>
                                          <p:attrName>style.visibility</p:attrName>
                                        </p:attrNameLst>
                                      </p:cBhvr>
                                      <p:to>
                                        <p:strVal val="visible"/>
                                      </p:to>
                                    </p:set>
                                    <p:anim calcmode="lin" valueType="num">
                                      <p:cBhvr additive="base">
                                        <p:cTn id="171" dur="500" fill="hold"/>
                                        <p:tgtEl>
                                          <p:spTgt spid="80"/>
                                        </p:tgtEl>
                                        <p:attrNameLst>
                                          <p:attrName>ppt_x</p:attrName>
                                        </p:attrNameLst>
                                      </p:cBhvr>
                                      <p:tavLst>
                                        <p:tav tm="0">
                                          <p:val>
                                            <p:strVal val="#ppt_x"/>
                                          </p:val>
                                        </p:tav>
                                        <p:tav tm="100000">
                                          <p:val>
                                            <p:strVal val="#ppt_x"/>
                                          </p:val>
                                        </p:tav>
                                      </p:tavLst>
                                    </p:anim>
                                    <p:anim calcmode="lin" valueType="num">
                                      <p:cBhvr additive="base">
                                        <p:cTn id="172" dur="500" fill="hold"/>
                                        <p:tgtEl>
                                          <p:spTgt spid="80"/>
                                        </p:tgtEl>
                                        <p:attrNameLst>
                                          <p:attrName>ppt_y</p:attrName>
                                        </p:attrNameLst>
                                      </p:cBhvr>
                                      <p:tavLst>
                                        <p:tav tm="0">
                                          <p:val>
                                            <p:strVal val="1+#ppt_h/2"/>
                                          </p:val>
                                        </p:tav>
                                        <p:tav tm="100000">
                                          <p:val>
                                            <p:strVal val="#ppt_y"/>
                                          </p:val>
                                        </p:tav>
                                      </p:tavLst>
                                    </p:anim>
                                  </p:childTnLst>
                                </p:cTn>
                              </p:par>
                            </p:childTnLst>
                          </p:cTn>
                        </p:par>
                      </p:childTnLst>
                    </p:cTn>
                  </p:par>
                  <p:par>
                    <p:cTn id="173" fill="hold">
                      <p:stCondLst>
                        <p:cond delay="indefinite"/>
                      </p:stCondLst>
                      <p:childTnLst>
                        <p:par>
                          <p:cTn id="174" fill="hold">
                            <p:stCondLst>
                              <p:cond delay="0"/>
                            </p:stCondLst>
                            <p:childTnLst>
                              <p:par>
                                <p:cTn id="175" presetID="0" presetClass="path" presetSubtype="0" accel="50000" decel="50000" fill="hold" nodeType="clickEffect">
                                  <p:stCondLst>
                                    <p:cond delay="0"/>
                                  </p:stCondLst>
                                  <p:childTnLst>
                                    <p:animMotion origin="layout" path="M -0.00125 0.00499997 C 0.000972227 -0.00963003 -0.0380555 -0.063889 0.0479167 -0.059444 C 0.133889 -0.055 0.353542 0.00861096 0.42875 0.027222 " pathEditMode="relative" rAng="0" ptsTypes="">
                                      <p:cBhvr>
                                        <p:cTn id="176" dur="2000" fill="hold"/>
                                        <p:tgtEl>
                                          <p:spTgt spid="35"/>
                                        </p:tgtEl>
                                        <p:attrNameLst>
                                          <p:attrName>ppt_x</p:attrName>
                                          <p:attrName>ppt_y</p:attrName>
                                        </p:attrNameLst>
                                      </p:cBhvr>
                                      <p:rCtr x="212" y="-21"/>
                                    </p:animMotion>
                                  </p:childTnLst>
                                </p:cTn>
                              </p:par>
                            </p:childTnLst>
                          </p:cTn>
                        </p:par>
                      </p:childTnLst>
                    </p:cTn>
                  </p:par>
                  <p:par>
                    <p:cTn id="177" fill="hold">
                      <p:stCondLst>
                        <p:cond delay="indefinite"/>
                      </p:stCondLst>
                      <p:childTnLst>
                        <p:par>
                          <p:cTn id="178" fill="hold">
                            <p:stCondLst>
                              <p:cond delay="0"/>
                            </p:stCondLst>
                            <p:childTnLst>
                              <p:par>
                                <p:cTn id="179" presetID="2" presetClass="entr" presetSubtype="4" fill="hold" grpId="0" nodeType="clickEffect">
                                  <p:stCondLst>
                                    <p:cond delay="0"/>
                                  </p:stCondLst>
                                  <p:childTnLst>
                                    <p:set>
                                      <p:cBhvr>
                                        <p:cTn id="180" dur="1" fill="hold">
                                          <p:stCondLst>
                                            <p:cond delay="0"/>
                                          </p:stCondLst>
                                        </p:cTn>
                                        <p:tgtEl>
                                          <p:spTgt spid="72"/>
                                        </p:tgtEl>
                                        <p:attrNameLst>
                                          <p:attrName>style.visibility</p:attrName>
                                        </p:attrNameLst>
                                      </p:cBhvr>
                                      <p:to>
                                        <p:strVal val="visible"/>
                                      </p:to>
                                    </p:set>
                                    <p:anim calcmode="lin" valueType="num">
                                      <p:cBhvr additive="base">
                                        <p:cTn id="181" dur="500" fill="hold"/>
                                        <p:tgtEl>
                                          <p:spTgt spid="72"/>
                                        </p:tgtEl>
                                        <p:attrNameLst>
                                          <p:attrName>ppt_x</p:attrName>
                                        </p:attrNameLst>
                                      </p:cBhvr>
                                      <p:tavLst>
                                        <p:tav tm="0">
                                          <p:val>
                                            <p:strVal val="#ppt_x"/>
                                          </p:val>
                                        </p:tav>
                                        <p:tav tm="100000">
                                          <p:val>
                                            <p:strVal val="#ppt_x"/>
                                          </p:val>
                                        </p:tav>
                                      </p:tavLst>
                                    </p:anim>
                                    <p:anim calcmode="lin" valueType="num">
                                      <p:cBhvr additive="base">
                                        <p:cTn id="182" dur="500" fill="hold"/>
                                        <p:tgtEl>
                                          <p:spTgt spid="72"/>
                                        </p:tgtEl>
                                        <p:attrNameLst>
                                          <p:attrName>ppt_y</p:attrName>
                                        </p:attrNameLst>
                                      </p:cBhvr>
                                      <p:tavLst>
                                        <p:tav tm="0">
                                          <p:val>
                                            <p:strVal val="1+#ppt_h/2"/>
                                          </p:val>
                                        </p:tav>
                                        <p:tav tm="100000">
                                          <p:val>
                                            <p:strVal val="#ppt_y"/>
                                          </p:val>
                                        </p:tav>
                                      </p:tavLst>
                                    </p:anim>
                                  </p:childTnLst>
                                </p:cTn>
                              </p:par>
                            </p:childTnLst>
                          </p:cTn>
                        </p:par>
                      </p:childTnLst>
                    </p:cTn>
                  </p:par>
                  <p:par>
                    <p:cTn id="183" fill="hold">
                      <p:stCondLst>
                        <p:cond delay="indefinite"/>
                      </p:stCondLst>
                      <p:childTnLst>
                        <p:par>
                          <p:cTn id="184" fill="hold">
                            <p:stCondLst>
                              <p:cond delay="0"/>
                            </p:stCondLst>
                            <p:childTnLst>
                              <p:par>
                                <p:cTn id="185" presetID="1" presetClass="entr" presetSubtype="0" fill="hold" nodeType="clickEffect">
                                  <p:stCondLst>
                                    <p:cond delay="0"/>
                                  </p:stCondLst>
                                  <p:childTnLst>
                                    <p:set>
                                      <p:cBhvr>
                                        <p:cTn id="186" dur="1" fill="hold">
                                          <p:stCondLst>
                                            <p:cond delay="0"/>
                                          </p:stCondLst>
                                        </p:cTn>
                                        <p:tgtEl>
                                          <p:spTgt spid="81"/>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82"/>
                                        </p:tgtEl>
                                        <p:attrNameLst>
                                          <p:attrName>style.visibility</p:attrName>
                                        </p:attrNameLst>
                                      </p:cBhvr>
                                      <p:to>
                                        <p:strVal val="visible"/>
                                      </p:to>
                                    </p:set>
                                  </p:childTnLst>
                                </p:cTn>
                              </p:par>
                            </p:childTnLst>
                          </p:cTn>
                        </p:par>
                      </p:childTnLst>
                    </p:cTn>
                  </p:par>
                  <p:par>
                    <p:cTn id="189" fill="hold">
                      <p:stCondLst>
                        <p:cond delay="indefinite"/>
                      </p:stCondLst>
                      <p:childTnLst>
                        <p:par>
                          <p:cTn id="190" fill="hold">
                            <p:stCondLst>
                              <p:cond delay="0"/>
                            </p:stCondLst>
                            <p:childTnLst>
                              <p:par>
                                <p:cTn id="191" presetID="2" presetClass="exit" presetSubtype="4" fill="hold" grpId="2" nodeType="clickEffect">
                                  <p:stCondLst>
                                    <p:cond delay="0"/>
                                  </p:stCondLst>
                                  <p:childTnLst>
                                    <p:anim calcmode="lin" valueType="num">
                                      <p:cBhvr additive="base">
                                        <p:cTn id="192" dur="500"/>
                                        <p:tgtEl>
                                          <p:spTgt spid="80"/>
                                        </p:tgtEl>
                                        <p:attrNameLst>
                                          <p:attrName>ppt_x</p:attrName>
                                        </p:attrNameLst>
                                      </p:cBhvr>
                                      <p:tavLst>
                                        <p:tav tm="0">
                                          <p:val>
                                            <p:strVal val="ppt_x"/>
                                          </p:val>
                                        </p:tav>
                                        <p:tav tm="100000">
                                          <p:val>
                                            <p:strVal val="ppt_x"/>
                                          </p:val>
                                        </p:tav>
                                      </p:tavLst>
                                    </p:anim>
                                    <p:anim calcmode="lin" valueType="num">
                                      <p:cBhvr additive="base">
                                        <p:cTn id="193" dur="500"/>
                                        <p:tgtEl>
                                          <p:spTgt spid="80"/>
                                        </p:tgtEl>
                                        <p:attrNameLst>
                                          <p:attrName>ppt_y</p:attrName>
                                        </p:attrNameLst>
                                      </p:cBhvr>
                                      <p:tavLst>
                                        <p:tav tm="0">
                                          <p:val>
                                            <p:strVal val="ppt_y"/>
                                          </p:val>
                                        </p:tav>
                                        <p:tav tm="100000">
                                          <p:val>
                                            <p:strVal val="1+ppt_h/2"/>
                                          </p:val>
                                        </p:tav>
                                      </p:tavLst>
                                    </p:anim>
                                    <p:set>
                                      <p:cBhvr>
                                        <p:cTn id="194" dur="1" fill="hold">
                                          <p:stCondLst>
                                            <p:cond delay="499"/>
                                          </p:stCondLst>
                                        </p:cTn>
                                        <p:tgtEl>
                                          <p:spTgt spid="8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9" grpId="0"/>
      <p:bldP spid="64" grpId="0"/>
      <p:bldP spid="65" grpId="0"/>
      <p:bldP spid="66" grpId="0"/>
      <p:bldP spid="67" grpId="0"/>
      <p:bldP spid="4" grpId="1"/>
      <p:bldP spid="9" grpId="1"/>
      <p:bldP spid="64" grpId="1"/>
      <p:bldP spid="65" grpId="1"/>
      <p:bldP spid="66" grpId="1"/>
      <p:bldP spid="67" grpId="1"/>
      <p:bldP spid="68" grpId="0" bldLvl="0" animBg="1"/>
      <p:bldP spid="69" grpId="0" bldLvl="0" animBg="1"/>
      <p:bldP spid="70" grpId="0" bldLvl="0" animBg="1"/>
      <p:bldP spid="71" grpId="0" bldLvl="0" animBg="1"/>
      <p:bldP spid="68" grpId="1" animBg="1"/>
      <p:bldP spid="69" grpId="1" animBg="1"/>
      <p:bldP spid="70" grpId="1" animBg="1"/>
      <p:bldP spid="71" grpId="1" animBg="1"/>
      <p:bldP spid="72" grpId="0"/>
      <p:bldP spid="72" grpId="1"/>
      <p:bldP spid="73" grpId="0"/>
      <p:bldP spid="73" grpId="1"/>
      <p:bldP spid="73" grpId="2"/>
      <p:bldP spid="74" grpId="0"/>
      <p:bldP spid="74" grpId="1"/>
      <p:bldP spid="74" grpId="2"/>
      <p:bldP spid="75" grpId="0"/>
      <p:bldP spid="75" grpId="1"/>
      <p:bldP spid="75" grpId="2"/>
      <p:bldP spid="76" grpId="0"/>
      <p:bldP spid="77" grpId="0"/>
      <p:bldP spid="78" grpId="0"/>
      <p:bldP spid="79" grpId="0"/>
      <p:bldP spid="76" grpId="1"/>
      <p:bldP spid="77" grpId="1"/>
      <p:bldP spid="78" grpId="1"/>
      <p:bldP spid="79" grpId="1"/>
      <p:bldP spid="80" grpId="0"/>
      <p:bldP spid="80" grpId="1"/>
      <p:bldP spid="80" grpId="2"/>
      <p:bldP spid="41" grpId="0"/>
      <p:bldP spid="30" grpId="0"/>
      <p:bldP spid="39" grpId="0"/>
      <p:bldP spid="41" grpId="1"/>
      <p:bldP spid="30" grpId="1"/>
      <p:bldP spid="39" grpId="1"/>
      <p:bldP spid="41" grpId="2"/>
      <p:bldP spid="30" grpId="2"/>
      <p:bldP spid="39" grpId="2"/>
      <p:bldP spid="82" grpId="0"/>
      <p:bldP spid="82" grpId="1"/>
      <p:bldP spid="12" grpId="0"/>
      <p:bldP spid="13" grpId="0" animBg="1"/>
      <p:bldP spid="12" grpId="1"/>
      <p:bldP spid="13" grpId="1" animBg="1"/>
      <p:bldP spid="29" grpId="0" animBg="1"/>
      <p:bldP spid="29" grpId="1" animBg="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2"/>
          <p:cNvSpPr txBox="1">
            <a:spLocks noChangeArrowheads="1"/>
          </p:cNvSpPr>
          <p:nvPr/>
        </p:nvSpPr>
        <p:spPr bwMode="auto">
          <a:xfrm>
            <a:off x="467360" y="980440"/>
            <a:ext cx="2858135" cy="45847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o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4.2.3 </a:t>
            </a:r>
            <a:r>
              <a:rPr kumimoji="1" lang="zh-CN" altLang="en-US" sz="2400" b="1" dirty="0">
                <a:uFillTx/>
                <a:latin typeface="Times New Roman" panose="02020603050405020304" pitchFamily="18" charset="0"/>
                <a:cs typeface="Times New Roman" panose="02020603050405020304" pitchFamily="18" charset="0"/>
                <a:sym typeface="+mn-ea"/>
              </a:rPr>
              <a:t>单源最短路径</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a:p>
            <a:pPr algn="l">
              <a:spcBef>
                <a:spcPct val="50000"/>
              </a:spcBef>
            </a:pP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grpSp>
        <p:nvGrpSpPr>
          <p:cNvPr id="6" name="组合 5"/>
          <p:cNvGrpSpPr/>
          <p:nvPr/>
        </p:nvGrpSpPr>
        <p:grpSpPr>
          <a:xfrm>
            <a:off x="1763395" y="2206625"/>
            <a:ext cx="539750" cy="539750"/>
            <a:chOff x="3572" y="3586"/>
            <a:chExt cx="850" cy="850"/>
          </a:xfrm>
          <a:solidFill>
            <a:srgbClr val="FF0000"/>
          </a:solidFill>
        </p:grpSpPr>
        <p:sp>
          <p:nvSpPr>
            <p:cNvPr id="7" name="椭圆 6"/>
            <p:cNvSpPr/>
            <p:nvPr/>
          </p:nvSpPr>
          <p:spPr>
            <a:xfrm>
              <a:off x="3572" y="3586"/>
              <a:ext cx="850" cy="850"/>
            </a:xfrm>
            <a:prstGeom prst="ellipse">
              <a:avLst/>
            </a:prstGeom>
            <a:grpFill/>
            <a:ln w="9525" cap="flat" cmpd="sng" algn="ctr">
              <a:no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a:ln>
              <a:noFill/>
            </a:ln>
            <a:extLst>
              <a:ext uri="{909E8E84-426E-40DD-AFC4-6F175D3DCCD1}">
                <a14:hiddenFill xmlns:a14="http://schemas.microsoft.com/office/drawing/2010/main">
                  <a:grpFill/>
                </a14:hiddenFill>
              </a:ext>
            </a:extLst>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683260" y="307086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1187450" y="4330065"/>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623820" y="422275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3" name="组合 2"/>
          <p:cNvGrpSpPr/>
          <p:nvPr/>
        </p:nvGrpSpPr>
        <p:grpSpPr>
          <a:xfrm>
            <a:off x="2695575" y="299910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34" name="直接连接符 33"/>
          <p:cNvCxnSpPr/>
          <p:nvPr/>
        </p:nvCxnSpPr>
        <p:spPr>
          <a:xfrm>
            <a:off x="953135" y="3610610"/>
            <a:ext cx="313055" cy="79819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37" name="直接连接符 36"/>
          <p:cNvCxnSpPr/>
          <p:nvPr/>
        </p:nvCxnSpPr>
        <p:spPr>
          <a:xfrm flipH="1">
            <a:off x="2893695" y="3538855"/>
            <a:ext cx="71755" cy="683895"/>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39" name="文本框 38"/>
          <p:cNvSpPr txBox="1"/>
          <p:nvPr/>
        </p:nvSpPr>
        <p:spPr>
          <a:xfrm>
            <a:off x="2411730" y="2460625"/>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cxnSp>
        <p:nvCxnSpPr>
          <p:cNvPr id="5" name="直接连接符 4"/>
          <p:cNvCxnSpPr/>
          <p:nvPr/>
        </p:nvCxnSpPr>
        <p:spPr>
          <a:xfrm>
            <a:off x="2224405" y="2667635"/>
            <a:ext cx="549910" cy="410210"/>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24" name="直接连接符 23"/>
          <p:cNvCxnSpPr/>
          <p:nvPr/>
        </p:nvCxnSpPr>
        <p:spPr>
          <a:xfrm flipV="1">
            <a:off x="1722755" y="4492625"/>
            <a:ext cx="901065" cy="10731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27" name="直接连接符 26"/>
          <p:cNvCxnSpPr/>
          <p:nvPr/>
        </p:nvCxnSpPr>
        <p:spPr>
          <a:xfrm flipH="1">
            <a:off x="1457325" y="2746375"/>
            <a:ext cx="575945" cy="1583690"/>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28" name="文本框 27"/>
          <p:cNvSpPr txBox="1"/>
          <p:nvPr/>
        </p:nvSpPr>
        <p:spPr>
          <a:xfrm>
            <a:off x="633095" y="387477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30" name="文本框 29"/>
          <p:cNvSpPr txBox="1"/>
          <p:nvPr/>
        </p:nvSpPr>
        <p:spPr>
          <a:xfrm>
            <a:off x="1704975" y="3324225"/>
            <a:ext cx="445770" cy="346075"/>
          </a:xfrm>
          <a:prstGeom prst="rect">
            <a:avLst/>
          </a:prstGeom>
          <a:noFill/>
        </p:spPr>
        <p:txBody>
          <a:bodyPr wrap="square" rtlCol="0">
            <a:noAutofit/>
          </a:bodyPr>
          <a:lstStyle/>
          <a:p>
            <a:r>
              <a:rPr lang="en-US" altLang="zh-CN">
                <a:latin typeface="+mj-lt"/>
                <a:cs typeface="+mj-lt"/>
              </a:rPr>
              <a:t>60</a:t>
            </a:r>
            <a:endParaRPr lang="en-US" altLang="zh-CN">
              <a:latin typeface="+mj-lt"/>
              <a:cs typeface="+mj-lt"/>
            </a:endParaRPr>
          </a:p>
        </p:txBody>
      </p:sp>
      <p:sp>
        <p:nvSpPr>
          <p:cNvPr id="38" name="文本框 37"/>
          <p:cNvSpPr txBox="1"/>
          <p:nvPr/>
        </p:nvSpPr>
        <p:spPr>
          <a:xfrm>
            <a:off x="1988820" y="4531995"/>
            <a:ext cx="445770" cy="346075"/>
          </a:xfrm>
          <a:prstGeom prst="rect">
            <a:avLst/>
          </a:prstGeom>
          <a:noFill/>
        </p:spPr>
        <p:txBody>
          <a:bodyPr wrap="square" rtlCol="0">
            <a:noAutofit/>
          </a:bodyPr>
          <a:lstStyle/>
          <a:p>
            <a:r>
              <a:rPr lang="en-US" altLang="zh-CN">
                <a:latin typeface="+mj-lt"/>
                <a:cs typeface="+mj-lt"/>
              </a:rPr>
              <a:t>30</a:t>
            </a:r>
            <a:endParaRPr lang="en-US" altLang="zh-CN">
              <a:latin typeface="+mj-lt"/>
              <a:cs typeface="+mj-lt"/>
            </a:endParaRPr>
          </a:p>
        </p:txBody>
      </p:sp>
      <p:sp>
        <p:nvSpPr>
          <p:cNvPr id="47" name="文本框 46"/>
          <p:cNvSpPr txBox="1"/>
          <p:nvPr/>
        </p:nvSpPr>
        <p:spPr>
          <a:xfrm>
            <a:off x="2965450" y="3684270"/>
            <a:ext cx="445770" cy="346075"/>
          </a:xfrm>
          <a:prstGeom prst="rect">
            <a:avLst/>
          </a:prstGeom>
          <a:noFill/>
        </p:spPr>
        <p:txBody>
          <a:bodyPr wrap="square" rtlCol="0">
            <a:noAutofit/>
          </a:bodyPr>
          <a:lstStyle/>
          <a:p>
            <a:r>
              <a:rPr lang="en-US" altLang="zh-CN">
                <a:latin typeface="+mj-lt"/>
                <a:cs typeface="+mj-lt"/>
              </a:rPr>
              <a:t>42</a:t>
            </a:r>
            <a:endParaRPr lang="en-US" altLang="zh-CN">
              <a:latin typeface="+mj-lt"/>
              <a:cs typeface="+mj-lt"/>
            </a:endParaRPr>
          </a:p>
        </p:txBody>
      </p:sp>
      <p:sp>
        <p:nvSpPr>
          <p:cNvPr id="1025" name="矩形 1024"/>
          <p:cNvSpPr>
            <a:spLocks noChangeAspect="1"/>
          </p:cNvSpPr>
          <p:nvPr/>
        </p:nvSpPr>
        <p:spPr>
          <a:xfrm>
            <a:off x="3402013" y="2017713"/>
            <a:ext cx="5514975" cy="3038475"/>
          </a:xfrm>
          <a:prstGeom prst="rect">
            <a:avLst/>
          </a:prstGeom>
          <a:noFill/>
          <a:ln w="9525">
            <a:noFill/>
          </a:ln>
        </p:spPr>
      </p:sp>
      <p:grpSp>
        <p:nvGrpSpPr>
          <p:cNvPr id="10" name="Group 4"/>
          <p:cNvGrpSpPr>
            <a:grpSpLocks noChangeAspect="1"/>
          </p:cNvGrpSpPr>
          <p:nvPr/>
        </p:nvGrpSpPr>
        <p:grpSpPr bwMode="auto">
          <a:xfrm>
            <a:off x="3629025" y="1849120"/>
            <a:ext cx="5514975" cy="3028950"/>
            <a:chOff x="2216" y="1249"/>
            <a:chExt cx="3474" cy="1908"/>
          </a:xfrm>
        </p:grpSpPr>
        <p:sp>
          <p:nvSpPr>
            <p:cNvPr id="11" name="AutoShape 3"/>
            <p:cNvSpPr>
              <a:spLocks noChangeAspect="1" noChangeArrowheads="1" noTextEdit="1"/>
            </p:cNvSpPr>
            <p:nvPr/>
          </p:nvSpPr>
          <p:spPr bwMode="auto">
            <a:xfrm>
              <a:off x="2216" y="1249"/>
              <a:ext cx="3474" cy="19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43" name="Line 15"/>
            <p:cNvSpPr>
              <a:spLocks noChangeShapeType="1"/>
            </p:cNvSpPr>
            <p:nvPr/>
          </p:nvSpPr>
          <p:spPr bwMode="auto">
            <a:xfrm>
              <a:off x="2911"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4" name="Line 16"/>
            <p:cNvSpPr>
              <a:spLocks noChangeShapeType="1"/>
            </p:cNvSpPr>
            <p:nvPr/>
          </p:nvSpPr>
          <p:spPr bwMode="auto">
            <a:xfrm>
              <a:off x="3470"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5" name="Line 17"/>
            <p:cNvSpPr>
              <a:spLocks noChangeShapeType="1"/>
            </p:cNvSpPr>
            <p:nvPr/>
          </p:nvSpPr>
          <p:spPr bwMode="auto">
            <a:xfrm>
              <a:off x="3953"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6" name="Line 18"/>
            <p:cNvSpPr>
              <a:spLocks noChangeShapeType="1"/>
            </p:cNvSpPr>
            <p:nvPr/>
          </p:nvSpPr>
          <p:spPr bwMode="auto">
            <a:xfrm>
              <a:off x="3953"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8" name="Line 19"/>
            <p:cNvSpPr>
              <a:spLocks noChangeShapeType="1"/>
            </p:cNvSpPr>
            <p:nvPr/>
          </p:nvSpPr>
          <p:spPr bwMode="auto">
            <a:xfrm>
              <a:off x="3953"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9" name="Line 20"/>
            <p:cNvSpPr>
              <a:spLocks noChangeShapeType="1"/>
            </p:cNvSpPr>
            <p:nvPr/>
          </p:nvSpPr>
          <p:spPr bwMode="auto">
            <a:xfrm>
              <a:off x="4529"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0" name="Line 21"/>
            <p:cNvSpPr>
              <a:spLocks noChangeShapeType="1"/>
            </p:cNvSpPr>
            <p:nvPr/>
          </p:nvSpPr>
          <p:spPr bwMode="auto">
            <a:xfrm>
              <a:off x="4529"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1" name="Line 22"/>
            <p:cNvSpPr>
              <a:spLocks noChangeShapeType="1"/>
            </p:cNvSpPr>
            <p:nvPr/>
          </p:nvSpPr>
          <p:spPr bwMode="auto">
            <a:xfrm>
              <a:off x="4529"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2" name="Line 23"/>
            <p:cNvSpPr>
              <a:spLocks noChangeShapeType="1"/>
            </p:cNvSpPr>
            <p:nvPr/>
          </p:nvSpPr>
          <p:spPr bwMode="auto">
            <a:xfrm>
              <a:off x="5094"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3" name="Line 24"/>
            <p:cNvSpPr>
              <a:spLocks noChangeShapeType="1"/>
            </p:cNvSpPr>
            <p:nvPr/>
          </p:nvSpPr>
          <p:spPr bwMode="auto">
            <a:xfrm>
              <a:off x="5094"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4" name="Line 25"/>
            <p:cNvSpPr>
              <a:spLocks noChangeShapeType="1"/>
            </p:cNvSpPr>
            <p:nvPr/>
          </p:nvSpPr>
          <p:spPr bwMode="auto">
            <a:xfrm>
              <a:off x="5094"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5" name="Line 26"/>
            <p:cNvSpPr>
              <a:spLocks noChangeShapeType="1"/>
            </p:cNvSpPr>
            <p:nvPr/>
          </p:nvSpPr>
          <p:spPr bwMode="auto">
            <a:xfrm>
              <a:off x="2222" y="1521"/>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6" name="Line 27"/>
            <p:cNvSpPr>
              <a:spLocks noChangeShapeType="1"/>
            </p:cNvSpPr>
            <p:nvPr/>
          </p:nvSpPr>
          <p:spPr bwMode="auto">
            <a:xfrm>
              <a:off x="2222" y="1778"/>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7" name="Line 28"/>
            <p:cNvSpPr>
              <a:spLocks noChangeShapeType="1"/>
            </p:cNvSpPr>
            <p:nvPr/>
          </p:nvSpPr>
          <p:spPr bwMode="auto">
            <a:xfrm>
              <a:off x="2222" y="2053"/>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8" name="Line 29"/>
            <p:cNvSpPr>
              <a:spLocks noChangeShapeType="1"/>
            </p:cNvSpPr>
            <p:nvPr/>
          </p:nvSpPr>
          <p:spPr bwMode="auto">
            <a:xfrm>
              <a:off x="2222" y="2327"/>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9" name="Line 30"/>
            <p:cNvSpPr>
              <a:spLocks noChangeShapeType="1"/>
            </p:cNvSpPr>
            <p:nvPr/>
          </p:nvSpPr>
          <p:spPr bwMode="auto">
            <a:xfrm>
              <a:off x="2222" y="2601"/>
              <a:ext cx="1731"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0" name="Line 31"/>
            <p:cNvSpPr>
              <a:spLocks noChangeShapeType="1"/>
            </p:cNvSpPr>
            <p:nvPr/>
          </p:nvSpPr>
          <p:spPr bwMode="auto">
            <a:xfrm>
              <a:off x="3953" y="2601"/>
              <a:ext cx="1732"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1" name="Line 32"/>
            <p:cNvSpPr>
              <a:spLocks noChangeShapeType="1"/>
            </p:cNvSpPr>
            <p:nvPr/>
          </p:nvSpPr>
          <p:spPr bwMode="auto">
            <a:xfrm>
              <a:off x="2222" y="2870"/>
              <a:ext cx="1731"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2" name="Line 33"/>
            <p:cNvSpPr>
              <a:spLocks noChangeShapeType="1"/>
            </p:cNvSpPr>
            <p:nvPr/>
          </p:nvSpPr>
          <p:spPr bwMode="auto">
            <a:xfrm>
              <a:off x="3953" y="2870"/>
              <a:ext cx="1732"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3" name="Line 34"/>
            <p:cNvSpPr>
              <a:spLocks noChangeShapeType="1"/>
            </p:cNvSpPr>
            <p:nvPr/>
          </p:nvSpPr>
          <p:spPr bwMode="auto">
            <a:xfrm>
              <a:off x="2226"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4" name="Line 35"/>
            <p:cNvSpPr>
              <a:spLocks noChangeShapeType="1"/>
            </p:cNvSpPr>
            <p:nvPr/>
          </p:nvSpPr>
          <p:spPr bwMode="auto">
            <a:xfrm>
              <a:off x="5681"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6" name="Line 36"/>
            <p:cNvSpPr>
              <a:spLocks noChangeShapeType="1"/>
            </p:cNvSpPr>
            <p:nvPr/>
          </p:nvSpPr>
          <p:spPr bwMode="auto">
            <a:xfrm>
              <a:off x="5681"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7" name="Line 37"/>
            <p:cNvSpPr>
              <a:spLocks noChangeShapeType="1"/>
            </p:cNvSpPr>
            <p:nvPr/>
          </p:nvSpPr>
          <p:spPr bwMode="auto">
            <a:xfrm>
              <a:off x="5681"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8" name="Line 38"/>
            <p:cNvSpPr>
              <a:spLocks noChangeShapeType="1"/>
            </p:cNvSpPr>
            <p:nvPr/>
          </p:nvSpPr>
          <p:spPr bwMode="auto">
            <a:xfrm>
              <a:off x="2222" y="1265"/>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9" name="Line 39"/>
            <p:cNvSpPr>
              <a:spLocks noChangeShapeType="1"/>
            </p:cNvSpPr>
            <p:nvPr/>
          </p:nvSpPr>
          <p:spPr bwMode="auto">
            <a:xfrm>
              <a:off x="2222" y="3145"/>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30" name="Rectangle 40"/>
            <p:cNvSpPr>
              <a:spLocks noChangeArrowheads="1"/>
            </p:cNvSpPr>
            <p:nvPr/>
          </p:nvSpPr>
          <p:spPr bwMode="auto">
            <a:xfrm>
              <a:off x="3122" y="1309"/>
              <a:ext cx="151"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①</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1" name="Rectangle 41"/>
            <p:cNvSpPr>
              <a:spLocks noChangeArrowheads="1"/>
            </p:cNvSpPr>
            <p:nvPr/>
          </p:nvSpPr>
          <p:spPr bwMode="auto">
            <a:xfrm>
              <a:off x="3639"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②</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2" name="Rectangle 42"/>
            <p:cNvSpPr>
              <a:spLocks noChangeArrowheads="1"/>
            </p:cNvSpPr>
            <p:nvPr/>
          </p:nvSpPr>
          <p:spPr bwMode="auto">
            <a:xfrm>
              <a:off x="4170" y="1309"/>
              <a:ext cx="151"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③</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3" name="Rectangle 43"/>
            <p:cNvSpPr>
              <a:spLocks noChangeArrowheads="1"/>
            </p:cNvSpPr>
            <p:nvPr/>
          </p:nvSpPr>
          <p:spPr bwMode="auto">
            <a:xfrm>
              <a:off x="4740"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④</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4" name="Rectangle 44"/>
            <p:cNvSpPr>
              <a:spLocks noChangeArrowheads="1"/>
            </p:cNvSpPr>
            <p:nvPr/>
          </p:nvSpPr>
          <p:spPr bwMode="auto">
            <a:xfrm>
              <a:off x="5317"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⑤</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7" name="Rectangle 47"/>
            <p:cNvSpPr>
              <a:spLocks noChangeArrowheads="1"/>
            </p:cNvSpPr>
            <p:nvPr/>
          </p:nvSpPr>
          <p:spPr bwMode="auto">
            <a:xfrm>
              <a:off x="2539" y="1816"/>
              <a:ext cx="102" cy="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B</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1" name="Rectangle 51"/>
            <p:cNvSpPr>
              <a:spLocks noChangeArrowheads="1"/>
            </p:cNvSpPr>
            <p:nvPr/>
          </p:nvSpPr>
          <p:spPr bwMode="auto">
            <a:xfrm>
              <a:off x="2539" y="2091"/>
              <a:ext cx="102" cy="1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7" name="Rectangle 57"/>
            <p:cNvSpPr>
              <a:spLocks noChangeArrowheads="1"/>
            </p:cNvSpPr>
            <p:nvPr/>
          </p:nvSpPr>
          <p:spPr bwMode="auto">
            <a:xfrm>
              <a:off x="2539" y="2365"/>
              <a:ext cx="102" cy="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D</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2" name="Rectangle 62"/>
            <p:cNvSpPr>
              <a:spLocks noChangeArrowheads="1"/>
            </p:cNvSpPr>
            <p:nvPr/>
          </p:nvSpPr>
          <p:spPr bwMode="auto">
            <a:xfrm>
              <a:off x="2545" y="2640"/>
              <a:ext cx="96" cy="1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E</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5" name="Rectangle 65"/>
            <p:cNvSpPr>
              <a:spLocks noChangeArrowheads="1"/>
            </p:cNvSpPr>
            <p:nvPr/>
          </p:nvSpPr>
          <p:spPr bwMode="auto">
            <a:xfrm>
              <a:off x="2286" y="2913"/>
              <a:ext cx="241" cy="1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宋体" panose="02010600030101010101" pitchFamily="2" charset="-122"/>
                  <a:ea typeface="宋体" panose="02010600030101010101" pitchFamily="2" charset="-122"/>
                </a:rPr>
                <a:t>最短点集</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101" name="Rectangle 45"/>
          <p:cNvSpPr>
            <a:spLocks noChangeArrowheads="1"/>
          </p:cNvSpPr>
          <p:nvPr/>
        </p:nvSpPr>
        <p:spPr bwMode="auto">
          <a:xfrm>
            <a:off x="4141788" y="2339658"/>
            <a:ext cx="1809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dirty="0">
                <a:ln>
                  <a:noFill/>
                </a:ln>
                <a:solidFill>
                  <a:srgbClr val="000000"/>
                </a:solidFill>
                <a:effectLst/>
                <a:latin typeface="Times New Roman" panose="02020603050405020304" pitchFamily="18" charset="0"/>
              </a:rPr>
              <a:t>A</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4" name="Rectangle 46"/>
          <p:cNvSpPr>
            <a:spLocks noChangeArrowheads="1"/>
          </p:cNvSpPr>
          <p:nvPr/>
        </p:nvSpPr>
        <p:spPr bwMode="auto">
          <a:xfrm>
            <a:off x="4829175" y="2339658"/>
            <a:ext cx="1428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 name="Rectangle 48"/>
          <p:cNvSpPr>
            <a:spLocks noChangeArrowheads="1"/>
          </p:cNvSpPr>
          <p:nvPr/>
        </p:nvSpPr>
        <p:spPr bwMode="auto">
          <a:xfrm>
            <a:off x="4829175" y="2749233"/>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4" name="Rectangle 52"/>
          <p:cNvSpPr>
            <a:spLocks noChangeArrowheads="1"/>
          </p:cNvSpPr>
          <p:nvPr/>
        </p:nvSpPr>
        <p:spPr bwMode="auto">
          <a:xfrm>
            <a:off x="4829175"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5" name="Rectangle 58"/>
          <p:cNvSpPr>
            <a:spLocks noChangeArrowheads="1"/>
          </p:cNvSpPr>
          <p:nvPr/>
        </p:nvSpPr>
        <p:spPr bwMode="auto">
          <a:xfrm>
            <a:off x="4829175" y="3620770"/>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6" name="Rectangle 63"/>
          <p:cNvSpPr>
            <a:spLocks noChangeArrowheads="1"/>
          </p:cNvSpPr>
          <p:nvPr/>
        </p:nvSpPr>
        <p:spPr bwMode="auto">
          <a:xfrm>
            <a:off x="4829175" y="4057333"/>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7" name="Rectangle 66"/>
          <p:cNvSpPr>
            <a:spLocks noChangeArrowheads="1"/>
          </p:cNvSpPr>
          <p:nvPr/>
        </p:nvSpPr>
        <p:spPr bwMode="auto">
          <a:xfrm>
            <a:off x="4829175" y="4481195"/>
            <a:ext cx="1809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8" name="Rectangle 5"/>
          <p:cNvSpPr>
            <a:spLocks noChangeArrowheads="1"/>
          </p:cNvSpPr>
          <p:nvPr/>
        </p:nvSpPr>
        <p:spPr bwMode="auto">
          <a:xfrm>
            <a:off x="5619750" y="2280920"/>
            <a:ext cx="766763"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69" name="Rectangle 6"/>
          <p:cNvSpPr>
            <a:spLocks noChangeArrowheads="1"/>
          </p:cNvSpPr>
          <p:nvPr/>
        </p:nvSpPr>
        <p:spPr bwMode="auto">
          <a:xfrm>
            <a:off x="6386513" y="2280920"/>
            <a:ext cx="914400"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0" name="Rectangle 7"/>
          <p:cNvSpPr>
            <a:spLocks noChangeArrowheads="1"/>
          </p:cNvSpPr>
          <p:nvPr/>
        </p:nvSpPr>
        <p:spPr bwMode="auto">
          <a:xfrm>
            <a:off x="7300913" y="2280920"/>
            <a:ext cx="896938"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1" name="Rectangle 8"/>
          <p:cNvSpPr>
            <a:spLocks noChangeArrowheads="1"/>
          </p:cNvSpPr>
          <p:nvPr/>
        </p:nvSpPr>
        <p:spPr bwMode="auto">
          <a:xfrm>
            <a:off x="8197850" y="2280920"/>
            <a:ext cx="931863"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2" name="Rectangle 67"/>
          <p:cNvSpPr>
            <a:spLocks noChangeArrowheads="1"/>
          </p:cNvSpPr>
          <p:nvPr/>
        </p:nvSpPr>
        <p:spPr bwMode="auto">
          <a:xfrm>
            <a:off x="5715000" y="4481195"/>
            <a:ext cx="325438"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文本框 72"/>
          <p:cNvSpPr txBox="1"/>
          <p:nvPr/>
        </p:nvSpPr>
        <p:spPr>
          <a:xfrm>
            <a:off x="633095" y="5516880"/>
            <a:ext cx="7075805"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rPr>
              <a:t>将</a:t>
            </a:r>
            <a:r>
              <a:rPr lang="en-US" altLang="zh-CN">
                <a:solidFill>
                  <a:srgbClr val="FF0000"/>
                </a:solidFill>
                <a:uFillTx/>
                <a:latin typeface="Times New Roman" panose="02020603050405020304" pitchFamily="18" charset="0"/>
              </a:rPr>
              <a:t>E</a:t>
            </a:r>
            <a:r>
              <a:rPr lang="zh-CN" altLang="en-US">
                <a:solidFill>
                  <a:srgbClr val="FF0000"/>
                </a:solidFill>
                <a:uFillTx/>
                <a:latin typeface="Times New Roman" panose="02020603050405020304" pitchFamily="18" charset="0"/>
              </a:rPr>
              <a:t>节点添加到点集</a:t>
            </a:r>
            <a:r>
              <a:rPr lang="zh-CN" altLang="en-US">
                <a:solidFill>
                  <a:srgbClr val="FF0000"/>
                </a:solidFill>
                <a:uFillTx/>
                <a:latin typeface="Times New Roman" panose="02020603050405020304" pitchFamily="18" charset="0"/>
              </a:rPr>
              <a:t>标识</a:t>
            </a:r>
            <a:r>
              <a:rPr lang="en-US" altLang="zh-CN">
                <a:solidFill>
                  <a:srgbClr val="FF0000"/>
                </a:solidFill>
                <a:uFillTx/>
                <a:latin typeface="Times New Roman" panose="02020603050405020304" pitchFamily="18" charset="0"/>
              </a:rPr>
              <a:t>E</a:t>
            </a:r>
            <a:r>
              <a:rPr lang="zh-CN" altLang="en-US">
                <a:solidFill>
                  <a:srgbClr val="FF0000"/>
                </a:solidFill>
                <a:uFillTx/>
                <a:latin typeface="Times New Roman" panose="02020603050405020304" pitchFamily="18" charset="0"/>
              </a:rPr>
              <a:t>已完成</a:t>
            </a:r>
            <a:r>
              <a:rPr lang="zh-CN" altLang="en-US">
                <a:solidFill>
                  <a:srgbClr val="FF0000"/>
                </a:solidFill>
                <a:uFillTx/>
                <a:latin typeface="Times New Roman" panose="02020603050405020304" pitchFamily="18" charset="0"/>
              </a:rPr>
              <a:t>，并更新与</a:t>
            </a:r>
            <a:r>
              <a:rPr lang="en-US" altLang="zh-CN">
                <a:solidFill>
                  <a:srgbClr val="FF0000"/>
                </a:solidFill>
                <a:uFillTx/>
                <a:latin typeface="Times New Roman" panose="02020603050405020304" pitchFamily="18" charset="0"/>
              </a:rPr>
              <a:t>E</a:t>
            </a:r>
            <a:r>
              <a:rPr lang="zh-CN" altLang="en-US">
                <a:solidFill>
                  <a:srgbClr val="FF0000"/>
                </a:solidFill>
                <a:uFillTx/>
                <a:latin typeface="Times New Roman" panose="02020603050405020304" pitchFamily="18" charset="0"/>
              </a:rPr>
              <a:t>节点相连的点的</a:t>
            </a:r>
            <a:r>
              <a:rPr lang="zh-CN" altLang="en-US">
                <a:solidFill>
                  <a:srgbClr val="FF0000"/>
                </a:solidFill>
                <a:uFillTx/>
                <a:latin typeface="Times New Roman" panose="02020603050405020304" pitchFamily="18" charset="0"/>
              </a:rPr>
              <a:t>距离。</a:t>
            </a:r>
            <a:endParaRPr lang="zh-CN" altLang="en-US">
              <a:solidFill>
                <a:srgbClr val="FF0000"/>
              </a:solidFill>
              <a:uFillTx/>
              <a:latin typeface="Times New Roman" panose="02020603050405020304" pitchFamily="18" charset="0"/>
            </a:endParaRPr>
          </a:p>
        </p:txBody>
      </p:sp>
      <p:sp>
        <p:nvSpPr>
          <p:cNvPr id="76" name="Rectangle 49"/>
          <p:cNvSpPr>
            <a:spLocks noChangeArrowheads="1"/>
          </p:cNvSpPr>
          <p:nvPr/>
        </p:nvSpPr>
        <p:spPr bwMode="auto">
          <a:xfrm>
            <a:off x="5715000" y="2749233"/>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20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53"/>
          <p:cNvSpPr>
            <a:spLocks noChangeArrowheads="1"/>
          </p:cNvSpPr>
          <p:nvPr/>
        </p:nvSpPr>
        <p:spPr bwMode="auto">
          <a:xfrm>
            <a:off x="5715000"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78" name="Rectangle 59"/>
          <p:cNvSpPr>
            <a:spLocks noChangeArrowheads="1"/>
          </p:cNvSpPr>
          <p:nvPr/>
        </p:nvSpPr>
        <p:spPr bwMode="auto">
          <a:xfrm>
            <a:off x="5715000" y="3620770"/>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9" name="Rectangle 64"/>
          <p:cNvSpPr>
            <a:spLocks noChangeArrowheads="1"/>
          </p:cNvSpPr>
          <p:nvPr/>
        </p:nvSpPr>
        <p:spPr bwMode="auto">
          <a:xfrm>
            <a:off x="5715000" y="4057333"/>
            <a:ext cx="209550" cy="209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15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cxnSp>
        <p:nvCxnSpPr>
          <p:cNvPr id="81" name="直接连接符 80"/>
          <p:cNvCxnSpPr/>
          <p:nvPr/>
        </p:nvCxnSpPr>
        <p:spPr>
          <a:xfrm flipH="1">
            <a:off x="1108710" y="2631440"/>
            <a:ext cx="697865" cy="481965"/>
          </a:xfrm>
          <a:prstGeom prst="line">
            <a:avLst/>
          </a:prstGeom>
          <a:solidFill>
            <a:schemeClr val="accent1"/>
          </a:solidFill>
          <a:ln w="28575" cap="flat" cmpd="sng" algn="ctr">
            <a:solidFill>
              <a:srgbClr val="FF0000"/>
            </a:solidFill>
            <a:prstDash val="solid"/>
            <a:round/>
            <a:headEnd type="none" w="med" len="med"/>
            <a:tailEnd type="triangle" w="med" len="med"/>
          </a:ln>
        </p:spPr>
      </p:cxnSp>
      <p:sp>
        <p:nvSpPr>
          <p:cNvPr id="82" name="文本框 81"/>
          <p:cNvSpPr txBox="1"/>
          <p:nvPr/>
        </p:nvSpPr>
        <p:spPr>
          <a:xfrm>
            <a:off x="1223010" y="2460625"/>
            <a:ext cx="445770" cy="346075"/>
          </a:xfrm>
          <a:prstGeom prst="rect">
            <a:avLst/>
          </a:prstGeom>
          <a:noFill/>
        </p:spPr>
        <p:txBody>
          <a:bodyPr wrap="square" rtlCol="0">
            <a:noAutofit/>
          </a:bodyPr>
          <a:lstStyle/>
          <a:p>
            <a:r>
              <a:rPr lang="en-US" altLang="zh-CN">
                <a:solidFill>
                  <a:srgbClr val="FF0000"/>
                </a:solidFill>
                <a:latin typeface="+mj-lt"/>
                <a:cs typeface="+mj-lt"/>
              </a:rPr>
              <a:t>15</a:t>
            </a:r>
            <a:endParaRPr lang="en-US" altLang="zh-CN">
              <a:solidFill>
                <a:srgbClr val="FF0000"/>
              </a:solidFill>
              <a:latin typeface="+mj-lt"/>
              <a:cs typeface="+mj-lt"/>
            </a:endParaRPr>
          </a:p>
        </p:txBody>
      </p:sp>
      <p:sp>
        <p:nvSpPr>
          <p:cNvPr id="12" name="Rectangle 12"/>
          <p:cNvSpPr>
            <a:spLocks noChangeArrowheads="1"/>
          </p:cNvSpPr>
          <p:nvPr/>
        </p:nvSpPr>
        <p:spPr bwMode="auto">
          <a:xfrm>
            <a:off x="6386513" y="3995420"/>
            <a:ext cx="914400"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3" name="Rectangle 13"/>
          <p:cNvSpPr>
            <a:spLocks noChangeArrowheads="1"/>
          </p:cNvSpPr>
          <p:nvPr/>
        </p:nvSpPr>
        <p:spPr bwMode="auto">
          <a:xfrm>
            <a:off x="7300913" y="3995420"/>
            <a:ext cx="896938"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4" name="Rectangle 14"/>
          <p:cNvSpPr>
            <a:spLocks noChangeArrowheads="1"/>
          </p:cNvSpPr>
          <p:nvPr/>
        </p:nvSpPr>
        <p:spPr bwMode="auto">
          <a:xfrm>
            <a:off x="8197850" y="3995420"/>
            <a:ext cx="931863"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29" name="Rectangle 50"/>
          <p:cNvSpPr>
            <a:spLocks noChangeArrowheads="1"/>
          </p:cNvSpPr>
          <p:nvPr/>
        </p:nvSpPr>
        <p:spPr bwMode="auto">
          <a:xfrm>
            <a:off x="6483350" y="2749233"/>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20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3" name="Rectangle 54"/>
          <p:cNvSpPr>
            <a:spLocks noChangeArrowheads="1"/>
          </p:cNvSpPr>
          <p:nvPr/>
        </p:nvSpPr>
        <p:spPr bwMode="auto">
          <a:xfrm>
            <a:off x="6483350"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84" name="Rectangle 60"/>
          <p:cNvSpPr>
            <a:spLocks noChangeArrowheads="1"/>
          </p:cNvSpPr>
          <p:nvPr/>
        </p:nvSpPr>
        <p:spPr bwMode="auto">
          <a:xfrm>
            <a:off x="6483350" y="3620770"/>
            <a:ext cx="4000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60,38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5" name="文本框 84"/>
          <p:cNvSpPr txBox="1"/>
          <p:nvPr/>
        </p:nvSpPr>
        <p:spPr>
          <a:xfrm>
            <a:off x="683260" y="5516880"/>
            <a:ext cx="7075805"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rPr>
              <a:t>此时最短距离的点是</a:t>
            </a:r>
            <a:r>
              <a:rPr lang="en-US" altLang="zh-CN">
                <a:solidFill>
                  <a:srgbClr val="FF0000"/>
                </a:solidFill>
                <a:uFillTx/>
                <a:latin typeface="Times New Roman" panose="02020603050405020304" pitchFamily="18" charset="0"/>
              </a:rPr>
              <a:t>B</a:t>
            </a:r>
            <a:r>
              <a:rPr lang="zh-CN" altLang="en-US">
                <a:solidFill>
                  <a:srgbClr val="FF0000"/>
                </a:solidFill>
                <a:uFillTx/>
                <a:latin typeface="Times New Roman" panose="02020603050405020304" pitchFamily="18" charset="0"/>
              </a:rPr>
              <a:t>，将</a:t>
            </a:r>
            <a:r>
              <a:rPr lang="en-US" altLang="zh-CN">
                <a:solidFill>
                  <a:srgbClr val="FF0000"/>
                </a:solidFill>
                <a:uFillTx/>
                <a:latin typeface="Times New Roman" panose="02020603050405020304" pitchFamily="18" charset="0"/>
              </a:rPr>
              <a:t>B</a:t>
            </a:r>
            <a:r>
              <a:rPr lang="zh-CN" altLang="en-US">
                <a:solidFill>
                  <a:srgbClr val="FF0000"/>
                </a:solidFill>
                <a:uFillTx/>
                <a:latin typeface="Times New Roman" panose="02020603050405020304" pitchFamily="18" charset="0"/>
              </a:rPr>
              <a:t>加入</a:t>
            </a:r>
            <a:r>
              <a:rPr lang="zh-CN" altLang="en-US">
                <a:solidFill>
                  <a:srgbClr val="FF0000"/>
                </a:solidFill>
                <a:uFillTx/>
                <a:latin typeface="Times New Roman" panose="02020603050405020304" pitchFamily="18" charset="0"/>
              </a:rPr>
              <a:t>点集。</a:t>
            </a:r>
            <a:endParaRPr lang="zh-CN" altLang="en-US">
              <a:solidFill>
                <a:srgbClr val="FF0000"/>
              </a:solidFill>
              <a:uFillTx/>
              <a:latin typeface="Times New Roman" panose="02020603050405020304" pitchFamily="18" charset="0"/>
            </a:endParaRPr>
          </a:p>
        </p:txBody>
      </p:sp>
      <p:sp>
        <p:nvSpPr>
          <p:cNvPr id="86" name="Rectangle 68"/>
          <p:cNvSpPr>
            <a:spLocks noChangeArrowheads="1"/>
          </p:cNvSpPr>
          <p:nvPr/>
        </p:nvSpPr>
        <p:spPr bwMode="auto">
          <a:xfrm>
            <a:off x="6483350" y="4481195"/>
            <a:ext cx="476250"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A,E,B</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1" name="文本框 30"/>
          <p:cNvSpPr txBox="1"/>
          <p:nvPr/>
        </p:nvSpPr>
        <p:spPr>
          <a:xfrm>
            <a:off x="2411730" y="2460625"/>
            <a:ext cx="445770" cy="346075"/>
          </a:xfrm>
          <a:prstGeom prst="rect">
            <a:avLst/>
          </a:prstGeom>
          <a:noFill/>
        </p:spPr>
        <p:txBody>
          <a:bodyPr wrap="square" rtlCol="0">
            <a:noAutofit/>
          </a:bodyPr>
          <a:lstStyle/>
          <a:p>
            <a:r>
              <a:rPr lang="en-US" altLang="zh-CN">
                <a:solidFill>
                  <a:srgbClr val="FF0000"/>
                </a:solidFill>
                <a:latin typeface="+mj-lt"/>
                <a:cs typeface="+mj-lt"/>
              </a:rPr>
              <a:t>20</a:t>
            </a:r>
            <a:endParaRPr lang="en-US" altLang="zh-CN">
              <a:solidFill>
                <a:srgbClr val="FF0000"/>
              </a:solidFill>
              <a:latin typeface="+mj-lt"/>
              <a:cs typeface="+mj-lt"/>
            </a:endParaRPr>
          </a:p>
        </p:txBody>
      </p:sp>
      <p:cxnSp>
        <p:nvCxnSpPr>
          <p:cNvPr id="36" name="直接连接符 35"/>
          <p:cNvCxnSpPr/>
          <p:nvPr/>
        </p:nvCxnSpPr>
        <p:spPr>
          <a:xfrm>
            <a:off x="2224405" y="2667635"/>
            <a:ext cx="549910" cy="410210"/>
          </a:xfrm>
          <a:prstGeom prst="line">
            <a:avLst/>
          </a:prstGeom>
          <a:solidFill>
            <a:schemeClr val="accent1"/>
          </a:solidFill>
          <a:ln w="28575" cap="flat" cmpd="sng" algn="ctr">
            <a:solidFill>
              <a:srgbClr val="FF0000"/>
            </a:solidFill>
            <a:prstDash val="solid"/>
            <a:round/>
            <a:headEnd type="none" w="med" len="med"/>
            <a:tailEnd type="triangle" w="med" len="med"/>
          </a:ln>
        </p:spPr>
      </p:cxnSp>
      <p:sp>
        <p:nvSpPr>
          <p:cNvPr id="32" name="文本框 31"/>
          <p:cNvSpPr txBox="1"/>
          <p:nvPr/>
        </p:nvSpPr>
        <p:spPr>
          <a:xfrm>
            <a:off x="3216910" y="4940935"/>
            <a:ext cx="1880235" cy="365760"/>
          </a:xfrm>
          <a:prstGeom prst="rect">
            <a:avLst/>
          </a:prstGeom>
          <a:noFill/>
        </p:spPr>
        <p:txBody>
          <a:bodyPr wrap="square" rtlCol="0">
            <a:noAutofit/>
          </a:bodyPr>
          <a:lstStyle/>
          <a:p>
            <a:r>
              <a:rPr lang="zh-CN" altLang="en-US"/>
              <a:t>待距离源点长度</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3" name="左大括号 32"/>
          <p:cNvSpPr/>
          <p:nvPr/>
        </p:nvSpPr>
        <p:spPr>
          <a:xfrm flipH="1">
            <a:off x="6294120" y="486473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5" name="左大括号 34"/>
          <p:cNvSpPr/>
          <p:nvPr/>
        </p:nvSpPr>
        <p:spPr>
          <a:xfrm>
            <a:off x="5043170" y="485648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87" name="组合 86"/>
          <p:cNvGrpSpPr/>
          <p:nvPr/>
        </p:nvGrpSpPr>
        <p:grpSpPr>
          <a:xfrm>
            <a:off x="5220335" y="4940935"/>
            <a:ext cx="589280" cy="382270"/>
            <a:chOff x="906683" y="2036167"/>
            <a:chExt cx="765448" cy="504056"/>
          </a:xfrm>
        </p:grpSpPr>
        <p:sp>
          <p:nvSpPr>
            <p:cNvPr id="8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9" name="文本框 88"/>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B:20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98" name="组合 97"/>
          <p:cNvGrpSpPr/>
          <p:nvPr/>
        </p:nvGrpSpPr>
        <p:grpSpPr>
          <a:xfrm>
            <a:off x="5809615" y="4940935"/>
            <a:ext cx="589280" cy="382270"/>
            <a:chOff x="906683" y="2036167"/>
            <a:chExt cx="765448" cy="504056"/>
          </a:xfrm>
        </p:grpSpPr>
        <p:sp>
          <p:nvSpPr>
            <p:cNvPr id="9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0" name="文本框 99"/>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D:60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90" name="组合 89"/>
          <p:cNvGrpSpPr/>
          <p:nvPr/>
        </p:nvGrpSpPr>
        <p:grpSpPr>
          <a:xfrm>
            <a:off x="6443980" y="4940935"/>
            <a:ext cx="589280" cy="382270"/>
            <a:chOff x="906683" y="2036167"/>
            <a:chExt cx="765448" cy="504056"/>
          </a:xfrm>
        </p:grpSpPr>
        <p:sp>
          <p:nvSpPr>
            <p:cNvPr id="9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2" name="文本框 91"/>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D:38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2" nodeType="clickEffect">
                                  <p:stCondLst>
                                    <p:cond delay="0"/>
                                  </p:stCondLst>
                                  <p:childTnLst>
                                    <p:set>
                                      <p:cBhvr>
                                        <p:cTn id="6" dur="1" fill="hold">
                                          <p:stCondLst>
                                            <p:cond delay="0"/>
                                          </p:stCondLst>
                                        </p:cTn>
                                        <p:tgtEl>
                                          <p:spTgt spid="73"/>
                                        </p:tgtEl>
                                        <p:attrNameLst>
                                          <p:attrName>style.visibility</p:attrName>
                                        </p:attrNameLst>
                                      </p:cBhvr>
                                      <p:to>
                                        <p:strVal val="visible"/>
                                      </p:to>
                                    </p:set>
                                    <p:anim calcmode="lin" valueType="num">
                                      <p:cBhvr additive="base">
                                        <p:cTn id="7" dur="500" fill="hold"/>
                                        <p:tgtEl>
                                          <p:spTgt spid="73"/>
                                        </p:tgtEl>
                                        <p:attrNameLst>
                                          <p:attrName>ppt_x</p:attrName>
                                        </p:attrNameLst>
                                      </p:cBhvr>
                                      <p:tavLst>
                                        <p:tav tm="0">
                                          <p:val>
                                            <p:strVal val="#ppt_x"/>
                                          </p:val>
                                        </p:tav>
                                        <p:tav tm="100000">
                                          <p:val>
                                            <p:strVal val="#ppt_x"/>
                                          </p:val>
                                        </p:tav>
                                      </p:tavLst>
                                    </p:anim>
                                    <p:anim calcmode="lin" valueType="num">
                                      <p:cBhvr additive="base">
                                        <p:cTn id="8"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35" presetClass="emph" presetSubtype="0" fill="hold" grpId="0" nodeType="clickEffect">
                                  <p:stCondLst>
                                    <p:cond delay="0"/>
                                  </p:stCondLst>
                                  <p:childTnLst>
                                    <p:anim calcmode="discrete" valueType="str">
                                      <p:cBhvr>
                                        <p:cTn id="20" dur="1000" fill="hold"/>
                                        <p:tgtEl>
                                          <p:spTgt spid="28"/>
                                        </p:tgtEl>
                                        <p:attrNameLst>
                                          <p:attrName>style.visibility</p:attrName>
                                        </p:attrNameLst>
                                      </p:cBhvr>
                                      <p:tavLst>
                                        <p:tav tm="0">
                                          <p:val>
                                            <p:strVal val="hidden"/>
                                          </p:val>
                                        </p:tav>
                                        <p:tav tm="50000">
                                          <p:val>
                                            <p:strVal val="visible"/>
                                          </p:val>
                                        </p:tav>
                                      </p:tavLst>
                                    </p:anim>
                                  </p:childTnLst>
                                </p:cTn>
                              </p:par>
                              <p:par>
                                <p:cTn id="21" presetID="35" presetClass="emph" presetSubtype="0" fill="hold" nodeType="withEffect">
                                  <p:stCondLst>
                                    <p:cond delay="0"/>
                                  </p:stCondLst>
                                  <p:childTnLst>
                                    <p:anim calcmode="discrete" valueType="str">
                                      <p:cBhvr>
                                        <p:cTn id="22" dur="1000" fill="hold"/>
                                        <p:tgtEl>
                                          <p:spTgt spid="34"/>
                                        </p:tgtEl>
                                        <p:attrNameLst>
                                          <p:attrName>style.visibility</p:attrName>
                                        </p:attrNameLst>
                                      </p:cBhvr>
                                      <p:tavLst>
                                        <p:tav tm="0">
                                          <p:val>
                                            <p:strVal val="hidden"/>
                                          </p:val>
                                        </p:tav>
                                        <p:tav tm="50000">
                                          <p:val>
                                            <p:strVal val="visible"/>
                                          </p:val>
                                        </p:tav>
                                      </p:tavLst>
                                    </p:anim>
                                  </p:childTnLst>
                                </p:cTn>
                              </p:par>
                            </p:childTnLst>
                          </p:cTn>
                        </p:par>
                        <p:par>
                          <p:cTn id="23" fill="hold">
                            <p:stCondLst>
                              <p:cond delay="1000"/>
                            </p:stCondLst>
                            <p:childTnLst>
                              <p:par>
                                <p:cTn id="24" presetID="35" presetClass="emph" presetSubtype="0" fill="hold" grpId="2" nodeType="afterEffect">
                                  <p:stCondLst>
                                    <p:cond delay="0"/>
                                  </p:stCondLst>
                                  <p:childTnLst>
                                    <p:anim calcmode="discrete" valueType="str">
                                      <p:cBhvr>
                                        <p:cTn id="25" dur="1000" fill="hold"/>
                                        <p:tgtEl>
                                          <p:spTgt spid="28"/>
                                        </p:tgtEl>
                                        <p:attrNameLst>
                                          <p:attrName>style.visibility</p:attrName>
                                        </p:attrNameLst>
                                      </p:cBhvr>
                                      <p:tavLst>
                                        <p:tav tm="0">
                                          <p:val>
                                            <p:strVal val="hidden"/>
                                          </p:val>
                                        </p:tav>
                                        <p:tav tm="50000">
                                          <p:val>
                                            <p:strVal val="visible"/>
                                          </p:val>
                                        </p:tav>
                                      </p:tavLst>
                                    </p:anim>
                                  </p:childTnLst>
                                </p:cTn>
                              </p:par>
                              <p:par>
                                <p:cTn id="26" presetID="35" presetClass="emph" presetSubtype="0" fill="hold" nodeType="withEffect">
                                  <p:stCondLst>
                                    <p:cond delay="0"/>
                                  </p:stCondLst>
                                  <p:childTnLst>
                                    <p:anim calcmode="discrete" valueType="str">
                                      <p:cBhvr>
                                        <p:cTn id="27" dur="1000" fill="hold"/>
                                        <p:tgtEl>
                                          <p:spTgt spid="34"/>
                                        </p:tgtEl>
                                        <p:attrNameLst>
                                          <p:attrName>style.visibility</p:attrName>
                                        </p:attrNameLst>
                                      </p:cBhvr>
                                      <p:tavLst>
                                        <p:tav tm="0">
                                          <p:val>
                                            <p:strVal val="hidden"/>
                                          </p:val>
                                        </p:tav>
                                        <p:tav tm="50000">
                                          <p:val>
                                            <p:strVal val="visible"/>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grpId="0" nodeType="clickEffect">
                                  <p:stCondLst>
                                    <p:cond delay="0"/>
                                  </p:stCondLst>
                                  <p:childTnLst>
                                    <p:set>
                                      <p:cBhvr>
                                        <p:cTn id="31" dur="1" fill="hold">
                                          <p:stCondLst>
                                            <p:cond delay="0"/>
                                          </p:stCondLst>
                                        </p:cTn>
                                        <p:tgtEl>
                                          <p:spTgt spid="29"/>
                                        </p:tgtEl>
                                        <p:attrNameLst>
                                          <p:attrName>style.visibility</p:attrName>
                                        </p:attrNameLst>
                                      </p:cBhvr>
                                      <p:to>
                                        <p:strVal val="visible"/>
                                      </p:to>
                                    </p:set>
                                    <p:anim calcmode="lin" valueType="num">
                                      <p:cBhvr additive="base">
                                        <p:cTn id="32" dur="500" fill="hold"/>
                                        <p:tgtEl>
                                          <p:spTgt spid="29"/>
                                        </p:tgtEl>
                                        <p:attrNameLst>
                                          <p:attrName>ppt_x</p:attrName>
                                        </p:attrNameLst>
                                      </p:cBhvr>
                                      <p:tavLst>
                                        <p:tav tm="0">
                                          <p:val>
                                            <p:strVal val="#ppt_x"/>
                                          </p:val>
                                        </p:tav>
                                        <p:tav tm="100000">
                                          <p:val>
                                            <p:strVal val="#ppt_x"/>
                                          </p:val>
                                        </p:tav>
                                      </p:tavLst>
                                    </p:anim>
                                    <p:anim calcmode="lin" valueType="num">
                                      <p:cBhvr additive="base">
                                        <p:cTn id="33" dur="500" fill="hold"/>
                                        <p:tgtEl>
                                          <p:spTgt spid="29"/>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83"/>
                                        </p:tgtEl>
                                        <p:attrNameLst>
                                          <p:attrName>style.visibility</p:attrName>
                                        </p:attrNameLst>
                                      </p:cBhvr>
                                      <p:to>
                                        <p:strVal val="visible"/>
                                      </p:to>
                                    </p:set>
                                    <p:anim calcmode="lin" valueType="num">
                                      <p:cBhvr additive="base">
                                        <p:cTn id="36" dur="500" fill="hold"/>
                                        <p:tgtEl>
                                          <p:spTgt spid="83"/>
                                        </p:tgtEl>
                                        <p:attrNameLst>
                                          <p:attrName>ppt_x</p:attrName>
                                        </p:attrNameLst>
                                      </p:cBhvr>
                                      <p:tavLst>
                                        <p:tav tm="0">
                                          <p:val>
                                            <p:strVal val="#ppt_x"/>
                                          </p:val>
                                        </p:tav>
                                        <p:tav tm="100000">
                                          <p:val>
                                            <p:strVal val="#ppt_x"/>
                                          </p:val>
                                        </p:tav>
                                      </p:tavLst>
                                    </p:anim>
                                    <p:anim calcmode="lin" valueType="num">
                                      <p:cBhvr additive="base">
                                        <p:cTn id="37" dur="500" fill="hold"/>
                                        <p:tgtEl>
                                          <p:spTgt spid="83"/>
                                        </p:tgtEl>
                                        <p:attrNameLst>
                                          <p:attrName>ppt_y</p:attrName>
                                        </p:attrNameLst>
                                      </p:cBhvr>
                                      <p:tavLst>
                                        <p:tav tm="0">
                                          <p:val>
                                            <p:strVal val="1+#ppt_h/2"/>
                                          </p:val>
                                        </p:tav>
                                        <p:tav tm="100000">
                                          <p:val>
                                            <p:strVal val="#ppt_y"/>
                                          </p:val>
                                        </p:tav>
                                      </p:tavLst>
                                    </p:anim>
                                  </p:childTnLst>
                                </p:cTn>
                              </p:par>
                              <p:par>
                                <p:cTn id="38" presetID="2" presetClass="entr" presetSubtype="4" fill="hold" grpId="0" nodeType="withEffect">
                                  <p:stCondLst>
                                    <p:cond delay="0"/>
                                  </p:stCondLst>
                                  <p:childTnLst>
                                    <p:set>
                                      <p:cBhvr>
                                        <p:cTn id="39" dur="1" fill="hold">
                                          <p:stCondLst>
                                            <p:cond delay="0"/>
                                          </p:stCondLst>
                                        </p:cTn>
                                        <p:tgtEl>
                                          <p:spTgt spid="84"/>
                                        </p:tgtEl>
                                        <p:attrNameLst>
                                          <p:attrName>style.visibility</p:attrName>
                                        </p:attrNameLst>
                                      </p:cBhvr>
                                      <p:to>
                                        <p:strVal val="visible"/>
                                      </p:to>
                                    </p:set>
                                    <p:anim calcmode="lin" valueType="num">
                                      <p:cBhvr additive="base">
                                        <p:cTn id="40" dur="500" fill="hold"/>
                                        <p:tgtEl>
                                          <p:spTgt spid="84"/>
                                        </p:tgtEl>
                                        <p:attrNameLst>
                                          <p:attrName>ppt_x</p:attrName>
                                        </p:attrNameLst>
                                      </p:cBhvr>
                                      <p:tavLst>
                                        <p:tav tm="0">
                                          <p:val>
                                            <p:strVal val="#ppt_x"/>
                                          </p:val>
                                        </p:tav>
                                        <p:tav tm="100000">
                                          <p:val>
                                            <p:strVal val="#ppt_x"/>
                                          </p:val>
                                        </p:tav>
                                      </p:tavLst>
                                    </p:anim>
                                    <p:anim calcmode="lin" valueType="num">
                                      <p:cBhvr additive="base">
                                        <p:cTn id="41" dur="500" fill="hold"/>
                                        <p:tgtEl>
                                          <p:spTgt spid="84"/>
                                        </p:tgtEl>
                                        <p:attrNameLst>
                                          <p:attrName>ppt_y</p:attrName>
                                        </p:attrNameLst>
                                      </p:cBhvr>
                                      <p:tavLst>
                                        <p:tav tm="0">
                                          <p:val>
                                            <p:strVal val="1+#ppt_h/2"/>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0" presetClass="path" presetSubtype="0" accel="50000" decel="50000" fill="hold" grpId="0" nodeType="clickEffect">
                                  <p:stCondLst>
                                    <p:cond delay="0"/>
                                  </p:stCondLst>
                                  <p:childTnLst>
                                    <p:animMotion origin="layout" path="M 0 0 L 0.07875 0 " pathEditMode="relative" ptsTypes="">
                                      <p:cBhvr>
                                        <p:cTn id="45" dur="2000" fill="hold"/>
                                        <p:tgtEl>
                                          <p:spTgt spid="33"/>
                                        </p:tgtEl>
                                        <p:attrNameLst>
                                          <p:attrName>ppt_x</p:attrName>
                                          <p:attrName>ppt_y</p:attrName>
                                        </p:attrNameLst>
                                      </p:cBhvr>
                                    </p:animMotion>
                                  </p:childTnLst>
                                </p:cTn>
                              </p:par>
                            </p:childTnLst>
                          </p:cTn>
                        </p:par>
                        <p:par>
                          <p:cTn id="46" fill="hold">
                            <p:stCondLst>
                              <p:cond delay="2000"/>
                            </p:stCondLst>
                            <p:childTnLst>
                              <p:par>
                                <p:cTn id="47" presetID="2" presetClass="entr" presetSubtype="2" fill="hold" nodeType="afterEffect">
                                  <p:stCondLst>
                                    <p:cond delay="0"/>
                                  </p:stCondLst>
                                  <p:childTnLst>
                                    <p:set>
                                      <p:cBhvr>
                                        <p:cTn id="48" dur="1" fill="hold">
                                          <p:stCondLst>
                                            <p:cond delay="0"/>
                                          </p:stCondLst>
                                        </p:cTn>
                                        <p:tgtEl>
                                          <p:spTgt spid="90"/>
                                        </p:tgtEl>
                                        <p:attrNameLst>
                                          <p:attrName>style.visibility</p:attrName>
                                        </p:attrNameLst>
                                      </p:cBhvr>
                                      <p:to>
                                        <p:strVal val="visible"/>
                                      </p:to>
                                    </p:set>
                                    <p:anim calcmode="lin" valueType="num">
                                      <p:cBhvr additive="base">
                                        <p:cTn id="49" dur="500" fill="hold"/>
                                        <p:tgtEl>
                                          <p:spTgt spid="90"/>
                                        </p:tgtEl>
                                        <p:attrNameLst>
                                          <p:attrName>ppt_x</p:attrName>
                                        </p:attrNameLst>
                                      </p:cBhvr>
                                      <p:tavLst>
                                        <p:tav tm="0">
                                          <p:val>
                                            <p:strVal val="1+#ppt_w/2"/>
                                          </p:val>
                                        </p:tav>
                                        <p:tav tm="100000">
                                          <p:val>
                                            <p:strVal val="#ppt_x"/>
                                          </p:val>
                                        </p:tav>
                                      </p:tavLst>
                                    </p:anim>
                                    <p:anim calcmode="lin" valueType="num">
                                      <p:cBhvr additive="base">
                                        <p:cTn id="50" dur="500" fill="hold"/>
                                        <p:tgtEl>
                                          <p:spTgt spid="90"/>
                                        </p:tgtEl>
                                        <p:attrNameLst>
                                          <p:attrName>ppt_y</p:attrName>
                                        </p:attrNameLst>
                                      </p:cBhvr>
                                      <p:tavLst>
                                        <p:tav tm="0">
                                          <p:val>
                                            <p:strVal val="#ppt_y"/>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xit" presetSubtype="4" fill="hold" grpId="0" nodeType="clickEffect">
                                  <p:stCondLst>
                                    <p:cond delay="0"/>
                                  </p:stCondLst>
                                  <p:childTnLst>
                                    <p:anim calcmode="lin" valueType="num">
                                      <p:cBhvr additive="base">
                                        <p:cTn id="54" dur="500"/>
                                        <p:tgtEl>
                                          <p:spTgt spid="73"/>
                                        </p:tgtEl>
                                        <p:attrNameLst>
                                          <p:attrName>ppt_x</p:attrName>
                                        </p:attrNameLst>
                                      </p:cBhvr>
                                      <p:tavLst>
                                        <p:tav tm="0">
                                          <p:val>
                                            <p:strVal val="ppt_x"/>
                                          </p:val>
                                        </p:tav>
                                        <p:tav tm="100000">
                                          <p:val>
                                            <p:strVal val="ppt_x"/>
                                          </p:val>
                                        </p:tav>
                                      </p:tavLst>
                                    </p:anim>
                                    <p:anim calcmode="lin" valueType="num">
                                      <p:cBhvr additive="base">
                                        <p:cTn id="55" dur="500"/>
                                        <p:tgtEl>
                                          <p:spTgt spid="73"/>
                                        </p:tgtEl>
                                        <p:attrNameLst>
                                          <p:attrName>ppt_y</p:attrName>
                                        </p:attrNameLst>
                                      </p:cBhvr>
                                      <p:tavLst>
                                        <p:tav tm="0">
                                          <p:val>
                                            <p:strVal val="ppt_y"/>
                                          </p:val>
                                        </p:tav>
                                        <p:tav tm="100000">
                                          <p:val>
                                            <p:strVal val="1+ppt_h/2"/>
                                          </p:val>
                                        </p:tav>
                                      </p:tavLst>
                                    </p:anim>
                                    <p:set>
                                      <p:cBhvr>
                                        <p:cTn id="56" dur="1" fill="hold">
                                          <p:stCondLst>
                                            <p:cond delay="499"/>
                                          </p:stCondLst>
                                        </p:cTn>
                                        <p:tgtEl>
                                          <p:spTgt spid="73"/>
                                        </p:tgtEl>
                                        <p:attrNameLst>
                                          <p:attrName>style.visibility</p:attrName>
                                        </p:attrNameLst>
                                      </p:cBhvr>
                                      <p:to>
                                        <p:strVal val="hidden"/>
                                      </p:to>
                                    </p:set>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85"/>
                                        </p:tgtEl>
                                        <p:attrNameLst>
                                          <p:attrName>style.visibility</p:attrName>
                                        </p:attrNameLst>
                                      </p:cBhvr>
                                      <p:to>
                                        <p:strVal val="visible"/>
                                      </p:to>
                                    </p:set>
                                    <p:anim calcmode="lin" valueType="num">
                                      <p:cBhvr additive="base">
                                        <p:cTn id="61" dur="500" fill="hold"/>
                                        <p:tgtEl>
                                          <p:spTgt spid="85"/>
                                        </p:tgtEl>
                                        <p:attrNameLst>
                                          <p:attrName>ppt_x</p:attrName>
                                        </p:attrNameLst>
                                      </p:cBhvr>
                                      <p:tavLst>
                                        <p:tav tm="0">
                                          <p:val>
                                            <p:strVal val="#ppt_x"/>
                                          </p:val>
                                        </p:tav>
                                        <p:tav tm="100000">
                                          <p:val>
                                            <p:strVal val="#ppt_x"/>
                                          </p:val>
                                        </p:tav>
                                      </p:tavLst>
                                    </p:anim>
                                    <p:anim calcmode="lin" valueType="num">
                                      <p:cBhvr additive="base">
                                        <p:cTn id="62" dur="500" fill="hold"/>
                                        <p:tgtEl>
                                          <p:spTgt spid="85"/>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0" presetClass="path" presetSubtype="0" accel="50000" decel="50000" fill="hold" nodeType="clickEffect">
                                  <p:stCondLst>
                                    <p:cond delay="0"/>
                                  </p:stCondLst>
                                  <p:childTnLst>
                                    <p:animMotion origin="layout" path="M 0 0 C 0.0157639 -0.017037 0.00951389 -0.0931481 0.123333 -0.0644444 C 0.237153 -0.0357407 0.4825 0.100463 0.569167 0.143333 " pathEditMode="relative" ptsTypes="">
                                      <p:cBhvr>
                                        <p:cTn id="66" dur="2000" fill="hold"/>
                                        <p:tgtEl>
                                          <p:spTgt spid="87"/>
                                        </p:tgtEl>
                                        <p:attrNameLst>
                                          <p:attrName>ppt_x</p:attrName>
                                          <p:attrName>ppt_y</p:attrName>
                                        </p:attrNameLst>
                                      </p:cBhvr>
                                    </p:animMotion>
                                  </p:childTnLst>
                                </p:cTn>
                              </p:par>
                            </p:childTnLst>
                          </p:cTn>
                        </p:par>
                      </p:childTnLst>
                    </p:cTn>
                  </p:par>
                  <p:par>
                    <p:cTn id="67" fill="hold">
                      <p:stCondLst>
                        <p:cond delay="indefinite"/>
                      </p:stCondLst>
                      <p:childTnLst>
                        <p:par>
                          <p:cTn id="68" fill="hold">
                            <p:stCondLst>
                              <p:cond delay="0"/>
                            </p:stCondLst>
                            <p:childTnLst>
                              <p:par>
                                <p:cTn id="69" presetID="2" presetClass="entr" presetSubtype="4" fill="hold" grpId="0" nodeType="clickEffect">
                                  <p:stCondLst>
                                    <p:cond delay="0"/>
                                  </p:stCondLst>
                                  <p:childTnLst>
                                    <p:set>
                                      <p:cBhvr>
                                        <p:cTn id="70" dur="1" fill="hold">
                                          <p:stCondLst>
                                            <p:cond delay="0"/>
                                          </p:stCondLst>
                                        </p:cTn>
                                        <p:tgtEl>
                                          <p:spTgt spid="86"/>
                                        </p:tgtEl>
                                        <p:attrNameLst>
                                          <p:attrName>style.visibility</p:attrName>
                                        </p:attrNameLst>
                                      </p:cBhvr>
                                      <p:to>
                                        <p:strVal val="visible"/>
                                      </p:to>
                                    </p:set>
                                    <p:anim calcmode="lin" valueType="num">
                                      <p:cBhvr additive="base">
                                        <p:cTn id="71" dur="500" fill="hold"/>
                                        <p:tgtEl>
                                          <p:spTgt spid="86"/>
                                        </p:tgtEl>
                                        <p:attrNameLst>
                                          <p:attrName>ppt_x</p:attrName>
                                        </p:attrNameLst>
                                      </p:cBhvr>
                                      <p:tavLst>
                                        <p:tav tm="0">
                                          <p:val>
                                            <p:strVal val="#ppt_x"/>
                                          </p:val>
                                        </p:tav>
                                        <p:tav tm="100000">
                                          <p:val>
                                            <p:strVal val="#ppt_x"/>
                                          </p:val>
                                        </p:tav>
                                      </p:tavLst>
                                    </p:anim>
                                    <p:anim calcmode="lin" valueType="num">
                                      <p:cBhvr additive="base">
                                        <p:cTn id="72" dur="500" fill="hold"/>
                                        <p:tgtEl>
                                          <p:spTgt spid="86"/>
                                        </p:tgtEl>
                                        <p:attrNameLst>
                                          <p:attrName>ppt_y</p:attrName>
                                        </p:attrNameLst>
                                      </p:cBhvr>
                                      <p:tavLst>
                                        <p:tav tm="0">
                                          <p:val>
                                            <p:strVal val="1+#ppt_h/2"/>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31"/>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1"/>
      <p:bldP spid="9" grpId="1"/>
      <p:bldP spid="64" grpId="1"/>
      <p:bldP spid="65" grpId="1"/>
      <p:bldP spid="66" grpId="1"/>
      <p:bldP spid="67" grpId="1"/>
      <p:bldP spid="68" grpId="1" animBg="1"/>
      <p:bldP spid="69" grpId="1" animBg="1"/>
      <p:bldP spid="70" grpId="1" animBg="1"/>
      <p:bldP spid="71" grpId="1" animBg="1"/>
      <p:bldP spid="72" grpId="1"/>
      <p:bldP spid="76" grpId="1"/>
      <p:bldP spid="77" grpId="1"/>
      <p:bldP spid="78" grpId="1"/>
      <p:bldP spid="79" grpId="1"/>
      <p:bldP spid="30" grpId="1"/>
      <p:bldP spid="39" grpId="1"/>
      <p:bldP spid="82" grpId="1"/>
      <p:bldP spid="12" grpId="0" bldLvl="0" animBg="1"/>
      <p:bldP spid="13" grpId="0" bldLvl="0" animBg="1"/>
      <p:bldP spid="14" grpId="0" bldLvl="0" animBg="1"/>
      <p:bldP spid="12" grpId="1" animBg="1"/>
      <p:bldP spid="13" grpId="1" animBg="1"/>
      <p:bldP spid="14" grpId="1" animBg="1"/>
      <p:bldP spid="29" grpId="0"/>
      <p:bldP spid="83" grpId="0"/>
      <p:bldP spid="84" grpId="0"/>
      <p:bldP spid="29" grpId="1"/>
      <p:bldP spid="83" grpId="1"/>
      <p:bldP spid="84" grpId="1"/>
      <p:bldP spid="28" grpId="0"/>
      <p:bldP spid="28" grpId="1"/>
      <p:bldP spid="28" grpId="2"/>
      <p:bldP spid="73" grpId="0"/>
      <p:bldP spid="73" grpId="1"/>
      <p:bldP spid="85" grpId="0"/>
      <p:bldP spid="85" grpId="1"/>
      <p:bldP spid="73" grpId="2"/>
      <p:bldP spid="86" grpId="0"/>
      <p:bldP spid="86" grpId="1"/>
      <p:bldP spid="31" grpId="0"/>
      <p:bldP spid="32" grpId="1"/>
      <p:bldP spid="35" grpId="1" animBg="1"/>
      <p:bldP spid="33"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2"/>
          <p:cNvSpPr txBox="1">
            <a:spLocks noChangeArrowheads="1"/>
          </p:cNvSpPr>
          <p:nvPr/>
        </p:nvSpPr>
        <p:spPr bwMode="auto">
          <a:xfrm>
            <a:off x="467360" y="980440"/>
            <a:ext cx="2858135" cy="45847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o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4.2.3 </a:t>
            </a:r>
            <a:r>
              <a:rPr kumimoji="1" lang="zh-CN" altLang="en-US" sz="2400" b="1" dirty="0">
                <a:uFillTx/>
                <a:latin typeface="Times New Roman" panose="02020603050405020304" pitchFamily="18" charset="0"/>
                <a:cs typeface="Times New Roman" panose="02020603050405020304" pitchFamily="18" charset="0"/>
                <a:sym typeface="+mn-ea"/>
              </a:rPr>
              <a:t>单源最短路径</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a:p>
            <a:pPr algn="l">
              <a:spcBef>
                <a:spcPct val="50000"/>
              </a:spcBef>
            </a:pP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grpSp>
        <p:nvGrpSpPr>
          <p:cNvPr id="6" name="组合 5"/>
          <p:cNvGrpSpPr/>
          <p:nvPr/>
        </p:nvGrpSpPr>
        <p:grpSpPr>
          <a:xfrm>
            <a:off x="1763395" y="2206625"/>
            <a:ext cx="539750" cy="539750"/>
            <a:chOff x="3572" y="3586"/>
            <a:chExt cx="850" cy="850"/>
          </a:xfrm>
          <a:solidFill>
            <a:srgbClr val="FF0000"/>
          </a:solidFill>
        </p:grpSpPr>
        <p:sp>
          <p:nvSpPr>
            <p:cNvPr id="7" name="椭圆 6"/>
            <p:cNvSpPr/>
            <p:nvPr/>
          </p:nvSpPr>
          <p:spPr>
            <a:xfrm>
              <a:off x="3572" y="3586"/>
              <a:ext cx="850" cy="850"/>
            </a:xfrm>
            <a:prstGeom prst="ellipse">
              <a:avLst/>
            </a:prstGeom>
            <a:grpFill/>
            <a:ln w="9525" cap="flat" cmpd="sng" algn="ctr">
              <a:no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a:ln>
              <a:noFill/>
            </a:ln>
            <a:extLst>
              <a:ext uri="{909E8E84-426E-40DD-AFC4-6F175D3DCCD1}">
                <a14:hiddenFill xmlns:a14="http://schemas.microsoft.com/office/drawing/2010/main">
                  <a:grpFill/>
                </a14:hiddenFill>
              </a:ext>
            </a:extLst>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683260" y="307086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1187450" y="4330065"/>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623820" y="422275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3" name="组合 2"/>
          <p:cNvGrpSpPr/>
          <p:nvPr/>
        </p:nvGrpSpPr>
        <p:grpSpPr>
          <a:xfrm>
            <a:off x="2695575" y="299910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34" name="直接连接符 33"/>
          <p:cNvCxnSpPr/>
          <p:nvPr/>
        </p:nvCxnSpPr>
        <p:spPr>
          <a:xfrm>
            <a:off x="953135" y="3610610"/>
            <a:ext cx="313055" cy="79819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37" name="直接连接符 36"/>
          <p:cNvCxnSpPr/>
          <p:nvPr/>
        </p:nvCxnSpPr>
        <p:spPr>
          <a:xfrm flipH="1">
            <a:off x="2893695" y="3538855"/>
            <a:ext cx="71755" cy="683895"/>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39" name="文本框 38"/>
          <p:cNvSpPr txBox="1"/>
          <p:nvPr/>
        </p:nvSpPr>
        <p:spPr>
          <a:xfrm>
            <a:off x="2411730" y="2460625"/>
            <a:ext cx="445770" cy="346075"/>
          </a:xfrm>
          <a:prstGeom prst="rect">
            <a:avLst/>
          </a:prstGeom>
          <a:noFill/>
        </p:spPr>
        <p:txBody>
          <a:bodyPr wrap="square" rtlCol="0">
            <a:noAutofit/>
          </a:bodyPr>
          <a:lstStyle/>
          <a:p>
            <a:r>
              <a:rPr lang="en-US" altLang="zh-CN">
                <a:solidFill>
                  <a:srgbClr val="FF0000"/>
                </a:solidFill>
                <a:latin typeface="+mj-lt"/>
                <a:cs typeface="+mj-lt"/>
              </a:rPr>
              <a:t>20</a:t>
            </a:r>
            <a:endParaRPr lang="en-US" altLang="zh-CN">
              <a:solidFill>
                <a:srgbClr val="FF0000"/>
              </a:solidFill>
              <a:latin typeface="+mj-lt"/>
              <a:cs typeface="+mj-lt"/>
            </a:endParaRPr>
          </a:p>
        </p:txBody>
      </p:sp>
      <p:cxnSp>
        <p:nvCxnSpPr>
          <p:cNvPr id="5" name="直接连接符 4"/>
          <p:cNvCxnSpPr/>
          <p:nvPr/>
        </p:nvCxnSpPr>
        <p:spPr>
          <a:xfrm>
            <a:off x="2224405" y="2667635"/>
            <a:ext cx="549910" cy="410210"/>
          </a:xfrm>
          <a:prstGeom prst="line">
            <a:avLst/>
          </a:prstGeom>
          <a:solidFill>
            <a:schemeClr val="accent1"/>
          </a:solidFill>
          <a:ln w="28575" cap="flat" cmpd="sng" algn="ctr">
            <a:solidFill>
              <a:srgbClr val="FF0000"/>
            </a:solidFill>
            <a:prstDash val="solid"/>
            <a:round/>
            <a:headEnd type="none" w="med" len="med"/>
            <a:tailEnd type="triangle" w="med" len="med"/>
          </a:ln>
        </p:spPr>
      </p:cxnSp>
      <p:cxnSp>
        <p:nvCxnSpPr>
          <p:cNvPr id="24" name="直接连接符 23"/>
          <p:cNvCxnSpPr/>
          <p:nvPr/>
        </p:nvCxnSpPr>
        <p:spPr>
          <a:xfrm flipV="1">
            <a:off x="1722755" y="4492625"/>
            <a:ext cx="901065" cy="10731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27" name="直接连接符 26"/>
          <p:cNvCxnSpPr/>
          <p:nvPr/>
        </p:nvCxnSpPr>
        <p:spPr>
          <a:xfrm flipH="1">
            <a:off x="1457325" y="2746375"/>
            <a:ext cx="575945" cy="1583690"/>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28" name="文本框 27"/>
          <p:cNvSpPr txBox="1"/>
          <p:nvPr/>
        </p:nvSpPr>
        <p:spPr>
          <a:xfrm>
            <a:off x="633095" y="387477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30" name="文本框 29"/>
          <p:cNvSpPr txBox="1"/>
          <p:nvPr/>
        </p:nvSpPr>
        <p:spPr>
          <a:xfrm>
            <a:off x="1704975" y="3324225"/>
            <a:ext cx="445770" cy="346075"/>
          </a:xfrm>
          <a:prstGeom prst="rect">
            <a:avLst/>
          </a:prstGeom>
          <a:noFill/>
        </p:spPr>
        <p:txBody>
          <a:bodyPr wrap="square" rtlCol="0">
            <a:noAutofit/>
          </a:bodyPr>
          <a:lstStyle/>
          <a:p>
            <a:r>
              <a:rPr lang="en-US" altLang="zh-CN">
                <a:latin typeface="+mj-lt"/>
                <a:cs typeface="+mj-lt"/>
              </a:rPr>
              <a:t>60</a:t>
            </a:r>
            <a:endParaRPr lang="en-US" altLang="zh-CN">
              <a:latin typeface="+mj-lt"/>
              <a:cs typeface="+mj-lt"/>
            </a:endParaRPr>
          </a:p>
        </p:txBody>
      </p:sp>
      <p:sp>
        <p:nvSpPr>
          <p:cNvPr id="38" name="文本框 37"/>
          <p:cNvSpPr txBox="1"/>
          <p:nvPr/>
        </p:nvSpPr>
        <p:spPr>
          <a:xfrm>
            <a:off x="1988820" y="4531995"/>
            <a:ext cx="445770" cy="346075"/>
          </a:xfrm>
          <a:prstGeom prst="rect">
            <a:avLst/>
          </a:prstGeom>
          <a:noFill/>
        </p:spPr>
        <p:txBody>
          <a:bodyPr wrap="square" rtlCol="0">
            <a:noAutofit/>
          </a:bodyPr>
          <a:lstStyle/>
          <a:p>
            <a:r>
              <a:rPr lang="en-US" altLang="zh-CN">
                <a:latin typeface="+mj-lt"/>
                <a:cs typeface="+mj-lt"/>
              </a:rPr>
              <a:t>30</a:t>
            </a:r>
            <a:endParaRPr lang="en-US" altLang="zh-CN">
              <a:latin typeface="+mj-lt"/>
              <a:cs typeface="+mj-lt"/>
            </a:endParaRPr>
          </a:p>
        </p:txBody>
      </p:sp>
      <p:sp>
        <p:nvSpPr>
          <p:cNvPr id="47" name="文本框 46"/>
          <p:cNvSpPr txBox="1"/>
          <p:nvPr/>
        </p:nvSpPr>
        <p:spPr>
          <a:xfrm>
            <a:off x="2965450" y="3684270"/>
            <a:ext cx="445770" cy="346075"/>
          </a:xfrm>
          <a:prstGeom prst="rect">
            <a:avLst/>
          </a:prstGeom>
          <a:noFill/>
        </p:spPr>
        <p:txBody>
          <a:bodyPr wrap="square" rtlCol="0">
            <a:noAutofit/>
          </a:bodyPr>
          <a:lstStyle/>
          <a:p>
            <a:r>
              <a:rPr lang="en-US" altLang="zh-CN">
                <a:latin typeface="+mj-lt"/>
                <a:cs typeface="+mj-lt"/>
              </a:rPr>
              <a:t>42</a:t>
            </a:r>
            <a:endParaRPr lang="en-US" altLang="zh-CN">
              <a:latin typeface="+mj-lt"/>
              <a:cs typeface="+mj-lt"/>
            </a:endParaRPr>
          </a:p>
        </p:txBody>
      </p:sp>
      <p:sp>
        <p:nvSpPr>
          <p:cNvPr id="1025" name="矩形 1024"/>
          <p:cNvSpPr>
            <a:spLocks noChangeAspect="1"/>
          </p:cNvSpPr>
          <p:nvPr/>
        </p:nvSpPr>
        <p:spPr>
          <a:xfrm>
            <a:off x="3402013" y="2017713"/>
            <a:ext cx="5514975" cy="3038475"/>
          </a:xfrm>
          <a:prstGeom prst="rect">
            <a:avLst/>
          </a:prstGeom>
          <a:noFill/>
          <a:ln w="9525">
            <a:noFill/>
          </a:ln>
        </p:spPr>
      </p:sp>
      <p:grpSp>
        <p:nvGrpSpPr>
          <p:cNvPr id="10" name="Group 4"/>
          <p:cNvGrpSpPr>
            <a:grpSpLocks noChangeAspect="1"/>
          </p:cNvGrpSpPr>
          <p:nvPr/>
        </p:nvGrpSpPr>
        <p:grpSpPr bwMode="auto">
          <a:xfrm>
            <a:off x="3629025" y="1849120"/>
            <a:ext cx="5514975" cy="3028950"/>
            <a:chOff x="2216" y="1249"/>
            <a:chExt cx="3474" cy="1908"/>
          </a:xfrm>
        </p:grpSpPr>
        <p:sp>
          <p:nvSpPr>
            <p:cNvPr id="11" name="AutoShape 3"/>
            <p:cNvSpPr>
              <a:spLocks noChangeAspect="1" noChangeArrowheads="1" noTextEdit="1"/>
            </p:cNvSpPr>
            <p:nvPr/>
          </p:nvSpPr>
          <p:spPr bwMode="auto">
            <a:xfrm>
              <a:off x="2216" y="1249"/>
              <a:ext cx="3474" cy="19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43" name="Line 15"/>
            <p:cNvSpPr>
              <a:spLocks noChangeShapeType="1"/>
            </p:cNvSpPr>
            <p:nvPr/>
          </p:nvSpPr>
          <p:spPr bwMode="auto">
            <a:xfrm>
              <a:off x="2911"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4" name="Line 16"/>
            <p:cNvSpPr>
              <a:spLocks noChangeShapeType="1"/>
            </p:cNvSpPr>
            <p:nvPr/>
          </p:nvSpPr>
          <p:spPr bwMode="auto">
            <a:xfrm>
              <a:off x="3470"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5" name="Line 17"/>
            <p:cNvSpPr>
              <a:spLocks noChangeShapeType="1"/>
            </p:cNvSpPr>
            <p:nvPr/>
          </p:nvSpPr>
          <p:spPr bwMode="auto">
            <a:xfrm>
              <a:off x="3953"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6" name="Line 18"/>
            <p:cNvSpPr>
              <a:spLocks noChangeShapeType="1"/>
            </p:cNvSpPr>
            <p:nvPr/>
          </p:nvSpPr>
          <p:spPr bwMode="auto">
            <a:xfrm>
              <a:off x="3953"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8" name="Line 19"/>
            <p:cNvSpPr>
              <a:spLocks noChangeShapeType="1"/>
            </p:cNvSpPr>
            <p:nvPr/>
          </p:nvSpPr>
          <p:spPr bwMode="auto">
            <a:xfrm>
              <a:off x="3953"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9" name="Line 20"/>
            <p:cNvSpPr>
              <a:spLocks noChangeShapeType="1"/>
            </p:cNvSpPr>
            <p:nvPr/>
          </p:nvSpPr>
          <p:spPr bwMode="auto">
            <a:xfrm>
              <a:off x="4529"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0" name="Line 21"/>
            <p:cNvSpPr>
              <a:spLocks noChangeShapeType="1"/>
            </p:cNvSpPr>
            <p:nvPr/>
          </p:nvSpPr>
          <p:spPr bwMode="auto">
            <a:xfrm>
              <a:off x="4529"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1" name="Line 22"/>
            <p:cNvSpPr>
              <a:spLocks noChangeShapeType="1"/>
            </p:cNvSpPr>
            <p:nvPr/>
          </p:nvSpPr>
          <p:spPr bwMode="auto">
            <a:xfrm>
              <a:off x="4529"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2" name="Line 23"/>
            <p:cNvSpPr>
              <a:spLocks noChangeShapeType="1"/>
            </p:cNvSpPr>
            <p:nvPr/>
          </p:nvSpPr>
          <p:spPr bwMode="auto">
            <a:xfrm>
              <a:off x="5094"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3" name="Line 24"/>
            <p:cNvSpPr>
              <a:spLocks noChangeShapeType="1"/>
            </p:cNvSpPr>
            <p:nvPr/>
          </p:nvSpPr>
          <p:spPr bwMode="auto">
            <a:xfrm>
              <a:off x="5094"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4" name="Line 25"/>
            <p:cNvSpPr>
              <a:spLocks noChangeShapeType="1"/>
            </p:cNvSpPr>
            <p:nvPr/>
          </p:nvSpPr>
          <p:spPr bwMode="auto">
            <a:xfrm>
              <a:off x="5094"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5" name="Line 26"/>
            <p:cNvSpPr>
              <a:spLocks noChangeShapeType="1"/>
            </p:cNvSpPr>
            <p:nvPr/>
          </p:nvSpPr>
          <p:spPr bwMode="auto">
            <a:xfrm>
              <a:off x="2222" y="1521"/>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6" name="Line 27"/>
            <p:cNvSpPr>
              <a:spLocks noChangeShapeType="1"/>
            </p:cNvSpPr>
            <p:nvPr/>
          </p:nvSpPr>
          <p:spPr bwMode="auto">
            <a:xfrm>
              <a:off x="2222" y="1778"/>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7" name="Line 28"/>
            <p:cNvSpPr>
              <a:spLocks noChangeShapeType="1"/>
            </p:cNvSpPr>
            <p:nvPr/>
          </p:nvSpPr>
          <p:spPr bwMode="auto">
            <a:xfrm>
              <a:off x="2222" y="2053"/>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8" name="Line 29"/>
            <p:cNvSpPr>
              <a:spLocks noChangeShapeType="1"/>
            </p:cNvSpPr>
            <p:nvPr/>
          </p:nvSpPr>
          <p:spPr bwMode="auto">
            <a:xfrm>
              <a:off x="2222" y="2327"/>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9" name="Line 30"/>
            <p:cNvSpPr>
              <a:spLocks noChangeShapeType="1"/>
            </p:cNvSpPr>
            <p:nvPr/>
          </p:nvSpPr>
          <p:spPr bwMode="auto">
            <a:xfrm>
              <a:off x="2222" y="2601"/>
              <a:ext cx="1731"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0" name="Line 31"/>
            <p:cNvSpPr>
              <a:spLocks noChangeShapeType="1"/>
            </p:cNvSpPr>
            <p:nvPr/>
          </p:nvSpPr>
          <p:spPr bwMode="auto">
            <a:xfrm>
              <a:off x="3953" y="2601"/>
              <a:ext cx="1732"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1" name="Line 32"/>
            <p:cNvSpPr>
              <a:spLocks noChangeShapeType="1"/>
            </p:cNvSpPr>
            <p:nvPr/>
          </p:nvSpPr>
          <p:spPr bwMode="auto">
            <a:xfrm>
              <a:off x="2222" y="2870"/>
              <a:ext cx="1731"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2" name="Line 33"/>
            <p:cNvSpPr>
              <a:spLocks noChangeShapeType="1"/>
            </p:cNvSpPr>
            <p:nvPr/>
          </p:nvSpPr>
          <p:spPr bwMode="auto">
            <a:xfrm>
              <a:off x="3953" y="2870"/>
              <a:ext cx="1732"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3" name="Line 34"/>
            <p:cNvSpPr>
              <a:spLocks noChangeShapeType="1"/>
            </p:cNvSpPr>
            <p:nvPr/>
          </p:nvSpPr>
          <p:spPr bwMode="auto">
            <a:xfrm>
              <a:off x="2226"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4" name="Line 35"/>
            <p:cNvSpPr>
              <a:spLocks noChangeShapeType="1"/>
            </p:cNvSpPr>
            <p:nvPr/>
          </p:nvSpPr>
          <p:spPr bwMode="auto">
            <a:xfrm>
              <a:off x="5681"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6" name="Line 36"/>
            <p:cNvSpPr>
              <a:spLocks noChangeShapeType="1"/>
            </p:cNvSpPr>
            <p:nvPr/>
          </p:nvSpPr>
          <p:spPr bwMode="auto">
            <a:xfrm>
              <a:off x="5681"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7" name="Line 37"/>
            <p:cNvSpPr>
              <a:spLocks noChangeShapeType="1"/>
            </p:cNvSpPr>
            <p:nvPr/>
          </p:nvSpPr>
          <p:spPr bwMode="auto">
            <a:xfrm>
              <a:off x="5681"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8" name="Line 38"/>
            <p:cNvSpPr>
              <a:spLocks noChangeShapeType="1"/>
            </p:cNvSpPr>
            <p:nvPr/>
          </p:nvSpPr>
          <p:spPr bwMode="auto">
            <a:xfrm>
              <a:off x="2222" y="1265"/>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9" name="Line 39"/>
            <p:cNvSpPr>
              <a:spLocks noChangeShapeType="1"/>
            </p:cNvSpPr>
            <p:nvPr/>
          </p:nvSpPr>
          <p:spPr bwMode="auto">
            <a:xfrm>
              <a:off x="2222" y="3145"/>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30" name="Rectangle 40"/>
            <p:cNvSpPr>
              <a:spLocks noChangeArrowheads="1"/>
            </p:cNvSpPr>
            <p:nvPr/>
          </p:nvSpPr>
          <p:spPr bwMode="auto">
            <a:xfrm>
              <a:off x="3122" y="1309"/>
              <a:ext cx="151"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①</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1" name="Rectangle 41"/>
            <p:cNvSpPr>
              <a:spLocks noChangeArrowheads="1"/>
            </p:cNvSpPr>
            <p:nvPr/>
          </p:nvSpPr>
          <p:spPr bwMode="auto">
            <a:xfrm>
              <a:off x="3639"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②</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2" name="Rectangle 42"/>
            <p:cNvSpPr>
              <a:spLocks noChangeArrowheads="1"/>
            </p:cNvSpPr>
            <p:nvPr/>
          </p:nvSpPr>
          <p:spPr bwMode="auto">
            <a:xfrm>
              <a:off x="4170" y="1309"/>
              <a:ext cx="151"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③</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3" name="Rectangle 43"/>
            <p:cNvSpPr>
              <a:spLocks noChangeArrowheads="1"/>
            </p:cNvSpPr>
            <p:nvPr/>
          </p:nvSpPr>
          <p:spPr bwMode="auto">
            <a:xfrm>
              <a:off x="4740"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④</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4" name="Rectangle 44"/>
            <p:cNvSpPr>
              <a:spLocks noChangeArrowheads="1"/>
            </p:cNvSpPr>
            <p:nvPr/>
          </p:nvSpPr>
          <p:spPr bwMode="auto">
            <a:xfrm>
              <a:off x="5317"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⑤</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7" name="Rectangle 47"/>
            <p:cNvSpPr>
              <a:spLocks noChangeArrowheads="1"/>
            </p:cNvSpPr>
            <p:nvPr/>
          </p:nvSpPr>
          <p:spPr bwMode="auto">
            <a:xfrm>
              <a:off x="2539" y="1816"/>
              <a:ext cx="102" cy="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B</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1" name="Rectangle 51"/>
            <p:cNvSpPr>
              <a:spLocks noChangeArrowheads="1"/>
            </p:cNvSpPr>
            <p:nvPr/>
          </p:nvSpPr>
          <p:spPr bwMode="auto">
            <a:xfrm>
              <a:off x="2539" y="2091"/>
              <a:ext cx="102" cy="1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7" name="Rectangle 57"/>
            <p:cNvSpPr>
              <a:spLocks noChangeArrowheads="1"/>
            </p:cNvSpPr>
            <p:nvPr/>
          </p:nvSpPr>
          <p:spPr bwMode="auto">
            <a:xfrm>
              <a:off x="2539" y="2365"/>
              <a:ext cx="102" cy="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D</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2" name="Rectangle 62"/>
            <p:cNvSpPr>
              <a:spLocks noChangeArrowheads="1"/>
            </p:cNvSpPr>
            <p:nvPr/>
          </p:nvSpPr>
          <p:spPr bwMode="auto">
            <a:xfrm>
              <a:off x="2545" y="2640"/>
              <a:ext cx="96" cy="1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E</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5" name="Rectangle 65"/>
            <p:cNvSpPr>
              <a:spLocks noChangeArrowheads="1"/>
            </p:cNvSpPr>
            <p:nvPr/>
          </p:nvSpPr>
          <p:spPr bwMode="auto">
            <a:xfrm>
              <a:off x="2286" y="2913"/>
              <a:ext cx="241" cy="1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宋体" panose="02010600030101010101" pitchFamily="2" charset="-122"/>
                  <a:ea typeface="宋体" panose="02010600030101010101" pitchFamily="2" charset="-122"/>
                </a:rPr>
                <a:t>最短点集</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101" name="Rectangle 45"/>
          <p:cNvSpPr>
            <a:spLocks noChangeArrowheads="1"/>
          </p:cNvSpPr>
          <p:nvPr/>
        </p:nvSpPr>
        <p:spPr bwMode="auto">
          <a:xfrm>
            <a:off x="4141788" y="2339658"/>
            <a:ext cx="1809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dirty="0">
                <a:ln>
                  <a:noFill/>
                </a:ln>
                <a:solidFill>
                  <a:srgbClr val="000000"/>
                </a:solidFill>
                <a:effectLst/>
                <a:latin typeface="Times New Roman" panose="02020603050405020304" pitchFamily="18" charset="0"/>
              </a:rPr>
              <a:t>A</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4" name="Rectangle 46"/>
          <p:cNvSpPr>
            <a:spLocks noChangeArrowheads="1"/>
          </p:cNvSpPr>
          <p:nvPr/>
        </p:nvSpPr>
        <p:spPr bwMode="auto">
          <a:xfrm>
            <a:off x="4829175" y="2339658"/>
            <a:ext cx="1428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 name="Rectangle 48"/>
          <p:cNvSpPr>
            <a:spLocks noChangeArrowheads="1"/>
          </p:cNvSpPr>
          <p:nvPr/>
        </p:nvSpPr>
        <p:spPr bwMode="auto">
          <a:xfrm>
            <a:off x="4829175" y="2749233"/>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4" name="Rectangle 52"/>
          <p:cNvSpPr>
            <a:spLocks noChangeArrowheads="1"/>
          </p:cNvSpPr>
          <p:nvPr/>
        </p:nvSpPr>
        <p:spPr bwMode="auto">
          <a:xfrm>
            <a:off x="4829175"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5" name="Rectangle 58"/>
          <p:cNvSpPr>
            <a:spLocks noChangeArrowheads="1"/>
          </p:cNvSpPr>
          <p:nvPr/>
        </p:nvSpPr>
        <p:spPr bwMode="auto">
          <a:xfrm>
            <a:off x="4829175" y="3620770"/>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6" name="Rectangle 63"/>
          <p:cNvSpPr>
            <a:spLocks noChangeArrowheads="1"/>
          </p:cNvSpPr>
          <p:nvPr/>
        </p:nvSpPr>
        <p:spPr bwMode="auto">
          <a:xfrm>
            <a:off x="4829175" y="4057333"/>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7" name="Rectangle 66"/>
          <p:cNvSpPr>
            <a:spLocks noChangeArrowheads="1"/>
          </p:cNvSpPr>
          <p:nvPr/>
        </p:nvSpPr>
        <p:spPr bwMode="auto">
          <a:xfrm>
            <a:off x="4829175" y="4481195"/>
            <a:ext cx="1809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8" name="Rectangle 5"/>
          <p:cNvSpPr>
            <a:spLocks noChangeArrowheads="1"/>
          </p:cNvSpPr>
          <p:nvPr/>
        </p:nvSpPr>
        <p:spPr bwMode="auto">
          <a:xfrm>
            <a:off x="5619750" y="2280920"/>
            <a:ext cx="766763"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69" name="Rectangle 6"/>
          <p:cNvSpPr>
            <a:spLocks noChangeArrowheads="1"/>
          </p:cNvSpPr>
          <p:nvPr/>
        </p:nvSpPr>
        <p:spPr bwMode="auto">
          <a:xfrm>
            <a:off x="6386513" y="2280920"/>
            <a:ext cx="914400"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0" name="Rectangle 7"/>
          <p:cNvSpPr>
            <a:spLocks noChangeArrowheads="1"/>
          </p:cNvSpPr>
          <p:nvPr/>
        </p:nvSpPr>
        <p:spPr bwMode="auto">
          <a:xfrm>
            <a:off x="7300913" y="2280920"/>
            <a:ext cx="896938"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1" name="Rectangle 8"/>
          <p:cNvSpPr>
            <a:spLocks noChangeArrowheads="1"/>
          </p:cNvSpPr>
          <p:nvPr/>
        </p:nvSpPr>
        <p:spPr bwMode="auto">
          <a:xfrm>
            <a:off x="8197850" y="2280920"/>
            <a:ext cx="931863"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2" name="Rectangle 67"/>
          <p:cNvSpPr>
            <a:spLocks noChangeArrowheads="1"/>
          </p:cNvSpPr>
          <p:nvPr/>
        </p:nvSpPr>
        <p:spPr bwMode="auto">
          <a:xfrm>
            <a:off x="5715000" y="4481195"/>
            <a:ext cx="325438"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文本框 72"/>
          <p:cNvSpPr txBox="1"/>
          <p:nvPr/>
        </p:nvSpPr>
        <p:spPr>
          <a:xfrm>
            <a:off x="633095" y="5516880"/>
            <a:ext cx="7075805"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rPr>
              <a:t>将</a:t>
            </a:r>
            <a:r>
              <a:rPr lang="en-US" altLang="zh-CN">
                <a:solidFill>
                  <a:srgbClr val="FF0000"/>
                </a:solidFill>
                <a:uFillTx/>
                <a:latin typeface="Times New Roman" panose="02020603050405020304" pitchFamily="18" charset="0"/>
              </a:rPr>
              <a:t>B</a:t>
            </a:r>
            <a:r>
              <a:rPr lang="zh-CN" altLang="en-US">
                <a:solidFill>
                  <a:srgbClr val="FF0000"/>
                </a:solidFill>
                <a:uFillTx/>
                <a:latin typeface="Times New Roman" panose="02020603050405020304" pitchFamily="18" charset="0"/>
              </a:rPr>
              <a:t>节点添加到点集标识</a:t>
            </a:r>
            <a:r>
              <a:rPr lang="en-US" altLang="zh-CN">
                <a:solidFill>
                  <a:srgbClr val="FF0000"/>
                </a:solidFill>
                <a:uFillTx/>
                <a:latin typeface="Times New Roman" panose="02020603050405020304" pitchFamily="18" charset="0"/>
              </a:rPr>
              <a:t>B</a:t>
            </a:r>
            <a:r>
              <a:rPr lang="zh-CN" altLang="en-US">
                <a:solidFill>
                  <a:srgbClr val="FF0000"/>
                </a:solidFill>
                <a:uFillTx/>
                <a:latin typeface="Times New Roman" panose="02020603050405020304" pitchFamily="18" charset="0"/>
              </a:rPr>
              <a:t>已完成</a:t>
            </a:r>
            <a:r>
              <a:rPr lang="zh-CN" altLang="en-US">
                <a:solidFill>
                  <a:srgbClr val="FF0000"/>
                </a:solidFill>
                <a:uFillTx/>
                <a:latin typeface="Times New Roman" panose="02020603050405020304" pitchFamily="18" charset="0"/>
              </a:rPr>
              <a:t>，并更新与</a:t>
            </a:r>
            <a:r>
              <a:rPr lang="en-US" altLang="zh-CN">
                <a:solidFill>
                  <a:srgbClr val="FF0000"/>
                </a:solidFill>
                <a:uFillTx/>
                <a:latin typeface="Times New Roman" panose="02020603050405020304" pitchFamily="18" charset="0"/>
              </a:rPr>
              <a:t>B</a:t>
            </a:r>
            <a:r>
              <a:rPr lang="zh-CN" altLang="en-US">
                <a:solidFill>
                  <a:srgbClr val="FF0000"/>
                </a:solidFill>
                <a:uFillTx/>
                <a:latin typeface="Times New Roman" panose="02020603050405020304" pitchFamily="18" charset="0"/>
              </a:rPr>
              <a:t>节点相连的点的</a:t>
            </a:r>
            <a:r>
              <a:rPr lang="zh-CN" altLang="en-US">
                <a:solidFill>
                  <a:srgbClr val="FF0000"/>
                </a:solidFill>
                <a:uFillTx/>
                <a:latin typeface="Times New Roman" panose="02020603050405020304" pitchFamily="18" charset="0"/>
              </a:rPr>
              <a:t>距离。</a:t>
            </a:r>
            <a:endParaRPr lang="zh-CN" altLang="en-US">
              <a:solidFill>
                <a:srgbClr val="FF0000"/>
              </a:solidFill>
              <a:uFillTx/>
              <a:latin typeface="Times New Roman" panose="02020603050405020304" pitchFamily="18" charset="0"/>
            </a:endParaRPr>
          </a:p>
        </p:txBody>
      </p:sp>
      <p:sp>
        <p:nvSpPr>
          <p:cNvPr id="76" name="Rectangle 49"/>
          <p:cNvSpPr>
            <a:spLocks noChangeArrowheads="1"/>
          </p:cNvSpPr>
          <p:nvPr/>
        </p:nvSpPr>
        <p:spPr bwMode="auto">
          <a:xfrm>
            <a:off x="5715000" y="2749233"/>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20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53"/>
          <p:cNvSpPr>
            <a:spLocks noChangeArrowheads="1"/>
          </p:cNvSpPr>
          <p:nvPr/>
        </p:nvSpPr>
        <p:spPr bwMode="auto">
          <a:xfrm>
            <a:off x="5715000"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78" name="Rectangle 59"/>
          <p:cNvSpPr>
            <a:spLocks noChangeArrowheads="1"/>
          </p:cNvSpPr>
          <p:nvPr/>
        </p:nvSpPr>
        <p:spPr bwMode="auto">
          <a:xfrm>
            <a:off x="5715000" y="3620770"/>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9" name="Rectangle 64"/>
          <p:cNvSpPr>
            <a:spLocks noChangeArrowheads="1"/>
          </p:cNvSpPr>
          <p:nvPr/>
        </p:nvSpPr>
        <p:spPr bwMode="auto">
          <a:xfrm>
            <a:off x="5715000" y="4057333"/>
            <a:ext cx="209550" cy="209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15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cxnSp>
        <p:nvCxnSpPr>
          <p:cNvPr id="81" name="直接连接符 80"/>
          <p:cNvCxnSpPr/>
          <p:nvPr/>
        </p:nvCxnSpPr>
        <p:spPr>
          <a:xfrm flipH="1">
            <a:off x="1108710" y="2631440"/>
            <a:ext cx="697865" cy="481965"/>
          </a:xfrm>
          <a:prstGeom prst="line">
            <a:avLst/>
          </a:prstGeom>
          <a:solidFill>
            <a:schemeClr val="accent1"/>
          </a:solidFill>
          <a:ln w="28575" cap="flat" cmpd="sng" algn="ctr">
            <a:solidFill>
              <a:srgbClr val="FF0000"/>
            </a:solidFill>
            <a:prstDash val="solid"/>
            <a:round/>
            <a:headEnd type="none" w="med" len="med"/>
            <a:tailEnd type="triangle" w="med" len="med"/>
          </a:ln>
        </p:spPr>
      </p:cxnSp>
      <p:sp>
        <p:nvSpPr>
          <p:cNvPr id="82" name="文本框 81"/>
          <p:cNvSpPr txBox="1"/>
          <p:nvPr/>
        </p:nvSpPr>
        <p:spPr>
          <a:xfrm>
            <a:off x="1223010" y="2460625"/>
            <a:ext cx="445770" cy="346075"/>
          </a:xfrm>
          <a:prstGeom prst="rect">
            <a:avLst/>
          </a:prstGeom>
          <a:noFill/>
        </p:spPr>
        <p:txBody>
          <a:bodyPr wrap="square" rtlCol="0">
            <a:noAutofit/>
          </a:bodyPr>
          <a:lstStyle/>
          <a:p>
            <a:r>
              <a:rPr lang="en-US" altLang="zh-CN">
                <a:solidFill>
                  <a:srgbClr val="FF0000"/>
                </a:solidFill>
                <a:latin typeface="+mj-lt"/>
                <a:cs typeface="+mj-lt"/>
              </a:rPr>
              <a:t>15</a:t>
            </a:r>
            <a:endParaRPr lang="en-US" altLang="zh-CN">
              <a:solidFill>
                <a:srgbClr val="FF0000"/>
              </a:solidFill>
              <a:latin typeface="+mj-lt"/>
              <a:cs typeface="+mj-lt"/>
            </a:endParaRPr>
          </a:p>
        </p:txBody>
      </p:sp>
      <p:sp>
        <p:nvSpPr>
          <p:cNvPr id="12" name="Rectangle 12"/>
          <p:cNvSpPr>
            <a:spLocks noChangeArrowheads="1"/>
          </p:cNvSpPr>
          <p:nvPr/>
        </p:nvSpPr>
        <p:spPr bwMode="auto">
          <a:xfrm>
            <a:off x="6386513" y="3995420"/>
            <a:ext cx="914400"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3" name="Rectangle 13"/>
          <p:cNvSpPr>
            <a:spLocks noChangeArrowheads="1"/>
          </p:cNvSpPr>
          <p:nvPr/>
        </p:nvSpPr>
        <p:spPr bwMode="auto">
          <a:xfrm>
            <a:off x="7300913" y="3995420"/>
            <a:ext cx="896938"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4" name="Rectangle 14"/>
          <p:cNvSpPr>
            <a:spLocks noChangeArrowheads="1"/>
          </p:cNvSpPr>
          <p:nvPr/>
        </p:nvSpPr>
        <p:spPr bwMode="auto">
          <a:xfrm>
            <a:off x="8197850" y="3995420"/>
            <a:ext cx="931863"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29" name="Rectangle 50"/>
          <p:cNvSpPr>
            <a:spLocks noChangeArrowheads="1"/>
          </p:cNvSpPr>
          <p:nvPr/>
        </p:nvSpPr>
        <p:spPr bwMode="auto">
          <a:xfrm>
            <a:off x="6483350" y="2749233"/>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20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3" name="Rectangle 54"/>
          <p:cNvSpPr>
            <a:spLocks noChangeArrowheads="1"/>
          </p:cNvSpPr>
          <p:nvPr/>
        </p:nvSpPr>
        <p:spPr bwMode="auto">
          <a:xfrm>
            <a:off x="6483350"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84" name="Rectangle 60"/>
          <p:cNvSpPr>
            <a:spLocks noChangeArrowheads="1"/>
          </p:cNvSpPr>
          <p:nvPr/>
        </p:nvSpPr>
        <p:spPr bwMode="auto">
          <a:xfrm>
            <a:off x="6483350" y="3620770"/>
            <a:ext cx="4000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60,38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6" name="Rectangle 68"/>
          <p:cNvSpPr>
            <a:spLocks noChangeArrowheads="1"/>
          </p:cNvSpPr>
          <p:nvPr/>
        </p:nvSpPr>
        <p:spPr bwMode="auto">
          <a:xfrm>
            <a:off x="6483350" y="4481195"/>
            <a:ext cx="476250"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A,E,B</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7" name="Rectangle 9"/>
          <p:cNvSpPr>
            <a:spLocks noChangeArrowheads="1"/>
          </p:cNvSpPr>
          <p:nvPr/>
        </p:nvSpPr>
        <p:spPr bwMode="auto">
          <a:xfrm>
            <a:off x="7300913" y="2688908"/>
            <a:ext cx="896938" cy="436563"/>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88" name="Rectangle 10"/>
          <p:cNvSpPr>
            <a:spLocks noChangeArrowheads="1"/>
          </p:cNvSpPr>
          <p:nvPr/>
        </p:nvSpPr>
        <p:spPr bwMode="auto">
          <a:xfrm>
            <a:off x="8197850" y="2688908"/>
            <a:ext cx="931863" cy="436563"/>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89" name="Rectangle 55"/>
          <p:cNvSpPr>
            <a:spLocks noChangeArrowheads="1"/>
          </p:cNvSpPr>
          <p:nvPr/>
        </p:nvSpPr>
        <p:spPr bwMode="auto">
          <a:xfrm>
            <a:off x="7397750" y="3195320"/>
            <a:ext cx="152400"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62</a:t>
            </a:r>
            <a:endParaRPr kumimoji="0" lang="zh-CN" altLang="zh-CN" sz="1200" b="0" i="0" u="none" strike="noStrike" cap="none" normalizeH="0" baseline="0">
              <a:ln>
                <a:noFill/>
              </a:ln>
              <a:solidFill>
                <a:schemeClr val="tx1"/>
              </a:solidFill>
              <a:effectLst/>
              <a:latin typeface="Arial" panose="020B0604020202020204" pitchFamily="34" charset="0"/>
            </a:endParaRPr>
          </a:p>
        </p:txBody>
      </p:sp>
      <p:sp>
        <p:nvSpPr>
          <p:cNvPr id="90" name="Rectangle 61"/>
          <p:cNvSpPr>
            <a:spLocks noChangeArrowheads="1"/>
          </p:cNvSpPr>
          <p:nvPr/>
        </p:nvSpPr>
        <p:spPr bwMode="auto">
          <a:xfrm>
            <a:off x="7397750" y="3628708"/>
            <a:ext cx="342900"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60,38</a:t>
            </a:r>
            <a:endParaRPr kumimoji="0" lang="zh-CN" altLang="zh-CN" sz="1200" b="0" i="0" u="none" strike="noStrike" cap="none" normalizeH="0" baseline="0">
              <a:ln>
                <a:noFill/>
              </a:ln>
              <a:solidFill>
                <a:schemeClr val="tx1"/>
              </a:solidFill>
              <a:effectLst/>
              <a:latin typeface="Arial" panose="020B0604020202020204" pitchFamily="34" charset="0"/>
            </a:endParaRPr>
          </a:p>
        </p:txBody>
      </p:sp>
      <p:sp>
        <p:nvSpPr>
          <p:cNvPr id="91" name="文本框 90"/>
          <p:cNvSpPr txBox="1"/>
          <p:nvPr/>
        </p:nvSpPr>
        <p:spPr>
          <a:xfrm>
            <a:off x="683260" y="5516880"/>
            <a:ext cx="7075805" cy="349250"/>
          </a:xfrm>
          <a:prstGeom prst="rect">
            <a:avLst/>
          </a:prstGeom>
          <a:noFill/>
        </p:spPr>
        <p:txBody>
          <a:bodyPr wrap="square" rtlCol="0">
            <a:noAutofit/>
          </a:bodyPr>
          <a:p>
            <a:r>
              <a:rPr lang="en-US" altLang="zh-CN">
                <a:solidFill>
                  <a:srgbClr val="FF0000"/>
                </a:solidFill>
                <a:uFillTx/>
                <a:latin typeface="Times New Roman" panose="02020603050405020304" pitchFamily="18" charset="0"/>
              </a:rPr>
              <a:t>D</a:t>
            </a:r>
            <a:r>
              <a:rPr lang="zh-CN" altLang="en-US">
                <a:solidFill>
                  <a:srgbClr val="FF0000"/>
                </a:solidFill>
                <a:uFillTx/>
                <a:latin typeface="Times New Roman" panose="02020603050405020304" pitchFamily="18" charset="0"/>
              </a:rPr>
              <a:t>节点最近，将</a:t>
            </a:r>
            <a:r>
              <a:rPr lang="en-US" altLang="zh-CN">
                <a:solidFill>
                  <a:srgbClr val="FF0000"/>
                </a:solidFill>
                <a:uFillTx/>
                <a:latin typeface="Times New Roman" panose="02020603050405020304" pitchFamily="18" charset="0"/>
              </a:rPr>
              <a:t>D</a:t>
            </a:r>
            <a:r>
              <a:rPr lang="zh-CN" altLang="en-US">
                <a:solidFill>
                  <a:srgbClr val="FF0000"/>
                </a:solidFill>
                <a:uFillTx/>
                <a:latin typeface="Times New Roman" panose="02020603050405020304" pitchFamily="18" charset="0"/>
              </a:rPr>
              <a:t>节点添加到</a:t>
            </a:r>
            <a:r>
              <a:rPr lang="zh-CN" altLang="en-US">
                <a:solidFill>
                  <a:srgbClr val="FF0000"/>
                </a:solidFill>
                <a:uFillTx/>
                <a:latin typeface="Times New Roman" panose="02020603050405020304" pitchFamily="18" charset="0"/>
              </a:rPr>
              <a:t>点集。</a:t>
            </a:r>
            <a:endParaRPr lang="zh-CN" altLang="en-US">
              <a:solidFill>
                <a:srgbClr val="FF0000"/>
              </a:solidFill>
              <a:uFillTx/>
              <a:latin typeface="Times New Roman" panose="02020603050405020304" pitchFamily="18" charset="0"/>
            </a:endParaRPr>
          </a:p>
        </p:txBody>
      </p:sp>
      <p:cxnSp>
        <p:nvCxnSpPr>
          <p:cNvPr id="92" name="直接连接符 91"/>
          <p:cNvCxnSpPr/>
          <p:nvPr/>
        </p:nvCxnSpPr>
        <p:spPr>
          <a:xfrm>
            <a:off x="953135" y="3610610"/>
            <a:ext cx="313055" cy="798195"/>
          </a:xfrm>
          <a:prstGeom prst="line">
            <a:avLst/>
          </a:prstGeom>
          <a:solidFill>
            <a:schemeClr val="accent1"/>
          </a:solidFill>
          <a:ln w="28575" cap="flat" cmpd="sng" algn="ctr">
            <a:solidFill>
              <a:srgbClr val="FF0000"/>
            </a:solidFill>
            <a:prstDash val="solid"/>
            <a:round/>
            <a:headEnd type="none" w="med" len="med"/>
            <a:tailEnd type="triangle" w="med" len="med"/>
          </a:ln>
        </p:spPr>
      </p:cxnSp>
      <p:sp>
        <p:nvSpPr>
          <p:cNvPr id="93" name="文本框 92"/>
          <p:cNvSpPr txBox="1"/>
          <p:nvPr/>
        </p:nvSpPr>
        <p:spPr>
          <a:xfrm>
            <a:off x="633095" y="3874770"/>
            <a:ext cx="445770" cy="346075"/>
          </a:xfrm>
          <a:prstGeom prst="rect">
            <a:avLst/>
          </a:prstGeom>
          <a:noFill/>
        </p:spPr>
        <p:txBody>
          <a:bodyPr wrap="square" rtlCol="0">
            <a:noAutofit/>
          </a:bodyPr>
          <a:lstStyle/>
          <a:p>
            <a:r>
              <a:rPr lang="en-US" altLang="zh-CN">
                <a:solidFill>
                  <a:srgbClr val="FF0000"/>
                </a:solidFill>
                <a:latin typeface="+mj-lt"/>
                <a:cs typeface="+mj-lt"/>
              </a:rPr>
              <a:t>23</a:t>
            </a:r>
            <a:endParaRPr lang="en-US" altLang="zh-CN">
              <a:solidFill>
                <a:srgbClr val="FF0000"/>
              </a:solidFill>
              <a:latin typeface="+mj-lt"/>
              <a:cs typeface="+mj-lt"/>
            </a:endParaRPr>
          </a:p>
        </p:txBody>
      </p:sp>
      <p:sp>
        <p:nvSpPr>
          <p:cNvPr id="95" name="Rectangle 69"/>
          <p:cNvSpPr>
            <a:spLocks noChangeArrowheads="1"/>
          </p:cNvSpPr>
          <p:nvPr/>
        </p:nvSpPr>
        <p:spPr bwMode="auto">
          <a:xfrm>
            <a:off x="7397750" y="4481195"/>
            <a:ext cx="628650"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A,E,B,D</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2" name="文本框 31"/>
          <p:cNvSpPr txBox="1"/>
          <p:nvPr/>
        </p:nvSpPr>
        <p:spPr>
          <a:xfrm>
            <a:off x="3216910" y="4940935"/>
            <a:ext cx="1880235" cy="365760"/>
          </a:xfrm>
          <a:prstGeom prst="rect">
            <a:avLst/>
          </a:prstGeom>
          <a:noFill/>
        </p:spPr>
        <p:txBody>
          <a:bodyPr wrap="square" rtlCol="0">
            <a:noAutofit/>
          </a:bodyPr>
          <a:lstStyle/>
          <a:p>
            <a:r>
              <a:rPr lang="zh-CN" altLang="en-US"/>
              <a:t>待距离源点长度</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3" name="左大括号 32"/>
          <p:cNvSpPr/>
          <p:nvPr/>
        </p:nvSpPr>
        <p:spPr>
          <a:xfrm flipH="1">
            <a:off x="6294120" y="486473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5" name="左大括号 34"/>
          <p:cNvSpPr/>
          <p:nvPr/>
        </p:nvSpPr>
        <p:spPr>
          <a:xfrm>
            <a:off x="5043170" y="485648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31" name="组合 30"/>
          <p:cNvGrpSpPr/>
          <p:nvPr/>
        </p:nvGrpSpPr>
        <p:grpSpPr>
          <a:xfrm>
            <a:off x="5220335" y="4940935"/>
            <a:ext cx="589280" cy="382270"/>
            <a:chOff x="906683" y="2036167"/>
            <a:chExt cx="765448" cy="504056"/>
          </a:xfrm>
        </p:grpSpPr>
        <p:sp>
          <p:nvSpPr>
            <p:cNvPr id="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D:38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98" name="组合 97"/>
          <p:cNvGrpSpPr/>
          <p:nvPr/>
        </p:nvGrpSpPr>
        <p:grpSpPr>
          <a:xfrm>
            <a:off x="5809615" y="4940935"/>
            <a:ext cx="589280" cy="382270"/>
            <a:chOff x="906683" y="2036167"/>
            <a:chExt cx="765448" cy="504056"/>
          </a:xfrm>
        </p:grpSpPr>
        <p:sp>
          <p:nvSpPr>
            <p:cNvPr id="9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0" name="文本框 99"/>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D:60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6480175" y="4929505"/>
            <a:ext cx="589280" cy="382270"/>
            <a:chOff x="906683" y="2036167"/>
            <a:chExt cx="765448" cy="504056"/>
          </a:xfrm>
        </p:grpSpPr>
        <p:sp>
          <p:nvSpPr>
            <p:cNvPr id="8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C:62</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2" nodeType="clickEffect">
                                  <p:stCondLst>
                                    <p:cond delay="0"/>
                                  </p:stCondLst>
                                  <p:childTnLst>
                                    <p:set>
                                      <p:cBhvr>
                                        <p:cTn id="6" dur="1" fill="hold">
                                          <p:stCondLst>
                                            <p:cond delay="0"/>
                                          </p:stCondLst>
                                        </p:cTn>
                                        <p:tgtEl>
                                          <p:spTgt spid="73"/>
                                        </p:tgtEl>
                                        <p:attrNameLst>
                                          <p:attrName>style.visibility</p:attrName>
                                        </p:attrNameLst>
                                      </p:cBhvr>
                                      <p:to>
                                        <p:strVal val="visible"/>
                                      </p:to>
                                    </p:set>
                                    <p:anim calcmode="lin" valueType="num">
                                      <p:cBhvr additive="base">
                                        <p:cTn id="7" dur="500" fill="hold"/>
                                        <p:tgtEl>
                                          <p:spTgt spid="73"/>
                                        </p:tgtEl>
                                        <p:attrNameLst>
                                          <p:attrName>ppt_x</p:attrName>
                                        </p:attrNameLst>
                                      </p:cBhvr>
                                      <p:tavLst>
                                        <p:tav tm="0">
                                          <p:val>
                                            <p:strVal val="#ppt_x"/>
                                          </p:val>
                                        </p:tav>
                                        <p:tav tm="100000">
                                          <p:val>
                                            <p:strVal val="#ppt_x"/>
                                          </p:val>
                                        </p:tav>
                                      </p:tavLst>
                                    </p:anim>
                                    <p:anim calcmode="lin" valueType="num">
                                      <p:cBhvr additive="base">
                                        <p:cTn id="8"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5" presetClass="emph" presetSubtype="0" fill="hold" grpId="0" nodeType="clickEffect">
                                  <p:stCondLst>
                                    <p:cond delay="0"/>
                                  </p:stCondLst>
                                  <p:childTnLst>
                                    <p:anim calcmode="discrete" valueType="str">
                                      <p:cBhvr>
                                        <p:cTn id="18" dur="1000" fill="hold"/>
                                        <p:tgtEl>
                                          <p:spTgt spid="47"/>
                                        </p:tgtEl>
                                        <p:attrNameLst>
                                          <p:attrName>style.visibility</p:attrName>
                                        </p:attrNameLst>
                                      </p:cBhvr>
                                      <p:tavLst>
                                        <p:tav tm="0">
                                          <p:val>
                                            <p:strVal val="hidden"/>
                                          </p:val>
                                        </p:tav>
                                        <p:tav tm="50000">
                                          <p:val>
                                            <p:strVal val="visible"/>
                                          </p:val>
                                        </p:tav>
                                      </p:tavLst>
                                    </p:anim>
                                  </p:childTnLst>
                                </p:cTn>
                              </p:par>
                              <p:par>
                                <p:cTn id="19" presetID="35" presetClass="emph" presetSubtype="0" fill="hold" nodeType="withEffect">
                                  <p:stCondLst>
                                    <p:cond delay="0"/>
                                  </p:stCondLst>
                                  <p:childTnLst>
                                    <p:anim calcmode="discrete" valueType="str">
                                      <p:cBhvr>
                                        <p:cTn id="20"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21" fill="hold">
                            <p:stCondLst>
                              <p:cond delay="1000"/>
                            </p:stCondLst>
                            <p:childTnLst>
                              <p:par>
                                <p:cTn id="22" presetID="35" presetClass="emph" presetSubtype="0" fill="hold" grpId="2" nodeType="afterEffect">
                                  <p:stCondLst>
                                    <p:cond delay="0"/>
                                  </p:stCondLst>
                                  <p:childTnLst>
                                    <p:anim calcmode="discrete" valueType="str">
                                      <p:cBhvr>
                                        <p:cTn id="23" dur="1000" fill="hold"/>
                                        <p:tgtEl>
                                          <p:spTgt spid="47"/>
                                        </p:tgtEl>
                                        <p:attrNameLst>
                                          <p:attrName>style.visibility</p:attrName>
                                        </p:attrNameLst>
                                      </p:cBhvr>
                                      <p:tavLst>
                                        <p:tav tm="0">
                                          <p:val>
                                            <p:strVal val="hidden"/>
                                          </p:val>
                                        </p:tav>
                                        <p:tav tm="50000">
                                          <p:val>
                                            <p:strVal val="visible"/>
                                          </p:val>
                                        </p:tav>
                                      </p:tavLst>
                                    </p:anim>
                                  </p:childTnLst>
                                </p:cTn>
                              </p:par>
                              <p:par>
                                <p:cTn id="24" presetID="35" presetClass="emph" presetSubtype="0" fill="hold" nodeType="withEffect">
                                  <p:stCondLst>
                                    <p:cond delay="0"/>
                                  </p:stCondLst>
                                  <p:childTnLst>
                                    <p:anim calcmode="discrete" valueType="str">
                                      <p:cBhvr>
                                        <p:cTn id="25" dur="1000" fill="hold"/>
                                        <p:tgtEl>
                                          <p:spTgt spid="37"/>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89"/>
                                        </p:tgtEl>
                                        <p:attrNameLst>
                                          <p:attrName>style.visibility</p:attrName>
                                        </p:attrNameLst>
                                      </p:cBhvr>
                                      <p:to>
                                        <p:strVal val="visible"/>
                                      </p:to>
                                    </p:set>
                                    <p:anim calcmode="lin" valueType="num">
                                      <p:cBhvr additive="base">
                                        <p:cTn id="30" dur="500" fill="hold"/>
                                        <p:tgtEl>
                                          <p:spTgt spid="89"/>
                                        </p:tgtEl>
                                        <p:attrNameLst>
                                          <p:attrName>ppt_x</p:attrName>
                                        </p:attrNameLst>
                                      </p:cBhvr>
                                      <p:tavLst>
                                        <p:tav tm="0">
                                          <p:val>
                                            <p:strVal val="#ppt_x"/>
                                          </p:val>
                                        </p:tav>
                                        <p:tav tm="100000">
                                          <p:val>
                                            <p:strVal val="#ppt_x"/>
                                          </p:val>
                                        </p:tav>
                                      </p:tavLst>
                                    </p:anim>
                                    <p:anim calcmode="lin" valueType="num">
                                      <p:cBhvr additive="base">
                                        <p:cTn id="31" dur="500" fill="hold"/>
                                        <p:tgtEl>
                                          <p:spTgt spid="8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90"/>
                                        </p:tgtEl>
                                        <p:attrNameLst>
                                          <p:attrName>style.visibility</p:attrName>
                                        </p:attrNameLst>
                                      </p:cBhvr>
                                      <p:to>
                                        <p:strVal val="visible"/>
                                      </p:to>
                                    </p:set>
                                    <p:anim calcmode="lin" valueType="num">
                                      <p:cBhvr additive="base">
                                        <p:cTn id="34" dur="500" fill="hold"/>
                                        <p:tgtEl>
                                          <p:spTgt spid="90"/>
                                        </p:tgtEl>
                                        <p:attrNameLst>
                                          <p:attrName>ppt_x</p:attrName>
                                        </p:attrNameLst>
                                      </p:cBhvr>
                                      <p:tavLst>
                                        <p:tav tm="0">
                                          <p:val>
                                            <p:strVal val="#ppt_x"/>
                                          </p:val>
                                        </p:tav>
                                        <p:tav tm="100000">
                                          <p:val>
                                            <p:strVal val="#ppt_x"/>
                                          </p:val>
                                        </p:tav>
                                      </p:tavLst>
                                    </p:anim>
                                    <p:anim calcmode="lin" valueType="num">
                                      <p:cBhvr additive="base">
                                        <p:cTn id="35" dur="500" fill="hold"/>
                                        <p:tgtEl>
                                          <p:spTgt spid="90"/>
                                        </p:tgtEl>
                                        <p:attrNameLst>
                                          <p:attrName>ppt_y</p:attrName>
                                        </p:attrNameLst>
                                      </p:cBhvr>
                                      <p:tavLst>
                                        <p:tav tm="0">
                                          <p:val>
                                            <p:strVal val="1+#ppt_h/2"/>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0" presetClass="path" presetSubtype="0" accel="50000" decel="50000" fill="hold" grpId="0" nodeType="clickEffect">
                                  <p:stCondLst>
                                    <p:cond delay="0"/>
                                  </p:stCondLst>
                                  <p:childTnLst>
                                    <p:animMotion origin="layout" path="M 0 0 L 0.07875 0 " pathEditMode="relative" ptsTypes="">
                                      <p:cBhvr>
                                        <p:cTn id="39" dur="2000" fill="hold"/>
                                        <p:tgtEl>
                                          <p:spTgt spid="33"/>
                                        </p:tgtEl>
                                        <p:attrNameLst>
                                          <p:attrName>ppt_x</p:attrName>
                                          <p:attrName>ppt_y</p:attrName>
                                        </p:attrNameLst>
                                      </p:cBhvr>
                                    </p:animMotion>
                                  </p:childTnLst>
                                </p:cTn>
                              </p:par>
                            </p:childTnLst>
                          </p:cTn>
                        </p:par>
                      </p:childTnLst>
                    </p:cTn>
                  </p:par>
                  <p:par>
                    <p:cTn id="40" fill="hold">
                      <p:stCondLst>
                        <p:cond delay="indefinite"/>
                      </p:stCondLst>
                      <p:childTnLst>
                        <p:par>
                          <p:cTn id="41" fill="hold">
                            <p:stCondLst>
                              <p:cond delay="0"/>
                            </p:stCondLst>
                            <p:childTnLst>
                              <p:par>
                                <p:cTn id="42" presetID="2" presetClass="entr" presetSubtype="2" fill="hold" nodeType="clickEffect">
                                  <p:stCondLst>
                                    <p:cond delay="0"/>
                                  </p:stCondLst>
                                  <p:childTnLst>
                                    <p:set>
                                      <p:cBhvr>
                                        <p:cTn id="43" dur="1" fill="hold">
                                          <p:stCondLst>
                                            <p:cond delay="0"/>
                                          </p:stCondLst>
                                        </p:cTn>
                                        <p:tgtEl>
                                          <p:spTgt spid="75"/>
                                        </p:tgtEl>
                                        <p:attrNameLst>
                                          <p:attrName>style.visibility</p:attrName>
                                        </p:attrNameLst>
                                      </p:cBhvr>
                                      <p:to>
                                        <p:strVal val="visible"/>
                                      </p:to>
                                    </p:set>
                                    <p:anim calcmode="lin" valueType="num">
                                      <p:cBhvr additive="base">
                                        <p:cTn id="44" dur="500" fill="hold"/>
                                        <p:tgtEl>
                                          <p:spTgt spid="75"/>
                                        </p:tgtEl>
                                        <p:attrNameLst>
                                          <p:attrName>ppt_x</p:attrName>
                                        </p:attrNameLst>
                                      </p:cBhvr>
                                      <p:tavLst>
                                        <p:tav tm="0">
                                          <p:val>
                                            <p:strVal val="1+#ppt_w/2"/>
                                          </p:val>
                                        </p:tav>
                                        <p:tav tm="100000">
                                          <p:val>
                                            <p:strVal val="#ppt_x"/>
                                          </p:val>
                                        </p:tav>
                                      </p:tavLst>
                                    </p:anim>
                                    <p:anim calcmode="lin" valueType="num">
                                      <p:cBhvr additive="base">
                                        <p:cTn id="45" dur="500" fill="hold"/>
                                        <p:tgtEl>
                                          <p:spTgt spid="75"/>
                                        </p:tgtEl>
                                        <p:attrNameLst>
                                          <p:attrName>ppt_y</p:attrName>
                                        </p:attrNameLst>
                                      </p:cBhvr>
                                      <p:tavLst>
                                        <p:tav tm="0">
                                          <p:val>
                                            <p:strVal val="#ppt_y"/>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8" presetID="2" presetClass="exit" presetSubtype="4" fill="hold" grpId="3" nodeType="clickEffect">
                                  <p:stCondLst>
                                    <p:cond delay="0"/>
                                  </p:stCondLst>
                                  <p:childTnLst>
                                    <p:anim calcmode="lin" valueType="num">
                                      <p:cBhvr additive="base">
                                        <p:cTn id="49" dur="500"/>
                                        <p:tgtEl>
                                          <p:spTgt spid="73"/>
                                        </p:tgtEl>
                                        <p:attrNameLst>
                                          <p:attrName>ppt_x</p:attrName>
                                        </p:attrNameLst>
                                      </p:cBhvr>
                                      <p:tavLst>
                                        <p:tav tm="0">
                                          <p:val>
                                            <p:strVal val="ppt_x"/>
                                          </p:val>
                                        </p:tav>
                                        <p:tav tm="100000">
                                          <p:val>
                                            <p:strVal val="ppt_x"/>
                                          </p:val>
                                        </p:tav>
                                      </p:tavLst>
                                    </p:anim>
                                    <p:anim calcmode="lin" valueType="num">
                                      <p:cBhvr additive="base">
                                        <p:cTn id="50" dur="500"/>
                                        <p:tgtEl>
                                          <p:spTgt spid="73"/>
                                        </p:tgtEl>
                                        <p:attrNameLst>
                                          <p:attrName>ppt_y</p:attrName>
                                        </p:attrNameLst>
                                      </p:cBhvr>
                                      <p:tavLst>
                                        <p:tav tm="0">
                                          <p:val>
                                            <p:strVal val="ppt_y"/>
                                          </p:val>
                                        </p:tav>
                                        <p:tav tm="100000">
                                          <p:val>
                                            <p:strVal val="1+ppt_h/2"/>
                                          </p:val>
                                        </p:tav>
                                      </p:tavLst>
                                    </p:anim>
                                    <p:set>
                                      <p:cBhvr>
                                        <p:cTn id="51" dur="1" fill="hold">
                                          <p:stCondLst>
                                            <p:cond delay="499"/>
                                          </p:stCondLst>
                                        </p:cTn>
                                        <p:tgtEl>
                                          <p:spTgt spid="73"/>
                                        </p:tgtEl>
                                        <p:attrNameLst>
                                          <p:attrName>style.visibility</p:attrName>
                                        </p:attrNameLst>
                                      </p:cBhvr>
                                      <p:to>
                                        <p:strVal val="hidden"/>
                                      </p:to>
                                    </p:set>
                                  </p:childTnLst>
                                </p:cTn>
                              </p:par>
                            </p:childTnLst>
                          </p:cTn>
                        </p:par>
                      </p:childTnLst>
                    </p:cTn>
                  </p:par>
                  <p:par>
                    <p:cTn id="52" fill="hold">
                      <p:stCondLst>
                        <p:cond delay="indefinite"/>
                      </p:stCondLst>
                      <p:childTnLst>
                        <p:par>
                          <p:cTn id="53" fill="hold">
                            <p:stCondLst>
                              <p:cond delay="0"/>
                            </p:stCondLst>
                            <p:childTnLst>
                              <p:par>
                                <p:cTn id="54" presetID="2" presetClass="entr" presetSubtype="4" fill="hold" grpId="2" nodeType="clickEffect">
                                  <p:stCondLst>
                                    <p:cond delay="0"/>
                                  </p:stCondLst>
                                  <p:childTnLst>
                                    <p:set>
                                      <p:cBhvr>
                                        <p:cTn id="55" dur="1" fill="hold">
                                          <p:stCondLst>
                                            <p:cond delay="0"/>
                                          </p:stCondLst>
                                        </p:cTn>
                                        <p:tgtEl>
                                          <p:spTgt spid="91"/>
                                        </p:tgtEl>
                                        <p:attrNameLst>
                                          <p:attrName>style.visibility</p:attrName>
                                        </p:attrNameLst>
                                      </p:cBhvr>
                                      <p:to>
                                        <p:strVal val="visible"/>
                                      </p:to>
                                    </p:set>
                                    <p:anim calcmode="lin" valueType="num">
                                      <p:cBhvr additive="base">
                                        <p:cTn id="56" dur="500" fill="hold"/>
                                        <p:tgtEl>
                                          <p:spTgt spid="91"/>
                                        </p:tgtEl>
                                        <p:attrNameLst>
                                          <p:attrName>ppt_x</p:attrName>
                                        </p:attrNameLst>
                                      </p:cBhvr>
                                      <p:tavLst>
                                        <p:tav tm="0">
                                          <p:val>
                                            <p:strVal val="#ppt_x"/>
                                          </p:val>
                                        </p:tav>
                                        <p:tav tm="100000">
                                          <p:val>
                                            <p:strVal val="#ppt_x"/>
                                          </p:val>
                                        </p:tav>
                                      </p:tavLst>
                                    </p:anim>
                                    <p:anim calcmode="lin" valueType="num">
                                      <p:cBhvr additive="base">
                                        <p:cTn id="57" dur="500" fill="hold"/>
                                        <p:tgtEl>
                                          <p:spTgt spid="91"/>
                                        </p:tgtEl>
                                        <p:attrNameLst>
                                          <p:attrName>ppt_y</p:attrName>
                                        </p:attrNameLst>
                                      </p:cBhvr>
                                      <p:tavLst>
                                        <p:tav tm="0">
                                          <p:val>
                                            <p:strVal val="1+#ppt_h/2"/>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60" presetID="0" presetClass="path" presetSubtype="0" accel="50000" decel="50000" fill="hold" nodeType="clickEffect">
                                  <p:stCondLst>
                                    <p:cond delay="0"/>
                                  </p:stCondLst>
                                  <p:childTnLst>
                                    <p:animMotion origin="layout" path="M 0 0 C 0.01125 -0.0180556 -0.0101389 -0.099537 0.1025 -0.0677778 C 0.215139 -0.0360185 0.473194 0.112222 0.563333 0.158889 " pathEditMode="relative" ptsTypes="">
                                      <p:cBhvr>
                                        <p:cTn id="61" dur="2000" fill="hold"/>
                                        <p:tgtEl>
                                          <p:spTgt spid="31"/>
                                        </p:tgtEl>
                                        <p:attrNameLst>
                                          <p:attrName>ppt_x</p:attrName>
                                          <p:attrName>ppt_y</p:attrName>
                                        </p:attrNameLst>
                                      </p:cBhvr>
                                    </p:animMotion>
                                  </p:childTnLst>
                                </p:cTn>
                              </p:par>
                            </p:childTnLst>
                          </p:cTn>
                        </p:par>
                      </p:childTnLst>
                    </p:cTn>
                  </p:par>
                  <p:par>
                    <p:cTn id="62" fill="hold">
                      <p:stCondLst>
                        <p:cond delay="indefinite"/>
                      </p:stCondLst>
                      <p:childTnLst>
                        <p:par>
                          <p:cTn id="63" fill="hold">
                            <p:stCondLst>
                              <p:cond delay="0"/>
                            </p:stCondLst>
                            <p:childTnLst>
                              <p:par>
                                <p:cTn id="64" presetID="2" presetClass="entr" presetSubtype="4" fill="hold" grpId="0" nodeType="clickEffect">
                                  <p:stCondLst>
                                    <p:cond delay="0"/>
                                  </p:stCondLst>
                                  <p:childTnLst>
                                    <p:set>
                                      <p:cBhvr>
                                        <p:cTn id="65" dur="1" fill="hold">
                                          <p:stCondLst>
                                            <p:cond delay="0"/>
                                          </p:stCondLst>
                                        </p:cTn>
                                        <p:tgtEl>
                                          <p:spTgt spid="95"/>
                                        </p:tgtEl>
                                        <p:attrNameLst>
                                          <p:attrName>style.visibility</p:attrName>
                                        </p:attrNameLst>
                                      </p:cBhvr>
                                      <p:to>
                                        <p:strVal val="visible"/>
                                      </p:to>
                                    </p:set>
                                    <p:anim calcmode="lin" valueType="num">
                                      <p:cBhvr additive="base">
                                        <p:cTn id="66" dur="500" fill="hold"/>
                                        <p:tgtEl>
                                          <p:spTgt spid="95"/>
                                        </p:tgtEl>
                                        <p:attrNameLst>
                                          <p:attrName>ppt_x</p:attrName>
                                        </p:attrNameLst>
                                      </p:cBhvr>
                                      <p:tavLst>
                                        <p:tav tm="0">
                                          <p:val>
                                            <p:strVal val="#ppt_x"/>
                                          </p:val>
                                        </p:tav>
                                        <p:tav tm="100000">
                                          <p:val>
                                            <p:strVal val="#ppt_x"/>
                                          </p:val>
                                        </p:tav>
                                      </p:tavLst>
                                    </p:anim>
                                    <p:anim calcmode="lin" valueType="num">
                                      <p:cBhvr additive="base">
                                        <p:cTn id="67" dur="500" fill="hold"/>
                                        <p:tgtEl>
                                          <p:spTgt spid="95"/>
                                        </p:tgtEl>
                                        <p:attrNameLst>
                                          <p:attrName>ppt_y</p:attrName>
                                        </p:attrNameLst>
                                      </p:cBhvr>
                                      <p:tavLst>
                                        <p:tav tm="0">
                                          <p:val>
                                            <p:strVal val="1+#ppt_h/2"/>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1" presetClass="entr" presetSubtype="0" fill="hold" nodeType="clickEffect">
                                  <p:stCondLst>
                                    <p:cond delay="0"/>
                                  </p:stCondLst>
                                  <p:childTnLst>
                                    <p:set>
                                      <p:cBhvr>
                                        <p:cTn id="71" dur="1" fill="hold">
                                          <p:stCondLst>
                                            <p:cond delay="0"/>
                                          </p:stCondLst>
                                        </p:cTn>
                                        <p:tgtEl>
                                          <p:spTgt spid="92"/>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9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1"/>
      <p:bldP spid="9" grpId="1"/>
      <p:bldP spid="64" grpId="1"/>
      <p:bldP spid="65" grpId="1"/>
      <p:bldP spid="66" grpId="1"/>
      <p:bldP spid="67" grpId="1"/>
      <p:bldP spid="68" grpId="1" animBg="1"/>
      <p:bldP spid="69" grpId="1" animBg="1"/>
      <p:bldP spid="70" grpId="1" animBg="1"/>
      <p:bldP spid="71" grpId="1" animBg="1"/>
      <p:bldP spid="72" grpId="1"/>
      <p:bldP spid="76" grpId="1"/>
      <p:bldP spid="77" grpId="1"/>
      <p:bldP spid="78" grpId="1"/>
      <p:bldP spid="79" grpId="1"/>
      <p:bldP spid="30" grpId="1"/>
      <p:bldP spid="39" grpId="1"/>
      <p:bldP spid="82" grpId="1"/>
      <p:bldP spid="12" grpId="1" animBg="1"/>
      <p:bldP spid="13" grpId="1" animBg="1"/>
      <p:bldP spid="14" grpId="1" animBg="1"/>
      <p:bldP spid="29" grpId="1"/>
      <p:bldP spid="83" grpId="1"/>
      <p:bldP spid="84" grpId="1"/>
      <p:bldP spid="28" grpId="1"/>
      <p:bldP spid="73" grpId="1"/>
      <p:bldP spid="86" grpId="1"/>
      <p:bldP spid="87" grpId="0" animBg="1"/>
      <p:bldP spid="88" grpId="0" animBg="1"/>
      <p:bldP spid="87" grpId="1" animBg="1"/>
      <p:bldP spid="88" grpId="1" animBg="1"/>
      <p:bldP spid="73" grpId="2"/>
      <p:bldP spid="47" grpId="0"/>
      <p:bldP spid="47" grpId="1"/>
      <p:bldP spid="47" grpId="2"/>
      <p:bldP spid="89" grpId="0"/>
      <p:bldP spid="90" grpId="0"/>
      <p:bldP spid="89" grpId="1"/>
      <p:bldP spid="90" grpId="1"/>
      <p:bldP spid="91" grpId="1"/>
      <p:bldP spid="91" grpId="2"/>
      <p:bldP spid="93" grpId="0"/>
      <p:bldP spid="93" grpId="1"/>
      <p:bldP spid="95" grpId="0"/>
      <p:bldP spid="95" grpId="1"/>
      <p:bldP spid="73" grpId="3"/>
      <p:bldP spid="32" grpId="1"/>
      <p:bldP spid="35" grpId="1" animBg="1"/>
      <p:bldP spid="33"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2"/>
          <p:cNvSpPr txBox="1">
            <a:spLocks noChangeArrowheads="1"/>
          </p:cNvSpPr>
          <p:nvPr/>
        </p:nvSpPr>
        <p:spPr bwMode="auto">
          <a:xfrm>
            <a:off x="467360" y="980440"/>
            <a:ext cx="2858135" cy="45847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o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4.2.3 </a:t>
            </a:r>
            <a:r>
              <a:rPr kumimoji="1" lang="zh-CN" altLang="en-US" sz="2400" b="1" dirty="0">
                <a:uFillTx/>
                <a:latin typeface="Times New Roman" panose="02020603050405020304" pitchFamily="18" charset="0"/>
                <a:cs typeface="Times New Roman" panose="02020603050405020304" pitchFamily="18" charset="0"/>
                <a:sym typeface="+mn-ea"/>
              </a:rPr>
              <a:t>单源最短路径</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a:p>
            <a:pPr algn="l">
              <a:spcBef>
                <a:spcPct val="50000"/>
              </a:spcBef>
            </a:pP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grpSp>
        <p:nvGrpSpPr>
          <p:cNvPr id="6" name="组合 5"/>
          <p:cNvGrpSpPr/>
          <p:nvPr/>
        </p:nvGrpSpPr>
        <p:grpSpPr>
          <a:xfrm>
            <a:off x="1763395" y="2206625"/>
            <a:ext cx="539750" cy="539750"/>
            <a:chOff x="3572" y="3586"/>
            <a:chExt cx="850" cy="850"/>
          </a:xfrm>
          <a:solidFill>
            <a:srgbClr val="FF0000"/>
          </a:solidFill>
        </p:grpSpPr>
        <p:sp>
          <p:nvSpPr>
            <p:cNvPr id="7" name="椭圆 6"/>
            <p:cNvSpPr/>
            <p:nvPr/>
          </p:nvSpPr>
          <p:spPr>
            <a:xfrm>
              <a:off x="3572" y="3586"/>
              <a:ext cx="850" cy="850"/>
            </a:xfrm>
            <a:prstGeom prst="ellipse">
              <a:avLst/>
            </a:prstGeom>
            <a:grpFill/>
            <a:ln w="9525" cap="flat" cmpd="sng" algn="ctr">
              <a:no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a:ln>
              <a:noFill/>
            </a:ln>
            <a:extLst>
              <a:ext uri="{909E8E84-426E-40DD-AFC4-6F175D3DCCD1}">
                <a14:hiddenFill xmlns:a14="http://schemas.microsoft.com/office/drawing/2010/main">
                  <a:grpFill/>
                </a14:hiddenFill>
              </a:ext>
            </a:extLst>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683260" y="307086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1187450" y="4330065"/>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623820" y="422275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3" name="组合 2"/>
          <p:cNvGrpSpPr/>
          <p:nvPr/>
        </p:nvGrpSpPr>
        <p:grpSpPr>
          <a:xfrm>
            <a:off x="2695575" y="299910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34" name="直接连接符 33"/>
          <p:cNvCxnSpPr/>
          <p:nvPr/>
        </p:nvCxnSpPr>
        <p:spPr>
          <a:xfrm>
            <a:off x="953135" y="3610610"/>
            <a:ext cx="313055" cy="79819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37" name="直接连接符 36"/>
          <p:cNvCxnSpPr/>
          <p:nvPr/>
        </p:nvCxnSpPr>
        <p:spPr>
          <a:xfrm flipH="1">
            <a:off x="2893695" y="3538855"/>
            <a:ext cx="71755" cy="683895"/>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39" name="文本框 38"/>
          <p:cNvSpPr txBox="1"/>
          <p:nvPr/>
        </p:nvSpPr>
        <p:spPr>
          <a:xfrm>
            <a:off x="2411730" y="2460625"/>
            <a:ext cx="445770" cy="346075"/>
          </a:xfrm>
          <a:prstGeom prst="rect">
            <a:avLst/>
          </a:prstGeom>
          <a:noFill/>
        </p:spPr>
        <p:txBody>
          <a:bodyPr wrap="square" rtlCol="0">
            <a:noAutofit/>
          </a:bodyPr>
          <a:lstStyle/>
          <a:p>
            <a:r>
              <a:rPr lang="en-US" altLang="zh-CN">
                <a:solidFill>
                  <a:srgbClr val="FF0000"/>
                </a:solidFill>
                <a:latin typeface="+mj-lt"/>
                <a:cs typeface="+mj-lt"/>
              </a:rPr>
              <a:t>20</a:t>
            </a:r>
            <a:endParaRPr lang="en-US" altLang="zh-CN">
              <a:solidFill>
                <a:srgbClr val="FF0000"/>
              </a:solidFill>
              <a:latin typeface="+mj-lt"/>
              <a:cs typeface="+mj-lt"/>
            </a:endParaRPr>
          </a:p>
        </p:txBody>
      </p:sp>
      <p:cxnSp>
        <p:nvCxnSpPr>
          <p:cNvPr id="5" name="直接连接符 4"/>
          <p:cNvCxnSpPr/>
          <p:nvPr/>
        </p:nvCxnSpPr>
        <p:spPr>
          <a:xfrm>
            <a:off x="2224405" y="2667635"/>
            <a:ext cx="549910" cy="410210"/>
          </a:xfrm>
          <a:prstGeom prst="line">
            <a:avLst/>
          </a:prstGeom>
          <a:solidFill>
            <a:schemeClr val="accent1"/>
          </a:solidFill>
          <a:ln w="28575" cap="flat" cmpd="sng" algn="ctr">
            <a:solidFill>
              <a:srgbClr val="FF0000"/>
            </a:solidFill>
            <a:prstDash val="solid"/>
            <a:round/>
            <a:headEnd type="none" w="med" len="med"/>
            <a:tailEnd type="triangle" w="med" len="med"/>
          </a:ln>
        </p:spPr>
      </p:cxnSp>
      <p:cxnSp>
        <p:nvCxnSpPr>
          <p:cNvPr id="24" name="直接连接符 23"/>
          <p:cNvCxnSpPr/>
          <p:nvPr/>
        </p:nvCxnSpPr>
        <p:spPr>
          <a:xfrm flipV="1">
            <a:off x="1722755" y="4492625"/>
            <a:ext cx="901065" cy="10731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27" name="直接连接符 26"/>
          <p:cNvCxnSpPr/>
          <p:nvPr/>
        </p:nvCxnSpPr>
        <p:spPr>
          <a:xfrm flipH="1">
            <a:off x="1457325" y="2746375"/>
            <a:ext cx="575945" cy="1583690"/>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28" name="文本框 27"/>
          <p:cNvSpPr txBox="1"/>
          <p:nvPr/>
        </p:nvSpPr>
        <p:spPr>
          <a:xfrm>
            <a:off x="633095" y="387477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30" name="文本框 29"/>
          <p:cNvSpPr txBox="1"/>
          <p:nvPr/>
        </p:nvSpPr>
        <p:spPr>
          <a:xfrm>
            <a:off x="1704975" y="3324225"/>
            <a:ext cx="445770" cy="346075"/>
          </a:xfrm>
          <a:prstGeom prst="rect">
            <a:avLst/>
          </a:prstGeom>
          <a:noFill/>
        </p:spPr>
        <p:txBody>
          <a:bodyPr wrap="square" rtlCol="0">
            <a:noAutofit/>
          </a:bodyPr>
          <a:lstStyle/>
          <a:p>
            <a:r>
              <a:rPr lang="en-US" altLang="zh-CN">
                <a:latin typeface="+mj-lt"/>
                <a:cs typeface="+mj-lt"/>
              </a:rPr>
              <a:t>60</a:t>
            </a:r>
            <a:endParaRPr lang="en-US" altLang="zh-CN">
              <a:latin typeface="+mj-lt"/>
              <a:cs typeface="+mj-lt"/>
            </a:endParaRPr>
          </a:p>
        </p:txBody>
      </p:sp>
      <p:sp>
        <p:nvSpPr>
          <p:cNvPr id="38" name="文本框 37"/>
          <p:cNvSpPr txBox="1"/>
          <p:nvPr/>
        </p:nvSpPr>
        <p:spPr>
          <a:xfrm>
            <a:off x="1988820" y="4531995"/>
            <a:ext cx="445770" cy="346075"/>
          </a:xfrm>
          <a:prstGeom prst="rect">
            <a:avLst/>
          </a:prstGeom>
          <a:noFill/>
        </p:spPr>
        <p:txBody>
          <a:bodyPr wrap="square" rtlCol="0">
            <a:noAutofit/>
          </a:bodyPr>
          <a:lstStyle/>
          <a:p>
            <a:r>
              <a:rPr lang="en-US" altLang="zh-CN">
                <a:solidFill>
                  <a:schemeClr val="tx1"/>
                </a:solidFill>
                <a:latin typeface="+mj-lt"/>
                <a:cs typeface="+mj-lt"/>
              </a:rPr>
              <a:t>30</a:t>
            </a:r>
            <a:endParaRPr lang="en-US" altLang="zh-CN">
              <a:solidFill>
                <a:schemeClr val="tx1"/>
              </a:solidFill>
              <a:latin typeface="+mj-lt"/>
              <a:cs typeface="+mj-lt"/>
            </a:endParaRPr>
          </a:p>
        </p:txBody>
      </p:sp>
      <p:sp>
        <p:nvSpPr>
          <p:cNvPr id="47" name="文本框 46"/>
          <p:cNvSpPr txBox="1"/>
          <p:nvPr/>
        </p:nvSpPr>
        <p:spPr>
          <a:xfrm>
            <a:off x="2965450" y="3684270"/>
            <a:ext cx="445770" cy="346075"/>
          </a:xfrm>
          <a:prstGeom prst="rect">
            <a:avLst/>
          </a:prstGeom>
          <a:noFill/>
        </p:spPr>
        <p:txBody>
          <a:bodyPr wrap="square" rtlCol="0">
            <a:noAutofit/>
          </a:bodyPr>
          <a:lstStyle/>
          <a:p>
            <a:r>
              <a:rPr lang="en-US" altLang="zh-CN">
                <a:latin typeface="+mj-lt"/>
                <a:cs typeface="+mj-lt"/>
              </a:rPr>
              <a:t>42</a:t>
            </a:r>
            <a:endParaRPr lang="en-US" altLang="zh-CN">
              <a:latin typeface="+mj-lt"/>
              <a:cs typeface="+mj-lt"/>
            </a:endParaRPr>
          </a:p>
        </p:txBody>
      </p:sp>
      <p:sp>
        <p:nvSpPr>
          <p:cNvPr id="1025" name="矩形 1024"/>
          <p:cNvSpPr>
            <a:spLocks noChangeAspect="1"/>
          </p:cNvSpPr>
          <p:nvPr/>
        </p:nvSpPr>
        <p:spPr>
          <a:xfrm>
            <a:off x="3402013" y="2017713"/>
            <a:ext cx="5514975" cy="3038475"/>
          </a:xfrm>
          <a:prstGeom prst="rect">
            <a:avLst/>
          </a:prstGeom>
          <a:noFill/>
          <a:ln w="9525">
            <a:noFill/>
          </a:ln>
        </p:spPr>
      </p:sp>
      <p:grpSp>
        <p:nvGrpSpPr>
          <p:cNvPr id="10" name="Group 4"/>
          <p:cNvGrpSpPr>
            <a:grpSpLocks noChangeAspect="1"/>
          </p:cNvGrpSpPr>
          <p:nvPr/>
        </p:nvGrpSpPr>
        <p:grpSpPr bwMode="auto">
          <a:xfrm>
            <a:off x="3629025" y="1849120"/>
            <a:ext cx="5514975" cy="3028950"/>
            <a:chOff x="2216" y="1249"/>
            <a:chExt cx="3474" cy="1908"/>
          </a:xfrm>
        </p:grpSpPr>
        <p:sp>
          <p:nvSpPr>
            <p:cNvPr id="11" name="AutoShape 3"/>
            <p:cNvSpPr>
              <a:spLocks noChangeAspect="1" noChangeArrowheads="1" noTextEdit="1"/>
            </p:cNvSpPr>
            <p:nvPr/>
          </p:nvSpPr>
          <p:spPr bwMode="auto">
            <a:xfrm>
              <a:off x="2216" y="1249"/>
              <a:ext cx="3474" cy="19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43" name="Line 15"/>
            <p:cNvSpPr>
              <a:spLocks noChangeShapeType="1"/>
            </p:cNvSpPr>
            <p:nvPr/>
          </p:nvSpPr>
          <p:spPr bwMode="auto">
            <a:xfrm>
              <a:off x="2911"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4" name="Line 16"/>
            <p:cNvSpPr>
              <a:spLocks noChangeShapeType="1"/>
            </p:cNvSpPr>
            <p:nvPr/>
          </p:nvSpPr>
          <p:spPr bwMode="auto">
            <a:xfrm>
              <a:off x="3470"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5" name="Line 17"/>
            <p:cNvSpPr>
              <a:spLocks noChangeShapeType="1"/>
            </p:cNvSpPr>
            <p:nvPr/>
          </p:nvSpPr>
          <p:spPr bwMode="auto">
            <a:xfrm>
              <a:off x="3953"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6" name="Line 18"/>
            <p:cNvSpPr>
              <a:spLocks noChangeShapeType="1"/>
            </p:cNvSpPr>
            <p:nvPr/>
          </p:nvSpPr>
          <p:spPr bwMode="auto">
            <a:xfrm>
              <a:off x="3953"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8" name="Line 19"/>
            <p:cNvSpPr>
              <a:spLocks noChangeShapeType="1"/>
            </p:cNvSpPr>
            <p:nvPr/>
          </p:nvSpPr>
          <p:spPr bwMode="auto">
            <a:xfrm>
              <a:off x="3953"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9" name="Line 20"/>
            <p:cNvSpPr>
              <a:spLocks noChangeShapeType="1"/>
            </p:cNvSpPr>
            <p:nvPr/>
          </p:nvSpPr>
          <p:spPr bwMode="auto">
            <a:xfrm>
              <a:off x="4529"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0" name="Line 21"/>
            <p:cNvSpPr>
              <a:spLocks noChangeShapeType="1"/>
            </p:cNvSpPr>
            <p:nvPr/>
          </p:nvSpPr>
          <p:spPr bwMode="auto">
            <a:xfrm>
              <a:off x="4529"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1" name="Line 22"/>
            <p:cNvSpPr>
              <a:spLocks noChangeShapeType="1"/>
            </p:cNvSpPr>
            <p:nvPr/>
          </p:nvSpPr>
          <p:spPr bwMode="auto">
            <a:xfrm>
              <a:off x="4529"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2" name="Line 23"/>
            <p:cNvSpPr>
              <a:spLocks noChangeShapeType="1"/>
            </p:cNvSpPr>
            <p:nvPr/>
          </p:nvSpPr>
          <p:spPr bwMode="auto">
            <a:xfrm>
              <a:off x="5094"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3" name="Line 24"/>
            <p:cNvSpPr>
              <a:spLocks noChangeShapeType="1"/>
            </p:cNvSpPr>
            <p:nvPr/>
          </p:nvSpPr>
          <p:spPr bwMode="auto">
            <a:xfrm>
              <a:off x="5094"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4" name="Line 25"/>
            <p:cNvSpPr>
              <a:spLocks noChangeShapeType="1"/>
            </p:cNvSpPr>
            <p:nvPr/>
          </p:nvSpPr>
          <p:spPr bwMode="auto">
            <a:xfrm>
              <a:off x="5094"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5" name="Line 26"/>
            <p:cNvSpPr>
              <a:spLocks noChangeShapeType="1"/>
            </p:cNvSpPr>
            <p:nvPr/>
          </p:nvSpPr>
          <p:spPr bwMode="auto">
            <a:xfrm>
              <a:off x="2222" y="1521"/>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6" name="Line 27"/>
            <p:cNvSpPr>
              <a:spLocks noChangeShapeType="1"/>
            </p:cNvSpPr>
            <p:nvPr/>
          </p:nvSpPr>
          <p:spPr bwMode="auto">
            <a:xfrm>
              <a:off x="2222" y="1778"/>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7" name="Line 28"/>
            <p:cNvSpPr>
              <a:spLocks noChangeShapeType="1"/>
            </p:cNvSpPr>
            <p:nvPr/>
          </p:nvSpPr>
          <p:spPr bwMode="auto">
            <a:xfrm>
              <a:off x="2222" y="2053"/>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8" name="Line 29"/>
            <p:cNvSpPr>
              <a:spLocks noChangeShapeType="1"/>
            </p:cNvSpPr>
            <p:nvPr/>
          </p:nvSpPr>
          <p:spPr bwMode="auto">
            <a:xfrm>
              <a:off x="2222" y="2327"/>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9" name="Line 30"/>
            <p:cNvSpPr>
              <a:spLocks noChangeShapeType="1"/>
            </p:cNvSpPr>
            <p:nvPr/>
          </p:nvSpPr>
          <p:spPr bwMode="auto">
            <a:xfrm>
              <a:off x="2222" y="2601"/>
              <a:ext cx="1731"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0" name="Line 31"/>
            <p:cNvSpPr>
              <a:spLocks noChangeShapeType="1"/>
            </p:cNvSpPr>
            <p:nvPr/>
          </p:nvSpPr>
          <p:spPr bwMode="auto">
            <a:xfrm>
              <a:off x="3953" y="2601"/>
              <a:ext cx="1732"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1" name="Line 32"/>
            <p:cNvSpPr>
              <a:spLocks noChangeShapeType="1"/>
            </p:cNvSpPr>
            <p:nvPr/>
          </p:nvSpPr>
          <p:spPr bwMode="auto">
            <a:xfrm>
              <a:off x="2222" y="2870"/>
              <a:ext cx="1731"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2" name="Line 33"/>
            <p:cNvSpPr>
              <a:spLocks noChangeShapeType="1"/>
            </p:cNvSpPr>
            <p:nvPr/>
          </p:nvSpPr>
          <p:spPr bwMode="auto">
            <a:xfrm>
              <a:off x="3953" y="2870"/>
              <a:ext cx="1732"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3" name="Line 34"/>
            <p:cNvSpPr>
              <a:spLocks noChangeShapeType="1"/>
            </p:cNvSpPr>
            <p:nvPr/>
          </p:nvSpPr>
          <p:spPr bwMode="auto">
            <a:xfrm>
              <a:off x="2226"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4" name="Line 35"/>
            <p:cNvSpPr>
              <a:spLocks noChangeShapeType="1"/>
            </p:cNvSpPr>
            <p:nvPr/>
          </p:nvSpPr>
          <p:spPr bwMode="auto">
            <a:xfrm>
              <a:off x="5681"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6" name="Line 36"/>
            <p:cNvSpPr>
              <a:spLocks noChangeShapeType="1"/>
            </p:cNvSpPr>
            <p:nvPr/>
          </p:nvSpPr>
          <p:spPr bwMode="auto">
            <a:xfrm>
              <a:off x="5681"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7" name="Line 37"/>
            <p:cNvSpPr>
              <a:spLocks noChangeShapeType="1"/>
            </p:cNvSpPr>
            <p:nvPr/>
          </p:nvSpPr>
          <p:spPr bwMode="auto">
            <a:xfrm>
              <a:off x="5681"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8" name="Line 38"/>
            <p:cNvSpPr>
              <a:spLocks noChangeShapeType="1"/>
            </p:cNvSpPr>
            <p:nvPr/>
          </p:nvSpPr>
          <p:spPr bwMode="auto">
            <a:xfrm>
              <a:off x="2222" y="1265"/>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9" name="Line 39"/>
            <p:cNvSpPr>
              <a:spLocks noChangeShapeType="1"/>
            </p:cNvSpPr>
            <p:nvPr/>
          </p:nvSpPr>
          <p:spPr bwMode="auto">
            <a:xfrm>
              <a:off x="2222" y="3145"/>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30" name="Rectangle 40"/>
            <p:cNvSpPr>
              <a:spLocks noChangeArrowheads="1"/>
            </p:cNvSpPr>
            <p:nvPr/>
          </p:nvSpPr>
          <p:spPr bwMode="auto">
            <a:xfrm>
              <a:off x="3122" y="1309"/>
              <a:ext cx="151"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①</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1" name="Rectangle 41"/>
            <p:cNvSpPr>
              <a:spLocks noChangeArrowheads="1"/>
            </p:cNvSpPr>
            <p:nvPr/>
          </p:nvSpPr>
          <p:spPr bwMode="auto">
            <a:xfrm>
              <a:off x="3639"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②</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2" name="Rectangle 42"/>
            <p:cNvSpPr>
              <a:spLocks noChangeArrowheads="1"/>
            </p:cNvSpPr>
            <p:nvPr/>
          </p:nvSpPr>
          <p:spPr bwMode="auto">
            <a:xfrm>
              <a:off x="4170" y="1309"/>
              <a:ext cx="151"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③</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3" name="Rectangle 43"/>
            <p:cNvSpPr>
              <a:spLocks noChangeArrowheads="1"/>
            </p:cNvSpPr>
            <p:nvPr/>
          </p:nvSpPr>
          <p:spPr bwMode="auto">
            <a:xfrm>
              <a:off x="4740"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④</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4" name="Rectangle 44"/>
            <p:cNvSpPr>
              <a:spLocks noChangeArrowheads="1"/>
            </p:cNvSpPr>
            <p:nvPr/>
          </p:nvSpPr>
          <p:spPr bwMode="auto">
            <a:xfrm>
              <a:off x="5317"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⑤</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7" name="Rectangle 47"/>
            <p:cNvSpPr>
              <a:spLocks noChangeArrowheads="1"/>
            </p:cNvSpPr>
            <p:nvPr/>
          </p:nvSpPr>
          <p:spPr bwMode="auto">
            <a:xfrm>
              <a:off x="2539" y="1816"/>
              <a:ext cx="102" cy="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B</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1" name="Rectangle 51"/>
            <p:cNvSpPr>
              <a:spLocks noChangeArrowheads="1"/>
            </p:cNvSpPr>
            <p:nvPr/>
          </p:nvSpPr>
          <p:spPr bwMode="auto">
            <a:xfrm>
              <a:off x="2539" y="2091"/>
              <a:ext cx="102" cy="1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7" name="Rectangle 57"/>
            <p:cNvSpPr>
              <a:spLocks noChangeArrowheads="1"/>
            </p:cNvSpPr>
            <p:nvPr/>
          </p:nvSpPr>
          <p:spPr bwMode="auto">
            <a:xfrm>
              <a:off x="2539" y="2365"/>
              <a:ext cx="102" cy="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D</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2" name="Rectangle 62"/>
            <p:cNvSpPr>
              <a:spLocks noChangeArrowheads="1"/>
            </p:cNvSpPr>
            <p:nvPr/>
          </p:nvSpPr>
          <p:spPr bwMode="auto">
            <a:xfrm>
              <a:off x="2545" y="2640"/>
              <a:ext cx="96" cy="1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E</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5" name="Rectangle 65"/>
            <p:cNvSpPr>
              <a:spLocks noChangeArrowheads="1"/>
            </p:cNvSpPr>
            <p:nvPr/>
          </p:nvSpPr>
          <p:spPr bwMode="auto">
            <a:xfrm>
              <a:off x="2286" y="2913"/>
              <a:ext cx="241" cy="1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宋体" panose="02010600030101010101" pitchFamily="2" charset="-122"/>
                  <a:ea typeface="宋体" panose="02010600030101010101" pitchFamily="2" charset="-122"/>
                </a:rPr>
                <a:t>最短点集</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60" name="Rectangle 70"/>
            <p:cNvSpPr>
              <a:spLocks noChangeArrowheads="1"/>
            </p:cNvSpPr>
            <p:nvPr/>
          </p:nvSpPr>
          <p:spPr bwMode="auto">
            <a:xfrm>
              <a:off x="5154" y="2907"/>
              <a:ext cx="493" cy="1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A,E,B,D,C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101" name="Rectangle 45"/>
          <p:cNvSpPr>
            <a:spLocks noChangeArrowheads="1"/>
          </p:cNvSpPr>
          <p:nvPr/>
        </p:nvSpPr>
        <p:spPr bwMode="auto">
          <a:xfrm>
            <a:off x="4141788" y="2339658"/>
            <a:ext cx="1809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dirty="0">
                <a:ln>
                  <a:noFill/>
                </a:ln>
                <a:solidFill>
                  <a:srgbClr val="000000"/>
                </a:solidFill>
                <a:effectLst/>
                <a:latin typeface="Times New Roman" panose="02020603050405020304" pitchFamily="18" charset="0"/>
              </a:rPr>
              <a:t>A</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4" name="Rectangle 46"/>
          <p:cNvSpPr>
            <a:spLocks noChangeArrowheads="1"/>
          </p:cNvSpPr>
          <p:nvPr/>
        </p:nvSpPr>
        <p:spPr bwMode="auto">
          <a:xfrm>
            <a:off x="4829175" y="2339658"/>
            <a:ext cx="1428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 name="Rectangle 48"/>
          <p:cNvSpPr>
            <a:spLocks noChangeArrowheads="1"/>
          </p:cNvSpPr>
          <p:nvPr/>
        </p:nvSpPr>
        <p:spPr bwMode="auto">
          <a:xfrm>
            <a:off x="4829175" y="2749233"/>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4" name="Rectangle 52"/>
          <p:cNvSpPr>
            <a:spLocks noChangeArrowheads="1"/>
          </p:cNvSpPr>
          <p:nvPr/>
        </p:nvSpPr>
        <p:spPr bwMode="auto">
          <a:xfrm>
            <a:off x="4829175"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5" name="Rectangle 58"/>
          <p:cNvSpPr>
            <a:spLocks noChangeArrowheads="1"/>
          </p:cNvSpPr>
          <p:nvPr/>
        </p:nvSpPr>
        <p:spPr bwMode="auto">
          <a:xfrm>
            <a:off x="4829175" y="3620770"/>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6" name="Rectangle 63"/>
          <p:cNvSpPr>
            <a:spLocks noChangeArrowheads="1"/>
          </p:cNvSpPr>
          <p:nvPr/>
        </p:nvSpPr>
        <p:spPr bwMode="auto">
          <a:xfrm>
            <a:off x="4829175" y="4057333"/>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7" name="Rectangle 66"/>
          <p:cNvSpPr>
            <a:spLocks noChangeArrowheads="1"/>
          </p:cNvSpPr>
          <p:nvPr/>
        </p:nvSpPr>
        <p:spPr bwMode="auto">
          <a:xfrm>
            <a:off x="4829175" y="4481195"/>
            <a:ext cx="1809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8" name="Rectangle 5"/>
          <p:cNvSpPr>
            <a:spLocks noChangeArrowheads="1"/>
          </p:cNvSpPr>
          <p:nvPr/>
        </p:nvSpPr>
        <p:spPr bwMode="auto">
          <a:xfrm>
            <a:off x="5619750" y="2280920"/>
            <a:ext cx="766763"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69" name="Rectangle 6"/>
          <p:cNvSpPr>
            <a:spLocks noChangeArrowheads="1"/>
          </p:cNvSpPr>
          <p:nvPr/>
        </p:nvSpPr>
        <p:spPr bwMode="auto">
          <a:xfrm>
            <a:off x="6386513" y="2280920"/>
            <a:ext cx="914400"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0" name="Rectangle 7"/>
          <p:cNvSpPr>
            <a:spLocks noChangeArrowheads="1"/>
          </p:cNvSpPr>
          <p:nvPr/>
        </p:nvSpPr>
        <p:spPr bwMode="auto">
          <a:xfrm>
            <a:off x="7300913" y="2280920"/>
            <a:ext cx="896938"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1" name="Rectangle 8"/>
          <p:cNvSpPr>
            <a:spLocks noChangeArrowheads="1"/>
          </p:cNvSpPr>
          <p:nvPr/>
        </p:nvSpPr>
        <p:spPr bwMode="auto">
          <a:xfrm>
            <a:off x="8197850" y="2280920"/>
            <a:ext cx="931863"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2" name="Rectangle 67"/>
          <p:cNvSpPr>
            <a:spLocks noChangeArrowheads="1"/>
          </p:cNvSpPr>
          <p:nvPr/>
        </p:nvSpPr>
        <p:spPr bwMode="auto">
          <a:xfrm>
            <a:off x="5715000" y="4481195"/>
            <a:ext cx="325438"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文本框 72"/>
          <p:cNvSpPr txBox="1"/>
          <p:nvPr/>
        </p:nvSpPr>
        <p:spPr>
          <a:xfrm>
            <a:off x="633095" y="5516880"/>
            <a:ext cx="7240270"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rPr>
              <a:t>将</a:t>
            </a:r>
            <a:r>
              <a:rPr lang="en-US" altLang="zh-CN">
                <a:solidFill>
                  <a:srgbClr val="FF0000"/>
                </a:solidFill>
                <a:uFillTx/>
                <a:latin typeface="Times New Roman" panose="02020603050405020304" pitchFamily="18" charset="0"/>
              </a:rPr>
              <a:t>D</a:t>
            </a:r>
            <a:r>
              <a:rPr lang="zh-CN" altLang="en-US">
                <a:solidFill>
                  <a:srgbClr val="FF0000"/>
                </a:solidFill>
                <a:uFillTx/>
                <a:latin typeface="Times New Roman" panose="02020603050405020304" pitchFamily="18" charset="0"/>
              </a:rPr>
              <a:t>节点添加到点集标识</a:t>
            </a:r>
            <a:r>
              <a:rPr lang="en-US" altLang="zh-CN">
                <a:solidFill>
                  <a:srgbClr val="FF0000"/>
                </a:solidFill>
                <a:uFillTx/>
                <a:latin typeface="Times New Roman" panose="02020603050405020304" pitchFamily="18" charset="0"/>
              </a:rPr>
              <a:t>D</a:t>
            </a:r>
            <a:r>
              <a:rPr lang="zh-CN" altLang="en-US">
                <a:solidFill>
                  <a:srgbClr val="FF0000"/>
                </a:solidFill>
                <a:uFillTx/>
                <a:latin typeface="Times New Roman" panose="02020603050405020304" pitchFamily="18" charset="0"/>
              </a:rPr>
              <a:t>已完成</a:t>
            </a:r>
            <a:r>
              <a:rPr lang="zh-CN" altLang="en-US">
                <a:solidFill>
                  <a:srgbClr val="FF0000"/>
                </a:solidFill>
                <a:uFillTx/>
                <a:latin typeface="Times New Roman" panose="02020603050405020304" pitchFamily="18" charset="0"/>
              </a:rPr>
              <a:t>，并更新与</a:t>
            </a:r>
            <a:r>
              <a:rPr lang="en-US" altLang="zh-CN">
                <a:solidFill>
                  <a:srgbClr val="FF0000"/>
                </a:solidFill>
                <a:uFillTx/>
                <a:latin typeface="Times New Roman" panose="02020603050405020304" pitchFamily="18" charset="0"/>
              </a:rPr>
              <a:t>D</a:t>
            </a:r>
            <a:r>
              <a:rPr lang="zh-CN" altLang="en-US">
                <a:solidFill>
                  <a:srgbClr val="FF0000"/>
                </a:solidFill>
                <a:uFillTx/>
                <a:latin typeface="Times New Roman" panose="02020603050405020304" pitchFamily="18" charset="0"/>
              </a:rPr>
              <a:t>节点相连的点的</a:t>
            </a:r>
            <a:r>
              <a:rPr lang="zh-CN" altLang="en-US">
                <a:solidFill>
                  <a:srgbClr val="FF0000"/>
                </a:solidFill>
                <a:uFillTx/>
                <a:latin typeface="Times New Roman" panose="02020603050405020304" pitchFamily="18" charset="0"/>
              </a:rPr>
              <a:t>距离。</a:t>
            </a:r>
            <a:endParaRPr lang="zh-CN" altLang="en-US">
              <a:solidFill>
                <a:srgbClr val="FF0000"/>
              </a:solidFill>
              <a:uFillTx/>
              <a:latin typeface="Times New Roman" panose="02020603050405020304" pitchFamily="18" charset="0"/>
            </a:endParaRPr>
          </a:p>
        </p:txBody>
      </p:sp>
      <p:sp>
        <p:nvSpPr>
          <p:cNvPr id="76" name="Rectangle 49"/>
          <p:cNvSpPr>
            <a:spLocks noChangeArrowheads="1"/>
          </p:cNvSpPr>
          <p:nvPr/>
        </p:nvSpPr>
        <p:spPr bwMode="auto">
          <a:xfrm>
            <a:off x="5715000" y="2749233"/>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20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53"/>
          <p:cNvSpPr>
            <a:spLocks noChangeArrowheads="1"/>
          </p:cNvSpPr>
          <p:nvPr/>
        </p:nvSpPr>
        <p:spPr bwMode="auto">
          <a:xfrm>
            <a:off x="5715000"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78" name="Rectangle 59"/>
          <p:cNvSpPr>
            <a:spLocks noChangeArrowheads="1"/>
          </p:cNvSpPr>
          <p:nvPr/>
        </p:nvSpPr>
        <p:spPr bwMode="auto">
          <a:xfrm>
            <a:off x="5715000" y="3620770"/>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9" name="Rectangle 64"/>
          <p:cNvSpPr>
            <a:spLocks noChangeArrowheads="1"/>
          </p:cNvSpPr>
          <p:nvPr/>
        </p:nvSpPr>
        <p:spPr bwMode="auto">
          <a:xfrm>
            <a:off x="5715000" y="4057333"/>
            <a:ext cx="209550" cy="209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15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cxnSp>
        <p:nvCxnSpPr>
          <p:cNvPr id="81" name="直接连接符 80"/>
          <p:cNvCxnSpPr/>
          <p:nvPr/>
        </p:nvCxnSpPr>
        <p:spPr>
          <a:xfrm flipH="1">
            <a:off x="1108710" y="2631440"/>
            <a:ext cx="697865" cy="481965"/>
          </a:xfrm>
          <a:prstGeom prst="line">
            <a:avLst/>
          </a:prstGeom>
          <a:solidFill>
            <a:schemeClr val="accent1"/>
          </a:solidFill>
          <a:ln w="28575" cap="flat" cmpd="sng" algn="ctr">
            <a:solidFill>
              <a:srgbClr val="FF0000"/>
            </a:solidFill>
            <a:prstDash val="solid"/>
            <a:round/>
            <a:headEnd type="none" w="med" len="med"/>
            <a:tailEnd type="triangle" w="med" len="med"/>
          </a:ln>
        </p:spPr>
      </p:cxnSp>
      <p:sp>
        <p:nvSpPr>
          <p:cNvPr id="82" name="文本框 81"/>
          <p:cNvSpPr txBox="1"/>
          <p:nvPr/>
        </p:nvSpPr>
        <p:spPr>
          <a:xfrm>
            <a:off x="1223010" y="2460625"/>
            <a:ext cx="445770" cy="346075"/>
          </a:xfrm>
          <a:prstGeom prst="rect">
            <a:avLst/>
          </a:prstGeom>
          <a:noFill/>
        </p:spPr>
        <p:txBody>
          <a:bodyPr wrap="square" rtlCol="0">
            <a:noAutofit/>
          </a:bodyPr>
          <a:lstStyle/>
          <a:p>
            <a:r>
              <a:rPr lang="en-US" altLang="zh-CN">
                <a:solidFill>
                  <a:srgbClr val="FF0000"/>
                </a:solidFill>
                <a:latin typeface="+mj-lt"/>
                <a:cs typeface="+mj-lt"/>
              </a:rPr>
              <a:t>15</a:t>
            </a:r>
            <a:endParaRPr lang="en-US" altLang="zh-CN">
              <a:solidFill>
                <a:srgbClr val="FF0000"/>
              </a:solidFill>
              <a:latin typeface="+mj-lt"/>
              <a:cs typeface="+mj-lt"/>
            </a:endParaRPr>
          </a:p>
        </p:txBody>
      </p:sp>
      <p:sp>
        <p:nvSpPr>
          <p:cNvPr id="12" name="Rectangle 12"/>
          <p:cNvSpPr>
            <a:spLocks noChangeArrowheads="1"/>
          </p:cNvSpPr>
          <p:nvPr/>
        </p:nvSpPr>
        <p:spPr bwMode="auto">
          <a:xfrm>
            <a:off x="6386513" y="3995420"/>
            <a:ext cx="914400"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3" name="Rectangle 13"/>
          <p:cNvSpPr>
            <a:spLocks noChangeArrowheads="1"/>
          </p:cNvSpPr>
          <p:nvPr/>
        </p:nvSpPr>
        <p:spPr bwMode="auto">
          <a:xfrm>
            <a:off x="7300913" y="3995420"/>
            <a:ext cx="896938"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4" name="Rectangle 14"/>
          <p:cNvSpPr>
            <a:spLocks noChangeArrowheads="1"/>
          </p:cNvSpPr>
          <p:nvPr/>
        </p:nvSpPr>
        <p:spPr bwMode="auto">
          <a:xfrm>
            <a:off x="8197850" y="3995420"/>
            <a:ext cx="931863"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29" name="Rectangle 50"/>
          <p:cNvSpPr>
            <a:spLocks noChangeArrowheads="1"/>
          </p:cNvSpPr>
          <p:nvPr/>
        </p:nvSpPr>
        <p:spPr bwMode="auto">
          <a:xfrm>
            <a:off x="6483350" y="2749233"/>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20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3" name="Rectangle 54"/>
          <p:cNvSpPr>
            <a:spLocks noChangeArrowheads="1"/>
          </p:cNvSpPr>
          <p:nvPr/>
        </p:nvSpPr>
        <p:spPr bwMode="auto">
          <a:xfrm>
            <a:off x="6483350"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84" name="Rectangle 60"/>
          <p:cNvSpPr>
            <a:spLocks noChangeArrowheads="1"/>
          </p:cNvSpPr>
          <p:nvPr/>
        </p:nvSpPr>
        <p:spPr bwMode="auto">
          <a:xfrm>
            <a:off x="6483350" y="3620770"/>
            <a:ext cx="4000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60,38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6" name="Rectangle 68"/>
          <p:cNvSpPr>
            <a:spLocks noChangeArrowheads="1"/>
          </p:cNvSpPr>
          <p:nvPr/>
        </p:nvSpPr>
        <p:spPr bwMode="auto">
          <a:xfrm>
            <a:off x="6483350" y="4481195"/>
            <a:ext cx="476250"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A,E,B</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7" name="Rectangle 9"/>
          <p:cNvSpPr>
            <a:spLocks noChangeArrowheads="1"/>
          </p:cNvSpPr>
          <p:nvPr/>
        </p:nvSpPr>
        <p:spPr bwMode="auto">
          <a:xfrm>
            <a:off x="7300913" y="2688908"/>
            <a:ext cx="896938" cy="436563"/>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88" name="Rectangle 10"/>
          <p:cNvSpPr>
            <a:spLocks noChangeArrowheads="1"/>
          </p:cNvSpPr>
          <p:nvPr/>
        </p:nvSpPr>
        <p:spPr bwMode="auto">
          <a:xfrm>
            <a:off x="8197850" y="2688908"/>
            <a:ext cx="931863" cy="436563"/>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89" name="Rectangle 55"/>
          <p:cNvSpPr>
            <a:spLocks noChangeArrowheads="1"/>
          </p:cNvSpPr>
          <p:nvPr/>
        </p:nvSpPr>
        <p:spPr bwMode="auto">
          <a:xfrm>
            <a:off x="7397750" y="3195320"/>
            <a:ext cx="152400"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62</a:t>
            </a:r>
            <a:endParaRPr kumimoji="0" lang="zh-CN" altLang="zh-CN" sz="1200" b="0" i="0" u="none" strike="noStrike" cap="none" normalizeH="0" baseline="0">
              <a:ln>
                <a:noFill/>
              </a:ln>
              <a:solidFill>
                <a:schemeClr val="tx1"/>
              </a:solidFill>
              <a:effectLst/>
              <a:latin typeface="Arial" panose="020B0604020202020204" pitchFamily="34" charset="0"/>
            </a:endParaRPr>
          </a:p>
        </p:txBody>
      </p:sp>
      <p:sp>
        <p:nvSpPr>
          <p:cNvPr id="90" name="Rectangle 61"/>
          <p:cNvSpPr>
            <a:spLocks noChangeArrowheads="1"/>
          </p:cNvSpPr>
          <p:nvPr/>
        </p:nvSpPr>
        <p:spPr bwMode="auto">
          <a:xfrm>
            <a:off x="7397750" y="3628708"/>
            <a:ext cx="342900"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60,38</a:t>
            </a:r>
            <a:endParaRPr kumimoji="0" lang="zh-CN" altLang="zh-CN" sz="1200" b="0" i="0" u="none" strike="noStrike" cap="none" normalizeH="0" baseline="0">
              <a:ln>
                <a:noFill/>
              </a:ln>
              <a:solidFill>
                <a:schemeClr val="tx1"/>
              </a:solidFill>
              <a:effectLst/>
              <a:latin typeface="Arial" panose="020B0604020202020204" pitchFamily="34" charset="0"/>
            </a:endParaRPr>
          </a:p>
        </p:txBody>
      </p:sp>
      <p:cxnSp>
        <p:nvCxnSpPr>
          <p:cNvPr id="92" name="直接连接符 91"/>
          <p:cNvCxnSpPr/>
          <p:nvPr/>
        </p:nvCxnSpPr>
        <p:spPr>
          <a:xfrm>
            <a:off x="953135" y="3610610"/>
            <a:ext cx="313055" cy="798195"/>
          </a:xfrm>
          <a:prstGeom prst="line">
            <a:avLst/>
          </a:prstGeom>
          <a:solidFill>
            <a:schemeClr val="accent1"/>
          </a:solidFill>
          <a:ln w="28575" cap="flat" cmpd="sng" algn="ctr">
            <a:solidFill>
              <a:srgbClr val="FF0000"/>
            </a:solidFill>
            <a:prstDash val="solid"/>
            <a:round/>
            <a:headEnd type="none" w="med" len="med"/>
            <a:tailEnd type="triangle" w="med" len="med"/>
          </a:ln>
        </p:spPr>
      </p:cxnSp>
      <p:sp>
        <p:nvSpPr>
          <p:cNvPr id="93" name="文本框 92"/>
          <p:cNvSpPr txBox="1"/>
          <p:nvPr/>
        </p:nvSpPr>
        <p:spPr>
          <a:xfrm>
            <a:off x="633095" y="3874770"/>
            <a:ext cx="445770" cy="346075"/>
          </a:xfrm>
          <a:prstGeom prst="rect">
            <a:avLst/>
          </a:prstGeom>
          <a:noFill/>
        </p:spPr>
        <p:txBody>
          <a:bodyPr wrap="square" rtlCol="0">
            <a:noAutofit/>
          </a:bodyPr>
          <a:lstStyle/>
          <a:p>
            <a:r>
              <a:rPr lang="en-US" altLang="zh-CN">
                <a:solidFill>
                  <a:srgbClr val="FF0000"/>
                </a:solidFill>
                <a:latin typeface="+mj-lt"/>
                <a:cs typeface="+mj-lt"/>
              </a:rPr>
              <a:t>23</a:t>
            </a:r>
            <a:endParaRPr lang="en-US" altLang="zh-CN">
              <a:solidFill>
                <a:srgbClr val="FF0000"/>
              </a:solidFill>
              <a:latin typeface="+mj-lt"/>
              <a:cs typeface="+mj-lt"/>
            </a:endParaRPr>
          </a:p>
        </p:txBody>
      </p:sp>
      <p:sp>
        <p:nvSpPr>
          <p:cNvPr id="95" name="Rectangle 69"/>
          <p:cNvSpPr>
            <a:spLocks noChangeArrowheads="1"/>
          </p:cNvSpPr>
          <p:nvPr/>
        </p:nvSpPr>
        <p:spPr bwMode="auto">
          <a:xfrm>
            <a:off x="7397750" y="4481195"/>
            <a:ext cx="628650"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A,E,B,D</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1" name="Rectangle 11"/>
          <p:cNvSpPr>
            <a:spLocks noChangeArrowheads="1"/>
          </p:cNvSpPr>
          <p:nvPr/>
        </p:nvSpPr>
        <p:spPr bwMode="auto">
          <a:xfrm>
            <a:off x="8197850" y="3560445"/>
            <a:ext cx="931863" cy="434975"/>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32" name="Rectangle 56"/>
          <p:cNvSpPr>
            <a:spLocks noChangeArrowheads="1"/>
          </p:cNvSpPr>
          <p:nvPr/>
        </p:nvSpPr>
        <p:spPr bwMode="auto">
          <a:xfrm>
            <a:off x="8293100" y="3195320"/>
            <a:ext cx="342900"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62</a:t>
            </a:r>
            <a:r>
              <a:rPr kumimoji="0" lang="en-US" altLang="zh-CN" sz="1200" b="0" i="0" u="none" strike="noStrike" cap="none" normalizeH="0" baseline="0">
                <a:ln>
                  <a:noFill/>
                </a:ln>
                <a:solidFill>
                  <a:srgbClr val="000000"/>
                </a:solidFill>
                <a:effectLst/>
                <a:latin typeface="Times New Roman" panose="02020603050405020304" pitchFamily="18" charset="0"/>
              </a:rPr>
              <a:t>,68</a:t>
            </a:r>
            <a:endParaRPr kumimoji="0" lang="en-US" altLang="zh-CN" sz="1200" b="0" i="0" u="none" strike="noStrike" cap="none" normalizeH="0" baseline="0">
              <a:ln>
                <a:noFill/>
              </a:ln>
              <a:solidFill>
                <a:srgbClr val="000000"/>
              </a:solidFill>
              <a:effectLst/>
              <a:latin typeface="Times New Roman" panose="02020603050405020304" pitchFamily="18" charset="0"/>
            </a:endParaRPr>
          </a:p>
        </p:txBody>
      </p:sp>
      <p:sp>
        <p:nvSpPr>
          <p:cNvPr id="33" name="文本框 32"/>
          <p:cNvSpPr txBox="1"/>
          <p:nvPr/>
        </p:nvSpPr>
        <p:spPr>
          <a:xfrm>
            <a:off x="730885" y="5516880"/>
            <a:ext cx="8059420"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rPr>
              <a:t>选择最短距离，此时最短点是</a:t>
            </a:r>
            <a:r>
              <a:rPr lang="en-US" altLang="zh-CN">
                <a:solidFill>
                  <a:srgbClr val="FF0000"/>
                </a:solidFill>
                <a:uFillTx/>
                <a:latin typeface="Times New Roman" panose="02020603050405020304" pitchFamily="18" charset="0"/>
              </a:rPr>
              <a:t>D,</a:t>
            </a:r>
            <a:r>
              <a:rPr lang="zh-CN" altLang="en-US">
                <a:solidFill>
                  <a:srgbClr val="FF0000"/>
                </a:solidFill>
                <a:uFillTx/>
                <a:latin typeface="Times New Roman" panose="02020603050405020304" pitchFamily="18" charset="0"/>
              </a:rPr>
              <a:t>直接跳过，继续选择最短</a:t>
            </a:r>
            <a:r>
              <a:rPr lang="zh-CN" altLang="en-US">
                <a:solidFill>
                  <a:srgbClr val="FF0000"/>
                </a:solidFill>
                <a:uFillTx/>
                <a:latin typeface="Times New Roman" panose="02020603050405020304" pitchFamily="18" charset="0"/>
              </a:rPr>
              <a:t>距离。</a:t>
            </a:r>
            <a:endParaRPr lang="zh-CN" altLang="en-US">
              <a:solidFill>
                <a:srgbClr val="FF0000"/>
              </a:solidFill>
              <a:uFillTx/>
              <a:latin typeface="Times New Roman" panose="02020603050405020304" pitchFamily="18" charset="0"/>
            </a:endParaRPr>
          </a:p>
        </p:txBody>
      </p:sp>
      <p:cxnSp>
        <p:nvCxnSpPr>
          <p:cNvPr id="36" name="直接连接符 35"/>
          <p:cNvCxnSpPr/>
          <p:nvPr/>
        </p:nvCxnSpPr>
        <p:spPr>
          <a:xfrm flipH="1">
            <a:off x="2893695" y="3539490"/>
            <a:ext cx="71755" cy="683895"/>
          </a:xfrm>
          <a:prstGeom prst="line">
            <a:avLst/>
          </a:prstGeom>
          <a:solidFill>
            <a:schemeClr val="accent1"/>
          </a:solidFill>
          <a:ln w="28575" cap="flat" cmpd="sng" algn="ctr">
            <a:solidFill>
              <a:srgbClr val="FF0000"/>
            </a:solidFill>
            <a:prstDash val="solid"/>
            <a:round/>
            <a:headEnd type="none" w="med" len="med"/>
            <a:tailEnd type="triangle" w="med" len="med"/>
          </a:ln>
        </p:spPr>
      </p:cxnSp>
      <p:sp>
        <p:nvSpPr>
          <p:cNvPr id="40" name="文本框 39"/>
          <p:cNvSpPr txBox="1"/>
          <p:nvPr/>
        </p:nvSpPr>
        <p:spPr>
          <a:xfrm>
            <a:off x="2964815" y="3683000"/>
            <a:ext cx="445770" cy="346075"/>
          </a:xfrm>
          <a:prstGeom prst="rect">
            <a:avLst/>
          </a:prstGeom>
          <a:noFill/>
        </p:spPr>
        <p:txBody>
          <a:bodyPr wrap="square" rtlCol="0">
            <a:noAutofit/>
          </a:bodyPr>
          <a:lstStyle/>
          <a:p>
            <a:r>
              <a:rPr lang="en-US" altLang="zh-CN">
                <a:solidFill>
                  <a:srgbClr val="FF0000"/>
                </a:solidFill>
                <a:latin typeface="+mj-lt"/>
                <a:cs typeface="+mj-lt"/>
              </a:rPr>
              <a:t>42</a:t>
            </a:r>
            <a:endParaRPr lang="en-US" altLang="zh-CN">
              <a:solidFill>
                <a:srgbClr val="FF0000"/>
              </a:solidFill>
              <a:latin typeface="+mj-lt"/>
              <a:cs typeface="+mj-lt"/>
            </a:endParaRPr>
          </a:p>
        </p:txBody>
      </p:sp>
      <p:sp>
        <p:nvSpPr>
          <p:cNvPr id="35" name="文本框 34"/>
          <p:cNvSpPr txBox="1"/>
          <p:nvPr/>
        </p:nvSpPr>
        <p:spPr>
          <a:xfrm>
            <a:off x="3216910" y="4940935"/>
            <a:ext cx="1880235" cy="365760"/>
          </a:xfrm>
          <a:prstGeom prst="rect">
            <a:avLst/>
          </a:prstGeom>
          <a:noFill/>
        </p:spPr>
        <p:txBody>
          <a:bodyPr wrap="square" rtlCol="0">
            <a:noAutofit/>
          </a:bodyPr>
          <a:lstStyle/>
          <a:p>
            <a:r>
              <a:rPr lang="zh-CN" altLang="en-US"/>
              <a:t>待距离源点长度</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41" name="左大括号 40"/>
          <p:cNvSpPr/>
          <p:nvPr/>
        </p:nvSpPr>
        <p:spPr>
          <a:xfrm flipH="1">
            <a:off x="6365875" y="486473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2" name="左大括号 41"/>
          <p:cNvSpPr/>
          <p:nvPr/>
        </p:nvSpPr>
        <p:spPr>
          <a:xfrm>
            <a:off x="5043170" y="485648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98" name="组合 97"/>
          <p:cNvGrpSpPr/>
          <p:nvPr/>
        </p:nvGrpSpPr>
        <p:grpSpPr>
          <a:xfrm>
            <a:off x="5235575" y="4940935"/>
            <a:ext cx="589280" cy="382270"/>
            <a:chOff x="906683" y="2036167"/>
            <a:chExt cx="765448" cy="504056"/>
          </a:xfrm>
        </p:grpSpPr>
        <p:sp>
          <p:nvSpPr>
            <p:cNvPr id="9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0" name="文本框 99"/>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D:60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5" name="组合 84"/>
          <p:cNvGrpSpPr/>
          <p:nvPr/>
        </p:nvGrpSpPr>
        <p:grpSpPr>
          <a:xfrm>
            <a:off x="5906135" y="4929505"/>
            <a:ext cx="589280" cy="382270"/>
            <a:chOff x="906683" y="2036167"/>
            <a:chExt cx="765448" cy="504056"/>
          </a:xfrm>
        </p:grpSpPr>
        <p:sp>
          <p:nvSpPr>
            <p:cNvPr id="9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4" name="文本框 93"/>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C:62</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97" name="组合 96"/>
          <p:cNvGrpSpPr/>
          <p:nvPr/>
        </p:nvGrpSpPr>
        <p:grpSpPr>
          <a:xfrm>
            <a:off x="6588125" y="4954270"/>
            <a:ext cx="589280" cy="382270"/>
            <a:chOff x="906683" y="2036167"/>
            <a:chExt cx="765448" cy="504056"/>
          </a:xfrm>
        </p:grpSpPr>
        <p:sp>
          <p:nvSpPr>
            <p:cNvPr id="10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3" name="文本框 102"/>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C:68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104" name="文本框 103"/>
          <p:cNvSpPr txBox="1"/>
          <p:nvPr/>
        </p:nvSpPr>
        <p:spPr>
          <a:xfrm>
            <a:off x="730885" y="5516880"/>
            <a:ext cx="8059420"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rPr>
              <a:t>再选择最短距离，此时最短点是</a:t>
            </a:r>
            <a:r>
              <a:rPr lang="en-US" altLang="zh-CN">
                <a:solidFill>
                  <a:srgbClr val="FF0000"/>
                </a:solidFill>
                <a:uFillTx/>
                <a:latin typeface="Times New Roman" panose="02020603050405020304" pitchFamily="18" charset="0"/>
              </a:rPr>
              <a:t>C</a:t>
            </a:r>
            <a:r>
              <a:rPr lang="zh-CN" altLang="en-US">
                <a:solidFill>
                  <a:srgbClr val="FF0000"/>
                </a:solidFill>
                <a:uFillTx/>
                <a:latin typeface="Times New Roman" panose="02020603050405020304" pitchFamily="18" charset="0"/>
              </a:rPr>
              <a:t>，将</a:t>
            </a:r>
            <a:r>
              <a:rPr lang="en-US" altLang="zh-CN">
                <a:solidFill>
                  <a:srgbClr val="FF0000"/>
                </a:solidFill>
                <a:uFillTx/>
                <a:latin typeface="Times New Roman" panose="02020603050405020304" pitchFamily="18" charset="0"/>
              </a:rPr>
              <a:t>C</a:t>
            </a:r>
            <a:r>
              <a:rPr lang="zh-CN" altLang="en-US">
                <a:solidFill>
                  <a:srgbClr val="FF0000"/>
                </a:solidFill>
                <a:uFillTx/>
                <a:latin typeface="Times New Roman" panose="02020603050405020304" pitchFamily="18" charset="0"/>
              </a:rPr>
              <a:t>节点加入进去。</a:t>
            </a:r>
            <a:endParaRPr lang="zh-CN" altLang="en-US">
              <a:solidFill>
                <a:srgbClr val="FF0000"/>
              </a:solidFill>
              <a:uFillTx/>
              <a:latin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2" nodeType="clickEffect">
                                  <p:stCondLst>
                                    <p:cond delay="0"/>
                                  </p:stCondLst>
                                  <p:childTnLst>
                                    <p:set>
                                      <p:cBhvr>
                                        <p:cTn id="6" dur="1" fill="hold">
                                          <p:stCondLst>
                                            <p:cond delay="0"/>
                                          </p:stCondLst>
                                        </p:cTn>
                                        <p:tgtEl>
                                          <p:spTgt spid="73"/>
                                        </p:tgtEl>
                                        <p:attrNameLst>
                                          <p:attrName>style.visibility</p:attrName>
                                        </p:attrNameLst>
                                      </p:cBhvr>
                                      <p:to>
                                        <p:strVal val="visible"/>
                                      </p:to>
                                    </p:set>
                                    <p:anim calcmode="lin" valueType="num">
                                      <p:cBhvr additive="base">
                                        <p:cTn id="7" dur="500" fill="hold"/>
                                        <p:tgtEl>
                                          <p:spTgt spid="73"/>
                                        </p:tgtEl>
                                        <p:attrNameLst>
                                          <p:attrName>ppt_x</p:attrName>
                                        </p:attrNameLst>
                                      </p:cBhvr>
                                      <p:tavLst>
                                        <p:tav tm="0">
                                          <p:val>
                                            <p:strVal val="#ppt_x"/>
                                          </p:val>
                                        </p:tav>
                                        <p:tav tm="100000">
                                          <p:val>
                                            <p:strVal val="#ppt_x"/>
                                          </p:val>
                                        </p:tav>
                                      </p:tavLst>
                                    </p:anim>
                                    <p:anim calcmode="lin" valueType="num">
                                      <p:cBhvr additive="base">
                                        <p:cTn id="8"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35" presetClass="emph" presetSubtype="0" fill="hold" grpId="0" nodeType="clickEffect">
                                  <p:stCondLst>
                                    <p:cond delay="0"/>
                                  </p:stCondLst>
                                  <p:childTnLst>
                                    <p:anim calcmode="discrete" valueType="str">
                                      <p:cBhvr>
                                        <p:cTn id="16" dur="1000" fill="hold"/>
                                        <p:tgtEl>
                                          <p:spTgt spid="38"/>
                                        </p:tgtEl>
                                        <p:attrNameLst>
                                          <p:attrName>style.visibility</p:attrName>
                                        </p:attrNameLst>
                                      </p:cBhvr>
                                      <p:tavLst>
                                        <p:tav tm="0">
                                          <p:val>
                                            <p:strVal val="hidden"/>
                                          </p:val>
                                        </p:tav>
                                        <p:tav tm="50000">
                                          <p:val>
                                            <p:strVal val="visible"/>
                                          </p:val>
                                        </p:tav>
                                      </p:tavLst>
                                    </p:anim>
                                  </p:childTnLst>
                                </p:cTn>
                              </p:par>
                              <p:par>
                                <p:cTn id="17" presetID="35" presetClass="emph" presetSubtype="0" fill="hold" nodeType="withEffect">
                                  <p:stCondLst>
                                    <p:cond delay="0"/>
                                  </p:stCondLst>
                                  <p:childTnLst>
                                    <p:anim calcmode="discrete" valueType="str">
                                      <p:cBhvr>
                                        <p:cTn id="18" dur="1000" fill="hold"/>
                                        <p:tgtEl>
                                          <p:spTgt spid="24"/>
                                        </p:tgtEl>
                                        <p:attrNameLst>
                                          <p:attrName>style.visibility</p:attrName>
                                        </p:attrNameLst>
                                      </p:cBhvr>
                                      <p:tavLst>
                                        <p:tav tm="0">
                                          <p:val>
                                            <p:strVal val="hidden"/>
                                          </p:val>
                                        </p:tav>
                                        <p:tav tm="50000">
                                          <p:val>
                                            <p:strVal val="visible"/>
                                          </p:val>
                                        </p:tav>
                                      </p:tavLst>
                                    </p:anim>
                                  </p:childTnLst>
                                </p:cTn>
                              </p:par>
                            </p:childTnLst>
                          </p:cTn>
                        </p:par>
                        <p:par>
                          <p:cTn id="19" fill="hold">
                            <p:stCondLst>
                              <p:cond delay="1000"/>
                            </p:stCondLst>
                            <p:childTnLst>
                              <p:par>
                                <p:cTn id="20" presetID="35" presetClass="emph" presetSubtype="0" fill="hold" grpId="2" nodeType="afterEffect">
                                  <p:stCondLst>
                                    <p:cond delay="0"/>
                                  </p:stCondLst>
                                  <p:childTnLst>
                                    <p:anim calcmode="discrete" valueType="str">
                                      <p:cBhvr>
                                        <p:cTn id="21" dur="1000" fill="hold"/>
                                        <p:tgtEl>
                                          <p:spTgt spid="38"/>
                                        </p:tgtEl>
                                        <p:attrNameLst>
                                          <p:attrName>style.visibility</p:attrName>
                                        </p:attrNameLst>
                                      </p:cBhvr>
                                      <p:tavLst>
                                        <p:tav tm="0">
                                          <p:val>
                                            <p:strVal val="hidden"/>
                                          </p:val>
                                        </p:tav>
                                        <p:tav tm="50000">
                                          <p:val>
                                            <p:strVal val="visible"/>
                                          </p:val>
                                        </p:tav>
                                      </p:tavLst>
                                    </p:anim>
                                  </p:childTnLst>
                                </p:cTn>
                              </p:par>
                              <p:par>
                                <p:cTn id="22" presetID="35" presetClass="emph" presetSubtype="0" fill="hold" nodeType="withEffect">
                                  <p:stCondLst>
                                    <p:cond delay="0"/>
                                  </p:stCondLst>
                                  <p:childTnLst>
                                    <p:anim calcmode="discrete" valueType="str">
                                      <p:cBhvr>
                                        <p:cTn id="23" dur="1000" fill="hold"/>
                                        <p:tgtEl>
                                          <p:spTgt spid="24"/>
                                        </p:tgtEl>
                                        <p:attrNameLst>
                                          <p:attrName>style.visibility</p:attrName>
                                        </p:attrNameLst>
                                      </p:cBhvr>
                                      <p:tavLst>
                                        <p:tav tm="0">
                                          <p:val>
                                            <p:strVal val="hidden"/>
                                          </p:val>
                                        </p:tav>
                                        <p:tav tm="50000">
                                          <p:val>
                                            <p:strVal val="visible"/>
                                          </p:val>
                                        </p:tav>
                                      </p:tavLst>
                                    </p:anim>
                                  </p:childTnLst>
                                </p:cTn>
                              </p:par>
                            </p:childTnLst>
                          </p:cTn>
                        </p:par>
                      </p:childTnLst>
                    </p:cTn>
                  </p:par>
                  <p:par>
                    <p:cTn id="24" fill="hold">
                      <p:stCondLst>
                        <p:cond delay="indefinite"/>
                      </p:stCondLst>
                      <p:childTnLst>
                        <p:par>
                          <p:cTn id="25" fill="hold">
                            <p:stCondLst>
                              <p:cond delay="0"/>
                            </p:stCondLst>
                            <p:childTnLst>
                              <p:par>
                                <p:cTn id="26" presetID="2" presetClass="entr" presetSubtype="4" fill="hold" grpId="0" nodeType="clickEffect">
                                  <p:stCondLst>
                                    <p:cond delay="0"/>
                                  </p:stCondLst>
                                  <p:childTnLst>
                                    <p:set>
                                      <p:cBhvr>
                                        <p:cTn id="27" dur="1" fill="hold">
                                          <p:stCondLst>
                                            <p:cond delay="0"/>
                                          </p:stCondLst>
                                        </p:cTn>
                                        <p:tgtEl>
                                          <p:spTgt spid="32"/>
                                        </p:tgtEl>
                                        <p:attrNameLst>
                                          <p:attrName>style.visibility</p:attrName>
                                        </p:attrNameLst>
                                      </p:cBhvr>
                                      <p:to>
                                        <p:strVal val="visible"/>
                                      </p:to>
                                    </p:set>
                                    <p:anim calcmode="lin" valueType="num">
                                      <p:cBhvr additive="base">
                                        <p:cTn id="28" dur="500" fill="hold"/>
                                        <p:tgtEl>
                                          <p:spTgt spid="32"/>
                                        </p:tgtEl>
                                        <p:attrNameLst>
                                          <p:attrName>ppt_x</p:attrName>
                                        </p:attrNameLst>
                                      </p:cBhvr>
                                      <p:tavLst>
                                        <p:tav tm="0">
                                          <p:val>
                                            <p:strVal val="#ppt_x"/>
                                          </p:val>
                                        </p:tav>
                                        <p:tav tm="100000">
                                          <p:val>
                                            <p:strVal val="#ppt_x"/>
                                          </p:val>
                                        </p:tav>
                                      </p:tavLst>
                                    </p:anim>
                                    <p:anim calcmode="lin" valueType="num">
                                      <p:cBhvr additive="base">
                                        <p:cTn id="29" dur="500" fill="hold"/>
                                        <p:tgtEl>
                                          <p:spTgt spid="32"/>
                                        </p:tgtEl>
                                        <p:attrNameLst>
                                          <p:attrName>ppt_y</p:attrName>
                                        </p:attrNameLst>
                                      </p:cBhvr>
                                      <p:tavLst>
                                        <p:tav tm="0">
                                          <p:val>
                                            <p:strVal val="1+#ppt_h/2"/>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2" presetClass="exit" presetSubtype="4" fill="hold" grpId="0" nodeType="clickEffect">
                                  <p:stCondLst>
                                    <p:cond delay="0"/>
                                  </p:stCondLst>
                                  <p:childTnLst>
                                    <p:anim calcmode="lin" valueType="num">
                                      <p:cBhvr additive="base">
                                        <p:cTn id="33" dur="500"/>
                                        <p:tgtEl>
                                          <p:spTgt spid="73"/>
                                        </p:tgtEl>
                                        <p:attrNameLst>
                                          <p:attrName>ppt_x</p:attrName>
                                        </p:attrNameLst>
                                      </p:cBhvr>
                                      <p:tavLst>
                                        <p:tav tm="0">
                                          <p:val>
                                            <p:strVal val="ppt_x"/>
                                          </p:val>
                                        </p:tav>
                                        <p:tav tm="100000">
                                          <p:val>
                                            <p:strVal val="ppt_x"/>
                                          </p:val>
                                        </p:tav>
                                      </p:tavLst>
                                    </p:anim>
                                    <p:anim calcmode="lin" valueType="num">
                                      <p:cBhvr additive="base">
                                        <p:cTn id="34" dur="500"/>
                                        <p:tgtEl>
                                          <p:spTgt spid="73"/>
                                        </p:tgtEl>
                                        <p:attrNameLst>
                                          <p:attrName>ppt_y</p:attrName>
                                        </p:attrNameLst>
                                      </p:cBhvr>
                                      <p:tavLst>
                                        <p:tav tm="0">
                                          <p:val>
                                            <p:strVal val="ppt_y"/>
                                          </p:val>
                                        </p:tav>
                                        <p:tav tm="100000">
                                          <p:val>
                                            <p:strVal val="1+ppt_h/2"/>
                                          </p:val>
                                        </p:tav>
                                      </p:tavLst>
                                    </p:anim>
                                    <p:set>
                                      <p:cBhvr>
                                        <p:cTn id="35" dur="1" fill="hold">
                                          <p:stCondLst>
                                            <p:cond delay="499"/>
                                          </p:stCondLst>
                                        </p:cTn>
                                        <p:tgtEl>
                                          <p:spTgt spid="73"/>
                                        </p:tgtEl>
                                        <p:attrNameLst>
                                          <p:attrName>style.visibility</p:attrName>
                                        </p:attrNameLst>
                                      </p:cBhvr>
                                      <p:to>
                                        <p:strVal val="hidden"/>
                                      </p:to>
                                    </p:set>
                                  </p:childTnLst>
                                </p:cTn>
                              </p:par>
                            </p:childTnLst>
                          </p:cTn>
                        </p:par>
                      </p:childTnLst>
                    </p:cTn>
                  </p:par>
                  <p:par>
                    <p:cTn id="36" fill="hold">
                      <p:stCondLst>
                        <p:cond delay="indefinite"/>
                      </p:stCondLst>
                      <p:childTnLst>
                        <p:par>
                          <p:cTn id="37" fill="hold">
                            <p:stCondLst>
                              <p:cond delay="0"/>
                            </p:stCondLst>
                            <p:childTnLst>
                              <p:par>
                                <p:cTn id="38" presetID="0" presetClass="path" presetSubtype="0" accel="50000" decel="50000" fill="hold" grpId="0" nodeType="clickEffect">
                                  <p:stCondLst>
                                    <p:cond delay="0"/>
                                  </p:stCondLst>
                                  <p:childTnLst>
                                    <p:animMotion origin="layout" path="M 0 0 L 0.07875 0 " pathEditMode="relative" ptsTypes="">
                                      <p:cBhvr>
                                        <p:cTn id="39" dur="2000" fill="hold"/>
                                        <p:tgtEl>
                                          <p:spTgt spid="41"/>
                                        </p:tgtEl>
                                        <p:attrNameLst>
                                          <p:attrName>ppt_x</p:attrName>
                                          <p:attrName>ppt_y</p:attrName>
                                        </p:attrNameLst>
                                      </p:cBhvr>
                                    </p:animMotion>
                                  </p:childTnLst>
                                </p:cTn>
                              </p:par>
                            </p:childTnLst>
                          </p:cTn>
                        </p:par>
                      </p:childTnLst>
                    </p:cTn>
                  </p:par>
                  <p:par>
                    <p:cTn id="40" fill="hold">
                      <p:stCondLst>
                        <p:cond delay="indefinite"/>
                      </p:stCondLst>
                      <p:childTnLst>
                        <p:par>
                          <p:cTn id="41" fill="hold">
                            <p:stCondLst>
                              <p:cond delay="0"/>
                            </p:stCondLst>
                            <p:childTnLst>
                              <p:par>
                                <p:cTn id="42" presetID="2" presetClass="entr" presetSubtype="2" fill="hold" nodeType="clickEffect">
                                  <p:stCondLst>
                                    <p:cond delay="0"/>
                                  </p:stCondLst>
                                  <p:childTnLst>
                                    <p:set>
                                      <p:cBhvr>
                                        <p:cTn id="43" dur="1" fill="hold">
                                          <p:stCondLst>
                                            <p:cond delay="0"/>
                                          </p:stCondLst>
                                        </p:cTn>
                                        <p:tgtEl>
                                          <p:spTgt spid="97"/>
                                        </p:tgtEl>
                                        <p:attrNameLst>
                                          <p:attrName>style.visibility</p:attrName>
                                        </p:attrNameLst>
                                      </p:cBhvr>
                                      <p:to>
                                        <p:strVal val="visible"/>
                                      </p:to>
                                    </p:set>
                                    <p:anim calcmode="lin" valueType="num">
                                      <p:cBhvr additive="base">
                                        <p:cTn id="44" dur="500" fill="hold"/>
                                        <p:tgtEl>
                                          <p:spTgt spid="97"/>
                                        </p:tgtEl>
                                        <p:attrNameLst>
                                          <p:attrName>ppt_x</p:attrName>
                                        </p:attrNameLst>
                                      </p:cBhvr>
                                      <p:tavLst>
                                        <p:tav tm="0">
                                          <p:val>
                                            <p:strVal val="1+#ppt_w/2"/>
                                          </p:val>
                                        </p:tav>
                                        <p:tav tm="100000">
                                          <p:val>
                                            <p:strVal val="#ppt_x"/>
                                          </p:val>
                                        </p:tav>
                                      </p:tavLst>
                                    </p:anim>
                                    <p:anim calcmode="lin" valueType="num">
                                      <p:cBhvr additive="base">
                                        <p:cTn id="45" dur="500" fill="hold"/>
                                        <p:tgtEl>
                                          <p:spTgt spid="97"/>
                                        </p:tgtEl>
                                        <p:attrNameLst>
                                          <p:attrName>ppt_y</p:attrName>
                                        </p:attrNameLst>
                                      </p:cBhvr>
                                      <p:tavLst>
                                        <p:tav tm="0">
                                          <p:val>
                                            <p:strVal val="#ppt_y"/>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8" presetID="2" presetClass="entr" presetSubtype="4" fill="hold" grpId="2" nodeType="clickEffect">
                                  <p:stCondLst>
                                    <p:cond delay="0"/>
                                  </p:stCondLst>
                                  <p:childTnLst>
                                    <p:set>
                                      <p:cBhvr>
                                        <p:cTn id="49" dur="1" fill="hold">
                                          <p:stCondLst>
                                            <p:cond delay="0"/>
                                          </p:stCondLst>
                                        </p:cTn>
                                        <p:tgtEl>
                                          <p:spTgt spid="33"/>
                                        </p:tgtEl>
                                        <p:attrNameLst>
                                          <p:attrName>style.visibility</p:attrName>
                                        </p:attrNameLst>
                                      </p:cBhvr>
                                      <p:to>
                                        <p:strVal val="visible"/>
                                      </p:to>
                                    </p:set>
                                    <p:anim calcmode="lin" valueType="num">
                                      <p:cBhvr additive="base">
                                        <p:cTn id="50" dur="500" fill="hold"/>
                                        <p:tgtEl>
                                          <p:spTgt spid="33"/>
                                        </p:tgtEl>
                                        <p:attrNameLst>
                                          <p:attrName>ppt_x</p:attrName>
                                        </p:attrNameLst>
                                      </p:cBhvr>
                                      <p:tavLst>
                                        <p:tav tm="0">
                                          <p:val>
                                            <p:strVal val="#ppt_x"/>
                                          </p:val>
                                        </p:tav>
                                        <p:tav tm="100000">
                                          <p:val>
                                            <p:strVal val="#ppt_x"/>
                                          </p:val>
                                        </p:tav>
                                      </p:tavLst>
                                    </p:anim>
                                    <p:anim calcmode="lin" valueType="num">
                                      <p:cBhvr additive="base">
                                        <p:cTn id="51" dur="500" fill="hold"/>
                                        <p:tgtEl>
                                          <p:spTgt spid="33"/>
                                        </p:tgtEl>
                                        <p:attrNameLst>
                                          <p:attrName>ppt_y</p:attrName>
                                        </p:attrNameLst>
                                      </p:cBhvr>
                                      <p:tavLst>
                                        <p:tav tm="0">
                                          <p:val>
                                            <p:strVal val="1+#ppt_h/2"/>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0" presetClass="path" presetSubtype="0" accel="50000" decel="50000" fill="hold" nodeType="clickEffect">
                                  <p:stCondLst>
                                    <p:cond delay="0"/>
                                  </p:stCondLst>
                                  <p:childTnLst>
                                    <p:animMotion origin="layout" path="M 0 0 C 0.0147917 -0.0187037 -0.00881944 -0.111111 0.130833 -0.0633333 C 0.270486 -0.0155556 0.587431 0.177222 0.698333 0.238889 " pathEditMode="relative" ptsTypes="">
                                      <p:cBhvr>
                                        <p:cTn id="55" dur="2000" fill="hold"/>
                                        <p:tgtEl>
                                          <p:spTgt spid="98"/>
                                        </p:tgtEl>
                                        <p:attrNameLst>
                                          <p:attrName>ppt_x</p:attrName>
                                          <p:attrName>ppt_y</p:attrName>
                                        </p:attrNameLst>
                                      </p:cBhvr>
                                    </p:animMotion>
                                  </p:childTnLst>
                                </p:cTn>
                              </p:par>
                            </p:childTnLst>
                          </p:cTn>
                        </p:par>
                      </p:childTnLst>
                    </p:cTn>
                  </p:par>
                  <p:par>
                    <p:cTn id="56" fill="hold">
                      <p:stCondLst>
                        <p:cond delay="indefinite"/>
                      </p:stCondLst>
                      <p:childTnLst>
                        <p:par>
                          <p:cTn id="57" fill="hold">
                            <p:stCondLst>
                              <p:cond delay="0"/>
                            </p:stCondLst>
                            <p:childTnLst>
                              <p:par>
                                <p:cTn id="58" presetID="2" presetClass="exit" presetSubtype="4" fill="hold" grpId="0" nodeType="clickEffect">
                                  <p:stCondLst>
                                    <p:cond delay="0"/>
                                  </p:stCondLst>
                                  <p:childTnLst>
                                    <p:anim calcmode="lin" valueType="num">
                                      <p:cBhvr additive="base">
                                        <p:cTn id="59" dur="500"/>
                                        <p:tgtEl>
                                          <p:spTgt spid="33"/>
                                        </p:tgtEl>
                                        <p:attrNameLst>
                                          <p:attrName>ppt_x</p:attrName>
                                        </p:attrNameLst>
                                      </p:cBhvr>
                                      <p:tavLst>
                                        <p:tav tm="0">
                                          <p:val>
                                            <p:strVal val="ppt_x"/>
                                          </p:val>
                                        </p:tav>
                                        <p:tav tm="100000">
                                          <p:val>
                                            <p:strVal val="ppt_x"/>
                                          </p:val>
                                        </p:tav>
                                      </p:tavLst>
                                    </p:anim>
                                    <p:anim calcmode="lin" valueType="num">
                                      <p:cBhvr additive="base">
                                        <p:cTn id="60" dur="500"/>
                                        <p:tgtEl>
                                          <p:spTgt spid="33"/>
                                        </p:tgtEl>
                                        <p:attrNameLst>
                                          <p:attrName>ppt_y</p:attrName>
                                        </p:attrNameLst>
                                      </p:cBhvr>
                                      <p:tavLst>
                                        <p:tav tm="0">
                                          <p:val>
                                            <p:strVal val="ppt_y"/>
                                          </p:val>
                                        </p:tav>
                                        <p:tav tm="100000">
                                          <p:val>
                                            <p:strVal val="1+ppt_h/2"/>
                                          </p:val>
                                        </p:tav>
                                      </p:tavLst>
                                    </p:anim>
                                    <p:set>
                                      <p:cBhvr>
                                        <p:cTn id="61" dur="1" fill="hold">
                                          <p:stCondLst>
                                            <p:cond delay="499"/>
                                          </p:stCondLst>
                                        </p:cTn>
                                        <p:tgtEl>
                                          <p:spTgt spid="33"/>
                                        </p:tgtEl>
                                        <p:attrNameLst>
                                          <p:attrName>style.visibility</p:attrName>
                                        </p:attrNameLst>
                                      </p:cBhvr>
                                      <p:to>
                                        <p:strVal val="hidden"/>
                                      </p:to>
                                    </p:set>
                                  </p:childTnLst>
                                </p:cTn>
                              </p:par>
                            </p:childTnLst>
                          </p:cTn>
                        </p:par>
                      </p:childTnLst>
                    </p:cTn>
                  </p:par>
                  <p:par>
                    <p:cTn id="62" fill="hold">
                      <p:stCondLst>
                        <p:cond delay="indefinite"/>
                      </p:stCondLst>
                      <p:childTnLst>
                        <p:par>
                          <p:cTn id="63" fill="hold">
                            <p:stCondLst>
                              <p:cond delay="0"/>
                            </p:stCondLst>
                            <p:childTnLst>
                              <p:par>
                                <p:cTn id="64" presetID="2" presetClass="entr" presetSubtype="4" fill="hold" grpId="2" nodeType="clickEffect">
                                  <p:stCondLst>
                                    <p:cond delay="0"/>
                                  </p:stCondLst>
                                  <p:childTnLst>
                                    <p:set>
                                      <p:cBhvr>
                                        <p:cTn id="65" dur="1" fill="hold">
                                          <p:stCondLst>
                                            <p:cond delay="0"/>
                                          </p:stCondLst>
                                        </p:cTn>
                                        <p:tgtEl>
                                          <p:spTgt spid="104"/>
                                        </p:tgtEl>
                                        <p:attrNameLst>
                                          <p:attrName>style.visibility</p:attrName>
                                        </p:attrNameLst>
                                      </p:cBhvr>
                                      <p:to>
                                        <p:strVal val="visible"/>
                                      </p:to>
                                    </p:set>
                                    <p:anim calcmode="lin" valueType="num">
                                      <p:cBhvr additive="base">
                                        <p:cTn id="66" dur="500" fill="hold"/>
                                        <p:tgtEl>
                                          <p:spTgt spid="104"/>
                                        </p:tgtEl>
                                        <p:attrNameLst>
                                          <p:attrName>ppt_x</p:attrName>
                                        </p:attrNameLst>
                                      </p:cBhvr>
                                      <p:tavLst>
                                        <p:tav tm="0">
                                          <p:val>
                                            <p:strVal val="#ppt_x"/>
                                          </p:val>
                                        </p:tav>
                                        <p:tav tm="100000">
                                          <p:val>
                                            <p:strVal val="#ppt_x"/>
                                          </p:val>
                                        </p:tav>
                                      </p:tavLst>
                                    </p:anim>
                                    <p:anim calcmode="lin" valueType="num">
                                      <p:cBhvr additive="base">
                                        <p:cTn id="67" dur="500" fill="hold"/>
                                        <p:tgtEl>
                                          <p:spTgt spid="104"/>
                                        </p:tgtEl>
                                        <p:attrNameLst>
                                          <p:attrName>ppt_y</p:attrName>
                                        </p:attrNameLst>
                                      </p:cBhvr>
                                      <p:tavLst>
                                        <p:tav tm="0">
                                          <p:val>
                                            <p:strVal val="1+#ppt_h/2"/>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0" presetClass="path" presetSubtype="0" accel="50000" decel="50000" fill="hold" nodeType="clickEffect">
                                  <p:stCondLst>
                                    <p:cond delay="0"/>
                                  </p:stCondLst>
                                  <p:childTnLst>
                                    <p:animMotion origin="layout" path="M 0 0 C 0.0154167 -0.0153704 0.015 -0.0871296 0.115833 -0.0555556 C 0.216667 -0.0239815 0.428819 0.113981 0.504167 0.157778 " pathEditMode="relative" ptsTypes="">
                                      <p:cBhvr>
                                        <p:cTn id="71" dur="2000" fill="hold"/>
                                        <p:tgtEl>
                                          <p:spTgt spid="85"/>
                                        </p:tgtEl>
                                        <p:attrNameLst>
                                          <p:attrName>ppt_x</p:attrName>
                                          <p:attrName>ppt_y</p:attrName>
                                        </p:attrNameLst>
                                      </p:cBhvr>
                                    </p:animMotion>
                                  </p:childTnLst>
                                </p:cTn>
                              </p:par>
                            </p:childTnLst>
                          </p:cTn>
                        </p:par>
                      </p:childTnLst>
                    </p:cTn>
                  </p:par>
                  <p:par>
                    <p:cTn id="72" fill="hold">
                      <p:stCondLst>
                        <p:cond delay="indefinite"/>
                      </p:stCondLst>
                      <p:childTnLst>
                        <p:par>
                          <p:cTn id="73" fill="hold">
                            <p:stCondLst>
                              <p:cond delay="0"/>
                            </p:stCondLst>
                            <p:childTnLst>
                              <p:par>
                                <p:cTn id="74" presetID="1" presetClass="entr" presetSubtype="0" fill="hold" nodeType="clickEffect">
                                  <p:stCondLst>
                                    <p:cond delay="0"/>
                                  </p:stCondLst>
                                  <p:childTnLst>
                                    <p:set>
                                      <p:cBhvr>
                                        <p:cTn id="75" dur="1" fill="hold">
                                          <p:stCondLst>
                                            <p:cond delay="0"/>
                                          </p:stCondLst>
                                        </p:cTn>
                                        <p:tgtEl>
                                          <p:spTgt spid="36"/>
                                        </p:tgtEl>
                                        <p:attrNameLst>
                                          <p:attrName>style.visibility</p:attrName>
                                        </p:attrNameLst>
                                      </p:cBhvr>
                                      <p:to>
                                        <p:strVal val="visible"/>
                                      </p:to>
                                    </p:set>
                                  </p:childTnLst>
                                </p:cTn>
                              </p:par>
                              <p:par>
                                <p:cTn id="76" presetID="1" presetClass="entr" presetSubtype="0" fill="hold" grpId="0" nodeType="withEffect">
                                  <p:stCondLst>
                                    <p:cond delay="0"/>
                                  </p:stCondLst>
                                  <p:childTnLst>
                                    <p:set>
                                      <p:cBhvr>
                                        <p:cTn id="77" dur="1" fill="hold">
                                          <p:stCondLst>
                                            <p:cond delay="0"/>
                                          </p:stCondLst>
                                        </p:cTn>
                                        <p:tgtEl>
                                          <p:spTgt spid="40"/>
                                        </p:tgtEl>
                                        <p:attrNameLst>
                                          <p:attrName>style.visibility</p:attrName>
                                        </p:attrNameLst>
                                      </p:cBhvr>
                                      <p:to>
                                        <p:strVal val="visible"/>
                                      </p:to>
                                    </p:set>
                                  </p:childTnLst>
                                </p:cTn>
                              </p:par>
                            </p:childTnLst>
                          </p:cTn>
                        </p:par>
                      </p:childTnLst>
                    </p:cTn>
                  </p:par>
                  <p:par>
                    <p:cTn id="78" fill="hold">
                      <p:stCondLst>
                        <p:cond delay="indefinite"/>
                      </p:stCondLst>
                      <p:childTnLst>
                        <p:par>
                          <p:cTn id="79" fill="hold">
                            <p:stCondLst>
                              <p:cond delay="0"/>
                            </p:stCondLst>
                            <p:childTnLst>
                              <p:par>
                                <p:cTn id="80" presetID="2" presetClass="exit" presetSubtype="4" fill="hold" grpId="0" nodeType="clickEffect">
                                  <p:stCondLst>
                                    <p:cond delay="0"/>
                                  </p:stCondLst>
                                  <p:childTnLst>
                                    <p:anim calcmode="lin" valueType="num">
                                      <p:cBhvr additive="base">
                                        <p:cTn id="81" dur="500"/>
                                        <p:tgtEl>
                                          <p:spTgt spid="104"/>
                                        </p:tgtEl>
                                        <p:attrNameLst>
                                          <p:attrName>ppt_x</p:attrName>
                                        </p:attrNameLst>
                                      </p:cBhvr>
                                      <p:tavLst>
                                        <p:tav tm="0">
                                          <p:val>
                                            <p:strVal val="ppt_x"/>
                                          </p:val>
                                        </p:tav>
                                        <p:tav tm="100000">
                                          <p:val>
                                            <p:strVal val="ppt_x"/>
                                          </p:val>
                                        </p:tav>
                                      </p:tavLst>
                                    </p:anim>
                                    <p:anim calcmode="lin" valueType="num">
                                      <p:cBhvr additive="base">
                                        <p:cTn id="82" dur="500"/>
                                        <p:tgtEl>
                                          <p:spTgt spid="104"/>
                                        </p:tgtEl>
                                        <p:attrNameLst>
                                          <p:attrName>ppt_y</p:attrName>
                                        </p:attrNameLst>
                                      </p:cBhvr>
                                      <p:tavLst>
                                        <p:tav tm="0">
                                          <p:val>
                                            <p:strVal val="ppt_y"/>
                                          </p:val>
                                        </p:tav>
                                        <p:tav tm="100000">
                                          <p:val>
                                            <p:strVal val="1+ppt_h/2"/>
                                          </p:val>
                                        </p:tav>
                                      </p:tavLst>
                                    </p:anim>
                                    <p:set>
                                      <p:cBhvr>
                                        <p:cTn id="83" dur="1" fill="hold">
                                          <p:stCondLst>
                                            <p:cond delay="499"/>
                                          </p:stCondLst>
                                        </p:cTn>
                                        <p:tgtEl>
                                          <p:spTgt spid="10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1"/>
      <p:bldP spid="9" grpId="1"/>
      <p:bldP spid="64" grpId="1"/>
      <p:bldP spid="65" grpId="1"/>
      <p:bldP spid="66" grpId="1"/>
      <p:bldP spid="67" grpId="1"/>
      <p:bldP spid="68" grpId="1" animBg="1"/>
      <p:bldP spid="69" grpId="1" animBg="1"/>
      <p:bldP spid="70" grpId="1" animBg="1"/>
      <p:bldP spid="71" grpId="1" animBg="1"/>
      <p:bldP spid="72" grpId="1"/>
      <p:bldP spid="76" grpId="1"/>
      <p:bldP spid="77" grpId="1"/>
      <p:bldP spid="78" grpId="1"/>
      <p:bldP spid="79" grpId="1"/>
      <p:bldP spid="30" grpId="1"/>
      <p:bldP spid="39" grpId="1"/>
      <p:bldP spid="82" grpId="1"/>
      <p:bldP spid="12" grpId="1" animBg="1"/>
      <p:bldP spid="13" grpId="1" animBg="1"/>
      <p:bldP spid="14" grpId="1" animBg="1"/>
      <p:bldP spid="29" grpId="1"/>
      <p:bldP spid="83" grpId="1"/>
      <p:bldP spid="84" grpId="1"/>
      <p:bldP spid="28" grpId="1"/>
      <p:bldP spid="86" grpId="1"/>
      <p:bldP spid="87" grpId="1" animBg="1"/>
      <p:bldP spid="88" grpId="1" animBg="1"/>
      <p:bldP spid="47" grpId="1"/>
      <p:bldP spid="89" grpId="1"/>
      <p:bldP spid="90" grpId="1"/>
      <p:bldP spid="93" grpId="1"/>
      <p:bldP spid="95" grpId="1"/>
      <p:bldP spid="31" grpId="0" animBg="1"/>
      <p:bldP spid="31" grpId="1" animBg="1"/>
      <p:bldP spid="38" grpId="0"/>
      <p:bldP spid="38" grpId="1"/>
      <p:bldP spid="38" grpId="2"/>
      <p:bldP spid="32" grpId="0"/>
      <p:bldP spid="32" grpId="1"/>
      <p:bldP spid="73" grpId="0"/>
      <p:bldP spid="73" grpId="1"/>
      <p:bldP spid="73" grpId="2"/>
      <p:bldP spid="33" grpId="0"/>
      <p:bldP spid="33" grpId="1"/>
      <p:bldP spid="33" grpId="2"/>
      <p:bldP spid="40" grpId="0"/>
      <p:bldP spid="40" grpId="1"/>
      <p:bldP spid="35" grpId="1"/>
      <p:bldP spid="42" grpId="1" animBg="1"/>
      <p:bldP spid="41" grpId="0" animBg="1"/>
      <p:bldP spid="104" grpId="0"/>
      <p:bldP spid="104" grpId="1"/>
      <p:bldP spid="104" grpId="2"/>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2"/>
          <p:cNvSpPr txBox="1">
            <a:spLocks noChangeArrowheads="1"/>
          </p:cNvSpPr>
          <p:nvPr/>
        </p:nvSpPr>
        <p:spPr bwMode="auto">
          <a:xfrm>
            <a:off x="467360" y="980440"/>
            <a:ext cx="2858135" cy="45847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o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4.2.3 </a:t>
            </a:r>
            <a:r>
              <a:rPr kumimoji="1" lang="zh-CN" altLang="en-US" sz="2400" b="1" dirty="0">
                <a:uFillTx/>
                <a:latin typeface="Times New Roman" panose="02020603050405020304" pitchFamily="18" charset="0"/>
                <a:cs typeface="Times New Roman" panose="02020603050405020304" pitchFamily="18" charset="0"/>
                <a:sym typeface="+mn-ea"/>
              </a:rPr>
              <a:t>单源最短路径</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a:p>
            <a:pPr algn="l">
              <a:spcBef>
                <a:spcPct val="50000"/>
              </a:spcBef>
            </a:pP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4" name="Text Box 2"/>
          <p:cNvSpPr txBox="1">
            <a:spLocks noChangeArrowheads="1"/>
          </p:cNvSpPr>
          <p:nvPr/>
        </p:nvSpPr>
        <p:spPr bwMode="auto">
          <a:xfrm>
            <a:off x="683895" y="1484630"/>
            <a:ext cx="1064895" cy="32639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oAutofit/>
          </a:bodyPr>
          <a:lstStyle/>
          <a:p>
            <a:pPr algn="l">
              <a:spcBef>
                <a:spcPct val="50000"/>
              </a:spcBef>
            </a:pPr>
            <a:r>
              <a:rPr lang="zh-CN" altLang="en-US" sz="1800" dirty="0">
                <a:solidFill>
                  <a:schemeClr val="tx1"/>
                </a:solidFill>
                <a:uFillTx/>
                <a:latin typeface="宋体" panose="02010600030101010101" pitchFamily="2" charset="-122"/>
                <a:cs typeface="Times New Roman" panose="02020603050405020304" pitchFamily="18" charset="0"/>
                <a:sym typeface="+mn-ea"/>
              </a:rPr>
              <a:t>代码实现：</a:t>
            </a:r>
            <a:endParaRPr lang="zh-CN" altLang="en-US" sz="1800" dirty="0">
              <a:solidFill>
                <a:schemeClr val="tx1"/>
              </a:solidFill>
              <a:uFillTx/>
              <a:latin typeface="宋体" panose="02010600030101010101" pitchFamily="2" charset="-122"/>
              <a:cs typeface="Times New Roman" panose="02020603050405020304" pitchFamily="18" charset="0"/>
              <a:sym typeface="+mn-ea"/>
            </a:endParaRPr>
          </a:p>
        </p:txBody>
      </p:sp>
      <p:sp>
        <p:nvSpPr>
          <p:cNvPr id="10" name="文本框 9"/>
          <p:cNvSpPr txBox="1"/>
          <p:nvPr/>
        </p:nvSpPr>
        <p:spPr>
          <a:xfrm>
            <a:off x="1259840" y="1998345"/>
            <a:ext cx="7180580" cy="2649855"/>
          </a:xfrm>
          <a:prstGeom prst="rect">
            <a:avLst/>
          </a:prstGeom>
          <a:noFill/>
        </p:spPr>
        <p:txBody>
          <a:bodyPr wrap="square" rtlCol="0" anchor="t">
            <a:noAutofit/>
          </a:bodyPr>
          <a:p>
            <a:r>
              <a:rPr lang="en-US" altLang="zh-CN">
                <a:solidFill>
                  <a:schemeClr val="tx1"/>
                </a:solidFill>
                <a:uFillTx/>
                <a:latin typeface="Times New Roman" panose="02020603050405020304" pitchFamily="18" charset="0"/>
                <a:cs typeface="宋体" panose="02010600030101010101" pitchFamily="2" charset="-122"/>
              </a:rPr>
              <a:t>class Dijkstra1:</a:t>
            </a:r>
            <a:endParaRPr lang="en-US" altLang="zh-CN">
              <a:solidFill>
                <a:schemeClr val="tx1"/>
              </a:solidFill>
              <a:uFillTx/>
              <a:latin typeface="Times New Roman" panose="02020603050405020304" pitchFamily="18" charset="0"/>
              <a:cs typeface="宋体" panose="02010600030101010101" pitchFamily="2" charset="-122"/>
            </a:endParaRPr>
          </a:p>
          <a:p>
            <a:r>
              <a:rPr lang="en-US" altLang="zh-CN">
                <a:solidFill>
                  <a:schemeClr val="tx1"/>
                </a:solidFill>
                <a:uFillTx/>
                <a:latin typeface="Times New Roman" panose="02020603050405020304" pitchFamily="18" charset="0"/>
                <a:cs typeface="宋体" panose="02010600030101010101" pitchFamily="2" charset="-122"/>
              </a:rPr>
              <a:t>    def __init__(self,node):</a:t>
            </a:r>
            <a:endParaRPr lang="en-US" altLang="zh-CN">
              <a:solidFill>
                <a:schemeClr val="tx1"/>
              </a:solidFill>
              <a:uFillTx/>
              <a:latin typeface="Times New Roman" panose="02020603050405020304" pitchFamily="18" charset="0"/>
              <a:cs typeface="宋体" panose="02010600030101010101" pitchFamily="2" charset="-122"/>
            </a:endParaRPr>
          </a:p>
          <a:p>
            <a:r>
              <a:rPr lang="en-US" altLang="zh-CN">
                <a:solidFill>
                  <a:schemeClr val="tx1"/>
                </a:solidFill>
                <a:uFillTx/>
                <a:latin typeface="Times New Roman" panose="02020603050405020304" pitchFamily="18" charset="0"/>
                <a:cs typeface="宋体" panose="02010600030101010101" pitchFamily="2" charset="-122"/>
              </a:rPr>
              <a:t>        # </a:t>
            </a:r>
            <a:r>
              <a:rPr lang="zh-CN" altLang="en-US">
                <a:solidFill>
                  <a:schemeClr val="tx1"/>
                </a:solidFill>
                <a:uFillTx/>
                <a:latin typeface="Times New Roman" panose="02020603050405020304" pitchFamily="18" charset="0"/>
                <a:cs typeface="宋体" panose="02010600030101010101" pitchFamily="2" charset="-122"/>
              </a:rPr>
              <a:t>初始化邻接表为空</a:t>
            </a:r>
            <a:endParaRPr lang="zh-CN" altLang="en-US">
              <a:solidFill>
                <a:schemeClr val="tx1"/>
              </a:solidFill>
              <a:uFillTx/>
              <a:latin typeface="Times New Roman" panose="02020603050405020304" pitchFamily="18" charset="0"/>
              <a:cs typeface="宋体" panose="02010600030101010101" pitchFamily="2" charset="-122"/>
            </a:endParaRPr>
          </a:p>
          <a:p>
            <a:r>
              <a:rPr lang="en-US" altLang="zh-CN">
                <a:solidFill>
                  <a:schemeClr val="tx1"/>
                </a:solidFill>
                <a:uFillTx/>
                <a:latin typeface="Times New Roman" panose="02020603050405020304" pitchFamily="18" charset="0"/>
                <a:cs typeface="宋体" panose="02010600030101010101" pitchFamily="2" charset="-122"/>
              </a:rPr>
              <a:t>        self.adj = [[] for _ in range(node)]</a:t>
            </a:r>
            <a:endParaRPr lang="en-US" altLang="zh-CN">
              <a:solidFill>
                <a:schemeClr val="tx1"/>
              </a:solidFill>
              <a:uFillTx/>
              <a:latin typeface="Times New Roman" panose="02020603050405020304" pitchFamily="18" charset="0"/>
              <a:cs typeface="宋体" panose="02010600030101010101" pitchFamily="2" charset="-122"/>
            </a:endParaRPr>
          </a:p>
          <a:p>
            <a:r>
              <a:rPr lang="en-US" altLang="zh-CN">
                <a:solidFill>
                  <a:schemeClr val="tx1"/>
                </a:solidFill>
                <a:uFillTx/>
                <a:latin typeface="Times New Roman" panose="02020603050405020304" pitchFamily="18" charset="0"/>
                <a:cs typeface="宋体" panose="02010600030101010101" pitchFamily="2" charset="-122"/>
              </a:rPr>
              <a:t>        # </a:t>
            </a:r>
            <a:r>
              <a:rPr lang="zh-CN" altLang="en-US">
                <a:solidFill>
                  <a:schemeClr val="tx1"/>
                </a:solidFill>
                <a:uFillTx/>
                <a:latin typeface="Times New Roman" panose="02020603050405020304" pitchFamily="18" charset="0"/>
                <a:cs typeface="宋体" panose="02010600030101010101" pitchFamily="2" charset="-122"/>
              </a:rPr>
              <a:t>初始化所有节点都未加入单源最短路径</a:t>
            </a:r>
            <a:endParaRPr lang="zh-CN" altLang="en-US">
              <a:solidFill>
                <a:schemeClr val="tx1"/>
              </a:solidFill>
              <a:uFillTx/>
              <a:latin typeface="Times New Roman" panose="02020603050405020304" pitchFamily="18" charset="0"/>
              <a:cs typeface="宋体" panose="02010600030101010101" pitchFamily="2" charset="-122"/>
            </a:endParaRPr>
          </a:p>
          <a:p>
            <a:r>
              <a:rPr lang="en-US" altLang="zh-CN">
                <a:solidFill>
                  <a:schemeClr val="tx1"/>
                </a:solidFill>
                <a:uFillTx/>
                <a:latin typeface="Times New Roman" panose="02020603050405020304" pitchFamily="18" charset="0"/>
                <a:cs typeface="宋体" panose="02010600030101010101" pitchFamily="2" charset="-122"/>
              </a:rPr>
              <a:t>        self.selected = [False]*node</a:t>
            </a:r>
            <a:endParaRPr lang="en-US" altLang="zh-CN">
              <a:solidFill>
                <a:schemeClr val="tx1"/>
              </a:solidFill>
              <a:uFillTx/>
              <a:latin typeface="Times New Roman" panose="02020603050405020304" pitchFamily="18" charset="0"/>
              <a:cs typeface="宋体" panose="02010600030101010101" pitchFamily="2" charset="-122"/>
            </a:endParaRPr>
          </a:p>
          <a:p>
            <a:r>
              <a:rPr lang="en-US" altLang="zh-CN">
                <a:solidFill>
                  <a:schemeClr val="tx1"/>
                </a:solidFill>
                <a:uFillTx/>
                <a:latin typeface="Times New Roman" panose="02020603050405020304" pitchFamily="18" charset="0"/>
                <a:cs typeface="宋体" panose="02010600030101010101" pitchFamily="2" charset="-122"/>
              </a:rPr>
              <a:t>    def add_edge(self, u, v, w):</a:t>
            </a:r>
            <a:endParaRPr lang="en-US" altLang="zh-CN">
              <a:solidFill>
                <a:schemeClr val="tx1"/>
              </a:solidFill>
              <a:uFillTx/>
              <a:latin typeface="Times New Roman" panose="02020603050405020304" pitchFamily="18" charset="0"/>
              <a:cs typeface="宋体" panose="02010600030101010101" pitchFamily="2" charset="-122"/>
            </a:endParaRPr>
          </a:p>
          <a:p>
            <a:r>
              <a:rPr lang="en-US" altLang="zh-CN">
                <a:solidFill>
                  <a:schemeClr val="tx1"/>
                </a:solidFill>
                <a:uFillTx/>
                <a:latin typeface="Times New Roman" panose="02020603050405020304" pitchFamily="18" charset="0"/>
                <a:cs typeface="宋体" panose="02010600030101010101" pitchFamily="2" charset="-122"/>
              </a:rPr>
              <a:t>        self.adj[u].append((v, w)) # </a:t>
            </a:r>
            <a:r>
              <a:rPr lang="zh-CN" altLang="en-US">
                <a:solidFill>
                  <a:schemeClr val="tx1"/>
                </a:solidFill>
                <a:uFillTx/>
                <a:latin typeface="Times New Roman" panose="02020603050405020304" pitchFamily="18" charset="0"/>
                <a:cs typeface="宋体" panose="02010600030101010101" pitchFamily="2" charset="-122"/>
              </a:rPr>
              <a:t>表示</a:t>
            </a:r>
            <a:r>
              <a:rPr lang="en-US" altLang="zh-CN">
                <a:solidFill>
                  <a:schemeClr val="tx1"/>
                </a:solidFill>
                <a:uFillTx/>
                <a:latin typeface="Times New Roman" panose="02020603050405020304" pitchFamily="18" charset="0"/>
                <a:cs typeface="宋体" panose="02010600030101010101" pitchFamily="2" charset="-122"/>
              </a:rPr>
              <a:t>u</a:t>
            </a:r>
            <a:r>
              <a:rPr lang="zh-CN" altLang="en-US">
                <a:solidFill>
                  <a:schemeClr val="tx1"/>
                </a:solidFill>
                <a:uFillTx/>
                <a:latin typeface="Times New Roman" panose="02020603050405020304" pitchFamily="18" charset="0"/>
                <a:cs typeface="宋体" panose="02010600030101010101" pitchFamily="2" charset="-122"/>
              </a:rPr>
              <a:t>节点所连的点为</a:t>
            </a:r>
            <a:r>
              <a:rPr lang="en-US" altLang="zh-CN">
                <a:solidFill>
                  <a:schemeClr val="tx1"/>
                </a:solidFill>
                <a:uFillTx/>
                <a:latin typeface="Times New Roman" panose="02020603050405020304" pitchFamily="18" charset="0"/>
                <a:cs typeface="宋体" panose="02010600030101010101" pitchFamily="2" charset="-122"/>
              </a:rPr>
              <a:t>v</a:t>
            </a:r>
            <a:r>
              <a:rPr lang="zh-CN" altLang="en-US">
                <a:solidFill>
                  <a:schemeClr val="tx1"/>
                </a:solidFill>
                <a:uFillTx/>
                <a:latin typeface="Times New Roman" panose="02020603050405020304" pitchFamily="18" charset="0"/>
                <a:cs typeface="宋体" panose="02010600030101010101" pitchFamily="2" charset="-122"/>
              </a:rPr>
              <a:t>，且权重为</a:t>
            </a:r>
            <a:r>
              <a:rPr lang="en-US" altLang="zh-CN">
                <a:solidFill>
                  <a:schemeClr val="tx1"/>
                </a:solidFill>
                <a:uFillTx/>
                <a:latin typeface="Times New Roman" panose="02020603050405020304" pitchFamily="18" charset="0"/>
                <a:cs typeface="宋体" panose="02010600030101010101" pitchFamily="2" charset="-122"/>
              </a:rPr>
              <a:t>w</a:t>
            </a:r>
            <a:endParaRPr lang="en-US" altLang="zh-CN">
              <a:solidFill>
                <a:schemeClr val="tx1"/>
              </a:solidFill>
              <a:uFillTx/>
              <a:latin typeface="Times New Roman" panose="02020603050405020304" pitchFamily="18" charset="0"/>
              <a:cs typeface="宋体" panose="02010600030101010101" pitchFamily="2" charset="-122"/>
            </a:endParaRPr>
          </a:p>
        </p:txBody>
      </p:sp>
    </p:spTree>
  </p:cSld>
  <p:clrMapOvr>
    <a:masterClrMapping/>
  </p:clrMapOvr>
  <p:transition/>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2"/>
          <p:cNvSpPr txBox="1">
            <a:spLocks noChangeArrowheads="1"/>
          </p:cNvSpPr>
          <p:nvPr/>
        </p:nvSpPr>
        <p:spPr bwMode="auto">
          <a:xfrm>
            <a:off x="467360" y="980440"/>
            <a:ext cx="2858135" cy="45847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o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4.2.3 </a:t>
            </a:r>
            <a:r>
              <a:rPr kumimoji="1" lang="zh-CN" altLang="en-US" sz="2400" b="1" dirty="0">
                <a:uFillTx/>
                <a:latin typeface="Times New Roman" panose="02020603050405020304" pitchFamily="18" charset="0"/>
                <a:cs typeface="Times New Roman" panose="02020603050405020304" pitchFamily="18" charset="0"/>
                <a:sym typeface="+mn-ea"/>
              </a:rPr>
              <a:t>单源最短路径</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a:p>
            <a:pPr algn="l">
              <a:spcBef>
                <a:spcPct val="50000"/>
              </a:spcBef>
            </a:pP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4" name="Text Box 2"/>
          <p:cNvSpPr txBox="1">
            <a:spLocks noChangeArrowheads="1"/>
          </p:cNvSpPr>
          <p:nvPr/>
        </p:nvSpPr>
        <p:spPr bwMode="auto">
          <a:xfrm>
            <a:off x="683895" y="1484630"/>
            <a:ext cx="1064895" cy="32639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oAutofit/>
          </a:bodyPr>
          <a:lstStyle/>
          <a:p>
            <a:pPr algn="l">
              <a:spcBef>
                <a:spcPct val="50000"/>
              </a:spcBef>
            </a:pPr>
            <a:r>
              <a:rPr lang="zh-CN" altLang="en-US" sz="1800" dirty="0">
                <a:solidFill>
                  <a:schemeClr val="tx1"/>
                </a:solidFill>
                <a:uFillTx/>
                <a:latin typeface="宋体" panose="02010600030101010101" pitchFamily="2" charset="-122"/>
                <a:cs typeface="Times New Roman" panose="02020603050405020304" pitchFamily="18" charset="0"/>
                <a:sym typeface="+mn-ea"/>
              </a:rPr>
              <a:t>代码实现：</a:t>
            </a:r>
            <a:endParaRPr lang="zh-CN" altLang="en-US" sz="1800" dirty="0">
              <a:solidFill>
                <a:schemeClr val="tx1"/>
              </a:solidFill>
              <a:uFillTx/>
              <a:latin typeface="宋体" panose="02010600030101010101" pitchFamily="2" charset="-122"/>
              <a:cs typeface="Times New Roman" panose="02020603050405020304" pitchFamily="18" charset="0"/>
              <a:sym typeface="+mn-ea"/>
            </a:endParaRPr>
          </a:p>
        </p:txBody>
      </p:sp>
      <p:sp>
        <p:nvSpPr>
          <p:cNvPr id="10" name="文本框 9"/>
          <p:cNvSpPr txBox="1"/>
          <p:nvPr/>
        </p:nvSpPr>
        <p:spPr>
          <a:xfrm>
            <a:off x="1259840" y="1998345"/>
            <a:ext cx="7463790" cy="4455795"/>
          </a:xfrm>
          <a:prstGeom prst="rect">
            <a:avLst/>
          </a:prstGeom>
          <a:noFill/>
        </p:spPr>
        <p:txBody>
          <a:bodyPr wrap="square" rtlCol="0" anchor="t">
            <a:noAutofit/>
          </a:bodyPr>
          <a:p>
            <a:r>
              <a:rPr lang="en-US" altLang="zh-CN" sz="1600">
                <a:solidFill>
                  <a:schemeClr val="tx1"/>
                </a:solidFill>
                <a:uFillTx/>
                <a:latin typeface="Times New Roman" panose="02020603050405020304" pitchFamily="18" charset="0"/>
                <a:cs typeface="宋体" panose="02010600030101010101" pitchFamily="2" charset="-122"/>
              </a:rPr>
              <a:t>    def dijkstra_work(self, source:int):</a:t>
            </a:r>
            <a:endParaRPr lang="en-US" altLang="zh-CN" sz="1600">
              <a:solidFill>
                <a:schemeClr val="tx1"/>
              </a:solidFill>
              <a:uFillTx/>
              <a:latin typeface="Times New Roman" panose="02020603050405020304" pitchFamily="18" charset="0"/>
              <a:cs typeface="宋体" panose="02010600030101010101" pitchFamily="2" charset="-122"/>
            </a:endParaRPr>
          </a:p>
          <a:p>
            <a:r>
              <a:rPr lang="en-US" altLang="zh-CN" sz="1600">
                <a:solidFill>
                  <a:schemeClr val="tx1"/>
                </a:solidFill>
                <a:uFillTx/>
                <a:latin typeface="Times New Roman" panose="02020603050405020304" pitchFamily="18" charset="0"/>
                <a:cs typeface="宋体" panose="02010600030101010101" pitchFamily="2" charset="-122"/>
              </a:rPr>
              <a:t>        # </a:t>
            </a:r>
            <a:r>
              <a:rPr lang="zh-CN" altLang="en-US" sz="1600">
                <a:solidFill>
                  <a:schemeClr val="tx1"/>
                </a:solidFill>
                <a:uFillTx/>
                <a:latin typeface="Times New Roman" panose="02020603050405020304" pitchFamily="18" charset="0"/>
                <a:cs typeface="宋体" panose="02010600030101010101" pitchFamily="2" charset="-122"/>
              </a:rPr>
              <a:t>首先将源点加入进去</a:t>
            </a:r>
            <a:endParaRPr lang="zh-CN" altLang="en-US" sz="1600">
              <a:solidFill>
                <a:schemeClr val="tx1"/>
              </a:solidFill>
              <a:uFillTx/>
              <a:latin typeface="Times New Roman" panose="02020603050405020304" pitchFamily="18" charset="0"/>
              <a:cs typeface="宋体" panose="02010600030101010101" pitchFamily="2" charset="-122"/>
            </a:endParaRPr>
          </a:p>
          <a:p>
            <a:r>
              <a:rPr lang="en-US" altLang="zh-CN" sz="1600">
                <a:solidFill>
                  <a:schemeClr val="tx1"/>
                </a:solidFill>
                <a:uFillTx/>
                <a:latin typeface="Times New Roman" panose="02020603050405020304" pitchFamily="18" charset="0"/>
                <a:cs typeface="宋体" panose="02010600030101010101" pitchFamily="2" charset="-122"/>
              </a:rPr>
              <a:t>        pq = PriorityQueue()</a:t>
            </a:r>
            <a:endParaRPr lang="en-US" altLang="zh-CN" sz="1600">
              <a:solidFill>
                <a:schemeClr val="tx1"/>
              </a:solidFill>
              <a:uFillTx/>
              <a:latin typeface="Times New Roman" panose="02020603050405020304" pitchFamily="18" charset="0"/>
              <a:cs typeface="宋体" panose="02010600030101010101" pitchFamily="2" charset="-122"/>
            </a:endParaRPr>
          </a:p>
          <a:p>
            <a:r>
              <a:rPr lang="en-US" altLang="zh-CN" sz="1600">
                <a:solidFill>
                  <a:schemeClr val="tx1"/>
                </a:solidFill>
                <a:uFillTx/>
                <a:latin typeface="Times New Roman" panose="02020603050405020304" pitchFamily="18" charset="0"/>
                <a:cs typeface="宋体" panose="02010600030101010101" pitchFamily="2" charset="-122"/>
              </a:rPr>
              <a:t>        pq.put((0, source)) # </a:t>
            </a:r>
            <a:r>
              <a:rPr lang="zh-CN" altLang="en-US" sz="1600">
                <a:solidFill>
                  <a:schemeClr val="tx1"/>
                </a:solidFill>
                <a:uFillTx/>
                <a:latin typeface="Times New Roman" panose="02020603050405020304" pitchFamily="18" charset="0"/>
                <a:cs typeface="宋体" panose="02010600030101010101" pitchFamily="2" charset="-122"/>
              </a:rPr>
              <a:t>每次取距离源点最近的点</a:t>
            </a:r>
            <a:endParaRPr lang="zh-CN" altLang="en-US" sz="1600">
              <a:solidFill>
                <a:schemeClr val="tx1"/>
              </a:solidFill>
              <a:uFillTx/>
              <a:latin typeface="Times New Roman" panose="02020603050405020304" pitchFamily="18" charset="0"/>
              <a:cs typeface="宋体" panose="02010600030101010101" pitchFamily="2" charset="-122"/>
            </a:endParaRPr>
          </a:p>
          <a:p>
            <a:r>
              <a:rPr lang="en-US" altLang="zh-CN" sz="1600">
                <a:solidFill>
                  <a:schemeClr val="tx1"/>
                </a:solidFill>
                <a:uFillTx/>
                <a:latin typeface="Times New Roman" panose="02020603050405020304" pitchFamily="18" charset="0"/>
                <a:cs typeface="宋体" panose="02010600030101010101" pitchFamily="2" charset="-122"/>
              </a:rPr>
              <a:t>        while not pq.empty():</a:t>
            </a:r>
            <a:endParaRPr lang="en-US" altLang="zh-CN" sz="1600">
              <a:solidFill>
                <a:schemeClr val="tx1"/>
              </a:solidFill>
              <a:uFillTx/>
              <a:latin typeface="Times New Roman" panose="02020603050405020304" pitchFamily="18" charset="0"/>
              <a:cs typeface="宋体" panose="02010600030101010101" pitchFamily="2" charset="-122"/>
            </a:endParaRPr>
          </a:p>
          <a:p>
            <a:r>
              <a:rPr lang="en-US" altLang="zh-CN" sz="1600">
                <a:solidFill>
                  <a:schemeClr val="tx1"/>
                </a:solidFill>
                <a:uFillTx/>
                <a:latin typeface="Times New Roman" panose="02020603050405020304" pitchFamily="18" charset="0"/>
                <a:cs typeface="宋体" panose="02010600030101010101" pitchFamily="2" charset="-122"/>
              </a:rPr>
              <a:t>            </a:t>
            </a:r>
            <a:r>
              <a:rPr lang="en-US" altLang="zh-CN" sz="1600">
                <a:solidFill>
                  <a:srgbClr val="FF0000"/>
                </a:solidFill>
                <a:uFillTx/>
                <a:latin typeface="Times New Roman" panose="02020603050405020304" pitchFamily="18" charset="0"/>
                <a:cs typeface="宋体" panose="02010600030101010101" pitchFamily="2" charset="-122"/>
              </a:rPr>
              <a:t>nextPoint = pq.get()</a:t>
            </a:r>
            <a:endParaRPr lang="en-US" altLang="zh-CN" sz="1600">
              <a:solidFill>
                <a:schemeClr val="tx1"/>
              </a:solidFill>
              <a:uFillTx/>
              <a:latin typeface="Times New Roman" panose="02020603050405020304" pitchFamily="18" charset="0"/>
              <a:cs typeface="宋体" panose="02010600030101010101" pitchFamily="2" charset="-122"/>
            </a:endParaRPr>
          </a:p>
          <a:p>
            <a:r>
              <a:rPr lang="en-US" altLang="zh-CN" sz="1600">
                <a:solidFill>
                  <a:schemeClr val="tx1"/>
                </a:solidFill>
                <a:uFillTx/>
                <a:latin typeface="Times New Roman" panose="02020603050405020304" pitchFamily="18" charset="0"/>
                <a:cs typeface="宋体" panose="02010600030101010101" pitchFamily="2" charset="-122"/>
              </a:rPr>
              <a:t>            nextW = nextPoint[0] #</a:t>
            </a:r>
            <a:r>
              <a:rPr lang="zh-CN" altLang="en-US" sz="1600">
                <a:solidFill>
                  <a:schemeClr val="tx1"/>
                </a:solidFill>
                <a:uFillTx/>
                <a:latin typeface="Times New Roman" panose="02020603050405020304" pitchFamily="18" charset="0"/>
                <a:cs typeface="宋体" panose="02010600030101010101" pitchFamily="2" charset="-122"/>
              </a:rPr>
              <a:t>获得最近顶点</a:t>
            </a:r>
            <a:endParaRPr lang="zh-CN" altLang="en-US" sz="1600">
              <a:solidFill>
                <a:schemeClr val="tx1"/>
              </a:solidFill>
              <a:uFillTx/>
              <a:latin typeface="Times New Roman" panose="02020603050405020304" pitchFamily="18" charset="0"/>
              <a:cs typeface="宋体" panose="02010600030101010101" pitchFamily="2" charset="-122"/>
            </a:endParaRPr>
          </a:p>
          <a:p>
            <a:r>
              <a:rPr lang="en-US" altLang="zh-CN" sz="1600">
                <a:solidFill>
                  <a:schemeClr val="tx1"/>
                </a:solidFill>
                <a:uFillTx/>
                <a:latin typeface="Times New Roman" panose="02020603050405020304" pitchFamily="18" charset="0"/>
                <a:cs typeface="宋体" panose="02010600030101010101" pitchFamily="2" charset="-122"/>
              </a:rPr>
              <a:t>            nextP = nextPoint[1] # </a:t>
            </a:r>
            <a:r>
              <a:rPr lang="zh-CN" altLang="en-US" sz="1600">
                <a:solidFill>
                  <a:schemeClr val="tx1"/>
                </a:solidFill>
                <a:uFillTx/>
                <a:latin typeface="Times New Roman" panose="02020603050405020304" pitchFamily="18" charset="0"/>
                <a:cs typeface="宋体" panose="02010600030101010101" pitchFamily="2" charset="-122"/>
              </a:rPr>
              <a:t>距离</a:t>
            </a:r>
            <a:endParaRPr lang="zh-CN" altLang="en-US" sz="1600">
              <a:solidFill>
                <a:schemeClr val="tx1"/>
              </a:solidFill>
              <a:uFillTx/>
              <a:latin typeface="Times New Roman" panose="02020603050405020304" pitchFamily="18" charset="0"/>
              <a:cs typeface="宋体" panose="02010600030101010101" pitchFamily="2" charset="-122"/>
            </a:endParaRPr>
          </a:p>
          <a:p>
            <a:r>
              <a:rPr lang="en-US" altLang="zh-CN" sz="1600">
                <a:solidFill>
                  <a:schemeClr val="tx1"/>
                </a:solidFill>
                <a:uFillTx/>
                <a:latin typeface="Times New Roman" panose="02020603050405020304" pitchFamily="18" charset="0"/>
                <a:cs typeface="宋体" panose="02010600030101010101" pitchFamily="2" charset="-122"/>
              </a:rPr>
              <a:t>            if not self.selected[nextP]: # </a:t>
            </a:r>
            <a:r>
              <a:rPr lang="zh-CN" altLang="en-US" sz="1600">
                <a:solidFill>
                  <a:schemeClr val="tx1"/>
                </a:solidFill>
                <a:uFillTx/>
                <a:latin typeface="Times New Roman" panose="02020603050405020304" pitchFamily="18" charset="0"/>
                <a:cs typeface="宋体" panose="02010600030101010101" pitchFamily="2" charset="-122"/>
              </a:rPr>
              <a:t>避免重复的节点</a:t>
            </a:r>
            <a:endParaRPr lang="zh-CN" altLang="en-US" sz="1600">
              <a:solidFill>
                <a:schemeClr val="tx1"/>
              </a:solidFill>
              <a:uFillTx/>
              <a:latin typeface="Times New Roman" panose="02020603050405020304" pitchFamily="18" charset="0"/>
              <a:cs typeface="宋体" panose="02010600030101010101" pitchFamily="2" charset="-122"/>
            </a:endParaRPr>
          </a:p>
          <a:p>
            <a:r>
              <a:rPr lang="en-US" altLang="zh-CN" sz="1600">
                <a:solidFill>
                  <a:schemeClr val="tx1"/>
                </a:solidFill>
                <a:uFillTx/>
                <a:latin typeface="Times New Roman" panose="02020603050405020304" pitchFamily="18" charset="0"/>
                <a:cs typeface="宋体" panose="02010600030101010101" pitchFamily="2" charset="-122"/>
              </a:rPr>
              <a:t>                print("This Point is %d,The distance is:%d "% (nextP, nextW))</a:t>
            </a:r>
            <a:endParaRPr lang="en-US" altLang="zh-CN" sz="1600">
              <a:solidFill>
                <a:schemeClr val="tx1"/>
              </a:solidFill>
              <a:uFillTx/>
              <a:latin typeface="Times New Roman" panose="02020603050405020304" pitchFamily="18" charset="0"/>
              <a:cs typeface="宋体" panose="02010600030101010101" pitchFamily="2" charset="-122"/>
            </a:endParaRPr>
          </a:p>
          <a:p>
            <a:r>
              <a:rPr lang="en-US" altLang="zh-CN" sz="1600">
                <a:solidFill>
                  <a:schemeClr val="tx1"/>
                </a:solidFill>
                <a:uFillTx/>
                <a:latin typeface="Times New Roman" panose="02020603050405020304" pitchFamily="18" charset="0"/>
                <a:cs typeface="宋体" panose="02010600030101010101" pitchFamily="2" charset="-122"/>
              </a:rPr>
              <a:t>                self.selected[nextP] = True</a:t>
            </a:r>
            <a:endParaRPr lang="en-US" altLang="zh-CN" sz="1600">
              <a:solidFill>
                <a:schemeClr val="tx1"/>
              </a:solidFill>
              <a:uFillTx/>
              <a:latin typeface="Times New Roman" panose="02020603050405020304" pitchFamily="18" charset="0"/>
              <a:cs typeface="宋体" panose="02010600030101010101" pitchFamily="2" charset="-122"/>
            </a:endParaRPr>
          </a:p>
          <a:p>
            <a:r>
              <a:rPr lang="en-US" altLang="zh-CN" sz="1600">
                <a:solidFill>
                  <a:schemeClr val="tx1"/>
                </a:solidFill>
                <a:uFillTx/>
                <a:latin typeface="Times New Roman" panose="02020603050405020304" pitchFamily="18" charset="0"/>
                <a:cs typeface="宋体" panose="02010600030101010101" pitchFamily="2" charset="-122"/>
              </a:rPr>
              <a:t>                </a:t>
            </a:r>
            <a:r>
              <a:rPr lang="en-US" altLang="zh-CN" sz="1600">
                <a:solidFill>
                  <a:srgbClr val="FF0000"/>
                </a:solidFill>
                <a:uFillTx/>
                <a:latin typeface="Times New Roman" panose="02020603050405020304" pitchFamily="18" charset="0"/>
                <a:cs typeface="宋体" panose="02010600030101010101" pitchFamily="2" charset="-122"/>
              </a:rPr>
              <a:t>for i in range(len(self.adj[nextP])):# </a:t>
            </a:r>
            <a:r>
              <a:rPr lang="zh-CN" altLang="en-US" sz="1600">
                <a:solidFill>
                  <a:srgbClr val="FF0000"/>
                </a:solidFill>
                <a:uFillTx/>
                <a:latin typeface="Times New Roman" panose="02020603050405020304" pitchFamily="18" charset="0"/>
                <a:cs typeface="宋体" panose="02010600030101010101" pitchFamily="2" charset="-122"/>
              </a:rPr>
              <a:t>通过邻接表将相邻的点加入堆中</a:t>
            </a:r>
            <a:endParaRPr lang="zh-CN" altLang="en-US" sz="1600">
              <a:solidFill>
                <a:srgbClr val="FF0000"/>
              </a:solidFill>
              <a:uFillTx/>
              <a:latin typeface="Times New Roman" panose="02020603050405020304" pitchFamily="18" charset="0"/>
              <a:cs typeface="宋体" panose="02010600030101010101" pitchFamily="2" charset="-122"/>
            </a:endParaRPr>
          </a:p>
          <a:p>
            <a:r>
              <a:rPr lang="en-US" altLang="zh-CN" sz="1600">
                <a:solidFill>
                  <a:srgbClr val="FF0000"/>
                </a:solidFill>
                <a:uFillTx/>
                <a:latin typeface="Times New Roman" panose="02020603050405020304" pitchFamily="18" charset="0"/>
                <a:cs typeface="宋体" panose="02010600030101010101" pitchFamily="2" charset="-122"/>
              </a:rPr>
              <a:t>                    nW = self.adj[nextP][i][1]</a:t>
            </a:r>
            <a:endParaRPr lang="en-US" altLang="zh-CN" sz="1600">
              <a:solidFill>
                <a:srgbClr val="FF0000"/>
              </a:solidFill>
              <a:uFillTx/>
              <a:latin typeface="Times New Roman" panose="02020603050405020304" pitchFamily="18" charset="0"/>
              <a:cs typeface="宋体" panose="02010600030101010101" pitchFamily="2" charset="-122"/>
            </a:endParaRPr>
          </a:p>
          <a:p>
            <a:r>
              <a:rPr lang="en-US" altLang="zh-CN" sz="1600">
                <a:solidFill>
                  <a:srgbClr val="FF0000"/>
                </a:solidFill>
                <a:uFillTx/>
                <a:latin typeface="Times New Roman" panose="02020603050405020304" pitchFamily="18" charset="0"/>
                <a:cs typeface="宋体" panose="02010600030101010101" pitchFamily="2" charset="-122"/>
              </a:rPr>
              <a:t>                    nP = self.adj[nextP][i][0]</a:t>
            </a:r>
            <a:endParaRPr lang="en-US" altLang="zh-CN" sz="1600">
              <a:solidFill>
                <a:srgbClr val="FF0000"/>
              </a:solidFill>
              <a:uFillTx/>
              <a:latin typeface="Times New Roman" panose="02020603050405020304" pitchFamily="18" charset="0"/>
              <a:cs typeface="宋体" panose="02010600030101010101" pitchFamily="2" charset="-122"/>
            </a:endParaRPr>
          </a:p>
          <a:p>
            <a:r>
              <a:rPr lang="en-US" altLang="zh-CN" sz="1600">
                <a:solidFill>
                  <a:srgbClr val="FF0000"/>
                </a:solidFill>
                <a:uFillTx/>
                <a:latin typeface="Times New Roman" panose="02020603050405020304" pitchFamily="18" charset="0"/>
                <a:cs typeface="宋体" panose="02010600030101010101" pitchFamily="2" charset="-122"/>
              </a:rPr>
              <a:t>                    distanceTemp = nW+nextW</a:t>
            </a:r>
            <a:endParaRPr lang="en-US" altLang="zh-CN" sz="1600">
              <a:solidFill>
                <a:srgbClr val="FF0000"/>
              </a:solidFill>
              <a:uFillTx/>
              <a:latin typeface="Times New Roman" panose="02020603050405020304" pitchFamily="18" charset="0"/>
              <a:cs typeface="宋体" panose="02010600030101010101" pitchFamily="2" charset="-122"/>
            </a:endParaRPr>
          </a:p>
          <a:p>
            <a:r>
              <a:rPr lang="en-US" altLang="zh-CN" sz="1600">
                <a:solidFill>
                  <a:schemeClr val="tx1"/>
                </a:solidFill>
                <a:uFillTx/>
                <a:latin typeface="Times New Roman" panose="02020603050405020304" pitchFamily="18" charset="0"/>
                <a:cs typeface="宋体" panose="02010600030101010101" pitchFamily="2" charset="-122"/>
              </a:rPr>
              <a:t>                    if not self.selected[nP]: # </a:t>
            </a:r>
            <a:r>
              <a:rPr lang="zh-CN" altLang="en-US" sz="1600">
                <a:solidFill>
                  <a:schemeClr val="tx1"/>
                </a:solidFill>
                <a:uFillTx/>
                <a:latin typeface="Times New Roman" panose="02020603050405020304" pitchFamily="18" charset="0"/>
                <a:cs typeface="宋体" panose="02010600030101010101" pitchFamily="2" charset="-122"/>
              </a:rPr>
              <a:t>要判断是否该点已经在集合中，避免重复计算</a:t>
            </a:r>
            <a:endParaRPr lang="zh-CN" altLang="en-US" sz="1600">
              <a:solidFill>
                <a:schemeClr val="tx1"/>
              </a:solidFill>
              <a:uFillTx/>
              <a:latin typeface="Times New Roman" panose="02020603050405020304" pitchFamily="18" charset="0"/>
              <a:cs typeface="宋体" panose="02010600030101010101" pitchFamily="2" charset="-122"/>
            </a:endParaRPr>
          </a:p>
          <a:p>
            <a:r>
              <a:rPr lang="en-US" altLang="zh-CN" sz="1600">
                <a:solidFill>
                  <a:schemeClr val="tx1"/>
                </a:solidFill>
                <a:uFillTx/>
                <a:latin typeface="Times New Roman" panose="02020603050405020304" pitchFamily="18" charset="0"/>
                <a:cs typeface="宋体" panose="02010600030101010101" pitchFamily="2" charset="-122"/>
              </a:rPr>
              <a:t>                        </a:t>
            </a:r>
            <a:r>
              <a:rPr lang="en-US" altLang="zh-CN" sz="1600">
                <a:solidFill>
                  <a:srgbClr val="FF0000"/>
                </a:solidFill>
                <a:uFillTx/>
                <a:latin typeface="Times New Roman" panose="02020603050405020304" pitchFamily="18" charset="0"/>
                <a:cs typeface="宋体" panose="02010600030101010101" pitchFamily="2" charset="-122"/>
              </a:rPr>
              <a:t>pq.put((distanceTemp,nP))</a:t>
            </a:r>
            <a:endParaRPr lang="en-US" altLang="zh-CN" sz="1600">
              <a:solidFill>
                <a:srgbClr val="FF0000"/>
              </a:solidFill>
              <a:uFillTx/>
              <a:latin typeface="Times New Roman" panose="02020603050405020304" pitchFamily="18" charset="0"/>
              <a:cs typeface="宋体" panose="02010600030101010101" pitchFamily="2" charset="-122"/>
            </a:endParaRPr>
          </a:p>
          <a:p>
            <a:r>
              <a:rPr lang="en-US" altLang="zh-CN" sz="1600">
                <a:solidFill>
                  <a:schemeClr val="tx1"/>
                </a:solidFill>
                <a:uFillTx/>
                <a:latin typeface="Times New Roman" panose="02020603050405020304" pitchFamily="18" charset="0"/>
                <a:cs typeface="宋体" panose="02010600030101010101" pitchFamily="2" charset="-122"/>
              </a:rPr>
              <a:t>        return</a:t>
            </a:r>
            <a:endParaRPr lang="en-US" altLang="zh-CN" sz="1600">
              <a:solidFill>
                <a:schemeClr val="tx1"/>
              </a:solidFill>
              <a:uFillTx/>
              <a:latin typeface="Times New Roman" panose="02020603050405020304" pitchFamily="18" charset="0"/>
              <a:cs typeface="宋体" panose="02010600030101010101" pitchFamily="2" charset="-122"/>
            </a:endParaRPr>
          </a:p>
        </p:txBody>
      </p:sp>
    </p:spTree>
  </p:cSld>
  <p:clrMapOvr>
    <a:masterClrMapping/>
  </p:clrMapOvr>
  <p:transition/>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2"/>
          <p:cNvSpPr txBox="1">
            <a:spLocks noChangeArrowheads="1"/>
          </p:cNvSpPr>
          <p:nvPr/>
        </p:nvSpPr>
        <p:spPr bwMode="auto">
          <a:xfrm>
            <a:off x="467360" y="980440"/>
            <a:ext cx="2858135" cy="45847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o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4.2.3 </a:t>
            </a:r>
            <a:r>
              <a:rPr kumimoji="1" lang="zh-CN" altLang="en-US" sz="2400" b="1" dirty="0">
                <a:uFillTx/>
                <a:latin typeface="Times New Roman" panose="02020603050405020304" pitchFamily="18" charset="0"/>
                <a:cs typeface="Times New Roman" panose="02020603050405020304" pitchFamily="18" charset="0"/>
                <a:sym typeface="+mn-ea"/>
              </a:rPr>
              <a:t>单源最短路径</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a:p>
            <a:pPr algn="l">
              <a:spcBef>
                <a:spcPct val="50000"/>
              </a:spcBef>
            </a:pP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4" name="Text Box 2"/>
          <p:cNvSpPr txBox="1">
            <a:spLocks noChangeArrowheads="1"/>
          </p:cNvSpPr>
          <p:nvPr/>
        </p:nvSpPr>
        <p:spPr bwMode="auto">
          <a:xfrm>
            <a:off x="683895" y="1484630"/>
            <a:ext cx="1064895" cy="32639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oAutofit/>
          </a:bodyPr>
          <a:lstStyle/>
          <a:p>
            <a:pPr algn="l">
              <a:spcBef>
                <a:spcPct val="50000"/>
              </a:spcBef>
            </a:pPr>
            <a:r>
              <a:rPr lang="zh-CN" altLang="en-US" sz="1800" dirty="0">
                <a:solidFill>
                  <a:schemeClr val="tx1"/>
                </a:solidFill>
                <a:uFillTx/>
                <a:latin typeface="宋体" panose="02010600030101010101" pitchFamily="2" charset="-122"/>
                <a:cs typeface="Times New Roman" panose="02020603050405020304" pitchFamily="18" charset="0"/>
                <a:sym typeface="+mn-ea"/>
              </a:rPr>
              <a:t>代码</a:t>
            </a:r>
            <a:r>
              <a:rPr lang="zh-CN" altLang="en-US" sz="1800" dirty="0">
                <a:solidFill>
                  <a:schemeClr val="tx1"/>
                </a:solidFill>
                <a:uFillTx/>
                <a:latin typeface="宋体" panose="02010600030101010101" pitchFamily="2" charset="-122"/>
                <a:cs typeface="Times New Roman" panose="02020603050405020304" pitchFamily="18" charset="0"/>
                <a:sym typeface="+mn-ea"/>
              </a:rPr>
              <a:t>调用：</a:t>
            </a:r>
            <a:endParaRPr lang="zh-CN" altLang="en-US" sz="1800" dirty="0">
              <a:solidFill>
                <a:schemeClr val="tx1"/>
              </a:solidFill>
              <a:uFillTx/>
              <a:latin typeface="宋体" panose="02010600030101010101" pitchFamily="2" charset="-122"/>
              <a:cs typeface="Times New Roman" panose="02020603050405020304" pitchFamily="18" charset="0"/>
              <a:sym typeface="+mn-ea"/>
            </a:endParaRPr>
          </a:p>
        </p:txBody>
      </p:sp>
      <p:sp>
        <p:nvSpPr>
          <p:cNvPr id="5" name="文本框 4"/>
          <p:cNvSpPr txBox="1"/>
          <p:nvPr/>
        </p:nvSpPr>
        <p:spPr>
          <a:xfrm>
            <a:off x="467995" y="1856740"/>
            <a:ext cx="4572000" cy="2584450"/>
          </a:xfrm>
          <a:prstGeom prst="rect">
            <a:avLst/>
          </a:prstGeom>
          <a:noFill/>
        </p:spPr>
        <p:txBody>
          <a:bodyPr wrap="square" rtlCol="0" anchor="t">
            <a:spAutoFit/>
          </a:bodyPr>
          <a:p>
            <a:r>
              <a:rPr lang="en-US" altLang="zh-CN">
                <a:latin typeface="Times New Roman" panose="02020603050405020304" pitchFamily="18" charset="0"/>
                <a:cs typeface="Times New Roman" panose="02020603050405020304" pitchFamily="18" charset="0"/>
              </a:rPr>
              <a:t>    g = Dijkstra1(5)</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g.add_edge(0, 1, 20)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g.add_edge(0, 3, 60)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g.add_edge(0, 4, 15)</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g.add_edge(1, 2, 42)</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g.add_edge(3, 2, 30)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g.add_edge(4, 3, 23)</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g.dijkstra_work(0) #</a:t>
            </a:r>
            <a:r>
              <a:rPr lang="zh-CN" altLang="en-US">
                <a:latin typeface="Times New Roman" panose="02020603050405020304" pitchFamily="18" charset="0"/>
                <a:cs typeface="Times New Roman" panose="02020603050405020304" pitchFamily="18" charset="0"/>
              </a:rPr>
              <a:t>表示从</a:t>
            </a:r>
            <a:r>
              <a:rPr lang="en-US" altLang="zh-CN">
                <a:latin typeface="Times New Roman" panose="02020603050405020304" pitchFamily="18" charset="0"/>
                <a:cs typeface="Times New Roman" panose="02020603050405020304" pitchFamily="18" charset="0"/>
              </a:rPr>
              <a:t>A</a:t>
            </a:r>
            <a:r>
              <a:rPr lang="zh-CN" altLang="en-US">
                <a:latin typeface="Times New Roman" panose="02020603050405020304" pitchFamily="18" charset="0"/>
                <a:cs typeface="Times New Roman" panose="02020603050405020304" pitchFamily="18" charset="0"/>
              </a:rPr>
              <a:t>点开始</a:t>
            </a:r>
            <a:endParaRPr lang="zh-CN" altLang="en-US">
              <a:latin typeface="Times New Roman" panose="02020603050405020304" pitchFamily="18" charset="0"/>
              <a:cs typeface="Times New Roman" panose="02020603050405020304" pitchFamily="18" charset="0"/>
            </a:endParaRPr>
          </a:p>
        </p:txBody>
      </p:sp>
      <p:pic>
        <p:nvPicPr>
          <p:cNvPr id="6" name="图片 5"/>
          <p:cNvPicPr>
            <a:picLocks noChangeAspect="1"/>
          </p:cNvPicPr>
          <p:nvPr/>
        </p:nvPicPr>
        <p:blipFill>
          <a:blip r:embed="rId1"/>
          <a:stretch>
            <a:fillRect/>
          </a:stretch>
        </p:blipFill>
        <p:spPr>
          <a:xfrm>
            <a:off x="4284345" y="1412875"/>
            <a:ext cx="3637915" cy="3357880"/>
          </a:xfrm>
          <a:prstGeom prst="rect">
            <a:avLst/>
          </a:prstGeom>
        </p:spPr>
      </p:pic>
    </p:spTree>
  </p:cSld>
  <p:clrMapOvr>
    <a:masterClrMapping/>
  </p:clrMapOvr>
  <p:transition/>
  <p:timing>
    <p:tnLst>
      <p:par>
        <p:cTn id="1" dur="indefinite" restart="never" nodeType="tmRoot"/>
      </p:par>
    </p:tnLst>
  </p:timing>
</p:sld>
</file>

<file path=ppt/tags/tag1.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2.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3.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4.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5.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6.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7.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8.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9.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10.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11.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12.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13.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14.xml><?xml version="1.0" encoding="utf-8"?>
<p:tagLst xmlns:p="http://schemas.openxmlformats.org/presentationml/2006/main">
  <p:tag name="KSO_WM_DIAGRAM_VIRTUALLY_FRAME" val="{&quot;height&quot;:345.43244094488193,&quot;left&quot;:25.2,&quot;top&quot;:171.85874015748033,&quot;width&quot;:756.5}"/>
</p:tagLst>
</file>

<file path=ppt/tags/tag15.xml><?xml version="1.0" encoding="utf-8"?>
<p:tagLst xmlns:p="http://schemas.openxmlformats.org/presentationml/2006/main">
  <p:tag name="KSO_WM_DIAGRAM_VIRTUALLY_FRAME" val="{&quot;height&quot;:345.43244094488193,&quot;left&quot;:25.2,&quot;top&quot;:171.85874015748033,&quot;width&quot;:756.5}"/>
</p:tagLst>
</file>

<file path=ppt/tags/tag16.xml><?xml version="1.0" encoding="utf-8"?>
<p:tagLst xmlns:p="http://schemas.openxmlformats.org/presentationml/2006/main">
  <p:tag name="KSO_WM_DIAGRAM_VIRTUALLY_FRAME" val="{&quot;height&quot;:345.43244094488193,&quot;left&quot;:25.2,&quot;top&quot;:171.85874015748033,&quot;width&quot;:756.5}"/>
</p:tagLst>
</file>

<file path=ppt/tags/tag17.xml><?xml version="1.0" encoding="utf-8"?>
<p:tagLst xmlns:p="http://schemas.openxmlformats.org/presentationml/2006/main">
  <p:tag name="KSO_WM_DIAGRAM_VIRTUALLY_FRAME" val="{&quot;height&quot;:345.43244094488193,&quot;left&quot;:25.2,&quot;top&quot;:171.85874015748033,&quot;width&quot;:756.5}"/>
</p:tagLst>
</file>

<file path=ppt/tags/tag18.xml><?xml version="1.0" encoding="utf-8"?>
<p:tagLst xmlns:p="http://schemas.openxmlformats.org/presentationml/2006/main">
  <p:tag name="TABLE_ENDDRAG_ORIGIN_RECT" val="322*193"/>
  <p:tag name="TABLE_ENDDRAG_RECT" val="223*184*322*193"/>
</p:tagLst>
</file>

<file path=ppt/tags/tag19.xml><?xml version="1.0" encoding="utf-8"?>
<p:tagLst xmlns:p="http://schemas.openxmlformats.org/presentationml/2006/main">
  <p:tag name="TABLE_ENDDRAG_ORIGIN_RECT" val="330*28"/>
  <p:tag name="TABLE_ENDDRAG_RECT" val="53*201*330*28"/>
</p:tagLst>
</file>

<file path=ppt/tags/tag20.xml><?xml version="1.0" encoding="utf-8"?>
<p:tagLst xmlns:p="http://schemas.openxmlformats.org/presentationml/2006/main">
  <p:tag name="TABLE_ENDDRAG_ORIGIN_RECT" val="330*28"/>
  <p:tag name="TABLE_ENDDRAG_RECT" val="53*201*330*28"/>
</p:tagLst>
</file>

<file path=ppt/tags/tag21.xml><?xml version="1.0" encoding="utf-8"?>
<p:tagLst xmlns:p="http://schemas.openxmlformats.org/presentationml/2006/main">
  <p:tag name="TABLE_ENDDRAG_ORIGIN_RECT" val="330*28"/>
  <p:tag name="TABLE_ENDDRAG_RECT" val="53*201*330*28"/>
</p:tagLst>
</file>

<file path=ppt/tags/tag22.xml><?xml version="1.0" encoding="utf-8"?>
<p:tagLst xmlns:p="http://schemas.openxmlformats.org/presentationml/2006/main">
  <p:tag name="TABLE_ENDDRAG_ORIGIN_RECT" val="330*28"/>
  <p:tag name="TABLE_ENDDRAG_RECT" val="53*201*330*28"/>
</p:tagLst>
</file>

<file path=ppt/tags/tag23.xml><?xml version="1.0" encoding="utf-8"?>
<p:tagLst xmlns:p="http://schemas.openxmlformats.org/presentationml/2006/main">
  <p:tag name="TABLE_ENDDRAG_ORIGIN_RECT" val="330*28"/>
  <p:tag name="TABLE_ENDDRAG_RECT" val="53*201*330*28"/>
</p:tagLst>
</file>

<file path=ppt/tags/tag24.xml><?xml version="1.0" encoding="utf-8"?>
<p:tagLst xmlns:p="http://schemas.openxmlformats.org/presentationml/2006/main">
  <p:tag name="RESOURCE_RECORD_KEY" val="{&quot;29&quot;:[50053052]}"/>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Times New Roman"/>
        <a:ea typeface="华文细黑"/>
        <a:cs typeface=""/>
      </a:majorFont>
      <a:minorFont>
        <a:latin typeface="Times New Roman"/>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Times New Roman"/>
        <a:font script="Hebr" typeface="Times New Roman"/>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13555</Words>
  <Application>WPS 演示</Application>
  <PresentationFormat>全屏显示(4:3)</PresentationFormat>
  <Paragraphs>2636</Paragraphs>
  <Slides>66</Slides>
  <Notes>15</Notes>
  <HiddenSlides>0</HiddenSlides>
  <MMClips>0</MMClips>
  <ScaleCrop>false</ScaleCrop>
  <HeadingPairs>
    <vt:vector size="8" baseType="variant">
      <vt:variant>
        <vt:lpstr>已用的字体</vt:lpstr>
      </vt:variant>
      <vt:variant>
        <vt:i4>21</vt:i4>
      </vt:variant>
      <vt:variant>
        <vt:lpstr>主题</vt:lpstr>
      </vt:variant>
      <vt:variant>
        <vt:i4>1</vt:i4>
      </vt:variant>
      <vt:variant>
        <vt:lpstr>嵌入 OLE 服务器</vt:lpstr>
      </vt:variant>
      <vt:variant>
        <vt:i4>9</vt:i4>
      </vt:variant>
      <vt:variant>
        <vt:lpstr>幻灯片标题</vt:lpstr>
      </vt:variant>
      <vt:variant>
        <vt:i4>66</vt:i4>
      </vt:variant>
    </vt:vector>
  </HeadingPairs>
  <TitlesOfParts>
    <vt:vector size="97" baseType="lpstr">
      <vt:lpstr>Arial</vt:lpstr>
      <vt:lpstr>宋体</vt:lpstr>
      <vt:lpstr>Wingdings</vt:lpstr>
      <vt:lpstr>华文细黑</vt:lpstr>
      <vt:lpstr>Times New Roman</vt:lpstr>
      <vt:lpstr>Calibri</vt:lpstr>
      <vt:lpstr>Verdana</vt:lpstr>
      <vt:lpstr>方正正大黑简体</vt:lpstr>
      <vt:lpstr>黑体</vt:lpstr>
      <vt:lpstr>微软雅黑</vt:lpstr>
      <vt:lpstr>隶书</vt:lpstr>
      <vt:lpstr>Arial Unicode MS</vt:lpstr>
      <vt:lpstr>华文中宋</vt:lpstr>
      <vt:lpstr>楷体</vt:lpstr>
      <vt:lpstr>楷体_GB2312</vt:lpstr>
      <vt:lpstr>新宋体</vt:lpstr>
      <vt:lpstr>Symbol</vt:lpstr>
      <vt:lpstr>华文新魏</vt:lpstr>
      <vt:lpstr>Tahoma</vt:lpstr>
      <vt:lpstr>JetBrains Mono</vt:lpstr>
      <vt:lpstr>Segoe Print</vt:lpstr>
      <vt:lpstr>第一PPT：www.1ppt.com</vt:lpstr>
      <vt:lpstr>Equation.KSEE3</vt:lpstr>
      <vt:lpstr>Equation.KSEE3</vt:lpstr>
      <vt:lpstr>Equation.KSEE3</vt:lpstr>
      <vt:lpstr>Equation.KSEE3</vt:lpstr>
      <vt:lpstr>Equation.KSEE3</vt:lpstr>
      <vt:lpstr>Equation.KSEE3</vt:lpstr>
      <vt:lpstr>Equation.KSEE3</vt:lpstr>
      <vt:lpstr>Equation.KSEE3</vt:lpstr>
      <vt:lpstr>Equation.KSEE3</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1.2 如何实现堆</vt:lpstr>
      <vt:lpstr>1.2 如何实现堆</vt:lpstr>
      <vt:lpstr>1.2 如何实现堆</vt:lpstr>
      <vt:lpstr>1.2 如何实现堆</vt:lpstr>
      <vt:lpstr>1.2 如何实现堆</vt:lpstr>
      <vt:lpstr>1.3 利用堆进行排序</vt:lpstr>
      <vt:lpstr>1.3 利用堆进行排序</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455</cp:revision>
  <dcterms:created xsi:type="dcterms:W3CDTF">2010-09-23T08:30:00Z</dcterms:created>
  <dcterms:modified xsi:type="dcterms:W3CDTF">2025-11-17T05:19:44Z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EE327F7BBB4048909F030AD7F98148BF_13</vt:lpwstr>
  </property>
  <property fmtid="{D5CDD505-2E9C-101B-9397-08002B2CF9AE}" pid="4" name="KSOProductBuildVer">
    <vt:lpwstr>2052-12.1.0.23542</vt:lpwstr>
  </property>
</Properties>
</file>