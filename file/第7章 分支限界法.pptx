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6"/>
  </p:handoutMasterIdLst>
  <p:sldIdLst>
    <p:sldId id="256" r:id="rId3"/>
    <p:sldId id="308" r:id="rId5"/>
    <p:sldId id="257" r:id="rId6"/>
    <p:sldId id="293" r:id="rId7"/>
    <p:sldId id="310" r:id="rId8"/>
    <p:sldId id="311" r:id="rId9"/>
    <p:sldId id="312" r:id="rId10"/>
    <p:sldId id="309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284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2" r:id="rId41"/>
    <p:sldId id="343" r:id="rId42"/>
    <p:sldId id="344" r:id="rId43"/>
    <p:sldId id="345" r:id="rId44"/>
    <p:sldId id="346" r:id="rId4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4" userDrawn="1">
          <p15:clr>
            <a:srgbClr val="A4A3A4"/>
          </p15:clr>
        </p15:guide>
        <p15:guide id="2" pos="269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jg" initials="t" lastIdx="1" clrIdx="0"/>
  <p:cmAuthor id="2" name="吕凯伟" initials="吕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3399"/>
    <a:srgbClr val="0066FF"/>
    <a:srgbClr val="FF6600"/>
    <a:srgbClr val="55B70C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12" autoAdjust="0"/>
    <p:restoredTop sz="95126" autoAdjust="0"/>
  </p:normalViewPr>
  <p:slideViewPr>
    <p:cSldViewPr showGuides="1">
      <p:cViewPr varScale="1">
        <p:scale>
          <a:sx n="113" d="100"/>
          <a:sy n="113" d="100"/>
        </p:scale>
        <p:origin x="678" y="84"/>
      </p:cViewPr>
      <p:guideLst>
        <p:guide orient="horz" pos="2274"/>
        <p:guide pos="26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commentAuthors" Target="commentAuthors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B9A6F-649B-40E0-9235-15314CCF5F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AA538-38B4-4B93-A9C9-F579F75A06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134E214-E3C0-4F75-A783-D0C3FCB417FE}" type="datetimeFigureOut">
              <a:rPr lang="zh-CN" altLang="en-US"/>
            </a:fld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B76F6FC-157B-4160-B88F-123B3C4C0F29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接下来我们来学习广度优先遍历，试想一下这样的一个场景小明回家过年，按照辈分去拜年，然后他拿到族谱之后是不是需要按照辈分进行一个层次的拜访。这就可以我们今天学习的广度优先遍历有点类似。</a:t>
            </a:r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A5D10B-7A78-4774-B402-BD6A641A0C0F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我们继续要把上述的思想总结一下，我们从图中某个顶点出发然后访问完其节点所有相邻的节点之后，在去放访问相邻节点的所有相邻节点。可能有点绕，其实就是图的层次遍历。</a:t>
            </a: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EE6AB-3BC3-44AF-A489-7B4BA274EE6C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g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163" y="-20638"/>
            <a:ext cx="9174163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7"/>
          <p:cNvSpPr>
            <a:spLocks noGrp="1" noChangeArrowheads="1"/>
          </p:cNvSpPr>
          <p:nvPr>
            <p:ph type="ctrTitle"/>
          </p:nvPr>
        </p:nvSpPr>
        <p:spPr>
          <a:xfrm>
            <a:off x="468313" y="2470150"/>
            <a:ext cx="5399087" cy="10795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052" name="Rectangle 31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8313" y="3549650"/>
            <a:ext cx="5400675" cy="60007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zh-CN"/>
              <a:t>单击添加署名或公司信息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15913"/>
            <a:ext cx="8207375" cy="592137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5162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AB2E83DC-661B-4DCC-B4A3-95AD0DF58E2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AD5D6385-73FF-48F7-8DDA-F02439D7B60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15913"/>
            <a:ext cx="8207375" cy="5921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125538"/>
            <a:ext cx="4027487" cy="51625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27488" cy="51625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145E1E5F-9D19-4FC7-A71A-24AB3971220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01DEBBD1-2960-4502-95D3-F1444E13883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15913"/>
            <a:ext cx="8207375" cy="5921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3FFE5EB4-F84A-4001-AC86-DD5EEB2060D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1FA65F22-8AC8-411F-B820-478F7DB776C2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8A7D3370-EE2E-49E3-B92B-CC864B084AD2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8FF81DA7-16D0-41E8-A52E-04703233FF3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15913"/>
            <a:ext cx="8207375" cy="5921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1125538"/>
            <a:ext cx="8207375" cy="51625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85395485-1E7F-4AEF-8259-7171D9A6624F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4638" y="315913"/>
            <a:ext cx="2051050" cy="597217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315913"/>
            <a:ext cx="6003925" cy="59721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7EFF9BE1-89C5-461A-8080-0860368CA4E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15913"/>
            <a:ext cx="8207375" cy="5921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125538"/>
            <a:ext cx="8207375" cy="516255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C8FEDC41-C8C7-4EFD-A6DE-BC4A4069D4E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15913"/>
            <a:ext cx="8207375" cy="5921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68313" y="1125538"/>
            <a:ext cx="8207375" cy="516255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6FF87EDD-D88C-44D8-97FB-6009DD6ED59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g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80513" cy="501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5825" y="6453188"/>
            <a:ext cx="1439863" cy="196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000" b="1">
                <a:ea typeface="华文细黑" panose="02010600040101010101" pitchFamily="2" charset="-122"/>
              </a:defRPr>
            </a:lvl1pPr>
          </a:lstStyle>
          <a:p>
            <a:pPr>
              <a:defRPr/>
            </a:pPr>
            <a:r>
              <a:rPr lang="de-DE" altLang="en-US"/>
              <a:t>Page </a:t>
            </a:r>
            <a:r>
              <a:rPr lang="de-DE" altLang="en-US">
                <a:sym typeface="MS UI Gothic" panose="020B0600070205080204" pitchFamily="34" charset="-128"/>
              </a:rPr>
              <a:t></a:t>
            </a:r>
            <a:r>
              <a:rPr lang="de-DE" altLang="en-US"/>
              <a:t> </a:t>
            </a:r>
            <a:fld id="{B8F227BD-8E81-48D9-8EB2-264A8CA59D9A}" type="slidenum">
              <a:rPr lang="zh-CN" altLang="en-US" smtClean="0"/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1" y="6619981"/>
            <a:ext cx="9180513" cy="4094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n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image" Target="../media/image8.png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9142413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Text Box 8"/>
          <p:cNvSpPr txBox="1">
            <a:spLocks noChangeArrowheads="1"/>
          </p:cNvSpPr>
          <p:nvPr/>
        </p:nvSpPr>
        <p:spPr bwMode="auto">
          <a:xfrm>
            <a:off x="250825" y="62261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>
              <a:latin typeface="Verdana" panose="020B0604030504040204" pitchFamily="34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900113" y="2349500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eaLnBrk="1" hangingPunct="1">
              <a:defRPr/>
            </a:pPr>
            <a:r>
              <a:rPr lang="zh-CN" altLang="en-US" sz="6000" b="1" dirty="0">
                <a:ln w="11430"/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正大黑简体" panose="02000500000000000000" pitchFamily="2" charset="-122"/>
                <a:ea typeface="方正正大黑简体" panose="02000500000000000000" pitchFamily="2" charset="-122"/>
              </a:rPr>
              <a:t>第</a:t>
            </a:r>
            <a:r>
              <a:rPr lang="en-US" altLang="zh-CN" sz="6000" b="1" dirty="0">
                <a:ln w="11430"/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正大黑简体" panose="02000500000000000000" pitchFamily="2" charset="-122"/>
                <a:ea typeface="方正正大黑简体" panose="02000500000000000000" pitchFamily="2" charset="-122"/>
              </a:rPr>
              <a:t>7</a:t>
            </a:r>
            <a:r>
              <a:rPr lang="zh-CN" altLang="en-US" sz="6000" b="1" dirty="0">
                <a:ln w="11430"/>
                <a:gradFill>
                  <a:gsLst>
                    <a:gs pos="0">
                      <a:srgbClr val="F79646">
                        <a:tint val="90000"/>
                        <a:satMod val="120000"/>
                      </a:srgbClr>
                    </a:gs>
                    <a:gs pos="25000">
                      <a:srgbClr val="F79646">
                        <a:tint val="93000"/>
                        <a:satMod val="120000"/>
                      </a:srgbClr>
                    </a:gs>
                    <a:gs pos="50000">
                      <a:srgbClr val="F79646">
                        <a:shade val="89000"/>
                        <a:satMod val="110000"/>
                      </a:srgbClr>
                    </a:gs>
                    <a:gs pos="75000">
                      <a:srgbClr val="F79646">
                        <a:tint val="93000"/>
                        <a:satMod val="120000"/>
                      </a:srgbClr>
                    </a:gs>
                    <a:gs pos="100000">
                      <a:srgbClr val="F79646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正大黑简体" panose="02000500000000000000" pitchFamily="2" charset="-122"/>
                <a:ea typeface="方正正大黑简体" panose="02000500000000000000" pitchFamily="2" charset="-122"/>
              </a:rPr>
              <a:t>章 分支限界法</a:t>
            </a:r>
            <a:endParaRPr lang="zh-CN" altLang="en-US" sz="6000" b="1" dirty="0">
              <a:ln w="11430"/>
              <a:gradFill>
                <a:gsLst>
                  <a:gs pos="0">
                    <a:srgbClr val="F79646">
                      <a:tint val="90000"/>
                      <a:satMod val="120000"/>
                    </a:srgbClr>
                  </a:gs>
                  <a:gs pos="25000">
                    <a:srgbClr val="F79646">
                      <a:tint val="93000"/>
                      <a:satMod val="120000"/>
                    </a:srgbClr>
                  </a:gs>
                  <a:gs pos="50000">
                    <a:srgbClr val="F79646">
                      <a:shade val="89000"/>
                      <a:satMod val="110000"/>
                    </a:srgbClr>
                  </a:gs>
                  <a:gs pos="75000">
                    <a:srgbClr val="F79646">
                      <a:tint val="93000"/>
                      <a:satMod val="120000"/>
                    </a:srgbClr>
                  </a:gs>
                  <a:gs pos="100000">
                    <a:srgbClr val="F79646">
                      <a:tint val="90000"/>
                      <a:satMod val="120000"/>
                    </a:srgbClr>
                  </a:gs>
                </a:gsLst>
                <a:lin ang="5400000"/>
              </a:gra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方正正大黑简体" panose="02000500000000000000" pitchFamily="2" charset="-122"/>
              <a:ea typeface="方正正大黑简体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" y="1051168"/>
            <a:ext cx="521290" cy="624834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1335" y="1124585"/>
            <a:ext cx="1515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本章概要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1" name="Freeform 6"/>
          <p:cNvSpPr/>
          <p:nvPr/>
        </p:nvSpPr>
        <p:spPr bwMode="auto">
          <a:xfrm>
            <a:off x="107195" y="1124554"/>
            <a:ext cx="397513" cy="501058"/>
          </a:xfrm>
          <a:custGeom>
            <a:avLst/>
            <a:gdLst>
              <a:gd name="T0" fmla="*/ 510720 w 1173"/>
              <a:gd name="T1" fmla="*/ 242556 h 1472"/>
              <a:gd name="T2" fmla="*/ 494464 w 1173"/>
              <a:gd name="T3" fmla="*/ 21309 h 1472"/>
              <a:gd name="T4" fmla="*/ 481820 w 1173"/>
              <a:gd name="T5" fmla="*/ 24482 h 1472"/>
              <a:gd name="T6" fmla="*/ 452920 w 1173"/>
              <a:gd name="T7" fmla="*/ 30830 h 1472"/>
              <a:gd name="T8" fmla="*/ 414988 w 1173"/>
              <a:gd name="T9" fmla="*/ 24482 h 1472"/>
              <a:gd name="T10" fmla="*/ 284035 w 1173"/>
              <a:gd name="T11" fmla="*/ 2267 h 1472"/>
              <a:gd name="T12" fmla="*/ 0 w 1173"/>
              <a:gd name="T13" fmla="*/ 348193 h 1472"/>
              <a:gd name="T14" fmla="*/ 290356 w 1173"/>
              <a:gd name="T15" fmla="*/ 665102 h 1472"/>
              <a:gd name="T16" fmla="*/ 529686 w 1173"/>
              <a:gd name="T17" fmla="*/ 492366 h 1472"/>
              <a:gd name="T18" fmla="*/ 491303 w 1173"/>
              <a:gd name="T19" fmla="*/ 469697 h 1472"/>
              <a:gd name="T20" fmla="*/ 312483 w 1173"/>
              <a:gd name="T21" fmla="*/ 620671 h 1472"/>
              <a:gd name="T22" fmla="*/ 130954 w 1173"/>
              <a:gd name="T23" fmla="*/ 328697 h 1472"/>
              <a:gd name="T24" fmla="*/ 290356 w 1173"/>
              <a:gd name="T25" fmla="*/ 47151 h 1472"/>
              <a:gd name="T26" fmla="*/ 472337 w 1173"/>
              <a:gd name="T27" fmla="*/ 258424 h 1472"/>
              <a:gd name="T28" fmla="*/ 510720 w 1173"/>
              <a:gd name="T29" fmla="*/ 242556 h 14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35305" y="1384300"/>
            <a:ext cx="1690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abstract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1384300"/>
            <a:ext cx="6312535" cy="4903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1412776"/>
            <a:ext cx="521290" cy="624834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" name="Freeform 6"/>
          <p:cNvSpPr/>
          <p:nvPr/>
        </p:nvSpPr>
        <p:spPr bwMode="auto">
          <a:xfrm>
            <a:off x="105924" y="1502037"/>
            <a:ext cx="397513" cy="501058"/>
          </a:xfrm>
          <a:custGeom>
            <a:avLst/>
            <a:gdLst>
              <a:gd name="T0" fmla="*/ 510720 w 1173"/>
              <a:gd name="T1" fmla="*/ 242556 h 1472"/>
              <a:gd name="T2" fmla="*/ 494464 w 1173"/>
              <a:gd name="T3" fmla="*/ 21309 h 1472"/>
              <a:gd name="T4" fmla="*/ 481820 w 1173"/>
              <a:gd name="T5" fmla="*/ 24482 h 1472"/>
              <a:gd name="T6" fmla="*/ 452920 w 1173"/>
              <a:gd name="T7" fmla="*/ 30830 h 1472"/>
              <a:gd name="T8" fmla="*/ 414988 w 1173"/>
              <a:gd name="T9" fmla="*/ 24482 h 1472"/>
              <a:gd name="T10" fmla="*/ 284035 w 1173"/>
              <a:gd name="T11" fmla="*/ 2267 h 1472"/>
              <a:gd name="T12" fmla="*/ 0 w 1173"/>
              <a:gd name="T13" fmla="*/ 348193 h 1472"/>
              <a:gd name="T14" fmla="*/ 290356 w 1173"/>
              <a:gd name="T15" fmla="*/ 665102 h 1472"/>
              <a:gd name="T16" fmla="*/ 529686 w 1173"/>
              <a:gd name="T17" fmla="*/ 492366 h 1472"/>
              <a:gd name="T18" fmla="*/ 491303 w 1173"/>
              <a:gd name="T19" fmla="*/ 469697 h 1472"/>
              <a:gd name="T20" fmla="*/ 312483 w 1173"/>
              <a:gd name="T21" fmla="*/ 620671 h 1472"/>
              <a:gd name="T22" fmla="*/ 130954 w 1173"/>
              <a:gd name="T23" fmla="*/ 328697 h 1472"/>
              <a:gd name="T24" fmla="*/ 290356 w 1173"/>
              <a:gd name="T25" fmla="*/ 47151 h 1472"/>
              <a:gd name="T26" fmla="*/ 472337 w 1173"/>
              <a:gd name="T27" fmla="*/ 258424 h 1472"/>
              <a:gd name="T28" fmla="*/ 510720 w 1173"/>
              <a:gd name="T29" fmla="*/ 242556 h 14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"/>
          <p:cNvSpPr>
            <a:spLocks noEditPoints="1"/>
          </p:cNvSpPr>
          <p:nvPr/>
        </p:nvSpPr>
        <p:spPr bwMode="auto">
          <a:xfrm>
            <a:off x="566515" y="1859085"/>
            <a:ext cx="742660" cy="151151"/>
          </a:xfrm>
          <a:custGeom>
            <a:avLst/>
            <a:gdLst>
              <a:gd name="T0" fmla="*/ 22141 w 2195"/>
              <a:gd name="T1" fmla="*/ 126007 h 445"/>
              <a:gd name="T2" fmla="*/ 113870 w 2195"/>
              <a:gd name="T3" fmla="*/ 125101 h 445"/>
              <a:gd name="T4" fmla="*/ 68684 w 2195"/>
              <a:gd name="T5" fmla="*/ 200795 h 445"/>
              <a:gd name="T6" fmla="*/ 70491 w 2195"/>
              <a:gd name="T7" fmla="*/ 47593 h 445"/>
              <a:gd name="T8" fmla="*/ 68684 w 2195"/>
              <a:gd name="T9" fmla="*/ 200795 h 445"/>
              <a:gd name="T10" fmla="*/ 300490 w 2195"/>
              <a:gd name="T11" fmla="*/ 196716 h 445"/>
              <a:gd name="T12" fmla="*/ 279253 w 2195"/>
              <a:gd name="T13" fmla="*/ 106064 h 445"/>
              <a:gd name="T14" fmla="*/ 201532 w 2195"/>
              <a:gd name="T15" fmla="*/ 106970 h 445"/>
              <a:gd name="T16" fmla="*/ 180746 w 2195"/>
              <a:gd name="T17" fmla="*/ 197623 h 445"/>
              <a:gd name="T18" fmla="*/ 201532 w 2195"/>
              <a:gd name="T19" fmla="*/ 50312 h 445"/>
              <a:gd name="T20" fmla="*/ 249881 w 2195"/>
              <a:gd name="T21" fmla="*/ 46233 h 445"/>
              <a:gd name="T22" fmla="*/ 405323 w 2195"/>
              <a:gd name="T23" fmla="*/ 184478 h 445"/>
              <a:gd name="T24" fmla="*/ 387248 w 2195"/>
              <a:gd name="T25" fmla="*/ 199889 h 445"/>
              <a:gd name="T26" fmla="*/ 356973 w 2195"/>
              <a:gd name="T27" fmla="*/ 68443 h 445"/>
              <a:gd name="T28" fmla="*/ 336640 w 2195"/>
              <a:gd name="T29" fmla="*/ 50312 h 445"/>
              <a:gd name="T30" fmla="*/ 356973 w 2195"/>
              <a:gd name="T31" fmla="*/ 10878 h 445"/>
              <a:gd name="T32" fmla="*/ 378211 w 2195"/>
              <a:gd name="T33" fmla="*/ 50312 h 445"/>
              <a:gd name="T34" fmla="*/ 405323 w 2195"/>
              <a:gd name="T35" fmla="*/ 68443 h 445"/>
              <a:gd name="T36" fmla="*/ 378211 w 2195"/>
              <a:gd name="T37" fmla="*/ 167707 h 445"/>
              <a:gd name="T38" fmla="*/ 405323 w 2195"/>
              <a:gd name="T39" fmla="*/ 184478 h 445"/>
              <a:gd name="T40" fmla="*/ 548564 w 2195"/>
              <a:gd name="T41" fmla="*/ 112862 h 445"/>
              <a:gd name="T42" fmla="*/ 460902 w 2195"/>
              <a:gd name="T43" fmla="*/ 112862 h 445"/>
              <a:gd name="T44" fmla="*/ 570706 w 2195"/>
              <a:gd name="T45" fmla="*/ 157282 h 445"/>
              <a:gd name="T46" fmla="*/ 436502 w 2195"/>
              <a:gd name="T47" fmla="*/ 126007 h 445"/>
              <a:gd name="T48" fmla="*/ 571609 w 2195"/>
              <a:gd name="T49" fmla="*/ 126007 h 445"/>
              <a:gd name="T50" fmla="*/ 459999 w 2195"/>
              <a:gd name="T51" fmla="*/ 130993 h 445"/>
              <a:gd name="T52" fmla="*/ 548564 w 2195"/>
              <a:gd name="T53" fmla="*/ 151390 h 445"/>
              <a:gd name="T54" fmla="*/ 734733 w 2195"/>
              <a:gd name="T55" fmla="*/ 196716 h 445"/>
              <a:gd name="T56" fmla="*/ 713947 w 2195"/>
              <a:gd name="T57" fmla="*/ 106064 h 445"/>
              <a:gd name="T58" fmla="*/ 636226 w 2195"/>
              <a:gd name="T59" fmla="*/ 106970 h 445"/>
              <a:gd name="T60" fmla="*/ 614988 w 2195"/>
              <a:gd name="T61" fmla="*/ 197623 h 445"/>
              <a:gd name="T62" fmla="*/ 636226 w 2195"/>
              <a:gd name="T63" fmla="*/ 50312 h 445"/>
              <a:gd name="T64" fmla="*/ 684576 w 2195"/>
              <a:gd name="T65" fmla="*/ 46233 h 445"/>
              <a:gd name="T66" fmla="*/ 840017 w 2195"/>
              <a:gd name="T67" fmla="*/ 184478 h 445"/>
              <a:gd name="T68" fmla="*/ 821491 w 2195"/>
              <a:gd name="T69" fmla="*/ 199889 h 445"/>
              <a:gd name="T70" fmla="*/ 791668 w 2195"/>
              <a:gd name="T71" fmla="*/ 68443 h 445"/>
              <a:gd name="T72" fmla="*/ 771334 w 2195"/>
              <a:gd name="T73" fmla="*/ 50312 h 445"/>
              <a:gd name="T74" fmla="*/ 791668 w 2195"/>
              <a:gd name="T75" fmla="*/ 10878 h 445"/>
              <a:gd name="T76" fmla="*/ 812454 w 2195"/>
              <a:gd name="T77" fmla="*/ 50312 h 445"/>
              <a:gd name="T78" fmla="*/ 840017 w 2195"/>
              <a:gd name="T79" fmla="*/ 68443 h 445"/>
              <a:gd name="T80" fmla="*/ 812454 w 2195"/>
              <a:gd name="T81" fmla="*/ 167707 h 445"/>
              <a:gd name="T82" fmla="*/ 840017 w 2195"/>
              <a:gd name="T83" fmla="*/ 184478 h 445"/>
              <a:gd name="T84" fmla="*/ 985066 w 2195"/>
              <a:gd name="T85" fmla="*/ 85667 h 445"/>
              <a:gd name="T86" fmla="*/ 875263 w 2195"/>
              <a:gd name="T87" fmla="*/ 87933 h 445"/>
              <a:gd name="T88" fmla="*/ 968799 w 2195"/>
              <a:gd name="T89" fmla="*/ 159549 h 445"/>
              <a:gd name="T90" fmla="*/ 890174 w 2195"/>
              <a:gd name="T91" fmla="*/ 151390 h 445"/>
              <a:gd name="T92" fmla="*/ 931746 w 2195"/>
              <a:gd name="T93" fmla="*/ 200795 h 445"/>
              <a:gd name="T94" fmla="*/ 937620 w 2195"/>
              <a:gd name="T95" fmla="*/ 114222 h 445"/>
              <a:gd name="T96" fmla="*/ 929487 w 2195"/>
              <a:gd name="T97" fmla="*/ 65723 h 44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8"/>
          <p:cNvSpPr>
            <a:spLocks noEditPoints="1"/>
          </p:cNvSpPr>
          <p:nvPr/>
        </p:nvSpPr>
        <p:spPr bwMode="auto">
          <a:xfrm>
            <a:off x="595079" y="1423487"/>
            <a:ext cx="714096" cy="335625"/>
          </a:xfrm>
          <a:custGeom>
            <a:avLst/>
            <a:gdLst>
              <a:gd name="T0" fmla="*/ 345008 w 2109"/>
              <a:gd name="T1" fmla="*/ 0 h 986"/>
              <a:gd name="T2" fmla="*/ 305269 w 2109"/>
              <a:gd name="T3" fmla="*/ 447253 h 986"/>
              <a:gd name="T4" fmla="*/ 37933 w 2109"/>
              <a:gd name="T5" fmla="*/ 409150 h 986"/>
              <a:gd name="T6" fmla="*/ 0 w 2109"/>
              <a:gd name="T7" fmla="*/ 447253 h 986"/>
              <a:gd name="T8" fmla="*/ 37933 w 2109"/>
              <a:gd name="T9" fmla="*/ 36288 h 986"/>
              <a:gd name="T10" fmla="*/ 305269 w 2109"/>
              <a:gd name="T11" fmla="*/ 126555 h 986"/>
              <a:gd name="T12" fmla="*/ 37933 w 2109"/>
              <a:gd name="T13" fmla="*/ 36288 h 986"/>
              <a:gd name="T14" fmla="*/ 37933 w 2109"/>
              <a:gd name="T15" fmla="*/ 376944 h 986"/>
              <a:gd name="T16" fmla="*/ 305269 w 2109"/>
              <a:gd name="T17" fmla="*/ 284863 h 986"/>
              <a:gd name="T18" fmla="*/ 37933 w 2109"/>
              <a:gd name="T19" fmla="*/ 160576 h 986"/>
              <a:gd name="T20" fmla="*/ 305269 w 2109"/>
              <a:gd name="T21" fmla="*/ 252657 h 986"/>
              <a:gd name="T22" fmla="*/ 37933 w 2109"/>
              <a:gd name="T23" fmla="*/ 160576 h 986"/>
              <a:gd name="T24" fmla="*/ 912645 w 2109"/>
              <a:gd name="T25" fmla="*/ 250843 h 986"/>
              <a:gd name="T26" fmla="*/ 808781 w 2109"/>
              <a:gd name="T27" fmla="*/ 314801 h 986"/>
              <a:gd name="T28" fmla="*/ 926644 w 2109"/>
              <a:gd name="T29" fmla="*/ 415047 h 986"/>
              <a:gd name="T30" fmla="*/ 731109 w 2109"/>
              <a:gd name="T31" fmla="*/ 371048 h 986"/>
              <a:gd name="T32" fmla="*/ 605118 w 2109"/>
              <a:gd name="T33" fmla="*/ 441356 h 986"/>
              <a:gd name="T34" fmla="*/ 658856 w 2109"/>
              <a:gd name="T35" fmla="*/ 403253 h 986"/>
              <a:gd name="T36" fmla="*/ 694983 w 2109"/>
              <a:gd name="T37" fmla="*/ 202761 h 986"/>
              <a:gd name="T38" fmla="*/ 477321 w 2109"/>
              <a:gd name="T39" fmla="*/ 170555 h 986"/>
              <a:gd name="T40" fmla="*/ 834973 w 2109"/>
              <a:gd name="T41" fmla="*/ 118391 h 986"/>
              <a:gd name="T42" fmla="*/ 537381 w 2109"/>
              <a:gd name="T43" fmla="*/ 86185 h 986"/>
              <a:gd name="T44" fmla="*/ 834973 w 2109"/>
              <a:gd name="T45" fmla="*/ 34020 h 986"/>
              <a:gd name="T46" fmla="*/ 529253 w 2109"/>
              <a:gd name="T47" fmla="*/ 2268 h 986"/>
              <a:gd name="T48" fmla="*/ 872454 w 2109"/>
              <a:gd name="T49" fmla="*/ 170555 h 986"/>
              <a:gd name="T50" fmla="*/ 948771 w 2109"/>
              <a:gd name="T51" fmla="*/ 202761 h 986"/>
              <a:gd name="T52" fmla="*/ 731109 w 2109"/>
              <a:gd name="T53" fmla="*/ 218637 h 986"/>
              <a:gd name="T54" fmla="*/ 886453 w 2109"/>
              <a:gd name="T55" fmla="*/ 218637 h 986"/>
              <a:gd name="T56" fmla="*/ 675113 w 2109"/>
              <a:gd name="T57" fmla="*/ 293028 h 986"/>
              <a:gd name="T58" fmla="*/ 485449 w 2109"/>
              <a:gd name="T59" fmla="*/ 403253 h 986"/>
              <a:gd name="T60" fmla="*/ 537381 w 2109"/>
              <a:gd name="T61" fmla="*/ 214554 h 986"/>
              <a:gd name="T62" fmla="*/ 631310 w 2109"/>
              <a:gd name="T63" fmla="*/ 276698 h 986"/>
              <a:gd name="T64" fmla="*/ 549122 w 2109"/>
              <a:gd name="T65" fmla="*/ 266719 h 986"/>
              <a:gd name="T66" fmla="*/ 537381 w 2109"/>
              <a:gd name="T67" fmla="*/ 214554 h 98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2109" h="986">
                <a:moveTo>
                  <a:pt x="0" y="0"/>
                </a:moveTo>
                <a:lnTo>
                  <a:pt x="764" y="0"/>
                </a:lnTo>
                <a:lnTo>
                  <a:pt x="764" y="986"/>
                </a:lnTo>
                <a:lnTo>
                  <a:pt x="676" y="986"/>
                </a:lnTo>
                <a:lnTo>
                  <a:pt x="676" y="902"/>
                </a:lnTo>
                <a:lnTo>
                  <a:pt x="84" y="902"/>
                </a:lnTo>
                <a:lnTo>
                  <a:pt x="84" y="986"/>
                </a:lnTo>
                <a:lnTo>
                  <a:pt x="0" y="986"/>
                </a:lnTo>
                <a:lnTo>
                  <a:pt x="0" y="0"/>
                </a:lnTo>
                <a:close/>
                <a:moveTo>
                  <a:pt x="84" y="80"/>
                </a:moveTo>
                <a:lnTo>
                  <a:pt x="84" y="279"/>
                </a:lnTo>
                <a:lnTo>
                  <a:pt x="676" y="279"/>
                </a:lnTo>
                <a:lnTo>
                  <a:pt x="676" y="80"/>
                </a:lnTo>
                <a:lnTo>
                  <a:pt x="84" y="80"/>
                </a:lnTo>
                <a:close/>
                <a:moveTo>
                  <a:pt x="84" y="628"/>
                </a:moveTo>
                <a:lnTo>
                  <a:pt x="84" y="831"/>
                </a:lnTo>
                <a:lnTo>
                  <a:pt x="676" y="831"/>
                </a:lnTo>
                <a:lnTo>
                  <a:pt x="676" y="628"/>
                </a:lnTo>
                <a:lnTo>
                  <a:pt x="84" y="628"/>
                </a:lnTo>
                <a:close/>
                <a:moveTo>
                  <a:pt x="84" y="354"/>
                </a:moveTo>
                <a:lnTo>
                  <a:pt x="84" y="557"/>
                </a:lnTo>
                <a:lnTo>
                  <a:pt x="676" y="557"/>
                </a:lnTo>
                <a:lnTo>
                  <a:pt x="676" y="354"/>
                </a:lnTo>
                <a:lnTo>
                  <a:pt x="84" y="354"/>
                </a:lnTo>
                <a:close/>
                <a:moveTo>
                  <a:pt x="1963" y="482"/>
                </a:moveTo>
                <a:lnTo>
                  <a:pt x="2021" y="553"/>
                </a:lnTo>
                <a:cubicBezTo>
                  <a:pt x="2000" y="568"/>
                  <a:pt x="1958" y="594"/>
                  <a:pt x="1893" y="632"/>
                </a:cubicBezTo>
                <a:cubicBezTo>
                  <a:pt x="1849" y="659"/>
                  <a:pt x="1815" y="679"/>
                  <a:pt x="1791" y="694"/>
                </a:cubicBezTo>
                <a:cubicBezTo>
                  <a:pt x="1859" y="753"/>
                  <a:pt x="1965" y="800"/>
                  <a:pt x="2109" y="836"/>
                </a:cubicBezTo>
                <a:cubicBezTo>
                  <a:pt x="2089" y="856"/>
                  <a:pt x="2070" y="883"/>
                  <a:pt x="2052" y="915"/>
                </a:cubicBezTo>
                <a:cubicBezTo>
                  <a:pt x="1849" y="856"/>
                  <a:pt x="1704" y="756"/>
                  <a:pt x="1619" y="615"/>
                </a:cubicBezTo>
                <a:lnTo>
                  <a:pt x="1619" y="818"/>
                </a:lnTo>
                <a:cubicBezTo>
                  <a:pt x="1624" y="924"/>
                  <a:pt x="1573" y="976"/>
                  <a:pt x="1464" y="973"/>
                </a:cubicBezTo>
                <a:cubicBezTo>
                  <a:pt x="1423" y="973"/>
                  <a:pt x="1381" y="973"/>
                  <a:pt x="1340" y="973"/>
                </a:cubicBezTo>
                <a:cubicBezTo>
                  <a:pt x="1337" y="937"/>
                  <a:pt x="1331" y="908"/>
                  <a:pt x="1322" y="884"/>
                </a:cubicBezTo>
                <a:cubicBezTo>
                  <a:pt x="1358" y="887"/>
                  <a:pt x="1403" y="889"/>
                  <a:pt x="1459" y="889"/>
                </a:cubicBezTo>
                <a:cubicBezTo>
                  <a:pt x="1515" y="892"/>
                  <a:pt x="1542" y="867"/>
                  <a:pt x="1539" y="814"/>
                </a:cubicBezTo>
                <a:lnTo>
                  <a:pt x="1539" y="447"/>
                </a:lnTo>
                <a:lnTo>
                  <a:pt x="1057" y="447"/>
                </a:lnTo>
                <a:lnTo>
                  <a:pt x="1057" y="376"/>
                </a:lnTo>
                <a:lnTo>
                  <a:pt x="1849" y="376"/>
                </a:lnTo>
                <a:lnTo>
                  <a:pt x="1849" y="261"/>
                </a:lnTo>
                <a:lnTo>
                  <a:pt x="1190" y="261"/>
                </a:lnTo>
                <a:lnTo>
                  <a:pt x="1190" y="190"/>
                </a:lnTo>
                <a:lnTo>
                  <a:pt x="1849" y="190"/>
                </a:lnTo>
                <a:lnTo>
                  <a:pt x="1849" y="75"/>
                </a:lnTo>
                <a:lnTo>
                  <a:pt x="1172" y="75"/>
                </a:lnTo>
                <a:lnTo>
                  <a:pt x="1172" y="5"/>
                </a:lnTo>
                <a:lnTo>
                  <a:pt x="1932" y="5"/>
                </a:lnTo>
                <a:lnTo>
                  <a:pt x="1932" y="376"/>
                </a:lnTo>
                <a:lnTo>
                  <a:pt x="2101" y="376"/>
                </a:lnTo>
                <a:lnTo>
                  <a:pt x="2101" y="447"/>
                </a:lnTo>
                <a:lnTo>
                  <a:pt x="1619" y="447"/>
                </a:lnTo>
                <a:lnTo>
                  <a:pt x="1619" y="482"/>
                </a:lnTo>
                <a:cubicBezTo>
                  <a:pt x="1654" y="544"/>
                  <a:pt x="1692" y="597"/>
                  <a:pt x="1733" y="641"/>
                </a:cubicBezTo>
                <a:cubicBezTo>
                  <a:pt x="1822" y="582"/>
                  <a:pt x="1899" y="529"/>
                  <a:pt x="1963" y="482"/>
                </a:cubicBezTo>
                <a:close/>
                <a:moveTo>
                  <a:pt x="1044" y="814"/>
                </a:moveTo>
                <a:cubicBezTo>
                  <a:pt x="1168" y="772"/>
                  <a:pt x="1318" y="716"/>
                  <a:pt x="1495" y="646"/>
                </a:cubicBezTo>
                <a:cubicBezTo>
                  <a:pt x="1501" y="672"/>
                  <a:pt x="1507" y="699"/>
                  <a:pt x="1513" y="725"/>
                </a:cubicBezTo>
                <a:cubicBezTo>
                  <a:pt x="1351" y="784"/>
                  <a:pt x="1205" y="839"/>
                  <a:pt x="1075" y="889"/>
                </a:cubicBezTo>
                <a:lnTo>
                  <a:pt x="1044" y="814"/>
                </a:lnTo>
                <a:close/>
                <a:moveTo>
                  <a:pt x="1190" y="473"/>
                </a:moveTo>
                <a:cubicBezTo>
                  <a:pt x="1202" y="482"/>
                  <a:pt x="1218" y="492"/>
                  <a:pt x="1238" y="504"/>
                </a:cubicBezTo>
                <a:cubicBezTo>
                  <a:pt x="1303" y="545"/>
                  <a:pt x="1356" y="581"/>
                  <a:pt x="1398" y="610"/>
                </a:cubicBezTo>
                <a:lnTo>
                  <a:pt x="1349" y="681"/>
                </a:lnTo>
                <a:cubicBezTo>
                  <a:pt x="1317" y="658"/>
                  <a:pt x="1272" y="627"/>
                  <a:pt x="1216" y="588"/>
                </a:cubicBezTo>
                <a:cubicBezTo>
                  <a:pt x="1184" y="565"/>
                  <a:pt x="1159" y="547"/>
                  <a:pt x="1141" y="535"/>
                </a:cubicBezTo>
                <a:lnTo>
                  <a:pt x="1190" y="4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24"/>
          <p:cNvSpPr/>
          <p:nvPr>
            <p:custDataLst>
              <p:tags r:id="rId1"/>
            </p:custDataLst>
          </p:nvPr>
        </p:nvSpPr>
        <p:spPr bwMode="auto">
          <a:xfrm>
            <a:off x="4660081" y="3598012"/>
            <a:ext cx="3361660" cy="535572"/>
          </a:xfrm>
          <a:custGeom>
            <a:avLst/>
            <a:gdLst>
              <a:gd name="T0" fmla="*/ 91 w 8683"/>
              <a:gd name="T1" fmla="*/ 0 h 865"/>
              <a:gd name="T2" fmla="*/ 8591 w 8683"/>
              <a:gd name="T3" fmla="*/ 0 h 865"/>
              <a:gd name="T4" fmla="*/ 8683 w 8683"/>
              <a:gd name="T5" fmla="*/ 91 h 865"/>
              <a:gd name="T6" fmla="*/ 8683 w 8683"/>
              <a:gd name="T7" fmla="*/ 774 h 865"/>
              <a:gd name="T8" fmla="*/ 8591 w 8683"/>
              <a:gd name="T9" fmla="*/ 865 h 865"/>
              <a:gd name="T10" fmla="*/ 91 w 8683"/>
              <a:gd name="T11" fmla="*/ 865 h 865"/>
              <a:gd name="T12" fmla="*/ 0 w 8683"/>
              <a:gd name="T13" fmla="*/ 774 h 865"/>
              <a:gd name="T14" fmla="*/ 0 w 8683"/>
              <a:gd name="T15" fmla="*/ 91 h 865"/>
              <a:gd name="T16" fmla="*/ 91 w 8683"/>
              <a:gd name="T17" fmla="*/ 0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83" h="865">
                <a:moveTo>
                  <a:pt x="91" y="0"/>
                </a:moveTo>
                <a:lnTo>
                  <a:pt x="8591" y="0"/>
                </a:lnTo>
                <a:cubicBezTo>
                  <a:pt x="8642" y="0"/>
                  <a:pt x="8683" y="41"/>
                  <a:pt x="8683" y="91"/>
                </a:cubicBezTo>
                <a:lnTo>
                  <a:pt x="8683" y="774"/>
                </a:lnTo>
                <a:cubicBezTo>
                  <a:pt x="8683" y="824"/>
                  <a:pt x="8642" y="865"/>
                  <a:pt x="8591" y="865"/>
                </a:cubicBezTo>
                <a:lnTo>
                  <a:pt x="91" y="865"/>
                </a:lnTo>
                <a:cubicBezTo>
                  <a:pt x="41" y="865"/>
                  <a:pt x="0" y="824"/>
                  <a:pt x="0" y="774"/>
                </a:cubicBezTo>
                <a:lnTo>
                  <a:pt x="0" y="91"/>
                </a:lnTo>
                <a:cubicBezTo>
                  <a:pt x="0" y="41"/>
                  <a:pt x="41" y="0"/>
                  <a:pt x="91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</p:spPr>
        <p:txBody>
          <a:bodyPr vert="horz" wrap="square" lIns="68553" tIns="34277" rIns="68553" bIns="34277" numCol="1" anchor="t" anchorCtr="0" compatLnSpc="1"/>
          <a:lstStyle/>
          <a:p>
            <a:endParaRPr lang="zh-CN" altLang="en-US"/>
          </a:p>
        </p:txBody>
      </p:sp>
      <p:sp>
        <p:nvSpPr>
          <p:cNvPr id="10" name="Freeform 26"/>
          <p:cNvSpPr/>
          <p:nvPr>
            <p:custDataLst>
              <p:tags r:id="rId2"/>
            </p:custDataLst>
          </p:nvPr>
        </p:nvSpPr>
        <p:spPr bwMode="auto">
          <a:xfrm>
            <a:off x="4660081" y="4418906"/>
            <a:ext cx="3361660" cy="535572"/>
          </a:xfrm>
          <a:custGeom>
            <a:avLst/>
            <a:gdLst>
              <a:gd name="T0" fmla="*/ 91 w 8683"/>
              <a:gd name="T1" fmla="*/ 0 h 865"/>
              <a:gd name="T2" fmla="*/ 8591 w 8683"/>
              <a:gd name="T3" fmla="*/ 0 h 865"/>
              <a:gd name="T4" fmla="*/ 8683 w 8683"/>
              <a:gd name="T5" fmla="*/ 91 h 865"/>
              <a:gd name="T6" fmla="*/ 8683 w 8683"/>
              <a:gd name="T7" fmla="*/ 774 h 865"/>
              <a:gd name="T8" fmla="*/ 8591 w 8683"/>
              <a:gd name="T9" fmla="*/ 865 h 865"/>
              <a:gd name="T10" fmla="*/ 91 w 8683"/>
              <a:gd name="T11" fmla="*/ 865 h 865"/>
              <a:gd name="T12" fmla="*/ 0 w 8683"/>
              <a:gd name="T13" fmla="*/ 774 h 865"/>
              <a:gd name="T14" fmla="*/ 0 w 8683"/>
              <a:gd name="T15" fmla="*/ 91 h 865"/>
              <a:gd name="T16" fmla="*/ 91 w 8683"/>
              <a:gd name="T17" fmla="*/ 0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83" h="865">
                <a:moveTo>
                  <a:pt x="91" y="0"/>
                </a:moveTo>
                <a:lnTo>
                  <a:pt x="8591" y="0"/>
                </a:lnTo>
                <a:cubicBezTo>
                  <a:pt x="8642" y="0"/>
                  <a:pt x="8683" y="41"/>
                  <a:pt x="8683" y="91"/>
                </a:cubicBezTo>
                <a:lnTo>
                  <a:pt x="8683" y="774"/>
                </a:lnTo>
                <a:cubicBezTo>
                  <a:pt x="8683" y="824"/>
                  <a:pt x="8642" y="865"/>
                  <a:pt x="8591" y="865"/>
                </a:cubicBezTo>
                <a:lnTo>
                  <a:pt x="91" y="865"/>
                </a:lnTo>
                <a:cubicBezTo>
                  <a:pt x="41" y="865"/>
                  <a:pt x="0" y="824"/>
                  <a:pt x="0" y="774"/>
                </a:cubicBezTo>
                <a:lnTo>
                  <a:pt x="0" y="91"/>
                </a:lnTo>
                <a:cubicBezTo>
                  <a:pt x="0" y="41"/>
                  <a:pt x="41" y="0"/>
                  <a:pt x="91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</p:spPr>
        <p:txBody>
          <a:bodyPr vert="horz" wrap="square" lIns="68553" tIns="34277" rIns="68553" bIns="34277" numCol="1" anchor="t" anchorCtr="0" compatLnSpc="1"/>
          <a:lstStyle/>
          <a:p>
            <a:endParaRPr lang="zh-CN" altLang="en-US"/>
          </a:p>
        </p:txBody>
      </p:sp>
      <p:sp>
        <p:nvSpPr>
          <p:cNvPr id="14" name="TextBox 47"/>
          <p:cNvSpPr txBox="1"/>
          <p:nvPr>
            <p:custDataLst>
              <p:tags r:id="rId3"/>
            </p:custDataLst>
          </p:nvPr>
        </p:nvSpPr>
        <p:spPr>
          <a:xfrm>
            <a:off x="4784388" y="3646592"/>
            <a:ext cx="29559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分支限界实现案例</a:t>
            </a:r>
            <a:endParaRPr lang="zh-CN" altLang="en-US" sz="2200" b="1" dirty="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48"/>
          <p:cNvSpPr txBox="1"/>
          <p:nvPr>
            <p:custDataLst>
              <p:tags r:id="rId4"/>
            </p:custDataLst>
          </p:nvPr>
        </p:nvSpPr>
        <p:spPr>
          <a:xfrm>
            <a:off x="4784388" y="4512129"/>
            <a:ext cx="29559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7.3 </a:t>
            </a:r>
            <a:r>
              <a:rPr lang="zh-CN" altLang="en-US" sz="2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分支限界例题</a:t>
            </a:r>
            <a:endParaRPr lang="zh-CN" altLang="en-US" sz="2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8" name="Picture 2" descr="E:\我的文档\Nipic_6852949_20110401101000478152.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89" y="2782496"/>
            <a:ext cx="2680498" cy="2947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 41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4161356" y="3703085"/>
            <a:ext cx="360714" cy="356368"/>
          </a:xfrm>
          <a:custGeom>
            <a:avLst/>
            <a:gdLst>
              <a:gd name="T0" fmla="*/ 471 w 549"/>
              <a:gd name="T1" fmla="*/ 540 h 540"/>
              <a:gd name="T2" fmla="*/ 335 w 549"/>
              <a:gd name="T3" fmla="*/ 436 h 540"/>
              <a:gd name="T4" fmla="*/ 0 w 549"/>
              <a:gd name="T5" fmla="*/ 231 h 540"/>
              <a:gd name="T6" fmla="*/ 461 w 549"/>
              <a:gd name="T7" fmla="*/ 231 h 540"/>
              <a:gd name="T8" fmla="*/ 521 w 549"/>
              <a:gd name="T9" fmla="*/ 419 h 540"/>
              <a:gd name="T10" fmla="*/ 297 w 549"/>
              <a:gd name="T11" fmla="*/ 262 h 540"/>
              <a:gd name="T12" fmla="*/ 284 w 549"/>
              <a:gd name="T13" fmla="*/ 259 h 540"/>
              <a:gd name="T14" fmla="*/ 273 w 549"/>
              <a:gd name="T15" fmla="*/ 311 h 540"/>
              <a:gd name="T16" fmla="*/ 297 w 549"/>
              <a:gd name="T17" fmla="*/ 318 h 540"/>
              <a:gd name="T18" fmla="*/ 291 w 549"/>
              <a:gd name="T19" fmla="*/ 336 h 540"/>
              <a:gd name="T20" fmla="*/ 234 w 549"/>
              <a:gd name="T21" fmla="*/ 351 h 540"/>
              <a:gd name="T22" fmla="*/ 230 w 549"/>
              <a:gd name="T23" fmla="*/ 350 h 540"/>
              <a:gd name="T24" fmla="*/ 168 w 549"/>
              <a:gd name="T25" fmla="*/ 327 h 540"/>
              <a:gd name="T26" fmla="*/ 191 w 549"/>
              <a:gd name="T27" fmla="*/ 312 h 540"/>
              <a:gd name="T28" fmla="*/ 208 w 549"/>
              <a:gd name="T29" fmla="*/ 281 h 540"/>
              <a:gd name="T30" fmla="*/ 180 w 549"/>
              <a:gd name="T31" fmla="*/ 260 h 540"/>
              <a:gd name="T32" fmla="*/ 168 w 549"/>
              <a:gd name="T33" fmla="*/ 236 h 540"/>
              <a:gd name="T34" fmla="*/ 178 w 549"/>
              <a:gd name="T35" fmla="*/ 228 h 540"/>
              <a:gd name="T36" fmla="*/ 288 w 549"/>
              <a:gd name="T37" fmla="*/ 229 h 540"/>
              <a:gd name="T38" fmla="*/ 297 w 549"/>
              <a:gd name="T39" fmla="*/ 237 h 540"/>
              <a:gd name="T40" fmla="*/ 386 w 549"/>
              <a:gd name="T41" fmla="*/ 289 h 540"/>
              <a:gd name="T42" fmla="*/ 317 w 549"/>
              <a:gd name="T43" fmla="*/ 215 h 540"/>
              <a:gd name="T44" fmla="*/ 306 w 549"/>
              <a:gd name="T45" fmla="*/ 209 h 540"/>
              <a:gd name="T46" fmla="*/ 164 w 549"/>
              <a:gd name="T47" fmla="*/ 208 h 540"/>
              <a:gd name="T48" fmla="*/ 150 w 549"/>
              <a:gd name="T49" fmla="*/ 214 h 540"/>
              <a:gd name="T50" fmla="*/ 81 w 549"/>
              <a:gd name="T51" fmla="*/ 288 h 540"/>
              <a:gd name="T52" fmla="*/ 78 w 549"/>
              <a:gd name="T53" fmla="*/ 318 h 540"/>
              <a:gd name="T54" fmla="*/ 102 w 549"/>
              <a:gd name="T55" fmla="*/ 333 h 540"/>
              <a:gd name="T56" fmla="*/ 156 w 549"/>
              <a:gd name="T57" fmla="*/ 320 h 540"/>
              <a:gd name="T58" fmla="*/ 164 w 549"/>
              <a:gd name="T59" fmla="*/ 369 h 540"/>
              <a:gd name="T60" fmla="*/ 310 w 549"/>
              <a:gd name="T61" fmla="*/ 361 h 540"/>
              <a:gd name="T62" fmla="*/ 362 w 549"/>
              <a:gd name="T63" fmla="*/ 333 h 540"/>
              <a:gd name="T64" fmla="*/ 366 w 549"/>
              <a:gd name="T65" fmla="*/ 334 h 540"/>
              <a:gd name="T66" fmla="*/ 386 w 549"/>
              <a:gd name="T67" fmla="*/ 289 h 540"/>
              <a:gd name="T68" fmla="*/ 295 w 549"/>
              <a:gd name="T69" fmla="*/ 138 h 540"/>
              <a:gd name="T70" fmla="*/ 171 w 549"/>
              <a:gd name="T71" fmla="*/ 138 h 540"/>
              <a:gd name="T72" fmla="*/ 231 w 549"/>
              <a:gd name="T73" fmla="*/ 432 h 540"/>
              <a:gd name="T74" fmla="*/ 432 w 549"/>
              <a:gd name="T75" fmla="*/ 231 h 540"/>
              <a:gd name="T76" fmla="*/ 29 w 549"/>
              <a:gd name="T77" fmla="*/ 231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49" h="540">
                <a:moveTo>
                  <a:pt x="521" y="520"/>
                </a:moveTo>
                <a:cubicBezTo>
                  <a:pt x="507" y="534"/>
                  <a:pt x="489" y="540"/>
                  <a:pt x="471" y="540"/>
                </a:cubicBezTo>
                <a:cubicBezTo>
                  <a:pt x="452" y="540"/>
                  <a:pt x="434" y="534"/>
                  <a:pt x="420" y="520"/>
                </a:cubicBezTo>
                <a:lnTo>
                  <a:pt x="335" y="436"/>
                </a:lnTo>
                <a:cubicBezTo>
                  <a:pt x="304" y="452"/>
                  <a:pt x="268" y="462"/>
                  <a:pt x="231" y="462"/>
                </a:cubicBezTo>
                <a:cubicBezTo>
                  <a:pt x="103" y="462"/>
                  <a:pt x="0" y="358"/>
                  <a:pt x="0" y="231"/>
                </a:cubicBezTo>
                <a:cubicBezTo>
                  <a:pt x="0" y="103"/>
                  <a:pt x="103" y="0"/>
                  <a:pt x="231" y="0"/>
                </a:cubicBezTo>
                <a:cubicBezTo>
                  <a:pt x="358" y="0"/>
                  <a:pt x="461" y="103"/>
                  <a:pt x="461" y="231"/>
                </a:cubicBezTo>
                <a:cubicBezTo>
                  <a:pt x="461" y="269"/>
                  <a:pt x="452" y="304"/>
                  <a:pt x="436" y="336"/>
                </a:cubicBezTo>
                <a:lnTo>
                  <a:pt x="521" y="419"/>
                </a:lnTo>
                <a:cubicBezTo>
                  <a:pt x="549" y="447"/>
                  <a:pt x="549" y="492"/>
                  <a:pt x="521" y="520"/>
                </a:cubicBezTo>
                <a:close/>
                <a:moveTo>
                  <a:pt x="297" y="262"/>
                </a:moveTo>
                <a:lnTo>
                  <a:pt x="286" y="260"/>
                </a:lnTo>
                <a:cubicBezTo>
                  <a:pt x="285" y="259"/>
                  <a:pt x="285" y="259"/>
                  <a:pt x="284" y="259"/>
                </a:cubicBezTo>
                <a:cubicBezTo>
                  <a:pt x="272" y="258"/>
                  <a:pt x="260" y="267"/>
                  <a:pt x="257" y="281"/>
                </a:cubicBezTo>
                <a:cubicBezTo>
                  <a:pt x="255" y="294"/>
                  <a:pt x="261" y="307"/>
                  <a:pt x="273" y="311"/>
                </a:cubicBezTo>
                <a:cubicBezTo>
                  <a:pt x="273" y="312"/>
                  <a:pt x="274" y="312"/>
                  <a:pt x="274" y="312"/>
                </a:cubicBezTo>
                <a:lnTo>
                  <a:pt x="297" y="318"/>
                </a:lnTo>
                <a:lnTo>
                  <a:pt x="297" y="328"/>
                </a:lnTo>
                <a:cubicBezTo>
                  <a:pt x="297" y="331"/>
                  <a:pt x="295" y="335"/>
                  <a:pt x="291" y="336"/>
                </a:cubicBezTo>
                <a:lnTo>
                  <a:pt x="236" y="351"/>
                </a:lnTo>
                <a:cubicBezTo>
                  <a:pt x="235" y="351"/>
                  <a:pt x="234" y="351"/>
                  <a:pt x="234" y="351"/>
                </a:cubicBezTo>
                <a:cubicBezTo>
                  <a:pt x="233" y="351"/>
                  <a:pt x="232" y="351"/>
                  <a:pt x="231" y="351"/>
                </a:cubicBezTo>
                <a:cubicBezTo>
                  <a:pt x="231" y="351"/>
                  <a:pt x="230" y="351"/>
                  <a:pt x="230" y="350"/>
                </a:cubicBezTo>
                <a:lnTo>
                  <a:pt x="174" y="335"/>
                </a:lnTo>
                <a:cubicBezTo>
                  <a:pt x="171" y="334"/>
                  <a:pt x="168" y="331"/>
                  <a:pt x="168" y="327"/>
                </a:cubicBezTo>
                <a:lnTo>
                  <a:pt x="168" y="318"/>
                </a:lnTo>
                <a:lnTo>
                  <a:pt x="191" y="312"/>
                </a:lnTo>
                <a:cubicBezTo>
                  <a:pt x="192" y="312"/>
                  <a:pt x="192" y="312"/>
                  <a:pt x="193" y="311"/>
                </a:cubicBezTo>
                <a:cubicBezTo>
                  <a:pt x="204" y="307"/>
                  <a:pt x="211" y="294"/>
                  <a:pt x="208" y="281"/>
                </a:cubicBezTo>
                <a:cubicBezTo>
                  <a:pt x="205" y="267"/>
                  <a:pt x="193" y="258"/>
                  <a:pt x="181" y="259"/>
                </a:cubicBezTo>
                <a:cubicBezTo>
                  <a:pt x="181" y="259"/>
                  <a:pt x="180" y="259"/>
                  <a:pt x="180" y="260"/>
                </a:cubicBezTo>
                <a:lnTo>
                  <a:pt x="168" y="262"/>
                </a:lnTo>
                <a:lnTo>
                  <a:pt x="168" y="236"/>
                </a:lnTo>
                <a:cubicBezTo>
                  <a:pt x="168" y="233"/>
                  <a:pt x="169" y="231"/>
                  <a:pt x="171" y="229"/>
                </a:cubicBezTo>
                <a:cubicBezTo>
                  <a:pt x="173" y="228"/>
                  <a:pt x="176" y="227"/>
                  <a:pt x="178" y="228"/>
                </a:cubicBezTo>
                <a:lnTo>
                  <a:pt x="234" y="243"/>
                </a:lnTo>
                <a:lnTo>
                  <a:pt x="288" y="229"/>
                </a:lnTo>
                <a:cubicBezTo>
                  <a:pt x="290" y="228"/>
                  <a:pt x="292" y="228"/>
                  <a:pt x="294" y="230"/>
                </a:cubicBezTo>
                <a:cubicBezTo>
                  <a:pt x="296" y="232"/>
                  <a:pt x="297" y="234"/>
                  <a:pt x="297" y="237"/>
                </a:cubicBezTo>
                <a:lnTo>
                  <a:pt x="297" y="262"/>
                </a:lnTo>
                <a:close/>
                <a:moveTo>
                  <a:pt x="386" y="289"/>
                </a:moveTo>
                <a:cubicBezTo>
                  <a:pt x="385" y="289"/>
                  <a:pt x="385" y="288"/>
                  <a:pt x="385" y="288"/>
                </a:cubicBezTo>
                <a:lnTo>
                  <a:pt x="317" y="215"/>
                </a:lnTo>
                <a:cubicBezTo>
                  <a:pt x="316" y="215"/>
                  <a:pt x="316" y="214"/>
                  <a:pt x="316" y="214"/>
                </a:cubicBezTo>
                <a:cubicBezTo>
                  <a:pt x="313" y="211"/>
                  <a:pt x="309" y="210"/>
                  <a:pt x="306" y="209"/>
                </a:cubicBezTo>
                <a:cubicBezTo>
                  <a:pt x="305" y="208"/>
                  <a:pt x="304" y="208"/>
                  <a:pt x="302" y="208"/>
                </a:cubicBezTo>
                <a:lnTo>
                  <a:pt x="164" y="208"/>
                </a:lnTo>
                <a:cubicBezTo>
                  <a:pt x="163" y="208"/>
                  <a:pt x="163" y="208"/>
                  <a:pt x="163" y="208"/>
                </a:cubicBezTo>
                <a:cubicBezTo>
                  <a:pt x="158" y="209"/>
                  <a:pt x="153" y="211"/>
                  <a:pt x="150" y="214"/>
                </a:cubicBezTo>
                <a:cubicBezTo>
                  <a:pt x="149" y="214"/>
                  <a:pt x="149" y="215"/>
                  <a:pt x="149" y="215"/>
                </a:cubicBezTo>
                <a:lnTo>
                  <a:pt x="81" y="288"/>
                </a:lnTo>
                <a:cubicBezTo>
                  <a:pt x="81" y="288"/>
                  <a:pt x="80" y="289"/>
                  <a:pt x="80" y="289"/>
                </a:cubicBezTo>
                <a:cubicBezTo>
                  <a:pt x="74" y="297"/>
                  <a:pt x="73" y="309"/>
                  <a:pt x="78" y="318"/>
                </a:cubicBezTo>
                <a:cubicBezTo>
                  <a:pt x="82" y="327"/>
                  <a:pt x="90" y="334"/>
                  <a:pt x="99" y="334"/>
                </a:cubicBezTo>
                <a:cubicBezTo>
                  <a:pt x="100" y="334"/>
                  <a:pt x="101" y="334"/>
                  <a:pt x="102" y="333"/>
                </a:cubicBezTo>
                <a:cubicBezTo>
                  <a:pt x="103" y="333"/>
                  <a:pt x="103" y="333"/>
                  <a:pt x="104" y="333"/>
                </a:cubicBezTo>
                <a:lnTo>
                  <a:pt x="156" y="320"/>
                </a:lnTo>
                <a:lnTo>
                  <a:pt x="156" y="361"/>
                </a:lnTo>
                <a:cubicBezTo>
                  <a:pt x="156" y="365"/>
                  <a:pt x="160" y="369"/>
                  <a:pt x="164" y="369"/>
                </a:cubicBezTo>
                <a:lnTo>
                  <a:pt x="302" y="369"/>
                </a:lnTo>
                <a:cubicBezTo>
                  <a:pt x="307" y="369"/>
                  <a:pt x="310" y="365"/>
                  <a:pt x="310" y="361"/>
                </a:cubicBezTo>
                <a:lnTo>
                  <a:pt x="310" y="321"/>
                </a:lnTo>
                <a:lnTo>
                  <a:pt x="362" y="333"/>
                </a:lnTo>
                <a:cubicBezTo>
                  <a:pt x="362" y="333"/>
                  <a:pt x="363" y="333"/>
                  <a:pt x="363" y="333"/>
                </a:cubicBezTo>
                <a:cubicBezTo>
                  <a:pt x="364" y="334"/>
                  <a:pt x="365" y="334"/>
                  <a:pt x="366" y="334"/>
                </a:cubicBezTo>
                <a:cubicBezTo>
                  <a:pt x="374" y="334"/>
                  <a:pt x="381" y="329"/>
                  <a:pt x="386" y="322"/>
                </a:cubicBezTo>
                <a:cubicBezTo>
                  <a:pt x="393" y="312"/>
                  <a:pt x="393" y="299"/>
                  <a:pt x="386" y="289"/>
                </a:cubicBezTo>
                <a:close/>
                <a:moveTo>
                  <a:pt x="233" y="204"/>
                </a:moveTo>
                <a:cubicBezTo>
                  <a:pt x="267" y="204"/>
                  <a:pt x="295" y="174"/>
                  <a:pt x="295" y="138"/>
                </a:cubicBezTo>
                <a:cubicBezTo>
                  <a:pt x="295" y="101"/>
                  <a:pt x="267" y="71"/>
                  <a:pt x="233" y="71"/>
                </a:cubicBezTo>
                <a:cubicBezTo>
                  <a:pt x="198" y="71"/>
                  <a:pt x="171" y="101"/>
                  <a:pt x="171" y="138"/>
                </a:cubicBezTo>
                <a:cubicBezTo>
                  <a:pt x="171" y="174"/>
                  <a:pt x="198" y="204"/>
                  <a:pt x="233" y="204"/>
                </a:cubicBezTo>
                <a:close/>
                <a:moveTo>
                  <a:pt x="231" y="432"/>
                </a:moveTo>
                <a:lnTo>
                  <a:pt x="231" y="432"/>
                </a:lnTo>
                <a:cubicBezTo>
                  <a:pt x="342" y="432"/>
                  <a:pt x="432" y="342"/>
                  <a:pt x="432" y="231"/>
                </a:cubicBezTo>
                <a:cubicBezTo>
                  <a:pt x="432" y="120"/>
                  <a:pt x="342" y="30"/>
                  <a:pt x="231" y="30"/>
                </a:cubicBezTo>
                <a:cubicBezTo>
                  <a:pt x="119" y="30"/>
                  <a:pt x="29" y="120"/>
                  <a:pt x="29" y="231"/>
                </a:cubicBezTo>
                <a:cubicBezTo>
                  <a:pt x="29" y="342"/>
                  <a:pt x="119" y="432"/>
                  <a:pt x="231" y="4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53" tIns="34277" rIns="68553" bIns="34277" numCol="1" anchor="t" anchorCtr="0" compatLnSpc="1"/>
          <a:lstStyle/>
          <a:p>
            <a:endParaRPr lang="zh-CN" altLang="en-US"/>
          </a:p>
        </p:txBody>
      </p:sp>
      <p:sp>
        <p:nvSpPr>
          <p:cNvPr id="20" name="Freeform 47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4213508" y="4512128"/>
            <a:ext cx="308562" cy="349125"/>
          </a:xfrm>
          <a:custGeom>
            <a:avLst/>
            <a:gdLst>
              <a:gd name="T0" fmla="*/ 298 w 467"/>
              <a:gd name="T1" fmla="*/ 66 h 528"/>
              <a:gd name="T2" fmla="*/ 232 w 467"/>
              <a:gd name="T3" fmla="*/ 132 h 528"/>
              <a:gd name="T4" fmla="*/ 166 w 467"/>
              <a:gd name="T5" fmla="*/ 132 h 528"/>
              <a:gd name="T6" fmla="*/ 100 w 467"/>
              <a:gd name="T7" fmla="*/ 66 h 528"/>
              <a:gd name="T8" fmla="*/ 166 w 467"/>
              <a:gd name="T9" fmla="*/ 0 h 528"/>
              <a:gd name="T10" fmla="*/ 232 w 467"/>
              <a:gd name="T11" fmla="*/ 0 h 528"/>
              <a:gd name="T12" fmla="*/ 298 w 467"/>
              <a:gd name="T13" fmla="*/ 66 h 528"/>
              <a:gd name="T14" fmla="*/ 330 w 467"/>
              <a:gd name="T15" fmla="*/ 66 h 528"/>
              <a:gd name="T16" fmla="*/ 331 w 467"/>
              <a:gd name="T17" fmla="*/ 81 h 528"/>
              <a:gd name="T18" fmla="*/ 248 w 467"/>
              <a:gd name="T19" fmla="*/ 164 h 528"/>
              <a:gd name="T20" fmla="*/ 149 w 467"/>
              <a:gd name="T21" fmla="*/ 164 h 528"/>
              <a:gd name="T22" fmla="*/ 66 w 467"/>
              <a:gd name="T23" fmla="*/ 81 h 528"/>
              <a:gd name="T24" fmla="*/ 68 w 467"/>
              <a:gd name="T25" fmla="*/ 66 h 528"/>
              <a:gd name="T26" fmla="*/ 0 w 467"/>
              <a:gd name="T27" fmla="*/ 147 h 528"/>
              <a:gd name="T28" fmla="*/ 0 w 467"/>
              <a:gd name="T29" fmla="*/ 445 h 528"/>
              <a:gd name="T30" fmla="*/ 83 w 467"/>
              <a:gd name="T31" fmla="*/ 528 h 528"/>
              <a:gd name="T32" fmla="*/ 303 w 467"/>
              <a:gd name="T33" fmla="*/ 528 h 528"/>
              <a:gd name="T34" fmla="*/ 213 w 467"/>
              <a:gd name="T35" fmla="*/ 392 h 528"/>
              <a:gd name="T36" fmla="*/ 361 w 467"/>
              <a:gd name="T37" fmla="*/ 244 h 528"/>
              <a:gd name="T38" fmla="*/ 397 w 467"/>
              <a:gd name="T39" fmla="*/ 248 h 528"/>
              <a:gd name="T40" fmla="*/ 397 w 467"/>
              <a:gd name="T41" fmla="*/ 147 h 528"/>
              <a:gd name="T42" fmla="*/ 330 w 467"/>
              <a:gd name="T43" fmla="*/ 66 h 528"/>
              <a:gd name="T44" fmla="*/ 186 w 467"/>
              <a:gd name="T45" fmla="*/ 331 h 528"/>
              <a:gd name="T46" fmla="*/ 186 w 467"/>
              <a:gd name="T47" fmla="*/ 331 h 528"/>
              <a:gd name="T48" fmla="*/ 83 w 467"/>
              <a:gd name="T49" fmla="*/ 331 h 528"/>
              <a:gd name="T50" fmla="*/ 66 w 467"/>
              <a:gd name="T51" fmla="*/ 314 h 528"/>
              <a:gd name="T52" fmla="*/ 83 w 467"/>
              <a:gd name="T53" fmla="*/ 298 h 528"/>
              <a:gd name="T54" fmla="*/ 186 w 467"/>
              <a:gd name="T55" fmla="*/ 298 h 528"/>
              <a:gd name="T56" fmla="*/ 203 w 467"/>
              <a:gd name="T57" fmla="*/ 314 h 528"/>
              <a:gd name="T58" fmla="*/ 186 w 467"/>
              <a:gd name="T59" fmla="*/ 331 h 528"/>
              <a:gd name="T60" fmla="*/ 219 w 467"/>
              <a:gd name="T61" fmla="*/ 264 h 528"/>
              <a:gd name="T62" fmla="*/ 219 w 467"/>
              <a:gd name="T63" fmla="*/ 264 h 528"/>
              <a:gd name="T64" fmla="*/ 83 w 467"/>
              <a:gd name="T65" fmla="*/ 264 h 528"/>
              <a:gd name="T66" fmla="*/ 66 w 467"/>
              <a:gd name="T67" fmla="*/ 248 h 528"/>
              <a:gd name="T68" fmla="*/ 83 w 467"/>
              <a:gd name="T69" fmla="*/ 231 h 528"/>
              <a:gd name="T70" fmla="*/ 219 w 467"/>
              <a:gd name="T71" fmla="*/ 231 h 528"/>
              <a:gd name="T72" fmla="*/ 236 w 467"/>
              <a:gd name="T73" fmla="*/ 248 h 528"/>
              <a:gd name="T74" fmla="*/ 219 w 467"/>
              <a:gd name="T75" fmla="*/ 264 h 528"/>
              <a:gd name="T76" fmla="*/ 388 w 467"/>
              <a:gd name="T77" fmla="*/ 289 h 528"/>
              <a:gd name="T78" fmla="*/ 362 w 467"/>
              <a:gd name="T79" fmla="*/ 286 h 528"/>
              <a:gd name="T80" fmla="*/ 257 w 467"/>
              <a:gd name="T81" fmla="*/ 391 h 528"/>
              <a:gd name="T82" fmla="*/ 340 w 467"/>
              <a:gd name="T83" fmla="*/ 494 h 528"/>
              <a:gd name="T84" fmla="*/ 362 w 467"/>
              <a:gd name="T85" fmla="*/ 497 h 528"/>
              <a:gd name="T86" fmla="*/ 467 w 467"/>
              <a:gd name="T87" fmla="*/ 391 h 528"/>
              <a:gd name="T88" fmla="*/ 388 w 467"/>
              <a:gd name="T89" fmla="*/ 289 h 528"/>
              <a:gd name="T90" fmla="*/ 422 w 467"/>
              <a:gd name="T91" fmla="*/ 376 h 528"/>
              <a:gd name="T92" fmla="*/ 422 w 467"/>
              <a:gd name="T93" fmla="*/ 376 h 528"/>
              <a:gd name="T94" fmla="*/ 388 w 467"/>
              <a:gd name="T95" fmla="*/ 410 h 528"/>
              <a:gd name="T96" fmla="*/ 362 w 467"/>
              <a:gd name="T97" fmla="*/ 436 h 528"/>
              <a:gd name="T98" fmla="*/ 332 w 467"/>
              <a:gd name="T99" fmla="*/ 436 h 528"/>
              <a:gd name="T100" fmla="*/ 302 w 467"/>
              <a:gd name="T101" fmla="*/ 406 h 528"/>
              <a:gd name="T102" fmla="*/ 302 w 467"/>
              <a:gd name="T103" fmla="*/ 376 h 528"/>
              <a:gd name="T104" fmla="*/ 332 w 467"/>
              <a:gd name="T105" fmla="*/ 376 h 528"/>
              <a:gd name="T106" fmla="*/ 347 w 467"/>
              <a:gd name="T107" fmla="*/ 391 h 528"/>
              <a:gd name="T108" fmla="*/ 388 w 467"/>
              <a:gd name="T109" fmla="*/ 350 h 528"/>
              <a:gd name="T110" fmla="*/ 392 w 467"/>
              <a:gd name="T111" fmla="*/ 346 h 528"/>
              <a:gd name="T112" fmla="*/ 422 w 467"/>
              <a:gd name="T113" fmla="*/ 346 h 528"/>
              <a:gd name="T114" fmla="*/ 422 w 467"/>
              <a:gd name="T115" fmla="*/ 376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67" h="528">
                <a:moveTo>
                  <a:pt x="298" y="66"/>
                </a:moveTo>
                <a:cubicBezTo>
                  <a:pt x="298" y="103"/>
                  <a:pt x="268" y="132"/>
                  <a:pt x="232" y="132"/>
                </a:cubicBezTo>
                <a:lnTo>
                  <a:pt x="166" y="132"/>
                </a:lnTo>
                <a:cubicBezTo>
                  <a:pt x="129" y="132"/>
                  <a:pt x="100" y="103"/>
                  <a:pt x="100" y="66"/>
                </a:cubicBezTo>
                <a:cubicBezTo>
                  <a:pt x="100" y="29"/>
                  <a:pt x="129" y="0"/>
                  <a:pt x="166" y="0"/>
                </a:cubicBezTo>
                <a:lnTo>
                  <a:pt x="232" y="0"/>
                </a:lnTo>
                <a:cubicBezTo>
                  <a:pt x="268" y="0"/>
                  <a:pt x="298" y="29"/>
                  <a:pt x="298" y="66"/>
                </a:cubicBezTo>
                <a:close/>
                <a:moveTo>
                  <a:pt x="330" y="66"/>
                </a:moveTo>
                <a:cubicBezTo>
                  <a:pt x="331" y="71"/>
                  <a:pt x="331" y="76"/>
                  <a:pt x="331" y="81"/>
                </a:cubicBezTo>
                <a:cubicBezTo>
                  <a:pt x="331" y="127"/>
                  <a:pt x="294" y="164"/>
                  <a:pt x="248" y="164"/>
                </a:cubicBezTo>
                <a:lnTo>
                  <a:pt x="149" y="164"/>
                </a:lnTo>
                <a:cubicBezTo>
                  <a:pt x="103" y="164"/>
                  <a:pt x="66" y="127"/>
                  <a:pt x="66" y="81"/>
                </a:cubicBezTo>
                <a:cubicBezTo>
                  <a:pt x="66" y="76"/>
                  <a:pt x="67" y="71"/>
                  <a:pt x="68" y="66"/>
                </a:cubicBezTo>
                <a:cubicBezTo>
                  <a:pt x="29" y="73"/>
                  <a:pt x="0" y="107"/>
                  <a:pt x="0" y="147"/>
                </a:cubicBezTo>
                <a:lnTo>
                  <a:pt x="0" y="445"/>
                </a:lnTo>
                <a:cubicBezTo>
                  <a:pt x="0" y="491"/>
                  <a:pt x="37" y="528"/>
                  <a:pt x="83" y="528"/>
                </a:cubicBezTo>
                <a:lnTo>
                  <a:pt x="303" y="528"/>
                </a:lnTo>
                <a:cubicBezTo>
                  <a:pt x="250" y="505"/>
                  <a:pt x="213" y="453"/>
                  <a:pt x="213" y="392"/>
                </a:cubicBezTo>
                <a:cubicBezTo>
                  <a:pt x="213" y="310"/>
                  <a:pt x="279" y="244"/>
                  <a:pt x="361" y="244"/>
                </a:cubicBezTo>
                <a:cubicBezTo>
                  <a:pt x="374" y="244"/>
                  <a:pt x="386" y="245"/>
                  <a:pt x="397" y="248"/>
                </a:cubicBezTo>
                <a:lnTo>
                  <a:pt x="397" y="147"/>
                </a:lnTo>
                <a:cubicBezTo>
                  <a:pt x="397" y="107"/>
                  <a:pt x="368" y="73"/>
                  <a:pt x="330" y="66"/>
                </a:cubicBezTo>
                <a:close/>
                <a:moveTo>
                  <a:pt x="186" y="331"/>
                </a:moveTo>
                <a:lnTo>
                  <a:pt x="186" y="331"/>
                </a:lnTo>
                <a:lnTo>
                  <a:pt x="83" y="331"/>
                </a:lnTo>
                <a:cubicBezTo>
                  <a:pt x="74" y="331"/>
                  <a:pt x="66" y="323"/>
                  <a:pt x="66" y="314"/>
                </a:cubicBezTo>
                <a:cubicBezTo>
                  <a:pt x="66" y="305"/>
                  <a:pt x="74" y="298"/>
                  <a:pt x="83" y="298"/>
                </a:cubicBezTo>
                <a:lnTo>
                  <a:pt x="186" y="298"/>
                </a:lnTo>
                <a:cubicBezTo>
                  <a:pt x="195" y="298"/>
                  <a:pt x="203" y="305"/>
                  <a:pt x="203" y="314"/>
                </a:cubicBezTo>
                <a:cubicBezTo>
                  <a:pt x="203" y="323"/>
                  <a:pt x="195" y="331"/>
                  <a:pt x="186" y="331"/>
                </a:cubicBezTo>
                <a:close/>
                <a:moveTo>
                  <a:pt x="219" y="264"/>
                </a:moveTo>
                <a:lnTo>
                  <a:pt x="219" y="264"/>
                </a:lnTo>
                <a:lnTo>
                  <a:pt x="83" y="264"/>
                </a:lnTo>
                <a:cubicBezTo>
                  <a:pt x="74" y="264"/>
                  <a:pt x="66" y="257"/>
                  <a:pt x="66" y="248"/>
                </a:cubicBezTo>
                <a:cubicBezTo>
                  <a:pt x="66" y="239"/>
                  <a:pt x="74" y="231"/>
                  <a:pt x="83" y="231"/>
                </a:cubicBezTo>
                <a:lnTo>
                  <a:pt x="219" y="231"/>
                </a:lnTo>
                <a:cubicBezTo>
                  <a:pt x="229" y="231"/>
                  <a:pt x="236" y="239"/>
                  <a:pt x="236" y="248"/>
                </a:cubicBezTo>
                <a:cubicBezTo>
                  <a:pt x="236" y="257"/>
                  <a:pt x="229" y="264"/>
                  <a:pt x="219" y="264"/>
                </a:cubicBezTo>
                <a:close/>
                <a:moveTo>
                  <a:pt x="388" y="289"/>
                </a:moveTo>
                <a:cubicBezTo>
                  <a:pt x="380" y="287"/>
                  <a:pt x="371" y="286"/>
                  <a:pt x="362" y="286"/>
                </a:cubicBezTo>
                <a:cubicBezTo>
                  <a:pt x="304" y="286"/>
                  <a:pt x="257" y="333"/>
                  <a:pt x="257" y="391"/>
                </a:cubicBezTo>
                <a:cubicBezTo>
                  <a:pt x="257" y="442"/>
                  <a:pt x="292" y="484"/>
                  <a:pt x="340" y="494"/>
                </a:cubicBezTo>
                <a:cubicBezTo>
                  <a:pt x="347" y="496"/>
                  <a:pt x="354" y="497"/>
                  <a:pt x="362" y="497"/>
                </a:cubicBezTo>
                <a:cubicBezTo>
                  <a:pt x="420" y="497"/>
                  <a:pt x="467" y="449"/>
                  <a:pt x="467" y="391"/>
                </a:cubicBezTo>
                <a:cubicBezTo>
                  <a:pt x="467" y="342"/>
                  <a:pt x="434" y="301"/>
                  <a:pt x="388" y="289"/>
                </a:cubicBezTo>
                <a:close/>
                <a:moveTo>
                  <a:pt x="422" y="376"/>
                </a:moveTo>
                <a:lnTo>
                  <a:pt x="422" y="376"/>
                </a:lnTo>
                <a:lnTo>
                  <a:pt x="388" y="410"/>
                </a:lnTo>
                <a:lnTo>
                  <a:pt x="362" y="436"/>
                </a:lnTo>
                <a:cubicBezTo>
                  <a:pt x="354" y="444"/>
                  <a:pt x="340" y="444"/>
                  <a:pt x="332" y="436"/>
                </a:cubicBezTo>
                <a:lnTo>
                  <a:pt x="302" y="406"/>
                </a:lnTo>
                <a:cubicBezTo>
                  <a:pt x="294" y="398"/>
                  <a:pt x="294" y="384"/>
                  <a:pt x="302" y="376"/>
                </a:cubicBezTo>
                <a:cubicBezTo>
                  <a:pt x="311" y="368"/>
                  <a:pt x="324" y="368"/>
                  <a:pt x="332" y="376"/>
                </a:cubicBezTo>
                <a:lnTo>
                  <a:pt x="347" y="391"/>
                </a:lnTo>
                <a:lnTo>
                  <a:pt x="388" y="350"/>
                </a:lnTo>
                <a:lnTo>
                  <a:pt x="392" y="346"/>
                </a:lnTo>
                <a:cubicBezTo>
                  <a:pt x="400" y="338"/>
                  <a:pt x="413" y="338"/>
                  <a:pt x="422" y="346"/>
                </a:cubicBezTo>
                <a:cubicBezTo>
                  <a:pt x="430" y="355"/>
                  <a:pt x="430" y="368"/>
                  <a:pt x="422" y="37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53" tIns="34277" rIns="68553" bIns="34277" numCol="1" anchor="t" anchorCtr="0" compatLnSpc="1"/>
          <a:lstStyle/>
          <a:p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872355" y="4407690"/>
            <a:ext cx="558000" cy="5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885235" y="3598012"/>
            <a:ext cx="558000" cy="558000"/>
          </a:xfrm>
          <a:prstGeom prst="rect">
            <a:avLst/>
          </a:prstGeom>
        </p:spPr>
      </p:pic>
      <p:sp>
        <p:nvSpPr>
          <p:cNvPr id="2" name="Freeform 24"/>
          <p:cNvSpPr/>
          <p:nvPr>
            <p:custDataLst>
              <p:tags r:id="rId12"/>
            </p:custDataLst>
          </p:nvPr>
        </p:nvSpPr>
        <p:spPr bwMode="auto">
          <a:xfrm>
            <a:off x="4644285" y="2825512"/>
            <a:ext cx="3361660" cy="535572"/>
          </a:xfrm>
          <a:custGeom>
            <a:avLst/>
            <a:gdLst>
              <a:gd name="T0" fmla="*/ 91 w 8683"/>
              <a:gd name="T1" fmla="*/ 0 h 865"/>
              <a:gd name="T2" fmla="*/ 8591 w 8683"/>
              <a:gd name="T3" fmla="*/ 0 h 865"/>
              <a:gd name="T4" fmla="*/ 8683 w 8683"/>
              <a:gd name="T5" fmla="*/ 91 h 865"/>
              <a:gd name="T6" fmla="*/ 8683 w 8683"/>
              <a:gd name="T7" fmla="*/ 774 h 865"/>
              <a:gd name="T8" fmla="*/ 8591 w 8683"/>
              <a:gd name="T9" fmla="*/ 865 h 865"/>
              <a:gd name="T10" fmla="*/ 91 w 8683"/>
              <a:gd name="T11" fmla="*/ 865 h 865"/>
              <a:gd name="T12" fmla="*/ 0 w 8683"/>
              <a:gd name="T13" fmla="*/ 774 h 865"/>
              <a:gd name="T14" fmla="*/ 0 w 8683"/>
              <a:gd name="T15" fmla="*/ 91 h 865"/>
              <a:gd name="T16" fmla="*/ 91 w 8683"/>
              <a:gd name="T17" fmla="*/ 0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83" h="865">
                <a:moveTo>
                  <a:pt x="91" y="0"/>
                </a:moveTo>
                <a:lnTo>
                  <a:pt x="8591" y="0"/>
                </a:lnTo>
                <a:cubicBezTo>
                  <a:pt x="8642" y="0"/>
                  <a:pt x="8683" y="41"/>
                  <a:pt x="8683" y="91"/>
                </a:cubicBezTo>
                <a:lnTo>
                  <a:pt x="8683" y="774"/>
                </a:lnTo>
                <a:cubicBezTo>
                  <a:pt x="8683" y="824"/>
                  <a:pt x="8642" y="865"/>
                  <a:pt x="8591" y="865"/>
                </a:cubicBezTo>
                <a:lnTo>
                  <a:pt x="91" y="865"/>
                </a:lnTo>
                <a:cubicBezTo>
                  <a:pt x="41" y="865"/>
                  <a:pt x="0" y="824"/>
                  <a:pt x="0" y="774"/>
                </a:cubicBezTo>
                <a:lnTo>
                  <a:pt x="0" y="91"/>
                </a:lnTo>
                <a:cubicBezTo>
                  <a:pt x="0" y="41"/>
                  <a:pt x="41" y="0"/>
                  <a:pt x="91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</p:spPr>
        <p:txBody>
          <a:bodyPr vert="horz" wrap="square" lIns="68553" tIns="34277" rIns="68553" bIns="34277" numCol="1" anchor="t" anchorCtr="0" compatLnSpc="1"/>
          <a:lstStyle/>
          <a:p>
            <a:endParaRPr lang="zh-CN" altLang="en-US"/>
          </a:p>
        </p:txBody>
      </p:sp>
      <p:sp>
        <p:nvSpPr>
          <p:cNvPr id="16" name="TextBox 47"/>
          <p:cNvSpPr txBox="1"/>
          <p:nvPr>
            <p:custDataLst>
              <p:tags r:id="rId13"/>
            </p:custDataLst>
          </p:nvPr>
        </p:nvSpPr>
        <p:spPr>
          <a:xfrm>
            <a:off x="4768592" y="2874092"/>
            <a:ext cx="29559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sz="22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分支限界概述</a:t>
            </a:r>
            <a:endParaRPr lang="zh-CN" altLang="en-US" sz="2200" b="1" dirty="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876465" y="2825512"/>
            <a:ext cx="558000" cy="5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995" y="1623060"/>
            <a:ext cx="8185150" cy="1367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回顾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0-1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背包问题：一组物品，每种物品都有自己的重量和价值，每个物品要么装入背包，要么不装入背包，在不超过背包的的承重情况下，如何选择物品，能使得装入背包的总价值最高？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 descr="背包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3951605"/>
            <a:ext cx="1715135" cy="1715135"/>
          </a:xfrm>
          <a:prstGeom prst="rect">
            <a:avLst/>
          </a:prstGeom>
        </p:spPr>
      </p:pic>
      <p:sp>
        <p:nvSpPr>
          <p:cNvPr id="6" name="流程图: 直接访问存储器 5"/>
          <p:cNvSpPr/>
          <p:nvPr/>
        </p:nvSpPr>
        <p:spPr>
          <a:xfrm>
            <a:off x="1043305" y="3284855"/>
            <a:ext cx="911225" cy="378460"/>
          </a:xfrm>
          <a:prstGeom prst="flowChartMagneticDrum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7" name="立方体 6"/>
          <p:cNvSpPr/>
          <p:nvPr/>
        </p:nvSpPr>
        <p:spPr>
          <a:xfrm>
            <a:off x="2627630" y="3188335"/>
            <a:ext cx="816610" cy="54737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9" name="流程图: 直接访问存储器 8"/>
          <p:cNvSpPr/>
          <p:nvPr/>
        </p:nvSpPr>
        <p:spPr>
          <a:xfrm>
            <a:off x="3131185" y="5008880"/>
            <a:ext cx="982980" cy="454660"/>
          </a:xfrm>
          <a:prstGeom prst="flowChartMagneticDrum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10" name="立方体 9"/>
          <p:cNvSpPr/>
          <p:nvPr/>
        </p:nvSpPr>
        <p:spPr>
          <a:xfrm>
            <a:off x="899160" y="4722495"/>
            <a:ext cx="889000" cy="59690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80440" y="3303905"/>
            <a:ext cx="98361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2kg,3</a:t>
            </a:r>
            <a:r>
              <a:rPr lang="zh-CN" altLang="en-US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元</a:t>
            </a:r>
            <a:endParaRPr lang="zh-CN" altLang="en-US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27630" y="3284855"/>
            <a:ext cx="98361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2kg,3</a:t>
            </a:r>
            <a:r>
              <a:rPr lang="zh-CN" altLang="en-US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元</a:t>
            </a:r>
            <a:endParaRPr lang="zh-CN" altLang="en-US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99160" y="4887595"/>
            <a:ext cx="98361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2kg,3</a:t>
            </a:r>
            <a:r>
              <a:rPr lang="zh-CN" altLang="en-US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元</a:t>
            </a:r>
            <a:endParaRPr lang="zh-CN" altLang="en-US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31185" y="5071745"/>
            <a:ext cx="98361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2kg,3</a:t>
            </a:r>
            <a:r>
              <a:rPr lang="zh-CN" altLang="en-US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元</a:t>
            </a:r>
            <a:endParaRPr lang="zh-CN" altLang="en-US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18" name="环形箭头 17"/>
          <p:cNvSpPr/>
          <p:nvPr/>
        </p:nvSpPr>
        <p:spPr>
          <a:xfrm>
            <a:off x="1509395" y="3237230"/>
            <a:ext cx="863600" cy="230378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300039"/>
              <a:gd name="adj5" fmla="val 125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19" name="环形箭头 18"/>
          <p:cNvSpPr/>
          <p:nvPr/>
        </p:nvSpPr>
        <p:spPr>
          <a:xfrm flipH="1">
            <a:off x="2383790" y="3632200"/>
            <a:ext cx="736600" cy="1439545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959277"/>
              <a:gd name="adj5" fmla="val 125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22" name="环形箭头 21"/>
          <p:cNvSpPr/>
          <p:nvPr/>
        </p:nvSpPr>
        <p:spPr>
          <a:xfrm>
            <a:off x="1619885" y="4167505"/>
            <a:ext cx="626110" cy="1071880"/>
          </a:xfrm>
          <a:prstGeom prst="circularArrow">
            <a:avLst>
              <a:gd name="adj1" fmla="val 19508"/>
              <a:gd name="adj2" fmla="val 1201323"/>
              <a:gd name="adj3" fmla="val 16875209"/>
              <a:gd name="adj4" fmla="val 10472169"/>
              <a:gd name="adj5" fmla="val 125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23" name="环形箭头 22"/>
          <p:cNvSpPr/>
          <p:nvPr/>
        </p:nvSpPr>
        <p:spPr>
          <a:xfrm flipH="1">
            <a:off x="2695575" y="4034155"/>
            <a:ext cx="638810" cy="1632585"/>
          </a:xfrm>
          <a:prstGeom prst="circularArrow">
            <a:avLst>
              <a:gd name="adj1" fmla="val 25000"/>
              <a:gd name="adj2" fmla="val 299863"/>
              <a:gd name="adj3" fmla="val 16959430"/>
              <a:gd name="adj4" fmla="val 9601711"/>
              <a:gd name="adj5" fmla="val 125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499610" y="3025775"/>
            <a:ext cx="3902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例如：物品数列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N=4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，背包承重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W=6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2"/>
            </p:custDataLst>
          </p:nvPr>
        </p:nvGraphicFramePr>
        <p:xfrm>
          <a:off x="5191125" y="3745865"/>
          <a:ext cx="3648075" cy="1978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615"/>
                <a:gridCol w="729615"/>
                <a:gridCol w="729615"/>
              </a:tblGrid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物品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ea typeface="宋体" panose="02010600030101010101" pitchFamily="2" charset="-122"/>
                        </a:rPr>
                        <a:t>重量</a:t>
                      </a:r>
                      <a:endParaRPr lang="zh-CN" altLang="en-US" sz="14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ea typeface="宋体" panose="02010600030101010101" pitchFamily="2" charset="-122"/>
                        </a:rPr>
                        <a:t>价值</a:t>
                      </a:r>
                      <a:endParaRPr lang="zh-CN" altLang="en-US" sz="14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5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683260" y="6075680"/>
            <a:ext cx="6203950" cy="464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回顾一下这个问题在</a:t>
            </a:r>
            <a:r>
              <a:rPr lang="zh-CN" altLang="en-US"/>
              <a:t>第六章我们用过什么样的方法求解？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 30"/>
          <p:cNvSpPr>
            <a:spLocks noChangeArrowheads="1"/>
          </p:cNvSpPr>
          <p:nvPr/>
        </p:nvSpPr>
        <p:spPr bwMode="auto">
          <a:xfrm>
            <a:off x="346076" y="5457825"/>
            <a:ext cx="831850" cy="27463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5" name="Rectangle 31"/>
          <p:cNvSpPr>
            <a:spLocks noChangeArrowheads="1"/>
          </p:cNvSpPr>
          <p:nvPr/>
        </p:nvSpPr>
        <p:spPr bwMode="auto">
          <a:xfrm>
            <a:off x="1177925" y="5457825"/>
            <a:ext cx="830263" cy="27463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6" name="Rectangle 32"/>
          <p:cNvSpPr>
            <a:spLocks noChangeArrowheads="1"/>
          </p:cNvSpPr>
          <p:nvPr/>
        </p:nvSpPr>
        <p:spPr bwMode="auto">
          <a:xfrm>
            <a:off x="2008188" y="5457825"/>
            <a:ext cx="830263" cy="27463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7" name="Rectangle 33"/>
          <p:cNvSpPr>
            <a:spLocks noChangeArrowheads="1"/>
          </p:cNvSpPr>
          <p:nvPr/>
        </p:nvSpPr>
        <p:spPr bwMode="auto">
          <a:xfrm>
            <a:off x="2838451" y="5457825"/>
            <a:ext cx="830263" cy="27463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8" name="Rectangle 34"/>
          <p:cNvSpPr>
            <a:spLocks noChangeArrowheads="1"/>
          </p:cNvSpPr>
          <p:nvPr/>
        </p:nvSpPr>
        <p:spPr bwMode="auto">
          <a:xfrm>
            <a:off x="3668713" y="5457825"/>
            <a:ext cx="830263" cy="27463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87" name="Rectangle 6"/>
          <p:cNvSpPr>
            <a:spLocks noChangeArrowheads="1"/>
          </p:cNvSpPr>
          <p:nvPr/>
        </p:nvSpPr>
        <p:spPr bwMode="auto">
          <a:xfrm>
            <a:off x="1177925" y="2432050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88" name="Rectangle 5"/>
          <p:cNvSpPr>
            <a:spLocks noChangeArrowheads="1"/>
          </p:cNvSpPr>
          <p:nvPr/>
        </p:nvSpPr>
        <p:spPr bwMode="auto">
          <a:xfrm>
            <a:off x="346076" y="2432050"/>
            <a:ext cx="831850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89" name="Rectangle 7"/>
          <p:cNvSpPr>
            <a:spLocks noChangeArrowheads="1"/>
          </p:cNvSpPr>
          <p:nvPr/>
        </p:nvSpPr>
        <p:spPr bwMode="auto">
          <a:xfrm>
            <a:off x="2008188" y="2432050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0" name="Rectangle 8"/>
          <p:cNvSpPr>
            <a:spLocks noChangeArrowheads="1"/>
          </p:cNvSpPr>
          <p:nvPr/>
        </p:nvSpPr>
        <p:spPr bwMode="auto">
          <a:xfrm>
            <a:off x="2838451" y="2432050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1" name="Rectangle 9"/>
          <p:cNvSpPr>
            <a:spLocks noChangeArrowheads="1"/>
          </p:cNvSpPr>
          <p:nvPr/>
        </p:nvSpPr>
        <p:spPr bwMode="auto">
          <a:xfrm>
            <a:off x="3668713" y="2432050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2" name="Rectangle 10"/>
          <p:cNvSpPr>
            <a:spLocks noChangeArrowheads="1"/>
          </p:cNvSpPr>
          <p:nvPr/>
        </p:nvSpPr>
        <p:spPr bwMode="auto">
          <a:xfrm>
            <a:off x="346076" y="2981325"/>
            <a:ext cx="831850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3" name="Rectangle 11"/>
          <p:cNvSpPr>
            <a:spLocks noChangeArrowheads="1"/>
          </p:cNvSpPr>
          <p:nvPr/>
        </p:nvSpPr>
        <p:spPr bwMode="auto">
          <a:xfrm>
            <a:off x="1177925" y="2981325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4" name="Rectangle 12"/>
          <p:cNvSpPr>
            <a:spLocks noChangeArrowheads="1"/>
          </p:cNvSpPr>
          <p:nvPr/>
        </p:nvSpPr>
        <p:spPr bwMode="auto">
          <a:xfrm>
            <a:off x="2008188" y="2981325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5" name="Rectangle 13"/>
          <p:cNvSpPr>
            <a:spLocks noChangeArrowheads="1"/>
          </p:cNvSpPr>
          <p:nvPr/>
        </p:nvSpPr>
        <p:spPr bwMode="auto">
          <a:xfrm>
            <a:off x="2838451" y="2981325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6" name="Rectangle 14"/>
          <p:cNvSpPr>
            <a:spLocks noChangeArrowheads="1"/>
          </p:cNvSpPr>
          <p:nvPr/>
        </p:nvSpPr>
        <p:spPr bwMode="auto">
          <a:xfrm>
            <a:off x="3668713" y="2981325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7" name="Rectangle 15"/>
          <p:cNvSpPr>
            <a:spLocks noChangeArrowheads="1"/>
          </p:cNvSpPr>
          <p:nvPr/>
        </p:nvSpPr>
        <p:spPr bwMode="auto">
          <a:xfrm>
            <a:off x="346076" y="3533775"/>
            <a:ext cx="831850" cy="2746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8" name="Rectangle 16"/>
          <p:cNvSpPr>
            <a:spLocks noChangeArrowheads="1"/>
          </p:cNvSpPr>
          <p:nvPr/>
        </p:nvSpPr>
        <p:spPr bwMode="auto">
          <a:xfrm>
            <a:off x="1177925" y="3533775"/>
            <a:ext cx="830263" cy="2746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9" name="Rectangle 17"/>
          <p:cNvSpPr>
            <a:spLocks noChangeArrowheads="1"/>
          </p:cNvSpPr>
          <p:nvPr/>
        </p:nvSpPr>
        <p:spPr bwMode="auto">
          <a:xfrm>
            <a:off x="2008188" y="3533775"/>
            <a:ext cx="830263" cy="2746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0" name="Rectangle 18"/>
          <p:cNvSpPr>
            <a:spLocks noChangeArrowheads="1"/>
          </p:cNvSpPr>
          <p:nvPr/>
        </p:nvSpPr>
        <p:spPr bwMode="auto">
          <a:xfrm>
            <a:off x="2838451" y="3533775"/>
            <a:ext cx="830263" cy="2746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1" name="Rectangle 19"/>
          <p:cNvSpPr>
            <a:spLocks noChangeArrowheads="1"/>
          </p:cNvSpPr>
          <p:nvPr/>
        </p:nvSpPr>
        <p:spPr bwMode="auto">
          <a:xfrm>
            <a:off x="3668713" y="3533775"/>
            <a:ext cx="830263" cy="2746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2" name="Rectangle 20"/>
          <p:cNvSpPr>
            <a:spLocks noChangeArrowheads="1"/>
          </p:cNvSpPr>
          <p:nvPr/>
        </p:nvSpPr>
        <p:spPr bwMode="auto">
          <a:xfrm>
            <a:off x="346076" y="4632325"/>
            <a:ext cx="831850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3" name="Rectangle 21"/>
          <p:cNvSpPr>
            <a:spLocks noChangeArrowheads="1"/>
          </p:cNvSpPr>
          <p:nvPr/>
        </p:nvSpPr>
        <p:spPr bwMode="auto">
          <a:xfrm>
            <a:off x="1177925" y="4632325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4" name="Rectangle 22"/>
          <p:cNvSpPr>
            <a:spLocks noChangeArrowheads="1"/>
          </p:cNvSpPr>
          <p:nvPr/>
        </p:nvSpPr>
        <p:spPr bwMode="auto">
          <a:xfrm>
            <a:off x="2008188" y="4632325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5" name="Rectangle 23"/>
          <p:cNvSpPr>
            <a:spLocks noChangeArrowheads="1"/>
          </p:cNvSpPr>
          <p:nvPr/>
        </p:nvSpPr>
        <p:spPr bwMode="auto">
          <a:xfrm>
            <a:off x="2838451" y="4632325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6" name="Rectangle 24"/>
          <p:cNvSpPr>
            <a:spLocks noChangeArrowheads="1"/>
          </p:cNvSpPr>
          <p:nvPr/>
        </p:nvSpPr>
        <p:spPr bwMode="auto">
          <a:xfrm>
            <a:off x="3668713" y="4632325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7" name="Rectangle 25"/>
          <p:cNvSpPr>
            <a:spLocks noChangeArrowheads="1"/>
          </p:cNvSpPr>
          <p:nvPr/>
        </p:nvSpPr>
        <p:spPr bwMode="auto">
          <a:xfrm>
            <a:off x="346076" y="5181600"/>
            <a:ext cx="831850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8" name="Rectangle 26"/>
          <p:cNvSpPr>
            <a:spLocks noChangeArrowheads="1"/>
          </p:cNvSpPr>
          <p:nvPr/>
        </p:nvSpPr>
        <p:spPr bwMode="auto">
          <a:xfrm>
            <a:off x="1177925" y="5181600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9" name="Rectangle 27"/>
          <p:cNvSpPr>
            <a:spLocks noChangeArrowheads="1"/>
          </p:cNvSpPr>
          <p:nvPr/>
        </p:nvSpPr>
        <p:spPr bwMode="auto">
          <a:xfrm>
            <a:off x="2008188" y="5181600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0" name="Rectangle 28"/>
          <p:cNvSpPr>
            <a:spLocks noChangeArrowheads="1"/>
          </p:cNvSpPr>
          <p:nvPr/>
        </p:nvSpPr>
        <p:spPr bwMode="auto">
          <a:xfrm>
            <a:off x="2838451" y="5181600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1" name="Rectangle 29"/>
          <p:cNvSpPr>
            <a:spLocks noChangeArrowheads="1"/>
          </p:cNvSpPr>
          <p:nvPr/>
        </p:nvSpPr>
        <p:spPr bwMode="auto">
          <a:xfrm>
            <a:off x="3668713" y="5181600"/>
            <a:ext cx="830263" cy="2762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2" name="Rectangle 35"/>
          <p:cNvSpPr>
            <a:spLocks noChangeArrowheads="1"/>
          </p:cNvSpPr>
          <p:nvPr/>
        </p:nvSpPr>
        <p:spPr bwMode="auto">
          <a:xfrm>
            <a:off x="346076" y="5732463"/>
            <a:ext cx="831850" cy="2746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3" name="Rectangle 36"/>
          <p:cNvSpPr>
            <a:spLocks noChangeArrowheads="1"/>
          </p:cNvSpPr>
          <p:nvPr/>
        </p:nvSpPr>
        <p:spPr bwMode="auto">
          <a:xfrm>
            <a:off x="1177925" y="5732463"/>
            <a:ext cx="830263" cy="2746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4" name="Rectangle 37"/>
          <p:cNvSpPr>
            <a:spLocks noChangeArrowheads="1"/>
          </p:cNvSpPr>
          <p:nvPr/>
        </p:nvSpPr>
        <p:spPr bwMode="auto">
          <a:xfrm>
            <a:off x="2008188" y="5732463"/>
            <a:ext cx="830263" cy="2746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5" name="Rectangle 38"/>
          <p:cNvSpPr>
            <a:spLocks noChangeArrowheads="1"/>
          </p:cNvSpPr>
          <p:nvPr/>
        </p:nvSpPr>
        <p:spPr bwMode="auto">
          <a:xfrm>
            <a:off x="2838451" y="5732463"/>
            <a:ext cx="830263" cy="2746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6" name="Rectangle 39"/>
          <p:cNvSpPr>
            <a:spLocks noChangeArrowheads="1"/>
          </p:cNvSpPr>
          <p:nvPr/>
        </p:nvSpPr>
        <p:spPr bwMode="auto">
          <a:xfrm>
            <a:off x="3668713" y="5732463"/>
            <a:ext cx="830263" cy="2746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7" name="Line 47"/>
          <p:cNvSpPr>
            <a:spLocks noChangeShapeType="1"/>
          </p:cNvSpPr>
          <p:nvPr/>
        </p:nvSpPr>
        <p:spPr bwMode="auto">
          <a:xfrm>
            <a:off x="339725" y="2432050"/>
            <a:ext cx="416718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076190" y="4149090"/>
            <a:ext cx="3902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例如：物品数列</a:t>
            </a:r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N=4</a:t>
            </a:r>
            <a:r>
              <a:rPr lang="zh-CN" altLang="en-US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，背包承重</a:t>
            </a:r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W=6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1"/>
            </p:custDataLst>
          </p:nvPr>
        </p:nvGraphicFramePr>
        <p:xfrm>
          <a:off x="5932805" y="4628515"/>
          <a:ext cx="2188845" cy="1978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615"/>
                <a:gridCol w="729615"/>
                <a:gridCol w="729615"/>
              </a:tblGrid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物品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ea typeface="宋体" panose="02010600030101010101" pitchFamily="2" charset="-122"/>
                        </a:rPr>
                        <a:t>重量</a:t>
                      </a:r>
                      <a:endParaRPr lang="zh-CN" altLang="en-US" sz="14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ea typeface="宋体" panose="02010600030101010101" pitchFamily="2" charset="-122"/>
                        </a:rPr>
                        <a:t>价值</a:t>
                      </a:r>
                      <a:endParaRPr lang="zh-CN" altLang="en-US" sz="14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5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6687185" y="815975"/>
            <a:ext cx="646430" cy="581660"/>
            <a:chOff x="10489" y="3359"/>
            <a:chExt cx="1018" cy="916"/>
          </a:xfrm>
        </p:grpSpPr>
        <p:sp>
          <p:nvSpPr>
            <p:cNvPr id="8" name="椭圆 7"/>
            <p:cNvSpPr/>
            <p:nvPr/>
          </p:nvSpPr>
          <p:spPr>
            <a:xfrm>
              <a:off x="10489" y="3359"/>
              <a:ext cx="1018" cy="91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602" y="3586"/>
              <a:ext cx="874" cy="552"/>
            </a:xfrm>
            <a:prstGeom prst="rect">
              <a:avLst/>
            </a:prstGeom>
            <a:noFill/>
          </p:spPr>
          <p:txBody>
            <a:bodyPr>
              <a:noAutofit/>
            </a:bodyPr>
            <a:lstStyle/>
            <a:p>
              <a:pPr>
                <a:defRPr/>
              </a:pPr>
              <a:r>
                <a:rPr lang="en-US" sz="1400">
                  <a:solidFill>
                    <a:srgbClr val="000066"/>
                  </a:solidFill>
                  <a:latin typeface="+mj-ea"/>
                  <a:ea typeface="+mj-ea"/>
                </a:rPr>
                <a:t>start</a:t>
              </a:r>
              <a:endParaRPr lang="en-US" sz="1400">
                <a:solidFill>
                  <a:srgbClr val="000066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948680" y="1453515"/>
            <a:ext cx="646430" cy="582295"/>
            <a:chOff x="10489" y="3359"/>
            <a:chExt cx="1018" cy="917"/>
          </a:xfrm>
        </p:grpSpPr>
        <p:sp>
          <p:nvSpPr>
            <p:cNvPr id="17" name="椭圆 16"/>
            <p:cNvSpPr/>
            <p:nvPr/>
          </p:nvSpPr>
          <p:spPr>
            <a:xfrm>
              <a:off x="10489" y="3359"/>
              <a:ext cx="1018" cy="91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521" y="3585"/>
              <a:ext cx="874" cy="552"/>
            </a:xfrm>
            <a:prstGeom prst="rect">
              <a:avLst/>
            </a:prstGeom>
            <a:noFill/>
          </p:spPr>
          <p:txBody>
            <a:bodyPr>
              <a:noAutofit/>
            </a:bodyPr>
            <a:lstStyle/>
            <a:p>
              <a:pPr algn="ctr">
                <a:defRPr/>
              </a:pPr>
              <a:r>
                <a:rPr lang="en-US" sz="1400">
                  <a:solidFill>
                    <a:srgbClr val="000066"/>
                  </a:solidFill>
                  <a:latin typeface="+mj-ea"/>
                  <a:ea typeface="+mj-ea"/>
                </a:rPr>
                <a:t>1</a:t>
              </a:r>
              <a:endParaRPr lang="en-US" sz="1400">
                <a:solidFill>
                  <a:srgbClr val="000066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360920" y="1452245"/>
            <a:ext cx="646430" cy="581660"/>
            <a:chOff x="10489" y="3359"/>
            <a:chExt cx="1018" cy="916"/>
          </a:xfrm>
        </p:grpSpPr>
        <p:sp>
          <p:nvSpPr>
            <p:cNvPr id="27" name="椭圆 26"/>
            <p:cNvSpPr/>
            <p:nvPr/>
          </p:nvSpPr>
          <p:spPr>
            <a:xfrm>
              <a:off x="10489" y="3359"/>
              <a:ext cx="1018" cy="91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0602" y="3586"/>
              <a:ext cx="874" cy="552"/>
            </a:xfrm>
            <a:prstGeom prst="rect">
              <a:avLst/>
            </a:prstGeom>
            <a:noFill/>
          </p:spPr>
          <p:txBody>
            <a:bodyPr>
              <a:noAutofit/>
            </a:bodyPr>
            <a:lstStyle/>
            <a:p>
              <a:pPr algn="ctr">
                <a:defRPr/>
              </a:pPr>
              <a:r>
                <a:rPr lang="en-US" sz="1400">
                  <a:solidFill>
                    <a:srgbClr val="000066"/>
                  </a:solidFill>
                  <a:latin typeface="+mj-ea"/>
                  <a:ea typeface="+mj-ea"/>
                </a:rPr>
                <a:t>0</a:t>
              </a:r>
              <a:endParaRPr lang="en-US" sz="1400">
                <a:solidFill>
                  <a:srgbClr val="000066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29" name="曲线连接符 28"/>
          <p:cNvCxnSpPr/>
          <p:nvPr/>
        </p:nvCxnSpPr>
        <p:spPr>
          <a:xfrm rot="10800000" flipV="1">
            <a:off x="6271260" y="1104265"/>
            <a:ext cx="387985" cy="349250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0" name="曲线连接符 29"/>
          <p:cNvCxnSpPr/>
          <p:nvPr/>
        </p:nvCxnSpPr>
        <p:spPr>
          <a:xfrm>
            <a:off x="7313930" y="1135380"/>
            <a:ext cx="370205" cy="316865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pSp>
        <p:nvGrpSpPr>
          <p:cNvPr id="31" name="组合 30"/>
          <p:cNvGrpSpPr/>
          <p:nvPr/>
        </p:nvGrpSpPr>
        <p:grpSpPr>
          <a:xfrm>
            <a:off x="6418580" y="2278380"/>
            <a:ext cx="341630" cy="342265"/>
            <a:chOff x="10489" y="3359"/>
            <a:chExt cx="1018" cy="917"/>
          </a:xfrm>
        </p:grpSpPr>
        <p:sp>
          <p:nvSpPr>
            <p:cNvPr id="32" name="椭圆 31"/>
            <p:cNvSpPr/>
            <p:nvPr/>
          </p:nvSpPr>
          <p:spPr>
            <a:xfrm>
              <a:off x="10489" y="3359"/>
              <a:ext cx="1018" cy="91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0602" y="3479"/>
              <a:ext cx="874" cy="552"/>
            </a:xfrm>
            <a:prstGeom prst="rect">
              <a:avLst/>
            </a:prstGeom>
            <a:noFill/>
          </p:spPr>
          <p:txBody>
            <a:bodyPr>
              <a:noAutofit/>
            </a:bodyPr>
            <a:lstStyle/>
            <a:p>
              <a:pPr algn="ctr">
                <a:defRPr/>
              </a:pPr>
              <a:r>
                <a:rPr lang="en-US" sz="1400">
                  <a:solidFill>
                    <a:srgbClr val="000066"/>
                  </a:solidFill>
                  <a:latin typeface="+mj-ea"/>
                  <a:ea typeface="+mj-ea"/>
                </a:rPr>
                <a:t>0</a:t>
              </a:r>
              <a:endParaRPr lang="en-US" sz="1400">
                <a:solidFill>
                  <a:srgbClr val="000066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698490" y="2278380"/>
            <a:ext cx="341630" cy="342265"/>
            <a:chOff x="10489" y="3359"/>
            <a:chExt cx="1018" cy="917"/>
          </a:xfrm>
        </p:grpSpPr>
        <p:sp>
          <p:nvSpPr>
            <p:cNvPr id="35" name="椭圆 34"/>
            <p:cNvSpPr/>
            <p:nvPr/>
          </p:nvSpPr>
          <p:spPr>
            <a:xfrm>
              <a:off x="10489" y="3359"/>
              <a:ext cx="1018" cy="91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0602" y="3479"/>
              <a:ext cx="874" cy="552"/>
            </a:xfrm>
            <a:prstGeom prst="rect">
              <a:avLst/>
            </a:prstGeom>
            <a:noFill/>
          </p:spPr>
          <p:txBody>
            <a:bodyPr>
              <a:noAutofit/>
            </a:bodyPr>
            <a:lstStyle/>
            <a:p>
              <a:pPr algn="ctr">
                <a:defRPr/>
              </a:pPr>
              <a:r>
                <a:rPr lang="en-US" sz="1400">
                  <a:solidFill>
                    <a:srgbClr val="000066"/>
                  </a:solidFill>
                  <a:latin typeface="+mj-ea"/>
                  <a:ea typeface="+mj-ea"/>
                </a:rPr>
                <a:t>1</a:t>
              </a:r>
              <a:endParaRPr lang="en-US" sz="1400">
                <a:solidFill>
                  <a:srgbClr val="000066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995285" y="2277110"/>
            <a:ext cx="341630" cy="342265"/>
            <a:chOff x="10489" y="3359"/>
            <a:chExt cx="1018" cy="917"/>
          </a:xfrm>
        </p:grpSpPr>
        <p:sp>
          <p:nvSpPr>
            <p:cNvPr id="38" name="椭圆 37"/>
            <p:cNvSpPr/>
            <p:nvPr/>
          </p:nvSpPr>
          <p:spPr>
            <a:xfrm>
              <a:off x="10489" y="3359"/>
              <a:ext cx="1018" cy="91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0602" y="3479"/>
              <a:ext cx="874" cy="552"/>
            </a:xfrm>
            <a:prstGeom prst="rect">
              <a:avLst/>
            </a:prstGeom>
            <a:noFill/>
          </p:spPr>
          <p:txBody>
            <a:bodyPr>
              <a:noAutofit/>
            </a:bodyPr>
            <a:lstStyle/>
            <a:p>
              <a:pPr algn="ctr">
                <a:defRPr/>
              </a:pPr>
              <a:r>
                <a:rPr lang="en-US" sz="1400">
                  <a:solidFill>
                    <a:srgbClr val="000066"/>
                  </a:solidFill>
                  <a:latin typeface="+mj-ea"/>
                  <a:ea typeface="+mj-ea"/>
                </a:rPr>
                <a:t>0</a:t>
              </a:r>
              <a:endParaRPr lang="en-US" sz="1400">
                <a:solidFill>
                  <a:srgbClr val="000066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275195" y="2277110"/>
            <a:ext cx="341630" cy="342265"/>
            <a:chOff x="10489" y="3359"/>
            <a:chExt cx="1018" cy="917"/>
          </a:xfrm>
        </p:grpSpPr>
        <p:sp>
          <p:nvSpPr>
            <p:cNvPr id="41" name="椭圆 40"/>
            <p:cNvSpPr/>
            <p:nvPr/>
          </p:nvSpPr>
          <p:spPr>
            <a:xfrm>
              <a:off x="10489" y="3359"/>
              <a:ext cx="1018" cy="91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0602" y="3479"/>
              <a:ext cx="874" cy="552"/>
            </a:xfrm>
            <a:prstGeom prst="rect">
              <a:avLst/>
            </a:prstGeom>
            <a:noFill/>
          </p:spPr>
          <p:txBody>
            <a:bodyPr>
              <a:noAutofit/>
            </a:bodyPr>
            <a:lstStyle/>
            <a:p>
              <a:pPr algn="ctr">
                <a:defRPr/>
              </a:pPr>
              <a:r>
                <a:rPr lang="en-US" sz="1400">
                  <a:solidFill>
                    <a:srgbClr val="000066"/>
                  </a:solidFill>
                  <a:latin typeface="+mj-ea"/>
                  <a:ea typeface="+mj-ea"/>
                </a:rPr>
                <a:t>1</a:t>
              </a:r>
              <a:endParaRPr lang="en-US" sz="1400">
                <a:solidFill>
                  <a:srgbClr val="000066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43" name="曲线连接符 42"/>
          <p:cNvCxnSpPr/>
          <p:nvPr/>
        </p:nvCxnSpPr>
        <p:spPr>
          <a:xfrm rot="5400000">
            <a:off x="5934075" y="1985010"/>
            <a:ext cx="287655" cy="38862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4" name="曲线连接符 43"/>
          <p:cNvCxnSpPr/>
          <p:nvPr/>
        </p:nvCxnSpPr>
        <p:spPr>
          <a:xfrm rot="5400000" flipV="1">
            <a:off x="6309360" y="1998345"/>
            <a:ext cx="242570" cy="31750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5" name="曲线连接符 44"/>
          <p:cNvCxnSpPr/>
          <p:nvPr/>
        </p:nvCxnSpPr>
        <p:spPr>
          <a:xfrm rot="5400000">
            <a:off x="7428230" y="2065655"/>
            <a:ext cx="287655" cy="224155"/>
          </a:xfrm>
          <a:prstGeom prst="curvedConnector3">
            <a:avLst>
              <a:gd name="adj1" fmla="val 5011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7" name="曲线连接符 46"/>
          <p:cNvCxnSpPr/>
          <p:nvPr/>
        </p:nvCxnSpPr>
        <p:spPr>
          <a:xfrm rot="5400000" flipV="1">
            <a:off x="7788275" y="1929765"/>
            <a:ext cx="287655" cy="495935"/>
          </a:xfrm>
          <a:prstGeom prst="curvedConnector3">
            <a:avLst>
              <a:gd name="adj1" fmla="val 5011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pSp>
        <p:nvGrpSpPr>
          <p:cNvPr id="95" name="组合 94"/>
          <p:cNvGrpSpPr/>
          <p:nvPr/>
        </p:nvGrpSpPr>
        <p:grpSpPr>
          <a:xfrm>
            <a:off x="5394960" y="2623185"/>
            <a:ext cx="1061720" cy="650875"/>
            <a:chOff x="4579" y="8358"/>
            <a:chExt cx="1672" cy="1025"/>
          </a:xfrm>
        </p:grpSpPr>
        <p:grpSp>
          <p:nvGrpSpPr>
            <p:cNvPr id="76" name="组合 75"/>
            <p:cNvGrpSpPr/>
            <p:nvPr/>
          </p:nvGrpSpPr>
          <p:grpSpPr>
            <a:xfrm>
              <a:off x="5713" y="8845"/>
              <a:ext cx="538" cy="539"/>
              <a:chOff x="10489" y="3359"/>
              <a:chExt cx="1018" cy="917"/>
            </a:xfrm>
          </p:grpSpPr>
          <p:sp>
            <p:nvSpPr>
              <p:cNvPr id="77" name="椭圆 76"/>
              <p:cNvSpPr/>
              <p:nvPr/>
            </p:nvSpPr>
            <p:spPr>
              <a:xfrm>
                <a:off x="10489" y="3359"/>
                <a:ext cx="1018" cy="917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altLang="zh-CN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10602" y="3479"/>
                <a:ext cx="874" cy="55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 algn="ctr">
                  <a:defRPr/>
                </a:pPr>
                <a:r>
                  <a:rPr lang="en-US" sz="1400">
                    <a:solidFill>
                      <a:srgbClr val="000066"/>
                    </a:solidFill>
                    <a:latin typeface="+mj-ea"/>
                    <a:ea typeface="+mj-ea"/>
                  </a:rPr>
                  <a:t>0</a:t>
                </a:r>
                <a:endParaRPr lang="en-US" sz="1400">
                  <a:solidFill>
                    <a:srgbClr val="000066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4579" y="8845"/>
              <a:ext cx="538" cy="539"/>
              <a:chOff x="10489" y="3359"/>
              <a:chExt cx="1018" cy="917"/>
            </a:xfrm>
          </p:grpSpPr>
          <p:sp>
            <p:nvSpPr>
              <p:cNvPr id="80" name="椭圆 79"/>
              <p:cNvSpPr/>
              <p:nvPr/>
            </p:nvSpPr>
            <p:spPr>
              <a:xfrm>
                <a:off x="10489" y="3359"/>
                <a:ext cx="1018" cy="917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altLang="zh-CN" sz="18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华文细黑" panose="02010600040101010101" pitchFamily="2" charset="-122"/>
                </a:endParaRPr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10602" y="3479"/>
                <a:ext cx="874" cy="55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 algn="ctr">
                  <a:defRPr/>
                </a:pPr>
                <a:r>
                  <a:rPr lang="en-US" sz="1400">
                    <a:solidFill>
                      <a:srgbClr val="000066"/>
                    </a:solidFill>
                    <a:latin typeface="+mj-ea"/>
                    <a:ea typeface="+mj-ea"/>
                  </a:rPr>
                  <a:t>1</a:t>
                </a:r>
                <a:endParaRPr lang="en-US" sz="1400">
                  <a:solidFill>
                    <a:srgbClr val="000066"/>
                  </a:solidFill>
                  <a:latin typeface="+mj-ea"/>
                  <a:ea typeface="+mj-ea"/>
                </a:endParaRPr>
              </a:p>
            </p:txBody>
          </p:sp>
        </p:grpSp>
        <p:cxnSp>
          <p:nvCxnSpPr>
            <p:cNvPr id="82" name="曲线连接符 81"/>
            <p:cNvCxnSpPr/>
            <p:nvPr/>
          </p:nvCxnSpPr>
          <p:spPr>
            <a:xfrm rot="5400000" flipV="1">
              <a:off x="5412" y="8274"/>
              <a:ext cx="487" cy="654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83" name="曲线连接符 82"/>
            <p:cNvCxnSpPr/>
            <p:nvPr/>
          </p:nvCxnSpPr>
          <p:spPr>
            <a:xfrm rot="5400000">
              <a:off x="4820" y="8408"/>
              <a:ext cx="558" cy="458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50" name="组合 49"/>
          <p:cNvGrpSpPr/>
          <p:nvPr/>
        </p:nvGrpSpPr>
        <p:grpSpPr>
          <a:xfrm>
            <a:off x="5748020" y="3512820"/>
            <a:ext cx="341630" cy="342265"/>
            <a:chOff x="10489" y="3359"/>
            <a:chExt cx="1018" cy="917"/>
          </a:xfrm>
        </p:grpSpPr>
        <p:sp>
          <p:nvSpPr>
            <p:cNvPr id="51" name="椭圆 50"/>
            <p:cNvSpPr/>
            <p:nvPr/>
          </p:nvSpPr>
          <p:spPr>
            <a:xfrm>
              <a:off x="10489" y="3359"/>
              <a:ext cx="1018" cy="91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0602" y="3479"/>
              <a:ext cx="874" cy="552"/>
            </a:xfrm>
            <a:prstGeom prst="rect">
              <a:avLst/>
            </a:prstGeom>
            <a:noFill/>
          </p:spPr>
          <p:txBody>
            <a:bodyPr>
              <a:noAutofit/>
            </a:bodyPr>
            <a:lstStyle/>
            <a:p>
              <a:pPr algn="ctr">
                <a:defRPr/>
              </a:pPr>
              <a:r>
                <a:rPr lang="en-US" sz="1400">
                  <a:solidFill>
                    <a:srgbClr val="000066"/>
                  </a:solidFill>
                  <a:latin typeface="+mj-ea"/>
                  <a:ea typeface="+mj-ea"/>
                </a:rPr>
                <a:t>0</a:t>
              </a:r>
              <a:endParaRPr lang="en-US" sz="1400">
                <a:solidFill>
                  <a:srgbClr val="000066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075555" y="3541395"/>
            <a:ext cx="341630" cy="342265"/>
            <a:chOff x="10489" y="3359"/>
            <a:chExt cx="1018" cy="917"/>
          </a:xfrm>
        </p:grpSpPr>
        <p:sp>
          <p:nvSpPr>
            <p:cNvPr id="54" name="椭圆 53"/>
            <p:cNvSpPr/>
            <p:nvPr/>
          </p:nvSpPr>
          <p:spPr>
            <a:xfrm>
              <a:off x="10489" y="3359"/>
              <a:ext cx="1018" cy="91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0602" y="3479"/>
              <a:ext cx="874" cy="552"/>
            </a:xfrm>
            <a:prstGeom prst="rect">
              <a:avLst/>
            </a:prstGeom>
            <a:noFill/>
          </p:spPr>
          <p:txBody>
            <a:bodyPr>
              <a:noAutofit/>
            </a:bodyPr>
            <a:lstStyle/>
            <a:p>
              <a:pPr algn="ctr">
                <a:defRPr/>
              </a:pPr>
              <a:r>
                <a:rPr lang="en-US" sz="1400">
                  <a:solidFill>
                    <a:srgbClr val="000066"/>
                  </a:solidFill>
                  <a:latin typeface="+mj-ea"/>
                  <a:ea typeface="+mj-ea"/>
                </a:rPr>
                <a:t>1</a:t>
              </a:r>
              <a:endParaRPr lang="en-US" sz="1400">
                <a:solidFill>
                  <a:srgbClr val="000066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56" name="曲线连接符 55"/>
          <p:cNvCxnSpPr/>
          <p:nvPr/>
        </p:nvCxnSpPr>
        <p:spPr>
          <a:xfrm rot="5400000" flipV="1">
            <a:off x="5607685" y="3232785"/>
            <a:ext cx="283210" cy="36703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57" name="曲线连接符 56"/>
          <p:cNvCxnSpPr/>
          <p:nvPr/>
        </p:nvCxnSpPr>
        <p:spPr>
          <a:xfrm rot="5400000">
            <a:off x="5257165" y="3277235"/>
            <a:ext cx="311150" cy="305435"/>
          </a:xfrm>
          <a:prstGeom prst="curvedConnector3">
            <a:avLst>
              <a:gd name="adj1" fmla="val 4989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58" name="文本框 57"/>
          <p:cNvSpPr txBox="1"/>
          <p:nvPr/>
        </p:nvSpPr>
        <p:spPr>
          <a:xfrm>
            <a:off x="4572000" y="3883660"/>
            <a:ext cx="4206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uFillTx/>
                <a:latin typeface="Times New Roman" panose="02020603050405020304" charset="0"/>
              </a:rPr>
              <a:t>{1,2,3,4}    {1,2,3,0}</a:t>
            </a:r>
            <a:endParaRPr lang="en-US" altLang="zh-CN">
              <a:solidFill>
                <a:srgbClr val="FF0000"/>
              </a:solidFill>
              <a:uFillTx/>
              <a:latin typeface="Times New Roman" panose="02020603050405020304" charset="0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331788" y="1289050"/>
            <a:ext cx="4181475" cy="4791075"/>
            <a:chOff x="209" y="812"/>
            <a:chExt cx="2634" cy="3018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09" y="812"/>
              <a:ext cx="2634" cy="3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Line 40"/>
            <p:cNvSpPr>
              <a:spLocks noChangeShapeType="1"/>
            </p:cNvSpPr>
            <p:nvPr/>
          </p:nvSpPr>
          <p:spPr bwMode="auto">
            <a:xfrm>
              <a:off x="742" y="819"/>
              <a:ext cx="0" cy="29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Line 41"/>
            <p:cNvSpPr>
              <a:spLocks noChangeShapeType="1"/>
            </p:cNvSpPr>
            <p:nvPr/>
          </p:nvSpPr>
          <p:spPr bwMode="auto">
            <a:xfrm>
              <a:off x="1265" y="819"/>
              <a:ext cx="0" cy="29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Line 42"/>
            <p:cNvSpPr>
              <a:spLocks noChangeShapeType="1"/>
            </p:cNvSpPr>
            <p:nvPr/>
          </p:nvSpPr>
          <p:spPr bwMode="auto">
            <a:xfrm>
              <a:off x="1788" y="819"/>
              <a:ext cx="0" cy="29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Line 43"/>
            <p:cNvSpPr>
              <a:spLocks noChangeShapeType="1"/>
            </p:cNvSpPr>
            <p:nvPr/>
          </p:nvSpPr>
          <p:spPr bwMode="auto">
            <a:xfrm>
              <a:off x="2311" y="819"/>
              <a:ext cx="0" cy="29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Line 44"/>
            <p:cNvSpPr>
              <a:spLocks noChangeShapeType="1"/>
            </p:cNvSpPr>
            <p:nvPr/>
          </p:nvSpPr>
          <p:spPr bwMode="auto">
            <a:xfrm>
              <a:off x="214" y="1013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Line 45"/>
            <p:cNvSpPr>
              <a:spLocks noChangeShapeType="1"/>
            </p:cNvSpPr>
            <p:nvPr/>
          </p:nvSpPr>
          <p:spPr bwMode="auto">
            <a:xfrm>
              <a:off x="214" y="1186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Line 46"/>
            <p:cNvSpPr>
              <a:spLocks noChangeShapeType="1"/>
            </p:cNvSpPr>
            <p:nvPr/>
          </p:nvSpPr>
          <p:spPr bwMode="auto">
            <a:xfrm>
              <a:off x="214" y="1359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Line 48"/>
            <p:cNvSpPr>
              <a:spLocks noChangeShapeType="1"/>
            </p:cNvSpPr>
            <p:nvPr/>
          </p:nvSpPr>
          <p:spPr bwMode="auto">
            <a:xfrm>
              <a:off x="214" y="1706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Line 49"/>
            <p:cNvSpPr>
              <a:spLocks noChangeShapeType="1"/>
            </p:cNvSpPr>
            <p:nvPr/>
          </p:nvSpPr>
          <p:spPr bwMode="auto">
            <a:xfrm>
              <a:off x="214" y="1878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Line 50"/>
            <p:cNvSpPr>
              <a:spLocks noChangeShapeType="1"/>
            </p:cNvSpPr>
            <p:nvPr/>
          </p:nvSpPr>
          <p:spPr bwMode="auto">
            <a:xfrm>
              <a:off x="214" y="2052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Line 51"/>
            <p:cNvSpPr>
              <a:spLocks noChangeShapeType="1"/>
            </p:cNvSpPr>
            <p:nvPr/>
          </p:nvSpPr>
          <p:spPr bwMode="auto">
            <a:xfrm>
              <a:off x="214" y="2226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Line 52"/>
            <p:cNvSpPr>
              <a:spLocks noChangeShapeType="1"/>
            </p:cNvSpPr>
            <p:nvPr/>
          </p:nvSpPr>
          <p:spPr bwMode="auto">
            <a:xfrm>
              <a:off x="214" y="2399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Line 53"/>
            <p:cNvSpPr>
              <a:spLocks noChangeShapeType="1"/>
            </p:cNvSpPr>
            <p:nvPr/>
          </p:nvSpPr>
          <p:spPr bwMode="auto">
            <a:xfrm>
              <a:off x="214" y="2571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Line 54"/>
            <p:cNvSpPr>
              <a:spLocks noChangeShapeType="1"/>
            </p:cNvSpPr>
            <p:nvPr/>
          </p:nvSpPr>
          <p:spPr bwMode="auto">
            <a:xfrm>
              <a:off x="214" y="2745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Line 55"/>
            <p:cNvSpPr>
              <a:spLocks noChangeShapeType="1"/>
            </p:cNvSpPr>
            <p:nvPr/>
          </p:nvSpPr>
          <p:spPr bwMode="auto">
            <a:xfrm>
              <a:off x="214" y="2918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Line 56"/>
            <p:cNvSpPr>
              <a:spLocks noChangeShapeType="1"/>
            </p:cNvSpPr>
            <p:nvPr/>
          </p:nvSpPr>
          <p:spPr bwMode="auto">
            <a:xfrm>
              <a:off x="214" y="3092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Line 57"/>
            <p:cNvSpPr>
              <a:spLocks noChangeShapeType="1"/>
            </p:cNvSpPr>
            <p:nvPr/>
          </p:nvSpPr>
          <p:spPr bwMode="auto">
            <a:xfrm>
              <a:off x="214" y="3264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Line 58"/>
            <p:cNvSpPr>
              <a:spLocks noChangeShapeType="1"/>
            </p:cNvSpPr>
            <p:nvPr/>
          </p:nvSpPr>
          <p:spPr bwMode="auto">
            <a:xfrm>
              <a:off x="214" y="3438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Line 59"/>
            <p:cNvSpPr>
              <a:spLocks noChangeShapeType="1"/>
            </p:cNvSpPr>
            <p:nvPr/>
          </p:nvSpPr>
          <p:spPr bwMode="auto">
            <a:xfrm>
              <a:off x="214" y="3611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Line 60"/>
            <p:cNvSpPr>
              <a:spLocks noChangeShapeType="1"/>
            </p:cNvSpPr>
            <p:nvPr/>
          </p:nvSpPr>
          <p:spPr bwMode="auto">
            <a:xfrm>
              <a:off x="218" y="819"/>
              <a:ext cx="0" cy="29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Line 61"/>
            <p:cNvSpPr>
              <a:spLocks noChangeShapeType="1"/>
            </p:cNvSpPr>
            <p:nvPr/>
          </p:nvSpPr>
          <p:spPr bwMode="auto">
            <a:xfrm>
              <a:off x="2834" y="819"/>
              <a:ext cx="0" cy="29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Line 62"/>
            <p:cNvSpPr>
              <a:spLocks noChangeShapeType="1"/>
            </p:cNvSpPr>
            <p:nvPr/>
          </p:nvSpPr>
          <p:spPr bwMode="auto">
            <a:xfrm>
              <a:off x="214" y="823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Line 63"/>
            <p:cNvSpPr>
              <a:spLocks noChangeShapeType="1"/>
            </p:cNvSpPr>
            <p:nvPr/>
          </p:nvSpPr>
          <p:spPr bwMode="auto">
            <a:xfrm>
              <a:off x="214" y="3784"/>
              <a:ext cx="262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Rectangle 64"/>
            <p:cNvSpPr>
              <a:spLocks noChangeArrowheads="1"/>
            </p:cNvSpPr>
            <p:nvPr/>
          </p:nvSpPr>
          <p:spPr bwMode="auto">
            <a:xfrm>
              <a:off x="346" y="873"/>
              <a:ext cx="18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序号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" name="Rectangle 65"/>
            <p:cNvSpPr>
              <a:spLocks noChangeArrowheads="1"/>
            </p:cNvSpPr>
            <p:nvPr/>
          </p:nvSpPr>
          <p:spPr bwMode="auto">
            <a:xfrm>
              <a:off x="803" y="873"/>
              <a:ext cx="24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选物品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4" name="Rectangle 66"/>
            <p:cNvSpPr>
              <a:spLocks noChangeArrowheads="1"/>
            </p:cNvSpPr>
            <p:nvPr/>
          </p:nvSpPr>
          <p:spPr bwMode="auto">
            <a:xfrm>
              <a:off x="1326" y="873"/>
              <a:ext cx="24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总重量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5" name="Rectangle 67"/>
            <p:cNvSpPr>
              <a:spLocks noChangeArrowheads="1"/>
            </p:cNvSpPr>
            <p:nvPr/>
          </p:nvSpPr>
          <p:spPr bwMode="auto">
            <a:xfrm>
              <a:off x="1849" y="873"/>
              <a:ext cx="24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总价值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" name="Rectangle 68"/>
            <p:cNvSpPr>
              <a:spLocks noChangeArrowheads="1"/>
            </p:cNvSpPr>
            <p:nvPr/>
          </p:nvSpPr>
          <p:spPr bwMode="auto">
            <a:xfrm>
              <a:off x="2372" y="873"/>
              <a:ext cx="24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能否装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" name="Rectangle 69"/>
            <p:cNvSpPr>
              <a:spLocks noChangeArrowheads="1"/>
            </p:cNvSpPr>
            <p:nvPr/>
          </p:nvSpPr>
          <p:spPr bwMode="auto">
            <a:xfrm>
              <a:off x="448" y="1058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8" name="Rectangle 70"/>
            <p:cNvSpPr>
              <a:spLocks noChangeArrowheads="1"/>
            </p:cNvSpPr>
            <p:nvPr/>
          </p:nvSpPr>
          <p:spPr bwMode="auto">
            <a:xfrm>
              <a:off x="947" y="1058"/>
              <a:ext cx="138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" name="Rectangle 71"/>
            <p:cNvSpPr>
              <a:spLocks noChangeArrowheads="1"/>
            </p:cNvSpPr>
            <p:nvPr/>
          </p:nvSpPr>
          <p:spPr bwMode="auto">
            <a:xfrm>
              <a:off x="1494" y="1058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0" name="Rectangle 72"/>
            <p:cNvSpPr>
              <a:spLocks noChangeArrowheads="1"/>
            </p:cNvSpPr>
            <p:nvPr/>
          </p:nvSpPr>
          <p:spPr bwMode="auto">
            <a:xfrm>
              <a:off x="2017" y="1058"/>
              <a:ext cx="9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1" name="Rectangle 73"/>
            <p:cNvSpPr>
              <a:spLocks noChangeArrowheads="1"/>
            </p:cNvSpPr>
            <p:nvPr/>
          </p:nvSpPr>
          <p:spPr bwMode="auto">
            <a:xfrm>
              <a:off x="2517" y="1059"/>
              <a:ext cx="9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能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2" name="Rectangle 74"/>
            <p:cNvSpPr>
              <a:spLocks noChangeArrowheads="1"/>
            </p:cNvSpPr>
            <p:nvPr/>
          </p:nvSpPr>
          <p:spPr bwMode="auto">
            <a:xfrm>
              <a:off x="448" y="1231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" name="Rectangle 75"/>
            <p:cNvSpPr>
              <a:spLocks noChangeArrowheads="1"/>
            </p:cNvSpPr>
            <p:nvPr/>
          </p:nvSpPr>
          <p:spPr bwMode="auto">
            <a:xfrm>
              <a:off x="911" y="1231"/>
              <a:ext cx="19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{1}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" name="Rectangle 76"/>
            <p:cNvSpPr>
              <a:spLocks noChangeArrowheads="1"/>
            </p:cNvSpPr>
            <p:nvPr/>
          </p:nvSpPr>
          <p:spPr bwMode="auto">
            <a:xfrm>
              <a:off x="1494" y="1231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5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" name="Rectangle 77"/>
            <p:cNvSpPr>
              <a:spLocks noChangeArrowheads="1"/>
            </p:cNvSpPr>
            <p:nvPr/>
          </p:nvSpPr>
          <p:spPr bwMode="auto">
            <a:xfrm>
              <a:off x="2017" y="1231"/>
              <a:ext cx="9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4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6" name="Rectangle 78"/>
            <p:cNvSpPr>
              <a:spLocks noChangeArrowheads="1"/>
            </p:cNvSpPr>
            <p:nvPr/>
          </p:nvSpPr>
          <p:spPr bwMode="auto">
            <a:xfrm>
              <a:off x="2517" y="1232"/>
              <a:ext cx="9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能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7" name="Rectangle 79"/>
            <p:cNvSpPr>
              <a:spLocks noChangeArrowheads="1"/>
            </p:cNvSpPr>
            <p:nvPr/>
          </p:nvSpPr>
          <p:spPr bwMode="auto">
            <a:xfrm>
              <a:off x="448" y="1403"/>
              <a:ext cx="90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8" name="Rectangle 80"/>
            <p:cNvSpPr>
              <a:spLocks noChangeArrowheads="1"/>
            </p:cNvSpPr>
            <p:nvPr/>
          </p:nvSpPr>
          <p:spPr bwMode="auto">
            <a:xfrm>
              <a:off x="911" y="1403"/>
              <a:ext cx="192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{2}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9" name="Rectangle 81"/>
            <p:cNvSpPr>
              <a:spLocks noChangeArrowheads="1"/>
            </p:cNvSpPr>
            <p:nvPr/>
          </p:nvSpPr>
          <p:spPr bwMode="auto">
            <a:xfrm>
              <a:off x="1494" y="1403"/>
              <a:ext cx="90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0" name="Rectangle 82"/>
            <p:cNvSpPr>
              <a:spLocks noChangeArrowheads="1"/>
            </p:cNvSpPr>
            <p:nvPr/>
          </p:nvSpPr>
          <p:spPr bwMode="auto">
            <a:xfrm>
              <a:off x="2017" y="1403"/>
              <a:ext cx="91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4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1" name="Rectangle 83"/>
            <p:cNvSpPr>
              <a:spLocks noChangeArrowheads="1"/>
            </p:cNvSpPr>
            <p:nvPr/>
          </p:nvSpPr>
          <p:spPr bwMode="auto">
            <a:xfrm>
              <a:off x="2517" y="1405"/>
              <a:ext cx="9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能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2" name="Rectangle 84"/>
            <p:cNvSpPr>
              <a:spLocks noChangeArrowheads="1"/>
            </p:cNvSpPr>
            <p:nvPr/>
          </p:nvSpPr>
          <p:spPr bwMode="auto">
            <a:xfrm>
              <a:off x="448" y="1578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4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3" name="Rectangle 85"/>
            <p:cNvSpPr>
              <a:spLocks noChangeArrowheads="1"/>
            </p:cNvSpPr>
            <p:nvPr/>
          </p:nvSpPr>
          <p:spPr bwMode="auto">
            <a:xfrm>
              <a:off x="863" y="1578"/>
              <a:ext cx="27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{1,2}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4" name="Rectangle 86"/>
            <p:cNvSpPr>
              <a:spLocks noChangeArrowheads="1"/>
            </p:cNvSpPr>
            <p:nvPr/>
          </p:nvSpPr>
          <p:spPr bwMode="auto">
            <a:xfrm>
              <a:off x="1494" y="1578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8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5" name="Rectangle 87"/>
            <p:cNvSpPr>
              <a:spLocks noChangeArrowheads="1"/>
            </p:cNvSpPr>
            <p:nvPr/>
          </p:nvSpPr>
          <p:spPr bwMode="auto">
            <a:xfrm>
              <a:off x="2017" y="1578"/>
              <a:ext cx="9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8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6" name="Rectangle 88"/>
            <p:cNvSpPr>
              <a:spLocks noChangeArrowheads="1"/>
            </p:cNvSpPr>
            <p:nvPr/>
          </p:nvSpPr>
          <p:spPr bwMode="auto">
            <a:xfrm>
              <a:off x="2517" y="1578"/>
              <a:ext cx="15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7" name="Rectangle 89"/>
            <p:cNvSpPr>
              <a:spLocks noChangeArrowheads="1"/>
            </p:cNvSpPr>
            <p:nvPr/>
          </p:nvSpPr>
          <p:spPr bwMode="auto">
            <a:xfrm>
              <a:off x="448" y="1751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5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8" name="Rectangle 90"/>
            <p:cNvSpPr>
              <a:spLocks noChangeArrowheads="1"/>
            </p:cNvSpPr>
            <p:nvPr/>
          </p:nvSpPr>
          <p:spPr bwMode="auto">
            <a:xfrm>
              <a:off x="911" y="1751"/>
              <a:ext cx="19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{3}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9" name="Rectangle 91"/>
            <p:cNvSpPr>
              <a:spLocks noChangeArrowheads="1"/>
            </p:cNvSpPr>
            <p:nvPr/>
          </p:nvSpPr>
          <p:spPr bwMode="auto">
            <a:xfrm>
              <a:off x="1494" y="1751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0" name="Rectangle 92"/>
            <p:cNvSpPr>
              <a:spLocks noChangeArrowheads="1"/>
            </p:cNvSpPr>
            <p:nvPr/>
          </p:nvSpPr>
          <p:spPr bwMode="auto">
            <a:xfrm>
              <a:off x="2017" y="1751"/>
              <a:ext cx="9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1" name="Rectangle 93"/>
            <p:cNvSpPr>
              <a:spLocks noChangeArrowheads="1"/>
            </p:cNvSpPr>
            <p:nvPr/>
          </p:nvSpPr>
          <p:spPr bwMode="auto">
            <a:xfrm>
              <a:off x="2517" y="1751"/>
              <a:ext cx="9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能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2" name="Rectangle 94"/>
            <p:cNvSpPr>
              <a:spLocks noChangeArrowheads="1"/>
            </p:cNvSpPr>
            <p:nvPr/>
          </p:nvSpPr>
          <p:spPr bwMode="auto">
            <a:xfrm>
              <a:off x="448" y="1924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6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3" name="Rectangle 95"/>
            <p:cNvSpPr>
              <a:spLocks noChangeArrowheads="1"/>
            </p:cNvSpPr>
            <p:nvPr/>
          </p:nvSpPr>
          <p:spPr bwMode="auto">
            <a:xfrm>
              <a:off x="863" y="1924"/>
              <a:ext cx="27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{1,3}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4" name="Rectangle 96"/>
            <p:cNvSpPr>
              <a:spLocks noChangeArrowheads="1"/>
            </p:cNvSpPr>
            <p:nvPr/>
          </p:nvSpPr>
          <p:spPr bwMode="auto">
            <a:xfrm>
              <a:off x="1494" y="1924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7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5" name="Rectangle 97"/>
            <p:cNvSpPr>
              <a:spLocks noChangeArrowheads="1"/>
            </p:cNvSpPr>
            <p:nvPr/>
          </p:nvSpPr>
          <p:spPr bwMode="auto">
            <a:xfrm>
              <a:off x="2017" y="1924"/>
              <a:ext cx="9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7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6" name="Rectangle 98"/>
            <p:cNvSpPr>
              <a:spLocks noChangeArrowheads="1"/>
            </p:cNvSpPr>
            <p:nvPr/>
          </p:nvSpPr>
          <p:spPr bwMode="auto">
            <a:xfrm>
              <a:off x="2517" y="1923"/>
              <a:ext cx="15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7" name="Rectangle 99"/>
            <p:cNvSpPr>
              <a:spLocks noChangeArrowheads="1"/>
            </p:cNvSpPr>
            <p:nvPr/>
          </p:nvSpPr>
          <p:spPr bwMode="auto">
            <a:xfrm>
              <a:off x="448" y="2096"/>
              <a:ext cx="90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7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8" name="Rectangle 100"/>
            <p:cNvSpPr>
              <a:spLocks noChangeArrowheads="1"/>
            </p:cNvSpPr>
            <p:nvPr/>
          </p:nvSpPr>
          <p:spPr bwMode="auto">
            <a:xfrm>
              <a:off x="863" y="2096"/>
              <a:ext cx="270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{2,3}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9" name="Rectangle 101"/>
            <p:cNvSpPr>
              <a:spLocks noChangeArrowheads="1"/>
            </p:cNvSpPr>
            <p:nvPr/>
          </p:nvSpPr>
          <p:spPr bwMode="auto">
            <a:xfrm>
              <a:off x="1494" y="2096"/>
              <a:ext cx="90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5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0" name="Rectangle 102"/>
            <p:cNvSpPr>
              <a:spLocks noChangeArrowheads="1"/>
            </p:cNvSpPr>
            <p:nvPr/>
          </p:nvSpPr>
          <p:spPr bwMode="auto">
            <a:xfrm>
              <a:off x="2017" y="2096"/>
              <a:ext cx="91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7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1" name="Rectangle 103"/>
            <p:cNvSpPr>
              <a:spLocks noChangeArrowheads="1"/>
            </p:cNvSpPr>
            <p:nvPr/>
          </p:nvSpPr>
          <p:spPr bwMode="auto">
            <a:xfrm>
              <a:off x="2517" y="2098"/>
              <a:ext cx="9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能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2" name="Rectangle 104"/>
            <p:cNvSpPr>
              <a:spLocks noChangeArrowheads="1"/>
            </p:cNvSpPr>
            <p:nvPr/>
          </p:nvSpPr>
          <p:spPr bwMode="auto">
            <a:xfrm>
              <a:off x="448" y="2271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8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3" name="Rectangle 105"/>
            <p:cNvSpPr>
              <a:spLocks noChangeArrowheads="1"/>
            </p:cNvSpPr>
            <p:nvPr/>
          </p:nvSpPr>
          <p:spPr bwMode="auto">
            <a:xfrm>
              <a:off x="809" y="2271"/>
              <a:ext cx="34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{1,2,3}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4" name="Rectangle 106"/>
            <p:cNvSpPr>
              <a:spLocks noChangeArrowheads="1"/>
            </p:cNvSpPr>
            <p:nvPr/>
          </p:nvSpPr>
          <p:spPr bwMode="auto">
            <a:xfrm>
              <a:off x="1464" y="2271"/>
              <a:ext cx="144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5" name="Rectangle 107"/>
            <p:cNvSpPr>
              <a:spLocks noChangeArrowheads="1"/>
            </p:cNvSpPr>
            <p:nvPr/>
          </p:nvSpPr>
          <p:spPr bwMode="auto">
            <a:xfrm>
              <a:off x="1987" y="2271"/>
              <a:ext cx="145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6" name="Rectangle 108"/>
            <p:cNvSpPr>
              <a:spLocks noChangeArrowheads="1"/>
            </p:cNvSpPr>
            <p:nvPr/>
          </p:nvSpPr>
          <p:spPr bwMode="auto">
            <a:xfrm>
              <a:off x="2517" y="2270"/>
              <a:ext cx="15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7" name="Rectangle 109"/>
            <p:cNvSpPr>
              <a:spLocks noChangeArrowheads="1"/>
            </p:cNvSpPr>
            <p:nvPr/>
          </p:nvSpPr>
          <p:spPr bwMode="auto">
            <a:xfrm>
              <a:off x="448" y="2444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9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8" name="Rectangle 110"/>
            <p:cNvSpPr>
              <a:spLocks noChangeArrowheads="1"/>
            </p:cNvSpPr>
            <p:nvPr/>
          </p:nvSpPr>
          <p:spPr bwMode="auto">
            <a:xfrm>
              <a:off x="911" y="2444"/>
              <a:ext cx="19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{4}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9" name="Rectangle 111"/>
            <p:cNvSpPr>
              <a:spLocks noChangeArrowheads="1"/>
            </p:cNvSpPr>
            <p:nvPr/>
          </p:nvSpPr>
          <p:spPr bwMode="auto">
            <a:xfrm>
              <a:off x="1494" y="2444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0" name="Rectangle 112"/>
            <p:cNvSpPr>
              <a:spLocks noChangeArrowheads="1"/>
            </p:cNvSpPr>
            <p:nvPr/>
          </p:nvSpPr>
          <p:spPr bwMode="auto">
            <a:xfrm>
              <a:off x="2017" y="2444"/>
              <a:ext cx="9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1" name="Rectangle 113"/>
            <p:cNvSpPr>
              <a:spLocks noChangeArrowheads="1"/>
            </p:cNvSpPr>
            <p:nvPr/>
          </p:nvSpPr>
          <p:spPr bwMode="auto">
            <a:xfrm>
              <a:off x="2517" y="2444"/>
              <a:ext cx="9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能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2" name="Rectangle 114"/>
            <p:cNvSpPr>
              <a:spLocks noChangeArrowheads="1"/>
            </p:cNvSpPr>
            <p:nvPr/>
          </p:nvSpPr>
          <p:spPr bwMode="auto">
            <a:xfrm>
              <a:off x="418" y="2617"/>
              <a:ext cx="144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3" name="Rectangle 115"/>
            <p:cNvSpPr>
              <a:spLocks noChangeArrowheads="1"/>
            </p:cNvSpPr>
            <p:nvPr/>
          </p:nvSpPr>
          <p:spPr bwMode="auto">
            <a:xfrm>
              <a:off x="863" y="2617"/>
              <a:ext cx="27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{1,4}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4" name="Rectangle 116"/>
            <p:cNvSpPr>
              <a:spLocks noChangeArrowheads="1"/>
            </p:cNvSpPr>
            <p:nvPr/>
          </p:nvSpPr>
          <p:spPr bwMode="auto">
            <a:xfrm>
              <a:off x="1494" y="2617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6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5" name="Rectangle 117"/>
            <p:cNvSpPr>
              <a:spLocks noChangeArrowheads="1"/>
            </p:cNvSpPr>
            <p:nvPr/>
          </p:nvSpPr>
          <p:spPr bwMode="auto">
            <a:xfrm>
              <a:off x="2017" y="2617"/>
              <a:ext cx="9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5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6" name="Rectangle 118"/>
            <p:cNvSpPr>
              <a:spLocks noChangeArrowheads="1"/>
            </p:cNvSpPr>
            <p:nvPr/>
          </p:nvSpPr>
          <p:spPr bwMode="auto">
            <a:xfrm>
              <a:off x="2517" y="2616"/>
              <a:ext cx="9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能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7" name="Rectangle 119"/>
            <p:cNvSpPr>
              <a:spLocks noChangeArrowheads="1"/>
            </p:cNvSpPr>
            <p:nvPr/>
          </p:nvSpPr>
          <p:spPr bwMode="auto">
            <a:xfrm>
              <a:off x="418" y="2790"/>
              <a:ext cx="144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8" name="Rectangle 120"/>
            <p:cNvSpPr>
              <a:spLocks noChangeArrowheads="1"/>
            </p:cNvSpPr>
            <p:nvPr/>
          </p:nvSpPr>
          <p:spPr bwMode="auto">
            <a:xfrm>
              <a:off x="863" y="2790"/>
              <a:ext cx="27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{2,4}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9" name="Rectangle 121"/>
            <p:cNvSpPr>
              <a:spLocks noChangeArrowheads="1"/>
            </p:cNvSpPr>
            <p:nvPr/>
          </p:nvSpPr>
          <p:spPr bwMode="auto">
            <a:xfrm>
              <a:off x="1494" y="2790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4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0" name="Rectangle 122"/>
            <p:cNvSpPr>
              <a:spLocks noChangeArrowheads="1"/>
            </p:cNvSpPr>
            <p:nvPr/>
          </p:nvSpPr>
          <p:spPr bwMode="auto">
            <a:xfrm>
              <a:off x="2017" y="2790"/>
              <a:ext cx="9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5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1" name="Rectangle 123"/>
            <p:cNvSpPr>
              <a:spLocks noChangeArrowheads="1"/>
            </p:cNvSpPr>
            <p:nvPr/>
          </p:nvSpPr>
          <p:spPr bwMode="auto">
            <a:xfrm>
              <a:off x="2517" y="2791"/>
              <a:ext cx="9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能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2" name="Rectangle 124"/>
            <p:cNvSpPr>
              <a:spLocks noChangeArrowheads="1"/>
            </p:cNvSpPr>
            <p:nvPr/>
          </p:nvSpPr>
          <p:spPr bwMode="auto">
            <a:xfrm>
              <a:off x="418" y="2962"/>
              <a:ext cx="144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3" name="Rectangle 125"/>
            <p:cNvSpPr>
              <a:spLocks noChangeArrowheads="1"/>
            </p:cNvSpPr>
            <p:nvPr/>
          </p:nvSpPr>
          <p:spPr bwMode="auto">
            <a:xfrm>
              <a:off x="809" y="2962"/>
              <a:ext cx="342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{1,2,4}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4" name="Rectangle 126"/>
            <p:cNvSpPr>
              <a:spLocks noChangeArrowheads="1"/>
            </p:cNvSpPr>
            <p:nvPr/>
          </p:nvSpPr>
          <p:spPr bwMode="auto">
            <a:xfrm>
              <a:off x="1494" y="2962"/>
              <a:ext cx="90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9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5" name="Rectangle 127"/>
            <p:cNvSpPr>
              <a:spLocks noChangeArrowheads="1"/>
            </p:cNvSpPr>
            <p:nvPr/>
          </p:nvSpPr>
          <p:spPr bwMode="auto">
            <a:xfrm>
              <a:off x="2017" y="2962"/>
              <a:ext cx="91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9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6" name="Rectangle 128"/>
            <p:cNvSpPr>
              <a:spLocks noChangeArrowheads="1"/>
            </p:cNvSpPr>
            <p:nvPr/>
          </p:nvSpPr>
          <p:spPr bwMode="auto">
            <a:xfrm>
              <a:off x="2517" y="2964"/>
              <a:ext cx="15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7" name="Rectangle 129"/>
            <p:cNvSpPr>
              <a:spLocks noChangeArrowheads="1"/>
            </p:cNvSpPr>
            <p:nvPr/>
          </p:nvSpPr>
          <p:spPr bwMode="auto">
            <a:xfrm>
              <a:off x="418" y="3137"/>
              <a:ext cx="144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8" name="Rectangle 130"/>
            <p:cNvSpPr>
              <a:spLocks noChangeArrowheads="1"/>
            </p:cNvSpPr>
            <p:nvPr/>
          </p:nvSpPr>
          <p:spPr bwMode="auto">
            <a:xfrm>
              <a:off x="863" y="3137"/>
              <a:ext cx="27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{3,4}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9" name="Rectangle 131"/>
            <p:cNvSpPr>
              <a:spLocks noChangeArrowheads="1"/>
            </p:cNvSpPr>
            <p:nvPr/>
          </p:nvSpPr>
          <p:spPr bwMode="auto">
            <a:xfrm>
              <a:off x="1494" y="3137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0" name="Rectangle 132"/>
            <p:cNvSpPr>
              <a:spLocks noChangeArrowheads="1"/>
            </p:cNvSpPr>
            <p:nvPr/>
          </p:nvSpPr>
          <p:spPr bwMode="auto">
            <a:xfrm>
              <a:off x="2017" y="3137"/>
              <a:ext cx="9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4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1" name="Rectangle 133"/>
            <p:cNvSpPr>
              <a:spLocks noChangeArrowheads="1"/>
            </p:cNvSpPr>
            <p:nvPr/>
          </p:nvSpPr>
          <p:spPr bwMode="auto">
            <a:xfrm>
              <a:off x="2517" y="3137"/>
              <a:ext cx="9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能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2" name="Rectangle 134"/>
            <p:cNvSpPr>
              <a:spLocks noChangeArrowheads="1"/>
            </p:cNvSpPr>
            <p:nvPr/>
          </p:nvSpPr>
          <p:spPr bwMode="auto">
            <a:xfrm>
              <a:off x="418" y="3310"/>
              <a:ext cx="144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14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3" name="Rectangle 135"/>
            <p:cNvSpPr>
              <a:spLocks noChangeArrowheads="1"/>
            </p:cNvSpPr>
            <p:nvPr/>
          </p:nvSpPr>
          <p:spPr bwMode="auto">
            <a:xfrm>
              <a:off x="809" y="3310"/>
              <a:ext cx="34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{1,3,4}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4" name="Rectangle 136"/>
            <p:cNvSpPr>
              <a:spLocks noChangeArrowheads="1"/>
            </p:cNvSpPr>
            <p:nvPr/>
          </p:nvSpPr>
          <p:spPr bwMode="auto">
            <a:xfrm>
              <a:off x="1494" y="3310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8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5" name="Rectangle 137"/>
            <p:cNvSpPr>
              <a:spLocks noChangeArrowheads="1"/>
            </p:cNvSpPr>
            <p:nvPr/>
          </p:nvSpPr>
          <p:spPr bwMode="auto">
            <a:xfrm>
              <a:off x="2017" y="3310"/>
              <a:ext cx="9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8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6" name="Rectangle 138"/>
            <p:cNvSpPr>
              <a:spLocks noChangeArrowheads="1"/>
            </p:cNvSpPr>
            <p:nvPr/>
          </p:nvSpPr>
          <p:spPr bwMode="auto">
            <a:xfrm>
              <a:off x="2517" y="3309"/>
              <a:ext cx="15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7" name="Rectangle 139"/>
            <p:cNvSpPr>
              <a:spLocks noChangeArrowheads="1"/>
            </p:cNvSpPr>
            <p:nvPr/>
          </p:nvSpPr>
          <p:spPr bwMode="auto">
            <a:xfrm>
              <a:off x="418" y="3483"/>
              <a:ext cx="144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15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8" name="Rectangle 140"/>
            <p:cNvSpPr>
              <a:spLocks noChangeArrowheads="1"/>
            </p:cNvSpPr>
            <p:nvPr/>
          </p:nvSpPr>
          <p:spPr bwMode="auto">
            <a:xfrm>
              <a:off x="809" y="3483"/>
              <a:ext cx="34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{2,3,4}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9" name="Rectangle 141"/>
            <p:cNvSpPr>
              <a:spLocks noChangeArrowheads="1"/>
            </p:cNvSpPr>
            <p:nvPr/>
          </p:nvSpPr>
          <p:spPr bwMode="auto">
            <a:xfrm>
              <a:off x="1494" y="3483"/>
              <a:ext cx="90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6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0" name="Rectangle 142"/>
            <p:cNvSpPr>
              <a:spLocks noChangeArrowheads="1"/>
            </p:cNvSpPr>
            <p:nvPr/>
          </p:nvSpPr>
          <p:spPr bwMode="auto">
            <a:xfrm>
              <a:off x="2017" y="3483"/>
              <a:ext cx="9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8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1" name="Rectangle 143"/>
            <p:cNvSpPr>
              <a:spLocks noChangeArrowheads="1"/>
            </p:cNvSpPr>
            <p:nvPr/>
          </p:nvSpPr>
          <p:spPr bwMode="auto">
            <a:xfrm>
              <a:off x="2517" y="3484"/>
              <a:ext cx="9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能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2" name="Rectangle 144"/>
            <p:cNvSpPr>
              <a:spLocks noChangeArrowheads="1"/>
            </p:cNvSpPr>
            <p:nvPr/>
          </p:nvSpPr>
          <p:spPr bwMode="auto">
            <a:xfrm>
              <a:off x="418" y="3656"/>
              <a:ext cx="144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16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3" name="Rectangle 145"/>
            <p:cNvSpPr>
              <a:spLocks noChangeArrowheads="1"/>
            </p:cNvSpPr>
            <p:nvPr/>
          </p:nvSpPr>
          <p:spPr bwMode="auto">
            <a:xfrm>
              <a:off x="761" y="3656"/>
              <a:ext cx="420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{1,2,3,4}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4" name="Rectangle 146"/>
            <p:cNvSpPr>
              <a:spLocks noChangeArrowheads="1"/>
            </p:cNvSpPr>
            <p:nvPr/>
          </p:nvSpPr>
          <p:spPr bwMode="auto">
            <a:xfrm>
              <a:off x="1464" y="3656"/>
              <a:ext cx="144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5" name="Rectangle 147"/>
            <p:cNvSpPr>
              <a:spLocks noChangeArrowheads="1"/>
            </p:cNvSpPr>
            <p:nvPr/>
          </p:nvSpPr>
          <p:spPr bwMode="auto">
            <a:xfrm>
              <a:off x="1987" y="3656"/>
              <a:ext cx="145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charset="0"/>
                </a:rPr>
                <a:t>12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6" name="Rectangle 148"/>
            <p:cNvSpPr>
              <a:spLocks noChangeArrowheads="1"/>
            </p:cNvSpPr>
            <p:nvPr/>
          </p:nvSpPr>
          <p:spPr bwMode="auto">
            <a:xfrm>
              <a:off x="2517" y="3657"/>
              <a:ext cx="15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318" name="图片 317"/>
          <p:cNvPicPr>
            <a:picLocks noChangeAspect="1"/>
          </p:cNvPicPr>
          <p:nvPr/>
        </p:nvPicPr>
        <p:blipFill>
          <a:blip r:embed="rId2"/>
          <a:srcRect t="10538"/>
          <a:stretch>
            <a:fillRect/>
          </a:stretch>
        </p:blipFill>
        <p:spPr>
          <a:xfrm>
            <a:off x="49530" y="2436495"/>
            <a:ext cx="4857750" cy="264160"/>
          </a:xfrm>
          <a:prstGeom prst="rect">
            <a:avLst/>
          </a:prstGeom>
        </p:spPr>
      </p:pic>
      <p:pic>
        <p:nvPicPr>
          <p:cNvPr id="319" name="图片 318"/>
          <p:cNvPicPr>
            <a:picLocks noChangeAspect="1"/>
          </p:cNvPicPr>
          <p:nvPr/>
        </p:nvPicPr>
        <p:blipFill>
          <a:blip r:embed="rId2"/>
          <a:srcRect t="10538"/>
          <a:stretch>
            <a:fillRect/>
          </a:stretch>
        </p:blipFill>
        <p:spPr>
          <a:xfrm>
            <a:off x="49530" y="2990850"/>
            <a:ext cx="4857750" cy="264160"/>
          </a:xfrm>
          <a:prstGeom prst="rect">
            <a:avLst/>
          </a:prstGeom>
        </p:spPr>
      </p:pic>
      <p:pic>
        <p:nvPicPr>
          <p:cNvPr id="320" name="图片 319"/>
          <p:cNvPicPr>
            <a:picLocks noChangeAspect="1"/>
          </p:cNvPicPr>
          <p:nvPr/>
        </p:nvPicPr>
        <p:blipFill>
          <a:blip r:embed="rId2"/>
          <a:srcRect t="10538"/>
          <a:stretch>
            <a:fillRect/>
          </a:stretch>
        </p:blipFill>
        <p:spPr>
          <a:xfrm>
            <a:off x="90805" y="3541395"/>
            <a:ext cx="4857750" cy="264160"/>
          </a:xfrm>
          <a:prstGeom prst="rect">
            <a:avLst/>
          </a:prstGeom>
        </p:spPr>
      </p:pic>
      <p:pic>
        <p:nvPicPr>
          <p:cNvPr id="321" name="图片 320"/>
          <p:cNvPicPr>
            <a:picLocks noChangeAspect="1"/>
          </p:cNvPicPr>
          <p:nvPr/>
        </p:nvPicPr>
        <p:blipFill>
          <a:blip r:embed="rId2"/>
          <a:srcRect t="10538"/>
          <a:stretch>
            <a:fillRect/>
          </a:stretch>
        </p:blipFill>
        <p:spPr>
          <a:xfrm>
            <a:off x="176530" y="4642485"/>
            <a:ext cx="4857750" cy="264160"/>
          </a:xfrm>
          <a:prstGeom prst="rect">
            <a:avLst/>
          </a:prstGeom>
        </p:spPr>
      </p:pic>
      <p:pic>
        <p:nvPicPr>
          <p:cNvPr id="322" name="图片 321"/>
          <p:cNvPicPr>
            <a:picLocks noChangeAspect="1"/>
          </p:cNvPicPr>
          <p:nvPr/>
        </p:nvPicPr>
        <p:blipFill>
          <a:blip r:embed="rId2"/>
          <a:srcRect t="10538"/>
          <a:stretch>
            <a:fillRect/>
          </a:stretch>
        </p:blipFill>
        <p:spPr>
          <a:xfrm>
            <a:off x="107315" y="5186045"/>
            <a:ext cx="4857750" cy="264160"/>
          </a:xfrm>
          <a:prstGeom prst="rect">
            <a:avLst/>
          </a:prstGeom>
        </p:spPr>
      </p:pic>
      <p:pic>
        <p:nvPicPr>
          <p:cNvPr id="323" name="图片 322"/>
          <p:cNvPicPr>
            <a:picLocks noChangeAspect="1"/>
          </p:cNvPicPr>
          <p:nvPr/>
        </p:nvPicPr>
        <p:blipFill>
          <a:blip r:embed="rId2"/>
          <a:srcRect t="10538"/>
          <a:stretch>
            <a:fillRect/>
          </a:stretch>
        </p:blipFill>
        <p:spPr>
          <a:xfrm>
            <a:off x="107315" y="5739130"/>
            <a:ext cx="5828030" cy="316865"/>
          </a:xfrm>
          <a:prstGeom prst="rect">
            <a:avLst/>
          </a:prstGeom>
        </p:spPr>
      </p:pic>
      <p:pic>
        <p:nvPicPr>
          <p:cNvPr id="329" name="图片 328"/>
          <p:cNvPicPr>
            <a:picLocks noChangeAspect="1"/>
          </p:cNvPicPr>
          <p:nvPr/>
        </p:nvPicPr>
        <p:blipFill>
          <a:blip r:embed="rId2"/>
          <a:srcRect t="10538"/>
          <a:stretch>
            <a:fillRect/>
          </a:stretch>
        </p:blipFill>
        <p:spPr>
          <a:xfrm>
            <a:off x="0" y="2989580"/>
            <a:ext cx="4857750" cy="264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2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2" dur="2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5" dur="2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2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1" dur="2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4" dur="2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9" dur="2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nimBg="1"/>
      <p:bldP spid="324" grpId="1" animBg="1"/>
      <p:bldP spid="325" grpId="0" animBg="1"/>
      <p:bldP spid="325" grpId="1" animBg="1"/>
      <p:bldP spid="326" grpId="0" animBg="1"/>
      <p:bldP spid="326" grpId="1" animBg="1"/>
      <p:bldP spid="327" grpId="0" animBg="1"/>
      <p:bldP spid="327" grpId="1" animBg="1"/>
      <p:bldP spid="328" grpId="0" animBg="1"/>
      <p:bldP spid="328" grpId="1" animBg="1"/>
      <p:bldP spid="287" grpId="0" animBg="1"/>
      <p:bldP spid="287" grpId="1" animBg="1"/>
      <p:bldP spid="288" grpId="0" animBg="1"/>
      <p:bldP spid="288" grpId="1" animBg="1"/>
      <p:bldP spid="289" grpId="0" animBg="1"/>
      <p:bldP spid="289" grpId="1" animBg="1"/>
      <p:bldP spid="290" grpId="0" animBg="1"/>
      <p:bldP spid="290" grpId="1" animBg="1"/>
      <p:bldP spid="291" grpId="0" animBg="1"/>
      <p:bldP spid="291" grpId="1" animBg="1"/>
      <p:bldP spid="292" grpId="0" animBg="1"/>
      <p:bldP spid="292" grpId="1" animBg="1"/>
      <p:bldP spid="293" grpId="0" animBg="1"/>
      <p:bldP spid="293" grpId="1" animBg="1"/>
      <p:bldP spid="294" grpId="0" animBg="1"/>
      <p:bldP spid="294" grpId="1" animBg="1"/>
      <p:bldP spid="295" grpId="0" animBg="1"/>
      <p:bldP spid="295" grpId="1" animBg="1"/>
      <p:bldP spid="296" grpId="0" animBg="1"/>
      <p:bldP spid="296" grpId="1" animBg="1"/>
      <p:bldP spid="297" grpId="0" animBg="1"/>
      <p:bldP spid="297" grpId="1" animBg="1"/>
      <p:bldP spid="298" grpId="0" animBg="1"/>
      <p:bldP spid="298" grpId="1" animBg="1"/>
      <p:bldP spid="299" grpId="0" animBg="1"/>
      <p:bldP spid="299" grpId="1" animBg="1"/>
      <p:bldP spid="300" grpId="0" animBg="1"/>
      <p:bldP spid="300" grpId="1" animBg="1"/>
      <p:bldP spid="301" grpId="0" animBg="1"/>
      <p:bldP spid="301" grpId="1" animBg="1"/>
      <p:bldP spid="302" grpId="0" animBg="1"/>
      <p:bldP spid="302" grpId="1" animBg="1"/>
      <p:bldP spid="303" grpId="0" animBg="1"/>
      <p:bldP spid="303" grpId="1" animBg="1"/>
      <p:bldP spid="304" grpId="0" animBg="1"/>
      <p:bldP spid="304" grpId="1" animBg="1"/>
      <p:bldP spid="305" grpId="0" animBg="1"/>
      <p:bldP spid="305" grpId="1" animBg="1"/>
      <p:bldP spid="306" grpId="0" animBg="1"/>
      <p:bldP spid="306" grpId="1" animBg="1"/>
      <p:bldP spid="307" grpId="0" animBg="1"/>
      <p:bldP spid="307" grpId="1" animBg="1"/>
      <p:bldP spid="308" grpId="0" animBg="1"/>
      <p:bldP spid="308" grpId="1" animBg="1"/>
      <p:bldP spid="309" grpId="0" animBg="1"/>
      <p:bldP spid="309" grpId="1" animBg="1"/>
      <p:bldP spid="310" grpId="0" animBg="1"/>
      <p:bldP spid="310" grpId="1" animBg="1"/>
      <p:bldP spid="311" grpId="0" animBg="1"/>
      <p:bldP spid="311" grpId="1" animBg="1"/>
      <p:bldP spid="312" grpId="0" animBg="1"/>
      <p:bldP spid="312" grpId="1" animBg="1"/>
      <p:bldP spid="313" grpId="0" animBg="1"/>
      <p:bldP spid="313" grpId="1" animBg="1"/>
      <p:bldP spid="314" grpId="0" animBg="1"/>
      <p:bldP spid="314" grpId="1" animBg="1"/>
      <p:bldP spid="315" grpId="0" animBg="1"/>
      <p:bldP spid="315" grpId="1" animBg="1"/>
      <p:bldP spid="316" grpId="0" animBg="1"/>
      <p:bldP spid="31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/>
        </p:nvGraphicFramePr>
        <p:xfrm>
          <a:off x="4096385" y="242062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2872740" y="299656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5393055" y="299656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1" name="直接箭头连接符 10"/>
          <p:cNvCxnSpPr>
            <a:stCxn id="3" idx="3"/>
          </p:cNvCxnSpPr>
          <p:nvPr/>
        </p:nvCxnSpPr>
        <p:spPr>
          <a:xfrm>
            <a:off x="4792345" y="2557780"/>
            <a:ext cx="2040255" cy="698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graphicFrame>
        <p:nvGraphicFramePr>
          <p:cNvPr id="13" name="表格 12"/>
          <p:cNvGraphicFramePr/>
          <p:nvPr/>
        </p:nvGraphicFramePr>
        <p:xfrm>
          <a:off x="3780155" y="2034540"/>
          <a:ext cx="1012190" cy="372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095"/>
                <a:gridCol w="506095"/>
              </a:tblGrid>
              <a:tr h="372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承重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价值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5" name="直接箭头连接符 14"/>
          <p:cNvCxnSpPr>
            <a:stCxn id="3" idx="2"/>
            <a:endCxn id="6" idx="0"/>
          </p:cNvCxnSpPr>
          <p:nvPr/>
        </p:nvCxnSpPr>
        <p:spPr>
          <a:xfrm flipH="1">
            <a:off x="3220720" y="2694940"/>
            <a:ext cx="1223645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6" name="直接箭头连接符 15"/>
          <p:cNvCxnSpPr>
            <a:stCxn id="3" idx="2"/>
            <a:endCxn id="7" idx="0"/>
          </p:cNvCxnSpPr>
          <p:nvPr/>
        </p:nvCxnSpPr>
        <p:spPr>
          <a:xfrm>
            <a:off x="4444365" y="2694940"/>
            <a:ext cx="1296670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18" name="表格 17"/>
          <p:cNvGraphicFramePr/>
          <p:nvPr>
            <p:custDataLst>
              <p:tags r:id="rId1"/>
            </p:custDataLst>
          </p:nvPr>
        </p:nvGraphicFramePr>
        <p:xfrm>
          <a:off x="251460" y="1018540"/>
          <a:ext cx="2188845" cy="1978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615"/>
                <a:gridCol w="729615"/>
                <a:gridCol w="729615"/>
              </a:tblGrid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物品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ea typeface="宋体" panose="02010600030101010101" pitchFamily="2" charset="-122"/>
                        </a:rPr>
                        <a:t>重量</a:t>
                      </a:r>
                      <a:endParaRPr lang="zh-CN" altLang="en-US" sz="14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ea typeface="宋体" panose="02010600030101010101" pitchFamily="2" charset="-122"/>
                        </a:rPr>
                        <a:t>价值</a:t>
                      </a:r>
                      <a:endParaRPr lang="zh-CN" altLang="en-US" sz="14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5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/>
        </p:nvGraphicFramePr>
        <p:xfrm>
          <a:off x="2176780" y="358648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/>
        </p:nvGraphicFramePr>
        <p:xfrm>
          <a:off x="3521075" y="358648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3" name="直接箭头连接符 22"/>
          <p:cNvCxnSpPr>
            <a:stCxn id="6" idx="2"/>
            <a:endCxn id="19" idx="0"/>
          </p:cNvCxnSpPr>
          <p:nvPr/>
        </p:nvCxnSpPr>
        <p:spPr>
          <a:xfrm flipH="1">
            <a:off x="2524760" y="3270885"/>
            <a:ext cx="69596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6" name="直接箭头连接符 25"/>
          <p:cNvCxnSpPr>
            <a:stCxn id="6" idx="2"/>
            <a:endCxn id="22" idx="0"/>
          </p:cNvCxnSpPr>
          <p:nvPr/>
        </p:nvCxnSpPr>
        <p:spPr>
          <a:xfrm>
            <a:off x="3220720" y="3270885"/>
            <a:ext cx="64833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8" name="直接箭头连接符 47"/>
          <p:cNvCxnSpPr/>
          <p:nvPr/>
        </p:nvCxnSpPr>
        <p:spPr>
          <a:xfrm flipV="1">
            <a:off x="6468745" y="3068955"/>
            <a:ext cx="74422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49" name="文本框 48"/>
          <p:cNvSpPr txBox="1"/>
          <p:nvPr/>
        </p:nvSpPr>
        <p:spPr>
          <a:xfrm>
            <a:off x="7144385" y="2924810"/>
            <a:ext cx="16059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1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767830" y="2407920"/>
            <a:ext cx="1341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初始状态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graphicFrame>
        <p:nvGraphicFramePr>
          <p:cNvPr id="60" name="表格 59"/>
          <p:cNvGraphicFramePr/>
          <p:nvPr/>
        </p:nvGraphicFramePr>
        <p:xfrm>
          <a:off x="5134610" y="357251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/>
          <p:nvPr/>
        </p:nvGraphicFramePr>
        <p:xfrm>
          <a:off x="6478905" y="358648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2" name="直接箭头连接符 61"/>
          <p:cNvCxnSpPr>
            <a:stCxn id="7" idx="2"/>
            <a:endCxn id="60" idx="0"/>
          </p:cNvCxnSpPr>
          <p:nvPr/>
        </p:nvCxnSpPr>
        <p:spPr>
          <a:xfrm flipH="1">
            <a:off x="5482590" y="3270885"/>
            <a:ext cx="258445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3" name="直接箭头连接符 62"/>
          <p:cNvCxnSpPr>
            <a:stCxn id="7" idx="2"/>
            <a:endCxn id="61" idx="0"/>
          </p:cNvCxnSpPr>
          <p:nvPr/>
        </p:nvCxnSpPr>
        <p:spPr>
          <a:xfrm>
            <a:off x="5741035" y="3270885"/>
            <a:ext cx="108585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67" name="右大括号 66"/>
          <p:cNvSpPr/>
          <p:nvPr/>
        </p:nvSpPr>
        <p:spPr>
          <a:xfrm>
            <a:off x="6257290" y="2813685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graphicFrame>
        <p:nvGraphicFramePr>
          <p:cNvPr id="68" name="表格 67"/>
          <p:cNvGraphicFramePr/>
          <p:nvPr/>
        </p:nvGraphicFramePr>
        <p:xfrm>
          <a:off x="1200150" y="417639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10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9" name="表格 68"/>
          <p:cNvGraphicFramePr/>
          <p:nvPr/>
        </p:nvGraphicFramePr>
        <p:xfrm>
          <a:off x="2321560" y="417639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0" name="直接箭头连接符 69"/>
          <p:cNvCxnSpPr>
            <a:stCxn id="19" idx="2"/>
            <a:endCxn id="68" idx="0"/>
          </p:cNvCxnSpPr>
          <p:nvPr/>
        </p:nvCxnSpPr>
        <p:spPr>
          <a:xfrm flipH="1">
            <a:off x="1548130" y="3860800"/>
            <a:ext cx="97663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1" name="直接箭头连接符 70"/>
          <p:cNvCxnSpPr>
            <a:stCxn id="19" idx="2"/>
            <a:endCxn id="69" idx="0"/>
          </p:cNvCxnSpPr>
          <p:nvPr/>
        </p:nvCxnSpPr>
        <p:spPr>
          <a:xfrm>
            <a:off x="2524760" y="3860800"/>
            <a:ext cx="14478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72" name="表格 71"/>
          <p:cNvGraphicFramePr/>
          <p:nvPr/>
        </p:nvGraphicFramePr>
        <p:xfrm>
          <a:off x="3121660" y="417639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3" name="表格 72"/>
          <p:cNvGraphicFramePr/>
          <p:nvPr/>
        </p:nvGraphicFramePr>
        <p:xfrm>
          <a:off x="3913505" y="4176395"/>
          <a:ext cx="68707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4" name="直接箭头连接符 73"/>
          <p:cNvCxnSpPr>
            <a:stCxn id="22" idx="2"/>
            <a:endCxn id="72" idx="0"/>
          </p:cNvCxnSpPr>
          <p:nvPr/>
        </p:nvCxnSpPr>
        <p:spPr>
          <a:xfrm flipH="1">
            <a:off x="3469640" y="3860800"/>
            <a:ext cx="39941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5" name="直接箭头连接符 74"/>
          <p:cNvCxnSpPr>
            <a:stCxn id="22" idx="2"/>
            <a:endCxn id="73" idx="0"/>
          </p:cNvCxnSpPr>
          <p:nvPr/>
        </p:nvCxnSpPr>
        <p:spPr>
          <a:xfrm>
            <a:off x="3869055" y="3860800"/>
            <a:ext cx="38798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84" name="表格 83"/>
          <p:cNvGraphicFramePr/>
          <p:nvPr/>
        </p:nvGraphicFramePr>
        <p:xfrm>
          <a:off x="5045075" y="417639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5" name="表格 84"/>
          <p:cNvGraphicFramePr/>
          <p:nvPr/>
        </p:nvGraphicFramePr>
        <p:xfrm>
          <a:off x="5791835" y="4176395"/>
          <a:ext cx="68707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6" name="直接箭头连接符 85"/>
          <p:cNvCxnSpPr>
            <a:stCxn id="60" idx="2"/>
            <a:endCxn id="84" idx="0"/>
          </p:cNvCxnSpPr>
          <p:nvPr/>
        </p:nvCxnSpPr>
        <p:spPr>
          <a:xfrm flipH="1">
            <a:off x="5393055" y="3846830"/>
            <a:ext cx="89535" cy="329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4" name="直接箭头连接符 93"/>
          <p:cNvCxnSpPr>
            <a:stCxn id="60" idx="2"/>
            <a:endCxn id="85" idx="0"/>
          </p:cNvCxnSpPr>
          <p:nvPr/>
        </p:nvCxnSpPr>
        <p:spPr>
          <a:xfrm>
            <a:off x="5482590" y="3846830"/>
            <a:ext cx="652780" cy="329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197" name="表格 196"/>
          <p:cNvGraphicFramePr/>
          <p:nvPr/>
        </p:nvGraphicFramePr>
        <p:xfrm>
          <a:off x="6544945" y="417639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8" name="表格 197"/>
          <p:cNvGraphicFramePr/>
          <p:nvPr/>
        </p:nvGraphicFramePr>
        <p:xfrm>
          <a:off x="7520305" y="4176395"/>
          <a:ext cx="68707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99" name="直接箭头连接符 198"/>
          <p:cNvCxnSpPr>
            <a:stCxn id="61" idx="2"/>
            <a:endCxn id="197" idx="0"/>
          </p:cNvCxnSpPr>
          <p:nvPr/>
        </p:nvCxnSpPr>
        <p:spPr>
          <a:xfrm>
            <a:off x="6826885" y="3860800"/>
            <a:ext cx="6604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0" name="直接箭头连接符 199"/>
          <p:cNvCxnSpPr>
            <a:stCxn id="61" idx="2"/>
            <a:endCxn id="198" idx="0"/>
          </p:cNvCxnSpPr>
          <p:nvPr/>
        </p:nvCxnSpPr>
        <p:spPr>
          <a:xfrm>
            <a:off x="6826885" y="3860800"/>
            <a:ext cx="103695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3" name="直接箭头连接符 202"/>
          <p:cNvCxnSpPr>
            <a:stCxn id="68" idx="2"/>
            <a:endCxn id="219" idx="0"/>
          </p:cNvCxnSpPr>
          <p:nvPr/>
        </p:nvCxnSpPr>
        <p:spPr>
          <a:xfrm flipH="1">
            <a:off x="356235" y="4450715"/>
            <a:ext cx="1191895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4" name="直接箭头连接符 203"/>
          <p:cNvCxnSpPr>
            <a:stCxn id="68" idx="2"/>
            <a:endCxn id="220" idx="0"/>
          </p:cNvCxnSpPr>
          <p:nvPr/>
        </p:nvCxnSpPr>
        <p:spPr>
          <a:xfrm flipH="1">
            <a:off x="1004570" y="4450715"/>
            <a:ext cx="54356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7" name="直接箭头连接符 206"/>
          <p:cNvCxnSpPr>
            <a:stCxn id="69" idx="2"/>
            <a:endCxn id="216" idx="0"/>
          </p:cNvCxnSpPr>
          <p:nvPr/>
        </p:nvCxnSpPr>
        <p:spPr>
          <a:xfrm flipH="1">
            <a:off x="1689100" y="4450715"/>
            <a:ext cx="98044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8" name="直接箭头连接符 207"/>
          <p:cNvCxnSpPr>
            <a:stCxn id="69" idx="2"/>
            <a:endCxn id="218" idx="0"/>
          </p:cNvCxnSpPr>
          <p:nvPr/>
        </p:nvCxnSpPr>
        <p:spPr>
          <a:xfrm flipH="1">
            <a:off x="2328545" y="4450715"/>
            <a:ext cx="340995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10" name="表格 209"/>
          <p:cNvGraphicFramePr/>
          <p:nvPr/>
        </p:nvGraphicFramePr>
        <p:xfrm>
          <a:off x="3316605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11" name="直接箭头连接符 210"/>
          <p:cNvCxnSpPr>
            <a:stCxn id="72" idx="2"/>
            <a:endCxn id="213" idx="0"/>
          </p:cNvCxnSpPr>
          <p:nvPr/>
        </p:nvCxnSpPr>
        <p:spPr>
          <a:xfrm flipH="1">
            <a:off x="2976880" y="4450715"/>
            <a:ext cx="49276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12" name="直接箭头连接符 211"/>
          <p:cNvCxnSpPr>
            <a:stCxn id="72" idx="2"/>
            <a:endCxn id="210" idx="0"/>
          </p:cNvCxnSpPr>
          <p:nvPr/>
        </p:nvCxnSpPr>
        <p:spPr>
          <a:xfrm>
            <a:off x="3469640" y="4450715"/>
            <a:ext cx="139065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13" name="表格 212"/>
          <p:cNvGraphicFramePr/>
          <p:nvPr/>
        </p:nvGraphicFramePr>
        <p:xfrm>
          <a:off x="268478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6" name="表格 215"/>
          <p:cNvGraphicFramePr/>
          <p:nvPr/>
        </p:nvGraphicFramePr>
        <p:xfrm>
          <a:off x="139700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9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9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8" name="表格 217"/>
          <p:cNvGraphicFramePr/>
          <p:nvPr/>
        </p:nvGraphicFramePr>
        <p:xfrm>
          <a:off x="2036445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9" name="表格 218"/>
          <p:cNvGraphicFramePr/>
          <p:nvPr/>
        </p:nvGraphicFramePr>
        <p:xfrm>
          <a:off x="64135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12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0" name="表格 219"/>
          <p:cNvGraphicFramePr/>
          <p:nvPr/>
        </p:nvGraphicFramePr>
        <p:xfrm>
          <a:off x="71247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1" name="表格 220"/>
          <p:cNvGraphicFramePr/>
          <p:nvPr/>
        </p:nvGraphicFramePr>
        <p:xfrm>
          <a:off x="457962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22" name="直接箭头连接符 221"/>
          <p:cNvCxnSpPr>
            <a:stCxn id="73" idx="2"/>
            <a:endCxn id="224" idx="0"/>
          </p:cNvCxnSpPr>
          <p:nvPr/>
        </p:nvCxnSpPr>
        <p:spPr>
          <a:xfrm flipH="1">
            <a:off x="4231640" y="4450715"/>
            <a:ext cx="2540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23" name="直接箭头连接符 222"/>
          <p:cNvCxnSpPr>
            <a:stCxn id="73" idx="2"/>
            <a:endCxn id="221" idx="0"/>
          </p:cNvCxnSpPr>
          <p:nvPr/>
        </p:nvCxnSpPr>
        <p:spPr>
          <a:xfrm>
            <a:off x="4257040" y="4450715"/>
            <a:ext cx="61468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4" name="表格 223"/>
          <p:cNvGraphicFramePr/>
          <p:nvPr/>
        </p:nvGraphicFramePr>
        <p:xfrm>
          <a:off x="393954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5" name="表格 224"/>
          <p:cNvGraphicFramePr/>
          <p:nvPr/>
        </p:nvGraphicFramePr>
        <p:xfrm>
          <a:off x="583057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26" name="直接箭头连接符 225"/>
          <p:cNvCxnSpPr>
            <a:stCxn id="84" idx="2"/>
            <a:endCxn id="228" idx="0"/>
          </p:cNvCxnSpPr>
          <p:nvPr/>
        </p:nvCxnSpPr>
        <p:spPr>
          <a:xfrm>
            <a:off x="5393055" y="4450715"/>
            <a:ext cx="89535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27" name="直接箭头连接符 226"/>
          <p:cNvCxnSpPr>
            <a:endCxn id="225" idx="0"/>
          </p:cNvCxnSpPr>
          <p:nvPr/>
        </p:nvCxnSpPr>
        <p:spPr>
          <a:xfrm>
            <a:off x="5393055" y="4436745"/>
            <a:ext cx="729615" cy="4324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8" name="表格 227"/>
          <p:cNvGraphicFramePr/>
          <p:nvPr/>
        </p:nvGraphicFramePr>
        <p:xfrm>
          <a:off x="519049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0070C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rgbClr val="0070C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9" name="文本框 228"/>
          <p:cNvSpPr txBox="1"/>
          <p:nvPr/>
        </p:nvSpPr>
        <p:spPr>
          <a:xfrm>
            <a:off x="6750685" y="4646295"/>
            <a:ext cx="1708785" cy="576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30" name="直接箭头连接符 229"/>
          <p:cNvCxnSpPr/>
          <p:nvPr/>
        </p:nvCxnSpPr>
        <p:spPr>
          <a:xfrm flipV="1">
            <a:off x="7597775" y="3716655"/>
            <a:ext cx="31559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1" name="文本框 230"/>
          <p:cNvSpPr txBox="1"/>
          <p:nvPr/>
        </p:nvSpPr>
        <p:spPr>
          <a:xfrm>
            <a:off x="7885430" y="3571240"/>
            <a:ext cx="102743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2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2" name="右大括号 231"/>
          <p:cNvSpPr/>
          <p:nvPr/>
        </p:nvSpPr>
        <p:spPr>
          <a:xfrm>
            <a:off x="7386320" y="3475355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V="1">
            <a:off x="8418195" y="4292600"/>
            <a:ext cx="71120" cy="19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4" name="文本框 233"/>
          <p:cNvSpPr txBox="1"/>
          <p:nvPr/>
        </p:nvSpPr>
        <p:spPr>
          <a:xfrm>
            <a:off x="8489315" y="4099560"/>
            <a:ext cx="74993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3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5" name="右大括号 234"/>
          <p:cNvSpPr/>
          <p:nvPr/>
        </p:nvSpPr>
        <p:spPr>
          <a:xfrm>
            <a:off x="8206740" y="4053205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cxnSp>
        <p:nvCxnSpPr>
          <p:cNvPr id="236" name="直接箭头连接符 235"/>
          <p:cNvCxnSpPr/>
          <p:nvPr/>
        </p:nvCxnSpPr>
        <p:spPr>
          <a:xfrm flipV="1">
            <a:off x="8037830" y="4877435"/>
            <a:ext cx="71120" cy="19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7" name="文本框 236"/>
          <p:cNvSpPr txBox="1"/>
          <p:nvPr/>
        </p:nvSpPr>
        <p:spPr>
          <a:xfrm>
            <a:off x="8042910" y="4750435"/>
            <a:ext cx="1045845" cy="221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4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8" name="右大括号 237"/>
          <p:cNvSpPr/>
          <p:nvPr/>
        </p:nvSpPr>
        <p:spPr>
          <a:xfrm>
            <a:off x="7826375" y="4638040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pic>
        <p:nvPicPr>
          <p:cNvPr id="244" name="图片 243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65" y="3572510"/>
            <a:ext cx="371475" cy="379730"/>
          </a:xfrm>
          <a:prstGeom prst="rect">
            <a:avLst/>
          </a:prstGeom>
        </p:spPr>
      </p:pic>
      <p:pic>
        <p:nvPicPr>
          <p:cNvPr id="246" name="图片 245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575" y="4149090"/>
            <a:ext cx="371475" cy="379730"/>
          </a:xfrm>
          <a:prstGeom prst="rect">
            <a:avLst/>
          </a:prstGeom>
        </p:spPr>
      </p:pic>
      <p:sp>
        <p:nvSpPr>
          <p:cNvPr id="247" name="文本框 246"/>
          <p:cNvSpPr txBox="1"/>
          <p:nvPr/>
        </p:nvSpPr>
        <p:spPr>
          <a:xfrm>
            <a:off x="179705" y="5445125"/>
            <a:ext cx="5042535" cy="282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对于左分支，如果超出背包容量，可以剪枝。</a:t>
            </a:r>
            <a:endParaRPr lang="zh-CN" altLang="en-US"/>
          </a:p>
        </p:txBody>
      </p:sp>
      <p:sp>
        <p:nvSpPr>
          <p:cNvPr id="248" name="文本框 247"/>
          <p:cNvSpPr txBox="1"/>
          <p:nvPr/>
        </p:nvSpPr>
        <p:spPr>
          <a:xfrm>
            <a:off x="243205" y="5949315"/>
            <a:ext cx="8669655" cy="403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对于右分支，考虑最优的情况，仍然小于已发现的可行解，则可以继续剪枝。</a:t>
            </a:r>
            <a:endParaRPr lang="zh-CN" altLang="en-US"/>
          </a:p>
        </p:txBody>
      </p:sp>
      <p:pic>
        <p:nvPicPr>
          <p:cNvPr id="249" name="图片 248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4177665"/>
            <a:ext cx="371475" cy="379730"/>
          </a:xfrm>
          <a:prstGeom prst="rect">
            <a:avLst/>
          </a:prstGeom>
        </p:spPr>
      </p:pic>
      <p:pic>
        <p:nvPicPr>
          <p:cNvPr id="250" name="图片 249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920" y="3554730"/>
            <a:ext cx="371475" cy="379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4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7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77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80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83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86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89"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92" dur="2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95" dur="2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98" dur="2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01" dur="2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04" dur="2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07" dur="2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10" dur="2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6" dur="2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4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20" dur="2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23" dur="2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26" dur="2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29" dur="2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32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8" dur="2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4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48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4" dur="2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4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58" dur="2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61" dur="2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64" dur="2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67" dur="2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4" presetClass="exit" presetSubtype="3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70" dur="2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4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73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9"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1"/>
      <p:bldP spid="49" grpId="2"/>
      <p:bldP spid="59" grpId="1"/>
      <p:bldP spid="59" grpId="2"/>
      <p:bldP spid="67" grpId="1" animBg="1"/>
      <p:bldP spid="67" grpId="2" animBg="1"/>
      <p:bldP spid="229" grpId="1"/>
      <p:bldP spid="229" grpId="2"/>
      <p:bldP spid="229" grpId="4"/>
      <p:bldP spid="231" grpId="1"/>
      <p:bldP spid="231" grpId="2"/>
      <p:bldP spid="232" grpId="1" animBg="1"/>
      <p:bldP spid="232" grpId="2" animBg="1"/>
      <p:bldP spid="234" grpId="1"/>
      <p:bldP spid="234" grpId="2"/>
      <p:bldP spid="235" grpId="1" animBg="1"/>
      <p:bldP spid="235" grpId="2" animBg="1"/>
      <p:bldP spid="237" grpId="1"/>
      <p:bldP spid="237" grpId="2"/>
      <p:bldP spid="238" grpId="1" animBg="1"/>
      <p:bldP spid="238" grpId="2" animBg="1"/>
      <p:bldP spid="247" grpId="0"/>
      <p:bldP spid="2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/>
        </p:nvGraphicFramePr>
        <p:xfrm>
          <a:off x="4133850" y="151066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2910205" y="208661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5430520" y="208661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1" name="直接箭头连接符 10"/>
          <p:cNvCxnSpPr>
            <a:stCxn id="3" idx="3"/>
          </p:cNvCxnSpPr>
          <p:nvPr/>
        </p:nvCxnSpPr>
        <p:spPr>
          <a:xfrm>
            <a:off x="4829810" y="1647825"/>
            <a:ext cx="2040255" cy="698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graphicFrame>
        <p:nvGraphicFramePr>
          <p:cNvPr id="13" name="表格 12"/>
          <p:cNvGraphicFramePr/>
          <p:nvPr/>
        </p:nvGraphicFramePr>
        <p:xfrm>
          <a:off x="3817620" y="1124585"/>
          <a:ext cx="1012190" cy="372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095"/>
                <a:gridCol w="506095"/>
              </a:tblGrid>
              <a:tr h="372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承重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价值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5" name="直接箭头连接符 14"/>
          <p:cNvCxnSpPr>
            <a:stCxn id="3" idx="2"/>
            <a:endCxn id="6" idx="0"/>
          </p:cNvCxnSpPr>
          <p:nvPr/>
        </p:nvCxnSpPr>
        <p:spPr>
          <a:xfrm flipH="1">
            <a:off x="3258185" y="1784985"/>
            <a:ext cx="1223645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6" name="直接箭头连接符 15"/>
          <p:cNvCxnSpPr>
            <a:stCxn id="3" idx="2"/>
            <a:endCxn id="7" idx="0"/>
          </p:cNvCxnSpPr>
          <p:nvPr/>
        </p:nvCxnSpPr>
        <p:spPr>
          <a:xfrm>
            <a:off x="4481830" y="1784985"/>
            <a:ext cx="1296670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19" name="表格 18"/>
          <p:cNvGraphicFramePr/>
          <p:nvPr/>
        </p:nvGraphicFramePr>
        <p:xfrm>
          <a:off x="2214245" y="267652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/>
        </p:nvGraphicFramePr>
        <p:xfrm>
          <a:off x="3558540" y="267652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3" name="直接箭头连接符 22"/>
          <p:cNvCxnSpPr>
            <a:stCxn id="6" idx="2"/>
            <a:endCxn id="19" idx="0"/>
          </p:cNvCxnSpPr>
          <p:nvPr/>
        </p:nvCxnSpPr>
        <p:spPr>
          <a:xfrm flipH="1">
            <a:off x="2562225" y="2360930"/>
            <a:ext cx="69596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6" name="直接箭头连接符 25"/>
          <p:cNvCxnSpPr>
            <a:stCxn id="6" idx="2"/>
            <a:endCxn id="22" idx="0"/>
          </p:cNvCxnSpPr>
          <p:nvPr/>
        </p:nvCxnSpPr>
        <p:spPr>
          <a:xfrm>
            <a:off x="3258185" y="2360930"/>
            <a:ext cx="64833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8" name="直接箭头连接符 47"/>
          <p:cNvCxnSpPr/>
          <p:nvPr/>
        </p:nvCxnSpPr>
        <p:spPr>
          <a:xfrm flipV="1">
            <a:off x="6506210" y="2159000"/>
            <a:ext cx="74422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49" name="文本框 48"/>
          <p:cNvSpPr txBox="1"/>
          <p:nvPr/>
        </p:nvSpPr>
        <p:spPr>
          <a:xfrm>
            <a:off x="7181850" y="2014855"/>
            <a:ext cx="16059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1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805295" y="1497965"/>
            <a:ext cx="1341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初始状态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graphicFrame>
        <p:nvGraphicFramePr>
          <p:cNvPr id="60" name="表格 59"/>
          <p:cNvGraphicFramePr/>
          <p:nvPr/>
        </p:nvGraphicFramePr>
        <p:xfrm>
          <a:off x="5172075" y="266255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/>
          <p:nvPr/>
        </p:nvGraphicFramePr>
        <p:xfrm>
          <a:off x="6516370" y="267652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2" name="直接箭头连接符 61"/>
          <p:cNvCxnSpPr>
            <a:stCxn id="7" idx="2"/>
            <a:endCxn id="60" idx="0"/>
          </p:cNvCxnSpPr>
          <p:nvPr/>
        </p:nvCxnSpPr>
        <p:spPr>
          <a:xfrm flipH="1">
            <a:off x="5520055" y="2360930"/>
            <a:ext cx="258445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3" name="直接箭头连接符 62"/>
          <p:cNvCxnSpPr>
            <a:stCxn id="7" idx="2"/>
            <a:endCxn id="61" idx="0"/>
          </p:cNvCxnSpPr>
          <p:nvPr/>
        </p:nvCxnSpPr>
        <p:spPr>
          <a:xfrm>
            <a:off x="5778500" y="2360930"/>
            <a:ext cx="108585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67" name="右大括号 66"/>
          <p:cNvSpPr/>
          <p:nvPr/>
        </p:nvSpPr>
        <p:spPr>
          <a:xfrm>
            <a:off x="6294755" y="1903730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graphicFrame>
        <p:nvGraphicFramePr>
          <p:cNvPr id="68" name="表格 67"/>
          <p:cNvGraphicFramePr/>
          <p:nvPr/>
        </p:nvGraphicFramePr>
        <p:xfrm>
          <a:off x="1237615" y="326644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10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9" name="表格 68"/>
          <p:cNvGraphicFramePr/>
          <p:nvPr/>
        </p:nvGraphicFramePr>
        <p:xfrm>
          <a:off x="2359025" y="326644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0" name="直接箭头连接符 69"/>
          <p:cNvCxnSpPr>
            <a:stCxn id="19" idx="2"/>
            <a:endCxn id="68" idx="0"/>
          </p:cNvCxnSpPr>
          <p:nvPr/>
        </p:nvCxnSpPr>
        <p:spPr>
          <a:xfrm flipH="1">
            <a:off x="1585595" y="2950845"/>
            <a:ext cx="97663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1" name="直接箭头连接符 70"/>
          <p:cNvCxnSpPr>
            <a:stCxn id="19" idx="2"/>
            <a:endCxn id="69" idx="0"/>
          </p:cNvCxnSpPr>
          <p:nvPr/>
        </p:nvCxnSpPr>
        <p:spPr>
          <a:xfrm>
            <a:off x="2562225" y="2950845"/>
            <a:ext cx="14478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72" name="表格 71"/>
          <p:cNvGraphicFramePr/>
          <p:nvPr/>
        </p:nvGraphicFramePr>
        <p:xfrm>
          <a:off x="3159125" y="326644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3" name="表格 72"/>
          <p:cNvGraphicFramePr/>
          <p:nvPr/>
        </p:nvGraphicFramePr>
        <p:xfrm>
          <a:off x="3950970" y="3266440"/>
          <a:ext cx="68707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4" name="直接箭头连接符 73"/>
          <p:cNvCxnSpPr>
            <a:stCxn id="22" idx="2"/>
            <a:endCxn id="72" idx="0"/>
          </p:cNvCxnSpPr>
          <p:nvPr/>
        </p:nvCxnSpPr>
        <p:spPr>
          <a:xfrm flipH="1">
            <a:off x="3507105" y="2950845"/>
            <a:ext cx="39941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5" name="直接箭头连接符 74"/>
          <p:cNvCxnSpPr>
            <a:stCxn id="22" idx="2"/>
            <a:endCxn id="73" idx="0"/>
          </p:cNvCxnSpPr>
          <p:nvPr/>
        </p:nvCxnSpPr>
        <p:spPr>
          <a:xfrm>
            <a:off x="3906520" y="2950845"/>
            <a:ext cx="38798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84" name="表格 83"/>
          <p:cNvGraphicFramePr/>
          <p:nvPr/>
        </p:nvGraphicFramePr>
        <p:xfrm>
          <a:off x="5082540" y="326644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5" name="表格 84"/>
          <p:cNvGraphicFramePr/>
          <p:nvPr/>
        </p:nvGraphicFramePr>
        <p:xfrm>
          <a:off x="5829300" y="3266440"/>
          <a:ext cx="68707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6" name="直接箭头连接符 85"/>
          <p:cNvCxnSpPr>
            <a:stCxn id="60" idx="2"/>
            <a:endCxn id="84" idx="0"/>
          </p:cNvCxnSpPr>
          <p:nvPr/>
        </p:nvCxnSpPr>
        <p:spPr>
          <a:xfrm flipH="1">
            <a:off x="5430520" y="2936875"/>
            <a:ext cx="89535" cy="329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4" name="直接箭头连接符 93"/>
          <p:cNvCxnSpPr>
            <a:stCxn id="60" idx="2"/>
            <a:endCxn id="85" idx="0"/>
          </p:cNvCxnSpPr>
          <p:nvPr/>
        </p:nvCxnSpPr>
        <p:spPr>
          <a:xfrm>
            <a:off x="5520055" y="2936875"/>
            <a:ext cx="652780" cy="329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197" name="表格 196"/>
          <p:cNvGraphicFramePr/>
          <p:nvPr/>
        </p:nvGraphicFramePr>
        <p:xfrm>
          <a:off x="6582410" y="326644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8" name="表格 197"/>
          <p:cNvGraphicFramePr/>
          <p:nvPr/>
        </p:nvGraphicFramePr>
        <p:xfrm>
          <a:off x="7557770" y="3266440"/>
          <a:ext cx="68707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99" name="直接箭头连接符 198"/>
          <p:cNvCxnSpPr>
            <a:stCxn id="61" idx="2"/>
            <a:endCxn id="197" idx="0"/>
          </p:cNvCxnSpPr>
          <p:nvPr/>
        </p:nvCxnSpPr>
        <p:spPr>
          <a:xfrm>
            <a:off x="6864350" y="2950845"/>
            <a:ext cx="6604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0" name="直接箭头连接符 199"/>
          <p:cNvCxnSpPr>
            <a:stCxn id="61" idx="2"/>
            <a:endCxn id="198" idx="0"/>
          </p:cNvCxnSpPr>
          <p:nvPr/>
        </p:nvCxnSpPr>
        <p:spPr>
          <a:xfrm>
            <a:off x="6864350" y="2950845"/>
            <a:ext cx="103695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3" name="直接箭头连接符 202"/>
          <p:cNvCxnSpPr>
            <a:stCxn id="68" idx="2"/>
            <a:endCxn id="219" idx="0"/>
          </p:cNvCxnSpPr>
          <p:nvPr/>
        </p:nvCxnSpPr>
        <p:spPr>
          <a:xfrm flipH="1">
            <a:off x="393700" y="3540760"/>
            <a:ext cx="1191895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4" name="直接箭头连接符 203"/>
          <p:cNvCxnSpPr>
            <a:stCxn id="68" idx="2"/>
            <a:endCxn id="220" idx="0"/>
          </p:cNvCxnSpPr>
          <p:nvPr/>
        </p:nvCxnSpPr>
        <p:spPr>
          <a:xfrm flipH="1">
            <a:off x="1042035" y="3540760"/>
            <a:ext cx="54356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7" name="直接箭头连接符 206"/>
          <p:cNvCxnSpPr>
            <a:stCxn id="69" idx="2"/>
            <a:endCxn id="216" idx="0"/>
          </p:cNvCxnSpPr>
          <p:nvPr/>
        </p:nvCxnSpPr>
        <p:spPr>
          <a:xfrm flipH="1">
            <a:off x="1726565" y="3540760"/>
            <a:ext cx="98044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8" name="直接箭头连接符 207"/>
          <p:cNvCxnSpPr>
            <a:stCxn id="69" idx="2"/>
            <a:endCxn id="218" idx="0"/>
          </p:cNvCxnSpPr>
          <p:nvPr/>
        </p:nvCxnSpPr>
        <p:spPr>
          <a:xfrm flipH="1">
            <a:off x="2366010" y="3540760"/>
            <a:ext cx="340995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10" name="表格 209"/>
          <p:cNvGraphicFramePr/>
          <p:nvPr/>
        </p:nvGraphicFramePr>
        <p:xfrm>
          <a:off x="3354070" y="3959225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11" name="直接箭头连接符 210"/>
          <p:cNvCxnSpPr>
            <a:stCxn id="72" idx="2"/>
            <a:endCxn id="213" idx="0"/>
          </p:cNvCxnSpPr>
          <p:nvPr/>
        </p:nvCxnSpPr>
        <p:spPr>
          <a:xfrm flipH="1">
            <a:off x="3014345" y="3540760"/>
            <a:ext cx="49276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12" name="直接箭头连接符 211"/>
          <p:cNvCxnSpPr>
            <a:stCxn id="72" idx="2"/>
            <a:endCxn id="210" idx="0"/>
          </p:cNvCxnSpPr>
          <p:nvPr/>
        </p:nvCxnSpPr>
        <p:spPr>
          <a:xfrm>
            <a:off x="3507105" y="3540760"/>
            <a:ext cx="139065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13" name="表格 212"/>
          <p:cNvGraphicFramePr/>
          <p:nvPr/>
        </p:nvGraphicFramePr>
        <p:xfrm>
          <a:off x="2722245" y="3959225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6" name="表格 215"/>
          <p:cNvGraphicFramePr/>
          <p:nvPr/>
        </p:nvGraphicFramePr>
        <p:xfrm>
          <a:off x="1434465" y="3959225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9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9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8" name="表格 217"/>
          <p:cNvGraphicFramePr/>
          <p:nvPr/>
        </p:nvGraphicFramePr>
        <p:xfrm>
          <a:off x="2073910" y="3959225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9" name="表格 218"/>
          <p:cNvGraphicFramePr/>
          <p:nvPr/>
        </p:nvGraphicFramePr>
        <p:xfrm>
          <a:off x="101600" y="3959225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12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0" name="表格 219"/>
          <p:cNvGraphicFramePr/>
          <p:nvPr/>
        </p:nvGraphicFramePr>
        <p:xfrm>
          <a:off x="749935" y="3959225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1" name="表格 220"/>
          <p:cNvGraphicFramePr/>
          <p:nvPr/>
        </p:nvGraphicFramePr>
        <p:xfrm>
          <a:off x="4617085" y="3959225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22" name="直接箭头连接符 221"/>
          <p:cNvCxnSpPr>
            <a:stCxn id="73" idx="2"/>
            <a:endCxn id="224" idx="0"/>
          </p:cNvCxnSpPr>
          <p:nvPr/>
        </p:nvCxnSpPr>
        <p:spPr>
          <a:xfrm flipH="1">
            <a:off x="4269105" y="3540760"/>
            <a:ext cx="2540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23" name="直接箭头连接符 222"/>
          <p:cNvCxnSpPr>
            <a:stCxn id="73" idx="2"/>
            <a:endCxn id="221" idx="0"/>
          </p:cNvCxnSpPr>
          <p:nvPr/>
        </p:nvCxnSpPr>
        <p:spPr>
          <a:xfrm>
            <a:off x="4294505" y="3540760"/>
            <a:ext cx="61468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4" name="表格 223"/>
          <p:cNvGraphicFramePr/>
          <p:nvPr/>
        </p:nvGraphicFramePr>
        <p:xfrm>
          <a:off x="3977005" y="3959225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5" name="表格 224"/>
          <p:cNvGraphicFramePr/>
          <p:nvPr/>
        </p:nvGraphicFramePr>
        <p:xfrm>
          <a:off x="5868035" y="3959225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26" name="直接箭头连接符 225"/>
          <p:cNvCxnSpPr>
            <a:stCxn id="84" idx="2"/>
            <a:endCxn id="228" idx="0"/>
          </p:cNvCxnSpPr>
          <p:nvPr/>
        </p:nvCxnSpPr>
        <p:spPr>
          <a:xfrm>
            <a:off x="5430520" y="3540760"/>
            <a:ext cx="89535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27" name="直接箭头连接符 226"/>
          <p:cNvCxnSpPr>
            <a:endCxn id="225" idx="0"/>
          </p:cNvCxnSpPr>
          <p:nvPr/>
        </p:nvCxnSpPr>
        <p:spPr>
          <a:xfrm>
            <a:off x="5430520" y="3526790"/>
            <a:ext cx="729615" cy="4324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8" name="表格 227"/>
          <p:cNvGraphicFramePr/>
          <p:nvPr/>
        </p:nvGraphicFramePr>
        <p:xfrm>
          <a:off x="5227955" y="3959225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0070C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rgbClr val="0070C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9" name="文本框 228"/>
          <p:cNvSpPr txBox="1"/>
          <p:nvPr/>
        </p:nvSpPr>
        <p:spPr>
          <a:xfrm>
            <a:off x="6788150" y="3736340"/>
            <a:ext cx="1708785" cy="576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30" name="直接箭头连接符 229"/>
          <p:cNvCxnSpPr/>
          <p:nvPr/>
        </p:nvCxnSpPr>
        <p:spPr>
          <a:xfrm flipV="1">
            <a:off x="7635240" y="2806700"/>
            <a:ext cx="31559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1" name="文本框 230"/>
          <p:cNvSpPr txBox="1"/>
          <p:nvPr/>
        </p:nvSpPr>
        <p:spPr>
          <a:xfrm>
            <a:off x="7922895" y="2661285"/>
            <a:ext cx="102743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2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2" name="右大括号 231"/>
          <p:cNvSpPr/>
          <p:nvPr/>
        </p:nvSpPr>
        <p:spPr>
          <a:xfrm>
            <a:off x="7423785" y="2565400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V="1">
            <a:off x="8455660" y="3382645"/>
            <a:ext cx="71120" cy="19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4" name="文本框 233"/>
          <p:cNvSpPr txBox="1"/>
          <p:nvPr/>
        </p:nvSpPr>
        <p:spPr>
          <a:xfrm>
            <a:off x="8526780" y="3189605"/>
            <a:ext cx="74993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3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5" name="右大括号 234"/>
          <p:cNvSpPr/>
          <p:nvPr/>
        </p:nvSpPr>
        <p:spPr>
          <a:xfrm>
            <a:off x="8244205" y="3143250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cxnSp>
        <p:nvCxnSpPr>
          <p:cNvPr id="236" name="直接箭头连接符 235"/>
          <p:cNvCxnSpPr/>
          <p:nvPr/>
        </p:nvCxnSpPr>
        <p:spPr>
          <a:xfrm flipV="1">
            <a:off x="8075295" y="3967480"/>
            <a:ext cx="71120" cy="19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7" name="文本框 236"/>
          <p:cNvSpPr txBox="1"/>
          <p:nvPr/>
        </p:nvSpPr>
        <p:spPr>
          <a:xfrm>
            <a:off x="8080375" y="3840480"/>
            <a:ext cx="1045845" cy="221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4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8" name="右大括号 237"/>
          <p:cNvSpPr/>
          <p:nvPr/>
        </p:nvSpPr>
        <p:spPr>
          <a:xfrm>
            <a:off x="7863840" y="3728085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323850" y="5012690"/>
            <a:ext cx="7626985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800"/>
              <a:t>回溯算法若探索该节点之后，需要层层回退，再去探索其他分支；</a:t>
            </a:r>
            <a:endParaRPr lang="en-US" altLang="zh-CN" sz="1800"/>
          </a:p>
        </p:txBody>
      </p:sp>
      <p:sp>
        <p:nvSpPr>
          <p:cNvPr id="248" name="文本框 247"/>
          <p:cNvSpPr txBox="1"/>
          <p:nvPr/>
        </p:nvSpPr>
        <p:spPr>
          <a:xfrm>
            <a:off x="323850" y="5445125"/>
            <a:ext cx="8669655" cy="403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800"/>
              <a:t>而且需要从可行解中对比筛选最优解；</a:t>
            </a:r>
            <a:endParaRPr lang="zh-CN" altLang="en-US" sz="1800"/>
          </a:p>
        </p:txBody>
      </p:sp>
      <p:cxnSp>
        <p:nvCxnSpPr>
          <p:cNvPr id="2" name="直接箭头连接符 1"/>
          <p:cNvCxnSpPr/>
          <p:nvPr/>
        </p:nvCxnSpPr>
        <p:spPr>
          <a:xfrm flipV="1">
            <a:off x="3305810" y="2996565"/>
            <a:ext cx="233680" cy="22542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" name="直接箭头连接符 3"/>
          <p:cNvCxnSpPr/>
          <p:nvPr/>
        </p:nvCxnSpPr>
        <p:spPr>
          <a:xfrm flipH="1" flipV="1">
            <a:off x="3623945" y="2360930"/>
            <a:ext cx="231140" cy="16891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5" name="直接箭头连接符 4"/>
          <p:cNvCxnSpPr/>
          <p:nvPr/>
        </p:nvCxnSpPr>
        <p:spPr>
          <a:xfrm flipV="1">
            <a:off x="3636010" y="1905635"/>
            <a:ext cx="657225" cy="17970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4558030" y="1879600"/>
            <a:ext cx="734060" cy="18097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" name="直接箭头连接符 8"/>
          <p:cNvCxnSpPr/>
          <p:nvPr/>
        </p:nvCxnSpPr>
        <p:spPr>
          <a:xfrm flipH="1">
            <a:off x="5508625" y="2395855"/>
            <a:ext cx="143510" cy="14414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2" name="文本框 11"/>
          <p:cNvSpPr txBox="1"/>
          <p:nvPr/>
        </p:nvSpPr>
        <p:spPr>
          <a:xfrm>
            <a:off x="323850" y="5975350"/>
            <a:ext cx="8669655" cy="682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能否找到找到一个方法，对每个分支节点做标记，当一个分支不可行直接跳到另外一个分支节点，只探索最有可能产生最优解的分支。</a:t>
            </a:r>
            <a:endParaRPr lang="zh-CN" altLang="en-US" sz="1800">
              <a:solidFill>
                <a:srgbClr val="FF0000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082925" y="3088640"/>
            <a:ext cx="823595" cy="6477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cxnSp>
        <p:nvCxnSpPr>
          <p:cNvPr id="17" name="直接箭头连接符 16"/>
          <p:cNvCxnSpPr>
            <a:stCxn id="14" idx="6"/>
            <a:endCxn id="20" idx="2"/>
          </p:cNvCxnSpPr>
          <p:nvPr/>
        </p:nvCxnSpPr>
        <p:spPr>
          <a:xfrm flipV="1">
            <a:off x="3906520" y="2819400"/>
            <a:ext cx="1176020" cy="59309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arrow" w="med" len="med"/>
          </a:ln>
        </p:spPr>
      </p:cxnSp>
      <p:sp>
        <p:nvSpPr>
          <p:cNvPr id="20" name="椭圆 19"/>
          <p:cNvSpPr/>
          <p:nvPr/>
        </p:nvSpPr>
        <p:spPr>
          <a:xfrm>
            <a:off x="5082540" y="2495550"/>
            <a:ext cx="900430" cy="6477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1"/>
      <p:bldP spid="59" grpId="1"/>
      <p:bldP spid="67" grpId="1" animBg="1"/>
      <p:bldP spid="229" grpId="1"/>
      <p:bldP spid="231" grpId="1"/>
      <p:bldP spid="232" grpId="1" animBg="1"/>
      <p:bldP spid="234" grpId="1"/>
      <p:bldP spid="235" grpId="1" animBg="1"/>
      <p:bldP spid="237" grpId="1"/>
      <p:bldP spid="238" grpId="1" animBg="1"/>
      <p:bldP spid="14" grpId="0" animBg="1"/>
      <p:bldP spid="14" grpId="1" animBg="1"/>
      <p:bldP spid="20" grpId="0" animBg="1"/>
      <p:bldP spid="2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443663" y="6370638"/>
            <a:ext cx="24447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1800">
                <a:solidFill>
                  <a:schemeClr val="bg2">
                    <a:lumMod val="25000"/>
                    <a:lumOff val="75000"/>
                  </a:schemeClr>
                </a:solidFill>
              </a:rPr>
              <a:t>17</a:t>
            </a:r>
            <a:endParaRPr lang="en-US" altLang="zh-CN" sz="180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9795" y="1282700"/>
            <a:ext cx="330644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>
                <a:solidFill>
                  <a:srgbClr val="FF0000"/>
                </a:solidFill>
              </a:rPr>
              <a:t>学习目标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75740" y="1844675"/>
            <a:ext cx="6593205" cy="2621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重点：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charset="0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     1.</a:t>
            </a:r>
            <a:r>
              <a:rPr lang="zh-CN" altLang="en-US" sz="2400">
                <a:uFillTx/>
                <a:latin typeface="Times New Roman" panose="02020603050405020304" charset="0"/>
                <a:sym typeface="+mn-ea"/>
              </a:rPr>
              <a:t>理解分支限界法的思想</a:t>
            </a:r>
            <a:endParaRPr lang="zh-CN" altLang="en-US" sz="2400">
              <a:uFillTx/>
              <a:latin typeface="Times New Roman" panose="02020603050405020304" charset="0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     2.</a:t>
            </a:r>
            <a:r>
              <a:rPr lang="zh-CN" altLang="en-US" sz="2400">
                <a:uFillTx/>
                <a:latin typeface="Times New Roman" panose="02020603050405020304" charset="0"/>
                <a:sym typeface="+mn-ea"/>
              </a:rPr>
              <a:t>理解分支限界法实现的模板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charset="0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     3.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理解分支限界算法与回溯算法区别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难点：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charset="0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   </a:t>
            </a:r>
            <a:r>
              <a:rPr lang="en-US" altLang="zh-CN" sz="2400">
                <a:solidFill>
                  <a:srgbClr val="FF0000"/>
                </a:solidFill>
                <a:uFillTx/>
                <a:latin typeface="Times New Roman" panose="02020603050405020304" charset="0"/>
                <a:sym typeface="+mn-ea"/>
              </a:rPr>
              <a:t>  </a:t>
            </a:r>
            <a:r>
              <a:rPr lang="zh-CN" altLang="en-US" sz="2400">
                <a:solidFill>
                  <a:srgbClr val="FF0000"/>
                </a:solidFill>
                <a:uFillTx/>
                <a:latin typeface="Times New Roman" panose="02020603050405020304" charset="0"/>
                <a:sym typeface="+mn-ea"/>
              </a:rPr>
              <a:t>理解限界函数和目标函数的作用</a:t>
            </a:r>
            <a:endParaRPr lang="zh-CN" altLang="en-US" sz="2400">
              <a:solidFill>
                <a:srgbClr val="FF0000"/>
              </a:solidFill>
              <a:uFillTx/>
              <a:latin typeface="Times New Roman" panose="02020603050405020304" charset="0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FF0000"/>
                </a:solidFill>
                <a:uFillTx/>
                <a:latin typeface="Times New Roman" panose="02020603050405020304" charset="0"/>
                <a:sym typeface="+mn-ea"/>
              </a:rPr>
              <a:t>     </a:t>
            </a:r>
            <a:r>
              <a:rPr lang="zh-CN" altLang="en-US" sz="2400">
                <a:solidFill>
                  <a:srgbClr val="FF0000"/>
                </a:solidFill>
                <a:uFillTx/>
                <a:latin typeface="Times New Roman" panose="02020603050405020304" charset="0"/>
                <a:sym typeface="+mn-ea"/>
              </a:rPr>
              <a:t>掌握分支限界法的设计</a:t>
            </a:r>
            <a:r>
              <a:rPr lang="zh-CN" altLang="en-US" sz="2400">
                <a:solidFill>
                  <a:srgbClr val="FF0000"/>
                </a:solidFill>
                <a:uFillTx/>
                <a:latin typeface="Times New Roman" panose="02020603050405020304" charset="0"/>
                <a:sym typeface="+mn-ea"/>
              </a:rPr>
              <a:t>思想</a:t>
            </a:r>
            <a:endParaRPr lang="zh-CN" altLang="en-US" sz="2400">
              <a:solidFill>
                <a:srgbClr val="FF0000"/>
              </a:solidFill>
              <a:uFillTx/>
              <a:latin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1550" y="4725035"/>
            <a:ext cx="8058785" cy="1377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>
                <a:solidFill>
                  <a:srgbClr val="FF0000"/>
                </a:solidFill>
              </a:rPr>
              <a:t>课前测试：</a:t>
            </a:r>
            <a:endParaRPr lang="zh-CN" altLang="en-US" sz="2800">
              <a:solidFill>
                <a:srgbClr val="FF0000"/>
              </a:solidFill>
            </a:endParaRPr>
          </a:p>
          <a:p>
            <a:r>
              <a:rPr lang="zh-CN" altLang="en-US" sz="2000">
                <a:solidFill>
                  <a:srgbClr val="FF0000"/>
                </a:solidFill>
              </a:rPr>
              <a:t>解空间树，是一个树状图，我们学过的什么方法可以搜寻我的树状图？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460" y="1666875"/>
            <a:ext cx="8985250" cy="2739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200">
                <a:solidFill>
                  <a:schemeClr val="tx1"/>
                </a:solidFill>
                <a:uFillTx/>
              </a:rPr>
              <a:t>分支限界法与回溯</a:t>
            </a:r>
            <a:r>
              <a:rPr lang="zh-CN" altLang="en-US" sz="2200">
                <a:solidFill>
                  <a:srgbClr val="FF0000"/>
                </a:solidFill>
                <a:uFillTx/>
              </a:rPr>
              <a:t>相同</a:t>
            </a:r>
            <a:r>
              <a:rPr lang="zh-CN" altLang="en-US" sz="2200">
                <a:solidFill>
                  <a:schemeClr val="tx1"/>
                </a:solidFill>
                <a:uFillTx/>
              </a:rPr>
              <a:t>：</a:t>
            </a:r>
            <a:endParaRPr lang="zh-CN" altLang="en-US" sz="2200">
              <a:solidFill>
                <a:schemeClr val="tx1"/>
              </a:solidFill>
              <a:uFillTx/>
            </a:endParaRPr>
          </a:p>
          <a:p>
            <a:r>
              <a:rPr lang="zh-CN" altLang="en-US" sz="2200">
                <a:solidFill>
                  <a:schemeClr val="tx1"/>
                </a:solidFill>
                <a:uFillTx/>
              </a:rPr>
              <a:t>分支限界法也是在问题的</a:t>
            </a:r>
            <a:r>
              <a:rPr lang="zh-CN" altLang="en-US" sz="2200">
                <a:solidFill>
                  <a:srgbClr val="FF0000"/>
                </a:solidFill>
                <a:uFillTx/>
              </a:rPr>
              <a:t>解空间树</a:t>
            </a:r>
            <a:r>
              <a:rPr lang="zh-CN" altLang="en-US" sz="2200">
                <a:solidFill>
                  <a:schemeClr val="tx1"/>
                </a:solidFill>
                <a:uFillTx/>
              </a:rPr>
              <a:t>上搜索问题解的算法；</a:t>
            </a:r>
            <a:endParaRPr lang="zh-CN" altLang="en-US" sz="2200">
              <a:solidFill>
                <a:schemeClr val="tx1"/>
              </a:solidFill>
              <a:uFillTx/>
            </a:endParaRPr>
          </a:p>
          <a:p>
            <a:r>
              <a:rPr lang="zh-CN" altLang="en-US" sz="2200">
                <a:solidFill>
                  <a:schemeClr val="tx1"/>
                </a:solidFill>
                <a:uFillTx/>
              </a:rPr>
              <a:t>分支限界法与回溯法的求解目标</a:t>
            </a:r>
            <a:r>
              <a:rPr lang="zh-CN" altLang="en-US" sz="2200">
                <a:solidFill>
                  <a:srgbClr val="FF0000"/>
                </a:solidFill>
                <a:uFillTx/>
              </a:rPr>
              <a:t>不同</a:t>
            </a:r>
            <a:r>
              <a:rPr lang="zh-CN" altLang="en-US" sz="2200">
                <a:solidFill>
                  <a:schemeClr val="tx1"/>
                </a:solidFill>
                <a:uFillTx/>
              </a:rPr>
              <a:t>：</a:t>
            </a:r>
            <a:endParaRPr lang="zh-CN" altLang="en-US" sz="2200">
              <a:solidFill>
                <a:schemeClr val="tx1"/>
              </a:solidFill>
              <a:uFillTx/>
            </a:endParaRPr>
          </a:p>
          <a:p>
            <a:r>
              <a:rPr lang="zh-CN" altLang="en-US" sz="2200">
                <a:solidFill>
                  <a:schemeClr val="tx1"/>
                </a:solidFill>
                <a:uFillTx/>
              </a:rPr>
              <a:t>回溯法的求解目标是找出解空间树中</a:t>
            </a:r>
            <a:r>
              <a:rPr lang="zh-CN" altLang="en-US" sz="2200">
                <a:solidFill>
                  <a:srgbClr val="FF0000"/>
                </a:solidFill>
                <a:uFillTx/>
              </a:rPr>
              <a:t>满足约束条件的所有解</a:t>
            </a:r>
            <a:r>
              <a:rPr lang="zh-CN" altLang="en-US" sz="2200">
                <a:solidFill>
                  <a:schemeClr val="tx1"/>
                </a:solidFill>
                <a:uFillTx/>
              </a:rPr>
              <a:t>；</a:t>
            </a:r>
            <a:endParaRPr lang="zh-CN" altLang="en-US" sz="2200">
              <a:solidFill>
                <a:schemeClr val="tx1"/>
              </a:solidFill>
              <a:uFillTx/>
            </a:endParaRPr>
          </a:p>
          <a:p>
            <a:r>
              <a:rPr lang="zh-CN" altLang="en-US" sz="2200">
                <a:solidFill>
                  <a:schemeClr val="tx1"/>
                </a:solidFill>
                <a:uFillTx/>
              </a:rPr>
              <a:t>分支限界法的求解目标是找出</a:t>
            </a:r>
            <a:r>
              <a:rPr lang="zh-CN" altLang="en-US" sz="2200">
                <a:solidFill>
                  <a:srgbClr val="FF0000"/>
                </a:solidFill>
                <a:uFillTx/>
              </a:rPr>
              <a:t>满足约束条件的一个解（</a:t>
            </a:r>
            <a:r>
              <a:rPr lang="zh-CN" altLang="en-US" sz="2200">
                <a:uFillTx/>
                <a:sym typeface="+mn-ea"/>
              </a:rPr>
              <a:t>即最优解</a:t>
            </a:r>
            <a:r>
              <a:rPr lang="zh-CN" altLang="en-US" sz="2200">
                <a:solidFill>
                  <a:srgbClr val="FF0000"/>
                </a:solidFill>
                <a:uFillTx/>
              </a:rPr>
              <a:t>）</a:t>
            </a:r>
            <a:r>
              <a:rPr lang="zh-CN" altLang="en-US" sz="2200">
                <a:solidFill>
                  <a:schemeClr val="tx1"/>
                </a:solidFill>
                <a:uFillTx/>
              </a:rPr>
              <a:t>，或是满足约束条件的解中找出使</a:t>
            </a:r>
            <a:r>
              <a:rPr lang="zh-CN" altLang="en-US" sz="2200">
                <a:solidFill>
                  <a:srgbClr val="FF0000"/>
                </a:solidFill>
                <a:uFillTx/>
              </a:rPr>
              <a:t>目标函数</a:t>
            </a:r>
            <a:r>
              <a:rPr lang="zh-CN" altLang="en-US" sz="2200">
                <a:solidFill>
                  <a:schemeClr val="tx1"/>
                </a:solidFill>
                <a:uFillTx/>
              </a:rPr>
              <a:t>数值达到极大值或极小值的解。</a:t>
            </a:r>
            <a:endParaRPr lang="zh-CN" altLang="en-US" sz="2200">
              <a:solidFill>
                <a:schemeClr val="tx1"/>
              </a:solidFill>
              <a:uFillTx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3997325" y="448373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2773680" y="505968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5293995" y="505968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3825240" y="4076700"/>
          <a:ext cx="1012190" cy="372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095"/>
                <a:gridCol w="506095"/>
              </a:tblGrid>
              <a:tr h="372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承重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价值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5" name="直接箭头连接符 14"/>
          <p:cNvCxnSpPr>
            <a:stCxn id="7" idx="2"/>
            <a:endCxn id="8" idx="0"/>
          </p:cNvCxnSpPr>
          <p:nvPr/>
        </p:nvCxnSpPr>
        <p:spPr>
          <a:xfrm flipH="1">
            <a:off x="3121660" y="4758055"/>
            <a:ext cx="1223645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6" name="直接箭头连接符 15"/>
          <p:cNvCxnSpPr>
            <a:stCxn id="7" idx="2"/>
            <a:endCxn id="9" idx="0"/>
          </p:cNvCxnSpPr>
          <p:nvPr/>
        </p:nvCxnSpPr>
        <p:spPr>
          <a:xfrm>
            <a:off x="4345305" y="4758055"/>
            <a:ext cx="1296670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19" name="表格 18"/>
          <p:cNvGraphicFramePr/>
          <p:nvPr/>
        </p:nvGraphicFramePr>
        <p:xfrm>
          <a:off x="2077720" y="564959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/>
        </p:nvGraphicFramePr>
        <p:xfrm>
          <a:off x="3422015" y="564959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3" name="直接箭头连接符 22"/>
          <p:cNvCxnSpPr>
            <a:stCxn id="8" idx="2"/>
            <a:endCxn id="19" idx="0"/>
          </p:cNvCxnSpPr>
          <p:nvPr/>
        </p:nvCxnSpPr>
        <p:spPr>
          <a:xfrm flipH="1">
            <a:off x="2425700" y="5334000"/>
            <a:ext cx="69596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6" name="直接箭头连接符 25"/>
          <p:cNvCxnSpPr>
            <a:stCxn id="8" idx="2"/>
            <a:endCxn id="22" idx="0"/>
          </p:cNvCxnSpPr>
          <p:nvPr/>
        </p:nvCxnSpPr>
        <p:spPr>
          <a:xfrm>
            <a:off x="3121660" y="5334000"/>
            <a:ext cx="64833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60" name="表格 59"/>
          <p:cNvGraphicFramePr/>
          <p:nvPr/>
        </p:nvGraphicFramePr>
        <p:xfrm>
          <a:off x="5035550" y="563562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/>
          <p:nvPr/>
        </p:nvGraphicFramePr>
        <p:xfrm>
          <a:off x="6379845" y="564959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2" name="直接箭头连接符 61"/>
          <p:cNvCxnSpPr>
            <a:stCxn id="9" idx="2"/>
            <a:endCxn id="60" idx="0"/>
          </p:cNvCxnSpPr>
          <p:nvPr/>
        </p:nvCxnSpPr>
        <p:spPr>
          <a:xfrm flipH="1">
            <a:off x="5383530" y="5334000"/>
            <a:ext cx="258445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3" name="直接箭头连接符 62"/>
          <p:cNvCxnSpPr>
            <a:stCxn id="9" idx="2"/>
            <a:endCxn id="61" idx="0"/>
          </p:cNvCxnSpPr>
          <p:nvPr/>
        </p:nvCxnSpPr>
        <p:spPr>
          <a:xfrm>
            <a:off x="5641975" y="5334000"/>
            <a:ext cx="108585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0" name="椭圆 19"/>
          <p:cNvSpPr/>
          <p:nvPr/>
        </p:nvSpPr>
        <p:spPr>
          <a:xfrm>
            <a:off x="3736340" y="5600700"/>
            <a:ext cx="495300" cy="36385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48945" y="4004945"/>
            <a:ext cx="2848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何为目标函数？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73405" y="6236970"/>
            <a:ext cx="8032115" cy="518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算法探寻解空间树中每个节点满足约束条件，已经确定的可能的解。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01295" y="1236980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1</a:t>
            </a:r>
            <a:r>
              <a:rPr lang="zh-CN" altLang="en-US" sz="2200">
                <a:uFillTx/>
                <a:sym typeface="+mn-ea"/>
              </a:rPr>
              <a:t>）分支限界法</a:t>
            </a:r>
            <a:r>
              <a:rPr lang="zh-CN" altLang="en-US" sz="2200">
                <a:uFillTx/>
                <a:sym typeface="+mn-ea"/>
              </a:rPr>
              <a:t>思想</a:t>
            </a:r>
            <a:endParaRPr lang="zh-CN" altLang="en-US" sz="2200">
              <a:uFillTx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流程图: 过程 33"/>
          <p:cNvSpPr/>
          <p:nvPr/>
        </p:nvSpPr>
        <p:spPr>
          <a:xfrm>
            <a:off x="6012180" y="1628775"/>
            <a:ext cx="864235" cy="2736215"/>
          </a:xfrm>
          <a:prstGeom prst="flowChartProcess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7415" y="1299845"/>
            <a:ext cx="1295400" cy="400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67995" y="6092825"/>
            <a:ext cx="8032115" cy="518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800"/>
              <a:t>回溯算法中遍历空间树，依赖栈（也就是递归函数），每搜寻一个节点，则会入栈，回溯的过程则是出栈。</a:t>
            </a:r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394970" y="1700530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分支限界法如何搜索解空间树？</a:t>
            </a:r>
            <a:endParaRPr lang="zh-CN" altLang="en-US" sz="2200">
              <a:uFillTx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1295" y="1294765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2</a:t>
            </a:r>
            <a:r>
              <a:rPr lang="zh-CN" altLang="en-US" sz="2200">
                <a:uFillTx/>
                <a:sym typeface="+mn-ea"/>
              </a:rPr>
              <a:t>）分支限界法实现</a:t>
            </a:r>
            <a:r>
              <a:rPr lang="zh-CN" altLang="en-US" sz="2200">
                <a:uFillTx/>
                <a:sym typeface="+mn-ea"/>
              </a:rPr>
              <a:t>模板</a:t>
            </a:r>
            <a:endParaRPr lang="zh-CN" altLang="en-US" sz="2200">
              <a:uFillTx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339340" y="242062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1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619250" y="314071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2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771140" y="314071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3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025525" y="386080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4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979295" y="390906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5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573020" y="386080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6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3275965" y="386080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7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763395" y="458089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8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27" name="直接连接符 26"/>
          <p:cNvCxnSpPr>
            <a:stCxn id="4" idx="4"/>
            <a:endCxn id="5" idx="0"/>
          </p:cNvCxnSpPr>
          <p:nvPr/>
        </p:nvCxnSpPr>
        <p:spPr>
          <a:xfrm flipH="1">
            <a:off x="1835150" y="2852420"/>
            <a:ext cx="720090" cy="2882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直接连接符 27"/>
          <p:cNvCxnSpPr>
            <a:stCxn id="4" idx="4"/>
            <a:endCxn id="10" idx="0"/>
          </p:cNvCxnSpPr>
          <p:nvPr/>
        </p:nvCxnSpPr>
        <p:spPr>
          <a:xfrm>
            <a:off x="2555240" y="2852420"/>
            <a:ext cx="431800" cy="2882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直接连接符 28"/>
          <p:cNvCxnSpPr>
            <a:stCxn id="5" idx="4"/>
            <a:endCxn id="11" idx="0"/>
          </p:cNvCxnSpPr>
          <p:nvPr/>
        </p:nvCxnSpPr>
        <p:spPr>
          <a:xfrm flipH="1">
            <a:off x="1241425" y="3572510"/>
            <a:ext cx="593725" cy="2882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直接连接符 29"/>
          <p:cNvCxnSpPr>
            <a:stCxn id="5" idx="4"/>
            <a:endCxn id="12" idx="0"/>
          </p:cNvCxnSpPr>
          <p:nvPr/>
        </p:nvCxnSpPr>
        <p:spPr>
          <a:xfrm>
            <a:off x="1835150" y="3572510"/>
            <a:ext cx="360045" cy="3365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直接连接符 30"/>
          <p:cNvCxnSpPr>
            <a:stCxn id="10" idx="4"/>
            <a:endCxn id="14" idx="0"/>
          </p:cNvCxnSpPr>
          <p:nvPr/>
        </p:nvCxnSpPr>
        <p:spPr>
          <a:xfrm flipH="1">
            <a:off x="2788920" y="3572510"/>
            <a:ext cx="198120" cy="2882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直接连接符 31"/>
          <p:cNvCxnSpPr>
            <a:stCxn id="10" idx="4"/>
            <a:endCxn id="17" idx="0"/>
          </p:cNvCxnSpPr>
          <p:nvPr/>
        </p:nvCxnSpPr>
        <p:spPr>
          <a:xfrm>
            <a:off x="2987040" y="3572510"/>
            <a:ext cx="504825" cy="2882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直接连接符 32"/>
          <p:cNvCxnSpPr>
            <a:stCxn id="12" idx="4"/>
            <a:endCxn id="18" idx="0"/>
          </p:cNvCxnSpPr>
          <p:nvPr/>
        </p:nvCxnSpPr>
        <p:spPr>
          <a:xfrm flipH="1">
            <a:off x="1979295" y="4340860"/>
            <a:ext cx="215900" cy="2400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文本框 34"/>
          <p:cNvSpPr txBox="1"/>
          <p:nvPr/>
        </p:nvSpPr>
        <p:spPr>
          <a:xfrm>
            <a:off x="5939790" y="4689475"/>
            <a:ext cx="1089025" cy="323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递归栈</a:t>
            </a:r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1606550" y="2606675"/>
            <a:ext cx="617855" cy="424180"/>
          </a:xfrm>
          <a:custGeom>
            <a:avLst/>
            <a:gdLst>
              <a:gd name="connisteX0" fmla="*/ 617855 w 617855"/>
              <a:gd name="connsiteY0" fmla="*/ 0 h 424180"/>
              <a:gd name="connisteX1" fmla="*/ 308610 w 617855"/>
              <a:gd name="connsiteY1" fmla="*/ 88265 h 424180"/>
              <a:gd name="connisteX2" fmla="*/ 0 w 617855"/>
              <a:gd name="connsiteY2" fmla="*/ 424180 h 4241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617855" h="424180">
                <a:moveTo>
                  <a:pt x="617855" y="0"/>
                </a:moveTo>
                <a:cubicBezTo>
                  <a:pt x="561975" y="10795"/>
                  <a:pt x="432435" y="3175"/>
                  <a:pt x="308610" y="88265"/>
                </a:cubicBezTo>
                <a:cubicBezTo>
                  <a:pt x="184785" y="173355"/>
                  <a:pt x="55245" y="358775"/>
                  <a:pt x="0" y="42418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971550" y="3356610"/>
            <a:ext cx="617855" cy="424180"/>
          </a:xfrm>
          <a:custGeom>
            <a:avLst/>
            <a:gdLst>
              <a:gd name="connisteX0" fmla="*/ 617855 w 617855"/>
              <a:gd name="connsiteY0" fmla="*/ 0 h 424180"/>
              <a:gd name="connisteX1" fmla="*/ 308610 w 617855"/>
              <a:gd name="connsiteY1" fmla="*/ 88265 h 424180"/>
              <a:gd name="connisteX2" fmla="*/ 0 w 617855"/>
              <a:gd name="connsiteY2" fmla="*/ 424180 h 4241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617855" h="424180">
                <a:moveTo>
                  <a:pt x="617855" y="0"/>
                </a:moveTo>
                <a:cubicBezTo>
                  <a:pt x="561975" y="10795"/>
                  <a:pt x="432435" y="3175"/>
                  <a:pt x="308610" y="88265"/>
                </a:cubicBezTo>
                <a:cubicBezTo>
                  <a:pt x="184785" y="173355"/>
                  <a:pt x="55245" y="358775"/>
                  <a:pt x="0" y="42418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40" name="任意多边形 39"/>
          <p:cNvSpPr/>
          <p:nvPr/>
        </p:nvSpPr>
        <p:spPr>
          <a:xfrm>
            <a:off x="1544955" y="3715385"/>
            <a:ext cx="476250" cy="286385"/>
          </a:xfrm>
          <a:custGeom>
            <a:avLst/>
            <a:gdLst>
              <a:gd name="connisteX0" fmla="*/ 0 w 476250"/>
              <a:gd name="connsiteY0" fmla="*/ 286495 h 286495"/>
              <a:gd name="connisteX1" fmla="*/ 229235 w 476250"/>
              <a:gd name="connsiteY1" fmla="*/ 3920 h 286495"/>
              <a:gd name="connisteX2" fmla="*/ 476250 w 476250"/>
              <a:gd name="connsiteY2" fmla="*/ 144890 h 2864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476250" h="286495">
                <a:moveTo>
                  <a:pt x="0" y="286495"/>
                </a:moveTo>
                <a:cubicBezTo>
                  <a:pt x="40640" y="227440"/>
                  <a:pt x="133985" y="32495"/>
                  <a:pt x="229235" y="3920"/>
                </a:cubicBezTo>
                <a:cubicBezTo>
                  <a:pt x="324485" y="-24655"/>
                  <a:pt x="431165" y="111235"/>
                  <a:pt x="476250" y="144890"/>
                </a:cubicBezTo>
              </a:path>
            </a:pathLst>
          </a:custGeom>
          <a:noFill/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42" name="任意多边形 41"/>
          <p:cNvSpPr/>
          <p:nvPr/>
        </p:nvSpPr>
        <p:spPr>
          <a:xfrm>
            <a:off x="1721485" y="4072255"/>
            <a:ext cx="211455" cy="361950"/>
          </a:xfrm>
          <a:custGeom>
            <a:avLst/>
            <a:gdLst>
              <a:gd name="connisteX0" fmla="*/ 211455 w 211455"/>
              <a:gd name="connsiteY0" fmla="*/ 0 h 361950"/>
              <a:gd name="connisteX1" fmla="*/ 79375 w 211455"/>
              <a:gd name="connsiteY1" fmla="*/ 149860 h 361950"/>
              <a:gd name="connisteX2" fmla="*/ 0 w 211455"/>
              <a:gd name="connsiteY2" fmla="*/ 361950 h 3619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11455" h="361950">
                <a:moveTo>
                  <a:pt x="211455" y="0"/>
                </a:moveTo>
                <a:cubicBezTo>
                  <a:pt x="186690" y="26035"/>
                  <a:pt x="121920" y="77470"/>
                  <a:pt x="79375" y="149860"/>
                </a:cubicBezTo>
                <a:cubicBezTo>
                  <a:pt x="36830" y="222250"/>
                  <a:pt x="13335" y="322580"/>
                  <a:pt x="0" y="361950"/>
                </a:cubicBezTo>
              </a:path>
            </a:pathLst>
          </a:custGeom>
          <a:noFill/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2339340" y="242062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1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622425" y="314388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2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1020445" y="385572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4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1982470" y="391223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5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1763395" y="458089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8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452245" y="5412740"/>
            <a:ext cx="6417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最终一个访问顺序：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1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,V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2</a:t>
            </a:r>
            <a:r>
              <a:rPr lang="en-US" altLang="zh-CN">
                <a:uFillTx/>
                <a:latin typeface="Times New Roman" panose="02020603050405020304" charset="0"/>
                <a:sym typeface="+mn-ea"/>
              </a:rPr>
              <a:t>,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4</a:t>
            </a:r>
            <a:r>
              <a:rPr lang="en-US" altLang="zh-CN">
                <a:uFillTx/>
                <a:latin typeface="Times New Roman" panose="02020603050405020304" charset="0"/>
                <a:sym typeface="+mn-ea"/>
              </a:rPr>
              <a:t>,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5</a:t>
            </a:r>
            <a:r>
              <a:rPr lang="en-US" altLang="zh-CN">
                <a:uFillTx/>
                <a:latin typeface="Times New Roman" panose="02020603050405020304" charset="0"/>
                <a:sym typeface="+mn-ea"/>
              </a:rPr>
              <a:t>,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8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,V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3</a:t>
            </a:r>
            <a:r>
              <a:rPr lang="en-US" altLang="zh-CN">
                <a:uFillTx/>
                <a:latin typeface="Times New Roman" panose="02020603050405020304" charset="0"/>
                <a:sym typeface="+mn-ea"/>
              </a:rPr>
              <a:t>,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6</a:t>
            </a:r>
            <a:r>
              <a:rPr lang="en-US" altLang="zh-CN">
                <a:uFillTx/>
                <a:latin typeface="Times New Roman" panose="02020603050405020304" charset="0"/>
                <a:sym typeface="+mn-ea"/>
              </a:rPr>
              <a:t>,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7</a:t>
            </a:r>
            <a:endParaRPr lang="en-US" altLang="zh-CN" baseline="-2500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9375 -0.0323148 0.134375 -0.125648 0.21625 -0.164722 C 0.298125 -0.203796 0.366667 -0.270185 0.409306 -0.195556 C 0.451944 -0.120926 0.429306 0.12713 0.429514 0.208519 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11806 -0.045 0.177986 -0.175 0.277986 -0.229074 C 0.377986 -0.283148 0.453889 -0.321481 0.5 -0.270278 C 0.546111 -0.219074 0.511389 -0.0332407 0.508681 0.027037 " pathEditMode="relative" ptsTypes="">
                                      <p:cBhvr>
                                        <p:cTn id="1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00903 -0.0926852 0.396319 -0.405185 0.510625 -0.435 C 0.624931 -0.464815 0.569444 -0.215093 0.571389 -0.149259 " pathEditMode="relative" ptsTypes="">
                                      <p:cBhvr>
                                        <p:cTn id="2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68542 -0.16 C 0.569306 -0.210741 0.528611 -0.366667 0.608125 -0.410926 C 0.687639 -0.455185 0.895417 -0.392222 0.96625 -0.381296 " pathEditMode="relative" ptsTypes="">
                                      <p:cBhvr>
                                        <p:cTn id="33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03472 -0.0925 0.359306 -0.402593 0.453681 -0.435 C 0.548056 -0.467407 0.477431 -0.22537 0.472014 -0.16213 " pathEditMode="relative" ptsTypes="">
                                      <p:cBhvr>
                                        <p:cTn id="3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99306 -0.132963 0.218542 -0.565093 0.317569 -0.63713 C 0.416597 -0.709167 0.466042 -0.428426 0.495208 -0.36037 " pathEditMode="relative" ptsTypes="">
                                      <p:cBhvr>
                                        <p:cTn id="4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 animBg="1"/>
      <p:bldP spid="37" grpId="1" animBg="1"/>
      <p:bldP spid="38" grpId="0" animBg="1"/>
      <p:bldP spid="38" grpId="1" animBg="1"/>
      <p:bldP spid="40" grpId="0" animBg="1"/>
      <p:bldP spid="40" grpId="1" animBg="1"/>
      <p:bldP spid="42" grpId="0" animBg="1"/>
      <p:bldP spid="42" grpId="1" animBg="1"/>
      <p:bldP spid="51" grpId="0" animBg="1"/>
      <p:bldP spid="52" grpId="0" animBg="1"/>
      <p:bldP spid="52" grpId="1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67995" y="6092825"/>
            <a:ext cx="8032115" cy="518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800"/>
              <a:t>分支限界法，依赖队列（也可以是优先队列，以队列为例），每搜寻一个节点，则会入队。</a:t>
            </a:r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394970" y="1700530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分支限界法如何搜索解空间树？</a:t>
            </a:r>
            <a:endParaRPr lang="zh-CN" altLang="en-US" sz="2200">
              <a:uFillTx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228080" y="249237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1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507990" y="321246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2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59880" y="321246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3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914265" y="393255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4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868035" y="398081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5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6461760" y="393255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6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164705" y="393255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7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652135" y="465264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8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27" name="直接连接符 26"/>
          <p:cNvCxnSpPr>
            <a:stCxn id="4" idx="4"/>
            <a:endCxn id="5" idx="0"/>
          </p:cNvCxnSpPr>
          <p:nvPr/>
        </p:nvCxnSpPr>
        <p:spPr>
          <a:xfrm flipH="1">
            <a:off x="5723890" y="2924175"/>
            <a:ext cx="720090" cy="2882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直接连接符 27"/>
          <p:cNvCxnSpPr>
            <a:stCxn id="4" idx="4"/>
            <a:endCxn id="10" idx="0"/>
          </p:cNvCxnSpPr>
          <p:nvPr/>
        </p:nvCxnSpPr>
        <p:spPr>
          <a:xfrm>
            <a:off x="6443980" y="2924175"/>
            <a:ext cx="431800" cy="2882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直接连接符 28"/>
          <p:cNvCxnSpPr>
            <a:stCxn id="5" idx="4"/>
            <a:endCxn id="11" idx="0"/>
          </p:cNvCxnSpPr>
          <p:nvPr/>
        </p:nvCxnSpPr>
        <p:spPr>
          <a:xfrm flipH="1">
            <a:off x="5130165" y="3644265"/>
            <a:ext cx="593725" cy="2882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直接连接符 29"/>
          <p:cNvCxnSpPr>
            <a:stCxn id="5" idx="4"/>
            <a:endCxn id="12" idx="0"/>
          </p:cNvCxnSpPr>
          <p:nvPr/>
        </p:nvCxnSpPr>
        <p:spPr>
          <a:xfrm>
            <a:off x="5723890" y="3644265"/>
            <a:ext cx="360045" cy="3365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直接连接符 30"/>
          <p:cNvCxnSpPr>
            <a:stCxn id="10" idx="4"/>
            <a:endCxn id="14" idx="0"/>
          </p:cNvCxnSpPr>
          <p:nvPr/>
        </p:nvCxnSpPr>
        <p:spPr>
          <a:xfrm flipH="1">
            <a:off x="6677660" y="3644265"/>
            <a:ext cx="198120" cy="2882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直接连接符 31"/>
          <p:cNvCxnSpPr>
            <a:stCxn id="10" idx="4"/>
            <a:endCxn id="17" idx="0"/>
          </p:cNvCxnSpPr>
          <p:nvPr/>
        </p:nvCxnSpPr>
        <p:spPr>
          <a:xfrm>
            <a:off x="6875780" y="3644265"/>
            <a:ext cx="504825" cy="2882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直接连接符 32"/>
          <p:cNvCxnSpPr>
            <a:stCxn id="12" idx="4"/>
            <a:endCxn id="18" idx="0"/>
          </p:cNvCxnSpPr>
          <p:nvPr/>
        </p:nvCxnSpPr>
        <p:spPr>
          <a:xfrm flipH="1">
            <a:off x="5868035" y="4412615"/>
            <a:ext cx="215900" cy="2400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文本框 34"/>
          <p:cNvSpPr txBox="1"/>
          <p:nvPr/>
        </p:nvSpPr>
        <p:spPr>
          <a:xfrm>
            <a:off x="1619250" y="4149090"/>
            <a:ext cx="1089025" cy="323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800"/>
              <a:t>队列</a:t>
            </a:r>
            <a:endParaRPr lang="zh-CN" altLang="en-US" sz="1800"/>
          </a:p>
        </p:txBody>
      </p:sp>
      <p:sp>
        <p:nvSpPr>
          <p:cNvPr id="50" name="椭圆 49"/>
          <p:cNvSpPr/>
          <p:nvPr/>
        </p:nvSpPr>
        <p:spPr>
          <a:xfrm>
            <a:off x="6228080" y="249237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1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511165" y="321564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2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4909185" y="392747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4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5871210" y="398399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5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5652135" y="465264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8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452245" y="5412740"/>
            <a:ext cx="6417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最终一个访问顺序：</a:t>
            </a:r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sz="1800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1</a:t>
            </a:r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,V</a:t>
            </a:r>
            <a:r>
              <a:rPr lang="en-US" altLang="zh-CN" sz="1800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2</a:t>
            </a:r>
            <a:r>
              <a:rPr lang="en-US" altLang="zh-CN" sz="1800">
                <a:uFillTx/>
                <a:latin typeface="Times New Roman" panose="02020603050405020304" charset="0"/>
                <a:sym typeface="+mn-ea"/>
              </a:rPr>
              <a:t>,</a:t>
            </a:r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sz="1800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3</a:t>
            </a:r>
            <a:r>
              <a:rPr lang="en-US" altLang="zh-CN" sz="1800">
                <a:uFillTx/>
                <a:latin typeface="Times New Roman" panose="02020603050405020304" charset="0"/>
                <a:sym typeface="+mn-ea"/>
              </a:rPr>
              <a:t>,</a:t>
            </a:r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sz="1800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4</a:t>
            </a:r>
            <a:r>
              <a:rPr lang="en-US" altLang="zh-CN" sz="1800">
                <a:uFillTx/>
                <a:latin typeface="Times New Roman" panose="02020603050405020304" charset="0"/>
                <a:sym typeface="+mn-ea"/>
              </a:rPr>
              <a:t>,</a:t>
            </a:r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sz="1800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5</a:t>
            </a:r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,V</a:t>
            </a:r>
            <a:r>
              <a:rPr lang="en-US" altLang="zh-CN" sz="1800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6</a:t>
            </a:r>
            <a:r>
              <a:rPr lang="en-US" altLang="zh-CN" sz="1800">
                <a:uFillTx/>
                <a:latin typeface="Times New Roman" panose="02020603050405020304" charset="0"/>
                <a:sym typeface="+mn-ea"/>
              </a:rPr>
              <a:t>,</a:t>
            </a:r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sz="1800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7</a:t>
            </a:r>
            <a:r>
              <a:rPr lang="en-US" altLang="zh-CN" sz="1800">
                <a:uFillTx/>
                <a:latin typeface="Times New Roman" panose="02020603050405020304" charset="0"/>
                <a:sym typeface="+mn-ea"/>
              </a:rPr>
              <a:t>,</a:t>
            </a:r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V</a:t>
            </a:r>
            <a:r>
              <a:rPr lang="en-US" altLang="zh-CN" sz="1800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8</a:t>
            </a:r>
            <a:endParaRPr lang="en-US" altLang="zh-CN" sz="1800" baseline="-2500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38150" y="2924810"/>
            <a:ext cx="3308985" cy="1295400"/>
            <a:chOff x="5453" y="3752"/>
            <a:chExt cx="5211" cy="2040"/>
          </a:xfrm>
        </p:grpSpPr>
        <p:sp>
          <p:nvSpPr>
            <p:cNvPr id="34" name="流程图: 过程 33"/>
            <p:cNvSpPr/>
            <p:nvPr/>
          </p:nvSpPr>
          <p:spPr>
            <a:xfrm rot="5400000">
              <a:off x="7313" y="2618"/>
              <a:ext cx="1361" cy="4309"/>
            </a:xfrm>
            <a:prstGeom prst="flowChartProcess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5400000">
              <a:off x="4748" y="4457"/>
              <a:ext cx="2040" cy="630"/>
            </a:xfrm>
            <a:prstGeom prst="rect">
              <a:avLst/>
            </a:prstGeom>
          </p:spPr>
        </p:pic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5400000">
              <a:off x="9329" y="4457"/>
              <a:ext cx="2040" cy="630"/>
            </a:xfrm>
            <a:prstGeom prst="rect">
              <a:avLst/>
            </a:prstGeom>
          </p:spPr>
        </p:pic>
      </p:grpSp>
      <p:sp>
        <p:nvSpPr>
          <p:cNvPr id="9" name="椭圆 8"/>
          <p:cNvSpPr/>
          <p:nvPr/>
        </p:nvSpPr>
        <p:spPr>
          <a:xfrm>
            <a:off x="6231255" y="249555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1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514340" y="321881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2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663055" y="321564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3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912360" y="393065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4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1295" y="1294765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2</a:t>
            </a:r>
            <a:r>
              <a:rPr lang="zh-CN" altLang="en-US" sz="2200">
                <a:uFillTx/>
                <a:sym typeface="+mn-ea"/>
              </a:rPr>
              <a:t>）分支限界法实现</a:t>
            </a:r>
            <a:r>
              <a:rPr lang="zh-CN" altLang="en-US" sz="2200">
                <a:uFillTx/>
                <a:sym typeface="+mn-ea"/>
              </a:rPr>
              <a:t>模板</a:t>
            </a:r>
            <a:endParaRPr lang="zh-CN" altLang="en-US" sz="2200">
              <a:uFillTx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9.25926e-05 C -0.0410417 0.0240741 -0.123333 0.0946296 -0.239375 0.121112 C -0.355417 0.147593 -0.516806 0.132778 -0.580139 0.132686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00" y="6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75139 0.136204 L -0.819236 0.136204 " pathEditMode="relative" ptsTypes="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83333 0.00777778 -0.120139 0.0313889 -0.219167 0.0386111 C -0.318194 0.0458333 -0.444375 0.0373148 -0.495208 0.0360185 " pathEditMode="relative" ptsTypes="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74306 0.00666667 -0.246736 0.0260185 -0.356181 0.0335185 C -0.465625 0.0410185 -0.516181 0.0372222 -0.547292 0.0373148 " pathEditMode="relative" ptsTypes="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4653 0.0307407 L -0.788125 0.0307407 " pathEditMode="relative" ptsTypes="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9272e-05 -3.64627e-06 C -0.0350639 -0.0123217 -0.127199 -0.0476695 -0.186215 -0.0625584 C -0.24523 -0.0774472 -0.27692 -0.0732699 -0.294987 -0.074448 " pathEditMode="relative" rAng="0" ptsTypes="">
                                      <p:cBhvr>
                                        <p:cTn id="2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0" y="-3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6318e-05 0.000109839 C -0.0513469 -0.0147422 -0.197529 -0.0594622 -0.263459 -0.074068 C -0.32939 -0.0886733 -0.32178 -0.0746425 -0.329806 -0.0729193 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00" y="-4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2" grpId="0" animBg="1"/>
      <p:bldP spid="53" grpId="0" animBg="1"/>
      <p:bldP spid="55" grpId="0"/>
      <p:bldP spid="55" grpId="1"/>
      <p:bldP spid="9" grpId="0" animBg="1"/>
      <p:bldP spid="9" grpId="1" animBg="1"/>
      <p:bldP spid="13" grpId="0" animBg="1"/>
      <p:bldP spid="1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4970" y="1700530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算法实现的一个大概模板！</a:t>
            </a:r>
            <a:endParaRPr lang="zh-CN" altLang="en-US" sz="2200">
              <a:uFillTx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3068955"/>
            <a:ext cx="4733925" cy="173355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2780665"/>
            <a:ext cx="3381375" cy="307657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924300" y="2276475"/>
            <a:ext cx="3168650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分支限界法的代码核心架构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83895" y="2276475"/>
            <a:ext cx="3168650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回溯法的代码核心架构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1295" y="1294765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2</a:t>
            </a:r>
            <a:r>
              <a:rPr lang="zh-CN" altLang="en-US" sz="2200">
                <a:uFillTx/>
                <a:sym typeface="+mn-ea"/>
              </a:rPr>
              <a:t>）分支限界法实现</a:t>
            </a:r>
            <a:r>
              <a:rPr lang="zh-CN" altLang="en-US" sz="2200">
                <a:uFillTx/>
                <a:sym typeface="+mn-ea"/>
              </a:rPr>
              <a:t>模板</a:t>
            </a:r>
            <a:endParaRPr lang="zh-CN" altLang="en-US" sz="2200">
              <a:uFillTx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445" y="1724660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分支限界法如何搜索</a:t>
            </a:r>
            <a:r>
              <a:rPr lang="en-US" altLang="zh-CN" sz="2200">
                <a:uFillTx/>
                <a:sym typeface="+mn-ea"/>
              </a:rPr>
              <a:t>“</a:t>
            </a:r>
            <a:r>
              <a:rPr lang="zh-CN" altLang="en-US" sz="2200">
                <a:uFillTx/>
                <a:sym typeface="+mn-ea"/>
              </a:rPr>
              <a:t>有用</a:t>
            </a:r>
            <a:r>
              <a:rPr lang="en-US" altLang="zh-CN" sz="2200">
                <a:uFillTx/>
                <a:sym typeface="+mn-ea"/>
              </a:rPr>
              <a:t>”</a:t>
            </a:r>
            <a:r>
              <a:rPr lang="zh-CN" altLang="en-US" sz="2200">
                <a:uFillTx/>
                <a:sym typeface="+mn-ea"/>
              </a:rPr>
              <a:t>的节点</a:t>
            </a:r>
            <a:r>
              <a:rPr lang="en-US" altLang="zh-CN" sz="2200">
                <a:uFillTx/>
                <a:latin typeface="宋体" panose="02010600030101010101" pitchFamily="2" charset="-122"/>
                <a:sym typeface="+mn-ea"/>
              </a:rPr>
              <a:t>?</a:t>
            </a:r>
            <a:endParaRPr lang="en-US" altLang="zh-CN" sz="2200">
              <a:uFillTx/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512560" y="256159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1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075555" y="328803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i1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27" name="直接连接符 26"/>
          <p:cNvCxnSpPr>
            <a:stCxn id="7" idx="4"/>
            <a:endCxn id="9" idx="0"/>
          </p:cNvCxnSpPr>
          <p:nvPr/>
        </p:nvCxnSpPr>
        <p:spPr>
          <a:xfrm flipH="1">
            <a:off x="5291455" y="2993390"/>
            <a:ext cx="1437005" cy="2946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直接连接符 27"/>
          <p:cNvCxnSpPr>
            <a:stCxn id="13" idx="4"/>
            <a:endCxn id="34" idx="0"/>
          </p:cNvCxnSpPr>
          <p:nvPr/>
        </p:nvCxnSpPr>
        <p:spPr>
          <a:xfrm>
            <a:off x="6731635" y="2996565"/>
            <a:ext cx="71755" cy="2914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椭圆 49"/>
          <p:cNvSpPr/>
          <p:nvPr/>
        </p:nvSpPr>
        <p:spPr>
          <a:xfrm>
            <a:off x="6512560" y="256159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1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6515735" y="256476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24" name="直接连接符 23"/>
          <p:cNvCxnSpPr>
            <a:stCxn id="13" idx="4"/>
            <a:endCxn id="26" idx="0"/>
          </p:cNvCxnSpPr>
          <p:nvPr/>
        </p:nvCxnSpPr>
        <p:spPr>
          <a:xfrm flipH="1">
            <a:off x="5850255" y="2996565"/>
            <a:ext cx="881380" cy="2914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椭圆 25"/>
          <p:cNvSpPr/>
          <p:nvPr/>
        </p:nvSpPr>
        <p:spPr>
          <a:xfrm>
            <a:off x="5634355" y="328803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i2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6587490" y="328803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...</a:t>
            </a:r>
            <a:endParaRPr kumimoji="0" lang="en-US" altLang="zh-CN" sz="18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7667625" y="3288030"/>
            <a:ext cx="468630" cy="44069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im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36" name="直接连接符 35"/>
          <p:cNvCxnSpPr>
            <a:stCxn id="13" idx="4"/>
            <a:endCxn id="35" idx="0"/>
          </p:cNvCxnSpPr>
          <p:nvPr/>
        </p:nvCxnSpPr>
        <p:spPr>
          <a:xfrm>
            <a:off x="6731635" y="2996565"/>
            <a:ext cx="1170305" cy="2914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" name="组合 36"/>
          <p:cNvGrpSpPr/>
          <p:nvPr/>
        </p:nvGrpSpPr>
        <p:grpSpPr>
          <a:xfrm>
            <a:off x="723900" y="2708910"/>
            <a:ext cx="3308985" cy="1295400"/>
            <a:chOff x="5453" y="3752"/>
            <a:chExt cx="5211" cy="2040"/>
          </a:xfrm>
        </p:grpSpPr>
        <p:sp>
          <p:nvSpPr>
            <p:cNvPr id="38" name="流程图: 过程 37"/>
            <p:cNvSpPr/>
            <p:nvPr/>
          </p:nvSpPr>
          <p:spPr>
            <a:xfrm rot="5400000">
              <a:off x="7313" y="2618"/>
              <a:ext cx="1361" cy="4309"/>
            </a:xfrm>
            <a:prstGeom prst="flowChartProcess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5400000">
              <a:off x="4748" y="4457"/>
              <a:ext cx="2040" cy="630"/>
            </a:xfrm>
            <a:prstGeom prst="rect">
              <a:avLst/>
            </a:prstGeom>
          </p:spPr>
        </p:pic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5400000">
              <a:off x="9329" y="4457"/>
              <a:ext cx="2040" cy="630"/>
            </a:xfrm>
            <a:prstGeom prst="rect">
              <a:avLst/>
            </a:prstGeom>
          </p:spPr>
        </p:pic>
      </p:grpSp>
      <p:sp>
        <p:nvSpPr>
          <p:cNvPr id="40" name="椭圆 39"/>
          <p:cNvSpPr/>
          <p:nvPr/>
        </p:nvSpPr>
        <p:spPr>
          <a:xfrm>
            <a:off x="6518910" y="255968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69010" y="4725035"/>
            <a:ext cx="6841490" cy="534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若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入队之后再出队，对与剩下的节点满足一些条件，就让其入队，否则就抛弃！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60450" y="5445125"/>
            <a:ext cx="6841490" cy="534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那么什么来判断节点的去与留？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限界函数</a:t>
            </a:r>
            <a:r>
              <a:rPr lang="zh-CN" altLang="en-US"/>
              <a:t>：计算限界函数值，选择一些能够产生最优值的节点入队，若不能则直接将该节点抛弃。</a:t>
            </a:r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5069840" y="328993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i1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644390" y="3789045"/>
            <a:ext cx="1049020" cy="217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zh-CN" sz="1200" baseline="-25000">
                <a:latin typeface="Times New Roman" panose="02020603050405020304" charset="0"/>
                <a:cs typeface="Times New Roman" panose="02020603050405020304" charset="0"/>
              </a:rPr>
              <a:t>i1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满足入队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634355" y="3789045"/>
            <a:ext cx="1049020" cy="217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zh-CN" sz="1200" baseline="-25000">
                <a:latin typeface="Times New Roman" panose="02020603050405020304" charset="0"/>
                <a:cs typeface="Times New Roman" panose="02020603050405020304" charset="0"/>
              </a:rPr>
              <a:t>i2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满足入队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541770" y="3789045"/>
            <a:ext cx="1139825" cy="208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...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不满足入队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681595" y="3789045"/>
            <a:ext cx="1139825" cy="208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zh-CN" sz="1200" baseline="-25000">
                <a:latin typeface="Times New Roman" panose="02020603050405020304" charset="0"/>
                <a:cs typeface="Times New Roman" panose="02020603050405020304" charset="0"/>
              </a:rPr>
              <a:t>im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不满足入队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5637530" y="329057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i2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6590665" y="329120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...</a:t>
            </a:r>
            <a:endParaRPr kumimoji="0" lang="en-US" altLang="zh-CN" sz="18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7670800" y="3291205"/>
            <a:ext cx="468630" cy="44069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im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1295" y="1294765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2</a:t>
            </a:r>
            <a:r>
              <a:rPr lang="zh-CN" altLang="en-US" sz="2200">
                <a:uFillTx/>
                <a:sym typeface="+mn-ea"/>
              </a:rPr>
              <a:t>）分支限界法实现</a:t>
            </a:r>
            <a:r>
              <a:rPr lang="zh-CN" altLang="en-US" sz="2200">
                <a:uFillTx/>
                <a:sym typeface="+mn-ea"/>
              </a:rPr>
              <a:t>模板</a:t>
            </a:r>
            <a:endParaRPr lang="zh-CN" altLang="en-US" sz="2200">
              <a:uFillTx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33333 0.0184259 -0.133194 0.0731481 -0.25 0.0926852 C -0.366806 0.112222 -0.522222 0.0986111 -0.584028 0.0977778 " pathEditMode="relative" ptsTypes="">
                                      <p:cBhvr>
                                        <p:cTn id="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82986 0.0953704 L -0.803472 0.0953704 " pathEditMode="relative" ptsTypes="">
                                      <p:cBhvr>
                                        <p:cTn id="1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0625 -0.00583333 -0.0554167 -0.0226852 -0.125486 -0.0296296 C -0.195556 -0.0365741 -0.307917 -0.0342593 -0.350347 -0.0347222 " pathEditMode="relative" ptsTypes="">
                                      <p:cBhvr>
                                        <p:cTn id="2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84722 -0.00824074 -0.138194 -0.0326852 -0.205556 -0.0412037 C -0.272917 -0.0497222 -0.314722 -0.042963 -0.336875 -0.0424074 " pathEditMode="relative" ptsTypes="">
                                      <p:cBhvr>
                                        <p:cTn id="3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14583 0.0252778 -0.137986 0.100093 -0.313681 0.127407 C -0.489375 0.154722 -0.771667 0.13713 -0.878333 0.136389 " pathEditMode="relative" ptsTypes="">
                                      <p:cBhvr>
                                        <p:cTn id="4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13889 0.0253704 -0.210972 0.100648 -0.418889 0.127407 C -0.626806 0.154167 -0.923819 0.135185 -1.03958 0.133889 " pathEditMode="relative" ptsTypes="">
                                      <p:cBhvr>
                                        <p:cTn id="5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0" grpId="0" animBg="1"/>
      <p:bldP spid="40" grpId="1" animBg="1"/>
      <p:bldP spid="43" grpId="0" animBg="1"/>
      <p:bldP spid="44" grpId="0"/>
      <p:bldP spid="44" grpId="1"/>
      <p:bldP spid="45" grpId="0"/>
      <p:bldP spid="46" grpId="0"/>
      <p:bldP spid="47" grpId="0"/>
      <p:bldP spid="49" grpId="0" bldLvl="0" animBg="1"/>
      <p:bldP spid="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4970" y="1700530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分支限界法更详细代码模板！</a:t>
            </a:r>
            <a:endParaRPr lang="zh-CN" altLang="en-US" sz="2200">
              <a:uFillTx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2276475"/>
            <a:ext cx="5969000" cy="26485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1295" y="1294765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2</a:t>
            </a:r>
            <a:r>
              <a:rPr lang="zh-CN" altLang="en-US" sz="2200">
                <a:uFillTx/>
                <a:sym typeface="+mn-ea"/>
              </a:rPr>
              <a:t>）分支限界法实现</a:t>
            </a:r>
            <a:r>
              <a:rPr lang="zh-CN" altLang="en-US" sz="2200">
                <a:uFillTx/>
                <a:sym typeface="+mn-ea"/>
              </a:rPr>
              <a:t>模板</a:t>
            </a:r>
            <a:endParaRPr lang="zh-CN" altLang="en-US" sz="2200">
              <a:uFillTx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3"/>
          <p:cNvSpPr>
            <a:spLocks noChangeArrowheads="1"/>
          </p:cNvSpPr>
          <p:nvPr/>
        </p:nvSpPr>
        <p:spPr bwMode="auto">
          <a:xfrm>
            <a:off x="5267326" y="2962275"/>
            <a:ext cx="1412875" cy="1465263"/>
          </a:xfrm>
          <a:prstGeom prst="rect">
            <a:avLst/>
          </a:prstGeom>
          <a:solidFill>
            <a:srgbClr val="D5E8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1295" y="1294765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3</a:t>
            </a:r>
            <a:r>
              <a:rPr lang="zh-CN" altLang="en-US" sz="2200">
                <a:uFillTx/>
                <a:sym typeface="+mn-ea"/>
              </a:rPr>
              <a:t>）分支限界法与回溯</a:t>
            </a:r>
            <a:r>
              <a:rPr lang="zh-CN" altLang="en-US" sz="2200">
                <a:uFillTx/>
                <a:sym typeface="+mn-ea"/>
              </a:rPr>
              <a:t>区别</a:t>
            </a:r>
            <a:endParaRPr lang="zh-CN" altLang="en-US" sz="2200">
              <a:uFillTx/>
              <a:sym typeface="+mn-ea"/>
            </a:endParaRP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1023938" y="2003425"/>
            <a:ext cx="7096125" cy="3990975"/>
            <a:chOff x="645" y="1262"/>
            <a:chExt cx="4470" cy="2514"/>
          </a:xfrm>
        </p:grpSpPr>
        <p:sp>
          <p:nvSpPr>
            <p:cNvPr id="71" name="AutoShape 3"/>
            <p:cNvSpPr>
              <a:spLocks noChangeAspect="1" noChangeArrowheads="1" noTextEdit="1"/>
            </p:cNvSpPr>
            <p:nvPr/>
          </p:nvSpPr>
          <p:spPr bwMode="auto">
            <a:xfrm>
              <a:off x="645" y="1262"/>
              <a:ext cx="4470" cy="2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Rectangle 5"/>
            <p:cNvSpPr>
              <a:spLocks noChangeArrowheads="1"/>
            </p:cNvSpPr>
            <p:nvPr/>
          </p:nvSpPr>
          <p:spPr bwMode="auto">
            <a:xfrm>
              <a:off x="651" y="1268"/>
              <a:ext cx="889" cy="598"/>
            </a:xfrm>
            <a:prstGeom prst="rect">
              <a:avLst/>
            </a:prstGeom>
            <a:solidFill>
              <a:srgbClr val="6FC0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Rectangle 6"/>
            <p:cNvSpPr>
              <a:spLocks noChangeArrowheads="1"/>
            </p:cNvSpPr>
            <p:nvPr/>
          </p:nvSpPr>
          <p:spPr bwMode="auto">
            <a:xfrm>
              <a:off x="1540" y="1268"/>
              <a:ext cx="889" cy="598"/>
            </a:xfrm>
            <a:prstGeom prst="rect">
              <a:avLst/>
            </a:prstGeom>
            <a:solidFill>
              <a:srgbClr val="6FC0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Rectangle 7"/>
            <p:cNvSpPr>
              <a:spLocks noChangeArrowheads="1"/>
            </p:cNvSpPr>
            <p:nvPr/>
          </p:nvSpPr>
          <p:spPr bwMode="auto">
            <a:xfrm>
              <a:off x="2429" y="1268"/>
              <a:ext cx="889" cy="598"/>
            </a:xfrm>
            <a:prstGeom prst="rect">
              <a:avLst/>
            </a:prstGeom>
            <a:solidFill>
              <a:srgbClr val="6FC0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Rectangle 8"/>
            <p:cNvSpPr>
              <a:spLocks noChangeArrowheads="1"/>
            </p:cNvSpPr>
            <p:nvPr/>
          </p:nvSpPr>
          <p:spPr bwMode="auto">
            <a:xfrm>
              <a:off x="3318" y="1268"/>
              <a:ext cx="890" cy="598"/>
            </a:xfrm>
            <a:prstGeom prst="rect">
              <a:avLst/>
            </a:prstGeom>
            <a:solidFill>
              <a:srgbClr val="6FC0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Rectangle 9"/>
            <p:cNvSpPr>
              <a:spLocks noChangeArrowheads="1"/>
            </p:cNvSpPr>
            <p:nvPr/>
          </p:nvSpPr>
          <p:spPr bwMode="auto">
            <a:xfrm>
              <a:off x="4208" y="1268"/>
              <a:ext cx="889" cy="598"/>
            </a:xfrm>
            <a:prstGeom prst="rect">
              <a:avLst/>
            </a:prstGeom>
            <a:solidFill>
              <a:srgbClr val="6FC0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Rectangle 10"/>
            <p:cNvSpPr>
              <a:spLocks noChangeArrowheads="1"/>
            </p:cNvSpPr>
            <p:nvPr/>
          </p:nvSpPr>
          <p:spPr bwMode="auto">
            <a:xfrm>
              <a:off x="651" y="1866"/>
              <a:ext cx="889" cy="923"/>
            </a:xfrm>
            <a:prstGeom prst="rect">
              <a:avLst/>
            </a:prstGeom>
            <a:solidFill>
              <a:srgbClr val="D5E8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Rectangle 11"/>
            <p:cNvSpPr>
              <a:spLocks noChangeArrowheads="1"/>
            </p:cNvSpPr>
            <p:nvPr/>
          </p:nvSpPr>
          <p:spPr bwMode="auto">
            <a:xfrm>
              <a:off x="1540" y="1866"/>
              <a:ext cx="889" cy="923"/>
            </a:xfrm>
            <a:prstGeom prst="rect">
              <a:avLst/>
            </a:prstGeom>
            <a:solidFill>
              <a:srgbClr val="D5E8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Rectangle 12"/>
            <p:cNvSpPr>
              <a:spLocks noChangeArrowheads="1"/>
            </p:cNvSpPr>
            <p:nvPr/>
          </p:nvSpPr>
          <p:spPr bwMode="auto">
            <a:xfrm>
              <a:off x="2429" y="1866"/>
              <a:ext cx="889" cy="923"/>
            </a:xfrm>
            <a:prstGeom prst="rect">
              <a:avLst/>
            </a:prstGeom>
            <a:solidFill>
              <a:srgbClr val="D5E8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Rectangle 14"/>
            <p:cNvSpPr>
              <a:spLocks noChangeArrowheads="1"/>
            </p:cNvSpPr>
            <p:nvPr/>
          </p:nvSpPr>
          <p:spPr bwMode="auto">
            <a:xfrm>
              <a:off x="4208" y="1866"/>
              <a:ext cx="889" cy="923"/>
            </a:xfrm>
            <a:prstGeom prst="rect">
              <a:avLst/>
            </a:prstGeom>
            <a:solidFill>
              <a:srgbClr val="D5E8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Rectangle 15"/>
            <p:cNvSpPr>
              <a:spLocks noChangeArrowheads="1"/>
            </p:cNvSpPr>
            <p:nvPr/>
          </p:nvSpPr>
          <p:spPr bwMode="auto">
            <a:xfrm>
              <a:off x="651" y="2789"/>
              <a:ext cx="889" cy="924"/>
            </a:xfrm>
            <a:prstGeom prst="rect">
              <a:avLst/>
            </a:prstGeom>
            <a:solidFill>
              <a:srgbClr val="EBF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Rectangle 16"/>
            <p:cNvSpPr>
              <a:spLocks noChangeArrowheads="1"/>
            </p:cNvSpPr>
            <p:nvPr/>
          </p:nvSpPr>
          <p:spPr bwMode="auto">
            <a:xfrm>
              <a:off x="1540" y="2789"/>
              <a:ext cx="889" cy="924"/>
            </a:xfrm>
            <a:prstGeom prst="rect">
              <a:avLst/>
            </a:prstGeom>
            <a:solidFill>
              <a:srgbClr val="EBF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Rectangle 17"/>
            <p:cNvSpPr>
              <a:spLocks noChangeArrowheads="1"/>
            </p:cNvSpPr>
            <p:nvPr/>
          </p:nvSpPr>
          <p:spPr bwMode="auto">
            <a:xfrm>
              <a:off x="2429" y="2789"/>
              <a:ext cx="889" cy="924"/>
            </a:xfrm>
            <a:prstGeom prst="rect">
              <a:avLst/>
            </a:prstGeom>
            <a:solidFill>
              <a:srgbClr val="EBF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Rectangle 18"/>
            <p:cNvSpPr>
              <a:spLocks noChangeArrowheads="1"/>
            </p:cNvSpPr>
            <p:nvPr/>
          </p:nvSpPr>
          <p:spPr bwMode="auto">
            <a:xfrm>
              <a:off x="3318" y="2789"/>
              <a:ext cx="890" cy="924"/>
            </a:xfrm>
            <a:prstGeom prst="rect">
              <a:avLst/>
            </a:prstGeom>
            <a:solidFill>
              <a:srgbClr val="EBF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Rectangle 19"/>
            <p:cNvSpPr>
              <a:spLocks noChangeArrowheads="1"/>
            </p:cNvSpPr>
            <p:nvPr/>
          </p:nvSpPr>
          <p:spPr bwMode="auto">
            <a:xfrm>
              <a:off x="4208" y="2789"/>
              <a:ext cx="889" cy="924"/>
            </a:xfrm>
            <a:prstGeom prst="rect">
              <a:avLst/>
            </a:prstGeom>
            <a:solidFill>
              <a:srgbClr val="EBF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Line 20"/>
            <p:cNvSpPr>
              <a:spLocks noChangeShapeType="1"/>
            </p:cNvSpPr>
            <p:nvPr/>
          </p:nvSpPr>
          <p:spPr bwMode="auto">
            <a:xfrm>
              <a:off x="1540" y="1264"/>
              <a:ext cx="0" cy="2454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Line 21"/>
            <p:cNvSpPr>
              <a:spLocks noChangeShapeType="1"/>
            </p:cNvSpPr>
            <p:nvPr/>
          </p:nvSpPr>
          <p:spPr bwMode="auto">
            <a:xfrm>
              <a:off x="2429" y="1264"/>
              <a:ext cx="0" cy="2454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Line 22"/>
            <p:cNvSpPr>
              <a:spLocks noChangeShapeType="1"/>
            </p:cNvSpPr>
            <p:nvPr/>
          </p:nvSpPr>
          <p:spPr bwMode="auto">
            <a:xfrm>
              <a:off x="3318" y="1264"/>
              <a:ext cx="0" cy="2454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Line 23"/>
            <p:cNvSpPr>
              <a:spLocks noChangeShapeType="1"/>
            </p:cNvSpPr>
            <p:nvPr/>
          </p:nvSpPr>
          <p:spPr bwMode="auto">
            <a:xfrm>
              <a:off x="4208" y="1264"/>
              <a:ext cx="0" cy="2454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Line 24"/>
            <p:cNvSpPr>
              <a:spLocks noChangeShapeType="1"/>
            </p:cNvSpPr>
            <p:nvPr/>
          </p:nvSpPr>
          <p:spPr bwMode="auto">
            <a:xfrm>
              <a:off x="647" y="1866"/>
              <a:ext cx="4454" cy="0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Line 25"/>
            <p:cNvSpPr>
              <a:spLocks noChangeShapeType="1"/>
            </p:cNvSpPr>
            <p:nvPr/>
          </p:nvSpPr>
          <p:spPr bwMode="auto">
            <a:xfrm>
              <a:off x="647" y="2789"/>
              <a:ext cx="4454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Line 26"/>
            <p:cNvSpPr>
              <a:spLocks noChangeShapeType="1"/>
            </p:cNvSpPr>
            <p:nvPr/>
          </p:nvSpPr>
          <p:spPr bwMode="auto">
            <a:xfrm>
              <a:off x="651" y="1264"/>
              <a:ext cx="0" cy="2454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Line 27"/>
            <p:cNvSpPr>
              <a:spLocks noChangeShapeType="1"/>
            </p:cNvSpPr>
            <p:nvPr/>
          </p:nvSpPr>
          <p:spPr bwMode="auto">
            <a:xfrm>
              <a:off x="5097" y="1264"/>
              <a:ext cx="0" cy="2454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Line 28"/>
            <p:cNvSpPr>
              <a:spLocks noChangeShapeType="1"/>
            </p:cNvSpPr>
            <p:nvPr/>
          </p:nvSpPr>
          <p:spPr bwMode="auto">
            <a:xfrm>
              <a:off x="647" y="1268"/>
              <a:ext cx="4454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Line 29"/>
            <p:cNvSpPr>
              <a:spLocks noChangeShapeType="1"/>
            </p:cNvSpPr>
            <p:nvPr/>
          </p:nvSpPr>
          <p:spPr bwMode="auto">
            <a:xfrm>
              <a:off x="647" y="3713"/>
              <a:ext cx="4454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Rectangle 30"/>
            <p:cNvSpPr>
              <a:spLocks noChangeArrowheads="1"/>
            </p:cNvSpPr>
            <p:nvPr/>
          </p:nvSpPr>
          <p:spPr bwMode="auto">
            <a:xfrm>
              <a:off x="898" y="1491"/>
              <a:ext cx="28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方法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8" name="Rectangle 31"/>
            <p:cNvSpPr>
              <a:spLocks noChangeArrowheads="1"/>
            </p:cNvSpPr>
            <p:nvPr/>
          </p:nvSpPr>
          <p:spPr bwMode="auto">
            <a:xfrm>
              <a:off x="1613" y="1421"/>
              <a:ext cx="433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解空间搜索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Rectangle 32"/>
            <p:cNvSpPr>
              <a:spLocks noChangeArrowheads="1"/>
            </p:cNvSpPr>
            <p:nvPr/>
          </p:nvSpPr>
          <p:spPr bwMode="auto">
            <a:xfrm>
              <a:off x="1835" y="1594"/>
              <a:ext cx="22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方式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Rectangle 33"/>
            <p:cNvSpPr>
              <a:spLocks noChangeArrowheads="1"/>
            </p:cNvSpPr>
            <p:nvPr/>
          </p:nvSpPr>
          <p:spPr bwMode="auto">
            <a:xfrm>
              <a:off x="2502" y="1421"/>
              <a:ext cx="433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存储节点的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Rectangle 34"/>
            <p:cNvSpPr>
              <a:spLocks noChangeArrowheads="1"/>
            </p:cNvSpPr>
            <p:nvPr/>
          </p:nvSpPr>
          <p:spPr bwMode="auto">
            <a:xfrm>
              <a:off x="2574" y="1594"/>
              <a:ext cx="37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数据结构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" name="Rectangle 35"/>
            <p:cNvSpPr>
              <a:spLocks noChangeArrowheads="1"/>
            </p:cNvSpPr>
            <p:nvPr/>
          </p:nvSpPr>
          <p:spPr bwMode="auto">
            <a:xfrm>
              <a:off x="3391" y="1421"/>
              <a:ext cx="433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存储节点特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" name="Rectangle 36"/>
            <p:cNvSpPr>
              <a:spLocks noChangeArrowheads="1"/>
            </p:cNvSpPr>
            <p:nvPr/>
          </p:nvSpPr>
          <p:spPr bwMode="auto">
            <a:xfrm>
              <a:off x="3692" y="1594"/>
              <a:ext cx="156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性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" name="Rectangle 37"/>
            <p:cNvSpPr>
              <a:spLocks noChangeArrowheads="1"/>
            </p:cNvSpPr>
            <p:nvPr/>
          </p:nvSpPr>
          <p:spPr bwMode="auto">
            <a:xfrm>
              <a:off x="4353" y="1508"/>
              <a:ext cx="360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常用应用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" name="Rectangle 38"/>
            <p:cNvSpPr>
              <a:spLocks noChangeArrowheads="1"/>
            </p:cNvSpPr>
            <p:nvPr/>
          </p:nvSpPr>
          <p:spPr bwMode="auto">
            <a:xfrm>
              <a:off x="874" y="2267"/>
              <a:ext cx="30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回溯法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" name="Rectangle 51"/>
            <p:cNvSpPr>
              <a:spLocks noChangeArrowheads="1"/>
            </p:cNvSpPr>
            <p:nvPr/>
          </p:nvSpPr>
          <p:spPr bwMode="auto">
            <a:xfrm>
              <a:off x="724" y="3192"/>
              <a:ext cx="43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分支限界法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36" name="Rectangle 39"/>
          <p:cNvSpPr>
            <a:spLocks noChangeArrowheads="1"/>
          </p:cNvSpPr>
          <p:nvPr/>
        </p:nvSpPr>
        <p:spPr bwMode="auto">
          <a:xfrm>
            <a:off x="2693988" y="3598863"/>
            <a:ext cx="3429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深度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7" name="Rectangle 40"/>
          <p:cNvSpPr>
            <a:spLocks noChangeArrowheads="1"/>
          </p:cNvSpPr>
          <p:nvPr/>
        </p:nvSpPr>
        <p:spPr bwMode="auto">
          <a:xfrm>
            <a:off x="3152776" y="3598863"/>
            <a:ext cx="3429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优先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8" name="Rectangle 52"/>
          <p:cNvSpPr>
            <a:spLocks noChangeArrowheads="1"/>
          </p:cNvSpPr>
          <p:nvPr/>
        </p:nvSpPr>
        <p:spPr bwMode="auto">
          <a:xfrm>
            <a:off x="2693988" y="5067300"/>
            <a:ext cx="3429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广度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9" name="Rectangle 53"/>
          <p:cNvSpPr>
            <a:spLocks noChangeArrowheads="1"/>
          </p:cNvSpPr>
          <p:nvPr/>
        </p:nvSpPr>
        <p:spPr bwMode="auto">
          <a:xfrm>
            <a:off x="3152776" y="5067300"/>
            <a:ext cx="3429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优先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0" name="Rectangle 41"/>
          <p:cNvSpPr>
            <a:spLocks noChangeArrowheads="1"/>
          </p:cNvSpPr>
          <p:nvPr/>
        </p:nvSpPr>
        <p:spPr bwMode="auto">
          <a:xfrm>
            <a:off x="4449763" y="3598863"/>
            <a:ext cx="2286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栈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1" name="Rectangle 54"/>
          <p:cNvSpPr>
            <a:spLocks noChangeArrowheads="1"/>
          </p:cNvSpPr>
          <p:nvPr/>
        </p:nvSpPr>
        <p:spPr bwMode="auto">
          <a:xfrm>
            <a:off x="4335463" y="4927600"/>
            <a:ext cx="3429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队列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2" name="Rectangle 55"/>
          <p:cNvSpPr>
            <a:spLocks noChangeArrowheads="1"/>
          </p:cNvSpPr>
          <p:nvPr/>
        </p:nvSpPr>
        <p:spPr bwMode="auto">
          <a:xfrm>
            <a:off x="4105276" y="5207000"/>
            <a:ext cx="573088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优先队列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6" name="Rectangle 42"/>
          <p:cNvSpPr>
            <a:spLocks noChangeArrowheads="1"/>
          </p:cNvSpPr>
          <p:nvPr/>
        </p:nvSpPr>
        <p:spPr bwMode="auto">
          <a:xfrm>
            <a:off x="5402263" y="3051175"/>
            <a:ext cx="6778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每个节点入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Rectangle 43"/>
          <p:cNvSpPr>
            <a:spLocks noChangeArrowheads="1"/>
          </p:cNvSpPr>
          <p:nvPr/>
        </p:nvSpPr>
        <p:spPr bwMode="auto">
          <a:xfrm>
            <a:off x="5402263" y="3325813"/>
            <a:ext cx="573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栈前可以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8" name="Rectangle 44"/>
          <p:cNvSpPr>
            <a:spLocks noChangeArrowheads="1"/>
          </p:cNvSpPr>
          <p:nvPr/>
        </p:nvSpPr>
        <p:spPr bwMode="auto">
          <a:xfrm>
            <a:off x="6318251" y="3325813"/>
            <a:ext cx="2286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根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Rectangle 45"/>
          <p:cNvSpPr>
            <a:spLocks noChangeArrowheads="1"/>
          </p:cNvSpPr>
          <p:nvPr/>
        </p:nvSpPr>
        <p:spPr bwMode="auto">
          <a:xfrm>
            <a:off x="5402263" y="3595688"/>
            <a:ext cx="6778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据一些条件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0" name="Rectangle 46"/>
          <p:cNvSpPr>
            <a:spLocks noChangeArrowheads="1"/>
          </p:cNvSpPr>
          <p:nvPr/>
        </p:nvSpPr>
        <p:spPr bwMode="auto">
          <a:xfrm>
            <a:off x="5402263" y="3871913"/>
            <a:ext cx="344488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判断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" name="Rectangle 47"/>
          <p:cNvSpPr>
            <a:spLocks noChangeArrowheads="1"/>
          </p:cNvSpPr>
          <p:nvPr/>
        </p:nvSpPr>
        <p:spPr bwMode="auto">
          <a:xfrm>
            <a:off x="5861051" y="3871913"/>
            <a:ext cx="4476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是否入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2" name="Rectangle 48"/>
          <p:cNvSpPr>
            <a:spLocks noChangeArrowheads="1"/>
          </p:cNvSpPr>
          <p:nvPr/>
        </p:nvSpPr>
        <p:spPr bwMode="auto">
          <a:xfrm>
            <a:off x="5861051" y="4146550"/>
            <a:ext cx="2286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栈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" name="Rectangle 56"/>
          <p:cNvSpPr>
            <a:spLocks noChangeArrowheads="1"/>
          </p:cNvSpPr>
          <p:nvPr/>
        </p:nvSpPr>
        <p:spPr bwMode="auto">
          <a:xfrm>
            <a:off x="5402263" y="4518025"/>
            <a:ext cx="6778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每个节点可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4" name="Rectangle 58"/>
          <p:cNvSpPr>
            <a:spLocks noChangeArrowheads="1"/>
          </p:cNvSpPr>
          <p:nvPr/>
        </p:nvSpPr>
        <p:spPr bwMode="auto">
          <a:xfrm>
            <a:off x="6089651" y="4794250"/>
            <a:ext cx="3429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限界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5" name="Rectangle 57"/>
          <p:cNvSpPr>
            <a:spLocks noChangeArrowheads="1"/>
          </p:cNvSpPr>
          <p:nvPr/>
        </p:nvSpPr>
        <p:spPr bwMode="auto">
          <a:xfrm>
            <a:off x="5402263" y="4794250"/>
            <a:ext cx="4492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以结合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" name="Rectangle 62"/>
          <p:cNvSpPr>
            <a:spLocks noChangeArrowheads="1"/>
          </p:cNvSpPr>
          <p:nvPr/>
        </p:nvSpPr>
        <p:spPr bwMode="auto">
          <a:xfrm>
            <a:off x="5632451" y="5613400"/>
            <a:ext cx="4572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否入队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7" name="Rectangle 59"/>
          <p:cNvSpPr>
            <a:spLocks noChangeArrowheads="1"/>
          </p:cNvSpPr>
          <p:nvPr/>
        </p:nvSpPr>
        <p:spPr bwMode="auto">
          <a:xfrm>
            <a:off x="5402263" y="5059363"/>
            <a:ext cx="6873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函数和目标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8" name="Rectangle 61"/>
          <p:cNvSpPr>
            <a:spLocks noChangeArrowheads="1"/>
          </p:cNvSpPr>
          <p:nvPr/>
        </p:nvSpPr>
        <p:spPr bwMode="auto">
          <a:xfrm>
            <a:off x="5861051" y="5338763"/>
            <a:ext cx="4476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判断是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9" name="Rectangle 60"/>
          <p:cNvSpPr>
            <a:spLocks noChangeArrowheads="1"/>
          </p:cNvSpPr>
          <p:nvPr/>
        </p:nvSpPr>
        <p:spPr bwMode="auto">
          <a:xfrm>
            <a:off x="5402263" y="5338763"/>
            <a:ext cx="344488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0" name="Rectangle 49"/>
          <p:cNvSpPr>
            <a:spLocks noChangeArrowheads="1"/>
          </p:cNvSpPr>
          <p:nvPr/>
        </p:nvSpPr>
        <p:spPr bwMode="auto">
          <a:xfrm>
            <a:off x="6815138" y="3463925"/>
            <a:ext cx="6762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满足条件的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1" name="Rectangle 50"/>
          <p:cNvSpPr>
            <a:spLocks noChangeArrowheads="1"/>
          </p:cNvSpPr>
          <p:nvPr/>
        </p:nvSpPr>
        <p:spPr bwMode="auto">
          <a:xfrm>
            <a:off x="7043738" y="3740150"/>
            <a:ext cx="4476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所有解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" name="Rectangle 63"/>
          <p:cNvSpPr>
            <a:spLocks noChangeArrowheads="1"/>
          </p:cNvSpPr>
          <p:nvPr/>
        </p:nvSpPr>
        <p:spPr bwMode="auto">
          <a:xfrm>
            <a:off x="6815138" y="4792663"/>
            <a:ext cx="6762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可以求出满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4" name="Rectangle 64"/>
          <p:cNvSpPr>
            <a:spLocks noChangeArrowheads="1"/>
          </p:cNvSpPr>
          <p:nvPr/>
        </p:nvSpPr>
        <p:spPr bwMode="auto">
          <a:xfrm>
            <a:off x="6815138" y="5067300"/>
            <a:ext cx="571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足条件的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" name="Rectangle 65"/>
          <p:cNvSpPr>
            <a:spLocks noChangeArrowheads="1"/>
          </p:cNvSpPr>
          <p:nvPr/>
        </p:nvSpPr>
        <p:spPr bwMode="auto">
          <a:xfrm>
            <a:off x="7729538" y="5067300"/>
            <a:ext cx="3540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最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6" name="Rectangle 66"/>
          <p:cNvSpPr>
            <a:spLocks noChangeArrowheads="1"/>
          </p:cNvSpPr>
          <p:nvPr/>
        </p:nvSpPr>
        <p:spPr bwMode="auto">
          <a:xfrm>
            <a:off x="7158038" y="5337175"/>
            <a:ext cx="3429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优解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7" grpId="0"/>
      <p:bldP spid="136" grpId="1"/>
      <p:bldP spid="137" grpId="1"/>
      <p:bldP spid="138" grpId="0"/>
      <p:bldP spid="139" grpId="0"/>
      <p:bldP spid="138" grpId="1"/>
      <p:bldP spid="139" grpId="1"/>
      <p:bldP spid="140" grpId="0"/>
      <p:bldP spid="141" grpId="0"/>
      <p:bldP spid="142" grpId="0"/>
      <p:bldP spid="140" grpId="1"/>
      <p:bldP spid="141" grpId="1"/>
      <p:bldP spid="142" grpId="1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3" grpId="0"/>
      <p:bldP spid="164" grpId="0"/>
      <p:bldP spid="165" grpId="0"/>
      <p:bldP spid="16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1295" y="1294765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4</a:t>
            </a:r>
            <a:r>
              <a:rPr lang="zh-CN" altLang="en-US" sz="2200">
                <a:uFillTx/>
                <a:sym typeface="+mn-ea"/>
              </a:rPr>
              <a:t>）分支限界法的算法设计</a:t>
            </a:r>
            <a:r>
              <a:rPr lang="zh-CN" altLang="en-US" sz="2200">
                <a:uFillTx/>
                <a:sym typeface="+mn-ea"/>
              </a:rPr>
              <a:t>思想</a:t>
            </a:r>
            <a:endParaRPr lang="zh-CN" altLang="en-US" sz="2200">
              <a:uFillTx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1772285"/>
            <a:ext cx="7186295" cy="1118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根据设计好的限界函数，在扩展时依据限界函数计算的数值决定一些不必要的孩子节点，从而提高</a:t>
            </a:r>
            <a:r>
              <a:rPr lang="zh-CN" altLang="en-US"/>
              <a:t>效率。</a:t>
            </a:r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388485" y="300990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1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951480" y="373634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i1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27" name="直接连接符 26"/>
          <p:cNvCxnSpPr>
            <a:stCxn id="7" idx="4"/>
            <a:endCxn id="9" idx="0"/>
          </p:cNvCxnSpPr>
          <p:nvPr/>
        </p:nvCxnSpPr>
        <p:spPr>
          <a:xfrm flipH="1">
            <a:off x="3167380" y="3441700"/>
            <a:ext cx="1437005" cy="2946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椭圆 49"/>
          <p:cNvSpPr/>
          <p:nvPr/>
        </p:nvSpPr>
        <p:spPr>
          <a:xfrm>
            <a:off x="4388485" y="300990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1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391660" y="301307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24" name="直接连接符 23"/>
          <p:cNvCxnSpPr>
            <a:stCxn id="13" idx="4"/>
            <a:endCxn id="26" idx="0"/>
          </p:cNvCxnSpPr>
          <p:nvPr/>
        </p:nvCxnSpPr>
        <p:spPr>
          <a:xfrm flipH="1">
            <a:off x="3884295" y="3444875"/>
            <a:ext cx="723265" cy="2914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椭圆 25"/>
          <p:cNvSpPr/>
          <p:nvPr/>
        </p:nvSpPr>
        <p:spPr>
          <a:xfrm>
            <a:off x="3668395" y="373634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i1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543550" y="3736340"/>
            <a:ext cx="468630" cy="44069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im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36" name="直接连接符 35"/>
          <p:cNvCxnSpPr>
            <a:stCxn id="13" idx="4"/>
            <a:endCxn id="35" idx="0"/>
          </p:cNvCxnSpPr>
          <p:nvPr/>
        </p:nvCxnSpPr>
        <p:spPr>
          <a:xfrm>
            <a:off x="4607560" y="3444875"/>
            <a:ext cx="1170305" cy="2914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椭圆 55"/>
          <p:cNvSpPr/>
          <p:nvPr/>
        </p:nvSpPr>
        <p:spPr>
          <a:xfrm>
            <a:off x="5546725" y="3736340"/>
            <a:ext cx="468630" cy="44069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i4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4" name="直接连接符 3"/>
          <p:cNvCxnSpPr>
            <a:endCxn id="5" idx="0"/>
          </p:cNvCxnSpPr>
          <p:nvPr/>
        </p:nvCxnSpPr>
        <p:spPr>
          <a:xfrm>
            <a:off x="4610735" y="3439795"/>
            <a:ext cx="65405" cy="2965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椭圆 4"/>
          <p:cNvSpPr/>
          <p:nvPr/>
        </p:nvSpPr>
        <p:spPr>
          <a:xfrm>
            <a:off x="4460240" y="373634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i3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3986530" y="3583305"/>
            <a:ext cx="1552575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椭圆 10"/>
          <p:cNvSpPr/>
          <p:nvPr/>
        </p:nvSpPr>
        <p:spPr>
          <a:xfrm>
            <a:off x="6163945" y="306895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1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163945" y="3068955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V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1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167120" y="307213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17" name="直接连接符 16"/>
          <p:cNvCxnSpPr>
            <a:stCxn id="16" idx="4"/>
            <a:endCxn id="18" idx="0"/>
          </p:cNvCxnSpPr>
          <p:nvPr/>
        </p:nvCxnSpPr>
        <p:spPr>
          <a:xfrm flipH="1">
            <a:off x="6022975" y="3503930"/>
            <a:ext cx="360045" cy="2857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椭圆 17"/>
          <p:cNvSpPr/>
          <p:nvPr/>
        </p:nvSpPr>
        <p:spPr>
          <a:xfrm>
            <a:off x="5807075" y="378968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i1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22" name="直接连接符 21"/>
          <p:cNvCxnSpPr>
            <a:stCxn id="16" idx="4"/>
            <a:endCxn id="23" idx="0"/>
          </p:cNvCxnSpPr>
          <p:nvPr/>
        </p:nvCxnSpPr>
        <p:spPr>
          <a:xfrm>
            <a:off x="6383020" y="3503930"/>
            <a:ext cx="431800" cy="2857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椭圆 22"/>
          <p:cNvSpPr/>
          <p:nvPr/>
        </p:nvSpPr>
        <p:spPr>
          <a:xfrm>
            <a:off x="6598920" y="378968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i3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9465" y="5271770"/>
            <a:ext cx="75641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是一个活节点（也就是有可能产生最优解的节点），如果出队的时候通过限界函数判断出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的子节点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i2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i4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节点不会存在最优解，则删除，提高效率。这是分支限界的核心思想。那么如何去判断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,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具体的是如何实现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呢？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1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1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1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1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2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2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2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153 0.000277778 " pathEditMode="relative" ptsTypes=""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 bldLvl="0" animBg="1"/>
      <p:bldP spid="50" grpId="0" bldLvl="0" animBg="1"/>
      <p:bldP spid="13" grpId="0" bldLvl="0" animBg="1"/>
      <p:bldP spid="26" grpId="0" bldLvl="0" animBg="1"/>
      <p:bldP spid="35" grpId="0" bldLvl="0" animBg="1"/>
      <p:bldP spid="56" grpId="0" bldLvl="0" animBg="1"/>
      <p:bldP spid="5" grpId="0" bldLvl="0" animBg="1"/>
      <p:bldP spid="11" grpId="0" bldLvl="0" animBg="1"/>
      <p:bldP spid="15" grpId="0" bldLvl="0" animBg="1"/>
      <p:bldP spid="16" grpId="0" bldLvl="0" animBg="1"/>
      <p:bldP spid="18" grpId="0" bldLvl="0" animBg="1"/>
      <p:bldP spid="2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1295" y="1294765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4</a:t>
            </a:r>
            <a:r>
              <a:rPr lang="zh-CN" altLang="en-US" sz="2200">
                <a:uFillTx/>
                <a:sym typeface="+mn-ea"/>
              </a:rPr>
              <a:t>）分支限界法的算法设计</a:t>
            </a:r>
            <a:r>
              <a:rPr lang="zh-CN" altLang="en-US" sz="2200">
                <a:uFillTx/>
                <a:sym typeface="+mn-ea"/>
              </a:rPr>
              <a:t>思想</a:t>
            </a:r>
            <a:endParaRPr lang="zh-CN" altLang="en-US" sz="2200">
              <a:uFillTx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95605" y="1844675"/>
            <a:ext cx="824801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限界函数是非常重要的，因为限界函数可以判断该节点是否可能（预估）存在最优解</a:t>
            </a:r>
            <a:r>
              <a:rPr lang="en-US" altLang="zh-CN" sz="18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!</a:t>
            </a:r>
            <a:r>
              <a:rPr lang="zh-CN" altLang="en-US" sz="18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限界函数的设计没有固定的方法，要根据具体问题具体分析。</a:t>
            </a:r>
            <a:endParaRPr lang="zh-CN" altLang="en-US" sz="1800">
              <a:solidFill>
                <a:schemeClr val="tx1"/>
              </a:solidFill>
              <a:highlight>
                <a:srgbClr val="FFFF00"/>
              </a:highlight>
              <a:uFillTx/>
              <a:latin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995" y="2619375"/>
            <a:ext cx="7592695" cy="798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假如目标函数是求</a:t>
            </a:r>
            <a:r>
              <a:rPr lang="zh-CN" altLang="en-US"/>
              <a:t>最大值：</a:t>
            </a:r>
            <a:endParaRPr lang="zh-CN" altLang="en-US"/>
          </a:p>
          <a:p>
            <a:r>
              <a:rPr lang="zh-CN" altLang="en-US"/>
              <a:t>则设计的是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上限界函数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ub</a:t>
            </a:r>
            <a:r>
              <a:rPr lang="zh-CN" altLang="en-US"/>
              <a:t>（即预估节点的最大值的上</a:t>
            </a:r>
            <a:r>
              <a:rPr lang="zh-CN" altLang="en-US"/>
              <a:t>限）。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椭圆 13"/>
          <p:cNvSpPr/>
          <p:nvPr/>
        </p:nvSpPr>
        <p:spPr>
          <a:xfrm>
            <a:off x="7884478" y="367919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10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i</a:t>
            </a:r>
            <a:endParaRPr kumimoji="0" lang="en-US" altLang="zh-CN" sz="10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cxnSp>
        <p:nvCxnSpPr>
          <p:cNvPr id="19" name="直接连接符 18"/>
          <p:cNvCxnSpPr>
            <a:stCxn id="14" idx="4"/>
            <a:endCxn id="20" idx="0"/>
          </p:cNvCxnSpPr>
          <p:nvPr/>
        </p:nvCxnSpPr>
        <p:spPr>
          <a:xfrm>
            <a:off x="8100795" y="4110990"/>
            <a:ext cx="0" cy="28575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椭圆 19"/>
          <p:cNvSpPr/>
          <p:nvPr/>
        </p:nvSpPr>
        <p:spPr>
          <a:xfrm>
            <a:off x="7884478" y="4396740"/>
            <a:ext cx="432000" cy="432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9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S</a:t>
            </a:r>
            <a:r>
              <a:rPr kumimoji="0" lang="en-US" altLang="zh-CN" sz="900" b="0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华文细黑" panose="02010600040101010101" pitchFamily="2" charset="-122"/>
                <a:cs typeface="Times New Roman" panose="02020603050405020304" charset="0"/>
              </a:rPr>
              <a:t>j</a:t>
            </a:r>
            <a:endParaRPr kumimoji="0" lang="en-US" altLang="zh-CN" sz="900" b="0" i="1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华文细黑" panose="02010600040101010101" pitchFamily="2" charset="-122"/>
              <a:cs typeface="Times New Roman" panose="020206030504050203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39750" y="3490595"/>
            <a:ext cx="7592695" cy="798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满足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ub(S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i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)&gt;=ub(S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j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)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，当存在一个可行解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ub(S)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，若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ub(S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j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)&lt;ub(S)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，则对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j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节点剪枝。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23240" y="4357370"/>
            <a:ext cx="7592695" cy="798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假如目标函数是求最最</a:t>
            </a:r>
            <a:r>
              <a:rPr lang="zh-CN" altLang="en-US"/>
              <a:t>小值：</a:t>
            </a:r>
            <a:endParaRPr lang="zh-CN" altLang="en-US"/>
          </a:p>
          <a:p>
            <a:r>
              <a:rPr lang="zh-CN" altLang="en-US"/>
              <a:t>则设计的是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下限界函数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lb</a:t>
            </a:r>
            <a:r>
              <a:rPr lang="zh-CN" altLang="en-US"/>
              <a:t>（即预估节点的最小值的</a:t>
            </a:r>
            <a:r>
              <a:rPr lang="zh-CN" altLang="en-US"/>
              <a:t>下限）。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2" name="文本框 31"/>
          <p:cNvSpPr txBox="1"/>
          <p:nvPr/>
        </p:nvSpPr>
        <p:spPr>
          <a:xfrm>
            <a:off x="594995" y="5228590"/>
            <a:ext cx="7592695" cy="798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满足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lb(S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i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)&lt;=lb(S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j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)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，当存在一个可行解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lb(S)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，若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lb(S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j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)&gt;lb(S)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，则对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uFillTx/>
                <a:latin typeface="Times New Roman" panose="02020603050405020304" charset="0"/>
              </a:rPr>
              <a:t>j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节点剪枝。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20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1295" y="1294765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4</a:t>
            </a:r>
            <a:r>
              <a:rPr lang="zh-CN" altLang="en-US" sz="2200">
                <a:uFillTx/>
                <a:sym typeface="+mn-ea"/>
              </a:rPr>
              <a:t>）分支限界法的算法设计</a:t>
            </a:r>
            <a:r>
              <a:rPr lang="zh-CN" altLang="en-US" sz="2200">
                <a:uFillTx/>
                <a:sym typeface="+mn-ea"/>
              </a:rPr>
              <a:t>思想</a:t>
            </a:r>
            <a:endParaRPr lang="zh-CN" altLang="en-US" sz="2200">
              <a:uFillTx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7880" y="1890395"/>
            <a:ext cx="5913755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组织节点的数据结构，有</a:t>
            </a:r>
            <a:r>
              <a:rPr lang="zh-CN" altLang="en-US">
                <a:solidFill>
                  <a:srgbClr val="FF0000"/>
                </a:solidFill>
              </a:rPr>
              <a:t>队列</a:t>
            </a:r>
            <a:r>
              <a:rPr lang="zh-CN" altLang="en-US"/>
              <a:t>和</a:t>
            </a:r>
            <a:r>
              <a:rPr lang="zh-CN" altLang="en-US">
                <a:solidFill>
                  <a:srgbClr val="FF0000"/>
                </a:solidFill>
              </a:rPr>
              <a:t>优先队列</a:t>
            </a:r>
            <a:r>
              <a:rPr lang="zh-CN" altLang="en-US"/>
              <a:t>两种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03630" y="2528570"/>
            <a:ext cx="67087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" panose="02020603050405020304" charset="0"/>
              </a:rPr>
              <a:t>（</a:t>
            </a:r>
            <a:r>
              <a:rPr lang="en-US" altLang="zh-CN">
                <a:latin typeface="Times New Roman" panose="02020603050405020304" charset="0"/>
              </a:rPr>
              <a:t>1</a:t>
            </a:r>
            <a:r>
              <a:rPr lang="zh-CN" altLang="en-US">
                <a:latin typeface="Times New Roman" panose="02020603050405020304" charset="0"/>
              </a:rPr>
              <a:t>）将根节点（肯定存在最优解）入队；</a:t>
            </a:r>
            <a:endParaRPr lang="zh-CN" altLang="en-US">
              <a:latin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</a:rPr>
              <a:t>（</a:t>
            </a:r>
            <a:r>
              <a:rPr lang="en-US" altLang="zh-CN">
                <a:latin typeface="Times New Roman" panose="02020603050405020304" charset="0"/>
              </a:rPr>
              <a:t>2</a:t>
            </a:r>
            <a:r>
              <a:rPr lang="zh-CN" altLang="en-US">
                <a:latin typeface="Times New Roman" panose="02020603050405020304" charset="0"/>
              </a:rPr>
              <a:t>）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</a:rPr>
              <a:t>从队列中取出头节点</a:t>
            </a:r>
            <a:r>
              <a:rPr lang="zh-CN" altLang="en-US">
                <a:latin typeface="Times New Roman" panose="02020603050405020304" charset="0"/>
              </a:rPr>
              <a:t>，然后扩展该节点的子节点；</a:t>
            </a:r>
            <a:endParaRPr lang="zh-CN" altLang="en-US">
              <a:latin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</a:rPr>
              <a:t>（</a:t>
            </a:r>
            <a:r>
              <a:rPr lang="en-US" altLang="zh-CN">
                <a:latin typeface="Times New Roman" panose="02020603050405020304" charset="0"/>
              </a:rPr>
              <a:t>3</a:t>
            </a:r>
            <a:r>
              <a:rPr lang="zh-CN" altLang="en-US">
                <a:latin typeface="Times New Roman" panose="02020603050405020304" charset="0"/>
              </a:rPr>
              <a:t>）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</a:rPr>
              <a:t>然后用约束条件检查，所有满足条件的的孩子入队；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</a:rPr>
              <a:t>（</a:t>
            </a:r>
            <a:r>
              <a:rPr lang="en-US" altLang="zh-CN">
                <a:latin typeface="Times New Roman" panose="02020603050405020304" charset="0"/>
              </a:rPr>
              <a:t>4</a:t>
            </a:r>
            <a:r>
              <a:rPr lang="zh-CN" altLang="en-US">
                <a:latin typeface="Times New Roman" panose="02020603050405020304" charset="0"/>
              </a:rPr>
              <a:t>）重复（</a:t>
            </a:r>
            <a:r>
              <a:rPr lang="en-US" altLang="zh-CN">
                <a:latin typeface="Times New Roman" panose="02020603050405020304" charset="0"/>
              </a:rPr>
              <a:t>2</a:t>
            </a:r>
            <a:r>
              <a:rPr lang="zh-CN" altLang="en-US">
                <a:latin typeface="Times New Roman" panose="02020603050405020304" charset="0"/>
              </a:rPr>
              <a:t>）和（</a:t>
            </a:r>
            <a:r>
              <a:rPr lang="en-US" altLang="zh-CN">
                <a:latin typeface="Times New Roman" panose="02020603050405020304" charset="0"/>
              </a:rPr>
              <a:t>3</a:t>
            </a:r>
            <a:r>
              <a:rPr lang="zh-CN" altLang="en-US">
                <a:latin typeface="Times New Roman" panose="02020603050405020304" charset="0"/>
              </a:rPr>
              <a:t>）步骤，直至找到最优解或队列为空。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03630" y="4274820"/>
            <a:ext cx="67087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）将根节点（肯定存在最优解）入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优先队；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从优先队列中取出头节点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（也就是优先级最高，最有可能找到最优解的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节点），然后扩展该节点的子节点；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）然后用约束条件检查，所有满足条件的的孩子入队；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）重复（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）和（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）步骤，直至找到最优解或队列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为空。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1295" y="1294765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4</a:t>
            </a:r>
            <a:r>
              <a:rPr lang="zh-CN" altLang="en-US" sz="2200">
                <a:uFillTx/>
                <a:sym typeface="+mn-ea"/>
              </a:rPr>
              <a:t>）分支限界法的算法设计</a:t>
            </a:r>
            <a:r>
              <a:rPr lang="zh-CN" altLang="en-US" sz="2200">
                <a:uFillTx/>
                <a:sym typeface="+mn-ea"/>
              </a:rPr>
              <a:t>思想</a:t>
            </a:r>
            <a:endParaRPr lang="zh-CN" altLang="en-US" sz="2200">
              <a:uFillTx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8040" y="1721485"/>
            <a:ext cx="5913755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如何从分支限界算法中获取</a:t>
            </a:r>
            <a:r>
              <a:rPr lang="zh-CN" altLang="en-US" sz="1800"/>
              <a:t>最优解？</a:t>
            </a:r>
            <a:endParaRPr lang="zh-CN" altLang="en-US" sz="1800"/>
          </a:p>
        </p:txBody>
      </p:sp>
      <p:graphicFrame>
        <p:nvGraphicFramePr>
          <p:cNvPr id="6" name="表格 5"/>
          <p:cNvGraphicFramePr/>
          <p:nvPr/>
        </p:nvGraphicFramePr>
        <p:xfrm>
          <a:off x="4096385" y="242062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2872740" y="299656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5393055" y="299656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1" name="直接箭头连接符 10"/>
          <p:cNvCxnSpPr>
            <a:stCxn id="6" idx="3"/>
          </p:cNvCxnSpPr>
          <p:nvPr/>
        </p:nvCxnSpPr>
        <p:spPr>
          <a:xfrm>
            <a:off x="4792345" y="2557780"/>
            <a:ext cx="2040255" cy="698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graphicFrame>
        <p:nvGraphicFramePr>
          <p:cNvPr id="13" name="表格 12"/>
          <p:cNvGraphicFramePr/>
          <p:nvPr/>
        </p:nvGraphicFramePr>
        <p:xfrm>
          <a:off x="3942080" y="2034540"/>
          <a:ext cx="1012190" cy="372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095"/>
                <a:gridCol w="506095"/>
              </a:tblGrid>
              <a:tr h="372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承重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价值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5" name="直接箭头连接符 14"/>
          <p:cNvCxnSpPr>
            <a:stCxn id="6" idx="2"/>
            <a:endCxn id="7" idx="0"/>
          </p:cNvCxnSpPr>
          <p:nvPr/>
        </p:nvCxnSpPr>
        <p:spPr>
          <a:xfrm flipH="1">
            <a:off x="3220720" y="2694940"/>
            <a:ext cx="1223645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6" name="直接箭头连接符 15"/>
          <p:cNvCxnSpPr>
            <a:stCxn id="6" idx="2"/>
            <a:endCxn id="8" idx="0"/>
          </p:cNvCxnSpPr>
          <p:nvPr/>
        </p:nvCxnSpPr>
        <p:spPr>
          <a:xfrm>
            <a:off x="4444365" y="2694940"/>
            <a:ext cx="1296670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" name="表格 21"/>
          <p:cNvGraphicFramePr/>
          <p:nvPr/>
        </p:nvGraphicFramePr>
        <p:xfrm>
          <a:off x="3521075" y="358648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3" name="直接箭头连接符 22"/>
          <p:cNvCxnSpPr>
            <a:stCxn id="7" idx="2"/>
            <a:endCxn id="19" idx="0"/>
          </p:cNvCxnSpPr>
          <p:nvPr/>
        </p:nvCxnSpPr>
        <p:spPr>
          <a:xfrm flipH="1">
            <a:off x="2524760" y="3270885"/>
            <a:ext cx="69596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6" name="直接箭头连接符 25"/>
          <p:cNvCxnSpPr>
            <a:stCxn id="7" idx="2"/>
            <a:endCxn id="22" idx="0"/>
          </p:cNvCxnSpPr>
          <p:nvPr/>
        </p:nvCxnSpPr>
        <p:spPr>
          <a:xfrm>
            <a:off x="3220720" y="3270885"/>
            <a:ext cx="64833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8" name="直接箭头连接符 47"/>
          <p:cNvCxnSpPr/>
          <p:nvPr/>
        </p:nvCxnSpPr>
        <p:spPr>
          <a:xfrm flipV="1">
            <a:off x="6468745" y="3068955"/>
            <a:ext cx="74422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49" name="文本框 48"/>
          <p:cNvSpPr txBox="1"/>
          <p:nvPr/>
        </p:nvSpPr>
        <p:spPr>
          <a:xfrm>
            <a:off x="7144385" y="2924810"/>
            <a:ext cx="16059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1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767830" y="2407920"/>
            <a:ext cx="1341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初始状态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graphicFrame>
        <p:nvGraphicFramePr>
          <p:cNvPr id="60" name="表格 59"/>
          <p:cNvGraphicFramePr/>
          <p:nvPr/>
        </p:nvGraphicFramePr>
        <p:xfrm>
          <a:off x="5134610" y="357251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2" name="直接箭头连接符 61"/>
          <p:cNvCxnSpPr>
            <a:stCxn id="8" idx="2"/>
            <a:endCxn id="60" idx="0"/>
          </p:cNvCxnSpPr>
          <p:nvPr/>
        </p:nvCxnSpPr>
        <p:spPr>
          <a:xfrm flipH="1">
            <a:off x="5482590" y="3270885"/>
            <a:ext cx="258445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3" name="直接箭头连接符 62"/>
          <p:cNvCxnSpPr>
            <a:stCxn id="8" idx="2"/>
            <a:endCxn id="61" idx="0"/>
          </p:cNvCxnSpPr>
          <p:nvPr/>
        </p:nvCxnSpPr>
        <p:spPr>
          <a:xfrm>
            <a:off x="5741035" y="3270885"/>
            <a:ext cx="108585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67" name="右大括号 66"/>
          <p:cNvSpPr/>
          <p:nvPr/>
        </p:nvSpPr>
        <p:spPr>
          <a:xfrm>
            <a:off x="6257290" y="2813685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graphicFrame>
        <p:nvGraphicFramePr>
          <p:cNvPr id="73" name="表格 72"/>
          <p:cNvGraphicFramePr/>
          <p:nvPr/>
        </p:nvGraphicFramePr>
        <p:xfrm>
          <a:off x="3913505" y="4176395"/>
          <a:ext cx="68707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4" name="直接箭头连接符 73"/>
          <p:cNvCxnSpPr>
            <a:stCxn id="22" idx="2"/>
            <a:endCxn id="72" idx="0"/>
          </p:cNvCxnSpPr>
          <p:nvPr/>
        </p:nvCxnSpPr>
        <p:spPr>
          <a:xfrm flipH="1">
            <a:off x="3469640" y="3860800"/>
            <a:ext cx="39941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5" name="直接箭头连接符 74"/>
          <p:cNvCxnSpPr>
            <a:stCxn id="22" idx="2"/>
            <a:endCxn id="73" idx="0"/>
          </p:cNvCxnSpPr>
          <p:nvPr/>
        </p:nvCxnSpPr>
        <p:spPr>
          <a:xfrm>
            <a:off x="3869055" y="3860800"/>
            <a:ext cx="38798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84" name="表格 83"/>
          <p:cNvGraphicFramePr/>
          <p:nvPr/>
        </p:nvGraphicFramePr>
        <p:xfrm>
          <a:off x="5045075" y="417639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6" name="直接箭头连接符 85"/>
          <p:cNvCxnSpPr>
            <a:stCxn id="60" idx="2"/>
            <a:endCxn id="84" idx="0"/>
          </p:cNvCxnSpPr>
          <p:nvPr/>
        </p:nvCxnSpPr>
        <p:spPr>
          <a:xfrm flipH="1">
            <a:off x="5393055" y="3846830"/>
            <a:ext cx="89535" cy="329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4" name="直接箭头连接符 93"/>
          <p:cNvCxnSpPr>
            <a:stCxn id="60" idx="2"/>
            <a:endCxn id="85" idx="0"/>
          </p:cNvCxnSpPr>
          <p:nvPr/>
        </p:nvCxnSpPr>
        <p:spPr>
          <a:xfrm>
            <a:off x="5482590" y="3846830"/>
            <a:ext cx="652780" cy="329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1" name="表格 220"/>
          <p:cNvGraphicFramePr/>
          <p:nvPr/>
        </p:nvGraphicFramePr>
        <p:xfrm>
          <a:off x="457962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22" name="直接箭头连接符 221"/>
          <p:cNvCxnSpPr>
            <a:stCxn id="73" idx="2"/>
            <a:endCxn id="224" idx="0"/>
          </p:cNvCxnSpPr>
          <p:nvPr/>
        </p:nvCxnSpPr>
        <p:spPr>
          <a:xfrm flipH="1">
            <a:off x="4231640" y="4450715"/>
            <a:ext cx="2540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23" name="直接箭头连接符 222"/>
          <p:cNvCxnSpPr>
            <a:stCxn id="73" idx="2"/>
            <a:endCxn id="221" idx="0"/>
          </p:cNvCxnSpPr>
          <p:nvPr/>
        </p:nvCxnSpPr>
        <p:spPr>
          <a:xfrm>
            <a:off x="4257040" y="4450715"/>
            <a:ext cx="61468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4" name="表格 223"/>
          <p:cNvGraphicFramePr/>
          <p:nvPr/>
        </p:nvGraphicFramePr>
        <p:xfrm>
          <a:off x="393954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5" name="表格 224"/>
          <p:cNvGraphicFramePr/>
          <p:nvPr/>
        </p:nvGraphicFramePr>
        <p:xfrm>
          <a:off x="583057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26" name="直接箭头连接符 225"/>
          <p:cNvCxnSpPr>
            <a:stCxn id="84" idx="2"/>
            <a:endCxn id="228" idx="0"/>
          </p:cNvCxnSpPr>
          <p:nvPr/>
        </p:nvCxnSpPr>
        <p:spPr>
          <a:xfrm>
            <a:off x="5393055" y="4450715"/>
            <a:ext cx="89535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27" name="直接箭头连接符 226"/>
          <p:cNvCxnSpPr>
            <a:endCxn id="225" idx="0"/>
          </p:cNvCxnSpPr>
          <p:nvPr/>
        </p:nvCxnSpPr>
        <p:spPr>
          <a:xfrm>
            <a:off x="5393055" y="4436745"/>
            <a:ext cx="729615" cy="4324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8" name="表格 227"/>
          <p:cNvGraphicFramePr/>
          <p:nvPr/>
        </p:nvGraphicFramePr>
        <p:xfrm>
          <a:off x="519049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0070C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rgbClr val="0070C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30" name="直接箭头连接符 229"/>
          <p:cNvCxnSpPr/>
          <p:nvPr/>
        </p:nvCxnSpPr>
        <p:spPr>
          <a:xfrm flipV="1">
            <a:off x="7597775" y="3716655"/>
            <a:ext cx="31559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1" name="文本框 230"/>
          <p:cNvSpPr txBox="1"/>
          <p:nvPr/>
        </p:nvSpPr>
        <p:spPr>
          <a:xfrm>
            <a:off x="7885430" y="3571240"/>
            <a:ext cx="102743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2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2" name="右大括号 231"/>
          <p:cNvSpPr/>
          <p:nvPr/>
        </p:nvSpPr>
        <p:spPr>
          <a:xfrm>
            <a:off x="7386320" y="3475355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V="1">
            <a:off x="8418195" y="4292600"/>
            <a:ext cx="71120" cy="19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4" name="文本框 233"/>
          <p:cNvSpPr txBox="1"/>
          <p:nvPr/>
        </p:nvSpPr>
        <p:spPr>
          <a:xfrm>
            <a:off x="8489315" y="4099560"/>
            <a:ext cx="74993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3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5" name="右大括号 234"/>
          <p:cNvSpPr/>
          <p:nvPr/>
        </p:nvSpPr>
        <p:spPr>
          <a:xfrm>
            <a:off x="8206740" y="4053205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cxnSp>
        <p:nvCxnSpPr>
          <p:cNvPr id="236" name="直接箭头连接符 235"/>
          <p:cNvCxnSpPr/>
          <p:nvPr/>
        </p:nvCxnSpPr>
        <p:spPr>
          <a:xfrm flipV="1">
            <a:off x="8037830" y="4877435"/>
            <a:ext cx="71120" cy="19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7" name="文本框 236"/>
          <p:cNvSpPr txBox="1"/>
          <p:nvPr/>
        </p:nvSpPr>
        <p:spPr>
          <a:xfrm>
            <a:off x="8042910" y="4750435"/>
            <a:ext cx="1045845" cy="221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4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8" name="右大括号 237"/>
          <p:cNvSpPr/>
          <p:nvPr/>
        </p:nvSpPr>
        <p:spPr>
          <a:xfrm>
            <a:off x="7826375" y="4638040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pic>
        <p:nvPicPr>
          <p:cNvPr id="244" name="图片 24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065" y="3572510"/>
            <a:ext cx="371475" cy="379730"/>
          </a:xfrm>
          <a:prstGeom prst="rect">
            <a:avLst/>
          </a:prstGeom>
        </p:spPr>
      </p:pic>
      <p:pic>
        <p:nvPicPr>
          <p:cNvPr id="246" name="图片 245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3575" y="4149090"/>
            <a:ext cx="371475" cy="379730"/>
          </a:xfrm>
          <a:prstGeom prst="rect">
            <a:avLst/>
          </a:prstGeom>
        </p:spPr>
      </p:pic>
      <p:pic>
        <p:nvPicPr>
          <p:cNvPr id="249" name="图片 248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0" y="4177665"/>
            <a:ext cx="371475" cy="379730"/>
          </a:xfrm>
          <a:prstGeom prst="rect">
            <a:avLst/>
          </a:prstGeom>
        </p:spPr>
      </p:pic>
      <p:pic>
        <p:nvPicPr>
          <p:cNvPr id="250" name="图片 249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5920" y="3554730"/>
            <a:ext cx="371475" cy="3797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874135" y="2204720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解向量：</a:t>
            </a:r>
            <a:r>
              <a:rPr lang="en-US" altLang="zh-CN" sz="1000">
                <a:solidFill>
                  <a:srgbClr val="FF0000"/>
                </a:solidFill>
              </a:rPr>
              <a:t>[0,0,0,0]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55875" y="2751455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解向量：</a:t>
            </a:r>
            <a:r>
              <a:rPr lang="en-US" altLang="zh-CN" sz="1000">
                <a:solidFill>
                  <a:srgbClr val="FF0000"/>
                </a:solidFill>
              </a:rPr>
              <a:t>[1,0,0,0]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76190" y="2751455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解向量：</a:t>
            </a:r>
            <a:r>
              <a:rPr lang="en-US" altLang="zh-CN" sz="1000">
                <a:solidFill>
                  <a:srgbClr val="FF0000"/>
                </a:solidFill>
              </a:rPr>
              <a:t>[0,0,0,0]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24120" y="3356610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解向量：</a:t>
            </a:r>
            <a:r>
              <a:rPr lang="en-US" altLang="zh-CN" sz="1000">
                <a:solidFill>
                  <a:srgbClr val="FF0000"/>
                </a:solidFill>
              </a:rPr>
              <a:t>[0,1,0,0]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060065" y="3326130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解向量：</a:t>
            </a:r>
            <a:r>
              <a:rPr lang="en-US" altLang="zh-CN" sz="1000">
                <a:solidFill>
                  <a:srgbClr val="FF0000"/>
                </a:solidFill>
              </a:rPr>
              <a:t>[1,0,0,0]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51885" y="3931285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解向量：</a:t>
            </a:r>
            <a:r>
              <a:rPr lang="en-US" altLang="zh-CN" sz="1000">
                <a:solidFill>
                  <a:srgbClr val="FF0000"/>
                </a:solidFill>
              </a:rPr>
              <a:t>[0,1,0,0]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71720" y="3903980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解向量：</a:t>
            </a:r>
            <a:r>
              <a:rPr lang="en-US" altLang="zh-CN" sz="1000">
                <a:solidFill>
                  <a:srgbClr val="FF0000"/>
                </a:solidFill>
              </a:rPr>
              <a:t>[0,1,1,0]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23460" y="4580890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解向量：</a:t>
            </a:r>
            <a:r>
              <a:rPr lang="en-US" altLang="zh-CN" sz="1000">
                <a:solidFill>
                  <a:srgbClr val="FF0000"/>
                </a:solidFill>
              </a:rPr>
              <a:t>[0,1,1,1]</a:t>
            </a:r>
            <a:endParaRPr lang="en-US" altLang="zh-CN" sz="10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9" dur="2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4" dur="2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9" dur="2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4"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1"/>
      <p:bldP spid="49" grpId="2"/>
      <p:bldP spid="59" grpId="1"/>
      <p:bldP spid="59" grpId="2"/>
      <p:bldP spid="67" grpId="1" animBg="1"/>
      <p:bldP spid="67" grpId="2" bldLvl="0" animBg="1"/>
      <p:bldP spid="231" grpId="1"/>
      <p:bldP spid="231" grpId="2"/>
      <p:bldP spid="232" grpId="1" animBg="1"/>
      <p:bldP spid="232" grpId="2" bldLvl="0" animBg="1"/>
      <p:bldP spid="234" grpId="1"/>
      <p:bldP spid="234" grpId="2"/>
      <p:bldP spid="235" grpId="1" animBg="1"/>
      <p:bldP spid="235" grpId="2" bldLvl="0" animBg="1"/>
      <p:bldP spid="237" grpId="1"/>
      <p:bldP spid="237" grpId="2"/>
      <p:bldP spid="238" grpId="1" animBg="1"/>
      <p:bldP spid="238" grpId="2" bldLvl="0" animBg="1"/>
      <p:bldP spid="12" grpId="0"/>
      <p:bldP spid="14" grpId="0"/>
      <p:bldP spid="17" grpId="0"/>
      <p:bldP spid="18" grpId="0"/>
      <p:bldP spid="20" grpId="0"/>
      <p:bldP spid="21" grpId="0"/>
      <p:bldP spid="24" grpId="0"/>
      <p:bldP spid="27" grpId="0"/>
      <p:bldP spid="12" grpId="1"/>
      <p:bldP spid="14" grpId="1"/>
      <p:bldP spid="17" grpId="1"/>
      <p:bldP spid="18" grpId="1"/>
      <p:bldP spid="20" grpId="1"/>
      <p:bldP spid="21" grpId="1"/>
      <p:bldP spid="24" grpId="1"/>
      <p:bldP spid="2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什么是分支限界法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1295" y="1294765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>
                <a:uFillTx/>
                <a:sym typeface="+mn-ea"/>
              </a:rPr>
              <a:t>（</a:t>
            </a:r>
            <a:r>
              <a:rPr lang="en-US" altLang="zh-CN" sz="2200">
                <a:uFillTx/>
                <a:sym typeface="+mn-ea"/>
              </a:rPr>
              <a:t>4</a:t>
            </a:r>
            <a:r>
              <a:rPr lang="zh-CN" altLang="en-US" sz="2200">
                <a:uFillTx/>
                <a:sym typeface="+mn-ea"/>
              </a:rPr>
              <a:t>）分支限界法的算法设计</a:t>
            </a:r>
            <a:r>
              <a:rPr lang="zh-CN" altLang="en-US" sz="2200">
                <a:uFillTx/>
                <a:sym typeface="+mn-ea"/>
              </a:rPr>
              <a:t>思想</a:t>
            </a:r>
            <a:endParaRPr lang="zh-CN" altLang="en-US" sz="2200">
              <a:uFillTx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8040" y="1721485"/>
            <a:ext cx="5913755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②节点加上指向父节点的</a:t>
            </a:r>
            <a:r>
              <a:rPr lang="zh-CN" altLang="en-US" sz="1800"/>
              <a:t>指针？</a:t>
            </a:r>
            <a:endParaRPr lang="zh-CN" altLang="en-US" sz="1800"/>
          </a:p>
        </p:txBody>
      </p:sp>
      <p:graphicFrame>
        <p:nvGraphicFramePr>
          <p:cNvPr id="6" name="表格 5"/>
          <p:cNvGraphicFramePr/>
          <p:nvPr/>
        </p:nvGraphicFramePr>
        <p:xfrm>
          <a:off x="4096385" y="242062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2872740" y="299656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5393055" y="299656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1" name="直接箭头连接符 10"/>
          <p:cNvCxnSpPr>
            <a:stCxn id="6" idx="3"/>
          </p:cNvCxnSpPr>
          <p:nvPr/>
        </p:nvCxnSpPr>
        <p:spPr>
          <a:xfrm>
            <a:off x="4792345" y="2557780"/>
            <a:ext cx="2040255" cy="698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graphicFrame>
        <p:nvGraphicFramePr>
          <p:cNvPr id="13" name="表格 12"/>
          <p:cNvGraphicFramePr/>
          <p:nvPr/>
        </p:nvGraphicFramePr>
        <p:xfrm>
          <a:off x="3942080" y="2034540"/>
          <a:ext cx="1012190" cy="372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095"/>
                <a:gridCol w="506095"/>
              </a:tblGrid>
              <a:tr h="372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承重</a:t>
                      </a:r>
                      <a:endParaRPr lang="zh-CN" altLang="en-US" sz="10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价值</a:t>
                      </a:r>
                      <a:endParaRPr lang="zh-CN" altLang="en-US" sz="1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5" name="直接箭头连接符 14"/>
          <p:cNvCxnSpPr>
            <a:stCxn id="6" idx="2"/>
            <a:endCxn id="7" idx="0"/>
          </p:cNvCxnSpPr>
          <p:nvPr/>
        </p:nvCxnSpPr>
        <p:spPr>
          <a:xfrm flipH="1">
            <a:off x="3220720" y="2694940"/>
            <a:ext cx="1223645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6" name="直接箭头连接符 15"/>
          <p:cNvCxnSpPr>
            <a:stCxn id="6" idx="2"/>
            <a:endCxn id="8" idx="0"/>
          </p:cNvCxnSpPr>
          <p:nvPr/>
        </p:nvCxnSpPr>
        <p:spPr>
          <a:xfrm>
            <a:off x="4444365" y="2694940"/>
            <a:ext cx="1296670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" name="表格 21"/>
          <p:cNvGraphicFramePr/>
          <p:nvPr/>
        </p:nvGraphicFramePr>
        <p:xfrm>
          <a:off x="3521075" y="358648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3" name="直接箭头连接符 22"/>
          <p:cNvCxnSpPr>
            <a:stCxn id="7" idx="2"/>
            <a:endCxn id="19" idx="0"/>
          </p:cNvCxnSpPr>
          <p:nvPr/>
        </p:nvCxnSpPr>
        <p:spPr>
          <a:xfrm flipH="1">
            <a:off x="2524760" y="3270885"/>
            <a:ext cx="69596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6" name="直接箭头连接符 25"/>
          <p:cNvCxnSpPr>
            <a:stCxn id="7" idx="2"/>
            <a:endCxn id="22" idx="0"/>
          </p:cNvCxnSpPr>
          <p:nvPr/>
        </p:nvCxnSpPr>
        <p:spPr>
          <a:xfrm>
            <a:off x="3220720" y="3270885"/>
            <a:ext cx="64833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8" name="直接箭头连接符 47"/>
          <p:cNvCxnSpPr/>
          <p:nvPr/>
        </p:nvCxnSpPr>
        <p:spPr>
          <a:xfrm flipV="1">
            <a:off x="6468745" y="3068955"/>
            <a:ext cx="74422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49" name="文本框 48"/>
          <p:cNvSpPr txBox="1"/>
          <p:nvPr/>
        </p:nvSpPr>
        <p:spPr>
          <a:xfrm>
            <a:off x="7144385" y="2924810"/>
            <a:ext cx="16059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1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767830" y="2407920"/>
            <a:ext cx="1341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初始状态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graphicFrame>
        <p:nvGraphicFramePr>
          <p:cNvPr id="60" name="表格 59"/>
          <p:cNvGraphicFramePr/>
          <p:nvPr/>
        </p:nvGraphicFramePr>
        <p:xfrm>
          <a:off x="5134610" y="3572510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2" name="直接箭头连接符 61"/>
          <p:cNvCxnSpPr>
            <a:stCxn id="8" idx="2"/>
            <a:endCxn id="60" idx="0"/>
          </p:cNvCxnSpPr>
          <p:nvPr/>
        </p:nvCxnSpPr>
        <p:spPr>
          <a:xfrm flipH="1">
            <a:off x="5482590" y="3270885"/>
            <a:ext cx="258445" cy="301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3" name="直接箭头连接符 62"/>
          <p:cNvCxnSpPr>
            <a:stCxn id="8" idx="2"/>
            <a:endCxn id="61" idx="0"/>
          </p:cNvCxnSpPr>
          <p:nvPr/>
        </p:nvCxnSpPr>
        <p:spPr>
          <a:xfrm>
            <a:off x="5741035" y="3270885"/>
            <a:ext cx="1085850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67" name="右大括号 66"/>
          <p:cNvSpPr/>
          <p:nvPr/>
        </p:nvSpPr>
        <p:spPr>
          <a:xfrm>
            <a:off x="6257290" y="2813685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graphicFrame>
        <p:nvGraphicFramePr>
          <p:cNvPr id="73" name="表格 72"/>
          <p:cNvGraphicFramePr/>
          <p:nvPr/>
        </p:nvGraphicFramePr>
        <p:xfrm>
          <a:off x="3913505" y="4176395"/>
          <a:ext cx="68707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4" name="直接箭头连接符 73"/>
          <p:cNvCxnSpPr>
            <a:stCxn id="22" idx="2"/>
            <a:endCxn id="72" idx="0"/>
          </p:cNvCxnSpPr>
          <p:nvPr/>
        </p:nvCxnSpPr>
        <p:spPr>
          <a:xfrm flipH="1">
            <a:off x="3469640" y="3860800"/>
            <a:ext cx="39941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5" name="直接箭头连接符 74"/>
          <p:cNvCxnSpPr>
            <a:stCxn id="22" idx="2"/>
            <a:endCxn id="73" idx="0"/>
          </p:cNvCxnSpPr>
          <p:nvPr/>
        </p:nvCxnSpPr>
        <p:spPr>
          <a:xfrm>
            <a:off x="3869055" y="3860800"/>
            <a:ext cx="387985" cy="315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84" name="表格 83"/>
          <p:cNvGraphicFramePr/>
          <p:nvPr/>
        </p:nvGraphicFramePr>
        <p:xfrm>
          <a:off x="5045075" y="4176395"/>
          <a:ext cx="6959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/>
                <a:gridCol w="347980"/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6" name="直接箭头连接符 85"/>
          <p:cNvCxnSpPr>
            <a:stCxn id="60" idx="2"/>
            <a:endCxn id="84" idx="0"/>
          </p:cNvCxnSpPr>
          <p:nvPr/>
        </p:nvCxnSpPr>
        <p:spPr>
          <a:xfrm flipH="1">
            <a:off x="5393055" y="3846830"/>
            <a:ext cx="89535" cy="329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4" name="直接箭头连接符 93"/>
          <p:cNvCxnSpPr>
            <a:stCxn id="60" idx="2"/>
            <a:endCxn id="85" idx="0"/>
          </p:cNvCxnSpPr>
          <p:nvPr/>
        </p:nvCxnSpPr>
        <p:spPr>
          <a:xfrm>
            <a:off x="5482590" y="3846830"/>
            <a:ext cx="652780" cy="329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1" name="表格 220"/>
          <p:cNvGraphicFramePr/>
          <p:nvPr/>
        </p:nvGraphicFramePr>
        <p:xfrm>
          <a:off x="457962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22" name="直接箭头连接符 221"/>
          <p:cNvCxnSpPr>
            <a:stCxn id="73" idx="2"/>
            <a:endCxn id="224" idx="0"/>
          </p:cNvCxnSpPr>
          <p:nvPr/>
        </p:nvCxnSpPr>
        <p:spPr>
          <a:xfrm flipH="1">
            <a:off x="4231640" y="4450715"/>
            <a:ext cx="2540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23" name="直接箭头连接符 222"/>
          <p:cNvCxnSpPr>
            <a:stCxn id="73" idx="2"/>
            <a:endCxn id="221" idx="0"/>
          </p:cNvCxnSpPr>
          <p:nvPr/>
        </p:nvCxnSpPr>
        <p:spPr>
          <a:xfrm>
            <a:off x="4257040" y="4450715"/>
            <a:ext cx="614680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4" name="表格 223"/>
          <p:cNvGraphicFramePr/>
          <p:nvPr/>
        </p:nvGraphicFramePr>
        <p:xfrm>
          <a:off x="393954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5" name="表格 224"/>
          <p:cNvGraphicFramePr/>
          <p:nvPr/>
        </p:nvGraphicFramePr>
        <p:xfrm>
          <a:off x="583057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26" name="直接箭头连接符 225"/>
          <p:cNvCxnSpPr>
            <a:stCxn id="84" idx="2"/>
            <a:endCxn id="228" idx="0"/>
          </p:cNvCxnSpPr>
          <p:nvPr/>
        </p:nvCxnSpPr>
        <p:spPr>
          <a:xfrm>
            <a:off x="5393055" y="4450715"/>
            <a:ext cx="89535" cy="4184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27" name="直接箭头连接符 226"/>
          <p:cNvCxnSpPr>
            <a:endCxn id="225" idx="0"/>
          </p:cNvCxnSpPr>
          <p:nvPr/>
        </p:nvCxnSpPr>
        <p:spPr>
          <a:xfrm>
            <a:off x="5393055" y="4436745"/>
            <a:ext cx="729615" cy="4324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228" name="表格 227"/>
          <p:cNvGraphicFramePr/>
          <p:nvPr/>
        </p:nvGraphicFramePr>
        <p:xfrm>
          <a:off x="5190490" y="4869180"/>
          <a:ext cx="58356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"/>
                <a:gridCol w="295275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800">
                          <a:solidFill>
                            <a:srgbClr val="0070C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zh-CN" sz="800">
                        <a:solidFill>
                          <a:srgbClr val="0070C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30" name="直接箭头连接符 229"/>
          <p:cNvCxnSpPr/>
          <p:nvPr/>
        </p:nvCxnSpPr>
        <p:spPr>
          <a:xfrm flipV="1">
            <a:off x="7597775" y="3716655"/>
            <a:ext cx="31559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1" name="文本框 230"/>
          <p:cNvSpPr txBox="1"/>
          <p:nvPr/>
        </p:nvSpPr>
        <p:spPr>
          <a:xfrm>
            <a:off x="7885430" y="3571240"/>
            <a:ext cx="102743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2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2" name="右大括号 231"/>
          <p:cNvSpPr/>
          <p:nvPr/>
        </p:nvSpPr>
        <p:spPr>
          <a:xfrm>
            <a:off x="7386320" y="3475355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V="1">
            <a:off x="8418195" y="4292600"/>
            <a:ext cx="71120" cy="19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4" name="文本框 233"/>
          <p:cNvSpPr txBox="1"/>
          <p:nvPr/>
        </p:nvSpPr>
        <p:spPr>
          <a:xfrm>
            <a:off x="8489315" y="4099560"/>
            <a:ext cx="74993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3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5" name="右大括号 234"/>
          <p:cNvSpPr/>
          <p:nvPr/>
        </p:nvSpPr>
        <p:spPr>
          <a:xfrm>
            <a:off x="8206740" y="4053205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cxnSp>
        <p:nvCxnSpPr>
          <p:cNvPr id="236" name="直接箭头连接符 235"/>
          <p:cNvCxnSpPr/>
          <p:nvPr/>
        </p:nvCxnSpPr>
        <p:spPr>
          <a:xfrm flipV="1">
            <a:off x="8037830" y="4877435"/>
            <a:ext cx="71120" cy="19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</p:spPr>
      </p:cxnSp>
      <p:sp>
        <p:nvSpPr>
          <p:cNvPr id="237" name="文本框 236"/>
          <p:cNvSpPr txBox="1"/>
          <p:nvPr/>
        </p:nvSpPr>
        <p:spPr>
          <a:xfrm>
            <a:off x="8042910" y="4750435"/>
            <a:ext cx="1045845" cy="221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4</a:t>
            </a:r>
            <a:r>
              <a:rPr lang="zh-CN" altLang="en-US" sz="1200" b="1">
                <a:solidFill>
                  <a:schemeClr val="tx1"/>
                </a:solidFill>
                <a:uFillTx/>
                <a:latin typeface="Times New Roman" panose="02020603050405020304" charset="0"/>
              </a:rPr>
              <a:t>号选与不选</a:t>
            </a:r>
            <a:endParaRPr lang="zh-CN" altLang="en-US" sz="1200" b="1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38" name="右大括号 237"/>
          <p:cNvSpPr/>
          <p:nvPr/>
        </p:nvSpPr>
        <p:spPr>
          <a:xfrm>
            <a:off x="7826375" y="4638040"/>
            <a:ext cx="143510" cy="50419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pic>
        <p:nvPicPr>
          <p:cNvPr id="244" name="图片 24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065" y="3572510"/>
            <a:ext cx="371475" cy="379730"/>
          </a:xfrm>
          <a:prstGeom prst="rect">
            <a:avLst/>
          </a:prstGeom>
        </p:spPr>
      </p:pic>
      <p:pic>
        <p:nvPicPr>
          <p:cNvPr id="246" name="图片 245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3575" y="4149090"/>
            <a:ext cx="371475" cy="379730"/>
          </a:xfrm>
          <a:prstGeom prst="rect">
            <a:avLst/>
          </a:prstGeom>
        </p:spPr>
      </p:pic>
      <p:pic>
        <p:nvPicPr>
          <p:cNvPr id="249" name="图片 248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0" y="4177665"/>
            <a:ext cx="371475" cy="379730"/>
          </a:xfrm>
          <a:prstGeom prst="rect">
            <a:avLst/>
          </a:prstGeom>
        </p:spPr>
      </p:pic>
      <p:pic>
        <p:nvPicPr>
          <p:cNvPr id="250" name="图片 249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5920" y="3554730"/>
            <a:ext cx="371475" cy="3797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874135" y="2204720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双亲指针：</a:t>
            </a:r>
            <a:r>
              <a:rPr lang="en-US" altLang="zh-CN" sz="1000">
                <a:solidFill>
                  <a:srgbClr val="FF0000"/>
                </a:solidFill>
              </a:rPr>
              <a:t>-1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24120" y="3356610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  <a:sym typeface="+mn-ea"/>
              </a:rPr>
              <a:t>双亲指针：</a:t>
            </a:r>
            <a:r>
              <a:rPr lang="en-US" altLang="zh-CN" sz="1000">
                <a:solidFill>
                  <a:srgbClr val="FF0000"/>
                </a:solidFill>
                <a:sym typeface="+mn-ea"/>
              </a:rPr>
              <a:t>2</a:t>
            </a:r>
            <a:endParaRPr lang="en-US" altLang="zh-CN" sz="1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345815" y="3345180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  <a:sym typeface="+mn-ea"/>
              </a:rPr>
              <a:t>双亲指针：</a:t>
            </a:r>
            <a:r>
              <a:rPr lang="en-US" altLang="zh-CN" sz="1000">
                <a:solidFill>
                  <a:srgbClr val="FF0000"/>
                </a:solidFill>
                <a:sym typeface="+mn-ea"/>
              </a:rPr>
              <a:t>1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51885" y="3931285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  <a:sym typeface="+mn-ea"/>
              </a:rPr>
              <a:t>双亲指针：</a:t>
            </a:r>
            <a:r>
              <a:rPr lang="en-US" altLang="zh-CN" sz="1000">
                <a:solidFill>
                  <a:srgbClr val="FF0000"/>
                </a:solidFill>
                <a:sym typeface="+mn-ea"/>
              </a:rPr>
              <a:t>4</a:t>
            </a:r>
            <a:endParaRPr lang="en-US" altLang="zh-CN" sz="1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71720" y="3903980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  <a:sym typeface="+mn-ea"/>
              </a:rPr>
              <a:t>双亲指针：</a:t>
            </a:r>
            <a:r>
              <a:rPr lang="en-US" altLang="zh-CN" sz="1000">
                <a:solidFill>
                  <a:srgbClr val="FF0000"/>
                </a:solidFill>
                <a:sym typeface="+mn-ea"/>
              </a:rPr>
              <a:t>5</a:t>
            </a:r>
            <a:endParaRPr lang="en-US" altLang="zh-CN" sz="1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23460" y="4580890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  <a:sym typeface="+mn-ea"/>
              </a:rPr>
              <a:t>双亲指针：</a:t>
            </a:r>
            <a:r>
              <a:rPr lang="en-US" altLang="zh-CN" sz="1000">
                <a:solidFill>
                  <a:srgbClr val="FF0000"/>
                </a:solidFill>
                <a:sym typeface="+mn-ea"/>
              </a:rPr>
              <a:t>11</a:t>
            </a:r>
            <a:endParaRPr lang="en-US" altLang="zh-CN" sz="1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03195" y="2751455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双亲指针：</a:t>
            </a:r>
            <a:r>
              <a:rPr lang="en-US" altLang="zh-CN" sz="1000">
                <a:solidFill>
                  <a:srgbClr val="FF0000"/>
                </a:solidFill>
              </a:rPr>
              <a:t>0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90490" y="2751455"/>
            <a:ext cx="13931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双亲指针：</a:t>
            </a:r>
            <a:r>
              <a:rPr lang="en-US" altLang="zh-CN" sz="1000">
                <a:solidFill>
                  <a:srgbClr val="FF0000"/>
                </a:solidFill>
              </a:rPr>
              <a:t>0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5040" y="5661025"/>
            <a:ext cx="5913755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根据父节点如何判断物品的选与不选的</a:t>
            </a:r>
            <a:r>
              <a:rPr lang="zh-CN" altLang="en-US" sz="1800"/>
              <a:t>状态？</a:t>
            </a:r>
            <a:endParaRPr lang="zh-CN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9" dur="2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4" dur="2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9" dur="2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4"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1"/>
      <p:bldP spid="49" grpId="2"/>
      <p:bldP spid="59" grpId="1"/>
      <p:bldP spid="59" grpId="2"/>
      <p:bldP spid="67" grpId="1" animBg="1"/>
      <p:bldP spid="67" grpId="2" bldLvl="0" animBg="1"/>
      <p:bldP spid="231" grpId="1"/>
      <p:bldP spid="231" grpId="2"/>
      <p:bldP spid="232" grpId="1" animBg="1"/>
      <p:bldP spid="232" grpId="2" bldLvl="0" animBg="1"/>
      <p:bldP spid="234" grpId="1"/>
      <p:bldP spid="234" grpId="2"/>
      <p:bldP spid="235" grpId="1" animBg="1"/>
      <p:bldP spid="235" grpId="2" bldLvl="0" animBg="1"/>
      <p:bldP spid="237" grpId="1"/>
      <p:bldP spid="237" grpId="2"/>
      <p:bldP spid="238" grpId="1" animBg="1"/>
      <p:bldP spid="238" grpId="2" bldLvl="0" animBg="1"/>
      <p:bldP spid="12" grpId="0"/>
      <p:bldP spid="18" grpId="0"/>
      <p:bldP spid="20" grpId="0"/>
      <p:bldP spid="21" grpId="0"/>
      <p:bldP spid="24" grpId="0"/>
      <p:bldP spid="27" grpId="0"/>
      <p:bldP spid="12" grpId="1"/>
      <p:bldP spid="18" grpId="1"/>
      <p:bldP spid="20" grpId="1"/>
      <p:bldP spid="21" grpId="1"/>
      <p:bldP spid="24" grpId="1"/>
      <p:bldP spid="27" grpId="1"/>
      <p:bldP spid="4" grpId="0"/>
      <p:bldP spid="4" grpId="1"/>
      <p:bldP spid="5" grpId="0"/>
      <p:bldP spid="5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836930"/>
            <a:ext cx="4572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7.1.2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分支限界法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总结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9795" y="1714500"/>
            <a:ext cx="330644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>
                <a:solidFill>
                  <a:srgbClr val="FF0000"/>
                </a:solidFill>
              </a:rPr>
              <a:t>总结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75740" y="2276475"/>
            <a:ext cx="7432675" cy="31026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分支限界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关键：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charset="0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     1.</a:t>
            </a:r>
            <a:r>
              <a:rPr lang="zh-CN" altLang="en-US" sz="2400">
                <a:uFillTx/>
                <a:latin typeface="Times New Roman" panose="02020603050405020304" charset="0"/>
                <a:sym typeface="+mn-ea"/>
              </a:rPr>
              <a:t>确定合适的限界函数（能准确预测节点是否</a:t>
            </a:r>
            <a:r>
              <a:rPr lang="zh-CN" altLang="en-US" sz="2400">
                <a:uFillTx/>
                <a:latin typeface="Times New Roman" panose="02020603050405020304" charset="0"/>
                <a:sym typeface="+mn-ea"/>
              </a:rPr>
              <a:t>优）</a:t>
            </a:r>
            <a:endParaRPr lang="zh-CN" altLang="en-US" sz="2400">
              <a:uFillTx/>
              <a:latin typeface="Times New Roman" panose="02020603050405020304" charset="0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     2.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需要对可行的节点进行管理（计算限界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函数）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charset="0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     3.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需要在节点中保存解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向量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优点：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charset="0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charset="0"/>
                <a:sym typeface="+mn-ea"/>
              </a:rPr>
              <a:t>   </a:t>
            </a:r>
            <a:r>
              <a:rPr lang="en-US" altLang="zh-CN" sz="2400">
                <a:solidFill>
                  <a:srgbClr val="FF0000"/>
                </a:solidFill>
                <a:uFillTx/>
                <a:latin typeface="Times New Roman" panose="02020603050405020304" charset="0"/>
                <a:sym typeface="+mn-ea"/>
              </a:rPr>
              <a:t>  </a:t>
            </a:r>
            <a:r>
              <a:rPr lang="zh-CN" altLang="en-US" sz="2400">
                <a:solidFill>
                  <a:schemeClr val="tx2"/>
                </a:solidFill>
                <a:uFillTx/>
                <a:latin typeface="Times New Roman" panose="02020603050405020304" charset="0"/>
                <a:sym typeface="+mn-ea"/>
              </a:rPr>
              <a:t>分支限界法能够直接确定最优的一个解</a:t>
            </a:r>
            <a:endParaRPr lang="zh-CN" altLang="en-US" sz="2400">
              <a:solidFill>
                <a:srgbClr val="FF0000"/>
              </a:solidFill>
              <a:uFillTx/>
              <a:latin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2"/>
                </a:solidFill>
                <a:uFillTx/>
                <a:latin typeface="Times New Roman" panose="02020603050405020304" charset="0"/>
                <a:sym typeface="+mn-ea"/>
              </a:rPr>
              <a:t>缺点：</a:t>
            </a:r>
            <a:endParaRPr lang="zh-CN" altLang="en-US" sz="2400">
              <a:solidFill>
                <a:schemeClr val="tx2"/>
              </a:solidFill>
              <a:uFillTx/>
              <a:latin typeface="Times New Roman" panose="02020603050405020304" charset="0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FF0000"/>
                </a:solidFill>
                <a:uFillTx/>
                <a:latin typeface="Times New Roman" panose="02020603050405020304" charset="0"/>
                <a:sym typeface="+mn-ea"/>
              </a:rPr>
              <a:t>     </a:t>
            </a:r>
            <a:r>
              <a:rPr lang="zh-CN" altLang="en-US" sz="2400">
                <a:solidFill>
                  <a:schemeClr val="tx2"/>
                </a:solidFill>
                <a:uFillTx/>
                <a:latin typeface="Times New Roman" panose="02020603050405020304" charset="0"/>
                <a:sym typeface="+mn-ea"/>
              </a:rPr>
              <a:t>实现相对比较复杂</a:t>
            </a:r>
            <a:endParaRPr lang="zh-CN" altLang="en-US" sz="2400">
              <a:solidFill>
                <a:schemeClr val="tx2"/>
              </a:solidFill>
              <a:uFillTx/>
              <a:latin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784465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970" y="1412240"/>
            <a:ext cx="8603615" cy="711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例子：物品数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N=3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，重量：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weight=[1,2,3]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，价值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value=[3,3.2,3.3]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，背包容量是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C=5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7360" y="2060575"/>
            <a:ext cx="7322185" cy="546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上界函数的定义：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Ub =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当前节点的价值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+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剩下容量的可能的最大值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4020" y="2781300"/>
            <a:ext cx="8531860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例如第一个节点选择，当前这个活结点的状态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V=3,W=1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。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Ub=</a:t>
            </a:r>
            <a:r>
              <a:rPr lang="en-US" altLang="zh-CN" u="sng">
                <a:solidFill>
                  <a:srgbClr val="FF0000"/>
                </a:solidFill>
                <a:uFillTx/>
                <a:latin typeface="Times New Roman" panose="02020603050405020304" charset="0"/>
              </a:rPr>
              <a:t>3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+</a:t>
            </a:r>
            <a:r>
              <a:rPr lang="en-US" altLang="zh-CN" u="sng">
                <a:solidFill>
                  <a:schemeClr val="tx1"/>
                </a:solidFill>
                <a:uFillTx/>
                <a:latin typeface="Times New Roman" panose="02020603050405020304" charset="0"/>
              </a:rPr>
              <a:t>3.2+(2*1.1)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= 8.4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9750" y="3554730"/>
            <a:ext cx="6278880" cy="1193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（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1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）为什么要对物品按照价值质量比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排序？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（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2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）两种方式的限界函数，对算法有什么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区别？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6" name="矩形标注 5"/>
          <p:cNvSpPr/>
          <p:nvPr/>
        </p:nvSpPr>
        <p:spPr>
          <a:xfrm>
            <a:off x="5849620" y="2463800"/>
            <a:ext cx="975995" cy="307340"/>
          </a:xfrm>
          <a:prstGeom prst="wedgeRectCallout">
            <a:avLst>
              <a:gd name="adj1" fmla="val 33385"/>
              <a:gd name="adj2" fmla="val 7574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被选的物品</a:t>
            </a:r>
            <a:endParaRPr kumimoji="0" lang="zh-CN" altLang="en-US" sz="1200" b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6969760" y="2463800"/>
            <a:ext cx="810895" cy="307340"/>
          </a:xfrm>
          <a:prstGeom prst="wedgeRectCallout">
            <a:avLst>
              <a:gd name="adj1" fmla="val 33385"/>
              <a:gd name="adj2" fmla="val 7574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预估</a:t>
            </a:r>
            <a:r>
              <a:rPr kumimoji="0" lang="zh-CN" altLang="en-US" sz="1200" b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价值</a:t>
            </a:r>
            <a:endParaRPr kumimoji="0" lang="zh-CN" altLang="en-US" sz="1200" b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65937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970" y="1412240"/>
            <a:ext cx="8603615" cy="711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例子：物品数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N=3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，重量：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weight=[1,2,3]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，价值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value=[3,3.2,3.3]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avg=[3,1.6,1.1]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，背包容量是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C=5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851910" y="198882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3347720" y="33572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1805940" y="33572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W=3,V=6.2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4700270" y="268605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2771775" y="27089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4" name="直接连接符 13"/>
          <p:cNvCxnSpPr>
            <a:stCxn id="6" idx="2"/>
            <a:endCxn id="13" idx="0"/>
          </p:cNvCxnSpPr>
          <p:nvPr/>
        </p:nvCxnSpPr>
        <p:spPr>
          <a:xfrm flipH="1">
            <a:off x="3195955" y="2446020"/>
            <a:ext cx="1080135" cy="262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直接连接符 14"/>
          <p:cNvCxnSpPr>
            <a:stCxn id="6" idx="2"/>
            <a:endCxn id="12" idx="0"/>
          </p:cNvCxnSpPr>
          <p:nvPr/>
        </p:nvCxnSpPr>
        <p:spPr>
          <a:xfrm>
            <a:off x="4276090" y="2446020"/>
            <a:ext cx="848360" cy="2400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直接连接符 15"/>
          <p:cNvCxnSpPr>
            <a:stCxn id="11" idx="0"/>
            <a:endCxn id="13" idx="2"/>
          </p:cNvCxnSpPr>
          <p:nvPr/>
        </p:nvCxnSpPr>
        <p:spPr>
          <a:xfrm flipV="1">
            <a:off x="2230120" y="3166110"/>
            <a:ext cx="965835" cy="1911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直接连接符 16"/>
          <p:cNvCxnSpPr>
            <a:stCxn id="13" idx="2"/>
            <a:endCxn id="10" idx="0"/>
          </p:cNvCxnSpPr>
          <p:nvPr/>
        </p:nvCxnSpPr>
        <p:spPr>
          <a:xfrm>
            <a:off x="3195955" y="3166110"/>
            <a:ext cx="575945" cy="1911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文本框 22"/>
          <p:cNvSpPr txBox="1"/>
          <p:nvPr/>
        </p:nvSpPr>
        <p:spPr>
          <a:xfrm>
            <a:off x="6012180" y="2343150"/>
            <a:ext cx="2672080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Ub=6.5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Ub=8.4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均大于当前的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max_profit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=3,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均需入优先队列，且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Ub=8.4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的优先级最高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012815" y="2343785"/>
            <a:ext cx="2672080" cy="140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Ub=8.4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Ub=6.3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均大于当前的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max_profit=6.2,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均需入优先队列，且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Ub=8.4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的优先级最高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98475" y="2134235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max_profit=0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92760" y="2134235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max_profit=3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6410" y="2134235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max_profit=6.2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2503170" y="5713730"/>
            <a:ext cx="2961005" cy="850900"/>
          </a:xfrm>
          <a:prstGeom prst="flowChartProcess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3854450" y="199136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2764155" y="27089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4702810" y="268732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表格 34"/>
          <p:cNvGraphicFramePr/>
          <p:nvPr/>
        </p:nvGraphicFramePr>
        <p:xfrm>
          <a:off x="1805940" y="33566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W=3,V=6.2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表格 35"/>
          <p:cNvGraphicFramePr/>
          <p:nvPr/>
        </p:nvGraphicFramePr>
        <p:xfrm>
          <a:off x="3349625" y="335851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" name="文本框 43"/>
          <p:cNvSpPr txBox="1"/>
          <p:nvPr/>
        </p:nvSpPr>
        <p:spPr>
          <a:xfrm>
            <a:off x="2844165" y="5229225"/>
            <a:ext cx="2413635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优先</a:t>
            </a:r>
            <a:r>
              <a:rPr lang="zh-CN" altLang="en-US"/>
              <a:t>队列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1111 -0.0349074 C 0.090625 0.0192593 0.368056 0.146204 0.343611 0.265556 C 0.319167 0.384907 -0.00958333 0.508704 -0.106111 0.562037 " pathEditMode="relative" ptsTypes="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1806 0.564815 L -0.597917 0.564815 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27778 0.0175926 0.420625 0.0303704 0.422639 0.121481 C 0.424653 0.212593 0.100972 0.391019 0.01 0.45537 " pathEditMode="relative" ptsTypes="">
                                      <p:cBhvr>
                                        <p:cTn id="4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84722 0.0201852 0.233542 0.0412037 0.209306 0.133611 C 0.185069 0.226019 -0.0509028 0.399074 -0.121181 0.46213 " pathEditMode="relative" ptsTypes="">
                                      <p:cBhvr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8333 0.460185 L -0.510139 0.460185 " pathEditMode="relative" ptsTypes="">
                                      <p:cBhvr>
                                        <p:cTn id="6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05764 0.0175926 0.467292 0.0411111 0.491736 0.11213 C 0.516181 0.183148 0.205903 0.308796 0.122153 0.355185 " pathEditMode="relative" ptsTypes="">
                                      <p:cBhvr>
                                        <p:cTn id="10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834722 0.0280556 0.368264 0.0881481 0.388681 0.160278 C 0.409097 0.232407 0.167292 0.323704 0.102222 0.360556 " pathEditMode="relative" ptsTypes="">
                                      <p:cBhvr>
                                        <p:cTn id="10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3" grpId="2"/>
      <p:bldP spid="24" grpId="0"/>
      <p:bldP spid="24" grpId="1"/>
      <p:bldP spid="25" grpId="0"/>
      <p:bldP spid="25" grpId="1"/>
      <p:bldP spid="26" grpId="0"/>
      <p:bldP spid="26" grpId="1"/>
      <p:bldP spid="26" grpId="2"/>
      <p:bldP spid="27" grpId="0"/>
      <p:bldP spid="27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84733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970" y="1412240"/>
            <a:ext cx="8603615" cy="711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例子：物品数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N=3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，重量：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weight=[1,2,3]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，价值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value=[3,3.2,3.3]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avg=[3,1.6,1.1]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，背包容量是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C=5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851910" y="198882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4284345" y="336169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10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W=2,V=3.2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3347720" y="33572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1805940" y="33572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W=3,V=6.2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4700270" y="268605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2771775" y="27089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4" name="直接连接符 13"/>
          <p:cNvCxnSpPr>
            <a:stCxn id="6" idx="2"/>
            <a:endCxn id="13" idx="0"/>
          </p:cNvCxnSpPr>
          <p:nvPr/>
        </p:nvCxnSpPr>
        <p:spPr>
          <a:xfrm flipH="1">
            <a:off x="3195955" y="2446020"/>
            <a:ext cx="1080135" cy="262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直接连接符 14"/>
          <p:cNvCxnSpPr>
            <a:stCxn id="6" idx="2"/>
            <a:endCxn id="12" idx="0"/>
          </p:cNvCxnSpPr>
          <p:nvPr/>
        </p:nvCxnSpPr>
        <p:spPr>
          <a:xfrm>
            <a:off x="4276090" y="2446020"/>
            <a:ext cx="848360" cy="2400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直接连接符 15"/>
          <p:cNvCxnSpPr>
            <a:stCxn id="11" idx="0"/>
            <a:endCxn id="13" idx="2"/>
          </p:cNvCxnSpPr>
          <p:nvPr/>
        </p:nvCxnSpPr>
        <p:spPr>
          <a:xfrm flipV="1">
            <a:off x="2230120" y="3166110"/>
            <a:ext cx="965835" cy="1911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直接连接符 16"/>
          <p:cNvCxnSpPr>
            <a:stCxn id="13" idx="2"/>
            <a:endCxn id="10" idx="0"/>
          </p:cNvCxnSpPr>
          <p:nvPr/>
        </p:nvCxnSpPr>
        <p:spPr>
          <a:xfrm>
            <a:off x="3195955" y="3166110"/>
            <a:ext cx="575945" cy="1911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" name="表格 17"/>
          <p:cNvGraphicFramePr/>
          <p:nvPr/>
        </p:nvGraphicFramePr>
        <p:xfrm>
          <a:off x="1187450" y="414909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W=6,V=9.5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/>
        </p:nvGraphicFramePr>
        <p:xfrm>
          <a:off x="2339975" y="414909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10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W=3,V=6.2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0" name="直接连接符 19"/>
          <p:cNvCxnSpPr>
            <a:stCxn id="18" idx="0"/>
            <a:endCxn id="11" idx="2"/>
          </p:cNvCxnSpPr>
          <p:nvPr/>
        </p:nvCxnSpPr>
        <p:spPr>
          <a:xfrm flipV="1">
            <a:off x="1611630" y="3814445"/>
            <a:ext cx="618490" cy="3346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直接连接符 20"/>
          <p:cNvCxnSpPr>
            <a:stCxn id="19" idx="0"/>
            <a:endCxn id="11" idx="2"/>
          </p:cNvCxnSpPr>
          <p:nvPr/>
        </p:nvCxnSpPr>
        <p:spPr>
          <a:xfrm flipH="1" flipV="1">
            <a:off x="2230120" y="3814445"/>
            <a:ext cx="534035" cy="3346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2" name="表格 21"/>
          <p:cNvGraphicFramePr/>
          <p:nvPr/>
        </p:nvGraphicFramePr>
        <p:xfrm>
          <a:off x="5313680" y="336613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Ub=3.3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6212840" y="2102485"/>
            <a:ext cx="2672080" cy="140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Ub=8.4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Ub=6.3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均大于当前的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V=6.2,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均需入优先队列，且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Ub=8.4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的优先级最高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23215" y="2276475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max_profit=6.2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8" name="直接连接符 27"/>
          <p:cNvCxnSpPr>
            <a:stCxn id="12" idx="2"/>
            <a:endCxn id="9" idx="0"/>
          </p:cNvCxnSpPr>
          <p:nvPr/>
        </p:nvCxnSpPr>
        <p:spPr>
          <a:xfrm flipH="1">
            <a:off x="4708525" y="3143250"/>
            <a:ext cx="415925" cy="2184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直接连接符 28"/>
          <p:cNvCxnSpPr>
            <a:stCxn id="12" idx="2"/>
            <a:endCxn id="22" idx="0"/>
          </p:cNvCxnSpPr>
          <p:nvPr/>
        </p:nvCxnSpPr>
        <p:spPr>
          <a:xfrm>
            <a:off x="5124450" y="3143250"/>
            <a:ext cx="613410" cy="22288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1" name="表格 30"/>
          <p:cNvGraphicFramePr/>
          <p:nvPr/>
        </p:nvGraphicFramePr>
        <p:xfrm>
          <a:off x="3902710" y="41446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10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W=5,V=6.5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/>
          <p:nvPr/>
        </p:nvGraphicFramePr>
        <p:xfrm>
          <a:off x="4932045" y="414909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W=2,V=3.2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Ub=3.2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3" name="直接连接符 32"/>
          <p:cNvCxnSpPr>
            <a:stCxn id="9" idx="2"/>
            <a:endCxn id="31" idx="0"/>
          </p:cNvCxnSpPr>
          <p:nvPr/>
        </p:nvCxnSpPr>
        <p:spPr>
          <a:xfrm flipH="1">
            <a:off x="4326890" y="3818890"/>
            <a:ext cx="381635" cy="3257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直接连接符 33"/>
          <p:cNvCxnSpPr>
            <a:stCxn id="9" idx="2"/>
            <a:endCxn id="32" idx="0"/>
          </p:cNvCxnSpPr>
          <p:nvPr/>
        </p:nvCxnSpPr>
        <p:spPr>
          <a:xfrm>
            <a:off x="4708525" y="3818890"/>
            <a:ext cx="647700" cy="330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流程图: 过程 1"/>
          <p:cNvSpPr/>
          <p:nvPr/>
        </p:nvSpPr>
        <p:spPr>
          <a:xfrm>
            <a:off x="2699385" y="5661025"/>
            <a:ext cx="2961005" cy="850900"/>
          </a:xfrm>
          <a:prstGeom prst="flowChartProcess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graphicFrame>
        <p:nvGraphicFramePr>
          <p:cNvPr id="35" name="表格 34"/>
          <p:cNvGraphicFramePr/>
          <p:nvPr/>
        </p:nvGraphicFramePr>
        <p:xfrm>
          <a:off x="2898140" y="587692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W=3,V=6.2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表格 35"/>
          <p:cNvGraphicFramePr/>
          <p:nvPr/>
        </p:nvGraphicFramePr>
        <p:xfrm>
          <a:off x="3609975" y="595439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/>
          <p:nvPr/>
        </p:nvGraphicFramePr>
        <p:xfrm>
          <a:off x="4374515" y="586549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6261735" y="2102485"/>
            <a:ext cx="2672080" cy="140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此时，已经到达底部或超出容量，不可将其节点继续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入队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262370" y="2123440"/>
            <a:ext cx="2672080" cy="140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Ub=6.5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大于当前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max_profit=6.2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，入队。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Ub=3.3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小于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max_profit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，则不入队，且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Ub=6.5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的优先级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最大。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0" name="表格 39"/>
          <p:cNvGraphicFramePr/>
          <p:nvPr/>
        </p:nvGraphicFramePr>
        <p:xfrm>
          <a:off x="4284345" y="3359785"/>
          <a:ext cx="848995" cy="52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995"/>
              </a:tblGrid>
              <a:tr h="230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W=2,V=3.2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" name="文本框 40"/>
          <p:cNvSpPr txBox="1"/>
          <p:nvPr/>
        </p:nvSpPr>
        <p:spPr>
          <a:xfrm>
            <a:off x="6306185" y="2211070"/>
            <a:ext cx="2672080" cy="140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此时该节点，已经到达底部，不可将其节点继续入队。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306185" y="2179320"/>
            <a:ext cx="2672080" cy="140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此时优先队列中还剩下一个，由于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Ub=6.3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小于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&lt;6.5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，则直接出队，不做处理，且找到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最优解。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23850" y="2279650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max_profit=6.5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968625" y="5229225"/>
            <a:ext cx="2413635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优先</a:t>
            </a:r>
            <a:r>
              <a:rPr lang="zh-CN" altLang="en-US"/>
              <a:t>队列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17292 0 " pathEditMode="relative" ptsTypes="">
                                      <p:cBhvr>
                                        <p:cTn id="1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39653 0.00796296 " pathEditMode="relative" rAng="0" ptsTypes="">
                                      <p:cBhvr>
                                        <p:cTn id="4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72917 0.0106481 0.273889 0.00833333 0.249444 0.0814815 C 0.225 0.15463 -0.0428472 0.310648 -0.122153 0.365926 " pathEditMode="relative" ptsTypes="">
                                      <p:cBhvr>
                                        <p:cTn id="6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7292 0.365 L -0.668542 0.375556 " pathEditMode="relative" ptsTypes="">
                                      <p:cBhvr>
                                        <p:cTn id="7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700903 0 " pathEditMode="relative" ptsTypes="">
                                      <p:cBhvr>
                                        <p:cTn id="12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1"/>
      <p:bldP spid="27" grpId="1"/>
      <p:bldP spid="24" grpId="2"/>
      <p:bldP spid="38" grpId="1"/>
      <p:bldP spid="38" grpId="2"/>
      <p:bldP spid="38" grpId="3"/>
      <p:bldP spid="39" grpId="1"/>
      <p:bldP spid="39" grpId="2"/>
      <p:bldP spid="39" grpId="3"/>
      <p:bldP spid="41" grpId="1"/>
      <p:bldP spid="41" grpId="2"/>
      <p:bldP spid="41" grpId="3"/>
      <p:bldP spid="42" grpId="1"/>
      <p:bldP spid="42" grpId="2"/>
      <p:bldP spid="42" grpId="3"/>
      <p:bldP spid="27" grpId="2"/>
      <p:bldP spid="4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694295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970" y="1412240"/>
            <a:ext cx="285051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算法代码设计</a:t>
            </a:r>
            <a:endParaRPr lang="zh-CN" altLang="en-US" sz="2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11505" y="220408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W=3,V=6.2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67360" y="1844675"/>
            <a:ext cx="1530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节点设计：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1115060" y="2996565"/>
            <a:ext cx="715708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class Node: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def __init__(self, level, profit, weight, bound, items):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self.level = level 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树的层级（决策到第几个物品）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self.profit = profit 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当前节点的总价值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self.weight = weight 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当前节点的总重量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self.bound = bound 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价值上界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self.items = items 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选择的物品列表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def __lt__(self, other):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为了最大堆，按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bound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降序排列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return self.bound &gt; other.bound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740015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970" y="1412240"/>
            <a:ext cx="285051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算法代码设计</a:t>
            </a:r>
            <a:endParaRPr lang="zh-CN" altLang="en-US" sz="2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360" y="1844675"/>
            <a:ext cx="2988945" cy="35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物品按照价值质量比</a:t>
            </a:r>
            <a:r>
              <a:rPr lang="zh-CN" altLang="en-US" sz="1800"/>
              <a:t>排序：</a:t>
            </a:r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1187450" y="2420620"/>
            <a:ext cx="7080885" cy="2310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class Item: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def __init__(self, weight, value):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self.weight = weight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self.value = value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self.ratio = value / weight 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价值重量比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def __lt__(self, other):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return self.ratio &gt; other.ratio 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为了最大堆，按比例降序排列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802005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970" y="1412240"/>
            <a:ext cx="285051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算法代码设计</a:t>
            </a:r>
            <a:endParaRPr lang="zh-CN" altLang="en-US" sz="2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360" y="1844675"/>
            <a:ext cx="2988945" cy="35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限界函数的</a:t>
            </a:r>
            <a:r>
              <a:rPr lang="zh-CN" altLang="en-US" sz="1800"/>
              <a:t>实现：</a:t>
            </a:r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827405" y="2152650"/>
            <a:ext cx="7644130" cy="4554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def bound(node, capacity, items, n):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#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如果重量超过容量，直接返回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0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（不可能有更优解）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if node.weight &gt;= capacity: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return 0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#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初始化上界为当前价值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profit_bound = node.profit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total_weight = node.weight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j = node.level + 1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#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贪心地添加物品，直到不能再添加为止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while j &lt; n and total_weight + items[j].weight &lt;= capacity: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total_weight += items[j].weight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profit_bound += items[j].value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j += 1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#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如果还有剩余物品，添加一部分以计算上界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if j &lt; n: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profit_bound += (capacity - total_weight) * items[j].ratio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return profit_bound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884795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970" y="1412240"/>
            <a:ext cx="285051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算法代码设计</a:t>
            </a:r>
            <a:endParaRPr lang="zh-CN" altLang="en-US" sz="2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360" y="1844675"/>
            <a:ext cx="2988945" cy="35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核心</a:t>
            </a:r>
            <a:r>
              <a:rPr lang="zh-CN" altLang="en-US" sz="1800"/>
              <a:t>代码的</a:t>
            </a:r>
            <a:r>
              <a:rPr lang="zh-CN" altLang="en-US" sz="1800"/>
              <a:t>实现：</a:t>
            </a:r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8975" y="2276475"/>
            <a:ext cx="674052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def branch_and_bound_knapsack(capacity, weights, values, n):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  #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创建物品列表并按价值重量比排序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  items = [Item(weights[i], values[i]) for i in range(n)]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  items.sort()  #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按价值重量比降序排列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  #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初始化最大堆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  max_heap = []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  #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创建根节点（未选择任何物品）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  root = Node(-1, 0, 0, 0, [])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  root.bound = bound(root, capacity, items, n)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  heapq.heappush(max_heap, root)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  max_profit = 0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  best_items = []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704455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970" y="1412240"/>
            <a:ext cx="285051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算法代码设计</a:t>
            </a:r>
            <a:endParaRPr lang="zh-CN" altLang="en-US" sz="2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360" y="1844675"/>
            <a:ext cx="2988945" cy="35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核心</a:t>
            </a:r>
            <a:r>
              <a:rPr lang="zh-CN" altLang="en-US" sz="1800"/>
              <a:t>代码的</a:t>
            </a:r>
            <a:r>
              <a:rPr lang="zh-CN" altLang="en-US" sz="1800"/>
              <a:t>实现：</a:t>
            </a:r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8975" y="2276475"/>
            <a:ext cx="6740525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while max_heap: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#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取出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bound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最大的节点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current_node = heapq.heappop(max_heap)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#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如果当前节点的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bound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小于已知最大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profit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，则剪枝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if current_node.bound &lt; max_profit: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    continue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#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如果已经到达叶子节点，更新最大值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if current_node.level == n - 1: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    continue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90067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1196975"/>
            <a:ext cx="8472805" cy="6216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#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处理左子节点（选择下一个物品）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next_level = current_node.level + 1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left_weight = current_node.weight + items[next_level].weight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left_profit = current_node.profit + items[next_level].value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left_items = current_node.items.copy() #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该层选择哪些物品拷贝过来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left_items.append(next_level) #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将该物品加入候选单中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#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如果重量不超过容量且价值更大，更新最大值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if left_weight &lt;= capacity and left_profit &gt; max_profit:</a:t>
            </a:r>
            <a:endParaRPr lang="en-US" altLang="zh-CN" sz="14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max_profit = left_profit</a:t>
            </a:r>
            <a:endParaRPr lang="en-US" altLang="zh-CN" sz="14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best_items = left_items.copy()</a:t>
            </a:r>
            <a:endParaRPr lang="en-US" altLang="zh-CN" sz="14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#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计算左子节点的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bound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left_bound = bound(Node(next_level, left_profit, left_weight, 0, left_items),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       capacity, items, n)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#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如果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bound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大于当前最大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profit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，则加入堆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if left_bound &gt; max_profit:</a:t>
            </a:r>
            <a:endParaRPr lang="en-US" altLang="zh-CN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left_node = Node(next_level, left_profit, left_weight, left_bound, left_items)</a:t>
            </a:r>
            <a:endParaRPr lang="en-US" altLang="zh-CN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heapq.heappush(max_heap, left_node)</a:t>
            </a:r>
            <a:endParaRPr lang="en-US" altLang="zh-CN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#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处理右子节点（不选择下一个物品）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right_bound = bound(Node(next_level, current_node.profit, current_node.weight, 0, current_node.items),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        capacity, items, n)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#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如果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bound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大于当前最大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profit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，则加入堆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if right_bound &gt; max_profit:</a:t>
            </a:r>
            <a:endParaRPr lang="en-US" altLang="zh-CN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right_node = Node(next_level, current_node.profit, current_node.weight, right_bound, current_node.items)</a:t>
            </a:r>
            <a:endParaRPr lang="en-US" altLang="zh-CN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heapq.heappush(max_heap, right_node)</a:t>
            </a:r>
            <a:endParaRPr lang="en-US" altLang="zh-CN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#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返回最大价值和选择的物品索引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return max_profit, best_items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/>
        </p:nvSpPr>
        <p:spPr>
          <a:xfrm>
            <a:off x="1906270" y="5725795"/>
            <a:ext cx="4688205" cy="838835"/>
          </a:xfrm>
          <a:prstGeom prst="flowChartProcess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6370" y="4904740"/>
            <a:ext cx="180975" cy="170497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4510" y="4904740"/>
            <a:ext cx="180975" cy="17049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7950" y="692150"/>
            <a:ext cx="713740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970" y="1412240"/>
            <a:ext cx="8603615" cy="711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例子：物品数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N=3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，重量：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weight=[1,2,3]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，价值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value=[3,3.2,3.3]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avg=[3,1.6,1.1]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，背包容量是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C=5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851910" y="198882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3347720" y="33572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1805940" y="33572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W=3,V=6.2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4700270" y="268605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2771775" y="27089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4" name="直接连接符 13"/>
          <p:cNvCxnSpPr>
            <a:stCxn id="6" idx="2"/>
            <a:endCxn id="13" idx="0"/>
          </p:cNvCxnSpPr>
          <p:nvPr/>
        </p:nvCxnSpPr>
        <p:spPr>
          <a:xfrm flipH="1">
            <a:off x="3195955" y="2446020"/>
            <a:ext cx="1080135" cy="262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直接连接符 14"/>
          <p:cNvCxnSpPr>
            <a:stCxn id="6" idx="2"/>
            <a:endCxn id="12" idx="0"/>
          </p:cNvCxnSpPr>
          <p:nvPr/>
        </p:nvCxnSpPr>
        <p:spPr>
          <a:xfrm>
            <a:off x="4276090" y="2446020"/>
            <a:ext cx="848360" cy="2400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直接连接符 15"/>
          <p:cNvCxnSpPr>
            <a:stCxn id="11" idx="0"/>
            <a:endCxn id="13" idx="2"/>
          </p:cNvCxnSpPr>
          <p:nvPr/>
        </p:nvCxnSpPr>
        <p:spPr>
          <a:xfrm flipV="1">
            <a:off x="2230120" y="3166110"/>
            <a:ext cx="965835" cy="1911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直接连接符 16"/>
          <p:cNvCxnSpPr>
            <a:stCxn id="13" idx="2"/>
            <a:endCxn id="10" idx="0"/>
          </p:cNvCxnSpPr>
          <p:nvPr/>
        </p:nvCxnSpPr>
        <p:spPr>
          <a:xfrm>
            <a:off x="3195955" y="3166110"/>
            <a:ext cx="575945" cy="1911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文本框 24"/>
          <p:cNvSpPr txBox="1"/>
          <p:nvPr/>
        </p:nvSpPr>
        <p:spPr>
          <a:xfrm>
            <a:off x="498475" y="2134235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max_profit=0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98475" y="2134235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max_profit=3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95300" y="2132330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max_profit=6.2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3854450" y="1983740"/>
          <a:ext cx="848360" cy="464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362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2771775" y="27089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4700270" y="268605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表格 34"/>
          <p:cNvGraphicFramePr/>
          <p:nvPr/>
        </p:nvGraphicFramePr>
        <p:xfrm>
          <a:off x="1804670" y="335470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W=3,V=6.2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表格 35"/>
          <p:cNvGraphicFramePr/>
          <p:nvPr/>
        </p:nvGraphicFramePr>
        <p:xfrm>
          <a:off x="3347085" y="335470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" name="文本框 43"/>
          <p:cNvSpPr txBox="1"/>
          <p:nvPr/>
        </p:nvSpPr>
        <p:spPr>
          <a:xfrm>
            <a:off x="3147060" y="5229225"/>
            <a:ext cx="2413635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800"/>
              <a:t>队列</a:t>
            </a:r>
            <a:endParaRPr lang="zh-CN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35431 -7.66006e-05 C 0.0852288 0.0283017 0.389546 0.0658664 0.344213 0.181107 C 0.298878 0.296349 -0.100606 0.500817 -0.220248 0.57622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" y="2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1944 0.575926 L -0.56625 0.575926 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52778 0.022963 0.432639 0.0537963 0.433403 0.146667 C 0.434167 0.239537 0.0984722 0.403889 0.00388889 0.464537 " pathEditMode="relative" ptsTypes="">
                                      <p:cBhvr>
                                        <p:cTn id="4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35417 0.0232407 0.255069 0.0548148 0.233611 0.147963 C 0.212153 0.241111 -0.0343056 0.405278 -0.107153 0.465926 " pathEditMode="relative" ptsTypes=""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75 0.460185 L -0.471597 0.460185 " pathEditMode="relative" ptsTypes="">
                                      <p:cBhvr>
                                        <p:cTn id="5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23611 0.00564815 0.528333 -0.0142593 0.59 0.0588889 C 0.651667 0.132037 0.376458 0.30537 0.308333 0.365556 " pathEditMode="relative" ptsTypes="">
                                      <p:cBhvr>
                                        <p:cTn id="8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83333 0.0277778 0.422014 0.0860185 0.4675 0.16 C 0.512986 0.233981 0.284861 0.331204 0.2275 0.37 " pathEditMode="relative" ptsTypes="">
                                      <p:cBhvr>
                                        <p:cTn id="8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1"/>
      <p:bldP spid="25" grpId="0"/>
      <p:bldP spid="25" grpId="1"/>
      <p:bldP spid="26" grpId="0"/>
      <p:bldP spid="26" grpId="1"/>
      <p:bldP spid="26" grpId="2"/>
      <p:bldP spid="27" grpId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84733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970" y="1412240"/>
            <a:ext cx="8603615" cy="711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例子：物品数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N=3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，重量：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weight=[1,2,3]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，价值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value=[3,3.2,3.3]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avg=[3,1.6,1.1]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，背包容量是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C=5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851910" y="198882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4803140" y="336804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10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W=2,V=3.2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3347720" y="33572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1805940" y="33572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W=3,V=6.2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4700270" y="268605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2771775" y="27089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4" name="直接连接符 13"/>
          <p:cNvCxnSpPr>
            <a:stCxn id="6" idx="2"/>
            <a:endCxn id="13" idx="0"/>
          </p:cNvCxnSpPr>
          <p:nvPr/>
        </p:nvCxnSpPr>
        <p:spPr>
          <a:xfrm flipH="1">
            <a:off x="3195955" y="2446020"/>
            <a:ext cx="1080135" cy="262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直接连接符 14"/>
          <p:cNvCxnSpPr>
            <a:stCxn id="6" idx="2"/>
            <a:endCxn id="12" idx="0"/>
          </p:cNvCxnSpPr>
          <p:nvPr/>
        </p:nvCxnSpPr>
        <p:spPr>
          <a:xfrm>
            <a:off x="4276090" y="2446020"/>
            <a:ext cx="848360" cy="2400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直接连接符 15"/>
          <p:cNvCxnSpPr>
            <a:stCxn id="11" idx="0"/>
            <a:endCxn id="13" idx="2"/>
          </p:cNvCxnSpPr>
          <p:nvPr/>
        </p:nvCxnSpPr>
        <p:spPr>
          <a:xfrm flipV="1">
            <a:off x="2230120" y="3166110"/>
            <a:ext cx="965835" cy="1911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直接连接符 16"/>
          <p:cNvCxnSpPr>
            <a:stCxn id="13" idx="2"/>
            <a:endCxn id="10" idx="0"/>
          </p:cNvCxnSpPr>
          <p:nvPr/>
        </p:nvCxnSpPr>
        <p:spPr>
          <a:xfrm>
            <a:off x="3195955" y="3166110"/>
            <a:ext cx="575945" cy="1911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" name="表格 17"/>
          <p:cNvGraphicFramePr/>
          <p:nvPr/>
        </p:nvGraphicFramePr>
        <p:xfrm>
          <a:off x="905510" y="414909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W=6,V=9.5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/>
        </p:nvGraphicFramePr>
        <p:xfrm>
          <a:off x="2058035" y="414909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10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W=3,V=6.2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0" name="直接连接符 19"/>
          <p:cNvCxnSpPr>
            <a:stCxn id="18" idx="0"/>
            <a:endCxn id="11" idx="2"/>
          </p:cNvCxnSpPr>
          <p:nvPr/>
        </p:nvCxnSpPr>
        <p:spPr>
          <a:xfrm flipV="1">
            <a:off x="1329690" y="3814445"/>
            <a:ext cx="900430" cy="3346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直接连接符 20"/>
          <p:cNvCxnSpPr>
            <a:stCxn id="19" idx="0"/>
            <a:endCxn id="11" idx="2"/>
          </p:cNvCxnSpPr>
          <p:nvPr/>
        </p:nvCxnSpPr>
        <p:spPr>
          <a:xfrm flipH="1" flipV="1">
            <a:off x="2230120" y="3814445"/>
            <a:ext cx="252095" cy="3346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2" name="表格 21"/>
          <p:cNvGraphicFramePr/>
          <p:nvPr/>
        </p:nvGraphicFramePr>
        <p:xfrm>
          <a:off x="5848985" y="336677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Ub=3.3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539750" y="2276475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max_profit=6.2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8" name="直接连接符 27"/>
          <p:cNvCxnSpPr>
            <a:stCxn id="12" idx="2"/>
            <a:endCxn id="45" idx="0"/>
          </p:cNvCxnSpPr>
          <p:nvPr/>
        </p:nvCxnSpPr>
        <p:spPr>
          <a:xfrm>
            <a:off x="5124450" y="3143250"/>
            <a:ext cx="102235" cy="2235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直接连接符 28"/>
          <p:cNvCxnSpPr>
            <a:stCxn id="12" idx="2"/>
            <a:endCxn id="22" idx="0"/>
          </p:cNvCxnSpPr>
          <p:nvPr/>
        </p:nvCxnSpPr>
        <p:spPr>
          <a:xfrm>
            <a:off x="5124450" y="3143250"/>
            <a:ext cx="1148715" cy="2235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1" name="表格 30"/>
          <p:cNvGraphicFramePr/>
          <p:nvPr/>
        </p:nvGraphicFramePr>
        <p:xfrm>
          <a:off x="4885690" y="41446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10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W=5,V=6.5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/>
          <p:nvPr/>
        </p:nvGraphicFramePr>
        <p:xfrm>
          <a:off x="5915025" y="414909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W=2,V=3.2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Ub=3.2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3" name="直接连接符 32"/>
          <p:cNvCxnSpPr>
            <a:stCxn id="9" idx="2"/>
            <a:endCxn id="31" idx="0"/>
          </p:cNvCxnSpPr>
          <p:nvPr/>
        </p:nvCxnSpPr>
        <p:spPr>
          <a:xfrm>
            <a:off x="5227320" y="3825240"/>
            <a:ext cx="82550" cy="3194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直接连接符 33"/>
          <p:cNvCxnSpPr>
            <a:stCxn id="9" idx="2"/>
            <a:endCxn id="32" idx="0"/>
          </p:cNvCxnSpPr>
          <p:nvPr/>
        </p:nvCxnSpPr>
        <p:spPr>
          <a:xfrm>
            <a:off x="5227320" y="3825240"/>
            <a:ext cx="1111885" cy="3238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文本框 42"/>
          <p:cNvSpPr txBox="1"/>
          <p:nvPr/>
        </p:nvSpPr>
        <p:spPr>
          <a:xfrm>
            <a:off x="539750" y="2272665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max_profit=6.3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906270" y="5725795"/>
            <a:ext cx="4688205" cy="838835"/>
          </a:xfrm>
          <a:prstGeom prst="flowChartProcess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6370" y="4904740"/>
            <a:ext cx="180975" cy="1704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4510" y="4904740"/>
            <a:ext cx="180975" cy="170497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3147060" y="5229225"/>
            <a:ext cx="2413635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800"/>
              <a:t>队列</a:t>
            </a:r>
            <a:endParaRPr lang="zh-CN" altLang="en-US" sz="1800"/>
          </a:p>
        </p:txBody>
      </p:sp>
      <p:graphicFrame>
        <p:nvGraphicFramePr>
          <p:cNvPr id="25" name="表格 24"/>
          <p:cNvGraphicFramePr/>
          <p:nvPr/>
        </p:nvGraphicFramePr>
        <p:xfrm>
          <a:off x="2052320" y="594931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W=0,V=0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/>
          <p:nvPr/>
        </p:nvGraphicFramePr>
        <p:xfrm>
          <a:off x="2988310" y="594931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W=3,V=6.2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Ub=8.4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" name="表格 29"/>
          <p:cNvGraphicFramePr/>
          <p:nvPr/>
        </p:nvGraphicFramePr>
        <p:xfrm>
          <a:off x="3924300" y="594931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/>
          <p:nvPr/>
        </p:nvGraphicFramePr>
        <p:xfrm>
          <a:off x="4802505" y="336677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10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W=2,V=3.2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6" name="表格 45"/>
          <p:cNvGraphicFramePr/>
          <p:nvPr/>
        </p:nvGraphicFramePr>
        <p:xfrm>
          <a:off x="3033395" y="41446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10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W=4,V=6.3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Ub=6.3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表格 46"/>
          <p:cNvGraphicFramePr/>
          <p:nvPr/>
        </p:nvGraphicFramePr>
        <p:xfrm>
          <a:off x="3956050" y="414909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W=1,V=3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Ub=3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8" name="直接连接符 47"/>
          <p:cNvCxnSpPr>
            <a:stCxn id="10" idx="2"/>
            <a:endCxn id="46" idx="0"/>
          </p:cNvCxnSpPr>
          <p:nvPr/>
        </p:nvCxnSpPr>
        <p:spPr>
          <a:xfrm flipH="1">
            <a:off x="3457575" y="3814445"/>
            <a:ext cx="314325" cy="330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" name="直接连接符 48"/>
          <p:cNvCxnSpPr>
            <a:stCxn id="10" idx="2"/>
            <a:endCxn id="47" idx="0"/>
          </p:cNvCxnSpPr>
          <p:nvPr/>
        </p:nvCxnSpPr>
        <p:spPr>
          <a:xfrm>
            <a:off x="3771900" y="3814445"/>
            <a:ext cx="608330" cy="3346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文本框 49"/>
          <p:cNvSpPr txBox="1"/>
          <p:nvPr/>
        </p:nvSpPr>
        <p:spPr>
          <a:xfrm>
            <a:off x="542925" y="2272030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max_profit=6.5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46458 0 " pathEditMode="relative" ptsTypes="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28472 0.030463 0.330694 0.097963 0.331667 0.172222 C 0.332639 0.246481 0.0769444 0.334815 0.005 0.371111 " pathEditMode="relative" ptsTypes="">
                                      <p:cBhvr>
                                        <p:cTn id="2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64653 0 " pathEditMode="relative" ptsTypes=""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06389 0 " pathEditMode="relative" ptsTypes="">
                                      <p:cBhvr>
                                        <p:cTn id="4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15278 0.374722 L -0.725208 0.374722 " pathEditMode="relative" ptsTypes="">
                                      <p:cBhvr>
                                        <p:cTn id="7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43" grpId="0"/>
      <p:bldP spid="43" grpId="1"/>
      <p:bldP spid="43" grpId="2"/>
      <p:bldP spid="50" grpId="0"/>
      <p:bldP spid="50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90067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7.2.1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0-1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背包问题的分支限界法实现（队列）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1196975"/>
            <a:ext cx="8472805" cy="4769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left_level = node.level + 1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left_weight = node.weight + items[left_level].weight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left_profit = node.profit + items[left_level].value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left_items = node.items.copy()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left_items.append(left_level)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#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保存最优值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        if left_weight &lt;= capacity and left_profit &gt; max_profit:</a:t>
            </a:r>
            <a:endParaRPr lang="en-US" altLang="zh-CN" sz="16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            max_profit = left_profit</a:t>
            </a:r>
            <a:endParaRPr lang="en-US" altLang="zh-CN" sz="16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            best_items = left_items.copy()</a:t>
            </a:r>
            <a:endParaRPr lang="en-US" altLang="zh-CN" sz="16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left_node = Node(left_level, left_profit, left_weight, 0,left_items)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left_bound = bound(left_node, capacity, items, n)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       if left_node.bound &gt; max_profit:#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将左节点加入队列</a:t>
            </a:r>
            <a:endParaRPr lang="en-US" altLang="zh-CN" sz="16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           left_node.bound = left_bound</a:t>
            </a:r>
            <a:endParaRPr lang="en-US" altLang="zh-CN" sz="16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           max_heap.append(left_node)</a:t>
            </a:r>
            <a:endParaRPr lang="en-US" altLang="zh-CN" sz="16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right_node = Node(node.level+1, node.profit, node.weight, 0, node.items)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    right_bound = bound(right_node, capacity, items, n)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       if right_bound &gt; max_profit: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将</a:t>
            </a:r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右节点加入队列</a:t>
            </a:r>
            <a:endParaRPr lang="en-US" altLang="zh-CN" sz="16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           right_node.bound = right_bound</a:t>
            </a:r>
            <a:endParaRPr lang="en-US" altLang="zh-CN" sz="16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           max_heap.append(right_node)</a:t>
            </a:r>
            <a:endParaRPr lang="en-US" altLang="zh-CN" sz="16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3823335" cy="485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7.3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练习：任务分配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问题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215" y="1340485"/>
            <a:ext cx="8284210" cy="746125"/>
          </a:xfrm>
          <a:prstGeom prst="rect">
            <a:avLst/>
          </a:prstGeom>
        </p:spPr>
        <p:txBody>
          <a:bodyPr>
            <a:noAutofit/>
          </a:bodyPr>
          <a:p>
            <a:pPr marL="0" indent="0" algn="just"/>
            <a:r>
              <a:rPr lang="zh-CN" altLang="en-US" sz="1600" b="0" i="0">
                <a:solidFill>
                  <a:srgbClr val="4F4F4F"/>
                </a:solidFill>
                <a:uFillTx/>
                <a:latin typeface="Times New Roman" panose="02020603050405020304" charset="0"/>
              </a:rPr>
              <a:t>问题描述：任务分配问题要求把</a:t>
            </a:r>
            <a:r>
              <a:rPr lang="en-US" altLang="zh-CN" sz="1600" b="0" i="0">
                <a:solidFill>
                  <a:srgbClr val="4F4F4F"/>
                </a:solidFill>
                <a:uFillTx/>
                <a:latin typeface="Times New Roman" panose="02020603050405020304" charset="0"/>
              </a:rPr>
              <a:t>n</a:t>
            </a:r>
            <a:r>
              <a:rPr lang="zh-CN" altLang="en-US" sz="1600" b="0" i="0">
                <a:solidFill>
                  <a:srgbClr val="4F4F4F"/>
                </a:solidFill>
                <a:uFillTx/>
                <a:latin typeface="Times New Roman" panose="02020603050405020304" charset="0"/>
              </a:rPr>
              <a:t>个任务分配给</a:t>
            </a:r>
            <a:r>
              <a:rPr lang="en-US" altLang="zh-CN" sz="1600" b="0" i="0">
                <a:solidFill>
                  <a:srgbClr val="4F4F4F"/>
                </a:solidFill>
                <a:uFillTx/>
                <a:latin typeface="Times New Roman" panose="02020603050405020304" charset="0"/>
              </a:rPr>
              <a:t>n</a:t>
            </a:r>
            <a:r>
              <a:rPr lang="zh-CN" altLang="en-US" sz="1600" b="0" i="0">
                <a:solidFill>
                  <a:srgbClr val="4F4F4F"/>
                </a:solidFill>
                <a:uFillTx/>
                <a:latin typeface="Times New Roman" panose="02020603050405020304" charset="0"/>
              </a:rPr>
              <a:t>个人，每个人完成每项任务的成本不同，要求分配总成本最小的分配方案。</a:t>
            </a:r>
            <a:endParaRPr lang="zh-CN" altLang="en-US" sz="1600" b="0" i="0">
              <a:solidFill>
                <a:srgbClr val="4F4F4F"/>
              </a:solidFill>
              <a:uFillTx/>
              <a:latin typeface="Times New Roman" panose="0202060305040502030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619250" y="2492375"/>
          <a:ext cx="5368925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785"/>
                <a:gridCol w="1073785"/>
                <a:gridCol w="1073785"/>
                <a:gridCol w="1073785"/>
                <a:gridCol w="1073785"/>
              </a:tblGrid>
              <a:tr h="388620"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任务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员工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9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6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5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6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9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11200" y="5207635"/>
            <a:ext cx="7172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该问题用现有的方法如何</a:t>
            </a:r>
            <a:r>
              <a:rPr lang="zh-CN" altLang="en-US"/>
              <a:t>解决？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3823335" cy="485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7.3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练习：任务分配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问题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215" y="1340485"/>
            <a:ext cx="8284210" cy="746125"/>
          </a:xfrm>
          <a:prstGeom prst="rect">
            <a:avLst/>
          </a:prstGeom>
        </p:spPr>
        <p:txBody>
          <a:bodyPr>
            <a:noAutofit/>
          </a:bodyPr>
          <a:p>
            <a:pPr marL="0" indent="0" algn="just"/>
            <a:r>
              <a:rPr lang="zh-CN" altLang="en-US" sz="1600" b="0" i="0">
                <a:solidFill>
                  <a:srgbClr val="4F4F4F"/>
                </a:solidFill>
                <a:uFillTx/>
                <a:latin typeface="Times New Roman" panose="02020603050405020304" charset="0"/>
              </a:rPr>
              <a:t>用贪心的策略求解：首先对所有员工的任务花费成本进行排序，然后挑选最小的成本员工分配</a:t>
            </a:r>
            <a:r>
              <a:rPr lang="zh-CN" altLang="en-US" sz="1600" b="0" i="0">
                <a:solidFill>
                  <a:srgbClr val="4F4F4F"/>
                </a:solidFill>
                <a:uFillTx/>
                <a:latin typeface="Times New Roman" panose="02020603050405020304" charset="0"/>
              </a:rPr>
              <a:t>任务。</a:t>
            </a:r>
            <a:endParaRPr lang="zh-CN" altLang="en-US" sz="1600" b="0" i="0">
              <a:solidFill>
                <a:srgbClr val="4F4F4F"/>
              </a:solidFill>
              <a:uFillTx/>
              <a:latin typeface="Times New Roman" panose="0202060305040502030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692275" y="1924685"/>
          <a:ext cx="5368925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785"/>
                <a:gridCol w="1073785"/>
                <a:gridCol w="1073785"/>
                <a:gridCol w="1073785"/>
                <a:gridCol w="1073785"/>
              </a:tblGrid>
              <a:tr h="388620"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任务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员工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9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6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5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6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9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597535" y="4323080"/>
          <a:ext cx="7923530" cy="1129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429260"/>
                <a:gridCol w="466090"/>
                <a:gridCol w="466090"/>
                <a:gridCol w="466090"/>
                <a:gridCol w="466090"/>
                <a:gridCol w="466090"/>
                <a:gridCol w="466090"/>
                <a:gridCol w="466090"/>
                <a:gridCol w="466090"/>
                <a:gridCol w="466090"/>
                <a:gridCol w="466090"/>
                <a:gridCol w="466090"/>
                <a:gridCol w="466090"/>
                <a:gridCol w="466090"/>
                <a:gridCol w="466090"/>
                <a:gridCol w="46609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成本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816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人员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816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031875" y="4260850"/>
            <a:ext cx="546100" cy="124904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39470" y="5552440"/>
            <a:ext cx="885825" cy="826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人员：</a:t>
            </a:r>
            <a:endParaRPr lang="zh-CN" altLang="en-US"/>
          </a:p>
          <a:p>
            <a:r>
              <a:rPr lang="zh-CN" altLang="en-US"/>
              <a:t>任务：</a:t>
            </a:r>
            <a:endParaRPr lang="zh-CN" altLang="en-US"/>
          </a:p>
          <a:p>
            <a:r>
              <a:rPr lang="zh-CN" altLang="en-US"/>
              <a:t>成本：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547495" y="5516880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47495" y="5812155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03425" y="5516880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003425" y="5812155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348230" y="5516880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348230" y="5812155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35898" y="5516880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735898" y="5812155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47495" y="6162040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003425" y="6162040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348230" y="6162040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735898" y="6162040"/>
            <a:ext cx="63563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6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13194 -0.00111111 " pathEditMode="relative" rAng="0" ptsTypes="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1389 -0.00222222 L 0.105347 -0.00222222 " pathEditMode="relative" rAng="0" ptsTypes="">
                                      <p:cBhvr>
                                        <p:cTn id="4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75 -0.00222222 L 0.152569 -0.00222222 " pathEditMode="relative" ptsTypes="">
                                      <p:cBhvr>
                                        <p:cTn id="4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722 -0.00222222 L 0.199861 -0.00222222 " pathEditMode="relative" ptsTypes="">
                                      <p:cBhvr>
                                        <p:cTn id="5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9861 -0.00222222 L 0.247083 -0.00222222 " pathEditMode="relative" ptsTypes="">
                                      <p:cBhvr>
                                        <p:cTn id="6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7083 -0.00222222 L 0.302222 -0.00222222 " pathEditMode="relative" ptsTypes="">
                                      <p:cBhvr>
                                        <p:cTn id="7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2222 -0.00222222 L 0.349444 -0.00222222 " pathEditMode="relative" ptsTypes="">
                                      <p:cBhvr>
                                        <p:cTn id="7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/>
      <p:bldP spid="10" grpId="1" animBg="1"/>
      <p:bldP spid="14" grpId="0"/>
      <p:bldP spid="15" grpId="0"/>
      <p:bldP spid="10" grpId="2" animBg="1"/>
      <p:bldP spid="10" grpId="3" animBg="1"/>
      <p:bldP spid="10" grpId="4" animBg="1"/>
      <p:bldP spid="16" grpId="0"/>
      <p:bldP spid="17" grpId="0"/>
      <p:bldP spid="10" grpId="5" animBg="1"/>
      <p:bldP spid="10" grpId="6" animBg="1"/>
      <p:bldP spid="10" grpId="7" animBg="1"/>
      <p:bldP spid="18" grpId="0"/>
      <p:bldP spid="19" grpId="0"/>
      <p:bldP spid="21" grpId="0"/>
      <p:bldP spid="22" grpId="0"/>
      <p:bldP spid="23" grpId="0"/>
      <p:bldP spid="2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3823335" cy="485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7.3 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练习：任务分配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问题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215" y="1340485"/>
            <a:ext cx="8284210" cy="746125"/>
          </a:xfrm>
          <a:prstGeom prst="rect">
            <a:avLst/>
          </a:prstGeom>
        </p:spPr>
        <p:txBody>
          <a:bodyPr>
            <a:noAutofit/>
          </a:bodyPr>
          <a:p>
            <a:pPr marL="0" indent="0" algn="just"/>
            <a:r>
              <a:rPr lang="zh-CN" altLang="en-US" sz="1600" b="0" i="0">
                <a:solidFill>
                  <a:srgbClr val="4F4F4F"/>
                </a:solidFill>
                <a:uFillTx/>
                <a:latin typeface="Times New Roman" panose="02020603050405020304" charset="0"/>
              </a:rPr>
              <a:t>如果用分支限界法求解：最重要的的是限界函数和目标函数。此时的限界函数是可能解的下限，还需要找到可能的解，即目标函数，怎么设计限界</a:t>
            </a:r>
            <a:r>
              <a:rPr lang="zh-CN" altLang="en-US" sz="1600" b="0" i="0">
                <a:solidFill>
                  <a:srgbClr val="4F4F4F"/>
                </a:solidFill>
                <a:uFillTx/>
                <a:latin typeface="Times New Roman" panose="02020603050405020304" charset="0"/>
              </a:rPr>
              <a:t>函数和目标函数？</a:t>
            </a:r>
            <a:endParaRPr lang="zh-CN" altLang="en-US" sz="1600" b="0" i="0">
              <a:solidFill>
                <a:srgbClr val="4F4F4F"/>
              </a:solidFill>
              <a:uFillTx/>
              <a:latin typeface="Times New Roman" panose="0202060305040502030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475740" y="2348865"/>
          <a:ext cx="5368925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785"/>
                <a:gridCol w="1073785"/>
                <a:gridCol w="1073785"/>
                <a:gridCol w="1073785"/>
                <a:gridCol w="1073785"/>
              </a:tblGrid>
              <a:tr h="388620"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任务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员工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9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6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5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6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9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67995" y="4869180"/>
            <a:ext cx="737616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限界函数：当每个均取的最小值，既可以得知当前问题的下限（</a:t>
            </a:r>
            <a:r>
              <a:rPr lang="en-US" altLang="zh-CN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1+2+3+4=10</a:t>
            </a:r>
            <a:r>
              <a:rPr lang="zh-CN" altLang="en-US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）</a:t>
            </a:r>
            <a:endParaRPr lang="zh-CN" altLang="en-US" sz="1600">
              <a:solidFill>
                <a:srgbClr val="4F4F4F"/>
              </a:solidFill>
              <a:uFillTx/>
              <a:latin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6410" y="5248910"/>
            <a:ext cx="737616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目标函数：即一个可能的解。</a:t>
            </a:r>
            <a:endParaRPr lang="en-US" altLang="zh-CN" sz="1600">
              <a:solidFill>
                <a:srgbClr val="4F4F4F"/>
              </a:solidFill>
              <a:uFillTx/>
              <a:latin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23945" y="2738120"/>
            <a:ext cx="419100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8365" y="3122930"/>
            <a:ext cx="419100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46985" y="3518535"/>
            <a:ext cx="419100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endParaRPr lang="en-US" altLang="zh-CN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70880" y="3902075"/>
            <a:ext cx="419100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altLang="zh-CN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548130" y="558863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然后第二个员工剩下的最小值是</a:t>
            </a:r>
            <a:r>
              <a:rPr lang="en-US" altLang="zh-CN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3</a:t>
            </a:r>
            <a:r>
              <a:rPr lang="zh-CN" altLang="en-US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，</a:t>
            </a:r>
            <a:endParaRPr lang="zh-CN" altLang="en-US" sz="1600">
              <a:solidFill>
                <a:srgbClr val="4F4F4F"/>
              </a:solidFill>
              <a:uFillTx/>
              <a:latin typeface="Times New Roman" panose="0202060305040502030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204210" y="5248910"/>
            <a:ext cx="5165725" cy="471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当前从第一个员工考虑，那么第一个员工的最小值是</a:t>
            </a:r>
            <a:r>
              <a:rPr lang="en-US" altLang="zh-CN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2</a:t>
            </a:r>
            <a:r>
              <a:rPr lang="zh-CN" altLang="en-US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。</a:t>
            </a:r>
            <a:endParaRPr lang="zh-CN" altLang="en-US" sz="1600">
              <a:solidFill>
                <a:srgbClr val="4F4F4F"/>
              </a:solidFill>
              <a:uFillTx/>
              <a:latin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788535" y="5588635"/>
            <a:ext cx="3619500" cy="357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然后第三个员工剩下的最小值是</a:t>
            </a:r>
            <a:r>
              <a:rPr lang="en-US" altLang="zh-CN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5</a:t>
            </a:r>
            <a:r>
              <a:rPr lang="zh-CN" altLang="en-US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，</a:t>
            </a:r>
            <a:endParaRPr lang="zh-CN" altLang="en-US" sz="1600">
              <a:solidFill>
                <a:srgbClr val="4F4F4F"/>
              </a:solidFill>
              <a:uFillTx/>
              <a:latin typeface="Times New Roman" panose="02020603050405020304" charset="0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548130" y="5948680"/>
            <a:ext cx="3619500" cy="357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然后第四个员工剩下的最小值是</a:t>
            </a:r>
            <a:r>
              <a:rPr lang="en-US" altLang="zh-CN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4</a:t>
            </a:r>
            <a:r>
              <a:rPr lang="zh-CN" altLang="en-US" sz="1600">
                <a:solidFill>
                  <a:srgbClr val="4F4F4F"/>
                </a:solidFill>
                <a:uFillTx/>
                <a:latin typeface="Times New Roman" panose="02020603050405020304" charset="0"/>
                <a:sym typeface="+mn-ea"/>
              </a:rPr>
              <a:t>。</a:t>
            </a:r>
            <a:endParaRPr lang="zh-CN" altLang="en-US" sz="1600">
              <a:solidFill>
                <a:srgbClr val="4F4F4F"/>
              </a:solidFill>
              <a:uFillTx/>
              <a:latin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8" grpId="0"/>
      <p:bldP spid="26" grpId="0"/>
      <p:bldP spid="9" grpId="0"/>
      <p:bldP spid="28" grpId="0"/>
      <p:bldP spid="20" grpId="0"/>
      <p:bldP spid="29" grpId="0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65937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7.3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任务分配问题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1277620"/>
            <a:ext cx="8603615" cy="711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例子：物品数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N=4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，任务表：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task=[[9,2,7,8],[6,4,3,7],[5,8,1,8],[7,6,9,4]]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，员工表：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[a,b,c,d]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851910" y="198882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None,V=0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4211955" y="338074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b=3,V=9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1995805" y="338074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b=0,V=8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3003550" y="26962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a=1,V=2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1630680" y="26962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a=0,V=9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Lb=17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4" name="直接连接符 13"/>
          <p:cNvCxnSpPr>
            <a:stCxn id="6" idx="2"/>
            <a:endCxn id="13" idx="0"/>
          </p:cNvCxnSpPr>
          <p:nvPr/>
        </p:nvCxnSpPr>
        <p:spPr>
          <a:xfrm flipH="1">
            <a:off x="2054860" y="2446020"/>
            <a:ext cx="2221230" cy="250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直接连接符 14"/>
          <p:cNvCxnSpPr>
            <a:stCxn id="6" idx="2"/>
            <a:endCxn id="12" idx="0"/>
          </p:cNvCxnSpPr>
          <p:nvPr/>
        </p:nvCxnSpPr>
        <p:spPr>
          <a:xfrm flipH="1">
            <a:off x="3427730" y="2446020"/>
            <a:ext cx="848360" cy="250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直接连接符 15"/>
          <p:cNvCxnSpPr>
            <a:stCxn id="11" idx="0"/>
            <a:endCxn id="12" idx="2"/>
          </p:cNvCxnSpPr>
          <p:nvPr/>
        </p:nvCxnSpPr>
        <p:spPr>
          <a:xfrm flipV="1">
            <a:off x="2419985" y="3153410"/>
            <a:ext cx="1007745" cy="2273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直接连接符 16"/>
          <p:cNvCxnSpPr>
            <a:stCxn id="12" idx="2"/>
            <a:endCxn id="10" idx="0"/>
          </p:cNvCxnSpPr>
          <p:nvPr/>
        </p:nvCxnSpPr>
        <p:spPr>
          <a:xfrm>
            <a:off x="3427730" y="3153410"/>
            <a:ext cx="1208405" cy="2273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文本框 22"/>
          <p:cNvSpPr txBox="1"/>
          <p:nvPr/>
        </p:nvSpPr>
        <p:spPr>
          <a:xfrm>
            <a:off x="6089015" y="3380105"/>
            <a:ext cx="2991485" cy="1488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根节点预估的一个可能的解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min_profit=14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，所以只需要一个入队即可！根节点产生四个子节点，子节点计算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profit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没有比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min_profit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更小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4305" y="1988820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min_profit=14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0020" y="1988820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m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in_profit=13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2503170" y="5713730"/>
            <a:ext cx="2961005" cy="850900"/>
          </a:xfrm>
          <a:prstGeom prst="flowChartProcess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844165" y="5229225"/>
            <a:ext cx="2413635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800"/>
              <a:t>优先</a:t>
            </a:r>
            <a:r>
              <a:rPr lang="zh-CN" altLang="en-US" sz="1800"/>
              <a:t>队列</a:t>
            </a:r>
            <a:endParaRPr lang="zh-CN" altLang="en-US" sz="1800"/>
          </a:p>
        </p:txBody>
      </p:sp>
      <p:graphicFrame>
        <p:nvGraphicFramePr>
          <p:cNvPr id="9" name="表格 8"/>
          <p:cNvGraphicFramePr/>
          <p:nvPr/>
        </p:nvGraphicFramePr>
        <p:xfrm>
          <a:off x="5868035" y="26962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a=3,V=8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Lb=16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/>
        </p:nvGraphicFramePr>
        <p:xfrm>
          <a:off x="4495165" y="26962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a=2,V=7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9" name="直接连接符 18"/>
          <p:cNvCxnSpPr>
            <a:stCxn id="6" idx="2"/>
            <a:endCxn id="18" idx="0"/>
          </p:cNvCxnSpPr>
          <p:nvPr/>
        </p:nvCxnSpPr>
        <p:spPr>
          <a:xfrm>
            <a:off x="4276090" y="2446020"/>
            <a:ext cx="643255" cy="250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直接连接符 19"/>
          <p:cNvCxnSpPr>
            <a:stCxn id="6" idx="2"/>
            <a:endCxn id="9" idx="0"/>
          </p:cNvCxnSpPr>
          <p:nvPr/>
        </p:nvCxnSpPr>
        <p:spPr>
          <a:xfrm>
            <a:off x="4276090" y="2446020"/>
            <a:ext cx="2016125" cy="250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1" name="表格 20"/>
          <p:cNvGraphicFramePr/>
          <p:nvPr/>
        </p:nvGraphicFramePr>
        <p:xfrm>
          <a:off x="3003550" y="269621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a=1,V=2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/>
        </p:nvGraphicFramePr>
        <p:xfrm>
          <a:off x="3131820" y="338074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b=2,V=5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8" name="直接连接符 27"/>
          <p:cNvCxnSpPr>
            <a:stCxn id="22" idx="0"/>
            <a:endCxn id="21" idx="2"/>
          </p:cNvCxnSpPr>
          <p:nvPr/>
        </p:nvCxnSpPr>
        <p:spPr>
          <a:xfrm flipH="1" flipV="1">
            <a:off x="3427730" y="3153410"/>
            <a:ext cx="128270" cy="2273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9" name="表格 28"/>
          <p:cNvGraphicFramePr/>
          <p:nvPr>
            <p:custDataLst>
              <p:tags r:id="rId1"/>
            </p:custDataLst>
          </p:nvPr>
        </p:nvGraphicFramePr>
        <p:xfrm>
          <a:off x="6292215" y="5085080"/>
          <a:ext cx="2698750" cy="162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50"/>
                <a:gridCol w="539750"/>
                <a:gridCol w="539750"/>
                <a:gridCol w="539750"/>
                <a:gridCol w="539750"/>
              </a:tblGrid>
              <a:tr h="2794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任务</a:t>
                      </a: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任务</a:t>
                      </a: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员工</a:t>
                      </a: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9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b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6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5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员工</a:t>
                      </a: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6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9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" name="表格 29"/>
          <p:cNvGraphicFramePr/>
          <p:nvPr/>
        </p:nvGraphicFramePr>
        <p:xfrm>
          <a:off x="1019175" y="420497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c=2,V=9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1" name="直接连接符 30"/>
          <p:cNvCxnSpPr>
            <a:stCxn id="30" idx="0"/>
            <a:endCxn id="11" idx="2"/>
          </p:cNvCxnSpPr>
          <p:nvPr/>
        </p:nvCxnSpPr>
        <p:spPr>
          <a:xfrm flipV="1">
            <a:off x="1443355" y="3837940"/>
            <a:ext cx="976630" cy="3670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2" name="表格 31"/>
          <p:cNvGraphicFramePr/>
          <p:nvPr/>
        </p:nvGraphicFramePr>
        <p:xfrm>
          <a:off x="2155190" y="420497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c=3,V=16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Lb=20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3" name="直接连接符 32"/>
          <p:cNvCxnSpPr>
            <a:stCxn id="32" idx="0"/>
            <a:endCxn id="11" idx="2"/>
          </p:cNvCxnSpPr>
          <p:nvPr/>
        </p:nvCxnSpPr>
        <p:spPr>
          <a:xfrm flipH="1" flipV="1">
            <a:off x="2419985" y="3837940"/>
            <a:ext cx="159385" cy="3670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4" name="表格 33"/>
          <p:cNvGraphicFramePr/>
          <p:nvPr/>
        </p:nvGraphicFramePr>
        <p:xfrm>
          <a:off x="3119120" y="42208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c=0,V=10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Lb=14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7" name="直接连接符 36"/>
          <p:cNvCxnSpPr>
            <a:stCxn id="34" idx="0"/>
            <a:endCxn id="22" idx="2"/>
          </p:cNvCxnSpPr>
          <p:nvPr/>
        </p:nvCxnSpPr>
        <p:spPr>
          <a:xfrm flipV="1">
            <a:off x="3543300" y="3837940"/>
            <a:ext cx="12700" cy="3829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8" name="表格 37"/>
          <p:cNvGraphicFramePr/>
          <p:nvPr/>
        </p:nvGraphicFramePr>
        <p:xfrm>
          <a:off x="4255135" y="4220845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b=2,V=13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Lb=17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9" name="直接连接符 38"/>
          <p:cNvCxnSpPr>
            <a:stCxn id="38" idx="0"/>
            <a:endCxn id="22" idx="2"/>
          </p:cNvCxnSpPr>
          <p:nvPr/>
        </p:nvCxnSpPr>
        <p:spPr>
          <a:xfrm flipH="1" flipV="1">
            <a:off x="3556000" y="3837940"/>
            <a:ext cx="1123315" cy="3829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0" name="表格 39"/>
          <p:cNvGraphicFramePr/>
          <p:nvPr/>
        </p:nvGraphicFramePr>
        <p:xfrm>
          <a:off x="1998345" y="338328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b=0,V=8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表格 40"/>
          <p:cNvGraphicFramePr/>
          <p:nvPr/>
        </p:nvGraphicFramePr>
        <p:xfrm>
          <a:off x="3133090" y="338328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b=2,V=5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Lb=10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1012190" y="5021580"/>
          <a:ext cx="848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/>
              </a:tblGrid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d=2,V=13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Lb=13</a:t>
                      </a:r>
                      <a:endParaRPr lang="en-US" altLang="zh-CN" sz="9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" name="直接连接符 6"/>
          <p:cNvCxnSpPr>
            <a:stCxn id="5" idx="0"/>
            <a:endCxn id="30" idx="2"/>
          </p:cNvCxnSpPr>
          <p:nvPr/>
        </p:nvCxnSpPr>
        <p:spPr>
          <a:xfrm flipV="1">
            <a:off x="1436370" y="4662170"/>
            <a:ext cx="6985" cy="3594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6097270" y="3380105"/>
            <a:ext cx="3174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比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min_profit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更小的是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b=0,b=2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两个节点，入队！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92361 0.014537 0.456528 0.0137963 0.446736 0.109444 C 0.436944 0.205093 0.0590278 0.406481 -0.0490278 0.478056 " pathEditMode="relative" ptsTypes="">
                                      <p:cBhvr>
                                        <p:cTn id="5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125 0.472593 L -0.504861 0.472593 " pathEditMode="relative" ptsTypes="">
                                      <p:cBhvr>
                                        <p:cTn id="5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00764 0.0157407 0.450139 0.0310185 0.464792 0.105556 C 0.479444 0.180093 0.160764 0.321389 0.073125 0.372685 " pathEditMode="relative" ptsTypes="">
                                      <p:cBhvr>
                                        <p:cTn id="10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4375 0.0185185 0.334097 0.0437963 0.341528 0.1175 C 0.348958 0.191204 0.104722 0.320741 0.0370139 0.368611 " pathEditMode="relative" ptsTypes="">
                                      <p:cBhvr>
                                        <p:cTn id="11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1389 0.361852 L -0.526875 0.361852 " pathEditMode="relative" ptsTypes="">
                                      <p:cBhvr>
                                        <p:cTn id="11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97222 0.372407 L -0.434306 0.372407 " pathEditMode="relative" ptsTypes="">
                                      <p:cBhvr>
                                        <p:cTn id="13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/>
      <p:bldP spid="25" grpId="0"/>
      <p:bldP spid="25" grpId="1"/>
      <p:bldP spid="26" grpId="2"/>
      <p:bldP spid="23" grpId="0"/>
      <p:bldP spid="23" grpId="1"/>
      <p:bldP spid="25" grpId="2"/>
      <p:bldP spid="23" grpId="2"/>
      <p:bldP spid="8" grpId="0"/>
      <p:bldP spid="8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65937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7.3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任务分配问题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950" y="1340485"/>
            <a:ext cx="8336915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具体代码：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1460" y="2174240"/>
            <a:ext cx="8623300" cy="3067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class Task: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def __init__(self,v:int,lb:int,lev:int,res:list,target:int,visited:list):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self.v = v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当前节点的价值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self.lb = lb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通过限界函数计算的最小值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，下限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self.lev = lev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当前层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self.res = res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解向量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self.target = target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当前目标值的上限，可能的解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self.visited = visited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当前拜访的列节点（标记任务是否被访问）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def __lt__(self, other):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return self.lb &lt; other.lb # 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根据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</a:rPr>
              <a:t>lb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</a:rPr>
              <a:t>计算优先级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7950" y="1809115"/>
            <a:ext cx="8336915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节点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实现：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65937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7.3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任务分配问题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705" y="1809115"/>
            <a:ext cx="8336915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限界函数的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实现：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1460" y="2174240"/>
            <a:ext cx="8631555" cy="3967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def get_bound(Node:Task,task:list):</a:t>
            </a:r>
            <a:r>
              <a:rPr lang="zh-CN" altLang="en-US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找到每个人员完成任务的最小值即可</a:t>
            </a:r>
            <a:endParaRPr lang="zh-CN" altLang="en-US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down = Node.v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lev = Node.lev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n = len(task)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for i in range(lev+1,n):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temp = task[i][0]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for j in range(n):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if task[i][j] &lt; temp:# </a:t>
            </a:r>
            <a:r>
              <a:rPr lang="zh-CN" altLang="en-US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每次获取最小值，得到下限</a:t>
            </a:r>
            <a:endParaRPr lang="zh-CN" altLang="en-US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temp = task[i][j]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down += temp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return down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65937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7.3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任务分配问题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1268730"/>
            <a:ext cx="8336915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目标函数的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实现：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9705" y="1628775"/>
            <a:ext cx="8631555" cy="4642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def get_target(Node:Task,task:list): #</a:t>
            </a:r>
            <a:r>
              <a:rPr lang="zh-CN" altLang="en-US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此时需要利用贪心算法求上界，该上界需要满足每个员工都有任务</a:t>
            </a:r>
            <a:endParaRPr lang="zh-CN" altLang="en-US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n = len(task)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down = Node.v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lev = Node.lev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vis = Node.visited.copy()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for i in range(lev+1,n):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temp = sys.maxsize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fl = 0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for j in range(n):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if task[i][j] &lt; temp and vis[j] == 0: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fl = j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temp = task[i][j]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vis[fl] = 1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down += temp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return down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65937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7.3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任务分配问题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1268730"/>
            <a:ext cx="8336915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核心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</a:rPr>
              <a:t>代码实现：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9705" y="1628775"/>
            <a:ext cx="8542655" cy="2922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def mission_problem(task:list):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n = len(task)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myheap = []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root = Task(0,0,-1,[],0,[0,0,0,0])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heapq.heappush(myheap,root)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# </a:t>
            </a:r>
            <a:r>
              <a:rPr lang="zh-CN" altLang="en-US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保存当前目标函数的最优值</a:t>
            </a:r>
            <a:endParaRPr lang="zh-CN" altLang="en-US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min_profit = get_target(root,task)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best_items = root.res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8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root.lb = get_bound(root,task)</a:t>
            </a:r>
            <a:endParaRPr lang="en-US" altLang="zh-CN" sz="1800">
              <a:solidFill>
                <a:schemeClr val="tx1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" y="692150"/>
            <a:ext cx="765937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7.3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任务分配问题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（优先</a:t>
            </a:r>
            <a:r>
              <a:rPr lang="zh-CN" altLang="en-US" sz="2400" b="1" kern="0" dirty="0"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队列）</a:t>
            </a:r>
            <a:endParaRPr lang="zh-CN" altLang="en-US" sz="2400" b="1" kern="0" dirty="0"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9705" y="1124585"/>
            <a:ext cx="8623935" cy="57334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while myheap:</a:t>
            </a:r>
            <a:endParaRPr lang="en-US" altLang="zh-CN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node = heapq.heappop(myheap)</a:t>
            </a:r>
            <a:endParaRPr lang="en-US" altLang="zh-CN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if node.lev == n - 1: # </a:t>
            </a:r>
            <a:r>
              <a:rPr lang="zh-CN" altLang="en-US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如果是最后的叶子节点直接出队</a:t>
            </a:r>
            <a:endParaRPr lang="zh-CN" altLang="en-US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continue</a:t>
            </a:r>
            <a:endParaRPr lang="en-US" altLang="zh-CN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for i in range(n):#</a:t>
            </a:r>
            <a:r>
              <a:rPr lang="zh-CN" altLang="en-US" sz="1400">
                <a:uFillTx/>
                <a:latin typeface="Times New Roman" panose="02020603050405020304" charset="0"/>
                <a:sym typeface="+mn-ea"/>
              </a:rPr>
              <a:t>通过让</a:t>
            </a:r>
            <a:r>
              <a:rPr lang="en-US" altLang="zh-CN" sz="1400">
                <a:uFillTx/>
                <a:latin typeface="Times New Roman" panose="02020603050405020304" charset="0"/>
                <a:sym typeface="+mn-ea"/>
              </a:rPr>
              <a:t>node</a:t>
            </a:r>
            <a:r>
              <a:rPr lang="zh-CN" altLang="en-US" sz="1400">
                <a:uFillTx/>
                <a:latin typeface="Times New Roman" panose="02020603050405020304" charset="0"/>
                <a:sym typeface="+mn-ea"/>
              </a:rPr>
              <a:t>出队，然后产生所有子节点，然后判断这些节点是否入队</a:t>
            </a:r>
            <a:endParaRPr lang="en-US" altLang="zh-CN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if node.visited[i] == 0:</a:t>
            </a:r>
            <a:endParaRPr lang="en-US" altLang="zh-CN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en-US" altLang="zh-CN" sz="14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next_lev = node.lev + 1</a:t>
            </a:r>
            <a:endParaRPr lang="en-US" altLang="zh-CN" sz="1400">
              <a:solidFill>
                <a:schemeClr val="tx1"/>
              </a:solidFill>
              <a:highlight>
                <a:srgbClr val="FFFF00"/>
              </a:highlight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en-US" altLang="zh-CN" sz="14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next_v = node.v + task[next_lev][i]</a:t>
            </a:r>
            <a:endParaRPr lang="en-US" altLang="zh-CN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en-US" altLang="zh-CN" sz="14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next_lb = 0</a:t>
            </a:r>
            <a:endParaRPr lang="en-US" altLang="zh-CN" sz="1400">
              <a:solidFill>
                <a:schemeClr val="tx1"/>
              </a:solidFill>
              <a:highlight>
                <a:srgbClr val="FFFF00"/>
              </a:highlight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en-US" altLang="zh-CN" sz="14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next_res = node.res.copy()</a:t>
            </a:r>
            <a:endParaRPr lang="en-US" altLang="zh-CN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en-US" altLang="zh-CN" sz="14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next_res.append(i)</a:t>
            </a:r>
            <a:endParaRPr lang="en-US" altLang="zh-CN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en-US" altLang="zh-CN" sz="14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next_target = 0</a:t>
            </a:r>
            <a:endParaRPr lang="en-US" altLang="zh-CN" sz="1400">
              <a:solidFill>
                <a:schemeClr val="tx1"/>
              </a:solidFill>
              <a:highlight>
                <a:srgbClr val="FFFF00"/>
              </a:highlight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en-US" altLang="zh-CN" sz="14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next_visited = node.visited.copy()</a:t>
            </a:r>
            <a:endParaRPr lang="en-US" altLang="zh-CN" sz="1400">
              <a:solidFill>
                <a:schemeClr val="tx1"/>
              </a:solidFill>
              <a:highlight>
                <a:srgbClr val="FFFF00"/>
              </a:highlight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en-US" altLang="zh-CN" sz="14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next_visited[i] = 1</a:t>
            </a:r>
            <a:endParaRPr lang="en-US" altLang="zh-CN" sz="1400">
              <a:solidFill>
                <a:schemeClr val="tx1"/>
              </a:solidFill>
              <a:highlight>
                <a:srgbClr val="FFFF00"/>
              </a:highlight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en-US" altLang="zh-CN" sz="14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temp = Task(next_v,next_lb,next_lev,next_res,next_target,next_visited)</a:t>
            </a:r>
            <a:endParaRPr lang="en-US" altLang="zh-CN" sz="1400">
              <a:solidFill>
                <a:schemeClr val="tx1"/>
              </a:solidFill>
              <a:highlight>
                <a:srgbClr val="FFFF00"/>
              </a:highlight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en-US" altLang="zh-CN" sz="14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temp.lb = get_bound(temp,task)</a:t>
            </a:r>
            <a:endParaRPr lang="en-US" altLang="zh-CN" sz="1400">
              <a:solidFill>
                <a:schemeClr val="tx1"/>
              </a:solidFill>
              <a:highlight>
                <a:srgbClr val="FFFF00"/>
              </a:highlight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</a:t>
            </a:r>
            <a:r>
              <a:rPr lang="en-US" altLang="zh-CN" sz="140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</a:rPr>
              <a:t>temp.target = get_target(temp,task)</a:t>
            </a:r>
            <a:endParaRPr lang="en-US" altLang="zh-CN" sz="1400">
              <a:solidFill>
                <a:schemeClr val="tx1"/>
              </a:solidFill>
              <a:highlight>
                <a:srgbClr val="FFFF00"/>
              </a:highlight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# </a:t>
            </a:r>
            <a:r>
              <a:rPr lang="zh-CN" altLang="en-US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目标值的更新</a:t>
            </a:r>
            <a:endParaRPr lang="zh-CN" altLang="en-US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rgbClr val="00B050"/>
                </a:solidFill>
                <a:uFillTx/>
                <a:latin typeface="Times New Roman" panose="02020603050405020304" charset="0"/>
              </a:rPr>
              <a:t>                if temp.target &lt; min_profit:</a:t>
            </a:r>
            <a:endParaRPr lang="en-US" altLang="zh-CN" sz="1400">
              <a:solidFill>
                <a:srgbClr val="00B050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rgbClr val="00B050"/>
                </a:solidFill>
                <a:uFillTx/>
                <a:latin typeface="Times New Roman" panose="02020603050405020304" charset="0"/>
              </a:rPr>
              <a:t>                    min_profit = temp.target</a:t>
            </a:r>
            <a:endParaRPr lang="en-US" altLang="zh-CN" sz="1400">
              <a:solidFill>
                <a:srgbClr val="00B050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                # </a:t>
            </a:r>
            <a:r>
              <a:rPr lang="zh-CN" altLang="en-US" sz="1400">
                <a:solidFill>
                  <a:schemeClr val="tx1"/>
                </a:solidFill>
                <a:uFillTx/>
                <a:latin typeface="Times New Roman" panose="02020603050405020304" charset="0"/>
              </a:rPr>
              <a:t>下限界函数满足条件就入队</a:t>
            </a:r>
            <a:endParaRPr lang="zh-CN" altLang="en-US" sz="1400">
              <a:solidFill>
                <a:schemeClr val="tx1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uFillTx/>
                <a:latin typeface="Times New Roman" panose="02020603050405020304" charset="0"/>
              </a:rPr>
              <a:t>                if temp.lb &lt;= min_profit:</a:t>
            </a:r>
            <a:endParaRPr lang="en-US" altLang="zh-CN" sz="1400">
              <a:solidFill>
                <a:srgbClr val="FF0000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uFillTx/>
                <a:latin typeface="Times New Roman" panose="02020603050405020304" charset="0"/>
              </a:rPr>
              <a:t>                    min_profit = temp.target</a:t>
            </a:r>
            <a:endParaRPr lang="en-US" altLang="zh-CN" sz="1400">
              <a:solidFill>
                <a:srgbClr val="FF0000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uFillTx/>
                <a:latin typeface="Times New Roman" panose="02020603050405020304" charset="0"/>
              </a:rPr>
              <a:t>                    heapq.heappush(myheap,temp)</a:t>
            </a:r>
            <a:endParaRPr lang="en-US" altLang="zh-CN" sz="1400">
              <a:solidFill>
                <a:srgbClr val="FF0000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uFillTx/>
                <a:latin typeface="Times New Roman" panose="02020603050405020304" charset="0"/>
              </a:rPr>
              <a:t>                    if temp.target == min_profit:</a:t>
            </a:r>
            <a:endParaRPr lang="en-US" altLang="zh-CN" sz="1400">
              <a:solidFill>
                <a:srgbClr val="FF0000"/>
              </a:solidFill>
              <a:uFillTx/>
              <a:latin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uFillTx/>
                <a:latin typeface="Times New Roman" panose="02020603050405020304" charset="0"/>
              </a:rPr>
              <a:t>                        best_items = temp.res.copy()</a:t>
            </a:r>
            <a:endParaRPr lang="en-US" altLang="zh-CN" sz="1400">
              <a:solidFill>
                <a:srgbClr val="FF0000"/>
              </a:solidFill>
              <a:uFillTx/>
              <a:latin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168.51795275590553,&quot;left&quot;:304.909842519685,&quot;top&quot;:222.4812598425197,&quot;width&quot;:326.7233070866142}"/>
</p:tagLst>
</file>

<file path=ppt/tags/tag2.xml><?xml version="1.0" encoding="utf-8"?>
<p:tagLst xmlns:p="http://schemas.openxmlformats.org/presentationml/2006/main">
  <p:tag name="KSO_WM_DIAGRAM_VIRTUALLY_FRAME" val="{&quot;height&quot;:168.51795275590553,&quot;left&quot;:304.909842519685,&quot;top&quot;:222.4812598425197,&quot;width&quot;:326.7233070866142}"/>
</p:tagLst>
</file>

<file path=ppt/tags/tag3.xml><?xml version="1.0" encoding="utf-8"?>
<p:tagLst xmlns:p="http://schemas.openxmlformats.org/presentationml/2006/main">
  <p:tag name="KSO_WM_DIAGRAM_VIRTUALLY_FRAME" val="{&quot;height&quot;:168.51795275590553,&quot;left&quot;:304.909842519685,&quot;top&quot;:222.4812598425197,&quot;width&quot;:326.7233070866142}"/>
</p:tagLst>
</file>

<file path=ppt/tags/tag4.xml><?xml version="1.0" encoding="utf-8"?>
<p:tagLst xmlns:p="http://schemas.openxmlformats.org/presentationml/2006/main">
  <p:tag name="KSO_WM_DIAGRAM_VIRTUALLY_FRAME" val="{&quot;height&quot;:168.51795275590553,&quot;left&quot;:304.909842519685,&quot;top&quot;:222.4812598425197,&quot;width&quot;:326.7233070866142}"/>
</p:tagLst>
</file>

<file path=ppt/tags/tag5.xml><?xml version="1.0" encoding="utf-8"?>
<p:tagLst xmlns:p="http://schemas.openxmlformats.org/presentationml/2006/main">
  <p:tag name="KSO_WM_DIAGRAM_VIRTUALLY_FRAME" val="{&quot;height&quot;:168.51795275590553,&quot;left&quot;:304.909842519685,&quot;top&quot;:222.4812598425197,&quot;width&quot;:326.7233070866142}"/>
</p:tagLst>
</file>

<file path=ppt/tags/tag6.xml><?xml version="1.0" encoding="utf-8"?>
<p:tagLst xmlns:p="http://schemas.openxmlformats.org/presentationml/2006/main">
  <p:tag name="KSO_WM_DIAGRAM_VIRTUALLY_FRAME" val="{&quot;height&quot;:168.51795275590553,&quot;left&quot;:304.909842519685,&quot;top&quot;:222.4812598425197,&quot;width&quot;:326.7233070866142}"/>
</p:tagLst>
</file>

<file path=ppt/tags/tag7.xml><?xml version="1.0" encoding="utf-8"?>
<p:tagLst xmlns:p="http://schemas.openxmlformats.org/presentationml/2006/main">
  <p:tag name="KSO_WM_DIAGRAM_VIRTUALLY_FRAME" val="{&quot;height&quot;:168.51795275590553,&quot;left&quot;:304.909842519685,&quot;top&quot;:222.4812598425197,&quot;width&quot;:326.7233070866142}"/>
</p:tagLst>
</file>

<file path=ppt/tags/tag8.xml><?xml version="1.0" encoding="utf-8"?>
<p:tagLst xmlns:p="http://schemas.openxmlformats.org/presentationml/2006/main">
  <p:tag name="KSO_WM_DIAGRAM_VIRTUALLY_FRAME" val="{&quot;height&quot;:168.51795275590553,&quot;left&quot;:304.909842519685,&quot;top&quot;:222.4812598425197,&quot;width&quot;:326.7233070866142}"/>
</p:tagLst>
</file>

<file path=ppt/tags/tag9.xml><?xml version="1.0" encoding="utf-8"?>
<p:tagLst xmlns:p="http://schemas.openxmlformats.org/presentationml/2006/main">
  <p:tag name="KSO_WM_DIAGRAM_VIRTUALLY_FRAME" val="{&quot;height&quot;:168.51795275590553,&quot;left&quot;:304.909842519685,&quot;top&quot;:222.4812598425197,&quot;width&quot;:326.7233070866142}"/>
</p:tagLst>
</file>

<file path=ppt/tags/tag10.xml><?xml version="1.0" encoding="utf-8"?>
<p:tagLst xmlns:p="http://schemas.openxmlformats.org/presentationml/2006/main">
  <p:tag name="KSO_WM_DIAGRAM_VIRTUALLY_FRAME" val="{&quot;height&quot;:168.51795275590553,&quot;left&quot;:304.909842519685,&quot;top&quot;:222.4812598425197,&quot;width&quot;:326.7233070866142}"/>
</p:tagLst>
</file>

<file path=ppt/tags/tag11.xml><?xml version="1.0" encoding="utf-8"?>
<p:tagLst xmlns:p="http://schemas.openxmlformats.org/presentationml/2006/main">
  <p:tag name="KSO_WM_DIAGRAM_VIRTUALLY_FRAME" val="{&quot;height&quot;:168.51795275590553,&quot;left&quot;:304.909842519685,&quot;top&quot;:222.4812598425197,&quot;width&quot;:326.7233070866142}"/>
</p:tagLst>
</file>

<file path=ppt/tags/tag12.xml><?xml version="1.0" encoding="utf-8"?>
<p:tagLst xmlns:p="http://schemas.openxmlformats.org/presentationml/2006/main">
  <p:tag name="TABLE_ENDDRAG_ORIGIN_RECT" val="287*155"/>
  <p:tag name="TABLE_ENDDRAG_RECT" val="108*195*287*155"/>
</p:tagLst>
</file>

<file path=ppt/tags/tag13.xml><?xml version="1.0" encoding="utf-8"?>
<p:tagLst xmlns:p="http://schemas.openxmlformats.org/presentationml/2006/main">
  <p:tag name="TABLE_ENDDRAG_ORIGIN_RECT" val="287*155"/>
  <p:tag name="TABLE_ENDDRAG_RECT" val="108*195*287*155"/>
</p:tagLst>
</file>

<file path=ppt/tags/tag14.xml><?xml version="1.0" encoding="utf-8"?>
<p:tagLst xmlns:p="http://schemas.openxmlformats.org/presentationml/2006/main">
  <p:tag name="TABLE_ENDDRAG_ORIGIN_RECT" val="287*155"/>
  <p:tag name="TABLE_ENDDRAG_RECT" val="108*195*287*155"/>
</p:tagLst>
</file>

<file path=ppt/tags/tag15.xml><?xml version="1.0" encoding="utf-8"?>
<p:tagLst xmlns:p="http://schemas.openxmlformats.org/presentationml/2006/main">
  <p:tag name="TABLE_ENDDRAG_ORIGIN_RECT" val="422*153"/>
  <p:tag name="TABLE_ENDDRAG_RECT" val="108*195*422*153"/>
</p:tagLst>
</file>

<file path=ppt/tags/tag16.xml><?xml version="1.0" encoding="utf-8"?>
<p:tagLst xmlns:p="http://schemas.openxmlformats.org/presentationml/2006/main">
  <p:tag name="TABLE_ENDDRAG_ORIGIN_RECT" val="422*153"/>
  <p:tag name="TABLE_ENDDRAG_RECT" val="108*195*422*153"/>
</p:tagLst>
</file>

<file path=ppt/tags/tag17.xml><?xml version="1.0" encoding="utf-8"?>
<p:tagLst xmlns:p="http://schemas.openxmlformats.org/presentationml/2006/main">
  <p:tag name="TABLE_ENDDRAG_ORIGIN_RECT" val="623*54"/>
  <p:tag name="TABLE_ENDDRAG_RECT" val="47*340*623*54"/>
</p:tagLst>
</file>

<file path=ppt/tags/tag18.xml><?xml version="1.0" encoding="utf-8"?>
<p:tagLst xmlns:p="http://schemas.openxmlformats.org/presentationml/2006/main">
  <p:tag name="TABLE_ENDDRAG_ORIGIN_RECT" val="422*153"/>
  <p:tag name="TABLE_ENDDRAG_RECT" val="108*195*422*153"/>
</p:tagLst>
</file>

<file path=ppt/tags/tag19.xml><?xml version="1.0" encoding="utf-8"?>
<p:tagLst xmlns:p="http://schemas.openxmlformats.org/presentationml/2006/main">
  <p:tag name="TABLE_ENDDRAG_ORIGIN_RECT" val="317*112"/>
  <p:tag name="TABLE_ENDDRAG_RECT" val="144*315*317*112"/>
</p:tagLst>
</file>

<file path=ppt/theme/theme1.xml><?xml version="1.0" encoding="utf-8"?>
<a:theme xmlns:a="http://schemas.openxmlformats.org/drawingml/2006/main" name="第一PPT：www.1ppt.com">
  <a:themeElements>
    <a:clrScheme name="演示设计 8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6FC01E"/>
      </a:accent1>
      <a:accent2>
        <a:srgbClr val="4F7913"/>
      </a:accent2>
      <a:accent3>
        <a:srgbClr val="FFFFFF"/>
      </a:accent3>
      <a:accent4>
        <a:srgbClr val="000000"/>
      </a:accent4>
      <a:accent5>
        <a:srgbClr val="BBDCAB"/>
      </a:accent5>
      <a:accent6>
        <a:srgbClr val="476D10"/>
      </a:accent6>
      <a:hlink>
        <a:srgbClr val="26420A"/>
      </a:hlink>
      <a:folHlink>
        <a:srgbClr val="7BD520"/>
      </a:folHlink>
    </a:clrScheme>
    <a:fontScheme name="演示设计">
      <a:majorFont>
        <a:latin typeface="Arial"/>
        <a:ea typeface="华文细黑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华文细黑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华文细黑" panose="02010600040101010101" pitchFamily="2" charset="-122"/>
          </a:defRPr>
        </a:defPPr>
      </a:lstStyle>
    </a:lnDef>
  </a:objectDefaults>
  <a:extraClrSchemeLst>
    <a:extraClrScheme>
      <a:clrScheme name="演示设计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463900"/>
        </a:hlink>
        <a:folHlink>
          <a:srgbClr val="FFE6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9021"/>
        </a:accent1>
        <a:accent2>
          <a:srgbClr val="DA5800"/>
        </a:accent2>
        <a:accent3>
          <a:srgbClr val="FFFFFF"/>
        </a:accent3>
        <a:accent4>
          <a:srgbClr val="000000"/>
        </a:accent4>
        <a:accent5>
          <a:srgbClr val="FFC6AB"/>
        </a:accent5>
        <a:accent6>
          <a:srgbClr val="C54F00"/>
        </a:accent6>
        <a:hlink>
          <a:srgbClr val="963D00"/>
        </a:hlink>
        <a:folHlink>
          <a:srgbClr val="FFAD5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5B8CC1"/>
        </a:accent1>
        <a:accent2>
          <a:srgbClr val="2A5682"/>
        </a:accent2>
        <a:accent3>
          <a:srgbClr val="FFFFFF"/>
        </a:accent3>
        <a:accent4>
          <a:srgbClr val="000000"/>
        </a:accent4>
        <a:accent5>
          <a:srgbClr val="B5C5DD"/>
        </a:accent5>
        <a:accent6>
          <a:srgbClr val="254D75"/>
        </a:accent6>
        <a:hlink>
          <a:srgbClr val="002850"/>
        </a:hlink>
        <a:folHlink>
          <a:srgbClr val="2A94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2B2B2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555555"/>
        </a:accent6>
        <a:hlink>
          <a:srgbClr val="1C1C1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5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F59B8"/>
        </a:accent1>
        <a:accent2>
          <a:srgbClr val="884183"/>
        </a:accent2>
        <a:accent3>
          <a:srgbClr val="FFFFFF"/>
        </a:accent3>
        <a:accent4>
          <a:srgbClr val="000000"/>
        </a:accent4>
        <a:accent5>
          <a:srgbClr val="DCB5D8"/>
        </a:accent5>
        <a:accent6>
          <a:srgbClr val="7B3A76"/>
        </a:accent6>
        <a:hlink>
          <a:srgbClr val="371535"/>
        </a:hlink>
        <a:folHlink>
          <a:srgbClr val="C468B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6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517"/>
        </a:accent1>
        <a:accent2>
          <a:srgbClr val="BC000D"/>
        </a:accent2>
        <a:accent3>
          <a:srgbClr val="FFFFFF"/>
        </a:accent3>
        <a:accent4>
          <a:srgbClr val="000000"/>
        </a:accent4>
        <a:accent5>
          <a:srgbClr val="FFAAAB"/>
        </a:accent5>
        <a:accent6>
          <a:srgbClr val="AA000B"/>
        </a:accent6>
        <a:hlink>
          <a:srgbClr val="3A0004"/>
        </a:hlink>
        <a:folHlink>
          <a:srgbClr val="FF3B3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7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DFE0BE"/>
        </a:accent1>
        <a:accent2>
          <a:srgbClr val="D1D46B"/>
        </a:accent2>
        <a:accent3>
          <a:srgbClr val="FFFFFF"/>
        </a:accent3>
        <a:accent4>
          <a:srgbClr val="000000"/>
        </a:accent4>
        <a:accent5>
          <a:srgbClr val="ECEDDB"/>
        </a:accent5>
        <a:accent6>
          <a:srgbClr val="BDC060"/>
        </a:accent6>
        <a:hlink>
          <a:srgbClr val="3A3B11"/>
        </a:hlink>
        <a:folHlink>
          <a:srgbClr val="DDDF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6FC01E"/>
        </a:accent1>
        <a:accent2>
          <a:srgbClr val="4F7913"/>
        </a:accent2>
        <a:accent3>
          <a:srgbClr val="FFFFFF"/>
        </a:accent3>
        <a:accent4>
          <a:srgbClr val="000000"/>
        </a:accent4>
        <a:accent5>
          <a:srgbClr val="BBDCAB"/>
        </a:accent5>
        <a:accent6>
          <a:srgbClr val="476D10"/>
        </a:accent6>
        <a:hlink>
          <a:srgbClr val="26420A"/>
        </a:hlink>
        <a:folHlink>
          <a:srgbClr val="7BD52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12797</Words>
  <Application>WPS 演示</Application>
  <PresentationFormat>全屏显示(4:3)</PresentationFormat>
  <Paragraphs>2056</Paragraphs>
  <Slides>42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6" baseType="lpstr">
      <vt:lpstr>Arial</vt:lpstr>
      <vt:lpstr>宋体</vt:lpstr>
      <vt:lpstr>Wingdings</vt:lpstr>
      <vt:lpstr>华文细黑</vt:lpstr>
      <vt:lpstr>MS UI Gothic</vt:lpstr>
      <vt:lpstr>Calibri</vt:lpstr>
      <vt:lpstr>Verdana</vt:lpstr>
      <vt:lpstr>方正正大黑简体</vt:lpstr>
      <vt:lpstr>黑体</vt:lpstr>
      <vt:lpstr>Times New Roman</vt:lpstr>
      <vt:lpstr>微软雅黑</vt:lpstr>
      <vt:lpstr>Wingdings</vt:lpstr>
      <vt:lpstr>Arial Unicode MS</vt:lpstr>
      <vt:lpstr>第一PPT：www.1ppt.com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第一PPT模板网：www.1ppt.com</dc:title>
  <dc:creator>第一PPT模板网：www.1ppt.com</dc:creator>
  <cp:lastModifiedBy>时间矿泉水</cp:lastModifiedBy>
  <cp:revision>429</cp:revision>
  <dcterms:created xsi:type="dcterms:W3CDTF">2010-09-23T08:30:00Z</dcterms:created>
  <dcterms:modified xsi:type="dcterms:W3CDTF">2025-12-23T00:18:52Z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模板">
    <vt:lpwstr>www.1ppt.com</vt:lpwstr>
  </property>
  <property fmtid="{D5CDD505-2E9C-101B-9397-08002B2CF9AE}" pid="3" name="ICV">
    <vt:lpwstr>FC0A7690C6AC46FB92689019821BB0AB_12</vt:lpwstr>
  </property>
  <property fmtid="{D5CDD505-2E9C-101B-9397-08002B2CF9AE}" pid="4" name="KSOProductBuildVer">
    <vt:lpwstr>2052-12.1.0.24034</vt:lpwstr>
  </property>
</Properties>
</file>