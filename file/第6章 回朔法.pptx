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9"/>
  </p:handoutMasterIdLst>
  <p:sldIdLst>
    <p:sldId id="287" r:id="rId3"/>
    <p:sldId id="288" r:id="rId5"/>
    <p:sldId id="327" r:id="rId6"/>
    <p:sldId id="289" r:id="rId7"/>
    <p:sldId id="328" r:id="rId8"/>
    <p:sldId id="302" r:id="rId9"/>
    <p:sldId id="303" r:id="rId10"/>
    <p:sldId id="290" r:id="rId11"/>
    <p:sldId id="291" r:id="rId12"/>
    <p:sldId id="292" r:id="rId13"/>
    <p:sldId id="293" r:id="rId14"/>
    <p:sldId id="294" r:id="rId15"/>
    <p:sldId id="295" r:id="rId16"/>
    <p:sldId id="296" r:id="rId17"/>
    <p:sldId id="297" r:id="rId18"/>
    <p:sldId id="298" r:id="rId19"/>
    <p:sldId id="299" r:id="rId20"/>
    <p:sldId id="300" r:id="rId21"/>
    <p:sldId id="301" r:id="rId22"/>
    <p:sldId id="316" r:id="rId23"/>
    <p:sldId id="304" r:id="rId24"/>
    <p:sldId id="305" r:id="rId25"/>
    <p:sldId id="330" r:id="rId26"/>
    <p:sldId id="331" r:id="rId27"/>
    <p:sldId id="333" r:id="rId28"/>
    <p:sldId id="334" r:id="rId29"/>
    <p:sldId id="339" r:id="rId30"/>
    <p:sldId id="307" r:id="rId31"/>
    <p:sldId id="310" r:id="rId32"/>
    <p:sldId id="313" r:id="rId33"/>
    <p:sldId id="311" r:id="rId34"/>
    <p:sldId id="312" r:id="rId35"/>
    <p:sldId id="314" r:id="rId36"/>
    <p:sldId id="335" r:id="rId37"/>
    <p:sldId id="340" r:id="rId38"/>
    <p:sldId id="336" r:id="rId39"/>
    <p:sldId id="337" r:id="rId40"/>
    <p:sldId id="317" r:id="rId41"/>
    <p:sldId id="341" r:id="rId42"/>
    <p:sldId id="318" r:id="rId43"/>
    <p:sldId id="319" r:id="rId44"/>
    <p:sldId id="343" r:id="rId45"/>
    <p:sldId id="342" r:id="rId46"/>
    <p:sldId id="320" r:id="rId47"/>
    <p:sldId id="323" r:id="rId48"/>
    <p:sldId id="321" r:id="rId49"/>
    <p:sldId id="324" r:id="rId50"/>
    <p:sldId id="329" r:id="rId51"/>
    <p:sldId id="349" r:id="rId52"/>
    <p:sldId id="325" r:id="rId53"/>
    <p:sldId id="344" r:id="rId54"/>
    <p:sldId id="345" r:id="rId55"/>
    <p:sldId id="346" r:id="rId56"/>
    <p:sldId id="347" r:id="rId57"/>
    <p:sldId id="348" r:id="rId58"/>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34" userDrawn="1">
          <p15:clr>
            <a:srgbClr val="A4A3A4"/>
          </p15:clr>
        </p15:guide>
        <p15:guide id="2" pos="2759"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 id="310559022" name="吕凯伟" initials="吕"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412" autoAdjust="0"/>
    <p:restoredTop sz="95126" autoAdjust="0"/>
  </p:normalViewPr>
  <p:slideViewPr>
    <p:cSldViewPr showGuides="1">
      <p:cViewPr varScale="1">
        <p:scale>
          <a:sx n="115" d="100"/>
          <a:sy n="115" d="100"/>
        </p:scale>
        <p:origin x="1278" y="84"/>
      </p:cViewPr>
      <p:guideLst>
        <p:guide orient="horz" pos="2134"/>
        <p:guide pos="2759"/>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3" Type="http://schemas.openxmlformats.org/officeDocument/2006/relationships/commentAuthors" Target="commentAuthors.xml"/><Relationship Id="rId62" Type="http://schemas.openxmlformats.org/officeDocument/2006/relationships/tableStyles" Target="tableStyles.xml"/><Relationship Id="rId61" Type="http://schemas.openxmlformats.org/officeDocument/2006/relationships/viewProps" Target="viewProps.xml"/><Relationship Id="rId60" Type="http://schemas.openxmlformats.org/officeDocument/2006/relationships/presProps" Target="presProps.xml"/><Relationship Id="rId6" Type="http://schemas.openxmlformats.org/officeDocument/2006/relationships/slide" Target="slides/slide3.xml"/><Relationship Id="rId59" Type="http://schemas.openxmlformats.org/officeDocument/2006/relationships/handoutMaster" Target="handoutMasters/handoutMaster1.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首先是深度优先遍历，开始之前我们试想这样的一种场景，小明过年和朋友一起玩迷宫游戏，看谁先从迷宫中走出来，你是小明有什么办法呢？我想这种场景同学们应该都有类似的经历即使没有玩过迷宫也玩过类似的游戏。我们进入迷宫入口之后我们看到有路就走，如果遇到死胡同呢我们返回之前有路的地方继续往下探索，直至找到出口为止。如果同学们有这种方法，这就说明你已经有深度优先遍历的思想了</a:t>
            </a:r>
            <a:endParaRPr lang="zh-CN" altLang="en-US" smtClean="0"/>
          </a:p>
        </p:txBody>
      </p:sp>
      <p:sp>
        <p:nvSpPr>
          <p:cNvPr id="1126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7C008A4A-01CF-40B7-9140-9F8171EC50C3}" type="slidenum">
              <a:rPr lang="zh-CN" altLang="zh-CN" smtClean="0"/>
            </a:fld>
            <a:endParaRPr lang="zh-CN" altLang="zh-CN"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之前的思想总结一下，我们访问过一个节点然后再寻找其相邻未被访问的节点，再以这个未被访问的节点为顶点，继续找其未被访问的节点，直至访问所有的顶点没有未被访问的顶点位置，也就是访问完途中所有的节点。例如图中依靠深度优先遍历找到的一个节点序列。</a:t>
            </a:r>
            <a:endParaRPr lang="zh-CN" altLang="en-US" smtClean="0"/>
          </a:p>
        </p:txBody>
      </p:sp>
      <p:sp>
        <p:nvSpPr>
          <p:cNvPr id="1331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186F6F1C-13CA-4409-BFE7-D1A03119E8F5}" type="slidenum">
              <a:rPr lang="zh-CN" altLang="zh-CN" smtClean="0"/>
            </a:fld>
            <a:endParaRPr lang="zh-CN" altLang="zh-CN"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幻灯片图像占位符 1"/>
          <p:cNvSpPr>
            <a:spLocks noGrp="1" noRot="1" noChangeAspect="1" noTextEdit="1"/>
          </p:cNvSpPr>
          <p:nvPr>
            <p:ph type="sldImg"/>
          </p:nvPr>
        </p:nvSpPr>
        <p:spPr/>
      </p:sp>
      <p:sp>
        <p:nvSpPr>
          <p:cNvPr id="1536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来我们依靠栈来看看深度优先遍历是如何实现的，首先访问</a:t>
            </a:r>
            <a:r>
              <a:rPr lang="en-US" altLang="zh-CN" smtClean="0"/>
              <a:t>A</a:t>
            </a:r>
            <a:r>
              <a:rPr lang="zh-CN" altLang="en-US" smtClean="0"/>
              <a:t>节点同时记录</a:t>
            </a:r>
            <a:r>
              <a:rPr lang="en-US" altLang="zh-CN" smtClean="0"/>
              <a:t>A</a:t>
            </a:r>
            <a:r>
              <a:rPr lang="zh-CN" altLang="en-US" smtClean="0"/>
              <a:t>，并将</a:t>
            </a:r>
            <a:r>
              <a:rPr lang="en-US" altLang="zh-CN" smtClean="0"/>
              <a:t>A</a:t>
            </a:r>
            <a:r>
              <a:rPr lang="zh-CN" altLang="en-US" smtClean="0"/>
              <a:t>节点入栈</a:t>
            </a:r>
            <a:endParaRPr lang="zh-CN" altLang="en-US" smtClean="0"/>
          </a:p>
        </p:txBody>
      </p:sp>
      <p:sp>
        <p:nvSpPr>
          <p:cNvPr id="1536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C283BDF9-1938-486B-800C-9C8BD8BCD63A}" type="slidenum">
              <a:rPr lang="zh-CN" altLang="zh-CN" smtClean="0"/>
            </a:fld>
            <a:endParaRPr lang="zh-CN" altLang="zh-CN"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然后寻找</a:t>
            </a:r>
            <a:r>
              <a:rPr lang="en-US" altLang="zh-CN" smtClean="0"/>
              <a:t>A</a:t>
            </a:r>
            <a:r>
              <a:rPr lang="zh-CN" altLang="en-US" smtClean="0"/>
              <a:t>节点未被访问的节点，此时我们是依靠字母顺序寻找邻节点，然后找到</a:t>
            </a:r>
            <a:r>
              <a:rPr lang="en-US" altLang="zh-CN" smtClean="0"/>
              <a:t>B</a:t>
            </a:r>
            <a:r>
              <a:rPr lang="zh-CN" altLang="en-US" smtClean="0"/>
              <a:t>节点，此时记录</a:t>
            </a:r>
            <a:r>
              <a:rPr lang="en-US" altLang="zh-CN" smtClean="0"/>
              <a:t>B</a:t>
            </a:r>
            <a:r>
              <a:rPr lang="zh-CN" altLang="en-US" smtClean="0"/>
              <a:t>节点已被访问，然后将</a:t>
            </a:r>
            <a:r>
              <a:rPr lang="en-US" altLang="zh-CN" smtClean="0"/>
              <a:t>B</a:t>
            </a:r>
            <a:r>
              <a:rPr lang="zh-CN" altLang="en-US" smtClean="0"/>
              <a:t>节点入栈。</a:t>
            </a:r>
            <a:endParaRPr lang="zh-CN" altLang="en-US" smtClean="0"/>
          </a:p>
        </p:txBody>
      </p:sp>
      <p:sp>
        <p:nvSpPr>
          <p:cNvPr id="1741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D6EC1EB-4CEE-47D6-9EB1-81F447AD2EEC}" type="slidenum">
              <a:rPr lang="zh-CN" altLang="zh-CN" smtClean="0"/>
            </a:fld>
            <a:endParaRPr lang="zh-CN" altLang="zh-CN"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我们以同样的规则继续访问</a:t>
            </a:r>
            <a:r>
              <a:rPr lang="en-US" altLang="zh-CN" smtClean="0"/>
              <a:t>B</a:t>
            </a:r>
            <a:r>
              <a:rPr lang="zh-CN" altLang="en-US" smtClean="0"/>
              <a:t>的相邻未被访问的节点</a:t>
            </a:r>
            <a:r>
              <a:rPr lang="en-US" altLang="zh-CN" smtClean="0"/>
              <a:t>E</a:t>
            </a:r>
            <a:r>
              <a:rPr lang="zh-CN" altLang="en-US" smtClean="0"/>
              <a:t>，然后记录</a:t>
            </a:r>
            <a:r>
              <a:rPr lang="en-US" altLang="zh-CN" smtClean="0"/>
              <a:t>E</a:t>
            </a:r>
            <a:r>
              <a:rPr lang="zh-CN" altLang="en-US" smtClean="0"/>
              <a:t>被访问同时将</a:t>
            </a:r>
            <a:r>
              <a:rPr lang="en-US" altLang="zh-CN" smtClean="0"/>
              <a:t>E</a:t>
            </a:r>
            <a:r>
              <a:rPr lang="zh-CN" altLang="en-US" smtClean="0"/>
              <a:t>入栈。</a:t>
            </a:r>
            <a:endParaRPr lang="zh-CN" altLang="en-US" smtClean="0"/>
          </a:p>
        </p:txBody>
      </p:sp>
      <p:sp>
        <p:nvSpPr>
          <p:cNvPr id="1946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865C272-B700-423E-A70A-CDF110E59BB1}" type="slidenum">
              <a:rPr lang="zh-CN" altLang="zh-CN" smtClean="0"/>
            </a:fld>
            <a:endParaRPr lang="zh-CN" altLang="zh-CN"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幻灯片图像占位符 1"/>
          <p:cNvSpPr>
            <a:spLocks noGrp="1" noRot="1" noChangeAspect="1" noTextEdit="1"/>
          </p:cNvSpPr>
          <p:nvPr>
            <p:ph type="sldImg"/>
          </p:nvPr>
        </p:nvSpPr>
        <p:spPr/>
      </p:sp>
      <p:sp>
        <p:nvSpPr>
          <p:cNvPr id="2150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在以</a:t>
            </a:r>
            <a:r>
              <a:rPr lang="en-US" altLang="zh-CN" smtClean="0"/>
              <a:t>E</a:t>
            </a:r>
            <a:r>
              <a:rPr lang="zh-CN" altLang="en-US" smtClean="0"/>
              <a:t>为顶点访问相邻未被访问的</a:t>
            </a:r>
            <a:r>
              <a:rPr lang="en-US" altLang="zh-CN" smtClean="0"/>
              <a:t>G</a:t>
            </a:r>
            <a:r>
              <a:rPr lang="zh-CN" altLang="en-US" smtClean="0"/>
              <a:t>顶点，同时记录</a:t>
            </a:r>
            <a:r>
              <a:rPr lang="en-US" altLang="zh-CN" smtClean="0"/>
              <a:t>G</a:t>
            </a:r>
            <a:r>
              <a:rPr lang="zh-CN" altLang="en-US" smtClean="0"/>
              <a:t>顶点被访问，同时将</a:t>
            </a:r>
            <a:r>
              <a:rPr lang="en-US" altLang="zh-CN" smtClean="0"/>
              <a:t>G</a:t>
            </a:r>
            <a:r>
              <a:rPr lang="zh-CN" altLang="en-US" smtClean="0"/>
              <a:t>入栈</a:t>
            </a:r>
            <a:endParaRPr lang="zh-CN" altLang="en-US" smtClean="0"/>
          </a:p>
        </p:txBody>
      </p:sp>
      <p:sp>
        <p:nvSpPr>
          <p:cNvPr id="2150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694ECDFF-1332-4C36-9F15-2069496F39B7}" type="slidenum">
              <a:rPr lang="zh-CN" altLang="zh-CN" smtClean="0"/>
            </a:fld>
            <a:endParaRPr lang="zh-CN" altLang="zh-CN"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幻灯片图像占位符 1"/>
          <p:cNvSpPr>
            <a:spLocks noGrp="1" noRot="1" noChangeAspect="1" noTextEdit="1"/>
          </p:cNvSpPr>
          <p:nvPr>
            <p:ph type="sldImg"/>
          </p:nvPr>
        </p:nvSpPr>
        <p:spPr/>
      </p:sp>
      <p:sp>
        <p:nvSpPr>
          <p:cNvPr id="2355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此时呢，我们发现</a:t>
            </a:r>
            <a:r>
              <a:rPr lang="en-US" altLang="zh-CN" smtClean="0"/>
              <a:t>G</a:t>
            </a:r>
            <a:r>
              <a:rPr lang="zh-CN" altLang="en-US" smtClean="0"/>
              <a:t>顶点已经没有相邻未被访问的节点了，于是将</a:t>
            </a:r>
            <a:r>
              <a:rPr lang="en-US" altLang="zh-CN" smtClean="0"/>
              <a:t>G</a:t>
            </a:r>
            <a:r>
              <a:rPr lang="zh-CN" altLang="en-US" smtClean="0"/>
              <a:t>进行出栈，同理</a:t>
            </a:r>
            <a:r>
              <a:rPr lang="en-US" altLang="zh-CN" smtClean="0"/>
              <a:t>E</a:t>
            </a:r>
            <a:r>
              <a:rPr lang="zh-CN" altLang="en-US" smtClean="0"/>
              <a:t>节点也没有相邻未被访问的节点了同样将</a:t>
            </a:r>
            <a:r>
              <a:rPr lang="en-US" altLang="zh-CN" smtClean="0"/>
              <a:t>E</a:t>
            </a:r>
            <a:r>
              <a:rPr lang="zh-CN" altLang="en-US" smtClean="0"/>
              <a:t>出栈，此时栈的状态由</a:t>
            </a:r>
            <a:r>
              <a:rPr lang="en-US" altLang="zh-CN" smtClean="0"/>
              <a:t>1</a:t>
            </a:r>
            <a:r>
              <a:rPr lang="zh-CN" altLang="en-US" smtClean="0"/>
              <a:t>编程</a:t>
            </a:r>
            <a:r>
              <a:rPr lang="en-US" altLang="zh-CN" smtClean="0"/>
              <a:t>2</a:t>
            </a:r>
            <a:r>
              <a:rPr lang="zh-CN" altLang="en-US" smtClean="0"/>
              <a:t>。</a:t>
            </a:r>
            <a:endParaRPr lang="zh-CN" altLang="en-US" smtClean="0"/>
          </a:p>
        </p:txBody>
      </p:sp>
      <p:sp>
        <p:nvSpPr>
          <p:cNvPr id="2355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3CC831A-A5B7-4F30-A018-39B6D02B18A3}" type="slidenum">
              <a:rPr lang="zh-CN" altLang="zh-CN" smtClean="0"/>
            </a:fld>
            <a:endParaRPr lang="zh-CN" altLang="zh-CN"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幻灯片图像占位符 1"/>
          <p:cNvSpPr>
            <a:spLocks noGrp="1" noRot="1" noChangeAspect="1" noTextEdit="1"/>
          </p:cNvSpPr>
          <p:nvPr>
            <p:ph type="sldImg"/>
          </p:nvPr>
        </p:nvSpPr>
        <p:spPr/>
      </p:sp>
      <p:sp>
        <p:nvSpPr>
          <p:cNvPr id="2560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然后我们在判断栈顶的</a:t>
            </a:r>
            <a:r>
              <a:rPr lang="en-US" altLang="zh-CN" smtClean="0"/>
              <a:t>B</a:t>
            </a:r>
            <a:r>
              <a:rPr lang="zh-CN" altLang="en-US" smtClean="0"/>
              <a:t>节点是否由相邻未被访问的节点，我们发现</a:t>
            </a:r>
            <a:r>
              <a:rPr lang="en-US" altLang="zh-CN" smtClean="0"/>
              <a:t>B</a:t>
            </a:r>
            <a:r>
              <a:rPr lang="zh-CN" altLang="en-US" smtClean="0"/>
              <a:t>有未被访问的节点，也就是</a:t>
            </a:r>
            <a:r>
              <a:rPr lang="en-US" altLang="zh-CN" smtClean="0"/>
              <a:t>F</a:t>
            </a:r>
            <a:r>
              <a:rPr lang="zh-CN" altLang="en-US" smtClean="0"/>
              <a:t>，同时记录</a:t>
            </a:r>
            <a:r>
              <a:rPr lang="en-US" altLang="zh-CN" smtClean="0"/>
              <a:t>F</a:t>
            </a:r>
            <a:r>
              <a:rPr lang="zh-CN" altLang="en-US" smtClean="0"/>
              <a:t>已被访问，并将</a:t>
            </a:r>
            <a:r>
              <a:rPr lang="en-US" altLang="zh-CN" smtClean="0"/>
              <a:t>f</a:t>
            </a:r>
            <a:r>
              <a:rPr lang="zh-CN" altLang="en-US" smtClean="0"/>
              <a:t>进行入栈处理。</a:t>
            </a:r>
            <a:endParaRPr lang="zh-CN" altLang="en-US" smtClean="0"/>
          </a:p>
        </p:txBody>
      </p:sp>
      <p:sp>
        <p:nvSpPr>
          <p:cNvPr id="2560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7C1876-B7FB-47F6-AA38-7360001E4E4C}" type="slidenum">
              <a:rPr lang="zh-CN" altLang="zh-CN" smtClean="0"/>
            </a:fld>
            <a:endParaRPr lang="zh-CN" altLang="zh-CN"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幻灯片图像占位符 1"/>
          <p:cNvSpPr>
            <a:spLocks noGrp="1" noRot="1" noChangeAspect="1" noTextEdit="1"/>
          </p:cNvSpPr>
          <p:nvPr>
            <p:ph type="sldImg"/>
          </p:nvPr>
        </p:nvSpPr>
        <p:spPr/>
      </p:sp>
      <p:sp>
        <p:nvSpPr>
          <p:cNvPr id="27651"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此后依然用同样的规则访问相邻的节点，</a:t>
            </a:r>
            <a:r>
              <a:rPr lang="en-US" altLang="zh-CN" smtClean="0"/>
              <a:t>F</a:t>
            </a:r>
            <a:r>
              <a:rPr lang="zh-CN" altLang="en-US" smtClean="0"/>
              <a:t>相邻的未被访问的节点是</a:t>
            </a:r>
            <a:r>
              <a:rPr lang="en-US" altLang="zh-CN" smtClean="0"/>
              <a:t>C</a:t>
            </a:r>
            <a:r>
              <a:rPr lang="zh-CN" altLang="en-US" smtClean="0"/>
              <a:t>，然后将</a:t>
            </a:r>
            <a:r>
              <a:rPr lang="en-US" altLang="zh-CN" smtClean="0"/>
              <a:t>C</a:t>
            </a:r>
            <a:r>
              <a:rPr lang="zh-CN" altLang="en-US" smtClean="0"/>
              <a:t>入栈，然后</a:t>
            </a:r>
            <a:r>
              <a:rPr lang="en-US" altLang="zh-CN" smtClean="0"/>
              <a:t>c</a:t>
            </a:r>
            <a:r>
              <a:rPr lang="zh-CN" altLang="en-US" smtClean="0"/>
              <a:t>相邻未被访问的节点是</a:t>
            </a:r>
            <a:r>
              <a:rPr lang="en-US" altLang="zh-CN" smtClean="0"/>
              <a:t>H,</a:t>
            </a:r>
            <a:r>
              <a:rPr lang="zh-CN" altLang="en-US" smtClean="0"/>
              <a:t>然后将</a:t>
            </a:r>
            <a:r>
              <a:rPr lang="en-US" altLang="zh-CN" smtClean="0"/>
              <a:t>H</a:t>
            </a:r>
            <a:r>
              <a:rPr lang="zh-CN" altLang="en-US" smtClean="0"/>
              <a:t>入栈。</a:t>
            </a:r>
            <a:endParaRPr lang="zh-CN" altLang="en-US" smtClean="0"/>
          </a:p>
        </p:txBody>
      </p:sp>
      <p:sp>
        <p:nvSpPr>
          <p:cNvPr id="27652"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27EB1F1-9A82-493E-A883-754C907216F8}" type="slidenum">
              <a:rPr lang="zh-CN" altLang="zh-CN" smtClean="0"/>
            </a:fld>
            <a:endParaRPr lang="zh-CN" altLang="zh-CN"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此时</a:t>
            </a:r>
            <a:r>
              <a:rPr lang="en-US" altLang="zh-CN" smtClean="0"/>
              <a:t>H</a:t>
            </a:r>
            <a:r>
              <a:rPr lang="zh-CN" altLang="en-US" smtClean="0"/>
              <a:t>已经没有未被访问的节点了将</a:t>
            </a:r>
            <a:r>
              <a:rPr lang="en-US" altLang="zh-CN" smtClean="0"/>
              <a:t>H</a:t>
            </a:r>
            <a:r>
              <a:rPr lang="zh-CN" altLang="en-US" smtClean="0"/>
              <a:t>进行出栈处理，同时</a:t>
            </a:r>
            <a:r>
              <a:rPr lang="en-US" altLang="zh-CN" smtClean="0"/>
              <a:t>C</a:t>
            </a:r>
            <a:r>
              <a:rPr lang="zh-CN" altLang="en-US" smtClean="0"/>
              <a:t>也没有未被访问的节点也将</a:t>
            </a:r>
            <a:r>
              <a:rPr lang="en-US" altLang="zh-CN" smtClean="0"/>
              <a:t>C</a:t>
            </a:r>
            <a:r>
              <a:rPr lang="zh-CN" altLang="en-US" smtClean="0"/>
              <a:t>进行出栈处理，此时的栈的状态从</a:t>
            </a:r>
            <a:r>
              <a:rPr lang="en-US" altLang="zh-CN" smtClean="0"/>
              <a:t>1</a:t>
            </a:r>
            <a:r>
              <a:rPr lang="zh-CN" altLang="en-US" smtClean="0"/>
              <a:t>变为</a:t>
            </a:r>
            <a:r>
              <a:rPr lang="en-US" altLang="zh-CN" smtClean="0"/>
              <a:t>2</a:t>
            </a:r>
            <a:endParaRPr lang="zh-CN" altLang="en-US" smtClean="0"/>
          </a:p>
        </p:txBody>
      </p:sp>
      <p:sp>
        <p:nvSpPr>
          <p:cNvPr id="29700"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8C3DA4CE-7313-483A-A10A-8F9323E135D1}" type="slidenum">
              <a:rPr lang="zh-CN" altLang="zh-CN" smtClean="0"/>
            </a:fld>
            <a:endParaRPr lang="zh-CN" altLang="zh-CN"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幻灯片图像占位符 1"/>
          <p:cNvSpPr>
            <a:spLocks noGrp="1" noRot="1" noChangeAspect="1" noTextEdit="1"/>
          </p:cNvSpPr>
          <p:nvPr>
            <p:ph type="sldImg"/>
          </p:nvPr>
        </p:nvSpPr>
        <p:spPr/>
      </p:sp>
      <p:sp>
        <p:nvSpPr>
          <p:cNvPr id="31747"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然后栈顶的</a:t>
            </a:r>
            <a:r>
              <a:rPr lang="en-US" altLang="zh-CN" smtClean="0"/>
              <a:t>F</a:t>
            </a:r>
            <a:r>
              <a:rPr lang="zh-CN" altLang="en-US" smtClean="0"/>
              <a:t>发现它有未被访问的相邻节点</a:t>
            </a:r>
            <a:r>
              <a:rPr lang="en-US" altLang="zh-CN" smtClean="0"/>
              <a:t>D</a:t>
            </a:r>
            <a:r>
              <a:rPr lang="zh-CN" altLang="en-US" smtClean="0"/>
              <a:t>，然后记录访问</a:t>
            </a:r>
            <a:r>
              <a:rPr lang="en-US" altLang="zh-CN" smtClean="0"/>
              <a:t>D</a:t>
            </a:r>
            <a:r>
              <a:rPr lang="zh-CN" altLang="en-US" smtClean="0"/>
              <a:t>并将</a:t>
            </a:r>
            <a:r>
              <a:rPr lang="en-US" altLang="zh-CN" smtClean="0"/>
              <a:t>D</a:t>
            </a:r>
            <a:r>
              <a:rPr lang="zh-CN" altLang="en-US" smtClean="0"/>
              <a:t>入栈。</a:t>
            </a:r>
            <a:endParaRPr lang="zh-CN" altLang="en-US" smtClean="0"/>
          </a:p>
        </p:txBody>
      </p:sp>
      <p:sp>
        <p:nvSpPr>
          <p:cNvPr id="31748"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969A6450-6FFD-4851-BBAB-54187E60570F}" type="slidenum">
              <a:rPr lang="zh-CN" altLang="zh-CN" smtClean="0"/>
            </a:fld>
            <a:endParaRPr lang="zh-CN" altLang="zh-CN"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幻灯片图像占位符 1"/>
          <p:cNvSpPr>
            <a:spLocks noGrp="1" noRot="1" noChangeAspect="1" noTextEdit="1"/>
          </p:cNvSpPr>
          <p:nvPr>
            <p:ph type="sldImg"/>
          </p:nvPr>
        </p:nvSpPr>
        <p:spPr/>
      </p:sp>
      <p:sp>
        <p:nvSpPr>
          <p:cNvPr id="33795"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然后依次判断栈顶顶点是否还有未被访问的相邻节点，如果没有则弹出顶点。我们发现</a:t>
            </a:r>
            <a:r>
              <a:rPr lang="en-US" altLang="zh-CN" smtClean="0"/>
              <a:t>DFBA</a:t>
            </a:r>
            <a:r>
              <a:rPr lang="zh-CN" altLang="en-US" smtClean="0"/>
              <a:t>均没有相邻的节点未被访问，所以我们栈弹出所有顶点，此时也就意味这遍历完成，访问的节点顺序为</a:t>
            </a:r>
            <a:r>
              <a:rPr lang="en-US" altLang="zh-CN" smtClean="0"/>
              <a:t>ABEGFCHD</a:t>
            </a:r>
            <a:endParaRPr lang="zh-CN" altLang="en-US" smtClean="0"/>
          </a:p>
        </p:txBody>
      </p:sp>
      <p:sp>
        <p:nvSpPr>
          <p:cNvPr id="33796"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58528DF9-1345-4E5B-AD3D-1D4C1C1A6CE3}" type="slidenum">
              <a:rPr lang="zh-CN" altLang="zh-CN" smtClean="0"/>
            </a:fld>
            <a:endParaRPr lang="zh-CN" altLang="zh-CN"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幻灯片图像占位符 1"/>
          <p:cNvSpPr>
            <a:spLocks noGrp="1" noRot="1" noChangeAspect="1" noTextEdit="1"/>
          </p:cNvSpPr>
          <p:nvPr>
            <p:ph type="sldImg"/>
          </p:nvPr>
        </p:nvSpPr>
        <p:spPr/>
      </p:sp>
      <p:sp>
        <p:nvSpPr>
          <p:cNvPr id="35843" name="备注占位符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zh-CN" altLang="en-US" smtClean="0"/>
              <a:t>来我们看看具体的代码实现，首先定义一个标志数组，标记其初始值为</a:t>
            </a:r>
            <a:r>
              <a:rPr lang="en-US" altLang="zh-CN" smtClean="0"/>
              <a:t>false</a:t>
            </a:r>
            <a:r>
              <a:rPr lang="zh-CN" altLang="en-US" smtClean="0"/>
              <a:t>。然后定义一个</a:t>
            </a:r>
            <a:r>
              <a:rPr lang="en-US" altLang="zh-CN" smtClean="0"/>
              <a:t>DFS</a:t>
            </a:r>
            <a:r>
              <a:rPr lang="zh-CN" altLang="en-US" smtClean="0"/>
              <a:t>函数，此函数是一个递归函数，也就是实现了我们栈的操作。判断是否被访问如果没有被访问则递归操作，直到访问完所有的节点。</a:t>
            </a:r>
            <a:endParaRPr lang="zh-CN" altLang="en-US" smtClean="0"/>
          </a:p>
        </p:txBody>
      </p:sp>
      <p:sp>
        <p:nvSpPr>
          <p:cNvPr id="35844" name="灯片编号占位符 3"/>
          <p:cNvSpPr>
            <a:spLocks noGrp="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ea typeface="宋体" panose="02010600030101010101" pitchFamily="2" charset="-122"/>
              </a:defRPr>
            </a:lvl1pPr>
            <a:lvl2pPr marL="742950" indent="-285750">
              <a:defRPr>
                <a:solidFill>
                  <a:schemeClr val="tx1"/>
                </a:solidFill>
                <a:latin typeface="Arial" panose="020B0604020202020204" pitchFamily="34" charset="0"/>
                <a:ea typeface="宋体" panose="02010600030101010101" pitchFamily="2" charset="-122"/>
              </a:defRPr>
            </a:lvl2pPr>
            <a:lvl3pPr marL="1143000" indent="-228600">
              <a:defRPr>
                <a:solidFill>
                  <a:schemeClr val="tx1"/>
                </a:solidFill>
                <a:latin typeface="Arial" panose="020B0604020202020204" pitchFamily="34" charset="0"/>
                <a:ea typeface="宋体" panose="02010600030101010101" pitchFamily="2" charset="-122"/>
              </a:defRPr>
            </a:lvl3pPr>
            <a:lvl4pPr marL="1600200" indent="-228600">
              <a:defRPr>
                <a:solidFill>
                  <a:schemeClr val="tx1"/>
                </a:solidFill>
                <a:latin typeface="Arial" panose="020B0604020202020204" pitchFamily="34" charset="0"/>
                <a:ea typeface="宋体" panose="02010600030101010101" pitchFamily="2" charset="-122"/>
              </a:defRPr>
            </a:lvl4pPr>
            <a:lvl5pPr marL="2057400" indent="-22860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fld id="{B4BD63A7-483F-4D77-9D3F-AF22FC2BD1B8}" type="slidenum">
              <a:rPr lang="zh-CN" altLang="zh-CN" smtClean="0"/>
            </a:fld>
            <a:endParaRPr lang="zh-CN" altLang="zh-CN" smtClean="0"/>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mc:Choice xmlns:p14="http://schemas.microsoft.com/office/powerpoint/2010/main" Requires="p14">
      <p:transition spd="slow" p14:dur="1000"/>
    </mc:Choice>
    <mc:Fallback>
      <p:transition spd="slow"/>
    </mc:Fallback>
  </mc:AlternateConten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7.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image" Target="../media/image6.png"/><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5" Type="http://schemas.openxmlformats.org/officeDocument/2006/relationships/slideLayout" Target="../slideLayouts/slideLayout3.xml"/><Relationship Id="rId14" Type="http://schemas.openxmlformats.org/officeDocument/2006/relationships/tags" Target="../tags/tag11.xml"/><Relationship Id="rId13" Type="http://schemas.openxmlformats.org/officeDocument/2006/relationships/tags" Target="../tags/tag10.xml"/><Relationship Id="rId12" Type="http://schemas.openxmlformats.org/officeDocument/2006/relationships/tags" Target="../tags/tag9.xml"/><Relationship Id="rId11" Type="http://schemas.openxmlformats.org/officeDocument/2006/relationships/image" Target="../media/image8.png"/><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2.xml"/><Relationship Id="rId2" Type="http://schemas.openxmlformats.org/officeDocument/2006/relationships/image" Target="../media/image13.png"/><Relationship Id="rId1" Type="http://schemas.openxmlformats.org/officeDocument/2006/relationships/image" Target="../media/image12.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2.xml"/><Relationship Id="rId2" Type="http://schemas.openxmlformats.org/officeDocument/2006/relationships/image" Target="../media/image15.png"/><Relationship Id="rId1" Type="http://schemas.openxmlformats.org/officeDocument/2006/relationships/image" Target="../media/image14.png"/></Relationships>
</file>

<file path=ppt/slides/_rels/slide11.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2.xml"/><Relationship Id="rId2" Type="http://schemas.openxmlformats.org/officeDocument/2006/relationships/image" Target="../media/image17.png"/><Relationship Id="rId1" Type="http://schemas.openxmlformats.org/officeDocument/2006/relationships/image" Target="../media/image16.png"/></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2.xml"/><Relationship Id="rId2" Type="http://schemas.openxmlformats.org/officeDocument/2006/relationships/image" Target="../media/image19.png"/><Relationship Id="rId1" Type="http://schemas.openxmlformats.org/officeDocument/2006/relationships/image" Target="../media/image18.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2.xml"/><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image" Target="../media/image20.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2.xml"/><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image" Target="../media/image21.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2.xml"/><Relationship Id="rId2" Type="http://schemas.openxmlformats.org/officeDocument/2006/relationships/image" Target="../media/image24.png"/><Relationship Id="rId1" Type="http://schemas.openxmlformats.org/officeDocument/2006/relationships/image" Target="../media/image23.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2.xml"/><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image" Target="../media/image25.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2.xml"/><Relationship Id="rId2" Type="http://schemas.openxmlformats.org/officeDocument/2006/relationships/image" Target="../media/image27.png"/><Relationship Id="rId1" Type="http://schemas.openxmlformats.org/officeDocument/2006/relationships/image" Target="../media/image26.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6.xml"/><Relationship Id="rId4" Type="http://schemas.openxmlformats.org/officeDocument/2006/relationships/slideLayout" Target="../slideLayouts/slideLayout2.xml"/><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2.xml"/><Relationship Id="rId1"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1.pn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2.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3.png"/></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4.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8.png"/></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39.png"/></Relationships>
</file>

<file path=ppt/slides/_rels/slide4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2.xml"/></Relationships>
</file>

<file path=ppt/slides/_rels/slide4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image" Target="../media/image4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5.png"/></Relationships>
</file>

<file path=ppt/slides/_rels/slide5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7.png"/><Relationship Id="rId1" Type="http://schemas.openxmlformats.org/officeDocument/2006/relationships/image" Target="../media/image46.png"/></Relationships>
</file>

<file path=ppt/slides/_rels/slide51.xml.rels><?xml version="1.0" encoding="UTF-8" standalone="yes"?>
<Relationships xmlns="http://schemas.openxmlformats.org/package/2006/relationships"><Relationship Id="rId8" Type="http://schemas.openxmlformats.org/officeDocument/2006/relationships/notesSlide" Target="../notesSlides/notesSlide19.xml"/><Relationship Id="rId7"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image" Target="../media/image48.png"/></Relationships>
</file>

<file path=ppt/slides/_rels/slide52.xml.rels><?xml version="1.0" encoding="UTF-8" standalone="yes"?>
<Relationships xmlns="http://schemas.openxmlformats.org/package/2006/relationships"><Relationship Id="rId9" Type="http://schemas.openxmlformats.org/officeDocument/2006/relationships/tags" Target="../tags/tag16.xml"/><Relationship Id="rId8" Type="http://schemas.openxmlformats.org/officeDocument/2006/relationships/tags" Target="../tags/tag15.xml"/><Relationship Id="rId7" Type="http://schemas.openxmlformats.org/officeDocument/2006/relationships/tags" Target="../tags/tag14.xml"/><Relationship Id="rId6" Type="http://schemas.openxmlformats.org/officeDocument/2006/relationships/tags" Target="../tags/tag13.xml"/><Relationship Id="rId5" Type="http://schemas.openxmlformats.org/officeDocument/2006/relationships/image" Target="../media/image52.png"/><Relationship Id="rId4" Type="http://schemas.openxmlformats.org/officeDocument/2006/relationships/image" Target="../media/image51.png"/><Relationship Id="rId3" Type="http://schemas.openxmlformats.org/officeDocument/2006/relationships/image" Target="../media/image50.png"/><Relationship Id="rId2" Type="http://schemas.openxmlformats.org/officeDocument/2006/relationships/image" Target="../media/image49.png"/><Relationship Id="rId13" Type="http://schemas.openxmlformats.org/officeDocument/2006/relationships/notesSlide" Target="../notesSlides/notesSlide20.xml"/><Relationship Id="rId12" Type="http://schemas.openxmlformats.org/officeDocument/2006/relationships/slideLayout" Target="../slideLayouts/slideLayout2.xml"/><Relationship Id="rId11" Type="http://schemas.openxmlformats.org/officeDocument/2006/relationships/tags" Target="../tags/tag18.xml"/><Relationship Id="rId10" Type="http://schemas.openxmlformats.org/officeDocument/2006/relationships/tags" Target="../tags/tag17.xml"/><Relationship Id="rId1" Type="http://schemas.openxmlformats.org/officeDocument/2006/relationships/image" Target="../media/image48.png"/></Relationships>
</file>

<file path=ppt/slides/_rels/slide5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47.png"/></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20.xml"/><Relationship Id="rId1" Type="http://schemas.openxmlformats.org/officeDocument/2006/relationships/tags" Target="../tags/tag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endParaRPr>
          </a:p>
        </p:txBody>
      </p:sp>
      <p:sp>
        <p:nvSpPr>
          <p:cNvPr id="6"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6</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回朔法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pic>
        <p:nvPicPr>
          <p:cNvPr id="2" name="图片 1"/>
          <p:cNvPicPr>
            <a:picLocks noChangeAspect="1"/>
          </p:cNvPicPr>
          <p:nvPr/>
        </p:nvPicPr>
        <p:blipFill>
          <a:blip r:embed="rId1"/>
          <a:stretch>
            <a:fillRect/>
          </a:stretch>
        </p:blipFill>
        <p:spPr>
          <a:xfrm>
            <a:off x="1691640" y="908685"/>
            <a:ext cx="5902960" cy="5339080"/>
          </a:xfrm>
          <a:prstGeom prst="rect">
            <a:avLst/>
          </a:prstGeom>
        </p:spPr>
      </p:pic>
      <p:sp>
        <p:nvSpPr>
          <p:cNvPr id="4" name="文本框 3"/>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
        <p:nvSpPr>
          <p:cNvPr id="11" name="Freeform 6"/>
          <p:cNvSpPr/>
          <p:nvPr/>
        </p:nvSpPr>
        <p:spPr bwMode="auto">
          <a:xfrm>
            <a:off x="107195" y="1124554"/>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4" name="文本框 13"/>
          <p:cNvSpPr txBox="1"/>
          <p:nvPr/>
        </p:nvSpPr>
        <p:spPr>
          <a:xfrm>
            <a:off x="535305" y="1384300"/>
            <a:ext cx="1690370" cy="368300"/>
          </a:xfrm>
          <a:prstGeom prst="rect">
            <a:avLst/>
          </a:prstGeom>
          <a:noFill/>
        </p:spPr>
        <p:txBody>
          <a:bodyPr wrap="square" rtlCol="0">
            <a:spAutoFit/>
          </a:bodyPr>
          <a:p>
            <a:r>
              <a:rPr lang="en-US" altLang="zh-CN"/>
              <a:t>abstract</a:t>
            </a:r>
            <a:endParaRPr lang="en-US" altLang="zh-CN"/>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6"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8"/>
          <p:cNvSpPr>
            <a:spLocks noEditPoints="1"/>
          </p:cNvSpPr>
          <p:nvPr/>
        </p:nvSpPr>
        <p:spPr bwMode="auto">
          <a:xfrm>
            <a:off x="595080" y="10618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10" name="Freeform 24"/>
          <p:cNvSpPr/>
          <p:nvPr>
            <p:custDataLst>
              <p:tags r:id="rId1"/>
            </p:custDataLst>
          </p:nvPr>
        </p:nvSpPr>
        <p:spPr bwMode="auto">
          <a:xfrm>
            <a:off x="4735725" y="3164396"/>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2" name="Freeform 26"/>
          <p:cNvSpPr/>
          <p:nvPr>
            <p:custDataLst>
              <p:tags r:id="rId2"/>
            </p:custDataLst>
          </p:nvPr>
        </p:nvSpPr>
        <p:spPr bwMode="auto">
          <a:xfrm>
            <a:off x="4735725" y="3985290"/>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7" name="TextBox 47"/>
          <p:cNvSpPr txBox="1"/>
          <p:nvPr>
            <p:custDataLst>
              <p:tags r:id="rId3"/>
            </p:custDataLst>
          </p:nvPr>
        </p:nvSpPr>
        <p:spPr>
          <a:xfrm>
            <a:off x="4860032" y="3212976"/>
            <a:ext cx="2955963" cy="429895"/>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6.2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回朔算法核心</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案例</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8" name="TextBox 48"/>
          <p:cNvSpPr txBox="1"/>
          <p:nvPr>
            <p:custDataLst>
              <p:tags r:id="rId4"/>
            </p:custDataLst>
          </p:nvPr>
        </p:nvSpPr>
        <p:spPr>
          <a:xfrm>
            <a:off x="4860032" y="4078513"/>
            <a:ext cx="2955963"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6.3 </a:t>
            </a:r>
            <a:r>
              <a:rPr lang="zh-CN" altLang="en-US" sz="2200" dirty="0">
                <a:solidFill>
                  <a:schemeClr val="tx2">
                    <a:lumMod val="75000"/>
                    <a:lumOff val="25000"/>
                  </a:schemeClr>
                </a:solidFill>
              </a:rPr>
              <a:t>回朔法示例</a:t>
            </a:r>
            <a:endParaRPr lang="zh-CN" altLang="en-US" sz="2200" dirty="0">
              <a:solidFill>
                <a:schemeClr val="tx2">
                  <a:lumMod val="75000"/>
                  <a:lumOff val="25000"/>
                </a:schemeClr>
              </a:solidFill>
            </a:endParaRPr>
          </a:p>
        </p:txBody>
      </p:sp>
      <p:pic>
        <p:nvPicPr>
          <p:cNvPr id="21" name="Picture 2" descr="E:\我的文档\Nipic_6852949_20110401101000478152.png"/>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a:stretch>
            <a:fillRect/>
          </a:stretch>
        </p:blipFill>
        <p:spPr bwMode="auto">
          <a:xfrm>
            <a:off x="582590" y="24208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2" name="Freeform 41"/>
          <p:cNvSpPr>
            <a:spLocks noEditPoints="1"/>
          </p:cNvSpPr>
          <p:nvPr>
            <p:custDataLst>
              <p:tags r:id="rId6"/>
            </p:custDataLst>
          </p:nvPr>
        </p:nvSpPr>
        <p:spPr bwMode="auto">
          <a:xfrm>
            <a:off x="4237000" y="3269469"/>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3" name="Freeform 47"/>
          <p:cNvSpPr>
            <a:spLocks noEditPoints="1"/>
          </p:cNvSpPr>
          <p:nvPr>
            <p:custDataLst>
              <p:tags r:id="rId7"/>
            </p:custDataLst>
          </p:nvPr>
        </p:nvSpPr>
        <p:spPr bwMode="auto">
          <a:xfrm>
            <a:off x="4289152" y="4078512"/>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30" name="图片 29"/>
          <p:cNvPicPr>
            <a:picLocks noChangeAspect="1"/>
          </p:cNvPicPr>
          <p:nvPr>
            <p:custDataLst>
              <p:tags r:id="rId8"/>
            </p:custDataLst>
          </p:nvPr>
        </p:nvPicPr>
        <p:blipFill>
          <a:blip r:embed="rId9"/>
          <a:stretch>
            <a:fillRect/>
          </a:stretch>
        </p:blipFill>
        <p:spPr>
          <a:xfrm>
            <a:off x="3947999" y="3974074"/>
            <a:ext cx="558000" cy="558000"/>
          </a:xfrm>
          <a:prstGeom prst="rect">
            <a:avLst/>
          </a:prstGeom>
        </p:spPr>
      </p:pic>
      <p:pic>
        <p:nvPicPr>
          <p:cNvPr id="31" name="图片 30"/>
          <p:cNvPicPr>
            <a:picLocks noChangeAspect="1"/>
          </p:cNvPicPr>
          <p:nvPr>
            <p:custDataLst>
              <p:tags r:id="rId10"/>
            </p:custDataLst>
          </p:nvPr>
        </p:nvPicPr>
        <p:blipFill>
          <a:blip r:embed="rId11"/>
          <a:stretch>
            <a:fillRect/>
          </a:stretch>
        </p:blipFill>
        <p:spPr>
          <a:xfrm>
            <a:off x="3960879" y="3164396"/>
            <a:ext cx="558000" cy="558000"/>
          </a:xfrm>
          <a:prstGeom prst="rect">
            <a:avLst/>
          </a:prstGeom>
        </p:spPr>
      </p:pic>
      <p:sp>
        <p:nvSpPr>
          <p:cNvPr id="15" name="Freeform 24"/>
          <p:cNvSpPr/>
          <p:nvPr>
            <p:custDataLst>
              <p:tags r:id="rId12"/>
            </p:custDataLst>
          </p:nvPr>
        </p:nvSpPr>
        <p:spPr bwMode="auto">
          <a:xfrm>
            <a:off x="4735725" y="241911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6" name="TextBox 47"/>
          <p:cNvSpPr txBox="1"/>
          <p:nvPr>
            <p:custDataLst>
              <p:tags r:id="rId13"/>
            </p:custDataLst>
          </p:nvPr>
        </p:nvSpPr>
        <p:spPr>
          <a:xfrm>
            <a:off x="4860032" y="2467692"/>
            <a:ext cx="2955963" cy="429895"/>
          </a:xfrm>
          <a:prstGeom prst="rect">
            <a:avLst/>
          </a:prstGeom>
          <a:noFill/>
        </p:spPr>
        <p:txBody>
          <a:bodyPr wrap="square" rtlCol="0">
            <a:spAutoFit/>
          </a:bodyPr>
          <a:lstStyle/>
          <a:p>
            <a:r>
              <a:rPr lang="en-US" altLang="zh-CN" sz="2200" b="1" smtClean="0">
                <a:solidFill>
                  <a:schemeClr val="tx2">
                    <a:lumMod val="75000"/>
                    <a:lumOff val="25000"/>
                  </a:schemeClr>
                </a:solidFill>
                <a:latin typeface="微软雅黑" panose="020B0503020204020204" pitchFamily="34" charset="-122"/>
                <a:ea typeface="微软雅黑" panose="020B0503020204020204" pitchFamily="34" charset="-122"/>
              </a:rPr>
              <a:t>6.1 </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回溯</a:t>
            </a:r>
            <a:r>
              <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rPr>
              <a:t>思想</a:t>
            </a:r>
            <a:endParaRPr lang="zh-CN" altLang="en-US" sz="2200" b="1" smtClean="0">
              <a:solidFill>
                <a:schemeClr val="tx2">
                  <a:lumMod val="75000"/>
                  <a:lumOff val="25000"/>
                </a:schemeClr>
              </a:solidFill>
              <a:latin typeface="微软雅黑" panose="020B0503020204020204" pitchFamily="34" charset="-122"/>
              <a:ea typeface="微软雅黑" panose="020B0503020204020204" pitchFamily="34" charset="-122"/>
            </a:endParaRPr>
          </a:p>
        </p:txBody>
      </p:sp>
      <p:pic>
        <p:nvPicPr>
          <p:cNvPr id="19" name="图片 18"/>
          <p:cNvPicPr>
            <a:picLocks noChangeAspect="1"/>
          </p:cNvPicPr>
          <p:nvPr>
            <p:custDataLst>
              <p:tags r:id="rId14"/>
            </p:custDataLst>
          </p:nvPr>
        </p:nvPicPr>
        <p:blipFill>
          <a:blip r:embed="rId11"/>
          <a:stretch>
            <a:fillRect/>
          </a:stretch>
        </p:blipFill>
        <p:spPr>
          <a:xfrm>
            <a:off x="3967905" y="2419112"/>
            <a:ext cx="558000" cy="5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755650" y="2093913"/>
            <a:ext cx="8010525" cy="64516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情景再现</a:t>
            </a:r>
            <a:r>
              <a:rPr lang="en-US" altLang="zh-CN" dirty="0">
                <a:solidFill>
                  <a:srgbClr val="000066"/>
                </a:solidFill>
                <a:uFillTx/>
                <a:latin typeface="Times New Roman" panose="02020603050405020304" pitchFamily="18" charset="0"/>
              </a:rPr>
              <a:t>:</a:t>
            </a:r>
            <a:r>
              <a:rPr lang="zh-CN" altLang="en-US">
                <a:solidFill>
                  <a:srgbClr val="000066"/>
                </a:solidFill>
                <a:uFillTx/>
                <a:latin typeface="Times New Roman" panose="02020603050405020304" pitchFamily="18" charset="0"/>
              </a:rPr>
              <a:t>小明过年和朋友一起进入迷宫，比赛看谁先从迷宫中走出来，请问小明靠什么方法来走出迷宫？</a:t>
            </a:r>
            <a:endParaRPr lang="zh-CN" altLang="en-US">
              <a:solidFill>
                <a:srgbClr val="000066"/>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2484438" y="2997200"/>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2484438" y="5157788"/>
            <a:ext cx="792162"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小明</a:t>
            </a:r>
            <a:endParaRPr lang="zh-CN" altLang="en-US">
              <a:solidFill>
                <a:srgbClr val="000066"/>
              </a:solidFill>
              <a:uFillTx/>
              <a:latin typeface="Times New Roman" panose="02020603050405020304" pitchFamily="18" charset="0"/>
            </a:endParaRPr>
          </a:p>
        </p:txBody>
      </p:sp>
      <p:sp>
        <p:nvSpPr>
          <p:cNvPr id="8" name="文本框 7"/>
          <p:cNvSpPr txBox="1"/>
          <p:nvPr/>
        </p:nvSpPr>
        <p:spPr>
          <a:xfrm>
            <a:off x="5508625" y="3929063"/>
            <a:ext cx="792163" cy="368300"/>
          </a:xfrm>
          <a:prstGeom prst="rect">
            <a:avLst/>
          </a:prstGeom>
          <a:noFill/>
        </p:spPr>
        <p:txBody>
          <a:bodyPr>
            <a:spAutoFit/>
          </a:bodyPr>
          <a:lstStyle/>
          <a:p>
            <a:pPr>
              <a:defRPr/>
            </a:pPr>
            <a:r>
              <a:rPr lang="zh-CN" altLang="en-US">
                <a:solidFill>
                  <a:srgbClr val="000066"/>
                </a:solidFill>
                <a:latin typeface="宋体" panose="02010600030101010101" pitchFamily="2" charset="-122"/>
              </a:rPr>
              <a:t>出口</a:t>
            </a:r>
            <a:endParaRPr lang="zh-CN" altLang="en-US">
              <a:solidFill>
                <a:srgbClr val="000066"/>
              </a:solidFill>
              <a:latin typeface="宋体" panose="02010600030101010101" pitchFamily="2" charset="-122"/>
            </a:endParaRPr>
          </a:p>
        </p:txBody>
      </p:sp>
      <p:cxnSp>
        <p:nvCxnSpPr>
          <p:cNvPr id="10248" name="直接连接符 5"/>
          <p:cNvCxnSpPr>
            <a:cxnSpLocks noChangeShapeType="1"/>
          </p:cNvCxnSpPr>
          <p:nvPr/>
        </p:nvCxnSpPr>
        <p:spPr bwMode="auto">
          <a:xfrm flipH="1" flipV="1">
            <a:off x="3613150" y="3324225"/>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3613150" y="4870450"/>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3586163" y="3157538"/>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3586163" y="5138738"/>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3887788" y="3949700"/>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sp>
        <p:nvSpPr>
          <p:cNvPr id="3" name="文本框 2"/>
          <p:cNvSpPr txBox="1"/>
          <p:nvPr/>
        </p:nvSpPr>
        <p:spPr>
          <a:xfrm>
            <a:off x="251460" y="83693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6.1.1 </a:t>
            </a:r>
            <a:r>
              <a:rPr lang="zh-CN" altLang="en-US" sz="2400" b="1" kern="0" dirty="0">
                <a:uFillTx/>
                <a:latin typeface="Times New Roman" panose="02020603050405020304" pitchFamily="18" charset="0"/>
                <a:cs typeface="Times New Roman" panose="02020603050405020304" pitchFamily="18" charset="0"/>
                <a:sym typeface="+mn-ea"/>
              </a:rPr>
              <a:t>回溯</a:t>
            </a:r>
            <a:r>
              <a:rPr lang="zh-CN" altLang="en-US" sz="2400" b="1" kern="0" dirty="0">
                <a:uFillTx/>
                <a:latin typeface="Times New Roman" panose="02020603050405020304" pitchFamily="18" charset="0"/>
                <a:cs typeface="Times New Roman" panose="02020603050405020304" pitchFamily="18" charset="0"/>
                <a:sym typeface="+mn-ea"/>
              </a:rPr>
              <a:t>思想</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4" name="文本框 13"/>
          <p:cNvSpPr txBox="1"/>
          <p:nvPr/>
        </p:nvSpPr>
        <p:spPr>
          <a:xfrm>
            <a:off x="251460" y="1051878"/>
            <a:ext cx="801052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迷宫问题可以抽象成一棵树（解空间</a:t>
            </a:r>
            <a:r>
              <a:rPr lang="zh-CN" altLang="en-US">
                <a:solidFill>
                  <a:schemeClr val="tx1"/>
                </a:solidFill>
                <a:uFillTx/>
                <a:latin typeface="Times New Roman" panose="02020603050405020304" pitchFamily="18" charset="0"/>
              </a:rPr>
              <a:t>树）：</a:t>
            </a:r>
            <a:endParaRPr lang="zh-CN" altLang="en-US">
              <a:solidFill>
                <a:schemeClr val="tx1"/>
              </a:solidFill>
              <a:uFillTx/>
              <a:latin typeface="Times New Roman" panose="02020603050405020304" pitchFamily="18" charset="0"/>
            </a:endParaRPr>
          </a:p>
        </p:txBody>
      </p:sp>
      <p:pic>
        <p:nvPicPr>
          <p:cNvPr id="10245"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467043" y="1628775"/>
            <a:ext cx="3600450" cy="2676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文本框 3"/>
          <p:cNvSpPr txBox="1"/>
          <p:nvPr/>
        </p:nvSpPr>
        <p:spPr>
          <a:xfrm>
            <a:off x="467043" y="3789363"/>
            <a:ext cx="792162" cy="368300"/>
          </a:xfrm>
          <a:prstGeom prst="rect">
            <a:avLst/>
          </a:prstGeom>
          <a:noFill/>
        </p:spPr>
        <p:txBody>
          <a:bodyPr>
            <a:spAutoFit/>
          </a:bodyPr>
          <a:lstStyle/>
          <a:p>
            <a:pPr>
              <a:defRPr/>
            </a:pPr>
            <a:r>
              <a:rPr lang="zh-CN" altLang="en-US">
                <a:solidFill>
                  <a:srgbClr val="000066"/>
                </a:solidFill>
                <a:latin typeface="+mj-ea"/>
                <a:ea typeface="+mj-ea"/>
              </a:rPr>
              <a:t>小明</a:t>
            </a:r>
            <a:endParaRPr lang="zh-CN" altLang="en-US">
              <a:solidFill>
                <a:srgbClr val="000066"/>
              </a:solidFill>
              <a:latin typeface="+mj-ea"/>
              <a:ea typeface="+mj-ea"/>
            </a:endParaRPr>
          </a:p>
        </p:txBody>
      </p:sp>
      <p:sp>
        <p:nvSpPr>
          <p:cNvPr id="8" name="文本框 7"/>
          <p:cNvSpPr txBox="1"/>
          <p:nvPr/>
        </p:nvSpPr>
        <p:spPr>
          <a:xfrm>
            <a:off x="3491230" y="2560638"/>
            <a:ext cx="792163" cy="369887"/>
          </a:xfrm>
          <a:prstGeom prst="rect">
            <a:avLst/>
          </a:prstGeom>
          <a:noFill/>
        </p:spPr>
        <p:txBody>
          <a:bodyPr>
            <a:spAutoFit/>
          </a:bodyPr>
          <a:lstStyle/>
          <a:p>
            <a:pPr>
              <a:defRPr/>
            </a:pPr>
            <a:r>
              <a:rPr lang="zh-CN" altLang="en-US">
                <a:solidFill>
                  <a:srgbClr val="000066"/>
                </a:solidFill>
                <a:latin typeface="+mj-ea"/>
                <a:ea typeface="+mj-ea"/>
              </a:rPr>
              <a:t>出口</a:t>
            </a:r>
            <a:endParaRPr lang="zh-CN" altLang="en-US">
              <a:solidFill>
                <a:srgbClr val="000066"/>
              </a:solidFill>
              <a:latin typeface="+mj-ea"/>
              <a:ea typeface="+mj-ea"/>
            </a:endParaRPr>
          </a:p>
        </p:txBody>
      </p:sp>
      <p:cxnSp>
        <p:nvCxnSpPr>
          <p:cNvPr id="10248" name="直接连接符 5"/>
          <p:cNvCxnSpPr>
            <a:cxnSpLocks noChangeShapeType="1"/>
          </p:cNvCxnSpPr>
          <p:nvPr/>
        </p:nvCxnSpPr>
        <p:spPr bwMode="auto">
          <a:xfrm flipH="1" flipV="1">
            <a:off x="1595755" y="1955800"/>
            <a:ext cx="3175" cy="942975"/>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cxnSp>
        <p:nvCxnSpPr>
          <p:cNvPr id="10249" name="直接连接符 12"/>
          <p:cNvCxnSpPr>
            <a:cxnSpLocks noChangeShapeType="1"/>
          </p:cNvCxnSpPr>
          <p:nvPr/>
        </p:nvCxnSpPr>
        <p:spPr bwMode="auto">
          <a:xfrm flipV="1">
            <a:off x="1595755" y="3502025"/>
            <a:ext cx="0" cy="471488"/>
          </a:xfrm>
          <a:prstGeom prst="line">
            <a:avLst/>
          </a:prstGeom>
          <a:noFill/>
          <a:ln w="76200" algn="ctr">
            <a:solidFill>
              <a:schemeClr val="tx1"/>
            </a:solidFill>
            <a:round/>
          </a:ln>
          <a:extLst>
            <a:ext uri="{909E8E84-426E-40DD-AFC4-6F175D3DCCD1}">
              <a14:hiddenFill xmlns:a14="http://schemas.microsoft.com/office/drawing/2010/main">
                <a:noFill/>
              </a14:hiddenFill>
            </a:ext>
          </a:extLst>
        </p:spPr>
      </p:cxnSp>
      <p:sp>
        <p:nvSpPr>
          <p:cNvPr id="15" name="文本框 14"/>
          <p:cNvSpPr txBox="1"/>
          <p:nvPr/>
        </p:nvSpPr>
        <p:spPr>
          <a:xfrm>
            <a:off x="1568768" y="1789113"/>
            <a:ext cx="792162"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6" name="文本框 15"/>
          <p:cNvSpPr txBox="1"/>
          <p:nvPr/>
        </p:nvSpPr>
        <p:spPr>
          <a:xfrm>
            <a:off x="1568768" y="37703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17" name="文本框 16"/>
          <p:cNvSpPr txBox="1"/>
          <p:nvPr/>
        </p:nvSpPr>
        <p:spPr>
          <a:xfrm>
            <a:off x="1870393" y="2581275"/>
            <a:ext cx="792162" cy="369888"/>
          </a:xfrm>
          <a:prstGeom prst="rect">
            <a:avLst/>
          </a:prstGeom>
          <a:noFill/>
        </p:spPr>
        <p:txBody>
          <a:bodyPr>
            <a:spAutoFit/>
          </a:bodyPr>
          <a:lstStyle/>
          <a:p>
            <a:pPr>
              <a:defRPr/>
            </a:pPr>
            <a:r>
              <a:rPr lang="zh-CN" altLang="en-US">
                <a:solidFill>
                  <a:srgbClr val="FF0000"/>
                </a:solidFill>
                <a:latin typeface="+mj-ea"/>
                <a:ea typeface="+mj-ea"/>
              </a:rPr>
              <a:t>③</a:t>
            </a:r>
            <a:endParaRPr lang="zh-CN" altLang="en-US">
              <a:solidFill>
                <a:srgbClr val="FF0000"/>
              </a:solidFill>
              <a:latin typeface="+mj-ea"/>
              <a:ea typeface="+mj-ea"/>
            </a:endParaRPr>
          </a:p>
        </p:txBody>
      </p:sp>
      <p:grpSp>
        <p:nvGrpSpPr>
          <p:cNvPr id="72" name="组合 71"/>
          <p:cNvGrpSpPr/>
          <p:nvPr/>
        </p:nvGrpSpPr>
        <p:grpSpPr>
          <a:xfrm>
            <a:off x="5003800" y="126873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文本框 1"/>
              <p:cNvSpPr txBox="1"/>
              <p:nvPr/>
            </p:nvSpPr>
            <p:spPr>
              <a:xfrm>
                <a:off x="10602" y="3586"/>
                <a:ext cx="874" cy="552"/>
              </a:xfrm>
              <a:prstGeom prst="rect">
                <a:avLst/>
              </a:prstGeom>
              <a:noFill/>
            </p:spPr>
            <p:txBody>
              <a:bodyPr>
                <a:noAutofit/>
              </a:bodyPr>
              <a:p>
                <a:pPr>
                  <a:defRPr/>
                </a:pPr>
                <a:r>
                  <a:rPr lang="zh-CN" altLang="en-US" sz="1400">
                    <a:solidFill>
                      <a:srgbClr val="000066"/>
                    </a:solidFill>
                    <a:latin typeface="+mj-ea"/>
                    <a:ea typeface="+mj-ea"/>
                  </a:rPr>
                  <a:t>入口</a:t>
                </a:r>
                <a:endParaRPr lang="zh-CN" altLang="en-US" sz="1400">
                  <a:solidFill>
                    <a:srgbClr val="000066"/>
                  </a:solidFill>
                  <a:latin typeface="+mj-ea"/>
                  <a:ea typeface="+mj-ea"/>
                </a:endParaRPr>
              </a:p>
            </p:txBody>
          </p:sp>
        </p:grpSp>
        <p:grpSp>
          <p:nvGrpSpPr>
            <p:cNvPr id="3" name="组合 2"/>
            <p:cNvGrpSpPr/>
            <p:nvPr/>
          </p:nvGrpSpPr>
          <p:grpSpPr>
            <a:xfrm>
              <a:off x="8675" y="4607"/>
              <a:ext cx="1018" cy="917"/>
              <a:chOff x="10489" y="3359"/>
              <a:chExt cx="1018" cy="917"/>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5"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7" name="组合 6"/>
            <p:cNvGrpSpPr/>
            <p:nvPr/>
          </p:nvGrpSpPr>
          <p:grpSpPr>
            <a:xfrm>
              <a:off x="11440" y="6011"/>
              <a:ext cx="538" cy="539"/>
              <a:chOff x="10489" y="3359"/>
              <a:chExt cx="1018" cy="917"/>
            </a:xfrm>
          </p:grpSpPr>
          <p:sp>
            <p:nvSpPr>
              <p:cNvPr id="9" name="椭圆 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 name="文本框 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6" name="组合 35"/>
            <p:cNvGrpSpPr/>
            <p:nvPr/>
          </p:nvGrpSpPr>
          <p:grpSpPr>
            <a:xfrm>
              <a:off x="13468" y="6011"/>
              <a:ext cx="538" cy="539"/>
              <a:chOff x="10489" y="3359"/>
              <a:chExt cx="1018" cy="917"/>
            </a:xfrm>
          </p:grpSpPr>
          <p:sp>
            <p:nvSpPr>
              <p:cNvPr id="37" name="椭圆 3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8" name="文本框 3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9" name="组合 38"/>
            <p:cNvGrpSpPr/>
            <p:nvPr/>
          </p:nvGrpSpPr>
          <p:grpSpPr>
            <a:xfrm>
              <a:off x="12334" y="6011"/>
              <a:ext cx="538" cy="539"/>
              <a:chOff x="10489" y="3359"/>
              <a:chExt cx="1018" cy="917"/>
            </a:xfrm>
          </p:grpSpPr>
          <p:sp>
            <p:nvSpPr>
              <p:cNvPr id="40" name="椭圆 3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5"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5"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1"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22" idx="4"/>
              <a:endCxn id="9" idx="0"/>
            </p:cNvCxnSpPr>
            <p:nvPr/>
          </p:nvCxnSpPr>
          <p:spPr>
            <a:xfrm rot="5400000">
              <a:off x="12130" y="5102"/>
              <a:ext cx="487" cy="132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7"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5" name="弧形 74"/>
          <p:cNvSpPr/>
          <p:nvPr/>
        </p:nvSpPr>
        <p:spPr>
          <a:xfrm flipH="1">
            <a:off x="5312410" y="2997200"/>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5034915" y="1771015"/>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文本框 78"/>
          <p:cNvSpPr txBox="1"/>
          <p:nvPr/>
        </p:nvSpPr>
        <p:spPr>
          <a:xfrm>
            <a:off x="4499610" y="3213735"/>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5363845" y="3340735"/>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73" name="弧形 72"/>
          <p:cNvSpPr/>
          <p:nvPr/>
        </p:nvSpPr>
        <p:spPr>
          <a:xfrm rot="10140000" flipH="1">
            <a:off x="5828665" y="2590165"/>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4" name="文本框 73"/>
          <p:cNvSpPr txBox="1"/>
          <p:nvPr/>
        </p:nvSpPr>
        <p:spPr>
          <a:xfrm>
            <a:off x="6156325" y="3213735"/>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83" name="任意多边形 82"/>
          <p:cNvSpPr/>
          <p:nvPr/>
        </p:nvSpPr>
        <p:spPr>
          <a:xfrm>
            <a:off x="5438775" y="1303020"/>
            <a:ext cx="962660" cy="625475"/>
          </a:xfrm>
          <a:custGeom>
            <a:avLst/>
            <a:gdLst>
              <a:gd name="connisteX0" fmla="*/ 962660 w 962660"/>
              <a:gd name="connsiteY0" fmla="*/ 0 h 625475"/>
              <a:gd name="connisteX1" fmla="*/ 307975 w 962660"/>
              <a:gd name="connsiteY1" fmla="*/ 163830 h 625475"/>
              <a:gd name="connisteX2" fmla="*/ 0 w 962660"/>
              <a:gd name="connsiteY2" fmla="*/ 625475 h 625475"/>
            </a:gdLst>
            <a:ahLst/>
            <a:cxnLst>
              <a:cxn ang="0">
                <a:pos x="connisteX0" y="connsiteY0"/>
              </a:cxn>
              <a:cxn ang="0">
                <a:pos x="connisteX1" y="connsiteY1"/>
              </a:cxn>
              <a:cxn ang="0">
                <a:pos x="connisteX2" y="connsiteY2"/>
              </a:cxn>
            </a:cxnLst>
            <a:rect l="l" t="t" r="r" b="b"/>
            <a:pathLst>
              <a:path w="962660" h="625475">
                <a:moveTo>
                  <a:pt x="962660" y="0"/>
                </a:moveTo>
                <a:cubicBezTo>
                  <a:pt x="837565" y="23495"/>
                  <a:pt x="500380" y="38735"/>
                  <a:pt x="307975" y="163830"/>
                </a:cubicBezTo>
                <a:cubicBezTo>
                  <a:pt x="115570" y="288925"/>
                  <a:pt x="48260" y="536575"/>
                  <a:pt x="0" y="62547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5292725" y="118681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85" name="任意多边形 84"/>
          <p:cNvSpPr/>
          <p:nvPr/>
        </p:nvSpPr>
        <p:spPr>
          <a:xfrm>
            <a:off x="5950585" y="1763395"/>
            <a:ext cx="529590" cy="461645"/>
          </a:xfrm>
          <a:custGeom>
            <a:avLst/>
            <a:gdLst>
              <a:gd name="connisteX0" fmla="*/ 0 w 529590"/>
              <a:gd name="connsiteY0" fmla="*/ 461645 h 461645"/>
              <a:gd name="connisteX1" fmla="*/ 182880 w 529590"/>
              <a:gd name="connsiteY1" fmla="*/ 153670 h 461645"/>
              <a:gd name="connisteX2" fmla="*/ 529590 w 529590"/>
              <a:gd name="connsiteY2" fmla="*/ 0 h 461645"/>
            </a:gdLst>
            <a:ahLst/>
            <a:cxnLst>
              <a:cxn ang="0">
                <a:pos x="connisteX0" y="connsiteY0"/>
              </a:cxn>
              <a:cxn ang="0">
                <a:pos x="connisteX1" y="connsiteY1"/>
              </a:cxn>
              <a:cxn ang="0">
                <a:pos x="connisteX2" y="connsiteY2"/>
              </a:cxn>
            </a:cxnLst>
            <a:rect l="l" t="t" r="r" b="b"/>
            <a:pathLst>
              <a:path w="529590" h="461645">
                <a:moveTo>
                  <a:pt x="0" y="461645"/>
                </a:moveTo>
                <a:cubicBezTo>
                  <a:pt x="29845" y="403225"/>
                  <a:pt x="76835" y="245745"/>
                  <a:pt x="182880" y="153670"/>
                </a:cubicBezTo>
                <a:cubicBezTo>
                  <a:pt x="288925" y="61595"/>
                  <a:pt x="464185" y="24765"/>
                  <a:pt x="52959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6156325" y="1955800"/>
            <a:ext cx="469265" cy="401320"/>
          </a:xfrm>
          <a:prstGeom prst="rect">
            <a:avLst/>
          </a:prstGeom>
          <a:noFill/>
        </p:spPr>
        <p:txBody>
          <a:bodyPr wrap="square" rtlCol="0">
            <a:noAutofit/>
          </a:bodyPr>
          <a:p>
            <a:r>
              <a:rPr lang="zh-CN" altLang="en-US">
                <a:solidFill>
                  <a:srgbClr val="FF0000"/>
                </a:solidFill>
              </a:rPr>
              <a:t>⑤</a:t>
            </a:r>
            <a:endParaRPr lang="zh-CN" altLang="en-US">
              <a:solidFill>
                <a:srgbClr val="FF0000"/>
              </a:solidFill>
            </a:endParaRPr>
          </a:p>
        </p:txBody>
      </p:sp>
      <p:sp>
        <p:nvSpPr>
          <p:cNvPr id="87" name="任意多边形 86"/>
          <p:cNvSpPr/>
          <p:nvPr/>
        </p:nvSpPr>
        <p:spPr>
          <a:xfrm>
            <a:off x="6891655" y="1841500"/>
            <a:ext cx="856615" cy="2165350"/>
          </a:xfrm>
          <a:custGeom>
            <a:avLst/>
            <a:gdLst>
              <a:gd name="connisteX0" fmla="*/ 230943 w 856595"/>
              <a:gd name="connsiteY0" fmla="*/ 0 h 2165350"/>
              <a:gd name="connisteX1" fmla="*/ 740848 w 856595"/>
              <a:gd name="connsiteY1" fmla="*/ 67310 h 2165350"/>
              <a:gd name="connisteX2" fmla="*/ 846893 w 856595"/>
              <a:gd name="connsiteY2" fmla="*/ 394970 h 2165350"/>
              <a:gd name="connisteX3" fmla="*/ 634803 w 856595"/>
              <a:gd name="connsiteY3" fmla="*/ 856615 h 2165350"/>
              <a:gd name="connisteX4" fmla="*/ 67113 w 856595"/>
              <a:gd name="connsiteY4" fmla="*/ 1183640 h 2165350"/>
              <a:gd name="connisteX5" fmla="*/ 29013 w 856595"/>
              <a:gd name="connsiteY5" fmla="*/ 2165350 h 216535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Lst>
            <a:rect l="l" t="t" r="r" b="b"/>
            <a:pathLst>
              <a:path w="856596" h="2165350">
                <a:moveTo>
                  <a:pt x="230944" y="0"/>
                </a:moveTo>
                <a:cubicBezTo>
                  <a:pt x="330639" y="6985"/>
                  <a:pt x="617659" y="-11430"/>
                  <a:pt x="740849" y="67310"/>
                </a:cubicBezTo>
                <a:cubicBezTo>
                  <a:pt x="864039" y="146050"/>
                  <a:pt x="867849" y="236855"/>
                  <a:pt x="846894" y="394970"/>
                </a:cubicBezTo>
                <a:cubicBezTo>
                  <a:pt x="825939" y="553085"/>
                  <a:pt x="791014" y="699135"/>
                  <a:pt x="634804" y="856615"/>
                </a:cubicBezTo>
                <a:cubicBezTo>
                  <a:pt x="478594" y="1014095"/>
                  <a:pt x="188399" y="922020"/>
                  <a:pt x="67114" y="1183640"/>
                </a:cubicBezTo>
                <a:cubicBezTo>
                  <a:pt x="-54171" y="1445260"/>
                  <a:pt x="25204" y="1975485"/>
                  <a:pt x="29014" y="21653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8" name="文本框 87"/>
          <p:cNvSpPr txBox="1"/>
          <p:nvPr/>
        </p:nvSpPr>
        <p:spPr>
          <a:xfrm>
            <a:off x="7270115" y="2061210"/>
            <a:ext cx="469265" cy="401320"/>
          </a:xfrm>
          <a:prstGeom prst="rect">
            <a:avLst/>
          </a:prstGeom>
          <a:noFill/>
        </p:spPr>
        <p:txBody>
          <a:bodyPr wrap="square" rtlCol="0">
            <a:noAutofit/>
          </a:bodyPr>
          <a:p>
            <a:r>
              <a:rPr lang="zh-CN" altLang="en-US">
                <a:solidFill>
                  <a:srgbClr val="FF0000"/>
                </a:solidFill>
              </a:rPr>
              <a:t>⑥</a:t>
            </a:r>
            <a:endParaRPr lang="zh-CN" altLang="en-US">
              <a:solidFill>
                <a:srgbClr val="FF0000"/>
              </a:solidFill>
            </a:endParaRPr>
          </a:p>
        </p:txBody>
      </p:sp>
      <p:sp>
        <p:nvSpPr>
          <p:cNvPr id="89" name="文本框 88"/>
          <p:cNvSpPr txBox="1"/>
          <p:nvPr/>
        </p:nvSpPr>
        <p:spPr>
          <a:xfrm>
            <a:off x="6901815" y="4362450"/>
            <a:ext cx="694690" cy="922020"/>
          </a:xfrm>
          <a:prstGeom prst="rect">
            <a:avLst/>
          </a:prstGeom>
          <a:noFill/>
        </p:spPr>
        <p:txBody>
          <a:bodyPr wrap="square" rtlCol="0">
            <a:spAutoFit/>
          </a:bodyPr>
          <a:p>
            <a:r>
              <a:rPr lang="zh-CN" altLang="en-US">
                <a:solidFill>
                  <a:srgbClr val="FF0000"/>
                </a:solidFill>
              </a:rPr>
              <a:t>出口直接返回</a:t>
            </a:r>
            <a:endParaRPr lang="zh-CN" altLang="en-US">
              <a:solidFill>
                <a:srgbClr val="FF0000"/>
              </a:solidFill>
            </a:endParaRPr>
          </a:p>
        </p:txBody>
      </p:sp>
      <p:sp>
        <p:nvSpPr>
          <p:cNvPr id="90" name="文本框 89"/>
          <p:cNvSpPr txBox="1"/>
          <p:nvPr/>
        </p:nvSpPr>
        <p:spPr>
          <a:xfrm>
            <a:off x="773430" y="5423535"/>
            <a:ext cx="7759065" cy="1198880"/>
          </a:xfrm>
          <a:prstGeom prst="rect">
            <a:avLst/>
          </a:prstGeom>
          <a:noFill/>
        </p:spPr>
        <p:txBody>
          <a:bodyPr wrap="square" rtlCol="0">
            <a:spAutoFit/>
          </a:bodyPr>
          <a:p>
            <a:r>
              <a:rPr lang="zh-CN" altLang="en-US"/>
              <a:t>回溯：系统地搜索所有可能解的算法（抽象解</a:t>
            </a:r>
            <a:r>
              <a:rPr lang="zh-CN" altLang="en-US"/>
              <a:t>空间树），通过递归的方式逐步构建解的过程。当发现当前路径无法满足题目要求或无法得到有效解时，算法会撤销上一步的选择（即「回溯」），返回到上一个决策点，尝试其他可能的路径。</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sp>
        <p:nvSpPr>
          <p:cNvPr id="13" name="Rectangle 2"/>
          <p:cNvSpPr txBox="1">
            <a:spLocks noChangeArrowheads="1"/>
          </p:cNvSpPr>
          <p:nvPr/>
        </p:nvSpPr>
        <p:spPr bwMode="auto">
          <a:xfrm>
            <a:off x="556260" y="144335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475656" y="2132856"/>
            <a:ext cx="2448272" cy="369332"/>
          </a:xfrm>
          <a:prstGeom prst="rect">
            <a:avLst/>
          </a:prstGeom>
          <a:noFill/>
        </p:spPr>
        <p:txBody>
          <a:bodyPr wrap="square" rtlCol="0">
            <a:spAutoFit/>
          </a:bodyPr>
          <a:lstStyle/>
          <a:p>
            <a:r>
              <a:rPr lang="zh-CN" altLang="en-US" b="1" smtClean="0"/>
              <a:t>如何遍历二叉树？</a:t>
            </a:r>
            <a:endParaRPr lang="zh-CN" altLang="en-US" b="1"/>
          </a:p>
        </p:txBody>
      </p:sp>
      <p:sp>
        <p:nvSpPr>
          <p:cNvPr id="18" name="文本框 17"/>
          <p:cNvSpPr txBox="1"/>
          <p:nvPr/>
        </p:nvSpPr>
        <p:spPr>
          <a:xfrm>
            <a:off x="4788024" y="2924944"/>
            <a:ext cx="3448224" cy="1754326"/>
          </a:xfrm>
          <a:prstGeom prst="rect">
            <a:avLst/>
          </a:prstGeom>
          <a:noFill/>
        </p:spPr>
        <p:txBody>
          <a:bodyPr wrap="square" rtlCol="0">
            <a:spAutoFit/>
          </a:bodyPr>
          <a:lstStyle/>
          <a:p>
            <a:r>
              <a:rPr lang="zh-CN" altLang="en-US" b="1" smtClean="0"/>
              <a:t>①二叉树的前序遍历？</a:t>
            </a:r>
            <a:endParaRPr lang="en-US" altLang="zh-CN" b="1" smtClean="0"/>
          </a:p>
          <a:p>
            <a:endParaRPr lang="en-US" altLang="zh-CN" b="1" smtClean="0"/>
          </a:p>
          <a:p>
            <a:r>
              <a:rPr lang="zh-CN" altLang="en-US" b="1" smtClean="0"/>
              <a:t>②二叉树的中序遍历？</a:t>
            </a:r>
            <a:endParaRPr lang="en-US" altLang="zh-CN" b="1" smtClean="0"/>
          </a:p>
          <a:p>
            <a:endParaRPr lang="zh-CN" altLang="en-US" b="1" smtClean="0"/>
          </a:p>
          <a:p>
            <a:r>
              <a:rPr lang="zh-CN" altLang="en-US" b="1" smtClean="0"/>
              <a:t>③二叉树的后序</a:t>
            </a:r>
            <a:r>
              <a:rPr lang="zh-CN" altLang="en-US" b="1"/>
              <a:t>遍历？</a:t>
            </a:r>
            <a:endParaRPr lang="zh-CN" altLang="en-US" b="1"/>
          </a:p>
          <a:p>
            <a:endParaRPr lang="zh-CN" altLang="en-US" b="1"/>
          </a:p>
        </p:txBody>
      </p:sp>
      <p:sp>
        <p:nvSpPr>
          <p:cNvPr id="5" name="文本框 4"/>
          <p:cNvSpPr txBox="1"/>
          <p:nvPr/>
        </p:nvSpPr>
        <p:spPr>
          <a:xfrm>
            <a:off x="4499992" y="2889415"/>
            <a:ext cx="3664248" cy="369332"/>
          </a:xfrm>
          <a:prstGeom prst="rect">
            <a:avLst/>
          </a:prstGeom>
          <a:solidFill>
            <a:schemeClr val="accent2">
              <a:lumMod val="60000"/>
              <a:lumOff val="40000"/>
            </a:schemeClr>
          </a:solidFill>
        </p:spPr>
        <p:txBody>
          <a:bodyPr wrap="square" rtlCol="0">
            <a:spAutoFit/>
          </a:bodyPr>
          <a:lstStyle/>
          <a:p>
            <a:r>
              <a:rPr lang="zh-CN" altLang="en-US" smtClean="0"/>
              <a:t>前序遍历：</a:t>
            </a:r>
            <a:r>
              <a:rPr lang="en-US" altLang="zh-CN" smtClean="0"/>
              <a:t>2</a:t>
            </a:r>
            <a:r>
              <a:rPr lang="zh-CN" altLang="en-US" smtClean="0"/>
              <a:t>，</a:t>
            </a:r>
            <a:r>
              <a:rPr lang="en-US" altLang="zh-CN" smtClean="0"/>
              <a:t>9</a:t>
            </a:r>
            <a:r>
              <a:rPr lang="zh-CN" altLang="en-US" smtClean="0"/>
              <a:t>，</a:t>
            </a:r>
            <a:r>
              <a:rPr lang="en-US" altLang="zh-CN" smtClean="0"/>
              <a:t>20</a:t>
            </a:r>
            <a:r>
              <a:rPr lang="zh-CN" altLang="en-US" smtClean="0"/>
              <a:t>，</a:t>
            </a:r>
            <a:r>
              <a:rPr lang="en-US" altLang="zh-CN" smtClean="0"/>
              <a:t>15</a:t>
            </a:r>
            <a:r>
              <a:rPr lang="zh-CN" altLang="en-US" smtClean="0"/>
              <a:t>，</a:t>
            </a:r>
            <a:r>
              <a:rPr lang="en-US" altLang="zh-CN" smtClean="0"/>
              <a:t>3</a:t>
            </a:r>
            <a:endParaRPr lang="zh-CN" altLang="en-US"/>
          </a:p>
        </p:txBody>
      </p:sp>
      <p:sp>
        <p:nvSpPr>
          <p:cNvPr id="19" name="文本框 18"/>
          <p:cNvSpPr txBox="1"/>
          <p:nvPr/>
        </p:nvSpPr>
        <p:spPr>
          <a:xfrm>
            <a:off x="4499992" y="3453052"/>
            <a:ext cx="3664248" cy="369332"/>
          </a:xfrm>
          <a:prstGeom prst="rect">
            <a:avLst/>
          </a:prstGeom>
          <a:solidFill>
            <a:schemeClr val="accent2">
              <a:lumMod val="60000"/>
              <a:lumOff val="40000"/>
            </a:schemeClr>
          </a:solidFill>
        </p:spPr>
        <p:txBody>
          <a:bodyPr wrap="square" rtlCol="0">
            <a:spAutoFit/>
          </a:bodyPr>
          <a:lstStyle/>
          <a:p>
            <a:r>
              <a:rPr lang="zh-CN" altLang="en-US" smtClean="0"/>
              <a:t>中序遍历：</a:t>
            </a:r>
            <a:r>
              <a:rPr lang="en-US" altLang="zh-CN" smtClean="0"/>
              <a:t>9</a:t>
            </a:r>
            <a:r>
              <a:rPr lang="zh-CN" altLang="en-US" smtClean="0"/>
              <a:t>，</a:t>
            </a:r>
            <a:r>
              <a:rPr lang="en-US" altLang="zh-CN" smtClean="0"/>
              <a:t>2</a:t>
            </a:r>
            <a:r>
              <a:rPr lang="zh-CN" altLang="en-US" smtClean="0"/>
              <a:t>，</a:t>
            </a:r>
            <a:r>
              <a:rPr lang="en-US" altLang="zh-CN" smtClean="0"/>
              <a:t>15</a:t>
            </a:r>
            <a:r>
              <a:rPr lang="zh-CN" altLang="en-US" smtClean="0"/>
              <a:t>，</a:t>
            </a:r>
            <a:r>
              <a:rPr lang="en-US" altLang="zh-CN" smtClean="0"/>
              <a:t>20</a:t>
            </a:r>
            <a:r>
              <a:rPr lang="zh-CN" altLang="en-US" smtClean="0"/>
              <a:t>，</a:t>
            </a:r>
            <a:r>
              <a:rPr lang="en-US" altLang="zh-CN" smtClean="0"/>
              <a:t>3</a:t>
            </a:r>
            <a:endParaRPr lang="zh-CN" altLang="en-US"/>
          </a:p>
        </p:txBody>
      </p:sp>
      <p:sp>
        <p:nvSpPr>
          <p:cNvPr id="20" name="文本框 19"/>
          <p:cNvSpPr txBox="1"/>
          <p:nvPr/>
        </p:nvSpPr>
        <p:spPr>
          <a:xfrm>
            <a:off x="4499447" y="4066161"/>
            <a:ext cx="3664248" cy="369332"/>
          </a:xfrm>
          <a:prstGeom prst="rect">
            <a:avLst/>
          </a:prstGeom>
          <a:solidFill>
            <a:schemeClr val="accent2">
              <a:lumMod val="60000"/>
              <a:lumOff val="40000"/>
            </a:schemeClr>
          </a:solidFill>
        </p:spPr>
        <p:txBody>
          <a:bodyPr wrap="square" rtlCol="0">
            <a:spAutoFit/>
          </a:bodyPr>
          <a:lstStyle/>
          <a:p>
            <a:r>
              <a:rPr lang="zh-CN" altLang="en-US" smtClean="0"/>
              <a:t>后序遍历：</a:t>
            </a:r>
            <a:r>
              <a:rPr lang="en-US" altLang="zh-CN" smtClean="0"/>
              <a:t>9</a:t>
            </a:r>
            <a:r>
              <a:rPr lang="zh-CN" altLang="en-US" smtClean="0"/>
              <a:t>，</a:t>
            </a:r>
            <a:r>
              <a:rPr lang="en-US" altLang="zh-CN" smtClean="0"/>
              <a:t>15</a:t>
            </a:r>
            <a:r>
              <a:rPr lang="zh-CN" altLang="en-US" smtClean="0"/>
              <a:t>，</a:t>
            </a:r>
            <a:r>
              <a:rPr lang="en-US" altLang="zh-CN" smtClean="0"/>
              <a:t>3</a:t>
            </a:r>
            <a:r>
              <a:rPr lang="zh-CN" altLang="en-US" smtClean="0"/>
              <a:t>，</a:t>
            </a:r>
            <a:r>
              <a:rPr lang="en-US" altLang="zh-CN" smtClean="0"/>
              <a:t>20</a:t>
            </a:r>
            <a:r>
              <a:rPr lang="zh-CN" altLang="en-US" smtClean="0"/>
              <a:t>，</a:t>
            </a:r>
            <a:r>
              <a:rPr lang="en-US" altLang="zh-CN" smtClean="0"/>
              <a:t>2</a:t>
            </a:r>
            <a:endParaRPr lang="zh-CN" altLang="en-US"/>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深度优先搜索（如何遍历</a:t>
            </a:r>
            <a:r>
              <a:rPr lang="zh-CN" altLang="en-US" sz="2400" b="1" kern="0" dirty="0">
                <a:uFillTx/>
                <a:latin typeface="Times New Roman" panose="02020603050405020304" pitchFamily="18" charset="0"/>
                <a:cs typeface="Times New Roman" panose="02020603050405020304" pitchFamily="18" charset="0"/>
                <a:sym typeface="+mn-ea"/>
              </a:rPr>
              <a:t>树？）</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1000"/>
                                        <p:tgtEl>
                                          <p:spTgt spid="19"/>
                                        </p:tgtEl>
                                      </p:cBhvr>
                                    </p:animEffect>
                                    <p:anim calcmode="lin" valueType="num">
                                      <p:cBhvr>
                                        <p:cTn id="15" dur="1000" fill="hold"/>
                                        <p:tgtEl>
                                          <p:spTgt spid="19"/>
                                        </p:tgtEl>
                                        <p:attrNameLst>
                                          <p:attrName>ppt_x</p:attrName>
                                        </p:attrNameLst>
                                      </p:cBhvr>
                                      <p:tavLst>
                                        <p:tav tm="0">
                                          <p:val>
                                            <p:strVal val="#ppt_x"/>
                                          </p:val>
                                        </p:tav>
                                        <p:tav tm="100000">
                                          <p:val>
                                            <p:strVal val="#ppt_x"/>
                                          </p:val>
                                        </p:tav>
                                      </p:tavLst>
                                    </p:anim>
                                    <p:anim calcmode="lin" valueType="num">
                                      <p:cBhvr>
                                        <p:cTn id="16" dur="10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anim calcmode="lin" valueType="num">
                                      <p:cBhvr>
                                        <p:cTn id="22" dur="1000" fill="hold"/>
                                        <p:tgtEl>
                                          <p:spTgt spid="20"/>
                                        </p:tgtEl>
                                        <p:attrNameLst>
                                          <p:attrName>ppt_x</p:attrName>
                                        </p:attrNameLst>
                                      </p:cBhvr>
                                      <p:tavLst>
                                        <p:tav tm="0">
                                          <p:val>
                                            <p:strVal val="#ppt_x"/>
                                          </p:val>
                                        </p:tav>
                                        <p:tav tm="100000">
                                          <p:val>
                                            <p:strVal val="#ppt_x"/>
                                          </p:val>
                                        </p:tav>
                                      </p:tavLst>
                                    </p:anim>
                                    <p:anim calcmode="lin" valueType="num">
                                      <p:cBhvr>
                                        <p:cTn id="23"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4</a:t>
            </a:r>
            <a:endParaRPr lang="zh-CN" altLang="en-US">
              <a:solidFill>
                <a:schemeClr val="bg2">
                  <a:lumMod val="25000"/>
                  <a:lumOff val="75000"/>
                </a:schemeClr>
              </a:solidFill>
            </a:endParaRPr>
          </a:p>
        </p:txBody>
      </p:sp>
      <p:pic>
        <p:nvPicPr>
          <p:cNvPr id="2" name="图片 1"/>
          <p:cNvPicPr>
            <a:picLocks noChangeAspect="1"/>
          </p:cNvPicPr>
          <p:nvPr/>
        </p:nvPicPr>
        <p:blipFill>
          <a:blip r:embed="rId1"/>
          <a:stretch>
            <a:fillRect/>
          </a:stretch>
        </p:blipFill>
        <p:spPr>
          <a:xfrm>
            <a:off x="899592" y="2708920"/>
            <a:ext cx="3311823" cy="2113807"/>
          </a:xfrm>
          <a:prstGeom prst="rect">
            <a:avLst/>
          </a:prstGeom>
        </p:spPr>
      </p:pic>
      <p:sp>
        <p:nvSpPr>
          <p:cNvPr id="3" name="文本框 2"/>
          <p:cNvSpPr txBox="1"/>
          <p:nvPr/>
        </p:nvSpPr>
        <p:spPr>
          <a:xfrm>
            <a:off x="1115695" y="2132965"/>
            <a:ext cx="2765425" cy="689610"/>
          </a:xfrm>
          <a:prstGeom prst="rect">
            <a:avLst/>
          </a:prstGeom>
          <a:noFill/>
        </p:spPr>
        <p:txBody>
          <a:bodyPr wrap="square" rtlCol="0">
            <a:noAutofit/>
          </a:bodyPr>
          <a:lstStyle/>
          <a:p>
            <a:r>
              <a:rPr lang="zh-CN" altLang="en-US" b="1" smtClean="0"/>
              <a:t>遍历二叉树程序设计？</a:t>
            </a:r>
            <a:endParaRPr lang="zh-CN" altLang="en-US" b="1"/>
          </a:p>
        </p:txBody>
      </p:sp>
      <p:sp>
        <p:nvSpPr>
          <p:cNvPr id="18" name="文本框 17"/>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前序遍历：</a:t>
            </a:r>
            <a:endParaRPr lang="en-US" altLang="zh-CN" b="1" smtClean="0"/>
          </a:p>
          <a:p>
            <a:r>
              <a:rPr lang="en-US" altLang="zh-CN" b="1">
                <a:latin typeface="Times New Roman" panose="02020603050405020304" pitchFamily="18" charset="0"/>
                <a:cs typeface="Times New Roman" panose="02020603050405020304" pitchFamily="18" charset="0"/>
              </a:rPr>
              <a:t> 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else: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print(root.val)</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dfs(root.left)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dfs(root.right)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1" name="文本框 10"/>
          <p:cNvSpPr txBox="1"/>
          <p:nvPr/>
        </p:nvSpPr>
        <p:spPr>
          <a:xfrm>
            <a:off x="4772484" y="2779187"/>
            <a:ext cx="3528392" cy="2585323"/>
          </a:xfrm>
          <a:prstGeom prst="rect">
            <a:avLst/>
          </a:prstGeom>
          <a:solidFill>
            <a:schemeClr val="accent1">
              <a:lumMod val="60000"/>
              <a:lumOff val="40000"/>
            </a:schemeClr>
          </a:solidFill>
        </p:spPr>
        <p:txBody>
          <a:bodyPr wrap="square" rtlCol="0">
            <a:spAutoFit/>
          </a:bodyPr>
          <a:lstStyle/>
          <a:p>
            <a:r>
              <a:rPr lang="zh-CN" altLang="en-US" b="1" smtClean="0"/>
              <a:t>中序遍历：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dfs(root.right</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14" name="文本框 13"/>
          <p:cNvSpPr txBox="1"/>
          <p:nvPr/>
        </p:nvSpPr>
        <p:spPr>
          <a:xfrm>
            <a:off x="4787479" y="2779187"/>
            <a:ext cx="3513397" cy="2585323"/>
          </a:xfrm>
          <a:prstGeom prst="rect">
            <a:avLst/>
          </a:prstGeom>
          <a:solidFill>
            <a:schemeClr val="accent1">
              <a:lumMod val="60000"/>
              <a:lumOff val="40000"/>
            </a:schemeClr>
          </a:solidFill>
        </p:spPr>
        <p:txBody>
          <a:bodyPr wrap="square" rtlCol="0">
            <a:spAutoFit/>
          </a:bodyPr>
          <a:lstStyle/>
          <a:p>
            <a:r>
              <a:rPr lang="zh-CN" altLang="en-US" b="1" smtClean="0"/>
              <a:t>后序遍历：</a:t>
            </a:r>
            <a:endParaRPr lang="en-US" altLang="zh-CN" b="1" smtClean="0"/>
          </a:p>
          <a:p>
            <a:r>
              <a:rPr lang="en-US" altLang="zh-CN" b="1" smtClean="0">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if root == None:</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return</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a:latin typeface="Times New Roman" panose="02020603050405020304" pitchFamily="18" charset="0"/>
                <a:cs typeface="Times New Roman" panose="02020603050405020304" pitchFamily="18" charset="0"/>
              </a:rPr>
              <a:t>else</a:t>
            </a:r>
            <a:r>
              <a:rPr lang="en-US" altLang="zh-CN" b="1" smtClean="0">
                <a:latin typeface="Times New Roman" panose="02020603050405020304" pitchFamily="18" charset="0"/>
                <a:cs typeface="Times New Roman" panose="02020603050405020304" pitchFamily="18" charset="0"/>
              </a:rPr>
              <a: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dfs(root.left)</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dfs(root.right)</a:t>
            </a:r>
            <a:endParaRPr lang="en-US" altLang="zh-CN" b="1" smtClean="0">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en-US" altLang="zh-CN" b="1" smtClean="0">
                <a:latin typeface="Times New Roman" panose="02020603050405020304" pitchFamily="18" charset="0"/>
                <a:cs typeface="Times New Roman" panose="02020603050405020304" pitchFamily="18" charset="0"/>
              </a:rPr>
              <a:t>           print(root.val</a:t>
            </a:r>
            <a:r>
              <a:rPr lang="en-US" altLang="zh-CN" b="1">
                <a:latin typeface="Times New Roman" panose="02020603050405020304" pitchFamily="18" charset="0"/>
                <a:cs typeface="Times New Roman" panose="02020603050405020304" pitchFamily="18" charset="0"/>
              </a:rPr>
              <a:t>)</a:t>
            </a:r>
            <a:endParaRPr lang="en-US" altLang="zh-CN" b="1">
              <a:latin typeface="Times New Roman" panose="02020603050405020304" pitchFamily="18" charset="0"/>
              <a:cs typeface="Times New Roman" panose="02020603050405020304" pitchFamily="18" charset="0"/>
            </a:endParaRPr>
          </a:p>
          <a:p>
            <a:endParaRPr lang="zh-CN" altLang="en-US" b="1" smtClean="0"/>
          </a:p>
          <a:p>
            <a:endParaRPr lang="zh-CN" altLang="en-US" b="1"/>
          </a:p>
        </p:txBody>
      </p:sp>
      <p:sp>
        <p:nvSpPr>
          <p:cNvPr id="4" name="Rectangle 2"/>
          <p:cNvSpPr txBox="1">
            <a:spLocks noChangeArrowheads="1"/>
          </p:cNvSpPr>
          <p:nvPr/>
        </p:nvSpPr>
        <p:spPr bwMode="auto">
          <a:xfrm>
            <a:off x="467360" y="981075"/>
            <a:ext cx="394335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smtClean="0">
                <a:solidFill>
                  <a:srgbClr val="FF0000"/>
                </a:solidFill>
                <a:uFillTx/>
                <a:latin typeface="宋体" panose="02010600030101010101" pitchFamily="2" charset="-122"/>
                <a:ea typeface="宋体" panose="02010600030101010101" pitchFamily="2" charset="-122"/>
              </a:rPr>
              <a:t>回顾二叉树的前、中、后序遍历</a:t>
            </a:r>
            <a:endParaRPr lang="zh-CN" altLang="en-US" sz="2000" kern="0" dirty="0" smtClean="0">
              <a:solidFill>
                <a:srgbClr val="FF0000"/>
              </a:solidFill>
              <a:uFillTx/>
              <a:latin typeface="宋体" panose="02010600030101010101" pitchFamily="2" charset="-122"/>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anim calcmode="lin" valueType="num">
                                      <p:cBhvr>
                                        <p:cTn id="8" dur="1000" fill="hold"/>
                                        <p:tgtEl>
                                          <p:spTgt spid="18"/>
                                        </p:tgtEl>
                                        <p:attrNameLst>
                                          <p:attrName>ppt_x</p:attrName>
                                        </p:attrNameLst>
                                      </p:cBhvr>
                                      <p:tavLst>
                                        <p:tav tm="0">
                                          <p:val>
                                            <p:strVal val="#ppt_x"/>
                                          </p:val>
                                        </p:tav>
                                        <p:tav tm="100000">
                                          <p:val>
                                            <p:strVal val="#ppt_x"/>
                                          </p:val>
                                        </p:tav>
                                      </p:tavLst>
                                    </p:anim>
                                    <p:anim calcmode="lin" valueType="num">
                                      <p:cBhvr>
                                        <p:cTn id="9"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1000"/>
                                        <p:tgtEl>
                                          <p:spTgt spid="11"/>
                                        </p:tgtEl>
                                      </p:cBhvr>
                                    </p:animEffect>
                                    <p:anim calcmode="lin" valueType="num">
                                      <p:cBhvr>
                                        <p:cTn id="15" dur="1000" fill="hold"/>
                                        <p:tgtEl>
                                          <p:spTgt spid="11"/>
                                        </p:tgtEl>
                                        <p:attrNameLst>
                                          <p:attrName>ppt_x</p:attrName>
                                        </p:attrNameLst>
                                      </p:cBhvr>
                                      <p:tavLst>
                                        <p:tav tm="0">
                                          <p:val>
                                            <p:strVal val="#ppt_x"/>
                                          </p:val>
                                        </p:tav>
                                        <p:tav tm="100000">
                                          <p:val>
                                            <p:strVal val="#ppt_x"/>
                                          </p:val>
                                        </p:tav>
                                      </p:tavLst>
                                    </p:anim>
                                    <p:anim calcmode="lin" valueType="num">
                                      <p:cBhvr>
                                        <p:cTn id="1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1000"/>
                                        <p:tgtEl>
                                          <p:spTgt spid="14"/>
                                        </p:tgtEl>
                                      </p:cBhvr>
                                    </p:animEffect>
                                    <p:anim calcmode="lin" valueType="num">
                                      <p:cBhvr>
                                        <p:cTn id="22" dur="1000" fill="hold"/>
                                        <p:tgtEl>
                                          <p:spTgt spid="14"/>
                                        </p:tgtEl>
                                        <p:attrNameLst>
                                          <p:attrName>ppt_x</p:attrName>
                                        </p:attrNameLst>
                                      </p:cBhvr>
                                      <p:tavLst>
                                        <p:tav tm="0">
                                          <p:val>
                                            <p:strVal val="#ppt_x"/>
                                          </p:val>
                                        </p:tav>
                                        <p:tav tm="100000">
                                          <p:val>
                                            <p:strVal val="#ppt_x"/>
                                          </p:val>
                                        </p:tav>
                                      </p:tavLst>
                                    </p:anim>
                                    <p:anim calcmode="lin" valueType="num">
                                      <p:cBhvr>
                                        <p:cTn id="23"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1"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5</a:t>
            </a:r>
            <a:endParaRPr lang="zh-CN" altLang="en-US">
              <a:solidFill>
                <a:schemeClr val="bg2">
                  <a:lumMod val="25000"/>
                  <a:lumOff val="75000"/>
                </a:schemeClr>
              </a:solidFill>
            </a:endParaRPr>
          </a:p>
        </p:txBody>
      </p:sp>
      <p:sp>
        <p:nvSpPr>
          <p:cNvPr id="44" name="文本框 43"/>
          <p:cNvSpPr txBox="1"/>
          <p:nvPr/>
        </p:nvSpPr>
        <p:spPr>
          <a:xfrm>
            <a:off x="466725" y="5862955"/>
            <a:ext cx="8443595" cy="731520"/>
          </a:xfrm>
          <a:prstGeom prst="rect">
            <a:avLst/>
          </a:prstGeom>
          <a:noFill/>
        </p:spPr>
        <p:txBody>
          <a:bodyPr>
            <a:noAutofit/>
          </a:bodyPr>
          <a:lstStyle/>
          <a:p>
            <a:pPr>
              <a:defRPr/>
            </a:pPr>
            <a:r>
              <a:rPr lang="zh-CN" altLang="en-US">
                <a:solidFill>
                  <a:schemeClr val="tx2"/>
                </a:solidFill>
                <a:uFillTx/>
                <a:latin typeface="Times New Roman" panose="02020603050405020304" pitchFamily="18" charset="0"/>
              </a:rPr>
              <a:t>如何用计算机的方式实现图的遍历</a:t>
            </a:r>
            <a:r>
              <a:rPr lang="en-US" altLang="zh-CN" dirty="0">
                <a:solidFill>
                  <a:schemeClr val="tx2"/>
                </a:solidFill>
                <a:uFillTx/>
                <a:latin typeface="Times New Roman" panose="02020603050405020304" pitchFamily="18" charset="0"/>
              </a:rPr>
              <a:t>?</a:t>
            </a:r>
            <a:r>
              <a:rPr lang="zh-CN" altLang="en-US" dirty="0">
                <a:solidFill>
                  <a:schemeClr val="tx2"/>
                </a:solidFill>
                <a:uFillTx/>
                <a:latin typeface="Times New Roman" panose="02020603050405020304" pitchFamily="18" charset="0"/>
              </a:rPr>
              <a:t>如何遇到没有路径的地方回溯到上一个</a:t>
            </a:r>
            <a:r>
              <a:rPr lang="zh-CN" altLang="en-US" dirty="0">
                <a:solidFill>
                  <a:schemeClr val="tx2"/>
                </a:solidFill>
                <a:uFillTx/>
                <a:latin typeface="Times New Roman" panose="02020603050405020304" pitchFamily="18" charset="0"/>
              </a:rPr>
              <a:t>节点？</a:t>
            </a:r>
            <a:endParaRPr lang="zh-CN" altLang="en-US" dirty="0">
              <a:solidFill>
                <a:schemeClr val="tx2"/>
              </a:solidFill>
              <a:uFillTx/>
              <a:latin typeface="Times New Roman" panose="02020603050405020304" pitchFamily="18" charset="0"/>
            </a:endParaRPr>
          </a:p>
        </p:txBody>
      </p:sp>
      <p:sp>
        <p:nvSpPr>
          <p:cNvPr id="45" name="文本框 44"/>
          <p:cNvSpPr txBox="1"/>
          <p:nvPr/>
        </p:nvSpPr>
        <p:spPr>
          <a:xfrm>
            <a:off x="539750" y="1484313"/>
            <a:ext cx="8226425" cy="645160"/>
          </a:xfrm>
          <a:prstGeom prst="rect">
            <a:avLst/>
          </a:prstGeom>
          <a:noFill/>
        </p:spPr>
        <p:txBody>
          <a:bodyPr>
            <a:spAutoFit/>
          </a:bodyPr>
          <a:lstStyle/>
          <a:p>
            <a:pPr>
              <a:defRPr/>
            </a:pPr>
            <a:r>
              <a:rPr lang="zh-CN" altLang="en-US" b="1">
                <a:solidFill>
                  <a:schemeClr val="tx1"/>
                </a:solidFill>
                <a:latin typeface="宋体" panose="02010600030101010101" pitchFamily="2" charset="-122"/>
                <a:cs typeface="宋体" panose="02010600030101010101" pitchFamily="2" charset="-122"/>
              </a:rPr>
              <a:t>方法</a:t>
            </a:r>
            <a:r>
              <a:rPr lang="en-US" altLang="zh-CN" b="1" dirty="0">
                <a:solidFill>
                  <a:schemeClr val="tx1"/>
                </a:solidFill>
                <a:latin typeface="宋体" panose="02010600030101010101" pitchFamily="2" charset="-122"/>
                <a:cs typeface="宋体" panose="02010600030101010101" pitchFamily="2" charset="-122"/>
              </a:rPr>
              <a:t>:</a:t>
            </a:r>
            <a:r>
              <a:rPr lang="zh-CN" altLang="en-US" b="1">
                <a:solidFill>
                  <a:schemeClr val="tx1"/>
                </a:solidFill>
                <a:latin typeface="宋体" panose="02010600030101010101" pitchFamily="2" charset="-122"/>
                <a:cs typeface="宋体" panose="02010600030101010101" pitchFamily="2" charset="-122"/>
              </a:rPr>
              <a:t>找出刚访问过的顶点的第一个未被访问的邻接点， 访问该顶点。 以该顶点为新顶点，重复此步骤， 直至刚访问过的顶点没有未被访问的邻接点为止。</a:t>
            </a:r>
            <a:endParaRPr lang="zh-CN" altLang="en-US" b="1">
              <a:solidFill>
                <a:schemeClr val="tx1"/>
              </a:solidFill>
              <a:latin typeface="宋体" panose="02010600030101010101" pitchFamily="2" charset="-122"/>
              <a:cs typeface="宋体" panose="02010600030101010101" pitchFamily="2" charset="-122"/>
            </a:endParaRPr>
          </a:p>
        </p:txBody>
      </p:sp>
      <p:sp>
        <p:nvSpPr>
          <p:cNvPr id="47" name="文本框 46"/>
          <p:cNvSpPr txBox="1"/>
          <p:nvPr/>
        </p:nvSpPr>
        <p:spPr>
          <a:xfrm>
            <a:off x="763588" y="2697163"/>
            <a:ext cx="9302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例如：</a:t>
            </a:r>
            <a:endParaRPr lang="zh-CN" altLang="en-US">
              <a:solidFill>
                <a:schemeClr val="tx1"/>
              </a:solidFill>
              <a:uFillTx/>
              <a:latin typeface="Times New Roman" panose="02020603050405020304" pitchFamily="18" charset="0"/>
            </a:endParaRPr>
          </a:p>
        </p:txBody>
      </p:sp>
      <p:sp>
        <p:nvSpPr>
          <p:cNvPr id="48" name="文本框 47"/>
          <p:cNvSpPr txBox="1"/>
          <p:nvPr/>
        </p:nvSpPr>
        <p:spPr>
          <a:xfrm>
            <a:off x="5054600" y="268763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深度优先遍历：</a:t>
            </a:r>
            <a:endParaRPr lang="zh-CN" altLang="en-US">
              <a:solidFill>
                <a:schemeClr val="tx1"/>
              </a:solidFill>
              <a:uFillTx/>
              <a:latin typeface="Times New Roman" panose="02020603050405020304" pitchFamily="18" charset="0"/>
            </a:endParaRPr>
          </a:p>
        </p:txBody>
      </p:sp>
      <p:pic>
        <p:nvPicPr>
          <p:cNvPr id="12296"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55650" y="3227388"/>
            <a:ext cx="3624263" cy="2320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97" name="文本框 2"/>
          <p:cNvSpPr txBox="1">
            <a:spLocks noChangeArrowheads="1"/>
          </p:cNvSpPr>
          <p:nvPr/>
        </p:nvSpPr>
        <p:spPr bwMode="auto">
          <a:xfrm>
            <a:off x="5054600" y="3935413"/>
            <a:ext cx="326231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spcBef>
                <a:spcPct val="0"/>
              </a:spcBef>
              <a:buClrTx/>
              <a:buSzTx/>
              <a:buFontTx/>
              <a:buNone/>
            </a:pPr>
            <a:r>
              <a:rPr lang="en-US" altLang="zh-CN" sz="2400">
                <a:solidFill>
                  <a:schemeClr val="tx1"/>
                </a:solidFill>
                <a:ea typeface="宋体" panose="02010600030101010101" pitchFamily="2" charset="-122"/>
              </a:rPr>
              <a:t>A B E G F C H  D   </a:t>
            </a:r>
            <a:endParaRPr lang="zh-CN" altLang="en-US" sz="2400">
              <a:solidFill>
                <a:schemeClr val="tx1"/>
              </a:solidFill>
              <a:ea typeface="宋体" panose="02010600030101010101" pitchFamily="2" charset="-122"/>
            </a:endParaRPr>
          </a:p>
        </p:txBody>
      </p:sp>
      <p:sp>
        <p:nvSpPr>
          <p:cNvPr id="12298" name="矩形 20"/>
          <p:cNvSpPr>
            <a:spLocks noChangeArrowheads="1"/>
          </p:cNvSpPr>
          <p:nvPr/>
        </p:nvSpPr>
        <p:spPr bwMode="auto">
          <a:xfrm>
            <a:off x="5084763" y="3852863"/>
            <a:ext cx="1216025" cy="542925"/>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299" name="矩形 21"/>
          <p:cNvSpPr>
            <a:spLocks noChangeArrowheads="1"/>
          </p:cNvSpPr>
          <p:nvPr/>
        </p:nvSpPr>
        <p:spPr bwMode="auto">
          <a:xfrm>
            <a:off x="6300788" y="3848100"/>
            <a:ext cx="908050" cy="547688"/>
          </a:xfrm>
          <a:prstGeom prst="rect">
            <a:avLst/>
          </a:prstGeom>
          <a:noFill/>
          <a:ln w="38100" algn="ctr">
            <a:solidFill>
              <a:schemeClr val="tx2"/>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2300" name="矩形 22"/>
          <p:cNvSpPr>
            <a:spLocks noChangeArrowheads="1"/>
          </p:cNvSpPr>
          <p:nvPr/>
        </p:nvSpPr>
        <p:spPr bwMode="auto">
          <a:xfrm>
            <a:off x="7208838" y="3868738"/>
            <a:ext cx="458787" cy="527050"/>
          </a:xfrm>
          <a:prstGeom prst="rect">
            <a:avLst/>
          </a:prstGeom>
          <a:noFill/>
          <a:ln w="38100" algn="ctr">
            <a:solidFill>
              <a:schemeClr val="accent1"/>
            </a:solidFill>
            <a:prstDash val="sysDash"/>
            <a:round/>
          </a:ln>
          <a:extLst>
            <a:ext uri="{909E8E84-426E-40DD-AFC4-6F175D3DCCD1}">
              <a14:hiddenFill xmlns:a14="http://schemas.microsoft.com/office/drawing/2010/main">
                <a:solidFill>
                  <a:srgbClr val="FFFFFF"/>
                </a:solidFill>
              </a14:hiddenFill>
            </a:ext>
          </a:extLst>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4" name="文本框 3"/>
          <p:cNvSpPr txBox="1"/>
          <p:nvPr/>
        </p:nvSpPr>
        <p:spPr>
          <a:xfrm>
            <a:off x="251460" y="83693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6.1.2</a:t>
            </a:r>
            <a:r>
              <a:rPr lang="zh-CN" altLang="en-US" sz="2400" b="1" kern="0" dirty="0">
                <a:uFillTx/>
                <a:latin typeface="Times New Roman" panose="02020603050405020304" pitchFamily="18" charset="0"/>
                <a:cs typeface="Times New Roman" panose="02020603050405020304" pitchFamily="18" charset="0"/>
                <a:sym typeface="+mn-ea"/>
              </a:rPr>
              <a:t>深度优先搜索（回溯</a:t>
            </a:r>
            <a:r>
              <a:rPr lang="zh-CN" altLang="en-US" sz="2400" b="1" kern="0" dirty="0">
                <a:uFillTx/>
                <a:latin typeface="Times New Roman" panose="02020603050405020304" pitchFamily="18" charset="0"/>
                <a:cs typeface="Times New Roman" panose="02020603050405020304" pitchFamily="18" charset="0"/>
                <a:sym typeface="+mn-ea"/>
              </a:rPr>
              <a:t>实现）</a:t>
            </a:r>
            <a:endParaRPr lang="en-US" altLang="zh-CN"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6</a:t>
            </a:r>
            <a:endParaRPr lang="zh-CN" altLang="en-US">
              <a:solidFill>
                <a:schemeClr val="bg2">
                  <a:lumMod val="25000"/>
                  <a:lumOff val="75000"/>
                </a:schemeClr>
              </a:solidFill>
            </a:endParaRPr>
          </a:p>
        </p:txBody>
      </p:sp>
      <p:pic>
        <p:nvPicPr>
          <p:cNvPr id="14340"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827405" y="2016125"/>
            <a:ext cx="3960813" cy="2636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文本框 13"/>
          <p:cNvSpPr txBox="1"/>
          <p:nvPr/>
        </p:nvSpPr>
        <p:spPr>
          <a:xfrm>
            <a:off x="827405" y="4752975"/>
            <a:ext cx="2519363" cy="368300"/>
          </a:xfrm>
          <a:prstGeom prst="rect">
            <a:avLst/>
          </a:prstGeom>
          <a:noFill/>
        </p:spPr>
        <p:txBody>
          <a:bodyPr>
            <a:spAutoFit/>
          </a:bodyPr>
          <a:lstStyle/>
          <a:p>
            <a:pPr>
              <a:defRPr/>
            </a:pPr>
            <a:r>
              <a:rPr lang="zh-CN" altLang="en-US">
                <a:solidFill>
                  <a:srgbClr val="000066"/>
                </a:solidFill>
                <a:uFillTx/>
                <a:latin typeface="Times New Roman" panose="02020603050405020304" pitchFamily="18" charset="0"/>
              </a:rPr>
              <a:t>记录访问结果：</a:t>
            </a:r>
            <a:r>
              <a:rPr lang="en-US" altLang="zh-CN">
                <a:solidFill>
                  <a:srgbClr val="000066"/>
                </a:solidFill>
                <a:uFillTx/>
                <a:latin typeface="Times New Roman" panose="02020603050405020304" pitchFamily="18" charset="0"/>
              </a:rPr>
              <a:t>A </a:t>
            </a:r>
            <a:endParaRPr lang="en-US" altLang="zh-CN">
              <a:solidFill>
                <a:srgbClr val="000066"/>
              </a:solidFill>
              <a:uFillTx/>
              <a:latin typeface="Times New Roman" panose="02020603050405020304" pitchFamily="18" charset="0"/>
            </a:endParaRPr>
          </a:p>
        </p:txBody>
      </p:sp>
      <p:pic>
        <p:nvPicPr>
          <p:cNvPr id="14342"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443980" y="1916113"/>
            <a:ext cx="1257300" cy="2838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343" name="右箭头 9"/>
          <p:cNvSpPr>
            <a:spLocks noChangeArrowheads="1"/>
          </p:cNvSpPr>
          <p:nvPr/>
        </p:nvSpPr>
        <p:spPr bwMode="auto">
          <a:xfrm>
            <a:off x="5102543" y="31908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123180" y="2828925"/>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A</a:t>
            </a:r>
            <a:endParaRPr lang="en-US" altLang="zh-CN">
              <a:solidFill>
                <a:schemeClr val="tx2"/>
              </a:solidFill>
              <a:uFillTx/>
              <a:latin typeface="Times New Roman" panose="02020603050405020304" pitchFamily="18" charset="0"/>
            </a:endParaRPr>
          </a:p>
        </p:txBody>
      </p:sp>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7</a:t>
            </a:r>
            <a:endParaRPr lang="zh-CN" altLang="en-US">
              <a:solidFill>
                <a:schemeClr val="bg2">
                  <a:lumMod val="25000"/>
                  <a:lumOff val="75000"/>
                </a:schemeClr>
              </a:solidFill>
            </a:endParaRPr>
          </a:p>
        </p:txBody>
      </p:sp>
      <p:sp>
        <p:nvSpPr>
          <p:cNvPr id="14" name="文本框 13"/>
          <p:cNvSpPr txBox="1"/>
          <p:nvPr/>
        </p:nvSpPr>
        <p:spPr>
          <a:xfrm>
            <a:off x="1147445" y="4685030"/>
            <a:ext cx="237648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记录访问结果：</a:t>
            </a:r>
            <a:r>
              <a:rPr lang="en-US" altLang="zh-CN">
                <a:solidFill>
                  <a:schemeClr val="tx1"/>
                </a:solidFill>
                <a:uFillTx/>
                <a:latin typeface="Times New Roman" panose="02020603050405020304" pitchFamily="18" charset="0"/>
              </a:rPr>
              <a:t>A B </a:t>
            </a:r>
            <a:endParaRPr lang="en-US" altLang="zh-CN">
              <a:solidFill>
                <a:schemeClr val="tx1"/>
              </a:solidFill>
              <a:uFillTx/>
              <a:latin typeface="Times New Roman" panose="02020603050405020304" pitchFamily="18" charset="0"/>
            </a:endParaRPr>
          </a:p>
        </p:txBody>
      </p:sp>
      <p:sp>
        <p:nvSpPr>
          <p:cNvPr id="16389" name="右箭头 9"/>
          <p:cNvSpPr>
            <a:spLocks noChangeArrowheads="1"/>
          </p:cNvSpPr>
          <p:nvPr/>
        </p:nvSpPr>
        <p:spPr bwMode="auto">
          <a:xfrm>
            <a:off x="5206683" y="33070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5227320" y="2945130"/>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B</a:t>
            </a:r>
            <a:endParaRPr lang="en-US" altLang="zh-CN">
              <a:solidFill>
                <a:schemeClr val="tx2"/>
              </a:solidFill>
              <a:uFillTx/>
              <a:latin typeface="Times New Roman" panose="02020603050405020304" pitchFamily="18" charset="0"/>
            </a:endParaRPr>
          </a:p>
        </p:txBody>
      </p:sp>
      <p:pic>
        <p:nvPicPr>
          <p:cNvPr id="16391"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06120" y="1957705"/>
            <a:ext cx="4076700" cy="2628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392" name="图片 2"/>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71908" y="2132330"/>
            <a:ext cx="1447800"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10521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8</a:t>
            </a:r>
            <a:endParaRPr lang="zh-CN" altLang="en-US">
              <a:solidFill>
                <a:schemeClr val="bg2">
                  <a:lumMod val="25000"/>
                  <a:lumOff val="75000"/>
                </a:schemeClr>
              </a:solidFill>
            </a:endParaRPr>
          </a:p>
        </p:txBody>
      </p:sp>
      <p:sp>
        <p:nvSpPr>
          <p:cNvPr id="41" name="Rectangle 2"/>
          <p:cNvSpPr txBox="1">
            <a:spLocks noChangeArrowheads="1"/>
          </p:cNvSpPr>
          <p:nvPr/>
        </p:nvSpPr>
        <p:spPr bwMode="auto">
          <a:xfrm>
            <a:off x="323215" y="145097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14" name="文本框 13"/>
          <p:cNvSpPr txBox="1"/>
          <p:nvPr/>
        </p:nvSpPr>
        <p:spPr>
          <a:xfrm>
            <a:off x="755650" y="5513388"/>
            <a:ext cx="280828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记录访问结果：</a:t>
            </a:r>
            <a:r>
              <a:rPr lang="en-US" altLang="zh-CN">
                <a:solidFill>
                  <a:schemeClr val="tx2"/>
                </a:solidFill>
                <a:uFillTx/>
                <a:latin typeface="Times New Roman" panose="02020603050405020304" pitchFamily="18" charset="0"/>
              </a:rPr>
              <a:t>A B E </a:t>
            </a:r>
            <a:endParaRPr lang="en-US" altLang="zh-CN">
              <a:solidFill>
                <a:schemeClr val="tx2"/>
              </a:solidFill>
              <a:uFillTx/>
              <a:latin typeface="Times New Roman" panose="02020603050405020304" pitchFamily="18" charset="0"/>
            </a:endParaRPr>
          </a:p>
        </p:txBody>
      </p:sp>
      <p:sp>
        <p:nvSpPr>
          <p:cNvPr id="18437" name="右箭头 9"/>
          <p:cNvSpPr>
            <a:spLocks noChangeArrowheads="1"/>
          </p:cNvSpPr>
          <p:nvPr/>
        </p:nvSpPr>
        <p:spPr bwMode="auto">
          <a:xfrm>
            <a:off x="4597400" y="41052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597400" y="3770313"/>
            <a:ext cx="2154238"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E</a:t>
            </a:r>
            <a:endParaRPr lang="en-US" altLang="zh-CN">
              <a:solidFill>
                <a:schemeClr val="tx2"/>
              </a:solidFill>
              <a:uFillTx/>
              <a:latin typeface="Times New Roman" panose="02020603050405020304" pitchFamily="18" charset="0"/>
            </a:endParaRPr>
          </a:p>
        </p:txBody>
      </p:sp>
      <p:pic>
        <p:nvPicPr>
          <p:cNvPr id="18439"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377825" y="2960688"/>
            <a:ext cx="3954463"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44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132513" y="2673350"/>
            <a:ext cx="1533525"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09825"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9</a:t>
            </a:r>
            <a:endParaRPr lang="zh-CN" altLang="en-US">
              <a:solidFill>
                <a:schemeClr val="bg2">
                  <a:lumMod val="25000"/>
                  <a:lumOff val="75000"/>
                </a:schemeClr>
              </a:solidFill>
            </a:endParaRPr>
          </a:p>
        </p:txBody>
      </p:sp>
      <p:sp>
        <p:nvSpPr>
          <p:cNvPr id="14" name="文本框 13"/>
          <p:cNvSpPr txBox="1"/>
          <p:nvPr/>
        </p:nvSpPr>
        <p:spPr>
          <a:xfrm>
            <a:off x="1547178" y="4640580"/>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0485" name="右箭头 9"/>
          <p:cNvSpPr>
            <a:spLocks noChangeArrowheads="1"/>
          </p:cNvSpPr>
          <p:nvPr/>
        </p:nvSpPr>
        <p:spPr bwMode="auto">
          <a:xfrm>
            <a:off x="4885690" y="326898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885690" y="2934018"/>
            <a:ext cx="2154238"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cs typeface="Times New Roman" panose="02020603050405020304" pitchFamily="18" charset="0"/>
              </a:rPr>
              <a:t>入栈</a:t>
            </a:r>
            <a:r>
              <a:rPr lang="en-US" altLang="zh-CN">
                <a:solidFill>
                  <a:schemeClr val="tx1"/>
                </a:solidFill>
                <a:uFillTx/>
                <a:latin typeface="Times New Roman" panose="02020603050405020304" pitchFamily="18" charset="0"/>
                <a:cs typeface="Times New Roman" panose="02020603050405020304" pitchFamily="18" charset="0"/>
              </a:rPr>
              <a:t>G</a:t>
            </a:r>
            <a:endParaRPr lang="en-US" altLang="zh-CN">
              <a:solidFill>
                <a:schemeClr val="tx1"/>
              </a:solidFill>
              <a:uFillTx/>
              <a:latin typeface="Times New Roman" panose="02020603050405020304" pitchFamily="18" charset="0"/>
              <a:cs typeface="Times New Roman" panose="02020603050405020304" pitchFamily="18" charset="0"/>
            </a:endParaRPr>
          </a:p>
        </p:txBody>
      </p:sp>
      <p:pic>
        <p:nvPicPr>
          <p:cNvPr id="2048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91528" y="2087880"/>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488"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00153" y="191643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530"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77347" y="1891485"/>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10</a:t>
            </a:r>
            <a:endParaRPr lang="zh-CN" altLang="en-US">
              <a:solidFill>
                <a:schemeClr val="bg2">
                  <a:lumMod val="25000"/>
                  <a:lumOff val="75000"/>
                </a:schemeClr>
              </a:solidFill>
            </a:endParaRPr>
          </a:p>
        </p:txBody>
      </p:sp>
      <p:sp>
        <p:nvSpPr>
          <p:cNvPr id="14" name="文本框 13"/>
          <p:cNvSpPr txBox="1"/>
          <p:nvPr/>
        </p:nvSpPr>
        <p:spPr>
          <a:xfrm>
            <a:off x="1321118" y="4563745"/>
            <a:ext cx="2808287"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a:t>
            </a:r>
            <a:endParaRPr lang="en-US" altLang="zh-CN">
              <a:solidFill>
                <a:schemeClr val="tx2"/>
              </a:solidFill>
              <a:uFillTx/>
              <a:latin typeface="Times New Roman" panose="02020603050405020304" pitchFamily="18" charset="0"/>
            </a:endParaRPr>
          </a:p>
        </p:txBody>
      </p:sp>
      <p:sp>
        <p:nvSpPr>
          <p:cNvPr id="22534" name="右箭头 9"/>
          <p:cNvSpPr>
            <a:spLocks noChangeArrowheads="1"/>
          </p:cNvSpPr>
          <p:nvPr/>
        </p:nvSpPr>
        <p:spPr bwMode="auto">
          <a:xfrm>
            <a:off x="4461193" y="317309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353243" y="2803208"/>
            <a:ext cx="21526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将</a:t>
            </a:r>
            <a:r>
              <a:rPr lang="en-US" altLang="zh-CN">
                <a:solidFill>
                  <a:schemeClr val="tx2"/>
                </a:solidFill>
                <a:uFillTx/>
                <a:latin typeface="Times New Roman" panose="02020603050405020304" pitchFamily="18" charset="0"/>
              </a:rPr>
              <a:t>E</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G</a:t>
            </a:r>
            <a:r>
              <a:rPr lang="zh-CN" altLang="en-US">
                <a:solidFill>
                  <a:schemeClr val="tx2"/>
                </a:solidFill>
                <a:uFillTx/>
                <a:latin typeface="Times New Roman" panose="02020603050405020304" pitchFamily="18" charset="0"/>
              </a:rPr>
              <a:t>出栈</a:t>
            </a:r>
            <a:endParaRPr lang="zh-CN" altLang="en-US">
              <a:solidFill>
                <a:schemeClr val="tx2"/>
              </a:solidFill>
              <a:uFillTx/>
              <a:latin typeface="Times New Roman" panose="02020603050405020304" pitchFamily="18" charset="0"/>
            </a:endParaRPr>
          </a:p>
        </p:txBody>
      </p:sp>
      <p:pic>
        <p:nvPicPr>
          <p:cNvPr id="22536" name="图片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65468" y="2011045"/>
            <a:ext cx="3829050" cy="2552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2537" name="图片 4"/>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835909" y="1843860"/>
            <a:ext cx="1190625" cy="2771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文本框 8"/>
          <p:cNvSpPr txBox="1"/>
          <p:nvPr/>
        </p:nvSpPr>
        <p:spPr>
          <a:xfrm>
            <a:off x="6232784" y="1699397"/>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96447" y="1659710"/>
            <a:ext cx="793750" cy="369887"/>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11</a:t>
            </a:r>
            <a:endParaRPr lang="zh-CN" altLang="en-US">
              <a:solidFill>
                <a:schemeClr val="bg2">
                  <a:lumMod val="25000"/>
                  <a:lumOff val="75000"/>
                </a:schemeClr>
              </a:solidFill>
            </a:endParaRPr>
          </a:p>
        </p:txBody>
      </p:sp>
      <p:sp>
        <p:nvSpPr>
          <p:cNvPr id="14" name="文本框 13"/>
          <p:cNvSpPr txBox="1"/>
          <p:nvPr/>
        </p:nvSpPr>
        <p:spPr>
          <a:xfrm>
            <a:off x="1232218" y="4551680"/>
            <a:ext cx="2808287" cy="369888"/>
          </a:xfrm>
          <a:prstGeom prst="rect">
            <a:avLst/>
          </a:prstGeom>
          <a:noFill/>
        </p:spPr>
        <p:txBody>
          <a:bodyPr>
            <a:spAutoFit/>
          </a:bodyPr>
          <a:lstStyle/>
          <a:p>
            <a:pPr>
              <a:defRPr/>
            </a:pPr>
            <a:r>
              <a:rPr lang="zh-CN" altLang="en-US">
                <a:solidFill>
                  <a:srgbClr val="000066"/>
                </a:solidFill>
                <a:latin typeface="+mj-ea"/>
                <a:ea typeface="+mj-ea"/>
              </a:rPr>
              <a:t>访问结果：</a:t>
            </a:r>
            <a:r>
              <a:rPr lang="en-US" altLang="zh-CN">
                <a:solidFill>
                  <a:srgbClr val="000066"/>
                </a:solidFill>
                <a:latin typeface="+mj-ea"/>
                <a:ea typeface="+mj-ea"/>
              </a:rPr>
              <a:t>A B E G F </a:t>
            </a:r>
            <a:endParaRPr lang="zh-CN" altLang="en-US">
              <a:solidFill>
                <a:srgbClr val="000066"/>
              </a:solidFill>
              <a:latin typeface="+mj-ea"/>
              <a:ea typeface="+mj-ea"/>
            </a:endParaRPr>
          </a:p>
        </p:txBody>
      </p:sp>
      <p:sp>
        <p:nvSpPr>
          <p:cNvPr id="24581" name="右箭头 9"/>
          <p:cNvSpPr>
            <a:spLocks noChangeArrowheads="1"/>
          </p:cNvSpPr>
          <p:nvPr/>
        </p:nvSpPr>
        <p:spPr bwMode="auto">
          <a:xfrm>
            <a:off x="4372293" y="316103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64343" y="2791143"/>
            <a:ext cx="1289050" cy="369887"/>
          </a:xfrm>
          <a:prstGeom prst="rect">
            <a:avLst/>
          </a:prstGeom>
          <a:noFill/>
        </p:spPr>
        <p:txBody>
          <a:bodyPr>
            <a:spAutoFit/>
          </a:bodyPr>
          <a:lstStyle/>
          <a:p>
            <a:pPr>
              <a:defRPr/>
            </a:pPr>
            <a:r>
              <a:rPr lang="zh-CN" altLang="en-US">
                <a:solidFill>
                  <a:srgbClr val="000066"/>
                </a:solidFill>
                <a:latin typeface="+mj-ea"/>
                <a:ea typeface="+mj-ea"/>
              </a:rPr>
              <a:t>入栈</a:t>
            </a:r>
            <a:r>
              <a:rPr lang="en-US" altLang="zh-CN">
                <a:solidFill>
                  <a:srgbClr val="000066"/>
                </a:solidFill>
                <a:latin typeface="+mj-ea"/>
                <a:ea typeface="+mj-ea"/>
              </a:rPr>
              <a:t>F</a:t>
            </a:r>
            <a:endParaRPr lang="zh-CN" altLang="en-US">
              <a:solidFill>
                <a:srgbClr val="000066"/>
              </a:solidFill>
              <a:latin typeface="+mj-ea"/>
              <a:ea typeface="+mj-ea"/>
            </a:endParaRPr>
          </a:p>
        </p:txBody>
      </p:sp>
      <p:pic>
        <p:nvPicPr>
          <p:cNvPr id="24583" name="图片 3"/>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716280" y="2225993"/>
            <a:ext cx="3324225" cy="2195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4" name="图片 5"/>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209155" y="1484630"/>
            <a:ext cx="1181100" cy="298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585"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393" y="1675130"/>
            <a:ext cx="1219200" cy="2790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5978843" y="149256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569518" y="149098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12</a:t>
            </a:r>
            <a:endParaRPr lang="zh-CN" altLang="en-US">
              <a:solidFill>
                <a:schemeClr val="bg2">
                  <a:lumMod val="25000"/>
                  <a:lumOff val="75000"/>
                </a:schemeClr>
              </a:solidFill>
            </a:endParaRPr>
          </a:p>
        </p:txBody>
      </p:sp>
      <p:sp>
        <p:nvSpPr>
          <p:cNvPr id="14" name="文本框 13"/>
          <p:cNvSpPr txBox="1"/>
          <p:nvPr/>
        </p:nvSpPr>
        <p:spPr>
          <a:xfrm>
            <a:off x="1618298" y="439610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6629" name="右箭头 9"/>
          <p:cNvSpPr>
            <a:spLocks noChangeArrowheads="1"/>
          </p:cNvSpPr>
          <p:nvPr/>
        </p:nvSpPr>
        <p:spPr bwMode="auto">
          <a:xfrm>
            <a:off x="4758373" y="300545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650423" y="263556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入栈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6631" name="图片 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969010" y="198469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632" name="图片 6"/>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299835" y="191643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4"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900228" y="1884363"/>
            <a:ext cx="1333500"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13</a:t>
            </a:r>
            <a:endParaRPr lang="zh-CN" altLang="en-US">
              <a:solidFill>
                <a:schemeClr val="bg2">
                  <a:lumMod val="25000"/>
                  <a:lumOff val="75000"/>
                </a:schemeClr>
              </a:solidFill>
            </a:endParaRPr>
          </a:p>
        </p:txBody>
      </p:sp>
      <p:sp>
        <p:nvSpPr>
          <p:cNvPr id="14" name="文本框 13"/>
          <p:cNvSpPr txBox="1"/>
          <p:nvPr/>
        </p:nvSpPr>
        <p:spPr>
          <a:xfrm>
            <a:off x="1221423" y="453707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a:t>
            </a:r>
            <a:endParaRPr lang="en-US" altLang="zh-CN">
              <a:solidFill>
                <a:schemeClr val="tx2"/>
              </a:solidFill>
              <a:uFillTx/>
              <a:latin typeface="Times New Roman" panose="02020603050405020304" pitchFamily="18" charset="0"/>
            </a:endParaRPr>
          </a:p>
        </p:txBody>
      </p:sp>
      <p:sp>
        <p:nvSpPr>
          <p:cNvPr id="28678" name="右箭头 9"/>
          <p:cNvSpPr>
            <a:spLocks noChangeArrowheads="1"/>
          </p:cNvSpPr>
          <p:nvPr/>
        </p:nvSpPr>
        <p:spPr bwMode="auto">
          <a:xfrm>
            <a:off x="4361498" y="314642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253548" y="2776538"/>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出栈</a:t>
            </a:r>
            <a:r>
              <a:rPr lang="en-US" altLang="zh-CN">
                <a:solidFill>
                  <a:schemeClr val="tx2"/>
                </a:solidFill>
                <a:uFillTx/>
                <a:latin typeface="Times New Roman" panose="02020603050405020304" pitchFamily="18" charset="0"/>
              </a:rPr>
              <a:t>C</a:t>
            </a:r>
            <a:r>
              <a:rPr lang="zh-CN" altLang="en-US">
                <a:solidFill>
                  <a:schemeClr val="tx2"/>
                </a:solidFill>
                <a:uFillTx/>
                <a:latin typeface="Times New Roman" panose="02020603050405020304" pitchFamily="18" charset="0"/>
              </a:rPr>
              <a:t>、</a:t>
            </a:r>
            <a:r>
              <a:rPr lang="en-US" altLang="zh-CN">
                <a:solidFill>
                  <a:schemeClr val="tx2"/>
                </a:solidFill>
                <a:uFillTx/>
                <a:latin typeface="Times New Roman" panose="02020603050405020304" pitchFamily="18" charset="0"/>
              </a:rPr>
              <a:t>H</a:t>
            </a:r>
            <a:endParaRPr lang="en-US" altLang="zh-CN">
              <a:solidFill>
                <a:schemeClr val="tx2"/>
              </a:solidFill>
              <a:uFillTx/>
              <a:latin typeface="Times New Roman" panose="02020603050405020304" pitchFamily="18" charset="0"/>
            </a:endParaRPr>
          </a:p>
        </p:txBody>
      </p:sp>
      <p:pic>
        <p:nvPicPr>
          <p:cNvPr id="28680" name="图片 4"/>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2135" y="2125663"/>
            <a:ext cx="3646488" cy="236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681" name="图片 6"/>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15928" y="1955800"/>
            <a:ext cx="132397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14403" y="1738313"/>
            <a:ext cx="793750" cy="369887"/>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79653" y="1700213"/>
            <a:ext cx="792162" cy="368300"/>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14</a:t>
            </a:r>
            <a:endParaRPr lang="zh-CN" altLang="en-US">
              <a:solidFill>
                <a:schemeClr val="bg2">
                  <a:lumMod val="25000"/>
                  <a:lumOff val="75000"/>
                </a:schemeClr>
              </a:solidFill>
            </a:endParaRPr>
          </a:p>
        </p:txBody>
      </p:sp>
      <p:sp>
        <p:nvSpPr>
          <p:cNvPr id="14" name="文本框 13"/>
          <p:cNvSpPr txBox="1"/>
          <p:nvPr/>
        </p:nvSpPr>
        <p:spPr>
          <a:xfrm>
            <a:off x="1933893" y="4530725"/>
            <a:ext cx="3140075"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访问结果：</a:t>
            </a:r>
            <a:r>
              <a:rPr lang="en-US" altLang="zh-CN">
                <a:solidFill>
                  <a:schemeClr val="tx2"/>
                </a:solidFill>
                <a:uFillTx/>
                <a:latin typeface="Times New Roman" panose="02020603050405020304" pitchFamily="18" charset="0"/>
              </a:rPr>
              <a:t>A B E G F C H D </a:t>
            </a:r>
            <a:endParaRPr lang="en-US" altLang="zh-CN">
              <a:solidFill>
                <a:schemeClr val="tx2"/>
              </a:solidFill>
              <a:uFillTx/>
              <a:latin typeface="Times New Roman" panose="02020603050405020304" pitchFamily="18" charset="0"/>
            </a:endParaRPr>
          </a:p>
        </p:txBody>
      </p:sp>
      <p:sp>
        <p:nvSpPr>
          <p:cNvPr id="30725" name="右箭头 9"/>
          <p:cNvSpPr>
            <a:spLocks noChangeArrowheads="1"/>
          </p:cNvSpPr>
          <p:nvPr/>
        </p:nvSpPr>
        <p:spPr bwMode="auto">
          <a:xfrm>
            <a:off x="5073968" y="3140075"/>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966018" y="2770188"/>
            <a:ext cx="1289050"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入栈</a:t>
            </a:r>
            <a:r>
              <a:rPr lang="en-US" altLang="zh-CN">
                <a:solidFill>
                  <a:schemeClr val="tx1"/>
                </a:solidFill>
                <a:uFillTx/>
                <a:latin typeface="Times New Roman" panose="02020603050405020304" pitchFamily="18" charset="0"/>
              </a:rPr>
              <a:t>D</a:t>
            </a:r>
            <a:endParaRPr lang="en-US" altLang="zh-CN">
              <a:solidFill>
                <a:schemeClr val="tx1"/>
              </a:solidFill>
              <a:uFillTx/>
              <a:latin typeface="Times New Roman" panose="02020603050405020304" pitchFamily="18" charset="0"/>
            </a:endParaRPr>
          </a:p>
        </p:txBody>
      </p:sp>
      <p:pic>
        <p:nvPicPr>
          <p:cNvPr id="30727"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28080" y="1844675"/>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28"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60768" y="1762125"/>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15</a:t>
            </a:r>
            <a:endParaRPr lang="zh-CN" altLang="en-US">
              <a:solidFill>
                <a:schemeClr val="bg2">
                  <a:lumMod val="25000"/>
                  <a:lumOff val="75000"/>
                </a:schemeClr>
              </a:solidFill>
            </a:endParaRPr>
          </a:p>
        </p:txBody>
      </p:sp>
      <p:sp>
        <p:nvSpPr>
          <p:cNvPr id="14" name="文本框 13"/>
          <p:cNvSpPr txBox="1"/>
          <p:nvPr/>
        </p:nvSpPr>
        <p:spPr>
          <a:xfrm>
            <a:off x="1443673" y="4705350"/>
            <a:ext cx="3140075" cy="368300"/>
          </a:xfrm>
          <a:prstGeom prst="rect">
            <a:avLst/>
          </a:prstGeom>
          <a:noFill/>
        </p:spPr>
        <p:txBody>
          <a:bodyPr>
            <a:spAutoFit/>
          </a:bodyPr>
          <a:lstStyle/>
          <a:p>
            <a:pPr>
              <a:defRPr/>
            </a:pPr>
            <a:r>
              <a:rPr lang="zh-CN" altLang="en-US">
                <a:solidFill>
                  <a:schemeClr val="tx1"/>
                </a:solidFill>
                <a:uFillTx/>
                <a:latin typeface="Times New Roman" panose="02020603050405020304" pitchFamily="18" charset="0"/>
              </a:rPr>
              <a:t>访问结果：</a:t>
            </a:r>
            <a:r>
              <a:rPr lang="en-US" altLang="zh-CN">
                <a:solidFill>
                  <a:schemeClr val="tx1"/>
                </a:solidFill>
                <a:uFillTx/>
                <a:latin typeface="Times New Roman" panose="02020603050405020304" pitchFamily="18" charset="0"/>
              </a:rPr>
              <a:t>A B E G F C H D </a:t>
            </a:r>
            <a:endParaRPr lang="en-US" altLang="zh-CN">
              <a:solidFill>
                <a:schemeClr val="tx1"/>
              </a:solidFill>
              <a:uFillTx/>
              <a:latin typeface="Times New Roman" panose="02020603050405020304" pitchFamily="18" charset="0"/>
            </a:endParaRPr>
          </a:p>
        </p:txBody>
      </p:sp>
      <p:sp>
        <p:nvSpPr>
          <p:cNvPr id="32773" name="右箭头 9"/>
          <p:cNvSpPr>
            <a:spLocks noChangeArrowheads="1"/>
          </p:cNvSpPr>
          <p:nvPr/>
        </p:nvSpPr>
        <p:spPr bwMode="auto">
          <a:xfrm>
            <a:off x="4583748" y="3314700"/>
            <a:ext cx="854075" cy="32385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18" name="文本框 17"/>
          <p:cNvSpPr txBox="1"/>
          <p:nvPr/>
        </p:nvSpPr>
        <p:spPr>
          <a:xfrm>
            <a:off x="4475798" y="2944813"/>
            <a:ext cx="1289050" cy="368300"/>
          </a:xfrm>
          <a:prstGeom prst="rect">
            <a:avLst/>
          </a:prstGeom>
          <a:noFill/>
        </p:spPr>
        <p:txBody>
          <a:bodyPr>
            <a:spAutoFit/>
          </a:bodyPr>
          <a:lstStyle/>
          <a:p>
            <a:pPr>
              <a:defRPr/>
            </a:pPr>
            <a:r>
              <a:rPr lang="zh-CN" altLang="en-US">
                <a:solidFill>
                  <a:schemeClr val="tx2"/>
                </a:solidFill>
                <a:uFillTx/>
                <a:latin typeface="Times New Roman" panose="02020603050405020304" pitchFamily="18" charset="0"/>
              </a:rPr>
              <a:t>判断出栈</a:t>
            </a:r>
            <a:endParaRPr lang="zh-CN" altLang="en-US">
              <a:solidFill>
                <a:schemeClr val="tx2"/>
              </a:solidFill>
              <a:uFillTx/>
              <a:latin typeface="Times New Roman" panose="02020603050405020304" pitchFamily="18" charset="0"/>
            </a:endParaRPr>
          </a:p>
        </p:txBody>
      </p:sp>
      <p:pic>
        <p:nvPicPr>
          <p:cNvPr id="32775" name="图片 1"/>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5547360" y="2133600"/>
            <a:ext cx="1285875" cy="2686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图片 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70548" y="1936750"/>
            <a:ext cx="3905250" cy="2562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7" name="图片 2"/>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6876098" y="2038350"/>
            <a:ext cx="1371600"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文本框 9"/>
          <p:cNvSpPr txBox="1"/>
          <p:nvPr/>
        </p:nvSpPr>
        <p:spPr>
          <a:xfrm>
            <a:off x="6034723" y="2078038"/>
            <a:ext cx="793750" cy="368300"/>
          </a:xfrm>
          <a:prstGeom prst="rect">
            <a:avLst/>
          </a:prstGeom>
          <a:noFill/>
        </p:spPr>
        <p:txBody>
          <a:bodyPr>
            <a:spAutoFit/>
          </a:bodyPr>
          <a:lstStyle/>
          <a:p>
            <a:pPr>
              <a:defRPr/>
            </a:pPr>
            <a:r>
              <a:rPr lang="zh-CN" altLang="en-US">
                <a:solidFill>
                  <a:srgbClr val="FF0000"/>
                </a:solidFill>
                <a:latin typeface="+mj-ea"/>
                <a:ea typeface="+mj-ea"/>
              </a:rPr>
              <a:t>①</a:t>
            </a:r>
            <a:endParaRPr lang="zh-CN" altLang="en-US">
              <a:solidFill>
                <a:srgbClr val="FF0000"/>
              </a:solidFill>
              <a:latin typeface="+mj-ea"/>
              <a:ea typeface="+mj-ea"/>
            </a:endParaRPr>
          </a:p>
        </p:txBody>
      </p:sp>
      <p:sp>
        <p:nvSpPr>
          <p:cNvPr id="11" name="文本框 10"/>
          <p:cNvSpPr txBox="1"/>
          <p:nvPr/>
        </p:nvSpPr>
        <p:spPr>
          <a:xfrm>
            <a:off x="7398385" y="2038350"/>
            <a:ext cx="793750" cy="369888"/>
          </a:xfrm>
          <a:prstGeom prst="rect">
            <a:avLst/>
          </a:prstGeom>
          <a:noFill/>
        </p:spPr>
        <p:txBody>
          <a:bodyPr>
            <a:spAutoFit/>
          </a:bodyPr>
          <a:lstStyle/>
          <a:p>
            <a:pPr>
              <a:defRPr/>
            </a:pPr>
            <a:r>
              <a:rPr lang="zh-CN" altLang="en-US">
                <a:solidFill>
                  <a:srgbClr val="FF0000"/>
                </a:solidFill>
                <a:latin typeface="+mj-ea"/>
                <a:ea typeface="+mj-ea"/>
              </a:rPr>
              <a:t>②</a:t>
            </a:r>
            <a:endParaRPr lang="zh-CN" altLang="en-US">
              <a:solidFill>
                <a:srgbClr val="FF0000"/>
              </a:solidFill>
              <a:latin typeface="+mj-ea"/>
              <a:ea typeface="+mj-ea"/>
            </a:endParaRPr>
          </a:p>
        </p:txBody>
      </p:sp>
      <p:sp>
        <p:nvSpPr>
          <p:cNvPr id="2" name="Rectangle 2"/>
          <p:cNvSpPr txBox="1">
            <a:spLocks noChangeArrowheads="1"/>
          </p:cNvSpPr>
          <p:nvPr/>
        </p:nvSpPr>
        <p:spPr bwMode="auto">
          <a:xfrm>
            <a:off x="323215" y="90868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优先遍历流程（回溯如何实现？）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pic>
        <p:nvPicPr>
          <p:cNvPr id="34821" name="图片 2"/>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83260" y="1412240"/>
            <a:ext cx="7839075" cy="2762250"/>
          </a:xfrm>
          <a:prstGeom prst="rect">
            <a:avLst/>
          </a:prstGeom>
          <a:noFill/>
          <a:ln w="9525">
            <a:solidFill>
              <a:srgbClr val="5A93CA"/>
            </a:solidFill>
            <a:miter lim="800000"/>
            <a:headEnd/>
            <a:tailEnd/>
          </a:ln>
          <a:extLst>
            <a:ext uri="{909E8E84-426E-40DD-AFC4-6F175D3DCCD1}">
              <a14:hiddenFill xmlns:a14="http://schemas.microsoft.com/office/drawing/2010/main">
                <a:solidFill>
                  <a:srgbClr val="FFFFFF"/>
                </a:solidFill>
              </a14:hiddenFill>
            </a:ext>
          </a:extLst>
        </p:spPr>
      </p:pic>
      <p:sp>
        <p:nvSpPr>
          <p:cNvPr id="2" name="Rectangle 2"/>
          <p:cNvSpPr txBox="1">
            <a:spLocks noChangeArrowheads="1"/>
          </p:cNvSpPr>
          <p:nvPr/>
        </p:nvSpPr>
        <p:spPr bwMode="auto">
          <a:xfrm>
            <a:off x="323215" y="836295"/>
            <a:ext cx="4411345" cy="406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2000" kern="0">
                <a:solidFill>
                  <a:schemeClr val="tx2"/>
                </a:solidFill>
                <a:uFillTx/>
                <a:latin typeface="Times New Roman" panose="02020603050405020304" pitchFamily="18" charset="0"/>
                <a:ea typeface="宋体" panose="02010600030101010101" pitchFamily="2" charset="-122"/>
              </a:rPr>
              <a:t>深度</a:t>
            </a:r>
            <a:r>
              <a:rPr lang="zh-CN" altLang="en-US" sz="2000" kern="0" smtClean="0">
                <a:solidFill>
                  <a:schemeClr val="tx2"/>
                </a:solidFill>
                <a:uFillTx/>
                <a:latin typeface="Times New Roman" panose="02020603050405020304" pitchFamily="18" charset="0"/>
                <a:ea typeface="宋体" panose="02010600030101010101" pitchFamily="2" charset="-122"/>
              </a:rPr>
              <a:t>优先遍历流程算法</a:t>
            </a:r>
            <a:r>
              <a:rPr lang="zh-CN" altLang="en-US" sz="2000" kern="0" smtClean="0">
                <a:solidFill>
                  <a:schemeClr val="tx2"/>
                </a:solidFill>
                <a:uFillTx/>
                <a:latin typeface="Times New Roman" panose="02020603050405020304" pitchFamily="18" charset="0"/>
                <a:ea typeface="宋体" panose="02010600030101010101" pitchFamily="2" charset="-122"/>
              </a:rPr>
              <a:t>实现：</a:t>
            </a:r>
            <a:endParaRPr lang="zh-CN" altLang="en-US" sz="2000" kern="0" smtClean="0">
              <a:solidFill>
                <a:schemeClr val="tx2"/>
              </a:solidFill>
              <a:uFillTx/>
              <a:latin typeface="Times New Roman" panose="02020603050405020304" pitchFamily="18" charset="0"/>
              <a:ea typeface="宋体" panose="02010600030101010101" pitchFamily="2" charset="-122"/>
            </a:endParaRPr>
          </a:p>
        </p:txBody>
      </p:sp>
      <p:sp>
        <p:nvSpPr>
          <p:cNvPr id="4" name="文本框 3"/>
          <p:cNvSpPr txBox="1"/>
          <p:nvPr/>
        </p:nvSpPr>
        <p:spPr>
          <a:xfrm>
            <a:off x="251460" y="4580890"/>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6.1</a:t>
            </a:r>
            <a:r>
              <a:rPr lang="zh-CN" altLang="en-US" sz="2400" b="1" kern="0" dirty="0">
                <a:uFillTx/>
                <a:latin typeface="Times New Roman" panose="02020603050405020304" pitchFamily="18" charset="0"/>
                <a:cs typeface="Times New Roman" panose="02020603050405020304" pitchFamily="18" charset="0"/>
                <a:sym typeface="+mn-ea"/>
              </a:rPr>
              <a:t>小结</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680085" y="5229225"/>
            <a:ext cx="7860030" cy="1198880"/>
          </a:xfrm>
          <a:prstGeom prst="rect">
            <a:avLst/>
          </a:prstGeom>
          <a:noFill/>
          <a:ln>
            <a:solidFill>
              <a:srgbClr val="0066FF"/>
            </a:solidFill>
          </a:ln>
        </p:spPr>
        <p:txBody>
          <a:bodyPr wrap="square" rtlCol="0">
            <a:spAutoFit/>
          </a:bodyPr>
          <a:p>
            <a:r>
              <a:rPr lang="zh-CN" altLang="en-US">
                <a:solidFill>
                  <a:srgbClr val="FF0000"/>
                </a:solidFill>
              </a:rPr>
              <a:t>（</a:t>
            </a:r>
            <a:r>
              <a:rPr lang="en-US" altLang="zh-CN">
                <a:solidFill>
                  <a:srgbClr val="FF0000"/>
                </a:solidFill>
              </a:rPr>
              <a:t>1</a:t>
            </a:r>
            <a:r>
              <a:rPr lang="zh-CN" altLang="en-US">
                <a:solidFill>
                  <a:srgbClr val="FF0000"/>
                </a:solidFill>
              </a:rPr>
              <a:t>）回溯的思想</a:t>
            </a:r>
            <a:endParaRPr lang="zh-CN" altLang="en-US">
              <a:solidFill>
                <a:srgbClr val="FF0000"/>
              </a:solidFill>
            </a:endParaRPr>
          </a:p>
          <a:p>
            <a:r>
              <a:rPr lang="zh-CN" altLang="en-US">
                <a:solidFill>
                  <a:srgbClr val="FF0000"/>
                </a:solidFill>
              </a:rPr>
              <a:t>（</a:t>
            </a:r>
            <a:r>
              <a:rPr lang="en-US" altLang="zh-CN">
                <a:solidFill>
                  <a:srgbClr val="FF0000"/>
                </a:solidFill>
              </a:rPr>
              <a:t>2</a:t>
            </a:r>
            <a:r>
              <a:rPr lang="zh-CN" altLang="en-US">
                <a:solidFill>
                  <a:srgbClr val="FF0000"/>
                </a:solidFill>
              </a:rPr>
              <a:t>）回溯算法的基本应用</a:t>
            </a:r>
            <a:endParaRPr lang="zh-CN" altLang="en-US">
              <a:solidFill>
                <a:srgbClr val="FF0000"/>
              </a:solidFill>
            </a:endParaRPr>
          </a:p>
          <a:p>
            <a:pPr lvl="1"/>
            <a:r>
              <a:rPr lang="zh-CN" altLang="en-US">
                <a:solidFill>
                  <a:srgbClr val="FF0000"/>
                </a:solidFill>
              </a:rPr>
              <a:t>①树的搜索</a:t>
            </a:r>
            <a:endParaRPr lang="zh-CN" altLang="en-US">
              <a:solidFill>
                <a:srgbClr val="FF0000"/>
              </a:solidFill>
            </a:endParaRPr>
          </a:p>
          <a:p>
            <a:pPr lvl="1"/>
            <a:r>
              <a:rPr lang="zh-CN" altLang="en-US">
                <a:solidFill>
                  <a:srgbClr val="FF0000"/>
                </a:solidFill>
              </a:rPr>
              <a:t>②图的遍历</a:t>
            </a:r>
            <a:endParaRPr lang="zh-CN" altLang="en-US">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a:solidFill>
                  <a:schemeClr val="bg2">
                    <a:lumMod val="25000"/>
                    <a:lumOff val="75000"/>
                  </a:schemeClr>
                </a:solidFill>
              </a:rPr>
              <a:t>16</a:t>
            </a:r>
            <a:endParaRPr lang="zh-CN" altLang="en-US">
              <a:solidFill>
                <a:schemeClr val="bg2">
                  <a:lumMod val="25000"/>
                  <a:lumOff val="75000"/>
                </a:schemeClr>
              </a:solidFill>
            </a:endParaRPr>
          </a:p>
        </p:txBody>
      </p:sp>
      <p:grpSp>
        <p:nvGrpSpPr>
          <p:cNvPr id="7" name="组合 6"/>
          <p:cNvGrpSpPr/>
          <p:nvPr/>
        </p:nvGrpSpPr>
        <p:grpSpPr>
          <a:xfrm>
            <a:off x="5220335" y="2060575"/>
            <a:ext cx="3931285" cy="2380615"/>
            <a:chOff x="1417" y="5627"/>
            <a:chExt cx="6191" cy="3749"/>
          </a:xfrm>
        </p:grpSpPr>
        <p:sp>
          <p:nvSpPr>
            <p:cNvPr id="4" name="文本框 3"/>
            <p:cNvSpPr txBox="1"/>
            <p:nvPr/>
          </p:nvSpPr>
          <p:spPr>
            <a:xfrm>
              <a:off x="1417" y="5627"/>
              <a:ext cx="6191" cy="580"/>
            </a:xfrm>
            <a:prstGeom prst="rect">
              <a:avLst/>
            </a:prstGeom>
            <a:noFill/>
          </p:spPr>
          <p:txBody>
            <a:bodyPr wrap="square" rtlCol="0">
              <a:spAutoFit/>
            </a:bodyPr>
            <a:p>
              <a:r>
                <a:rPr lang="en-US" altLang="zh-CN"/>
                <a:t>0-1</a:t>
              </a:r>
              <a:r>
                <a:rPr lang="zh-CN" altLang="en-US"/>
                <a:t>背包问题？</a:t>
              </a:r>
              <a:endParaRPr lang="zh-CN" altLang="en-US"/>
            </a:p>
          </p:txBody>
        </p:sp>
        <p:pic>
          <p:nvPicPr>
            <p:cNvPr id="5" name="图片 4"/>
            <p:cNvPicPr>
              <a:picLocks noChangeAspect="1"/>
            </p:cNvPicPr>
            <p:nvPr/>
          </p:nvPicPr>
          <p:blipFill>
            <a:blip r:embed="rId1"/>
            <a:stretch>
              <a:fillRect/>
            </a:stretch>
          </p:blipFill>
          <p:spPr>
            <a:xfrm>
              <a:off x="1757" y="6421"/>
              <a:ext cx="5113" cy="2955"/>
            </a:xfrm>
            <a:prstGeom prst="rect">
              <a:avLst/>
            </a:prstGeom>
          </p:spPr>
        </p:pic>
      </p:grpSp>
      <p:sp>
        <p:nvSpPr>
          <p:cNvPr id="8" name="文本框 7"/>
          <p:cNvSpPr txBox="1"/>
          <p:nvPr/>
        </p:nvSpPr>
        <p:spPr>
          <a:xfrm>
            <a:off x="755650" y="4725035"/>
            <a:ext cx="7136130" cy="694055"/>
          </a:xfrm>
          <a:prstGeom prst="rect">
            <a:avLst/>
          </a:prstGeom>
          <a:noFill/>
        </p:spPr>
        <p:txBody>
          <a:bodyPr wrap="square" rtlCol="0">
            <a:noAutofit/>
          </a:bodyPr>
          <a:p>
            <a:r>
              <a:rPr lang="zh-CN" altLang="en-US"/>
              <a:t>尝试列出问题的所有可能解？或者说列出问题的</a:t>
            </a:r>
            <a:r>
              <a:rPr lang="zh-CN" altLang="en-US"/>
              <a:t>搜索树。</a:t>
            </a:r>
            <a:endParaRPr lang="zh-CN" altLang="en-US"/>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6.2.1 </a:t>
            </a:r>
            <a:r>
              <a:rPr lang="zh-CN" altLang="en-US" sz="2400" kern="0">
                <a:solidFill>
                  <a:schemeClr val="tx1"/>
                </a:solidFill>
                <a:uFillTx/>
                <a:latin typeface="Times New Roman" panose="02020603050405020304" pitchFamily="18" charset="0"/>
                <a:sym typeface="+mn-ea"/>
              </a:rPr>
              <a:t>为什么说全排列和子集问题重要</a:t>
            </a:r>
            <a:endParaRPr lang="zh-CN" altLang="en-US" sz="2400" b="1" kern="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11" name="文本框 10"/>
          <p:cNvSpPr txBox="1"/>
          <p:nvPr/>
        </p:nvSpPr>
        <p:spPr>
          <a:xfrm>
            <a:off x="539115" y="2187575"/>
            <a:ext cx="3931285" cy="368300"/>
          </a:xfrm>
          <a:prstGeom prst="rect">
            <a:avLst/>
          </a:prstGeom>
          <a:noFill/>
        </p:spPr>
        <p:txBody>
          <a:bodyPr wrap="square" rtlCol="0">
            <a:spAutoFit/>
          </a:bodyPr>
          <a:p>
            <a:r>
              <a:rPr lang="zh-CN" altLang="en-US"/>
              <a:t>暴力</a:t>
            </a:r>
            <a:r>
              <a:rPr lang="zh-CN" altLang="en-US"/>
              <a:t>枚举</a:t>
            </a:r>
            <a:endParaRPr lang="zh-CN" altLang="en-US"/>
          </a:p>
        </p:txBody>
      </p:sp>
      <p:sp>
        <p:nvSpPr>
          <p:cNvPr id="13" name="文本框 12"/>
          <p:cNvSpPr txBox="1"/>
          <p:nvPr/>
        </p:nvSpPr>
        <p:spPr>
          <a:xfrm>
            <a:off x="2239645" y="269430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B</a:t>
            </a:r>
            <a:endParaRPr lang="en-US" altLang="zh-CN">
              <a:solidFill>
                <a:schemeClr val="tx1"/>
              </a:solidFill>
              <a:uFillTx/>
              <a:latin typeface="Times New Roman" panose="02020603050405020304" pitchFamily="18" charset="0"/>
            </a:endParaRPr>
          </a:p>
        </p:txBody>
      </p:sp>
      <p:sp>
        <p:nvSpPr>
          <p:cNvPr id="14" name="文本框 13"/>
          <p:cNvSpPr txBox="1"/>
          <p:nvPr/>
        </p:nvSpPr>
        <p:spPr>
          <a:xfrm>
            <a:off x="2239645" y="3068955"/>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A </a:t>
            </a:r>
            <a:r>
              <a:rPr lang="en-US" altLang="zh-CN">
                <a:solidFill>
                  <a:schemeClr val="tx1"/>
                </a:solidFill>
                <a:uFillTx/>
                <a:latin typeface="Times New Roman" panose="02020603050405020304" pitchFamily="18" charset="0"/>
              </a:rPr>
              <a:t>C</a:t>
            </a:r>
            <a:endParaRPr lang="en-US" altLang="zh-CN">
              <a:solidFill>
                <a:schemeClr val="tx1"/>
              </a:solidFill>
              <a:uFillTx/>
              <a:latin typeface="Times New Roman" panose="02020603050405020304" pitchFamily="18" charset="0"/>
            </a:endParaRPr>
          </a:p>
        </p:txBody>
      </p:sp>
      <p:sp>
        <p:nvSpPr>
          <p:cNvPr id="15" name="文本框 14"/>
          <p:cNvSpPr txBox="1"/>
          <p:nvPr/>
        </p:nvSpPr>
        <p:spPr>
          <a:xfrm>
            <a:off x="1763395" y="2899410"/>
            <a:ext cx="411480" cy="368300"/>
          </a:xfrm>
          <a:prstGeom prst="rect">
            <a:avLst/>
          </a:prstGeom>
          <a:noFill/>
        </p:spPr>
        <p:txBody>
          <a:bodyPr wrap="none" rtlCol="0" anchor="t">
            <a:spAutoFit/>
          </a:bodyPr>
          <a:p>
            <a:r>
              <a:rPr lang="zh-CN" altLang="en-US">
                <a:latin typeface="宋体" panose="02010600030101010101" pitchFamily="2" charset="-122"/>
              </a:rPr>
              <a:t>＋</a:t>
            </a:r>
            <a:endParaRPr lang="zh-CN" altLang="en-US">
              <a:latin typeface="宋体" panose="02010600030101010101" pitchFamily="2" charset="-122"/>
            </a:endParaRPr>
          </a:p>
        </p:txBody>
      </p:sp>
      <p:cxnSp>
        <p:nvCxnSpPr>
          <p:cNvPr id="16" name="直接连接符 15"/>
          <p:cNvCxnSpPr/>
          <p:nvPr/>
        </p:nvCxnSpPr>
        <p:spPr>
          <a:xfrm>
            <a:off x="1589405" y="3500120"/>
            <a:ext cx="1902460" cy="63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7" name="文本框 16"/>
          <p:cNvSpPr txBox="1"/>
          <p:nvPr/>
        </p:nvSpPr>
        <p:spPr>
          <a:xfrm>
            <a:off x="2051685" y="3563620"/>
            <a:ext cx="748030" cy="368300"/>
          </a:xfrm>
          <a:prstGeom prst="rect">
            <a:avLst/>
          </a:prstGeom>
          <a:noFill/>
        </p:spPr>
        <p:txBody>
          <a:bodyPr wrap="square" rtlCol="0">
            <a:spAutoFit/>
          </a:bodyPr>
          <a:p>
            <a:r>
              <a:rPr lang="en-US" altLang="zh-CN">
                <a:solidFill>
                  <a:schemeClr val="tx1"/>
                </a:solidFill>
                <a:uFillTx/>
                <a:latin typeface="Times New Roman" panose="02020603050405020304" pitchFamily="18" charset="0"/>
              </a:rPr>
              <a:t>B </a:t>
            </a:r>
            <a:r>
              <a:rPr lang="en-US" altLang="zh-CN">
                <a:solidFill>
                  <a:schemeClr val="tx1"/>
                </a:solidFill>
                <a:uFillTx/>
                <a:latin typeface="Times New Roman" panose="02020603050405020304" pitchFamily="18" charset="0"/>
              </a:rPr>
              <a:t>C A </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数组元素所有的全排列集合？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[[1,2,3],[1,3,2],[2,1,3]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[2,3,1],[3,1,2],[3,2,1]]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72" name="组合 71"/>
          <p:cNvGrpSpPr/>
          <p:nvPr/>
        </p:nvGrpSpPr>
        <p:grpSpPr>
          <a:xfrm>
            <a:off x="5220335" y="1988820"/>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cxnSp>
        <p:nvCxnSpPr>
          <p:cNvPr id="41" name="曲线连接符 40"/>
          <p:cNvCxnSpPr/>
          <p:nvPr/>
        </p:nvCxnSpPr>
        <p:spPr>
          <a:xfrm rot="5400000" flipV="1">
            <a:off x="5223510"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5944870" y="431673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652907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7255510" y="43313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786066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7" name="曲线连接符 76"/>
          <p:cNvCxnSpPr/>
          <p:nvPr/>
        </p:nvCxnSpPr>
        <p:spPr>
          <a:xfrm rot="5400000" flipV="1">
            <a:off x="8580755" y="432689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828040" y="227647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a:solidFill>
                  <a:srgbClr val="000066"/>
                </a:solidFill>
                <a:latin typeface="+mj-ea"/>
                <a:ea typeface="+mj-ea"/>
              </a:rPr>
              <a:t>如何设计全排列</a:t>
            </a:r>
            <a:r>
              <a:rPr lang="en-US" altLang="zh-CN">
                <a:solidFill>
                  <a:srgbClr val="000066"/>
                </a:solidFill>
                <a:latin typeface="+mj-ea"/>
                <a:ea typeface="+mj-ea"/>
              </a:rPr>
              <a:t>I</a:t>
            </a:r>
            <a:r>
              <a:rPr lang="zh-CN" altLang="en-US">
                <a:solidFill>
                  <a:srgbClr val="000066"/>
                </a:solidFill>
                <a:latin typeface="+mj-ea"/>
                <a:ea typeface="+mj-ea"/>
              </a:rPr>
              <a:t>的程序？</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5" name="弧形 74"/>
          <p:cNvSpPr/>
          <p:nvPr/>
        </p:nvSpPr>
        <p:spPr>
          <a:xfrm flipH="1">
            <a:off x="1136650" y="4004945"/>
            <a:ext cx="807720" cy="1555115"/>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弧形 75"/>
          <p:cNvSpPr/>
          <p:nvPr/>
        </p:nvSpPr>
        <p:spPr>
          <a:xfrm rot="1500000" flipH="1" flipV="1">
            <a:off x="859155" y="2778760"/>
            <a:ext cx="934720" cy="2374265"/>
          </a:xfrm>
          <a:prstGeom prst="arc">
            <a:avLst>
              <a:gd name="adj1" fmla="val 16200000"/>
              <a:gd name="adj2" fmla="val 2141762"/>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683895" y="3085465"/>
            <a:ext cx="4010025" cy="783590"/>
          </a:xfrm>
          <a:prstGeom prst="rect">
            <a:avLst/>
          </a:prstGeom>
          <a:noFill/>
          <a:ln w="38100">
            <a:solidFill>
              <a:srgbClr val="FF0000"/>
            </a:solidFill>
          </a:ln>
        </p:spPr>
        <p:txBody>
          <a:bodyPr wrap="square" rtlCol="0">
            <a:noAutofit/>
          </a:bodyPr>
          <a:p>
            <a:endParaRPr lang="zh-CN" altLang="en-US"/>
          </a:p>
        </p:txBody>
      </p:sp>
      <p:sp>
        <p:nvSpPr>
          <p:cNvPr id="78" name="文本框 77"/>
          <p:cNvSpPr txBox="1"/>
          <p:nvPr/>
        </p:nvSpPr>
        <p:spPr>
          <a:xfrm>
            <a:off x="4190365" y="3141345"/>
            <a:ext cx="469265" cy="401320"/>
          </a:xfrm>
          <a:prstGeom prst="rect">
            <a:avLst/>
          </a:prstGeom>
          <a:noFill/>
        </p:spPr>
        <p:txBody>
          <a:bodyPr wrap="square" rtlCol="0">
            <a:noAutofit/>
          </a:bodyPr>
          <a:p>
            <a:r>
              <a:rPr lang="zh-CN" altLang="en-US">
                <a:solidFill>
                  <a:srgbClr val="FF0000"/>
                </a:solidFill>
              </a:rPr>
              <a:t>①</a:t>
            </a:r>
            <a:endParaRPr lang="zh-CN" altLang="en-US">
              <a:solidFill>
                <a:srgbClr val="FF0000"/>
              </a:solidFill>
            </a:endParaRPr>
          </a:p>
        </p:txBody>
      </p:sp>
      <p:sp>
        <p:nvSpPr>
          <p:cNvPr id="79" name="文本框 78"/>
          <p:cNvSpPr txBox="1"/>
          <p:nvPr/>
        </p:nvSpPr>
        <p:spPr>
          <a:xfrm>
            <a:off x="323850" y="4221480"/>
            <a:ext cx="469265" cy="401320"/>
          </a:xfrm>
          <a:prstGeom prst="rect">
            <a:avLst/>
          </a:prstGeom>
          <a:noFill/>
        </p:spPr>
        <p:txBody>
          <a:bodyPr wrap="square" rtlCol="0">
            <a:noAutofit/>
          </a:bodyPr>
          <a:p>
            <a:r>
              <a:rPr lang="zh-CN" altLang="en-US">
                <a:solidFill>
                  <a:srgbClr val="FF0000"/>
                </a:solidFill>
              </a:rPr>
              <a:t>②</a:t>
            </a:r>
            <a:endParaRPr lang="zh-CN" altLang="en-US">
              <a:solidFill>
                <a:srgbClr val="FF0000"/>
              </a:solidFill>
            </a:endParaRPr>
          </a:p>
        </p:txBody>
      </p:sp>
      <p:sp>
        <p:nvSpPr>
          <p:cNvPr id="80" name="文本框 79"/>
          <p:cNvSpPr txBox="1"/>
          <p:nvPr/>
        </p:nvSpPr>
        <p:spPr>
          <a:xfrm>
            <a:off x="1188085" y="4348480"/>
            <a:ext cx="469265" cy="401320"/>
          </a:xfrm>
          <a:prstGeom prst="rect">
            <a:avLst/>
          </a:prstGeom>
          <a:noFill/>
        </p:spPr>
        <p:txBody>
          <a:bodyPr wrap="square" rtlCol="0">
            <a:noAutofit/>
          </a:bodyPr>
          <a:p>
            <a:r>
              <a:rPr lang="zh-CN" altLang="en-US">
                <a:solidFill>
                  <a:srgbClr val="FF0000"/>
                </a:solidFill>
              </a:rPr>
              <a:t>③</a:t>
            </a:r>
            <a:endParaRPr lang="zh-CN" altLang="en-US">
              <a:solidFill>
                <a:srgbClr val="FF0000"/>
              </a:solidFill>
            </a:endParaRPr>
          </a:p>
        </p:txBody>
      </p:sp>
      <p:sp>
        <p:nvSpPr>
          <p:cNvPr id="81" name="文本框 80"/>
          <p:cNvSpPr txBox="1"/>
          <p:nvPr/>
        </p:nvSpPr>
        <p:spPr>
          <a:xfrm>
            <a:off x="5220335" y="2341245"/>
            <a:ext cx="3558540" cy="1097915"/>
          </a:xfrm>
          <a:prstGeom prst="rect">
            <a:avLst/>
          </a:prstGeom>
          <a:noFill/>
        </p:spPr>
        <p:txBody>
          <a:bodyPr wrap="square" rtlCol="0">
            <a:noAutofit/>
          </a:bodyPr>
          <a:p>
            <a:r>
              <a:rPr lang="zh-CN" altLang="en-US"/>
              <a:t>①每一层每个元素都要都有一</a:t>
            </a:r>
            <a:r>
              <a:rPr lang="zh-CN" altLang="en-US"/>
              <a:t>次遍历，是否要遍历要根据元素是否已被</a:t>
            </a:r>
            <a:r>
              <a:rPr lang="zh-CN" altLang="en-US"/>
              <a:t>访问</a:t>
            </a:r>
            <a:endParaRPr lang="zh-CN" altLang="en-US"/>
          </a:p>
        </p:txBody>
      </p:sp>
      <p:sp>
        <p:nvSpPr>
          <p:cNvPr id="82" name="文本框 81"/>
          <p:cNvSpPr txBox="1"/>
          <p:nvPr/>
        </p:nvSpPr>
        <p:spPr>
          <a:xfrm>
            <a:off x="5220335" y="3357245"/>
            <a:ext cx="3558540" cy="812800"/>
          </a:xfrm>
          <a:prstGeom prst="rect">
            <a:avLst/>
          </a:prstGeom>
          <a:noFill/>
        </p:spPr>
        <p:txBody>
          <a:bodyPr wrap="square" rtlCol="0">
            <a:noAutofit/>
          </a:bodyPr>
          <a:p>
            <a:r>
              <a:rPr lang="zh-CN" altLang="en-US"/>
              <a:t>②表示往下递归的方向要标记元素已经被</a:t>
            </a:r>
            <a:r>
              <a:rPr lang="zh-CN" altLang="en-US"/>
              <a:t>访问</a:t>
            </a:r>
            <a:endParaRPr lang="zh-CN" altLang="en-US"/>
          </a:p>
        </p:txBody>
      </p:sp>
      <p:sp>
        <p:nvSpPr>
          <p:cNvPr id="83" name="文本框 82"/>
          <p:cNvSpPr txBox="1"/>
          <p:nvPr/>
        </p:nvSpPr>
        <p:spPr>
          <a:xfrm>
            <a:off x="5292090" y="4237355"/>
            <a:ext cx="3558540" cy="812800"/>
          </a:xfrm>
          <a:prstGeom prst="rect">
            <a:avLst/>
          </a:prstGeom>
          <a:noFill/>
        </p:spPr>
        <p:txBody>
          <a:bodyPr wrap="square" rtlCol="0">
            <a:noAutofit/>
          </a:bodyPr>
          <a:p>
            <a:r>
              <a:rPr lang="zh-CN" altLang="en-US"/>
              <a:t>③表示往上回溯的时候要取消标记，否则在下一个分支就会出现</a:t>
            </a:r>
            <a:r>
              <a:rPr lang="zh-CN" altLang="en-US"/>
              <a:t>问题</a:t>
            </a:r>
            <a:endParaRPr lang="zh-CN" altLang="en-US"/>
          </a:p>
        </p:txBody>
      </p:sp>
      <p:sp>
        <p:nvSpPr>
          <p:cNvPr id="2" name="弧形 1"/>
          <p:cNvSpPr/>
          <p:nvPr/>
        </p:nvSpPr>
        <p:spPr>
          <a:xfrm rot="10140000" flipH="1">
            <a:off x="1652905" y="3597910"/>
            <a:ext cx="295910" cy="1134110"/>
          </a:xfrm>
          <a:prstGeom prst="arc">
            <a:avLst/>
          </a:prstGeom>
          <a:noFill/>
          <a:ln w="38100" cap="sq" cmpd="sng" algn="ctr">
            <a:solidFill>
              <a:srgbClr val="FF0000"/>
            </a:solidFill>
            <a:prstDash val="solid"/>
            <a:round/>
            <a:headEnd type="triangle" w="med" len="med"/>
            <a:tailEnd type="none" w="med" len="med"/>
          </a:ln>
          <a:extLst>
            <a:ext uri="{909E8E84-426E-40DD-AFC4-6F175D3DCCD1}">
              <a14:hiddenFill xmlns:a14="http://schemas.microsoft.com/office/drawing/2010/main">
                <a:solidFill>
                  <a:schemeClr val="bg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文本框 2"/>
          <p:cNvSpPr txBox="1"/>
          <p:nvPr/>
        </p:nvSpPr>
        <p:spPr>
          <a:xfrm>
            <a:off x="1906905" y="4364990"/>
            <a:ext cx="469265" cy="401320"/>
          </a:xfrm>
          <a:prstGeom prst="rect">
            <a:avLst/>
          </a:prstGeom>
          <a:noFill/>
        </p:spPr>
        <p:txBody>
          <a:bodyPr wrap="square" rtlCol="0">
            <a:noAutofit/>
          </a:bodyPr>
          <a:p>
            <a:r>
              <a:rPr lang="zh-CN" altLang="en-US">
                <a:solidFill>
                  <a:srgbClr val="FF0000"/>
                </a:solidFill>
              </a:rPr>
              <a:t>④</a:t>
            </a:r>
            <a:endParaRPr lang="zh-CN" altLang="en-US">
              <a:solidFill>
                <a:srgbClr val="FF0000"/>
              </a:solidFill>
            </a:endParaRPr>
          </a:p>
        </p:txBody>
      </p:sp>
      <p:sp>
        <p:nvSpPr>
          <p:cNvPr id="14" name="文本框 13"/>
          <p:cNvSpPr txBox="1"/>
          <p:nvPr/>
        </p:nvSpPr>
        <p:spPr>
          <a:xfrm>
            <a:off x="5292090" y="5157470"/>
            <a:ext cx="3558540" cy="812800"/>
          </a:xfrm>
          <a:prstGeom prst="rect">
            <a:avLst/>
          </a:prstGeom>
          <a:noFill/>
        </p:spPr>
        <p:txBody>
          <a:bodyPr wrap="square" rtlCol="0">
            <a:noAutofit/>
          </a:bodyPr>
          <a:p>
            <a:r>
              <a:rPr lang="zh-CN" altLang="en-US"/>
              <a:t>④根据根节点状态进入下一个</a:t>
            </a:r>
            <a:r>
              <a:rPr lang="zh-CN" altLang="en-US"/>
              <a:t>分支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Visit</a:t>
            </a:r>
            <a:r>
              <a:rPr lang="zh-CN" altLang="en-US">
                <a:solidFill>
                  <a:schemeClr val="tx1"/>
                </a:solidFill>
                <a:uFillTx/>
                <a:latin typeface="Times New Roman" panose="02020603050405020304" pitchFamily="18" charset="0"/>
                <a:cs typeface="宋体" panose="02010600030101010101" pitchFamily="2" charset="-122"/>
              </a:rPr>
              <a:t>数组，表示元素是否被访问，</a:t>
            </a:r>
            <a:r>
              <a:rPr lang="en-US" altLang="zh-CN">
                <a:solidFill>
                  <a:schemeClr val="tx1"/>
                </a:solidFill>
                <a:uFillTx/>
                <a:latin typeface="Times New Roman" panose="02020603050405020304" pitchFamily="18" charset="0"/>
                <a:cs typeface="宋体" panose="02010600030101010101" pitchFamily="2" charset="-122"/>
              </a:rPr>
              <a:t>1</a:t>
            </a:r>
            <a:r>
              <a:rPr lang="zh-CN" altLang="en-US">
                <a:solidFill>
                  <a:schemeClr val="tx1"/>
                </a:solidFill>
                <a:uFillTx/>
                <a:latin typeface="Times New Roman" panose="02020603050405020304" pitchFamily="18" charset="0"/>
                <a:cs typeface="宋体" panose="02010600030101010101" pitchFamily="2" charset="-122"/>
              </a:rPr>
              <a:t>表示已被访问，</a:t>
            </a:r>
            <a:r>
              <a:rPr lang="en-US" altLang="zh-CN">
                <a:solidFill>
                  <a:schemeClr val="tx1"/>
                </a:solidFill>
                <a:uFillTx/>
                <a:latin typeface="Times New Roman" panose="02020603050405020304" pitchFamily="18" charset="0"/>
                <a:cs typeface="宋体" panose="02010600030101010101" pitchFamily="2" charset="-122"/>
              </a:rPr>
              <a:t>0</a:t>
            </a:r>
            <a:r>
              <a:rPr lang="zh-CN" altLang="en-US">
                <a:solidFill>
                  <a:schemeClr val="tx1"/>
                </a:solidFill>
                <a:uFillTx/>
                <a:latin typeface="Times New Roman" panose="02020603050405020304" pitchFamily="18" charset="0"/>
                <a:cs typeface="宋体" panose="02010600030101010101" pitchFamily="2" charset="-122"/>
              </a:rPr>
              <a:t>表示未被访问。</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宋体" panose="02010600030101010101" pitchFamily="2" charset="-122"/>
              </a:rPr>
              <a:t>TempList</a:t>
            </a:r>
            <a:r>
              <a:rPr lang="zh-CN" altLang="en-US">
                <a:solidFill>
                  <a:schemeClr val="tx1"/>
                </a:solidFill>
                <a:uFillTx/>
                <a:latin typeface="Times New Roman" panose="02020603050405020304" pitchFamily="18" charset="0"/>
                <a:cs typeface="宋体" panose="02010600030101010101" pitchFamily="2" charset="-122"/>
              </a:rPr>
              <a:t>数组，临时存储全排列的所有</a:t>
            </a:r>
            <a:r>
              <a:rPr lang="zh-CN" altLang="en-US">
                <a:solidFill>
                  <a:schemeClr val="tx1"/>
                </a:solidFill>
                <a:uFillTx/>
                <a:latin typeface="Times New Roman" panose="02020603050405020304" pitchFamily="18" charset="0"/>
                <a:cs typeface="宋体" panose="02010600030101010101" pitchFamily="2" charset="-122"/>
              </a:rPr>
              <a:t>情况。</a:t>
            </a:r>
            <a:endParaRPr lang="zh-CN" altLang="en-US">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5" name="文本框 84"/>
          <p:cNvSpPr txBox="1"/>
          <p:nvPr/>
        </p:nvSpPr>
        <p:spPr>
          <a:xfrm>
            <a:off x="395605" y="6165215"/>
            <a:ext cx="3919220" cy="410210"/>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Start</a:t>
            </a:r>
            <a:r>
              <a:rPr lang="zh-CN" altLang="en-US">
                <a:solidFill>
                  <a:schemeClr val="tx1"/>
                </a:solidFill>
                <a:uFillTx/>
                <a:latin typeface="Times New Roman" panose="02020603050405020304" pitchFamily="18" charset="0"/>
              </a:rPr>
              <a:t>：</a:t>
            </a:r>
            <a:r>
              <a:rPr lang="en-US" altLang="zh-CN">
                <a:uFillTx/>
                <a:latin typeface="Times New Roman" panose="02020603050405020304" pitchFamily="18" charset="0"/>
                <a:cs typeface="宋体" panose="02010600030101010101" pitchFamily="2" charset="-122"/>
                <a:sym typeface="+mn-ea"/>
              </a:rPr>
              <a:t>Visit=[0,0,0]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6" name="文本框 85"/>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①：</a:t>
            </a:r>
            <a:r>
              <a:rPr lang="en-US" altLang="zh-CN">
                <a:uFillTx/>
                <a:latin typeface="Times New Roman" panose="02020603050405020304" pitchFamily="18" charset="0"/>
                <a:cs typeface="宋体" panose="02010600030101010101" pitchFamily="2" charset="-122"/>
                <a:sym typeface="+mn-ea"/>
              </a:rPr>
              <a:t>Visit=[1,0,0]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②：</a:t>
            </a:r>
            <a:r>
              <a:rPr lang="en-US" altLang="zh-CN">
                <a:uFillTx/>
                <a:latin typeface="Times New Roman" panose="02020603050405020304" pitchFamily="18" charset="0"/>
                <a:cs typeface="宋体" panose="02010600030101010101" pitchFamily="2" charset="-122"/>
                <a:sym typeface="+mn-ea"/>
              </a:rPr>
              <a:t>Visit=[1,1,0]</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1" name="文本框 90"/>
          <p:cNvSpPr txBox="1"/>
          <p:nvPr/>
        </p:nvSpPr>
        <p:spPr>
          <a:xfrm>
            <a:off x="395605" y="6165215"/>
            <a:ext cx="3919220" cy="41021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③：</a:t>
            </a:r>
            <a:r>
              <a:rPr lang="en-US" altLang="zh-CN">
                <a:uFillTx/>
                <a:latin typeface="Times New Roman" panose="02020603050405020304" pitchFamily="18" charset="0"/>
                <a:cs typeface="宋体" panose="02010600030101010101" pitchFamily="2" charset="-122"/>
                <a:sym typeface="+mn-ea"/>
              </a:rPr>
              <a:t>Visit=[1,1,1]</a:t>
            </a:r>
            <a:r>
              <a:rPr lang="zh-CN" altLang="en-US">
                <a:uFillTx/>
                <a:latin typeface="Times New Roman" panose="02020603050405020304" pitchFamily="18" charset="0"/>
                <a:cs typeface="宋体" panose="02010600030101010101" pitchFamily="2" charset="-122"/>
                <a:sym typeface="+mn-ea"/>
              </a:rPr>
              <a:t>，</a:t>
            </a:r>
            <a:r>
              <a:rPr lang="en-US" altLang="zh-CN">
                <a:uFillTx/>
                <a:latin typeface="Times New Roman" panose="02020603050405020304" pitchFamily="18" charset="0"/>
                <a:cs typeface="宋体" panose="02010600030101010101" pitchFamily="2" charset="-122"/>
                <a:sym typeface="+mn-ea"/>
              </a:rPr>
              <a:t>TempList = [1,2,3]</a:t>
            </a:r>
            <a:endParaRPr lang="en-US" altLang="zh-CN">
              <a:uFillTx/>
              <a:latin typeface="Times New Roman" panose="02020603050405020304" pitchFamily="18" charset="0"/>
              <a:cs typeface="宋体" panose="02010600030101010101" pitchFamily="2" charset="-122"/>
              <a:sym typeface="+mn-ea"/>
            </a:endParaRPr>
          </a:p>
          <a:p>
            <a:endParaRPr lang="zh-CN" altLang="en-US">
              <a:uFillTx/>
              <a:latin typeface="Times New Roman" panose="02020603050405020304" pitchFamily="18" charset="0"/>
              <a:cs typeface="宋体" panose="02010600030101010101" pitchFamily="2" charset="-122"/>
              <a:sym typeface="+mn-ea"/>
            </a:endParaRPr>
          </a:p>
          <a:p>
            <a:endParaRPr lang="zh-CN" altLang="en-US">
              <a:solidFill>
                <a:schemeClr val="tx1"/>
              </a:solidFill>
              <a:uFillTx/>
              <a:latin typeface="Times New Roman" panose="02020603050405020304" pitchFamily="18" charset="0"/>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2" nodeType="clickEffect">
                                  <p:stCondLst>
                                    <p:cond delay="0"/>
                                  </p:stCondLst>
                                  <p:childTnLst>
                                    <p:set>
                                      <p:cBhvr>
                                        <p:cTn id="6" dur="1" fill="hold">
                                          <p:stCondLst>
                                            <p:cond delay="0"/>
                                          </p:stCondLst>
                                        </p:cTn>
                                        <p:tgtEl>
                                          <p:spTgt spid="84"/>
                                        </p:tgtEl>
                                        <p:attrNameLst>
                                          <p:attrName>style.visibility</p:attrName>
                                        </p:attrNameLst>
                                      </p:cBhvr>
                                      <p:to>
                                        <p:strVal val="visible"/>
                                      </p:to>
                                    </p:set>
                                    <p:animEffect transition="in" filter="box(in)">
                                      <p:cBhvr>
                                        <p:cTn id="7" dur="2000"/>
                                        <p:tgtEl>
                                          <p:spTgt spid="84"/>
                                        </p:tgtEl>
                                      </p:cBhvr>
                                    </p:animEffect>
                                  </p:childTnLst>
                                </p:cTn>
                              </p:par>
                              <p:par>
                                <p:cTn id="8" presetID="4" presetClass="entr" presetSubtype="16" fill="hold" grpId="2" nodeType="withEffect">
                                  <p:stCondLst>
                                    <p:cond delay="0"/>
                                  </p:stCondLst>
                                  <p:childTnLst>
                                    <p:set>
                                      <p:cBhvr>
                                        <p:cTn id="9" dur="1" fill="hold">
                                          <p:stCondLst>
                                            <p:cond delay="0"/>
                                          </p:stCondLst>
                                        </p:cTn>
                                        <p:tgtEl>
                                          <p:spTgt spid="78"/>
                                        </p:tgtEl>
                                        <p:attrNameLst>
                                          <p:attrName>style.visibility</p:attrName>
                                        </p:attrNameLst>
                                      </p:cBhvr>
                                      <p:to>
                                        <p:strVal val="visible"/>
                                      </p:to>
                                    </p:set>
                                    <p:animEffect transition="in" filter="box(in)">
                                      <p:cBhvr>
                                        <p:cTn id="10" dur="2000"/>
                                        <p:tgtEl>
                                          <p:spTgt spid="78"/>
                                        </p:tgtEl>
                                      </p:cBhvr>
                                    </p:animEffect>
                                  </p:childTnLst>
                                </p:cTn>
                              </p:par>
                            </p:childTnLst>
                          </p:cTn>
                        </p:par>
                      </p:childTnLst>
                    </p:cTn>
                  </p:par>
                  <p:par>
                    <p:cTn id="11" fill="hold">
                      <p:stCondLst>
                        <p:cond delay="indefinite"/>
                      </p:stCondLst>
                      <p:childTnLst>
                        <p:par>
                          <p:cTn id="12" fill="hold">
                            <p:stCondLst>
                              <p:cond delay="0"/>
                            </p:stCondLst>
                            <p:childTnLst>
                              <p:par>
                                <p:cTn id="13" presetID="4" presetClass="entr" presetSubtype="16" fill="hold" grpId="0" nodeType="clickEffect">
                                  <p:stCondLst>
                                    <p:cond delay="0"/>
                                  </p:stCondLst>
                                  <p:childTnLst>
                                    <p:set>
                                      <p:cBhvr>
                                        <p:cTn id="14" dur="1" fill="hold">
                                          <p:stCondLst>
                                            <p:cond delay="0"/>
                                          </p:stCondLst>
                                        </p:cTn>
                                        <p:tgtEl>
                                          <p:spTgt spid="81"/>
                                        </p:tgtEl>
                                        <p:attrNameLst>
                                          <p:attrName>style.visibility</p:attrName>
                                        </p:attrNameLst>
                                      </p:cBhvr>
                                      <p:to>
                                        <p:strVal val="visible"/>
                                      </p:to>
                                    </p:set>
                                    <p:animEffect transition="in" filter="box(in)">
                                      <p:cBhvr>
                                        <p:cTn id="15" dur="2000"/>
                                        <p:tgtEl>
                                          <p:spTgt spid="81"/>
                                        </p:tgtEl>
                                      </p:cBhvr>
                                    </p:animEffect>
                                  </p:childTnLst>
                                </p:cTn>
                              </p:par>
                              <p:par>
                                <p:cTn id="16" presetID="4" presetClass="entr" presetSubtype="16" fill="hold" grpId="0" nodeType="withEffect">
                                  <p:stCondLst>
                                    <p:cond delay="0"/>
                                  </p:stCondLst>
                                  <p:childTnLst>
                                    <p:set>
                                      <p:cBhvr>
                                        <p:cTn id="17" dur="1" fill="hold">
                                          <p:stCondLst>
                                            <p:cond delay="0"/>
                                          </p:stCondLst>
                                        </p:cTn>
                                        <p:tgtEl>
                                          <p:spTgt spid="77"/>
                                        </p:tgtEl>
                                        <p:attrNameLst>
                                          <p:attrName>style.visibility</p:attrName>
                                        </p:attrNameLst>
                                      </p:cBhvr>
                                      <p:to>
                                        <p:strVal val="visible"/>
                                      </p:to>
                                    </p:set>
                                    <p:animEffect transition="in" filter="box(in)">
                                      <p:cBhvr>
                                        <p:cTn id="18" dur="2000"/>
                                        <p:tgtEl>
                                          <p:spTgt spid="77"/>
                                        </p:tgtEl>
                                      </p:cBhvr>
                                    </p:animEffect>
                                  </p:childTnLst>
                                </p:cTn>
                              </p:par>
                            </p:childTnLst>
                          </p:cTn>
                        </p:par>
                      </p:childTnLst>
                    </p:cTn>
                  </p:par>
                  <p:par>
                    <p:cTn id="19" fill="hold">
                      <p:stCondLst>
                        <p:cond delay="indefinite"/>
                      </p:stCondLst>
                      <p:childTnLst>
                        <p:par>
                          <p:cTn id="20" fill="hold">
                            <p:stCondLst>
                              <p:cond delay="0"/>
                            </p:stCondLst>
                            <p:childTnLst>
                              <p:par>
                                <p:cTn id="21" presetID="2" presetClass="exit" presetSubtype="4" fill="hold" grpId="0" nodeType="clickEffect">
                                  <p:stCondLst>
                                    <p:cond delay="0"/>
                                  </p:stCondLst>
                                  <p:childTnLst>
                                    <p:anim calcmode="lin" valueType="num">
                                      <p:cBhvr additive="base">
                                        <p:cTn id="22" dur="500"/>
                                        <p:tgtEl>
                                          <p:spTgt spid="85"/>
                                        </p:tgtEl>
                                        <p:attrNameLst>
                                          <p:attrName>ppt_x</p:attrName>
                                        </p:attrNameLst>
                                      </p:cBhvr>
                                      <p:tavLst>
                                        <p:tav tm="0">
                                          <p:val>
                                            <p:strVal val="ppt_x"/>
                                          </p:val>
                                        </p:tav>
                                        <p:tav tm="100000">
                                          <p:val>
                                            <p:strVal val="ppt_x"/>
                                          </p:val>
                                        </p:tav>
                                      </p:tavLst>
                                    </p:anim>
                                    <p:anim calcmode="lin" valueType="num">
                                      <p:cBhvr additive="base">
                                        <p:cTn id="23" dur="500"/>
                                        <p:tgtEl>
                                          <p:spTgt spid="85"/>
                                        </p:tgtEl>
                                        <p:attrNameLst>
                                          <p:attrName>ppt_y</p:attrName>
                                        </p:attrNameLst>
                                      </p:cBhvr>
                                      <p:tavLst>
                                        <p:tav tm="0">
                                          <p:val>
                                            <p:strVal val="ppt_y"/>
                                          </p:val>
                                        </p:tav>
                                        <p:tav tm="100000">
                                          <p:val>
                                            <p:strVal val="1+ppt_h/2"/>
                                          </p:val>
                                        </p:tav>
                                      </p:tavLst>
                                    </p:anim>
                                    <p:set>
                                      <p:cBhvr>
                                        <p:cTn id="24" dur="1" fill="hold">
                                          <p:stCondLst>
                                            <p:cond delay="499"/>
                                          </p:stCondLst>
                                        </p:cTn>
                                        <p:tgtEl>
                                          <p:spTgt spid="85"/>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2" nodeType="clickEffect">
                                  <p:stCondLst>
                                    <p:cond delay="0"/>
                                  </p:stCondLst>
                                  <p:childTnLst>
                                    <p:set>
                                      <p:cBhvr>
                                        <p:cTn id="28" dur="1" fill="hold">
                                          <p:stCondLst>
                                            <p:cond delay="0"/>
                                          </p:stCondLst>
                                        </p:cTn>
                                        <p:tgtEl>
                                          <p:spTgt spid="86"/>
                                        </p:tgtEl>
                                        <p:attrNameLst>
                                          <p:attrName>style.visibility</p:attrName>
                                        </p:attrNameLst>
                                      </p:cBhvr>
                                      <p:to>
                                        <p:strVal val="visible"/>
                                      </p:to>
                                    </p:set>
                                    <p:anim calcmode="lin" valueType="num">
                                      <p:cBhvr additive="base">
                                        <p:cTn id="29" dur="500" fill="hold"/>
                                        <p:tgtEl>
                                          <p:spTgt spid="86"/>
                                        </p:tgtEl>
                                        <p:attrNameLst>
                                          <p:attrName>ppt_x</p:attrName>
                                        </p:attrNameLst>
                                      </p:cBhvr>
                                      <p:tavLst>
                                        <p:tav tm="0">
                                          <p:val>
                                            <p:strVal val="#ppt_x"/>
                                          </p:val>
                                        </p:tav>
                                        <p:tav tm="100000">
                                          <p:val>
                                            <p:strVal val="#ppt_x"/>
                                          </p:val>
                                        </p:tav>
                                      </p:tavLst>
                                    </p:anim>
                                    <p:anim calcmode="lin" valueType="num">
                                      <p:cBhvr additive="base">
                                        <p:cTn id="30" dur="500" fill="hold"/>
                                        <p:tgtEl>
                                          <p:spTgt spid="86"/>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86"/>
                                        </p:tgtEl>
                                        <p:attrNameLst>
                                          <p:attrName>ppt_x</p:attrName>
                                        </p:attrNameLst>
                                      </p:cBhvr>
                                      <p:tavLst>
                                        <p:tav tm="0">
                                          <p:val>
                                            <p:strVal val="ppt_x"/>
                                          </p:val>
                                        </p:tav>
                                        <p:tav tm="100000">
                                          <p:val>
                                            <p:strVal val="ppt_x"/>
                                          </p:val>
                                        </p:tav>
                                      </p:tavLst>
                                    </p:anim>
                                    <p:anim calcmode="lin" valueType="num">
                                      <p:cBhvr additive="base">
                                        <p:cTn id="35" dur="500"/>
                                        <p:tgtEl>
                                          <p:spTgt spid="86"/>
                                        </p:tgtEl>
                                        <p:attrNameLst>
                                          <p:attrName>ppt_y</p:attrName>
                                        </p:attrNameLst>
                                      </p:cBhvr>
                                      <p:tavLst>
                                        <p:tav tm="0">
                                          <p:val>
                                            <p:strVal val="ppt_y"/>
                                          </p:val>
                                        </p:tav>
                                        <p:tav tm="100000">
                                          <p:val>
                                            <p:strVal val="1+ppt_h/2"/>
                                          </p:val>
                                        </p:tav>
                                      </p:tavLst>
                                    </p:anim>
                                    <p:set>
                                      <p:cBhvr>
                                        <p:cTn id="36" dur="1" fill="hold">
                                          <p:stCondLst>
                                            <p:cond delay="499"/>
                                          </p:stCondLst>
                                        </p:cTn>
                                        <p:tgtEl>
                                          <p:spTgt spid="86"/>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79"/>
                                        </p:tgtEl>
                                        <p:attrNameLst>
                                          <p:attrName>style.visibility</p:attrName>
                                        </p:attrNameLst>
                                      </p:cBhvr>
                                      <p:to>
                                        <p:strVal val="visible"/>
                                      </p:to>
                                    </p:set>
                                    <p:animEffect transition="in" filter="box(in)">
                                      <p:cBhvr>
                                        <p:cTn id="41" dur="2000"/>
                                        <p:tgtEl>
                                          <p:spTgt spid="79"/>
                                        </p:tgtEl>
                                      </p:cBhvr>
                                    </p:animEffect>
                                  </p:childTnLst>
                                </p:cTn>
                              </p:par>
                              <p:par>
                                <p:cTn id="42" presetID="4" presetClass="entr" presetSubtype="16" fill="hold" grpId="0" nodeType="withEffect">
                                  <p:stCondLst>
                                    <p:cond delay="0"/>
                                  </p:stCondLst>
                                  <p:childTnLst>
                                    <p:set>
                                      <p:cBhvr>
                                        <p:cTn id="43" dur="1" fill="hold">
                                          <p:stCondLst>
                                            <p:cond delay="0"/>
                                          </p:stCondLst>
                                        </p:cTn>
                                        <p:tgtEl>
                                          <p:spTgt spid="88"/>
                                        </p:tgtEl>
                                        <p:attrNameLst>
                                          <p:attrName>style.visibility</p:attrName>
                                        </p:attrNameLst>
                                      </p:cBhvr>
                                      <p:to>
                                        <p:strVal val="visible"/>
                                      </p:to>
                                    </p:set>
                                    <p:animEffect transition="in" filter="box(in)">
                                      <p:cBhvr>
                                        <p:cTn id="44" dur="2000"/>
                                        <p:tgtEl>
                                          <p:spTgt spid="88"/>
                                        </p:tgtEl>
                                      </p:cBhvr>
                                    </p:animEffect>
                                  </p:childTnLst>
                                </p:cTn>
                              </p:par>
                              <p:par>
                                <p:cTn id="45" presetID="4" presetClass="entr" presetSubtype="16" fill="hold" grpId="0" nodeType="withEffect">
                                  <p:stCondLst>
                                    <p:cond delay="0"/>
                                  </p:stCondLst>
                                  <p:childTnLst>
                                    <p:set>
                                      <p:cBhvr>
                                        <p:cTn id="46" dur="1" fill="hold">
                                          <p:stCondLst>
                                            <p:cond delay="0"/>
                                          </p:stCondLst>
                                        </p:cTn>
                                        <p:tgtEl>
                                          <p:spTgt spid="93"/>
                                        </p:tgtEl>
                                        <p:attrNameLst>
                                          <p:attrName>style.visibility</p:attrName>
                                        </p:attrNameLst>
                                      </p:cBhvr>
                                      <p:to>
                                        <p:strVal val="visible"/>
                                      </p:to>
                                    </p:set>
                                    <p:animEffect transition="in" filter="box(in)">
                                      <p:cBhvr>
                                        <p:cTn id="47" dur="2000"/>
                                        <p:tgtEl>
                                          <p:spTgt spid="93"/>
                                        </p:tgtEl>
                                      </p:cBhvr>
                                    </p:animEffect>
                                  </p:childTnLst>
                                </p:cTn>
                              </p:par>
                              <p:par>
                                <p:cTn id="48" presetID="4" presetClass="entr" presetSubtype="16" fill="hold" grpId="0" nodeType="withEffect">
                                  <p:stCondLst>
                                    <p:cond delay="0"/>
                                  </p:stCondLst>
                                  <p:childTnLst>
                                    <p:set>
                                      <p:cBhvr>
                                        <p:cTn id="49" dur="1" fill="hold">
                                          <p:stCondLst>
                                            <p:cond delay="0"/>
                                          </p:stCondLst>
                                        </p:cTn>
                                        <p:tgtEl>
                                          <p:spTgt spid="92"/>
                                        </p:tgtEl>
                                        <p:attrNameLst>
                                          <p:attrName>style.visibility</p:attrName>
                                        </p:attrNameLst>
                                      </p:cBhvr>
                                      <p:to>
                                        <p:strVal val="visible"/>
                                      </p:to>
                                    </p:set>
                                    <p:animEffect transition="in" filter="box(in)">
                                      <p:cBhvr>
                                        <p:cTn id="50" dur="2000"/>
                                        <p:tgtEl>
                                          <p:spTgt spid="92"/>
                                        </p:tgtEl>
                                      </p:cBhvr>
                                    </p:animEffect>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2" nodeType="clickEffect">
                                  <p:stCondLst>
                                    <p:cond delay="0"/>
                                  </p:stCondLst>
                                  <p:childTnLst>
                                    <p:set>
                                      <p:cBhvr>
                                        <p:cTn id="54" dur="1" fill="hold">
                                          <p:stCondLst>
                                            <p:cond delay="0"/>
                                          </p:stCondLst>
                                        </p:cTn>
                                        <p:tgtEl>
                                          <p:spTgt spid="89"/>
                                        </p:tgtEl>
                                        <p:attrNameLst>
                                          <p:attrName>style.visibility</p:attrName>
                                        </p:attrNameLst>
                                      </p:cBhvr>
                                      <p:to>
                                        <p:strVal val="visible"/>
                                      </p:to>
                                    </p:set>
                                    <p:anim calcmode="lin" valueType="num">
                                      <p:cBhvr additive="base">
                                        <p:cTn id="55" dur="500" fill="hold"/>
                                        <p:tgtEl>
                                          <p:spTgt spid="89"/>
                                        </p:tgtEl>
                                        <p:attrNameLst>
                                          <p:attrName>ppt_x</p:attrName>
                                        </p:attrNameLst>
                                      </p:cBhvr>
                                      <p:tavLst>
                                        <p:tav tm="0">
                                          <p:val>
                                            <p:strVal val="#ppt_x"/>
                                          </p:val>
                                        </p:tav>
                                        <p:tav tm="100000">
                                          <p:val>
                                            <p:strVal val="#ppt_x"/>
                                          </p:val>
                                        </p:tav>
                                      </p:tavLst>
                                    </p:anim>
                                    <p:anim calcmode="lin" valueType="num">
                                      <p:cBhvr additive="base">
                                        <p:cTn id="56" dur="500" fill="hold"/>
                                        <p:tgtEl>
                                          <p:spTgt spid="89"/>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4" fill="hold" grpId="0" nodeType="clickEffect">
                                  <p:stCondLst>
                                    <p:cond delay="0"/>
                                  </p:stCondLst>
                                  <p:childTnLst>
                                    <p:anim calcmode="lin" valueType="num">
                                      <p:cBhvr additive="base">
                                        <p:cTn id="60" dur="500"/>
                                        <p:tgtEl>
                                          <p:spTgt spid="89"/>
                                        </p:tgtEl>
                                        <p:attrNameLst>
                                          <p:attrName>ppt_x</p:attrName>
                                        </p:attrNameLst>
                                      </p:cBhvr>
                                      <p:tavLst>
                                        <p:tav tm="0">
                                          <p:val>
                                            <p:strVal val="ppt_x"/>
                                          </p:val>
                                        </p:tav>
                                        <p:tav tm="100000">
                                          <p:val>
                                            <p:strVal val="ppt_x"/>
                                          </p:val>
                                        </p:tav>
                                      </p:tavLst>
                                    </p:anim>
                                    <p:anim calcmode="lin" valueType="num">
                                      <p:cBhvr additive="base">
                                        <p:cTn id="61" dur="500"/>
                                        <p:tgtEl>
                                          <p:spTgt spid="89"/>
                                        </p:tgtEl>
                                        <p:attrNameLst>
                                          <p:attrName>ppt_y</p:attrName>
                                        </p:attrNameLst>
                                      </p:cBhvr>
                                      <p:tavLst>
                                        <p:tav tm="0">
                                          <p:val>
                                            <p:strVal val="ppt_y"/>
                                          </p:val>
                                        </p:tav>
                                        <p:tav tm="100000">
                                          <p:val>
                                            <p:strVal val="1+ppt_h/2"/>
                                          </p:val>
                                        </p:tav>
                                      </p:tavLst>
                                    </p:anim>
                                    <p:set>
                                      <p:cBhvr>
                                        <p:cTn id="62" dur="1" fill="hold">
                                          <p:stCondLst>
                                            <p:cond delay="499"/>
                                          </p:stCondLst>
                                        </p:cTn>
                                        <p:tgtEl>
                                          <p:spTgt spid="89"/>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4" presetClass="entr" presetSubtype="16" fill="hold" grpId="0" nodeType="clickEffect">
                                  <p:stCondLst>
                                    <p:cond delay="0"/>
                                  </p:stCondLst>
                                  <p:childTnLst>
                                    <p:set>
                                      <p:cBhvr>
                                        <p:cTn id="66" dur="1" fill="hold">
                                          <p:stCondLst>
                                            <p:cond delay="0"/>
                                          </p:stCondLst>
                                        </p:cTn>
                                        <p:tgtEl>
                                          <p:spTgt spid="3"/>
                                        </p:tgtEl>
                                        <p:attrNameLst>
                                          <p:attrName>style.visibility</p:attrName>
                                        </p:attrNameLst>
                                      </p:cBhvr>
                                      <p:to>
                                        <p:strVal val="visible"/>
                                      </p:to>
                                    </p:set>
                                    <p:animEffect transition="in" filter="box(in)">
                                      <p:cBhvr>
                                        <p:cTn id="67" dur="2000"/>
                                        <p:tgtEl>
                                          <p:spTgt spid="3"/>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90"/>
                                        </p:tgtEl>
                                        <p:attrNameLst>
                                          <p:attrName>style.visibility</p:attrName>
                                        </p:attrNameLst>
                                      </p:cBhvr>
                                      <p:to>
                                        <p:strVal val="visible"/>
                                      </p:to>
                                    </p:set>
                                    <p:animEffect transition="in" filter="box(in)">
                                      <p:cBhvr>
                                        <p:cTn id="70" dur="2000"/>
                                        <p:tgtEl>
                                          <p:spTgt spid="9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98"/>
                                        </p:tgtEl>
                                        <p:attrNameLst>
                                          <p:attrName>style.visibility</p:attrName>
                                        </p:attrNameLst>
                                      </p:cBhvr>
                                      <p:to>
                                        <p:strVal val="visible"/>
                                      </p:to>
                                    </p:set>
                                    <p:animEffect transition="in" filter="box(in)">
                                      <p:cBhvr>
                                        <p:cTn id="73" dur="2000"/>
                                        <p:tgtEl>
                                          <p:spTgt spid="98"/>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99"/>
                                        </p:tgtEl>
                                        <p:attrNameLst>
                                          <p:attrName>style.visibility</p:attrName>
                                        </p:attrNameLst>
                                      </p:cBhvr>
                                      <p:to>
                                        <p:strVal val="visible"/>
                                      </p:to>
                                    </p:set>
                                    <p:animEffect transition="in" filter="box(in)">
                                      <p:cBhvr>
                                        <p:cTn id="76" dur="2000"/>
                                        <p:tgtEl>
                                          <p:spTgt spid="99"/>
                                        </p:tgtEl>
                                      </p:cBhvr>
                                    </p:animEffec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2" nodeType="clickEffect">
                                  <p:stCondLst>
                                    <p:cond delay="0"/>
                                  </p:stCondLst>
                                  <p:childTnLst>
                                    <p:set>
                                      <p:cBhvr>
                                        <p:cTn id="80" dur="1" fill="hold">
                                          <p:stCondLst>
                                            <p:cond delay="0"/>
                                          </p:stCondLst>
                                        </p:cTn>
                                        <p:tgtEl>
                                          <p:spTgt spid="91"/>
                                        </p:tgtEl>
                                        <p:attrNameLst>
                                          <p:attrName>style.visibility</p:attrName>
                                        </p:attrNameLst>
                                      </p:cBhvr>
                                      <p:to>
                                        <p:strVal val="visible"/>
                                      </p:to>
                                    </p:set>
                                    <p:anim calcmode="lin" valueType="num">
                                      <p:cBhvr additive="base">
                                        <p:cTn id="81" dur="500" fill="hold"/>
                                        <p:tgtEl>
                                          <p:spTgt spid="91"/>
                                        </p:tgtEl>
                                        <p:attrNameLst>
                                          <p:attrName>ppt_x</p:attrName>
                                        </p:attrNameLst>
                                      </p:cBhvr>
                                      <p:tavLst>
                                        <p:tav tm="0">
                                          <p:val>
                                            <p:strVal val="#ppt_x"/>
                                          </p:val>
                                        </p:tav>
                                        <p:tav tm="100000">
                                          <p:val>
                                            <p:strVal val="#ppt_x"/>
                                          </p:val>
                                        </p:tav>
                                      </p:tavLst>
                                    </p:anim>
                                    <p:anim calcmode="lin" valueType="num">
                                      <p:cBhvr additive="base">
                                        <p:cTn id="82" dur="500" fill="hold"/>
                                        <p:tgtEl>
                                          <p:spTgt spid="9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4" grpId="2" bldLvl="0" animBg="1"/>
      <p:bldP spid="78" grpId="2"/>
      <p:bldP spid="81" grpId="0"/>
      <p:bldP spid="77" grpId="0" bldLvl="0" animBg="1"/>
      <p:bldP spid="81" grpId="1"/>
      <p:bldP spid="77" grpId="1" animBg="1"/>
      <p:bldP spid="85" grpId="0"/>
      <p:bldP spid="85" grpId="1"/>
      <p:bldP spid="86" grpId="0"/>
      <p:bldP spid="86" grpId="1"/>
      <p:bldP spid="86" grpId="2"/>
      <p:bldP spid="79" grpId="0"/>
      <p:bldP spid="79" grpId="1"/>
      <p:bldP spid="89" grpId="0"/>
      <p:bldP spid="89" grpId="1"/>
      <p:bldP spid="89" grpId="2"/>
      <p:bldP spid="88" grpId="0" animBg="1"/>
      <p:bldP spid="88" grpId="1" animBg="1"/>
      <p:bldP spid="3" grpId="0"/>
      <p:bldP spid="90" grpId="0" animBg="1"/>
      <p:bldP spid="3" grpId="1"/>
      <p:bldP spid="90" grpId="1" animBg="1"/>
      <p:bldP spid="91" grpId="1"/>
      <p:bldP spid="91" grpId="2"/>
      <p:bldP spid="93" grpId="0"/>
      <p:bldP spid="92" grpId="0" bldLvl="0" animBg="1"/>
      <p:bldP spid="93" grpId="1"/>
      <p:bldP spid="92" grpId="1" animBg="1"/>
      <p:bldP spid="98" grpId="0" bldLvl="0" animBg="1"/>
      <p:bldP spid="99" grpId="0"/>
      <p:bldP spid="98" grpId="1" animBg="1"/>
      <p:bldP spid="99" grpId="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9" name="文本框 88"/>
          <p:cNvSpPr txBox="1"/>
          <p:nvPr/>
        </p:nvSpPr>
        <p:spPr>
          <a:xfrm>
            <a:off x="341630" y="6247765"/>
            <a:ext cx="3919220" cy="41021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③：</a:t>
            </a:r>
            <a:r>
              <a:rPr lang="en-US" altLang="zh-CN" sz="1800">
                <a:uFillTx/>
                <a:latin typeface="Times New Roman" panose="02020603050405020304" pitchFamily="18" charset="0"/>
                <a:cs typeface="宋体" panose="02010600030101010101" pitchFamily="2" charset="-122"/>
                <a:sym typeface="+mn-ea"/>
              </a:rPr>
              <a:t>Visit=[1,1,1]</a:t>
            </a:r>
            <a:r>
              <a:rPr lang="zh-CN" altLang="en-US" sz="1800">
                <a:uFillTx/>
                <a:latin typeface="Times New Roman" panose="02020603050405020304" pitchFamily="18" charset="0"/>
                <a:cs typeface="宋体" panose="02010600030101010101" pitchFamily="2" charset="-122"/>
                <a:sym typeface="+mn-ea"/>
              </a:rPr>
              <a:t>，</a:t>
            </a:r>
            <a:r>
              <a:rPr lang="en-US" altLang="zh-CN" sz="1800">
                <a:uFillTx/>
                <a:latin typeface="Times New Roman" panose="02020603050405020304" pitchFamily="18" charset="0"/>
                <a:cs typeface="宋体" panose="02010600030101010101" pitchFamily="2" charset="-122"/>
                <a:sym typeface="+mn-ea"/>
              </a:rPr>
              <a:t>TempList = [1,2,3]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sp>
        <p:nvSpPr>
          <p:cNvPr id="48" name="文本框 47"/>
          <p:cNvSpPr txBox="1"/>
          <p:nvPr/>
        </p:nvSpPr>
        <p:spPr>
          <a:xfrm>
            <a:off x="323850"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④：达到递归出口，把结果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Result=[[1,2,3]]</a:t>
            </a:r>
            <a:endParaRPr lang="en-US" altLang="zh-CN">
              <a:solidFill>
                <a:schemeClr val="tx1"/>
              </a:solidFill>
              <a:uFillTx/>
              <a:latin typeface="Times New Roman" panose="02020603050405020304" pitchFamily="18" charset="0"/>
            </a:endParaRPr>
          </a:p>
        </p:txBody>
      </p:sp>
      <p:sp>
        <p:nvSpPr>
          <p:cNvPr id="75" name="文本框 74"/>
          <p:cNvSpPr txBox="1"/>
          <p:nvPr/>
        </p:nvSpPr>
        <p:spPr>
          <a:xfrm>
            <a:off x="3208655" y="5370195"/>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322580" y="624776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0" nodeType="clickEffect">
                                  <p:stCondLst>
                                    <p:cond delay="0"/>
                                  </p:stCondLst>
                                  <p:childTnLst>
                                    <p:anim calcmode="lin" valueType="num">
                                      <p:cBhvr additive="base">
                                        <p:cTn id="6" dur="500"/>
                                        <p:tgtEl>
                                          <p:spTgt spid="89"/>
                                        </p:tgtEl>
                                        <p:attrNameLst>
                                          <p:attrName>ppt_x</p:attrName>
                                        </p:attrNameLst>
                                      </p:cBhvr>
                                      <p:tavLst>
                                        <p:tav tm="0">
                                          <p:val>
                                            <p:strVal val="ppt_x"/>
                                          </p:val>
                                        </p:tav>
                                        <p:tav tm="100000">
                                          <p:val>
                                            <p:strVal val="ppt_x"/>
                                          </p:val>
                                        </p:tav>
                                      </p:tavLst>
                                    </p:anim>
                                    <p:anim calcmode="lin" valueType="num">
                                      <p:cBhvr additive="base">
                                        <p:cTn id="7" dur="500"/>
                                        <p:tgtEl>
                                          <p:spTgt spid="89"/>
                                        </p:tgtEl>
                                        <p:attrNameLst>
                                          <p:attrName>ppt_y</p:attrName>
                                        </p:attrNameLst>
                                      </p:cBhvr>
                                      <p:tavLst>
                                        <p:tav tm="0">
                                          <p:val>
                                            <p:strVal val="ppt_y"/>
                                          </p:val>
                                        </p:tav>
                                        <p:tav tm="100000">
                                          <p:val>
                                            <p:strVal val="1+ppt_h/2"/>
                                          </p:val>
                                        </p:tav>
                                      </p:tavLst>
                                    </p:anim>
                                    <p:set>
                                      <p:cBhvr>
                                        <p:cTn id="8" dur="1" fill="hold">
                                          <p:stCondLst>
                                            <p:cond delay="499"/>
                                          </p:stCondLst>
                                        </p:cTn>
                                        <p:tgtEl>
                                          <p:spTgt spid="89"/>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nodeType="clickEffect">
                                  <p:stCondLst>
                                    <p:cond delay="0"/>
                                  </p:stCondLst>
                                  <p:childTnLst>
                                    <p:set>
                                      <p:cBhvr>
                                        <p:cTn id="12" dur="1" fill="hold">
                                          <p:stCondLst>
                                            <p:cond delay="0"/>
                                          </p:stCondLst>
                                        </p:cTn>
                                        <p:tgtEl>
                                          <p:spTgt spid="50"/>
                                        </p:tgtEl>
                                        <p:attrNameLst>
                                          <p:attrName>style.visibility</p:attrName>
                                        </p:attrNameLst>
                                      </p:cBhvr>
                                      <p:to>
                                        <p:strVal val="visible"/>
                                      </p:to>
                                    </p:set>
                                    <p:animEffect transition="in" filter="box(in)">
                                      <p:cBhvr>
                                        <p:cTn id="13" dur="2000"/>
                                        <p:tgtEl>
                                          <p:spTgt spid="5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41"/>
                                        </p:tgtEl>
                                        <p:attrNameLst>
                                          <p:attrName>style.visibility</p:attrName>
                                        </p:attrNameLst>
                                      </p:cBhvr>
                                      <p:to>
                                        <p:strVal val="visible"/>
                                      </p:to>
                                    </p:set>
                                    <p:animEffect transition="in" filter="box(in)">
                                      <p:cBhvr>
                                        <p:cTn id="16" dur="2000"/>
                                        <p:tgtEl>
                                          <p:spTgt spid="41"/>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8"/>
                                        </p:tgtEl>
                                        <p:attrNameLst>
                                          <p:attrName>style.visibility</p:attrName>
                                        </p:attrNameLst>
                                      </p:cBhvr>
                                      <p:to>
                                        <p:strVal val="visible"/>
                                      </p:to>
                                    </p:set>
                                    <p:anim calcmode="lin" valueType="num">
                                      <p:cBhvr additive="base">
                                        <p:cTn id="21" dur="500" fill="hold"/>
                                        <p:tgtEl>
                                          <p:spTgt spid="48"/>
                                        </p:tgtEl>
                                        <p:attrNameLst>
                                          <p:attrName>ppt_x</p:attrName>
                                        </p:attrNameLst>
                                      </p:cBhvr>
                                      <p:tavLst>
                                        <p:tav tm="0">
                                          <p:val>
                                            <p:strVal val="#ppt_x"/>
                                          </p:val>
                                        </p:tav>
                                        <p:tav tm="100000">
                                          <p:val>
                                            <p:strVal val="#ppt_x"/>
                                          </p:val>
                                        </p:tav>
                                      </p:tavLst>
                                    </p:anim>
                                    <p:anim calcmode="lin" valueType="num">
                                      <p:cBhvr additive="base">
                                        <p:cTn id="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73"/>
                                        </p:tgtEl>
                                        <p:attrNameLst>
                                          <p:attrName>style.visibility</p:attrName>
                                        </p:attrNameLst>
                                      </p:cBhvr>
                                      <p:to>
                                        <p:strVal val="visible"/>
                                      </p:to>
                                    </p:set>
                                    <p:anim calcmode="lin" valueType="num">
                                      <p:cBhvr additive="base">
                                        <p:cTn id="27" dur="500" fill="hold"/>
                                        <p:tgtEl>
                                          <p:spTgt spid="73"/>
                                        </p:tgtEl>
                                        <p:attrNameLst>
                                          <p:attrName>ppt_x</p:attrName>
                                        </p:attrNameLst>
                                      </p:cBhvr>
                                      <p:tavLst>
                                        <p:tav tm="0">
                                          <p:val>
                                            <p:strVal val="#ppt_x"/>
                                          </p:val>
                                        </p:tav>
                                        <p:tav tm="100000">
                                          <p:val>
                                            <p:strVal val="#ppt_x"/>
                                          </p:val>
                                        </p:tav>
                                      </p:tavLst>
                                    </p:anim>
                                    <p:anim calcmode="lin" valueType="num">
                                      <p:cBhvr additive="base">
                                        <p:cTn id="2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grpId="2" nodeType="clickEffect">
                                  <p:stCondLst>
                                    <p:cond delay="0"/>
                                  </p:stCondLst>
                                  <p:childTnLst>
                                    <p:anim calcmode="lin" valueType="num">
                                      <p:cBhvr additive="base">
                                        <p:cTn id="32" dur="500"/>
                                        <p:tgtEl>
                                          <p:spTgt spid="48"/>
                                        </p:tgtEl>
                                        <p:attrNameLst>
                                          <p:attrName>ppt_x</p:attrName>
                                        </p:attrNameLst>
                                      </p:cBhvr>
                                      <p:tavLst>
                                        <p:tav tm="0">
                                          <p:val>
                                            <p:strVal val="ppt_x"/>
                                          </p:val>
                                        </p:tav>
                                        <p:tav tm="100000">
                                          <p:val>
                                            <p:strVal val="ppt_x"/>
                                          </p:val>
                                        </p:tav>
                                      </p:tavLst>
                                    </p:anim>
                                    <p:anim calcmode="lin" valueType="num">
                                      <p:cBhvr additive="base">
                                        <p:cTn id="33" dur="500"/>
                                        <p:tgtEl>
                                          <p:spTgt spid="48"/>
                                        </p:tgtEl>
                                        <p:attrNameLst>
                                          <p:attrName>ppt_y</p:attrName>
                                        </p:attrNameLst>
                                      </p:cBhvr>
                                      <p:tavLst>
                                        <p:tav tm="0">
                                          <p:val>
                                            <p:strVal val="ppt_y"/>
                                          </p:val>
                                        </p:tav>
                                        <p:tav tm="100000">
                                          <p:val>
                                            <p:strVal val="1+ppt_h/2"/>
                                          </p:val>
                                        </p:tav>
                                      </p:tavLst>
                                    </p:anim>
                                    <p:set>
                                      <p:cBhvr>
                                        <p:cTn id="34" dur="1" fill="hold">
                                          <p:stCondLst>
                                            <p:cond delay="499"/>
                                          </p:stCondLst>
                                        </p:cTn>
                                        <p:tgtEl>
                                          <p:spTgt spid="48"/>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4" presetClass="entr" presetSubtype="16" fill="hold" grpId="0" nodeType="clickEffect">
                                  <p:stCondLst>
                                    <p:cond delay="0"/>
                                  </p:stCondLst>
                                  <p:childTnLst>
                                    <p:set>
                                      <p:cBhvr>
                                        <p:cTn id="38" dur="1" fill="hold">
                                          <p:stCondLst>
                                            <p:cond delay="0"/>
                                          </p:stCondLst>
                                        </p:cTn>
                                        <p:tgtEl>
                                          <p:spTgt spid="75"/>
                                        </p:tgtEl>
                                        <p:attrNameLst>
                                          <p:attrName>style.visibility</p:attrName>
                                        </p:attrNameLst>
                                      </p:cBhvr>
                                      <p:to>
                                        <p:strVal val="visible"/>
                                      </p:to>
                                    </p:set>
                                    <p:animEffect transition="in" filter="box(in)">
                                      <p:cBhvr>
                                        <p:cTn id="39" dur="2000"/>
                                        <p:tgtEl>
                                          <p:spTgt spid="75"/>
                                        </p:tgtEl>
                                      </p:cBhvr>
                                    </p:animEffect>
                                  </p:childTnLst>
                                </p:cTn>
                              </p:par>
                              <p:par>
                                <p:cTn id="40" presetID="4" presetClass="entr" presetSubtype="16" fill="hold" grpId="0" nodeType="withEffect">
                                  <p:stCondLst>
                                    <p:cond delay="0"/>
                                  </p:stCondLst>
                                  <p:childTnLst>
                                    <p:set>
                                      <p:cBhvr>
                                        <p:cTn id="41" dur="1" fill="hold">
                                          <p:stCondLst>
                                            <p:cond delay="0"/>
                                          </p:stCondLst>
                                        </p:cTn>
                                        <p:tgtEl>
                                          <p:spTgt spid="87"/>
                                        </p:tgtEl>
                                        <p:attrNameLst>
                                          <p:attrName>style.visibility</p:attrName>
                                        </p:attrNameLst>
                                      </p:cBhvr>
                                      <p:to>
                                        <p:strVal val="visible"/>
                                      </p:to>
                                    </p:set>
                                    <p:animEffect transition="in" filter="box(in)">
                                      <p:cBhvr>
                                        <p:cTn id="42" dur="2000"/>
                                        <p:tgtEl>
                                          <p:spTgt spid="87"/>
                                        </p:tgtEl>
                                      </p:cBhvr>
                                    </p:animEffect>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80"/>
                                        </p:tgtEl>
                                        <p:attrNameLst>
                                          <p:attrName>style.visibility</p:attrName>
                                        </p:attrNameLst>
                                      </p:cBhvr>
                                      <p:to>
                                        <p:strVal val="visible"/>
                                      </p:to>
                                    </p:set>
                                    <p:anim calcmode="lin" valueType="num">
                                      <p:cBhvr additive="base">
                                        <p:cTn id="47" dur="500" fill="hold"/>
                                        <p:tgtEl>
                                          <p:spTgt spid="80"/>
                                        </p:tgtEl>
                                        <p:attrNameLst>
                                          <p:attrName>ppt_x</p:attrName>
                                        </p:attrNameLst>
                                      </p:cBhvr>
                                      <p:tavLst>
                                        <p:tav tm="0">
                                          <p:val>
                                            <p:strVal val="#ppt_x"/>
                                          </p:val>
                                        </p:tav>
                                        <p:tav tm="100000">
                                          <p:val>
                                            <p:strVal val="#ppt_x"/>
                                          </p:val>
                                        </p:tav>
                                      </p:tavLst>
                                    </p:anim>
                                    <p:anim calcmode="lin" valueType="num">
                                      <p:cBhvr additive="base">
                                        <p:cTn id="48" dur="500" fill="hold"/>
                                        <p:tgtEl>
                                          <p:spTgt spid="8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89" grpId="0"/>
      <p:bldP spid="89" grpId="1"/>
      <p:bldP spid="41" grpId="0"/>
      <p:bldP spid="41" grpId="1"/>
      <p:bldP spid="48" grpId="0"/>
      <p:bldP spid="48" grpId="1"/>
      <p:bldP spid="48" grpId="2"/>
      <p:bldP spid="73" grpId="0"/>
      <p:bldP spid="75" grpId="0"/>
      <p:bldP spid="75" grpId="1"/>
      <p:bldP spid="80" grpId="0"/>
      <p:bldP spid="80" grpId="1"/>
      <p:bldP spid="87" grpId="0" animBg="1"/>
      <p:bldP spid="87" grpId="1"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0" name="文本框 79"/>
          <p:cNvSpPr txBox="1"/>
          <p:nvPr/>
        </p:nvSpPr>
        <p:spPr>
          <a:xfrm>
            <a:off x="174625"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⑤：</a:t>
            </a:r>
            <a:r>
              <a:rPr lang="en-US" altLang="zh-CN" sz="1800">
                <a:solidFill>
                  <a:schemeClr val="tx1"/>
                </a:solidFill>
                <a:uFillTx/>
                <a:latin typeface="Times New Roman" panose="02020603050405020304" pitchFamily="18" charset="0"/>
              </a:rPr>
              <a:t>Visit=[1,1,0]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49" name="文本框 48"/>
          <p:cNvSpPr txBox="1"/>
          <p:nvPr/>
        </p:nvSpPr>
        <p:spPr>
          <a:xfrm>
            <a:off x="167005" y="623760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⑥：</a:t>
            </a:r>
            <a:r>
              <a:rPr lang="en-US" altLang="zh-CN" sz="1800">
                <a:solidFill>
                  <a:schemeClr val="tx1"/>
                </a:solidFill>
                <a:uFillTx/>
                <a:latin typeface="Times New Roman" panose="02020603050405020304" pitchFamily="18" charset="0"/>
              </a:rPr>
              <a:t>Visit=[1,0,0]</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177800" y="623697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0"/>
                                        </p:tgtEl>
                                        <p:attrNameLst>
                                          <p:attrName>ppt_x</p:attrName>
                                        </p:attrNameLst>
                                      </p:cBhvr>
                                      <p:tavLst>
                                        <p:tav tm="0">
                                          <p:val>
                                            <p:strVal val="ppt_x"/>
                                          </p:val>
                                        </p:tav>
                                        <p:tav tm="100000">
                                          <p:val>
                                            <p:strVal val="ppt_x"/>
                                          </p:val>
                                        </p:tav>
                                      </p:tavLst>
                                    </p:anim>
                                    <p:anim calcmode="lin" valueType="num">
                                      <p:cBhvr additive="base">
                                        <p:cTn id="7" dur="500"/>
                                        <p:tgtEl>
                                          <p:spTgt spid="80"/>
                                        </p:tgtEl>
                                        <p:attrNameLst>
                                          <p:attrName>ppt_y</p:attrName>
                                        </p:attrNameLst>
                                      </p:cBhvr>
                                      <p:tavLst>
                                        <p:tav tm="0">
                                          <p:val>
                                            <p:strVal val="ppt_y"/>
                                          </p:val>
                                        </p:tav>
                                        <p:tav tm="100000">
                                          <p:val>
                                            <p:strVal val="1+ppt_h/2"/>
                                          </p:val>
                                        </p:tav>
                                      </p:tavLst>
                                    </p:anim>
                                    <p:set>
                                      <p:cBhvr>
                                        <p:cTn id="8" dur="1" fill="hold">
                                          <p:stCondLst>
                                            <p:cond delay="499"/>
                                          </p:stCondLst>
                                        </p:cTn>
                                        <p:tgtEl>
                                          <p:spTgt spid="80"/>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box(in)">
                                      <p:cBhvr>
                                        <p:cTn id="13" dur="2000"/>
                                        <p:tgtEl>
                                          <p:spTgt spid="4"/>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box(in)">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49"/>
                                        </p:tgtEl>
                                        <p:attrNameLst>
                                          <p:attrName>style.visibility</p:attrName>
                                        </p:attrNameLst>
                                      </p:cBhvr>
                                      <p:to>
                                        <p:strVal val="visible"/>
                                      </p:to>
                                    </p:set>
                                    <p:anim calcmode="lin" valueType="num">
                                      <p:cBhvr additive="base">
                                        <p:cTn id="21" dur="500" fill="hold"/>
                                        <p:tgtEl>
                                          <p:spTgt spid="49"/>
                                        </p:tgtEl>
                                        <p:attrNameLst>
                                          <p:attrName>ppt_x</p:attrName>
                                        </p:attrNameLst>
                                      </p:cBhvr>
                                      <p:tavLst>
                                        <p:tav tm="0">
                                          <p:val>
                                            <p:strVal val="#ppt_x"/>
                                          </p:val>
                                        </p:tav>
                                        <p:tav tm="100000">
                                          <p:val>
                                            <p:strVal val="#ppt_x"/>
                                          </p:val>
                                        </p:tav>
                                      </p:tavLst>
                                    </p:anim>
                                    <p:anim calcmode="lin" valueType="num">
                                      <p:cBhvr additive="base">
                                        <p:cTn id="22"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xit" presetSubtype="4" fill="hold" grpId="2" nodeType="clickEffect">
                                  <p:stCondLst>
                                    <p:cond delay="0"/>
                                  </p:stCondLst>
                                  <p:childTnLst>
                                    <p:anim calcmode="lin" valueType="num">
                                      <p:cBhvr additive="base">
                                        <p:cTn id="26" dur="500"/>
                                        <p:tgtEl>
                                          <p:spTgt spid="49"/>
                                        </p:tgtEl>
                                        <p:attrNameLst>
                                          <p:attrName>ppt_x</p:attrName>
                                        </p:attrNameLst>
                                      </p:cBhvr>
                                      <p:tavLst>
                                        <p:tav tm="0">
                                          <p:val>
                                            <p:strVal val="ppt_x"/>
                                          </p:val>
                                        </p:tav>
                                        <p:tav tm="100000">
                                          <p:val>
                                            <p:strVal val="ppt_x"/>
                                          </p:val>
                                        </p:tav>
                                      </p:tavLst>
                                    </p:anim>
                                    <p:anim calcmode="lin" valueType="num">
                                      <p:cBhvr additive="base">
                                        <p:cTn id="27" dur="500"/>
                                        <p:tgtEl>
                                          <p:spTgt spid="49"/>
                                        </p:tgtEl>
                                        <p:attrNameLst>
                                          <p:attrName>ppt_y</p:attrName>
                                        </p:attrNameLst>
                                      </p:cBhvr>
                                      <p:tavLst>
                                        <p:tav tm="0">
                                          <p:val>
                                            <p:strVal val="ppt_y"/>
                                          </p:val>
                                        </p:tav>
                                        <p:tav tm="100000">
                                          <p:val>
                                            <p:strVal val="1+ppt_h/2"/>
                                          </p:val>
                                        </p:tav>
                                      </p:tavLst>
                                    </p:anim>
                                    <p:set>
                                      <p:cBhvr>
                                        <p:cTn id="28" dur="1" fill="hold">
                                          <p:stCondLst>
                                            <p:cond delay="499"/>
                                          </p:stCondLst>
                                        </p:cTn>
                                        <p:tgtEl>
                                          <p:spTgt spid="49"/>
                                        </p:tgtEl>
                                        <p:attrNameLst>
                                          <p:attrName>style.visibility</p:attrName>
                                        </p:attrNameLst>
                                      </p:cBhvr>
                                      <p:to>
                                        <p:strVal val="hidden"/>
                                      </p:to>
                                    </p:set>
                                  </p:childTnLst>
                                </p:cTn>
                              </p:par>
                            </p:childTnLst>
                          </p:cTn>
                        </p:par>
                      </p:childTnLst>
                    </p:cTn>
                  </p:par>
                  <p:par>
                    <p:cTn id="29" fill="hold">
                      <p:stCondLst>
                        <p:cond delay="indefinite"/>
                      </p:stCondLst>
                      <p:childTnLst>
                        <p:par>
                          <p:cTn id="30" fill="hold">
                            <p:stCondLst>
                              <p:cond delay="0"/>
                            </p:stCondLst>
                            <p:childTnLst>
                              <p:par>
                                <p:cTn id="31" presetID="4" presetClass="entr" presetSubtype="16" fill="hold" grpId="2" nodeType="clickEffect">
                                  <p:stCondLst>
                                    <p:cond delay="0"/>
                                  </p:stCondLst>
                                  <p:childTnLst>
                                    <p:set>
                                      <p:cBhvr>
                                        <p:cTn id="32" dur="1" fill="hold">
                                          <p:stCondLst>
                                            <p:cond delay="0"/>
                                          </p:stCondLst>
                                        </p:cTn>
                                        <p:tgtEl>
                                          <p:spTgt spid="82"/>
                                        </p:tgtEl>
                                        <p:attrNameLst>
                                          <p:attrName>style.visibility</p:attrName>
                                        </p:attrNameLst>
                                      </p:cBhvr>
                                      <p:to>
                                        <p:strVal val="visible"/>
                                      </p:to>
                                    </p:set>
                                    <p:animEffect transition="in" filter="box(in)">
                                      <p:cBhvr>
                                        <p:cTn id="33" dur="2000"/>
                                        <p:tgtEl>
                                          <p:spTgt spid="82"/>
                                        </p:tgtEl>
                                      </p:cBhvr>
                                    </p:animEffect>
                                  </p:childTnLst>
                                </p:cTn>
                              </p:par>
                              <p:par>
                                <p:cTn id="34" presetID="4" presetClass="entr" presetSubtype="16" fill="hold" grpId="0" nodeType="withEffect">
                                  <p:stCondLst>
                                    <p:cond delay="0"/>
                                  </p:stCondLst>
                                  <p:childTnLst>
                                    <p:set>
                                      <p:cBhvr>
                                        <p:cTn id="35" dur="1" fill="hold">
                                          <p:stCondLst>
                                            <p:cond delay="0"/>
                                          </p:stCondLst>
                                        </p:cTn>
                                        <p:tgtEl>
                                          <p:spTgt spid="76"/>
                                        </p:tgtEl>
                                        <p:attrNameLst>
                                          <p:attrName>style.visibility</p:attrName>
                                        </p:attrNameLst>
                                      </p:cBhvr>
                                      <p:to>
                                        <p:strVal val="visible"/>
                                      </p:to>
                                    </p:set>
                                    <p:animEffect transition="in" filter="box(in)">
                                      <p:cBhvr>
                                        <p:cTn id="36" dur="2000"/>
                                        <p:tgtEl>
                                          <p:spTgt spid="76"/>
                                        </p:tgtEl>
                                      </p:cBhvr>
                                    </p:animEffect>
                                  </p:childTnLst>
                                </p:cTn>
                              </p:par>
                            </p:childTnLst>
                          </p:cTn>
                        </p:par>
                      </p:childTnLst>
                    </p:cTn>
                  </p:par>
                  <p:par>
                    <p:cTn id="37" fill="hold">
                      <p:stCondLst>
                        <p:cond delay="indefinite"/>
                      </p:stCondLst>
                      <p:childTnLst>
                        <p:par>
                          <p:cTn id="38" fill="hold">
                            <p:stCondLst>
                              <p:cond delay="0"/>
                            </p:stCondLst>
                            <p:childTnLst>
                              <p:par>
                                <p:cTn id="39" presetID="4" presetClass="entr" presetSubtype="16" fill="hold" grpId="0" nodeType="clickEffect">
                                  <p:stCondLst>
                                    <p:cond delay="0"/>
                                  </p:stCondLst>
                                  <p:childTnLst>
                                    <p:set>
                                      <p:cBhvr>
                                        <p:cTn id="40" dur="1" fill="hold">
                                          <p:stCondLst>
                                            <p:cond delay="0"/>
                                          </p:stCondLst>
                                        </p:cTn>
                                        <p:tgtEl>
                                          <p:spTgt spid="91"/>
                                        </p:tgtEl>
                                        <p:attrNameLst>
                                          <p:attrName>style.visibility</p:attrName>
                                        </p:attrNameLst>
                                      </p:cBhvr>
                                      <p:to>
                                        <p:strVal val="visible"/>
                                      </p:to>
                                    </p:set>
                                    <p:animEffect transition="in" filter="box(in)">
                                      <p:cBhvr>
                                        <p:cTn id="41" dur="2000"/>
                                        <p:tgtEl>
                                          <p:spTgt spid="91"/>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83"/>
                                        </p:tgtEl>
                                        <p:attrNameLst>
                                          <p:attrName>style.visibility</p:attrName>
                                        </p:attrNameLst>
                                      </p:cBhvr>
                                      <p:to>
                                        <p:strVal val="visible"/>
                                      </p:to>
                                    </p:set>
                                    <p:anim calcmode="lin" valueType="num">
                                      <p:cBhvr additive="base">
                                        <p:cTn id="46" dur="500" fill="hold"/>
                                        <p:tgtEl>
                                          <p:spTgt spid="83"/>
                                        </p:tgtEl>
                                        <p:attrNameLst>
                                          <p:attrName>ppt_x</p:attrName>
                                        </p:attrNameLst>
                                      </p:cBhvr>
                                      <p:tavLst>
                                        <p:tav tm="0">
                                          <p:val>
                                            <p:strVal val="#ppt_x"/>
                                          </p:val>
                                        </p:tav>
                                        <p:tav tm="100000">
                                          <p:val>
                                            <p:strVal val="#ppt_x"/>
                                          </p:val>
                                        </p:tav>
                                      </p:tavLst>
                                    </p:anim>
                                    <p:anim calcmode="lin" valueType="num">
                                      <p:cBhvr additive="base">
                                        <p:cTn id="47" dur="500" fill="hold"/>
                                        <p:tgtEl>
                                          <p:spTgt spid="83"/>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2" nodeType="clickEffect">
                                  <p:stCondLst>
                                    <p:cond delay="0"/>
                                  </p:stCondLst>
                                  <p:childTnLst>
                                    <p:anim calcmode="lin" valueType="num">
                                      <p:cBhvr additive="base">
                                        <p:cTn id="51" dur="500"/>
                                        <p:tgtEl>
                                          <p:spTgt spid="83"/>
                                        </p:tgtEl>
                                        <p:attrNameLst>
                                          <p:attrName>ppt_x</p:attrName>
                                        </p:attrNameLst>
                                      </p:cBhvr>
                                      <p:tavLst>
                                        <p:tav tm="0">
                                          <p:val>
                                            <p:strVal val="ppt_x"/>
                                          </p:val>
                                        </p:tav>
                                        <p:tav tm="100000">
                                          <p:val>
                                            <p:strVal val="ppt_x"/>
                                          </p:val>
                                        </p:tav>
                                      </p:tavLst>
                                    </p:anim>
                                    <p:anim calcmode="lin" valueType="num">
                                      <p:cBhvr additive="base">
                                        <p:cTn id="52" dur="500"/>
                                        <p:tgtEl>
                                          <p:spTgt spid="83"/>
                                        </p:tgtEl>
                                        <p:attrNameLst>
                                          <p:attrName>ppt_y</p:attrName>
                                        </p:attrNameLst>
                                      </p:cBhvr>
                                      <p:tavLst>
                                        <p:tav tm="0">
                                          <p:val>
                                            <p:strVal val="ppt_y"/>
                                          </p:val>
                                        </p:tav>
                                        <p:tav tm="100000">
                                          <p:val>
                                            <p:strVal val="1+ppt_h/2"/>
                                          </p:val>
                                        </p:tav>
                                      </p:tavLst>
                                    </p:anim>
                                    <p:set>
                                      <p:cBhvr>
                                        <p:cTn id="53" dur="1" fill="hold">
                                          <p:stCondLst>
                                            <p:cond delay="499"/>
                                          </p:stCondLst>
                                        </p:cTn>
                                        <p:tgtEl>
                                          <p:spTgt spid="8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0" grpId="1"/>
      <p:bldP spid="87" grpId="1" animBg="1"/>
      <p:bldP spid="49" grpId="0"/>
      <p:bldP spid="49" grpId="1"/>
      <p:bldP spid="80" grpId="2"/>
      <p:bldP spid="49" grpId="2"/>
      <p:bldP spid="4" grpId="0"/>
      <p:bldP spid="2" grpId="0" animBg="1"/>
      <p:bldP spid="4" grpId="1"/>
      <p:bldP spid="2" grpId="1" animBg="1"/>
      <p:bldP spid="82" grpId="1"/>
      <p:bldP spid="82" grpId="2"/>
      <p:bldP spid="76" grpId="0" animBg="1"/>
      <p:bldP spid="83" grpId="0"/>
      <p:bldP spid="83" grpId="1"/>
      <p:bldP spid="83" grpId="2"/>
      <p:bldP spid="91" grpId="0" bldLvl="0" animBg="1"/>
      <p:bldP spid="91" grpId="1"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72" name="组合 71"/>
          <p:cNvGrpSpPr/>
          <p:nvPr/>
        </p:nvGrpSpPr>
        <p:grpSpPr>
          <a:xfrm>
            <a:off x="2771775" y="2853055"/>
            <a:ext cx="3688080" cy="2865120"/>
            <a:chOff x="8221" y="3132"/>
            <a:chExt cx="5808" cy="4512"/>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 name="组合 4"/>
            <p:cNvGrpSpPr/>
            <p:nvPr/>
          </p:nvGrpSpPr>
          <p:grpSpPr>
            <a:xfrm>
              <a:off x="11440" y="6011"/>
              <a:ext cx="538" cy="539"/>
              <a:chOff x="10489" y="3359"/>
              <a:chExt cx="1018" cy="917"/>
            </a:xfrm>
          </p:grpSpPr>
          <p:sp>
            <p:nvSpPr>
              <p:cNvPr id="6" name="椭圆 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6"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9" name="文本框 8"/>
          <p:cNvSpPr txBox="1"/>
          <p:nvPr/>
        </p:nvSpPr>
        <p:spPr>
          <a:xfrm>
            <a:off x="611505" y="1462405"/>
            <a:ext cx="4481195" cy="448945"/>
          </a:xfrm>
          <a:prstGeom prst="rect">
            <a:avLst/>
          </a:prstGeom>
          <a:noFill/>
        </p:spPr>
        <p:txBody>
          <a:bodyPr>
            <a:noAutofit/>
          </a:bodyPr>
          <a:p>
            <a:pPr>
              <a:defRPr/>
            </a:pPr>
            <a:r>
              <a:rPr lang="zh-CN" altLang="en-US" sz="1800">
                <a:solidFill>
                  <a:srgbClr val="000066"/>
                </a:solidFill>
                <a:latin typeface="+mj-ea"/>
                <a:ea typeface="+mj-ea"/>
              </a:rPr>
              <a:t>如何设计全排列</a:t>
            </a:r>
            <a:r>
              <a:rPr lang="en-US" altLang="zh-CN" sz="1800">
                <a:solidFill>
                  <a:srgbClr val="000066"/>
                </a:solidFill>
                <a:latin typeface="+mj-ea"/>
                <a:ea typeface="+mj-ea"/>
              </a:rPr>
              <a:t>I</a:t>
            </a:r>
            <a:r>
              <a:rPr lang="zh-CN" altLang="en-US" sz="1800">
                <a:solidFill>
                  <a:srgbClr val="000066"/>
                </a:solidFill>
                <a:latin typeface="+mj-ea"/>
                <a:ea typeface="+mj-ea"/>
              </a:rPr>
              <a:t>的程序？</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sp>
        <p:nvSpPr>
          <p:cNvPr id="78" name="文本框 77"/>
          <p:cNvSpPr txBox="1"/>
          <p:nvPr/>
        </p:nvSpPr>
        <p:spPr>
          <a:xfrm>
            <a:off x="3059430" y="2770505"/>
            <a:ext cx="469265" cy="401320"/>
          </a:xfrm>
          <a:prstGeom prst="rect">
            <a:avLst/>
          </a:prstGeom>
          <a:noFill/>
        </p:spPr>
        <p:txBody>
          <a:bodyPr wrap="square" rtlCol="0">
            <a:noAutofit/>
          </a:bodyPr>
          <a:p>
            <a:r>
              <a:rPr lang="zh-CN" altLang="en-US" sz="1800">
                <a:solidFill>
                  <a:srgbClr val="FF0000"/>
                </a:solidFill>
              </a:rPr>
              <a:t>①</a:t>
            </a:r>
            <a:endParaRPr lang="zh-CN" altLang="en-US" sz="1800">
              <a:solidFill>
                <a:srgbClr val="FF0000"/>
              </a:solidFill>
            </a:endParaRPr>
          </a:p>
        </p:txBody>
      </p:sp>
      <p:sp>
        <p:nvSpPr>
          <p:cNvPr id="79" name="文本框 78"/>
          <p:cNvSpPr txBox="1"/>
          <p:nvPr/>
        </p:nvSpPr>
        <p:spPr>
          <a:xfrm>
            <a:off x="2411730" y="4149090"/>
            <a:ext cx="469265" cy="401320"/>
          </a:xfrm>
          <a:prstGeom prst="rect">
            <a:avLst/>
          </a:prstGeom>
          <a:noFill/>
        </p:spPr>
        <p:txBody>
          <a:bodyPr wrap="square" rtlCol="0">
            <a:noAutofit/>
          </a:bodyPr>
          <a:p>
            <a:r>
              <a:rPr lang="zh-CN" altLang="en-US" sz="1800">
                <a:solidFill>
                  <a:srgbClr val="FF0000"/>
                </a:solidFill>
              </a:rPr>
              <a:t>②</a:t>
            </a:r>
            <a:endParaRPr lang="zh-CN" altLang="en-US" sz="1800">
              <a:solidFill>
                <a:srgbClr val="FF0000"/>
              </a:solidFill>
            </a:endParaRPr>
          </a:p>
        </p:txBody>
      </p:sp>
      <p:sp>
        <p:nvSpPr>
          <p:cNvPr id="3" name="文本框 2"/>
          <p:cNvSpPr txBox="1"/>
          <p:nvPr/>
        </p:nvSpPr>
        <p:spPr>
          <a:xfrm>
            <a:off x="2305050" y="4932045"/>
            <a:ext cx="336550" cy="429260"/>
          </a:xfrm>
          <a:prstGeom prst="rect">
            <a:avLst/>
          </a:prstGeom>
          <a:noFill/>
        </p:spPr>
        <p:txBody>
          <a:bodyPr wrap="square" rtlCol="0">
            <a:noAutofit/>
          </a:bodyPr>
          <a:p>
            <a:r>
              <a:rPr lang="zh-CN" altLang="en-US" sz="1800">
                <a:solidFill>
                  <a:srgbClr val="FF0000"/>
                </a:solidFill>
              </a:rPr>
              <a:t>③</a:t>
            </a:r>
            <a:endParaRPr lang="zh-CN" altLang="en-US" sz="1800">
              <a:solidFill>
                <a:srgbClr val="FF0000"/>
              </a:solidFill>
            </a:endParaRPr>
          </a:p>
        </p:txBody>
      </p:sp>
      <p:sp>
        <p:nvSpPr>
          <p:cNvPr id="84" name="任意多边形 83"/>
          <p:cNvSpPr/>
          <p:nvPr/>
        </p:nvSpPr>
        <p:spPr>
          <a:xfrm>
            <a:off x="3253105" y="2873375"/>
            <a:ext cx="882650" cy="617855"/>
          </a:xfrm>
          <a:custGeom>
            <a:avLst/>
            <a:gdLst>
              <a:gd name="connisteX0" fmla="*/ 882650 w 882650"/>
              <a:gd name="connsiteY0" fmla="*/ 0 h 617855"/>
              <a:gd name="connisteX1" fmla="*/ 317500 w 882650"/>
              <a:gd name="connsiteY1" fmla="*/ 150495 h 617855"/>
              <a:gd name="connisteX2" fmla="*/ 0 w 882650"/>
              <a:gd name="connsiteY2" fmla="*/ 617855 h 617855"/>
            </a:gdLst>
            <a:ahLst/>
            <a:cxnLst>
              <a:cxn ang="0">
                <a:pos x="connisteX0" y="connsiteY0"/>
              </a:cxn>
              <a:cxn ang="0">
                <a:pos x="connisteX1" y="connsiteY1"/>
              </a:cxn>
              <a:cxn ang="0">
                <a:pos x="connisteX2" y="connsiteY2"/>
              </a:cxn>
            </a:cxnLst>
            <a:rect l="l" t="t" r="r" b="b"/>
            <a:pathLst>
              <a:path w="882650" h="617855">
                <a:moveTo>
                  <a:pt x="882650" y="0"/>
                </a:moveTo>
                <a:cubicBezTo>
                  <a:pt x="775970" y="20955"/>
                  <a:pt x="494030" y="26670"/>
                  <a:pt x="317500" y="150495"/>
                </a:cubicBezTo>
                <a:cubicBezTo>
                  <a:pt x="140970" y="274320"/>
                  <a:pt x="52070" y="527685"/>
                  <a:pt x="0" y="617855"/>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文本框 13"/>
          <p:cNvSpPr txBox="1"/>
          <p:nvPr/>
        </p:nvSpPr>
        <p:spPr>
          <a:xfrm>
            <a:off x="683260" y="1844675"/>
            <a:ext cx="8192770" cy="41592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Visit</a:t>
            </a:r>
            <a:r>
              <a:rPr lang="zh-CN" altLang="en-US" sz="1800">
                <a:solidFill>
                  <a:schemeClr val="tx1"/>
                </a:solidFill>
                <a:uFillTx/>
                <a:latin typeface="Times New Roman" panose="02020603050405020304" pitchFamily="18" charset="0"/>
                <a:cs typeface="宋体" panose="02010600030101010101" pitchFamily="2" charset="-122"/>
              </a:rPr>
              <a:t>数组，表示元素是否被访问，</a:t>
            </a:r>
            <a:r>
              <a:rPr lang="en-US" altLang="zh-CN" sz="1800">
                <a:solidFill>
                  <a:schemeClr val="tx1"/>
                </a:solidFill>
                <a:uFillTx/>
                <a:latin typeface="Times New Roman" panose="02020603050405020304" pitchFamily="18" charset="0"/>
                <a:cs typeface="宋体" panose="02010600030101010101" pitchFamily="2" charset="-122"/>
              </a:rPr>
              <a:t>1</a:t>
            </a:r>
            <a:r>
              <a:rPr lang="zh-CN" altLang="en-US" sz="1800">
                <a:solidFill>
                  <a:schemeClr val="tx1"/>
                </a:solidFill>
                <a:uFillTx/>
                <a:latin typeface="Times New Roman" panose="02020603050405020304" pitchFamily="18" charset="0"/>
                <a:cs typeface="宋体" panose="02010600030101010101" pitchFamily="2" charset="-122"/>
              </a:rPr>
              <a:t>表示已被访问，</a:t>
            </a:r>
            <a:r>
              <a:rPr lang="en-US" altLang="zh-CN" sz="1800">
                <a:solidFill>
                  <a:schemeClr val="tx1"/>
                </a:solidFill>
                <a:uFillTx/>
                <a:latin typeface="Times New Roman" panose="02020603050405020304" pitchFamily="18" charset="0"/>
                <a:cs typeface="宋体" panose="02010600030101010101" pitchFamily="2" charset="-122"/>
              </a:rPr>
              <a:t>0</a:t>
            </a:r>
            <a:r>
              <a:rPr lang="zh-CN" altLang="en-US" sz="1800">
                <a:solidFill>
                  <a:schemeClr val="tx1"/>
                </a:solidFill>
                <a:uFillTx/>
                <a:latin typeface="Times New Roman" panose="02020603050405020304" pitchFamily="18" charset="0"/>
                <a:cs typeface="宋体" panose="02010600030101010101" pitchFamily="2" charset="-122"/>
              </a:rPr>
              <a:t>表示未被访问。</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4" name="文本框 73"/>
          <p:cNvSpPr txBox="1"/>
          <p:nvPr/>
        </p:nvSpPr>
        <p:spPr>
          <a:xfrm>
            <a:off x="683260" y="2204720"/>
            <a:ext cx="7426960" cy="4984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宋体" panose="02010600030101010101" pitchFamily="2" charset="-122"/>
              </a:rPr>
              <a:t>TempList</a:t>
            </a:r>
            <a:r>
              <a:rPr lang="zh-CN" altLang="en-US" sz="1800">
                <a:solidFill>
                  <a:schemeClr val="tx1"/>
                </a:solidFill>
                <a:uFillTx/>
                <a:latin typeface="Times New Roman" panose="02020603050405020304" pitchFamily="18" charset="0"/>
                <a:cs typeface="宋体" panose="02010600030101010101" pitchFamily="2" charset="-122"/>
              </a:rPr>
              <a:t>数组，临时存储全排列的所有</a:t>
            </a:r>
            <a:r>
              <a:rPr lang="zh-CN" altLang="en-US" sz="1800">
                <a:solidFill>
                  <a:schemeClr val="tx1"/>
                </a:solidFill>
                <a:uFillTx/>
                <a:latin typeface="Times New Roman" panose="02020603050405020304" pitchFamily="18" charset="0"/>
                <a:cs typeface="宋体" panose="02010600030101010101" pitchFamily="2" charset="-122"/>
              </a:rPr>
              <a:t>情况。</a:t>
            </a:r>
            <a:endParaRPr lang="zh-CN" altLang="en-US" sz="1800">
              <a:solidFill>
                <a:schemeClr val="tx1"/>
              </a:solidFill>
              <a:uFillTx/>
              <a:latin typeface="Times New Roman" panose="02020603050405020304" pitchFamily="18" charset="0"/>
              <a:cs typeface="宋体" panose="02010600030101010101" pitchFamily="2" charset="-122"/>
            </a:endParaRPr>
          </a:p>
        </p:txBody>
      </p:sp>
      <p:sp>
        <p:nvSpPr>
          <p:cNvPr id="77" name="椭圆 76"/>
          <p:cNvSpPr/>
          <p:nvPr/>
        </p:nvSpPr>
        <p:spPr>
          <a:xfrm>
            <a:off x="3060065" y="3789680"/>
            <a:ext cx="646430" cy="58229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3080385" y="3933190"/>
            <a:ext cx="554990" cy="350520"/>
          </a:xfrm>
          <a:prstGeom prst="rect">
            <a:avLst/>
          </a:prstGeom>
          <a:noFill/>
          <a:ln>
            <a:noFill/>
          </a:ln>
          <a:extLst>
            <a:ext uri="{909E8E84-426E-40DD-AFC4-6F175D3DCCD1}">
              <a14:hiddenFill xmlns:a14="http://schemas.microsoft.com/office/drawing/2010/main">
                <a:solidFill>
                  <a:srgbClr val="FF0000"/>
                </a:solidFill>
              </a14:hiddenFill>
            </a:ext>
          </a:extLst>
        </p:spPr>
        <p:txBody>
          <a:bodyPr>
            <a:noAutofit/>
          </a:bodyPr>
          <a:p>
            <a:pPr algn="ctr">
              <a:defRPr/>
            </a:pPr>
            <a:r>
              <a:rPr lang="en-US" sz="1400">
                <a:solidFill>
                  <a:schemeClr val="tx1"/>
                </a:solidFill>
                <a:latin typeface="+mj-ea"/>
                <a:ea typeface="+mj-ea"/>
              </a:rPr>
              <a:t>1</a:t>
            </a:r>
            <a:endParaRPr lang="en-US" sz="1400">
              <a:solidFill>
                <a:schemeClr val="tx1"/>
              </a:solidFill>
              <a:latin typeface="+mj-ea"/>
              <a:ea typeface="+mj-ea"/>
            </a:endParaRPr>
          </a:p>
        </p:txBody>
      </p:sp>
      <p:sp>
        <p:nvSpPr>
          <p:cNvPr id="88" name="任意多边形 87"/>
          <p:cNvSpPr/>
          <p:nvPr/>
        </p:nvSpPr>
        <p:spPr>
          <a:xfrm>
            <a:off x="2736850" y="4210050"/>
            <a:ext cx="281305" cy="511810"/>
          </a:xfrm>
          <a:custGeom>
            <a:avLst/>
            <a:gdLst>
              <a:gd name="connisteX0" fmla="*/ 281102 w 281102"/>
              <a:gd name="connsiteY0" fmla="*/ 0 h 511976"/>
              <a:gd name="connisteX1" fmla="*/ 79807 w 281102"/>
              <a:gd name="connsiteY1" fmla="*/ 173990 h 511976"/>
              <a:gd name="connisteX2" fmla="*/ 6782 w 281102"/>
              <a:gd name="connsiteY2" fmla="*/ 485775 h 511976"/>
              <a:gd name="connisteX3" fmla="*/ 6782 w 281102"/>
              <a:gd name="connsiteY3" fmla="*/ 476250 h 511976"/>
            </a:gdLst>
            <a:ahLst/>
            <a:cxnLst>
              <a:cxn ang="0">
                <a:pos x="connisteX0" y="connsiteY0"/>
              </a:cxn>
              <a:cxn ang="0">
                <a:pos x="connisteX1" y="connsiteY1"/>
              </a:cxn>
              <a:cxn ang="0">
                <a:pos x="connisteX2" y="connsiteY2"/>
              </a:cxn>
              <a:cxn ang="0">
                <a:pos x="connisteX3" y="connsiteY3"/>
              </a:cxn>
            </a:cxnLst>
            <a:rect l="l" t="t" r="r" b="b"/>
            <a:pathLst>
              <a:path w="281103" h="511977">
                <a:moveTo>
                  <a:pt x="281103" y="0"/>
                </a:moveTo>
                <a:cubicBezTo>
                  <a:pt x="242368" y="28575"/>
                  <a:pt x="134418" y="76835"/>
                  <a:pt x="79808" y="173990"/>
                </a:cubicBezTo>
                <a:cubicBezTo>
                  <a:pt x="25198" y="271145"/>
                  <a:pt x="21388" y="425450"/>
                  <a:pt x="6783" y="485775"/>
                </a:cubicBezTo>
                <a:cubicBezTo>
                  <a:pt x="-7822" y="546100"/>
                  <a:pt x="5513" y="484505"/>
                  <a:pt x="6783" y="47625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任意多边形 89"/>
          <p:cNvSpPr/>
          <p:nvPr/>
        </p:nvSpPr>
        <p:spPr>
          <a:xfrm>
            <a:off x="2713990" y="495236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2" name="椭圆 91"/>
          <p:cNvSpPr/>
          <p:nvPr/>
        </p:nvSpPr>
        <p:spPr>
          <a:xfrm>
            <a:off x="277177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3" name="文本框 92"/>
          <p:cNvSpPr txBox="1"/>
          <p:nvPr/>
        </p:nvSpPr>
        <p:spPr>
          <a:xfrm>
            <a:off x="2809697" y="47260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96" name="椭圆 95"/>
          <p:cNvSpPr/>
          <p:nvPr/>
        </p:nvSpPr>
        <p:spPr>
          <a:xfrm>
            <a:off x="277177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7" name="文本框 96"/>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8" name="椭圆 97"/>
          <p:cNvSpPr/>
          <p:nvPr/>
        </p:nvSpPr>
        <p:spPr>
          <a:xfrm>
            <a:off x="2771775" y="537591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2809697" y="542069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41" name="文本框 40"/>
          <p:cNvSpPr txBox="1"/>
          <p:nvPr/>
        </p:nvSpPr>
        <p:spPr>
          <a:xfrm>
            <a:off x="2544445" y="5625465"/>
            <a:ext cx="336550" cy="429260"/>
          </a:xfrm>
          <a:prstGeom prst="rect">
            <a:avLst/>
          </a:prstGeom>
          <a:noFill/>
        </p:spPr>
        <p:txBody>
          <a:bodyPr wrap="square" rtlCol="0">
            <a:noAutofit/>
          </a:bodyPr>
          <a:p>
            <a:r>
              <a:rPr lang="zh-CN" altLang="en-US" sz="1800">
                <a:solidFill>
                  <a:srgbClr val="FF0000"/>
                </a:solidFill>
              </a:rPr>
              <a:t>④</a:t>
            </a:r>
            <a:endParaRPr lang="zh-CN" altLang="en-US" sz="1800">
              <a:solidFill>
                <a:srgbClr val="FF0000"/>
              </a:solidFill>
            </a:endParaRPr>
          </a:p>
        </p:txBody>
      </p:sp>
      <p:cxnSp>
        <p:nvCxnSpPr>
          <p:cNvPr id="50" name="直接箭头连接符 49"/>
          <p:cNvCxnSpPr/>
          <p:nvPr/>
        </p:nvCxnSpPr>
        <p:spPr>
          <a:xfrm>
            <a:off x="2950210" y="573722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73" name="文本框 72"/>
          <p:cNvSpPr txBox="1"/>
          <p:nvPr/>
        </p:nvSpPr>
        <p:spPr>
          <a:xfrm>
            <a:off x="701040" y="249301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a:t>
            </a:r>
            <a:endParaRPr lang="en-US" altLang="zh-CN" sz="1800">
              <a:solidFill>
                <a:schemeClr val="tx1"/>
              </a:solidFill>
              <a:uFillTx/>
              <a:latin typeface="Times New Roman" panose="02020603050405020304" pitchFamily="18" charset="0"/>
            </a:endParaRPr>
          </a:p>
        </p:txBody>
      </p:sp>
      <p:sp>
        <p:nvSpPr>
          <p:cNvPr id="75" name="文本框 74"/>
          <p:cNvSpPr txBox="1"/>
          <p:nvPr/>
        </p:nvSpPr>
        <p:spPr>
          <a:xfrm>
            <a:off x="3197860" y="5375910"/>
            <a:ext cx="336550" cy="429260"/>
          </a:xfrm>
          <a:prstGeom prst="rect">
            <a:avLst/>
          </a:prstGeom>
          <a:noFill/>
        </p:spPr>
        <p:txBody>
          <a:bodyPr wrap="square" rtlCol="0">
            <a:noAutofit/>
          </a:bodyPr>
          <a:p>
            <a:r>
              <a:rPr lang="zh-CN" altLang="en-US" sz="1800">
                <a:solidFill>
                  <a:srgbClr val="FF0000"/>
                </a:solidFill>
              </a:rPr>
              <a:t>⑤</a:t>
            </a:r>
            <a:endParaRPr lang="zh-CN" altLang="en-US" sz="1800">
              <a:solidFill>
                <a:srgbClr val="FF0000"/>
              </a:solidFill>
            </a:endParaRPr>
          </a:p>
        </p:txBody>
      </p:sp>
      <p:sp>
        <p:nvSpPr>
          <p:cNvPr id="87" name="任意多边形 86"/>
          <p:cNvSpPr/>
          <p:nvPr/>
        </p:nvSpPr>
        <p:spPr>
          <a:xfrm>
            <a:off x="3059430" y="5341620"/>
            <a:ext cx="241935" cy="372745"/>
          </a:xfrm>
          <a:custGeom>
            <a:avLst/>
            <a:gdLst>
              <a:gd name="connisteX0" fmla="*/ 0 w 241617"/>
              <a:gd name="connsiteY0" fmla="*/ 372511 h 372511"/>
              <a:gd name="connisteX1" fmla="*/ 210185 w 241617"/>
              <a:gd name="connsiteY1" fmla="*/ 317266 h 372511"/>
              <a:gd name="connisteX2" fmla="*/ 210185 w 241617"/>
              <a:gd name="connsiteY2" fmla="*/ 24531 h 372511"/>
              <a:gd name="connisteX3" fmla="*/ 0 w 241617"/>
              <a:gd name="connsiteY3" fmla="*/ 33421 h 372511"/>
            </a:gdLst>
            <a:ahLst/>
            <a:cxnLst>
              <a:cxn ang="0">
                <a:pos x="connisteX0" y="connsiteY0"/>
              </a:cxn>
              <a:cxn ang="0">
                <a:pos x="connisteX1" y="connsiteY1"/>
              </a:cxn>
              <a:cxn ang="0">
                <a:pos x="connisteX2" y="connsiteY2"/>
              </a:cxn>
              <a:cxn ang="0">
                <a:pos x="connisteX3" y="connsiteY3"/>
              </a:cxn>
            </a:cxnLst>
            <a:rect l="l" t="t" r="r" b="b"/>
            <a:pathLst>
              <a:path w="241618" h="372511">
                <a:moveTo>
                  <a:pt x="0" y="372511"/>
                </a:moveTo>
                <a:cubicBezTo>
                  <a:pt x="41910" y="367431"/>
                  <a:pt x="168275" y="387116"/>
                  <a:pt x="210185" y="317266"/>
                </a:cubicBezTo>
                <a:cubicBezTo>
                  <a:pt x="252095" y="247416"/>
                  <a:pt x="252095" y="81046"/>
                  <a:pt x="210185" y="24531"/>
                </a:cubicBezTo>
                <a:cubicBezTo>
                  <a:pt x="168275" y="-31984"/>
                  <a:pt x="41910" y="25801"/>
                  <a:pt x="0" y="33421"/>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 name="任意多边形 1"/>
          <p:cNvSpPr/>
          <p:nvPr/>
        </p:nvSpPr>
        <p:spPr>
          <a:xfrm>
            <a:off x="3159760" y="4848225"/>
            <a:ext cx="73660" cy="567690"/>
          </a:xfrm>
          <a:custGeom>
            <a:avLst/>
            <a:gdLst>
              <a:gd name="connisteX0" fmla="*/ 0 w 73660"/>
              <a:gd name="connsiteY0" fmla="*/ 567690 h 567690"/>
              <a:gd name="connisteX1" fmla="*/ 73660 w 73660"/>
              <a:gd name="connsiteY1" fmla="*/ 311150 h 567690"/>
              <a:gd name="connisteX2" fmla="*/ 0 w 73660"/>
              <a:gd name="connsiteY2" fmla="*/ 0 h 567690"/>
            </a:gdLst>
            <a:ahLst/>
            <a:cxnLst>
              <a:cxn ang="0">
                <a:pos x="connisteX0" y="connsiteY0"/>
              </a:cxn>
              <a:cxn ang="0">
                <a:pos x="connisteX1" y="connsiteY1"/>
              </a:cxn>
              <a:cxn ang="0">
                <a:pos x="connisteX2" y="connsiteY2"/>
              </a:cxn>
            </a:cxnLst>
            <a:rect l="l" t="t" r="r" b="b"/>
            <a:pathLst>
              <a:path w="73660" h="567690">
                <a:moveTo>
                  <a:pt x="0" y="567690"/>
                </a:moveTo>
                <a:cubicBezTo>
                  <a:pt x="16510" y="522605"/>
                  <a:pt x="73660" y="424815"/>
                  <a:pt x="73660" y="311150"/>
                </a:cubicBezTo>
                <a:cubicBezTo>
                  <a:pt x="73660" y="197485"/>
                  <a:pt x="16510" y="57150"/>
                  <a:pt x="0" y="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 name="文本框 3"/>
          <p:cNvSpPr txBox="1"/>
          <p:nvPr/>
        </p:nvSpPr>
        <p:spPr>
          <a:xfrm>
            <a:off x="3150235" y="4796790"/>
            <a:ext cx="336550" cy="429260"/>
          </a:xfrm>
          <a:prstGeom prst="rect">
            <a:avLst/>
          </a:prstGeom>
          <a:noFill/>
        </p:spPr>
        <p:txBody>
          <a:bodyPr wrap="square" rtlCol="0">
            <a:noAutofit/>
          </a:bodyPr>
          <a:p>
            <a:r>
              <a:rPr lang="zh-CN" altLang="en-US" sz="1800">
                <a:solidFill>
                  <a:srgbClr val="FF0000"/>
                </a:solidFill>
              </a:rPr>
              <a:t>⑥</a:t>
            </a:r>
            <a:endParaRPr lang="zh-CN" altLang="en-US" sz="1800">
              <a:solidFill>
                <a:srgbClr val="FF0000"/>
              </a:solidFill>
            </a:endParaRPr>
          </a:p>
        </p:txBody>
      </p:sp>
      <p:sp>
        <p:nvSpPr>
          <p:cNvPr id="76" name="任意多边形 75"/>
          <p:cNvSpPr/>
          <p:nvPr/>
        </p:nvSpPr>
        <p:spPr>
          <a:xfrm>
            <a:off x="3165475" y="4585335"/>
            <a:ext cx="366395" cy="189865"/>
          </a:xfrm>
          <a:custGeom>
            <a:avLst/>
            <a:gdLst>
              <a:gd name="connisteX0" fmla="*/ 0 w 366395"/>
              <a:gd name="connsiteY0" fmla="*/ 189653 h 189653"/>
              <a:gd name="connisteX1" fmla="*/ 119380 w 366395"/>
              <a:gd name="connsiteY1" fmla="*/ 15028 h 189653"/>
              <a:gd name="connisteX2" fmla="*/ 320675 w 366395"/>
              <a:gd name="connsiteY2" fmla="*/ 24553 h 189653"/>
              <a:gd name="connisteX3" fmla="*/ 366395 w 366395"/>
              <a:gd name="connsiteY3" fmla="*/ 79163 h 189653"/>
            </a:gdLst>
            <a:ahLst/>
            <a:cxnLst>
              <a:cxn ang="0">
                <a:pos x="connisteX0" y="connsiteY0"/>
              </a:cxn>
              <a:cxn ang="0">
                <a:pos x="connisteX1" y="connsiteY1"/>
              </a:cxn>
              <a:cxn ang="0">
                <a:pos x="connisteX2" y="connsiteY2"/>
              </a:cxn>
              <a:cxn ang="0">
                <a:pos x="connisteX3" y="connsiteY3"/>
              </a:cxn>
            </a:cxnLst>
            <a:rect l="l" t="t" r="r" b="b"/>
            <a:pathLst>
              <a:path w="366395" h="189653">
                <a:moveTo>
                  <a:pt x="0" y="189653"/>
                </a:moveTo>
                <a:cubicBezTo>
                  <a:pt x="19685" y="154728"/>
                  <a:pt x="55245" y="48048"/>
                  <a:pt x="119380" y="15028"/>
                </a:cubicBezTo>
                <a:cubicBezTo>
                  <a:pt x="183515" y="-17992"/>
                  <a:pt x="271145" y="11853"/>
                  <a:pt x="320675" y="24553"/>
                </a:cubicBezTo>
                <a:cubicBezTo>
                  <a:pt x="370205" y="37253"/>
                  <a:pt x="361315" y="68368"/>
                  <a:pt x="366395" y="79163"/>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文本框 81"/>
          <p:cNvSpPr txBox="1"/>
          <p:nvPr/>
        </p:nvSpPr>
        <p:spPr>
          <a:xfrm>
            <a:off x="3150235" y="4547235"/>
            <a:ext cx="336550" cy="429260"/>
          </a:xfrm>
          <a:prstGeom prst="rect">
            <a:avLst/>
          </a:prstGeom>
          <a:noFill/>
        </p:spPr>
        <p:txBody>
          <a:bodyPr wrap="square" rtlCol="0">
            <a:noAutofit/>
          </a:bodyPr>
          <a:p>
            <a:r>
              <a:rPr lang="zh-CN" altLang="en-US" sz="1800">
                <a:solidFill>
                  <a:srgbClr val="FF0000"/>
                </a:solidFill>
              </a:rPr>
              <a:t>⑦</a:t>
            </a:r>
            <a:endParaRPr lang="zh-CN" altLang="en-US" sz="1800">
              <a:solidFill>
                <a:srgbClr val="FF0000"/>
              </a:solidFill>
            </a:endParaRPr>
          </a:p>
        </p:txBody>
      </p:sp>
      <p:sp>
        <p:nvSpPr>
          <p:cNvPr id="83" name="文本框 82"/>
          <p:cNvSpPr txBox="1"/>
          <p:nvPr/>
        </p:nvSpPr>
        <p:spPr>
          <a:xfrm>
            <a:off x="323850" y="616521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⑦：</a:t>
            </a:r>
            <a:r>
              <a:rPr lang="en-US" altLang="zh-CN" sz="1800">
                <a:solidFill>
                  <a:schemeClr val="tx1"/>
                </a:solidFill>
                <a:uFillTx/>
                <a:latin typeface="Times New Roman" panose="02020603050405020304" pitchFamily="18" charset="0"/>
              </a:rPr>
              <a:t>Visit=[1,0,1]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85" name="椭圆 84"/>
          <p:cNvSpPr/>
          <p:nvPr/>
        </p:nvSpPr>
        <p:spPr>
          <a:xfrm>
            <a:off x="3491865" y="468122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352978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91" name="椭圆 90"/>
          <p:cNvSpPr/>
          <p:nvPr/>
        </p:nvSpPr>
        <p:spPr>
          <a:xfrm>
            <a:off x="3484245" y="46812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文本框 93"/>
          <p:cNvSpPr txBox="1"/>
          <p:nvPr/>
        </p:nvSpPr>
        <p:spPr>
          <a:xfrm>
            <a:off x="3539947" y="4726009"/>
            <a:ext cx="293305" cy="206031"/>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sp>
        <p:nvSpPr>
          <p:cNvPr id="30" name="文本框 29"/>
          <p:cNvSpPr txBox="1"/>
          <p:nvPr/>
        </p:nvSpPr>
        <p:spPr>
          <a:xfrm>
            <a:off x="3860800" y="4994275"/>
            <a:ext cx="336550" cy="429260"/>
          </a:xfrm>
          <a:prstGeom prst="rect">
            <a:avLst/>
          </a:prstGeom>
          <a:noFill/>
        </p:spPr>
        <p:txBody>
          <a:bodyPr wrap="square" rtlCol="0">
            <a:noAutofit/>
          </a:bodyPr>
          <a:p>
            <a:r>
              <a:rPr lang="zh-CN" altLang="en-US" sz="1800">
                <a:solidFill>
                  <a:srgbClr val="FF0000"/>
                </a:solidFill>
              </a:rPr>
              <a:t>⑧</a:t>
            </a:r>
            <a:endParaRPr lang="zh-CN" altLang="en-US" sz="1800">
              <a:solidFill>
                <a:srgbClr val="FF0000"/>
              </a:solidFill>
            </a:endParaRPr>
          </a:p>
        </p:txBody>
      </p:sp>
      <p:sp>
        <p:nvSpPr>
          <p:cNvPr id="31" name="任意多边形 30"/>
          <p:cNvSpPr/>
          <p:nvPr/>
        </p:nvSpPr>
        <p:spPr>
          <a:xfrm>
            <a:off x="3851910" y="4994275"/>
            <a:ext cx="8890" cy="421640"/>
          </a:xfrm>
          <a:custGeom>
            <a:avLst/>
            <a:gdLst>
              <a:gd name="connisteX0" fmla="*/ 8890 w 8890"/>
              <a:gd name="connsiteY0" fmla="*/ 0 h 421640"/>
              <a:gd name="connisteX1" fmla="*/ 0 w 8890"/>
              <a:gd name="connsiteY1" fmla="*/ 421640 h 421640"/>
            </a:gdLst>
            <a:ahLst/>
            <a:cxnLst>
              <a:cxn ang="0">
                <a:pos x="connisteX0" y="connsiteY0"/>
              </a:cxn>
              <a:cxn ang="0">
                <a:pos x="connisteX1" y="connsiteY1"/>
              </a:cxn>
            </a:cxnLst>
            <a:rect l="l" t="t" r="r" b="b"/>
            <a:pathLst>
              <a:path w="8890" h="421640">
                <a:moveTo>
                  <a:pt x="8890" y="0"/>
                </a:moveTo>
                <a:cubicBezTo>
                  <a:pt x="5715" y="140335"/>
                  <a:pt x="3175" y="281305"/>
                  <a:pt x="0" y="421640"/>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椭圆 31"/>
          <p:cNvSpPr/>
          <p:nvPr/>
        </p:nvSpPr>
        <p:spPr>
          <a:xfrm>
            <a:off x="3491865" y="537591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3529787" y="542069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89" name="椭圆 88"/>
          <p:cNvSpPr/>
          <p:nvPr/>
        </p:nvSpPr>
        <p:spPr>
          <a:xfrm>
            <a:off x="3493135" y="5379720"/>
            <a:ext cx="341630" cy="342265"/>
          </a:xfrm>
          <a:prstGeom prst="ellipse">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文本框 94"/>
          <p:cNvSpPr txBox="1"/>
          <p:nvPr/>
        </p:nvSpPr>
        <p:spPr>
          <a:xfrm>
            <a:off x="3539947" y="5424509"/>
            <a:ext cx="293305" cy="206031"/>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sp>
        <p:nvSpPr>
          <p:cNvPr id="100" name="文本框 99"/>
          <p:cNvSpPr txBox="1"/>
          <p:nvPr/>
        </p:nvSpPr>
        <p:spPr>
          <a:xfrm>
            <a:off x="327660" y="6164580"/>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⑧：</a:t>
            </a:r>
            <a:r>
              <a:rPr lang="en-US" altLang="zh-CN" sz="1800">
                <a:solidFill>
                  <a:schemeClr val="tx1"/>
                </a:solidFill>
                <a:uFillTx/>
                <a:latin typeface="Times New Roman" panose="02020603050405020304" pitchFamily="18" charset="0"/>
              </a:rPr>
              <a:t>Visit=[1,1,1]</a:t>
            </a:r>
            <a:r>
              <a:rPr lang="zh-CN" altLang="en-US" sz="1800">
                <a:solidFill>
                  <a:schemeClr val="tx1"/>
                </a:solidFill>
                <a:uFillTx/>
                <a:latin typeface="Times New Roman" panose="02020603050405020304" pitchFamily="18" charset="0"/>
              </a:rPr>
              <a:t>，</a:t>
            </a:r>
            <a:r>
              <a:rPr lang="en-US" altLang="zh-CN" sz="1800">
                <a:solidFill>
                  <a:schemeClr val="tx1"/>
                </a:solidFill>
                <a:uFillTx/>
                <a:latin typeface="Times New Roman" panose="02020603050405020304" pitchFamily="18" charset="0"/>
              </a:rPr>
              <a:t>TempList=[1,3,2]</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1" name="文本框 100"/>
          <p:cNvSpPr txBox="1"/>
          <p:nvPr/>
        </p:nvSpPr>
        <p:spPr>
          <a:xfrm>
            <a:off x="325120" y="6166485"/>
            <a:ext cx="4700270" cy="430530"/>
          </a:xfrm>
          <a:prstGeom prst="rect">
            <a:avLst/>
          </a:prstGeom>
          <a:noFill/>
        </p:spPr>
        <p:txBody>
          <a:bodyPr wrap="square" rtlCol="0">
            <a:noAutofit/>
          </a:bodyPr>
          <a:p>
            <a:r>
              <a:rPr lang="zh-CN" altLang="en-US" sz="1800">
                <a:solidFill>
                  <a:schemeClr val="tx1"/>
                </a:solidFill>
                <a:uFillTx/>
                <a:latin typeface="Times New Roman" panose="02020603050405020304" pitchFamily="18" charset="0"/>
              </a:rPr>
              <a:t>⑨：达到递归出口，把结果</a:t>
            </a:r>
            <a:r>
              <a:rPr lang="en-US" altLang="zh-CN" sz="1800">
                <a:solidFill>
                  <a:schemeClr val="tx1"/>
                </a:solidFill>
                <a:uFillTx/>
                <a:latin typeface="Times New Roman" panose="02020603050405020304" pitchFamily="18" charset="0"/>
              </a:rPr>
              <a:t>TempList</a:t>
            </a:r>
            <a:r>
              <a:rPr lang="zh-CN" altLang="en-US" sz="1800">
                <a:solidFill>
                  <a:schemeClr val="tx1"/>
                </a:solidFill>
                <a:uFillTx/>
                <a:latin typeface="Times New Roman" panose="02020603050405020304" pitchFamily="18" charset="0"/>
              </a:rPr>
              <a:t>保存</a:t>
            </a:r>
            <a:endParaRPr lang="en-US" altLang="zh-CN" sz="1800">
              <a:uFillTx/>
              <a:latin typeface="Times New Roman" panose="02020603050405020304" pitchFamily="18" charset="0"/>
              <a:cs typeface="宋体" panose="02010600030101010101" pitchFamily="2" charset="-122"/>
              <a:sym typeface="+mn-ea"/>
            </a:endParaRPr>
          </a:p>
          <a:p>
            <a:endParaRPr lang="zh-CN" altLang="en-US" sz="1800">
              <a:uFillTx/>
              <a:latin typeface="Times New Roman" panose="02020603050405020304" pitchFamily="18" charset="0"/>
              <a:cs typeface="宋体" panose="02010600030101010101" pitchFamily="2" charset="-122"/>
              <a:sym typeface="+mn-ea"/>
            </a:endParaRPr>
          </a:p>
          <a:p>
            <a:endParaRPr lang="zh-CN" altLang="en-US" sz="1800">
              <a:solidFill>
                <a:schemeClr val="tx1"/>
              </a:solidFill>
              <a:uFillTx/>
              <a:latin typeface="Times New Roman" panose="02020603050405020304" pitchFamily="18" charset="0"/>
              <a:cs typeface="宋体" panose="02010600030101010101" pitchFamily="2" charset="-122"/>
              <a:sym typeface="+mn-ea"/>
            </a:endParaRPr>
          </a:p>
        </p:txBody>
      </p:sp>
      <p:sp>
        <p:nvSpPr>
          <p:cNvPr id="102" name="文本框 101"/>
          <p:cNvSpPr txBox="1"/>
          <p:nvPr/>
        </p:nvSpPr>
        <p:spPr>
          <a:xfrm>
            <a:off x="3301365" y="5661025"/>
            <a:ext cx="336550" cy="429260"/>
          </a:xfrm>
          <a:prstGeom prst="rect">
            <a:avLst/>
          </a:prstGeom>
          <a:noFill/>
        </p:spPr>
        <p:txBody>
          <a:bodyPr wrap="square" rtlCol="0">
            <a:noAutofit/>
          </a:bodyPr>
          <a:p>
            <a:r>
              <a:rPr lang="zh-CN" altLang="en-US" sz="1800">
                <a:solidFill>
                  <a:srgbClr val="FF0000"/>
                </a:solidFill>
              </a:rPr>
              <a:t>⑨</a:t>
            </a:r>
            <a:endParaRPr lang="zh-CN" altLang="en-US" sz="1800">
              <a:solidFill>
                <a:srgbClr val="FF0000"/>
              </a:solidFill>
            </a:endParaRPr>
          </a:p>
        </p:txBody>
      </p:sp>
      <p:cxnSp>
        <p:nvCxnSpPr>
          <p:cNvPr id="103" name="直接箭头连接符 102"/>
          <p:cNvCxnSpPr/>
          <p:nvPr/>
        </p:nvCxnSpPr>
        <p:spPr>
          <a:xfrm>
            <a:off x="3707130" y="5772785"/>
            <a:ext cx="0" cy="132715"/>
          </a:xfrm>
          <a:prstGeom prst="straightConnector1">
            <a:avLst/>
          </a:prstGeom>
          <a:solidFill>
            <a:schemeClr val="accent1"/>
          </a:solidFill>
          <a:ln w="34925" cap="flat" cmpd="sng" algn="ctr">
            <a:solidFill>
              <a:srgbClr val="FF0000"/>
            </a:solidFill>
            <a:prstDash val="solid"/>
            <a:round/>
            <a:headEnd type="none" w="med" len="med"/>
            <a:tailEnd type="triangle" w="med" len="med"/>
          </a:ln>
        </p:spPr>
      </p:cxnSp>
      <p:sp>
        <p:nvSpPr>
          <p:cNvPr id="104" name="文本框 103"/>
          <p:cNvSpPr txBox="1"/>
          <p:nvPr/>
        </p:nvSpPr>
        <p:spPr>
          <a:xfrm>
            <a:off x="702310" y="2496820"/>
            <a:ext cx="7101205" cy="358775"/>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rPr>
              <a:t>Result=[[1,2,3],[1,3,2]]</a:t>
            </a:r>
            <a:endParaRPr lang="en-US" altLang="zh-CN" sz="1800">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xit" presetSubtype="4" fill="hold" grpId="2" nodeType="clickEffect">
                                  <p:stCondLst>
                                    <p:cond delay="0"/>
                                  </p:stCondLst>
                                  <p:childTnLst>
                                    <p:anim calcmode="lin" valueType="num">
                                      <p:cBhvr additive="base">
                                        <p:cTn id="6" dur="500"/>
                                        <p:tgtEl>
                                          <p:spTgt spid="83"/>
                                        </p:tgtEl>
                                        <p:attrNameLst>
                                          <p:attrName>ppt_x</p:attrName>
                                        </p:attrNameLst>
                                      </p:cBhvr>
                                      <p:tavLst>
                                        <p:tav tm="0">
                                          <p:val>
                                            <p:strVal val="ppt_x"/>
                                          </p:val>
                                        </p:tav>
                                        <p:tav tm="100000">
                                          <p:val>
                                            <p:strVal val="ppt_x"/>
                                          </p:val>
                                        </p:tav>
                                      </p:tavLst>
                                    </p:anim>
                                    <p:anim calcmode="lin" valueType="num">
                                      <p:cBhvr additive="base">
                                        <p:cTn id="7" dur="500"/>
                                        <p:tgtEl>
                                          <p:spTgt spid="83"/>
                                        </p:tgtEl>
                                        <p:attrNameLst>
                                          <p:attrName>ppt_y</p:attrName>
                                        </p:attrNameLst>
                                      </p:cBhvr>
                                      <p:tavLst>
                                        <p:tav tm="0">
                                          <p:val>
                                            <p:strVal val="ppt_y"/>
                                          </p:val>
                                        </p:tav>
                                        <p:tav tm="100000">
                                          <p:val>
                                            <p:strVal val="1+ppt_h/2"/>
                                          </p:val>
                                        </p:tav>
                                      </p:tavLst>
                                    </p:anim>
                                    <p:set>
                                      <p:cBhvr>
                                        <p:cTn id="8" dur="1" fill="hold">
                                          <p:stCondLst>
                                            <p:cond delay="499"/>
                                          </p:stCondLst>
                                        </p:cTn>
                                        <p:tgtEl>
                                          <p:spTgt spid="83"/>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4" presetClass="entr" presetSubtype="16"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animEffect transition="in" filter="box(in)">
                                      <p:cBhvr>
                                        <p:cTn id="13" dur="2000"/>
                                        <p:tgtEl>
                                          <p:spTgt spid="30"/>
                                        </p:tgtEl>
                                      </p:cBhvr>
                                    </p:animEffect>
                                  </p:childTnLst>
                                </p:cTn>
                              </p:par>
                              <p:par>
                                <p:cTn id="14" presetID="4" presetClass="entr" presetSubtype="16" fill="hold" grpId="0" nodeType="with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box(in)">
                                      <p:cBhvr>
                                        <p:cTn id="16" dur="2000"/>
                                        <p:tgtEl>
                                          <p:spTgt spid="31"/>
                                        </p:tgtEl>
                                      </p:cBhvr>
                                    </p:animEffect>
                                  </p:childTnLst>
                                </p:cTn>
                              </p:par>
                            </p:childTnLst>
                          </p:cTn>
                        </p:par>
                      </p:childTnLst>
                    </p:cTn>
                  </p:par>
                  <p:par>
                    <p:cTn id="17" fill="hold">
                      <p:stCondLst>
                        <p:cond delay="indefinite"/>
                      </p:stCondLst>
                      <p:childTnLst>
                        <p:par>
                          <p:cTn id="18" fill="hold">
                            <p:stCondLst>
                              <p:cond delay="0"/>
                            </p:stCondLst>
                            <p:childTnLst>
                              <p:par>
                                <p:cTn id="19" presetID="4" presetClass="entr" presetSubtype="16" fill="hold" grpId="0" nodeType="clickEffect">
                                  <p:stCondLst>
                                    <p:cond delay="0"/>
                                  </p:stCondLst>
                                  <p:childTnLst>
                                    <p:set>
                                      <p:cBhvr>
                                        <p:cTn id="20" dur="1" fill="hold">
                                          <p:stCondLst>
                                            <p:cond delay="0"/>
                                          </p:stCondLst>
                                        </p:cTn>
                                        <p:tgtEl>
                                          <p:spTgt spid="89"/>
                                        </p:tgtEl>
                                        <p:attrNameLst>
                                          <p:attrName>style.visibility</p:attrName>
                                        </p:attrNameLst>
                                      </p:cBhvr>
                                      <p:to>
                                        <p:strVal val="visible"/>
                                      </p:to>
                                    </p:set>
                                    <p:animEffect transition="in" filter="box(in)">
                                      <p:cBhvr>
                                        <p:cTn id="21" dur="2000"/>
                                        <p:tgtEl>
                                          <p:spTgt spid="89"/>
                                        </p:tgtEl>
                                      </p:cBhvr>
                                    </p:animEffect>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p:stCondLst>
                                    <p:cond delay="0"/>
                                  </p:stCondLst>
                                  <p:childTnLst>
                                    <p:set>
                                      <p:cBhvr>
                                        <p:cTn id="25" dur="1" fill="hold">
                                          <p:stCondLst>
                                            <p:cond delay="0"/>
                                          </p:stCondLst>
                                        </p:cTn>
                                        <p:tgtEl>
                                          <p:spTgt spid="100"/>
                                        </p:tgtEl>
                                        <p:attrNameLst>
                                          <p:attrName>style.visibility</p:attrName>
                                        </p:attrNameLst>
                                      </p:cBhvr>
                                      <p:to>
                                        <p:strVal val="visible"/>
                                      </p:to>
                                    </p:set>
                                    <p:anim calcmode="lin" valueType="num">
                                      <p:cBhvr additive="base">
                                        <p:cTn id="26" dur="500" fill="hold"/>
                                        <p:tgtEl>
                                          <p:spTgt spid="100"/>
                                        </p:tgtEl>
                                        <p:attrNameLst>
                                          <p:attrName>ppt_x</p:attrName>
                                        </p:attrNameLst>
                                      </p:cBhvr>
                                      <p:tavLst>
                                        <p:tav tm="0">
                                          <p:val>
                                            <p:strVal val="#ppt_x"/>
                                          </p:val>
                                        </p:tav>
                                        <p:tav tm="100000">
                                          <p:val>
                                            <p:strVal val="#ppt_x"/>
                                          </p:val>
                                        </p:tav>
                                      </p:tavLst>
                                    </p:anim>
                                    <p:anim calcmode="lin" valueType="num">
                                      <p:cBhvr additive="base">
                                        <p:cTn id="27" dur="500" fill="hold"/>
                                        <p:tgtEl>
                                          <p:spTgt spid="100"/>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xit" presetSubtype="4" fill="hold" grpId="2" nodeType="clickEffect">
                                  <p:stCondLst>
                                    <p:cond delay="0"/>
                                  </p:stCondLst>
                                  <p:childTnLst>
                                    <p:anim calcmode="lin" valueType="num">
                                      <p:cBhvr additive="base">
                                        <p:cTn id="31" dur="500"/>
                                        <p:tgtEl>
                                          <p:spTgt spid="100"/>
                                        </p:tgtEl>
                                        <p:attrNameLst>
                                          <p:attrName>ppt_x</p:attrName>
                                        </p:attrNameLst>
                                      </p:cBhvr>
                                      <p:tavLst>
                                        <p:tav tm="0">
                                          <p:val>
                                            <p:strVal val="ppt_x"/>
                                          </p:val>
                                        </p:tav>
                                        <p:tav tm="100000">
                                          <p:val>
                                            <p:strVal val="ppt_x"/>
                                          </p:val>
                                        </p:tav>
                                      </p:tavLst>
                                    </p:anim>
                                    <p:anim calcmode="lin" valueType="num">
                                      <p:cBhvr additive="base">
                                        <p:cTn id="32" dur="500"/>
                                        <p:tgtEl>
                                          <p:spTgt spid="100"/>
                                        </p:tgtEl>
                                        <p:attrNameLst>
                                          <p:attrName>ppt_y</p:attrName>
                                        </p:attrNameLst>
                                      </p:cBhvr>
                                      <p:tavLst>
                                        <p:tav tm="0">
                                          <p:val>
                                            <p:strVal val="ppt_y"/>
                                          </p:val>
                                        </p:tav>
                                        <p:tav tm="100000">
                                          <p:val>
                                            <p:strVal val="1+ppt_h/2"/>
                                          </p:val>
                                        </p:tav>
                                      </p:tavLst>
                                    </p:anim>
                                    <p:set>
                                      <p:cBhvr>
                                        <p:cTn id="33" dur="1" fill="hold">
                                          <p:stCondLst>
                                            <p:cond delay="499"/>
                                          </p:stCondLst>
                                        </p:cTn>
                                        <p:tgtEl>
                                          <p:spTgt spid="100"/>
                                        </p:tgtEl>
                                        <p:attrNameLst>
                                          <p:attrName>style.visibility</p:attrName>
                                        </p:attrNameLst>
                                      </p:cBhvr>
                                      <p:to>
                                        <p:strVal val="hidden"/>
                                      </p:to>
                                    </p:set>
                                  </p:childTnLst>
                                </p:cTn>
                              </p:par>
                            </p:childTnLst>
                          </p:cTn>
                        </p:par>
                      </p:childTnLst>
                    </p:cTn>
                  </p:par>
                  <p:par>
                    <p:cTn id="34" fill="hold">
                      <p:stCondLst>
                        <p:cond delay="indefinite"/>
                      </p:stCondLst>
                      <p:childTnLst>
                        <p:par>
                          <p:cTn id="35" fill="hold">
                            <p:stCondLst>
                              <p:cond delay="0"/>
                            </p:stCondLst>
                            <p:childTnLst>
                              <p:par>
                                <p:cTn id="36" presetID="4" presetClass="entr" presetSubtype="16" fill="hold" nodeType="clickEffect">
                                  <p:stCondLst>
                                    <p:cond delay="0"/>
                                  </p:stCondLst>
                                  <p:childTnLst>
                                    <p:set>
                                      <p:cBhvr>
                                        <p:cTn id="37" dur="1" fill="hold">
                                          <p:stCondLst>
                                            <p:cond delay="0"/>
                                          </p:stCondLst>
                                        </p:cTn>
                                        <p:tgtEl>
                                          <p:spTgt spid="103"/>
                                        </p:tgtEl>
                                        <p:attrNameLst>
                                          <p:attrName>style.visibility</p:attrName>
                                        </p:attrNameLst>
                                      </p:cBhvr>
                                      <p:to>
                                        <p:strVal val="visible"/>
                                      </p:to>
                                    </p:set>
                                    <p:animEffect transition="in" filter="box(in)">
                                      <p:cBhvr>
                                        <p:cTn id="38" dur="2000"/>
                                        <p:tgtEl>
                                          <p:spTgt spid="103"/>
                                        </p:tgtEl>
                                      </p:cBhvr>
                                    </p:animEffect>
                                  </p:childTnLst>
                                </p:cTn>
                              </p:par>
                              <p:par>
                                <p:cTn id="39" presetID="4" presetClass="entr" presetSubtype="16" fill="hold" grpId="0" nodeType="withEffect">
                                  <p:stCondLst>
                                    <p:cond delay="0"/>
                                  </p:stCondLst>
                                  <p:childTnLst>
                                    <p:set>
                                      <p:cBhvr>
                                        <p:cTn id="40" dur="1" fill="hold">
                                          <p:stCondLst>
                                            <p:cond delay="0"/>
                                          </p:stCondLst>
                                        </p:cTn>
                                        <p:tgtEl>
                                          <p:spTgt spid="102"/>
                                        </p:tgtEl>
                                        <p:attrNameLst>
                                          <p:attrName>style.visibility</p:attrName>
                                        </p:attrNameLst>
                                      </p:cBhvr>
                                      <p:to>
                                        <p:strVal val="visible"/>
                                      </p:to>
                                    </p:set>
                                    <p:animEffect transition="in" filter="box(in)">
                                      <p:cBhvr>
                                        <p:cTn id="41" dur="2000"/>
                                        <p:tgtEl>
                                          <p:spTgt spid="102"/>
                                        </p:tgtEl>
                                      </p:cBhvr>
                                    </p:animEffect>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grpId="0" nodeType="clickEffect">
                                  <p:stCondLst>
                                    <p:cond delay="0"/>
                                  </p:stCondLst>
                                  <p:childTnLst>
                                    <p:set>
                                      <p:cBhvr>
                                        <p:cTn id="45" dur="1" fill="hold">
                                          <p:stCondLst>
                                            <p:cond delay="0"/>
                                          </p:stCondLst>
                                        </p:cTn>
                                        <p:tgtEl>
                                          <p:spTgt spid="101"/>
                                        </p:tgtEl>
                                        <p:attrNameLst>
                                          <p:attrName>style.visibility</p:attrName>
                                        </p:attrNameLst>
                                      </p:cBhvr>
                                      <p:to>
                                        <p:strVal val="visible"/>
                                      </p:to>
                                    </p:set>
                                    <p:anim calcmode="lin" valueType="num">
                                      <p:cBhvr additive="base">
                                        <p:cTn id="46" dur="500" fill="hold"/>
                                        <p:tgtEl>
                                          <p:spTgt spid="101"/>
                                        </p:tgtEl>
                                        <p:attrNameLst>
                                          <p:attrName>ppt_x</p:attrName>
                                        </p:attrNameLst>
                                      </p:cBhvr>
                                      <p:tavLst>
                                        <p:tav tm="0">
                                          <p:val>
                                            <p:strVal val="#ppt_x"/>
                                          </p:val>
                                        </p:tav>
                                        <p:tav tm="100000">
                                          <p:val>
                                            <p:strVal val="#ppt_x"/>
                                          </p:val>
                                        </p:tav>
                                      </p:tavLst>
                                    </p:anim>
                                    <p:anim calcmode="lin" valueType="num">
                                      <p:cBhvr additive="base">
                                        <p:cTn id="47" dur="500" fill="hold"/>
                                        <p:tgtEl>
                                          <p:spTgt spid="101"/>
                                        </p:tgtEl>
                                        <p:attrNameLst>
                                          <p:attrName>ppt_y</p:attrName>
                                        </p:attrNameLst>
                                      </p:cBhvr>
                                      <p:tavLst>
                                        <p:tav tm="0">
                                          <p:val>
                                            <p:strVal val="1+#ppt_h/2"/>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50" presetID="2" presetClass="exit" presetSubtype="4" fill="hold" grpId="0" nodeType="clickEffect">
                                  <p:stCondLst>
                                    <p:cond delay="0"/>
                                  </p:stCondLst>
                                  <p:childTnLst>
                                    <p:anim calcmode="lin" valueType="num">
                                      <p:cBhvr additive="base">
                                        <p:cTn id="51" dur="500"/>
                                        <p:tgtEl>
                                          <p:spTgt spid="73"/>
                                        </p:tgtEl>
                                        <p:attrNameLst>
                                          <p:attrName>ppt_x</p:attrName>
                                        </p:attrNameLst>
                                      </p:cBhvr>
                                      <p:tavLst>
                                        <p:tav tm="0">
                                          <p:val>
                                            <p:strVal val="ppt_x"/>
                                          </p:val>
                                        </p:tav>
                                        <p:tav tm="100000">
                                          <p:val>
                                            <p:strVal val="ppt_x"/>
                                          </p:val>
                                        </p:tav>
                                      </p:tavLst>
                                    </p:anim>
                                    <p:anim calcmode="lin" valueType="num">
                                      <p:cBhvr additive="base">
                                        <p:cTn id="52" dur="500"/>
                                        <p:tgtEl>
                                          <p:spTgt spid="73"/>
                                        </p:tgtEl>
                                        <p:attrNameLst>
                                          <p:attrName>ppt_y</p:attrName>
                                        </p:attrNameLst>
                                      </p:cBhvr>
                                      <p:tavLst>
                                        <p:tav tm="0">
                                          <p:val>
                                            <p:strVal val="ppt_y"/>
                                          </p:val>
                                        </p:tav>
                                        <p:tav tm="100000">
                                          <p:val>
                                            <p:strVal val="1+ppt_h/2"/>
                                          </p:val>
                                        </p:tav>
                                      </p:tavLst>
                                    </p:anim>
                                    <p:set>
                                      <p:cBhvr>
                                        <p:cTn id="53" dur="1" fill="hold">
                                          <p:stCondLst>
                                            <p:cond delay="499"/>
                                          </p:stCondLst>
                                        </p:cTn>
                                        <p:tgtEl>
                                          <p:spTgt spid="7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4" fill="hold" grpId="0" nodeType="clickEffect">
                                  <p:stCondLst>
                                    <p:cond delay="0"/>
                                  </p:stCondLst>
                                  <p:childTnLst>
                                    <p:set>
                                      <p:cBhvr>
                                        <p:cTn id="57" dur="1" fill="hold">
                                          <p:stCondLst>
                                            <p:cond delay="0"/>
                                          </p:stCondLst>
                                        </p:cTn>
                                        <p:tgtEl>
                                          <p:spTgt spid="104"/>
                                        </p:tgtEl>
                                        <p:attrNameLst>
                                          <p:attrName>style.visibility</p:attrName>
                                        </p:attrNameLst>
                                      </p:cBhvr>
                                      <p:to>
                                        <p:strVal val="visible"/>
                                      </p:to>
                                    </p:set>
                                    <p:anim calcmode="lin" valueType="num">
                                      <p:cBhvr additive="base">
                                        <p:cTn id="58" dur="500" fill="hold"/>
                                        <p:tgtEl>
                                          <p:spTgt spid="104"/>
                                        </p:tgtEl>
                                        <p:attrNameLst>
                                          <p:attrName>ppt_x</p:attrName>
                                        </p:attrNameLst>
                                      </p:cBhvr>
                                      <p:tavLst>
                                        <p:tav tm="0">
                                          <p:val>
                                            <p:strVal val="#ppt_x"/>
                                          </p:val>
                                        </p:tav>
                                        <p:tav tm="100000">
                                          <p:val>
                                            <p:strVal val="#ppt_x"/>
                                          </p:val>
                                        </p:tav>
                                      </p:tavLst>
                                    </p:anim>
                                    <p:anim calcmode="lin" valueType="num">
                                      <p:cBhvr additive="base">
                                        <p:cTn id="59"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P spid="78" grpId="1"/>
      <p:bldP spid="81" grpId="1"/>
      <p:bldP spid="77" grpId="1" animBg="1"/>
      <p:bldP spid="79" grpId="1"/>
      <p:bldP spid="88" grpId="1" animBg="1"/>
      <p:bldP spid="3" grpId="1"/>
      <p:bldP spid="90" grpId="1" animBg="1"/>
      <p:bldP spid="93" grpId="1"/>
      <p:bldP spid="92" grpId="1" animBg="1"/>
      <p:bldP spid="98" grpId="1" animBg="1"/>
      <p:bldP spid="99" grpId="1"/>
      <p:bldP spid="41" grpId="1"/>
      <p:bldP spid="75" grpId="1"/>
      <p:bldP spid="87" grpId="1" animBg="1"/>
      <p:bldP spid="4" grpId="1"/>
      <p:bldP spid="2" grpId="1" animBg="1"/>
      <p:bldP spid="82" grpId="1"/>
      <p:bldP spid="83" grpId="1"/>
      <p:bldP spid="91" grpId="1" animBg="1"/>
      <p:bldP spid="30" grpId="0"/>
      <p:bldP spid="31" grpId="0" animBg="1"/>
      <p:bldP spid="30" grpId="1"/>
      <p:bldP spid="31" grpId="1" animBg="1"/>
      <p:bldP spid="89" grpId="0" bldLvl="0" animBg="1"/>
      <p:bldP spid="89" grpId="1" animBg="1"/>
      <p:bldP spid="95" grpId="1"/>
      <p:bldP spid="100" grpId="0"/>
      <p:bldP spid="100" grpId="1"/>
      <p:bldP spid="102" grpId="0"/>
      <p:bldP spid="102" grpId="1"/>
      <p:bldP spid="100" grpId="2"/>
      <p:bldP spid="73" grpId="0"/>
      <p:bldP spid="73" grpId="1"/>
      <p:bldP spid="104" grpId="0"/>
      <p:bldP spid="104" grpId="1"/>
      <p:bldP spid="101" grpId="0"/>
      <p:bldP spid="101" grpId="1"/>
      <p:bldP spid="83" grpId="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251460" y="1556385"/>
            <a:ext cx="2535555" cy="368300"/>
          </a:xfrm>
          <a:prstGeom prst="rect">
            <a:avLst/>
          </a:prstGeom>
          <a:noFill/>
        </p:spPr>
        <p:txBody>
          <a:bodyPr wrap="square" rtlCol="0">
            <a:spAutoFit/>
          </a:bodyPr>
          <a:p>
            <a:r>
              <a:rPr lang="zh-CN" altLang="en-US"/>
              <a:t>运行</a:t>
            </a:r>
            <a:r>
              <a:rPr lang="zh-CN" altLang="en-US"/>
              <a:t>流程：</a:t>
            </a:r>
            <a:endParaRPr lang="zh-CN" altLang="en-US"/>
          </a:p>
        </p:txBody>
      </p:sp>
      <p:sp>
        <p:nvSpPr>
          <p:cNvPr id="10" name="文本框 9"/>
          <p:cNvSpPr txBox="1"/>
          <p:nvPr/>
        </p:nvSpPr>
        <p:spPr>
          <a:xfrm>
            <a:off x="962025" y="3212465"/>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grpSp>
        <p:nvGrpSpPr>
          <p:cNvPr id="72" name="组合 71"/>
          <p:cNvGrpSpPr/>
          <p:nvPr/>
        </p:nvGrpSpPr>
        <p:grpSpPr>
          <a:xfrm>
            <a:off x="3547745" y="21329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2" name="椭圆 1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6" name="组合 15"/>
            <p:cNvGrpSpPr/>
            <p:nvPr/>
          </p:nvGrpSpPr>
          <p:grpSpPr>
            <a:xfrm>
              <a:off x="8675" y="4607"/>
              <a:ext cx="1018" cy="917"/>
              <a:chOff x="10489" y="3359"/>
              <a:chExt cx="1018" cy="917"/>
            </a:xfrm>
          </p:grpSpPr>
          <p:sp>
            <p:nvSpPr>
              <p:cNvPr id="17" name="椭圆 1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文本框 17"/>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9" name="组合 18"/>
            <p:cNvGrpSpPr/>
            <p:nvPr/>
          </p:nvGrpSpPr>
          <p:grpSpPr>
            <a:xfrm>
              <a:off x="10546" y="4607"/>
              <a:ext cx="1018" cy="916"/>
              <a:chOff x="10489" y="3359"/>
              <a:chExt cx="1018" cy="916"/>
            </a:xfrm>
          </p:grpSpPr>
          <p:sp>
            <p:nvSpPr>
              <p:cNvPr id="20" name="椭圆 1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1" name="文本框 20"/>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2" name="组合 21"/>
            <p:cNvGrpSpPr/>
            <p:nvPr/>
          </p:nvGrpSpPr>
          <p:grpSpPr>
            <a:xfrm>
              <a:off x="12529" y="4607"/>
              <a:ext cx="1018" cy="916"/>
              <a:chOff x="10489" y="3359"/>
              <a:chExt cx="1018" cy="916"/>
            </a:xfrm>
          </p:grpSpPr>
          <p:sp>
            <p:nvSpPr>
              <p:cNvPr id="23" name="椭圆 2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4" name="文本框 23"/>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5" name="曲线连接符 24"/>
            <p:cNvCxnSpPr>
              <a:stCxn id="12" idx="2"/>
              <a:endCxn id="17"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5" idx="3"/>
              <a:endCxn id="23"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7" name="曲线连接符 26"/>
            <p:cNvCxnSpPr>
              <a:stCxn id="12" idx="4"/>
              <a:endCxn id="20"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8" name="组合 27"/>
            <p:cNvGrpSpPr/>
            <p:nvPr/>
          </p:nvGrpSpPr>
          <p:grpSpPr>
            <a:xfrm>
              <a:off x="11440" y="6011"/>
              <a:ext cx="538" cy="539"/>
              <a:chOff x="10489" y="3359"/>
              <a:chExt cx="1018" cy="917"/>
            </a:xfrm>
          </p:grpSpPr>
          <p:sp>
            <p:nvSpPr>
              <p:cNvPr id="29" name="椭圆 2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7" name="组合 36"/>
            <p:cNvGrpSpPr/>
            <p:nvPr/>
          </p:nvGrpSpPr>
          <p:grpSpPr>
            <a:xfrm>
              <a:off x="10306" y="6011"/>
              <a:ext cx="538" cy="539"/>
              <a:chOff x="10489" y="3359"/>
              <a:chExt cx="1018" cy="917"/>
            </a:xfrm>
          </p:grpSpPr>
          <p:sp>
            <p:nvSpPr>
              <p:cNvPr id="38" name="椭圆 3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9" name="文本框 3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40" name="组合 39"/>
            <p:cNvGrpSpPr/>
            <p:nvPr/>
          </p:nvGrpSpPr>
          <p:grpSpPr>
            <a:xfrm>
              <a:off x="13468" y="6011"/>
              <a:ext cx="538" cy="539"/>
              <a:chOff x="10489" y="3359"/>
              <a:chExt cx="1018" cy="917"/>
            </a:xfrm>
          </p:grpSpPr>
          <p:sp>
            <p:nvSpPr>
              <p:cNvPr id="41" name="椭圆 4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43" name="组合 42"/>
            <p:cNvGrpSpPr/>
            <p:nvPr/>
          </p:nvGrpSpPr>
          <p:grpSpPr>
            <a:xfrm>
              <a:off x="12334" y="6011"/>
              <a:ext cx="538" cy="539"/>
              <a:chOff x="10489" y="3359"/>
              <a:chExt cx="1018" cy="917"/>
            </a:xfrm>
          </p:grpSpPr>
          <p:sp>
            <p:nvSpPr>
              <p:cNvPr id="44" name="椭圆 4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6" name="曲线连接符 45"/>
            <p:cNvCxnSpPr>
              <a:stCxn id="17"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17"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8" name="曲线连接符 47"/>
            <p:cNvCxnSpPr>
              <a:stCxn id="23" idx="4"/>
              <a:endCxn id="45"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9" name="曲线连接符 48"/>
            <p:cNvCxnSpPr>
              <a:stCxn id="20" idx="4"/>
              <a:endCxn id="29"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0" name="曲线连接符 49"/>
            <p:cNvCxnSpPr>
              <a:stCxn id="20" idx="4"/>
              <a:endCxn id="39"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51" name="曲线连接符 50"/>
            <p:cNvCxnSpPr>
              <a:stCxn id="23" idx="4"/>
              <a:endCxn id="41"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52" name="组合 51"/>
            <p:cNvGrpSpPr/>
            <p:nvPr/>
          </p:nvGrpSpPr>
          <p:grpSpPr>
            <a:xfrm>
              <a:off x="8221" y="7105"/>
              <a:ext cx="538" cy="539"/>
              <a:chOff x="10489" y="3359"/>
              <a:chExt cx="1018" cy="917"/>
            </a:xfrm>
          </p:grpSpPr>
          <p:sp>
            <p:nvSpPr>
              <p:cNvPr id="53" name="椭圆 5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5" name="组合 54"/>
            <p:cNvGrpSpPr/>
            <p:nvPr/>
          </p:nvGrpSpPr>
          <p:grpSpPr>
            <a:xfrm>
              <a:off x="9355" y="7105"/>
              <a:ext cx="538" cy="539"/>
              <a:chOff x="10489" y="3359"/>
              <a:chExt cx="1018" cy="917"/>
            </a:xfrm>
          </p:grpSpPr>
          <p:sp>
            <p:nvSpPr>
              <p:cNvPr id="56" name="椭圆 5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文本框 5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8" name="组合 57"/>
            <p:cNvGrpSpPr/>
            <p:nvPr/>
          </p:nvGrpSpPr>
          <p:grpSpPr>
            <a:xfrm>
              <a:off x="10306" y="7105"/>
              <a:ext cx="538" cy="539"/>
              <a:chOff x="10489" y="3359"/>
              <a:chExt cx="1018" cy="917"/>
            </a:xfrm>
          </p:grpSpPr>
          <p:sp>
            <p:nvSpPr>
              <p:cNvPr id="59" name="椭圆 5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0" name="文本框 5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61" name="组合 60"/>
            <p:cNvGrpSpPr/>
            <p:nvPr/>
          </p:nvGrpSpPr>
          <p:grpSpPr>
            <a:xfrm>
              <a:off x="11456" y="7104"/>
              <a:ext cx="538" cy="539"/>
              <a:chOff x="10489" y="3359"/>
              <a:chExt cx="1018" cy="917"/>
            </a:xfrm>
          </p:grpSpPr>
          <p:sp>
            <p:nvSpPr>
              <p:cNvPr id="62" name="椭圆 6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文本框 6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4" name="组合 63"/>
            <p:cNvGrpSpPr/>
            <p:nvPr/>
          </p:nvGrpSpPr>
          <p:grpSpPr>
            <a:xfrm>
              <a:off x="12373" y="7103"/>
              <a:ext cx="538" cy="539"/>
              <a:chOff x="10489" y="3359"/>
              <a:chExt cx="1018" cy="917"/>
            </a:xfrm>
          </p:grpSpPr>
          <p:sp>
            <p:nvSpPr>
              <p:cNvPr id="65" name="椭圆 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7" name="组合 66"/>
            <p:cNvGrpSpPr/>
            <p:nvPr/>
          </p:nvGrpSpPr>
          <p:grpSpPr>
            <a:xfrm>
              <a:off x="13491" y="7105"/>
              <a:ext cx="538" cy="539"/>
              <a:chOff x="10489" y="3359"/>
              <a:chExt cx="1018" cy="917"/>
            </a:xfrm>
          </p:grpSpPr>
          <p:sp>
            <p:nvSpPr>
              <p:cNvPr id="68" name="椭圆 6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9" name="文本框 6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70" name="曲线连接符 69"/>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3" name="曲线连接符 72"/>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4" name="曲线连接符 73"/>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5" name="曲线连接符 74"/>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6" name="曲线连接符 75"/>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7" name="文本框 76"/>
          <p:cNvSpPr txBox="1"/>
          <p:nvPr/>
        </p:nvSpPr>
        <p:spPr>
          <a:xfrm>
            <a:off x="1004570" y="3071495"/>
            <a:ext cx="6006465" cy="756285"/>
          </a:xfrm>
          <a:prstGeom prst="rect">
            <a:avLst/>
          </a:prstGeom>
          <a:noFill/>
          <a:ln w="28575">
            <a:solidFill>
              <a:schemeClr val="accent1"/>
            </a:solidFill>
          </a:ln>
        </p:spPr>
        <p:txBody>
          <a:bodyPr wrap="square" rtlCol="0">
            <a:noAutofit/>
          </a:bodyPr>
          <a:p>
            <a:endParaRPr lang="zh-CN" altLang="en-US"/>
          </a:p>
        </p:txBody>
      </p:sp>
      <p:sp>
        <p:nvSpPr>
          <p:cNvPr id="78" name="文本框 77"/>
          <p:cNvSpPr txBox="1"/>
          <p:nvPr/>
        </p:nvSpPr>
        <p:spPr>
          <a:xfrm>
            <a:off x="958215" y="396875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79" name="文本框 78"/>
          <p:cNvSpPr txBox="1"/>
          <p:nvPr/>
        </p:nvSpPr>
        <p:spPr>
          <a:xfrm>
            <a:off x="1004570" y="3834130"/>
            <a:ext cx="6329045" cy="676275"/>
          </a:xfrm>
          <a:prstGeom prst="rect">
            <a:avLst/>
          </a:prstGeom>
          <a:noFill/>
          <a:ln w="28575">
            <a:solidFill>
              <a:schemeClr val="accent1"/>
            </a:solidFill>
          </a:ln>
        </p:spPr>
        <p:txBody>
          <a:bodyPr wrap="square" rtlCol="0">
            <a:noAutofit/>
          </a:bodyPr>
          <a:p>
            <a:endParaRPr lang="zh-CN" altLang="en-US"/>
          </a:p>
        </p:txBody>
      </p:sp>
      <p:sp>
        <p:nvSpPr>
          <p:cNvPr id="80" name="文本框 79"/>
          <p:cNvSpPr txBox="1"/>
          <p:nvPr/>
        </p:nvSpPr>
        <p:spPr>
          <a:xfrm>
            <a:off x="1012190" y="4644390"/>
            <a:ext cx="2585720" cy="344805"/>
          </a:xfrm>
          <a:prstGeom prst="rect">
            <a:avLst/>
          </a:prstGeom>
          <a:noFill/>
        </p:spPr>
        <p:txBody>
          <a:bodyPr wrap="square" rtlCol="0" anchor="t">
            <a:noAutofit/>
          </a:bodyPr>
          <a:p>
            <a:pPr algn="l"/>
            <a:r>
              <a:rPr lang="en-US" altLang="zh-CN">
                <a:solidFill>
                  <a:schemeClr val="tx1"/>
                </a:solidFill>
                <a:uFillTx/>
                <a:latin typeface="Times New Roman" panose="02020603050405020304" pitchFamily="18" charset="0"/>
              </a:rPr>
              <a:t>for i in range(len(nums)):</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81" name="文本框 80"/>
          <p:cNvSpPr txBox="1"/>
          <p:nvPr/>
        </p:nvSpPr>
        <p:spPr>
          <a:xfrm>
            <a:off x="1004570" y="4509135"/>
            <a:ext cx="6329045" cy="676275"/>
          </a:xfrm>
          <a:prstGeom prst="rect">
            <a:avLst/>
          </a:prstGeom>
          <a:noFill/>
          <a:ln w="28575">
            <a:solidFill>
              <a:schemeClr val="accent1"/>
            </a:solidFill>
          </a:ln>
        </p:spPr>
        <p:txBody>
          <a:bodyPr wrap="square" rtlCol="0">
            <a:noAutofit/>
          </a:bodyPr>
          <a:p>
            <a:endParaRPr lang="zh-CN" altLang="en-US"/>
          </a:p>
        </p:txBody>
      </p:sp>
      <p:cxnSp>
        <p:nvCxnSpPr>
          <p:cNvPr id="82" name="曲线连接符 81"/>
          <p:cNvCxnSpPr/>
          <p:nvPr/>
        </p:nvCxnSpPr>
        <p:spPr>
          <a:xfrm rot="5400000" flipV="1">
            <a:off x="3550920"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flipV="1">
            <a:off x="4272280" y="514667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4" name="曲线连接符 83"/>
          <p:cNvCxnSpPr/>
          <p:nvPr/>
        </p:nvCxnSpPr>
        <p:spPr>
          <a:xfrm rot="5400000" flipV="1">
            <a:off x="485648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5" name="曲线连接符 84"/>
          <p:cNvCxnSpPr/>
          <p:nvPr/>
        </p:nvCxnSpPr>
        <p:spPr>
          <a:xfrm rot="5400000" flipV="1">
            <a:off x="5582920" y="516128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6" name="曲线连接符 85"/>
          <p:cNvCxnSpPr/>
          <p:nvPr/>
        </p:nvCxnSpPr>
        <p:spPr>
          <a:xfrm rot="5400000" flipV="1">
            <a:off x="618807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7" name="曲线连接符 86"/>
          <p:cNvCxnSpPr/>
          <p:nvPr/>
        </p:nvCxnSpPr>
        <p:spPr>
          <a:xfrm rot="5400000" flipV="1">
            <a:off x="6908165" y="515683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988060" y="5201285"/>
            <a:ext cx="6447155" cy="368300"/>
          </a:xfrm>
          <a:prstGeom prst="rect">
            <a:avLst/>
          </a:prstGeom>
          <a:noFill/>
          <a:ln w="38100">
            <a:solidFill>
              <a:schemeClr val="accent1">
                <a:lumMod val="60000"/>
                <a:lumOff val="40000"/>
              </a:schemeClr>
            </a:solidFill>
          </a:ln>
        </p:spPr>
        <p:txBody>
          <a:bodyPr wrap="square" rtlCol="0">
            <a:spAutoFit/>
          </a:bodyPr>
          <a:p>
            <a:r>
              <a:rPr lang="en-US" altLang="zh-CN">
                <a:solidFill>
                  <a:schemeClr val="tx1"/>
                </a:solidFill>
                <a:uFillTx/>
                <a:latin typeface="Times New Roman" panose="02020603050405020304" pitchFamily="18" charset="0"/>
              </a:rPr>
              <a:t>result.append(TempList[:])</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pic>
        <p:nvPicPr>
          <p:cNvPr id="3" name="图片 2"/>
          <p:cNvPicPr/>
          <p:nvPr/>
        </p:nvPicPr>
        <p:blipFill>
          <a:blip r:embed="rId1"/>
          <a:stretch>
            <a:fillRect/>
          </a:stretch>
        </p:blipFill>
        <p:spPr>
          <a:xfrm>
            <a:off x="1691640" y="1988503"/>
            <a:ext cx="5200650" cy="3876674"/>
          </a:xfrm>
          <a:prstGeom prst="rect">
            <a:avLst/>
          </a:prstGeom>
        </p:spPr>
      </p:pic>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运行流程：（第一层递归会标记第</a:t>
            </a:r>
            <a:r>
              <a:rPr lang="zh-CN" altLang="en-US"/>
              <a:t>一个元素已经</a:t>
            </a:r>
            <a:r>
              <a:rPr lang="zh-CN" altLang="en-US"/>
              <a:t>被访问）</a:t>
            </a:r>
            <a:endParaRPr lang="zh-CN" altLang="en-US"/>
          </a:p>
        </p:txBody>
      </p:sp>
      <p:pic>
        <p:nvPicPr>
          <p:cNvPr id="6" name="图片 5"/>
          <p:cNvPicPr>
            <a:picLocks noChangeAspect="1"/>
          </p:cNvPicPr>
          <p:nvPr/>
        </p:nvPicPr>
        <p:blipFill>
          <a:blip r:embed="rId1"/>
          <a:stretch>
            <a:fillRect/>
          </a:stretch>
        </p:blipFill>
        <p:spPr>
          <a:xfrm>
            <a:off x="1115695" y="1772920"/>
            <a:ext cx="5178425" cy="463105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运行流程：（第二层递归会标记第</a:t>
            </a:r>
            <a:r>
              <a:rPr lang="zh-CN" altLang="en-US"/>
              <a:t>二个元素已经</a:t>
            </a:r>
            <a:r>
              <a:rPr lang="zh-CN" altLang="en-US"/>
              <a:t>被访问）</a:t>
            </a:r>
            <a:endParaRPr lang="zh-CN" altLang="en-US"/>
          </a:p>
        </p:txBody>
      </p:sp>
      <p:pic>
        <p:nvPicPr>
          <p:cNvPr id="5" name="图片 4"/>
          <p:cNvPicPr/>
          <p:nvPr/>
        </p:nvPicPr>
        <p:blipFill>
          <a:blip r:embed="rId1"/>
          <a:stretch>
            <a:fillRect/>
          </a:stretch>
        </p:blipFill>
        <p:spPr>
          <a:xfrm>
            <a:off x="1181100" y="1844675"/>
            <a:ext cx="6746240" cy="437070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运行流程：（第三层递归会标记第</a:t>
            </a:r>
            <a:r>
              <a:rPr lang="zh-CN" altLang="en-US"/>
              <a:t>三个元素已经</a:t>
            </a:r>
            <a:r>
              <a:rPr lang="zh-CN" altLang="en-US"/>
              <a:t>被访问）</a:t>
            </a:r>
            <a:endParaRPr lang="zh-CN" altLang="en-US"/>
          </a:p>
        </p:txBody>
      </p:sp>
      <p:pic>
        <p:nvPicPr>
          <p:cNvPr id="2" name="图片 1"/>
          <p:cNvPicPr/>
          <p:nvPr/>
        </p:nvPicPr>
        <p:blipFill>
          <a:blip r:embed="rId1"/>
          <a:stretch>
            <a:fillRect/>
          </a:stretch>
        </p:blipFill>
        <p:spPr>
          <a:xfrm>
            <a:off x="1331595" y="1844675"/>
            <a:ext cx="6250940" cy="437388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运行流程：（第三层递归</a:t>
            </a:r>
            <a:r>
              <a:rPr lang="zh-CN" altLang="en-US"/>
              <a:t>回溯）</a:t>
            </a:r>
            <a:endParaRPr lang="zh-CN" altLang="en-US"/>
          </a:p>
        </p:txBody>
      </p:sp>
      <p:pic>
        <p:nvPicPr>
          <p:cNvPr id="3" name="图片 2"/>
          <p:cNvPicPr>
            <a:picLocks noChangeAspect="1"/>
          </p:cNvPicPr>
          <p:nvPr/>
        </p:nvPicPr>
        <p:blipFill>
          <a:blip r:embed="rId1"/>
          <a:stretch>
            <a:fillRect/>
          </a:stretch>
        </p:blipFill>
        <p:spPr>
          <a:xfrm>
            <a:off x="467995" y="1706880"/>
            <a:ext cx="5674360" cy="4746625"/>
          </a:xfrm>
          <a:prstGeom prst="rect">
            <a:avLst/>
          </a:prstGeom>
        </p:spPr>
      </p:pic>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第三层递归回溯的时候</a:t>
            </a:r>
            <a:r>
              <a:rPr lang="zh-CN" altLang="en-US"/>
              <a:t>已经第三层递归也已经循环</a:t>
            </a:r>
            <a:r>
              <a:rPr lang="zh-CN" altLang="en-US"/>
              <a:t>结束。</a:t>
            </a:r>
            <a:endParaRPr lang="zh-CN" altLang="en-US"/>
          </a:p>
          <a:p>
            <a:pPr algn="just"/>
            <a:r>
              <a:rPr lang="zh-CN" altLang="en-US"/>
              <a:t>此时会直接返回到第二层递归回溯。</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1</a:t>
            </a:r>
            <a:r>
              <a:rPr lang="zh-CN" altLang="en-US" sz="3600" kern="0" smtClean="0">
                <a:sym typeface="+mn-ea"/>
              </a:rPr>
              <a:t>）</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运行流程：（第</a:t>
            </a:r>
            <a:r>
              <a:rPr lang="zh-CN" altLang="en-US"/>
              <a:t>二层递归</a:t>
            </a:r>
            <a:r>
              <a:rPr lang="zh-CN" altLang="en-US"/>
              <a:t>回溯）</a:t>
            </a:r>
            <a:endParaRPr lang="zh-CN" altLang="en-US"/>
          </a:p>
        </p:txBody>
      </p:sp>
      <p:sp>
        <p:nvSpPr>
          <p:cNvPr id="5" name="文本框 4"/>
          <p:cNvSpPr txBox="1"/>
          <p:nvPr/>
        </p:nvSpPr>
        <p:spPr>
          <a:xfrm>
            <a:off x="6228080" y="1917065"/>
            <a:ext cx="2915920" cy="1800860"/>
          </a:xfrm>
          <a:prstGeom prst="rect">
            <a:avLst/>
          </a:prstGeom>
          <a:noFill/>
        </p:spPr>
        <p:txBody>
          <a:bodyPr wrap="square" rtlCol="0">
            <a:noAutofit/>
          </a:bodyPr>
          <a:p>
            <a:pPr algn="just"/>
            <a:r>
              <a:rPr lang="zh-CN" altLang="en-US"/>
              <a:t>第二层递归回溯的时候递归还没结束，因为第二次递归时候</a:t>
            </a:r>
            <a:r>
              <a:rPr lang="en-US" altLang="zh-CN"/>
              <a:t>i=1</a:t>
            </a:r>
            <a:r>
              <a:rPr lang="zh-CN" altLang="en-US"/>
              <a:t>，此时回溯到标记数组为</a:t>
            </a:r>
            <a:r>
              <a:rPr lang="en-US" altLang="zh-CN"/>
              <a:t>opt=[1,0,0]</a:t>
            </a:r>
            <a:r>
              <a:rPr lang="zh-CN" altLang="en-US"/>
              <a:t>，然后</a:t>
            </a:r>
            <a:r>
              <a:rPr lang="en-US" altLang="zh-CN"/>
              <a:t>i=2</a:t>
            </a:r>
            <a:r>
              <a:rPr lang="zh-CN" altLang="en-US"/>
              <a:t>的时候递归。递归出</a:t>
            </a:r>
            <a:r>
              <a:rPr lang="en-US" altLang="zh-CN"/>
              <a:t>[1,3,2]</a:t>
            </a:r>
            <a:r>
              <a:rPr lang="zh-CN" altLang="en-US"/>
              <a:t>的</a:t>
            </a:r>
            <a:r>
              <a:rPr lang="zh-CN" altLang="en-US"/>
              <a:t>结果。</a:t>
            </a:r>
            <a:endParaRPr lang="zh-CN" altLang="en-US"/>
          </a:p>
        </p:txBody>
      </p:sp>
      <p:pic>
        <p:nvPicPr>
          <p:cNvPr id="2" name="图片 1"/>
          <p:cNvPicPr/>
          <p:nvPr/>
        </p:nvPicPr>
        <p:blipFill>
          <a:blip r:embed="rId1"/>
          <a:stretch>
            <a:fillRect/>
          </a:stretch>
        </p:blipFill>
        <p:spPr>
          <a:xfrm>
            <a:off x="395605" y="1917065"/>
            <a:ext cx="5883275" cy="397446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sz="1800">
                <a:solidFill>
                  <a:srgbClr val="000066"/>
                </a:solidFill>
                <a:latin typeface="+mj-ea"/>
                <a:ea typeface="+mj-ea"/>
              </a:rPr>
              <a:t>转成树结构</a:t>
            </a:r>
            <a:r>
              <a:rPr lang="en-US" altLang="zh-CN" sz="1800">
                <a:solidFill>
                  <a:srgbClr val="000066"/>
                </a:solidFill>
                <a:latin typeface="+mj-ea"/>
                <a:ea typeface="+mj-ea"/>
              </a:rPr>
              <a:t> </a:t>
            </a:r>
            <a:endParaRPr lang="en-US" altLang="zh-CN" sz="1800">
              <a:solidFill>
                <a:srgbClr val="000066"/>
              </a:solidFill>
              <a:latin typeface="+mj-ea"/>
              <a:ea typeface="+mj-ea"/>
            </a:endParaRPr>
          </a:p>
        </p:txBody>
      </p:sp>
      <p:grpSp>
        <p:nvGrpSpPr>
          <p:cNvPr id="72" name="组合 71"/>
          <p:cNvGrpSpPr/>
          <p:nvPr/>
        </p:nvGrpSpPr>
        <p:grpSpPr>
          <a:xfrm>
            <a:off x="5220335" y="198882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77215" y="2483485"/>
            <a:ext cx="2050415" cy="1476375"/>
          </a:xfrm>
          <a:prstGeom prst="rect">
            <a:avLst/>
          </a:prstGeom>
          <a:solidFill>
            <a:srgbClr val="92D050"/>
          </a:solidFill>
        </p:spPr>
        <p:txBody>
          <a:bodyPr wrap="square" rtlCol="0">
            <a:sp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[1,2,3],[1,3,2]</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[2,1,3],[2,3,1]</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[3,1,2],[3,2,1]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3" name="文本框 72"/>
          <p:cNvSpPr txBox="1"/>
          <p:nvPr/>
        </p:nvSpPr>
        <p:spPr>
          <a:xfrm>
            <a:off x="577215" y="2089785"/>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a:t>
            </a:r>
            <a:endParaRPr lang="en-US" altLang="zh-CN">
              <a:latin typeface="Times New Roman" panose="02020603050405020304" pitchFamily="18" charset="0"/>
              <a:cs typeface="Times New Roman" panose="02020603050405020304" pitchFamily="18" charset="0"/>
            </a:endParaRPr>
          </a:p>
        </p:txBody>
      </p:sp>
      <p:sp>
        <p:nvSpPr>
          <p:cNvPr id="74" name="文本框 73"/>
          <p:cNvSpPr txBox="1"/>
          <p:nvPr/>
        </p:nvSpPr>
        <p:spPr>
          <a:xfrm>
            <a:off x="539115" y="5012690"/>
            <a:ext cx="7850505" cy="1733550"/>
          </a:xfrm>
          <a:prstGeom prst="rect">
            <a:avLst/>
          </a:prstGeom>
          <a:solidFill>
            <a:srgbClr val="92D050"/>
          </a:solidFill>
        </p:spPr>
        <p:txBody>
          <a:bodyPr wrap="square" rtlCol="0">
            <a:noAutofit/>
          </a:bodyPr>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a:solidFill>
                  <a:srgbClr val="000066"/>
                </a:solidFill>
                <a:latin typeface="Times New Roman" panose="02020603050405020304" pitchFamily="18" charset="0"/>
                <a:ea typeface="+mj-ea"/>
                <a:cs typeface="Times New Roman" panose="02020603050405020304" pitchFamily="18" charset="0"/>
                <a:sym typeface="+mn-ea"/>
              </a:rPr>
              <a:t>]</a:t>
            </a:r>
            <a:endParaRPr lang="zh-CN" altLang="en-US">
              <a:latin typeface="Times New Roman" panose="02020603050405020304" pitchFamily="18" charset="0"/>
              <a:cs typeface="Times New Roman" panose="02020603050405020304" pitchFamily="18" charset="0"/>
            </a:endParaRPr>
          </a:p>
        </p:txBody>
      </p:sp>
      <p:sp>
        <p:nvSpPr>
          <p:cNvPr id="75" name="文本框 74"/>
          <p:cNvSpPr txBox="1"/>
          <p:nvPr/>
        </p:nvSpPr>
        <p:spPr>
          <a:xfrm>
            <a:off x="539750" y="4193540"/>
            <a:ext cx="2864485" cy="56896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例如：</a:t>
            </a:r>
            <a:r>
              <a:rPr lang="en-US" altLang="zh-CN">
                <a:latin typeface="Times New Roman" panose="02020603050405020304" pitchFamily="18" charset="0"/>
                <a:cs typeface="Times New Roman" panose="02020603050405020304" pitchFamily="18" charset="0"/>
              </a:rPr>
              <a:t>nums=[1,2,3,4]</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539750" y="1402080"/>
            <a:ext cx="403225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13" name="组合 12"/>
          <p:cNvGrpSpPr/>
          <p:nvPr/>
        </p:nvGrpSpPr>
        <p:grpSpPr>
          <a:xfrm rot="0">
            <a:off x="3815715" y="14382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2124710" y="230251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rot="0">
            <a:off x="3312795" y="2302510"/>
            <a:ext cx="646430" cy="581660"/>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rot="0">
            <a:off x="4572000" y="230251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p:nvPr/>
        </p:nvCxnSpPr>
        <p:spPr>
          <a:xfrm rot="10800000" flipV="1">
            <a:off x="2447925" y="1729740"/>
            <a:ext cx="1367790" cy="5727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rot="5400000" flipV="1">
            <a:off x="4376103" y="1783398"/>
            <a:ext cx="281940" cy="756285"/>
          </a:xfrm>
          <a:prstGeom prst="curvedConnector3">
            <a:avLst>
              <a:gd name="adj1" fmla="val 49887"/>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p:nvPr/>
        </p:nvCxnSpPr>
        <p:spPr>
          <a:xfrm rot="5400000">
            <a:off x="3746500" y="1910080"/>
            <a:ext cx="281940" cy="5029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539115" y="5124450"/>
            <a:ext cx="7850505" cy="1733550"/>
          </a:xfrm>
          <a:prstGeom prst="rect">
            <a:avLst/>
          </a:prstGeom>
          <a:solidFill>
            <a:srgbClr val="92D050"/>
          </a:solidFill>
        </p:spPr>
        <p:txBody>
          <a:bodyPr wrap="square" rtlCol="0">
            <a:noAutofit/>
          </a:bodyPr>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[1, 2, 3, 4],[1, 2, 4, 3],[1, 3, 2, 4],[1, 3, 4, 2],[1, 4, 3, 2],[1, 4, 2,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[2, 1, 3, 4],[2, 1, 4, 3],[2, 3, 1, 4],[2, 3, 4, 1],[2, 4, 3, 1],[2, 4, 1, 3]</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FF0000"/>
                </a:solidFill>
                <a:latin typeface="Times New Roman" panose="02020603050405020304" pitchFamily="18" charset="0"/>
                <a:ea typeface="+mj-ea"/>
                <a:cs typeface="Times New Roman" panose="02020603050405020304" pitchFamily="18" charset="0"/>
                <a:sym typeface="+mn-ea"/>
              </a:rPr>
              <a:t>[4, 1, 2, 3],[4, 1, 3, 2],[4, 2, 1, 3],[4, 2, 3, 1],[4, 3, 1, 2],[4, 3, 2, 1]</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a:p>
            <a:pPr algn="l">
              <a:defRPr/>
            </a:pPr>
            <a:r>
              <a:rPr lang="en-US" altLang="zh-CN" sz="1800">
                <a:solidFill>
                  <a:srgbClr val="000066"/>
                </a:solidFill>
                <a:latin typeface="Times New Roman" panose="02020603050405020304" pitchFamily="18" charset="0"/>
                <a:ea typeface="+mj-ea"/>
                <a:cs typeface="Times New Roman" panose="02020603050405020304" pitchFamily="18" charset="0"/>
                <a:sym typeface="+mn-ea"/>
              </a:rPr>
              <a:t>]</a:t>
            </a:r>
            <a:endParaRPr lang="en-US" altLang="zh-CN" sz="1800">
              <a:solidFill>
                <a:srgbClr val="000066"/>
              </a:solidFill>
              <a:latin typeface="Times New Roman" panose="02020603050405020304" pitchFamily="18" charset="0"/>
              <a:ea typeface="+mj-ea"/>
              <a:cs typeface="Times New Roman" panose="02020603050405020304" pitchFamily="18" charset="0"/>
              <a:sym typeface="+mn-ea"/>
            </a:endParaRPr>
          </a:p>
        </p:txBody>
      </p:sp>
      <p:grpSp>
        <p:nvGrpSpPr>
          <p:cNvPr id="5" name="组合 4"/>
          <p:cNvGrpSpPr/>
          <p:nvPr/>
        </p:nvGrpSpPr>
        <p:grpSpPr>
          <a:xfrm rot="0">
            <a:off x="5653405" y="2302510"/>
            <a:ext cx="646430" cy="582295"/>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6" name="文本框 75"/>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77" name="曲线连接符 76"/>
          <p:cNvCxnSpPr/>
          <p:nvPr/>
        </p:nvCxnSpPr>
        <p:spPr>
          <a:xfrm>
            <a:off x="4442460" y="1757680"/>
            <a:ext cx="1534160" cy="54483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82" name="组合 81"/>
          <p:cNvGrpSpPr/>
          <p:nvPr/>
        </p:nvGrpSpPr>
        <p:grpSpPr>
          <a:xfrm rot="0">
            <a:off x="4438650" y="3140710"/>
            <a:ext cx="646430" cy="582295"/>
            <a:chOff x="10489" y="3359"/>
            <a:chExt cx="1018" cy="917"/>
          </a:xfrm>
        </p:grpSpPr>
        <p:sp>
          <p:nvSpPr>
            <p:cNvPr id="83" name="椭圆 8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4" name="文本框 83"/>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85" name="组合 84"/>
          <p:cNvGrpSpPr/>
          <p:nvPr/>
        </p:nvGrpSpPr>
        <p:grpSpPr>
          <a:xfrm rot="0">
            <a:off x="5626735" y="3140710"/>
            <a:ext cx="646430" cy="581660"/>
            <a:chOff x="10489" y="3359"/>
            <a:chExt cx="1018" cy="916"/>
          </a:xfrm>
        </p:grpSpPr>
        <p:sp>
          <p:nvSpPr>
            <p:cNvPr id="86" name="椭圆 8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7" name="文本框 8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88" name="组合 87"/>
          <p:cNvGrpSpPr/>
          <p:nvPr/>
        </p:nvGrpSpPr>
        <p:grpSpPr>
          <a:xfrm rot="0">
            <a:off x="6885940" y="3140710"/>
            <a:ext cx="646430" cy="581660"/>
            <a:chOff x="10489" y="3359"/>
            <a:chExt cx="1018" cy="916"/>
          </a:xfrm>
        </p:grpSpPr>
        <p:sp>
          <p:nvSpPr>
            <p:cNvPr id="89" name="椭圆 8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0" name="文本框 8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91" name="曲线连接符 90"/>
          <p:cNvCxnSpPr>
            <a:stCxn id="7" idx="4"/>
            <a:endCxn id="83" idx="0"/>
          </p:cNvCxnSpPr>
          <p:nvPr/>
        </p:nvCxnSpPr>
        <p:spPr>
          <a:xfrm rot="5400000">
            <a:off x="5241290" y="2404745"/>
            <a:ext cx="255905" cy="121475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2" name="曲线连接符 91"/>
          <p:cNvCxnSpPr>
            <a:stCxn id="7" idx="4"/>
            <a:endCxn id="89" idx="0"/>
          </p:cNvCxnSpPr>
          <p:nvPr/>
        </p:nvCxnSpPr>
        <p:spPr>
          <a:xfrm rot="5400000" flipV="1">
            <a:off x="6464935" y="2395855"/>
            <a:ext cx="255905" cy="1232535"/>
          </a:xfrm>
          <a:prstGeom prst="curvedConnector3">
            <a:avLst>
              <a:gd name="adj1" fmla="val 50124"/>
            </a:avLst>
          </a:prstGeom>
          <a:solidFill>
            <a:schemeClr val="accent1"/>
          </a:solidFill>
          <a:ln w="9525" cap="flat" cmpd="sng" algn="ctr">
            <a:solidFill>
              <a:schemeClr val="tx1"/>
            </a:solidFill>
            <a:prstDash val="solid"/>
            <a:round/>
            <a:headEnd type="none" w="med" len="med"/>
            <a:tailEnd type="arrow" w="med" len="med"/>
          </a:ln>
        </p:spPr>
      </p:cxnSp>
      <p:cxnSp>
        <p:nvCxnSpPr>
          <p:cNvPr id="93" name="曲线连接符 92"/>
          <p:cNvCxnSpPr>
            <a:stCxn id="7" idx="4"/>
            <a:endCxn id="86" idx="0"/>
          </p:cNvCxnSpPr>
          <p:nvPr/>
        </p:nvCxnSpPr>
        <p:spPr>
          <a:xfrm rot="5400000">
            <a:off x="5835650" y="2999105"/>
            <a:ext cx="255905" cy="266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nvGrpSpPr>
          <p:cNvPr id="94" name="组合 93"/>
          <p:cNvGrpSpPr/>
          <p:nvPr/>
        </p:nvGrpSpPr>
        <p:grpSpPr>
          <a:xfrm rot="0">
            <a:off x="4870450" y="4032250"/>
            <a:ext cx="341630" cy="342265"/>
            <a:chOff x="10489" y="3359"/>
            <a:chExt cx="1018" cy="917"/>
          </a:xfrm>
        </p:grpSpPr>
        <p:sp>
          <p:nvSpPr>
            <p:cNvPr id="95" name="椭圆 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文本框 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7" name="组合 96"/>
          <p:cNvGrpSpPr/>
          <p:nvPr/>
        </p:nvGrpSpPr>
        <p:grpSpPr>
          <a:xfrm rot="0">
            <a:off x="4150360" y="4032250"/>
            <a:ext cx="341630" cy="342265"/>
            <a:chOff x="10489" y="3359"/>
            <a:chExt cx="1018" cy="917"/>
          </a:xfrm>
        </p:grpSpPr>
        <p:sp>
          <p:nvSpPr>
            <p:cNvPr id="98" name="椭圆 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9" name="文本框 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0" name="组合 99"/>
          <p:cNvGrpSpPr/>
          <p:nvPr/>
        </p:nvGrpSpPr>
        <p:grpSpPr>
          <a:xfrm rot="0">
            <a:off x="6194425" y="4032250"/>
            <a:ext cx="341630" cy="342265"/>
            <a:chOff x="10489" y="3359"/>
            <a:chExt cx="1018" cy="917"/>
          </a:xfrm>
        </p:grpSpPr>
        <p:sp>
          <p:nvSpPr>
            <p:cNvPr id="101" name="椭圆 10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2" name="文本框 10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03" name="组合 102"/>
          <p:cNvGrpSpPr/>
          <p:nvPr/>
        </p:nvGrpSpPr>
        <p:grpSpPr>
          <a:xfrm rot="0">
            <a:off x="5474335" y="4032250"/>
            <a:ext cx="341630" cy="342265"/>
            <a:chOff x="10489" y="3359"/>
            <a:chExt cx="1018" cy="917"/>
          </a:xfrm>
        </p:grpSpPr>
        <p:sp>
          <p:nvSpPr>
            <p:cNvPr id="104" name="椭圆 10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5" name="文本框 10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06" name="组合 105"/>
          <p:cNvGrpSpPr/>
          <p:nvPr/>
        </p:nvGrpSpPr>
        <p:grpSpPr>
          <a:xfrm rot="0">
            <a:off x="7482205" y="4032250"/>
            <a:ext cx="341630" cy="342265"/>
            <a:chOff x="10489" y="3359"/>
            <a:chExt cx="1018" cy="917"/>
          </a:xfrm>
        </p:grpSpPr>
        <p:sp>
          <p:nvSpPr>
            <p:cNvPr id="107" name="椭圆 10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8" name="文本框 10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09" name="组合 108"/>
          <p:cNvGrpSpPr/>
          <p:nvPr/>
        </p:nvGrpSpPr>
        <p:grpSpPr>
          <a:xfrm rot="0">
            <a:off x="6762115" y="4032250"/>
            <a:ext cx="341630" cy="342265"/>
            <a:chOff x="10489" y="3359"/>
            <a:chExt cx="1018" cy="917"/>
          </a:xfrm>
        </p:grpSpPr>
        <p:sp>
          <p:nvSpPr>
            <p:cNvPr id="110" name="椭圆 10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11" name="文本框 11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12" name="曲线连接符 111"/>
          <p:cNvCxnSpPr/>
          <p:nvPr/>
        </p:nvCxnSpPr>
        <p:spPr>
          <a:xfrm rot="5400000">
            <a:off x="4371340" y="368681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3" name="曲线连接符 112"/>
          <p:cNvCxnSpPr/>
          <p:nvPr/>
        </p:nvCxnSpPr>
        <p:spPr>
          <a:xfrm rot="5400000" flipV="1">
            <a:off x="4731385" y="375348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4" name="曲线连接符 113"/>
          <p:cNvCxnSpPr/>
          <p:nvPr/>
        </p:nvCxnSpPr>
        <p:spPr>
          <a:xfrm rot="5400000">
            <a:off x="6900545" y="376872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115" name="曲线连接符 114"/>
          <p:cNvCxnSpPr/>
          <p:nvPr/>
        </p:nvCxnSpPr>
        <p:spPr>
          <a:xfrm rot="5400000" flipV="1">
            <a:off x="6003290" y="3669665"/>
            <a:ext cx="309245" cy="4152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6" name="曲线连接符 115"/>
          <p:cNvCxnSpPr/>
          <p:nvPr/>
        </p:nvCxnSpPr>
        <p:spPr>
          <a:xfrm rot="5400000">
            <a:off x="5627370" y="3754755"/>
            <a:ext cx="354330" cy="29083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17" name="曲线连接符 116"/>
          <p:cNvCxnSpPr/>
          <p:nvPr/>
        </p:nvCxnSpPr>
        <p:spPr>
          <a:xfrm rot="5400000" flipV="1">
            <a:off x="7276465" y="365506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118" name="组合 117"/>
          <p:cNvGrpSpPr/>
          <p:nvPr/>
        </p:nvGrpSpPr>
        <p:grpSpPr>
          <a:xfrm rot="0">
            <a:off x="4150360" y="4726940"/>
            <a:ext cx="341630" cy="342265"/>
            <a:chOff x="10489" y="3359"/>
            <a:chExt cx="1018" cy="917"/>
          </a:xfrm>
        </p:grpSpPr>
        <p:sp>
          <p:nvSpPr>
            <p:cNvPr id="119" name="椭圆 1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0" name="文本框 11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1" name="组合 120"/>
          <p:cNvGrpSpPr/>
          <p:nvPr/>
        </p:nvGrpSpPr>
        <p:grpSpPr>
          <a:xfrm rot="0">
            <a:off x="4870450" y="4726940"/>
            <a:ext cx="341630" cy="342265"/>
            <a:chOff x="10489" y="3359"/>
            <a:chExt cx="1018" cy="917"/>
          </a:xfrm>
        </p:grpSpPr>
        <p:sp>
          <p:nvSpPr>
            <p:cNvPr id="122" name="椭圆 1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3" name="文本框 12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24" name="组合 123"/>
          <p:cNvGrpSpPr/>
          <p:nvPr/>
        </p:nvGrpSpPr>
        <p:grpSpPr>
          <a:xfrm rot="0">
            <a:off x="5474335" y="4726940"/>
            <a:ext cx="341630" cy="342265"/>
            <a:chOff x="10489" y="3359"/>
            <a:chExt cx="1018" cy="917"/>
          </a:xfrm>
        </p:grpSpPr>
        <p:sp>
          <p:nvSpPr>
            <p:cNvPr id="125" name="椭圆 12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6" name="文本框 12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127" name="组合 126"/>
          <p:cNvGrpSpPr/>
          <p:nvPr/>
        </p:nvGrpSpPr>
        <p:grpSpPr>
          <a:xfrm rot="0">
            <a:off x="6204585" y="4726305"/>
            <a:ext cx="341630" cy="342265"/>
            <a:chOff x="10489" y="3359"/>
            <a:chExt cx="1018" cy="917"/>
          </a:xfrm>
        </p:grpSpPr>
        <p:sp>
          <p:nvSpPr>
            <p:cNvPr id="128" name="椭圆 12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9" name="文本框 12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30" name="组合 129"/>
          <p:cNvGrpSpPr/>
          <p:nvPr/>
        </p:nvGrpSpPr>
        <p:grpSpPr>
          <a:xfrm rot="0">
            <a:off x="6786880" y="4725670"/>
            <a:ext cx="341630" cy="342265"/>
            <a:chOff x="10489" y="3359"/>
            <a:chExt cx="1018" cy="917"/>
          </a:xfrm>
        </p:grpSpPr>
        <p:sp>
          <p:nvSpPr>
            <p:cNvPr id="131" name="椭圆 1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2" name="文本框 1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133" name="组合 132"/>
          <p:cNvGrpSpPr/>
          <p:nvPr/>
        </p:nvGrpSpPr>
        <p:grpSpPr>
          <a:xfrm rot="0">
            <a:off x="7496810" y="4726940"/>
            <a:ext cx="341630" cy="342265"/>
            <a:chOff x="10489" y="3359"/>
            <a:chExt cx="1018" cy="917"/>
          </a:xfrm>
        </p:grpSpPr>
        <p:sp>
          <p:nvSpPr>
            <p:cNvPr id="134" name="椭圆 1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5" name="文本框 1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36" name="曲线连接符 135"/>
          <p:cNvCxnSpPr/>
          <p:nvPr/>
        </p:nvCxnSpPr>
        <p:spPr>
          <a:xfrm rot="5400000" flipV="1">
            <a:off x="4153535"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7" name="曲线连接符 136"/>
          <p:cNvCxnSpPr/>
          <p:nvPr/>
        </p:nvCxnSpPr>
        <p:spPr>
          <a:xfrm rot="5400000" flipV="1">
            <a:off x="4874895" y="453199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8" name="曲线连接符 137"/>
          <p:cNvCxnSpPr/>
          <p:nvPr/>
        </p:nvCxnSpPr>
        <p:spPr>
          <a:xfrm rot="5400000" flipV="1">
            <a:off x="545909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39" name="曲线连接符 138"/>
          <p:cNvCxnSpPr/>
          <p:nvPr/>
        </p:nvCxnSpPr>
        <p:spPr>
          <a:xfrm rot="5400000" flipV="1">
            <a:off x="6185535" y="4546600"/>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0" name="曲线连接符 139"/>
          <p:cNvCxnSpPr/>
          <p:nvPr/>
        </p:nvCxnSpPr>
        <p:spPr>
          <a:xfrm rot="5400000" flipV="1">
            <a:off x="679069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1" name="曲线连接符 140"/>
          <p:cNvCxnSpPr/>
          <p:nvPr/>
        </p:nvCxnSpPr>
        <p:spPr>
          <a:xfrm rot="5400000" flipV="1">
            <a:off x="7510780" y="4542155"/>
            <a:ext cx="347980" cy="127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1807210" cy="442595"/>
          </a:xfrm>
          <a:prstGeom prst="rect">
            <a:avLst/>
          </a:prstGeom>
          <a:noFill/>
        </p:spPr>
        <p:txBody>
          <a:bodyPr>
            <a:noAutofit/>
          </a:bodyPr>
          <a:p>
            <a:pPr>
              <a:defRPr/>
            </a:pPr>
            <a:r>
              <a:rPr lang="zh-CN" altLang="en-US" sz="1800">
                <a:solidFill>
                  <a:srgbClr val="000066"/>
                </a:solidFill>
                <a:latin typeface="+mj-ea"/>
                <a:ea typeface="+mj-ea"/>
              </a:rPr>
              <a:t>交换法回溯</a:t>
            </a:r>
            <a:r>
              <a:rPr lang="en-US" altLang="zh-CN" sz="1800">
                <a:solidFill>
                  <a:srgbClr val="000066"/>
                </a:solidFill>
                <a:latin typeface="+mj-ea"/>
                <a:ea typeface="+mj-ea"/>
              </a:rPr>
              <a:t> :</a:t>
            </a:r>
            <a:endParaRPr lang="zh-CN" altLang="en-US" sz="1800">
              <a:solidFill>
                <a:srgbClr val="000066"/>
              </a:solidFill>
              <a:latin typeface="+mj-ea"/>
              <a:ea typeface="+mj-ea"/>
            </a:endParaRPr>
          </a:p>
        </p:txBody>
      </p:sp>
      <p:grpSp>
        <p:nvGrpSpPr>
          <p:cNvPr id="72" name="组合 71"/>
          <p:cNvGrpSpPr/>
          <p:nvPr/>
        </p:nvGrpSpPr>
        <p:grpSpPr>
          <a:xfrm>
            <a:off x="4830445" y="2133600"/>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2" name="组合 1"/>
            <p:cNvGrpSpPr/>
            <p:nvPr/>
          </p:nvGrpSpPr>
          <p:grpSpPr>
            <a:xfrm>
              <a:off x="11440" y="6011"/>
              <a:ext cx="538" cy="539"/>
              <a:chOff x="10489" y="3359"/>
              <a:chExt cx="1018" cy="917"/>
            </a:xfrm>
          </p:grpSpPr>
          <p:sp>
            <p:nvSpPr>
              <p:cNvPr id="3" name="椭圆 2"/>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8" name="组合 7"/>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3"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76" name="矩形 75"/>
          <p:cNvSpPr/>
          <p:nvPr/>
        </p:nvSpPr>
        <p:spPr>
          <a:xfrm>
            <a:off x="4909185" y="2853055"/>
            <a:ext cx="3584575" cy="1008380"/>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文本框 76"/>
          <p:cNvSpPr txBox="1"/>
          <p:nvPr/>
        </p:nvSpPr>
        <p:spPr>
          <a:xfrm>
            <a:off x="33020" y="2827020"/>
            <a:ext cx="4718685" cy="337185"/>
          </a:xfrm>
          <a:prstGeom prst="rect">
            <a:avLst/>
          </a:prstGeom>
          <a:noFill/>
        </p:spPr>
        <p:txBody>
          <a:bodyPr wrap="square" rtlCol="0">
            <a:spAutoFit/>
          </a:bodyPr>
          <a:p>
            <a:r>
              <a:rPr lang="zh-CN" altLang="en-US" sz="1600"/>
              <a:t>①：第一层，任何一个元素均可以占据首部一次</a:t>
            </a:r>
            <a:endParaRPr lang="zh-CN" altLang="en-US" sz="1600"/>
          </a:p>
        </p:txBody>
      </p:sp>
      <p:sp>
        <p:nvSpPr>
          <p:cNvPr id="78" name="文本框 77"/>
          <p:cNvSpPr txBox="1"/>
          <p:nvPr/>
        </p:nvSpPr>
        <p:spPr>
          <a:xfrm>
            <a:off x="4867275" y="2832735"/>
            <a:ext cx="503555" cy="319405"/>
          </a:xfrm>
          <a:prstGeom prst="rect">
            <a:avLst/>
          </a:prstGeom>
          <a:noFill/>
        </p:spPr>
        <p:txBody>
          <a:bodyPr wrap="square" rtlCol="0" anchor="t">
            <a:noAutofit/>
          </a:bodyPr>
          <a:p>
            <a:r>
              <a:rPr lang="zh-CN" altLang="en-US">
                <a:solidFill>
                  <a:srgbClr val="FF0000"/>
                </a:solidFill>
                <a:sym typeface="+mn-ea"/>
              </a:rPr>
              <a:t>①</a:t>
            </a:r>
            <a:endParaRPr lang="zh-CN" altLang="en-US">
              <a:solidFill>
                <a:srgbClr val="FF0000"/>
              </a:solidFill>
              <a:sym typeface="+mn-ea"/>
            </a:endParaRPr>
          </a:p>
        </p:txBody>
      </p:sp>
      <p:sp>
        <p:nvSpPr>
          <p:cNvPr id="79" name="矩形 78"/>
          <p:cNvSpPr/>
          <p:nvPr/>
        </p:nvSpPr>
        <p:spPr>
          <a:xfrm>
            <a:off x="4583430" y="3932555"/>
            <a:ext cx="1426845" cy="5238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4509770" y="3885565"/>
            <a:ext cx="166370" cy="167005"/>
          </a:xfrm>
          <a:prstGeom prst="rect">
            <a:avLst/>
          </a:prstGeom>
          <a:noFill/>
        </p:spPr>
        <p:txBody>
          <a:bodyPr wrap="square" rtlCol="0" anchor="t">
            <a:noAutofit/>
          </a:bodyPr>
          <a:p>
            <a:r>
              <a:rPr lang="zh-CN" altLang="en-US">
                <a:solidFill>
                  <a:srgbClr val="FF0000"/>
                </a:solidFill>
                <a:sym typeface="+mn-ea"/>
              </a:rPr>
              <a:t>②</a:t>
            </a:r>
            <a:endParaRPr lang="zh-CN" altLang="en-US">
              <a:solidFill>
                <a:srgbClr val="FF0000"/>
              </a:solidFill>
              <a:sym typeface="+mn-ea"/>
            </a:endParaRPr>
          </a:p>
        </p:txBody>
      </p:sp>
      <p:sp>
        <p:nvSpPr>
          <p:cNvPr id="81" name="文本框 80"/>
          <p:cNvSpPr txBox="1"/>
          <p:nvPr/>
        </p:nvSpPr>
        <p:spPr>
          <a:xfrm>
            <a:off x="58420" y="3429000"/>
            <a:ext cx="4718685" cy="337185"/>
          </a:xfrm>
          <a:prstGeom prst="rect">
            <a:avLst/>
          </a:prstGeom>
          <a:noFill/>
        </p:spPr>
        <p:txBody>
          <a:bodyPr wrap="square" rtlCol="0">
            <a:spAutoFit/>
          </a:bodyPr>
          <a:p>
            <a:r>
              <a:rPr lang="zh-CN" altLang="en-US" sz="1600">
                <a:solidFill>
                  <a:schemeClr val="tx1"/>
                </a:solidFill>
                <a:uFillTx/>
                <a:latin typeface="Times New Roman" panose="02020603050405020304" pitchFamily="18" charset="0"/>
              </a:rPr>
              <a:t>②：第二层，剩余</a:t>
            </a:r>
            <a:r>
              <a:rPr lang="en-US" altLang="zh-CN" sz="1600">
                <a:solidFill>
                  <a:schemeClr val="tx1"/>
                </a:solidFill>
                <a:uFillTx/>
                <a:latin typeface="Times New Roman" panose="02020603050405020304" pitchFamily="18" charset="0"/>
              </a:rPr>
              <a:t>n-1</a:t>
            </a:r>
            <a:r>
              <a:rPr lang="zh-CN" altLang="en-US" sz="1600">
                <a:solidFill>
                  <a:schemeClr val="tx1"/>
                </a:solidFill>
                <a:uFillTx/>
                <a:latin typeface="Times New Roman" panose="02020603050405020304" pitchFamily="18" charset="0"/>
              </a:rPr>
              <a:t>个元素都可以占据首部一次</a:t>
            </a:r>
            <a:endParaRPr lang="zh-CN" altLang="en-US" sz="1600">
              <a:solidFill>
                <a:schemeClr val="tx1"/>
              </a:solidFill>
              <a:uFillTx/>
              <a:latin typeface="Times New Roman" panose="02020603050405020304" pitchFamily="18" charset="0"/>
            </a:endParaRPr>
          </a:p>
        </p:txBody>
      </p:sp>
      <p:sp>
        <p:nvSpPr>
          <p:cNvPr id="5" name="文本框 4"/>
          <p:cNvSpPr txBox="1"/>
          <p:nvPr/>
        </p:nvSpPr>
        <p:spPr>
          <a:xfrm>
            <a:off x="-42545" y="4869180"/>
            <a:ext cx="4718685" cy="583565"/>
          </a:xfrm>
          <a:prstGeom prst="rect">
            <a:avLst/>
          </a:prstGeom>
          <a:noFill/>
        </p:spPr>
        <p:txBody>
          <a:bodyPr wrap="square" rtlCol="0">
            <a:spAutoFit/>
          </a:bodyPr>
          <a:p>
            <a:r>
              <a:rPr lang="zh-CN" altLang="en-US" sz="1600">
                <a:solidFill>
                  <a:srgbClr val="FF0000"/>
                </a:solidFill>
                <a:uFillTx/>
                <a:latin typeface="Times New Roman" panose="02020603050405020304" pitchFamily="18" charset="0"/>
              </a:rPr>
              <a:t>注意：每次交换均是与首位交换，所以每次递归结束，一定要回溯！</a:t>
            </a:r>
            <a:endParaRPr lang="zh-CN" altLang="en-US" sz="1600">
              <a:solidFill>
                <a:srgbClr val="FF0000"/>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a:t>
            </a:r>
            <a:r>
              <a:rPr lang="en-US" altLang="zh-CN" sz="3600" kern="0" smtClean="0"/>
              <a:t>1</a:t>
            </a:r>
            <a:r>
              <a:rPr lang="zh-CN" altLang="en-US" sz="3600" kern="0" smtClean="0"/>
              <a:t>）全排列</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251460" y="1484630"/>
            <a:ext cx="2764155" cy="37147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交换法回溯代码实现</a:t>
            </a:r>
            <a:r>
              <a:rPr lang="en-US" altLang="zh-CN" sz="1800">
                <a:solidFill>
                  <a:srgbClr val="000066"/>
                </a:solidFill>
                <a:uFillTx/>
                <a:latin typeface="Times New Roman" panose="02020603050405020304" pitchFamily="18" charset="0"/>
              </a:rPr>
              <a:t>:</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251460" y="1844675"/>
            <a:ext cx="5248275" cy="3381375"/>
          </a:xfrm>
          <a:prstGeom prst="rect">
            <a:avLst/>
          </a:prstGeom>
        </p:spPr>
      </p:pic>
      <p:sp>
        <p:nvSpPr>
          <p:cNvPr id="9" name="文本框 8"/>
          <p:cNvSpPr txBox="1"/>
          <p:nvPr/>
        </p:nvSpPr>
        <p:spPr>
          <a:xfrm>
            <a:off x="251460" y="5516880"/>
            <a:ext cx="4550410" cy="429260"/>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除此之外还有头中尾插入法、前缀法。</a:t>
            </a:r>
            <a:endParaRPr lang="zh-CN" altLang="en-US"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539750" y="1557020"/>
            <a:ext cx="4032250" cy="442595"/>
          </a:xfrm>
          <a:prstGeom prst="rect">
            <a:avLst/>
          </a:prstGeom>
          <a:noFill/>
        </p:spPr>
        <p:txBody>
          <a:bodyPr>
            <a:noAutofit/>
          </a:bodyPr>
          <a:p>
            <a:pPr>
              <a:defRPr/>
            </a:pPr>
            <a:r>
              <a:rPr lang="zh-CN" altLang="en-US">
                <a:solidFill>
                  <a:srgbClr val="000066"/>
                </a:solidFill>
                <a:latin typeface="+mj-ea"/>
                <a:ea typeface="+mj-ea"/>
              </a:rPr>
              <a:t>假设有数组元素</a:t>
            </a:r>
            <a:r>
              <a:rPr lang="en-US" altLang="zh-CN">
                <a:solidFill>
                  <a:srgbClr val="000066"/>
                </a:solidFill>
                <a:latin typeface="+mj-ea"/>
                <a:ea typeface="+mj-ea"/>
              </a:rPr>
              <a:t>nums = [1,2,3] </a:t>
            </a:r>
            <a:endParaRPr lang="zh-CN" altLang="en-US">
              <a:solidFill>
                <a:srgbClr val="000066"/>
              </a:solidFill>
              <a:latin typeface="+mj-ea"/>
              <a:ea typeface="+mj-ea"/>
            </a:endParaRPr>
          </a:p>
        </p:txBody>
      </p:sp>
      <p:sp>
        <p:nvSpPr>
          <p:cNvPr id="5" name="文本框 4"/>
          <p:cNvSpPr txBox="1"/>
          <p:nvPr/>
        </p:nvSpPr>
        <p:spPr>
          <a:xfrm>
            <a:off x="539750" y="1988820"/>
            <a:ext cx="4481195" cy="448945"/>
          </a:xfrm>
          <a:prstGeom prst="rect">
            <a:avLst/>
          </a:prstGeom>
          <a:noFill/>
        </p:spPr>
        <p:txBody>
          <a:bodyPr>
            <a:noAutofit/>
          </a:bodyPr>
          <a:p>
            <a:pPr>
              <a:defRPr/>
            </a:pPr>
            <a:r>
              <a:rPr lang="zh-CN" altLang="en-US">
                <a:solidFill>
                  <a:srgbClr val="000066"/>
                </a:solidFill>
                <a:latin typeface="+mj-ea"/>
                <a:ea typeface="+mj-ea"/>
              </a:rPr>
              <a:t>找出</a:t>
            </a:r>
            <a:r>
              <a:rPr lang="en-US" altLang="zh-CN">
                <a:solidFill>
                  <a:srgbClr val="000066"/>
                </a:solidFill>
                <a:latin typeface="+mj-ea"/>
                <a:ea typeface="+mj-ea"/>
              </a:rPr>
              <a:t>nums</a:t>
            </a:r>
            <a:r>
              <a:rPr lang="zh-CN" altLang="en-US">
                <a:solidFill>
                  <a:srgbClr val="000066"/>
                </a:solidFill>
                <a:latin typeface="+mj-ea"/>
                <a:ea typeface="+mj-ea"/>
              </a:rPr>
              <a:t>数组元素所有的</a:t>
            </a:r>
            <a:r>
              <a:rPr lang="zh-CN" altLang="en-US">
                <a:solidFill>
                  <a:srgbClr val="000066"/>
                </a:solidFill>
                <a:latin typeface="+mj-ea"/>
                <a:ea typeface="+mj-ea"/>
              </a:rPr>
              <a:t>子集集合？</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 name="文本框 6"/>
          <p:cNvSpPr txBox="1"/>
          <p:nvPr/>
        </p:nvSpPr>
        <p:spPr>
          <a:xfrm>
            <a:off x="576580" y="3429000"/>
            <a:ext cx="2649855" cy="1005840"/>
          </a:xfrm>
          <a:prstGeom prst="rect">
            <a:avLst/>
          </a:prstGeom>
          <a:solidFill>
            <a:schemeClr val="accent1">
              <a:lumMod val="60000"/>
              <a:lumOff val="40000"/>
            </a:schemeClr>
          </a:solidFill>
        </p:spPr>
        <p:txBody>
          <a:bodyPr>
            <a:noAutofit/>
          </a:bodyPr>
          <a:p>
            <a:pPr algn="ctr">
              <a:defRPr/>
            </a:pPr>
            <a:r>
              <a:rPr lang="en-US" altLang="zh-CN">
                <a:solidFill>
                  <a:srgbClr val="000066"/>
                </a:solidFill>
                <a:latin typeface="+mj-ea"/>
                <a:ea typeface="+mj-ea"/>
              </a:rPr>
              <a:t>[[1,2,3],[1,2],[1,3]</a:t>
            </a:r>
            <a:endParaRPr lang="en-US" altLang="zh-CN">
              <a:solidFill>
                <a:srgbClr val="000066"/>
              </a:solidFill>
              <a:latin typeface="+mj-ea"/>
              <a:ea typeface="+mj-ea"/>
            </a:endParaRPr>
          </a:p>
          <a:p>
            <a:pPr algn="ctr">
              <a:defRPr/>
            </a:pPr>
            <a:endParaRPr lang="en-US" altLang="zh-CN">
              <a:solidFill>
                <a:srgbClr val="000066"/>
              </a:solidFill>
              <a:latin typeface="+mj-ea"/>
              <a:ea typeface="+mj-ea"/>
            </a:endParaRPr>
          </a:p>
          <a:p>
            <a:pPr algn="ctr">
              <a:defRPr/>
            </a:pPr>
            <a:r>
              <a:rPr lang="en-US" altLang="zh-CN">
                <a:solidFill>
                  <a:srgbClr val="000066"/>
                </a:solidFill>
                <a:latin typeface="+mj-ea"/>
                <a:ea typeface="+mj-ea"/>
              </a:rPr>
              <a:t>[2,3],[1],</a:t>
            </a:r>
            <a:r>
              <a:rPr lang="en-US" altLang="zh-CN">
                <a:solidFill>
                  <a:srgbClr val="000066"/>
                </a:solidFill>
                <a:latin typeface="+mj-ea"/>
                <a:ea typeface="+mj-ea"/>
                <a:sym typeface="+mn-ea"/>
              </a:rPr>
              <a:t>[2],[3],</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32773" name="右箭头 9"/>
          <p:cNvSpPr>
            <a:spLocks noChangeArrowheads="1"/>
          </p:cNvSpPr>
          <p:nvPr/>
        </p:nvSpPr>
        <p:spPr bwMode="auto">
          <a:xfrm>
            <a:off x="3348355" y="3842385"/>
            <a:ext cx="1529715" cy="497840"/>
          </a:xfrm>
          <a:prstGeom prst="rightArrow">
            <a:avLst>
              <a:gd name="adj1" fmla="val 50000"/>
              <a:gd name="adj2" fmla="val 50181"/>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9" name="文本框 8"/>
          <p:cNvSpPr txBox="1"/>
          <p:nvPr/>
        </p:nvSpPr>
        <p:spPr>
          <a:xfrm>
            <a:off x="3348355" y="3501390"/>
            <a:ext cx="1456690" cy="429895"/>
          </a:xfrm>
          <a:prstGeom prst="rect">
            <a:avLst/>
          </a:prstGeom>
          <a:noFill/>
        </p:spPr>
        <p:txBody>
          <a:bodyPr>
            <a:noAutofit/>
          </a:bodyPr>
          <a:p>
            <a:pPr>
              <a:defRPr/>
            </a:pPr>
            <a:r>
              <a:rPr lang="zh-CN" altLang="en-US">
                <a:solidFill>
                  <a:srgbClr val="000066"/>
                </a:solidFill>
                <a:latin typeface="+mj-ea"/>
                <a:ea typeface="+mj-ea"/>
              </a:rPr>
              <a:t>转成树结构</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3" name="组合 12"/>
          <p:cNvGrpSpPr/>
          <p:nvPr/>
        </p:nvGrpSpPr>
        <p:grpSpPr>
          <a:xfrm rot="0">
            <a:off x="6732270" y="162877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5993765" y="2637790"/>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7406005" y="2636520"/>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6334760" y="1919605"/>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7359015" y="1948180"/>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6425565" y="3529330"/>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5705475" y="3529330"/>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8002270" y="3528060"/>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7282180" y="3528060"/>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5926455" y="3183890"/>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6286500" y="3250565"/>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7420610" y="3264535"/>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7796530" y="3150870"/>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5364480" y="3871595"/>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5508625" y="3211195"/>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5323840" y="2762885"/>
            <a:ext cx="669925" cy="368300"/>
          </a:xfrm>
          <a:prstGeom prst="rect">
            <a:avLst/>
          </a:prstGeom>
          <a:noFill/>
        </p:spPr>
        <p:txBody>
          <a:bodyPr wrap="square" rtlCol="0">
            <a:spAutoFit/>
          </a:bodyPr>
          <a:p>
            <a:r>
              <a:rPr lang="zh-CN" altLang="en-US"/>
              <a:t>①</a:t>
            </a:r>
            <a:endParaRPr lang="zh-CN" altLang="en-US"/>
          </a:p>
        </p:txBody>
      </p:sp>
      <p:cxnSp>
        <p:nvCxnSpPr>
          <p:cNvPr id="94" name="直接连接符 93"/>
          <p:cNvCxnSpPr/>
          <p:nvPr/>
        </p:nvCxnSpPr>
        <p:spPr>
          <a:xfrm>
            <a:off x="5220335" y="4004945"/>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4805045" y="4699000"/>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5048885" y="3472180"/>
            <a:ext cx="669925" cy="368300"/>
          </a:xfrm>
          <a:prstGeom prst="rect">
            <a:avLst/>
          </a:prstGeom>
          <a:noFill/>
        </p:spPr>
        <p:txBody>
          <a:bodyPr wrap="square" rtlCol="0">
            <a:spAutoFit/>
          </a:bodyPr>
          <a:p>
            <a:r>
              <a:rPr lang="zh-CN" altLang="en-US"/>
              <a:t>②</a:t>
            </a:r>
            <a:endParaRPr lang="zh-CN" altLang="en-US"/>
          </a:p>
        </p:txBody>
      </p:sp>
      <p:sp>
        <p:nvSpPr>
          <p:cNvPr id="100" name="文本框 99"/>
          <p:cNvSpPr txBox="1"/>
          <p:nvPr/>
        </p:nvSpPr>
        <p:spPr>
          <a:xfrm>
            <a:off x="4732655" y="4181475"/>
            <a:ext cx="669925" cy="368300"/>
          </a:xfrm>
          <a:prstGeom prst="rect">
            <a:avLst/>
          </a:prstGeom>
          <a:noFill/>
        </p:spPr>
        <p:txBody>
          <a:bodyPr wrap="square" rtlCol="0">
            <a:spAutoFit/>
          </a:bodyPr>
          <a:p>
            <a:r>
              <a:rPr lang="zh-CN" altLang="en-US"/>
              <a:t>③</a:t>
            </a:r>
            <a:endParaRPr lang="zh-CN" altLang="en-US"/>
          </a:p>
        </p:txBody>
      </p:sp>
      <p:sp>
        <p:nvSpPr>
          <p:cNvPr id="101" name="文本框 100"/>
          <p:cNvSpPr txBox="1"/>
          <p:nvPr/>
        </p:nvSpPr>
        <p:spPr>
          <a:xfrm>
            <a:off x="755650" y="5229225"/>
            <a:ext cx="8209280" cy="869950"/>
          </a:xfrm>
          <a:prstGeom prst="rect">
            <a:avLst/>
          </a:prstGeom>
          <a:noFill/>
        </p:spPr>
        <p:txBody>
          <a:bodyPr wrap="square" rtlCol="0">
            <a:noAutofit/>
          </a:bodyPr>
          <a:p>
            <a:r>
              <a:rPr lang="zh-CN" altLang="en-US"/>
              <a:t>①表示第一个元素的选择与不选择，②表示第二个元素的选择与不选择，③表示第三个元素的选择与不选择。从根节点到叶子节点都是一个</a:t>
            </a:r>
            <a:r>
              <a:rPr lang="zh-CN" altLang="en-US"/>
              <a:t>子集。</a:t>
            </a:r>
            <a:endParaRPr lang="zh-CN" altLang="en-US"/>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grpSp>
        <p:nvGrpSpPr>
          <p:cNvPr id="13" name="组合 12"/>
          <p:cNvGrpSpPr/>
          <p:nvPr/>
        </p:nvGrpSpPr>
        <p:grpSpPr>
          <a:xfrm rot="0">
            <a:off x="4356100" y="1629410"/>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rot="0">
            <a:off x="3617595" y="2638425"/>
            <a:ext cx="646430" cy="582295"/>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rot="0">
            <a:off x="5029835" y="2637155"/>
            <a:ext cx="646430" cy="581660"/>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24" name="曲线连接符 23"/>
          <p:cNvCxnSpPr/>
          <p:nvPr/>
        </p:nvCxnSpPr>
        <p:spPr>
          <a:xfrm rot="10800000" flipV="1">
            <a:off x="3958590" y="19202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p:nvPr/>
        </p:nvCxnSpPr>
        <p:spPr>
          <a:xfrm>
            <a:off x="4982845" y="19488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rot="0">
            <a:off x="4049395" y="3529965"/>
            <a:ext cx="341630" cy="342265"/>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3" name="组合 32"/>
          <p:cNvGrpSpPr/>
          <p:nvPr/>
        </p:nvGrpSpPr>
        <p:grpSpPr>
          <a:xfrm rot="0">
            <a:off x="3329305" y="3529965"/>
            <a:ext cx="341630" cy="342265"/>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rot="0">
            <a:off x="5626100" y="3528695"/>
            <a:ext cx="341630" cy="342265"/>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38" name="组合 37"/>
          <p:cNvGrpSpPr/>
          <p:nvPr/>
        </p:nvGrpSpPr>
        <p:grpSpPr>
          <a:xfrm rot="0">
            <a:off x="4906010" y="3528695"/>
            <a:ext cx="341630" cy="342265"/>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p:nvPr/>
        </p:nvCxnSpPr>
        <p:spPr>
          <a:xfrm rot="5400000">
            <a:off x="3550285" y="3184525"/>
            <a:ext cx="354330" cy="4267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p:nvPr/>
        </p:nvCxnSpPr>
        <p:spPr>
          <a:xfrm rot="5400000" flipV="1">
            <a:off x="3910330" y="32512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p:nvPr/>
        </p:nvCxnSpPr>
        <p:spPr>
          <a:xfrm rot="5400000">
            <a:off x="5044440" y="3265170"/>
            <a:ext cx="354330" cy="262255"/>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p:nvPr/>
        </p:nvCxnSpPr>
        <p:spPr>
          <a:xfrm rot="5400000" flipV="1">
            <a:off x="5420360" y="3151505"/>
            <a:ext cx="309245" cy="443865"/>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95" name="组合 94"/>
          <p:cNvGrpSpPr/>
          <p:nvPr/>
        </p:nvGrpSpPr>
        <p:grpSpPr>
          <a:xfrm>
            <a:off x="2988310" y="3872230"/>
            <a:ext cx="1061720" cy="650875"/>
            <a:chOff x="4579" y="8358"/>
            <a:chExt cx="1672" cy="1025"/>
          </a:xfrm>
        </p:grpSpPr>
        <p:grpSp>
          <p:nvGrpSpPr>
            <p:cNvPr id="76" name="组合 75"/>
            <p:cNvGrpSpPr/>
            <p:nvPr/>
          </p:nvGrpSpPr>
          <p:grpSpPr>
            <a:xfrm rot="0">
              <a:off x="5713" y="8845"/>
              <a:ext cx="538" cy="539"/>
              <a:chOff x="10489" y="3359"/>
              <a:chExt cx="1018" cy="917"/>
            </a:xfrm>
          </p:grpSpPr>
          <p:sp>
            <p:nvSpPr>
              <p:cNvPr id="77" name="椭圆 7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文本框 7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79" name="组合 78"/>
            <p:cNvGrpSpPr/>
            <p:nvPr/>
          </p:nvGrpSpPr>
          <p:grpSpPr>
            <a:xfrm rot="0">
              <a:off x="4579" y="8845"/>
              <a:ext cx="538" cy="539"/>
              <a:chOff x="10489" y="3359"/>
              <a:chExt cx="1018" cy="917"/>
            </a:xfrm>
          </p:grpSpPr>
          <p:sp>
            <p:nvSpPr>
              <p:cNvPr id="80" name="椭圆 7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1" name="文本框 80"/>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82" name="曲线连接符 81"/>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83" name="曲线连接符 82"/>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cxnSp>
        <p:nvCxnSpPr>
          <p:cNvPr id="92" name="直接连接符 91"/>
          <p:cNvCxnSpPr/>
          <p:nvPr/>
        </p:nvCxnSpPr>
        <p:spPr>
          <a:xfrm flipV="1">
            <a:off x="3132455" y="3211830"/>
            <a:ext cx="2872105" cy="698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3" name="文本框 92"/>
          <p:cNvSpPr txBox="1"/>
          <p:nvPr/>
        </p:nvSpPr>
        <p:spPr>
          <a:xfrm>
            <a:off x="2947670" y="2763520"/>
            <a:ext cx="669925" cy="368300"/>
          </a:xfrm>
          <a:prstGeom prst="rect">
            <a:avLst/>
          </a:prstGeom>
          <a:noFill/>
        </p:spPr>
        <p:txBody>
          <a:bodyPr wrap="square" rtlCol="0">
            <a:spAutoFit/>
          </a:bodyPr>
          <a:p>
            <a:r>
              <a:rPr lang="zh-CN" altLang="en-US" sz="1800"/>
              <a:t>①</a:t>
            </a:r>
            <a:endParaRPr lang="zh-CN" altLang="en-US" sz="1800"/>
          </a:p>
        </p:txBody>
      </p:sp>
      <p:cxnSp>
        <p:nvCxnSpPr>
          <p:cNvPr id="94" name="直接连接符 93"/>
          <p:cNvCxnSpPr/>
          <p:nvPr/>
        </p:nvCxnSpPr>
        <p:spPr>
          <a:xfrm>
            <a:off x="2844165" y="4005580"/>
            <a:ext cx="3744595" cy="0"/>
          </a:xfrm>
          <a:prstGeom prst="line">
            <a:avLst/>
          </a:prstGeom>
          <a:solidFill>
            <a:schemeClr val="accent1"/>
          </a:solidFill>
          <a:ln w="38100" cap="flat" cmpd="sng" algn="ctr">
            <a:solidFill>
              <a:srgbClr val="FF0000"/>
            </a:solidFill>
            <a:prstDash val="solid"/>
            <a:round/>
            <a:headEnd type="none" w="med" len="med"/>
            <a:tailEnd type="none" w="med" len="med"/>
          </a:ln>
        </p:spPr>
      </p:cxnSp>
      <p:cxnSp>
        <p:nvCxnSpPr>
          <p:cNvPr id="98" name="直接连接符 97"/>
          <p:cNvCxnSpPr/>
          <p:nvPr/>
        </p:nvCxnSpPr>
        <p:spPr>
          <a:xfrm flipV="1">
            <a:off x="2428875" y="4699635"/>
            <a:ext cx="4375785" cy="17145"/>
          </a:xfrm>
          <a:prstGeom prst="line">
            <a:avLst/>
          </a:prstGeom>
          <a:solidFill>
            <a:schemeClr val="accent1"/>
          </a:solidFill>
          <a:ln w="38100" cap="flat" cmpd="sng" algn="ctr">
            <a:solidFill>
              <a:srgbClr val="FF0000"/>
            </a:solidFill>
            <a:prstDash val="solid"/>
            <a:round/>
            <a:headEnd type="none" w="med" len="med"/>
            <a:tailEnd type="none" w="med" len="med"/>
          </a:ln>
        </p:spPr>
      </p:cxnSp>
      <p:sp>
        <p:nvSpPr>
          <p:cNvPr id="99" name="文本框 98"/>
          <p:cNvSpPr txBox="1"/>
          <p:nvPr/>
        </p:nvSpPr>
        <p:spPr>
          <a:xfrm>
            <a:off x="2672715" y="3472815"/>
            <a:ext cx="669925" cy="368300"/>
          </a:xfrm>
          <a:prstGeom prst="rect">
            <a:avLst/>
          </a:prstGeom>
          <a:noFill/>
        </p:spPr>
        <p:txBody>
          <a:bodyPr wrap="square" rtlCol="0">
            <a:spAutoFit/>
          </a:bodyPr>
          <a:p>
            <a:r>
              <a:rPr lang="zh-CN" altLang="en-US" sz="1800"/>
              <a:t>②</a:t>
            </a:r>
            <a:endParaRPr lang="zh-CN" altLang="en-US" sz="1800"/>
          </a:p>
        </p:txBody>
      </p:sp>
      <p:sp>
        <p:nvSpPr>
          <p:cNvPr id="100" name="文本框 99"/>
          <p:cNvSpPr txBox="1"/>
          <p:nvPr/>
        </p:nvSpPr>
        <p:spPr>
          <a:xfrm>
            <a:off x="2356485" y="4182110"/>
            <a:ext cx="669925" cy="368300"/>
          </a:xfrm>
          <a:prstGeom prst="rect">
            <a:avLst/>
          </a:prstGeom>
          <a:noFill/>
        </p:spPr>
        <p:txBody>
          <a:bodyPr wrap="square" rtlCol="0">
            <a:spAutoFit/>
          </a:bodyPr>
          <a:p>
            <a:r>
              <a:rPr lang="zh-CN" altLang="en-US" sz="1800"/>
              <a:t>③</a:t>
            </a:r>
            <a:endParaRPr lang="zh-CN" altLang="en-US" sz="1800"/>
          </a:p>
        </p:txBody>
      </p:sp>
      <p:sp>
        <p:nvSpPr>
          <p:cNvPr id="101" name="文本框 100"/>
          <p:cNvSpPr txBox="1"/>
          <p:nvPr/>
        </p:nvSpPr>
        <p:spPr>
          <a:xfrm>
            <a:off x="354330" y="5372735"/>
            <a:ext cx="8649335" cy="501650"/>
          </a:xfrm>
          <a:prstGeom prst="rect">
            <a:avLst/>
          </a:prstGeom>
          <a:noFill/>
        </p:spPr>
        <p:txBody>
          <a:bodyPr wrap="square" rtlCol="0">
            <a:noAutofit/>
          </a:bodyPr>
          <a:p>
            <a:r>
              <a:rPr lang="zh-CN" altLang="en-US" sz="1800"/>
              <a:t>此时，需要对原来的元素选择做一个回溯，回溯之后不影响下一个分支的</a:t>
            </a:r>
            <a:r>
              <a:rPr lang="zh-CN" altLang="en-US" sz="1800"/>
              <a:t>选与不选。</a:t>
            </a:r>
            <a:endParaRPr lang="zh-CN" altLang="en-US" sz="1800"/>
          </a:p>
        </p:txBody>
      </p:sp>
      <p:sp>
        <p:nvSpPr>
          <p:cNvPr id="3" name="任意多边形 2"/>
          <p:cNvSpPr/>
          <p:nvPr/>
        </p:nvSpPr>
        <p:spPr>
          <a:xfrm>
            <a:off x="3342005" y="4076700"/>
            <a:ext cx="302260" cy="367030"/>
          </a:xfrm>
          <a:custGeom>
            <a:avLst/>
            <a:gdLst>
              <a:gd name="connisteX0" fmla="*/ 0 w 302260"/>
              <a:gd name="connsiteY0" fmla="*/ 367028 h 367028"/>
              <a:gd name="connisteX1" fmla="*/ 173990 w 302260"/>
              <a:gd name="connsiteY1" fmla="*/ 633 h 367028"/>
              <a:gd name="connisteX2" fmla="*/ 302260 w 302260"/>
              <a:gd name="connsiteY2" fmla="*/ 294003 h 367028"/>
            </a:gdLst>
            <a:ahLst/>
            <a:cxnLst>
              <a:cxn ang="0">
                <a:pos x="connisteX0" y="connsiteY0"/>
              </a:cxn>
              <a:cxn ang="0">
                <a:pos x="connisteX1" y="connsiteY1"/>
              </a:cxn>
              <a:cxn ang="0">
                <a:pos x="connisteX2" y="connsiteY2"/>
              </a:cxn>
            </a:cxnLst>
            <a:rect l="l" t="t" r="r" b="b"/>
            <a:pathLst>
              <a:path w="302260" h="367029">
                <a:moveTo>
                  <a:pt x="0" y="367029"/>
                </a:moveTo>
                <a:cubicBezTo>
                  <a:pt x="32385" y="287654"/>
                  <a:pt x="113665" y="15239"/>
                  <a:pt x="173990" y="634"/>
                </a:cubicBezTo>
                <a:cubicBezTo>
                  <a:pt x="234315" y="-13971"/>
                  <a:pt x="280035" y="227964"/>
                  <a:pt x="302260" y="294004"/>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任意多边形 5"/>
          <p:cNvSpPr/>
          <p:nvPr/>
        </p:nvSpPr>
        <p:spPr>
          <a:xfrm>
            <a:off x="3717290" y="3397885"/>
            <a:ext cx="302260" cy="304165"/>
          </a:xfrm>
          <a:custGeom>
            <a:avLst/>
            <a:gdLst>
              <a:gd name="connisteX0" fmla="*/ 0 w 302260"/>
              <a:gd name="connsiteY0" fmla="*/ 304251 h 304251"/>
              <a:gd name="connisteX1" fmla="*/ 201295 w 302260"/>
              <a:gd name="connsiteY1" fmla="*/ 1991 h 304251"/>
              <a:gd name="connisteX2" fmla="*/ 302260 w 302260"/>
              <a:gd name="connsiteY2" fmla="*/ 194396 h 304251"/>
            </a:gdLst>
            <a:ahLst/>
            <a:cxnLst>
              <a:cxn ang="0">
                <a:pos x="connisteX0" y="connsiteY0"/>
              </a:cxn>
              <a:cxn ang="0">
                <a:pos x="connisteX1" y="connsiteY1"/>
              </a:cxn>
              <a:cxn ang="0">
                <a:pos x="connisteX2" y="connsiteY2"/>
              </a:cxn>
            </a:cxnLst>
            <a:rect l="l" t="t" r="r" b="b"/>
            <a:pathLst>
              <a:path w="302260" h="304252">
                <a:moveTo>
                  <a:pt x="0" y="304252"/>
                </a:moveTo>
                <a:cubicBezTo>
                  <a:pt x="38100" y="240117"/>
                  <a:pt x="140970" y="24217"/>
                  <a:pt x="201295" y="1992"/>
                </a:cubicBezTo>
                <a:cubicBezTo>
                  <a:pt x="261620" y="-20233"/>
                  <a:pt x="286385" y="149947"/>
                  <a:pt x="302260" y="194397"/>
                </a:cubicBezTo>
              </a:path>
            </a:pathLst>
          </a:custGeom>
          <a:noFill/>
          <a:ln w="34925" cap="flat" cmpd="sng" algn="ctr">
            <a:solidFill>
              <a:srgbClr val="FF0000"/>
            </a:solidFill>
            <a:prstDash val="solid"/>
            <a:round/>
            <a:headEnd type="none" w="med" len="med"/>
            <a:tailEnd type="triangl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box(in)">
                                      <p:cBhvr>
                                        <p:cTn id="7" dur="2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4" presetClass="entr" presetSubtype="16"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ox(in)">
                                      <p:cBhvr>
                                        <p:cTn id="12"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没有重复元素的子集</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源码实现</a:t>
            </a:r>
            <a:r>
              <a:rPr lang="zh-CN" altLang="en-US"/>
              <a:t>示例：</a:t>
            </a:r>
            <a:endParaRPr lang="zh-CN" altLang="en-US"/>
          </a:p>
        </p:txBody>
      </p:sp>
      <p:pic>
        <p:nvPicPr>
          <p:cNvPr id="2" name="图片 1"/>
          <p:cNvPicPr>
            <a:picLocks noChangeAspect="1"/>
          </p:cNvPicPr>
          <p:nvPr/>
        </p:nvPicPr>
        <p:blipFill>
          <a:blip r:embed="rId1"/>
          <a:stretch>
            <a:fillRect/>
          </a:stretch>
        </p:blipFill>
        <p:spPr>
          <a:xfrm>
            <a:off x="2268220" y="1844675"/>
            <a:ext cx="4781550" cy="3829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14" name="文本框 13"/>
          <p:cNvSpPr txBox="1"/>
          <p:nvPr/>
        </p:nvSpPr>
        <p:spPr>
          <a:xfrm>
            <a:off x="899795" y="1412875"/>
            <a:ext cx="6430010" cy="780415"/>
          </a:xfrm>
          <a:prstGeom prst="rect">
            <a:avLst/>
          </a:prstGeom>
          <a:noFill/>
        </p:spPr>
        <p:txBody>
          <a:bodyPr wrap="square" rtlCol="0">
            <a:noAutofit/>
          </a:bodyPr>
          <a:p>
            <a:r>
              <a:rPr lang="zh-CN" altLang="en-US"/>
              <a:t>运行流程：代码其中的一个</a:t>
            </a:r>
            <a:r>
              <a:rPr lang="zh-CN" altLang="en-US"/>
              <a:t>状态</a:t>
            </a:r>
            <a:endParaRPr lang="zh-CN" altLang="en-US"/>
          </a:p>
        </p:txBody>
      </p:sp>
      <p:sp>
        <p:nvSpPr>
          <p:cNvPr id="5" name="文本框 4"/>
          <p:cNvSpPr txBox="1"/>
          <p:nvPr/>
        </p:nvSpPr>
        <p:spPr>
          <a:xfrm>
            <a:off x="6161405" y="1917065"/>
            <a:ext cx="2982595" cy="1023620"/>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a:ln>
            <a:gradFill>
              <a:gsLst>
                <a:gs pos="50000">
                  <a:schemeClr val="accent3"/>
                </a:gs>
                <a:gs pos="0">
                  <a:schemeClr val="accent3">
                    <a:lumMod val="25000"/>
                    <a:lumOff val="75000"/>
                  </a:schemeClr>
                </a:gs>
                <a:gs pos="100000">
                  <a:schemeClr val="accent3">
                    <a:lumMod val="85000"/>
                  </a:schemeClr>
                </a:gs>
              </a:gsLst>
              <a:lin ang="5400000" scaled="0"/>
            </a:gradFill>
          </a:ln>
        </p:spPr>
        <p:txBody>
          <a:bodyPr wrap="square" rtlCol="0">
            <a:noAutofit/>
          </a:bodyPr>
          <a:p>
            <a:pPr algn="just"/>
            <a:r>
              <a:rPr lang="en-US" altLang="zh-CN">
                <a:latin typeface="Times New Roman" panose="02020603050405020304" pitchFamily="18" charset="0"/>
                <a:cs typeface="Times New Roman" panose="02020603050405020304" pitchFamily="18" charset="0"/>
              </a:rPr>
              <a:t>temp.append(nums[n])</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rPr>
              <a:t>表示进入左</a:t>
            </a:r>
            <a:r>
              <a:rPr lang="zh-CN" altLang="en-US">
                <a:latin typeface="Times New Roman" panose="02020603050405020304" pitchFamily="18" charset="0"/>
                <a:cs typeface="Times New Roman" panose="02020603050405020304" pitchFamily="18" charset="0"/>
              </a:rPr>
              <a:t>子树</a:t>
            </a:r>
            <a:endParaRPr lang="zh-CN" altLang="en-US">
              <a:latin typeface="Times New Roman" panose="02020603050405020304" pitchFamily="18" charset="0"/>
              <a:cs typeface="Times New Roman" panose="02020603050405020304" pitchFamily="18" charset="0"/>
            </a:endParaRPr>
          </a:p>
          <a:p>
            <a:pPr algn="just"/>
            <a:endParaRPr lang="zh-CN" altLang="en-US">
              <a:latin typeface="Times New Roman" panose="02020603050405020304" pitchFamily="18" charset="0"/>
              <a:cs typeface="Times New Roman" panose="02020603050405020304" pitchFamily="18" charset="0"/>
            </a:endParaRPr>
          </a:p>
        </p:txBody>
      </p:sp>
      <p:pic>
        <p:nvPicPr>
          <p:cNvPr id="2" name="图片 1"/>
          <p:cNvPicPr>
            <a:picLocks noChangeAspect="1"/>
          </p:cNvPicPr>
          <p:nvPr/>
        </p:nvPicPr>
        <p:blipFill>
          <a:blip r:embed="rId1"/>
          <a:stretch>
            <a:fillRect/>
          </a:stretch>
        </p:blipFill>
        <p:spPr>
          <a:xfrm>
            <a:off x="755650" y="1772920"/>
            <a:ext cx="5238750" cy="4288790"/>
          </a:xfrm>
          <a:prstGeom prst="rect">
            <a:avLst/>
          </a:prstGeom>
        </p:spPr>
      </p:pic>
      <p:sp>
        <p:nvSpPr>
          <p:cNvPr id="6" name="文本框 5"/>
          <p:cNvSpPr txBox="1"/>
          <p:nvPr/>
        </p:nvSpPr>
        <p:spPr>
          <a:xfrm>
            <a:off x="6156325" y="2853055"/>
            <a:ext cx="2987675" cy="1229995"/>
          </a:xfrm>
          <a:prstGeom prst="rect">
            <a:avLst/>
          </a:prstGeom>
          <a:gradFill>
            <a:gsLst>
              <a:gs pos="50000">
                <a:schemeClr val="accent1"/>
              </a:gs>
              <a:gs pos="0">
                <a:schemeClr val="accent1">
                  <a:lumMod val="25000"/>
                  <a:lumOff val="75000"/>
                </a:schemeClr>
              </a:gs>
              <a:gs pos="100000">
                <a:schemeClr val="accent1">
                  <a:lumMod val="85000"/>
                </a:schemeClr>
              </a:gs>
            </a:gsLst>
            <a:lin ang="5400000" scaled="1"/>
          </a:gradFill>
        </p:spPr>
        <p:txBody>
          <a:bodyPr wrap="square" rtlCol="0" anchor="t">
            <a:noAutofit/>
          </a:bodyPr>
          <a:p>
            <a:pPr algn="just"/>
            <a:r>
              <a:rPr lang="en-US" altLang="zh-CN">
                <a:latin typeface="Times New Roman" panose="02020603050405020304" pitchFamily="18" charset="0"/>
                <a:cs typeface="Times New Roman" panose="02020603050405020304" pitchFamily="18" charset="0"/>
                <a:sym typeface="+mn-ea"/>
              </a:rPr>
              <a:t>temp.pop(-1)</a:t>
            </a:r>
            <a:endParaRPr lang="en-US" altLang="zh-CN">
              <a:latin typeface="Times New Roman" panose="02020603050405020304" pitchFamily="18" charset="0"/>
              <a:cs typeface="Times New Roman" panose="02020603050405020304" pitchFamily="18" charset="0"/>
            </a:endParaRPr>
          </a:p>
          <a:p>
            <a:pPr algn="just"/>
            <a:r>
              <a:rPr lang="en-US" altLang="zh-CN">
                <a:latin typeface="Times New Roman" panose="02020603050405020304" pitchFamily="18" charset="0"/>
                <a:cs typeface="Times New Roman" panose="02020603050405020304" pitchFamily="18" charset="0"/>
                <a:sym typeface="+mn-ea"/>
              </a:rPr>
              <a:t>dfs(nums,n+1,temp)</a:t>
            </a:r>
            <a:endParaRPr lang="en-US" altLang="zh-CN">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表示进入了右子树</a:t>
            </a:r>
            <a:endParaRPr lang="zh-CN" altLang="en-US">
              <a:latin typeface="Times New Roman" panose="02020603050405020304" pitchFamily="18" charset="0"/>
              <a:cs typeface="Times New Roman" panose="02020603050405020304" pitchFamily="18" charset="0"/>
            </a:endParaRPr>
          </a:p>
          <a:p>
            <a:pPr algn="just"/>
            <a:r>
              <a:rPr lang="zh-CN" altLang="en-US">
                <a:latin typeface="Times New Roman" panose="02020603050405020304" pitchFamily="18" charset="0"/>
                <a:cs typeface="Times New Roman" panose="02020603050405020304" pitchFamily="18" charset="0"/>
                <a:sym typeface="+mn-ea"/>
              </a:rPr>
              <a:t>注意代码的细节</a:t>
            </a:r>
            <a:r>
              <a:rPr lang="en-US" altLang="zh-CN">
                <a:latin typeface="Times New Roman" panose="02020603050405020304" pitchFamily="18" charset="0"/>
                <a:cs typeface="Times New Roman" panose="02020603050405020304" pitchFamily="18" charset="0"/>
                <a:sym typeface="+mn-ea"/>
              </a:rPr>
              <a:t>opt</a:t>
            </a:r>
            <a:r>
              <a:rPr lang="zh-CN" altLang="en-US">
                <a:latin typeface="Times New Roman" panose="02020603050405020304" pitchFamily="18" charset="0"/>
                <a:cs typeface="Times New Roman" panose="02020603050405020304" pitchFamily="18" charset="0"/>
                <a:sym typeface="+mn-ea"/>
              </a:rPr>
              <a:t>数组？</a:t>
            </a:r>
            <a:endParaRPr lang="zh-CN" altLang="en-US">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7792720" cy="1095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sym typeface="+mn-ea"/>
              </a:rPr>
              <a:t>（</a:t>
            </a:r>
            <a:r>
              <a:rPr lang="en-US" altLang="zh-CN" sz="3600" kern="0" smtClean="0">
                <a:sym typeface="+mn-ea"/>
              </a:rPr>
              <a:t>2</a:t>
            </a:r>
            <a:r>
              <a:rPr lang="zh-CN" altLang="en-US" sz="3600" kern="0" smtClean="0">
                <a:sym typeface="+mn-ea"/>
              </a:rPr>
              <a:t>）</a:t>
            </a:r>
            <a:r>
              <a:rPr lang="zh-CN" altLang="en-US" sz="3600" kern="0" smtClean="0"/>
              <a:t>子集</a:t>
            </a:r>
            <a:r>
              <a:rPr lang="en-US" altLang="zh-CN" sz="3600" kern="0" smtClean="0"/>
              <a:t>I(</a:t>
            </a:r>
            <a:r>
              <a:rPr lang="zh-CN" altLang="en-US" sz="3600" kern="0" smtClean="0"/>
              <a:t>没有重复元素的全排列</a:t>
            </a:r>
            <a:r>
              <a:rPr lang="en-US" altLang="zh-CN" sz="3600" kern="0" smtClean="0"/>
              <a:t>)</a:t>
            </a:r>
            <a:endParaRPr lang="en-US" altLang="zh-CN" sz="3600" kern="0" smtClean="0"/>
          </a:p>
        </p:txBody>
      </p:sp>
      <p:sp>
        <p:nvSpPr>
          <p:cNvPr id="3" name="文本框 2"/>
          <p:cNvSpPr txBox="1"/>
          <p:nvPr/>
        </p:nvSpPr>
        <p:spPr>
          <a:xfrm>
            <a:off x="755650" y="2852420"/>
            <a:ext cx="5486400" cy="361315"/>
          </a:xfrm>
          <a:prstGeom prst="rect">
            <a:avLst/>
          </a:prstGeom>
          <a:noFill/>
        </p:spPr>
        <p:txBody>
          <a:bodyPr wrap="square" rtlCol="0" anchor="t">
            <a:noAutofit/>
          </a:bodyPr>
          <a:p>
            <a:r>
              <a:rPr lang="zh-CN" altLang="en-US" sz="1800" kern="0" smtClean="0">
                <a:sym typeface="+mn-ea"/>
              </a:rPr>
              <a:t>子集的另一种解法：迭代二进制</a:t>
            </a:r>
            <a:r>
              <a:rPr lang="zh-CN" altLang="en-US" sz="1800" kern="0" smtClean="0">
                <a:sym typeface="+mn-ea"/>
              </a:rPr>
              <a:t>法</a:t>
            </a:r>
            <a:endParaRPr lang="zh-CN" altLang="en-US" sz="1800" kern="0" smtClean="0">
              <a:sym typeface="+mn-ea"/>
            </a:endParaRPr>
          </a:p>
        </p:txBody>
      </p:sp>
      <p:graphicFrame>
        <p:nvGraphicFramePr>
          <p:cNvPr id="7" name="表格 6"/>
          <p:cNvGraphicFramePr/>
          <p:nvPr>
            <p:custDataLst>
              <p:tags r:id="rId1"/>
            </p:custDataLst>
          </p:nvPr>
        </p:nvGraphicFramePr>
        <p:xfrm>
          <a:off x="3563620" y="3356610"/>
          <a:ext cx="2595880" cy="3063240"/>
        </p:xfrm>
        <a:graphic>
          <a:graphicData uri="http://schemas.openxmlformats.org/drawingml/2006/table">
            <a:tbl>
              <a:tblPr firstRow="1" bandRow="1">
                <a:tableStyleId>{5C22544A-7EE6-4342-B048-85BDC9FD1C3A}</a:tableStyleId>
              </a:tblPr>
              <a:tblGrid>
                <a:gridCol w="1297940"/>
                <a:gridCol w="1297940"/>
              </a:tblGrid>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000</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001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[2]</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011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101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110</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2905">
                <a:tc>
                  <a:txBody>
                    <a:bodyPr/>
                    <a:p>
                      <a:pPr>
                        <a:buNone/>
                      </a:pPr>
                      <a:r>
                        <a:rPr lang="en-US" altLang="zh-CN" sz="1800" b="0">
                          <a:solidFill>
                            <a:schemeClr val="tx2"/>
                          </a:solidFill>
                          <a:latin typeface="Times New Roman" panose="02020603050405020304" pitchFamily="18" charset="0"/>
                          <a:cs typeface="Times New Roman" panose="02020603050405020304" pitchFamily="18" charset="0"/>
                          <a:sym typeface="+mn-ea"/>
                        </a:rPr>
                        <a:t>111</a:t>
                      </a:r>
                      <a:endParaRPr lang="en-US" altLang="zh-CN" sz="1800" b="0">
                        <a:solidFill>
                          <a:schemeClr val="tx2"/>
                        </a:solidFill>
                        <a:latin typeface="Times New Roman" panose="02020603050405020304" pitchFamily="18" charset="0"/>
                        <a:cs typeface="Times New Roman" panose="02020603050405020304" pitchFamily="18" charset="0"/>
                        <a:sym typeface="+mn-ea"/>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solidFill>
                            <a:schemeClr val="tx2"/>
                          </a:solidFill>
                          <a:latin typeface="Times New Roman" panose="02020603050405020304" pitchFamily="18" charset="0"/>
                          <a:cs typeface="Times New Roman" panose="02020603050405020304" pitchFamily="18" charset="0"/>
                        </a:rPr>
                        <a:t>[1,2,3]</a:t>
                      </a:r>
                      <a:endParaRPr lang="en-US" altLang="zh-CN" b="0">
                        <a:solidFill>
                          <a:schemeClr val="tx2"/>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8" name="文本框 7"/>
          <p:cNvSpPr txBox="1"/>
          <p:nvPr/>
        </p:nvSpPr>
        <p:spPr>
          <a:xfrm>
            <a:off x="683260" y="1462405"/>
            <a:ext cx="6148070" cy="831850"/>
          </a:xfrm>
          <a:prstGeom prst="rect">
            <a:avLst/>
          </a:prstGeom>
          <a:noFill/>
        </p:spPr>
        <p:txBody>
          <a:bodyPr wrap="square" rtlCol="0" anchor="t">
            <a:noAutofit/>
          </a:bodyPr>
          <a:p>
            <a:r>
              <a:rPr lang="zh-CN" altLang="en-US" sz="1800" kern="0" smtClean="0">
                <a:sym typeface="+mn-ea"/>
              </a:rPr>
              <a:t>观察</a:t>
            </a:r>
            <a:r>
              <a:rPr lang="en-US" altLang="zh-CN" sz="1800" kern="0" smtClean="0">
                <a:sym typeface="+mn-ea"/>
              </a:rPr>
              <a:t>opt</a:t>
            </a:r>
            <a:r>
              <a:rPr lang="zh-CN" altLang="en-US" sz="1800" kern="0" smtClean="0">
                <a:sym typeface="+mn-ea"/>
              </a:rPr>
              <a:t>数组的变化</a:t>
            </a:r>
            <a:r>
              <a:rPr lang="en-US" altLang="zh-CN" sz="1800" kern="0" smtClean="0">
                <a:sym typeface="+mn-ea"/>
              </a:rPr>
              <a:t>:[</a:t>
            </a:r>
            <a:r>
              <a:rPr lang="en-US" altLang="zh-CN" sz="1800">
                <a:solidFill>
                  <a:schemeClr val="tx2"/>
                </a:solidFill>
                <a:latin typeface="Times New Roman" panose="02020603050405020304" pitchFamily="18" charset="0"/>
                <a:cs typeface="Times New Roman" panose="02020603050405020304" pitchFamily="18" charset="0"/>
                <a:sym typeface="+mn-ea"/>
              </a:rPr>
              <a:t>000</a:t>
            </a:r>
            <a:r>
              <a:rPr lang="en-US" altLang="zh-CN" sz="1800" kern="0" smtClean="0">
                <a:sym typeface="+mn-ea"/>
              </a:rPr>
              <a:t>]</a:t>
            </a:r>
            <a:r>
              <a:rPr lang="zh-CN" altLang="en-US" sz="1800" kern="0" smtClean="0">
                <a:sym typeface="+mn-ea"/>
              </a:rPr>
              <a:t>，</a:t>
            </a:r>
            <a:r>
              <a:rPr lang="en-US" altLang="zh-CN" sz="1800" kern="0" smtClean="0">
                <a:sym typeface="+mn-ea"/>
              </a:rPr>
              <a:t>[001]</a:t>
            </a:r>
            <a:r>
              <a:rPr lang="zh-CN" altLang="en-US" sz="1800" kern="0" smtClean="0">
                <a:sym typeface="+mn-ea"/>
              </a:rPr>
              <a:t>，</a:t>
            </a:r>
            <a:r>
              <a:rPr lang="en-US" altLang="zh-CN" sz="1800" kern="0" smtClean="0">
                <a:sym typeface="+mn-ea"/>
              </a:rPr>
              <a:t>[010]</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[111]</a:t>
            </a:r>
            <a:endParaRPr lang="en-US" altLang="zh-CN" sz="1800" kern="0" smtClean="0">
              <a:sym typeface="+mn-ea"/>
            </a:endParaRPr>
          </a:p>
          <a:p>
            <a:r>
              <a:rPr lang="en-US" altLang="zh-CN" sz="1800" kern="0" smtClean="0">
                <a:sym typeface="+mn-ea"/>
              </a:rPr>
              <a:t>                               []</a:t>
            </a:r>
            <a:r>
              <a:rPr lang="zh-CN" altLang="en-US" sz="1800" kern="0" smtClean="0">
                <a:sym typeface="+mn-ea"/>
              </a:rPr>
              <a:t>，</a:t>
            </a:r>
            <a:r>
              <a:rPr lang="en-US" altLang="zh-CN" sz="1800" kern="0" smtClean="0">
                <a:sym typeface="+mn-ea"/>
              </a:rPr>
              <a:t>      [1]</a:t>
            </a:r>
            <a:r>
              <a:rPr lang="zh-CN" altLang="en-US" sz="1800" kern="0" smtClean="0">
                <a:sym typeface="+mn-ea"/>
              </a:rPr>
              <a:t>，</a:t>
            </a:r>
            <a:r>
              <a:rPr lang="en-US" altLang="zh-CN" sz="1800" kern="0" smtClean="0">
                <a:sym typeface="+mn-ea"/>
              </a:rPr>
              <a:t>    [2]</a:t>
            </a:r>
            <a:r>
              <a:rPr lang="zh-CN" altLang="en-US" sz="1800" kern="0" smtClean="0">
                <a:sym typeface="+mn-ea"/>
              </a:rPr>
              <a:t>，</a:t>
            </a:r>
            <a:r>
              <a:rPr lang="en-US" altLang="zh-CN" sz="1800" kern="0" smtClean="0">
                <a:sym typeface="+mn-ea"/>
              </a:rPr>
              <a:t>...</a:t>
            </a:r>
            <a:r>
              <a:rPr lang="zh-CN" altLang="en-US" sz="1800" kern="0" smtClean="0">
                <a:sym typeface="+mn-ea"/>
              </a:rPr>
              <a:t>，</a:t>
            </a:r>
            <a:r>
              <a:rPr lang="en-US" altLang="zh-CN" sz="1800" kern="0" smtClean="0">
                <a:sym typeface="+mn-ea"/>
              </a:rPr>
              <a:t>    [1,2,3]</a:t>
            </a:r>
            <a:endParaRPr lang="en-US" altLang="zh-CN" sz="1800" kern="0" smtClean="0">
              <a:sym typeface="+mn-ea"/>
            </a:endParaRPr>
          </a:p>
          <a:p>
            <a:endParaRPr lang="en-US" altLang="zh-CN" sz="1800" kern="0" smtClean="0">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467360" y="1064260"/>
            <a:ext cx="2992120" cy="368300"/>
          </a:xfrm>
          <a:prstGeom prst="rect">
            <a:avLst/>
          </a:prstGeom>
          <a:noFill/>
        </p:spPr>
        <p:txBody>
          <a:bodyPr wrap="square" rtlCol="0">
            <a:spAutoFit/>
          </a:bodyPr>
          <a:p>
            <a:r>
              <a:rPr lang="zh-CN" altLang="en-US"/>
              <a:t>轻松一下！！！</a:t>
            </a:r>
            <a:endParaRPr lang="en-US" altLang="zh-CN"/>
          </a:p>
        </p:txBody>
      </p:sp>
      <p:pic>
        <p:nvPicPr>
          <p:cNvPr id="8" name="图片 7" descr="image-e8A40SoxSCevzq8cQ06UD"/>
          <p:cNvPicPr>
            <a:picLocks noChangeAspect="1"/>
          </p:cNvPicPr>
          <p:nvPr/>
        </p:nvPicPr>
        <p:blipFill>
          <a:blip r:embed="rId1"/>
          <a:stretch>
            <a:fillRect/>
          </a:stretch>
        </p:blipFill>
        <p:spPr>
          <a:xfrm>
            <a:off x="2339340" y="2228215"/>
            <a:ext cx="648970" cy="648970"/>
          </a:xfrm>
          <a:prstGeom prst="rect">
            <a:avLst/>
          </a:prstGeom>
        </p:spPr>
      </p:pic>
      <p:pic>
        <p:nvPicPr>
          <p:cNvPr id="9" name="图片 8" descr="红苹果"/>
          <p:cNvPicPr>
            <a:picLocks noChangeAspect="1"/>
          </p:cNvPicPr>
          <p:nvPr/>
        </p:nvPicPr>
        <p:blipFill>
          <a:blip r:embed="rId2"/>
          <a:stretch>
            <a:fillRect/>
          </a:stretch>
        </p:blipFill>
        <p:spPr>
          <a:xfrm>
            <a:off x="4932045" y="2228215"/>
            <a:ext cx="606425" cy="606425"/>
          </a:xfrm>
          <a:prstGeom prst="rect">
            <a:avLst/>
          </a:prstGeom>
        </p:spPr>
      </p:pic>
      <p:pic>
        <p:nvPicPr>
          <p:cNvPr id="10" name="图片 9" descr="image-e8A40SoxSCevzq8cQ06UD"/>
          <p:cNvPicPr>
            <a:picLocks noChangeAspect="1"/>
          </p:cNvPicPr>
          <p:nvPr/>
        </p:nvPicPr>
        <p:blipFill>
          <a:blip r:embed="rId1"/>
          <a:stretch>
            <a:fillRect/>
          </a:stretch>
        </p:blipFill>
        <p:spPr>
          <a:xfrm>
            <a:off x="3275965" y="2228215"/>
            <a:ext cx="648970" cy="648970"/>
          </a:xfrm>
          <a:prstGeom prst="rect">
            <a:avLst/>
          </a:prstGeom>
        </p:spPr>
      </p:pic>
      <p:pic>
        <p:nvPicPr>
          <p:cNvPr id="12" name="图片 11" descr="image-e8A40SoxSCevzq8cQ06UD"/>
          <p:cNvPicPr>
            <a:picLocks noChangeAspect="1"/>
          </p:cNvPicPr>
          <p:nvPr/>
        </p:nvPicPr>
        <p:blipFill>
          <a:blip r:embed="rId1"/>
          <a:stretch>
            <a:fillRect/>
          </a:stretch>
        </p:blipFill>
        <p:spPr>
          <a:xfrm>
            <a:off x="4067810" y="2228215"/>
            <a:ext cx="648970" cy="648970"/>
          </a:xfrm>
          <a:prstGeom prst="rect">
            <a:avLst/>
          </a:prstGeom>
        </p:spPr>
      </p:pic>
      <p:pic>
        <p:nvPicPr>
          <p:cNvPr id="13" name="图片 12" descr="红苹果"/>
          <p:cNvPicPr>
            <a:picLocks noChangeAspect="1"/>
          </p:cNvPicPr>
          <p:nvPr/>
        </p:nvPicPr>
        <p:blipFill>
          <a:blip r:embed="rId2"/>
          <a:stretch>
            <a:fillRect/>
          </a:stretch>
        </p:blipFill>
        <p:spPr>
          <a:xfrm>
            <a:off x="5796280" y="2228215"/>
            <a:ext cx="606425" cy="606425"/>
          </a:xfrm>
          <a:prstGeom prst="rect">
            <a:avLst/>
          </a:prstGeom>
        </p:spPr>
      </p:pic>
      <p:pic>
        <p:nvPicPr>
          <p:cNvPr id="15" name="图片 14"/>
          <p:cNvPicPr>
            <a:picLocks noChangeAspect="1"/>
          </p:cNvPicPr>
          <p:nvPr/>
        </p:nvPicPr>
        <p:blipFill>
          <a:blip r:embed="rId3"/>
          <a:stretch>
            <a:fillRect/>
          </a:stretch>
        </p:blipFill>
        <p:spPr>
          <a:xfrm>
            <a:off x="1691640" y="3356610"/>
            <a:ext cx="1812925" cy="1857375"/>
          </a:xfrm>
          <a:prstGeom prst="rect">
            <a:avLst/>
          </a:prstGeom>
        </p:spPr>
      </p:pic>
      <p:pic>
        <p:nvPicPr>
          <p:cNvPr id="16" name="图片 15"/>
          <p:cNvPicPr>
            <a:picLocks noChangeAspect="1"/>
          </p:cNvPicPr>
          <p:nvPr/>
        </p:nvPicPr>
        <p:blipFill>
          <a:blip r:embed="rId3"/>
          <a:stretch>
            <a:fillRect/>
          </a:stretch>
        </p:blipFill>
        <p:spPr>
          <a:xfrm>
            <a:off x="3924935" y="3860800"/>
            <a:ext cx="1181100" cy="1209675"/>
          </a:xfrm>
          <a:prstGeom prst="rect">
            <a:avLst/>
          </a:prstGeom>
        </p:spPr>
      </p:pic>
      <p:pic>
        <p:nvPicPr>
          <p:cNvPr id="17" name="图片 16"/>
          <p:cNvPicPr>
            <a:picLocks noChangeAspect="1"/>
          </p:cNvPicPr>
          <p:nvPr/>
        </p:nvPicPr>
        <p:blipFill>
          <a:blip r:embed="rId3"/>
          <a:stretch>
            <a:fillRect/>
          </a:stretch>
        </p:blipFill>
        <p:spPr>
          <a:xfrm>
            <a:off x="5829935" y="4110990"/>
            <a:ext cx="900430" cy="922655"/>
          </a:xfrm>
          <a:prstGeom prst="rect">
            <a:avLst/>
          </a:prstGeom>
        </p:spPr>
      </p:pic>
      <p:sp>
        <p:nvSpPr>
          <p:cNvPr id="18" name="文本框 17"/>
          <p:cNvSpPr txBox="1"/>
          <p:nvPr/>
        </p:nvSpPr>
        <p:spPr>
          <a:xfrm>
            <a:off x="939800" y="1586230"/>
            <a:ext cx="6800215" cy="645160"/>
          </a:xfrm>
          <a:prstGeom prst="rect">
            <a:avLst/>
          </a:prstGeom>
          <a:noFill/>
        </p:spPr>
        <p:txBody>
          <a:bodyPr wrap="square" rtlCol="0">
            <a:spAutoFit/>
          </a:bodyPr>
          <a:p>
            <a:r>
              <a:rPr lang="zh-CN" altLang="en-US"/>
              <a:t>有五个苹果图案，三青二红，被三个小朋友各贴在后背上，个子高的小朋友能知道各自矮的小朋友贴的</a:t>
            </a:r>
            <a:r>
              <a:rPr lang="zh-CN" altLang="en-US"/>
              <a:t>什么颜色</a:t>
            </a:r>
            <a:r>
              <a:rPr lang="zh-CN" altLang="en-US"/>
              <a:t>水果。</a:t>
            </a:r>
            <a:endParaRPr lang="zh-CN" altLang="en-US"/>
          </a:p>
        </p:txBody>
      </p:sp>
      <p:sp>
        <p:nvSpPr>
          <p:cNvPr id="19" name="文本框 18"/>
          <p:cNvSpPr txBox="1"/>
          <p:nvPr/>
        </p:nvSpPr>
        <p:spPr>
          <a:xfrm>
            <a:off x="1619250" y="3068955"/>
            <a:ext cx="6800215" cy="368300"/>
          </a:xfrm>
          <a:prstGeom prst="rect">
            <a:avLst/>
          </a:prstGeom>
          <a:noFill/>
        </p:spPr>
        <p:txBody>
          <a:bodyPr wrap="square" rtlCol="0">
            <a:spAutoFit/>
          </a:bodyPr>
          <a:p>
            <a:r>
              <a:rPr lang="zh-CN" altLang="en-US"/>
              <a:t>（</a:t>
            </a:r>
            <a:r>
              <a:rPr lang="en-US" altLang="zh-CN"/>
              <a:t>1</a:t>
            </a:r>
            <a:r>
              <a:rPr lang="zh-CN" altLang="en-US"/>
              <a:t>）</a:t>
            </a:r>
            <a:r>
              <a:rPr lang="en-US" altLang="zh-CN"/>
              <a:t>                             </a:t>
            </a:r>
            <a:r>
              <a:rPr lang="zh-CN" altLang="en-US">
                <a:sym typeface="+mn-ea"/>
              </a:rPr>
              <a:t>（</a:t>
            </a:r>
            <a:r>
              <a:rPr lang="en-US" altLang="zh-CN">
                <a:sym typeface="+mn-ea"/>
              </a:rPr>
              <a:t>2</a:t>
            </a:r>
            <a:r>
              <a:rPr lang="zh-CN" altLang="en-US">
                <a:sym typeface="+mn-ea"/>
              </a:rPr>
              <a:t>）</a:t>
            </a:r>
            <a:r>
              <a:rPr lang="en-US" altLang="zh-CN"/>
              <a:t>                    </a:t>
            </a:r>
            <a:r>
              <a:rPr lang="zh-CN" altLang="en-US">
                <a:sym typeface="+mn-ea"/>
              </a:rPr>
              <a:t>（</a:t>
            </a:r>
            <a:r>
              <a:rPr lang="en-US" altLang="zh-CN">
                <a:sym typeface="+mn-ea"/>
              </a:rPr>
              <a:t>3</a:t>
            </a:r>
            <a:r>
              <a:rPr lang="zh-CN" altLang="en-US">
                <a:sym typeface="+mn-ea"/>
              </a:rPr>
              <a:t>）</a:t>
            </a:r>
            <a:r>
              <a:rPr lang="en-US" altLang="zh-CN"/>
              <a:t>              </a:t>
            </a:r>
            <a:endParaRPr lang="en-US" altLang="zh-CN"/>
          </a:p>
        </p:txBody>
      </p:sp>
      <p:sp>
        <p:nvSpPr>
          <p:cNvPr id="20" name="文本框 19"/>
          <p:cNvSpPr txBox="1"/>
          <p:nvPr/>
        </p:nvSpPr>
        <p:spPr>
          <a:xfrm>
            <a:off x="1115060" y="5229225"/>
            <a:ext cx="6800215" cy="368300"/>
          </a:xfrm>
          <a:prstGeom prst="rect">
            <a:avLst/>
          </a:prstGeom>
          <a:noFill/>
        </p:spPr>
        <p:txBody>
          <a:bodyPr wrap="square" rtlCol="0">
            <a:spAutoFit/>
          </a:bodyPr>
          <a:p>
            <a:r>
              <a:rPr lang="zh-CN" altLang="en-US"/>
              <a:t>第一个小朋友说：我不知道自己</a:t>
            </a:r>
            <a:r>
              <a:rPr lang="zh-CN" altLang="en-US"/>
              <a:t>贴的什么颜色苹果</a:t>
            </a:r>
            <a:r>
              <a:rPr lang="en-US" altLang="zh-CN"/>
              <a:t>              </a:t>
            </a:r>
            <a:endParaRPr lang="en-US" altLang="zh-CN"/>
          </a:p>
        </p:txBody>
      </p:sp>
      <p:sp>
        <p:nvSpPr>
          <p:cNvPr id="21" name="文本框 20"/>
          <p:cNvSpPr txBox="1"/>
          <p:nvPr/>
        </p:nvSpPr>
        <p:spPr>
          <a:xfrm>
            <a:off x="1117600" y="5707380"/>
            <a:ext cx="6800215" cy="368300"/>
          </a:xfrm>
          <a:prstGeom prst="rect">
            <a:avLst/>
          </a:prstGeom>
          <a:noFill/>
        </p:spPr>
        <p:txBody>
          <a:bodyPr wrap="square" rtlCol="0">
            <a:spAutoFit/>
          </a:bodyPr>
          <a:p>
            <a:r>
              <a:rPr lang="zh-CN" altLang="en-US"/>
              <a:t>第二个小朋友也说：我不知道自己</a:t>
            </a:r>
            <a:r>
              <a:rPr lang="zh-CN" altLang="en-US"/>
              <a:t>贴的什么颜色苹果</a:t>
            </a:r>
            <a:r>
              <a:rPr lang="en-US" altLang="zh-CN"/>
              <a:t>              </a:t>
            </a:r>
            <a:endParaRPr lang="en-US" altLang="zh-CN"/>
          </a:p>
        </p:txBody>
      </p:sp>
      <p:sp>
        <p:nvSpPr>
          <p:cNvPr id="22" name="文本框 21"/>
          <p:cNvSpPr txBox="1"/>
          <p:nvPr/>
        </p:nvSpPr>
        <p:spPr>
          <a:xfrm>
            <a:off x="1117600" y="6096635"/>
            <a:ext cx="6800215" cy="368300"/>
          </a:xfrm>
          <a:prstGeom prst="rect">
            <a:avLst/>
          </a:prstGeom>
          <a:noFill/>
        </p:spPr>
        <p:txBody>
          <a:bodyPr wrap="square" rtlCol="0">
            <a:spAutoFit/>
          </a:bodyPr>
          <a:p>
            <a:r>
              <a:rPr lang="zh-CN" altLang="en-US">
                <a:solidFill>
                  <a:srgbClr val="FF0000"/>
                </a:solidFill>
              </a:rPr>
              <a:t>请问第三个小朋友</a:t>
            </a:r>
            <a:r>
              <a:rPr lang="zh-CN" altLang="en-US">
                <a:solidFill>
                  <a:srgbClr val="FF0000"/>
                </a:solidFill>
              </a:rPr>
              <a:t>能否知道自己后面是什么颜色的水果吗？</a:t>
            </a:r>
            <a:r>
              <a:rPr lang="en-US" altLang="zh-CN">
                <a:solidFill>
                  <a:srgbClr val="FF0000"/>
                </a:solidFill>
              </a:rPr>
              <a:t>            </a:t>
            </a:r>
            <a:endParaRPr lang="en-US" altLang="zh-CN">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635" y="367030"/>
            <a:ext cx="867664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t>（</a:t>
            </a:r>
            <a:r>
              <a:rPr lang="en-US" altLang="zh-CN" sz="3600" kern="0" smtClean="0"/>
              <a:t>3</a:t>
            </a:r>
            <a:r>
              <a:rPr lang="zh-CN" sz="3600" kern="0" smtClean="0"/>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grpSp>
        <p:nvGrpSpPr>
          <p:cNvPr id="72" name="组合 71"/>
          <p:cNvGrpSpPr/>
          <p:nvPr/>
        </p:nvGrpSpPr>
        <p:grpSpPr>
          <a:xfrm>
            <a:off x="2493645" y="2348865"/>
            <a:ext cx="3688080" cy="2864485"/>
            <a:chOff x="8221" y="3132"/>
            <a:chExt cx="5808" cy="4511"/>
          </a:xfrm>
        </p:grpSpPr>
        <p:grpSp>
          <p:nvGrpSpPr>
            <p:cNvPr id="13" name="组合 12"/>
            <p:cNvGrpSpPr/>
            <p:nvPr/>
          </p:nvGrpSpPr>
          <p:grpSpPr>
            <a:xfrm>
              <a:off x="10546" y="3132"/>
              <a:ext cx="1018" cy="916"/>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5" name="组合 14"/>
            <p:cNvGrpSpPr/>
            <p:nvPr/>
          </p:nvGrpSpPr>
          <p:grpSpPr>
            <a:xfrm>
              <a:off x="8675" y="4607"/>
              <a:ext cx="1018" cy="917"/>
              <a:chOff x="10489" y="3359"/>
              <a:chExt cx="1018" cy="917"/>
            </a:xfrm>
          </p:grpSpPr>
          <p:sp>
            <p:nvSpPr>
              <p:cNvPr id="16" name="椭圆 1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8" name="组合 17"/>
            <p:cNvGrpSpPr/>
            <p:nvPr/>
          </p:nvGrpSpPr>
          <p:grpSpPr>
            <a:xfrm>
              <a:off x="10546" y="4607"/>
              <a:ext cx="1018" cy="916"/>
              <a:chOff x="10489" y="3359"/>
              <a:chExt cx="1018" cy="916"/>
            </a:xfrm>
          </p:grpSpPr>
          <p:sp>
            <p:nvSpPr>
              <p:cNvPr id="19" name="椭圆 1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1" name="组合 20"/>
            <p:cNvGrpSpPr/>
            <p:nvPr/>
          </p:nvGrpSpPr>
          <p:grpSpPr>
            <a:xfrm>
              <a:off x="12529" y="4607"/>
              <a:ext cx="1018" cy="916"/>
              <a:chOff x="10489" y="3359"/>
              <a:chExt cx="1018" cy="916"/>
            </a:xfrm>
          </p:grpSpPr>
          <p:sp>
            <p:nvSpPr>
              <p:cNvPr id="22" name="椭圆 2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3" name="文本框 22"/>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24" name="曲线连接符 23"/>
            <p:cNvCxnSpPr>
              <a:stCxn id="10" idx="2"/>
              <a:endCxn id="16" idx="0"/>
            </p:cNvCxnSpPr>
            <p:nvPr/>
          </p:nvCxnSpPr>
          <p:spPr>
            <a:xfrm rot="10800000" flipV="1">
              <a:off x="9184" y="3591"/>
              <a:ext cx="1362" cy="1016"/>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5" name="曲线连接符 24"/>
            <p:cNvCxnSpPr>
              <a:stCxn id="12" idx="3"/>
              <a:endCxn id="22" idx="0"/>
            </p:cNvCxnSpPr>
            <p:nvPr/>
          </p:nvCxnSpPr>
          <p:spPr>
            <a:xfrm>
              <a:off x="11533" y="3635"/>
              <a:ext cx="1505" cy="972"/>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26" name="曲线连接符 25"/>
            <p:cNvCxnSpPr>
              <a:stCxn id="10" idx="4"/>
              <a:endCxn id="19" idx="0"/>
            </p:cNvCxnSpPr>
            <p:nvPr/>
          </p:nvCxnSpPr>
          <p:spPr>
            <a:xfrm rot="5400000" flipV="1">
              <a:off x="10776" y="4328"/>
              <a:ext cx="558" cy="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30" name="组合 29"/>
            <p:cNvGrpSpPr/>
            <p:nvPr/>
          </p:nvGrpSpPr>
          <p:grpSpPr>
            <a:xfrm>
              <a:off x="9355" y="6011"/>
              <a:ext cx="538" cy="539"/>
              <a:chOff x="10489" y="3359"/>
              <a:chExt cx="1018" cy="917"/>
            </a:xfrm>
          </p:grpSpPr>
          <p:sp>
            <p:nvSpPr>
              <p:cNvPr id="31" name="椭圆 3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2" name="文本框 3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33" name="组合 32"/>
            <p:cNvGrpSpPr/>
            <p:nvPr/>
          </p:nvGrpSpPr>
          <p:grpSpPr>
            <a:xfrm>
              <a:off x="8221" y="6011"/>
              <a:ext cx="538" cy="539"/>
              <a:chOff x="10489" y="3359"/>
              <a:chExt cx="1018" cy="917"/>
            </a:xfrm>
          </p:grpSpPr>
          <p:sp>
            <p:nvSpPr>
              <p:cNvPr id="34" name="椭圆 3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文本框 3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 name="组合 2"/>
            <p:cNvGrpSpPr/>
            <p:nvPr/>
          </p:nvGrpSpPr>
          <p:grpSpPr>
            <a:xfrm>
              <a:off x="11440" y="6011"/>
              <a:ext cx="538" cy="539"/>
              <a:chOff x="10489" y="3359"/>
              <a:chExt cx="1018" cy="917"/>
            </a:xfrm>
          </p:grpSpPr>
          <p:sp>
            <p:nvSpPr>
              <p:cNvPr id="7" name="椭圆 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9" name="组合 8"/>
            <p:cNvGrpSpPr/>
            <p:nvPr/>
          </p:nvGrpSpPr>
          <p:grpSpPr>
            <a:xfrm>
              <a:off x="10306" y="6011"/>
              <a:ext cx="538" cy="539"/>
              <a:chOff x="10489" y="3359"/>
              <a:chExt cx="1018" cy="917"/>
            </a:xfrm>
          </p:grpSpPr>
          <p:sp>
            <p:nvSpPr>
              <p:cNvPr id="27" name="椭圆 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29" name="组合 28"/>
            <p:cNvGrpSpPr/>
            <p:nvPr/>
          </p:nvGrpSpPr>
          <p:grpSpPr>
            <a:xfrm>
              <a:off x="13468" y="6011"/>
              <a:ext cx="538" cy="539"/>
              <a:chOff x="10489" y="3359"/>
              <a:chExt cx="1018" cy="917"/>
            </a:xfrm>
          </p:grpSpPr>
          <p:sp>
            <p:nvSpPr>
              <p:cNvPr id="36" name="椭圆 35"/>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38" name="组合 37"/>
            <p:cNvGrpSpPr/>
            <p:nvPr/>
          </p:nvGrpSpPr>
          <p:grpSpPr>
            <a:xfrm>
              <a:off x="12334" y="6011"/>
              <a:ext cx="538" cy="539"/>
              <a:chOff x="10489" y="3359"/>
              <a:chExt cx="1018" cy="917"/>
            </a:xfrm>
          </p:grpSpPr>
          <p:sp>
            <p:nvSpPr>
              <p:cNvPr id="39" name="椭圆 3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42" name="曲线连接符 41"/>
            <p:cNvCxnSpPr>
              <a:stCxn id="16" idx="4"/>
              <a:endCxn id="35" idx="0"/>
            </p:cNvCxnSpPr>
            <p:nvPr/>
          </p:nvCxnSpPr>
          <p:spPr>
            <a:xfrm rot="5400000">
              <a:off x="8569" y="5467"/>
              <a:ext cx="558" cy="67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3" name="曲线连接符 42"/>
            <p:cNvCxnSpPr>
              <a:stCxn id="16" idx="4"/>
              <a:endCxn id="32" idx="0"/>
            </p:cNvCxnSpPr>
            <p:nvPr/>
          </p:nvCxnSpPr>
          <p:spPr>
            <a:xfrm rot="5400000" flipV="1">
              <a:off x="9136" y="5572"/>
              <a:ext cx="558" cy="462"/>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4" name="曲线连接符 43"/>
            <p:cNvCxnSpPr>
              <a:stCxn id="22" idx="4"/>
              <a:endCxn id="40" idx="0"/>
            </p:cNvCxnSpPr>
            <p:nvPr/>
          </p:nvCxnSpPr>
          <p:spPr>
            <a:xfrm rot="5400000">
              <a:off x="12552" y="5596"/>
              <a:ext cx="558" cy="413"/>
            </a:xfrm>
            <a:prstGeom prst="curvedConnector3">
              <a:avLst>
                <a:gd name="adj1" fmla="val 49910"/>
              </a:avLst>
            </a:prstGeom>
            <a:solidFill>
              <a:schemeClr val="accent1"/>
            </a:solidFill>
            <a:ln w="9525" cap="flat" cmpd="sng" algn="ctr">
              <a:solidFill>
                <a:schemeClr val="tx1"/>
              </a:solidFill>
              <a:prstDash val="solid"/>
              <a:round/>
              <a:headEnd type="none" w="med" len="med"/>
              <a:tailEnd type="arrow" w="med" len="med"/>
            </a:ln>
          </p:spPr>
        </p:cxnSp>
        <p:cxnSp>
          <p:nvCxnSpPr>
            <p:cNvPr id="45" name="曲线连接符 44"/>
            <p:cNvCxnSpPr>
              <a:stCxn id="19" idx="4"/>
              <a:endCxn id="7" idx="0"/>
            </p:cNvCxnSpPr>
            <p:nvPr/>
          </p:nvCxnSpPr>
          <p:spPr>
            <a:xfrm rot="5400000" flipV="1">
              <a:off x="11139" y="5440"/>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6" name="曲线连接符 45"/>
            <p:cNvCxnSpPr>
              <a:stCxn id="19" idx="4"/>
              <a:endCxn id="28" idx="0"/>
            </p:cNvCxnSpPr>
            <p:nvPr/>
          </p:nvCxnSpPr>
          <p:spPr>
            <a:xfrm rot="5400000">
              <a:off x="10547" y="5574"/>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47" name="曲线连接符 46"/>
            <p:cNvCxnSpPr>
              <a:stCxn id="22" idx="4"/>
              <a:endCxn id="36" idx="0"/>
            </p:cNvCxnSpPr>
            <p:nvPr/>
          </p:nvCxnSpPr>
          <p:spPr>
            <a:xfrm rot="5400000" flipV="1">
              <a:off x="13144" y="5417"/>
              <a:ext cx="487" cy="699"/>
            </a:xfrm>
            <a:prstGeom prst="curvedConnector3">
              <a:avLst>
                <a:gd name="adj1" fmla="val 50103"/>
              </a:avLst>
            </a:prstGeom>
            <a:solidFill>
              <a:schemeClr val="accent1"/>
            </a:solidFill>
            <a:ln w="9525" cap="flat" cmpd="sng" algn="ctr">
              <a:solidFill>
                <a:schemeClr val="tx1"/>
              </a:solidFill>
              <a:prstDash val="solid"/>
              <a:round/>
              <a:headEnd type="none" w="med" len="med"/>
              <a:tailEnd type="arrow" w="med" len="med"/>
            </a:ln>
          </p:spPr>
        </p:cxnSp>
        <p:grpSp>
          <p:nvGrpSpPr>
            <p:cNvPr id="48" name="组合 47"/>
            <p:cNvGrpSpPr/>
            <p:nvPr/>
          </p:nvGrpSpPr>
          <p:grpSpPr>
            <a:xfrm>
              <a:off x="8221" y="7105"/>
              <a:ext cx="538" cy="539"/>
              <a:chOff x="10489" y="3359"/>
              <a:chExt cx="1018" cy="917"/>
            </a:xfrm>
          </p:grpSpPr>
          <p:sp>
            <p:nvSpPr>
              <p:cNvPr id="49" name="椭圆 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0" name="文本框 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1" name="组合 50"/>
            <p:cNvGrpSpPr/>
            <p:nvPr/>
          </p:nvGrpSpPr>
          <p:grpSpPr>
            <a:xfrm>
              <a:off x="9355" y="7105"/>
              <a:ext cx="538" cy="539"/>
              <a:chOff x="10489" y="3359"/>
              <a:chExt cx="1018" cy="917"/>
            </a:xfrm>
          </p:grpSpPr>
          <p:sp>
            <p:nvSpPr>
              <p:cNvPr id="52" name="椭圆 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3" name="文本框 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54" name="组合 53"/>
            <p:cNvGrpSpPr/>
            <p:nvPr/>
          </p:nvGrpSpPr>
          <p:grpSpPr>
            <a:xfrm>
              <a:off x="10306" y="7105"/>
              <a:ext cx="538" cy="539"/>
              <a:chOff x="10489" y="3359"/>
              <a:chExt cx="1018" cy="917"/>
            </a:xfrm>
          </p:grpSpPr>
          <p:sp>
            <p:nvSpPr>
              <p:cNvPr id="55" name="椭圆 5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6" name="文本框 5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grpSp>
          <p:nvGrpSpPr>
            <p:cNvPr id="57" name="组合 56"/>
            <p:cNvGrpSpPr/>
            <p:nvPr/>
          </p:nvGrpSpPr>
          <p:grpSpPr>
            <a:xfrm>
              <a:off x="11456" y="7104"/>
              <a:ext cx="538" cy="539"/>
              <a:chOff x="10489" y="3359"/>
              <a:chExt cx="1018" cy="917"/>
            </a:xfrm>
          </p:grpSpPr>
          <p:sp>
            <p:nvSpPr>
              <p:cNvPr id="58" name="椭圆 5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9" name="文本框 5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0" name="组合 59"/>
            <p:cNvGrpSpPr/>
            <p:nvPr/>
          </p:nvGrpSpPr>
          <p:grpSpPr>
            <a:xfrm>
              <a:off x="12373" y="7103"/>
              <a:ext cx="538" cy="539"/>
              <a:chOff x="10489" y="3359"/>
              <a:chExt cx="1018" cy="917"/>
            </a:xfrm>
          </p:grpSpPr>
          <p:sp>
            <p:nvSpPr>
              <p:cNvPr id="61" name="椭圆 6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2" name="文本框 61"/>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63" name="组合 62"/>
            <p:cNvGrpSpPr/>
            <p:nvPr/>
          </p:nvGrpSpPr>
          <p:grpSpPr>
            <a:xfrm>
              <a:off x="13491" y="7105"/>
              <a:ext cx="538" cy="539"/>
              <a:chOff x="10489" y="3359"/>
              <a:chExt cx="1018" cy="917"/>
            </a:xfrm>
          </p:grpSpPr>
          <p:sp>
            <p:nvSpPr>
              <p:cNvPr id="64" name="椭圆 6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文本框 64"/>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66" name="曲线连接符 65"/>
            <p:cNvCxnSpPr>
              <a:stCxn id="34" idx="4"/>
            </p:cNvCxnSpPr>
            <p:nvPr/>
          </p:nvCxnSpPr>
          <p:spPr>
            <a:xfrm rot="5400000" flipV="1">
              <a:off x="8226"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7" name="曲线连接符 66"/>
            <p:cNvCxnSpPr/>
            <p:nvPr/>
          </p:nvCxnSpPr>
          <p:spPr>
            <a:xfrm rot="5400000" flipV="1">
              <a:off x="9362" y="6798"/>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8" name="曲线连接符 67"/>
            <p:cNvCxnSpPr/>
            <p:nvPr/>
          </p:nvCxnSpPr>
          <p:spPr>
            <a:xfrm rot="5400000" flipV="1">
              <a:off x="10282"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69" name="曲线连接符 68"/>
            <p:cNvCxnSpPr/>
            <p:nvPr/>
          </p:nvCxnSpPr>
          <p:spPr>
            <a:xfrm rot="5400000" flipV="1">
              <a:off x="11426" y="6821"/>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0" name="曲线连接符 69"/>
            <p:cNvCxnSpPr/>
            <p:nvPr/>
          </p:nvCxnSpPr>
          <p:spPr>
            <a:xfrm rot="5400000" flipV="1">
              <a:off x="12379"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71" name="曲线连接符 70"/>
            <p:cNvCxnSpPr/>
            <p:nvPr/>
          </p:nvCxnSpPr>
          <p:spPr>
            <a:xfrm rot="5400000" flipV="1">
              <a:off x="13513" y="6814"/>
              <a:ext cx="548" cy="2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73" name="文本框 72"/>
          <p:cNvSpPr txBox="1"/>
          <p:nvPr/>
        </p:nvSpPr>
        <p:spPr>
          <a:xfrm>
            <a:off x="3789680"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4" name="文本框 73"/>
          <p:cNvSpPr txBox="1"/>
          <p:nvPr/>
        </p:nvSpPr>
        <p:spPr>
          <a:xfrm>
            <a:off x="2493645" y="3213100"/>
            <a:ext cx="1141095" cy="20815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5" name="文本框 74"/>
          <p:cNvSpPr txBox="1"/>
          <p:nvPr/>
        </p:nvSpPr>
        <p:spPr>
          <a:xfrm>
            <a:off x="5734050" y="4076700"/>
            <a:ext cx="560705" cy="122047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6" name="文本框 75"/>
          <p:cNvSpPr txBox="1"/>
          <p:nvPr/>
        </p:nvSpPr>
        <p:spPr>
          <a:xfrm>
            <a:off x="5085715" y="4076700"/>
            <a:ext cx="466090" cy="1217930"/>
          </a:xfrm>
          <a:prstGeom prst="rect">
            <a:avLst/>
          </a:prstGeom>
          <a:noFill/>
          <a:ln w="28575" cmpd="sng">
            <a:solidFill>
              <a:schemeClr val="accent1">
                <a:shade val="50000"/>
              </a:schemeClr>
            </a:solidFill>
            <a:prstDash val="solid"/>
          </a:ln>
          <a:extLst>
            <a:ext uri="{909E8E84-426E-40DD-AFC4-6F175D3DCCD1}">
              <a14:hiddenFill xmlns:a14="http://schemas.microsoft.com/office/drawing/2010/main">
                <a:solidFill>
                  <a:srgbClr val="92D050"/>
                </a:solidFill>
              </a14:hiddenFill>
            </a:ext>
          </a:extLst>
        </p:spPr>
        <p:txBody>
          <a:bodyPr wrap="square" rtlCol="0">
            <a:noAutofit/>
          </a:bodyPr>
          <a:p>
            <a:endParaRPr lang="zh-CN" altLang="en-US"/>
          </a:p>
        </p:txBody>
      </p:sp>
      <p:sp>
        <p:nvSpPr>
          <p:cNvPr id="77" name="文本框 76"/>
          <p:cNvSpPr txBox="1"/>
          <p:nvPr/>
        </p:nvSpPr>
        <p:spPr>
          <a:xfrm>
            <a:off x="2421255" y="321310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78" name="文本框 77"/>
          <p:cNvSpPr txBox="1"/>
          <p:nvPr/>
        </p:nvSpPr>
        <p:spPr>
          <a:xfrm>
            <a:off x="3817620" y="321310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79" name="文本框 78"/>
          <p:cNvSpPr txBox="1"/>
          <p:nvPr/>
        </p:nvSpPr>
        <p:spPr>
          <a:xfrm>
            <a:off x="5254625" y="4076700"/>
            <a:ext cx="297180" cy="368300"/>
          </a:xfrm>
          <a:prstGeom prst="rect">
            <a:avLst/>
          </a:prstGeom>
          <a:noFill/>
          <a:ln>
            <a:noFill/>
          </a:ln>
        </p:spPr>
        <p:txBody>
          <a:bodyPr wrap="square" rtlCol="0">
            <a:spAutoFit/>
          </a:bodyPr>
          <a:p>
            <a:r>
              <a:rPr lang="zh-CN" altLang="en-US">
                <a:solidFill>
                  <a:srgbClr val="FF0000"/>
                </a:solidFill>
              </a:rPr>
              <a:t>③</a:t>
            </a:r>
            <a:endParaRPr lang="zh-CN" altLang="en-US">
              <a:solidFill>
                <a:srgbClr val="FF0000"/>
              </a:solidFill>
            </a:endParaRPr>
          </a:p>
        </p:txBody>
      </p:sp>
      <p:sp>
        <p:nvSpPr>
          <p:cNvPr id="80" name="文本框 79"/>
          <p:cNvSpPr txBox="1"/>
          <p:nvPr/>
        </p:nvSpPr>
        <p:spPr>
          <a:xfrm>
            <a:off x="6021705" y="4059555"/>
            <a:ext cx="297180" cy="368300"/>
          </a:xfrm>
          <a:prstGeom prst="rect">
            <a:avLst/>
          </a:prstGeom>
          <a:noFill/>
          <a:ln>
            <a:noFill/>
          </a:ln>
        </p:spPr>
        <p:txBody>
          <a:bodyPr wrap="square" rtlCol="0">
            <a:spAutoFit/>
          </a:bodyPr>
          <a:p>
            <a:r>
              <a:rPr lang="zh-CN" altLang="en-US">
                <a:solidFill>
                  <a:srgbClr val="FF0000"/>
                </a:solidFill>
              </a:rPr>
              <a:t>④</a:t>
            </a:r>
            <a:endParaRPr lang="zh-CN" altLang="en-US">
              <a:solidFill>
                <a:srgbClr val="FF0000"/>
              </a:solidFill>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2" name="文本框 81"/>
          <p:cNvSpPr txBox="1"/>
          <p:nvPr/>
        </p:nvSpPr>
        <p:spPr>
          <a:xfrm>
            <a:off x="2555875" y="5254625"/>
            <a:ext cx="4572000" cy="119888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FF0000"/>
                </a:solidFill>
                <a:latin typeface="+mj-ea"/>
                <a:ea typeface="+mj-ea"/>
                <a:sym typeface="+mn-ea"/>
              </a:rPr>
              <a:t>[1,1,2] </a:t>
            </a:r>
            <a:endParaRPr lang="en-US" altLang="zh-CN">
              <a:solidFill>
                <a:srgbClr val="000066"/>
              </a:solidFill>
              <a:latin typeface="+mj-ea"/>
              <a:ea typeface="+mj-ea"/>
              <a:sym typeface="+mn-ea"/>
            </a:endParaRPr>
          </a:p>
          <a:p>
            <a:r>
              <a:rPr lang="en-US" altLang="zh-CN">
                <a:solidFill>
                  <a:srgbClr val="000066"/>
                </a:solidFill>
                <a:latin typeface="+mj-ea"/>
                <a:ea typeface="+mj-ea"/>
                <a:sym typeface="+mn-ea"/>
              </a:rPr>
              <a:t>[1,2,1]            </a:t>
            </a:r>
            <a:r>
              <a:rPr lang="en-US" altLang="zh-CN">
                <a:solidFill>
                  <a:srgbClr val="FF0000"/>
                </a:solidFill>
                <a:latin typeface="+mj-ea"/>
                <a:ea typeface="+mj-ea"/>
                <a:sym typeface="+mn-ea"/>
              </a:rPr>
              <a:t>[1,2,1]</a:t>
            </a:r>
            <a:endParaRPr lang="en-US" altLang="zh-CN">
              <a:solidFill>
                <a:srgbClr val="FF0000"/>
              </a:solidFill>
              <a:latin typeface="+mj-ea"/>
              <a:ea typeface="+mj-ea"/>
              <a:sym typeface="+mn-ea"/>
            </a:endParaRPr>
          </a:p>
          <a:p>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
        <p:nvSpPr>
          <p:cNvPr id="83" name="文本框 82"/>
          <p:cNvSpPr txBox="1"/>
          <p:nvPr/>
        </p:nvSpPr>
        <p:spPr>
          <a:xfrm>
            <a:off x="5076190" y="5297170"/>
            <a:ext cx="1671955" cy="612140"/>
          </a:xfrm>
          <a:prstGeom prst="rect">
            <a:avLst/>
          </a:prstGeom>
          <a:noFill/>
        </p:spPr>
        <p:txBody>
          <a:bodyPr wrap="square" rtlCol="0" anchor="t">
            <a:noAutofit/>
          </a:bodyPr>
          <a:p>
            <a:r>
              <a:rPr lang="en-US" altLang="zh-CN">
                <a:solidFill>
                  <a:srgbClr val="000066"/>
                </a:solidFill>
                <a:latin typeface="+mj-ea"/>
                <a:ea typeface="+mj-ea"/>
                <a:sym typeface="+mn-ea"/>
              </a:rPr>
              <a:t>[2,1,1]            </a:t>
            </a:r>
            <a:endParaRPr lang="en-US" altLang="zh-CN">
              <a:solidFill>
                <a:srgbClr val="000066"/>
              </a:solidFill>
              <a:latin typeface="+mj-ea"/>
              <a:ea typeface="+mj-ea"/>
              <a:sym typeface="+mn-ea"/>
            </a:endParaRPr>
          </a:p>
          <a:p>
            <a:r>
              <a:rPr lang="en-US" altLang="zh-CN">
                <a:solidFill>
                  <a:srgbClr val="FF0000"/>
                </a:solidFill>
                <a:latin typeface="+mj-ea"/>
                <a:ea typeface="+mj-ea"/>
                <a:sym typeface="+mn-ea"/>
              </a:rPr>
              <a:t>[2,1,1]</a:t>
            </a:r>
            <a:r>
              <a:rPr lang="en-US" altLang="zh-CN">
                <a:solidFill>
                  <a:srgbClr val="000066"/>
                </a:solidFill>
                <a:latin typeface="+mj-ea"/>
                <a:ea typeface="+mj-ea"/>
                <a:sym typeface="+mn-ea"/>
              </a:rPr>
              <a:t>            </a:t>
            </a:r>
            <a:endParaRPr lang="en-US" altLang="zh-CN">
              <a:solidFill>
                <a:srgbClr val="FF0000"/>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07645" y="367030"/>
            <a:ext cx="846836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41" name="文本框 40"/>
          <p:cNvSpPr txBox="1"/>
          <p:nvPr/>
        </p:nvSpPr>
        <p:spPr>
          <a:xfrm>
            <a:off x="539750" y="1701165"/>
            <a:ext cx="5606415" cy="405765"/>
          </a:xfrm>
          <a:prstGeom prst="rect">
            <a:avLst/>
          </a:prstGeom>
          <a:noFill/>
        </p:spPr>
        <p:txBody>
          <a:bodyPr>
            <a:noAutofit/>
          </a:bodyPr>
          <a:p>
            <a:pPr>
              <a:defRPr/>
            </a:pPr>
            <a:r>
              <a:rPr lang="zh-CN" altLang="en-US">
                <a:solidFill>
                  <a:srgbClr val="000066"/>
                </a:solidFill>
                <a:latin typeface="+mj-ea"/>
                <a:ea typeface="+mj-ea"/>
              </a:rPr>
              <a:t>示例：找出数组</a:t>
            </a:r>
            <a:r>
              <a:rPr lang="en-US" altLang="zh-CN">
                <a:solidFill>
                  <a:srgbClr val="000066"/>
                </a:solidFill>
                <a:latin typeface="+mj-ea"/>
                <a:ea typeface="+mj-ea"/>
              </a:rPr>
              <a:t>nums=[1,1,2]</a:t>
            </a:r>
            <a:r>
              <a:rPr lang="zh-CN" altLang="en-US">
                <a:solidFill>
                  <a:srgbClr val="000066"/>
                </a:solidFill>
                <a:latin typeface="+mj-ea"/>
                <a:ea typeface="+mj-ea"/>
              </a:rPr>
              <a:t>全排列和子集？</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81" name="文本框 80"/>
          <p:cNvSpPr txBox="1"/>
          <p:nvPr/>
        </p:nvSpPr>
        <p:spPr>
          <a:xfrm>
            <a:off x="467995" y="1988820"/>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1</a:t>
            </a:r>
            <a:r>
              <a:rPr lang="zh-CN">
                <a:solidFill>
                  <a:srgbClr val="000066"/>
                </a:solidFill>
                <a:latin typeface="+mj-ea"/>
                <a:ea typeface="+mj-ea"/>
              </a:rPr>
              <a:t>）观察全排列有重复的剪枝条件，加入</a:t>
            </a:r>
            <a:r>
              <a:rPr lang="en-US" altLang="zh-CN">
                <a:solidFill>
                  <a:srgbClr val="000066"/>
                </a:solidFill>
                <a:latin typeface="+mj-ea"/>
                <a:ea typeface="+mj-ea"/>
              </a:rPr>
              <a:t>if</a:t>
            </a:r>
            <a:r>
              <a:rPr lang="zh-CN" altLang="en-US">
                <a:solidFill>
                  <a:srgbClr val="000066"/>
                </a:solidFill>
                <a:latin typeface="+mj-ea"/>
                <a:ea typeface="+mj-ea"/>
              </a:rPr>
              <a:t>条件剪枝</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5" name="矩形 4"/>
          <p:cNvSpPr/>
          <p:nvPr/>
        </p:nvSpPr>
        <p:spPr>
          <a:xfrm>
            <a:off x="2628265" y="4437380"/>
            <a:ext cx="3672205" cy="3600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pic>
        <p:nvPicPr>
          <p:cNvPr id="3" name="图片 2"/>
          <p:cNvPicPr>
            <a:picLocks noChangeAspect="1"/>
          </p:cNvPicPr>
          <p:nvPr/>
        </p:nvPicPr>
        <p:blipFill>
          <a:blip r:embed="rId1"/>
          <a:stretch>
            <a:fillRect/>
          </a:stretch>
        </p:blipFill>
        <p:spPr>
          <a:xfrm>
            <a:off x="1763395" y="2507615"/>
            <a:ext cx="4705350" cy="4219575"/>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225425" y="367030"/>
            <a:ext cx="845058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grpSp>
        <p:nvGrpSpPr>
          <p:cNvPr id="120" name="组合 119"/>
          <p:cNvGrpSpPr/>
          <p:nvPr/>
        </p:nvGrpSpPr>
        <p:grpSpPr>
          <a:xfrm rot="0">
            <a:off x="4139565" y="1972310"/>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3401060" y="298132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4813300" y="2980055"/>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cxnSp>
        <p:nvCxnSpPr>
          <p:cNvPr id="129" name="曲线连接符 128"/>
          <p:cNvCxnSpPr/>
          <p:nvPr/>
        </p:nvCxnSpPr>
        <p:spPr>
          <a:xfrm rot="10800000" flipV="1">
            <a:off x="3742055" y="2263140"/>
            <a:ext cx="396875" cy="716915"/>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a:off x="4766310" y="2291715"/>
            <a:ext cx="370205" cy="68834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6" idx="0"/>
          </p:cNvCxnSpPr>
          <p:nvPr/>
        </p:nvCxnSpPr>
        <p:spPr>
          <a:xfrm rot="10800000" flipV="1">
            <a:off x="2793365" y="3563620"/>
            <a:ext cx="930275" cy="382270"/>
          </a:xfrm>
          <a:prstGeom prst="curvedConnector2">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p:nvPr/>
        </p:nvCxnSpPr>
        <p:spPr>
          <a:xfrm rot="5400000" flipV="1">
            <a:off x="3693795" y="3594100"/>
            <a:ext cx="354330" cy="2933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a:endCxn id="142" idx="0"/>
          </p:cNvCxnSpPr>
          <p:nvPr/>
        </p:nvCxnSpPr>
        <p:spPr>
          <a:xfrm rot="5400000" flipV="1">
            <a:off x="5057140" y="3641090"/>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cxnSp>
        <p:nvCxnSpPr>
          <p:cNvPr id="146" name="曲线连接符 145"/>
          <p:cNvCxnSpPr>
            <a:endCxn id="138" idx="0"/>
          </p:cNvCxnSpPr>
          <p:nvPr/>
        </p:nvCxnSpPr>
        <p:spPr>
          <a:xfrm>
            <a:off x="5136515" y="3561715"/>
            <a:ext cx="1382395" cy="294005"/>
          </a:xfrm>
          <a:prstGeom prst="curvedConnector2">
            <a:avLst/>
          </a:prstGeom>
          <a:solidFill>
            <a:schemeClr val="accent1"/>
          </a:solidFill>
          <a:ln w="9525" cap="flat" cmpd="sng" algn="ctr">
            <a:solidFill>
              <a:schemeClr val="tx1"/>
            </a:solidFill>
            <a:prstDash val="solid"/>
            <a:round/>
            <a:headEnd type="none" w="med" len="med"/>
            <a:tailEnd type="arrow" w="med" len="med"/>
          </a:ln>
        </p:spPr>
      </p:cxnSp>
      <p:grpSp>
        <p:nvGrpSpPr>
          <p:cNvPr id="162" name="组合 161"/>
          <p:cNvGrpSpPr/>
          <p:nvPr/>
        </p:nvGrpSpPr>
        <p:grpSpPr>
          <a:xfrm>
            <a:off x="2268220" y="3900805"/>
            <a:ext cx="1061720" cy="992505"/>
            <a:chOff x="4365" y="6099"/>
            <a:chExt cx="1672" cy="1563"/>
          </a:xfrm>
        </p:grpSpPr>
        <p:grpSp>
          <p:nvGrpSpPr>
            <p:cNvPr id="134" name="组合 133"/>
            <p:cNvGrpSpPr/>
            <p:nvPr/>
          </p:nvGrpSpPr>
          <p:grpSpPr>
            <a:xfrm rot="0">
              <a:off x="4902" y="6099"/>
              <a:ext cx="538" cy="539"/>
              <a:chOff x="10489" y="3359"/>
              <a:chExt cx="1018" cy="917"/>
            </a:xfrm>
          </p:grpSpPr>
          <p:sp>
            <p:nvSpPr>
              <p:cNvPr id="135" name="椭圆 13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6" name="文本框 13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47" name="组合 146"/>
            <p:cNvGrpSpPr/>
            <p:nvPr/>
          </p:nvGrpSpPr>
          <p:grpSpPr>
            <a:xfrm>
              <a:off x="4365" y="6638"/>
              <a:ext cx="1672" cy="1025"/>
              <a:chOff x="4579" y="8358"/>
              <a:chExt cx="1672" cy="1025"/>
            </a:xfrm>
          </p:grpSpPr>
          <p:grpSp>
            <p:nvGrpSpPr>
              <p:cNvPr id="148" name="组合 147"/>
              <p:cNvGrpSpPr/>
              <p:nvPr/>
            </p:nvGrpSpPr>
            <p:grpSpPr>
              <a:xfrm rot="0">
                <a:off x="5713" y="8845"/>
                <a:ext cx="538" cy="539"/>
                <a:chOff x="10489" y="3359"/>
                <a:chExt cx="1018" cy="917"/>
              </a:xfrm>
            </p:grpSpPr>
            <p:sp>
              <p:nvSpPr>
                <p:cNvPr id="149" name="椭圆 14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0" name="文本框 14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51" name="组合 150"/>
              <p:cNvGrpSpPr/>
              <p:nvPr/>
            </p:nvGrpSpPr>
            <p:grpSpPr>
              <a:xfrm rot="0">
                <a:off x="4579" y="8845"/>
                <a:ext cx="538" cy="539"/>
                <a:chOff x="10489" y="3359"/>
                <a:chExt cx="1018" cy="917"/>
              </a:xfrm>
            </p:grpSpPr>
            <p:sp>
              <p:nvSpPr>
                <p:cNvPr id="152" name="椭圆 15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3" name="文本框 15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54" name="曲线连接符 15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55" name="曲线连接符 15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157" name="文本框 156"/>
          <p:cNvSpPr txBox="1"/>
          <p:nvPr/>
        </p:nvSpPr>
        <p:spPr>
          <a:xfrm>
            <a:off x="2356485" y="3107055"/>
            <a:ext cx="669925" cy="368300"/>
          </a:xfrm>
          <a:prstGeom prst="rect">
            <a:avLst/>
          </a:prstGeom>
          <a:noFill/>
        </p:spPr>
        <p:txBody>
          <a:bodyPr wrap="square" rtlCol="0">
            <a:spAutoFit/>
          </a:bodyPr>
          <a:p>
            <a:r>
              <a:rPr lang="zh-CN" altLang="en-US"/>
              <a:t>①</a:t>
            </a:r>
            <a:r>
              <a:rPr lang="en-US" altLang="zh-CN"/>
              <a:t> 1</a:t>
            </a:r>
            <a:endParaRPr lang="en-US" altLang="zh-CN"/>
          </a:p>
        </p:txBody>
      </p:sp>
      <p:sp>
        <p:nvSpPr>
          <p:cNvPr id="160" name="文本框 159"/>
          <p:cNvSpPr txBox="1"/>
          <p:nvPr/>
        </p:nvSpPr>
        <p:spPr>
          <a:xfrm>
            <a:off x="1835785" y="3789045"/>
            <a:ext cx="669925" cy="368300"/>
          </a:xfrm>
          <a:prstGeom prst="rect">
            <a:avLst/>
          </a:prstGeom>
          <a:noFill/>
        </p:spPr>
        <p:txBody>
          <a:bodyPr wrap="square" rtlCol="0">
            <a:spAutoFit/>
          </a:bodyPr>
          <a:p>
            <a:r>
              <a:rPr lang="zh-CN" altLang="en-US"/>
              <a:t>②</a:t>
            </a:r>
            <a:r>
              <a:rPr lang="en-US" altLang="zh-CN"/>
              <a:t> 1</a:t>
            </a:r>
            <a:endParaRPr lang="en-US" altLang="zh-CN"/>
          </a:p>
        </p:txBody>
      </p:sp>
      <p:sp>
        <p:nvSpPr>
          <p:cNvPr id="161" name="文本框 160"/>
          <p:cNvSpPr txBox="1"/>
          <p:nvPr/>
        </p:nvSpPr>
        <p:spPr>
          <a:xfrm>
            <a:off x="1331595" y="4525010"/>
            <a:ext cx="669925" cy="368300"/>
          </a:xfrm>
          <a:prstGeom prst="rect">
            <a:avLst/>
          </a:prstGeom>
          <a:noFill/>
        </p:spPr>
        <p:txBody>
          <a:bodyPr wrap="square" rtlCol="0">
            <a:spAutoFit/>
          </a:bodyPr>
          <a:p>
            <a:r>
              <a:rPr lang="zh-CN" altLang="en-US"/>
              <a:t>③</a:t>
            </a:r>
            <a:r>
              <a:rPr lang="en-US" altLang="zh-CN"/>
              <a:t> 2</a:t>
            </a:r>
            <a:endParaRPr lang="en-US" altLang="zh-CN"/>
          </a:p>
        </p:txBody>
      </p:sp>
      <p:grpSp>
        <p:nvGrpSpPr>
          <p:cNvPr id="163" name="组合 162"/>
          <p:cNvGrpSpPr/>
          <p:nvPr/>
        </p:nvGrpSpPr>
        <p:grpSpPr>
          <a:xfrm>
            <a:off x="4834255" y="3917950"/>
            <a:ext cx="1061720" cy="992505"/>
            <a:chOff x="4365" y="6099"/>
            <a:chExt cx="1672" cy="1563"/>
          </a:xfrm>
        </p:grpSpPr>
        <p:grpSp>
          <p:nvGrpSpPr>
            <p:cNvPr id="164" name="组合 163"/>
            <p:cNvGrpSpPr/>
            <p:nvPr/>
          </p:nvGrpSpPr>
          <p:grpSpPr>
            <a:xfrm rot="0">
              <a:off x="4902" y="6099"/>
              <a:ext cx="538" cy="539"/>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67" name="组合 166"/>
            <p:cNvGrpSpPr/>
            <p:nvPr/>
          </p:nvGrpSpPr>
          <p:grpSpPr>
            <a:xfrm>
              <a:off x="4365" y="6638"/>
              <a:ext cx="1672" cy="1025"/>
              <a:chOff x="4579" y="8358"/>
              <a:chExt cx="1672" cy="1025"/>
            </a:xfrm>
          </p:grpSpPr>
          <p:grpSp>
            <p:nvGrpSpPr>
              <p:cNvPr id="168" name="组合 167"/>
              <p:cNvGrpSpPr/>
              <p:nvPr/>
            </p:nvGrpSpPr>
            <p:grpSpPr>
              <a:xfrm rot="0">
                <a:off x="5713" y="8845"/>
                <a:ext cx="538" cy="539"/>
                <a:chOff x="10489" y="3359"/>
                <a:chExt cx="1018" cy="917"/>
              </a:xfrm>
            </p:grpSpPr>
            <p:sp>
              <p:nvSpPr>
                <p:cNvPr id="169" name="椭圆 168"/>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0" name="文本框 169"/>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71" name="组合 170"/>
              <p:cNvGrpSpPr/>
              <p:nvPr/>
            </p:nvGrpSpPr>
            <p:grpSpPr>
              <a:xfrm rot="0">
                <a:off x="4579" y="8845"/>
                <a:ext cx="538" cy="539"/>
                <a:chOff x="10489" y="3359"/>
                <a:chExt cx="1018" cy="917"/>
              </a:xfrm>
            </p:grpSpPr>
            <p:sp>
              <p:nvSpPr>
                <p:cNvPr id="172" name="椭圆 17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3" name="文本框 17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74" name="曲线连接符 173"/>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75" name="曲线连接符 174"/>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76" name="组合 175"/>
          <p:cNvGrpSpPr/>
          <p:nvPr/>
        </p:nvGrpSpPr>
        <p:grpSpPr>
          <a:xfrm>
            <a:off x="3529965" y="3917950"/>
            <a:ext cx="1061720" cy="992505"/>
            <a:chOff x="4365" y="6099"/>
            <a:chExt cx="1672" cy="1563"/>
          </a:xfrm>
        </p:grpSpPr>
        <p:grpSp>
          <p:nvGrpSpPr>
            <p:cNvPr id="177" name="组合 176"/>
            <p:cNvGrpSpPr/>
            <p:nvPr/>
          </p:nvGrpSpPr>
          <p:grpSpPr>
            <a:xfrm rot="0">
              <a:off x="4902" y="6099"/>
              <a:ext cx="538" cy="539"/>
              <a:chOff x="10489" y="3359"/>
              <a:chExt cx="1018" cy="917"/>
            </a:xfrm>
          </p:grpSpPr>
          <p:sp>
            <p:nvSpPr>
              <p:cNvPr id="178" name="椭圆 17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9" name="文本框 17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0" name="组合 179"/>
            <p:cNvGrpSpPr/>
            <p:nvPr/>
          </p:nvGrpSpPr>
          <p:grpSpPr>
            <a:xfrm>
              <a:off x="4365" y="6638"/>
              <a:ext cx="1672" cy="1025"/>
              <a:chOff x="4579" y="8358"/>
              <a:chExt cx="1672" cy="1025"/>
            </a:xfrm>
          </p:grpSpPr>
          <p:grpSp>
            <p:nvGrpSpPr>
              <p:cNvPr id="181" name="组合 180"/>
              <p:cNvGrpSpPr/>
              <p:nvPr/>
            </p:nvGrpSpPr>
            <p:grpSpPr>
              <a:xfrm rot="0">
                <a:off x="5713" y="8845"/>
                <a:ext cx="538" cy="539"/>
                <a:chOff x="10489" y="3359"/>
                <a:chExt cx="1018" cy="917"/>
              </a:xfrm>
            </p:grpSpPr>
            <p:sp>
              <p:nvSpPr>
                <p:cNvPr id="182" name="椭圆 181"/>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3" name="文本框 182"/>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84" name="组合 183"/>
              <p:cNvGrpSpPr/>
              <p:nvPr/>
            </p:nvGrpSpPr>
            <p:grpSpPr>
              <a:xfrm rot="0">
                <a:off x="4579" y="8845"/>
                <a:ext cx="538" cy="539"/>
                <a:chOff x="10489" y="3359"/>
                <a:chExt cx="1018" cy="917"/>
              </a:xfrm>
            </p:grpSpPr>
            <p:sp>
              <p:nvSpPr>
                <p:cNvPr id="185" name="椭圆 18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6" name="文本框 18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187" name="曲线连接符 186"/>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88" name="曲线连接符 187"/>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grpSp>
        <p:nvGrpSpPr>
          <p:cNvPr id="189" name="组合 188"/>
          <p:cNvGrpSpPr/>
          <p:nvPr/>
        </p:nvGrpSpPr>
        <p:grpSpPr>
          <a:xfrm>
            <a:off x="6012180" y="3900805"/>
            <a:ext cx="1061720" cy="992505"/>
            <a:chOff x="4365" y="6099"/>
            <a:chExt cx="1672" cy="1563"/>
          </a:xfrm>
        </p:grpSpPr>
        <p:grpSp>
          <p:nvGrpSpPr>
            <p:cNvPr id="190" name="组合 189"/>
            <p:cNvGrpSpPr/>
            <p:nvPr/>
          </p:nvGrpSpPr>
          <p:grpSpPr>
            <a:xfrm rot="0">
              <a:off x="4902" y="6099"/>
              <a:ext cx="538" cy="539"/>
              <a:chOff x="10489" y="3359"/>
              <a:chExt cx="1018" cy="917"/>
            </a:xfrm>
          </p:grpSpPr>
          <p:sp>
            <p:nvSpPr>
              <p:cNvPr id="191" name="椭圆 19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2" name="文本框 191"/>
              <p:cNvSpPr txBox="1"/>
              <p:nvPr/>
            </p:nvSpPr>
            <p:spPr>
              <a:xfrm>
                <a:off x="10603" y="3480"/>
                <a:ext cx="874" cy="694"/>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3" name="组合 192"/>
            <p:cNvGrpSpPr/>
            <p:nvPr/>
          </p:nvGrpSpPr>
          <p:grpSpPr>
            <a:xfrm>
              <a:off x="4365" y="6638"/>
              <a:ext cx="1672" cy="1025"/>
              <a:chOff x="4579" y="8358"/>
              <a:chExt cx="1672" cy="1025"/>
            </a:xfrm>
          </p:grpSpPr>
          <p:grpSp>
            <p:nvGrpSpPr>
              <p:cNvPr id="194" name="组合 193"/>
              <p:cNvGrpSpPr/>
              <p:nvPr/>
            </p:nvGrpSpPr>
            <p:grpSpPr>
              <a:xfrm rot="0">
                <a:off x="5713" y="8845"/>
                <a:ext cx="538" cy="539"/>
                <a:chOff x="10489" y="3359"/>
                <a:chExt cx="1018" cy="917"/>
              </a:xfrm>
            </p:grpSpPr>
            <p:sp>
              <p:nvSpPr>
                <p:cNvPr id="195" name="椭圆 19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6" name="文本框 195"/>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0</a:t>
                  </a:r>
                  <a:endParaRPr lang="en-US" sz="1400">
                    <a:solidFill>
                      <a:srgbClr val="000066"/>
                    </a:solidFill>
                    <a:latin typeface="+mj-ea"/>
                    <a:ea typeface="+mj-ea"/>
                  </a:endParaRPr>
                </a:p>
              </p:txBody>
            </p:sp>
          </p:grpSp>
          <p:grpSp>
            <p:nvGrpSpPr>
              <p:cNvPr id="197" name="组合 196"/>
              <p:cNvGrpSpPr/>
              <p:nvPr/>
            </p:nvGrpSpPr>
            <p:grpSpPr>
              <a:xfrm rot="0">
                <a:off x="4579" y="8845"/>
                <a:ext cx="538" cy="539"/>
                <a:chOff x="10489" y="3359"/>
                <a:chExt cx="1018" cy="917"/>
              </a:xfrm>
            </p:grpSpPr>
            <p:sp>
              <p:nvSpPr>
                <p:cNvPr id="198" name="椭圆 197"/>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9" name="文本框 198"/>
                <p:cNvSpPr txBox="1"/>
                <p:nvPr/>
              </p:nvSpPr>
              <p:spPr>
                <a:xfrm>
                  <a:off x="10602" y="3479"/>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cxnSp>
            <p:nvCxnSpPr>
              <p:cNvPr id="200" name="曲线连接符 199"/>
              <p:cNvCxnSpPr/>
              <p:nvPr/>
            </p:nvCxnSpPr>
            <p:spPr>
              <a:xfrm rot="5400000" flipV="1">
                <a:off x="5412" y="8274"/>
                <a:ext cx="487" cy="654"/>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201" name="曲线连接符 200"/>
              <p:cNvCxnSpPr/>
              <p:nvPr/>
            </p:nvCxnSpPr>
            <p:spPr>
              <a:xfrm rot="5400000">
                <a:off x="4820" y="8408"/>
                <a:ext cx="558" cy="458"/>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grpSp>
      </p:grpSp>
      <p:sp>
        <p:nvSpPr>
          <p:cNvPr id="203" name="矩形 202"/>
          <p:cNvSpPr/>
          <p:nvPr/>
        </p:nvSpPr>
        <p:spPr>
          <a:xfrm>
            <a:off x="3275965" y="2934970"/>
            <a:ext cx="136842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4" name="矩形 203"/>
          <p:cNvSpPr/>
          <p:nvPr/>
        </p:nvSpPr>
        <p:spPr>
          <a:xfrm>
            <a:off x="4665980" y="2934970"/>
            <a:ext cx="1346835" cy="207835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5" name="文本框 204"/>
          <p:cNvSpPr txBox="1"/>
          <p:nvPr/>
        </p:nvSpPr>
        <p:spPr>
          <a:xfrm>
            <a:off x="4157980" y="2934970"/>
            <a:ext cx="297180" cy="368300"/>
          </a:xfrm>
          <a:prstGeom prst="rect">
            <a:avLst/>
          </a:prstGeom>
          <a:noFill/>
          <a:ln>
            <a:noFill/>
          </a:ln>
        </p:spPr>
        <p:txBody>
          <a:bodyPr wrap="square" rtlCol="0">
            <a:spAutoFit/>
          </a:bodyPr>
          <a:p>
            <a:r>
              <a:rPr lang="zh-CN" altLang="en-US">
                <a:solidFill>
                  <a:srgbClr val="FF0000"/>
                </a:solidFill>
              </a:rPr>
              <a:t>①</a:t>
            </a:r>
            <a:endParaRPr lang="zh-CN" altLang="en-US">
              <a:solidFill>
                <a:srgbClr val="FF0000"/>
              </a:solidFill>
            </a:endParaRPr>
          </a:p>
        </p:txBody>
      </p:sp>
      <p:sp>
        <p:nvSpPr>
          <p:cNvPr id="206" name="文本框 205"/>
          <p:cNvSpPr txBox="1"/>
          <p:nvPr/>
        </p:nvSpPr>
        <p:spPr>
          <a:xfrm>
            <a:off x="5554345" y="2934970"/>
            <a:ext cx="297180" cy="368300"/>
          </a:xfrm>
          <a:prstGeom prst="rect">
            <a:avLst/>
          </a:prstGeom>
          <a:noFill/>
          <a:ln>
            <a:noFill/>
          </a:ln>
        </p:spPr>
        <p:txBody>
          <a:bodyPr wrap="square" rtlCol="0">
            <a:spAutoFit/>
          </a:bodyPr>
          <a:p>
            <a:r>
              <a:rPr lang="zh-CN" altLang="en-US">
                <a:solidFill>
                  <a:srgbClr val="FF0000"/>
                </a:solidFill>
              </a:rPr>
              <a:t>②</a:t>
            </a:r>
            <a:endParaRPr lang="zh-CN" altLang="en-US">
              <a:solidFill>
                <a:srgbClr val="FF0000"/>
              </a:solidFill>
            </a:endParaRPr>
          </a:p>
        </p:txBody>
      </p:sp>
      <p:sp>
        <p:nvSpPr>
          <p:cNvPr id="207" name="文本框 206"/>
          <p:cNvSpPr txBox="1"/>
          <p:nvPr/>
        </p:nvSpPr>
        <p:spPr>
          <a:xfrm>
            <a:off x="2124075" y="5013325"/>
            <a:ext cx="5523230" cy="645160"/>
          </a:xfrm>
          <a:prstGeom prst="rect">
            <a:avLst/>
          </a:prstGeom>
          <a:noFill/>
        </p:spPr>
        <p:txBody>
          <a:bodyPr wrap="square" rtlCol="0" anchor="t">
            <a:spAutoFit/>
          </a:bodyPr>
          <a:p>
            <a:r>
              <a:rPr lang="en-US" altLang="zh-CN">
                <a:solidFill>
                  <a:srgbClr val="000066"/>
                </a:solidFill>
                <a:latin typeface="+mj-ea"/>
                <a:ea typeface="+mj-ea"/>
                <a:sym typeface="+mn-ea"/>
              </a:rPr>
              <a:t>[1,1,2] </a:t>
            </a:r>
            <a:r>
              <a:rPr lang="en-US" altLang="zh-CN">
                <a:solidFill>
                  <a:srgbClr val="000066"/>
                </a:solidFill>
                <a:latin typeface="+mj-ea"/>
                <a:ea typeface="+mj-ea"/>
                <a:sym typeface="+mn-ea"/>
              </a:rPr>
              <a:t>[1,1]  </a:t>
            </a:r>
            <a:r>
              <a:rPr lang="en-US" altLang="zh-CN">
                <a:solidFill>
                  <a:srgbClr val="FF0000"/>
                </a:solidFill>
                <a:latin typeface="+mj-ea"/>
                <a:ea typeface="+mj-ea"/>
                <a:sym typeface="+mn-ea"/>
              </a:rPr>
              <a:t>[1,2]    [1]      [1,2]    [1]</a:t>
            </a:r>
            <a:r>
              <a:rPr lang="en-US" altLang="zh-CN">
                <a:solidFill>
                  <a:srgbClr val="000066"/>
                </a:solidFill>
                <a:latin typeface="+mj-ea"/>
                <a:ea typeface="+mj-ea"/>
                <a:sym typeface="+mn-ea"/>
              </a:rPr>
              <a:t> </a:t>
            </a:r>
            <a:r>
              <a:rPr lang="en-US" altLang="zh-CN">
                <a:solidFill>
                  <a:srgbClr val="000066"/>
                </a:solidFill>
                <a:latin typeface="+mj-ea"/>
                <a:ea typeface="+mj-ea"/>
                <a:sym typeface="+mn-ea"/>
              </a:rPr>
              <a:t>   [2]        [] </a:t>
            </a:r>
            <a:endParaRPr lang="en-US" altLang="zh-CN">
              <a:solidFill>
                <a:srgbClr val="000066"/>
              </a:solidFill>
              <a:latin typeface="+mj-ea"/>
              <a:ea typeface="+mj-ea"/>
              <a:sym typeface="+mn-ea"/>
            </a:endParaRPr>
          </a:p>
          <a:p>
            <a:endParaRPr lang="en-US" altLang="zh-CN">
              <a:solidFill>
                <a:srgbClr val="000066"/>
              </a:solidFill>
              <a:latin typeface="+mj-ea"/>
              <a:ea typeface="+mj-ea"/>
              <a:sym typeface="+mn-ea"/>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a:blip r:embed="rId1"/>
          <a:stretch>
            <a:fillRect/>
          </a:stretch>
        </p:blipFill>
        <p:spPr>
          <a:xfrm>
            <a:off x="1993900" y="1745615"/>
            <a:ext cx="4819650" cy="4048125"/>
          </a:xfrm>
          <a:prstGeom prst="rect">
            <a:avLst/>
          </a:prstGeom>
        </p:spPr>
      </p:pic>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3</a:t>
            </a:r>
            <a:r>
              <a:rPr lang="zh-CN" sz="3600" kern="0" smtClean="0">
                <a:sym typeface="+mn-ea"/>
              </a:rPr>
              <a:t>）</a:t>
            </a:r>
            <a:r>
              <a:rPr lang="zh-CN" altLang="en-US" sz="3600" kern="0" smtClean="0"/>
              <a:t>全排列</a:t>
            </a:r>
            <a:r>
              <a:rPr lang="en-US" altLang="zh-CN" sz="3600" kern="0" smtClean="0"/>
              <a:t>II</a:t>
            </a:r>
            <a:r>
              <a:rPr lang="zh-CN" altLang="en-US" sz="3600" kern="0" smtClean="0"/>
              <a:t>和子集</a:t>
            </a:r>
            <a:r>
              <a:rPr lang="en-US" altLang="zh-CN" sz="3600" kern="0" smtClean="0"/>
              <a:t>II(</a:t>
            </a:r>
            <a:r>
              <a:rPr lang="zh-CN" altLang="en-US" sz="3600" kern="0" smtClean="0"/>
              <a:t>需要对搜索树剪枝</a:t>
            </a:r>
            <a:r>
              <a:rPr lang="en-US" altLang="zh-CN" sz="3600" kern="0" smtClean="0"/>
              <a:t>)</a:t>
            </a:r>
            <a:endParaRPr lang="en-US" altLang="zh-CN"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latin typeface="+mj-ea"/>
                <a:ea typeface="+mj-ea"/>
              </a:rPr>
              <a:t>（</a:t>
            </a:r>
            <a:r>
              <a:rPr lang="en-US" altLang="zh-CN">
                <a:solidFill>
                  <a:srgbClr val="000066"/>
                </a:solidFill>
                <a:latin typeface="+mj-ea"/>
                <a:ea typeface="+mj-ea"/>
              </a:rPr>
              <a:t>2</a:t>
            </a:r>
            <a:r>
              <a:rPr lang="zh-CN">
                <a:solidFill>
                  <a:srgbClr val="000066"/>
                </a:solidFill>
                <a:latin typeface="+mj-ea"/>
                <a:ea typeface="+mj-ea"/>
              </a:rPr>
              <a:t>）观察</a:t>
            </a:r>
            <a:r>
              <a:rPr lang="zh-CN">
                <a:solidFill>
                  <a:srgbClr val="000066"/>
                </a:solidFill>
                <a:latin typeface="+mj-ea"/>
                <a:ea typeface="+mj-ea"/>
              </a:rPr>
              <a:t>子集有重复的剪枝条件</a:t>
            </a:r>
            <a:r>
              <a:rPr lang="en-US" altLang="zh-CN">
                <a:solidFill>
                  <a:srgbClr val="000066"/>
                </a:solidFill>
                <a:latin typeface="+mj-ea"/>
                <a:ea typeface="+mj-ea"/>
              </a:rPr>
              <a:t> </a:t>
            </a:r>
            <a:endParaRPr lang="zh-CN" altLang="en-US">
              <a:solidFill>
                <a:srgbClr val="000066"/>
              </a:solidFill>
              <a:latin typeface="+mj-ea"/>
              <a:ea typeface="+mj-ea"/>
            </a:endParaRPr>
          </a:p>
        </p:txBody>
      </p:sp>
      <p:sp>
        <p:nvSpPr>
          <p:cNvPr id="5" name="矩形 4"/>
          <p:cNvSpPr/>
          <p:nvPr/>
        </p:nvSpPr>
        <p:spPr>
          <a:xfrm>
            <a:off x="2555875" y="4077335"/>
            <a:ext cx="4015740" cy="575945"/>
          </a:xfrm>
          <a:prstGeom prst="rect">
            <a:avLst/>
          </a:prstGeom>
          <a:noFill/>
          <a:ln w="28575" cap="flat" cmpd="sng" algn="ctr">
            <a:solidFill>
              <a:schemeClr val="accent1">
                <a:shade val="50000"/>
              </a:schemeClr>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）问题描述：</a:t>
            </a:r>
            <a:r>
              <a:rPr lang="zh-CN" altLang="en-US">
                <a:solidFill>
                  <a:srgbClr val="000066"/>
                </a:solidFill>
                <a:uFillTx/>
                <a:latin typeface="Times New Roman" panose="02020603050405020304" pitchFamily="18" charset="0"/>
              </a:rPr>
              <a:t>给定两个整数</a:t>
            </a:r>
            <a:r>
              <a:rPr lang="en-US" altLang="zh-CN">
                <a:solidFill>
                  <a:srgbClr val="000066"/>
                </a:solidFill>
                <a:uFillTx/>
                <a:latin typeface="Times New Roman" panose="02020603050405020304" pitchFamily="18" charset="0"/>
              </a:rPr>
              <a:t> n </a:t>
            </a:r>
            <a:r>
              <a:rPr lang="zh-CN" altLang="en-US">
                <a:solidFill>
                  <a:srgbClr val="000066"/>
                </a:solidFill>
                <a:uFillTx/>
                <a:latin typeface="Times New Roman" panose="02020603050405020304" pitchFamily="18" charset="0"/>
              </a:rPr>
              <a:t>和</a:t>
            </a:r>
            <a:r>
              <a:rPr lang="en-US" altLang="zh-CN">
                <a:solidFill>
                  <a:srgbClr val="000066"/>
                </a:solidFill>
                <a:uFillTx/>
                <a:latin typeface="Times New Roman" panose="02020603050405020304" pitchFamily="18" charset="0"/>
              </a:rPr>
              <a:t> k</a:t>
            </a:r>
            <a:r>
              <a:rPr lang="zh-CN" altLang="en-US">
                <a:solidFill>
                  <a:srgbClr val="000066"/>
                </a:solidFill>
                <a:uFillTx/>
                <a:latin typeface="Times New Roman" panose="02020603050405020304" pitchFamily="18" charset="0"/>
              </a:rPr>
              <a:t>，返回范围</a:t>
            </a:r>
            <a:r>
              <a:rPr lang="en-US" altLang="zh-CN">
                <a:solidFill>
                  <a:srgbClr val="000066"/>
                </a:solidFill>
                <a:uFillTx/>
                <a:latin typeface="Times New Roman" panose="02020603050405020304" pitchFamily="18" charset="0"/>
              </a:rPr>
              <a:t> [1, n] </a:t>
            </a:r>
            <a:r>
              <a:rPr lang="zh-CN" altLang="en-US">
                <a:solidFill>
                  <a:srgbClr val="000066"/>
                </a:solidFill>
                <a:uFillTx/>
                <a:latin typeface="Times New Roman" panose="02020603050405020304" pitchFamily="18" charset="0"/>
              </a:rPr>
              <a:t>中所有可能的</a:t>
            </a:r>
            <a:r>
              <a:rPr lang="en-US" altLang="zh-CN">
                <a:solidFill>
                  <a:srgbClr val="000066"/>
                </a:solidFill>
                <a:uFillTx/>
                <a:latin typeface="Times New Roman" panose="02020603050405020304" pitchFamily="18" charset="0"/>
              </a:rPr>
              <a:t> k </a:t>
            </a:r>
            <a:r>
              <a:rPr lang="zh-CN" altLang="en-US">
                <a:solidFill>
                  <a:srgbClr val="000066"/>
                </a:solidFill>
                <a:uFillTx/>
                <a:latin typeface="Times New Roman" panose="02020603050405020304" pitchFamily="18" charset="0"/>
              </a:rPr>
              <a:t>个数的组合。</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grpSp>
        <p:nvGrpSpPr>
          <p:cNvPr id="120" name="组合 119"/>
          <p:cNvGrpSpPr/>
          <p:nvPr/>
        </p:nvGrpSpPr>
        <p:grpSpPr>
          <a:xfrm rot="0">
            <a:off x="3889375" y="2492375"/>
            <a:ext cx="646430" cy="581660"/>
            <a:chOff x="10489" y="3359"/>
            <a:chExt cx="1018" cy="916"/>
          </a:xfrm>
        </p:grpSpPr>
        <p:sp>
          <p:nvSpPr>
            <p:cNvPr id="121" name="椭圆 120"/>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2" name="文本框 121"/>
            <p:cNvSpPr txBox="1"/>
            <p:nvPr/>
          </p:nvSpPr>
          <p:spPr>
            <a:xfrm>
              <a:off x="10602" y="3586"/>
              <a:ext cx="874" cy="552"/>
            </a:xfrm>
            <a:prstGeom prst="rect">
              <a:avLst/>
            </a:prstGeom>
            <a:noFill/>
          </p:spPr>
          <p:txBody>
            <a:bodyPr>
              <a:noAutofit/>
            </a:bodyPr>
            <a:p>
              <a:pPr>
                <a:defRPr/>
              </a:pPr>
              <a:r>
                <a:rPr lang="en-US" sz="1400">
                  <a:solidFill>
                    <a:srgbClr val="000066"/>
                  </a:solidFill>
                  <a:latin typeface="+mj-ea"/>
                  <a:ea typeface="+mj-ea"/>
                </a:rPr>
                <a:t>start</a:t>
              </a:r>
              <a:endParaRPr lang="en-US" sz="1400">
                <a:solidFill>
                  <a:srgbClr val="000066"/>
                </a:solidFill>
                <a:latin typeface="+mj-ea"/>
                <a:ea typeface="+mj-ea"/>
              </a:endParaRPr>
            </a:p>
          </p:txBody>
        </p:sp>
      </p:grpSp>
      <p:grpSp>
        <p:nvGrpSpPr>
          <p:cNvPr id="123" name="组合 122"/>
          <p:cNvGrpSpPr/>
          <p:nvPr/>
        </p:nvGrpSpPr>
        <p:grpSpPr>
          <a:xfrm rot="0">
            <a:off x="2575560" y="3500755"/>
            <a:ext cx="646430" cy="582295"/>
            <a:chOff x="10489" y="3359"/>
            <a:chExt cx="1018" cy="917"/>
          </a:xfrm>
        </p:grpSpPr>
        <p:sp>
          <p:nvSpPr>
            <p:cNvPr id="124" name="椭圆 123"/>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5" name="文本框 124"/>
            <p:cNvSpPr txBox="1"/>
            <p:nvPr/>
          </p:nvSpPr>
          <p:spPr>
            <a:xfrm>
              <a:off x="10521" y="3585"/>
              <a:ext cx="874" cy="552"/>
            </a:xfrm>
            <a:prstGeom prst="rect">
              <a:avLst/>
            </a:prstGeom>
            <a:noFill/>
          </p:spPr>
          <p:txBody>
            <a:bodyPr>
              <a:noAutofit/>
            </a:bodyPr>
            <a:p>
              <a:pPr algn="ctr">
                <a:defRPr/>
              </a:pPr>
              <a:r>
                <a:rPr lang="en-US" sz="1400">
                  <a:solidFill>
                    <a:srgbClr val="000066"/>
                  </a:solidFill>
                  <a:latin typeface="+mj-ea"/>
                  <a:ea typeface="+mj-ea"/>
                </a:rPr>
                <a:t>1</a:t>
              </a:r>
              <a:endParaRPr lang="en-US" sz="1400">
                <a:solidFill>
                  <a:srgbClr val="000066"/>
                </a:solidFill>
                <a:latin typeface="+mj-ea"/>
                <a:ea typeface="+mj-ea"/>
              </a:endParaRPr>
            </a:p>
          </p:txBody>
        </p:sp>
      </p:grpSp>
      <p:grpSp>
        <p:nvGrpSpPr>
          <p:cNvPr id="126" name="组合 125"/>
          <p:cNvGrpSpPr/>
          <p:nvPr/>
        </p:nvGrpSpPr>
        <p:grpSpPr>
          <a:xfrm rot="0">
            <a:off x="3491865" y="3500120"/>
            <a:ext cx="646430" cy="581660"/>
            <a:chOff x="10489" y="3359"/>
            <a:chExt cx="1018" cy="916"/>
          </a:xfrm>
        </p:grpSpPr>
        <p:sp>
          <p:nvSpPr>
            <p:cNvPr id="127" name="椭圆 126"/>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8" name="文本框 127"/>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2</a:t>
              </a:r>
              <a:endParaRPr lang="en-US" sz="1400">
                <a:solidFill>
                  <a:srgbClr val="000066"/>
                </a:solidFill>
                <a:latin typeface="+mj-ea"/>
                <a:ea typeface="+mj-ea"/>
              </a:endParaRPr>
            </a:p>
          </p:txBody>
        </p:sp>
      </p:grpSp>
      <p:cxnSp>
        <p:nvCxnSpPr>
          <p:cNvPr id="129" name="曲线连接符 128"/>
          <p:cNvCxnSpPr/>
          <p:nvPr/>
        </p:nvCxnSpPr>
        <p:spPr>
          <a:xfrm rot="5400000">
            <a:off x="3342640" y="2630170"/>
            <a:ext cx="426085" cy="1313815"/>
          </a:xfrm>
          <a:prstGeom prst="curvedConnector3">
            <a:avLst>
              <a:gd name="adj1" fmla="val 50075"/>
            </a:avLst>
          </a:prstGeom>
          <a:solidFill>
            <a:schemeClr val="accent1"/>
          </a:solidFill>
          <a:ln w="9525" cap="flat" cmpd="sng" algn="ctr">
            <a:solidFill>
              <a:schemeClr val="tx1"/>
            </a:solidFill>
            <a:prstDash val="solid"/>
            <a:round/>
            <a:headEnd type="none" w="med" len="med"/>
            <a:tailEnd type="arrow" w="med" len="med"/>
          </a:ln>
        </p:spPr>
      </p:cxnSp>
      <p:cxnSp>
        <p:nvCxnSpPr>
          <p:cNvPr id="130" name="曲线连接符 129"/>
          <p:cNvCxnSpPr/>
          <p:nvPr/>
        </p:nvCxnSpPr>
        <p:spPr>
          <a:xfrm rot="5400000">
            <a:off x="3801110" y="3088640"/>
            <a:ext cx="425450" cy="39751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3" name="曲线连接符 142"/>
          <p:cNvCxnSpPr>
            <a:endCxn id="135" idx="0"/>
          </p:cNvCxnSpPr>
          <p:nvPr/>
        </p:nvCxnSpPr>
        <p:spPr>
          <a:xfrm rot="5400000">
            <a:off x="2225675" y="3729990"/>
            <a:ext cx="320675" cy="1025525"/>
          </a:xfrm>
          <a:prstGeom prst="curvedConnector3">
            <a:avLst>
              <a:gd name="adj1" fmla="val 50099"/>
            </a:avLst>
          </a:prstGeom>
          <a:solidFill>
            <a:schemeClr val="accent1"/>
          </a:solidFill>
          <a:ln w="9525" cap="flat" cmpd="sng" algn="ctr">
            <a:solidFill>
              <a:schemeClr val="tx1"/>
            </a:solidFill>
            <a:prstDash val="solid"/>
            <a:round/>
            <a:headEnd type="none" w="med" len="med"/>
            <a:tailEnd type="arrow" w="med" len="med"/>
          </a:ln>
        </p:spPr>
      </p:cxnSp>
      <p:cxnSp>
        <p:nvCxnSpPr>
          <p:cNvPr id="144" name="曲线连接符 143"/>
          <p:cNvCxnSpPr>
            <a:endCxn id="15" idx="0"/>
          </p:cNvCxnSpPr>
          <p:nvPr/>
        </p:nvCxnSpPr>
        <p:spPr>
          <a:xfrm rot="5400000">
            <a:off x="2522538" y="4027488"/>
            <a:ext cx="320675" cy="43180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5" name="曲线连接符 144"/>
          <p:cNvCxnSpPr/>
          <p:nvPr/>
        </p:nvCxnSpPr>
        <p:spPr>
          <a:xfrm rot="5400000" flipV="1">
            <a:off x="4806950" y="4161155"/>
            <a:ext cx="389255" cy="230505"/>
          </a:xfrm>
          <a:prstGeom prst="curvedConnector3">
            <a:avLst>
              <a:gd name="adj1" fmla="val 50082"/>
            </a:avLst>
          </a:prstGeom>
          <a:solidFill>
            <a:schemeClr val="accent1"/>
          </a:solidFill>
          <a:ln w="9525" cap="flat" cmpd="sng" algn="ctr">
            <a:solidFill>
              <a:schemeClr val="tx1"/>
            </a:solidFill>
            <a:prstDash val="solid"/>
            <a:round/>
            <a:headEnd type="none" w="med" len="med"/>
            <a:tailEnd type="arrow" w="med" len="med"/>
          </a:ln>
        </p:spPr>
      </p:cxnSp>
      <p:sp>
        <p:nvSpPr>
          <p:cNvPr id="135" name="椭圆 134"/>
          <p:cNvSpPr/>
          <p:nvPr/>
        </p:nvSpPr>
        <p:spPr>
          <a:xfrm>
            <a:off x="170243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7" name="文本框 156"/>
          <p:cNvSpPr txBox="1"/>
          <p:nvPr/>
        </p:nvSpPr>
        <p:spPr>
          <a:xfrm>
            <a:off x="1134110" y="3721100"/>
            <a:ext cx="669925" cy="368300"/>
          </a:xfrm>
          <a:prstGeom prst="rect">
            <a:avLst/>
          </a:prstGeom>
          <a:noFill/>
        </p:spPr>
        <p:txBody>
          <a:bodyPr wrap="square" rtlCol="0">
            <a:spAutoFit/>
          </a:bodyPr>
          <a:p>
            <a:r>
              <a:rPr lang="zh-CN" altLang="en-US"/>
              <a:t>①</a:t>
            </a:r>
            <a:r>
              <a:rPr lang="en-US" altLang="zh-CN"/>
              <a:t> </a:t>
            </a:r>
            <a:endParaRPr lang="en-US" altLang="zh-CN"/>
          </a:p>
        </p:txBody>
      </p:sp>
      <p:sp>
        <p:nvSpPr>
          <p:cNvPr id="160" name="文本框 159"/>
          <p:cNvSpPr txBox="1"/>
          <p:nvPr/>
        </p:nvSpPr>
        <p:spPr>
          <a:xfrm>
            <a:off x="539750" y="4415790"/>
            <a:ext cx="669925" cy="368300"/>
          </a:xfrm>
          <a:prstGeom prst="rect">
            <a:avLst/>
          </a:prstGeom>
          <a:noFill/>
        </p:spPr>
        <p:txBody>
          <a:bodyPr wrap="square" rtlCol="0">
            <a:spAutoFit/>
          </a:bodyPr>
          <a:p>
            <a:r>
              <a:rPr lang="zh-CN" altLang="en-US"/>
              <a:t>②</a:t>
            </a:r>
            <a:r>
              <a:rPr lang="en-US" altLang="zh-CN"/>
              <a:t> </a:t>
            </a:r>
            <a:endParaRPr lang="en-US" altLang="zh-CN"/>
          </a:p>
        </p:txBody>
      </p:sp>
      <p:grpSp>
        <p:nvGrpSpPr>
          <p:cNvPr id="164" name="组合 163"/>
          <p:cNvGrpSpPr/>
          <p:nvPr/>
        </p:nvGrpSpPr>
        <p:grpSpPr>
          <a:xfrm rot="0">
            <a:off x="4925060" y="4438015"/>
            <a:ext cx="341630" cy="342265"/>
            <a:chOff x="10489" y="3359"/>
            <a:chExt cx="1018" cy="917"/>
          </a:xfrm>
        </p:grpSpPr>
        <p:sp>
          <p:nvSpPr>
            <p:cNvPr id="165" name="椭圆 16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6" name="文本框 165"/>
            <p:cNvSpPr txBox="1"/>
            <p:nvPr/>
          </p:nvSpPr>
          <p:spPr>
            <a:xfrm>
              <a:off x="10602" y="3479"/>
              <a:ext cx="874" cy="552"/>
            </a:xfrm>
            <a:prstGeom prst="rect">
              <a:avLst/>
            </a:prstGeom>
            <a:noFill/>
          </p:spPr>
          <p:txBody>
            <a:bodyPr>
              <a:noAutofit/>
            </a:bodyPr>
            <a:p>
              <a:pPr algn="ctr">
                <a:defRPr/>
              </a:pPr>
              <a:r>
                <a:rPr lang="en-US" sz="1800">
                  <a:solidFill>
                    <a:srgbClr val="000066"/>
                  </a:solidFill>
                  <a:latin typeface="Times New Roman" panose="02020603050405020304" pitchFamily="18" charset="0"/>
                  <a:ea typeface="+mj-ea"/>
                  <a:cs typeface="Times New Roman" panose="02020603050405020304" pitchFamily="18" charset="0"/>
                </a:rPr>
                <a:t>4</a:t>
              </a:r>
              <a:endParaRPr lang="en-US" sz="1800">
                <a:solidFill>
                  <a:srgbClr val="000066"/>
                </a:solidFill>
                <a:latin typeface="Times New Roman" panose="02020603050405020304" pitchFamily="18" charset="0"/>
                <a:ea typeface="+mj-ea"/>
                <a:cs typeface="Times New Roman" panose="02020603050405020304" pitchFamily="18" charset="0"/>
              </a:endParaRPr>
            </a:p>
          </p:txBody>
        </p:sp>
      </p:grpSp>
      <p:sp>
        <p:nvSpPr>
          <p:cNvPr id="207" name="文本框 206"/>
          <p:cNvSpPr txBox="1"/>
          <p:nvPr/>
        </p:nvSpPr>
        <p:spPr>
          <a:xfrm>
            <a:off x="1619885" y="4826000"/>
            <a:ext cx="5189220" cy="450850"/>
          </a:xfrm>
          <a:prstGeom prst="rect">
            <a:avLst/>
          </a:prstGeom>
          <a:noFill/>
        </p:spPr>
        <p:txBody>
          <a:bodyPr wrap="square" rtlCol="0" anchor="t">
            <a:noAutofit/>
          </a:bodyPr>
          <a:p>
            <a:r>
              <a:rPr lang="en-US" altLang="zh-CN">
                <a:solidFill>
                  <a:schemeClr val="tx1"/>
                </a:solidFill>
                <a:latin typeface="Times New Roman" panose="02020603050405020304" pitchFamily="18" charset="0"/>
                <a:sym typeface="+mn-ea"/>
              </a:rPr>
              <a:t>[1,2]  [1,3]   [1,3]   [2,3]    [2,4]      [3,4]       </a:t>
            </a:r>
            <a:endParaRPr lang="en-US" altLang="zh-CN">
              <a:solidFill>
                <a:schemeClr val="tx1"/>
              </a:solidFill>
              <a:latin typeface="Times New Roman" panose="02020603050405020304" pitchFamily="18" charset="0"/>
              <a:sym typeface="+mn-ea"/>
            </a:endParaRPr>
          </a:p>
          <a:p>
            <a:endParaRPr lang="en-US" altLang="zh-CN">
              <a:solidFill>
                <a:schemeClr val="tx1"/>
              </a:solidFill>
              <a:latin typeface="Times New Roman" panose="02020603050405020304" pitchFamily="18" charset="0"/>
              <a:sym typeface="+mn-ea"/>
            </a:endParaRPr>
          </a:p>
        </p:txBody>
      </p:sp>
      <p:sp>
        <p:nvSpPr>
          <p:cNvPr id="3" name="文本框 2"/>
          <p:cNvSpPr txBox="1"/>
          <p:nvPr/>
        </p:nvSpPr>
        <p:spPr>
          <a:xfrm>
            <a:off x="1115695" y="1772285"/>
            <a:ext cx="7971790" cy="431165"/>
          </a:xfrm>
          <a:prstGeom prst="rect">
            <a:avLst/>
          </a:prstGeom>
          <a:noFill/>
        </p:spPr>
        <p:txBody>
          <a:bodyPr>
            <a:noAutofit/>
          </a:bodyPr>
          <a:p>
            <a:pPr>
              <a:defRPr/>
            </a:pPr>
            <a:r>
              <a:rPr lang="zh-CN" altLang="en-US">
                <a:solidFill>
                  <a:srgbClr val="000066"/>
                </a:solidFill>
                <a:uFillTx/>
                <a:latin typeface="Times New Roman" panose="02020603050405020304" pitchFamily="18" charset="0"/>
              </a:rPr>
              <a:t>例如：输入：</a:t>
            </a:r>
            <a:r>
              <a:rPr lang="en-US" altLang="zh-CN">
                <a:solidFill>
                  <a:srgbClr val="000066"/>
                </a:solidFill>
                <a:uFillTx/>
                <a:latin typeface="Times New Roman" panose="02020603050405020304" pitchFamily="18" charset="0"/>
              </a:rPr>
              <a:t>n = 4, k = 2</a:t>
            </a:r>
            <a:r>
              <a:rPr lang="zh-CN" altLang="en-US">
                <a:solidFill>
                  <a:srgbClr val="000066"/>
                </a:solidFill>
                <a:uFillTx/>
                <a:latin typeface="Times New Roman" panose="02020603050405020304" pitchFamily="18" charset="0"/>
              </a:rPr>
              <a:t>输出：</a:t>
            </a:r>
            <a:r>
              <a:rPr lang="en-US" altLang="zh-CN">
                <a:solidFill>
                  <a:srgbClr val="000066"/>
                </a:solidFill>
                <a:uFillTx/>
                <a:latin typeface="Times New Roman" panose="02020603050405020304" pitchFamily="18" charset="0"/>
              </a:rPr>
              <a:t>[[2,4],[3,4],[2,3],[1,2],[1,3],[1,4],]</a:t>
            </a:r>
            <a:endParaRPr lang="en-US" altLang="zh-CN">
              <a:solidFill>
                <a:srgbClr val="000066"/>
              </a:solidFill>
              <a:uFillTx/>
              <a:latin typeface="Times New Roman" panose="02020603050405020304" pitchFamily="18" charset="0"/>
            </a:endParaRPr>
          </a:p>
        </p:txBody>
      </p:sp>
      <p:grpSp>
        <p:nvGrpSpPr>
          <p:cNvPr id="2" name="组合 1"/>
          <p:cNvGrpSpPr/>
          <p:nvPr/>
        </p:nvGrpSpPr>
        <p:grpSpPr>
          <a:xfrm rot="0">
            <a:off x="4500245" y="3506470"/>
            <a:ext cx="646430" cy="581660"/>
            <a:chOff x="10489" y="3359"/>
            <a:chExt cx="1018" cy="916"/>
          </a:xfrm>
        </p:grpSpPr>
        <p:sp>
          <p:nvSpPr>
            <p:cNvPr id="5" name="椭圆 4"/>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 name="文本框 6"/>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3</a:t>
              </a:r>
              <a:endParaRPr lang="en-US" sz="1400">
                <a:solidFill>
                  <a:srgbClr val="000066"/>
                </a:solidFill>
                <a:latin typeface="+mj-ea"/>
                <a:ea typeface="+mj-ea"/>
              </a:endParaRPr>
            </a:p>
          </p:txBody>
        </p:sp>
      </p:grpSp>
      <p:grpSp>
        <p:nvGrpSpPr>
          <p:cNvPr id="9" name="组合 8"/>
          <p:cNvGrpSpPr/>
          <p:nvPr/>
        </p:nvGrpSpPr>
        <p:grpSpPr>
          <a:xfrm rot="0">
            <a:off x="5436235" y="3507105"/>
            <a:ext cx="646430" cy="581660"/>
            <a:chOff x="10489" y="3359"/>
            <a:chExt cx="1018" cy="916"/>
          </a:xfrm>
        </p:grpSpPr>
        <p:sp>
          <p:nvSpPr>
            <p:cNvPr id="10" name="椭圆 9"/>
            <p:cNvSpPr/>
            <p:nvPr/>
          </p:nvSpPr>
          <p:spPr>
            <a:xfrm>
              <a:off x="10489" y="3359"/>
              <a:ext cx="1018" cy="917"/>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文本框 11"/>
            <p:cNvSpPr txBox="1"/>
            <p:nvPr/>
          </p:nvSpPr>
          <p:spPr>
            <a:xfrm>
              <a:off x="10602" y="3586"/>
              <a:ext cx="874" cy="552"/>
            </a:xfrm>
            <a:prstGeom prst="rect">
              <a:avLst/>
            </a:prstGeom>
            <a:noFill/>
          </p:spPr>
          <p:txBody>
            <a:bodyPr>
              <a:noAutofit/>
            </a:bodyPr>
            <a:p>
              <a:pPr algn="ctr">
                <a:defRPr/>
              </a:pPr>
              <a:r>
                <a:rPr lang="en-US" sz="1400">
                  <a:solidFill>
                    <a:srgbClr val="000066"/>
                  </a:solidFill>
                  <a:latin typeface="+mj-ea"/>
                  <a:ea typeface="+mj-ea"/>
                </a:rPr>
                <a:t>4</a:t>
              </a:r>
              <a:endParaRPr lang="en-US" sz="1400">
                <a:solidFill>
                  <a:srgbClr val="000066"/>
                </a:solidFill>
                <a:latin typeface="+mj-ea"/>
                <a:ea typeface="+mj-ea"/>
              </a:endParaRPr>
            </a:p>
          </p:txBody>
        </p:sp>
      </p:grpSp>
      <p:cxnSp>
        <p:nvCxnSpPr>
          <p:cNvPr id="13" name="曲线连接符 12"/>
          <p:cNvCxnSpPr/>
          <p:nvPr/>
        </p:nvCxnSpPr>
        <p:spPr>
          <a:xfrm rot="5400000" flipV="1">
            <a:off x="4302125" y="2985135"/>
            <a:ext cx="431800" cy="61087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cxnSp>
        <p:nvCxnSpPr>
          <p:cNvPr id="14" name="曲线连接符 13"/>
          <p:cNvCxnSpPr/>
          <p:nvPr/>
        </p:nvCxnSpPr>
        <p:spPr>
          <a:xfrm rot="5400000" flipV="1">
            <a:off x="4770120" y="2517140"/>
            <a:ext cx="432435" cy="154686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15" name="椭圆 14"/>
          <p:cNvSpPr/>
          <p:nvPr/>
        </p:nvSpPr>
        <p:spPr>
          <a:xfrm>
            <a:off x="2296160"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椭圆 15"/>
          <p:cNvSpPr/>
          <p:nvPr/>
        </p:nvSpPr>
        <p:spPr>
          <a:xfrm>
            <a:off x="2869565"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7" name="曲线连接符 16"/>
          <p:cNvCxnSpPr>
            <a:endCxn id="16" idx="0"/>
          </p:cNvCxnSpPr>
          <p:nvPr/>
        </p:nvCxnSpPr>
        <p:spPr>
          <a:xfrm rot="5400000" flipV="1">
            <a:off x="2800668" y="4181158"/>
            <a:ext cx="337820" cy="141605"/>
          </a:xfrm>
          <a:prstGeom prst="curvedConnector3">
            <a:avLst>
              <a:gd name="adj1" fmla="val 49906"/>
            </a:avLst>
          </a:prstGeom>
          <a:solidFill>
            <a:schemeClr val="accent1"/>
          </a:solidFill>
          <a:ln w="9525" cap="flat" cmpd="sng" algn="ctr">
            <a:solidFill>
              <a:schemeClr val="tx1"/>
            </a:solidFill>
            <a:prstDash val="solid"/>
            <a:round/>
            <a:headEnd type="none" w="med" len="med"/>
            <a:tailEnd type="arrow" w="med" len="med"/>
          </a:ln>
        </p:spPr>
      </p:cxnSp>
      <p:cxnSp>
        <p:nvCxnSpPr>
          <p:cNvPr id="20" name="曲线连接符 19"/>
          <p:cNvCxnSpPr>
            <a:endCxn id="21" idx="0"/>
          </p:cNvCxnSpPr>
          <p:nvPr/>
        </p:nvCxnSpPr>
        <p:spPr>
          <a:xfrm rot="5400000">
            <a:off x="3515995" y="4121150"/>
            <a:ext cx="338455" cy="259715"/>
          </a:xfrm>
          <a:prstGeom prst="curvedConnector3">
            <a:avLst>
              <a:gd name="adj1" fmla="val 50094"/>
            </a:avLst>
          </a:prstGeom>
          <a:solidFill>
            <a:schemeClr val="accent1"/>
          </a:solidFill>
          <a:ln w="9525" cap="flat" cmpd="sng" algn="ctr">
            <a:solidFill>
              <a:schemeClr val="tx1"/>
            </a:solidFill>
            <a:prstDash val="solid"/>
            <a:round/>
            <a:headEnd type="none" w="med" len="med"/>
            <a:tailEnd type="arrow" w="med" len="med"/>
          </a:ln>
        </p:spPr>
      </p:cxnSp>
      <p:sp>
        <p:nvSpPr>
          <p:cNvPr id="21" name="椭圆 20"/>
          <p:cNvSpPr/>
          <p:nvPr/>
        </p:nvSpPr>
        <p:spPr>
          <a:xfrm>
            <a:off x="3384550" y="4420870"/>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2" name="曲线连接符 21"/>
          <p:cNvCxnSpPr>
            <a:endCxn id="23" idx="0"/>
          </p:cNvCxnSpPr>
          <p:nvPr/>
        </p:nvCxnSpPr>
        <p:spPr>
          <a:xfrm rot="5400000" flipV="1">
            <a:off x="3830320" y="4067175"/>
            <a:ext cx="321310" cy="351790"/>
          </a:xfrm>
          <a:prstGeom prst="curvedConnector3">
            <a:avLst>
              <a:gd name="adj1" fmla="val 50000"/>
            </a:avLst>
          </a:prstGeom>
          <a:solidFill>
            <a:schemeClr val="accent1"/>
          </a:solidFill>
          <a:ln w="9525" cap="flat" cmpd="sng" algn="ctr">
            <a:solidFill>
              <a:schemeClr val="tx1"/>
            </a:solidFill>
            <a:prstDash val="solid"/>
            <a:round/>
            <a:headEnd type="none" w="med" len="med"/>
            <a:tailEnd type="arrow" w="med" len="med"/>
          </a:ln>
        </p:spPr>
      </p:cxnSp>
      <p:sp>
        <p:nvSpPr>
          <p:cNvPr id="23" name="椭圆 22"/>
          <p:cNvSpPr/>
          <p:nvPr/>
        </p:nvSpPr>
        <p:spPr>
          <a:xfrm>
            <a:off x="3996055" y="4403725"/>
            <a:ext cx="341630" cy="342265"/>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4</a:t>
            </a:r>
            <a:endParaRPr kumimoji="0" lang="en-US" altLang="zh-CN" sz="1800" b="0"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24" name="直接连接符 23"/>
          <p:cNvCxnSpPr/>
          <p:nvPr/>
        </p:nvCxnSpPr>
        <p:spPr>
          <a:xfrm>
            <a:off x="1139825" y="4145915"/>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cxnSp>
        <p:nvCxnSpPr>
          <p:cNvPr id="25" name="直接连接符 24"/>
          <p:cNvCxnSpPr/>
          <p:nvPr/>
        </p:nvCxnSpPr>
        <p:spPr>
          <a:xfrm>
            <a:off x="1187450" y="4822190"/>
            <a:ext cx="5448935" cy="0"/>
          </a:xfrm>
          <a:prstGeom prst="line">
            <a:avLst/>
          </a:prstGeom>
          <a:ln>
            <a:solidFill>
              <a:srgbClr val="FF0000"/>
            </a:solidFill>
            <a:headEnd type="none" w="med" len="med"/>
            <a:tailEnd type="none" w="med" len="med"/>
          </a:ln>
        </p:spPr>
        <p:style>
          <a:lnRef idx="3">
            <a:schemeClr val="accent1"/>
          </a:lnRef>
          <a:fillRef idx="0">
            <a:srgbClr val="FFFFFF"/>
          </a:fillRef>
          <a:effectRef idx="0">
            <a:srgbClr val="FFFFFF"/>
          </a:effectRef>
          <a:fontRef idx="minor">
            <a:schemeClr val="tx1"/>
          </a:fontRef>
        </p:style>
      </p:cxn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188595" y="367030"/>
            <a:ext cx="848741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sz="3600" kern="0" smtClean="0">
                <a:sym typeface="+mn-ea"/>
              </a:rPr>
              <a:t>（</a:t>
            </a:r>
            <a:r>
              <a:rPr lang="en-US" altLang="zh-CN" sz="3600" kern="0" smtClean="0">
                <a:sym typeface="+mn-ea"/>
              </a:rPr>
              <a:t>4</a:t>
            </a:r>
            <a:r>
              <a:rPr lang="zh-CN" sz="3600" kern="0" smtClean="0">
                <a:sym typeface="+mn-ea"/>
              </a:rPr>
              <a:t>）</a:t>
            </a:r>
            <a:r>
              <a:rPr lang="zh-CN" altLang="en-US" sz="3600" kern="0" smtClean="0"/>
              <a:t>组合问题</a:t>
            </a:r>
            <a:endParaRPr lang="en-US" altLang="zh-CN" sz="3600" kern="0" smtClean="0"/>
          </a:p>
        </p:txBody>
      </p:sp>
      <p:sp>
        <p:nvSpPr>
          <p:cNvPr id="81" name="文本框 80"/>
          <p:cNvSpPr txBox="1"/>
          <p:nvPr/>
        </p:nvSpPr>
        <p:spPr>
          <a:xfrm>
            <a:off x="427990" y="1489075"/>
            <a:ext cx="7971790" cy="380365"/>
          </a:xfrm>
          <a:prstGeom prst="rect">
            <a:avLst/>
          </a:prstGeom>
          <a:noFill/>
        </p:spPr>
        <p:txBody>
          <a:bodyPr>
            <a:noAutofit/>
          </a:bodyPr>
          <a:p>
            <a:pPr>
              <a:defRPr/>
            </a:pPr>
            <a:r>
              <a:rPr lang="zh-CN" sz="1800">
                <a:solidFill>
                  <a:srgbClr val="000066"/>
                </a:solidFill>
                <a:uFillTx/>
                <a:latin typeface="Times New Roman" panose="02020603050405020304" pitchFamily="18" charset="0"/>
              </a:rPr>
              <a:t>代码</a:t>
            </a:r>
            <a:r>
              <a:rPr lang="zh-CN" sz="1800">
                <a:solidFill>
                  <a:srgbClr val="000066"/>
                </a:solidFill>
                <a:uFillTx/>
                <a:latin typeface="Times New Roman" panose="02020603050405020304" pitchFamily="18" charset="0"/>
              </a:rPr>
              <a:t>实现：</a:t>
            </a:r>
            <a:endParaRPr lang="en-US" altLang="zh-CN" sz="1800">
              <a:solidFill>
                <a:srgbClr val="000066"/>
              </a:solidFill>
              <a:uFillTx/>
              <a:latin typeface="Times New Roman" panose="02020603050405020304" pitchFamily="18" charset="0"/>
            </a:endParaRPr>
          </a:p>
        </p:txBody>
      </p:sp>
      <p:pic>
        <p:nvPicPr>
          <p:cNvPr id="8" name="图片 7"/>
          <p:cNvPicPr>
            <a:picLocks noChangeAspect="1"/>
          </p:cNvPicPr>
          <p:nvPr/>
        </p:nvPicPr>
        <p:blipFill>
          <a:blip r:embed="rId1"/>
          <a:stretch>
            <a:fillRect/>
          </a:stretch>
        </p:blipFill>
        <p:spPr>
          <a:xfrm>
            <a:off x="2114550" y="2085975"/>
            <a:ext cx="4914900" cy="26860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11" name="Rectangle 2"/>
          <p:cNvSpPr txBox="1">
            <a:spLocks noChangeArrowheads="1"/>
          </p:cNvSpPr>
          <p:nvPr/>
        </p:nvSpPr>
        <p:spPr bwMode="auto">
          <a:xfrm>
            <a:off x="395605" y="367030"/>
            <a:ext cx="8280400" cy="1122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lgn="l" rtl="0" eaLnBrk="0" fontAlgn="base" hangingPunct="0">
              <a:spcBef>
                <a:spcPct val="0"/>
              </a:spcBef>
              <a:spcAft>
                <a:spcPct val="0"/>
              </a:spcAft>
              <a:defRPr sz="4400">
                <a:solidFill>
                  <a:srgbClr val="333399"/>
                </a:solidFill>
                <a:latin typeface="+mj-lt"/>
                <a:ea typeface="+mj-ea"/>
                <a:cs typeface="+mj-cs"/>
              </a:defRPr>
            </a:lvl1pPr>
            <a:lvl2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2pPr>
            <a:lvl3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3pPr>
            <a:lvl4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4pPr>
            <a:lvl5pPr algn="l" rtl="0" eaLnBrk="0" fontAlgn="base" hangingPunct="0">
              <a:spcBef>
                <a:spcPct val="0"/>
              </a:spcBef>
              <a:spcAft>
                <a:spcPct val="0"/>
              </a:spcAft>
              <a:defRPr sz="4400">
                <a:solidFill>
                  <a:srgbClr val="333399"/>
                </a:solidFill>
                <a:latin typeface="Arial" panose="020B0604020202020204" pitchFamily="34" charset="0"/>
                <a:ea typeface="黑体" panose="02010609060101010101" charset="-122"/>
              </a:defRPr>
            </a:lvl5pPr>
            <a:lvl6pPr marL="4572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6pPr>
            <a:lvl7pPr marL="9144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7pPr>
            <a:lvl8pPr marL="13716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8pPr>
            <a:lvl9pPr marL="1828800" algn="l" rtl="0" fontAlgn="base">
              <a:spcBef>
                <a:spcPct val="0"/>
              </a:spcBef>
              <a:spcAft>
                <a:spcPct val="0"/>
              </a:spcAft>
              <a:defRPr sz="4400">
                <a:solidFill>
                  <a:srgbClr val="333399"/>
                </a:solidFill>
                <a:latin typeface="Arial" panose="020B0604020202020204" pitchFamily="34" charset="0"/>
                <a:ea typeface="黑体" panose="02010609060101010101" charset="-122"/>
              </a:defRPr>
            </a:lvl9pPr>
          </a:lstStyle>
          <a:p>
            <a:pPr eaLnBrk="1" hangingPunct="1">
              <a:buFont typeface="Wingdings" panose="05000000000000000000" pitchFamily="2" charset="2"/>
              <a:buNone/>
              <a:defRPr/>
            </a:pPr>
            <a:r>
              <a:rPr lang="zh-CN" altLang="en-US" sz="3600" kern="0" smtClean="0"/>
              <a:t>总结</a:t>
            </a:r>
            <a:endParaRPr lang="zh-CN" altLang="en-US" sz="3600" kern="0" smtClean="0"/>
          </a:p>
        </p:txBody>
      </p:sp>
      <p:sp>
        <p:nvSpPr>
          <p:cNvPr id="81" name="文本框 80"/>
          <p:cNvSpPr txBox="1"/>
          <p:nvPr/>
        </p:nvSpPr>
        <p:spPr>
          <a:xfrm>
            <a:off x="42799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1</a:t>
            </a:r>
            <a:r>
              <a:rPr lang="zh-CN">
                <a:solidFill>
                  <a:srgbClr val="000066"/>
                </a:solidFill>
                <a:uFillTx/>
                <a:latin typeface="Times New Roman" panose="02020603050405020304" pitchFamily="18" charset="0"/>
              </a:rPr>
              <a:t>）回溯模板</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3" name="图片 2"/>
          <p:cNvPicPr>
            <a:picLocks noChangeAspect="1"/>
          </p:cNvPicPr>
          <p:nvPr/>
        </p:nvPicPr>
        <p:blipFill>
          <a:blip r:embed="rId1"/>
          <a:stretch>
            <a:fillRect/>
          </a:stretch>
        </p:blipFill>
        <p:spPr>
          <a:xfrm>
            <a:off x="899795" y="2132965"/>
            <a:ext cx="3381375" cy="3076575"/>
          </a:xfrm>
          <a:prstGeom prst="rect">
            <a:avLst/>
          </a:prstGeom>
        </p:spPr>
      </p:pic>
      <p:sp>
        <p:nvSpPr>
          <p:cNvPr id="6" name="文本框 5"/>
          <p:cNvSpPr txBox="1"/>
          <p:nvPr/>
        </p:nvSpPr>
        <p:spPr>
          <a:xfrm>
            <a:off x="4140200" y="1489075"/>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2</a:t>
            </a:r>
            <a:r>
              <a:rPr lang="zh-CN">
                <a:solidFill>
                  <a:srgbClr val="000066"/>
                </a:solidFill>
                <a:uFillTx/>
                <a:latin typeface="Times New Roman" panose="02020603050405020304" pitchFamily="18" charset="0"/>
              </a:rPr>
              <a:t>）回溯模板（有剪枝）</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2"/>
          <a:stretch>
            <a:fillRect/>
          </a:stretch>
        </p:blipFill>
        <p:spPr>
          <a:xfrm>
            <a:off x="4499610" y="177292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solidFill>
                  <a:srgbClr val="000066"/>
                </a:solidFill>
                <a:uFillTx/>
                <a:latin typeface="Times New Roman" panose="02020603050405020304" pitchFamily="18" charset="0"/>
              </a:rPr>
              <a:t>（</a:t>
            </a:r>
            <a:r>
              <a:rPr lang="en-US" altLang="zh-CN">
                <a:solidFill>
                  <a:srgbClr val="000066"/>
                </a:solidFill>
                <a:uFillTx/>
                <a:latin typeface="Times New Roman" panose="02020603050405020304" pitchFamily="18" charset="0"/>
              </a:rPr>
              <a:t>3</a:t>
            </a:r>
            <a:r>
              <a:rPr lang="zh-CN">
                <a:solidFill>
                  <a:srgbClr val="000066"/>
                </a:solidFill>
                <a:uFillTx/>
                <a:latin typeface="Times New Roman" panose="02020603050405020304" pitchFamily="18" charset="0"/>
              </a:rPr>
              <a:t>）空间树类型：子集树，全排列树，</a:t>
            </a:r>
            <a:r>
              <a:rPr lang="en-US" altLang="zh-CN">
                <a:solidFill>
                  <a:srgbClr val="000066"/>
                </a:solidFill>
                <a:uFillTx/>
                <a:latin typeface="Times New Roman" panose="02020603050405020304" pitchFamily="18" charset="0"/>
              </a:rPr>
              <a:t>n</a:t>
            </a:r>
            <a:r>
              <a:rPr lang="zh-CN" altLang="en-US">
                <a:solidFill>
                  <a:srgbClr val="000066"/>
                </a:solidFill>
                <a:uFillTx/>
                <a:latin typeface="Times New Roman" panose="02020603050405020304" pitchFamily="18" charset="0"/>
              </a:rPr>
              <a:t>叉树</a:t>
            </a:r>
            <a:r>
              <a:rPr lang="en-US" altLang="zh-CN">
                <a:solidFill>
                  <a:srgbClr val="000066"/>
                </a:solidFill>
                <a:uFillTx/>
                <a:latin typeface="Times New Roman" panose="02020603050405020304" pitchFamily="18" charset="0"/>
              </a:rPr>
              <a:t> </a:t>
            </a:r>
            <a:endParaRPr lang="en-US" altLang="zh-CN">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6443663" y="6370638"/>
            <a:ext cx="2444750" cy="368300"/>
          </a:xfrm>
          <a:prstGeom prst="rect">
            <a:avLst/>
          </a:prstGeom>
          <a:noFill/>
        </p:spPr>
        <p:txBody>
          <a:bodyPr>
            <a:spAutoFit/>
          </a:bodyPr>
          <a:lstStyle/>
          <a:p>
            <a:pPr algn="r" eaLnBrk="1" hangingPunct="1">
              <a:buFont typeface="Arial" panose="020B0604020202020204" pitchFamily="34" charset="0"/>
              <a:buNone/>
              <a:defRPr/>
            </a:pPr>
            <a:r>
              <a:rPr lang="en-US" altLang="zh-CN" sz="1800">
                <a:solidFill>
                  <a:schemeClr val="bg2">
                    <a:lumMod val="25000"/>
                    <a:lumOff val="75000"/>
                  </a:schemeClr>
                </a:solidFill>
              </a:rPr>
              <a:t>16</a:t>
            </a:r>
            <a:endParaRPr lang="en-US" altLang="zh-CN" sz="1800">
              <a:solidFill>
                <a:schemeClr val="bg2">
                  <a:lumMod val="25000"/>
                  <a:lumOff val="75000"/>
                </a:schemeClr>
              </a:solidFill>
            </a:endParaRPr>
          </a:p>
        </p:txBody>
      </p:sp>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0" y="1313210"/>
            <a:ext cx="8874126"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宋体" panose="02010600030101010101" pitchFamily="2" charset="-122"/>
              </a:rPr>
              <a:t>问题描述：八皇后问题是一个古老的问题，说的是在</a:t>
            </a:r>
            <a:r>
              <a:rPr lang="en-US" altLang="zh-CN" sz="2400" dirty="0">
                <a:solidFill>
                  <a:srgbClr val="080808"/>
                </a:solidFill>
                <a:uFillTx/>
                <a:latin typeface="宋体" panose="02010600030101010101" pitchFamily="2" charset="-122"/>
              </a:rPr>
              <a:t>8×8</a:t>
            </a:r>
            <a:r>
              <a:rPr lang="zh-CN" altLang="en-US" sz="2400" dirty="0">
                <a:solidFill>
                  <a:srgbClr val="080808"/>
                </a:solidFill>
                <a:uFillTx/>
                <a:latin typeface="宋体" panose="02010600030101010101" pitchFamily="2" charset="-122"/>
              </a:rPr>
              <a:t>的国际象棋棋盘上摆放八个皇后，使其不能互相攻击，即其中任意两个皇后都不能处于同一行、同一列或同一斜线上。如下图所示：</a:t>
            </a:r>
            <a:endParaRPr lang="zh-CN" altLang="en-US" sz="2400" dirty="0">
              <a:solidFill>
                <a:srgbClr val="080808"/>
              </a:solidFill>
              <a:uFillTx/>
              <a:latin typeface="宋体" panose="02010600030101010101" pitchFamily="2" charset="-122"/>
            </a:endParaRPr>
          </a:p>
        </p:txBody>
      </p:sp>
      <p:pic>
        <p:nvPicPr>
          <p:cNvPr id="6" name="图片 5"/>
          <p:cNvPicPr/>
          <p:nvPr/>
        </p:nvPicPr>
        <p:blipFill>
          <a:blip r:embed="rId6">
            <a:extLst>
              <a:ext uri="{28A0092B-C50C-407E-A947-70E740481C1C}">
                <a14:useLocalDpi xmlns:a14="http://schemas.microsoft.com/office/drawing/2010/main" val="0"/>
              </a:ext>
            </a:extLst>
          </a:blip>
          <a:stretch>
            <a:fillRect/>
          </a:stretch>
        </p:blipFill>
        <p:spPr>
          <a:xfrm>
            <a:off x="2793261" y="2564517"/>
            <a:ext cx="3650704" cy="362788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文本框 8"/>
          <p:cNvSpPr txBox="1"/>
          <p:nvPr/>
        </p:nvSpPr>
        <p:spPr>
          <a:xfrm>
            <a:off x="683260" y="908685"/>
            <a:ext cx="5701665"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6.3 </a:t>
            </a:r>
            <a:r>
              <a:rPr lang="en-US" altLang="zh-CN" sz="2400" kern="0">
                <a:solidFill>
                  <a:schemeClr val="tx1"/>
                </a:solidFill>
                <a:uFillTx/>
                <a:latin typeface="Times New Roman" panose="02020603050405020304" pitchFamily="18" charset="0"/>
                <a:sym typeface="+mn-ea"/>
              </a:rPr>
              <a:t>n</a:t>
            </a:r>
            <a:r>
              <a:rPr lang="zh-CN" altLang="en-US" sz="2400" kern="0">
                <a:solidFill>
                  <a:schemeClr val="tx1"/>
                </a:solidFill>
                <a:uFillTx/>
                <a:latin typeface="Times New Roman" panose="02020603050405020304" pitchFamily="18" charset="0"/>
                <a:sym typeface="+mn-ea"/>
              </a:rPr>
              <a:t>皇后</a:t>
            </a:r>
            <a:r>
              <a:rPr lang="zh-CN" altLang="en-US" sz="2400" kern="0">
                <a:solidFill>
                  <a:schemeClr val="tx1"/>
                </a:solidFill>
                <a:uFillTx/>
                <a:latin typeface="Times New Roman" panose="02020603050405020304" pitchFamily="18" charset="0"/>
                <a:sym typeface="+mn-ea"/>
              </a:rPr>
              <a:t>问题</a:t>
            </a:r>
            <a:endParaRPr lang="zh-CN" altLang="en-US" sz="2400" kern="0">
              <a:solidFill>
                <a:schemeClr val="tx1"/>
              </a:solidFill>
              <a:uFillTx/>
              <a:latin typeface="Times New Roman" panose="02020603050405020304" pitchFamily="18" charset="0"/>
              <a:sym typeface="+mn-ea"/>
            </a:endParaRPr>
          </a:p>
        </p:txBody>
      </p:sp>
      <p:sp>
        <p:nvSpPr>
          <p:cNvPr id="3" name="Text Box 4"/>
          <p:cNvSpPr txBox="1">
            <a:spLocks noChangeArrowheads="1"/>
          </p:cNvSpPr>
          <p:nvPr/>
        </p:nvSpPr>
        <p:spPr bwMode="auto">
          <a:xfrm>
            <a:off x="0" y="1442750"/>
            <a:ext cx="8874126"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ts val="0"/>
              </a:spcBef>
              <a:buSzTx/>
              <a:buFontTx/>
              <a:buNone/>
            </a:pPr>
            <a:r>
              <a:rPr lang="zh-CN" altLang="en-US" sz="2400" dirty="0">
                <a:solidFill>
                  <a:srgbClr val="080808"/>
                </a:solidFill>
                <a:uFillTx/>
                <a:latin typeface="Times New Roman" panose="02020603050405020304" pitchFamily="18" charset="0"/>
              </a:rPr>
              <a:t>加入皇后数为</a:t>
            </a:r>
            <a:r>
              <a:rPr lang="en-US" altLang="zh-CN" sz="2400" dirty="0">
                <a:solidFill>
                  <a:srgbClr val="080808"/>
                </a:solidFill>
                <a:uFillTx/>
                <a:latin typeface="Times New Roman" panose="02020603050405020304" pitchFamily="18" charset="0"/>
              </a:rPr>
              <a:t>4</a:t>
            </a:r>
            <a:r>
              <a:rPr lang="zh-CN" altLang="en-US" sz="2400" dirty="0">
                <a:solidFill>
                  <a:srgbClr val="080808"/>
                </a:solidFill>
                <a:uFillTx/>
                <a:latin typeface="Times New Roman" panose="02020603050405020304" pitchFamily="18" charset="0"/>
              </a:rPr>
              <a:t>，放在一个</a:t>
            </a:r>
            <a:r>
              <a:rPr lang="en-US" altLang="zh-CN" sz="2400" dirty="0">
                <a:solidFill>
                  <a:srgbClr val="080808"/>
                </a:solidFill>
                <a:uFillTx/>
                <a:latin typeface="Times New Roman" panose="02020603050405020304" pitchFamily="18" charset="0"/>
              </a:rPr>
              <a:t>4X4</a:t>
            </a:r>
            <a:r>
              <a:rPr lang="zh-CN" altLang="en-US" sz="2400" dirty="0">
                <a:solidFill>
                  <a:srgbClr val="080808"/>
                </a:solidFill>
                <a:uFillTx/>
                <a:latin typeface="Times New Roman" panose="02020603050405020304" pitchFamily="18" charset="0"/>
              </a:rPr>
              <a:t>的棋盘上，有多少中方法</a:t>
            </a:r>
            <a:r>
              <a:rPr lang="en-US" altLang="zh-CN" sz="2400" dirty="0">
                <a:solidFill>
                  <a:srgbClr val="080808"/>
                </a:solidFill>
                <a:uFillTx/>
                <a:latin typeface="Times New Roman" panose="02020603050405020304" pitchFamily="18" charset="0"/>
              </a:rPr>
              <a:t>?</a:t>
            </a:r>
            <a:endParaRPr lang="en-US" altLang="zh-CN" sz="2400" dirty="0">
              <a:solidFill>
                <a:srgbClr val="080808"/>
              </a:solidFill>
              <a:uFillTx/>
              <a:latin typeface="Times New Roman" panose="02020603050405020304" pitchFamily="18" charset="0"/>
            </a:endParaRPr>
          </a:p>
        </p:txBody>
      </p:sp>
      <p:graphicFrame>
        <p:nvGraphicFramePr>
          <p:cNvPr id="2" name="表格 1"/>
          <p:cNvGraphicFramePr/>
          <p:nvPr>
            <p:custDataLst>
              <p:tags r:id="rId6"/>
            </p:custDataLst>
          </p:nvPr>
        </p:nvGraphicFramePr>
        <p:xfrm>
          <a:off x="3563620" y="3068955"/>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49" name="表格 48"/>
          <p:cNvGraphicFramePr/>
          <p:nvPr>
            <p:custDataLst>
              <p:tags r:id="rId7"/>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a:solidFill>
                            <a:srgbClr val="FF0000"/>
                          </a:solidFill>
                          <a:latin typeface="Times New Roman" panose="02020603050405020304" pitchFamily="18" charset="0"/>
                          <a:cs typeface="Times New Roman" panose="02020603050405020304" pitchFamily="18" charset="0"/>
                          <a:sym typeface="+mn-ea"/>
                        </a:rPr>
                        <a:t>X</a:t>
                      </a: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50" name="表格 49"/>
          <p:cNvGraphicFramePr/>
          <p:nvPr>
            <p:custDataLst>
              <p:tags r:id="rId8"/>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0">
                          <a:solidFill>
                            <a:srgbClr val="FF0000"/>
                          </a:solidFill>
                          <a:latin typeface="Times New Roman" panose="02020603050405020304" pitchFamily="18" charset="0"/>
                          <a:cs typeface="Times New Roman" panose="02020603050405020304" pitchFamily="18" charset="0"/>
                        </a:rPr>
                        <a:t>X</a:t>
                      </a: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pSp>
        <p:nvGrpSpPr>
          <p:cNvPr id="64" name="组合 63"/>
          <p:cNvGrpSpPr/>
          <p:nvPr/>
        </p:nvGrpSpPr>
        <p:grpSpPr>
          <a:xfrm>
            <a:off x="3191510" y="1988820"/>
            <a:ext cx="5363210" cy="3522345"/>
            <a:chOff x="5813" y="3245"/>
            <a:chExt cx="8446" cy="5547"/>
          </a:xfrm>
        </p:grpSpPr>
        <p:sp>
          <p:nvSpPr>
            <p:cNvPr id="8" name="椭圆 7"/>
            <p:cNvSpPr/>
            <p:nvPr/>
          </p:nvSpPr>
          <p:spPr>
            <a:xfrm>
              <a:off x="11282" y="324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start</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11" name="直接箭头连接符 10"/>
            <p:cNvCxnSpPr>
              <a:stCxn id="8" idx="4"/>
            </p:cNvCxnSpPr>
            <p:nvPr/>
          </p:nvCxnSpPr>
          <p:spPr>
            <a:xfrm flipH="1">
              <a:off x="8788" y="3868"/>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4" name="直接箭头连接符 13"/>
            <p:cNvCxnSpPr>
              <a:stCxn id="8" idx="4"/>
            </p:cNvCxnSpPr>
            <p:nvPr/>
          </p:nvCxnSpPr>
          <p:spPr>
            <a:xfrm flipH="1">
              <a:off x="10602" y="3868"/>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7" name="直接箭头连接符 26"/>
            <p:cNvCxnSpPr>
              <a:stCxn id="8" idx="4"/>
            </p:cNvCxnSpPr>
            <p:nvPr/>
          </p:nvCxnSpPr>
          <p:spPr>
            <a:xfrm>
              <a:off x="11750" y="3868"/>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8" name="直接箭头连接符 27"/>
            <p:cNvCxnSpPr>
              <a:stCxn id="8" idx="4"/>
            </p:cNvCxnSpPr>
            <p:nvPr/>
          </p:nvCxnSpPr>
          <p:spPr>
            <a:xfrm>
              <a:off x="11750" y="3868"/>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0" name="椭圆 29"/>
            <p:cNvSpPr/>
            <p:nvPr/>
          </p:nvSpPr>
          <p:spPr>
            <a:xfrm>
              <a:off x="8334"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0</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1" name="椭圆 30"/>
            <p:cNvSpPr/>
            <p:nvPr/>
          </p:nvSpPr>
          <p:spPr>
            <a:xfrm>
              <a:off x="10148" y="4833"/>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2" name="椭圆 31"/>
            <p:cNvSpPr/>
            <p:nvPr/>
          </p:nvSpPr>
          <p:spPr>
            <a:xfrm>
              <a:off x="11850"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3" name="椭圆 32"/>
            <p:cNvSpPr/>
            <p:nvPr/>
          </p:nvSpPr>
          <p:spPr>
            <a:xfrm>
              <a:off x="13324" y="4832"/>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34" name="直接箭头连接符 33"/>
            <p:cNvCxnSpPr/>
            <p:nvPr/>
          </p:nvCxnSpPr>
          <p:spPr>
            <a:xfrm flipH="1">
              <a:off x="5813" y="5457"/>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5" name="直接箭头连接符 34"/>
            <p:cNvCxnSpPr/>
            <p:nvPr/>
          </p:nvCxnSpPr>
          <p:spPr>
            <a:xfrm flipH="1">
              <a:off x="7627" y="5457"/>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6" name="直接箭头连接符 35"/>
            <p:cNvCxnSpPr/>
            <p:nvPr/>
          </p:nvCxnSpPr>
          <p:spPr>
            <a:xfrm>
              <a:off x="8775" y="5457"/>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37" name="直接箭头连接符 36"/>
            <p:cNvCxnSpPr/>
            <p:nvPr/>
          </p:nvCxnSpPr>
          <p:spPr>
            <a:xfrm>
              <a:off x="8775" y="5457"/>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椭圆 40"/>
            <p:cNvSpPr/>
            <p:nvPr/>
          </p:nvSpPr>
          <p:spPr>
            <a:xfrm>
              <a:off x="8902"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椭圆 41"/>
            <p:cNvSpPr/>
            <p:nvPr/>
          </p:nvSpPr>
          <p:spPr>
            <a:xfrm>
              <a:off x="10376" y="6429"/>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3</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43" name="直接箭头连接符 42"/>
            <p:cNvCxnSpPr/>
            <p:nvPr/>
          </p:nvCxnSpPr>
          <p:spPr>
            <a:xfrm flipH="1">
              <a:off x="9014" y="7051"/>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4" name="直接箭头连接符 43"/>
            <p:cNvCxnSpPr/>
            <p:nvPr/>
          </p:nvCxnSpPr>
          <p:spPr>
            <a:xfrm flipH="1">
              <a:off x="9276" y="7051"/>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5" name="直接箭头连接符 44"/>
            <p:cNvCxnSpPr/>
            <p:nvPr/>
          </p:nvCxnSpPr>
          <p:spPr>
            <a:xfrm>
              <a:off x="9355" y="7051"/>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46" name="直接箭头连接符 45"/>
            <p:cNvCxnSpPr/>
            <p:nvPr/>
          </p:nvCxnSpPr>
          <p:spPr>
            <a:xfrm>
              <a:off x="9355" y="7051"/>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1" name="直接箭头连接符 50"/>
            <p:cNvCxnSpPr/>
            <p:nvPr/>
          </p:nvCxnSpPr>
          <p:spPr>
            <a:xfrm flipH="1">
              <a:off x="7867" y="7059"/>
              <a:ext cx="2962"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2" name="直接箭头连接符 51"/>
            <p:cNvCxnSpPr/>
            <p:nvPr/>
          </p:nvCxnSpPr>
          <p:spPr>
            <a:xfrm flipH="1">
              <a:off x="9681" y="7059"/>
              <a:ext cx="1148"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3" name="直接箭头连接符 52"/>
            <p:cNvCxnSpPr/>
            <p:nvPr/>
          </p:nvCxnSpPr>
          <p:spPr>
            <a:xfrm>
              <a:off x="10829" y="7059"/>
              <a:ext cx="553"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4" name="直接箭头连接符 53"/>
            <p:cNvCxnSpPr/>
            <p:nvPr/>
          </p:nvCxnSpPr>
          <p:spPr>
            <a:xfrm>
              <a:off x="10829" y="7059"/>
              <a:ext cx="2027" cy="96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8" name="椭圆 57"/>
            <p:cNvSpPr/>
            <p:nvPr/>
          </p:nvSpPr>
          <p:spPr>
            <a:xfrm>
              <a:off x="9213" y="7995"/>
              <a:ext cx="935" cy="623"/>
            </a:xfrm>
            <a:prstGeom prst="ellipse">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endParaRPr kumimoji="0" lang="en-US" altLang="zh-CN" sz="9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cxnSp>
          <p:nvCxnSpPr>
            <p:cNvPr id="59" name="直接箭头连接符 58"/>
            <p:cNvCxnSpPr/>
            <p:nvPr/>
          </p:nvCxnSpPr>
          <p:spPr>
            <a:xfrm flipH="1">
              <a:off x="9325" y="8617"/>
              <a:ext cx="341"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箭头连接符 59"/>
            <p:cNvCxnSpPr/>
            <p:nvPr/>
          </p:nvCxnSpPr>
          <p:spPr>
            <a:xfrm flipH="1">
              <a:off x="9587" y="8617"/>
              <a:ext cx="79" cy="17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1" name="直接箭头连接符 60"/>
            <p:cNvCxnSpPr/>
            <p:nvPr/>
          </p:nvCxnSpPr>
          <p:spPr>
            <a:xfrm>
              <a:off x="9666" y="8617"/>
              <a:ext cx="11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2" name="直接箭头连接符 61"/>
            <p:cNvCxnSpPr/>
            <p:nvPr/>
          </p:nvCxnSpPr>
          <p:spPr>
            <a:xfrm>
              <a:off x="9666" y="8617"/>
              <a:ext cx="453" cy="163"/>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pSp>
      <p:sp>
        <p:nvSpPr>
          <p:cNvPr id="66" name="文本框 65"/>
          <p:cNvSpPr txBox="1"/>
          <p:nvPr/>
        </p:nvSpPr>
        <p:spPr>
          <a:xfrm>
            <a:off x="3940810"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7" name="文本框 66"/>
          <p:cNvSpPr txBox="1"/>
          <p:nvPr/>
        </p:nvSpPr>
        <p:spPr>
          <a:xfrm>
            <a:off x="4506595" y="3500755"/>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69" name="文本框 68"/>
          <p:cNvSpPr txBox="1"/>
          <p:nvPr/>
        </p:nvSpPr>
        <p:spPr>
          <a:xfrm>
            <a:off x="5296535" y="428117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1" name="文本框 70"/>
          <p:cNvSpPr txBox="1"/>
          <p:nvPr/>
        </p:nvSpPr>
        <p:spPr>
          <a:xfrm>
            <a:off x="709549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2" name="文本框 71"/>
          <p:cNvSpPr txBox="1"/>
          <p:nvPr/>
        </p:nvSpPr>
        <p:spPr>
          <a:xfrm>
            <a:off x="6449060" y="46532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sp>
        <p:nvSpPr>
          <p:cNvPr id="73" name="文本框 72"/>
          <p:cNvSpPr txBox="1"/>
          <p:nvPr/>
        </p:nvSpPr>
        <p:spPr>
          <a:xfrm>
            <a:off x="4648835" y="475996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4" name="表格 73"/>
          <p:cNvGraphicFramePr/>
          <p:nvPr>
            <p:custDataLst>
              <p:tags r:id="rId9"/>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0">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75" name="文本框 74"/>
          <p:cNvSpPr txBox="1"/>
          <p:nvPr/>
        </p:nvSpPr>
        <p:spPr>
          <a:xfrm>
            <a:off x="5487670" y="5300980"/>
            <a:ext cx="402590" cy="351790"/>
          </a:xfrm>
          <a:prstGeom prst="rect">
            <a:avLst/>
          </a:prstGeom>
          <a:noFill/>
        </p:spPr>
        <p:txBody>
          <a:bodyPr wrap="square" rtlCol="0">
            <a:noAutofit/>
          </a:bodyPr>
          <a:p>
            <a:r>
              <a:rPr lang="en-US" altLang="zh-CN">
                <a:solidFill>
                  <a:srgbClr val="FF0000"/>
                </a:solidFill>
              </a:rPr>
              <a:t>X</a:t>
            </a:r>
            <a:endParaRPr lang="en-US" altLang="zh-CN">
              <a:solidFill>
                <a:srgbClr val="FF0000"/>
              </a:solidFill>
            </a:endParaRPr>
          </a:p>
        </p:txBody>
      </p:sp>
      <p:graphicFrame>
        <p:nvGraphicFramePr>
          <p:cNvPr id="78" name="表格 77"/>
          <p:cNvGraphicFramePr/>
          <p:nvPr>
            <p:custDataLst>
              <p:tags r:id="rId10"/>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b="1">
                          <a:solidFill>
                            <a:srgbClr val="FF0000"/>
                          </a:solidFill>
                          <a:latin typeface="Times New Roman" panose="02020603050405020304" pitchFamily="18" charset="0"/>
                          <a:cs typeface="Times New Roman" panose="02020603050405020304" pitchFamily="18" charset="0"/>
                        </a:rPr>
                        <a:t>Q3</a:t>
                      </a: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cs typeface="Times New Roman" panose="02020603050405020304" pitchFamily="18" charset="0"/>
                        </a:rPr>
                        <a:t>X</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graphicFrame>
        <p:nvGraphicFramePr>
          <p:cNvPr id="79" name="表格 78"/>
          <p:cNvGraphicFramePr/>
          <p:nvPr>
            <p:custDataLst>
              <p:tags r:id="rId11"/>
            </p:custDataLst>
          </p:nvPr>
        </p:nvGraphicFramePr>
        <p:xfrm>
          <a:off x="683260" y="3108960"/>
          <a:ext cx="2207260" cy="1524000"/>
        </p:xfrm>
        <a:graphic>
          <a:graphicData uri="http://schemas.openxmlformats.org/drawingml/2006/table">
            <a:tbl>
              <a:tblPr firstRow="1" bandRow="1">
                <a:tableStyleId>{5C22544A-7EE6-4342-B048-85BDC9FD1C3A}</a:tableStyleId>
              </a:tblPr>
              <a:tblGrid>
                <a:gridCol w="551815"/>
                <a:gridCol w="551815"/>
                <a:gridCol w="551815"/>
                <a:gridCol w="551815"/>
              </a:tblGrid>
              <a:tr h="381000">
                <a:tc>
                  <a:txBody>
                    <a:bodyPr/>
                    <a:p>
                      <a:pPr>
                        <a:buNone/>
                      </a:pPr>
                      <a:r>
                        <a:rPr lang="en-US" altLang="zh-CN">
                          <a:solidFill>
                            <a:srgbClr val="FF0000"/>
                          </a:solidFill>
                          <a:latin typeface="Times New Roman" panose="02020603050405020304" pitchFamily="18" charset="0"/>
                          <a:cs typeface="Times New Roman" panose="02020603050405020304" pitchFamily="18" charset="0"/>
                        </a:rPr>
                        <a:t>Q1</a:t>
                      </a: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sz="1800" b="1">
                          <a:solidFill>
                            <a:srgbClr val="FF0000"/>
                          </a:solidFill>
                          <a:latin typeface="Times New Roman" panose="02020603050405020304" pitchFamily="18" charset="0"/>
                          <a:cs typeface="Times New Roman" panose="02020603050405020304" pitchFamily="18" charset="0"/>
                          <a:sym typeface="+mn-ea"/>
                        </a:rPr>
                        <a:t>Q2</a:t>
                      </a: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r>
                        <a:rPr lang="en-US" altLang="zh-CN">
                          <a:solidFill>
                            <a:srgbClr val="FF0000"/>
                          </a:solidFill>
                          <a:latin typeface="Times New Roman" panose="02020603050405020304" pitchFamily="18" charset="0"/>
                        </a:rPr>
                        <a:t>X</a:t>
                      </a: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100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00534722 -0.00138889 L -0.750625 0.00444444 " pathEditMode="relative" rAng="0" ptsTypes="">
                                      <p:cBhvr>
                                        <p:cTn id="6" dur="2000" fill="hold"/>
                                        <p:tgtEl>
                                          <p:spTgt spid="2"/>
                                        </p:tgtEl>
                                        <p:attrNameLst>
                                          <p:attrName>ppt_x</p:attrName>
                                          <p:attrName>ppt_y</p:attrName>
                                        </p:attrNameLst>
                                      </p:cBhvr>
                                      <p:rCtr x="-377" y="-3"/>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64"/>
                                        </p:tgtEl>
                                        <p:attrNameLst>
                                          <p:attrName>style.visibility</p:attrName>
                                        </p:attrNameLst>
                                      </p:cBhvr>
                                      <p:to>
                                        <p:strVal val="visible"/>
                                      </p:to>
                                    </p:set>
                                    <p:anim calcmode="lin" valueType="num">
                                      <p:cBhvr additive="base">
                                        <p:cTn id="11" dur="500" fill="hold"/>
                                        <p:tgtEl>
                                          <p:spTgt spid="64"/>
                                        </p:tgtEl>
                                        <p:attrNameLst>
                                          <p:attrName>ppt_x</p:attrName>
                                        </p:attrNameLst>
                                      </p:cBhvr>
                                      <p:tavLst>
                                        <p:tav tm="0">
                                          <p:val>
                                            <p:strVal val="#ppt_x"/>
                                          </p:val>
                                        </p:tav>
                                        <p:tav tm="100000">
                                          <p:val>
                                            <p:strVal val="#ppt_x"/>
                                          </p:val>
                                        </p:tav>
                                      </p:tavLst>
                                    </p:anim>
                                    <p:anim calcmode="lin" valueType="num">
                                      <p:cBhvr additive="base">
                                        <p:cTn id="12"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6"/>
                                        </p:tgtEl>
                                        <p:attrNameLst>
                                          <p:attrName>style.visibility</p:attrName>
                                        </p:attrNameLst>
                                      </p:cBhvr>
                                      <p:to>
                                        <p:strVal val="visible"/>
                                      </p:to>
                                    </p:set>
                                    <p:anim calcmode="lin" valueType="num">
                                      <p:cBhvr additive="base">
                                        <p:cTn id="17" dur="500" fill="hold"/>
                                        <p:tgtEl>
                                          <p:spTgt spid="66"/>
                                        </p:tgtEl>
                                        <p:attrNameLst>
                                          <p:attrName>ppt_x</p:attrName>
                                        </p:attrNameLst>
                                      </p:cBhvr>
                                      <p:tavLst>
                                        <p:tav tm="0">
                                          <p:val>
                                            <p:strVal val="#ppt_x"/>
                                          </p:val>
                                        </p:tav>
                                        <p:tav tm="100000">
                                          <p:val>
                                            <p:strVal val="#ppt_x"/>
                                          </p:val>
                                        </p:tav>
                                      </p:tavLst>
                                    </p:anim>
                                    <p:anim calcmode="lin" valueType="num">
                                      <p:cBhvr additive="base">
                                        <p:cTn id="18" dur="500" fill="hold"/>
                                        <p:tgtEl>
                                          <p:spTgt spid="6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67"/>
                                        </p:tgtEl>
                                        <p:attrNameLst>
                                          <p:attrName>style.visibility</p:attrName>
                                        </p:attrNameLst>
                                      </p:cBhvr>
                                      <p:to>
                                        <p:strVal val="visible"/>
                                      </p:to>
                                    </p:set>
                                    <p:anim calcmode="lin" valueType="num">
                                      <p:cBhvr additive="base">
                                        <p:cTn id="21" dur="500" fill="hold"/>
                                        <p:tgtEl>
                                          <p:spTgt spid="67"/>
                                        </p:tgtEl>
                                        <p:attrNameLst>
                                          <p:attrName>ppt_x</p:attrName>
                                        </p:attrNameLst>
                                      </p:cBhvr>
                                      <p:tavLst>
                                        <p:tav tm="0">
                                          <p:val>
                                            <p:strVal val="#ppt_x"/>
                                          </p:val>
                                        </p:tav>
                                        <p:tav tm="100000">
                                          <p:val>
                                            <p:strVal val="#ppt_x"/>
                                          </p:val>
                                        </p:tav>
                                      </p:tavLst>
                                    </p:anim>
                                    <p:anim calcmode="lin" valueType="num">
                                      <p:cBhvr additive="base">
                                        <p:cTn id="22"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 calcmode="lin" valueType="num">
                                      <p:cBhvr additive="base">
                                        <p:cTn id="27" dur="500" fill="hold"/>
                                        <p:tgtEl>
                                          <p:spTgt spid="49"/>
                                        </p:tgtEl>
                                        <p:attrNameLst>
                                          <p:attrName>ppt_x</p:attrName>
                                        </p:attrNameLst>
                                      </p:cBhvr>
                                      <p:tavLst>
                                        <p:tav tm="0">
                                          <p:val>
                                            <p:strVal val="#ppt_x"/>
                                          </p:val>
                                        </p:tav>
                                        <p:tav tm="100000">
                                          <p:val>
                                            <p:strVal val="#ppt_x"/>
                                          </p:val>
                                        </p:tav>
                                      </p:tavLst>
                                    </p:anim>
                                    <p:anim calcmode="lin" valueType="num">
                                      <p:cBhvr additive="base">
                                        <p:cTn id="28" dur="500" fill="hold"/>
                                        <p:tgtEl>
                                          <p:spTgt spid="49"/>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xit" presetSubtype="4" fill="hold" nodeType="clickEffect">
                                  <p:stCondLst>
                                    <p:cond delay="0"/>
                                  </p:stCondLst>
                                  <p:childTnLst>
                                    <p:anim calcmode="lin" valueType="num">
                                      <p:cBhvr additive="base">
                                        <p:cTn id="32" dur="500"/>
                                        <p:tgtEl>
                                          <p:spTgt spid="49"/>
                                        </p:tgtEl>
                                        <p:attrNameLst>
                                          <p:attrName>ppt_x</p:attrName>
                                        </p:attrNameLst>
                                      </p:cBhvr>
                                      <p:tavLst>
                                        <p:tav tm="0">
                                          <p:val>
                                            <p:strVal val="ppt_x"/>
                                          </p:val>
                                        </p:tav>
                                        <p:tav tm="100000">
                                          <p:val>
                                            <p:strVal val="ppt_x"/>
                                          </p:val>
                                        </p:tav>
                                      </p:tavLst>
                                    </p:anim>
                                    <p:anim calcmode="lin" valueType="num">
                                      <p:cBhvr additive="base">
                                        <p:cTn id="33" dur="500"/>
                                        <p:tgtEl>
                                          <p:spTgt spid="49"/>
                                        </p:tgtEl>
                                        <p:attrNameLst>
                                          <p:attrName>ppt_y</p:attrName>
                                        </p:attrNameLst>
                                      </p:cBhvr>
                                      <p:tavLst>
                                        <p:tav tm="0">
                                          <p:val>
                                            <p:strVal val="ppt_y"/>
                                          </p:val>
                                        </p:tav>
                                        <p:tav tm="100000">
                                          <p:val>
                                            <p:strVal val="1+ppt_h/2"/>
                                          </p:val>
                                        </p:tav>
                                      </p:tavLst>
                                    </p:anim>
                                    <p:set>
                                      <p:cBhvr>
                                        <p:cTn id="34" dur="1" fill="hold">
                                          <p:stCondLst>
                                            <p:cond delay="499"/>
                                          </p:stCondLst>
                                        </p:cTn>
                                        <p:tgtEl>
                                          <p:spTgt spid="4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69"/>
                                        </p:tgtEl>
                                        <p:attrNameLst>
                                          <p:attrName>style.visibility</p:attrName>
                                        </p:attrNameLst>
                                      </p:cBhvr>
                                      <p:to>
                                        <p:strVal val="visible"/>
                                      </p:to>
                                    </p:set>
                                    <p:anim calcmode="lin" valueType="num">
                                      <p:cBhvr additive="base">
                                        <p:cTn id="39" dur="500" fill="hold"/>
                                        <p:tgtEl>
                                          <p:spTgt spid="69"/>
                                        </p:tgtEl>
                                        <p:attrNameLst>
                                          <p:attrName>ppt_x</p:attrName>
                                        </p:attrNameLst>
                                      </p:cBhvr>
                                      <p:tavLst>
                                        <p:tav tm="0">
                                          <p:val>
                                            <p:strVal val="#ppt_x"/>
                                          </p:val>
                                        </p:tav>
                                        <p:tav tm="100000">
                                          <p:val>
                                            <p:strVal val="#ppt_x"/>
                                          </p:val>
                                        </p:tav>
                                      </p:tavLst>
                                    </p:anim>
                                    <p:anim calcmode="lin" valueType="num">
                                      <p:cBhvr additive="base">
                                        <p:cTn id="40" dur="500" fill="hold"/>
                                        <p:tgtEl>
                                          <p:spTgt spid="69"/>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50"/>
                                        </p:tgtEl>
                                        <p:attrNameLst>
                                          <p:attrName>style.visibility</p:attrName>
                                        </p:attrNameLst>
                                      </p:cBhvr>
                                      <p:to>
                                        <p:strVal val="visible"/>
                                      </p:to>
                                    </p:set>
                                    <p:anim calcmode="lin" valueType="num">
                                      <p:cBhvr additive="base">
                                        <p:cTn id="45" dur="500" fill="hold"/>
                                        <p:tgtEl>
                                          <p:spTgt spid="50"/>
                                        </p:tgtEl>
                                        <p:attrNameLst>
                                          <p:attrName>ppt_x</p:attrName>
                                        </p:attrNameLst>
                                      </p:cBhvr>
                                      <p:tavLst>
                                        <p:tav tm="0">
                                          <p:val>
                                            <p:strVal val="#ppt_x"/>
                                          </p:val>
                                        </p:tav>
                                        <p:tav tm="100000">
                                          <p:val>
                                            <p:strVal val="#ppt_x"/>
                                          </p:val>
                                        </p:tav>
                                      </p:tavLst>
                                    </p:anim>
                                    <p:anim calcmode="lin" valueType="num">
                                      <p:cBhvr additive="base">
                                        <p:cTn id="46" dur="500" fill="hold"/>
                                        <p:tgtEl>
                                          <p:spTgt spid="50"/>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xit" presetSubtype="4" fill="hold" nodeType="clickEffect">
                                  <p:stCondLst>
                                    <p:cond delay="0"/>
                                  </p:stCondLst>
                                  <p:childTnLst>
                                    <p:anim calcmode="lin" valueType="num">
                                      <p:cBhvr additive="base">
                                        <p:cTn id="50" dur="500"/>
                                        <p:tgtEl>
                                          <p:spTgt spid="50"/>
                                        </p:tgtEl>
                                        <p:attrNameLst>
                                          <p:attrName>ppt_x</p:attrName>
                                        </p:attrNameLst>
                                      </p:cBhvr>
                                      <p:tavLst>
                                        <p:tav tm="0">
                                          <p:val>
                                            <p:strVal val="ppt_x"/>
                                          </p:val>
                                        </p:tav>
                                        <p:tav tm="100000">
                                          <p:val>
                                            <p:strVal val="ppt_x"/>
                                          </p:val>
                                        </p:tav>
                                      </p:tavLst>
                                    </p:anim>
                                    <p:anim calcmode="lin" valueType="num">
                                      <p:cBhvr additive="base">
                                        <p:cTn id="51" dur="500"/>
                                        <p:tgtEl>
                                          <p:spTgt spid="50"/>
                                        </p:tgtEl>
                                        <p:attrNameLst>
                                          <p:attrName>ppt_y</p:attrName>
                                        </p:attrNameLst>
                                      </p:cBhvr>
                                      <p:tavLst>
                                        <p:tav tm="0">
                                          <p:val>
                                            <p:strVal val="ppt_y"/>
                                          </p:val>
                                        </p:tav>
                                        <p:tav tm="100000">
                                          <p:val>
                                            <p:strVal val="1+ppt_h/2"/>
                                          </p:val>
                                        </p:tav>
                                      </p:tavLst>
                                    </p:anim>
                                    <p:set>
                                      <p:cBhvr>
                                        <p:cTn id="52" dur="1" fill="hold">
                                          <p:stCondLst>
                                            <p:cond delay="499"/>
                                          </p:stCondLst>
                                        </p:cTn>
                                        <p:tgtEl>
                                          <p:spTgt spid="50"/>
                                        </p:tgtEl>
                                        <p:attrNameLst>
                                          <p:attrName>style.visibility</p:attrName>
                                        </p:attrNameLst>
                                      </p:cBhvr>
                                      <p:to>
                                        <p:strVal val="hidden"/>
                                      </p:to>
                                    </p:set>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73"/>
                                        </p:tgtEl>
                                        <p:attrNameLst>
                                          <p:attrName>style.visibility</p:attrName>
                                        </p:attrNameLst>
                                      </p:cBhvr>
                                      <p:to>
                                        <p:strVal val="visible"/>
                                      </p:to>
                                    </p:set>
                                    <p:anim calcmode="lin" valueType="num">
                                      <p:cBhvr additive="base">
                                        <p:cTn id="57" dur="500" fill="hold"/>
                                        <p:tgtEl>
                                          <p:spTgt spid="73"/>
                                        </p:tgtEl>
                                        <p:attrNameLst>
                                          <p:attrName>ppt_x</p:attrName>
                                        </p:attrNameLst>
                                      </p:cBhvr>
                                      <p:tavLst>
                                        <p:tav tm="0">
                                          <p:val>
                                            <p:strVal val="#ppt_x"/>
                                          </p:val>
                                        </p:tav>
                                        <p:tav tm="100000">
                                          <p:val>
                                            <p:strVal val="#ppt_x"/>
                                          </p:val>
                                        </p:tav>
                                      </p:tavLst>
                                    </p:anim>
                                    <p:anim calcmode="lin" valueType="num">
                                      <p:cBhvr additive="base">
                                        <p:cTn id="5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nodeType="clickEffect">
                                  <p:stCondLst>
                                    <p:cond delay="0"/>
                                  </p:stCondLst>
                                  <p:childTnLst>
                                    <p:set>
                                      <p:cBhvr>
                                        <p:cTn id="62" dur="1" fill="hold">
                                          <p:stCondLst>
                                            <p:cond delay="0"/>
                                          </p:stCondLst>
                                        </p:cTn>
                                        <p:tgtEl>
                                          <p:spTgt spid="74"/>
                                        </p:tgtEl>
                                        <p:attrNameLst>
                                          <p:attrName>style.visibility</p:attrName>
                                        </p:attrNameLst>
                                      </p:cBhvr>
                                      <p:to>
                                        <p:strVal val="visible"/>
                                      </p:to>
                                    </p:set>
                                    <p:anim calcmode="lin" valueType="num">
                                      <p:cBhvr additive="base">
                                        <p:cTn id="63" dur="500" fill="hold"/>
                                        <p:tgtEl>
                                          <p:spTgt spid="74"/>
                                        </p:tgtEl>
                                        <p:attrNameLst>
                                          <p:attrName>ppt_x</p:attrName>
                                        </p:attrNameLst>
                                      </p:cBhvr>
                                      <p:tavLst>
                                        <p:tav tm="0">
                                          <p:val>
                                            <p:strVal val="#ppt_x"/>
                                          </p:val>
                                        </p:tav>
                                        <p:tav tm="100000">
                                          <p:val>
                                            <p:strVal val="#ppt_x"/>
                                          </p:val>
                                        </p:tav>
                                      </p:tavLst>
                                    </p:anim>
                                    <p:anim calcmode="lin" valueType="num">
                                      <p:cBhvr additive="base">
                                        <p:cTn id="64"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xit" presetSubtype="4" fill="hold" nodeType="clickEffect">
                                  <p:stCondLst>
                                    <p:cond delay="0"/>
                                  </p:stCondLst>
                                  <p:childTnLst>
                                    <p:anim calcmode="lin" valueType="num">
                                      <p:cBhvr additive="base">
                                        <p:cTn id="68" dur="500"/>
                                        <p:tgtEl>
                                          <p:spTgt spid="74"/>
                                        </p:tgtEl>
                                        <p:attrNameLst>
                                          <p:attrName>ppt_x</p:attrName>
                                        </p:attrNameLst>
                                      </p:cBhvr>
                                      <p:tavLst>
                                        <p:tav tm="0">
                                          <p:val>
                                            <p:strVal val="ppt_x"/>
                                          </p:val>
                                        </p:tav>
                                        <p:tav tm="100000">
                                          <p:val>
                                            <p:strVal val="ppt_x"/>
                                          </p:val>
                                        </p:tav>
                                      </p:tavLst>
                                    </p:anim>
                                    <p:anim calcmode="lin" valueType="num">
                                      <p:cBhvr additive="base">
                                        <p:cTn id="69" dur="500"/>
                                        <p:tgtEl>
                                          <p:spTgt spid="74"/>
                                        </p:tgtEl>
                                        <p:attrNameLst>
                                          <p:attrName>ppt_y</p:attrName>
                                        </p:attrNameLst>
                                      </p:cBhvr>
                                      <p:tavLst>
                                        <p:tav tm="0">
                                          <p:val>
                                            <p:strVal val="ppt_y"/>
                                          </p:val>
                                        </p:tav>
                                        <p:tav tm="100000">
                                          <p:val>
                                            <p:strVal val="1+ppt_h/2"/>
                                          </p:val>
                                        </p:tav>
                                      </p:tavLst>
                                    </p:anim>
                                    <p:set>
                                      <p:cBhvr>
                                        <p:cTn id="70" dur="1" fill="hold">
                                          <p:stCondLst>
                                            <p:cond delay="499"/>
                                          </p:stCondLst>
                                        </p:cTn>
                                        <p:tgtEl>
                                          <p:spTgt spid="74"/>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grpId="0" nodeType="clickEffect">
                                  <p:stCondLst>
                                    <p:cond delay="0"/>
                                  </p:stCondLst>
                                  <p:childTnLst>
                                    <p:set>
                                      <p:cBhvr>
                                        <p:cTn id="74" dur="1" fill="hold">
                                          <p:stCondLst>
                                            <p:cond delay="0"/>
                                          </p:stCondLst>
                                        </p:cTn>
                                        <p:tgtEl>
                                          <p:spTgt spid="75"/>
                                        </p:tgtEl>
                                        <p:attrNameLst>
                                          <p:attrName>style.visibility</p:attrName>
                                        </p:attrNameLst>
                                      </p:cBhvr>
                                      <p:to>
                                        <p:strVal val="visible"/>
                                      </p:to>
                                    </p:set>
                                    <p:anim calcmode="lin" valueType="num">
                                      <p:cBhvr additive="base">
                                        <p:cTn id="75" dur="500" fill="hold"/>
                                        <p:tgtEl>
                                          <p:spTgt spid="75"/>
                                        </p:tgtEl>
                                        <p:attrNameLst>
                                          <p:attrName>ppt_x</p:attrName>
                                        </p:attrNameLst>
                                      </p:cBhvr>
                                      <p:tavLst>
                                        <p:tav tm="0">
                                          <p:val>
                                            <p:strVal val="#ppt_x"/>
                                          </p:val>
                                        </p:tav>
                                        <p:tav tm="100000">
                                          <p:val>
                                            <p:strVal val="#ppt_x"/>
                                          </p:val>
                                        </p:tav>
                                      </p:tavLst>
                                    </p:anim>
                                    <p:anim calcmode="lin" valueType="num">
                                      <p:cBhvr additive="base">
                                        <p:cTn id="76" dur="500" fill="hold"/>
                                        <p:tgtEl>
                                          <p:spTgt spid="75"/>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nodeType="clickEffect">
                                  <p:stCondLst>
                                    <p:cond delay="0"/>
                                  </p:stCondLst>
                                  <p:childTnLst>
                                    <p:set>
                                      <p:cBhvr>
                                        <p:cTn id="80" dur="1" fill="hold">
                                          <p:stCondLst>
                                            <p:cond delay="0"/>
                                          </p:stCondLst>
                                        </p:cTn>
                                        <p:tgtEl>
                                          <p:spTgt spid="78"/>
                                        </p:tgtEl>
                                        <p:attrNameLst>
                                          <p:attrName>style.visibility</p:attrName>
                                        </p:attrNameLst>
                                      </p:cBhvr>
                                      <p:to>
                                        <p:strVal val="visible"/>
                                      </p:to>
                                    </p:set>
                                    <p:anim calcmode="lin" valueType="num">
                                      <p:cBhvr additive="base">
                                        <p:cTn id="81" dur="500" fill="hold"/>
                                        <p:tgtEl>
                                          <p:spTgt spid="78"/>
                                        </p:tgtEl>
                                        <p:attrNameLst>
                                          <p:attrName>ppt_x</p:attrName>
                                        </p:attrNameLst>
                                      </p:cBhvr>
                                      <p:tavLst>
                                        <p:tav tm="0">
                                          <p:val>
                                            <p:strVal val="#ppt_x"/>
                                          </p:val>
                                        </p:tav>
                                        <p:tav tm="100000">
                                          <p:val>
                                            <p:strVal val="#ppt_x"/>
                                          </p:val>
                                        </p:tav>
                                      </p:tavLst>
                                    </p:anim>
                                    <p:anim calcmode="lin" valueType="num">
                                      <p:cBhvr additive="base">
                                        <p:cTn id="82"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xit" presetSubtype="4" fill="hold" nodeType="clickEffect">
                                  <p:stCondLst>
                                    <p:cond delay="0"/>
                                  </p:stCondLst>
                                  <p:childTnLst>
                                    <p:anim calcmode="lin" valueType="num">
                                      <p:cBhvr additive="base">
                                        <p:cTn id="86" dur="500"/>
                                        <p:tgtEl>
                                          <p:spTgt spid="78"/>
                                        </p:tgtEl>
                                        <p:attrNameLst>
                                          <p:attrName>ppt_x</p:attrName>
                                        </p:attrNameLst>
                                      </p:cBhvr>
                                      <p:tavLst>
                                        <p:tav tm="0">
                                          <p:val>
                                            <p:strVal val="ppt_x"/>
                                          </p:val>
                                        </p:tav>
                                        <p:tav tm="100000">
                                          <p:val>
                                            <p:strVal val="ppt_x"/>
                                          </p:val>
                                        </p:tav>
                                      </p:tavLst>
                                    </p:anim>
                                    <p:anim calcmode="lin" valueType="num">
                                      <p:cBhvr additive="base">
                                        <p:cTn id="87" dur="500"/>
                                        <p:tgtEl>
                                          <p:spTgt spid="78"/>
                                        </p:tgtEl>
                                        <p:attrNameLst>
                                          <p:attrName>ppt_y</p:attrName>
                                        </p:attrNameLst>
                                      </p:cBhvr>
                                      <p:tavLst>
                                        <p:tav tm="0">
                                          <p:val>
                                            <p:strVal val="ppt_y"/>
                                          </p:val>
                                        </p:tav>
                                        <p:tav tm="100000">
                                          <p:val>
                                            <p:strVal val="1+ppt_h/2"/>
                                          </p:val>
                                        </p:tav>
                                      </p:tavLst>
                                    </p:anim>
                                    <p:set>
                                      <p:cBhvr>
                                        <p:cTn id="88" dur="1" fill="hold">
                                          <p:stCondLst>
                                            <p:cond delay="499"/>
                                          </p:stCondLst>
                                        </p:cTn>
                                        <p:tgtEl>
                                          <p:spTgt spid="78"/>
                                        </p:tgtEl>
                                        <p:attrNameLst>
                                          <p:attrName>style.visibility</p:attrName>
                                        </p:attrNameLst>
                                      </p:cBhvr>
                                      <p:to>
                                        <p:strVal val="hidden"/>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2"/>
                                        </p:tgtEl>
                                        <p:attrNameLst>
                                          <p:attrName>style.visibility</p:attrName>
                                        </p:attrNameLst>
                                      </p:cBhvr>
                                      <p:to>
                                        <p:strVal val="visible"/>
                                      </p:to>
                                    </p:set>
                                    <p:anim calcmode="lin" valueType="num">
                                      <p:cBhvr additive="base">
                                        <p:cTn id="93" dur="500" fill="hold"/>
                                        <p:tgtEl>
                                          <p:spTgt spid="72"/>
                                        </p:tgtEl>
                                        <p:attrNameLst>
                                          <p:attrName>ppt_x</p:attrName>
                                        </p:attrNameLst>
                                      </p:cBhvr>
                                      <p:tavLst>
                                        <p:tav tm="0">
                                          <p:val>
                                            <p:strVal val="#ppt_x"/>
                                          </p:val>
                                        </p:tav>
                                        <p:tav tm="100000">
                                          <p:val>
                                            <p:strVal val="#ppt_x"/>
                                          </p:val>
                                        </p:tav>
                                      </p:tavLst>
                                    </p:anim>
                                    <p:anim calcmode="lin" valueType="num">
                                      <p:cBhvr additive="base">
                                        <p:cTn id="94" dur="500" fill="hold"/>
                                        <p:tgtEl>
                                          <p:spTgt spid="72"/>
                                        </p:tgtEl>
                                        <p:attrNameLst>
                                          <p:attrName>ppt_y</p:attrName>
                                        </p:attrNameLst>
                                      </p:cBhvr>
                                      <p:tavLst>
                                        <p:tav tm="0">
                                          <p:val>
                                            <p:strVal val="1+#ppt_h/2"/>
                                          </p:val>
                                        </p:tav>
                                        <p:tav tm="100000">
                                          <p:val>
                                            <p:strVal val="#ppt_y"/>
                                          </p:val>
                                        </p:tav>
                                      </p:tavLst>
                                    </p:anim>
                                  </p:childTnLst>
                                </p:cTn>
                              </p:par>
                              <p:par>
                                <p:cTn id="95" presetID="2" presetClass="entr" presetSubtype="4" fill="hold" grpId="0" nodeType="withEffect">
                                  <p:stCondLst>
                                    <p:cond delay="0"/>
                                  </p:stCondLst>
                                  <p:childTnLst>
                                    <p:set>
                                      <p:cBhvr>
                                        <p:cTn id="96" dur="1" fill="hold">
                                          <p:stCondLst>
                                            <p:cond delay="0"/>
                                          </p:stCondLst>
                                        </p:cTn>
                                        <p:tgtEl>
                                          <p:spTgt spid="71"/>
                                        </p:tgtEl>
                                        <p:attrNameLst>
                                          <p:attrName>style.visibility</p:attrName>
                                        </p:attrNameLst>
                                      </p:cBhvr>
                                      <p:to>
                                        <p:strVal val="visible"/>
                                      </p:to>
                                    </p:set>
                                    <p:anim calcmode="lin" valueType="num">
                                      <p:cBhvr additive="base">
                                        <p:cTn id="97" dur="500" fill="hold"/>
                                        <p:tgtEl>
                                          <p:spTgt spid="71"/>
                                        </p:tgtEl>
                                        <p:attrNameLst>
                                          <p:attrName>ppt_x</p:attrName>
                                        </p:attrNameLst>
                                      </p:cBhvr>
                                      <p:tavLst>
                                        <p:tav tm="0">
                                          <p:val>
                                            <p:strVal val="#ppt_x"/>
                                          </p:val>
                                        </p:tav>
                                        <p:tav tm="100000">
                                          <p:val>
                                            <p:strVal val="#ppt_x"/>
                                          </p:val>
                                        </p:tav>
                                      </p:tavLst>
                                    </p:anim>
                                    <p:anim calcmode="lin" valueType="num">
                                      <p:cBhvr additive="base">
                                        <p:cTn id="98" dur="500" fill="hold"/>
                                        <p:tgtEl>
                                          <p:spTgt spid="71"/>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nodeType="clickEffect">
                                  <p:stCondLst>
                                    <p:cond delay="0"/>
                                  </p:stCondLst>
                                  <p:childTnLst>
                                    <p:set>
                                      <p:cBhvr>
                                        <p:cTn id="102" dur="1" fill="hold">
                                          <p:stCondLst>
                                            <p:cond delay="0"/>
                                          </p:stCondLst>
                                        </p:cTn>
                                        <p:tgtEl>
                                          <p:spTgt spid="79"/>
                                        </p:tgtEl>
                                        <p:attrNameLst>
                                          <p:attrName>style.visibility</p:attrName>
                                        </p:attrNameLst>
                                      </p:cBhvr>
                                      <p:to>
                                        <p:strVal val="visible"/>
                                      </p:to>
                                    </p:set>
                                    <p:anim calcmode="lin" valueType="num">
                                      <p:cBhvr additive="base">
                                        <p:cTn id="103" dur="500" fill="hold"/>
                                        <p:tgtEl>
                                          <p:spTgt spid="79"/>
                                        </p:tgtEl>
                                        <p:attrNameLst>
                                          <p:attrName>ppt_x</p:attrName>
                                        </p:attrNameLst>
                                      </p:cBhvr>
                                      <p:tavLst>
                                        <p:tav tm="0">
                                          <p:val>
                                            <p:strVal val="#ppt_x"/>
                                          </p:val>
                                        </p:tav>
                                        <p:tav tm="100000">
                                          <p:val>
                                            <p:strVal val="#ppt_x"/>
                                          </p:val>
                                        </p:tav>
                                      </p:tavLst>
                                    </p:anim>
                                    <p:anim calcmode="lin" valueType="num">
                                      <p:cBhvr additive="base">
                                        <p:cTn id="104" dur="500" fill="hold"/>
                                        <p:tgtEl>
                                          <p:spTgt spid="79"/>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nodeType="clickEffect">
                                  <p:stCondLst>
                                    <p:cond delay="0"/>
                                  </p:stCondLst>
                                  <p:childTnLst>
                                    <p:anim calcmode="lin" valueType="num">
                                      <p:cBhvr additive="base">
                                        <p:cTn id="108" dur="500"/>
                                        <p:tgtEl>
                                          <p:spTgt spid="79"/>
                                        </p:tgtEl>
                                        <p:attrNameLst>
                                          <p:attrName>ppt_x</p:attrName>
                                        </p:attrNameLst>
                                      </p:cBhvr>
                                      <p:tavLst>
                                        <p:tav tm="0">
                                          <p:val>
                                            <p:strVal val="ppt_x"/>
                                          </p:val>
                                        </p:tav>
                                        <p:tav tm="100000">
                                          <p:val>
                                            <p:strVal val="ppt_x"/>
                                          </p:val>
                                        </p:tav>
                                      </p:tavLst>
                                    </p:anim>
                                    <p:anim calcmode="lin" valueType="num">
                                      <p:cBhvr additive="base">
                                        <p:cTn id="109" dur="500"/>
                                        <p:tgtEl>
                                          <p:spTgt spid="79"/>
                                        </p:tgtEl>
                                        <p:attrNameLst>
                                          <p:attrName>ppt_y</p:attrName>
                                        </p:attrNameLst>
                                      </p:cBhvr>
                                      <p:tavLst>
                                        <p:tav tm="0">
                                          <p:val>
                                            <p:strVal val="ppt_y"/>
                                          </p:val>
                                        </p:tav>
                                        <p:tav tm="100000">
                                          <p:val>
                                            <p:strVal val="1+ppt_h/2"/>
                                          </p:val>
                                        </p:tav>
                                      </p:tavLst>
                                    </p:anim>
                                    <p:set>
                                      <p:cBhvr>
                                        <p:cTn id="110" dur="1" fill="hold">
                                          <p:stCondLst>
                                            <p:cond delay="499"/>
                                          </p:stCondLst>
                                        </p:cTn>
                                        <p:tgtEl>
                                          <p:spTgt spid="7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7" grpId="0"/>
      <p:bldP spid="69" grpId="0"/>
      <p:bldP spid="73" grpId="0"/>
      <p:bldP spid="75" grpId="0"/>
      <p:bldP spid="72" grpId="0"/>
      <p:bldP spid="71"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6" name="文本框 5"/>
          <p:cNvSpPr txBox="1"/>
          <p:nvPr/>
        </p:nvSpPr>
        <p:spPr>
          <a:xfrm>
            <a:off x="755650" y="1083310"/>
            <a:ext cx="5606415" cy="405765"/>
          </a:xfrm>
          <a:prstGeom prst="rect">
            <a:avLst/>
          </a:prstGeom>
          <a:noFill/>
        </p:spPr>
        <p:txBody>
          <a:bodyPr>
            <a:noAutofit/>
          </a:bodyPr>
          <a:p>
            <a:pPr>
              <a:defRPr/>
            </a:pPr>
            <a:r>
              <a:rPr lang="en-US" altLang="zh-CN" sz="1800">
                <a:solidFill>
                  <a:srgbClr val="000066"/>
                </a:solidFill>
                <a:uFillTx/>
                <a:latin typeface="Times New Roman" panose="02020603050405020304" pitchFamily="18" charset="0"/>
              </a:rPr>
              <a:t>n</a:t>
            </a:r>
            <a:r>
              <a:rPr lang="zh-CN" altLang="en-US" sz="1800">
                <a:solidFill>
                  <a:srgbClr val="000066"/>
                </a:solidFill>
                <a:uFillTx/>
                <a:latin typeface="Times New Roman" panose="02020603050405020304" pitchFamily="18" charset="0"/>
              </a:rPr>
              <a:t>皇后模板</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pic>
        <p:nvPicPr>
          <p:cNvPr id="7" name="图片 6"/>
          <p:cNvPicPr>
            <a:picLocks noChangeAspect="1"/>
          </p:cNvPicPr>
          <p:nvPr/>
        </p:nvPicPr>
        <p:blipFill>
          <a:blip r:embed="rId1"/>
          <a:stretch>
            <a:fillRect/>
          </a:stretch>
        </p:blipFill>
        <p:spPr>
          <a:xfrm>
            <a:off x="3273425" y="1700530"/>
            <a:ext cx="3962400" cy="3648075"/>
          </a:xfrm>
          <a:prstGeom prst="rect">
            <a:avLst/>
          </a:prstGeom>
        </p:spPr>
      </p:pic>
      <p:sp>
        <p:nvSpPr>
          <p:cNvPr id="2" name="文本框 1"/>
          <p:cNvSpPr txBox="1"/>
          <p:nvPr/>
        </p:nvSpPr>
        <p:spPr>
          <a:xfrm>
            <a:off x="554990" y="5704840"/>
            <a:ext cx="5606415" cy="405765"/>
          </a:xfrm>
          <a:prstGeom prst="rect">
            <a:avLst/>
          </a:prstGeom>
          <a:noFill/>
        </p:spPr>
        <p:txBody>
          <a:bodyPr>
            <a:noAutofit/>
          </a:bodyPr>
          <a:p>
            <a:pPr>
              <a:defRPr/>
            </a:pPr>
            <a:r>
              <a:rPr lang="zh-CN" altLang="en-US" sz="1800">
                <a:solidFill>
                  <a:srgbClr val="000066"/>
                </a:solidFill>
                <a:uFillTx/>
                <a:latin typeface="Times New Roman" panose="02020603050405020304" pitchFamily="18" charset="0"/>
              </a:rPr>
              <a:t>现在问题的关键是，如何找到合适的方法来剪枝？</a:t>
            </a:r>
            <a:r>
              <a:rPr lang="en-US" altLang="zh-CN" sz="1800">
                <a:solidFill>
                  <a:srgbClr val="000066"/>
                </a:solidFill>
                <a:uFillTx/>
                <a:latin typeface="Times New Roman" panose="02020603050405020304" pitchFamily="18" charset="0"/>
              </a:rPr>
              <a:t> </a:t>
            </a:r>
            <a:endParaRPr lang="en-US" altLang="zh-CN" sz="1800">
              <a:solidFill>
                <a:srgbClr val="000066"/>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graphicFrame>
        <p:nvGraphicFramePr>
          <p:cNvPr id="79" name="表格 78"/>
          <p:cNvGraphicFramePr/>
          <p:nvPr>
            <p:custDataLst>
              <p:tags r:id="rId1"/>
            </p:custDataLst>
          </p:nvPr>
        </p:nvGraphicFramePr>
        <p:xfrm>
          <a:off x="5723890" y="3140710"/>
          <a:ext cx="2062480" cy="1539240"/>
        </p:xfrm>
        <a:graphic>
          <a:graphicData uri="http://schemas.openxmlformats.org/drawingml/2006/table">
            <a:tbl>
              <a:tblPr firstRow="1" bandRow="1">
                <a:tableStyleId>{5C22544A-7EE6-4342-B048-85BDC9FD1C3A}</a:tableStyleId>
              </a:tblPr>
              <a:tblGrid>
                <a:gridCol w="515620"/>
                <a:gridCol w="515620"/>
                <a:gridCol w="515620"/>
                <a:gridCol w="515620"/>
              </a:tblGrid>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8481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3" name="文本框 2"/>
          <p:cNvSpPr txBox="1"/>
          <p:nvPr/>
        </p:nvSpPr>
        <p:spPr>
          <a:xfrm>
            <a:off x="539115" y="1268730"/>
            <a:ext cx="7682230" cy="504190"/>
          </a:xfrm>
          <a:prstGeom prst="rect">
            <a:avLst/>
          </a:prstGeom>
          <a:noFill/>
        </p:spPr>
        <p:txBody>
          <a:bodyPr wrap="square" rtlCol="0">
            <a:noAutofit/>
          </a:bodyPr>
          <a:p>
            <a:r>
              <a:rPr lang="zh-CN" altLang="en-US"/>
              <a:t>因为，行是递归深度，每次都考虑一个所以不需要考虑行的剪枝</a:t>
            </a:r>
            <a:r>
              <a:rPr lang="zh-CN" altLang="en-US"/>
              <a:t>判断。</a:t>
            </a:r>
            <a:endParaRPr lang="zh-CN" altLang="en-US"/>
          </a:p>
        </p:txBody>
      </p:sp>
      <p:sp>
        <p:nvSpPr>
          <p:cNvPr id="5" name="文本框 4"/>
          <p:cNvSpPr txBox="1"/>
          <p:nvPr/>
        </p:nvSpPr>
        <p:spPr>
          <a:xfrm>
            <a:off x="539115" y="1700530"/>
            <a:ext cx="7682230" cy="504190"/>
          </a:xfrm>
          <a:prstGeom prst="rect">
            <a:avLst/>
          </a:prstGeom>
          <a:noFill/>
        </p:spPr>
        <p:txBody>
          <a:bodyPr wrap="square" rtlCol="0">
            <a:noAutofit/>
          </a:bodyPr>
          <a:p>
            <a:r>
              <a:rPr lang="zh-CN" altLang="en-US"/>
              <a:t>因为，列是总共有</a:t>
            </a:r>
            <a:r>
              <a:rPr lang="en-US" altLang="zh-CN"/>
              <a:t>4</a:t>
            </a:r>
            <a:r>
              <a:rPr lang="zh-CN" altLang="en-US"/>
              <a:t>列，可以用一个长度为</a:t>
            </a:r>
            <a:r>
              <a:rPr lang="en-US" altLang="zh-CN"/>
              <a:t>4</a:t>
            </a:r>
            <a:r>
              <a:rPr lang="zh-CN" altLang="en-US"/>
              <a:t>数组，标记是否可以放置</a:t>
            </a:r>
            <a:r>
              <a:rPr lang="zh-CN" altLang="en-US"/>
              <a:t>皇后</a:t>
            </a:r>
            <a:endParaRPr lang="zh-CN" altLang="en-US"/>
          </a:p>
        </p:txBody>
      </p:sp>
      <p:sp>
        <p:nvSpPr>
          <p:cNvPr id="8" name="文本框 7"/>
          <p:cNvSpPr txBox="1"/>
          <p:nvPr/>
        </p:nvSpPr>
        <p:spPr>
          <a:xfrm>
            <a:off x="5723890" y="2780665"/>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9" name="文本框 8"/>
          <p:cNvSpPr txBox="1"/>
          <p:nvPr/>
        </p:nvSpPr>
        <p:spPr>
          <a:xfrm>
            <a:off x="5436235" y="3140710"/>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10" name="文本框 9"/>
          <p:cNvSpPr txBox="1"/>
          <p:nvPr/>
        </p:nvSpPr>
        <p:spPr>
          <a:xfrm>
            <a:off x="5436235" y="429387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11" name="文本框 10"/>
          <p:cNvSpPr txBox="1"/>
          <p:nvPr/>
        </p:nvSpPr>
        <p:spPr>
          <a:xfrm>
            <a:off x="5436235" y="3535680"/>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12" name="文本框 11"/>
          <p:cNvSpPr txBox="1"/>
          <p:nvPr/>
        </p:nvSpPr>
        <p:spPr>
          <a:xfrm>
            <a:off x="5435600" y="3932555"/>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13" name="直接连接符 12"/>
          <p:cNvCxnSpPr/>
          <p:nvPr/>
        </p:nvCxnSpPr>
        <p:spPr>
          <a:xfrm>
            <a:off x="7411720" y="3020060"/>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4" name="直接连接符 13"/>
          <p:cNvCxnSpPr/>
          <p:nvPr/>
        </p:nvCxnSpPr>
        <p:spPr>
          <a:xfrm>
            <a:off x="6732270" y="306832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5" name="直接连接符 14"/>
          <p:cNvCxnSpPr/>
          <p:nvPr/>
        </p:nvCxnSpPr>
        <p:spPr>
          <a:xfrm>
            <a:off x="6228080" y="3068320"/>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6" name="直接连接符 15"/>
          <p:cNvCxnSpPr/>
          <p:nvPr/>
        </p:nvCxnSpPr>
        <p:spPr>
          <a:xfrm>
            <a:off x="5723890" y="3140710"/>
            <a:ext cx="2016125" cy="15119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7" name="直接连接符 16"/>
          <p:cNvCxnSpPr/>
          <p:nvPr/>
        </p:nvCxnSpPr>
        <p:spPr>
          <a:xfrm>
            <a:off x="5579745" y="3428365"/>
            <a:ext cx="1728470" cy="136906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8" name="直接连接符 17"/>
          <p:cNvCxnSpPr/>
          <p:nvPr/>
        </p:nvCxnSpPr>
        <p:spPr>
          <a:xfrm>
            <a:off x="5579745" y="4272915"/>
            <a:ext cx="616585" cy="55245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19" name="直接连接符 18"/>
          <p:cNvCxnSpPr/>
          <p:nvPr/>
        </p:nvCxnSpPr>
        <p:spPr>
          <a:xfrm>
            <a:off x="5580380" y="3860800"/>
            <a:ext cx="1151890" cy="984885"/>
          </a:xfrm>
          <a:prstGeom prst="line">
            <a:avLst/>
          </a:prstGeom>
          <a:solidFill>
            <a:schemeClr val="accent1"/>
          </a:solidFill>
          <a:ln w="19050" cap="flat" cmpd="sng" algn="ctr">
            <a:solidFill>
              <a:srgbClr val="FF0000"/>
            </a:solidFill>
            <a:prstDash val="solid"/>
            <a:round/>
            <a:headEnd type="none" w="med" len="med"/>
            <a:tailEnd type="none" w="med" len="med"/>
          </a:ln>
        </p:spPr>
      </p:cxnSp>
      <p:graphicFrame>
        <p:nvGraphicFramePr>
          <p:cNvPr id="20" name="表格 19"/>
          <p:cNvGraphicFramePr/>
          <p:nvPr>
            <p:custDataLst>
              <p:tags r:id="rId2"/>
            </p:custDataLst>
          </p:nvPr>
        </p:nvGraphicFramePr>
        <p:xfrm>
          <a:off x="1266190" y="2996565"/>
          <a:ext cx="1983740" cy="1513840"/>
        </p:xfrm>
        <a:graphic>
          <a:graphicData uri="http://schemas.openxmlformats.org/drawingml/2006/table">
            <a:tbl>
              <a:tblPr firstRow="1" bandRow="1">
                <a:tableStyleId>{5C22544A-7EE6-4342-B048-85BDC9FD1C3A}</a:tableStyleId>
              </a:tblPr>
              <a:tblGrid>
                <a:gridCol w="495935"/>
                <a:gridCol w="495935"/>
                <a:gridCol w="495935"/>
                <a:gridCol w="495935"/>
              </a:tblGrid>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zh-CN" altLang="en-US">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b="1">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r h="378460">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c>
                  <a:txBody>
                    <a:bodyPr/>
                    <a:p>
                      <a:pPr>
                        <a:buNone/>
                      </a:pPr>
                      <a:endParaRPr lang="en-US" altLang="zh-C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000000">
                        <a:alpha val="0"/>
                      </a:srgbClr>
                    </a:solidFill>
                  </a:tcPr>
                </a:tc>
              </a:tr>
            </a:tbl>
          </a:graphicData>
        </a:graphic>
      </p:graphicFrame>
      <p:sp>
        <p:nvSpPr>
          <p:cNvPr id="21" name="文本框 20"/>
          <p:cNvSpPr txBox="1"/>
          <p:nvPr/>
        </p:nvSpPr>
        <p:spPr>
          <a:xfrm>
            <a:off x="1187450" y="2636520"/>
            <a:ext cx="2472690" cy="36766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0        1          2          3</a:t>
            </a:r>
            <a:endParaRPr lang="en-US" altLang="zh-CN">
              <a:solidFill>
                <a:schemeClr val="tx1"/>
              </a:solidFill>
              <a:uFillTx/>
              <a:latin typeface="Times New Roman" panose="02020603050405020304" pitchFamily="18" charset="0"/>
            </a:endParaRPr>
          </a:p>
        </p:txBody>
      </p:sp>
      <p:sp>
        <p:nvSpPr>
          <p:cNvPr id="22" name="文本框 21"/>
          <p:cNvSpPr txBox="1"/>
          <p:nvPr/>
        </p:nvSpPr>
        <p:spPr>
          <a:xfrm>
            <a:off x="899795" y="29965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23" name="文本框 22"/>
          <p:cNvSpPr txBox="1"/>
          <p:nvPr/>
        </p:nvSpPr>
        <p:spPr>
          <a:xfrm>
            <a:off x="899795" y="4149725"/>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24" name="文本框 23"/>
          <p:cNvSpPr txBox="1"/>
          <p:nvPr/>
        </p:nvSpPr>
        <p:spPr>
          <a:xfrm>
            <a:off x="899795" y="33915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25" name="文本框 24"/>
          <p:cNvSpPr txBox="1"/>
          <p:nvPr/>
        </p:nvSpPr>
        <p:spPr>
          <a:xfrm>
            <a:off x="899160" y="37884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cxnSp>
        <p:nvCxnSpPr>
          <p:cNvPr id="26" name="直接连接符 25"/>
          <p:cNvCxnSpPr/>
          <p:nvPr/>
        </p:nvCxnSpPr>
        <p:spPr>
          <a:xfrm flipH="1">
            <a:off x="1259205" y="29965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3" name="直接连接符 32"/>
          <p:cNvCxnSpPr>
            <a:stCxn id="20" idx="0"/>
          </p:cNvCxnSpPr>
          <p:nvPr/>
        </p:nvCxnSpPr>
        <p:spPr>
          <a:xfrm flipH="1">
            <a:off x="1266190" y="2996565"/>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4" name="直接连接符 33"/>
          <p:cNvCxnSpPr/>
          <p:nvPr/>
        </p:nvCxnSpPr>
        <p:spPr>
          <a:xfrm flipH="1">
            <a:off x="1254125" y="2996565"/>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5" name="直接连接符 34"/>
          <p:cNvCxnSpPr/>
          <p:nvPr/>
        </p:nvCxnSpPr>
        <p:spPr>
          <a:xfrm flipH="1">
            <a:off x="1259205" y="3018155"/>
            <a:ext cx="1971040" cy="149098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6" name="直接连接符 35"/>
          <p:cNvCxnSpPr/>
          <p:nvPr/>
        </p:nvCxnSpPr>
        <p:spPr>
          <a:xfrm flipH="1">
            <a:off x="1763395" y="3388360"/>
            <a:ext cx="1517650" cy="111760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7" name="直接连接符 36"/>
          <p:cNvCxnSpPr/>
          <p:nvPr/>
        </p:nvCxnSpPr>
        <p:spPr>
          <a:xfrm flipH="1">
            <a:off x="2258060" y="3736340"/>
            <a:ext cx="991870" cy="769620"/>
          </a:xfrm>
          <a:prstGeom prst="line">
            <a:avLst/>
          </a:prstGeom>
          <a:solidFill>
            <a:schemeClr val="accent1"/>
          </a:solidFill>
          <a:ln w="19050" cap="flat" cmpd="sng" algn="ctr">
            <a:solidFill>
              <a:srgbClr val="FF0000"/>
            </a:solidFill>
            <a:prstDash val="solid"/>
            <a:round/>
            <a:headEnd type="none" w="med" len="med"/>
            <a:tailEnd type="none" w="med" len="med"/>
          </a:ln>
        </p:spPr>
      </p:cxnSp>
      <p:cxnSp>
        <p:nvCxnSpPr>
          <p:cNvPr id="38" name="直接连接符 37"/>
          <p:cNvCxnSpPr/>
          <p:nvPr/>
        </p:nvCxnSpPr>
        <p:spPr>
          <a:xfrm flipH="1">
            <a:off x="2771775" y="4114165"/>
            <a:ext cx="504190" cy="432435"/>
          </a:xfrm>
          <a:prstGeom prst="line">
            <a:avLst/>
          </a:prstGeom>
          <a:solidFill>
            <a:schemeClr val="accent1"/>
          </a:solidFill>
          <a:ln w="19050" cap="flat" cmpd="sng" algn="ctr">
            <a:solidFill>
              <a:srgbClr val="FF0000"/>
            </a:solidFill>
            <a:prstDash val="solid"/>
            <a:round/>
            <a:headEnd type="none" w="med" len="med"/>
            <a:tailEnd type="none" w="med" len="med"/>
          </a:ln>
        </p:spPr>
      </p:cxnSp>
      <p:sp>
        <p:nvSpPr>
          <p:cNvPr id="40" name="文本框 39"/>
          <p:cNvSpPr txBox="1"/>
          <p:nvPr/>
        </p:nvSpPr>
        <p:spPr>
          <a:xfrm>
            <a:off x="611505" y="2240280"/>
            <a:ext cx="7682230" cy="504190"/>
          </a:xfrm>
          <a:prstGeom prst="rect">
            <a:avLst/>
          </a:prstGeom>
          <a:noFill/>
        </p:spPr>
        <p:txBody>
          <a:bodyPr wrap="square" rtlCol="0">
            <a:noAutofit/>
          </a:bodyPr>
          <a:p>
            <a:r>
              <a:rPr lang="zh-CN" altLang="en-US"/>
              <a:t>最困难的是主对角线和副对角线如何</a:t>
            </a:r>
            <a:r>
              <a:rPr lang="zh-CN" altLang="en-US"/>
              <a:t>判断？</a:t>
            </a:r>
            <a:endParaRPr lang="zh-CN" altLang="en-US"/>
          </a:p>
        </p:txBody>
      </p:sp>
      <p:sp>
        <p:nvSpPr>
          <p:cNvPr id="41" name="文本框 40"/>
          <p:cNvSpPr txBox="1"/>
          <p:nvPr/>
        </p:nvSpPr>
        <p:spPr>
          <a:xfrm>
            <a:off x="7884160" y="4317365"/>
            <a:ext cx="354330" cy="36131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0  </a:t>
            </a:r>
            <a:endParaRPr lang="en-US" altLang="zh-CN">
              <a:solidFill>
                <a:schemeClr val="tx1"/>
              </a:solidFill>
              <a:uFillTx/>
              <a:latin typeface="Times New Roman" panose="02020603050405020304" pitchFamily="18" charset="0"/>
            </a:endParaRPr>
          </a:p>
          <a:p>
            <a:endParaRPr lang="en-US" altLang="zh-CN">
              <a:solidFill>
                <a:schemeClr val="tx1"/>
              </a:solidFill>
              <a:uFillTx/>
              <a:latin typeface="Times New Roman" panose="02020603050405020304" pitchFamily="18" charset="0"/>
            </a:endParaRPr>
          </a:p>
        </p:txBody>
      </p:sp>
      <p:sp>
        <p:nvSpPr>
          <p:cNvPr id="42" name="文本框 41"/>
          <p:cNvSpPr txBox="1"/>
          <p:nvPr/>
        </p:nvSpPr>
        <p:spPr>
          <a:xfrm>
            <a:off x="7884160" y="3950335"/>
            <a:ext cx="410845" cy="325755"/>
          </a:xfrm>
          <a:prstGeom prst="rect">
            <a:avLst/>
          </a:prstGeom>
          <a:noFill/>
        </p:spPr>
        <p:txBody>
          <a:bodyPr wrap="square" rtlCol="0" anchor="t">
            <a:noAutofit/>
          </a:bodyPr>
          <a:p>
            <a:r>
              <a:rPr lang="en-US" altLang="zh-CN">
                <a:uFillTx/>
                <a:latin typeface="Times New Roman" panose="02020603050405020304" pitchFamily="18" charset="0"/>
                <a:sym typeface="+mn-ea"/>
              </a:rPr>
              <a:t>1</a:t>
            </a:r>
            <a:endParaRPr lang="en-US" altLang="zh-CN">
              <a:uFillTx/>
              <a:latin typeface="Times New Roman" panose="02020603050405020304" pitchFamily="18" charset="0"/>
              <a:sym typeface="+mn-ea"/>
            </a:endParaRPr>
          </a:p>
        </p:txBody>
      </p:sp>
      <p:sp>
        <p:nvSpPr>
          <p:cNvPr id="43" name="文本框 42"/>
          <p:cNvSpPr txBox="1"/>
          <p:nvPr/>
        </p:nvSpPr>
        <p:spPr>
          <a:xfrm>
            <a:off x="7866380" y="3572510"/>
            <a:ext cx="354965" cy="269240"/>
          </a:xfrm>
          <a:prstGeom prst="rect">
            <a:avLst/>
          </a:prstGeom>
          <a:noFill/>
        </p:spPr>
        <p:txBody>
          <a:bodyPr wrap="square" rtlCol="0" anchor="t">
            <a:noAutofit/>
          </a:bodyPr>
          <a:p>
            <a:r>
              <a:rPr lang="en-US" altLang="zh-CN">
                <a:uFillTx/>
                <a:latin typeface="Times New Roman" panose="02020603050405020304" pitchFamily="18" charset="0"/>
                <a:sym typeface="+mn-ea"/>
              </a:rPr>
              <a:t>2 </a:t>
            </a:r>
            <a:endParaRPr lang="en-US" altLang="zh-CN">
              <a:uFillTx/>
              <a:latin typeface="Times New Roman" panose="02020603050405020304" pitchFamily="18" charset="0"/>
              <a:sym typeface="+mn-ea"/>
            </a:endParaRPr>
          </a:p>
        </p:txBody>
      </p:sp>
      <p:sp>
        <p:nvSpPr>
          <p:cNvPr id="44" name="文本框 43"/>
          <p:cNvSpPr txBox="1"/>
          <p:nvPr/>
        </p:nvSpPr>
        <p:spPr>
          <a:xfrm>
            <a:off x="7854950" y="3149600"/>
            <a:ext cx="366395" cy="384810"/>
          </a:xfrm>
          <a:prstGeom prst="rect">
            <a:avLst/>
          </a:prstGeom>
          <a:noFill/>
        </p:spPr>
        <p:txBody>
          <a:bodyPr wrap="square" rtlCol="0" anchor="t">
            <a:noAutofit/>
          </a:bodyPr>
          <a:p>
            <a:r>
              <a:rPr lang="en-US" altLang="zh-CN">
                <a:uFillTx/>
                <a:latin typeface="Times New Roman" panose="02020603050405020304" pitchFamily="18" charset="0"/>
                <a:sym typeface="+mn-ea"/>
              </a:rPr>
              <a:t>3</a:t>
            </a:r>
            <a:endParaRPr lang="en-US" altLang="zh-CN">
              <a:uFillTx/>
              <a:latin typeface="Times New Roman" panose="02020603050405020304" pitchFamily="18" charset="0"/>
              <a:sym typeface="+mn-ea"/>
            </a:endParaRPr>
          </a:p>
        </p:txBody>
      </p:sp>
      <p:sp>
        <p:nvSpPr>
          <p:cNvPr id="45" name="文本框 44"/>
          <p:cNvSpPr txBox="1"/>
          <p:nvPr/>
        </p:nvSpPr>
        <p:spPr>
          <a:xfrm>
            <a:off x="1085850" y="5100955"/>
            <a:ext cx="1308100" cy="34226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sub [i+j]</a:t>
            </a:r>
            <a:endParaRPr lang="en-US" altLang="zh-CN">
              <a:latin typeface="Times New Roman" panose="02020603050405020304" pitchFamily="18" charset="0"/>
              <a:cs typeface="Times New Roman" panose="02020603050405020304" pitchFamily="18" charset="0"/>
            </a:endParaRPr>
          </a:p>
        </p:txBody>
      </p:sp>
      <p:sp>
        <p:nvSpPr>
          <p:cNvPr id="46" name="文本框 45"/>
          <p:cNvSpPr txBox="1"/>
          <p:nvPr/>
        </p:nvSpPr>
        <p:spPr>
          <a:xfrm>
            <a:off x="6103620" y="5121910"/>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[j+k],k=-i+n-1</a:t>
            </a:r>
            <a:endParaRPr lang="en-US" altLang="zh-CN">
              <a:latin typeface="Times New Roman" panose="02020603050405020304" pitchFamily="18" charset="0"/>
              <a:cs typeface="Times New Roman" panose="02020603050405020304" pitchFamily="18" charset="0"/>
            </a:endParaRPr>
          </a:p>
        </p:txBody>
      </p:sp>
      <p:sp>
        <p:nvSpPr>
          <p:cNvPr id="47" name="文本框 46"/>
          <p:cNvSpPr txBox="1"/>
          <p:nvPr/>
        </p:nvSpPr>
        <p:spPr>
          <a:xfrm>
            <a:off x="6155690" y="5426075"/>
            <a:ext cx="2408555" cy="2813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main [j-i+n-1]</a:t>
            </a:r>
            <a:endParaRPr lang="en-US" altLang="zh-CN">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5"/>
                                        </p:tgtEl>
                                        <p:attrNameLst>
                                          <p:attrName>style.visibility</p:attrName>
                                        </p:attrNameLst>
                                      </p:cBhvr>
                                      <p:to>
                                        <p:strVal val="visible"/>
                                      </p:to>
                                    </p:set>
                                    <p:anim calcmode="lin" valueType="num">
                                      <p:cBhvr additive="base">
                                        <p:cTn id="7" dur="500" fill="hold"/>
                                        <p:tgtEl>
                                          <p:spTgt spid="45"/>
                                        </p:tgtEl>
                                        <p:attrNameLst>
                                          <p:attrName>ppt_x</p:attrName>
                                        </p:attrNameLst>
                                      </p:cBhvr>
                                      <p:tavLst>
                                        <p:tav tm="0">
                                          <p:val>
                                            <p:strVal val="#ppt_x"/>
                                          </p:val>
                                        </p:tav>
                                        <p:tav tm="100000">
                                          <p:val>
                                            <p:strVal val="#ppt_x"/>
                                          </p:val>
                                        </p:tav>
                                      </p:tavLst>
                                    </p:anim>
                                    <p:anim calcmode="lin" valueType="num">
                                      <p:cBhvr additive="base">
                                        <p:cTn id="8"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41"/>
                                        </p:tgtEl>
                                        <p:attrNameLst>
                                          <p:attrName>style.visibility</p:attrName>
                                        </p:attrNameLst>
                                      </p:cBhvr>
                                      <p:to>
                                        <p:strVal val="visible"/>
                                      </p:to>
                                    </p:set>
                                    <p:anim calcmode="lin" valueType="num">
                                      <p:cBhvr additive="base">
                                        <p:cTn id="13" dur="500" fill="hold"/>
                                        <p:tgtEl>
                                          <p:spTgt spid="41"/>
                                        </p:tgtEl>
                                        <p:attrNameLst>
                                          <p:attrName>ppt_x</p:attrName>
                                        </p:attrNameLst>
                                      </p:cBhvr>
                                      <p:tavLst>
                                        <p:tav tm="0">
                                          <p:val>
                                            <p:strVal val="#ppt_x"/>
                                          </p:val>
                                        </p:tav>
                                        <p:tav tm="100000">
                                          <p:val>
                                            <p:strVal val="#ppt_x"/>
                                          </p:val>
                                        </p:tav>
                                      </p:tavLst>
                                    </p:anim>
                                    <p:anim calcmode="lin" valueType="num">
                                      <p:cBhvr additive="base">
                                        <p:cTn id="14" dur="500" fill="hold"/>
                                        <p:tgtEl>
                                          <p:spTgt spid="41"/>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anim calcmode="lin" valueType="num">
                                      <p:cBhvr additive="base">
                                        <p:cTn id="17" dur="500" fill="hold"/>
                                        <p:tgtEl>
                                          <p:spTgt spid="42"/>
                                        </p:tgtEl>
                                        <p:attrNameLst>
                                          <p:attrName>ppt_x</p:attrName>
                                        </p:attrNameLst>
                                      </p:cBhvr>
                                      <p:tavLst>
                                        <p:tav tm="0">
                                          <p:val>
                                            <p:strVal val="#ppt_x"/>
                                          </p:val>
                                        </p:tav>
                                        <p:tav tm="100000">
                                          <p:val>
                                            <p:strVal val="#ppt_x"/>
                                          </p:val>
                                        </p:tav>
                                      </p:tavLst>
                                    </p:anim>
                                    <p:anim calcmode="lin" valueType="num">
                                      <p:cBhvr additive="base">
                                        <p:cTn id="18" dur="500" fill="hold"/>
                                        <p:tgtEl>
                                          <p:spTgt spid="42"/>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3"/>
                                        </p:tgtEl>
                                        <p:attrNameLst>
                                          <p:attrName>style.visibility</p:attrName>
                                        </p:attrNameLst>
                                      </p:cBhvr>
                                      <p:to>
                                        <p:strVal val="visible"/>
                                      </p:to>
                                    </p:set>
                                    <p:anim calcmode="lin" valueType="num">
                                      <p:cBhvr additive="base">
                                        <p:cTn id="21" dur="500" fill="hold"/>
                                        <p:tgtEl>
                                          <p:spTgt spid="43"/>
                                        </p:tgtEl>
                                        <p:attrNameLst>
                                          <p:attrName>ppt_x</p:attrName>
                                        </p:attrNameLst>
                                      </p:cBhvr>
                                      <p:tavLst>
                                        <p:tav tm="0">
                                          <p:val>
                                            <p:strVal val="#ppt_x"/>
                                          </p:val>
                                        </p:tav>
                                        <p:tav tm="100000">
                                          <p:val>
                                            <p:strVal val="#ppt_x"/>
                                          </p:val>
                                        </p:tav>
                                      </p:tavLst>
                                    </p:anim>
                                    <p:anim calcmode="lin" valueType="num">
                                      <p:cBhvr additive="base">
                                        <p:cTn id="22" dur="500" fill="hold"/>
                                        <p:tgtEl>
                                          <p:spTgt spid="43"/>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44"/>
                                        </p:tgtEl>
                                        <p:attrNameLst>
                                          <p:attrName>style.visibility</p:attrName>
                                        </p:attrNameLst>
                                      </p:cBhvr>
                                      <p:to>
                                        <p:strVal val="visible"/>
                                      </p:to>
                                    </p:set>
                                    <p:anim calcmode="lin" valueType="num">
                                      <p:cBhvr additive="base">
                                        <p:cTn id="25" dur="500" fill="hold"/>
                                        <p:tgtEl>
                                          <p:spTgt spid="44"/>
                                        </p:tgtEl>
                                        <p:attrNameLst>
                                          <p:attrName>ppt_x</p:attrName>
                                        </p:attrNameLst>
                                      </p:cBhvr>
                                      <p:tavLst>
                                        <p:tav tm="0">
                                          <p:val>
                                            <p:strVal val="#ppt_x"/>
                                          </p:val>
                                        </p:tav>
                                        <p:tav tm="100000">
                                          <p:val>
                                            <p:strVal val="#ppt_x"/>
                                          </p:val>
                                        </p:tav>
                                      </p:tavLst>
                                    </p:anim>
                                    <p:anim calcmode="lin" valueType="num">
                                      <p:cBhvr additive="base">
                                        <p:cTn id="26"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46"/>
                                        </p:tgtEl>
                                        <p:attrNameLst>
                                          <p:attrName>style.visibility</p:attrName>
                                        </p:attrNameLst>
                                      </p:cBhvr>
                                      <p:to>
                                        <p:strVal val="visible"/>
                                      </p:to>
                                    </p:set>
                                    <p:anim calcmode="lin" valueType="num">
                                      <p:cBhvr additive="base">
                                        <p:cTn id="31" dur="500" fill="hold"/>
                                        <p:tgtEl>
                                          <p:spTgt spid="46"/>
                                        </p:tgtEl>
                                        <p:attrNameLst>
                                          <p:attrName>ppt_x</p:attrName>
                                        </p:attrNameLst>
                                      </p:cBhvr>
                                      <p:tavLst>
                                        <p:tav tm="0">
                                          <p:val>
                                            <p:strVal val="#ppt_x"/>
                                          </p:val>
                                        </p:tav>
                                        <p:tav tm="100000">
                                          <p:val>
                                            <p:strVal val="#ppt_x"/>
                                          </p:val>
                                        </p:tav>
                                      </p:tavLst>
                                    </p:anim>
                                    <p:anim calcmode="lin" valueType="num">
                                      <p:cBhvr additive="base">
                                        <p:cTn id="32" dur="500" fill="hold"/>
                                        <p:tgtEl>
                                          <p:spTgt spid="46"/>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47"/>
                                        </p:tgtEl>
                                        <p:attrNameLst>
                                          <p:attrName>style.visibility</p:attrName>
                                        </p:attrNameLst>
                                      </p:cBhvr>
                                      <p:to>
                                        <p:strVal val="visible"/>
                                      </p:to>
                                    </p:set>
                                    <p:anim calcmode="lin" valueType="num">
                                      <p:cBhvr additive="base">
                                        <p:cTn id="35" dur="500" fill="hold"/>
                                        <p:tgtEl>
                                          <p:spTgt spid="47"/>
                                        </p:tgtEl>
                                        <p:attrNameLst>
                                          <p:attrName>ppt_x</p:attrName>
                                        </p:attrNameLst>
                                      </p:cBhvr>
                                      <p:tavLst>
                                        <p:tav tm="0">
                                          <p:val>
                                            <p:strVal val="#ppt_x"/>
                                          </p:val>
                                        </p:tav>
                                        <p:tav tm="100000">
                                          <p:val>
                                            <p:strVal val="#ppt_x"/>
                                          </p:val>
                                        </p:tav>
                                      </p:tavLst>
                                    </p:anim>
                                    <p:anim calcmode="lin" valueType="num">
                                      <p:cBhvr additive="base">
                                        <p:cTn id="36" dur="500" fill="hold"/>
                                        <p:tgtEl>
                                          <p:spTgt spid="4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2" grpId="0"/>
      <p:bldP spid="43" grpId="0"/>
      <p:bldP spid="44" grpId="0"/>
      <p:bldP spid="41" grpId="1"/>
      <p:bldP spid="42" grpId="1"/>
      <p:bldP spid="43" grpId="1"/>
      <p:bldP spid="44" grpId="1"/>
      <p:bldP spid="45" grpId="0"/>
      <p:bldP spid="45" grpId="1"/>
      <p:bldP spid="46" grpId="0"/>
      <p:bldP spid="47" grpId="0"/>
      <p:bldP spid="46" grpId="1"/>
      <p:bldP spid="47" grpId="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3" name="文本框 2"/>
          <p:cNvSpPr txBox="1"/>
          <p:nvPr/>
        </p:nvSpPr>
        <p:spPr>
          <a:xfrm>
            <a:off x="873125" y="692150"/>
            <a:ext cx="7946390" cy="535432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    def solveNQueens(self, n: int) -&gt; list: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 = [0]*n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 = [0]*(2*n-1)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dfs(n:int,lev:int,temp:list)-&gt;int: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n==lev: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col[i]==0 and main_Line[i+lev]==0 and sub_Line[i-lev+n-1]==0: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count+=dfs(n,lev+1)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col[i]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main_Line[i+lev]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sub_Line[i-lev+n-1]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count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dfs(n,0,)</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spd="slow" p14:dur="1000"/>
    </mc:Choice>
    <mc:Fallback>
      <p:transition spd="slow"/>
    </mc:Fallback>
  </mc:AlternateContent>
</p:sld>
</file>

<file path=ppt/tags/tag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2.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3.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4.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5.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6.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7.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8.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9.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0.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1.xml><?xml version="1.0" encoding="utf-8"?>
<p:tagLst xmlns:p="http://schemas.openxmlformats.org/presentationml/2006/main">
  <p:tag name="KSO_WM_DIAGRAM_VIRTUALLY_FRAME" val="{&quot;height&quot;:166.3749606299213,&quot;left&quot;:310.866062992126,&quot;top&quot;:190.48125984251968,&quot;width&quot;:326.7233070866141}"/>
</p:tagLst>
</file>

<file path=ppt/tags/tag12.xml><?xml version="1.0" encoding="utf-8"?>
<p:tagLst xmlns:p="http://schemas.openxmlformats.org/presentationml/2006/main">
  <p:tag name="TABLE_ENDDRAG_ORIGIN_RECT" val="204*180"/>
  <p:tag name="TABLE_ENDDRAG_RECT" val="108*180*204*180"/>
</p:tagLst>
</file>

<file path=ppt/tags/tag13.xml><?xml version="1.0" encoding="utf-8"?>
<p:tagLst xmlns:p="http://schemas.openxmlformats.org/presentationml/2006/main">
  <p:tag name="TABLE_ENDDRAG_ORIGIN_RECT" val="173*120"/>
  <p:tag name="TABLE_ENDDRAG_RECT" val="108*210*173*120"/>
</p:tagLst>
</file>

<file path=ppt/tags/tag14.xml><?xml version="1.0" encoding="utf-8"?>
<p:tagLst xmlns:p="http://schemas.openxmlformats.org/presentationml/2006/main">
  <p:tag name="TABLE_ENDDRAG_ORIGIN_RECT" val="173*120"/>
  <p:tag name="TABLE_ENDDRAG_RECT" val="108*210*173*120"/>
</p:tagLst>
</file>

<file path=ppt/tags/tag15.xml><?xml version="1.0" encoding="utf-8"?>
<p:tagLst xmlns:p="http://schemas.openxmlformats.org/presentationml/2006/main">
  <p:tag name="TABLE_ENDDRAG_ORIGIN_RECT" val="173*120"/>
  <p:tag name="TABLE_ENDDRAG_RECT" val="108*210*173*120"/>
</p:tagLst>
</file>

<file path=ppt/tags/tag16.xml><?xml version="1.0" encoding="utf-8"?>
<p:tagLst xmlns:p="http://schemas.openxmlformats.org/presentationml/2006/main">
  <p:tag name="TABLE_ENDDRAG_ORIGIN_RECT" val="173*120"/>
  <p:tag name="TABLE_ENDDRAG_RECT" val="108*210*173*120"/>
</p:tagLst>
</file>

<file path=ppt/tags/tag17.xml><?xml version="1.0" encoding="utf-8"?>
<p:tagLst xmlns:p="http://schemas.openxmlformats.org/presentationml/2006/main">
  <p:tag name="TABLE_ENDDRAG_ORIGIN_RECT" val="173*120"/>
  <p:tag name="TABLE_ENDDRAG_RECT" val="108*210*173*120"/>
</p:tagLst>
</file>

<file path=ppt/tags/tag18.xml><?xml version="1.0" encoding="utf-8"?>
<p:tagLst xmlns:p="http://schemas.openxmlformats.org/presentationml/2006/main">
  <p:tag name="TABLE_ENDDRAG_ORIGIN_RECT" val="173*120"/>
  <p:tag name="TABLE_ENDDRAG_RECT" val="108*210*173*120"/>
</p:tagLst>
</file>

<file path=ppt/tags/tag19.xml><?xml version="1.0" encoding="utf-8"?>
<p:tagLst xmlns:p="http://schemas.openxmlformats.org/presentationml/2006/main">
  <p:tag name="TABLE_ENDDRAG_ORIGIN_RECT" val="162*121"/>
  <p:tag name="TABLE_ENDDRAG_RECT" val="138*201*162*121"/>
</p:tagLst>
</file>

<file path=ppt/tags/tag20.xml><?xml version="1.0" encoding="utf-8"?>
<p:tagLst xmlns:p="http://schemas.openxmlformats.org/presentationml/2006/main">
  <p:tag name="TABLE_ENDDRAG_ORIGIN_RECT" val="156*119"/>
  <p:tag name="TABLE_ENDDRAG_RECT" val="99*235*156*1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6845</Words>
  <Application>WPS 演示</Application>
  <PresentationFormat>全屏显示(4:3)</PresentationFormat>
  <Paragraphs>1415</Paragraphs>
  <Slides>55</Slides>
  <Notes>16</Notes>
  <HiddenSlides>0</HiddenSlides>
  <MMClips>0</MMClips>
  <ScaleCrop>false</ScaleCrop>
  <HeadingPairs>
    <vt:vector size="6" baseType="variant">
      <vt:variant>
        <vt:lpstr>已用的字体</vt:lpstr>
      </vt:variant>
      <vt:variant>
        <vt:i4>17</vt:i4>
      </vt:variant>
      <vt:variant>
        <vt:lpstr>主题</vt:lpstr>
      </vt:variant>
      <vt:variant>
        <vt:i4>1</vt:i4>
      </vt:variant>
      <vt:variant>
        <vt:lpstr>幻灯片标题</vt:lpstr>
      </vt:variant>
      <vt:variant>
        <vt:i4>55</vt:i4>
      </vt:variant>
    </vt:vector>
  </HeadingPairs>
  <TitlesOfParts>
    <vt:vector size="73"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Tahoma</vt:lpstr>
      <vt:lpstr>Arial Unicode MS</vt:lpstr>
      <vt:lpstr>楷体</vt:lpstr>
      <vt:lpstr>隶书</vt:lpstr>
      <vt:lpstr>Wingdings</vt:lpstr>
      <vt:lpstr>方正正大黑简体</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416</cp:revision>
  <dcterms:created xsi:type="dcterms:W3CDTF">2010-09-23T08:30:00Z</dcterms:created>
  <dcterms:modified xsi:type="dcterms:W3CDTF">2025-12-13T11:15:49Z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8CB5677F65EF44AF96EB1F9AC61F9FD7_12</vt:lpwstr>
  </property>
  <property fmtid="{D5CDD505-2E9C-101B-9397-08002B2CF9AE}" pid="4" name="KSOProductBuildVer">
    <vt:lpwstr>2052-12.1.0.24034</vt:lpwstr>
  </property>
</Properties>
</file>