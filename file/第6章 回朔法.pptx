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0"/>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07" r:id="rId26"/>
    <p:sldId id="310" r:id="rId27"/>
    <p:sldId id="313" r:id="rId28"/>
    <p:sldId id="311" r:id="rId29"/>
    <p:sldId id="312" r:id="rId30"/>
    <p:sldId id="314" r:id="rId31"/>
    <p:sldId id="317" r:id="rId32"/>
    <p:sldId id="318" r:id="rId33"/>
    <p:sldId id="319" r:id="rId34"/>
    <p:sldId id="320" r:id="rId35"/>
    <p:sldId id="323" r:id="rId36"/>
    <p:sldId id="321" r:id="rId37"/>
    <p:sldId id="324" r:id="rId38"/>
    <p:sldId id="325" r:id="rId39"/>
    <p:sldId id="256" r:id="rId40"/>
    <p:sldId id="257" r:id="rId41"/>
    <p:sldId id="258" r:id="rId42"/>
    <p:sldId id="259" r:id="rId43"/>
    <p:sldId id="260" r:id="rId44"/>
    <p:sldId id="261" r:id="rId45"/>
    <p:sldId id="262" r:id="rId46"/>
    <p:sldId id="263" r:id="rId47"/>
    <p:sldId id="264" r:id="rId48"/>
    <p:sldId id="265" r:id="rId49"/>
    <p:sldId id="266" r:id="rId50"/>
    <p:sldId id="267" r:id="rId51"/>
    <p:sldId id="268" r:id="rId52"/>
    <p:sldId id="269" r:id="rId53"/>
    <p:sldId id="270" r:id="rId54"/>
    <p:sldId id="271" r:id="rId55"/>
    <p:sldId id="272" r:id="rId56"/>
    <p:sldId id="273" r:id="rId57"/>
    <p:sldId id="274" r:id="rId58"/>
    <p:sldId id="275" r:id="rId59"/>
    <p:sldId id="276" r:id="rId60"/>
    <p:sldId id="277" r:id="rId61"/>
    <p:sldId id="278" r:id="rId62"/>
    <p:sldId id="279" r:id="rId63"/>
    <p:sldId id="280" r:id="rId64"/>
    <p:sldId id="281" r:id="rId65"/>
    <p:sldId id="282" r:id="rId66"/>
    <p:sldId id="283" r:id="rId67"/>
    <p:sldId id="284" r:id="rId68"/>
    <p:sldId id="285" r:id="rId69"/>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18" userDrawn="1">
          <p15:clr>
            <a:srgbClr val="A4A3A4"/>
          </p15:clr>
        </p15:guide>
        <p15:guide id="2" pos="283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18"/>
        <p:guide pos="283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4" Type="http://schemas.openxmlformats.org/officeDocument/2006/relationships/commentAuthors" Target="commentAuthors.xml"/><Relationship Id="rId73" Type="http://schemas.openxmlformats.org/officeDocument/2006/relationships/tableStyles" Target="tableStyles.xml"/><Relationship Id="rId72" Type="http://schemas.openxmlformats.org/officeDocument/2006/relationships/viewProps" Target="viewProps.xml"/><Relationship Id="rId71" Type="http://schemas.openxmlformats.org/officeDocument/2006/relationships/presProps" Target="presProps.xml"/><Relationship Id="rId70" Type="http://schemas.openxmlformats.org/officeDocument/2006/relationships/handoutMaster" Target="handoutMasters/handoutMaster1.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2.xml"/><Relationship Id="rId2" Type="http://schemas.openxmlformats.org/officeDocument/2006/relationships/image" Target="../media/image31.png"/><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1.png"/></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3.png"/><Relationship Id="rId1" Type="http://schemas.openxmlformats.org/officeDocument/2006/relationships/image" Target="../media/image42.png"/></Relationships>
</file>

<file path=ppt/slides/_rels/slide3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3.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5.png"/><Relationship Id="rId6" Type="http://schemas.openxmlformats.org/officeDocument/2006/relationships/image" Target="../media/image56.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7.png"/><Relationship Id="rId6" Type="http://schemas.openxmlformats.org/officeDocument/2006/relationships/image" Target="../media/image55.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4.png"/><Relationship Id="rId6" Type="http://schemas.openxmlformats.org/officeDocument/2006/relationships/image" Target="../media/image63.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7.png"/><Relationship Id="rId1"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6112"/>
          </a:xfrm>
          <a:prstGeom prst="rect">
            <a:avLst/>
          </a:prstGeom>
          <a:noFill/>
        </p:spPr>
        <p:txBody>
          <a:bodyPr>
            <a:spAutoFit/>
          </a:bodyPr>
          <a:lstStyle/>
          <a:p>
            <a:pPr>
              <a:defRPr/>
            </a:pPr>
            <a:r>
              <a:rPr lang="zh-CN" altLang="en-US">
                <a:solidFill>
                  <a:srgbClr val="000066"/>
                </a:solidFill>
                <a:latin typeface="+mj-ea"/>
                <a:ea typeface="+mj-ea"/>
              </a:rPr>
              <a:t>情景再现</a:t>
            </a:r>
            <a:r>
              <a:rPr lang="en-US" altLang="zh-CN" dirty="0">
                <a:solidFill>
                  <a:srgbClr val="000066"/>
                </a:solidFill>
                <a:latin typeface="+mj-ea"/>
                <a:ea typeface="+mj-ea"/>
              </a:rPr>
              <a:t>:</a:t>
            </a:r>
            <a:r>
              <a:rPr lang="zh-CN" altLang="en-US">
                <a:solidFill>
                  <a:srgbClr val="000066"/>
                </a:solidFill>
                <a:latin typeface="+mj-ea"/>
                <a:ea typeface="+mj-ea"/>
              </a:rPr>
              <a:t>小明过年和朋友一起进入迷宫，比赛看谁先从迷宫中走出来，请问小明靠什么方法来走出迷宫？</a:t>
            </a:r>
            <a:endParaRPr lang="zh-CN" altLang="en-US">
              <a:solidFill>
                <a:srgbClr val="000066"/>
              </a:solidFill>
              <a:latin typeface="+mj-ea"/>
              <a:ea typeface="+mj-ea"/>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5508625" y="3929063"/>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878205" y="764223"/>
            <a:ext cx="8010525" cy="368300"/>
          </a:xfrm>
          <a:prstGeom prst="rect">
            <a:avLst/>
          </a:prstGeom>
          <a:noFill/>
        </p:spPr>
        <p:txBody>
          <a:bodyPr>
            <a:spAutoFit/>
          </a:bodyPr>
          <a:lstStyle/>
          <a:p>
            <a:pPr>
              <a:defRPr/>
            </a:pPr>
            <a:r>
              <a:rPr lang="zh-CN" altLang="en-US">
                <a:solidFill>
                  <a:srgbClr val="000066"/>
                </a:solidFill>
                <a:latin typeface="+mj-ea"/>
                <a:ea typeface="+mj-ea"/>
              </a:rPr>
              <a:t>迷宫问题可以抽象成</a:t>
            </a:r>
            <a:r>
              <a:rPr lang="zh-CN" altLang="en-US">
                <a:solidFill>
                  <a:srgbClr val="000066"/>
                </a:solidFill>
                <a:latin typeface="+mj-ea"/>
                <a:ea typeface="+mj-ea"/>
              </a:rPr>
              <a:t>一棵树：</a:t>
            </a:r>
            <a:endParaRPr lang="zh-CN" altLang="en-US">
              <a:solidFill>
                <a:srgbClr val="000066"/>
              </a:solidFill>
              <a:latin typeface="+mj-ea"/>
              <a:ea typeface="+mj-ea"/>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922020"/>
          </a:xfrm>
          <a:prstGeom prst="rect">
            <a:avLst/>
          </a:prstGeom>
          <a:noFill/>
        </p:spPr>
        <p:txBody>
          <a:bodyPr wrap="square" rtlCol="0">
            <a:spAutoFit/>
          </a:bodyPr>
          <a:p>
            <a:r>
              <a:rPr lang="zh-CN" altLang="en-US"/>
              <a:t>回溯：把问题抽象成解空间树，不断的对解空间树进行搜索。搜索过程中可以判断相应的解是否满足解条件，若不满足条件则会舍弃该解，持续搜索直至搜寻到符合条件的</a:t>
            </a:r>
            <a:r>
              <a:rPr lang="zh-CN" altLang="en-US"/>
              <a:t>解。</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a:t>
            </a:r>
            <a:r>
              <a:rPr lang="zh-CN" altLang="en-US" sz="2400" b="1" kern="0" dirty="0">
                <a:uFillTx/>
                <a:latin typeface="Times New Roman" panose="02020603050405020304" pitchFamily="18" charset="0"/>
                <a:cs typeface="Times New Roman" panose="02020603050405020304" pitchFamily="18" charset="0"/>
                <a:sym typeface="+mn-ea"/>
              </a:rPr>
              <a:t>搜索</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44" name="文本框 43"/>
          <p:cNvSpPr txBox="1"/>
          <p:nvPr/>
        </p:nvSpPr>
        <p:spPr>
          <a:xfrm>
            <a:off x="755650" y="2093913"/>
            <a:ext cx="8010525" cy="368300"/>
          </a:xfrm>
          <a:prstGeom prst="rect">
            <a:avLst/>
          </a:prstGeom>
          <a:noFill/>
        </p:spPr>
        <p:txBody>
          <a:bodyPr>
            <a:spAutoFit/>
          </a:bodyPr>
          <a:lstStyle/>
          <a:p>
            <a:pPr>
              <a:defRPr/>
            </a:pPr>
            <a:r>
              <a:rPr lang="zh-CN" altLang="en-US">
                <a:solidFill>
                  <a:srgbClr val="000066"/>
                </a:solidFill>
                <a:latin typeface="+mj-ea"/>
                <a:ea typeface="+mj-ea"/>
              </a:rPr>
              <a:t>如何用计算机的方式实现图的层序之间的遍历</a:t>
            </a:r>
            <a:r>
              <a:rPr lang="en-US" altLang="zh-CN" dirty="0">
                <a:solidFill>
                  <a:srgbClr val="000066"/>
                </a:solidFill>
                <a:latin typeface="+mj-ea"/>
                <a:ea typeface="+mj-ea"/>
              </a:rPr>
              <a:t>?</a:t>
            </a:r>
            <a:endParaRPr lang="zh-CN" altLang="en-US">
              <a:solidFill>
                <a:srgbClr val="000066"/>
              </a:solidFill>
              <a:latin typeface="+mj-ea"/>
              <a:ea typeface="+mj-ea"/>
            </a:endParaRPr>
          </a:p>
        </p:txBody>
      </p:sp>
      <p:sp>
        <p:nvSpPr>
          <p:cNvPr id="45" name="文本框 44"/>
          <p:cNvSpPr txBox="1"/>
          <p:nvPr/>
        </p:nvSpPr>
        <p:spPr>
          <a:xfrm>
            <a:off x="539750" y="2490788"/>
            <a:ext cx="8226425" cy="646112"/>
          </a:xfrm>
          <a:prstGeom prst="rect">
            <a:avLst/>
          </a:prstGeom>
          <a:noFill/>
        </p:spPr>
        <p:txBody>
          <a:bodyPr>
            <a:spAutoFit/>
          </a:bodyPr>
          <a:lstStyle/>
          <a:p>
            <a:pPr>
              <a:defRPr/>
            </a:pPr>
            <a:r>
              <a:rPr lang="zh-CN" altLang="en-US" b="1">
                <a:solidFill>
                  <a:srgbClr val="000066"/>
                </a:solidFill>
                <a:latin typeface="+mj-ea"/>
                <a:ea typeface="+mj-ea"/>
              </a:rPr>
              <a:t>方法</a:t>
            </a:r>
            <a:r>
              <a:rPr lang="en-US" altLang="zh-CN" b="1" dirty="0">
                <a:solidFill>
                  <a:srgbClr val="000066"/>
                </a:solidFill>
                <a:latin typeface="+mj-ea"/>
                <a:ea typeface="+mj-ea"/>
              </a:rPr>
              <a:t>:</a:t>
            </a:r>
            <a:r>
              <a:rPr lang="zh-CN" altLang="en-US" b="1">
                <a:solidFill>
                  <a:srgbClr val="000066"/>
                </a:solidFill>
                <a:latin typeface="+mj-ea"/>
                <a:ea typeface="+mj-ea"/>
              </a:rPr>
              <a:t>找出刚访问过的顶点的第一个未被访问的邻接点， 访问该顶点。 以该顶点为新顶点，重复此步骤， 直至刚访问过的顶点没有未被访问的邻接点为止。</a:t>
            </a:r>
            <a:endParaRPr lang="zh-CN" altLang="en-US" b="1">
              <a:solidFill>
                <a:srgbClr val="000066"/>
              </a:solidFill>
              <a:latin typeface="+mj-ea"/>
              <a:ea typeface="+mj-ea"/>
            </a:endParaRPr>
          </a:p>
        </p:txBody>
      </p:sp>
      <p:sp>
        <p:nvSpPr>
          <p:cNvPr id="47" name="文本框 46"/>
          <p:cNvSpPr txBox="1"/>
          <p:nvPr/>
        </p:nvSpPr>
        <p:spPr>
          <a:xfrm>
            <a:off x="763588" y="3703638"/>
            <a:ext cx="930275" cy="368300"/>
          </a:xfrm>
          <a:prstGeom prst="rect">
            <a:avLst/>
          </a:prstGeom>
          <a:noFill/>
        </p:spPr>
        <p:txBody>
          <a:bodyPr>
            <a:spAutoFit/>
          </a:bodyPr>
          <a:lstStyle/>
          <a:p>
            <a:pPr>
              <a:defRPr/>
            </a:pPr>
            <a:r>
              <a:rPr lang="zh-CN" altLang="en-US">
                <a:solidFill>
                  <a:srgbClr val="000066"/>
                </a:solidFill>
                <a:latin typeface="+mj-ea"/>
                <a:ea typeface="+mj-ea"/>
              </a:rPr>
              <a:t>例如：</a:t>
            </a:r>
            <a:endParaRPr lang="zh-CN" altLang="en-US">
              <a:solidFill>
                <a:srgbClr val="000066"/>
              </a:solidFill>
              <a:latin typeface="+mj-ea"/>
              <a:ea typeface="+mj-ea"/>
            </a:endParaRPr>
          </a:p>
        </p:txBody>
      </p:sp>
      <p:sp>
        <p:nvSpPr>
          <p:cNvPr id="48" name="文本框 47"/>
          <p:cNvSpPr txBox="1"/>
          <p:nvPr/>
        </p:nvSpPr>
        <p:spPr>
          <a:xfrm>
            <a:off x="5054600" y="3694113"/>
            <a:ext cx="2154238" cy="369887"/>
          </a:xfrm>
          <a:prstGeom prst="rect">
            <a:avLst/>
          </a:prstGeom>
          <a:noFill/>
        </p:spPr>
        <p:txBody>
          <a:bodyPr>
            <a:spAutoFit/>
          </a:bodyPr>
          <a:lstStyle/>
          <a:p>
            <a:pPr>
              <a:defRPr/>
            </a:pPr>
            <a:r>
              <a:rPr lang="zh-CN" altLang="en-US">
                <a:solidFill>
                  <a:srgbClr val="000066"/>
                </a:solidFill>
                <a:latin typeface="+mj-ea"/>
                <a:ea typeface="+mj-ea"/>
              </a:rPr>
              <a:t>深度优先遍历：</a:t>
            </a:r>
            <a:endParaRPr lang="zh-CN" altLang="en-US">
              <a:solidFill>
                <a:srgbClr val="000066"/>
              </a:solidFill>
              <a:latin typeface="+mj-ea"/>
              <a:ea typeface="+mj-ea"/>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4233863"/>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4941888"/>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4859338"/>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4854575"/>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4875213"/>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39750" y="292417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539750" y="5661025"/>
            <a:ext cx="2519363" cy="369888"/>
          </a:xfrm>
          <a:prstGeom prst="rect">
            <a:avLst/>
          </a:prstGeom>
          <a:noFill/>
        </p:spPr>
        <p:txBody>
          <a:bodyPr>
            <a:spAutoFit/>
          </a:bodyPr>
          <a:lstStyle/>
          <a:p>
            <a:pPr>
              <a:defRPr/>
            </a:pPr>
            <a:r>
              <a:rPr lang="zh-CN" altLang="en-US">
                <a:solidFill>
                  <a:srgbClr val="000066"/>
                </a:solidFill>
                <a:latin typeface="+mj-ea"/>
                <a:ea typeface="+mj-ea"/>
              </a:rPr>
              <a:t>记录访问结果：</a:t>
            </a:r>
            <a:r>
              <a:rPr lang="en-US" altLang="zh-CN">
                <a:solidFill>
                  <a:srgbClr val="000066"/>
                </a:solidFill>
                <a:latin typeface="+mj-ea"/>
                <a:ea typeface="+mj-ea"/>
              </a:rPr>
              <a:t>A </a:t>
            </a:r>
            <a:endParaRPr lang="zh-CN" altLang="en-US">
              <a:solidFill>
                <a:srgbClr val="000066"/>
              </a:solidFill>
              <a:latin typeface="+mj-ea"/>
              <a:ea typeface="+mj-ea"/>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56325" y="282416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4814888" y="40989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35525" y="3736975"/>
            <a:ext cx="2152650" cy="368300"/>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A</a:t>
            </a:r>
            <a:endParaRPr lang="zh-CN" altLang="en-US">
              <a:solidFill>
                <a:srgbClr val="000066"/>
              </a:solidFill>
              <a:latin typeface="+mj-ea"/>
              <a:ea typeface="+mj-ea"/>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755650" y="5476875"/>
            <a:ext cx="2376488" cy="369888"/>
          </a:xfrm>
          <a:prstGeom prst="rect">
            <a:avLst/>
          </a:prstGeom>
          <a:noFill/>
        </p:spPr>
        <p:txBody>
          <a:bodyPr>
            <a:spAutoFit/>
          </a:bodyPr>
          <a:lstStyle/>
          <a:p>
            <a:pPr>
              <a:defRPr/>
            </a:pPr>
            <a:r>
              <a:rPr lang="zh-CN" altLang="en-US">
                <a:solidFill>
                  <a:srgbClr val="000066"/>
                </a:solidFill>
                <a:latin typeface="+mj-ea"/>
                <a:ea typeface="+mj-ea"/>
              </a:rPr>
              <a:t>记录访问结果：</a:t>
            </a:r>
            <a:r>
              <a:rPr lang="en-US" altLang="zh-CN">
                <a:solidFill>
                  <a:srgbClr val="000066"/>
                </a:solidFill>
                <a:latin typeface="+mj-ea"/>
                <a:ea typeface="+mj-ea"/>
              </a:rPr>
              <a:t>A B </a:t>
            </a:r>
            <a:endParaRPr lang="zh-CN" altLang="en-US">
              <a:solidFill>
                <a:srgbClr val="000066"/>
              </a:solidFill>
              <a:latin typeface="+mj-ea"/>
              <a:ea typeface="+mj-ea"/>
            </a:endParaRPr>
          </a:p>
        </p:txBody>
      </p:sp>
      <p:sp>
        <p:nvSpPr>
          <p:cNvPr id="16389" name="右箭头 9"/>
          <p:cNvSpPr>
            <a:spLocks noChangeArrowheads="1"/>
          </p:cNvSpPr>
          <p:nvPr/>
        </p:nvSpPr>
        <p:spPr bwMode="auto">
          <a:xfrm>
            <a:off x="4814888" y="40989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35525" y="3736975"/>
            <a:ext cx="2152650" cy="368300"/>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B</a:t>
            </a:r>
            <a:endParaRPr lang="zh-CN" altLang="en-US">
              <a:solidFill>
                <a:srgbClr val="000066"/>
              </a:solidFill>
              <a:latin typeface="+mj-ea"/>
              <a:ea typeface="+mj-ea"/>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14325" y="2749550"/>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980113" y="2924175"/>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755650" y="5513388"/>
            <a:ext cx="2808288" cy="369887"/>
          </a:xfrm>
          <a:prstGeom prst="rect">
            <a:avLst/>
          </a:prstGeom>
          <a:noFill/>
        </p:spPr>
        <p:txBody>
          <a:bodyPr>
            <a:spAutoFit/>
          </a:bodyPr>
          <a:lstStyle/>
          <a:p>
            <a:pPr>
              <a:defRPr/>
            </a:pPr>
            <a:r>
              <a:rPr lang="zh-CN" altLang="en-US">
                <a:solidFill>
                  <a:srgbClr val="000066"/>
                </a:solidFill>
                <a:latin typeface="+mj-ea"/>
                <a:ea typeface="+mj-ea"/>
              </a:rPr>
              <a:t>记录访问结果：</a:t>
            </a:r>
            <a:r>
              <a:rPr lang="en-US" altLang="zh-CN">
                <a:solidFill>
                  <a:srgbClr val="000066"/>
                </a:solidFill>
                <a:latin typeface="+mj-ea"/>
                <a:ea typeface="+mj-ea"/>
              </a:rPr>
              <a:t>A B E </a:t>
            </a:r>
            <a:endParaRPr lang="zh-CN" altLang="en-US">
              <a:solidFill>
                <a:srgbClr val="000066"/>
              </a:solidFill>
              <a:latin typeface="+mj-ea"/>
              <a:ea typeface="+mj-ea"/>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E</a:t>
            </a:r>
            <a:endParaRPr lang="zh-CN" altLang="en-US">
              <a:solidFill>
                <a:srgbClr val="000066"/>
              </a:solidFill>
              <a:latin typeface="+mj-ea"/>
              <a:ea typeface="+mj-ea"/>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a:t>
            </a:r>
            <a:endParaRPr lang="zh-CN" altLang="en-US">
              <a:solidFill>
                <a:srgbClr val="000066"/>
              </a:solidFill>
              <a:latin typeface="+mj-ea"/>
              <a:ea typeface="+mj-ea"/>
            </a:endParaRPr>
          </a:p>
        </p:txBody>
      </p:sp>
      <p:sp>
        <p:nvSpPr>
          <p:cNvPr id="20485"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G</a:t>
            </a:r>
            <a:endParaRPr lang="zh-CN" altLang="en-US">
              <a:solidFill>
                <a:srgbClr val="000066"/>
              </a:solidFill>
              <a:latin typeface="+mj-ea"/>
              <a:ea typeface="+mj-ea"/>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03238" y="292417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011863" y="2752725"/>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15117" y="280461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a:t>
            </a:r>
            <a:endParaRPr lang="zh-CN" altLang="en-US">
              <a:solidFill>
                <a:srgbClr val="000066"/>
              </a:solidFill>
              <a:latin typeface="+mj-ea"/>
              <a:ea typeface="+mj-ea"/>
            </a:endParaRPr>
          </a:p>
        </p:txBody>
      </p:sp>
      <p:sp>
        <p:nvSpPr>
          <p:cNvPr id="22534" name="右箭头 9"/>
          <p:cNvSpPr>
            <a:spLocks noChangeArrowheads="1"/>
          </p:cNvSpPr>
          <p:nvPr/>
        </p:nvSpPr>
        <p:spPr bwMode="auto">
          <a:xfrm>
            <a:off x="4398963" y="40862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91013" y="3716338"/>
            <a:ext cx="2152650" cy="369887"/>
          </a:xfrm>
          <a:prstGeom prst="rect">
            <a:avLst/>
          </a:prstGeom>
          <a:noFill/>
        </p:spPr>
        <p:txBody>
          <a:bodyPr>
            <a:spAutoFit/>
          </a:bodyPr>
          <a:lstStyle/>
          <a:p>
            <a:pPr>
              <a:defRPr/>
            </a:pPr>
            <a:r>
              <a:rPr lang="zh-CN" altLang="en-US">
                <a:solidFill>
                  <a:srgbClr val="000066"/>
                </a:solidFill>
                <a:latin typeface="+mj-ea"/>
                <a:ea typeface="+mj-ea"/>
              </a:rPr>
              <a:t>将</a:t>
            </a:r>
            <a:r>
              <a:rPr lang="en-US" altLang="zh-CN">
                <a:solidFill>
                  <a:srgbClr val="000066"/>
                </a:solidFill>
                <a:latin typeface="+mj-ea"/>
                <a:ea typeface="+mj-ea"/>
              </a:rPr>
              <a:t>E</a:t>
            </a:r>
            <a:r>
              <a:rPr lang="zh-CN" altLang="en-US">
                <a:solidFill>
                  <a:srgbClr val="000066"/>
                </a:solidFill>
                <a:latin typeface="+mj-ea"/>
                <a:ea typeface="+mj-ea"/>
              </a:rPr>
              <a:t>、</a:t>
            </a:r>
            <a:r>
              <a:rPr lang="en-US" altLang="zh-CN">
                <a:solidFill>
                  <a:srgbClr val="000066"/>
                </a:solidFill>
                <a:latin typeface="+mj-ea"/>
                <a:ea typeface="+mj-ea"/>
              </a:rPr>
              <a:t>G</a:t>
            </a:r>
            <a:r>
              <a:rPr lang="zh-CN" altLang="en-US">
                <a:solidFill>
                  <a:srgbClr val="000066"/>
                </a:solidFill>
                <a:latin typeface="+mj-ea"/>
                <a:ea typeface="+mj-ea"/>
              </a:rPr>
              <a:t>出栈</a:t>
            </a:r>
            <a:endParaRPr lang="zh-CN" altLang="en-US">
              <a:solidFill>
                <a:srgbClr val="000066"/>
              </a:solidFill>
              <a:latin typeface="+mj-ea"/>
              <a:ea typeface="+mj-ea"/>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03238" y="292417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73679" y="275699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170554" y="261252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34217" y="257284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98963" y="40862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91013" y="3716338"/>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42950" y="3151188"/>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35825" y="2409825"/>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80063" y="260032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05513" y="2417763"/>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188" y="2416175"/>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3140075"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C H </a:t>
            </a:r>
            <a:endParaRPr lang="zh-CN" altLang="en-US">
              <a:solidFill>
                <a:srgbClr val="000066"/>
              </a:solidFill>
              <a:latin typeface="+mj-ea"/>
              <a:ea typeface="+mj-ea"/>
            </a:endParaRPr>
          </a:p>
        </p:txBody>
      </p:sp>
      <p:sp>
        <p:nvSpPr>
          <p:cNvPr id="26629" name="右箭头 9"/>
          <p:cNvSpPr>
            <a:spLocks noChangeArrowheads="1"/>
          </p:cNvSpPr>
          <p:nvPr/>
        </p:nvSpPr>
        <p:spPr bwMode="auto">
          <a:xfrm>
            <a:off x="4398963" y="40862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91013" y="3716338"/>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C</a:t>
            </a:r>
            <a:r>
              <a:rPr lang="zh-CN" altLang="en-US">
                <a:solidFill>
                  <a:srgbClr val="000066"/>
                </a:solidFill>
                <a:latin typeface="+mj-ea"/>
                <a:ea typeface="+mj-ea"/>
              </a:rPr>
              <a:t>、</a:t>
            </a:r>
            <a:r>
              <a:rPr lang="en-US" altLang="zh-CN">
                <a:solidFill>
                  <a:srgbClr val="000066"/>
                </a:solidFill>
                <a:latin typeface="+mj-ea"/>
                <a:ea typeface="+mj-ea"/>
              </a:rPr>
              <a:t>H</a:t>
            </a:r>
            <a:endParaRPr lang="zh-CN" altLang="en-US">
              <a:solidFill>
                <a:srgbClr val="000066"/>
              </a:solidFill>
              <a:latin typeface="+mj-ea"/>
              <a:ea typeface="+mj-ea"/>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09600" y="30654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940425" y="29972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729413" y="28241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3140075"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C H </a:t>
            </a:r>
            <a:endParaRPr lang="zh-CN" altLang="en-US">
              <a:solidFill>
                <a:srgbClr val="000066"/>
              </a:solidFill>
              <a:latin typeface="+mj-ea"/>
              <a:ea typeface="+mj-ea"/>
            </a:endParaRPr>
          </a:p>
        </p:txBody>
      </p:sp>
      <p:sp>
        <p:nvSpPr>
          <p:cNvPr id="28678" name="右箭头 9"/>
          <p:cNvSpPr>
            <a:spLocks noChangeArrowheads="1"/>
          </p:cNvSpPr>
          <p:nvPr/>
        </p:nvSpPr>
        <p:spPr bwMode="auto">
          <a:xfrm>
            <a:off x="4398963" y="40862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91013" y="3716338"/>
            <a:ext cx="1289050" cy="369887"/>
          </a:xfrm>
          <a:prstGeom prst="rect">
            <a:avLst/>
          </a:prstGeom>
          <a:noFill/>
        </p:spPr>
        <p:txBody>
          <a:bodyPr>
            <a:spAutoFit/>
          </a:bodyPr>
          <a:lstStyle/>
          <a:p>
            <a:pPr>
              <a:defRPr/>
            </a:pPr>
            <a:r>
              <a:rPr lang="zh-CN" altLang="en-US">
                <a:solidFill>
                  <a:srgbClr val="000066"/>
                </a:solidFill>
                <a:latin typeface="+mj-ea"/>
                <a:ea typeface="+mj-ea"/>
              </a:rPr>
              <a:t>出栈</a:t>
            </a:r>
            <a:r>
              <a:rPr lang="en-US" altLang="zh-CN">
                <a:solidFill>
                  <a:srgbClr val="000066"/>
                </a:solidFill>
                <a:latin typeface="+mj-ea"/>
                <a:ea typeface="+mj-ea"/>
              </a:rPr>
              <a:t>C</a:t>
            </a:r>
            <a:r>
              <a:rPr lang="zh-CN" altLang="en-US">
                <a:solidFill>
                  <a:srgbClr val="000066"/>
                </a:solidFill>
                <a:latin typeface="+mj-ea"/>
                <a:ea typeface="+mj-ea"/>
              </a:rPr>
              <a:t>、</a:t>
            </a:r>
            <a:r>
              <a:rPr lang="en-US" altLang="zh-CN">
                <a:solidFill>
                  <a:srgbClr val="000066"/>
                </a:solidFill>
                <a:latin typeface="+mj-ea"/>
                <a:ea typeface="+mj-ea"/>
              </a:rPr>
              <a:t>H</a:t>
            </a:r>
            <a:endParaRPr lang="zh-CN" altLang="en-US">
              <a:solidFill>
                <a:srgbClr val="000066"/>
              </a:solidFill>
              <a:latin typeface="+mj-ea"/>
              <a:ea typeface="+mj-ea"/>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09600" y="30654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345113" y="28956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843588" y="26781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208838" y="26400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3140075"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C H D </a:t>
            </a:r>
            <a:endParaRPr lang="zh-CN" altLang="en-US">
              <a:solidFill>
                <a:srgbClr val="000066"/>
              </a:solidFill>
              <a:latin typeface="+mj-ea"/>
              <a:ea typeface="+mj-ea"/>
            </a:endParaRPr>
          </a:p>
        </p:txBody>
      </p:sp>
      <p:sp>
        <p:nvSpPr>
          <p:cNvPr id="30725" name="右箭头 9"/>
          <p:cNvSpPr>
            <a:spLocks noChangeArrowheads="1"/>
          </p:cNvSpPr>
          <p:nvPr/>
        </p:nvSpPr>
        <p:spPr bwMode="auto">
          <a:xfrm>
            <a:off x="4398963" y="40862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91013" y="3716338"/>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D</a:t>
            </a:r>
            <a:endParaRPr lang="zh-CN" altLang="en-US">
              <a:solidFill>
                <a:srgbClr val="000066"/>
              </a:solidFill>
              <a:latin typeface="+mj-ea"/>
              <a:ea typeface="+mj-ea"/>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53075" y="279082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85763" y="270827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dirty="0" smtClean="0"/>
              <a:t>2 </a:t>
            </a:r>
            <a:r>
              <a:rPr lang="zh-CN" altLang="en-US" sz="3600" kern="0"/>
              <a:t>深度</a:t>
            </a:r>
            <a:r>
              <a:rPr lang="zh-CN" altLang="en-US" sz="3600" kern="0" smtClean="0"/>
              <a:t>优先遍历的方法和实现</a:t>
            </a:r>
            <a:endParaRPr lang="en-US" altLang="zh-CN" sz="3600" kern="0" dirty="0" smtClean="0"/>
          </a:p>
        </p:txBody>
      </p:sp>
      <p:sp>
        <p:nvSpPr>
          <p:cNvPr id="14" name="文本框 13"/>
          <p:cNvSpPr txBox="1"/>
          <p:nvPr/>
        </p:nvSpPr>
        <p:spPr>
          <a:xfrm>
            <a:off x="1258888" y="5476875"/>
            <a:ext cx="3140075"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C H D </a:t>
            </a:r>
            <a:endParaRPr lang="zh-CN" altLang="en-US">
              <a:solidFill>
                <a:srgbClr val="000066"/>
              </a:solidFill>
              <a:latin typeface="+mj-ea"/>
              <a:ea typeface="+mj-ea"/>
            </a:endParaRPr>
          </a:p>
        </p:txBody>
      </p:sp>
      <p:sp>
        <p:nvSpPr>
          <p:cNvPr id="32773" name="右箭头 9"/>
          <p:cNvSpPr>
            <a:spLocks noChangeArrowheads="1"/>
          </p:cNvSpPr>
          <p:nvPr/>
        </p:nvSpPr>
        <p:spPr bwMode="auto">
          <a:xfrm>
            <a:off x="4398963" y="40862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91013" y="3716338"/>
            <a:ext cx="1289050" cy="369887"/>
          </a:xfrm>
          <a:prstGeom prst="rect">
            <a:avLst/>
          </a:prstGeom>
          <a:noFill/>
        </p:spPr>
        <p:txBody>
          <a:bodyPr>
            <a:spAutoFit/>
          </a:bodyPr>
          <a:lstStyle/>
          <a:p>
            <a:pPr>
              <a:defRPr/>
            </a:pPr>
            <a:r>
              <a:rPr lang="zh-CN" altLang="en-US">
                <a:solidFill>
                  <a:srgbClr val="000066"/>
                </a:solidFill>
                <a:latin typeface="+mj-ea"/>
                <a:ea typeface="+mj-ea"/>
              </a:rPr>
              <a:t>判断出栈</a:t>
            </a:r>
            <a:endParaRPr lang="zh-CN" altLang="en-US">
              <a:solidFill>
                <a:srgbClr val="000066"/>
              </a:solidFill>
              <a:latin typeface="+mj-ea"/>
              <a:ea typeface="+mj-ea"/>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362575" y="290512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85763" y="270827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691313" y="2809875"/>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849938" y="2849563"/>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213600" y="2809875"/>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sp>
        <p:nvSpPr>
          <p:cNvPr id="1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smtClean="0"/>
              <a:t>2</a:t>
            </a:r>
            <a:r>
              <a:rPr lang="zh-CN" altLang="en-US" sz="3600" kern="0"/>
              <a:t>深度优先遍历的方法和实现</a:t>
            </a:r>
            <a:endParaRPr lang="en-US" altLang="zh-CN" sz="3600" kern="0" dirty="0"/>
          </a:p>
        </p:txBody>
      </p:sp>
      <p:sp>
        <p:nvSpPr>
          <p:cNvPr id="13" name="文本框 12"/>
          <p:cNvSpPr txBox="1"/>
          <p:nvPr/>
        </p:nvSpPr>
        <p:spPr>
          <a:xfrm>
            <a:off x="1147763" y="1911350"/>
            <a:ext cx="1479550" cy="369888"/>
          </a:xfrm>
          <a:prstGeom prst="rect">
            <a:avLst/>
          </a:prstGeom>
          <a:noFill/>
        </p:spPr>
        <p:txBody>
          <a:bodyPr>
            <a:spAutoFit/>
          </a:bodyPr>
          <a:lstStyle/>
          <a:p>
            <a:pPr>
              <a:defRPr/>
            </a:pPr>
            <a:r>
              <a:rPr lang="zh-CN" altLang="en-US">
                <a:solidFill>
                  <a:srgbClr val="000066"/>
                </a:solidFill>
                <a:latin typeface="+mj-ea"/>
                <a:ea typeface="+mj-ea"/>
              </a:rPr>
              <a:t>算法实现：</a:t>
            </a:r>
            <a:endParaRPr lang="zh-CN" altLang="en-US">
              <a:solidFill>
                <a:srgbClr val="000066"/>
              </a:solidFill>
              <a:latin typeface="+mj-ea"/>
              <a:ea typeface="+mj-ea"/>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278130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sp>
        <p:nvSpPr>
          <p:cNvPr id="11" name="Rectangle 2"/>
          <p:cNvSpPr txBox="1">
            <a:spLocks noChangeArrowheads="1"/>
          </p:cNvSpPr>
          <p:nvPr/>
        </p:nvSpPr>
        <p:spPr bwMode="auto">
          <a:xfrm>
            <a:off x="539433" y="44450"/>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smtClean="0"/>
              <a:t>3</a:t>
            </a:r>
            <a:r>
              <a:rPr lang="zh-CN" altLang="en-US" sz="3600" kern="0"/>
              <a:t>为什么说全排列和子集问题</a:t>
            </a:r>
            <a:r>
              <a:rPr lang="zh-CN" altLang="en-US" sz="3600" kern="0"/>
              <a:t>重要</a:t>
            </a:r>
            <a:endParaRPr lang="zh-CN" altLang="en-US" sz="3600" kern="0"/>
          </a:p>
        </p:txBody>
      </p:sp>
      <p:grpSp>
        <p:nvGrpSpPr>
          <p:cNvPr id="6" name="组合 5"/>
          <p:cNvGrpSpPr/>
          <p:nvPr/>
        </p:nvGrpSpPr>
        <p:grpSpPr>
          <a:xfrm>
            <a:off x="612140" y="1988820"/>
            <a:ext cx="3931285" cy="1894205"/>
            <a:chOff x="1464" y="2358"/>
            <a:chExt cx="6191" cy="2983"/>
          </a:xfrm>
        </p:grpSpPr>
        <p:sp>
          <p:nvSpPr>
            <p:cNvPr id="2" name="文本框 1"/>
            <p:cNvSpPr txBox="1"/>
            <p:nvPr/>
          </p:nvSpPr>
          <p:spPr>
            <a:xfrm>
              <a:off x="1464" y="2358"/>
              <a:ext cx="6191" cy="580"/>
            </a:xfrm>
            <a:prstGeom prst="rect">
              <a:avLst/>
            </a:prstGeom>
            <a:noFill/>
          </p:spPr>
          <p:txBody>
            <a:bodyPr wrap="square" rtlCol="0">
              <a:spAutoFit/>
            </a:bodyPr>
            <a:p>
              <a:r>
                <a:rPr lang="zh-CN" altLang="en-US"/>
                <a:t>（</a:t>
              </a:r>
              <a:r>
                <a:rPr lang="en-US" altLang="zh-CN"/>
                <a:t>1</a:t>
              </a:r>
              <a:r>
                <a:rPr lang="zh-CN" altLang="en-US"/>
                <a:t>）思考机器人路径问题？</a:t>
              </a:r>
              <a:endParaRPr lang="zh-CN" altLang="en-US"/>
            </a:p>
          </p:txBody>
        </p:sp>
        <p:pic>
          <p:nvPicPr>
            <p:cNvPr id="3" name="图片 -2147482500" descr="IMG_256"/>
            <p:cNvPicPr>
              <a:picLocks noChangeAspect="1"/>
            </p:cNvPicPr>
            <p:nvPr/>
          </p:nvPicPr>
          <p:blipFill>
            <a:blip r:embed="rId1"/>
            <a:stretch>
              <a:fillRect/>
            </a:stretch>
          </p:blipFill>
          <p:spPr>
            <a:xfrm>
              <a:off x="1871" y="3175"/>
              <a:ext cx="4976" cy="2166"/>
            </a:xfrm>
            <a:prstGeom prst="rect">
              <a:avLst/>
            </a:prstGeom>
            <a:noFill/>
            <a:ln w="9525">
              <a:noFill/>
            </a:ln>
          </p:spPr>
        </p:pic>
      </p:grpSp>
      <p:grpSp>
        <p:nvGrpSpPr>
          <p:cNvPr id="7" name="组合 6"/>
          <p:cNvGrpSpPr/>
          <p:nvPr/>
        </p:nvGrpSpPr>
        <p:grpSpPr>
          <a:xfrm>
            <a:off x="4860290" y="1988820"/>
            <a:ext cx="3930650" cy="2379980"/>
            <a:chOff x="1417" y="5627"/>
            <a:chExt cx="6190" cy="3748"/>
          </a:xfrm>
        </p:grpSpPr>
        <p:sp>
          <p:nvSpPr>
            <p:cNvPr id="4" name="文本框 3"/>
            <p:cNvSpPr txBox="1"/>
            <p:nvPr/>
          </p:nvSpPr>
          <p:spPr>
            <a:xfrm>
              <a:off x="1417" y="5627"/>
              <a:ext cx="6191" cy="580"/>
            </a:xfrm>
            <a:prstGeom prst="rect">
              <a:avLst/>
            </a:prstGeom>
            <a:noFill/>
          </p:spPr>
          <p:txBody>
            <a:bodyPr wrap="square" rtlCol="0">
              <a:spAutoFit/>
            </a:bodyPr>
            <a:p>
              <a:r>
                <a:rPr lang="zh-CN" altLang="en-US"/>
                <a:t>（</a:t>
              </a:r>
              <a:r>
                <a:rPr lang="en-US" altLang="zh-CN"/>
                <a:t>2</a:t>
              </a:r>
              <a:r>
                <a:rPr lang="zh-CN" altLang="en-US"/>
                <a:t>）</a:t>
              </a:r>
              <a:r>
                <a:rPr lang="en-US" altLang="zh-CN"/>
                <a:t>0-1</a:t>
              </a:r>
              <a:r>
                <a:rPr lang="zh-CN" altLang="en-US"/>
                <a:t>背包问题？</a:t>
              </a:r>
              <a:endParaRPr lang="zh-CN" altLang="en-US"/>
            </a:p>
          </p:txBody>
        </p:sp>
        <p:pic>
          <p:nvPicPr>
            <p:cNvPr id="5" name="图片 4"/>
            <p:cNvPicPr>
              <a:picLocks noChangeAspect="1"/>
            </p:cNvPicPr>
            <p:nvPr/>
          </p:nvPicPr>
          <p:blipFill>
            <a:blip r:embed="rId2"/>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尝试列出这两个问题的所有可能解？或者说列出问题的</a:t>
            </a:r>
            <a:r>
              <a:rPr lang="zh-CN" altLang="en-US"/>
              <a:t>搜索树。</a:t>
            </a:r>
            <a:endParaRPr lang="zh-CN" altLang="en-US"/>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2</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2</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2</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sz="3600" kern="0" smtClean="0"/>
              <a:t>3</a:t>
            </a: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）回溯模板</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）回溯模板（有剪枝</a:t>
            </a:r>
            <a:r>
              <a:rPr lang="zh-CN">
                <a:solidFill>
                  <a:srgbClr val="000066"/>
                </a:solidFill>
                <a:latin typeface="+mj-ea"/>
                <a:ea typeface="+mj-ea"/>
              </a:rPr>
              <a:t>）</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8769</Words>
  <Application>WPS 演示</Application>
  <PresentationFormat>全屏显示(4:3)</PresentationFormat>
  <Paragraphs>1479</Paragraphs>
  <Slides>66</Slides>
  <Notes>16</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66</vt:i4>
      </vt:variant>
    </vt:vector>
  </HeadingPairs>
  <TitlesOfParts>
    <vt:vector size="82" baseType="lpstr">
      <vt:lpstr>Arial</vt:lpstr>
      <vt:lpstr>宋体</vt:lpstr>
      <vt:lpstr>Wingdings</vt:lpstr>
      <vt:lpstr>华文细黑</vt:lpstr>
      <vt:lpstr>MS UI Gothic</vt:lpstr>
      <vt:lpstr>Calibri</vt:lpstr>
      <vt:lpstr>Verdana</vt:lpstr>
      <vt:lpstr>方正正大黑简体</vt:lpstr>
      <vt:lpstr>黑体</vt:lpstr>
      <vt:lpstr>微软雅黑</vt:lpstr>
      <vt:lpstr>Times New Roman</vt:lpstr>
      <vt:lpstr>Tahoma</vt:lpstr>
      <vt:lpstr>Arial Unicode MS</vt:lpstr>
      <vt:lpstr>楷体</vt:lpstr>
      <vt:lpstr>隶书</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384</cp:revision>
  <dcterms:created xsi:type="dcterms:W3CDTF">2010-09-23T08:30:00Z</dcterms:created>
  <dcterms:modified xsi:type="dcterms:W3CDTF">2025-11-30T16:06:34Z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2052-12.1.0.23542</vt:lpwstr>
  </property>
</Properties>
</file>