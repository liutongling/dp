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88"/>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30" r:id="rId26"/>
    <p:sldId id="331" r:id="rId27"/>
    <p:sldId id="333" r:id="rId28"/>
    <p:sldId id="334" r:id="rId29"/>
    <p:sldId id="339" r:id="rId30"/>
    <p:sldId id="307" r:id="rId31"/>
    <p:sldId id="310" r:id="rId32"/>
    <p:sldId id="313" r:id="rId33"/>
    <p:sldId id="311" r:id="rId34"/>
    <p:sldId id="312" r:id="rId35"/>
    <p:sldId id="314" r:id="rId36"/>
    <p:sldId id="335" r:id="rId37"/>
    <p:sldId id="340" r:id="rId38"/>
    <p:sldId id="336" r:id="rId39"/>
    <p:sldId id="337" r:id="rId40"/>
    <p:sldId id="317" r:id="rId41"/>
    <p:sldId id="341" r:id="rId42"/>
    <p:sldId id="318" r:id="rId43"/>
    <p:sldId id="319" r:id="rId44"/>
    <p:sldId id="343" r:id="rId45"/>
    <p:sldId id="342" r:id="rId46"/>
    <p:sldId id="320" r:id="rId47"/>
    <p:sldId id="323" r:id="rId48"/>
    <p:sldId id="321" r:id="rId49"/>
    <p:sldId id="324" r:id="rId50"/>
    <p:sldId id="329" r:id="rId51"/>
    <p:sldId id="325" r:id="rId52"/>
    <p:sldId id="344" r:id="rId53"/>
    <p:sldId id="345" r:id="rId54"/>
    <p:sldId id="346" r:id="rId55"/>
    <p:sldId id="347" r:id="rId56"/>
    <p:sldId id="348" r:id="rId57"/>
    <p:sldId id="256" r:id="rId58"/>
    <p:sldId id="257" r:id="rId59"/>
    <p:sldId id="258" r:id="rId60"/>
    <p:sldId id="259" r:id="rId61"/>
    <p:sldId id="260" r:id="rId62"/>
    <p:sldId id="261" r:id="rId63"/>
    <p:sldId id="262" r:id="rId64"/>
    <p:sldId id="263" r:id="rId65"/>
    <p:sldId id="264" r:id="rId66"/>
    <p:sldId id="265" r:id="rId67"/>
    <p:sldId id="266" r:id="rId68"/>
    <p:sldId id="267" r:id="rId69"/>
    <p:sldId id="268" r:id="rId70"/>
    <p:sldId id="269" r:id="rId71"/>
    <p:sldId id="270" r:id="rId72"/>
    <p:sldId id="271" r:id="rId73"/>
    <p:sldId id="272" r:id="rId74"/>
    <p:sldId id="273" r:id="rId75"/>
    <p:sldId id="274" r:id="rId76"/>
    <p:sldId id="275" r:id="rId77"/>
    <p:sldId id="276" r:id="rId78"/>
    <p:sldId id="277" r:id="rId79"/>
    <p:sldId id="278" r:id="rId80"/>
    <p:sldId id="279" r:id="rId81"/>
    <p:sldId id="280" r:id="rId82"/>
    <p:sldId id="281" r:id="rId83"/>
    <p:sldId id="282" r:id="rId84"/>
    <p:sldId id="283" r:id="rId85"/>
    <p:sldId id="284" r:id="rId86"/>
    <p:sldId id="285" r:id="rId87"/>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34" userDrawn="1">
          <p15:clr>
            <a:srgbClr val="A4A3A4"/>
          </p15:clr>
        </p15:guide>
        <p15:guide id="2" pos="27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34"/>
        <p:guide pos="275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2" Type="http://schemas.openxmlformats.org/officeDocument/2006/relationships/commentAuthors" Target="commentAuthors.xml"/><Relationship Id="rId91" Type="http://schemas.openxmlformats.org/officeDocument/2006/relationships/tableStyles" Target="tableStyles.xml"/><Relationship Id="rId90" Type="http://schemas.openxmlformats.org/officeDocument/2006/relationships/viewProps" Target="viewProps.xml"/><Relationship Id="rId9" Type="http://schemas.openxmlformats.org/officeDocument/2006/relationships/slide" Target="slides/slide6.xml"/><Relationship Id="rId89" Type="http://schemas.openxmlformats.org/officeDocument/2006/relationships/presProps" Target="presProps.xml"/><Relationship Id="rId88" Type="http://schemas.openxmlformats.org/officeDocument/2006/relationships/handoutMaster" Target="handoutMasters/handoutMaster1.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slow" p14:dur="1000"/>
    </mc:Choice>
    <mc:Fallback>
      <p:transition spd="slow"/>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4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6.png"/><Relationship Id="rId1" Type="http://schemas.openxmlformats.org/officeDocument/2006/relationships/image" Target="../media/image45.png"/></Relationships>
</file>

<file path=ppt/slides/_rels/slide50.xml.rels><?xml version="1.0" encoding="UTF-8" standalone="yes"?>
<Relationships xmlns="http://schemas.openxmlformats.org/package/2006/relationships"><Relationship Id="rId8" Type="http://schemas.openxmlformats.org/officeDocument/2006/relationships/notesSlide" Target="../notesSlides/notesSlide19.xml"/><Relationship Id="rId7"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51.xml.rels><?xml version="1.0" encoding="UTF-8" standalone="yes"?>
<Relationships xmlns="http://schemas.openxmlformats.org/package/2006/relationships"><Relationship Id="rId9" Type="http://schemas.openxmlformats.org/officeDocument/2006/relationships/tags" Target="../tags/tag16.xml"/><Relationship Id="rId8" Type="http://schemas.openxmlformats.org/officeDocument/2006/relationships/tags" Target="../tags/tag15.xml"/><Relationship Id="rId7" Type="http://schemas.openxmlformats.org/officeDocument/2006/relationships/tags" Target="../tags/tag14.xml"/><Relationship Id="rId6" Type="http://schemas.openxmlformats.org/officeDocument/2006/relationships/tags" Target="../tags/tag13.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3" Type="http://schemas.openxmlformats.org/officeDocument/2006/relationships/notesSlide" Target="../notesSlides/notesSlide20.xml"/><Relationship Id="rId12" Type="http://schemas.openxmlformats.org/officeDocument/2006/relationships/slideLayout" Target="../slideLayouts/slideLayout2.xml"/><Relationship Id="rId11" Type="http://schemas.openxmlformats.org/officeDocument/2006/relationships/tags" Target="../tags/tag18.xml"/><Relationship Id="rId10" Type="http://schemas.openxmlformats.org/officeDocument/2006/relationships/tags" Target="../tags/tag17.xml"/><Relationship Id="rId1" Type="http://schemas.openxmlformats.org/officeDocument/2006/relationships/image" Target="../media/image47.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6.png"/></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0.xml"/><Relationship Id="rId1" Type="http://schemas.openxmlformats.org/officeDocument/2006/relationships/tags" Target="../tags/tag1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5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5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6.png"/><Relationship Id="rId1" Type="http://schemas.openxmlformats.org/officeDocument/2006/relationships/image" Target="../media/image55.png"/></Relationships>
</file>

<file path=ppt/slides/_rels/slide6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6.png"/><Relationship Id="rId1" Type="http://schemas.openxmlformats.org/officeDocument/2006/relationships/image" Target="../media/image55.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8.png"/><Relationship Id="rId6" Type="http://schemas.openxmlformats.org/officeDocument/2006/relationships/image" Target="../media/image57.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9.png"/><Relationship Id="rId6" Type="http://schemas.openxmlformats.org/officeDocument/2006/relationships/image" Target="../media/image60.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1.png"/><Relationship Id="rId6" Type="http://schemas.openxmlformats.org/officeDocument/2006/relationships/image" Target="../media/image59.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6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7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7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7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7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3.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7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4.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8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8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7.png"/><Relationship Id="rId6" Type="http://schemas.openxmlformats.org/officeDocument/2006/relationships/image" Target="../media/image66.png"/><Relationship Id="rId5" Type="http://schemas.openxmlformats.org/officeDocument/2006/relationships/image" Target="../media/image51.png"/><Relationship Id="rId4" Type="http://schemas.openxmlformats.org/officeDocument/2006/relationships/image" Target="../media/image50.png"/><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image" Target="../media/image47.png"/></Relationships>
</file>

<file path=ppt/slides/_rels/slide8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8.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70.png"/><Relationship Id="rId1"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cxnSp>
        <p:nvCxnSpPr>
          <p:cNvPr id="41" name="曲线连接符 40"/>
          <p:cNvCxnSpPr/>
          <p:nvPr/>
        </p:nvCxnSpPr>
        <p:spPr>
          <a:xfrm rot="5400000" flipV="1">
            <a:off x="5223510"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5944870" y="431673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652907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725551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786066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7" name="曲线连接符 76"/>
          <p:cNvCxnSpPr/>
          <p:nvPr/>
        </p:nvCxnSpPr>
        <p:spPr>
          <a:xfrm rot="5400000" flipV="1">
            <a:off x="858075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Visit</a:t>
            </a:r>
            <a:r>
              <a:rPr lang="zh-CN" altLang="en-US">
                <a:solidFill>
                  <a:schemeClr val="tx1"/>
                </a:solidFill>
                <a:uFillTx/>
                <a:latin typeface="Times New Roman" panose="02020603050405020304" pitchFamily="18" charset="0"/>
                <a:cs typeface="宋体" panose="02010600030101010101" pitchFamily="2" charset="-122"/>
              </a:rPr>
              <a:t>数组，表示元素是否被访问，</a:t>
            </a:r>
            <a:r>
              <a:rPr lang="en-US" altLang="zh-CN">
                <a:solidFill>
                  <a:schemeClr val="tx1"/>
                </a:solidFill>
                <a:uFillTx/>
                <a:latin typeface="Times New Roman" panose="02020603050405020304" pitchFamily="18" charset="0"/>
                <a:cs typeface="宋体" panose="02010600030101010101" pitchFamily="2" charset="-122"/>
              </a:rPr>
              <a:t>1</a:t>
            </a:r>
            <a:r>
              <a:rPr lang="zh-CN" altLang="en-US">
                <a:solidFill>
                  <a:schemeClr val="tx1"/>
                </a:solidFill>
                <a:uFillTx/>
                <a:latin typeface="Times New Roman" panose="02020603050405020304" pitchFamily="18" charset="0"/>
                <a:cs typeface="宋体" panose="02010600030101010101" pitchFamily="2" charset="-122"/>
              </a:rPr>
              <a:t>表示已被访问，</a:t>
            </a:r>
            <a:r>
              <a:rPr lang="en-US" altLang="zh-CN">
                <a:solidFill>
                  <a:schemeClr val="tx1"/>
                </a:solidFill>
                <a:uFillTx/>
                <a:latin typeface="Times New Roman" panose="02020603050405020304" pitchFamily="18" charset="0"/>
                <a:cs typeface="宋体" panose="02010600030101010101" pitchFamily="2" charset="-122"/>
              </a:rPr>
              <a:t>0</a:t>
            </a:r>
            <a:r>
              <a:rPr lang="zh-CN" altLang="en-US">
                <a:solidFill>
                  <a:schemeClr val="tx1"/>
                </a:solidFill>
                <a:uFillTx/>
                <a:latin typeface="Times New Roman" panose="02020603050405020304" pitchFamily="18" charset="0"/>
                <a:cs typeface="宋体" panose="02010600030101010101" pitchFamily="2" charset="-122"/>
              </a:rPr>
              <a:t>表示未被访问。</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TempList</a:t>
            </a:r>
            <a:r>
              <a:rPr lang="zh-CN" altLang="en-US">
                <a:solidFill>
                  <a:schemeClr val="tx1"/>
                </a:solidFill>
                <a:uFillTx/>
                <a:latin typeface="Times New Roman" panose="02020603050405020304" pitchFamily="18" charset="0"/>
                <a:cs typeface="宋体" panose="02010600030101010101" pitchFamily="2" charset="-122"/>
              </a:rPr>
              <a:t>数组，临时存储全排列的所有</a:t>
            </a:r>
            <a:r>
              <a:rPr lang="zh-CN" altLang="en-US">
                <a:solidFill>
                  <a:schemeClr val="tx1"/>
                </a:solidFill>
                <a:uFillTx/>
                <a:latin typeface="Times New Roman" panose="02020603050405020304" pitchFamily="18" charset="0"/>
                <a:cs typeface="宋体" panose="02010600030101010101" pitchFamily="2" charset="-122"/>
              </a:rPr>
              <a:t>情况。</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5" name="文本框 84"/>
          <p:cNvSpPr txBox="1"/>
          <p:nvPr/>
        </p:nvSpPr>
        <p:spPr>
          <a:xfrm>
            <a:off x="395605" y="6165215"/>
            <a:ext cx="3919220" cy="41021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Start</a:t>
            </a:r>
            <a:r>
              <a:rPr lang="zh-CN" altLang="en-US">
                <a:solidFill>
                  <a:schemeClr val="tx1"/>
                </a:solidFill>
                <a:uFillTx/>
                <a:latin typeface="Times New Roman" panose="02020603050405020304" pitchFamily="18" charset="0"/>
              </a:rPr>
              <a:t>：</a:t>
            </a:r>
            <a:r>
              <a:rPr lang="en-US" altLang="zh-CN">
                <a:uFillTx/>
                <a:latin typeface="Times New Roman" panose="02020603050405020304" pitchFamily="18" charset="0"/>
                <a:cs typeface="宋体" panose="02010600030101010101" pitchFamily="2" charset="-122"/>
                <a:sym typeface="+mn-ea"/>
              </a:rPr>
              <a:t>Visit=[0,0,0]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6" name="文本框 85"/>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①：</a:t>
            </a:r>
            <a:r>
              <a:rPr lang="en-US" altLang="zh-CN">
                <a:uFillTx/>
                <a:latin typeface="Times New Roman" panose="02020603050405020304" pitchFamily="18" charset="0"/>
                <a:cs typeface="宋体" panose="02010600030101010101" pitchFamily="2" charset="-122"/>
                <a:sym typeface="+mn-ea"/>
              </a:rPr>
              <a:t>Visit=[1,0,0]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②：</a:t>
            </a:r>
            <a:r>
              <a:rPr lang="en-US" altLang="zh-CN">
                <a:uFillTx/>
                <a:latin typeface="Times New Roman" panose="02020603050405020304" pitchFamily="18" charset="0"/>
                <a:cs typeface="宋体" panose="02010600030101010101" pitchFamily="2" charset="-122"/>
                <a:sym typeface="+mn-ea"/>
              </a:rPr>
              <a:t>Visit=[1,1,0]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文本框 90"/>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③：</a:t>
            </a:r>
            <a:r>
              <a:rPr lang="en-US" altLang="zh-CN">
                <a:uFillTx/>
                <a:latin typeface="Times New Roman" panose="02020603050405020304" pitchFamily="18" charset="0"/>
                <a:cs typeface="宋体" panose="02010600030101010101" pitchFamily="2" charset="-122"/>
                <a:sym typeface="+mn-ea"/>
              </a:rPr>
              <a:t>Visit=[1,1,1]</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[1,2,3]</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2" nodeType="click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box(in)">
                                      <p:cBhvr>
                                        <p:cTn id="7" dur="2000"/>
                                        <p:tgtEl>
                                          <p:spTgt spid="84"/>
                                        </p:tgtEl>
                                      </p:cBhvr>
                                    </p:animEffect>
                                  </p:childTnLst>
                                </p:cTn>
                              </p:par>
                              <p:par>
                                <p:cTn id="8" presetID="4" presetClass="entr" presetSubtype="16" fill="hold" grpId="2" nodeType="withEffect">
                                  <p:stCondLst>
                                    <p:cond delay="0"/>
                                  </p:stCondLst>
                                  <p:childTnLst>
                                    <p:set>
                                      <p:cBhvr>
                                        <p:cTn id="9" dur="1" fill="hold">
                                          <p:stCondLst>
                                            <p:cond delay="0"/>
                                          </p:stCondLst>
                                        </p:cTn>
                                        <p:tgtEl>
                                          <p:spTgt spid="78"/>
                                        </p:tgtEl>
                                        <p:attrNameLst>
                                          <p:attrName>style.visibility</p:attrName>
                                        </p:attrNameLst>
                                      </p:cBhvr>
                                      <p:to>
                                        <p:strVal val="visible"/>
                                      </p:to>
                                    </p:set>
                                    <p:animEffect transition="in" filter="box(in)">
                                      <p:cBhvr>
                                        <p:cTn id="10" dur="2000"/>
                                        <p:tgtEl>
                                          <p:spTgt spid="78"/>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grpId="0" nodeType="clickEffect">
                                  <p:stCondLst>
                                    <p:cond delay="0"/>
                                  </p:stCondLst>
                                  <p:childTnLst>
                                    <p:set>
                                      <p:cBhvr>
                                        <p:cTn id="14" dur="1" fill="hold">
                                          <p:stCondLst>
                                            <p:cond delay="0"/>
                                          </p:stCondLst>
                                        </p:cTn>
                                        <p:tgtEl>
                                          <p:spTgt spid="81"/>
                                        </p:tgtEl>
                                        <p:attrNameLst>
                                          <p:attrName>style.visibility</p:attrName>
                                        </p:attrNameLst>
                                      </p:cBhvr>
                                      <p:to>
                                        <p:strVal val="visible"/>
                                      </p:to>
                                    </p:set>
                                    <p:animEffect transition="in" filter="box(in)">
                                      <p:cBhvr>
                                        <p:cTn id="15" dur="2000"/>
                                        <p:tgtEl>
                                          <p:spTgt spid="81"/>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77"/>
                                        </p:tgtEl>
                                        <p:attrNameLst>
                                          <p:attrName>style.visibility</p:attrName>
                                        </p:attrNameLst>
                                      </p:cBhvr>
                                      <p:to>
                                        <p:strVal val="visible"/>
                                      </p:to>
                                    </p:set>
                                    <p:animEffect transition="in" filter="box(in)">
                                      <p:cBhvr>
                                        <p:cTn id="18" dur="2000"/>
                                        <p:tgtEl>
                                          <p:spTgt spid="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xit" presetSubtype="4" fill="hold" grpId="0" nodeType="clickEffect">
                                  <p:stCondLst>
                                    <p:cond delay="0"/>
                                  </p:stCondLst>
                                  <p:childTnLst>
                                    <p:anim calcmode="lin" valueType="num">
                                      <p:cBhvr additive="base">
                                        <p:cTn id="22" dur="500"/>
                                        <p:tgtEl>
                                          <p:spTgt spid="85"/>
                                        </p:tgtEl>
                                        <p:attrNameLst>
                                          <p:attrName>ppt_x</p:attrName>
                                        </p:attrNameLst>
                                      </p:cBhvr>
                                      <p:tavLst>
                                        <p:tav tm="0">
                                          <p:val>
                                            <p:strVal val="ppt_x"/>
                                          </p:val>
                                        </p:tav>
                                        <p:tav tm="100000">
                                          <p:val>
                                            <p:strVal val="ppt_x"/>
                                          </p:val>
                                        </p:tav>
                                      </p:tavLst>
                                    </p:anim>
                                    <p:anim calcmode="lin" valueType="num">
                                      <p:cBhvr additive="base">
                                        <p:cTn id="23" dur="500"/>
                                        <p:tgtEl>
                                          <p:spTgt spid="85"/>
                                        </p:tgtEl>
                                        <p:attrNameLst>
                                          <p:attrName>ppt_y</p:attrName>
                                        </p:attrNameLst>
                                      </p:cBhvr>
                                      <p:tavLst>
                                        <p:tav tm="0">
                                          <p:val>
                                            <p:strVal val="ppt_y"/>
                                          </p:val>
                                        </p:tav>
                                        <p:tav tm="100000">
                                          <p:val>
                                            <p:strVal val="1+ppt_h/2"/>
                                          </p:val>
                                        </p:tav>
                                      </p:tavLst>
                                    </p:anim>
                                    <p:set>
                                      <p:cBhvr>
                                        <p:cTn id="24" dur="1" fill="hold">
                                          <p:stCondLst>
                                            <p:cond delay="499"/>
                                          </p:stCondLst>
                                        </p:cTn>
                                        <p:tgtEl>
                                          <p:spTgt spid="8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2" nodeType="clickEffect">
                                  <p:stCondLst>
                                    <p:cond delay="0"/>
                                  </p:stCondLst>
                                  <p:childTnLst>
                                    <p:set>
                                      <p:cBhvr>
                                        <p:cTn id="28" dur="1" fill="hold">
                                          <p:stCondLst>
                                            <p:cond delay="0"/>
                                          </p:stCondLst>
                                        </p:cTn>
                                        <p:tgtEl>
                                          <p:spTgt spid="86"/>
                                        </p:tgtEl>
                                        <p:attrNameLst>
                                          <p:attrName>style.visibility</p:attrName>
                                        </p:attrNameLst>
                                      </p:cBhvr>
                                      <p:to>
                                        <p:strVal val="visible"/>
                                      </p:to>
                                    </p:set>
                                    <p:anim calcmode="lin" valueType="num">
                                      <p:cBhvr additive="base">
                                        <p:cTn id="29" dur="500" fill="hold"/>
                                        <p:tgtEl>
                                          <p:spTgt spid="86"/>
                                        </p:tgtEl>
                                        <p:attrNameLst>
                                          <p:attrName>ppt_x</p:attrName>
                                        </p:attrNameLst>
                                      </p:cBhvr>
                                      <p:tavLst>
                                        <p:tav tm="0">
                                          <p:val>
                                            <p:strVal val="#ppt_x"/>
                                          </p:val>
                                        </p:tav>
                                        <p:tav tm="100000">
                                          <p:val>
                                            <p:strVal val="#ppt_x"/>
                                          </p:val>
                                        </p:tav>
                                      </p:tavLst>
                                    </p:anim>
                                    <p:anim calcmode="lin" valueType="num">
                                      <p:cBhvr additive="base">
                                        <p:cTn id="30"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86"/>
                                        </p:tgtEl>
                                        <p:attrNameLst>
                                          <p:attrName>ppt_x</p:attrName>
                                        </p:attrNameLst>
                                      </p:cBhvr>
                                      <p:tavLst>
                                        <p:tav tm="0">
                                          <p:val>
                                            <p:strVal val="ppt_x"/>
                                          </p:val>
                                        </p:tav>
                                        <p:tav tm="100000">
                                          <p:val>
                                            <p:strVal val="ppt_x"/>
                                          </p:val>
                                        </p:tav>
                                      </p:tavLst>
                                    </p:anim>
                                    <p:anim calcmode="lin" valueType="num">
                                      <p:cBhvr additive="base">
                                        <p:cTn id="35" dur="500"/>
                                        <p:tgtEl>
                                          <p:spTgt spid="86"/>
                                        </p:tgtEl>
                                        <p:attrNameLst>
                                          <p:attrName>ppt_y</p:attrName>
                                        </p:attrNameLst>
                                      </p:cBhvr>
                                      <p:tavLst>
                                        <p:tav tm="0">
                                          <p:val>
                                            <p:strVal val="ppt_y"/>
                                          </p:val>
                                        </p:tav>
                                        <p:tav tm="100000">
                                          <p:val>
                                            <p:strVal val="1+ppt_h/2"/>
                                          </p:val>
                                        </p:tav>
                                      </p:tavLst>
                                    </p:anim>
                                    <p:set>
                                      <p:cBhvr>
                                        <p:cTn id="36" dur="1" fill="hold">
                                          <p:stCondLst>
                                            <p:cond delay="499"/>
                                          </p:stCondLst>
                                        </p:cTn>
                                        <p:tgtEl>
                                          <p:spTgt spid="8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79"/>
                                        </p:tgtEl>
                                        <p:attrNameLst>
                                          <p:attrName>style.visibility</p:attrName>
                                        </p:attrNameLst>
                                      </p:cBhvr>
                                      <p:to>
                                        <p:strVal val="visible"/>
                                      </p:to>
                                    </p:set>
                                    <p:animEffect transition="in" filter="box(in)">
                                      <p:cBhvr>
                                        <p:cTn id="41" dur="2000"/>
                                        <p:tgtEl>
                                          <p:spTgt spid="79"/>
                                        </p:tgtEl>
                                      </p:cBhvr>
                                    </p:animEffect>
                                  </p:childTnLst>
                                </p:cTn>
                              </p:par>
                              <p:par>
                                <p:cTn id="42" presetID="4" presetClass="entr" presetSubtype="16" fill="hold" grpId="0" nodeType="withEffect">
                                  <p:stCondLst>
                                    <p:cond delay="0"/>
                                  </p:stCondLst>
                                  <p:childTnLst>
                                    <p:set>
                                      <p:cBhvr>
                                        <p:cTn id="43" dur="1" fill="hold">
                                          <p:stCondLst>
                                            <p:cond delay="0"/>
                                          </p:stCondLst>
                                        </p:cTn>
                                        <p:tgtEl>
                                          <p:spTgt spid="88"/>
                                        </p:tgtEl>
                                        <p:attrNameLst>
                                          <p:attrName>style.visibility</p:attrName>
                                        </p:attrNameLst>
                                      </p:cBhvr>
                                      <p:to>
                                        <p:strVal val="visible"/>
                                      </p:to>
                                    </p:set>
                                    <p:animEffect transition="in" filter="box(in)">
                                      <p:cBhvr>
                                        <p:cTn id="44" dur="2000"/>
                                        <p:tgtEl>
                                          <p:spTgt spid="88"/>
                                        </p:tgtEl>
                                      </p:cBhvr>
                                    </p:animEffect>
                                  </p:childTnLst>
                                </p:cTn>
                              </p:par>
                              <p:par>
                                <p:cTn id="45" presetID="4" presetClass="entr" presetSubtype="16"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box(in)">
                                      <p:cBhvr>
                                        <p:cTn id="47" dur="2000"/>
                                        <p:tgtEl>
                                          <p:spTgt spid="93"/>
                                        </p:tgtEl>
                                      </p:cBhvr>
                                    </p:animEffect>
                                  </p:childTnLst>
                                </p:cTn>
                              </p:par>
                              <p:par>
                                <p:cTn id="48" presetID="4" presetClass="entr" presetSubtype="16" fill="hold" grpId="0" nodeType="withEffect">
                                  <p:stCondLst>
                                    <p:cond delay="0"/>
                                  </p:stCondLst>
                                  <p:childTnLst>
                                    <p:set>
                                      <p:cBhvr>
                                        <p:cTn id="49" dur="1" fill="hold">
                                          <p:stCondLst>
                                            <p:cond delay="0"/>
                                          </p:stCondLst>
                                        </p:cTn>
                                        <p:tgtEl>
                                          <p:spTgt spid="92"/>
                                        </p:tgtEl>
                                        <p:attrNameLst>
                                          <p:attrName>style.visibility</p:attrName>
                                        </p:attrNameLst>
                                      </p:cBhvr>
                                      <p:to>
                                        <p:strVal val="visible"/>
                                      </p:to>
                                    </p:set>
                                    <p:animEffect transition="in" filter="box(in)">
                                      <p:cBhvr>
                                        <p:cTn id="50" dur="2000"/>
                                        <p:tgtEl>
                                          <p:spTgt spid="9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2" nodeType="click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4" fill="hold" grpId="0" nodeType="clickEffect">
                                  <p:stCondLst>
                                    <p:cond delay="0"/>
                                  </p:stCondLst>
                                  <p:childTnLst>
                                    <p:anim calcmode="lin" valueType="num">
                                      <p:cBhvr additive="base">
                                        <p:cTn id="60" dur="500"/>
                                        <p:tgtEl>
                                          <p:spTgt spid="89"/>
                                        </p:tgtEl>
                                        <p:attrNameLst>
                                          <p:attrName>ppt_x</p:attrName>
                                        </p:attrNameLst>
                                      </p:cBhvr>
                                      <p:tavLst>
                                        <p:tav tm="0">
                                          <p:val>
                                            <p:strVal val="ppt_x"/>
                                          </p:val>
                                        </p:tav>
                                        <p:tav tm="100000">
                                          <p:val>
                                            <p:strVal val="ppt_x"/>
                                          </p:val>
                                        </p:tav>
                                      </p:tavLst>
                                    </p:anim>
                                    <p:anim calcmode="lin" valueType="num">
                                      <p:cBhvr additive="base">
                                        <p:cTn id="61" dur="500"/>
                                        <p:tgtEl>
                                          <p:spTgt spid="89"/>
                                        </p:tgtEl>
                                        <p:attrNameLst>
                                          <p:attrName>ppt_y</p:attrName>
                                        </p:attrNameLst>
                                      </p:cBhvr>
                                      <p:tavLst>
                                        <p:tav tm="0">
                                          <p:val>
                                            <p:strVal val="ppt_y"/>
                                          </p:val>
                                        </p:tav>
                                        <p:tav tm="100000">
                                          <p:val>
                                            <p:strVal val="1+ppt_h/2"/>
                                          </p:val>
                                        </p:tav>
                                      </p:tavLst>
                                    </p:anim>
                                    <p:set>
                                      <p:cBhvr>
                                        <p:cTn id="62" dur="1" fill="hold">
                                          <p:stCondLst>
                                            <p:cond delay="499"/>
                                          </p:stCondLst>
                                        </p:cTn>
                                        <p:tgtEl>
                                          <p:spTgt spid="8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4" presetClass="entr" presetSubtype="16" fill="hold" grpId="0" nodeType="clickEffect">
                                  <p:stCondLst>
                                    <p:cond delay="0"/>
                                  </p:stCondLst>
                                  <p:childTnLst>
                                    <p:set>
                                      <p:cBhvr>
                                        <p:cTn id="66" dur="1" fill="hold">
                                          <p:stCondLst>
                                            <p:cond delay="0"/>
                                          </p:stCondLst>
                                        </p:cTn>
                                        <p:tgtEl>
                                          <p:spTgt spid="3"/>
                                        </p:tgtEl>
                                        <p:attrNameLst>
                                          <p:attrName>style.visibility</p:attrName>
                                        </p:attrNameLst>
                                      </p:cBhvr>
                                      <p:to>
                                        <p:strVal val="visible"/>
                                      </p:to>
                                    </p:set>
                                    <p:animEffect transition="in" filter="box(in)">
                                      <p:cBhvr>
                                        <p:cTn id="67" dur="2000"/>
                                        <p:tgtEl>
                                          <p:spTgt spid="3"/>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90"/>
                                        </p:tgtEl>
                                        <p:attrNameLst>
                                          <p:attrName>style.visibility</p:attrName>
                                        </p:attrNameLst>
                                      </p:cBhvr>
                                      <p:to>
                                        <p:strVal val="visible"/>
                                      </p:to>
                                    </p:set>
                                    <p:animEffect transition="in" filter="box(in)">
                                      <p:cBhvr>
                                        <p:cTn id="70" dur="2000"/>
                                        <p:tgtEl>
                                          <p:spTgt spid="9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animEffect transition="in" filter="box(in)">
                                      <p:cBhvr>
                                        <p:cTn id="73" dur="2000"/>
                                        <p:tgtEl>
                                          <p:spTgt spid="98"/>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99"/>
                                        </p:tgtEl>
                                        <p:attrNameLst>
                                          <p:attrName>style.visibility</p:attrName>
                                        </p:attrNameLst>
                                      </p:cBhvr>
                                      <p:to>
                                        <p:strVal val="visible"/>
                                      </p:to>
                                    </p:set>
                                    <p:animEffect transition="in" filter="box(in)">
                                      <p:cBhvr>
                                        <p:cTn id="76" dur="2000"/>
                                        <p:tgtEl>
                                          <p:spTgt spid="99"/>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2" nodeType="clickEffect">
                                  <p:stCondLst>
                                    <p:cond delay="0"/>
                                  </p:stCondLst>
                                  <p:childTnLst>
                                    <p:set>
                                      <p:cBhvr>
                                        <p:cTn id="80" dur="1" fill="hold">
                                          <p:stCondLst>
                                            <p:cond delay="0"/>
                                          </p:stCondLst>
                                        </p:cTn>
                                        <p:tgtEl>
                                          <p:spTgt spid="91"/>
                                        </p:tgtEl>
                                        <p:attrNameLst>
                                          <p:attrName>style.visibility</p:attrName>
                                        </p:attrNameLst>
                                      </p:cBhvr>
                                      <p:to>
                                        <p:strVal val="visible"/>
                                      </p:to>
                                    </p:set>
                                    <p:anim calcmode="lin" valueType="num">
                                      <p:cBhvr additive="base">
                                        <p:cTn id="81" dur="500" fill="hold"/>
                                        <p:tgtEl>
                                          <p:spTgt spid="91"/>
                                        </p:tgtEl>
                                        <p:attrNameLst>
                                          <p:attrName>ppt_x</p:attrName>
                                        </p:attrNameLst>
                                      </p:cBhvr>
                                      <p:tavLst>
                                        <p:tav tm="0">
                                          <p:val>
                                            <p:strVal val="#ppt_x"/>
                                          </p:val>
                                        </p:tav>
                                        <p:tav tm="100000">
                                          <p:val>
                                            <p:strVal val="#ppt_x"/>
                                          </p:val>
                                        </p:tav>
                                      </p:tavLst>
                                    </p:anim>
                                    <p:anim calcmode="lin" valueType="num">
                                      <p:cBhvr additive="base">
                                        <p:cTn id="82"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4" grpId="2" bldLvl="0" animBg="1"/>
      <p:bldP spid="78" grpId="2"/>
      <p:bldP spid="81" grpId="0"/>
      <p:bldP spid="77" grpId="0" bldLvl="0" animBg="1"/>
      <p:bldP spid="81" grpId="1"/>
      <p:bldP spid="77" grpId="1" animBg="1"/>
      <p:bldP spid="85" grpId="0"/>
      <p:bldP spid="85" grpId="1"/>
      <p:bldP spid="86" grpId="0"/>
      <p:bldP spid="86" grpId="1"/>
      <p:bldP spid="86" grpId="2"/>
      <p:bldP spid="79" grpId="0"/>
      <p:bldP spid="79" grpId="1"/>
      <p:bldP spid="89" grpId="0"/>
      <p:bldP spid="89" grpId="1"/>
      <p:bldP spid="89" grpId="2"/>
      <p:bldP spid="88" grpId="0" animBg="1"/>
      <p:bldP spid="88" grpId="1" animBg="1"/>
      <p:bldP spid="3" grpId="0"/>
      <p:bldP spid="90" grpId="0" animBg="1"/>
      <p:bldP spid="3" grpId="1"/>
      <p:bldP spid="90" grpId="1" animBg="1"/>
      <p:bldP spid="91" grpId="1"/>
      <p:bldP spid="91" grpId="2"/>
      <p:bldP spid="93" grpId="0"/>
      <p:bldP spid="92" grpId="0" bldLvl="0" animBg="1"/>
      <p:bldP spid="93" grpId="1"/>
      <p:bldP spid="92" grpId="1" animBg="1"/>
      <p:bldP spid="98" grpId="0" bldLvl="0" animBg="1"/>
      <p:bldP spid="99" grpId="0"/>
      <p:bldP spid="98" grpId="1" animBg="1"/>
      <p:bldP spid="99"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41630" y="6247765"/>
            <a:ext cx="3919220" cy="41021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③：</a:t>
            </a:r>
            <a:r>
              <a:rPr lang="en-US" altLang="zh-CN" sz="1800">
                <a:uFillTx/>
                <a:latin typeface="Times New Roman" panose="02020603050405020304" pitchFamily="18" charset="0"/>
                <a:cs typeface="宋体" panose="02010600030101010101" pitchFamily="2" charset="-122"/>
                <a:sym typeface="+mn-ea"/>
              </a:rPr>
              <a:t>Visit=[1,1,1]</a:t>
            </a:r>
            <a:r>
              <a:rPr lang="zh-CN" altLang="en-US" sz="1800">
                <a:uFillTx/>
                <a:latin typeface="Times New Roman" panose="02020603050405020304" pitchFamily="18" charset="0"/>
                <a:cs typeface="宋体" panose="02010600030101010101" pitchFamily="2" charset="-122"/>
                <a:sym typeface="+mn-ea"/>
              </a:rPr>
              <a:t>，</a:t>
            </a:r>
            <a:r>
              <a:rPr lang="en-US" altLang="zh-CN" sz="1800">
                <a:uFillTx/>
                <a:latin typeface="Times New Roman" panose="02020603050405020304" pitchFamily="18" charset="0"/>
                <a:cs typeface="宋体" panose="02010600030101010101" pitchFamily="2" charset="-122"/>
                <a:sym typeface="+mn-ea"/>
              </a:rPr>
              <a:t>TempList = [1,2,3]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sp>
        <p:nvSpPr>
          <p:cNvPr id="48" name="文本框 47"/>
          <p:cNvSpPr txBox="1"/>
          <p:nvPr/>
        </p:nvSpPr>
        <p:spPr>
          <a:xfrm>
            <a:off x="323850"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④：达到递归出口，把结果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Result=[[1,2,3]]</a:t>
            </a:r>
            <a:endParaRPr lang="en-US" altLang="zh-CN">
              <a:solidFill>
                <a:schemeClr val="tx1"/>
              </a:solidFill>
              <a:uFillTx/>
              <a:latin typeface="Times New Roman" panose="02020603050405020304" pitchFamily="18" charset="0"/>
            </a:endParaRPr>
          </a:p>
        </p:txBody>
      </p:sp>
      <p:sp>
        <p:nvSpPr>
          <p:cNvPr id="75" name="文本框 74"/>
          <p:cNvSpPr txBox="1"/>
          <p:nvPr/>
        </p:nvSpPr>
        <p:spPr>
          <a:xfrm>
            <a:off x="3204210" y="4990465"/>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322580" y="624776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89"/>
                                        </p:tgtEl>
                                        <p:attrNameLst>
                                          <p:attrName>ppt_x</p:attrName>
                                        </p:attrNameLst>
                                      </p:cBhvr>
                                      <p:tavLst>
                                        <p:tav tm="0">
                                          <p:val>
                                            <p:strVal val="ppt_x"/>
                                          </p:val>
                                        </p:tav>
                                        <p:tav tm="100000">
                                          <p:val>
                                            <p:strVal val="ppt_x"/>
                                          </p:val>
                                        </p:tav>
                                      </p:tavLst>
                                    </p:anim>
                                    <p:anim calcmode="lin" valueType="num">
                                      <p:cBhvr additive="base">
                                        <p:cTn id="7" dur="500"/>
                                        <p:tgtEl>
                                          <p:spTgt spid="89"/>
                                        </p:tgtEl>
                                        <p:attrNameLst>
                                          <p:attrName>ppt_y</p:attrName>
                                        </p:attrNameLst>
                                      </p:cBhvr>
                                      <p:tavLst>
                                        <p:tav tm="0">
                                          <p:val>
                                            <p:strVal val="ppt_y"/>
                                          </p:val>
                                        </p:tav>
                                        <p:tav tm="100000">
                                          <p:val>
                                            <p:strVal val="1+ppt_h/2"/>
                                          </p:val>
                                        </p:tav>
                                      </p:tavLst>
                                    </p:anim>
                                    <p:set>
                                      <p:cBhvr>
                                        <p:cTn id="8" dur="1" fill="hold">
                                          <p:stCondLst>
                                            <p:cond delay="499"/>
                                          </p:stCondLst>
                                        </p:cTn>
                                        <p:tgtEl>
                                          <p:spTgt spid="89"/>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box(in)">
                                      <p:cBhvr>
                                        <p:cTn id="13" dur="2000"/>
                                        <p:tgtEl>
                                          <p:spTgt spid="5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41"/>
                                        </p:tgtEl>
                                        <p:attrNameLst>
                                          <p:attrName>style.visibility</p:attrName>
                                        </p:attrNameLst>
                                      </p:cBhvr>
                                      <p:to>
                                        <p:strVal val="visible"/>
                                      </p:to>
                                    </p:set>
                                    <p:animEffect transition="in" filter="box(in)">
                                      <p:cBhvr>
                                        <p:cTn id="16" dur="2000"/>
                                        <p:tgtEl>
                                          <p:spTgt spid="41"/>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8"/>
                                        </p:tgtEl>
                                        <p:attrNameLst>
                                          <p:attrName>style.visibility</p:attrName>
                                        </p:attrNameLst>
                                      </p:cBhvr>
                                      <p:to>
                                        <p:strVal val="visible"/>
                                      </p:to>
                                    </p:set>
                                    <p:anim calcmode="lin" valueType="num">
                                      <p:cBhvr additive="base">
                                        <p:cTn id="21" dur="500" fill="hold"/>
                                        <p:tgtEl>
                                          <p:spTgt spid="48"/>
                                        </p:tgtEl>
                                        <p:attrNameLst>
                                          <p:attrName>ppt_x</p:attrName>
                                        </p:attrNameLst>
                                      </p:cBhvr>
                                      <p:tavLst>
                                        <p:tav tm="0">
                                          <p:val>
                                            <p:strVal val="#ppt_x"/>
                                          </p:val>
                                        </p:tav>
                                        <p:tav tm="100000">
                                          <p:val>
                                            <p:strVal val="#ppt_x"/>
                                          </p:val>
                                        </p:tav>
                                      </p:tavLst>
                                    </p:anim>
                                    <p:anim calcmode="lin" valueType="num">
                                      <p:cBhvr additive="base">
                                        <p:cTn id="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3"/>
                                        </p:tgtEl>
                                        <p:attrNameLst>
                                          <p:attrName>style.visibility</p:attrName>
                                        </p:attrNameLst>
                                      </p:cBhvr>
                                      <p:to>
                                        <p:strVal val="visible"/>
                                      </p:to>
                                    </p:set>
                                    <p:anim calcmode="lin" valueType="num">
                                      <p:cBhvr additive="base">
                                        <p:cTn id="27" dur="500" fill="hold"/>
                                        <p:tgtEl>
                                          <p:spTgt spid="73"/>
                                        </p:tgtEl>
                                        <p:attrNameLst>
                                          <p:attrName>ppt_x</p:attrName>
                                        </p:attrNameLst>
                                      </p:cBhvr>
                                      <p:tavLst>
                                        <p:tav tm="0">
                                          <p:val>
                                            <p:strVal val="#ppt_x"/>
                                          </p:val>
                                        </p:tav>
                                        <p:tav tm="100000">
                                          <p:val>
                                            <p:strVal val="#ppt_x"/>
                                          </p:val>
                                        </p:tav>
                                      </p:tavLst>
                                    </p:anim>
                                    <p:anim calcmode="lin" valueType="num">
                                      <p:cBhvr additive="base">
                                        <p:cTn id="2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2" nodeType="clickEffect">
                                  <p:stCondLst>
                                    <p:cond delay="0"/>
                                  </p:stCondLst>
                                  <p:childTnLst>
                                    <p:anim calcmode="lin" valueType="num">
                                      <p:cBhvr additive="base">
                                        <p:cTn id="32" dur="500"/>
                                        <p:tgtEl>
                                          <p:spTgt spid="48"/>
                                        </p:tgtEl>
                                        <p:attrNameLst>
                                          <p:attrName>ppt_x</p:attrName>
                                        </p:attrNameLst>
                                      </p:cBhvr>
                                      <p:tavLst>
                                        <p:tav tm="0">
                                          <p:val>
                                            <p:strVal val="ppt_x"/>
                                          </p:val>
                                        </p:tav>
                                        <p:tav tm="100000">
                                          <p:val>
                                            <p:strVal val="ppt_x"/>
                                          </p:val>
                                        </p:tav>
                                      </p:tavLst>
                                    </p:anim>
                                    <p:anim calcmode="lin" valueType="num">
                                      <p:cBhvr additive="base">
                                        <p:cTn id="33" dur="500"/>
                                        <p:tgtEl>
                                          <p:spTgt spid="48"/>
                                        </p:tgtEl>
                                        <p:attrNameLst>
                                          <p:attrName>ppt_y</p:attrName>
                                        </p:attrNameLst>
                                      </p:cBhvr>
                                      <p:tavLst>
                                        <p:tav tm="0">
                                          <p:val>
                                            <p:strVal val="ppt_y"/>
                                          </p:val>
                                        </p:tav>
                                        <p:tav tm="100000">
                                          <p:val>
                                            <p:strVal val="1+ppt_h/2"/>
                                          </p:val>
                                        </p:tav>
                                      </p:tavLst>
                                    </p:anim>
                                    <p:set>
                                      <p:cBhvr>
                                        <p:cTn id="34" dur="1" fill="hold">
                                          <p:stCondLst>
                                            <p:cond delay="499"/>
                                          </p:stCondLst>
                                        </p:cTn>
                                        <p:tgtEl>
                                          <p:spTgt spid="48"/>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grpId="0" nodeType="click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box(in)">
                                      <p:cBhvr>
                                        <p:cTn id="39" dur="2000"/>
                                        <p:tgtEl>
                                          <p:spTgt spid="75"/>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box(in)">
                                      <p:cBhvr>
                                        <p:cTn id="42" dur="20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80"/>
                                        </p:tgtEl>
                                        <p:attrNameLst>
                                          <p:attrName>style.visibility</p:attrName>
                                        </p:attrNameLst>
                                      </p:cBhvr>
                                      <p:to>
                                        <p:strVal val="visible"/>
                                      </p:to>
                                    </p:set>
                                    <p:anim calcmode="lin" valueType="num">
                                      <p:cBhvr additive="base">
                                        <p:cTn id="47" dur="500" fill="hold"/>
                                        <p:tgtEl>
                                          <p:spTgt spid="80"/>
                                        </p:tgtEl>
                                        <p:attrNameLst>
                                          <p:attrName>ppt_x</p:attrName>
                                        </p:attrNameLst>
                                      </p:cBhvr>
                                      <p:tavLst>
                                        <p:tav tm="0">
                                          <p:val>
                                            <p:strVal val="#ppt_x"/>
                                          </p:val>
                                        </p:tav>
                                        <p:tav tm="100000">
                                          <p:val>
                                            <p:strVal val="#ppt_x"/>
                                          </p:val>
                                        </p:tav>
                                      </p:tavLst>
                                    </p:anim>
                                    <p:anim calcmode="lin" valueType="num">
                                      <p:cBhvr additive="base">
                                        <p:cTn id="48"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89" grpId="0"/>
      <p:bldP spid="89" grpId="1"/>
      <p:bldP spid="41" grpId="0"/>
      <p:bldP spid="41" grpId="1"/>
      <p:bldP spid="48" grpId="0"/>
      <p:bldP spid="48" grpId="1"/>
      <p:bldP spid="48" grpId="2"/>
      <p:bldP spid="73" grpId="0"/>
      <p:bldP spid="75" grpId="0"/>
      <p:bldP spid="75" grpId="1"/>
      <p:bldP spid="80" grpId="0"/>
      <p:bldP spid="80" grpId="1"/>
      <p:bldP spid="87" grpId="0" animBg="1"/>
      <p:bldP spid="87"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174625"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49" name="文本框 48"/>
          <p:cNvSpPr txBox="1"/>
          <p:nvPr/>
        </p:nvSpPr>
        <p:spPr>
          <a:xfrm>
            <a:off x="167005"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⑥：</a:t>
            </a:r>
            <a:r>
              <a:rPr lang="en-US" altLang="zh-CN" sz="1800">
                <a:solidFill>
                  <a:schemeClr val="tx1"/>
                </a:solidFill>
                <a:uFillTx/>
                <a:latin typeface="Times New Roman" panose="02020603050405020304" pitchFamily="18" charset="0"/>
              </a:rPr>
              <a:t>Visit=[1,0,0]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177800"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0"/>
                                        </p:tgtEl>
                                        <p:attrNameLst>
                                          <p:attrName>ppt_x</p:attrName>
                                        </p:attrNameLst>
                                      </p:cBhvr>
                                      <p:tavLst>
                                        <p:tav tm="0">
                                          <p:val>
                                            <p:strVal val="ppt_x"/>
                                          </p:val>
                                        </p:tav>
                                        <p:tav tm="100000">
                                          <p:val>
                                            <p:strVal val="ppt_x"/>
                                          </p:val>
                                        </p:tav>
                                      </p:tavLst>
                                    </p:anim>
                                    <p:anim calcmode="lin" valueType="num">
                                      <p:cBhvr additive="base">
                                        <p:cTn id="7" dur="500"/>
                                        <p:tgtEl>
                                          <p:spTgt spid="80"/>
                                        </p:tgtEl>
                                        <p:attrNameLst>
                                          <p:attrName>ppt_y</p:attrName>
                                        </p:attrNameLst>
                                      </p:cBhvr>
                                      <p:tavLst>
                                        <p:tav tm="0">
                                          <p:val>
                                            <p:strVal val="ppt_y"/>
                                          </p:val>
                                        </p:tav>
                                        <p:tav tm="100000">
                                          <p:val>
                                            <p:strVal val="1+ppt_h/2"/>
                                          </p:val>
                                        </p:tav>
                                      </p:tavLst>
                                    </p:anim>
                                    <p:set>
                                      <p:cBhvr>
                                        <p:cTn id="8" dur="1" fill="hold">
                                          <p:stCondLst>
                                            <p:cond delay="499"/>
                                          </p:stCondLst>
                                        </p:cTn>
                                        <p:tgtEl>
                                          <p:spTgt spid="8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2000"/>
                                        <p:tgtEl>
                                          <p:spTgt spid="4"/>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ox(in)">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9"/>
                                        </p:tgtEl>
                                        <p:attrNameLst>
                                          <p:attrName>style.visibility</p:attrName>
                                        </p:attrNameLst>
                                      </p:cBhvr>
                                      <p:to>
                                        <p:strVal val="visible"/>
                                      </p:to>
                                    </p:set>
                                    <p:anim calcmode="lin" valueType="num">
                                      <p:cBhvr additive="base">
                                        <p:cTn id="21" dur="500" fill="hold"/>
                                        <p:tgtEl>
                                          <p:spTgt spid="49"/>
                                        </p:tgtEl>
                                        <p:attrNameLst>
                                          <p:attrName>ppt_x</p:attrName>
                                        </p:attrNameLst>
                                      </p:cBhvr>
                                      <p:tavLst>
                                        <p:tav tm="0">
                                          <p:val>
                                            <p:strVal val="#ppt_x"/>
                                          </p:val>
                                        </p:tav>
                                        <p:tav tm="100000">
                                          <p:val>
                                            <p:strVal val="#ppt_x"/>
                                          </p:val>
                                        </p:tav>
                                      </p:tavLst>
                                    </p:anim>
                                    <p:anim calcmode="lin" valueType="num">
                                      <p:cBhvr additive="base">
                                        <p:cTn id="22"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xit" presetSubtype="4" fill="hold" grpId="2" nodeType="clickEffect">
                                  <p:stCondLst>
                                    <p:cond delay="0"/>
                                  </p:stCondLst>
                                  <p:childTnLst>
                                    <p:anim calcmode="lin" valueType="num">
                                      <p:cBhvr additive="base">
                                        <p:cTn id="26" dur="500"/>
                                        <p:tgtEl>
                                          <p:spTgt spid="49"/>
                                        </p:tgtEl>
                                        <p:attrNameLst>
                                          <p:attrName>ppt_x</p:attrName>
                                        </p:attrNameLst>
                                      </p:cBhvr>
                                      <p:tavLst>
                                        <p:tav tm="0">
                                          <p:val>
                                            <p:strVal val="ppt_x"/>
                                          </p:val>
                                        </p:tav>
                                        <p:tav tm="100000">
                                          <p:val>
                                            <p:strVal val="ppt_x"/>
                                          </p:val>
                                        </p:tav>
                                      </p:tavLst>
                                    </p:anim>
                                    <p:anim calcmode="lin" valueType="num">
                                      <p:cBhvr additive="base">
                                        <p:cTn id="27" dur="500"/>
                                        <p:tgtEl>
                                          <p:spTgt spid="49"/>
                                        </p:tgtEl>
                                        <p:attrNameLst>
                                          <p:attrName>ppt_y</p:attrName>
                                        </p:attrNameLst>
                                      </p:cBhvr>
                                      <p:tavLst>
                                        <p:tav tm="0">
                                          <p:val>
                                            <p:strVal val="ppt_y"/>
                                          </p:val>
                                        </p:tav>
                                        <p:tav tm="100000">
                                          <p:val>
                                            <p:strVal val="1+ppt_h/2"/>
                                          </p:val>
                                        </p:tav>
                                      </p:tavLst>
                                    </p:anim>
                                    <p:set>
                                      <p:cBhvr>
                                        <p:cTn id="28" dur="1" fill="hold">
                                          <p:stCondLst>
                                            <p:cond delay="499"/>
                                          </p:stCondLst>
                                        </p:cTn>
                                        <p:tgtEl>
                                          <p:spTgt spid="4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 presetClass="entr" presetSubtype="16" fill="hold" grpId="2" nodeType="click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box(in)">
                                      <p:cBhvr>
                                        <p:cTn id="33" dur="2000"/>
                                        <p:tgtEl>
                                          <p:spTgt spid="82"/>
                                        </p:tgtEl>
                                      </p:cBhvr>
                                    </p:animEffect>
                                  </p:childTnLst>
                                </p:cTn>
                              </p:par>
                              <p:par>
                                <p:cTn id="34" presetID="4" presetClass="entr" presetSubtype="16" fill="hold" grpId="0" nodeType="withEffect">
                                  <p:stCondLst>
                                    <p:cond delay="0"/>
                                  </p:stCondLst>
                                  <p:childTnLst>
                                    <p:set>
                                      <p:cBhvr>
                                        <p:cTn id="35" dur="1" fill="hold">
                                          <p:stCondLst>
                                            <p:cond delay="0"/>
                                          </p:stCondLst>
                                        </p:cTn>
                                        <p:tgtEl>
                                          <p:spTgt spid="76"/>
                                        </p:tgtEl>
                                        <p:attrNameLst>
                                          <p:attrName>style.visibility</p:attrName>
                                        </p:attrNameLst>
                                      </p:cBhvr>
                                      <p:to>
                                        <p:strVal val="visible"/>
                                      </p:to>
                                    </p:set>
                                    <p:animEffect transition="in" filter="box(in)">
                                      <p:cBhvr>
                                        <p:cTn id="36" dur="2000"/>
                                        <p:tgtEl>
                                          <p:spTgt spid="76"/>
                                        </p:tgtEl>
                                      </p:cBhvr>
                                    </p:animEffec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91"/>
                                        </p:tgtEl>
                                        <p:attrNameLst>
                                          <p:attrName>style.visibility</p:attrName>
                                        </p:attrNameLst>
                                      </p:cBhvr>
                                      <p:to>
                                        <p:strVal val="visible"/>
                                      </p:to>
                                    </p:set>
                                    <p:animEffect transition="in" filter="box(in)">
                                      <p:cBhvr>
                                        <p:cTn id="41" dur="2000"/>
                                        <p:tgtEl>
                                          <p:spTgt spid="91"/>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83"/>
                                        </p:tgtEl>
                                        <p:attrNameLst>
                                          <p:attrName>style.visibility</p:attrName>
                                        </p:attrNameLst>
                                      </p:cBhvr>
                                      <p:to>
                                        <p:strVal val="visible"/>
                                      </p:to>
                                    </p:set>
                                    <p:anim calcmode="lin" valueType="num">
                                      <p:cBhvr additive="base">
                                        <p:cTn id="46" dur="500" fill="hold"/>
                                        <p:tgtEl>
                                          <p:spTgt spid="83"/>
                                        </p:tgtEl>
                                        <p:attrNameLst>
                                          <p:attrName>ppt_x</p:attrName>
                                        </p:attrNameLst>
                                      </p:cBhvr>
                                      <p:tavLst>
                                        <p:tav tm="0">
                                          <p:val>
                                            <p:strVal val="#ppt_x"/>
                                          </p:val>
                                        </p:tav>
                                        <p:tav tm="100000">
                                          <p:val>
                                            <p:strVal val="#ppt_x"/>
                                          </p:val>
                                        </p:tav>
                                      </p:tavLst>
                                    </p:anim>
                                    <p:anim calcmode="lin" valueType="num">
                                      <p:cBhvr additive="base">
                                        <p:cTn id="47"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2" nodeType="clickEffect">
                                  <p:stCondLst>
                                    <p:cond delay="0"/>
                                  </p:stCondLst>
                                  <p:childTnLst>
                                    <p:anim calcmode="lin" valueType="num">
                                      <p:cBhvr additive="base">
                                        <p:cTn id="51" dur="500"/>
                                        <p:tgtEl>
                                          <p:spTgt spid="83"/>
                                        </p:tgtEl>
                                        <p:attrNameLst>
                                          <p:attrName>ppt_x</p:attrName>
                                        </p:attrNameLst>
                                      </p:cBhvr>
                                      <p:tavLst>
                                        <p:tav tm="0">
                                          <p:val>
                                            <p:strVal val="ppt_x"/>
                                          </p:val>
                                        </p:tav>
                                        <p:tav tm="100000">
                                          <p:val>
                                            <p:strVal val="ppt_x"/>
                                          </p:val>
                                        </p:tav>
                                      </p:tavLst>
                                    </p:anim>
                                    <p:anim calcmode="lin" valueType="num">
                                      <p:cBhvr additive="base">
                                        <p:cTn id="52" dur="500"/>
                                        <p:tgtEl>
                                          <p:spTgt spid="83"/>
                                        </p:tgtEl>
                                        <p:attrNameLst>
                                          <p:attrName>ppt_y</p:attrName>
                                        </p:attrNameLst>
                                      </p:cBhvr>
                                      <p:tavLst>
                                        <p:tav tm="0">
                                          <p:val>
                                            <p:strVal val="ppt_y"/>
                                          </p:val>
                                        </p:tav>
                                        <p:tav tm="100000">
                                          <p:val>
                                            <p:strVal val="1+ppt_h/2"/>
                                          </p:val>
                                        </p:tav>
                                      </p:tavLst>
                                    </p:anim>
                                    <p:set>
                                      <p:cBhvr>
                                        <p:cTn id="53" dur="1" fill="hold">
                                          <p:stCondLst>
                                            <p:cond delay="499"/>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0" grpId="1"/>
      <p:bldP spid="87" grpId="1" animBg="1"/>
      <p:bldP spid="49" grpId="0"/>
      <p:bldP spid="49" grpId="1"/>
      <p:bldP spid="80" grpId="2"/>
      <p:bldP spid="49" grpId="2"/>
      <p:bldP spid="4" grpId="0"/>
      <p:bldP spid="2" grpId="0" animBg="1"/>
      <p:bldP spid="4" grpId="1"/>
      <p:bldP spid="2" grpId="1" animBg="1"/>
      <p:bldP spid="82" grpId="1"/>
      <p:bldP spid="82" grpId="2"/>
      <p:bldP spid="76" grpId="0" animBg="1"/>
      <p:bldP spid="83" grpId="0"/>
      <p:bldP spid="83" grpId="1"/>
      <p:bldP spid="83" grpId="2"/>
      <p:bldP spid="91" grpId="0" bldLvl="0" animBg="1"/>
      <p:bldP spid="91"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323850" y="616521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30" name="文本框 29"/>
          <p:cNvSpPr txBox="1"/>
          <p:nvPr/>
        </p:nvSpPr>
        <p:spPr>
          <a:xfrm>
            <a:off x="3860800" y="4994275"/>
            <a:ext cx="336550" cy="429260"/>
          </a:xfrm>
          <a:prstGeom prst="rect">
            <a:avLst/>
          </a:prstGeom>
          <a:noFill/>
        </p:spPr>
        <p:txBody>
          <a:bodyPr wrap="square" rtlCol="0">
            <a:noAutofit/>
          </a:bodyPr>
          <a:p>
            <a:r>
              <a:rPr lang="zh-CN" altLang="en-US" sz="1800">
                <a:solidFill>
                  <a:srgbClr val="FF0000"/>
                </a:solidFill>
              </a:rPr>
              <a:t>⑧</a:t>
            </a:r>
            <a:endParaRPr lang="zh-CN" altLang="en-US" sz="1800">
              <a:solidFill>
                <a:srgbClr val="FF0000"/>
              </a:solidFill>
            </a:endParaRPr>
          </a:p>
        </p:txBody>
      </p:sp>
      <p:sp>
        <p:nvSpPr>
          <p:cNvPr id="31" name="任意多边形 30"/>
          <p:cNvSpPr/>
          <p:nvPr/>
        </p:nvSpPr>
        <p:spPr>
          <a:xfrm>
            <a:off x="3851910" y="499427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椭圆 31"/>
          <p:cNvSpPr/>
          <p:nvPr/>
        </p:nvSpPr>
        <p:spPr>
          <a:xfrm>
            <a:off x="349186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3529787" y="542069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89" name="椭圆 88"/>
          <p:cNvSpPr/>
          <p:nvPr/>
        </p:nvSpPr>
        <p:spPr>
          <a:xfrm>
            <a:off x="3493135" y="53797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文本框 94"/>
          <p:cNvSpPr txBox="1"/>
          <p:nvPr/>
        </p:nvSpPr>
        <p:spPr>
          <a:xfrm>
            <a:off x="3539947" y="54245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100" name="文本框 99"/>
          <p:cNvSpPr txBox="1"/>
          <p:nvPr/>
        </p:nvSpPr>
        <p:spPr>
          <a:xfrm>
            <a:off x="327660" y="616458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⑧：</a:t>
            </a:r>
            <a:r>
              <a:rPr lang="en-US" altLang="zh-CN" sz="1800">
                <a:solidFill>
                  <a:schemeClr val="tx1"/>
                </a:solidFill>
                <a:uFillTx/>
                <a:latin typeface="Times New Roman" panose="02020603050405020304" pitchFamily="18" charset="0"/>
              </a:rPr>
              <a:t>Visit=[1,1,1]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1" name="文本框 100"/>
          <p:cNvSpPr txBox="1"/>
          <p:nvPr/>
        </p:nvSpPr>
        <p:spPr>
          <a:xfrm>
            <a:off x="325120" y="616648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⑨：达到递归出口，把结果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2" name="文本框 101"/>
          <p:cNvSpPr txBox="1"/>
          <p:nvPr/>
        </p:nvSpPr>
        <p:spPr>
          <a:xfrm>
            <a:off x="3301365" y="5661025"/>
            <a:ext cx="336550" cy="429260"/>
          </a:xfrm>
          <a:prstGeom prst="rect">
            <a:avLst/>
          </a:prstGeom>
          <a:noFill/>
        </p:spPr>
        <p:txBody>
          <a:bodyPr wrap="square" rtlCol="0">
            <a:noAutofit/>
          </a:bodyPr>
          <a:p>
            <a:r>
              <a:rPr lang="zh-CN" altLang="en-US" sz="1800">
                <a:solidFill>
                  <a:srgbClr val="FF0000"/>
                </a:solidFill>
              </a:rPr>
              <a:t>⑨</a:t>
            </a:r>
            <a:endParaRPr lang="zh-CN" altLang="en-US" sz="1800">
              <a:solidFill>
                <a:srgbClr val="FF0000"/>
              </a:solidFill>
            </a:endParaRPr>
          </a:p>
        </p:txBody>
      </p:sp>
      <p:cxnSp>
        <p:nvCxnSpPr>
          <p:cNvPr id="103" name="直接箭头连接符 102"/>
          <p:cNvCxnSpPr/>
          <p:nvPr/>
        </p:nvCxnSpPr>
        <p:spPr>
          <a:xfrm>
            <a:off x="3707130" y="577278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104" name="文本框 103"/>
          <p:cNvSpPr txBox="1"/>
          <p:nvPr/>
        </p:nvSpPr>
        <p:spPr>
          <a:xfrm>
            <a:off x="702310" y="249682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Result=[[1,2,3],[1,3,2]]</a:t>
            </a:r>
            <a:endParaRPr lang="en-US" altLang="zh-CN" sz="1800">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3"/>
                                        </p:tgtEl>
                                        <p:attrNameLst>
                                          <p:attrName>ppt_x</p:attrName>
                                        </p:attrNameLst>
                                      </p:cBhvr>
                                      <p:tavLst>
                                        <p:tav tm="0">
                                          <p:val>
                                            <p:strVal val="ppt_x"/>
                                          </p:val>
                                        </p:tav>
                                        <p:tav tm="100000">
                                          <p:val>
                                            <p:strVal val="ppt_x"/>
                                          </p:val>
                                        </p:tav>
                                      </p:tavLst>
                                    </p:anim>
                                    <p:anim calcmode="lin" valueType="num">
                                      <p:cBhvr additive="base">
                                        <p:cTn id="7" dur="500"/>
                                        <p:tgtEl>
                                          <p:spTgt spid="83"/>
                                        </p:tgtEl>
                                        <p:attrNameLst>
                                          <p:attrName>ppt_y</p:attrName>
                                        </p:attrNameLst>
                                      </p:cBhvr>
                                      <p:tavLst>
                                        <p:tav tm="0">
                                          <p:val>
                                            <p:strVal val="ppt_y"/>
                                          </p:val>
                                        </p:tav>
                                        <p:tav tm="100000">
                                          <p:val>
                                            <p:strVal val="1+ppt_h/2"/>
                                          </p:val>
                                        </p:tav>
                                      </p:tavLst>
                                    </p:anim>
                                    <p:set>
                                      <p:cBhvr>
                                        <p:cTn id="8" dur="1" fill="hold">
                                          <p:stCondLst>
                                            <p:cond delay="499"/>
                                          </p:stCondLst>
                                        </p:cTn>
                                        <p:tgtEl>
                                          <p:spTgt spid="83"/>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box(in)">
                                      <p:cBhvr>
                                        <p:cTn id="13" dur="2000"/>
                                        <p:tgtEl>
                                          <p:spTgt spid="3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box(in)">
                                      <p:cBhvr>
                                        <p:cTn id="16" dur="20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box(in)">
                                      <p:cBhvr>
                                        <p:cTn id="21" dur="2000"/>
                                        <p:tgtEl>
                                          <p:spTgt spid="89"/>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0"/>
                                        </p:tgtEl>
                                        <p:attrNameLst>
                                          <p:attrName>style.visibility</p:attrName>
                                        </p:attrNameLst>
                                      </p:cBhvr>
                                      <p:to>
                                        <p:strVal val="visible"/>
                                      </p:to>
                                    </p:set>
                                    <p:anim calcmode="lin" valueType="num">
                                      <p:cBhvr additive="base">
                                        <p:cTn id="26" dur="500" fill="hold"/>
                                        <p:tgtEl>
                                          <p:spTgt spid="100"/>
                                        </p:tgtEl>
                                        <p:attrNameLst>
                                          <p:attrName>ppt_x</p:attrName>
                                        </p:attrNameLst>
                                      </p:cBhvr>
                                      <p:tavLst>
                                        <p:tav tm="0">
                                          <p:val>
                                            <p:strVal val="#ppt_x"/>
                                          </p:val>
                                        </p:tav>
                                        <p:tav tm="100000">
                                          <p:val>
                                            <p:strVal val="#ppt_x"/>
                                          </p:val>
                                        </p:tav>
                                      </p:tavLst>
                                    </p:anim>
                                    <p:anim calcmode="lin" valueType="num">
                                      <p:cBhvr additive="base">
                                        <p:cTn id="27"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xit" presetSubtype="4" fill="hold" grpId="2" nodeType="clickEffect">
                                  <p:stCondLst>
                                    <p:cond delay="0"/>
                                  </p:stCondLst>
                                  <p:childTnLst>
                                    <p:anim calcmode="lin" valueType="num">
                                      <p:cBhvr additive="base">
                                        <p:cTn id="31" dur="500"/>
                                        <p:tgtEl>
                                          <p:spTgt spid="100"/>
                                        </p:tgtEl>
                                        <p:attrNameLst>
                                          <p:attrName>ppt_x</p:attrName>
                                        </p:attrNameLst>
                                      </p:cBhvr>
                                      <p:tavLst>
                                        <p:tav tm="0">
                                          <p:val>
                                            <p:strVal val="ppt_x"/>
                                          </p:val>
                                        </p:tav>
                                        <p:tav tm="100000">
                                          <p:val>
                                            <p:strVal val="ppt_x"/>
                                          </p:val>
                                        </p:tav>
                                      </p:tavLst>
                                    </p:anim>
                                    <p:anim calcmode="lin" valueType="num">
                                      <p:cBhvr additive="base">
                                        <p:cTn id="32" dur="500"/>
                                        <p:tgtEl>
                                          <p:spTgt spid="100"/>
                                        </p:tgtEl>
                                        <p:attrNameLst>
                                          <p:attrName>ppt_y</p:attrName>
                                        </p:attrNameLst>
                                      </p:cBhvr>
                                      <p:tavLst>
                                        <p:tav tm="0">
                                          <p:val>
                                            <p:strVal val="ppt_y"/>
                                          </p:val>
                                        </p:tav>
                                        <p:tav tm="100000">
                                          <p:val>
                                            <p:strVal val="1+ppt_h/2"/>
                                          </p:val>
                                        </p:tav>
                                      </p:tavLst>
                                    </p:anim>
                                    <p:set>
                                      <p:cBhvr>
                                        <p:cTn id="33" dur="1" fill="hold">
                                          <p:stCondLst>
                                            <p:cond delay="499"/>
                                          </p:stCondLst>
                                        </p:cTn>
                                        <p:tgtEl>
                                          <p:spTgt spid="10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4" presetClass="entr" presetSubtype="16" fill="hold" nodeType="click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box(in)">
                                      <p:cBhvr>
                                        <p:cTn id="38" dur="2000"/>
                                        <p:tgtEl>
                                          <p:spTgt spid="103"/>
                                        </p:tgtEl>
                                      </p:cBhvr>
                                    </p:animEffect>
                                  </p:childTnLst>
                                </p:cTn>
                              </p:par>
                              <p:par>
                                <p:cTn id="39" presetID="4" presetClass="entr" presetSubtype="16" fill="hold" grpId="0"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ox(in)">
                                      <p:cBhvr>
                                        <p:cTn id="41" dur="20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101"/>
                                        </p:tgtEl>
                                        <p:attrNameLst>
                                          <p:attrName>style.visibility</p:attrName>
                                        </p:attrNameLst>
                                      </p:cBhvr>
                                      <p:to>
                                        <p:strVal val="visible"/>
                                      </p:to>
                                    </p:set>
                                    <p:anim calcmode="lin" valueType="num">
                                      <p:cBhvr additive="base">
                                        <p:cTn id="46" dur="500" fill="hold"/>
                                        <p:tgtEl>
                                          <p:spTgt spid="101"/>
                                        </p:tgtEl>
                                        <p:attrNameLst>
                                          <p:attrName>ppt_x</p:attrName>
                                        </p:attrNameLst>
                                      </p:cBhvr>
                                      <p:tavLst>
                                        <p:tav tm="0">
                                          <p:val>
                                            <p:strVal val="#ppt_x"/>
                                          </p:val>
                                        </p:tav>
                                        <p:tav tm="100000">
                                          <p:val>
                                            <p:strVal val="#ppt_x"/>
                                          </p:val>
                                        </p:tav>
                                      </p:tavLst>
                                    </p:anim>
                                    <p:anim calcmode="lin" valueType="num">
                                      <p:cBhvr additive="base">
                                        <p:cTn id="47" dur="500" fill="hold"/>
                                        <p:tgtEl>
                                          <p:spTgt spid="10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73"/>
                                        </p:tgtEl>
                                        <p:attrNameLst>
                                          <p:attrName>ppt_x</p:attrName>
                                        </p:attrNameLst>
                                      </p:cBhvr>
                                      <p:tavLst>
                                        <p:tav tm="0">
                                          <p:val>
                                            <p:strVal val="ppt_x"/>
                                          </p:val>
                                        </p:tav>
                                        <p:tav tm="100000">
                                          <p:val>
                                            <p:strVal val="ppt_x"/>
                                          </p:val>
                                        </p:tav>
                                      </p:tavLst>
                                    </p:anim>
                                    <p:anim calcmode="lin" valueType="num">
                                      <p:cBhvr additive="base">
                                        <p:cTn id="52" dur="500"/>
                                        <p:tgtEl>
                                          <p:spTgt spid="73"/>
                                        </p:tgtEl>
                                        <p:attrNameLst>
                                          <p:attrName>ppt_y</p:attrName>
                                        </p:attrNameLst>
                                      </p:cBhvr>
                                      <p:tavLst>
                                        <p:tav tm="0">
                                          <p:val>
                                            <p:strVal val="ppt_y"/>
                                          </p:val>
                                        </p:tav>
                                        <p:tav tm="100000">
                                          <p:val>
                                            <p:strVal val="1+ppt_h/2"/>
                                          </p:val>
                                        </p:tav>
                                      </p:tavLst>
                                    </p:anim>
                                    <p:set>
                                      <p:cBhvr>
                                        <p:cTn id="53" dur="1" fill="hold">
                                          <p:stCondLst>
                                            <p:cond delay="499"/>
                                          </p:stCondLst>
                                        </p:cTn>
                                        <p:tgtEl>
                                          <p:spTgt spid="7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104"/>
                                        </p:tgtEl>
                                        <p:attrNameLst>
                                          <p:attrName>style.visibility</p:attrName>
                                        </p:attrNameLst>
                                      </p:cBhvr>
                                      <p:to>
                                        <p:strVal val="visible"/>
                                      </p:to>
                                    </p:set>
                                    <p:anim calcmode="lin" valueType="num">
                                      <p:cBhvr additive="base">
                                        <p:cTn id="58" dur="500" fill="hold"/>
                                        <p:tgtEl>
                                          <p:spTgt spid="104"/>
                                        </p:tgtEl>
                                        <p:attrNameLst>
                                          <p:attrName>ppt_x</p:attrName>
                                        </p:attrNameLst>
                                      </p:cBhvr>
                                      <p:tavLst>
                                        <p:tav tm="0">
                                          <p:val>
                                            <p:strVal val="#ppt_x"/>
                                          </p:val>
                                        </p:tav>
                                        <p:tav tm="100000">
                                          <p:val>
                                            <p:strVal val="#ppt_x"/>
                                          </p:val>
                                        </p:tav>
                                      </p:tavLst>
                                    </p:anim>
                                    <p:anim calcmode="lin" valueType="num">
                                      <p:cBhvr additive="base">
                                        <p:cTn id="59"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7" grpId="1" animBg="1"/>
      <p:bldP spid="4" grpId="1"/>
      <p:bldP spid="2" grpId="1" animBg="1"/>
      <p:bldP spid="82" grpId="1"/>
      <p:bldP spid="83" grpId="1"/>
      <p:bldP spid="91" grpId="1" animBg="1"/>
      <p:bldP spid="30" grpId="0"/>
      <p:bldP spid="31" grpId="0" animBg="1"/>
      <p:bldP spid="30" grpId="1"/>
      <p:bldP spid="31" grpId="1" animBg="1"/>
      <p:bldP spid="89" grpId="0" bldLvl="0" animBg="1"/>
      <p:bldP spid="89" grpId="1" animBg="1"/>
      <p:bldP spid="95" grpId="1"/>
      <p:bldP spid="100" grpId="0"/>
      <p:bldP spid="100" grpId="1"/>
      <p:bldP spid="102" grpId="0"/>
      <p:bldP spid="102" grpId="1"/>
      <p:bldP spid="100" grpId="2"/>
      <p:bldP spid="73" grpId="0"/>
      <p:bldP spid="73" grpId="1"/>
      <p:bldP spid="104" grpId="0"/>
      <p:bldP spid="104" grpId="1"/>
      <p:bldP spid="101" grpId="0"/>
      <p:bldP spid="101" grpId="1"/>
      <p:bldP spid="83" grpId="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251460" y="1556385"/>
            <a:ext cx="2535555" cy="368300"/>
          </a:xfrm>
          <a:prstGeom prst="rect">
            <a:avLst/>
          </a:prstGeom>
          <a:noFill/>
        </p:spPr>
        <p:txBody>
          <a:bodyPr wrap="square" rtlCol="0">
            <a:spAutoFit/>
          </a:bodyPr>
          <a:p>
            <a:r>
              <a:rPr lang="zh-CN" altLang="en-US"/>
              <a:t>运行</a:t>
            </a:r>
            <a:r>
              <a:rPr lang="zh-CN" altLang="en-US"/>
              <a:t>流程：</a:t>
            </a:r>
            <a:endParaRPr lang="zh-CN" altLang="en-US"/>
          </a:p>
        </p:txBody>
      </p:sp>
      <p:sp>
        <p:nvSpPr>
          <p:cNvPr id="10" name="文本框 9"/>
          <p:cNvSpPr txBox="1"/>
          <p:nvPr/>
        </p:nvSpPr>
        <p:spPr>
          <a:xfrm>
            <a:off x="962025" y="3212465"/>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grpSp>
        <p:nvGrpSpPr>
          <p:cNvPr id="72" name="组合 71"/>
          <p:cNvGrpSpPr/>
          <p:nvPr/>
        </p:nvGrpSpPr>
        <p:grpSpPr>
          <a:xfrm>
            <a:off x="3547745" y="21329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2" name="椭圆 1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6" name="组合 15"/>
            <p:cNvGrpSpPr/>
            <p:nvPr/>
          </p:nvGrpSpPr>
          <p:grpSpPr>
            <a:xfrm>
              <a:off x="8675" y="4607"/>
              <a:ext cx="1018" cy="917"/>
              <a:chOff x="10489" y="3359"/>
              <a:chExt cx="1018" cy="917"/>
            </a:xfrm>
          </p:grpSpPr>
          <p:sp>
            <p:nvSpPr>
              <p:cNvPr id="17" name="椭圆 1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文本框 17"/>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9" name="组合 18"/>
            <p:cNvGrpSpPr/>
            <p:nvPr/>
          </p:nvGrpSpPr>
          <p:grpSpPr>
            <a:xfrm>
              <a:off x="10546" y="4607"/>
              <a:ext cx="1018" cy="916"/>
              <a:chOff x="10489" y="3359"/>
              <a:chExt cx="1018" cy="916"/>
            </a:xfrm>
          </p:grpSpPr>
          <p:sp>
            <p:nvSpPr>
              <p:cNvPr id="20" name="椭圆 1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文本框 20"/>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2" name="组合 21"/>
            <p:cNvGrpSpPr/>
            <p:nvPr/>
          </p:nvGrpSpPr>
          <p:grpSpPr>
            <a:xfrm>
              <a:off x="12529" y="4607"/>
              <a:ext cx="1018" cy="916"/>
              <a:chOff x="10489" y="3359"/>
              <a:chExt cx="1018" cy="916"/>
            </a:xfrm>
          </p:grpSpPr>
          <p:sp>
            <p:nvSpPr>
              <p:cNvPr id="23" name="椭圆 2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文本框 23"/>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5" name="曲线连接符 24"/>
            <p:cNvCxnSpPr>
              <a:stCxn id="12" idx="2"/>
              <a:endCxn id="17"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5" idx="3"/>
              <a:endCxn id="23"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7" name="曲线连接符 26"/>
            <p:cNvCxnSpPr>
              <a:stCxn id="12" idx="4"/>
              <a:endCxn id="20"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8" name="组合 27"/>
            <p:cNvGrpSpPr/>
            <p:nvPr/>
          </p:nvGrpSpPr>
          <p:grpSpPr>
            <a:xfrm>
              <a:off x="11440" y="6011"/>
              <a:ext cx="538" cy="539"/>
              <a:chOff x="10489" y="3359"/>
              <a:chExt cx="1018" cy="917"/>
            </a:xfrm>
          </p:grpSpPr>
          <p:sp>
            <p:nvSpPr>
              <p:cNvPr id="29" name="椭圆 2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7" name="组合 36"/>
            <p:cNvGrpSpPr/>
            <p:nvPr/>
          </p:nvGrpSpPr>
          <p:grpSpPr>
            <a:xfrm>
              <a:off x="10306" y="6011"/>
              <a:ext cx="538" cy="539"/>
              <a:chOff x="10489" y="3359"/>
              <a:chExt cx="1018" cy="917"/>
            </a:xfrm>
          </p:grpSpPr>
          <p:sp>
            <p:nvSpPr>
              <p:cNvPr id="38" name="椭圆 3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文本框 3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40" name="组合 39"/>
            <p:cNvGrpSpPr/>
            <p:nvPr/>
          </p:nvGrpSpPr>
          <p:grpSpPr>
            <a:xfrm>
              <a:off x="13468" y="6011"/>
              <a:ext cx="538" cy="539"/>
              <a:chOff x="10489" y="3359"/>
              <a:chExt cx="1018" cy="917"/>
            </a:xfrm>
          </p:grpSpPr>
          <p:sp>
            <p:nvSpPr>
              <p:cNvPr id="41" name="椭圆 4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43" name="组合 42"/>
            <p:cNvGrpSpPr/>
            <p:nvPr/>
          </p:nvGrpSpPr>
          <p:grpSpPr>
            <a:xfrm>
              <a:off x="12334" y="6011"/>
              <a:ext cx="538" cy="539"/>
              <a:chOff x="10489" y="3359"/>
              <a:chExt cx="1018" cy="917"/>
            </a:xfrm>
          </p:grpSpPr>
          <p:sp>
            <p:nvSpPr>
              <p:cNvPr id="44" name="椭圆 4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6" name="曲线连接符 45"/>
            <p:cNvCxnSpPr>
              <a:stCxn id="17"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17"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8" name="曲线连接符 47"/>
            <p:cNvCxnSpPr>
              <a:stCxn id="23" idx="4"/>
              <a:endCxn id="45"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9" name="曲线连接符 48"/>
            <p:cNvCxnSpPr>
              <a:stCxn id="20" idx="4"/>
              <a:endCxn id="29"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0" name="曲线连接符 49"/>
            <p:cNvCxnSpPr>
              <a:stCxn id="20" idx="4"/>
              <a:endCxn id="39"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1" name="曲线连接符 50"/>
            <p:cNvCxnSpPr>
              <a:stCxn id="23" idx="4"/>
              <a:endCxn id="41"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2" name="组合 51"/>
            <p:cNvGrpSpPr/>
            <p:nvPr/>
          </p:nvGrpSpPr>
          <p:grpSpPr>
            <a:xfrm>
              <a:off x="8221" y="7105"/>
              <a:ext cx="538" cy="539"/>
              <a:chOff x="10489" y="3359"/>
              <a:chExt cx="1018" cy="917"/>
            </a:xfrm>
          </p:grpSpPr>
          <p:sp>
            <p:nvSpPr>
              <p:cNvPr id="53" name="椭圆 5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5" name="组合 54"/>
            <p:cNvGrpSpPr/>
            <p:nvPr/>
          </p:nvGrpSpPr>
          <p:grpSpPr>
            <a:xfrm>
              <a:off x="9355" y="7105"/>
              <a:ext cx="538" cy="539"/>
              <a:chOff x="10489" y="3359"/>
              <a:chExt cx="1018" cy="917"/>
            </a:xfrm>
          </p:grpSpPr>
          <p:sp>
            <p:nvSpPr>
              <p:cNvPr id="56" name="椭圆 5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文本框 5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8" name="组合 57"/>
            <p:cNvGrpSpPr/>
            <p:nvPr/>
          </p:nvGrpSpPr>
          <p:grpSpPr>
            <a:xfrm>
              <a:off x="10306" y="7105"/>
              <a:ext cx="538" cy="539"/>
              <a:chOff x="10489" y="3359"/>
              <a:chExt cx="1018" cy="917"/>
            </a:xfrm>
          </p:grpSpPr>
          <p:sp>
            <p:nvSpPr>
              <p:cNvPr id="59" name="椭圆 5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文本框 5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61" name="组合 60"/>
            <p:cNvGrpSpPr/>
            <p:nvPr/>
          </p:nvGrpSpPr>
          <p:grpSpPr>
            <a:xfrm>
              <a:off x="11456" y="7104"/>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4" name="组合 63"/>
            <p:cNvGrpSpPr/>
            <p:nvPr/>
          </p:nvGrpSpPr>
          <p:grpSpPr>
            <a:xfrm>
              <a:off x="12373" y="7103"/>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7" name="组合 66"/>
            <p:cNvGrpSpPr/>
            <p:nvPr/>
          </p:nvGrpSpPr>
          <p:grpSpPr>
            <a:xfrm>
              <a:off x="13491" y="7105"/>
              <a:ext cx="538" cy="539"/>
              <a:chOff x="10489" y="3359"/>
              <a:chExt cx="1018" cy="917"/>
            </a:xfrm>
          </p:grpSpPr>
          <p:sp>
            <p:nvSpPr>
              <p:cNvPr id="68" name="椭圆 6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9" name="文本框 6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70" name="曲线连接符 69"/>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7" name="文本框 76"/>
          <p:cNvSpPr txBox="1"/>
          <p:nvPr/>
        </p:nvSpPr>
        <p:spPr>
          <a:xfrm>
            <a:off x="1004570" y="3071495"/>
            <a:ext cx="6006465" cy="756285"/>
          </a:xfrm>
          <a:prstGeom prst="rect">
            <a:avLst/>
          </a:prstGeom>
          <a:noFill/>
          <a:ln w="28575">
            <a:solidFill>
              <a:schemeClr val="accent1"/>
            </a:solidFill>
          </a:ln>
        </p:spPr>
        <p:txBody>
          <a:bodyPr wrap="square" rtlCol="0">
            <a:noAutofit/>
          </a:bodyPr>
          <a:p>
            <a:endParaRPr lang="zh-CN" altLang="en-US"/>
          </a:p>
        </p:txBody>
      </p:sp>
      <p:sp>
        <p:nvSpPr>
          <p:cNvPr id="78" name="文本框 77"/>
          <p:cNvSpPr txBox="1"/>
          <p:nvPr/>
        </p:nvSpPr>
        <p:spPr>
          <a:xfrm>
            <a:off x="958215" y="396875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79" name="文本框 78"/>
          <p:cNvSpPr txBox="1"/>
          <p:nvPr/>
        </p:nvSpPr>
        <p:spPr>
          <a:xfrm>
            <a:off x="1004570" y="3834130"/>
            <a:ext cx="6329045" cy="676275"/>
          </a:xfrm>
          <a:prstGeom prst="rect">
            <a:avLst/>
          </a:prstGeom>
          <a:noFill/>
          <a:ln w="28575">
            <a:solidFill>
              <a:schemeClr val="accent1"/>
            </a:solidFill>
          </a:ln>
        </p:spPr>
        <p:txBody>
          <a:bodyPr wrap="square" rtlCol="0">
            <a:noAutofit/>
          </a:bodyPr>
          <a:p>
            <a:endParaRPr lang="zh-CN" altLang="en-US"/>
          </a:p>
        </p:txBody>
      </p:sp>
      <p:sp>
        <p:nvSpPr>
          <p:cNvPr id="80" name="文本框 79"/>
          <p:cNvSpPr txBox="1"/>
          <p:nvPr/>
        </p:nvSpPr>
        <p:spPr>
          <a:xfrm>
            <a:off x="1012190" y="464439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81" name="文本框 80"/>
          <p:cNvSpPr txBox="1"/>
          <p:nvPr/>
        </p:nvSpPr>
        <p:spPr>
          <a:xfrm>
            <a:off x="1004570" y="4509135"/>
            <a:ext cx="6329045" cy="676275"/>
          </a:xfrm>
          <a:prstGeom prst="rect">
            <a:avLst/>
          </a:prstGeom>
          <a:noFill/>
          <a:ln w="28575">
            <a:solidFill>
              <a:schemeClr val="accent1"/>
            </a:solidFill>
          </a:ln>
        </p:spPr>
        <p:txBody>
          <a:bodyPr wrap="square" rtlCol="0">
            <a:noAutofit/>
          </a:bodyPr>
          <a:p>
            <a:endParaRPr lang="zh-CN" altLang="en-US"/>
          </a:p>
        </p:txBody>
      </p:sp>
      <p:cxnSp>
        <p:nvCxnSpPr>
          <p:cNvPr id="82" name="曲线连接符 81"/>
          <p:cNvCxnSpPr/>
          <p:nvPr/>
        </p:nvCxnSpPr>
        <p:spPr>
          <a:xfrm rot="5400000" flipV="1">
            <a:off x="3550920"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flipV="1">
            <a:off x="4272280" y="514667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4" name="曲线连接符 83"/>
          <p:cNvCxnSpPr/>
          <p:nvPr/>
        </p:nvCxnSpPr>
        <p:spPr>
          <a:xfrm rot="5400000" flipV="1">
            <a:off x="485648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5" name="曲线连接符 84"/>
          <p:cNvCxnSpPr/>
          <p:nvPr/>
        </p:nvCxnSpPr>
        <p:spPr>
          <a:xfrm rot="5400000" flipV="1">
            <a:off x="558292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6" name="曲线连接符 85"/>
          <p:cNvCxnSpPr/>
          <p:nvPr/>
        </p:nvCxnSpPr>
        <p:spPr>
          <a:xfrm rot="5400000" flipV="1">
            <a:off x="618807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7" name="曲线连接符 86"/>
          <p:cNvCxnSpPr/>
          <p:nvPr/>
        </p:nvCxnSpPr>
        <p:spPr>
          <a:xfrm rot="5400000" flipV="1">
            <a:off x="690816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988060" y="5201285"/>
            <a:ext cx="6447155" cy="368300"/>
          </a:xfrm>
          <a:prstGeom prst="rect">
            <a:avLst/>
          </a:prstGeom>
          <a:noFill/>
          <a:ln w="38100">
            <a:solidFill>
              <a:schemeClr val="accent1">
                <a:lumMod val="60000"/>
                <a:lumOff val="40000"/>
              </a:schemeClr>
            </a:solidFill>
          </a:ln>
        </p:spPr>
        <p:txBody>
          <a:bodyPr wrap="square" rtlCol="0">
            <a:spAutoFit/>
          </a:bodyPr>
          <a:p>
            <a:r>
              <a:rPr lang="en-US" altLang="zh-CN">
                <a:solidFill>
                  <a:schemeClr val="tx1"/>
                </a:solidFill>
                <a:uFillTx/>
                <a:latin typeface="Times New Roman" panose="02020603050405020304" pitchFamily="18" charset="0"/>
              </a:rPr>
              <a:t>result.append(TempList[:])</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sz="1800">
                <a:solidFill>
                  <a:srgbClr val="000066"/>
                </a:solidFill>
                <a:latin typeface="+mj-ea"/>
                <a:ea typeface="+mj-ea"/>
              </a:rPr>
              <a:t>转成树结构</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77215" y="2483485"/>
            <a:ext cx="2050415" cy="1476375"/>
          </a:xfrm>
          <a:prstGeom prst="rect">
            <a:avLst/>
          </a:prstGeom>
          <a:solidFill>
            <a:srgbClr val="92D050"/>
          </a:solidFill>
        </p:spPr>
        <p:txBody>
          <a:bodyPr wrap="square" rtlCol="0">
            <a:sp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[1,2,3],[1,3,2]</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[2,1,3],[2,3,1]</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[3,1,2],[3,2,1]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3" name="文本框 72"/>
          <p:cNvSpPr txBox="1"/>
          <p:nvPr/>
        </p:nvSpPr>
        <p:spPr>
          <a:xfrm>
            <a:off x="577215" y="2089785"/>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a:t>
            </a:r>
            <a:endParaRPr lang="en-US" altLang="zh-CN">
              <a:latin typeface="Times New Roman" panose="02020603050405020304" pitchFamily="18" charset="0"/>
              <a:cs typeface="Times New Roman" panose="02020603050405020304" pitchFamily="18" charset="0"/>
            </a:endParaRPr>
          </a:p>
        </p:txBody>
      </p:sp>
      <p:sp>
        <p:nvSpPr>
          <p:cNvPr id="74" name="文本框 73"/>
          <p:cNvSpPr txBox="1"/>
          <p:nvPr/>
        </p:nvSpPr>
        <p:spPr>
          <a:xfrm>
            <a:off x="539115" y="5012690"/>
            <a:ext cx="7850505" cy="1733550"/>
          </a:xfrm>
          <a:prstGeom prst="rect">
            <a:avLst/>
          </a:prstGeom>
          <a:solidFill>
            <a:srgbClr val="92D050"/>
          </a:solidFill>
        </p:spPr>
        <p:txBody>
          <a:bodyPr wrap="square" rtlCol="0">
            <a:no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5" name="文本框 74"/>
          <p:cNvSpPr txBox="1"/>
          <p:nvPr/>
        </p:nvSpPr>
        <p:spPr>
          <a:xfrm>
            <a:off x="539750" y="4193540"/>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nums=[1,2,3,4]</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40208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13" name="组合 12"/>
          <p:cNvGrpSpPr/>
          <p:nvPr/>
        </p:nvGrpSpPr>
        <p:grpSpPr>
          <a:xfrm rot="0">
            <a:off x="3815715" y="14382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124710" y="230251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rot="0">
            <a:off x="3312795" y="2302510"/>
            <a:ext cx="646430" cy="581660"/>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rot="0">
            <a:off x="4572000" y="230251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p:nvPr/>
        </p:nvCxnSpPr>
        <p:spPr>
          <a:xfrm rot="10800000" flipV="1">
            <a:off x="2447925" y="1729740"/>
            <a:ext cx="1367790" cy="5727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rot="5400000" flipV="1">
            <a:off x="4376103" y="1783398"/>
            <a:ext cx="281940" cy="756285"/>
          </a:xfrm>
          <a:prstGeom prst="curvedConnector3">
            <a:avLst>
              <a:gd name="adj1" fmla="val 49887"/>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3746500" y="1910080"/>
            <a:ext cx="281940" cy="5029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539115" y="5124450"/>
            <a:ext cx="7850505" cy="1733550"/>
          </a:xfrm>
          <a:prstGeom prst="rect">
            <a:avLst/>
          </a:prstGeom>
          <a:solidFill>
            <a:srgbClr val="92D050"/>
          </a:solidFill>
        </p:spPr>
        <p:txBody>
          <a:bodyPr wrap="square" rtlCol="0">
            <a:noAutofit/>
          </a:bodyPr>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p:txBody>
      </p:sp>
      <p:grpSp>
        <p:nvGrpSpPr>
          <p:cNvPr id="5" name="组合 4"/>
          <p:cNvGrpSpPr/>
          <p:nvPr/>
        </p:nvGrpSpPr>
        <p:grpSpPr>
          <a:xfrm rot="0">
            <a:off x="5653405" y="2302510"/>
            <a:ext cx="646430" cy="582295"/>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文本框 7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77" name="曲线连接符 76"/>
          <p:cNvCxnSpPr/>
          <p:nvPr/>
        </p:nvCxnSpPr>
        <p:spPr>
          <a:xfrm>
            <a:off x="4442460" y="1757680"/>
            <a:ext cx="1534160" cy="5448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82" name="组合 81"/>
          <p:cNvGrpSpPr/>
          <p:nvPr/>
        </p:nvGrpSpPr>
        <p:grpSpPr>
          <a:xfrm rot="0">
            <a:off x="4438650" y="3140710"/>
            <a:ext cx="646430" cy="582295"/>
            <a:chOff x="10489" y="3359"/>
            <a:chExt cx="1018" cy="917"/>
          </a:xfrm>
        </p:grpSpPr>
        <p:sp>
          <p:nvSpPr>
            <p:cNvPr id="83" name="椭圆 8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85" name="组合 84"/>
          <p:cNvGrpSpPr/>
          <p:nvPr/>
        </p:nvGrpSpPr>
        <p:grpSpPr>
          <a:xfrm rot="0">
            <a:off x="5626735" y="3140710"/>
            <a:ext cx="646430" cy="581660"/>
            <a:chOff x="10489" y="3359"/>
            <a:chExt cx="1018" cy="916"/>
          </a:xfrm>
        </p:grpSpPr>
        <p:sp>
          <p:nvSpPr>
            <p:cNvPr id="86" name="椭圆 8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文本框 8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88" name="组合 87"/>
          <p:cNvGrpSpPr/>
          <p:nvPr/>
        </p:nvGrpSpPr>
        <p:grpSpPr>
          <a:xfrm rot="0">
            <a:off x="6885940" y="3140710"/>
            <a:ext cx="646430" cy="581660"/>
            <a:chOff x="10489" y="3359"/>
            <a:chExt cx="1018" cy="916"/>
          </a:xfrm>
        </p:grpSpPr>
        <p:sp>
          <p:nvSpPr>
            <p:cNvPr id="89" name="椭圆 8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文本框 8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91" name="曲线连接符 90"/>
          <p:cNvCxnSpPr>
            <a:stCxn id="7" idx="4"/>
            <a:endCxn id="83" idx="0"/>
          </p:cNvCxnSpPr>
          <p:nvPr/>
        </p:nvCxnSpPr>
        <p:spPr>
          <a:xfrm rot="5400000">
            <a:off x="5241290" y="2404745"/>
            <a:ext cx="255905" cy="121475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2" name="曲线连接符 91"/>
          <p:cNvCxnSpPr>
            <a:stCxn id="7" idx="4"/>
            <a:endCxn id="89" idx="0"/>
          </p:cNvCxnSpPr>
          <p:nvPr/>
        </p:nvCxnSpPr>
        <p:spPr>
          <a:xfrm rot="5400000" flipV="1">
            <a:off x="6464935" y="2395855"/>
            <a:ext cx="255905" cy="123253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3" name="曲线连接符 92"/>
          <p:cNvCxnSpPr>
            <a:stCxn id="7" idx="4"/>
            <a:endCxn id="86" idx="0"/>
          </p:cNvCxnSpPr>
          <p:nvPr/>
        </p:nvCxnSpPr>
        <p:spPr>
          <a:xfrm rot="5400000">
            <a:off x="5835650" y="2999105"/>
            <a:ext cx="255905" cy="266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nvGrpSpPr>
          <p:cNvPr id="94" name="组合 93"/>
          <p:cNvGrpSpPr/>
          <p:nvPr/>
        </p:nvGrpSpPr>
        <p:grpSpPr>
          <a:xfrm rot="0">
            <a:off x="4870450" y="4032250"/>
            <a:ext cx="341630" cy="342265"/>
            <a:chOff x="10489" y="3359"/>
            <a:chExt cx="1018" cy="917"/>
          </a:xfrm>
        </p:grpSpPr>
        <p:sp>
          <p:nvSpPr>
            <p:cNvPr id="95" name="椭圆 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文本框 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7" name="组合 96"/>
          <p:cNvGrpSpPr/>
          <p:nvPr/>
        </p:nvGrpSpPr>
        <p:grpSpPr>
          <a:xfrm rot="0">
            <a:off x="4150360" y="4032250"/>
            <a:ext cx="341630" cy="342265"/>
            <a:chOff x="10489" y="3359"/>
            <a:chExt cx="1018" cy="917"/>
          </a:xfrm>
        </p:grpSpPr>
        <p:sp>
          <p:nvSpPr>
            <p:cNvPr id="98" name="椭圆 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0" name="组合 99"/>
          <p:cNvGrpSpPr/>
          <p:nvPr/>
        </p:nvGrpSpPr>
        <p:grpSpPr>
          <a:xfrm rot="0">
            <a:off x="6194425" y="4032250"/>
            <a:ext cx="341630" cy="342265"/>
            <a:chOff x="10489" y="3359"/>
            <a:chExt cx="1018" cy="917"/>
          </a:xfrm>
        </p:grpSpPr>
        <p:sp>
          <p:nvSpPr>
            <p:cNvPr id="101" name="椭圆 10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文本框 10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03" name="组合 102"/>
          <p:cNvGrpSpPr/>
          <p:nvPr/>
        </p:nvGrpSpPr>
        <p:grpSpPr>
          <a:xfrm rot="0">
            <a:off x="5474335" y="4032250"/>
            <a:ext cx="341630" cy="342265"/>
            <a:chOff x="10489" y="3359"/>
            <a:chExt cx="1018" cy="917"/>
          </a:xfrm>
        </p:grpSpPr>
        <p:sp>
          <p:nvSpPr>
            <p:cNvPr id="104" name="椭圆 10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文本框 10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06" name="组合 105"/>
          <p:cNvGrpSpPr/>
          <p:nvPr/>
        </p:nvGrpSpPr>
        <p:grpSpPr>
          <a:xfrm rot="0">
            <a:off x="7482205" y="4032250"/>
            <a:ext cx="341630" cy="342265"/>
            <a:chOff x="10489" y="3359"/>
            <a:chExt cx="1018" cy="917"/>
          </a:xfrm>
        </p:grpSpPr>
        <p:sp>
          <p:nvSpPr>
            <p:cNvPr id="107" name="椭圆 10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文本框 10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9" name="组合 108"/>
          <p:cNvGrpSpPr/>
          <p:nvPr/>
        </p:nvGrpSpPr>
        <p:grpSpPr>
          <a:xfrm rot="0">
            <a:off x="6762115" y="4032250"/>
            <a:ext cx="341630" cy="342265"/>
            <a:chOff x="10489" y="3359"/>
            <a:chExt cx="1018" cy="917"/>
          </a:xfrm>
        </p:grpSpPr>
        <p:sp>
          <p:nvSpPr>
            <p:cNvPr id="110" name="椭圆 10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文本框 1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12" name="曲线连接符 111"/>
          <p:cNvCxnSpPr/>
          <p:nvPr/>
        </p:nvCxnSpPr>
        <p:spPr>
          <a:xfrm rot="5400000">
            <a:off x="4371340" y="368681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3" name="曲线连接符 112"/>
          <p:cNvCxnSpPr/>
          <p:nvPr/>
        </p:nvCxnSpPr>
        <p:spPr>
          <a:xfrm rot="5400000" flipV="1">
            <a:off x="4731385" y="375348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4" name="曲线连接符 113"/>
          <p:cNvCxnSpPr/>
          <p:nvPr/>
        </p:nvCxnSpPr>
        <p:spPr>
          <a:xfrm rot="5400000">
            <a:off x="6900545" y="376872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115" name="曲线连接符 114"/>
          <p:cNvCxnSpPr/>
          <p:nvPr/>
        </p:nvCxnSpPr>
        <p:spPr>
          <a:xfrm rot="5400000" flipV="1">
            <a:off x="6003290" y="3669665"/>
            <a:ext cx="309245" cy="4152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6" name="曲线连接符 115"/>
          <p:cNvCxnSpPr/>
          <p:nvPr/>
        </p:nvCxnSpPr>
        <p:spPr>
          <a:xfrm rot="5400000">
            <a:off x="5627370" y="3754755"/>
            <a:ext cx="354330" cy="29083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7" name="曲线连接符 116"/>
          <p:cNvCxnSpPr/>
          <p:nvPr/>
        </p:nvCxnSpPr>
        <p:spPr>
          <a:xfrm rot="5400000" flipV="1">
            <a:off x="7276465" y="365506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118" name="组合 117"/>
          <p:cNvGrpSpPr/>
          <p:nvPr/>
        </p:nvGrpSpPr>
        <p:grpSpPr>
          <a:xfrm rot="0">
            <a:off x="4150360" y="4726940"/>
            <a:ext cx="341630" cy="342265"/>
            <a:chOff x="10489" y="3359"/>
            <a:chExt cx="1018" cy="917"/>
          </a:xfrm>
        </p:grpSpPr>
        <p:sp>
          <p:nvSpPr>
            <p:cNvPr id="119" name="椭圆 1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文本框 11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1" name="组合 120"/>
          <p:cNvGrpSpPr/>
          <p:nvPr/>
        </p:nvGrpSpPr>
        <p:grpSpPr>
          <a:xfrm rot="0">
            <a:off x="4870450" y="4726940"/>
            <a:ext cx="341630" cy="342265"/>
            <a:chOff x="10489" y="3359"/>
            <a:chExt cx="1018" cy="917"/>
          </a:xfrm>
        </p:grpSpPr>
        <p:sp>
          <p:nvSpPr>
            <p:cNvPr id="122" name="椭圆 1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文本框 12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24" name="组合 123"/>
          <p:cNvGrpSpPr/>
          <p:nvPr/>
        </p:nvGrpSpPr>
        <p:grpSpPr>
          <a:xfrm rot="0">
            <a:off x="5474335" y="4726940"/>
            <a:ext cx="341630" cy="342265"/>
            <a:chOff x="10489" y="3359"/>
            <a:chExt cx="1018" cy="917"/>
          </a:xfrm>
        </p:grpSpPr>
        <p:sp>
          <p:nvSpPr>
            <p:cNvPr id="125" name="椭圆 12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文本框 12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7" name="组合 126"/>
          <p:cNvGrpSpPr/>
          <p:nvPr/>
        </p:nvGrpSpPr>
        <p:grpSpPr>
          <a:xfrm rot="0">
            <a:off x="6204585" y="4726305"/>
            <a:ext cx="341630" cy="342265"/>
            <a:chOff x="10489" y="3359"/>
            <a:chExt cx="1018" cy="917"/>
          </a:xfrm>
        </p:grpSpPr>
        <p:sp>
          <p:nvSpPr>
            <p:cNvPr id="128" name="椭圆 12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文本框 12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30" name="组合 129"/>
          <p:cNvGrpSpPr/>
          <p:nvPr/>
        </p:nvGrpSpPr>
        <p:grpSpPr>
          <a:xfrm rot="0">
            <a:off x="6786880" y="4725670"/>
            <a:ext cx="341630" cy="342265"/>
            <a:chOff x="10489" y="3359"/>
            <a:chExt cx="1018" cy="917"/>
          </a:xfrm>
        </p:grpSpPr>
        <p:sp>
          <p:nvSpPr>
            <p:cNvPr id="131" name="椭圆 1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文本框 1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33" name="组合 132"/>
          <p:cNvGrpSpPr/>
          <p:nvPr/>
        </p:nvGrpSpPr>
        <p:grpSpPr>
          <a:xfrm rot="0">
            <a:off x="7496810" y="4726940"/>
            <a:ext cx="341630" cy="342265"/>
            <a:chOff x="10489" y="3359"/>
            <a:chExt cx="1018" cy="917"/>
          </a:xfrm>
        </p:grpSpPr>
        <p:sp>
          <p:nvSpPr>
            <p:cNvPr id="134" name="椭圆 1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5" name="文本框 1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36" name="曲线连接符 135"/>
          <p:cNvCxnSpPr/>
          <p:nvPr/>
        </p:nvCxnSpPr>
        <p:spPr>
          <a:xfrm rot="5400000" flipV="1">
            <a:off x="4153535"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7" name="曲线连接符 136"/>
          <p:cNvCxnSpPr/>
          <p:nvPr/>
        </p:nvCxnSpPr>
        <p:spPr>
          <a:xfrm rot="5400000" flipV="1">
            <a:off x="4874895" y="453199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8" name="曲线连接符 137"/>
          <p:cNvCxnSpPr/>
          <p:nvPr/>
        </p:nvCxnSpPr>
        <p:spPr>
          <a:xfrm rot="5400000" flipV="1">
            <a:off x="545909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9" name="曲线连接符 138"/>
          <p:cNvCxnSpPr/>
          <p:nvPr/>
        </p:nvCxnSpPr>
        <p:spPr>
          <a:xfrm rot="5400000" flipV="1">
            <a:off x="618553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0" name="曲线连接符 139"/>
          <p:cNvCxnSpPr/>
          <p:nvPr/>
        </p:nvCxnSpPr>
        <p:spPr>
          <a:xfrm rot="5400000" flipV="1">
            <a:off x="679069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1" name="曲线连接符 140"/>
          <p:cNvCxnSpPr/>
          <p:nvPr/>
        </p:nvCxnSpPr>
        <p:spPr>
          <a:xfrm rot="5400000" flipV="1">
            <a:off x="751078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180721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72" name="组合 71"/>
          <p:cNvGrpSpPr/>
          <p:nvPr/>
        </p:nvGrpSpPr>
        <p:grpSpPr>
          <a:xfrm>
            <a:off x="4830445" y="213360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6" name="矩形 75"/>
          <p:cNvSpPr/>
          <p:nvPr/>
        </p:nvSpPr>
        <p:spPr>
          <a:xfrm>
            <a:off x="4909185" y="2853055"/>
            <a:ext cx="3584575" cy="1008380"/>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33020" y="2827020"/>
            <a:ext cx="4718685" cy="337185"/>
          </a:xfrm>
          <a:prstGeom prst="rect">
            <a:avLst/>
          </a:prstGeom>
          <a:noFill/>
        </p:spPr>
        <p:txBody>
          <a:bodyPr wrap="square" rtlCol="0">
            <a:spAutoFit/>
          </a:bodyPr>
          <a:p>
            <a:r>
              <a:rPr lang="zh-CN" altLang="en-US" sz="1600"/>
              <a:t>①：第一层，任何一个元素均可以占据首部一次</a:t>
            </a:r>
            <a:endParaRPr lang="zh-CN" altLang="en-US" sz="1600"/>
          </a:p>
        </p:txBody>
      </p:sp>
      <p:sp>
        <p:nvSpPr>
          <p:cNvPr id="78" name="文本框 77"/>
          <p:cNvSpPr txBox="1"/>
          <p:nvPr/>
        </p:nvSpPr>
        <p:spPr>
          <a:xfrm>
            <a:off x="4867275" y="2832735"/>
            <a:ext cx="503555" cy="319405"/>
          </a:xfrm>
          <a:prstGeom prst="rect">
            <a:avLst/>
          </a:prstGeom>
          <a:noFill/>
        </p:spPr>
        <p:txBody>
          <a:bodyPr wrap="square" rtlCol="0" anchor="t">
            <a:noAutofit/>
          </a:bodyPr>
          <a:p>
            <a:r>
              <a:rPr lang="zh-CN" altLang="en-US">
                <a:solidFill>
                  <a:srgbClr val="FF0000"/>
                </a:solidFill>
                <a:sym typeface="+mn-ea"/>
              </a:rPr>
              <a:t>①</a:t>
            </a:r>
            <a:endParaRPr lang="zh-CN" altLang="en-US">
              <a:solidFill>
                <a:srgbClr val="FF0000"/>
              </a:solidFill>
              <a:sym typeface="+mn-ea"/>
            </a:endParaRPr>
          </a:p>
        </p:txBody>
      </p:sp>
      <p:sp>
        <p:nvSpPr>
          <p:cNvPr id="79" name="矩形 78"/>
          <p:cNvSpPr/>
          <p:nvPr/>
        </p:nvSpPr>
        <p:spPr>
          <a:xfrm>
            <a:off x="4583430" y="3932555"/>
            <a:ext cx="1426845" cy="5238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4509770" y="3885565"/>
            <a:ext cx="166370" cy="167005"/>
          </a:xfrm>
          <a:prstGeom prst="rect">
            <a:avLst/>
          </a:prstGeom>
          <a:noFill/>
        </p:spPr>
        <p:txBody>
          <a:bodyPr wrap="square" rtlCol="0" anchor="t">
            <a:noAutofit/>
          </a:bodyPr>
          <a:p>
            <a:r>
              <a:rPr lang="zh-CN" altLang="en-US">
                <a:solidFill>
                  <a:srgbClr val="FF0000"/>
                </a:solidFill>
                <a:sym typeface="+mn-ea"/>
              </a:rPr>
              <a:t>②</a:t>
            </a:r>
            <a:endParaRPr lang="zh-CN" altLang="en-US">
              <a:solidFill>
                <a:srgbClr val="FF0000"/>
              </a:solidFill>
              <a:sym typeface="+mn-ea"/>
            </a:endParaRPr>
          </a:p>
        </p:txBody>
      </p:sp>
      <p:sp>
        <p:nvSpPr>
          <p:cNvPr id="81" name="文本框 80"/>
          <p:cNvSpPr txBox="1"/>
          <p:nvPr/>
        </p:nvSpPr>
        <p:spPr>
          <a:xfrm>
            <a:off x="58420" y="3429000"/>
            <a:ext cx="4718685" cy="337185"/>
          </a:xfrm>
          <a:prstGeom prst="rect">
            <a:avLst/>
          </a:prstGeom>
          <a:noFill/>
        </p:spPr>
        <p:txBody>
          <a:bodyPr wrap="square" rtlCol="0">
            <a:spAutoFit/>
          </a:bodyPr>
          <a:p>
            <a:r>
              <a:rPr lang="zh-CN" altLang="en-US" sz="1600">
                <a:solidFill>
                  <a:schemeClr val="tx1"/>
                </a:solidFill>
                <a:uFillTx/>
                <a:latin typeface="Times New Roman" panose="02020603050405020304" pitchFamily="18" charset="0"/>
              </a:rPr>
              <a:t>②：第二层，剩余</a:t>
            </a:r>
            <a:r>
              <a:rPr lang="en-US" altLang="zh-CN" sz="1600">
                <a:solidFill>
                  <a:schemeClr val="tx1"/>
                </a:solidFill>
                <a:uFillTx/>
                <a:latin typeface="Times New Roman" panose="02020603050405020304" pitchFamily="18" charset="0"/>
              </a:rPr>
              <a:t>n-1</a:t>
            </a:r>
            <a:r>
              <a:rPr lang="zh-CN" altLang="en-US" sz="1600">
                <a:solidFill>
                  <a:schemeClr val="tx1"/>
                </a:solidFill>
                <a:uFillTx/>
                <a:latin typeface="Times New Roman" panose="02020603050405020304" pitchFamily="18" charset="0"/>
              </a:rPr>
              <a:t>个元素都可以占据首部一次</a:t>
            </a:r>
            <a:endParaRPr lang="zh-CN" altLang="en-US" sz="1600">
              <a:solidFill>
                <a:schemeClr val="tx1"/>
              </a:solidFill>
              <a:uFillTx/>
              <a:latin typeface="Times New Roman" panose="02020603050405020304" pitchFamily="18" charset="0"/>
            </a:endParaRPr>
          </a:p>
        </p:txBody>
      </p:sp>
      <p:sp>
        <p:nvSpPr>
          <p:cNvPr id="5" name="文本框 4"/>
          <p:cNvSpPr txBox="1"/>
          <p:nvPr/>
        </p:nvSpPr>
        <p:spPr>
          <a:xfrm>
            <a:off x="-42545" y="4869180"/>
            <a:ext cx="4718685" cy="583565"/>
          </a:xfrm>
          <a:prstGeom prst="rect">
            <a:avLst/>
          </a:prstGeom>
          <a:noFill/>
        </p:spPr>
        <p:txBody>
          <a:bodyPr wrap="square" rtlCol="0">
            <a:spAutoFit/>
          </a:bodyPr>
          <a:p>
            <a:r>
              <a:rPr lang="zh-CN" altLang="en-US" sz="1600">
                <a:solidFill>
                  <a:srgbClr val="FF0000"/>
                </a:solidFill>
                <a:uFillTx/>
                <a:latin typeface="Times New Roman" panose="02020603050405020304" pitchFamily="18" charset="0"/>
              </a:rPr>
              <a:t>注意：每次交换均是与首位交换，所以每次递归结束，一定要回溯！</a:t>
            </a:r>
            <a:endParaRPr lang="zh-CN" altLang="en-US" sz="1600">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2764155" cy="37147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交换法回溯代码实现</a:t>
            </a:r>
            <a:r>
              <a:rPr lang="en-US" altLang="zh-CN" sz="1800">
                <a:solidFill>
                  <a:srgbClr val="000066"/>
                </a:solidFill>
                <a:uFillTx/>
                <a:latin typeface="Times New Roman" panose="02020603050405020304" pitchFamily="18" charset="0"/>
              </a:rPr>
              <a:t>:</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251460" y="1844675"/>
            <a:ext cx="5248275" cy="3381375"/>
          </a:xfrm>
          <a:prstGeom prst="rect">
            <a:avLst/>
          </a:prstGeom>
        </p:spPr>
      </p:pic>
      <p:sp>
        <p:nvSpPr>
          <p:cNvPr id="9" name="文本框 8"/>
          <p:cNvSpPr txBox="1"/>
          <p:nvPr/>
        </p:nvSpPr>
        <p:spPr>
          <a:xfrm>
            <a:off x="251460" y="5516880"/>
            <a:ext cx="4550410" cy="429260"/>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除此之外还有头中尾插入法、前缀法。</a:t>
            </a:r>
            <a:endParaRPr lang="zh-CN" altLang="en-US"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grpSp>
        <p:nvGrpSpPr>
          <p:cNvPr id="13" name="组合 12"/>
          <p:cNvGrpSpPr/>
          <p:nvPr/>
        </p:nvGrpSpPr>
        <p:grpSpPr>
          <a:xfrm rot="0">
            <a:off x="4356100" y="1629410"/>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3617595" y="263842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029835" y="263715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3958590" y="19202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982845" y="19488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4049395" y="352996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3329305" y="35299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5626100" y="3528695"/>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906010" y="352869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3550285" y="3184525"/>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3910330" y="32512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5044440" y="3265170"/>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5420360" y="3151505"/>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2988310" y="38722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3132455" y="3211830"/>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2947670" y="2763520"/>
            <a:ext cx="669925" cy="368300"/>
          </a:xfrm>
          <a:prstGeom prst="rect">
            <a:avLst/>
          </a:prstGeom>
          <a:noFill/>
        </p:spPr>
        <p:txBody>
          <a:bodyPr wrap="square" rtlCol="0">
            <a:spAutoFit/>
          </a:bodyPr>
          <a:p>
            <a:r>
              <a:rPr lang="zh-CN" altLang="en-US" sz="1800"/>
              <a:t>①</a:t>
            </a:r>
            <a:endParaRPr lang="zh-CN" altLang="en-US" sz="1800"/>
          </a:p>
        </p:txBody>
      </p:sp>
      <p:cxnSp>
        <p:nvCxnSpPr>
          <p:cNvPr id="94" name="直接连接符 93"/>
          <p:cNvCxnSpPr/>
          <p:nvPr/>
        </p:nvCxnSpPr>
        <p:spPr>
          <a:xfrm>
            <a:off x="2844165" y="4005580"/>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2428875" y="4699635"/>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2672715" y="3472815"/>
            <a:ext cx="669925" cy="368300"/>
          </a:xfrm>
          <a:prstGeom prst="rect">
            <a:avLst/>
          </a:prstGeom>
          <a:noFill/>
        </p:spPr>
        <p:txBody>
          <a:bodyPr wrap="square" rtlCol="0">
            <a:spAutoFit/>
          </a:bodyPr>
          <a:p>
            <a:r>
              <a:rPr lang="zh-CN" altLang="en-US" sz="1800"/>
              <a:t>②</a:t>
            </a:r>
            <a:endParaRPr lang="zh-CN" altLang="en-US" sz="1800"/>
          </a:p>
        </p:txBody>
      </p:sp>
      <p:sp>
        <p:nvSpPr>
          <p:cNvPr id="100" name="文本框 99"/>
          <p:cNvSpPr txBox="1"/>
          <p:nvPr/>
        </p:nvSpPr>
        <p:spPr>
          <a:xfrm>
            <a:off x="2356485" y="4182110"/>
            <a:ext cx="669925" cy="368300"/>
          </a:xfrm>
          <a:prstGeom prst="rect">
            <a:avLst/>
          </a:prstGeom>
          <a:noFill/>
        </p:spPr>
        <p:txBody>
          <a:bodyPr wrap="square" rtlCol="0">
            <a:spAutoFit/>
          </a:bodyPr>
          <a:p>
            <a:r>
              <a:rPr lang="zh-CN" altLang="en-US" sz="1800"/>
              <a:t>③</a:t>
            </a:r>
            <a:endParaRPr lang="zh-CN" altLang="en-US" sz="1800"/>
          </a:p>
        </p:txBody>
      </p:sp>
      <p:sp>
        <p:nvSpPr>
          <p:cNvPr id="101" name="文本框 100"/>
          <p:cNvSpPr txBox="1"/>
          <p:nvPr/>
        </p:nvSpPr>
        <p:spPr>
          <a:xfrm>
            <a:off x="354330" y="5372735"/>
            <a:ext cx="8649335" cy="501650"/>
          </a:xfrm>
          <a:prstGeom prst="rect">
            <a:avLst/>
          </a:prstGeom>
          <a:noFill/>
        </p:spPr>
        <p:txBody>
          <a:bodyPr wrap="square" rtlCol="0">
            <a:noAutofit/>
          </a:bodyPr>
          <a:p>
            <a:r>
              <a:rPr lang="zh-CN" altLang="en-US" sz="1800"/>
              <a:t>此时，需要对原来的元素选择做一个回溯，回溯之后不影响下一个分支的</a:t>
            </a:r>
            <a:r>
              <a:rPr lang="zh-CN" altLang="en-US" sz="1800"/>
              <a:t>选与不选。</a:t>
            </a:r>
            <a:endParaRPr lang="zh-CN" altLang="en-US" sz="1800"/>
          </a:p>
        </p:txBody>
      </p:sp>
      <p:sp>
        <p:nvSpPr>
          <p:cNvPr id="3" name="任意多边形 2"/>
          <p:cNvSpPr/>
          <p:nvPr/>
        </p:nvSpPr>
        <p:spPr>
          <a:xfrm>
            <a:off x="3342005" y="4076700"/>
            <a:ext cx="302260" cy="367030"/>
          </a:xfrm>
          <a:custGeom>
            <a:avLst/>
            <a:gdLst>
              <a:gd name="connisteX0" fmla="*/ 0 w 302260"/>
              <a:gd name="connsiteY0" fmla="*/ 367028 h 367028"/>
              <a:gd name="connisteX1" fmla="*/ 173990 w 302260"/>
              <a:gd name="connsiteY1" fmla="*/ 633 h 367028"/>
              <a:gd name="connisteX2" fmla="*/ 302260 w 302260"/>
              <a:gd name="connsiteY2" fmla="*/ 294003 h 367028"/>
            </a:gdLst>
            <a:ahLst/>
            <a:cxnLst>
              <a:cxn ang="0">
                <a:pos x="connisteX0" y="connsiteY0"/>
              </a:cxn>
              <a:cxn ang="0">
                <a:pos x="connisteX1" y="connsiteY1"/>
              </a:cxn>
              <a:cxn ang="0">
                <a:pos x="connisteX2" y="connsiteY2"/>
              </a:cxn>
            </a:cxnLst>
            <a:rect l="l" t="t" r="r" b="b"/>
            <a:pathLst>
              <a:path w="302260" h="367029">
                <a:moveTo>
                  <a:pt x="0" y="367029"/>
                </a:moveTo>
                <a:cubicBezTo>
                  <a:pt x="32385" y="287654"/>
                  <a:pt x="113665" y="15239"/>
                  <a:pt x="173990" y="634"/>
                </a:cubicBezTo>
                <a:cubicBezTo>
                  <a:pt x="234315" y="-13971"/>
                  <a:pt x="280035" y="227964"/>
                  <a:pt x="302260" y="294004"/>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任意多边形 5"/>
          <p:cNvSpPr/>
          <p:nvPr/>
        </p:nvSpPr>
        <p:spPr>
          <a:xfrm>
            <a:off x="3717290" y="3397885"/>
            <a:ext cx="302260" cy="304165"/>
          </a:xfrm>
          <a:custGeom>
            <a:avLst/>
            <a:gdLst>
              <a:gd name="connisteX0" fmla="*/ 0 w 302260"/>
              <a:gd name="connsiteY0" fmla="*/ 304251 h 304251"/>
              <a:gd name="connisteX1" fmla="*/ 201295 w 302260"/>
              <a:gd name="connsiteY1" fmla="*/ 1991 h 304251"/>
              <a:gd name="connisteX2" fmla="*/ 302260 w 302260"/>
              <a:gd name="connsiteY2" fmla="*/ 194396 h 304251"/>
            </a:gdLst>
            <a:ahLst/>
            <a:cxnLst>
              <a:cxn ang="0">
                <a:pos x="connisteX0" y="connsiteY0"/>
              </a:cxn>
              <a:cxn ang="0">
                <a:pos x="connisteX1" y="connsiteY1"/>
              </a:cxn>
              <a:cxn ang="0">
                <a:pos x="connisteX2" y="connsiteY2"/>
              </a:cxn>
            </a:cxnLst>
            <a:rect l="l" t="t" r="r" b="b"/>
            <a:pathLst>
              <a:path w="302260" h="304252">
                <a:moveTo>
                  <a:pt x="0" y="304252"/>
                </a:moveTo>
                <a:cubicBezTo>
                  <a:pt x="38100" y="240117"/>
                  <a:pt x="140970" y="24217"/>
                  <a:pt x="201295" y="1992"/>
                </a:cubicBezTo>
                <a:cubicBezTo>
                  <a:pt x="261620" y="-20233"/>
                  <a:pt x="286385" y="149947"/>
                  <a:pt x="302260" y="194397"/>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2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ox(in)">
                                      <p:cBhvr>
                                        <p:cTn id="1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755650" y="2852420"/>
            <a:ext cx="5486400" cy="361315"/>
          </a:xfrm>
          <a:prstGeom prst="rect">
            <a:avLst/>
          </a:prstGeom>
          <a:noFill/>
        </p:spPr>
        <p:txBody>
          <a:bodyPr wrap="square" rtlCol="0" anchor="t">
            <a:noAutofit/>
          </a:bodyPr>
          <a:p>
            <a:r>
              <a:rPr lang="zh-CN" altLang="en-US" sz="1800" kern="0" smtClean="0">
                <a:sym typeface="+mn-ea"/>
              </a:rPr>
              <a:t>子集的另一种解法：迭代二进制</a:t>
            </a:r>
            <a:r>
              <a:rPr lang="zh-CN" altLang="en-US" sz="1800" kern="0" smtClean="0">
                <a:sym typeface="+mn-ea"/>
              </a:rPr>
              <a:t>法</a:t>
            </a:r>
            <a:endParaRPr lang="zh-CN" altLang="en-US" sz="1800" kern="0" smtClean="0">
              <a:sym typeface="+mn-ea"/>
            </a:endParaRPr>
          </a:p>
        </p:txBody>
      </p:sp>
      <p:graphicFrame>
        <p:nvGraphicFramePr>
          <p:cNvPr id="7" name="表格 6"/>
          <p:cNvGraphicFramePr/>
          <p:nvPr>
            <p:custDataLst>
              <p:tags r:id="rId1"/>
            </p:custDataLst>
          </p:nvPr>
        </p:nvGraphicFramePr>
        <p:xfrm>
          <a:off x="3563620" y="3356610"/>
          <a:ext cx="2595880" cy="3063240"/>
        </p:xfrm>
        <a:graphic>
          <a:graphicData uri="http://schemas.openxmlformats.org/drawingml/2006/table">
            <a:tbl>
              <a:tblPr firstRow="1" bandRow="1">
                <a:tableStyleId>{5C22544A-7EE6-4342-B048-85BDC9FD1C3A}</a:tableStyleId>
              </a:tblPr>
              <a:tblGrid>
                <a:gridCol w="1297940"/>
                <a:gridCol w="1297940"/>
              </a:tblGrid>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000</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[2]</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8" name="文本框 7"/>
          <p:cNvSpPr txBox="1"/>
          <p:nvPr/>
        </p:nvSpPr>
        <p:spPr>
          <a:xfrm>
            <a:off x="683260" y="1462405"/>
            <a:ext cx="6148070" cy="831850"/>
          </a:xfrm>
          <a:prstGeom prst="rect">
            <a:avLst/>
          </a:prstGeom>
          <a:noFill/>
        </p:spPr>
        <p:txBody>
          <a:bodyPr wrap="square" rtlCol="0" anchor="t">
            <a:noAutofit/>
          </a:bodyPr>
          <a:p>
            <a:r>
              <a:rPr lang="zh-CN" altLang="en-US" sz="1800" kern="0" smtClean="0">
                <a:sym typeface="+mn-ea"/>
              </a:rPr>
              <a:t>观察</a:t>
            </a:r>
            <a:r>
              <a:rPr lang="en-US" altLang="zh-CN" sz="1800" kern="0" smtClean="0">
                <a:sym typeface="+mn-ea"/>
              </a:rPr>
              <a:t>opt</a:t>
            </a:r>
            <a:r>
              <a:rPr lang="zh-CN" altLang="en-US" sz="1800" kern="0" smtClean="0">
                <a:sym typeface="+mn-ea"/>
              </a:rPr>
              <a:t>数组的变化</a:t>
            </a:r>
            <a:r>
              <a:rPr lang="en-US" altLang="zh-CN" sz="1800" kern="0" smtClean="0">
                <a:sym typeface="+mn-ea"/>
              </a:rPr>
              <a:t>:[</a:t>
            </a:r>
            <a:r>
              <a:rPr lang="en-US" altLang="zh-CN" sz="1800">
                <a:solidFill>
                  <a:schemeClr val="tx2"/>
                </a:solidFill>
                <a:latin typeface="Times New Roman" panose="02020603050405020304" pitchFamily="18" charset="0"/>
                <a:cs typeface="Times New Roman" panose="02020603050405020304" pitchFamily="18" charset="0"/>
                <a:sym typeface="+mn-ea"/>
              </a:rPr>
              <a:t>000</a:t>
            </a:r>
            <a:r>
              <a:rPr lang="en-US" altLang="zh-CN" sz="1800" kern="0" smtClean="0">
                <a:sym typeface="+mn-ea"/>
              </a:rPr>
              <a:t>]</a:t>
            </a:r>
            <a:r>
              <a:rPr lang="zh-CN" altLang="en-US" sz="1800" kern="0" smtClean="0">
                <a:sym typeface="+mn-ea"/>
              </a:rPr>
              <a:t>，</a:t>
            </a:r>
            <a:r>
              <a:rPr lang="en-US" altLang="zh-CN" sz="1800" kern="0" smtClean="0">
                <a:sym typeface="+mn-ea"/>
              </a:rPr>
              <a:t>[001]</a:t>
            </a:r>
            <a:r>
              <a:rPr lang="zh-CN" altLang="en-US" sz="1800" kern="0" smtClean="0">
                <a:sym typeface="+mn-ea"/>
              </a:rPr>
              <a:t>，</a:t>
            </a:r>
            <a:r>
              <a:rPr lang="en-US" altLang="zh-CN" sz="1800" kern="0" smtClean="0">
                <a:sym typeface="+mn-ea"/>
              </a:rPr>
              <a:t>[010]</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[111]</a:t>
            </a:r>
            <a:endParaRPr lang="en-US" altLang="zh-CN" sz="1800" kern="0" smtClean="0">
              <a:sym typeface="+mn-ea"/>
            </a:endParaRPr>
          </a:p>
          <a:p>
            <a:r>
              <a:rPr lang="en-US" altLang="zh-CN" sz="1800" kern="0" smtClean="0">
                <a:sym typeface="+mn-ea"/>
              </a:rPr>
              <a:t>                               []</a:t>
            </a:r>
            <a:r>
              <a:rPr lang="zh-CN" altLang="en-US" sz="1800" kern="0" smtClean="0">
                <a:sym typeface="+mn-ea"/>
              </a:rPr>
              <a:t>，</a:t>
            </a:r>
            <a:r>
              <a:rPr lang="en-US" altLang="zh-CN" sz="1800" kern="0" smtClean="0">
                <a:sym typeface="+mn-ea"/>
              </a:rPr>
              <a:t>      [1]</a:t>
            </a:r>
            <a:r>
              <a:rPr lang="zh-CN" altLang="en-US" sz="1800" kern="0" smtClean="0">
                <a:sym typeface="+mn-ea"/>
              </a:rPr>
              <a:t>，</a:t>
            </a:r>
            <a:r>
              <a:rPr lang="en-US" altLang="zh-CN" sz="1800" kern="0" smtClean="0">
                <a:sym typeface="+mn-ea"/>
              </a:rPr>
              <a:t>    [2]</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    [1,2,3]</a:t>
            </a:r>
            <a:endParaRPr lang="en-US" altLang="zh-CN" sz="1800" kern="0" smtClean="0">
              <a:sym typeface="+mn-ea"/>
            </a:endParaRPr>
          </a:p>
          <a:p>
            <a:endParaRPr lang="en-US" altLang="zh-CN" sz="1800" kern="0" smtClean="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a:t>轻松一下！！！</a:t>
            </a:r>
            <a:endParaRPr lang="en-US" altLang="zh-CN"/>
          </a:p>
        </p:txBody>
      </p:sp>
      <p:pic>
        <p:nvPicPr>
          <p:cNvPr id="8" name="图片 7" descr="image-e8A40SoxSCevzq8cQ06UD"/>
          <p:cNvPicPr>
            <a:picLocks noChangeAspect="1"/>
          </p:cNvPicPr>
          <p:nvPr/>
        </p:nvPicPr>
        <p:blipFill>
          <a:blip r:embed="rId1"/>
          <a:stretch>
            <a:fillRect/>
          </a:stretch>
        </p:blipFill>
        <p:spPr>
          <a:xfrm>
            <a:off x="2339340" y="2228215"/>
            <a:ext cx="648970" cy="648970"/>
          </a:xfrm>
          <a:prstGeom prst="rect">
            <a:avLst/>
          </a:prstGeom>
        </p:spPr>
      </p:pic>
      <p:pic>
        <p:nvPicPr>
          <p:cNvPr id="9" name="图片 8" descr="红苹果"/>
          <p:cNvPicPr>
            <a:picLocks noChangeAspect="1"/>
          </p:cNvPicPr>
          <p:nvPr/>
        </p:nvPicPr>
        <p:blipFill>
          <a:blip r:embed="rId2"/>
          <a:stretch>
            <a:fillRect/>
          </a:stretch>
        </p:blipFill>
        <p:spPr>
          <a:xfrm>
            <a:off x="4932045" y="2228215"/>
            <a:ext cx="606425" cy="606425"/>
          </a:xfrm>
          <a:prstGeom prst="rect">
            <a:avLst/>
          </a:prstGeom>
        </p:spPr>
      </p:pic>
      <p:pic>
        <p:nvPicPr>
          <p:cNvPr id="10" name="图片 9" descr="image-e8A40SoxSCevzq8cQ06UD"/>
          <p:cNvPicPr>
            <a:picLocks noChangeAspect="1"/>
          </p:cNvPicPr>
          <p:nvPr/>
        </p:nvPicPr>
        <p:blipFill>
          <a:blip r:embed="rId1"/>
          <a:stretch>
            <a:fillRect/>
          </a:stretch>
        </p:blipFill>
        <p:spPr>
          <a:xfrm>
            <a:off x="3275965" y="2228215"/>
            <a:ext cx="648970" cy="648970"/>
          </a:xfrm>
          <a:prstGeom prst="rect">
            <a:avLst/>
          </a:prstGeom>
        </p:spPr>
      </p:pic>
      <p:pic>
        <p:nvPicPr>
          <p:cNvPr id="12" name="图片 11" descr="image-e8A40SoxSCevzq8cQ06UD"/>
          <p:cNvPicPr>
            <a:picLocks noChangeAspect="1"/>
          </p:cNvPicPr>
          <p:nvPr/>
        </p:nvPicPr>
        <p:blipFill>
          <a:blip r:embed="rId1"/>
          <a:stretch>
            <a:fillRect/>
          </a:stretch>
        </p:blipFill>
        <p:spPr>
          <a:xfrm>
            <a:off x="4067810" y="2228215"/>
            <a:ext cx="648970" cy="648970"/>
          </a:xfrm>
          <a:prstGeom prst="rect">
            <a:avLst/>
          </a:prstGeom>
        </p:spPr>
      </p:pic>
      <p:pic>
        <p:nvPicPr>
          <p:cNvPr id="13" name="图片 12" descr="红苹果"/>
          <p:cNvPicPr>
            <a:picLocks noChangeAspect="1"/>
          </p:cNvPicPr>
          <p:nvPr/>
        </p:nvPicPr>
        <p:blipFill>
          <a:blip r:embed="rId2"/>
          <a:stretch>
            <a:fillRect/>
          </a:stretch>
        </p:blipFill>
        <p:spPr>
          <a:xfrm>
            <a:off x="5796280" y="2228215"/>
            <a:ext cx="606425" cy="606425"/>
          </a:xfrm>
          <a:prstGeom prst="rect">
            <a:avLst/>
          </a:prstGeom>
        </p:spPr>
      </p:pic>
      <p:pic>
        <p:nvPicPr>
          <p:cNvPr id="15" name="图片 14"/>
          <p:cNvPicPr>
            <a:picLocks noChangeAspect="1"/>
          </p:cNvPicPr>
          <p:nvPr/>
        </p:nvPicPr>
        <p:blipFill>
          <a:blip r:embed="rId3"/>
          <a:stretch>
            <a:fillRect/>
          </a:stretch>
        </p:blipFill>
        <p:spPr>
          <a:xfrm>
            <a:off x="1691640" y="3356610"/>
            <a:ext cx="1812925" cy="1857375"/>
          </a:xfrm>
          <a:prstGeom prst="rect">
            <a:avLst/>
          </a:prstGeom>
        </p:spPr>
      </p:pic>
      <p:pic>
        <p:nvPicPr>
          <p:cNvPr id="16" name="图片 15"/>
          <p:cNvPicPr>
            <a:picLocks noChangeAspect="1"/>
          </p:cNvPicPr>
          <p:nvPr/>
        </p:nvPicPr>
        <p:blipFill>
          <a:blip r:embed="rId3"/>
          <a:stretch>
            <a:fillRect/>
          </a:stretch>
        </p:blipFill>
        <p:spPr>
          <a:xfrm>
            <a:off x="3924935" y="3860800"/>
            <a:ext cx="1181100" cy="1209675"/>
          </a:xfrm>
          <a:prstGeom prst="rect">
            <a:avLst/>
          </a:prstGeom>
        </p:spPr>
      </p:pic>
      <p:pic>
        <p:nvPicPr>
          <p:cNvPr id="17" name="图片 16"/>
          <p:cNvPicPr>
            <a:picLocks noChangeAspect="1"/>
          </p:cNvPicPr>
          <p:nvPr/>
        </p:nvPicPr>
        <p:blipFill>
          <a:blip r:embed="rId3"/>
          <a:stretch>
            <a:fillRect/>
          </a:stretch>
        </p:blipFill>
        <p:spPr>
          <a:xfrm>
            <a:off x="5829935" y="4110990"/>
            <a:ext cx="900430" cy="922655"/>
          </a:xfrm>
          <a:prstGeom prst="rect">
            <a:avLst/>
          </a:prstGeom>
        </p:spPr>
      </p:pic>
      <p:sp>
        <p:nvSpPr>
          <p:cNvPr id="18" name="文本框 17"/>
          <p:cNvSpPr txBox="1"/>
          <p:nvPr/>
        </p:nvSpPr>
        <p:spPr>
          <a:xfrm>
            <a:off x="939800" y="1586230"/>
            <a:ext cx="6800215" cy="645160"/>
          </a:xfrm>
          <a:prstGeom prst="rect">
            <a:avLst/>
          </a:prstGeom>
          <a:noFill/>
        </p:spPr>
        <p:txBody>
          <a:bodyPr wrap="square" rtlCol="0">
            <a:spAutoFit/>
          </a:bodyPr>
          <a:p>
            <a:r>
              <a:rPr lang="zh-CN" altLang="en-US"/>
              <a:t>有五个苹果图案，三青二红，被三个小朋友各贴在后背上，个子高的小朋友能知道各自矮的小朋友贴的</a:t>
            </a:r>
            <a:r>
              <a:rPr lang="zh-CN" altLang="en-US"/>
              <a:t>什么颜色</a:t>
            </a:r>
            <a:r>
              <a:rPr lang="zh-CN" altLang="en-US"/>
              <a:t>水果。</a:t>
            </a:r>
            <a:endParaRPr lang="zh-CN" altLang="en-US"/>
          </a:p>
        </p:txBody>
      </p:sp>
      <p:sp>
        <p:nvSpPr>
          <p:cNvPr id="19" name="文本框 18"/>
          <p:cNvSpPr txBox="1"/>
          <p:nvPr/>
        </p:nvSpPr>
        <p:spPr>
          <a:xfrm>
            <a:off x="1619250" y="3068955"/>
            <a:ext cx="6800215" cy="368300"/>
          </a:xfrm>
          <a:prstGeom prst="rect">
            <a:avLst/>
          </a:prstGeom>
          <a:noFill/>
        </p:spPr>
        <p:txBody>
          <a:bodyPr wrap="square" rtlCol="0">
            <a:spAutoFit/>
          </a:bodyPr>
          <a:p>
            <a:r>
              <a:rPr lang="zh-CN" altLang="en-US"/>
              <a:t>（</a:t>
            </a:r>
            <a:r>
              <a:rPr lang="en-US" altLang="zh-CN"/>
              <a:t>1</a:t>
            </a:r>
            <a:r>
              <a:rPr lang="zh-CN" altLang="en-US"/>
              <a:t>）</a:t>
            </a:r>
            <a:r>
              <a:rPr lang="en-US" altLang="zh-CN"/>
              <a:t>                             </a:t>
            </a:r>
            <a:r>
              <a:rPr lang="zh-CN" altLang="en-US">
                <a:sym typeface="+mn-ea"/>
              </a:rPr>
              <a:t>（</a:t>
            </a:r>
            <a:r>
              <a:rPr lang="en-US" altLang="zh-CN">
                <a:sym typeface="+mn-ea"/>
              </a:rPr>
              <a:t>2</a:t>
            </a:r>
            <a:r>
              <a:rPr lang="zh-CN" altLang="en-US">
                <a:sym typeface="+mn-ea"/>
              </a:rPr>
              <a:t>）</a:t>
            </a:r>
            <a:r>
              <a:rPr lang="en-US" altLang="zh-CN"/>
              <a:t>                    </a:t>
            </a:r>
            <a:r>
              <a:rPr lang="zh-CN" altLang="en-US">
                <a:sym typeface="+mn-ea"/>
              </a:rPr>
              <a:t>（</a:t>
            </a:r>
            <a:r>
              <a:rPr lang="en-US" altLang="zh-CN">
                <a:sym typeface="+mn-ea"/>
              </a:rPr>
              <a:t>3</a:t>
            </a:r>
            <a:r>
              <a:rPr lang="zh-CN" altLang="en-US">
                <a:sym typeface="+mn-ea"/>
              </a:rPr>
              <a:t>）</a:t>
            </a:r>
            <a:r>
              <a:rPr lang="en-US" altLang="zh-CN"/>
              <a:t>              </a:t>
            </a:r>
            <a:endParaRPr lang="en-US" altLang="zh-CN"/>
          </a:p>
        </p:txBody>
      </p:sp>
      <p:sp>
        <p:nvSpPr>
          <p:cNvPr id="20" name="文本框 19"/>
          <p:cNvSpPr txBox="1"/>
          <p:nvPr/>
        </p:nvSpPr>
        <p:spPr>
          <a:xfrm>
            <a:off x="1115060" y="5229225"/>
            <a:ext cx="6800215" cy="368300"/>
          </a:xfrm>
          <a:prstGeom prst="rect">
            <a:avLst/>
          </a:prstGeom>
          <a:noFill/>
        </p:spPr>
        <p:txBody>
          <a:bodyPr wrap="square" rtlCol="0">
            <a:spAutoFit/>
          </a:bodyPr>
          <a:p>
            <a:r>
              <a:rPr lang="zh-CN" altLang="en-US"/>
              <a:t>第一个小朋友说：我不知道自己</a:t>
            </a:r>
            <a:r>
              <a:rPr lang="zh-CN" altLang="en-US"/>
              <a:t>贴的什么颜色苹果</a:t>
            </a:r>
            <a:r>
              <a:rPr lang="en-US" altLang="zh-CN"/>
              <a:t>              </a:t>
            </a:r>
            <a:endParaRPr lang="en-US" altLang="zh-CN"/>
          </a:p>
        </p:txBody>
      </p:sp>
      <p:sp>
        <p:nvSpPr>
          <p:cNvPr id="21" name="文本框 20"/>
          <p:cNvSpPr txBox="1"/>
          <p:nvPr/>
        </p:nvSpPr>
        <p:spPr>
          <a:xfrm>
            <a:off x="1117600" y="5707380"/>
            <a:ext cx="6800215" cy="368300"/>
          </a:xfrm>
          <a:prstGeom prst="rect">
            <a:avLst/>
          </a:prstGeom>
          <a:noFill/>
        </p:spPr>
        <p:txBody>
          <a:bodyPr wrap="square" rtlCol="0">
            <a:spAutoFit/>
          </a:bodyPr>
          <a:p>
            <a:r>
              <a:rPr lang="zh-CN" altLang="en-US"/>
              <a:t>第二个小朋友也说：我不知道自己</a:t>
            </a:r>
            <a:r>
              <a:rPr lang="zh-CN" altLang="en-US"/>
              <a:t>贴的什么颜色苹果</a:t>
            </a:r>
            <a:r>
              <a:rPr lang="en-US" altLang="zh-CN"/>
              <a:t>              </a:t>
            </a:r>
            <a:endParaRPr lang="en-US" altLang="zh-CN"/>
          </a:p>
        </p:txBody>
      </p:sp>
      <p:sp>
        <p:nvSpPr>
          <p:cNvPr id="22" name="文本框 21"/>
          <p:cNvSpPr txBox="1"/>
          <p:nvPr/>
        </p:nvSpPr>
        <p:spPr>
          <a:xfrm>
            <a:off x="1117600" y="6096635"/>
            <a:ext cx="6800215" cy="368300"/>
          </a:xfrm>
          <a:prstGeom prst="rect">
            <a:avLst/>
          </a:prstGeom>
          <a:noFill/>
        </p:spPr>
        <p:txBody>
          <a:bodyPr wrap="square" rtlCol="0">
            <a:spAutoFit/>
          </a:bodyPr>
          <a:p>
            <a:r>
              <a:rPr lang="zh-CN" altLang="en-US">
                <a:solidFill>
                  <a:srgbClr val="FF0000"/>
                </a:solidFill>
              </a:rPr>
              <a:t>请问第三个小朋友</a:t>
            </a:r>
            <a:r>
              <a:rPr lang="zh-CN" altLang="en-US">
                <a:solidFill>
                  <a:srgbClr val="FF0000"/>
                </a:solidFill>
              </a:rPr>
              <a:t>能否知道自己后面是什么颜色的水果吗？</a:t>
            </a:r>
            <a:r>
              <a:rPr lang="en-US" altLang="zh-CN">
                <a:solidFill>
                  <a:srgbClr val="FF0000"/>
                </a:solidFill>
              </a:rPr>
              <a:t>            </a:t>
            </a:r>
            <a:endParaRPr lang="en-US" altLang="zh-CN">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sp>
        <p:nvSpPr>
          <p:cNvPr id="6" name="文本框 5"/>
          <p:cNvSpPr txBox="1"/>
          <p:nvPr/>
        </p:nvSpPr>
        <p:spPr>
          <a:xfrm>
            <a:off x="7884795" y="2060575"/>
            <a:ext cx="1292860" cy="1198880"/>
          </a:xfrm>
          <a:prstGeom prst="rect">
            <a:avLst/>
          </a:prstGeom>
          <a:noFill/>
        </p:spPr>
        <p:txBody>
          <a:bodyPr wrap="square" rtlCol="0">
            <a:spAutoFit/>
          </a:bodyPr>
          <a:p>
            <a:r>
              <a:rPr lang="zh-CN" altLang="en-US"/>
              <a:t>画一个空间树</a:t>
            </a:r>
            <a:r>
              <a:rPr lang="en-US" altLang="zh-CN"/>
              <a:t>0-1</a:t>
            </a:r>
            <a:r>
              <a:rPr lang="zh-CN" altLang="en-US"/>
              <a:t>背包问题回溯求</a:t>
            </a:r>
            <a:r>
              <a:rPr lang="zh-CN" altLang="en-US"/>
              <a:t>解</a:t>
            </a:r>
            <a:endParaRPr lang="zh-CN" altLang="en-US"/>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）回溯模板</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2</a:t>
            </a:r>
            <a:r>
              <a:rPr lang="zh-CN">
                <a:solidFill>
                  <a:srgbClr val="000066"/>
                </a:solidFill>
                <a:uFillTx/>
                <a:latin typeface="Times New Roman" panose="02020603050405020304" pitchFamily="18" charset="0"/>
              </a:rPr>
              <a:t>）回溯模板（有剪枝）</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3</a:t>
            </a:r>
            <a:r>
              <a:rPr lang="zh-CN">
                <a:solidFill>
                  <a:srgbClr val="000066"/>
                </a:solidFill>
                <a:uFillTx/>
                <a:latin typeface="Times New Roman" panose="02020603050405020304" pitchFamily="18" charset="0"/>
              </a:rPr>
              <a:t>）空间树类型：子集树，全排列树，</a:t>
            </a:r>
            <a:r>
              <a:rPr lang="en-US" altLang="zh-CN">
                <a:solidFill>
                  <a:srgbClr val="000066"/>
                </a:solidFill>
                <a:uFillTx/>
                <a:latin typeface="Times New Roman" panose="02020603050405020304" pitchFamily="18" charset="0"/>
              </a:rPr>
              <a:t>n</a:t>
            </a:r>
            <a:r>
              <a:rPr lang="zh-CN" altLang="en-US">
                <a:solidFill>
                  <a:srgbClr val="000066"/>
                </a:solidFill>
                <a:uFillTx/>
                <a:latin typeface="Times New Roman" panose="02020603050405020304" pitchFamily="18" charset="0"/>
              </a:rPr>
              <a:t>叉树</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sz="1800">
                <a:solidFill>
                  <a:schemeClr val="bg2">
                    <a:lumMod val="25000"/>
                    <a:lumOff val="75000"/>
                  </a:schemeClr>
                </a:solidFill>
              </a:rPr>
              <a:t>16</a:t>
            </a:r>
            <a:endParaRPr lang="en-US" altLang="zh-CN" sz="1800">
              <a:solidFill>
                <a:schemeClr val="bg2">
                  <a:lumMod val="25000"/>
                  <a:lumOff val="75000"/>
                </a:schemeClr>
              </a:solidFill>
            </a:endParaRPr>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313210"/>
            <a:ext cx="8874126"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宋体" panose="02010600030101010101" pitchFamily="2" charset="-122"/>
              </a:rPr>
              <a:t>问题描述：八皇后问题是一个古老的问题，说的是在</a:t>
            </a:r>
            <a:r>
              <a:rPr lang="en-US" altLang="zh-CN" sz="2400" dirty="0">
                <a:solidFill>
                  <a:srgbClr val="080808"/>
                </a:solidFill>
                <a:uFillTx/>
                <a:latin typeface="宋体" panose="02010600030101010101" pitchFamily="2" charset="-122"/>
              </a:rPr>
              <a:t>8×8</a:t>
            </a:r>
            <a:r>
              <a:rPr lang="zh-CN" altLang="en-US" sz="2400" dirty="0">
                <a:solidFill>
                  <a:srgbClr val="080808"/>
                </a:solidFill>
                <a:uFillTx/>
                <a:latin typeface="宋体" panose="02010600030101010101" pitchFamily="2" charset="-122"/>
              </a:rPr>
              <a:t>的国际象棋棋盘上摆放八个皇后，使其不能互相攻击，即其中任意两个皇后都不能处于同一行、同一列或同一斜线上。如下图所示：</a:t>
            </a:r>
            <a:endParaRPr lang="zh-CN" altLang="en-US" sz="2400" dirty="0">
              <a:solidFill>
                <a:srgbClr val="080808"/>
              </a:solidFill>
              <a:uFillTx/>
              <a:latin typeface="宋体" panose="02010600030101010101" pitchFamily="2"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793261" y="2564517"/>
            <a:ext cx="3650704" cy="36278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442750"/>
            <a:ext cx="8874126"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Times New Roman" panose="02020603050405020304" pitchFamily="18" charset="0"/>
              </a:rPr>
              <a:t>加入皇后数为</a:t>
            </a:r>
            <a:r>
              <a:rPr lang="en-US" altLang="zh-CN" sz="2400" dirty="0">
                <a:solidFill>
                  <a:srgbClr val="080808"/>
                </a:solidFill>
                <a:uFillTx/>
                <a:latin typeface="Times New Roman" panose="02020603050405020304" pitchFamily="18" charset="0"/>
              </a:rPr>
              <a:t>4</a:t>
            </a:r>
            <a:r>
              <a:rPr lang="zh-CN" altLang="en-US" sz="2400" dirty="0">
                <a:solidFill>
                  <a:srgbClr val="080808"/>
                </a:solidFill>
                <a:uFillTx/>
                <a:latin typeface="Times New Roman" panose="02020603050405020304" pitchFamily="18" charset="0"/>
              </a:rPr>
              <a:t>，放在一个</a:t>
            </a:r>
            <a:r>
              <a:rPr lang="en-US" altLang="zh-CN" sz="2400" dirty="0">
                <a:solidFill>
                  <a:srgbClr val="080808"/>
                </a:solidFill>
                <a:uFillTx/>
                <a:latin typeface="Times New Roman" panose="02020603050405020304" pitchFamily="18" charset="0"/>
              </a:rPr>
              <a:t>4X4</a:t>
            </a:r>
            <a:r>
              <a:rPr lang="zh-CN" altLang="en-US" sz="2400" dirty="0">
                <a:solidFill>
                  <a:srgbClr val="080808"/>
                </a:solidFill>
                <a:uFillTx/>
                <a:latin typeface="Times New Roman" panose="02020603050405020304" pitchFamily="18" charset="0"/>
              </a:rPr>
              <a:t>的棋盘上，有多少中方法</a:t>
            </a:r>
            <a:r>
              <a:rPr lang="en-US" altLang="zh-CN" sz="2400" dirty="0">
                <a:solidFill>
                  <a:srgbClr val="080808"/>
                </a:solidFill>
                <a:uFillTx/>
                <a:latin typeface="Times New Roman" panose="02020603050405020304" pitchFamily="18" charset="0"/>
              </a:rPr>
              <a:t>?</a:t>
            </a:r>
            <a:endParaRPr lang="en-US" altLang="zh-CN" sz="2400" dirty="0">
              <a:solidFill>
                <a:srgbClr val="080808"/>
              </a:solidFill>
              <a:uFillTx/>
              <a:latin typeface="Times New Roman" panose="02020603050405020304" pitchFamily="18" charset="0"/>
            </a:endParaRPr>
          </a:p>
        </p:txBody>
      </p:sp>
      <p:graphicFrame>
        <p:nvGraphicFramePr>
          <p:cNvPr id="2" name="表格 1"/>
          <p:cNvGraphicFramePr/>
          <p:nvPr>
            <p:custDataLst>
              <p:tags r:id="rId6"/>
            </p:custDataLst>
          </p:nvPr>
        </p:nvGraphicFramePr>
        <p:xfrm>
          <a:off x="3563620" y="3068955"/>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49" name="表格 48"/>
          <p:cNvGraphicFramePr/>
          <p:nvPr>
            <p:custDataLst>
              <p:tags r:id="rId7"/>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50" name="表格 49"/>
          <p:cNvGraphicFramePr/>
          <p:nvPr>
            <p:custDataLst>
              <p:tags r:id="rId8"/>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0">
                          <a:solidFill>
                            <a:srgbClr val="FF0000"/>
                          </a:solidFill>
                          <a:latin typeface="Times New Roman" panose="02020603050405020304" pitchFamily="18" charset="0"/>
                          <a:cs typeface="Times New Roman" panose="02020603050405020304" pitchFamily="18" charset="0"/>
                        </a:rPr>
                        <a:t>X</a:t>
                      </a: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pSp>
        <p:nvGrpSpPr>
          <p:cNvPr id="64" name="组合 63"/>
          <p:cNvGrpSpPr/>
          <p:nvPr/>
        </p:nvGrpSpPr>
        <p:grpSpPr>
          <a:xfrm>
            <a:off x="3191510" y="1988820"/>
            <a:ext cx="5363210" cy="3522345"/>
            <a:chOff x="5813" y="3245"/>
            <a:chExt cx="8446" cy="5547"/>
          </a:xfrm>
        </p:grpSpPr>
        <p:sp>
          <p:nvSpPr>
            <p:cNvPr id="8" name="椭圆 7"/>
            <p:cNvSpPr/>
            <p:nvPr/>
          </p:nvSpPr>
          <p:spPr>
            <a:xfrm>
              <a:off x="11282" y="324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1" name="直接箭头连接符 10"/>
            <p:cNvCxnSpPr>
              <a:stCxn id="8" idx="4"/>
            </p:cNvCxnSpPr>
            <p:nvPr/>
          </p:nvCxnSpPr>
          <p:spPr>
            <a:xfrm flipH="1">
              <a:off x="8788" y="3868"/>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4" name="直接箭头连接符 13"/>
            <p:cNvCxnSpPr>
              <a:stCxn id="8" idx="4"/>
            </p:cNvCxnSpPr>
            <p:nvPr/>
          </p:nvCxnSpPr>
          <p:spPr>
            <a:xfrm flipH="1">
              <a:off x="10602" y="3868"/>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8" idx="4"/>
            </p:cNvCxnSpPr>
            <p:nvPr/>
          </p:nvCxnSpPr>
          <p:spPr>
            <a:xfrm>
              <a:off x="11750" y="3868"/>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8" name="直接箭头连接符 27"/>
            <p:cNvCxnSpPr>
              <a:stCxn id="8" idx="4"/>
            </p:cNvCxnSpPr>
            <p:nvPr/>
          </p:nvCxnSpPr>
          <p:spPr>
            <a:xfrm>
              <a:off x="11750" y="3868"/>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8334"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10148"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11850"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3" name="椭圆 32"/>
            <p:cNvSpPr/>
            <p:nvPr/>
          </p:nvSpPr>
          <p:spPr>
            <a:xfrm>
              <a:off x="13324"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4" name="直接箭头连接符 33"/>
            <p:cNvCxnSpPr/>
            <p:nvPr/>
          </p:nvCxnSpPr>
          <p:spPr>
            <a:xfrm flipH="1">
              <a:off x="5813" y="5457"/>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7627" y="5457"/>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8775" y="5457"/>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8775" y="5457"/>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8902"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10376"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3" name="直接箭头连接符 42"/>
            <p:cNvCxnSpPr/>
            <p:nvPr/>
          </p:nvCxnSpPr>
          <p:spPr>
            <a:xfrm flipH="1">
              <a:off x="9014" y="7051"/>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4" name="直接箭头连接符 43"/>
            <p:cNvCxnSpPr/>
            <p:nvPr/>
          </p:nvCxnSpPr>
          <p:spPr>
            <a:xfrm flipH="1">
              <a:off x="9276" y="7051"/>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5" name="直接箭头连接符 44"/>
            <p:cNvCxnSpPr/>
            <p:nvPr/>
          </p:nvCxnSpPr>
          <p:spPr>
            <a:xfrm>
              <a:off x="9355" y="7051"/>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6" name="直接箭头连接符 45"/>
            <p:cNvCxnSpPr/>
            <p:nvPr/>
          </p:nvCxnSpPr>
          <p:spPr>
            <a:xfrm>
              <a:off x="9355" y="7051"/>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1" name="直接箭头连接符 50"/>
            <p:cNvCxnSpPr/>
            <p:nvPr/>
          </p:nvCxnSpPr>
          <p:spPr>
            <a:xfrm flipH="1">
              <a:off x="7867" y="7059"/>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2" name="直接箭头连接符 51"/>
            <p:cNvCxnSpPr/>
            <p:nvPr/>
          </p:nvCxnSpPr>
          <p:spPr>
            <a:xfrm flipH="1">
              <a:off x="9681" y="7059"/>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3" name="直接箭头连接符 52"/>
            <p:cNvCxnSpPr/>
            <p:nvPr/>
          </p:nvCxnSpPr>
          <p:spPr>
            <a:xfrm>
              <a:off x="10829" y="7059"/>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4" name="直接箭头连接符 53"/>
            <p:cNvCxnSpPr/>
            <p:nvPr/>
          </p:nvCxnSpPr>
          <p:spPr>
            <a:xfrm>
              <a:off x="10829" y="7059"/>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8" name="椭圆 57"/>
            <p:cNvSpPr/>
            <p:nvPr/>
          </p:nvSpPr>
          <p:spPr>
            <a:xfrm>
              <a:off x="9213" y="799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59" name="直接箭头连接符 58"/>
            <p:cNvCxnSpPr/>
            <p:nvPr/>
          </p:nvCxnSpPr>
          <p:spPr>
            <a:xfrm flipH="1">
              <a:off x="9325" y="8617"/>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箭头连接符 59"/>
            <p:cNvCxnSpPr/>
            <p:nvPr/>
          </p:nvCxnSpPr>
          <p:spPr>
            <a:xfrm flipH="1">
              <a:off x="9587" y="8617"/>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1" name="直接箭头连接符 60"/>
            <p:cNvCxnSpPr/>
            <p:nvPr/>
          </p:nvCxnSpPr>
          <p:spPr>
            <a:xfrm>
              <a:off x="9666" y="8617"/>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2" name="直接箭头连接符 61"/>
            <p:cNvCxnSpPr/>
            <p:nvPr/>
          </p:nvCxnSpPr>
          <p:spPr>
            <a:xfrm>
              <a:off x="9666" y="8617"/>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pSp>
      <p:sp>
        <p:nvSpPr>
          <p:cNvPr id="66" name="文本框 65"/>
          <p:cNvSpPr txBox="1"/>
          <p:nvPr/>
        </p:nvSpPr>
        <p:spPr>
          <a:xfrm>
            <a:off x="3940810"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7" name="文本框 66"/>
          <p:cNvSpPr txBox="1"/>
          <p:nvPr/>
        </p:nvSpPr>
        <p:spPr>
          <a:xfrm>
            <a:off x="4506595"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9" name="文本框 68"/>
          <p:cNvSpPr txBox="1"/>
          <p:nvPr/>
        </p:nvSpPr>
        <p:spPr>
          <a:xfrm>
            <a:off x="5296535" y="428117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1" name="文本框 70"/>
          <p:cNvSpPr txBox="1"/>
          <p:nvPr/>
        </p:nvSpPr>
        <p:spPr>
          <a:xfrm>
            <a:off x="709549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2" name="文本框 71"/>
          <p:cNvSpPr txBox="1"/>
          <p:nvPr/>
        </p:nvSpPr>
        <p:spPr>
          <a:xfrm>
            <a:off x="644906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3" name="文本框 72"/>
          <p:cNvSpPr txBox="1"/>
          <p:nvPr/>
        </p:nvSpPr>
        <p:spPr>
          <a:xfrm>
            <a:off x="4648835" y="475996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4" name="表格 73"/>
          <p:cNvGraphicFramePr/>
          <p:nvPr>
            <p:custDataLst>
              <p:tags r:id="rId9"/>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75" name="文本框 74"/>
          <p:cNvSpPr txBox="1"/>
          <p:nvPr/>
        </p:nvSpPr>
        <p:spPr>
          <a:xfrm>
            <a:off x="5487670" y="53009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8" name="表格 77"/>
          <p:cNvGraphicFramePr/>
          <p:nvPr>
            <p:custDataLst>
              <p:tags r:id="rId10"/>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Q3</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79" name="表格 78"/>
          <p:cNvGraphicFramePr/>
          <p:nvPr>
            <p:custDataLst>
              <p:tags r:id="rId11"/>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534722 -0.00138889 L -0.750625 0.00444444 " pathEditMode="relative" rAng="0" ptsTypes="">
                                      <p:cBhvr>
                                        <p:cTn id="6" dur="2000" fill="hold"/>
                                        <p:tgtEl>
                                          <p:spTgt spid="2"/>
                                        </p:tgtEl>
                                        <p:attrNameLst>
                                          <p:attrName>ppt_x</p:attrName>
                                          <p:attrName>ppt_y</p:attrName>
                                        </p:attrNameLst>
                                      </p:cBhvr>
                                      <p:rCtr x="-377" y="-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64"/>
                                        </p:tgtEl>
                                        <p:attrNameLst>
                                          <p:attrName>style.visibility</p:attrName>
                                        </p:attrNameLst>
                                      </p:cBhvr>
                                      <p:to>
                                        <p:strVal val="visible"/>
                                      </p:to>
                                    </p:set>
                                    <p:anim calcmode="lin" valueType="num">
                                      <p:cBhvr additive="base">
                                        <p:cTn id="11" dur="500" fill="hold"/>
                                        <p:tgtEl>
                                          <p:spTgt spid="64"/>
                                        </p:tgtEl>
                                        <p:attrNameLst>
                                          <p:attrName>ppt_x</p:attrName>
                                        </p:attrNameLst>
                                      </p:cBhvr>
                                      <p:tavLst>
                                        <p:tav tm="0">
                                          <p:val>
                                            <p:strVal val="#ppt_x"/>
                                          </p:val>
                                        </p:tav>
                                        <p:tav tm="100000">
                                          <p:val>
                                            <p:strVal val="#ppt_x"/>
                                          </p:val>
                                        </p:tav>
                                      </p:tavLst>
                                    </p:anim>
                                    <p:anim calcmode="lin" valueType="num">
                                      <p:cBhvr additive="base">
                                        <p:cTn id="12"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
                                        </p:tgtEl>
                                        <p:attrNameLst>
                                          <p:attrName>style.visibility</p:attrName>
                                        </p:attrNameLst>
                                      </p:cBhvr>
                                      <p:to>
                                        <p:strVal val="visible"/>
                                      </p:to>
                                    </p:set>
                                    <p:anim calcmode="lin" valueType="num">
                                      <p:cBhvr additive="base">
                                        <p:cTn id="21" dur="500" fill="hold"/>
                                        <p:tgtEl>
                                          <p:spTgt spid="67"/>
                                        </p:tgtEl>
                                        <p:attrNameLst>
                                          <p:attrName>ppt_x</p:attrName>
                                        </p:attrNameLst>
                                      </p:cBhvr>
                                      <p:tavLst>
                                        <p:tav tm="0">
                                          <p:val>
                                            <p:strVal val="#ppt_x"/>
                                          </p:val>
                                        </p:tav>
                                        <p:tav tm="100000">
                                          <p:val>
                                            <p:strVal val="#ppt_x"/>
                                          </p:val>
                                        </p:tav>
                                      </p:tavLst>
                                    </p:anim>
                                    <p:anim calcmode="lin" valueType="num">
                                      <p:cBhvr additive="base">
                                        <p:cTn id="22"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additive="base">
                                        <p:cTn id="27" dur="500" fill="hold"/>
                                        <p:tgtEl>
                                          <p:spTgt spid="49"/>
                                        </p:tgtEl>
                                        <p:attrNameLst>
                                          <p:attrName>ppt_x</p:attrName>
                                        </p:attrNameLst>
                                      </p:cBhvr>
                                      <p:tavLst>
                                        <p:tav tm="0">
                                          <p:val>
                                            <p:strVal val="#ppt_x"/>
                                          </p:val>
                                        </p:tav>
                                        <p:tav tm="100000">
                                          <p:val>
                                            <p:strVal val="#ppt_x"/>
                                          </p:val>
                                        </p:tav>
                                      </p:tavLst>
                                    </p:anim>
                                    <p:anim calcmode="lin" valueType="num">
                                      <p:cBhvr additive="base">
                                        <p:cTn id="28"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nodeType="clickEffect">
                                  <p:stCondLst>
                                    <p:cond delay="0"/>
                                  </p:stCondLst>
                                  <p:childTnLst>
                                    <p:anim calcmode="lin" valueType="num">
                                      <p:cBhvr additive="base">
                                        <p:cTn id="32" dur="500"/>
                                        <p:tgtEl>
                                          <p:spTgt spid="49"/>
                                        </p:tgtEl>
                                        <p:attrNameLst>
                                          <p:attrName>ppt_x</p:attrName>
                                        </p:attrNameLst>
                                      </p:cBhvr>
                                      <p:tavLst>
                                        <p:tav tm="0">
                                          <p:val>
                                            <p:strVal val="ppt_x"/>
                                          </p:val>
                                        </p:tav>
                                        <p:tav tm="100000">
                                          <p:val>
                                            <p:strVal val="ppt_x"/>
                                          </p:val>
                                        </p:tav>
                                      </p:tavLst>
                                    </p:anim>
                                    <p:anim calcmode="lin" valueType="num">
                                      <p:cBhvr additive="base">
                                        <p:cTn id="33" dur="500"/>
                                        <p:tgtEl>
                                          <p:spTgt spid="49"/>
                                        </p:tgtEl>
                                        <p:attrNameLst>
                                          <p:attrName>ppt_y</p:attrName>
                                        </p:attrNameLst>
                                      </p:cBhvr>
                                      <p:tavLst>
                                        <p:tav tm="0">
                                          <p:val>
                                            <p:strVal val="ppt_y"/>
                                          </p:val>
                                        </p:tav>
                                        <p:tav tm="100000">
                                          <p:val>
                                            <p:strVal val="1+ppt_h/2"/>
                                          </p:val>
                                        </p:tav>
                                      </p:tavLst>
                                    </p:anim>
                                    <p:set>
                                      <p:cBhvr>
                                        <p:cTn id="34" dur="1" fill="hold">
                                          <p:stCondLst>
                                            <p:cond delay="499"/>
                                          </p:stCondLst>
                                        </p:cTn>
                                        <p:tgtEl>
                                          <p:spTgt spid="4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69"/>
                                        </p:tgtEl>
                                        <p:attrNameLst>
                                          <p:attrName>style.visibility</p:attrName>
                                        </p:attrNameLst>
                                      </p:cBhvr>
                                      <p:to>
                                        <p:strVal val="visible"/>
                                      </p:to>
                                    </p:set>
                                    <p:anim calcmode="lin" valueType="num">
                                      <p:cBhvr additive="base">
                                        <p:cTn id="39" dur="500" fill="hold"/>
                                        <p:tgtEl>
                                          <p:spTgt spid="69"/>
                                        </p:tgtEl>
                                        <p:attrNameLst>
                                          <p:attrName>ppt_x</p:attrName>
                                        </p:attrNameLst>
                                      </p:cBhvr>
                                      <p:tavLst>
                                        <p:tav tm="0">
                                          <p:val>
                                            <p:strVal val="#ppt_x"/>
                                          </p:val>
                                        </p:tav>
                                        <p:tav tm="100000">
                                          <p:val>
                                            <p:strVal val="#ppt_x"/>
                                          </p:val>
                                        </p:tav>
                                      </p:tavLst>
                                    </p:anim>
                                    <p:anim calcmode="lin" valueType="num">
                                      <p:cBhvr additive="base">
                                        <p:cTn id="40" dur="500" fill="hold"/>
                                        <p:tgtEl>
                                          <p:spTgt spid="69"/>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0"/>
                                        </p:tgtEl>
                                        <p:attrNameLst>
                                          <p:attrName>style.visibility</p:attrName>
                                        </p:attrNameLst>
                                      </p:cBhvr>
                                      <p:to>
                                        <p:strVal val="visible"/>
                                      </p:to>
                                    </p:set>
                                    <p:anim calcmode="lin" valueType="num">
                                      <p:cBhvr additive="base">
                                        <p:cTn id="45" dur="500" fill="hold"/>
                                        <p:tgtEl>
                                          <p:spTgt spid="50"/>
                                        </p:tgtEl>
                                        <p:attrNameLst>
                                          <p:attrName>ppt_x</p:attrName>
                                        </p:attrNameLst>
                                      </p:cBhvr>
                                      <p:tavLst>
                                        <p:tav tm="0">
                                          <p:val>
                                            <p:strVal val="#ppt_x"/>
                                          </p:val>
                                        </p:tav>
                                        <p:tav tm="100000">
                                          <p:val>
                                            <p:strVal val="#ppt_x"/>
                                          </p:val>
                                        </p:tav>
                                      </p:tavLst>
                                    </p:anim>
                                    <p:anim calcmode="lin" valueType="num">
                                      <p:cBhvr additive="base">
                                        <p:cTn id="46" dur="500" fill="hold"/>
                                        <p:tgtEl>
                                          <p:spTgt spid="5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xit" presetSubtype="4" fill="hold" nodeType="clickEffect">
                                  <p:stCondLst>
                                    <p:cond delay="0"/>
                                  </p:stCondLst>
                                  <p:childTnLst>
                                    <p:anim calcmode="lin" valueType="num">
                                      <p:cBhvr additive="base">
                                        <p:cTn id="50" dur="500"/>
                                        <p:tgtEl>
                                          <p:spTgt spid="50"/>
                                        </p:tgtEl>
                                        <p:attrNameLst>
                                          <p:attrName>ppt_x</p:attrName>
                                        </p:attrNameLst>
                                      </p:cBhvr>
                                      <p:tavLst>
                                        <p:tav tm="0">
                                          <p:val>
                                            <p:strVal val="ppt_x"/>
                                          </p:val>
                                        </p:tav>
                                        <p:tav tm="100000">
                                          <p:val>
                                            <p:strVal val="ppt_x"/>
                                          </p:val>
                                        </p:tav>
                                      </p:tavLst>
                                    </p:anim>
                                    <p:anim calcmode="lin" valueType="num">
                                      <p:cBhvr additive="base">
                                        <p:cTn id="51" dur="500"/>
                                        <p:tgtEl>
                                          <p:spTgt spid="50"/>
                                        </p:tgtEl>
                                        <p:attrNameLst>
                                          <p:attrName>ppt_y</p:attrName>
                                        </p:attrNameLst>
                                      </p:cBhvr>
                                      <p:tavLst>
                                        <p:tav tm="0">
                                          <p:val>
                                            <p:strVal val="ppt_y"/>
                                          </p:val>
                                        </p:tav>
                                        <p:tav tm="100000">
                                          <p:val>
                                            <p:strVal val="1+ppt_h/2"/>
                                          </p:val>
                                        </p:tav>
                                      </p:tavLst>
                                    </p:anim>
                                    <p:set>
                                      <p:cBhvr>
                                        <p:cTn id="52" dur="1" fill="hold">
                                          <p:stCondLst>
                                            <p:cond delay="499"/>
                                          </p:stCondLst>
                                        </p:cTn>
                                        <p:tgtEl>
                                          <p:spTgt spid="50"/>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73"/>
                                        </p:tgtEl>
                                        <p:attrNameLst>
                                          <p:attrName>style.visibility</p:attrName>
                                        </p:attrNameLst>
                                      </p:cBhvr>
                                      <p:to>
                                        <p:strVal val="visible"/>
                                      </p:to>
                                    </p:set>
                                    <p:anim calcmode="lin" valueType="num">
                                      <p:cBhvr additive="base">
                                        <p:cTn id="57" dur="500" fill="hold"/>
                                        <p:tgtEl>
                                          <p:spTgt spid="73"/>
                                        </p:tgtEl>
                                        <p:attrNameLst>
                                          <p:attrName>ppt_x</p:attrName>
                                        </p:attrNameLst>
                                      </p:cBhvr>
                                      <p:tavLst>
                                        <p:tav tm="0">
                                          <p:val>
                                            <p:strVal val="#ppt_x"/>
                                          </p:val>
                                        </p:tav>
                                        <p:tav tm="100000">
                                          <p:val>
                                            <p:strVal val="#ppt_x"/>
                                          </p:val>
                                        </p:tav>
                                      </p:tavLst>
                                    </p:anim>
                                    <p:anim calcmode="lin" valueType="num">
                                      <p:cBhvr additive="base">
                                        <p:cTn id="5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nodeType="clickEffect">
                                  <p:stCondLst>
                                    <p:cond delay="0"/>
                                  </p:stCondLst>
                                  <p:childTnLst>
                                    <p:set>
                                      <p:cBhvr>
                                        <p:cTn id="62" dur="1" fill="hold">
                                          <p:stCondLst>
                                            <p:cond delay="0"/>
                                          </p:stCondLst>
                                        </p:cTn>
                                        <p:tgtEl>
                                          <p:spTgt spid="74"/>
                                        </p:tgtEl>
                                        <p:attrNameLst>
                                          <p:attrName>style.visibility</p:attrName>
                                        </p:attrNameLst>
                                      </p:cBhvr>
                                      <p:to>
                                        <p:strVal val="visible"/>
                                      </p:to>
                                    </p:set>
                                    <p:anim calcmode="lin" valueType="num">
                                      <p:cBhvr additive="base">
                                        <p:cTn id="63" dur="500" fill="hold"/>
                                        <p:tgtEl>
                                          <p:spTgt spid="74"/>
                                        </p:tgtEl>
                                        <p:attrNameLst>
                                          <p:attrName>ppt_x</p:attrName>
                                        </p:attrNameLst>
                                      </p:cBhvr>
                                      <p:tavLst>
                                        <p:tav tm="0">
                                          <p:val>
                                            <p:strVal val="#ppt_x"/>
                                          </p:val>
                                        </p:tav>
                                        <p:tav tm="100000">
                                          <p:val>
                                            <p:strVal val="#ppt_x"/>
                                          </p:val>
                                        </p:tav>
                                      </p:tavLst>
                                    </p:anim>
                                    <p:anim calcmode="lin" valueType="num">
                                      <p:cBhvr additive="base">
                                        <p:cTn id="64"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xit" presetSubtype="4" fill="hold" nodeType="clickEffect">
                                  <p:stCondLst>
                                    <p:cond delay="0"/>
                                  </p:stCondLst>
                                  <p:childTnLst>
                                    <p:anim calcmode="lin" valueType="num">
                                      <p:cBhvr additive="base">
                                        <p:cTn id="68" dur="500"/>
                                        <p:tgtEl>
                                          <p:spTgt spid="74"/>
                                        </p:tgtEl>
                                        <p:attrNameLst>
                                          <p:attrName>ppt_x</p:attrName>
                                        </p:attrNameLst>
                                      </p:cBhvr>
                                      <p:tavLst>
                                        <p:tav tm="0">
                                          <p:val>
                                            <p:strVal val="ppt_x"/>
                                          </p:val>
                                        </p:tav>
                                        <p:tav tm="100000">
                                          <p:val>
                                            <p:strVal val="ppt_x"/>
                                          </p:val>
                                        </p:tav>
                                      </p:tavLst>
                                    </p:anim>
                                    <p:anim calcmode="lin" valueType="num">
                                      <p:cBhvr additive="base">
                                        <p:cTn id="69" dur="500"/>
                                        <p:tgtEl>
                                          <p:spTgt spid="74"/>
                                        </p:tgtEl>
                                        <p:attrNameLst>
                                          <p:attrName>ppt_y</p:attrName>
                                        </p:attrNameLst>
                                      </p:cBhvr>
                                      <p:tavLst>
                                        <p:tav tm="0">
                                          <p:val>
                                            <p:strVal val="ppt_y"/>
                                          </p:val>
                                        </p:tav>
                                        <p:tav tm="100000">
                                          <p:val>
                                            <p:strVal val="1+ppt_h/2"/>
                                          </p:val>
                                        </p:tav>
                                      </p:tavLst>
                                    </p:anim>
                                    <p:set>
                                      <p:cBhvr>
                                        <p:cTn id="70" dur="1" fill="hold">
                                          <p:stCondLst>
                                            <p:cond delay="499"/>
                                          </p:stCondLst>
                                        </p:cTn>
                                        <p:tgtEl>
                                          <p:spTgt spid="7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grpId="0" nodeType="clickEffect">
                                  <p:stCondLst>
                                    <p:cond delay="0"/>
                                  </p:stCondLst>
                                  <p:childTnLst>
                                    <p:set>
                                      <p:cBhvr>
                                        <p:cTn id="74" dur="1" fill="hold">
                                          <p:stCondLst>
                                            <p:cond delay="0"/>
                                          </p:stCondLst>
                                        </p:cTn>
                                        <p:tgtEl>
                                          <p:spTgt spid="75"/>
                                        </p:tgtEl>
                                        <p:attrNameLst>
                                          <p:attrName>style.visibility</p:attrName>
                                        </p:attrNameLst>
                                      </p:cBhvr>
                                      <p:to>
                                        <p:strVal val="visible"/>
                                      </p:to>
                                    </p:set>
                                    <p:anim calcmode="lin" valueType="num">
                                      <p:cBhvr additive="base">
                                        <p:cTn id="75" dur="500" fill="hold"/>
                                        <p:tgtEl>
                                          <p:spTgt spid="75"/>
                                        </p:tgtEl>
                                        <p:attrNameLst>
                                          <p:attrName>ppt_x</p:attrName>
                                        </p:attrNameLst>
                                      </p:cBhvr>
                                      <p:tavLst>
                                        <p:tav tm="0">
                                          <p:val>
                                            <p:strVal val="#ppt_x"/>
                                          </p:val>
                                        </p:tav>
                                        <p:tav tm="100000">
                                          <p:val>
                                            <p:strVal val="#ppt_x"/>
                                          </p:val>
                                        </p:tav>
                                      </p:tavLst>
                                    </p:anim>
                                    <p:anim calcmode="lin" valueType="num">
                                      <p:cBhvr additive="base">
                                        <p:cTn id="76"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nodeType="clickEffect">
                                  <p:stCondLst>
                                    <p:cond delay="0"/>
                                  </p:stCondLst>
                                  <p:childTnLst>
                                    <p:set>
                                      <p:cBhvr>
                                        <p:cTn id="80" dur="1" fill="hold">
                                          <p:stCondLst>
                                            <p:cond delay="0"/>
                                          </p:stCondLst>
                                        </p:cTn>
                                        <p:tgtEl>
                                          <p:spTgt spid="78"/>
                                        </p:tgtEl>
                                        <p:attrNameLst>
                                          <p:attrName>style.visibility</p:attrName>
                                        </p:attrNameLst>
                                      </p:cBhvr>
                                      <p:to>
                                        <p:strVal val="visible"/>
                                      </p:to>
                                    </p:set>
                                    <p:anim calcmode="lin" valueType="num">
                                      <p:cBhvr additive="base">
                                        <p:cTn id="81" dur="500" fill="hold"/>
                                        <p:tgtEl>
                                          <p:spTgt spid="78"/>
                                        </p:tgtEl>
                                        <p:attrNameLst>
                                          <p:attrName>ppt_x</p:attrName>
                                        </p:attrNameLst>
                                      </p:cBhvr>
                                      <p:tavLst>
                                        <p:tav tm="0">
                                          <p:val>
                                            <p:strVal val="#ppt_x"/>
                                          </p:val>
                                        </p:tav>
                                        <p:tav tm="100000">
                                          <p:val>
                                            <p:strVal val="#ppt_x"/>
                                          </p:val>
                                        </p:tav>
                                      </p:tavLst>
                                    </p:anim>
                                    <p:anim calcmode="lin" valueType="num">
                                      <p:cBhvr additive="base">
                                        <p:cTn id="82"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78"/>
                                        </p:tgtEl>
                                        <p:attrNameLst>
                                          <p:attrName>ppt_x</p:attrName>
                                        </p:attrNameLst>
                                      </p:cBhvr>
                                      <p:tavLst>
                                        <p:tav tm="0">
                                          <p:val>
                                            <p:strVal val="ppt_x"/>
                                          </p:val>
                                        </p:tav>
                                        <p:tav tm="100000">
                                          <p:val>
                                            <p:strVal val="ppt_x"/>
                                          </p:val>
                                        </p:tav>
                                      </p:tavLst>
                                    </p:anim>
                                    <p:anim calcmode="lin" valueType="num">
                                      <p:cBhvr additive="base">
                                        <p:cTn id="87" dur="500"/>
                                        <p:tgtEl>
                                          <p:spTgt spid="78"/>
                                        </p:tgtEl>
                                        <p:attrNameLst>
                                          <p:attrName>ppt_y</p:attrName>
                                        </p:attrNameLst>
                                      </p:cBhvr>
                                      <p:tavLst>
                                        <p:tav tm="0">
                                          <p:val>
                                            <p:strVal val="ppt_y"/>
                                          </p:val>
                                        </p:tav>
                                        <p:tav tm="100000">
                                          <p:val>
                                            <p:strVal val="1+ppt_h/2"/>
                                          </p:val>
                                        </p:tav>
                                      </p:tavLst>
                                    </p:anim>
                                    <p:set>
                                      <p:cBhvr>
                                        <p:cTn id="88" dur="1" fill="hold">
                                          <p:stCondLst>
                                            <p:cond delay="499"/>
                                          </p:stCondLst>
                                        </p:cTn>
                                        <p:tgtEl>
                                          <p:spTgt spid="78"/>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2"/>
                                        </p:tgtEl>
                                        <p:attrNameLst>
                                          <p:attrName>style.visibility</p:attrName>
                                        </p:attrNameLst>
                                      </p:cBhvr>
                                      <p:to>
                                        <p:strVal val="visible"/>
                                      </p:to>
                                    </p:set>
                                    <p:anim calcmode="lin" valueType="num">
                                      <p:cBhvr additive="base">
                                        <p:cTn id="93" dur="500" fill="hold"/>
                                        <p:tgtEl>
                                          <p:spTgt spid="72"/>
                                        </p:tgtEl>
                                        <p:attrNameLst>
                                          <p:attrName>ppt_x</p:attrName>
                                        </p:attrNameLst>
                                      </p:cBhvr>
                                      <p:tavLst>
                                        <p:tav tm="0">
                                          <p:val>
                                            <p:strVal val="#ppt_x"/>
                                          </p:val>
                                        </p:tav>
                                        <p:tav tm="100000">
                                          <p:val>
                                            <p:strVal val="#ppt_x"/>
                                          </p:val>
                                        </p:tav>
                                      </p:tavLst>
                                    </p:anim>
                                    <p:anim calcmode="lin" valueType="num">
                                      <p:cBhvr additive="base">
                                        <p:cTn id="94" dur="500" fill="hold"/>
                                        <p:tgtEl>
                                          <p:spTgt spid="72"/>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71"/>
                                        </p:tgtEl>
                                        <p:attrNameLst>
                                          <p:attrName>style.visibility</p:attrName>
                                        </p:attrNameLst>
                                      </p:cBhvr>
                                      <p:to>
                                        <p:strVal val="visible"/>
                                      </p:to>
                                    </p:set>
                                    <p:anim calcmode="lin" valueType="num">
                                      <p:cBhvr additive="base">
                                        <p:cTn id="97" dur="500" fill="hold"/>
                                        <p:tgtEl>
                                          <p:spTgt spid="71"/>
                                        </p:tgtEl>
                                        <p:attrNameLst>
                                          <p:attrName>ppt_x</p:attrName>
                                        </p:attrNameLst>
                                      </p:cBhvr>
                                      <p:tavLst>
                                        <p:tav tm="0">
                                          <p:val>
                                            <p:strVal val="#ppt_x"/>
                                          </p:val>
                                        </p:tav>
                                        <p:tav tm="100000">
                                          <p:val>
                                            <p:strVal val="#ppt_x"/>
                                          </p:val>
                                        </p:tav>
                                      </p:tavLst>
                                    </p:anim>
                                    <p:anim calcmode="lin" valueType="num">
                                      <p:cBhvr additive="base">
                                        <p:cTn id="98" dur="500" fill="hold"/>
                                        <p:tgtEl>
                                          <p:spTgt spid="71"/>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79"/>
                                        </p:tgtEl>
                                        <p:attrNameLst>
                                          <p:attrName>style.visibility</p:attrName>
                                        </p:attrNameLst>
                                      </p:cBhvr>
                                      <p:to>
                                        <p:strVal val="visible"/>
                                      </p:to>
                                    </p:set>
                                    <p:anim calcmode="lin" valueType="num">
                                      <p:cBhvr additive="base">
                                        <p:cTn id="103" dur="500" fill="hold"/>
                                        <p:tgtEl>
                                          <p:spTgt spid="79"/>
                                        </p:tgtEl>
                                        <p:attrNameLst>
                                          <p:attrName>ppt_x</p:attrName>
                                        </p:attrNameLst>
                                      </p:cBhvr>
                                      <p:tavLst>
                                        <p:tav tm="0">
                                          <p:val>
                                            <p:strVal val="#ppt_x"/>
                                          </p:val>
                                        </p:tav>
                                        <p:tav tm="100000">
                                          <p:val>
                                            <p:strVal val="#ppt_x"/>
                                          </p:val>
                                        </p:tav>
                                      </p:tavLst>
                                    </p:anim>
                                    <p:anim calcmode="lin" valueType="num">
                                      <p:cBhvr additive="base">
                                        <p:cTn id="104"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nodeType="clickEffect">
                                  <p:stCondLst>
                                    <p:cond delay="0"/>
                                  </p:stCondLst>
                                  <p:childTnLst>
                                    <p:anim calcmode="lin" valueType="num">
                                      <p:cBhvr additive="base">
                                        <p:cTn id="108" dur="500"/>
                                        <p:tgtEl>
                                          <p:spTgt spid="79"/>
                                        </p:tgtEl>
                                        <p:attrNameLst>
                                          <p:attrName>ppt_x</p:attrName>
                                        </p:attrNameLst>
                                      </p:cBhvr>
                                      <p:tavLst>
                                        <p:tav tm="0">
                                          <p:val>
                                            <p:strVal val="ppt_x"/>
                                          </p:val>
                                        </p:tav>
                                        <p:tav tm="100000">
                                          <p:val>
                                            <p:strVal val="ppt_x"/>
                                          </p:val>
                                        </p:tav>
                                      </p:tavLst>
                                    </p:anim>
                                    <p:anim calcmode="lin" valueType="num">
                                      <p:cBhvr additive="base">
                                        <p:cTn id="109" dur="500"/>
                                        <p:tgtEl>
                                          <p:spTgt spid="79"/>
                                        </p:tgtEl>
                                        <p:attrNameLst>
                                          <p:attrName>ppt_y</p:attrName>
                                        </p:attrNameLst>
                                      </p:cBhvr>
                                      <p:tavLst>
                                        <p:tav tm="0">
                                          <p:val>
                                            <p:strVal val="ppt_y"/>
                                          </p:val>
                                        </p:tav>
                                        <p:tav tm="100000">
                                          <p:val>
                                            <p:strVal val="1+ppt_h/2"/>
                                          </p:val>
                                        </p:tav>
                                      </p:tavLst>
                                    </p:anim>
                                    <p:set>
                                      <p:cBhvr>
                                        <p:cTn id="110" dur="1" fill="hold">
                                          <p:stCondLst>
                                            <p:cond delay="499"/>
                                          </p:stCondLst>
                                        </p:cTn>
                                        <p:tgtEl>
                                          <p:spTgt spid="7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9" grpId="0"/>
      <p:bldP spid="73" grpId="0"/>
      <p:bldP spid="75" grpId="0"/>
      <p:bldP spid="72" grpId="0"/>
      <p:bldP spid="7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6" name="文本框 5"/>
          <p:cNvSpPr txBox="1"/>
          <p:nvPr/>
        </p:nvSpPr>
        <p:spPr>
          <a:xfrm>
            <a:off x="755650" y="1083310"/>
            <a:ext cx="5606415" cy="405765"/>
          </a:xfrm>
          <a:prstGeom prst="rect">
            <a:avLst/>
          </a:prstGeom>
          <a:noFill/>
        </p:spPr>
        <p:txBody>
          <a:bodyPr>
            <a:noAutofit/>
          </a:bodyPr>
          <a:p>
            <a:pPr>
              <a:defRPr/>
            </a:pPr>
            <a:r>
              <a:rPr lang="en-US" altLang="zh-CN" sz="1800">
                <a:solidFill>
                  <a:srgbClr val="000066"/>
                </a:solidFill>
                <a:uFillTx/>
                <a:latin typeface="Times New Roman" panose="02020603050405020304" pitchFamily="18" charset="0"/>
              </a:rPr>
              <a:t>n</a:t>
            </a:r>
            <a:r>
              <a:rPr lang="zh-CN" altLang="en-US" sz="1800">
                <a:solidFill>
                  <a:srgbClr val="000066"/>
                </a:solidFill>
                <a:uFillTx/>
                <a:latin typeface="Times New Roman" panose="02020603050405020304" pitchFamily="18" charset="0"/>
              </a:rPr>
              <a:t>皇后模板</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3273425" y="170053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现在问题的关键是，如何找到合适的方法来剪枝？</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aphicFrame>
        <p:nvGraphicFramePr>
          <p:cNvPr id="79" name="表格 78"/>
          <p:cNvGraphicFramePr/>
          <p:nvPr>
            <p:custDataLst>
              <p:tags r:id="rId1"/>
            </p:custDataLst>
          </p:nvPr>
        </p:nvGraphicFramePr>
        <p:xfrm>
          <a:off x="5723890" y="3140710"/>
          <a:ext cx="2062480" cy="1539240"/>
        </p:xfrm>
        <a:graphic>
          <a:graphicData uri="http://schemas.openxmlformats.org/drawingml/2006/table">
            <a:tbl>
              <a:tblPr firstRow="1" bandRow="1">
                <a:tableStyleId>{5C22544A-7EE6-4342-B048-85BDC9FD1C3A}</a:tableStyleId>
              </a:tblPr>
              <a:tblGrid>
                <a:gridCol w="515620"/>
                <a:gridCol w="515620"/>
                <a:gridCol w="515620"/>
                <a:gridCol w="515620"/>
              </a:tblGrid>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3" name="文本框 2"/>
          <p:cNvSpPr txBox="1"/>
          <p:nvPr/>
        </p:nvSpPr>
        <p:spPr>
          <a:xfrm>
            <a:off x="539115" y="1268730"/>
            <a:ext cx="7682230" cy="504190"/>
          </a:xfrm>
          <a:prstGeom prst="rect">
            <a:avLst/>
          </a:prstGeom>
          <a:noFill/>
        </p:spPr>
        <p:txBody>
          <a:bodyPr wrap="square" rtlCol="0">
            <a:noAutofit/>
          </a:bodyPr>
          <a:p>
            <a:r>
              <a:rPr lang="zh-CN" altLang="en-US"/>
              <a:t>因为，行是递归深度，每次都考虑一个所以不需要考虑行的剪枝</a:t>
            </a:r>
            <a:r>
              <a:rPr lang="zh-CN" altLang="en-US"/>
              <a:t>判断。</a:t>
            </a:r>
            <a:endParaRPr lang="zh-CN" altLang="en-US"/>
          </a:p>
        </p:txBody>
      </p:sp>
      <p:sp>
        <p:nvSpPr>
          <p:cNvPr id="5" name="文本框 4"/>
          <p:cNvSpPr txBox="1"/>
          <p:nvPr/>
        </p:nvSpPr>
        <p:spPr>
          <a:xfrm>
            <a:off x="539115" y="1700530"/>
            <a:ext cx="7682230" cy="504190"/>
          </a:xfrm>
          <a:prstGeom prst="rect">
            <a:avLst/>
          </a:prstGeom>
          <a:noFill/>
        </p:spPr>
        <p:txBody>
          <a:bodyPr wrap="square" rtlCol="0">
            <a:noAutofit/>
          </a:bodyPr>
          <a:p>
            <a:r>
              <a:rPr lang="zh-CN" altLang="en-US"/>
              <a:t>因为，列是总共有</a:t>
            </a:r>
            <a:r>
              <a:rPr lang="en-US" altLang="zh-CN"/>
              <a:t>4</a:t>
            </a:r>
            <a:r>
              <a:rPr lang="zh-CN" altLang="en-US"/>
              <a:t>列，可以用一个长度为</a:t>
            </a:r>
            <a:r>
              <a:rPr lang="en-US" altLang="zh-CN"/>
              <a:t>4</a:t>
            </a:r>
            <a:r>
              <a:rPr lang="zh-CN" altLang="en-US"/>
              <a:t>数组，标记是否可以放置</a:t>
            </a:r>
            <a:r>
              <a:rPr lang="zh-CN" altLang="en-US"/>
              <a:t>皇后</a:t>
            </a:r>
            <a:endParaRPr lang="zh-CN" altLang="en-US"/>
          </a:p>
        </p:txBody>
      </p:sp>
      <p:sp>
        <p:nvSpPr>
          <p:cNvPr id="8" name="文本框 7"/>
          <p:cNvSpPr txBox="1"/>
          <p:nvPr/>
        </p:nvSpPr>
        <p:spPr>
          <a:xfrm>
            <a:off x="5723890" y="2780665"/>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9" name="文本框 8"/>
          <p:cNvSpPr txBox="1"/>
          <p:nvPr/>
        </p:nvSpPr>
        <p:spPr>
          <a:xfrm>
            <a:off x="5436235" y="3140710"/>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0" name="文本框 9"/>
          <p:cNvSpPr txBox="1"/>
          <p:nvPr/>
        </p:nvSpPr>
        <p:spPr>
          <a:xfrm>
            <a:off x="5436235" y="429387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11" name="文本框 10"/>
          <p:cNvSpPr txBox="1"/>
          <p:nvPr/>
        </p:nvSpPr>
        <p:spPr>
          <a:xfrm>
            <a:off x="5436235" y="3535680"/>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12" name="文本框 11"/>
          <p:cNvSpPr txBox="1"/>
          <p:nvPr/>
        </p:nvSpPr>
        <p:spPr>
          <a:xfrm>
            <a:off x="5435600" y="3932555"/>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13" name="直接连接符 12"/>
          <p:cNvCxnSpPr/>
          <p:nvPr/>
        </p:nvCxnSpPr>
        <p:spPr>
          <a:xfrm>
            <a:off x="7411720" y="3020060"/>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4" name="直接连接符 13"/>
          <p:cNvCxnSpPr/>
          <p:nvPr/>
        </p:nvCxnSpPr>
        <p:spPr>
          <a:xfrm>
            <a:off x="6732270" y="306832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5" name="直接连接符 14"/>
          <p:cNvCxnSpPr/>
          <p:nvPr/>
        </p:nvCxnSpPr>
        <p:spPr>
          <a:xfrm>
            <a:off x="6228080" y="3068320"/>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6" name="直接连接符 15"/>
          <p:cNvCxnSpPr/>
          <p:nvPr/>
        </p:nvCxnSpPr>
        <p:spPr>
          <a:xfrm>
            <a:off x="5723890" y="3140710"/>
            <a:ext cx="2016125" cy="15119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7" name="直接连接符 16"/>
          <p:cNvCxnSpPr/>
          <p:nvPr/>
        </p:nvCxnSpPr>
        <p:spPr>
          <a:xfrm>
            <a:off x="5579745" y="3428365"/>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8" name="直接连接符 17"/>
          <p:cNvCxnSpPr/>
          <p:nvPr/>
        </p:nvCxnSpPr>
        <p:spPr>
          <a:xfrm>
            <a:off x="5579745" y="4272915"/>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9" name="直接连接符 18"/>
          <p:cNvCxnSpPr/>
          <p:nvPr/>
        </p:nvCxnSpPr>
        <p:spPr>
          <a:xfrm>
            <a:off x="5580380" y="386080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graphicFrame>
        <p:nvGraphicFramePr>
          <p:cNvPr id="20" name="表格 19"/>
          <p:cNvGraphicFramePr/>
          <p:nvPr>
            <p:custDataLst>
              <p:tags r:id="rId2"/>
            </p:custDataLst>
          </p:nvPr>
        </p:nvGraphicFramePr>
        <p:xfrm>
          <a:off x="1266190" y="2996565"/>
          <a:ext cx="1983740" cy="1513840"/>
        </p:xfrm>
        <a:graphic>
          <a:graphicData uri="http://schemas.openxmlformats.org/drawingml/2006/table">
            <a:tbl>
              <a:tblPr firstRow="1" bandRow="1">
                <a:tableStyleId>{5C22544A-7EE6-4342-B048-85BDC9FD1C3A}</a:tableStyleId>
              </a:tblPr>
              <a:tblGrid>
                <a:gridCol w="495935"/>
                <a:gridCol w="495935"/>
                <a:gridCol w="495935"/>
                <a:gridCol w="495935"/>
              </a:tblGrid>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21" name="文本框 20"/>
          <p:cNvSpPr txBox="1"/>
          <p:nvPr/>
        </p:nvSpPr>
        <p:spPr>
          <a:xfrm>
            <a:off x="1187450" y="2636520"/>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22" name="文本框 21"/>
          <p:cNvSpPr txBox="1"/>
          <p:nvPr/>
        </p:nvSpPr>
        <p:spPr>
          <a:xfrm>
            <a:off x="899795" y="29965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3" name="文本框 22"/>
          <p:cNvSpPr txBox="1"/>
          <p:nvPr/>
        </p:nvSpPr>
        <p:spPr>
          <a:xfrm>
            <a:off x="899795" y="4149725"/>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24" name="文本框 23"/>
          <p:cNvSpPr txBox="1"/>
          <p:nvPr/>
        </p:nvSpPr>
        <p:spPr>
          <a:xfrm>
            <a:off x="899795" y="33915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25" name="文本框 24"/>
          <p:cNvSpPr txBox="1"/>
          <p:nvPr/>
        </p:nvSpPr>
        <p:spPr>
          <a:xfrm>
            <a:off x="899160" y="37884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26" name="直接连接符 25"/>
          <p:cNvCxnSpPr/>
          <p:nvPr/>
        </p:nvCxnSpPr>
        <p:spPr>
          <a:xfrm flipH="1">
            <a:off x="1259205" y="29965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3" name="直接连接符 32"/>
          <p:cNvCxnSpPr>
            <a:stCxn id="20" idx="0"/>
          </p:cNvCxnSpPr>
          <p:nvPr/>
        </p:nvCxnSpPr>
        <p:spPr>
          <a:xfrm flipH="1">
            <a:off x="1266190" y="2996565"/>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4" name="直接连接符 33"/>
          <p:cNvCxnSpPr/>
          <p:nvPr/>
        </p:nvCxnSpPr>
        <p:spPr>
          <a:xfrm flipH="1">
            <a:off x="1254125" y="2996565"/>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5" name="直接连接符 34"/>
          <p:cNvCxnSpPr/>
          <p:nvPr/>
        </p:nvCxnSpPr>
        <p:spPr>
          <a:xfrm flipH="1">
            <a:off x="1259205" y="3018155"/>
            <a:ext cx="1971040" cy="149098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6" name="直接连接符 35"/>
          <p:cNvCxnSpPr/>
          <p:nvPr/>
        </p:nvCxnSpPr>
        <p:spPr>
          <a:xfrm flipH="1">
            <a:off x="1763395" y="3388360"/>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7" name="直接连接符 36"/>
          <p:cNvCxnSpPr/>
          <p:nvPr/>
        </p:nvCxnSpPr>
        <p:spPr>
          <a:xfrm flipH="1">
            <a:off x="2258060" y="3736340"/>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8" name="直接连接符 37"/>
          <p:cNvCxnSpPr/>
          <p:nvPr/>
        </p:nvCxnSpPr>
        <p:spPr>
          <a:xfrm flipH="1">
            <a:off x="2771775" y="41141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sp>
        <p:nvSpPr>
          <p:cNvPr id="40" name="文本框 39"/>
          <p:cNvSpPr txBox="1"/>
          <p:nvPr/>
        </p:nvSpPr>
        <p:spPr>
          <a:xfrm>
            <a:off x="611505" y="2240280"/>
            <a:ext cx="7682230" cy="504190"/>
          </a:xfrm>
          <a:prstGeom prst="rect">
            <a:avLst/>
          </a:prstGeom>
          <a:noFill/>
        </p:spPr>
        <p:txBody>
          <a:bodyPr wrap="square" rtlCol="0">
            <a:noAutofit/>
          </a:bodyPr>
          <a:p>
            <a:r>
              <a:rPr lang="zh-CN" altLang="en-US"/>
              <a:t>最困难的是主对角线和副对角线如何</a:t>
            </a:r>
            <a:r>
              <a:rPr lang="zh-CN" altLang="en-US"/>
              <a:t>判断？</a:t>
            </a:r>
            <a:endParaRPr lang="zh-CN" altLang="en-US"/>
          </a:p>
        </p:txBody>
      </p:sp>
      <p:sp>
        <p:nvSpPr>
          <p:cNvPr id="41" name="文本框 40"/>
          <p:cNvSpPr txBox="1"/>
          <p:nvPr/>
        </p:nvSpPr>
        <p:spPr>
          <a:xfrm>
            <a:off x="7884160" y="43173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42" name="文本框 41"/>
          <p:cNvSpPr txBox="1"/>
          <p:nvPr/>
        </p:nvSpPr>
        <p:spPr>
          <a:xfrm>
            <a:off x="7884160" y="39503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43" name="文本框 42"/>
          <p:cNvSpPr txBox="1"/>
          <p:nvPr/>
        </p:nvSpPr>
        <p:spPr>
          <a:xfrm>
            <a:off x="7866380" y="35725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sp>
        <p:nvSpPr>
          <p:cNvPr id="44" name="文本框 43"/>
          <p:cNvSpPr txBox="1"/>
          <p:nvPr/>
        </p:nvSpPr>
        <p:spPr>
          <a:xfrm>
            <a:off x="7854950" y="314960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45" name="文本框 44"/>
          <p:cNvSpPr txBox="1"/>
          <p:nvPr/>
        </p:nvSpPr>
        <p:spPr>
          <a:xfrm>
            <a:off x="1085850" y="5100955"/>
            <a:ext cx="130810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sub [i+j]</a:t>
            </a:r>
            <a:endParaRPr lang="en-US" altLang="zh-CN">
              <a:latin typeface="Times New Roman" panose="02020603050405020304" pitchFamily="18" charset="0"/>
              <a:cs typeface="Times New Roman" panose="02020603050405020304" pitchFamily="18" charset="0"/>
            </a:endParaRPr>
          </a:p>
        </p:txBody>
      </p:sp>
      <p:sp>
        <p:nvSpPr>
          <p:cNvPr id="46" name="文本框 45"/>
          <p:cNvSpPr txBox="1"/>
          <p:nvPr/>
        </p:nvSpPr>
        <p:spPr>
          <a:xfrm>
            <a:off x="6103620" y="5121910"/>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[j+k],k=-i+n-1</a:t>
            </a:r>
            <a:endParaRPr lang="en-US" altLang="zh-CN">
              <a:latin typeface="Times New Roman" panose="02020603050405020304" pitchFamily="18" charset="0"/>
              <a:cs typeface="Times New Roman" panose="02020603050405020304" pitchFamily="18" charset="0"/>
            </a:endParaRPr>
          </a:p>
        </p:txBody>
      </p:sp>
      <p:sp>
        <p:nvSpPr>
          <p:cNvPr id="47" name="文本框 46"/>
          <p:cNvSpPr txBox="1"/>
          <p:nvPr/>
        </p:nvSpPr>
        <p:spPr>
          <a:xfrm>
            <a:off x="6155690" y="5426075"/>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[j-i+n-1]</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 calcmode="lin" valueType="num">
                                      <p:cBhvr additive="base">
                                        <p:cTn id="7" dur="500" fill="hold"/>
                                        <p:tgtEl>
                                          <p:spTgt spid="45"/>
                                        </p:tgtEl>
                                        <p:attrNameLst>
                                          <p:attrName>ppt_x</p:attrName>
                                        </p:attrNameLst>
                                      </p:cBhvr>
                                      <p:tavLst>
                                        <p:tav tm="0">
                                          <p:val>
                                            <p:strVal val="#ppt_x"/>
                                          </p:val>
                                        </p:tav>
                                        <p:tav tm="100000">
                                          <p:val>
                                            <p:strVal val="#ppt_x"/>
                                          </p:val>
                                        </p:tav>
                                      </p:tavLst>
                                    </p:anim>
                                    <p:anim calcmode="lin" valueType="num">
                                      <p:cBhvr additive="base">
                                        <p:cTn id="8"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anim calcmode="lin" valueType="num">
                                      <p:cBhvr additive="base">
                                        <p:cTn id="13" dur="500" fill="hold"/>
                                        <p:tgtEl>
                                          <p:spTgt spid="41"/>
                                        </p:tgtEl>
                                        <p:attrNameLst>
                                          <p:attrName>ppt_x</p:attrName>
                                        </p:attrNameLst>
                                      </p:cBhvr>
                                      <p:tavLst>
                                        <p:tav tm="0">
                                          <p:val>
                                            <p:strVal val="#ppt_x"/>
                                          </p:val>
                                        </p:tav>
                                        <p:tav tm="100000">
                                          <p:val>
                                            <p:strVal val="#ppt_x"/>
                                          </p:val>
                                        </p:tav>
                                      </p:tavLst>
                                    </p:anim>
                                    <p:anim calcmode="lin" valueType="num">
                                      <p:cBhvr additive="base">
                                        <p:cTn id="14" dur="500" fill="hold"/>
                                        <p:tgtEl>
                                          <p:spTgt spid="41"/>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 calcmode="lin" valueType="num">
                                      <p:cBhvr additive="base">
                                        <p:cTn id="17" dur="500" fill="hold"/>
                                        <p:tgtEl>
                                          <p:spTgt spid="42"/>
                                        </p:tgtEl>
                                        <p:attrNameLst>
                                          <p:attrName>ppt_x</p:attrName>
                                        </p:attrNameLst>
                                      </p:cBhvr>
                                      <p:tavLst>
                                        <p:tav tm="0">
                                          <p:val>
                                            <p:strVal val="#ppt_x"/>
                                          </p:val>
                                        </p:tav>
                                        <p:tav tm="100000">
                                          <p:val>
                                            <p:strVal val="#ppt_x"/>
                                          </p:val>
                                        </p:tav>
                                      </p:tavLst>
                                    </p:anim>
                                    <p:anim calcmode="lin" valueType="num">
                                      <p:cBhvr additive="base">
                                        <p:cTn id="18" dur="500" fill="hold"/>
                                        <p:tgtEl>
                                          <p:spTgt spid="4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anim calcmode="lin" valueType="num">
                                      <p:cBhvr additive="base">
                                        <p:cTn id="21" dur="500" fill="hold"/>
                                        <p:tgtEl>
                                          <p:spTgt spid="43"/>
                                        </p:tgtEl>
                                        <p:attrNameLst>
                                          <p:attrName>ppt_x</p:attrName>
                                        </p:attrNameLst>
                                      </p:cBhvr>
                                      <p:tavLst>
                                        <p:tav tm="0">
                                          <p:val>
                                            <p:strVal val="#ppt_x"/>
                                          </p:val>
                                        </p:tav>
                                        <p:tav tm="100000">
                                          <p:val>
                                            <p:strVal val="#ppt_x"/>
                                          </p:val>
                                        </p:tav>
                                      </p:tavLst>
                                    </p:anim>
                                    <p:anim calcmode="lin" valueType="num">
                                      <p:cBhvr additive="base">
                                        <p:cTn id="22" dur="500" fill="hold"/>
                                        <p:tgtEl>
                                          <p:spTgt spid="43"/>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anim calcmode="lin" valueType="num">
                                      <p:cBhvr additive="base">
                                        <p:cTn id="25" dur="500" fill="hold"/>
                                        <p:tgtEl>
                                          <p:spTgt spid="44"/>
                                        </p:tgtEl>
                                        <p:attrNameLst>
                                          <p:attrName>ppt_x</p:attrName>
                                        </p:attrNameLst>
                                      </p:cBhvr>
                                      <p:tavLst>
                                        <p:tav tm="0">
                                          <p:val>
                                            <p:strVal val="#ppt_x"/>
                                          </p:val>
                                        </p:tav>
                                        <p:tav tm="100000">
                                          <p:val>
                                            <p:strVal val="#ppt_x"/>
                                          </p:val>
                                        </p:tav>
                                      </p:tavLst>
                                    </p:anim>
                                    <p:anim calcmode="lin" valueType="num">
                                      <p:cBhvr additive="base">
                                        <p:cTn id="26"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anim calcmode="lin" valueType="num">
                                      <p:cBhvr additive="base">
                                        <p:cTn id="31" dur="500" fill="hold"/>
                                        <p:tgtEl>
                                          <p:spTgt spid="46"/>
                                        </p:tgtEl>
                                        <p:attrNameLst>
                                          <p:attrName>ppt_x</p:attrName>
                                        </p:attrNameLst>
                                      </p:cBhvr>
                                      <p:tavLst>
                                        <p:tav tm="0">
                                          <p:val>
                                            <p:strVal val="#ppt_x"/>
                                          </p:val>
                                        </p:tav>
                                        <p:tav tm="100000">
                                          <p:val>
                                            <p:strVal val="#ppt_x"/>
                                          </p:val>
                                        </p:tav>
                                      </p:tavLst>
                                    </p:anim>
                                    <p:anim calcmode="lin" valueType="num">
                                      <p:cBhvr additive="base">
                                        <p:cTn id="32" dur="500" fill="hold"/>
                                        <p:tgtEl>
                                          <p:spTgt spid="4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anim calcmode="lin" valueType="num">
                                      <p:cBhvr additive="base">
                                        <p:cTn id="35" dur="500" fill="hold"/>
                                        <p:tgtEl>
                                          <p:spTgt spid="47"/>
                                        </p:tgtEl>
                                        <p:attrNameLst>
                                          <p:attrName>ppt_x</p:attrName>
                                        </p:attrNameLst>
                                      </p:cBhvr>
                                      <p:tavLst>
                                        <p:tav tm="0">
                                          <p:val>
                                            <p:strVal val="#ppt_x"/>
                                          </p:val>
                                        </p:tav>
                                        <p:tav tm="100000">
                                          <p:val>
                                            <p:strVal val="#ppt_x"/>
                                          </p:val>
                                        </p:tav>
                                      </p:tavLst>
                                    </p:anim>
                                    <p:anim calcmode="lin" valueType="num">
                                      <p:cBhvr additive="base">
                                        <p:cTn id="36"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1" grpId="1"/>
      <p:bldP spid="42" grpId="1"/>
      <p:bldP spid="43" grpId="1"/>
      <p:bldP spid="44" grpId="1"/>
      <p:bldP spid="45" grpId="0"/>
      <p:bldP spid="45" grpId="1"/>
      <p:bldP spid="46" grpId="0"/>
      <p:bldP spid="47" grpId="0"/>
      <p:bldP spid="46" grpId="1"/>
      <p:bldP spid="47"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873125" y="692150"/>
            <a:ext cx="7946390" cy="535432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    def solveNQueens(self, n: int) -&gt; 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 = [0]*n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dfs(n:int,lev:int,temp:list)-&gt;int: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col[i]==0 and main_Line[i+lev]==0 and sub_Line[i-lev+n-1]==0: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count+=dfs(n,lev+1)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count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dfs(n,0,)</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2.xml><?xml version="1.0" encoding="utf-8"?>
<p:tagLst xmlns:p="http://schemas.openxmlformats.org/presentationml/2006/main">
  <p:tag name="TABLE_ENDDRAG_ORIGIN_RECT" val="204*180"/>
  <p:tag name="TABLE_ENDDRAG_RECT" val="108*180*204*180"/>
</p:tagLst>
</file>

<file path=ppt/tags/tag13.xml><?xml version="1.0" encoding="utf-8"?>
<p:tagLst xmlns:p="http://schemas.openxmlformats.org/presentationml/2006/main">
  <p:tag name="TABLE_ENDDRAG_ORIGIN_RECT" val="173*120"/>
  <p:tag name="TABLE_ENDDRAG_RECT" val="108*210*173*120"/>
</p:tagLst>
</file>

<file path=ppt/tags/tag14.xml><?xml version="1.0" encoding="utf-8"?>
<p:tagLst xmlns:p="http://schemas.openxmlformats.org/presentationml/2006/main">
  <p:tag name="TABLE_ENDDRAG_ORIGIN_RECT" val="173*120"/>
  <p:tag name="TABLE_ENDDRAG_RECT" val="108*210*173*120"/>
</p:tagLst>
</file>

<file path=ppt/tags/tag15.xml><?xml version="1.0" encoding="utf-8"?>
<p:tagLst xmlns:p="http://schemas.openxmlformats.org/presentationml/2006/main">
  <p:tag name="TABLE_ENDDRAG_ORIGIN_RECT" val="173*120"/>
  <p:tag name="TABLE_ENDDRAG_RECT" val="108*210*173*120"/>
</p:tagLst>
</file>

<file path=ppt/tags/tag16.xml><?xml version="1.0" encoding="utf-8"?>
<p:tagLst xmlns:p="http://schemas.openxmlformats.org/presentationml/2006/main">
  <p:tag name="TABLE_ENDDRAG_ORIGIN_RECT" val="173*120"/>
  <p:tag name="TABLE_ENDDRAG_RECT" val="108*210*173*120"/>
</p:tagLst>
</file>

<file path=ppt/tags/tag17.xml><?xml version="1.0" encoding="utf-8"?>
<p:tagLst xmlns:p="http://schemas.openxmlformats.org/presentationml/2006/main">
  <p:tag name="TABLE_ENDDRAG_ORIGIN_RECT" val="173*120"/>
  <p:tag name="TABLE_ENDDRAG_RECT" val="108*210*173*120"/>
</p:tagLst>
</file>

<file path=ppt/tags/tag18.xml><?xml version="1.0" encoding="utf-8"?>
<p:tagLst xmlns:p="http://schemas.openxmlformats.org/presentationml/2006/main">
  <p:tag name="TABLE_ENDDRAG_ORIGIN_RECT" val="173*120"/>
  <p:tag name="TABLE_ENDDRAG_RECT" val="108*210*173*120"/>
</p:tagLst>
</file>

<file path=ppt/tags/tag19.xml><?xml version="1.0" encoding="utf-8"?>
<p:tagLst xmlns:p="http://schemas.openxmlformats.org/presentationml/2006/main">
  <p:tag name="TABLE_ENDDRAG_ORIGIN_RECT" val="162*121"/>
  <p:tag name="TABLE_ENDDRAG_RECT" val="138*201*162*121"/>
</p:tagLst>
</file>

<file path=ppt/tags/tag20.xml><?xml version="1.0" encoding="utf-8"?>
<p:tagLst xmlns:p="http://schemas.openxmlformats.org/presentationml/2006/main">
  <p:tag name="TABLE_ENDDRAG_ORIGIN_RECT" val="156*119"/>
  <p:tag name="TABLE_ENDDRAG_RECT" val="99*235*156*1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12584</Words>
  <Application>WPS 演示</Application>
  <PresentationFormat>全屏显示(4:3)</PresentationFormat>
  <Paragraphs>2290</Paragraphs>
  <Slides>84</Slides>
  <Notes>16</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84</vt:i4>
      </vt:variant>
    </vt:vector>
  </HeadingPairs>
  <TitlesOfParts>
    <vt:vector size="104"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Wingdings</vt:lpstr>
      <vt:lpstr>方正正大黑简体</vt:lpstr>
      <vt:lpstr>JetBrains Mono</vt:lpstr>
      <vt:lpstr>Segoe Print</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412</cp:revision>
  <dcterms:created xsi:type="dcterms:W3CDTF">2010-09-23T08:30:00Z</dcterms:created>
  <dcterms:modified xsi:type="dcterms:W3CDTF">2025-12-08T06:06:49Z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