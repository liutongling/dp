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9"/>
  </p:handoutMasterIdLst>
  <p:sldIdLst>
    <p:sldId id="287" r:id="rId3"/>
    <p:sldId id="288" r:id="rId5"/>
    <p:sldId id="327" r:id="rId6"/>
    <p:sldId id="289" r:id="rId7"/>
    <p:sldId id="328" r:id="rId8"/>
    <p:sldId id="302" r:id="rId9"/>
    <p:sldId id="303" r:id="rId10"/>
    <p:sldId id="290" r:id="rId11"/>
    <p:sldId id="291" r:id="rId12"/>
    <p:sldId id="292" r:id="rId13"/>
    <p:sldId id="293" r:id="rId14"/>
    <p:sldId id="294" r:id="rId15"/>
    <p:sldId id="295" r:id="rId16"/>
    <p:sldId id="296" r:id="rId17"/>
    <p:sldId id="297" r:id="rId18"/>
    <p:sldId id="298" r:id="rId19"/>
    <p:sldId id="299" r:id="rId20"/>
    <p:sldId id="300" r:id="rId21"/>
    <p:sldId id="301" r:id="rId22"/>
    <p:sldId id="316" r:id="rId23"/>
    <p:sldId id="304" r:id="rId24"/>
    <p:sldId id="305" r:id="rId25"/>
    <p:sldId id="330" r:id="rId26"/>
    <p:sldId id="331" r:id="rId27"/>
    <p:sldId id="333" r:id="rId28"/>
    <p:sldId id="334" r:id="rId29"/>
    <p:sldId id="339" r:id="rId30"/>
    <p:sldId id="307" r:id="rId31"/>
    <p:sldId id="310" r:id="rId32"/>
    <p:sldId id="313" r:id="rId33"/>
    <p:sldId id="311" r:id="rId34"/>
    <p:sldId id="312" r:id="rId35"/>
    <p:sldId id="314" r:id="rId36"/>
    <p:sldId id="335" r:id="rId37"/>
    <p:sldId id="340" r:id="rId38"/>
    <p:sldId id="336" r:id="rId39"/>
    <p:sldId id="337" r:id="rId40"/>
    <p:sldId id="317" r:id="rId41"/>
    <p:sldId id="341" r:id="rId42"/>
    <p:sldId id="318" r:id="rId43"/>
    <p:sldId id="319" r:id="rId44"/>
    <p:sldId id="343" r:id="rId45"/>
    <p:sldId id="342" r:id="rId46"/>
    <p:sldId id="320" r:id="rId47"/>
    <p:sldId id="323" r:id="rId48"/>
    <p:sldId id="321" r:id="rId49"/>
    <p:sldId id="324" r:id="rId50"/>
    <p:sldId id="329" r:id="rId51"/>
    <p:sldId id="349" r:id="rId52"/>
    <p:sldId id="325" r:id="rId53"/>
    <p:sldId id="344" r:id="rId54"/>
    <p:sldId id="345" r:id="rId55"/>
    <p:sldId id="346" r:id="rId56"/>
    <p:sldId id="347" r:id="rId57"/>
    <p:sldId id="348" r:id="rId58"/>
    <p:sldId id="256" r:id="rId59"/>
    <p:sldId id="257" r:id="rId60"/>
    <p:sldId id="258" r:id="rId61"/>
    <p:sldId id="259" r:id="rId62"/>
    <p:sldId id="260" r:id="rId63"/>
    <p:sldId id="261" r:id="rId64"/>
    <p:sldId id="262" r:id="rId65"/>
    <p:sldId id="263" r:id="rId66"/>
    <p:sldId id="264" r:id="rId67"/>
    <p:sldId id="265" r:id="rId68"/>
    <p:sldId id="266" r:id="rId69"/>
    <p:sldId id="267" r:id="rId70"/>
    <p:sldId id="268" r:id="rId71"/>
    <p:sldId id="269" r:id="rId72"/>
    <p:sldId id="270" r:id="rId73"/>
    <p:sldId id="271" r:id="rId74"/>
    <p:sldId id="272" r:id="rId75"/>
    <p:sldId id="273" r:id="rId76"/>
    <p:sldId id="274" r:id="rId77"/>
    <p:sldId id="275" r:id="rId78"/>
    <p:sldId id="276" r:id="rId79"/>
    <p:sldId id="277" r:id="rId80"/>
    <p:sldId id="278" r:id="rId81"/>
    <p:sldId id="279" r:id="rId82"/>
    <p:sldId id="280" r:id="rId83"/>
    <p:sldId id="281" r:id="rId84"/>
    <p:sldId id="282" r:id="rId85"/>
    <p:sldId id="283" r:id="rId86"/>
    <p:sldId id="284" r:id="rId87"/>
    <p:sldId id="285" r:id="rId88"/>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34" userDrawn="1">
          <p15:clr>
            <a:srgbClr val="A4A3A4"/>
          </p15:clr>
        </p15:guide>
        <p15:guide id="2" pos="275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jg" initials="t" lastIdx="1" clrIdx="0"/>
  <p:cmAuthor id="310559022" name="吕凯伟" initials="吕"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CC"/>
    <a:srgbClr val="FF3399"/>
    <a:srgbClr val="0066FF"/>
    <a:srgbClr val="FF6600"/>
    <a:srgbClr val="55B70C"/>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412" autoAdjust="0"/>
    <p:restoredTop sz="95126" autoAdjust="0"/>
  </p:normalViewPr>
  <p:slideViewPr>
    <p:cSldViewPr showGuides="1">
      <p:cViewPr varScale="1">
        <p:scale>
          <a:sx n="115" d="100"/>
          <a:sy n="115" d="100"/>
        </p:scale>
        <p:origin x="1278" y="84"/>
      </p:cViewPr>
      <p:guideLst>
        <p:guide orient="horz" pos="2134"/>
        <p:guide pos="275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10" d="100"/>
        <a:sy n="110" d="100"/>
      </p:scale>
      <p:origin x="0" y="0"/>
    </p:cViewPr>
  </p:sorterViewPr>
  <p:notesViewPr>
    <p:cSldViewPr>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93" Type="http://schemas.openxmlformats.org/officeDocument/2006/relationships/commentAuthors" Target="commentAuthors.xml"/><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6.xml"/><Relationship Id="rId89" Type="http://schemas.openxmlformats.org/officeDocument/2006/relationships/handoutMaster" Target="handoutMasters/handoutMaster1.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2B9A6F-649B-40E0-9235-15314CCF5F2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47AA538-38B4-4B93-A9C9-F579F75A06F5}"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latin typeface="Calibri" panose="020F0502020204030204" pitchFamily="34" charset="0"/>
              </a:defRPr>
            </a:lvl1pPr>
          </a:lstStyle>
          <a:p>
            <a:pPr>
              <a:defRPr/>
            </a:pPr>
            <a:endParaRPr lang="zh-CN" altLang="en-US"/>
          </a:p>
        </p:txBody>
      </p:sp>
      <p:sp>
        <p:nvSpPr>
          <p:cNvPr id="52227"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latin typeface="Calibri" panose="020F0502020204030204" pitchFamily="34" charset="0"/>
              </a:defRPr>
            </a:lvl1pPr>
          </a:lstStyle>
          <a:p>
            <a:pPr>
              <a:defRPr/>
            </a:pPr>
            <a:fld id="{1134E214-E3C0-4F75-A783-D0C3FCB417FE}" type="datetimeFigureOut">
              <a:rPr lang="zh-CN" altLang="en-US"/>
            </a:fld>
            <a:endParaRPr lang="en-US" altLang="zh-CN"/>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2229"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2230"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latin typeface="Calibri" panose="020F0502020204030204" pitchFamily="34" charset="0"/>
              </a:defRPr>
            </a:lvl1pPr>
          </a:lstStyle>
          <a:p>
            <a:pPr>
              <a:defRPr/>
            </a:pPr>
            <a:endParaRPr lang="en-US" altLang="zh-CN"/>
          </a:p>
        </p:txBody>
      </p:sp>
      <p:sp>
        <p:nvSpPr>
          <p:cNvPr id="52231"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AB76F6FC-157B-4160-B88F-123B3C4C0F29}"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spect="1" noChangeArrowheads="1" noTextEdit="1"/>
          </p:cNvSpPr>
          <p:nvPr>
            <p:ph type="sldImg"/>
          </p:nvPr>
        </p:nvSpPr>
        <p:spPr/>
      </p:sp>
      <p:sp>
        <p:nvSpPr>
          <p:cNvPr id="61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首先是深度优先遍历，开始之前我们试想这样的一种场景，小明过年和朋友一起玩迷宫游戏，看谁先从迷宫中走出来，你是小明有什么办法呢？我想这种场景同学们应该都有类似的经历即使没有玩过迷宫也玩过类似的游戏。我们进入迷宫入口之后我们看到有路就走，如果遇到死胡同呢我们返回之前有路的地方继续往下探索，直至找到出口为止。如果同学们有这种方法，这就说明你已经有深度优先遍历的思想了</a:t>
            </a:r>
            <a:endParaRPr lang="zh-CN" altLang="en-US" smtClean="0"/>
          </a:p>
        </p:txBody>
      </p:sp>
      <p:sp>
        <p:nvSpPr>
          <p:cNvPr id="112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008A4A-01CF-40B7-9140-9F8171EC50C3}" type="slidenum">
              <a:rPr lang="zh-CN" altLang="zh-CN" smtClean="0"/>
            </a:fld>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首先是深度优先遍历，开始之前我们试想这样的一种场景，小明过年和朋友一起玩迷宫游戏，看谁先从迷宫中走出来，你是小明有什么办法呢？我想这种场景同学们应该都有类似的经历即使没有玩过迷宫也玩过类似的游戏。我们进入迷宫入口之后我们看到有路就走，如果遇到死胡同呢我们返回之前有路的地方继续往下探索，直至找到出口为止。如果同学们有这种方法，这就说明你已经有深度优先遍历的思想了</a:t>
            </a:r>
            <a:endParaRPr lang="zh-CN" altLang="en-US" smtClean="0"/>
          </a:p>
        </p:txBody>
      </p:sp>
      <p:sp>
        <p:nvSpPr>
          <p:cNvPr id="112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008A4A-01CF-40B7-9140-9F8171EC50C3}" type="slidenum">
              <a:rPr lang="zh-CN" altLang="zh-CN" smtClean="0"/>
            </a:fld>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首先是深度优先遍历，开始之前我们试想这样的一种场景，小明过年和朋友一起玩迷宫游戏，看谁先从迷宫中走出来，你是小明有什么办法呢？我想这种场景同学们应该都有类似的经历即使没有玩过迷宫也玩过类似的游戏。我们进入迷宫入口之后我们看到有路就走，如果遇到死胡同呢我们返回之前有路的地方继续往下探索，直至找到出口为止。如果同学们有这种方法，这就说明你已经有深度优先遍历的思想了</a:t>
            </a:r>
            <a:endParaRPr lang="zh-CN" altLang="en-US" smtClean="0"/>
          </a:p>
        </p:txBody>
      </p:sp>
      <p:sp>
        <p:nvSpPr>
          <p:cNvPr id="112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008A4A-01CF-40B7-9140-9F8171EC50C3}" type="slidenum">
              <a:rPr lang="zh-CN" altLang="zh-CN" smtClean="0"/>
            </a:fld>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首先是深度优先遍历，开始之前我们试想这样的一种场景，小明过年和朋友一起玩迷宫游戏，看谁先从迷宫中走出来，你是小明有什么办法呢？我想这种场景同学们应该都有类似的经历即使没有玩过迷宫也玩过类似的游戏。我们进入迷宫入口之后我们看到有路就走，如果遇到死胡同呢我们返回之前有路的地方继续往下探索，直至找到出口为止。如果同学们有这种方法，这就说明你已经有深度优先遍历的思想了</a:t>
            </a:r>
            <a:endParaRPr lang="zh-CN" altLang="en-US" smtClean="0"/>
          </a:p>
        </p:txBody>
      </p:sp>
      <p:sp>
        <p:nvSpPr>
          <p:cNvPr id="112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008A4A-01CF-40B7-9140-9F8171EC50C3}" type="slidenum">
              <a:rPr lang="zh-CN" altLang="zh-CN" smtClean="0"/>
            </a:fld>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p:sp>
      <p:sp>
        <p:nvSpPr>
          <p:cNvPr id="133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来我们之前的思想总结一下，我们访问过一个节点然后再寻找其相邻未被访问的节点，再以这个未被访问的节点为顶点，继续找其未被访问的节点，直至访问所有的顶点没有未被访问的顶点位置，也就是访问完途中所有的节点。例如图中依靠深度优先遍历找到的一个节点序列。</a:t>
            </a:r>
            <a:endParaRPr lang="zh-CN" altLang="en-US" smtClean="0"/>
          </a:p>
        </p:txBody>
      </p:sp>
      <p:sp>
        <p:nvSpPr>
          <p:cNvPr id="133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86F6F1C-13CA-4409-BFE7-D1A03119E8F5}" type="slidenum">
              <a:rPr lang="zh-CN" altLang="zh-CN" smtClean="0"/>
            </a:fld>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来我们依靠栈来看看深度优先遍历是如何实现的，首先访问</a:t>
            </a:r>
            <a:r>
              <a:rPr lang="en-US" altLang="zh-CN" smtClean="0"/>
              <a:t>A</a:t>
            </a:r>
            <a:r>
              <a:rPr lang="zh-CN" altLang="en-US" smtClean="0"/>
              <a:t>节点同时记录</a:t>
            </a:r>
            <a:r>
              <a:rPr lang="en-US" altLang="zh-CN" smtClean="0"/>
              <a:t>A</a:t>
            </a:r>
            <a:r>
              <a:rPr lang="zh-CN" altLang="en-US" smtClean="0"/>
              <a:t>，并将</a:t>
            </a:r>
            <a:r>
              <a:rPr lang="en-US" altLang="zh-CN" smtClean="0"/>
              <a:t>A</a:t>
            </a:r>
            <a:r>
              <a:rPr lang="zh-CN" altLang="en-US" smtClean="0"/>
              <a:t>节点入栈</a:t>
            </a:r>
            <a:endParaRPr lang="zh-CN" altLang="en-US" smtClean="0"/>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283BDF9-1938-486B-800C-9C8BD8BCD63A}" type="slidenum">
              <a:rPr lang="zh-CN" altLang="zh-CN" smtClean="0"/>
            </a:fld>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p:sp>
      <p:sp>
        <p:nvSpPr>
          <p:cNvPr id="174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然后寻找</a:t>
            </a:r>
            <a:r>
              <a:rPr lang="en-US" altLang="zh-CN" smtClean="0"/>
              <a:t>A</a:t>
            </a:r>
            <a:r>
              <a:rPr lang="zh-CN" altLang="en-US" smtClean="0"/>
              <a:t>节点未被访问的节点，此时我们是依靠字母顺序寻找邻节点，然后找到</a:t>
            </a:r>
            <a:r>
              <a:rPr lang="en-US" altLang="zh-CN" smtClean="0"/>
              <a:t>B</a:t>
            </a:r>
            <a:r>
              <a:rPr lang="zh-CN" altLang="en-US" smtClean="0"/>
              <a:t>节点，此时记录</a:t>
            </a:r>
            <a:r>
              <a:rPr lang="en-US" altLang="zh-CN" smtClean="0"/>
              <a:t>B</a:t>
            </a:r>
            <a:r>
              <a:rPr lang="zh-CN" altLang="en-US" smtClean="0"/>
              <a:t>节点已被访问，然后将</a:t>
            </a:r>
            <a:r>
              <a:rPr lang="en-US" altLang="zh-CN" smtClean="0"/>
              <a:t>B</a:t>
            </a:r>
            <a:r>
              <a:rPr lang="zh-CN" altLang="en-US" smtClean="0"/>
              <a:t>节点入栈。</a:t>
            </a:r>
            <a:endParaRPr lang="zh-CN" altLang="en-US" smtClean="0"/>
          </a:p>
        </p:txBody>
      </p:sp>
      <p:sp>
        <p:nvSpPr>
          <p:cNvPr id="174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D6EC1EB-4CEE-47D6-9EB1-81F447AD2EEC}" type="slidenum">
              <a:rPr lang="zh-CN" altLang="zh-CN" smtClean="0"/>
            </a:fld>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p:sp>
      <p:sp>
        <p:nvSpPr>
          <p:cNvPr id="194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我们以同样的规则继续访问</a:t>
            </a:r>
            <a:r>
              <a:rPr lang="en-US" altLang="zh-CN" smtClean="0"/>
              <a:t>B</a:t>
            </a:r>
            <a:r>
              <a:rPr lang="zh-CN" altLang="en-US" smtClean="0"/>
              <a:t>的相邻未被访问的节点</a:t>
            </a:r>
            <a:r>
              <a:rPr lang="en-US" altLang="zh-CN" smtClean="0"/>
              <a:t>E</a:t>
            </a:r>
            <a:r>
              <a:rPr lang="zh-CN" altLang="en-US" smtClean="0"/>
              <a:t>，然后记录</a:t>
            </a:r>
            <a:r>
              <a:rPr lang="en-US" altLang="zh-CN" smtClean="0"/>
              <a:t>E</a:t>
            </a:r>
            <a:r>
              <a:rPr lang="zh-CN" altLang="en-US" smtClean="0"/>
              <a:t>被访问同时将</a:t>
            </a:r>
            <a:r>
              <a:rPr lang="en-US" altLang="zh-CN" smtClean="0"/>
              <a:t>E</a:t>
            </a:r>
            <a:r>
              <a:rPr lang="zh-CN" altLang="en-US" smtClean="0"/>
              <a:t>入栈。</a:t>
            </a:r>
            <a:endParaRPr lang="zh-CN" altLang="en-US" smtClean="0"/>
          </a:p>
        </p:txBody>
      </p:sp>
      <p:sp>
        <p:nvSpPr>
          <p:cNvPr id="194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865C272-B700-423E-A70A-CDF110E59BB1}" type="slidenum">
              <a:rPr lang="zh-CN" altLang="zh-CN" smtClean="0"/>
            </a:fld>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在以</a:t>
            </a:r>
            <a:r>
              <a:rPr lang="en-US" altLang="zh-CN" smtClean="0"/>
              <a:t>E</a:t>
            </a:r>
            <a:r>
              <a:rPr lang="zh-CN" altLang="en-US" smtClean="0"/>
              <a:t>为顶点访问相邻未被访问的</a:t>
            </a:r>
            <a:r>
              <a:rPr lang="en-US" altLang="zh-CN" smtClean="0"/>
              <a:t>G</a:t>
            </a:r>
            <a:r>
              <a:rPr lang="zh-CN" altLang="en-US" smtClean="0"/>
              <a:t>顶点，同时记录</a:t>
            </a:r>
            <a:r>
              <a:rPr lang="en-US" altLang="zh-CN" smtClean="0"/>
              <a:t>G</a:t>
            </a:r>
            <a:r>
              <a:rPr lang="zh-CN" altLang="en-US" smtClean="0"/>
              <a:t>顶点被访问，同时将</a:t>
            </a:r>
            <a:r>
              <a:rPr lang="en-US" altLang="zh-CN" smtClean="0"/>
              <a:t>G</a:t>
            </a:r>
            <a:r>
              <a:rPr lang="zh-CN" altLang="en-US" smtClean="0"/>
              <a:t>入栈</a:t>
            </a:r>
            <a:endParaRPr lang="zh-CN" altLang="en-US" smtClean="0"/>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94ECDFF-1332-4C36-9F15-2069496F39B7}" type="slidenum">
              <a:rPr lang="zh-CN" altLang="zh-CN" smtClean="0"/>
            </a:fld>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此时呢，我们发现</a:t>
            </a:r>
            <a:r>
              <a:rPr lang="en-US" altLang="zh-CN" smtClean="0"/>
              <a:t>G</a:t>
            </a:r>
            <a:r>
              <a:rPr lang="zh-CN" altLang="en-US" smtClean="0"/>
              <a:t>顶点已经没有相邻未被访问的节点了，于是将</a:t>
            </a:r>
            <a:r>
              <a:rPr lang="en-US" altLang="zh-CN" smtClean="0"/>
              <a:t>G</a:t>
            </a:r>
            <a:r>
              <a:rPr lang="zh-CN" altLang="en-US" smtClean="0"/>
              <a:t>进行出栈，同理</a:t>
            </a:r>
            <a:r>
              <a:rPr lang="en-US" altLang="zh-CN" smtClean="0"/>
              <a:t>E</a:t>
            </a:r>
            <a:r>
              <a:rPr lang="zh-CN" altLang="en-US" smtClean="0"/>
              <a:t>节点也没有相邻未被访问的节点了同样将</a:t>
            </a:r>
            <a:r>
              <a:rPr lang="en-US" altLang="zh-CN" smtClean="0"/>
              <a:t>E</a:t>
            </a:r>
            <a:r>
              <a:rPr lang="zh-CN" altLang="en-US" smtClean="0"/>
              <a:t>出栈，此时栈的状态由</a:t>
            </a:r>
            <a:r>
              <a:rPr lang="en-US" altLang="zh-CN" smtClean="0"/>
              <a:t>1</a:t>
            </a:r>
            <a:r>
              <a:rPr lang="zh-CN" altLang="en-US" smtClean="0"/>
              <a:t>编程</a:t>
            </a:r>
            <a:r>
              <a:rPr lang="en-US" altLang="zh-CN" smtClean="0"/>
              <a:t>2</a:t>
            </a:r>
            <a:r>
              <a:rPr lang="zh-CN" altLang="en-US" smtClean="0"/>
              <a:t>。</a:t>
            </a:r>
            <a:endParaRPr lang="zh-CN" altLang="en-US" smtClean="0"/>
          </a:p>
        </p:txBody>
      </p:sp>
      <p:sp>
        <p:nvSpPr>
          <p:cNvPr id="235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3CC831A-A5B7-4F30-A018-39B6D02B18A3}" type="slidenum">
              <a:rPr lang="zh-CN" altLang="zh-CN" smtClean="0"/>
            </a:fld>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p:sp>
      <p:sp>
        <p:nvSpPr>
          <p:cNvPr id="256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然后我们在判断栈顶的</a:t>
            </a:r>
            <a:r>
              <a:rPr lang="en-US" altLang="zh-CN" smtClean="0"/>
              <a:t>B</a:t>
            </a:r>
            <a:r>
              <a:rPr lang="zh-CN" altLang="en-US" smtClean="0"/>
              <a:t>节点是否由相邻未被访问的节点，我们发现</a:t>
            </a:r>
            <a:r>
              <a:rPr lang="en-US" altLang="zh-CN" smtClean="0"/>
              <a:t>B</a:t>
            </a:r>
            <a:r>
              <a:rPr lang="zh-CN" altLang="en-US" smtClean="0"/>
              <a:t>有未被访问的节点，也就是</a:t>
            </a:r>
            <a:r>
              <a:rPr lang="en-US" altLang="zh-CN" smtClean="0"/>
              <a:t>F</a:t>
            </a:r>
            <a:r>
              <a:rPr lang="zh-CN" altLang="en-US" smtClean="0"/>
              <a:t>，同时记录</a:t>
            </a:r>
            <a:r>
              <a:rPr lang="en-US" altLang="zh-CN" smtClean="0"/>
              <a:t>F</a:t>
            </a:r>
            <a:r>
              <a:rPr lang="zh-CN" altLang="en-US" smtClean="0"/>
              <a:t>已被访问，并将</a:t>
            </a:r>
            <a:r>
              <a:rPr lang="en-US" altLang="zh-CN" smtClean="0"/>
              <a:t>f</a:t>
            </a:r>
            <a:r>
              <a:rPr lang="zh-CN" altLang="en-US" smtClean="0"/>
              <a:t>进行入栈处理。</a:t>
            </a:r>
            <a:endParaRPr lang="zh-CN" altLang="en-US" smtClean="0"/>
          </a:p>
        </p:txBody>
      </p:sp>
      <p:sp>
        <p:nvSpPr>
          <p:cNvPr id="256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87C1876-B7FB-47F6-AA38-7360001E4E4C}" type="slidenum">
              <a:rPr lang="zh-CN" altLang="zh-CN" smtClean="0"/>
            </a:fld>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此后依然用同样的规则访问相邻的节点，</a:t>
            </a:r>
            <a:r>
              <a:rPr lang="en-US" altLang="zh-CN" smtClean="0"/>
              <a:t>F</a:t>
            </a:r>
            <a:r>
              <a:rPr lang="zh-CN" altLang="en-US" smtClean="0"/>
              <a:t>相邻的未被访问的节点是</a:t>
            </a:r>
            <a:r>
              <a:rPr lang="en-US" altLang="zh-CN" smtClean="0"/>
              <a:t>C</a:t>
            </a:r>
            <a:r>
              <a:rPr lang="zh-CN" altLang="en-US" smtClean="0"/>
              <a:t>，然后将</a:t>
            </a:r>
            <a:r>
              <a:rPr lang="en-US" altLang="zh-CN" smtClean="0"/>
              <a:t>C</a:t>
            </a:r>
            <a:r>
              <a:rPr lang="zh-CN" altLang="en-US" smtClean="0"/>
              <a:t>入栈，然后</a:t>
            </a:r>
            <a:r>
              <a:rPr lang="en-US" altLang="zh-CN" smtClean="0"/>
              <a:t>c</a:t>
            </a:r>
            <a:r>
              <a:rPr lang="zh-CN" altLang="en-US" smtClean="0"/>
              <a:t>相邻未被访问的节点是</a:t>
            </a:r>
            <a:r>
              <a:rPr lang="en-US" altLang="zh-CN" smtClean="0"/>
              <a:t>H,</a:t>
            </a:r>
            <a:r>
              <a:rPr lang="zh-CN" altLang="en-US" smtClean="0"/>
              <a:t>然后将</a:t>
            </a:r>
            <a:r>
              <a:rPr lang="en-US" altLang="zh-CN" smtClean="0"/>
              <a:t>H</a:t>
            </a:r>
            <a:r>
              <a:rPr lang="zh-CN" altLang="en-US" smtClean="0"/>
              <a:t>入栈。</a:t>
            </a:r>
            <a:endParaRPr lang="zh-CN" altLang="en-US" smtClean="0"/>
          </a:p>
        </p:txBody>
      </p:sp>
      <p:sp>
        <p:nvSpPr>
          <p:cNvPr id="276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27EB1F1-9A82-493E-A883-754C907216F8}" type="slidenum">
              <a:rPr lang="zh-CN" altLang="zh-CN" smtClean="0"/>
            </a:fld>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此时</a:t>
            </a:r>
            <a:r>
              <a:rPr lang="en-US" altLang="zh-CN" smtClean="0"/>
              <a:t>H</a:t>
            </a:r>
            <a:r>
              <a:rPr lang="zh-CN" altLang="en-US" smtClean="0"/>
              <a:t>已经没有未被访问的节点了将</a:t>
            </a:r>
            <a:r>
              <a:rPr lang="en-US" altLang="zh-CN" smtClean="0"/>
              <a:t>H</a:t>
            </a:r>
            <a:r>
              <a:rPr lang="zh-CN" altLang="en-US" smtClean="0"/>
              <a:t>进行出栈处理，同时</a:t>
            </a:r>
            <a:r>
              <a:rPr lang="en-US" altLang="zh-CN" smtClean="0"/>
              <a:t>C</a:t>
            </a:r>
            <a:r>
              <a:rPr lang="zh-CN" altLang="en-US" smtClean="0"/>
              <a:t>也没有未被访问的节点也将</a:t>
            </a:r>
            <a:r>
              <a:rPr lang="en-US" altLang="zh-CN" smtClean="0"/>
              <a:t>C</a:t>
            </a:r>
            <a:r>
              <a:rPr lang="zh-CN" altLang="en-US" smtClean="0"/>
              <a:t>进行出栈处理，此时的栈的状态从</a:t>
            </a:r>
            <a:r>
              <a:rPr lang="en-US" altLang="zh-CN" smtClean="0"/>
              <a:t>1</a:t>
            </a:r>
            <a:r>
              <a:rPr lang="zh-CN" altLang="en-US" smtClean="0"/>
              <a:t>变为</a:t>
            </a:r>
            <a:r>
              <a:rPr lang="en-US" altLang="zh-CN" smtClean="0"/>
              <a:t>2</a:t>
            </a:r>
            <a:endParaRPr lang="zh-CN" altLang="en-US" smtClean="0"/>
          </a:p>
        </p:txBody>
      </p:sp>
      <p:sp>
        <p:nvSpPr>
          <p:cNvPr id="297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C3DA4CE-7313-483A-A10A-8F9323E135D1}" type="slidenum">
              <a:rPr lang="zh-CN" altLang="zh-CN" smtClean="0"/>
            </a:fld>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p:sp>
      <p:sp>
        <p:nvSpPr>
          <p:cNvPr id="317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然后栈顶的</a:t>
            </a:r>
            <a:r>
              <a:rPr lang="en-US" altLang="zh-CN" smtClean="0"/>
              <a:t>F</a:t>
            </a:r>
            <a:r>
              <a:rPr lang="zh-CN" altLang="en-US" smtClean="0"/>
              <a:t>发现它有未被访问的相邻节点</a:t>
            </a:r>
            <a:r>
              <a:rPr lang="en-US" altLang="zh-CN" smtClean="0"/>
              <a:t>D</a:t>
            </a:r>
            <a:r>
              <a:rPr lang="zh-CN" altLang="en-US" smtClean="0"/>
              <a:t>，然后记录访问</a:t>
            </a:r>
            <a:r>
              <a:rPr lang="en-US" altLang="zh-CN" smtClean="0"/>
              <a:t>D</a:t>
            </a:r>
            <a:r>
              <a:rPr lang="zh-CN" altLang="en-US" smtClean="0"/>
              <a:t>并将</a:t>
            </a:r>
            <a:r>
              <a:rPr lang="en-US" altLang="zh-CN" smtClean="0"/>
              <a:t>D</a:t>
            </a:r>
            <a:r>
              <a:rPr lang="zh-CN" altLang="en-US" smtClean="0"/>
              <a:t>入栈。</a:t>
            </a:r>
            <a:endParaRPr lang="zh-CN" altLang="en-US" smtClean="0"/>
          </a:p>
        </p:txBody>
      </p:sp>
      <p:sp>
        <p:nvSpPr>
          <p:cNvPr id="317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69A6450-6FFD-4851-BBAB-54187E60570F}" type="slidenum">
              <a:rPr lang="zh-CN" altLang="zh-CN" smtClean="0"/>
            </a:fld>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p:sp>
      <p:sp>
        <p:nvSpPr>
          <p:cNvPr id="337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然后依次判断栈顶顶点是否还有未被访问的相邻节点，如果没有则弹出顶点。我们发现</a:t>
            </a:r>
            <a:r>
              <a:rPr lang="en-US" altLang="zh-CN" smtClean="0"/>
              <a:t>DFBA</a:t>
            </a:r>
            <a:r>
              <a:rPr lang="zh-CN" altLang="en-US" smtClean="0"/>
              <a:t>均没有相邻的节点未被访问，所以我们栈弹出所有顶点，此时也就意味这遍历完成，访问的节点顺序为</a:t>
            </a:r>
            <a:r>
              <a:rPr lang="en-US" altLang="zh-CN" smtClean="0"/>
              <a:t>ABEGFCHD</a:t>
            </a:r>
            <a:endParaRPr lang="zh-CN" altLang="en-US" smtClean="0"/>
          </a:p>
        </p:txBody>
      </p:sp>
      <p:sp>
        <p:nvSpPr>
          <p:cNvPr id="337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8528DF9-1345-4E5B-AD3D-1D4C1C1A6CE3}" type="slidenum">
              <a:rPr lang="zh-CN" altLang="zh-CN" smtClean="0"/>
            </a:fld>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来我们看看具体的代码实现，首先定义一个标志数组，标记其初始值为</a:t>
            </a:r>
            <a:r>
              <a:rPr lang="en-US" altLang="zh-CN" smtClean="0"/>
              <a:t>false</a:t>
            </a:r>
            <a:r>
              <a:rPr lang="zh-CN" altLang="en-US" smtClean="0"/>
              <a:t>。然后定义一个</a:t>
            </a:r>
            <a:r>
              <a:rPr lang="en-US" altLang="zh-CN" smtClean="0"/>
              <a:t>DFS</a:t>
            </a:r>
            <a:r>
              <a:rPr lang="zh-CN" altLang="en-US" smtClean="0"/>
              <a:t>函数，此函数是一个递归函数，也就是实现了我们栈的操作。判断是否被访问如果没有被访问则递归操作，直到访问完所有的节点。</a:t>
            </a:r>
            <a:endParaRPr lang="zh-CN" altLang="en-US" smtClean="0"/>
          </a:p>
        </p:txBody>
      </p:sp>
      <p:sp>
        <p:nvSpPr>
          <p:cNvPr id="358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4BD63A7-483F-4D77-9D3F-AF22FC2BD1B8}" type="slidenum">
              <a:rPr lang="zh-CN" altLang="zh-CN" smtClean="0"/>
            </a:fld>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来我们看看具体的代码实现，首先定义一个标志数组，标记其初始值为</a:t>
            </a:r>
            <a:r>
              <a:rPr lang="en-US" altLang="zh-CN" smtClean="0"/>
              <a:t>false</a:t>
            </a:r>
            <a:r>
              <a:rPr lang="zh-CN" altLang="en-US" smtClean="0"/>
              <a:t>。然后定义一个</a:t>
            </a:r>
            <a:r>
              <a:rPr lang="en-US" altLang="zh-CN" smtClean="0"/>
              <a:t>DFS</a:t>
            </a:r>
            <a:r>
              <a:rPr lang="zh-CN" altLang="en-US" smtClean="0"/>
              <a:t>函数，此函数是一个递归函数，也就是实现了我们栈的操作。判断是否被访问如果没有被访问则递归操作，直到访问完所有的节点。</a:t>
            </a:r>
            <a:endParaRPr lang="zh-CN" altLang="en-US" smtClean="0"/>
          </a:p>
        </p:txBody>
      </p:sp>
      <p:sp>
        <p:nvSpPr>
          <p:cNvPr id="358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4BD63A7-483F-4D77-9D3F-AF22FC2BD1B8}" type="slidenum">
              <a:rPr lang="zh-CN" altLang="zh-CN" smtClean="0"/>
            </a:fld>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来我们看看具体的代码实现，首先定义一个标志数组，标记其初始值为</a:t>
            </a:r>
            <a:r>
              <a:rPr lang="en-US" altLang="zh-CN" smtClean="0"/>
              <a:t>false</a:t>
            </a:r>
            <a:r>
              <a:rPr lang="zh-CN" altLang="en-US" smtClean="0"/>
              <a:t>。然后定义一个</a:t>
            </a:r>
            <a:r>
              <a:rPr lang="en-US" altLang="zh-CN" smtClean="0"/>
              <a:t>DFS</a:t>
            </a:r>
            <a:r>
              <a:rPr lang="zh-CN" altLang="en-US" smtClean="0"/>
              <a:t>函数，此函数是一个递归函数，也就是实现了我们栈的操作。判断是否被访问如果没有被访问则递归操作，直到访问完所有的节点。</a:t>
            </a:r>
            <a:endParaRPr lang="zh-CN" altLang="en-US" smtClean="0"/>
          </a:p>
        </p:txBody>
      </p:sp>
      <p:sp>
        <p:nvSpPr>
          <p:cNvPr id="358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4BD63A7-483F-4D77-9D3F-AF22FC2BD1B8}" type="slidenum">
              <a:rPr lang="zh-CN" altLang="zh-CN" smtClean="0"/>
            </a:fld>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来我们看看具体的代码实现，首先定义一个标志数组，标记其初始值为</a:t>
            </a:r>
            <a:r>
              <a:rPr lang="en-US" altLang="zh-CN" smtClean="0"/>
              <a:t>false</a:t>
            </a:r>
            <a:r>
              <a:rPr lang="zh-CN" altLang="en-US" smtClean="0"/>
              <a:t>。然后定义一个</a:t>
            </a:r>
            <a:r>
              <a:rPr lang="en-US" altLang="zh-CN" smtClean="0"/>
              <a:t>DFS</a:t>
            </a:r>
            <a:r>
              <a:rPr lang="zh-CN" altLang="en-US" smtClean="0"/>
              <a:t>函数，此函数是一个递归函数，也就是实现了我们栈的操作。判断是否被访问如果没有被访问则递归操作，直到访问完所有的节点。</a:t>
            </a:r>
            <a:endParaRPr lang="zh-CN" altLang="en-US" smtClean="0"/>
          </a:p>
        </p:txBody>
      </p:sp>
      <p:sp>
        <p:nvSpPr>
          <p:cNvPr id="358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4BD63A7-483F-4D77-9D3F-AF22FC2BD1B8}" type="slidenum">
              <a:rPr lang="zh-CN" altLang="zh-CN" smtClean="0"/>
            </a:fld>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2" descr="bg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63" y="-20638"/>
            <a:ext cx="9174163" cy="687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27"/>
          <p:cNvSpPr>
            <a:spLocks noGrp="1" noChangeArrowheads="1"/>
          </p:cNvSpPr>
          <p:nvPr>
            <p:ph type="ctrTitle"/>
          </p:nvPr>
        </p:nvSpPr>
        <p:spPr>
          <a:xfrm>
            <a:off x="468313" y="2470150"/>
            <a:ext cx="5399087" cy="1079500"/>
          </a:xfrm>
          <a:prstGeom prst="rect">
            <a:avLst/>
          </a:prstGeom>
        </p:spPr>
        <p:txBody>
          <a:bodyPr/>
          <a:lstStyle>
            <a:lvl1pPr>
              <a:defRPr sz="3200"/>
            </a:lvl1pPr>
          </a:lstStyle>
          <a:p>
            <a:r>
              <a:rPr lang="zh-CN"/>
              <a:t>单击此处编辑母版标题样式</a:t>
            </a:r>
            <a:endParaRPr lang="zh-CN"/>
          </a:p>
        </p:txBody>
      </p:sp>
      <p:sp>
        <p:nvSpPr>
          <p:cNvPr id="2052" name="Rectangle 31"/>
          <p:cNvSpPr>
            <a:spLocks noGrp="1" noChangeArrowheads="1"/>
          </p:cNvSpPr>
          <p:nvPr>
            <p:ph type="subTitle" idx="1" hasCustomPrompt="1"/>
          </p:nvPr>
        </p:nvSpPr>
        <p:spPr>
          <a:xfrm>
            <a:off x="468313" y="3549650"/>
            <a:ext cx="5400675" cy="600075"/>
          </a:xfrm>
          <a:prstGeom prst="rect">
            <a:avLst/>
          </a:prstGeom>
        </p:spPr>
        <p:txBody>
          <a:bodyPr/>
          <a:lstStyle>
            <a:lvl1pPr marL="0" indent="0">
              <a:buFont typeface="Wingdings" panose="05000000000000000000" pitchFamily="2" charset="2"/>
              <a:buNone/>
              <a:defRPr sz="1800">
                <a:solidFill>
                  <a:schemeClr val="bg1"/>
                </a:solidFill>
              </a:defRPr>
            </a:lvl1pPr>
          </a:lstStyle>
          <a:p>
            <a:r>
              <a:rPr lang="zh-CN"/>
              <a:t>单击添加署名或公司信息</a:t>
            </a:r>
            <a:endParaRPr 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68313" y="315913"/>
            <a:ext cx="8207375" cy="592137"/>
          </a:xfrm>
          <a:prstGeom prst="rect">
            <a:avLst/>
          </a:prstGeom>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a:xfrm>
            <a:off x="468313" y="1125538"/>
            <a:ext cx="8207375" cy="5162550"/>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sldNum" sz="quarter" idx="10"/>
          </p:nvPr>
        </p:nvSpPr>
        <p:spPr/>
        <p:txBody>
          <a:bodyPr/>
          <a:lstStyle>
            <a:lvl1pPr>
              <a:defRPr/>
            </a:lvl1pPr>
          </a:lstStyle>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sldNum" sz="quarter" idx="10"/>
          </p:nvPr>
        </p:nvSpPr>
        <p:spPr/>
        <p:txBody>
          <a:bodyPr/>
          <a:lstStyle>
            <a:lvl1pPr>
              <a:defRPr/>
            </a:lvl1pPr>
          </a:lstStyle>
          <a:p>
            <a:pPr>
              <a:defRPr/>
            </a:pPr>
            <a:r>
              <a:rPr lang="de-DE" altLang="en-US"/>
              <a:t>Page </a:t>
            </a:r>
            <a:r>
              <a:rPr lang="de-DE" altLang="en-US">
                <a:sym typeface="MS UI Gothic" panose="020B0600070205080204" pitchFamily="34" charset="-128"/>
              </a:rPr>
              <a:t></a:t>
            </a:r>
            <a:r>
              <a:rPr lang="de-DE" altLang="en-US"/>
              <a:t> </a:t>
            </a:r>
            <a:fld id="{AD5D6385-73FF-48F7-8DDA-F02439D7B60D}" type="slidenum">
              <a:rPr lang="zh-CN" altLang="en-US"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68313" y="315913"/>
            <a:ext cx="8207375" cy="592137"/>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68313" y="1125538"/>
            <a:ext cx="4027487" cy="516255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125538"/>
            <a:ext cx="4027488" cy="516255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sldNum" sz="quarter" idx="10"/>
          </p:nvPr>
        </p:nvSpPr>
        <p:spPr/>
        <p:txBody>
          <a:bodyPr/>
          <a:lstStyle>
            <a:lvl1pPr>
              <a:defRPr/>
            </a:lvl1pPr>
          </a:lstStyle>
          <a:p>
            <a:pPr>
              <a:defRPr/>
            </a:pPr>
            <a:r>
              <a:rPr lang="de-DE" altLang="en-US"/>
              <a:t>Page </a:t>
            </a:r>
            <a:r>
              <a:rPr lang="de-DE" altLang="en-US">
                <a:sym typeface="MS UI Gothic" panose="020B0600070205080204" pitchFamily="34" charset="-128"/>
              </a:rPr>
              <a:t></a:t>
            </a:r>
            <a:r>
              <a:rPr lang="de-DE" altLang="en-US"/>
              <a:t> </a:t>
            </a:r>
            <a:fld id="{145E1E5F-9D19-4FC7-A71A-24AB39712209}" type="slidenum">
              <a:rPr lang="zh-CN" altLang="en-US"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sldNum" sz="quarter" idx="10"/>
          </p:nvPr>
        </p:nvSpPr>
        <p:spPr/>
        <p:txBody>
          <a:bodyPr/>
          <a:lstStyle>
            <a:lvl1pPr>
              <a:defRPr/>
            </a:lvl1pPr>
          </a:lstStyle>
          <a:p>
            <a:pPr>
              <a:defRPr/>
            </a:pPr>
            <a:r>
              <a:rPr lang="de-DE" altLang="en-US"/>
              <a:t>Page </a:t>
            </a:r>
            <a:r>
              <a:rPr lang="de-DE" altLang="en-US">
                <a:sym typeface="MS UI Gothic" panose="020B0600070205080204" pitchFamily="34" charset="-128"/>
              </a:rPr>
              <a:t></a:t>
            </a:r>
            <a:r>
              <a:rPr lang="de-DE" altLang="en-US"/>
              <a:t> </a:t>
            </a:r>
            <a:fld id="{01DEBBD1-2960-4502-95D3-F1444E13883A}" type="slidenum">
              <a:rPr lang="zh-CN" altLang="en-US"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68313" y="315913"/>
            <a:ext cx="8207375" cy="592137"/>
          </a:xfrm>
          <a:prstGeom prst="rect">
            <a:avLst/>
          </a:prstGeom>
        </p:spPr>
        <p:txBody>
          <a:bodyPr/>
          <a:lstStyle/>
          <a:p>
            <a:r>
              <a:rPr lang="zh-CN" altLang="en-US"/>
              <a:t>单击此处编辑母版标题样式</a:t>
            </a:r>
            <a:endParaRPr lang="zh-CN" altLang="en-US"/>
          </a:p>
        </p:txBody>
      </p:sp>
      <p:sp>
        <p:nvSpPr>
          <p:cNvPr id="3" name="Rectangle 4"/>
          <p:cNvSpPr>
            <a:spLocks noGrp="1" noChangeArrowheads="1"/>
          </p:cNvSpPr>
          <p:nvPr>
            <p:ph type="sldNum" sz="quarter" idx="10"/>
          </p:nvPr>
        </p:nvSpPr>
        <p:spPr/>
        <p:txBody>
          <a:bodyPr/>
          <a:lstStyle>
            <a:lvl1pPr>
              <a:defRPr/>
            </a:lvl1pPr>
          </a:lstStyle>
          <a:p>
            <a:pPr>
              <a:defRPr/>
            </a:pPr>
            <a:r>
              <a:rPr lang="de-DE" altLang="en-US"/>
              <a:t>Page </a:t>
            </a:r>
            <a:r>
              <a:rPr lang="de-DE" altLang="en-US">
                <a:sym typeface="MS UI Gothic" panose="020B0600070205080204" pitchFamily="34" charset="-128"/>
              </a:rPr>
              <a:t></a:t>
            </a:r>
            <a:r>
              <a:rPr lang="de-DE" altLang="en-US"/>
              <a:t> </a:t>
            </a:r>
            <a:fld id="{3FFE5EB4-F84A-4001-AC86-DD5EEB2060DD}" type="slidenum">
              <a:rPr lang="zh-CN" altLang="en-US"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p:txBody>
          <a:bodyPr/>
          <a:lstStyle>
            <a:lvl1pPr>
              <a:defRPr/>
            </a:lvl1pPr>
          </a:lstStyle>
          <a:p>
            <a:pPr>
              <a:defRPr/>
            </a:pPr>
            <a:r>
              <a:rPr lang="de-DE" altLang="en-US"/>
              <a:t>Page </a:t>
            </a:r>
            <a:r>
              <a:rPr lang="de-DE" altLang="en-US">
                <a:sym typeface="MS UI Gothic" panose="020B0600070205080204" pitchFamily="34" charset="-128"/>
              </a:rPr>
              <a:t></a:t>
            </a:r>
            <a:r>
              <a:rPr lang="de-DE" altLang="en-US"/>
              <a:t> </a:t>
            </a:r>
            <a:fld id="{1FA65F22-8AC8-411F-B820-478F7DB776C2}" type="slidenum">
              <a:rPr lang="zh-CN" altLang="en-US"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sldNum" sz="quarter" idx="10"/>
          </p:nvPr>
        </p:nvSpPr>
        <p:spPr/>
        <p:txBody>
          <a:bodyPr/>
          <a:lstStyle>
            <a:lvl1pPr>
              <a:defRPr/>
            </a:lvl1pPr>
          </a:lstStyle>
          <a:p>
            <a:pPr>
              <a:defRPr/>
            </a:pPr>
            <a:r>
              <a:rPr lang="de-DE" altLang="en-US"/>
              <a:t>Page </a:t>
            </a:r>
            <a:r>
              <a:rPr lang="de-DE" altLang="en-US">
                <a:sym typeface="MS UI Gothic" panose="020B0600070205080204" pitchFamily="34" charset="-128"/>
              </a:rPr>
              <a:t></a:t>
            </a:r>
            <a:r>
              <a:rPr lang="de-DE" altLang="en-US"/>
              <a:t> </a:t>
            </a:r>
            <a:fld id="{8A7D3370-EE2E-49E3-B92B-CC864B084AD2}" type="slidenum">
              <a:rPr lang="zh-CN" altLang="en-US"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sldNum" sz="quarter" idx="10"/>
          </p:nvPr>
        </p:nvSpPr>
        <p:spPr/>
        <p:txBody>
          <a:bodyPr/>
          <a:lstStyle>
            <a:lvl1pPr>
              <a:defRPr/>
            </a:lvl1pPr>
          </a:lstStyle>
          <a:p>
            <a:pPr>
              <a:defRPr/>
            </a:pPr>
            <a:r>
              <a:rPr lang="de-DE" altLang="en-US"/>
              <a:t>Page </a:t>
            </a:r>
            <a:r>
              <a:rPr lang="de-DE" altLang="en-US">
                <a:sym typeface="MS UI Gothic" panose="020B0600070205080204" pitchFamily="34" charset="-128"/>
              </a:rPr>
              <a:t></a:t>
            </a:r>
            <a:r>
              <a:rPr lang="de-DE" altLang="en-US"/>
              <a:t> </a:t>
            </a:r>
            <a:fld id="{8FF81DA7-16D0-41E8-A52E-04703233FF3D}" type="slidenum">
              <a:rPr lang="zh-CN" altLang="en-US"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68313" y="315913"/>
            <a:ext cx="8207375" cy="592137"/>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68313" y="1125538"/>
            <a:ext cx="8207375" cy="5162550"/>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sldNum" sz="quarter" idx="10"/>
          </p:nvPr>
        </p:nvSpPr>
        <p:spPr/>
        <p:txBody>
          <a:bodyPr/>
          <a:lstStyle>
            <a:lvl1pPr>
              <a:defRPr/>
            </a:lvl1pPr>
          </a:lstStyle>
          <a:p>
            <a:pPr>
              <a:defRPr/>
            </a:pPr>
            <a:r>
              <a:rPr lang="de-DE" altLang="en-US"/>
              <a:t>Page </a:t>
            </a:r>
            <a:r>
              <a:rPr lang="de-DE" altLang="en-US">
                <a:sym typeface="MS UI Gothic" panose="020B0600070205080204" pitchFamily="34" charset="-128"/>
              </a:rPr>
              <a:t></a:t>
            </a:r>
            <a:r>
              <a:rPr lang="de-DE" altLang="en-US"/>
              <a:t> </a:t>
            </a:r>
            <a:fld id="{85395485-1E7F-4AEF-8259-7171D9A6624F}" type="slidenum">
              <a:rPr lang="zh-CN" altLang="en-US"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4638" y="315913"/>
            <a:ext cx="2051050" cy="597217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68313" y="315913"/>
            <a:ext cx="6003925" cy="597217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sldNum" sz="quarter" idx="10"/>
          </p:nvPr>
        </p:nvSpPr>
        <p:spPr/>
        <p:txBody>
          <a:bodyPr/>
          <a:lstStyle>
            <a:lvl1pPr>
              <a:defRPr/>
            </a:lvl1pPr>
          </a:lstStyle>
          <a:p>
            <a:pPr>
              <a:defRPr/>
            </a:pPr>
            <a:r>
              <a:rPr lang="de-DE" altLang="en-US"/>
              <a:t>Page </a:t>
            </a:r>
            <a:r>
              <a:rPr lang="de-DE" altLang="en-US">
                <a:sym typeface="MS UI Gothic" panose="020B0600070205080204" pitchFamily="34" charset="-128"/>
              </a:rPr>
              <a:t></a:t>
            </a:r>
            <a:r>
              <a:rPr lang="de-DE" altLang="en-US"/>
              <a:t> </a:t>
            </a:r>
            <a:fld id="{7EFF9BE1-89C5-461A-8080-0860368CA4E7}" type="slidenum">
              <a:rPr lang="zh-CN" altLang="en-US"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68313" y="315913"/>
            <a:ext cx="8207375" cy="592137"/>
          </a:xfrm>
          <a:prstGeom prst="rect">
            <a:avLst/>
          </a:prstGeo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468313" y="1125538"/>
            <a:ext cx="8207375" cy="5162550"/>
          </a:xfrm>
          <a:prstGeom prst="rect">
            <a:avLst/>
          </a:prstGeom>
        </p:spPr>
        <p:txBody>
          <a:bodyPr/>
          <a:lstStyle/>
          <a:p>
            <a:pPr lvl="0"/>
            <a:endParaRPr lang="zh-CN" altLang="en-US" noProof="0"/>
          </a:p>
        </p:txBody>
      </p:sp>
      <p:sp>
        <p:nvSpPr>
          <p:cNvPr id="4" name="Rectangle 4"/>
          <p:cNvSpPr>
            <a:spLocks noGrp="1" noChangeArrowheads="1"/>
          </p:cNvSpPr>
          <p:nvPr>
            <p:ph type="sldNum" sz="quarter" idx="10"/>
          </p:nvPr>
        </p:nvSpPr>
        <p:spPr/>
        <p:txBody>
          <a:bodyPr/>
          <a:lstStyle>
            <a:lvl1pPr>
              <a:defRPr/>
            </a:lvl1pPr>
          </a:lstStyle>
          <a:p>
            <a:pPr>
              <a:defRPr/>
            </a:pPr>
            <a:r>
              <a:rPr lang="de-DE" altLang="en-US"/>
              <a:t>Page </a:t>
            </a:r>
            <a:r>
              <a:rPr lang="de-DE" altLang="en-US">
                <a:sym typeface="MS UI Gothic" panose="020B0600070205080204" pitchFamily="34" charset="-128"/>
              </a:rPr>
              <a:t></a:t>
            </a:r>
            <a:r>
              <a:rPr lang="de-DE" altLang="en-US"/>
              <a:t> </a:t>
            </a:r>
            <a:fld id="{C8FEDC41-C8C7-4EFD-A6DE-BC4A4069D4EC}" type="slidenum">
              <a:rPr lang="zh-CN" altLang="en-US"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468313" y="315913"/>
            <a:ext cx="8207375" cy="592137"/>
          </a:xfrm>
          <a:prstGeom prst="rect">
            <a:avLst/>
          </a:prstGeom>
        </p:spPr>
        <p:txBody>
          <a:bodyPr/>
          <a:lstStyle/>
          <a:p>
            <a:r>
              <a:rPr lang="zh-CN" altLang="en-US"/>
              <a:t>单击此处编辑母版标题样式</a:t>
            </a:r>
            <a:endParaRPr lang="zh-CN" altLang="en-US"/>
          </a:p>
        </p:txBody>
      </p:sp>
      <p:sp>
        <p:nvSpPr>
          <p:cNvPr id="3" name="图表占位符 2"/>
          <p:cNvSpPr>
            <a:spLocks noGrp="1"/>
          </p:cNvSpPr>
          <p:nvPr>
            <p:ph type="chart" idx="1"/>
          </p:nvPr>
        </p:nvSpPr>
        <p:spPr>
          <a:xfrm>
            <a:off x="468313" y="1125538"/>
            <a:ext cx="8207375" cy="5162550"/>
          </a:xfrm>
          <a:prstGeom prst="rect">
            <a:avLst/>
          </a:prstGeom>
        </p:spPr>
        <p:txBody>
          <a:bodyPr/>
          <a:lstStyle/>
          <a:p>
            <a:pPr lvl="0"/>
            <a:endParaRPr lang="zh-CN" altLang="en-US" noProof="0"/>
          </a:p>
        </p:txBody>
      </p:sp>
      <p:sp>
        <p:nvSpPr>
          <p:cNvPr id="4" name="Rectangle 4"/>
          <p:cNvSpPr>
            <a:spLocks noGrp="1" noChangeArrowheads="1"/>
          </p:cNvSpPr>
          <p:nvPr>
            <p:ph type="sldNum" sz="quarter" idx="10"/>
          </p:nvPr>
        </p:nvSpPr>
        <p:spPr/>
        <p:txBody>
          <a:bodyPr/>
          <a:lstStyle>
            <a:lvl1pPr>
              <a:defRPr/>
            </a:lvl1pPr>
          </a:lstStyle>
          <a:p>
            <a:pPr>
              <a:defRPr/>
            </a:pPr>
            <a:r>
              <a:rPr lang="de-DE" altLang="en-US"/>
              <a:t>Page </a:t>
            </a:r>
            <a:r>
              <a:rPr lang="de-DE" altLang="en-US">
                <a:sym typeface="MS UI Gothic" panose="020B0600070205080204" pitchFamily="34" charset="-128"/>
              </a:rPr>
              <a:t></a:t>
            </a:r>
            <a:r>
              <a:rPr lang="de-DE" altLang="en-US"/>
              <a:t> </a:t>
            </a:r>
            <a:fld id="{6FF87EDD-D88C-44D8-97FB-6009DD6ED594}" type="slidenum">
              <a:rPr lang="zh-CN" altLang="en-US"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png"/><Relationship Id="rId14" Type="http://schemas.openxmlformats.org/officeDocument/2006/relationships/image" Target="../media/image2.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2050" name="Picture 2" descr="bg2"/>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80513" cy="5013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4"/>
          <p:cNvSpPr>
            <a:spLocks noGrp="1" noChangeArrowheads="1"/>
          </p:cNvSpPr>
          <p:nvPr>
            <p:ph type="sldNum" sz="quarter" idx="4"/>
          </p:nvPr>
        </p:nvSpPr>
        <p:spPr bwMode="auto">
          <a:xfrm>
            <a:off x="7235825" y="6453188"/>
            <a:ext cx="1439863" cy="19685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000" b="1">
                <a:ea typeface="华文细黑" panose="02010600040101010101" pitchFamily="2" charset="-122"/>
              </a:defRPr>
            </a:lvl1pPr>
          </a:lstStyle>
          <a:p>
            <a:pPr>
              <a:defRPr/>
            </a:pPr>
            <a:r>
              <a:rPr lang="de-DE" altLang="en-US"/>
              <a:t>Page </a:t>
            </a:r>
            <a:r>
              <a:rPr lang="de-DE" altLang="en-US">
                <a:sym typeface="MS UI Gothic" panose="020B0600070205080204" pitchFamily="34" charset="-128"/>
              </a:rPr>
              <a:t></a:t>
            </a:r>
            <a:r>
              <a:rPr lang="de-DE" altLang="en-US"/>
              <a:t> </a:t>
            </a:r>
            <a:fld id="{B8F227BD-8E81-48D9-8EB2-264A8CA59D9A}" type="slidenum">
              <a:rPr lang="zh-CN" altLang="en-US" smtClean="0"/>
            </a:fld>
            <a:endParaRPr lang="en-US" altLang="zh-CN"/>
          </a:p>
        </p:txBody>
      </p:sp>
      <p:pic>
        <p:nvPicPr>
          <p:cNvPr id="2" name="图片 1"/>
          <p:cNvPicPr>
            <a:picLocks noChangeAspect="1"/>
          </p:cNvPicPr>
          <p:nvPr userDrawn="1"/>
        </p:nvPicPr>
        <p:blipFill>
          <a:blip r:embed="rId15"/>
          <a:stretch>
            <a:fillRect/>
          </a:stretch>
        </p:blipFill>
        <p:spPr>
          <a:xfrm>
            <a:off x="-1" y="6619981"/>
            <a:ext cx="9180513" cy="409419"/>
          </a:xfrm>
          <a:prstGeom prst="ellipse">
            <a:avLst/>
          </a:prstGeom>
          <a:ln>
            <a:noFill/>
          </a:ln>
          <a:effectLst>
            <a:softEdge rad="112500"/>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spd="slow" p14:dur="1000"/>
    </mc:Choice>
    <mc:Fallback>
      <p:transition spd="slow"/>
    </mc:Fallback>
  </mc:AlternateContent>
  <p:hf hdr="0" ftr="0" dt="0"/>
  <p:txStyles>
    <p:titleStyle>
      <a:lvl1pPr algn="l" rtl="0" eaLnBrk="0" fontAlgn="base" hangingPunct="0">
        <a:spcBef>
          <a:spcPct val="0"/>
        </a:spcBef>
        <a:spcAft>
          <a:spcPct val="0"/>
        </a:spcAft>
        <a:defRPr sz="2800" b="1">
          <a:solidFill>
            <a:schemeClr val="bg1"/>
          </a:solidFill>
          <a:latin typeface="+mj-lt"/>
          <a:ea typeface="+mj-ea"/>
          <a:cs typeface="+mj-cs"/>
        </a:defRPr>
      </a:lvl1pPr>
      <a:lvl2pPr algn="l" rtl="0" eaLnBrk="0" fontAlgn="base" hangingPunct="0">
        <a:spcBef>
          <a:spcPct val="0"/>
        </a:spcBef>
        <a:spcAft>
          <a:spcPct val="0"/>
        </a:spcAft>
        <a:defRPr sz="2800" b="1">
          <a:solidFill>
            <a:schemeClr val="bg1"/>
          </a:solidFill>
          <a:latin typeface="Arial" panose="020B0604020202020204" pitchFamily="34" charset="0"/>
          <a:ea typeface="华文细黑" panose="02010600040101010101" pitchFamily="2" charset="-122"/>
        </a:defRPr>
      </a:lvl2pPr>
      <a:lvl3pPr algn="l" rtl="0" eaLnBrk="0" fontAlgn="base" hangingPunct="0">
        <a:spcBef>
          <a:spcPct val="0"/>
        </a:spcBef>
        <a:spcAft>
          <a:spcPct val="0"/>
        </a:spcAft>
        <a:defRPr sz="2800" b="1">
          <a:solidFill>
            <a:schemeClr val="bg1"/>
          </a:solidFill>
          <a:latin typeface="Arial" panose="020B0604020202020204" pitchFamily="34" charset="0"/>
          <a:ea typeface="华文细黑" panose="02010600040101010101" pitchFamily="2" charset="-122"/>
        </a:defRPr>
      </a:lvl3pPr>
      <a:lvl4pPr algn="l" rtl="0" eaLnBrk="0" fontAlgn="base" hangingPunct="0">
        <a:spcBef>
          <a:spcPct val="0"/>
        </a:spcBef>
        <a:spcAft>
          <a:spcPct val="0"/>
        </a:spcAft>
        <a:defRPr sz="2800" b="1">
          <a:solidFill>
            <a:schemeClr val="bg1"/>
          </a:solidFill>
          <a:latin typeface="Arial" panose="020B0604020202020204" pitchFamily="34" charset="0"/>
          <a:ea typeface="华文细黑" panose="02010600040101010101" pitchFamily="2" charset="-122"/>
        </a:defRPr>
      </a:lvl4pPr>
      <a:lvl5pPr algn="l" rtl="0" eaLnBrk="0" fontAlgn="base" hangingPunct="0">
        <a:spcBef>
          <a:spcPct val="0"/>
        </a:spcBef>
        <a:spcAft>
          <a:spcPct val="0"/>
        </a:spcAft>
        <a:defRPr sz="2800" b="1">
          <a:solidFill>
            <a:schemeClr val="bg1"/>
          </a:solidFill>
          <a:latin typeface="Arial" panose="020B0604020202020204" pitchFamily="34" charset="0"/>
          <a:ea typeface="华文细黑" panose="02010600040101010101" pitchFamily="2" charset="-122"/>
        </a:defRPr>
      </a:lvl5pPr>
      <a:lvl6pPr marL="457200" algn="l" rtl="0" fontAlgn="base">
        <a:spcBef>
          <a:spcPct val="0"/>
        </a:spcBef>
        <a:spcAft>
          <a:spcPct val="0"/>
        </a:spcAft>
        <a:defRPr sz="2800" b="1">
          <a:solidFill>
            <a:schemeClr val="bg1"/>
          </a:solidFill>
          <a:latin typeface="Arial" panose="020B0604020202020204" pitchFamily="34" charset="0"/>
          <a:ea typeface="华文细黑" panose="02010600040101010101" pitchFamily="2" charset="-122"/>
        </a:defRPr>
      </a:lvl6pPr>
      <a:lvl7pPr marL="914400" algn="l" rtl="0" fontAlgn="base">
        <a:spcBef>
          <a:spcPct val="0"/>
        </a:spcBef>
        <a:spcAft>
          <a:spcPct val="0"/>
        </a:spcAft>
        <a:defRPr sz="2800" b="1">
          <a:solidFill>
            <a:schemeClr val="bg1"/>
          </a:solidFill>
          <a:latin typeface="Arial" panose="020B0604020202020204" pitchFamily="34" charset="0"/>
          <a:ea typeface="华文细黑" panose="02010600040101010101" pitchFamily="2" charset="-122"/>
        </a:defRPr>
      </a:lvl7pPr>
      <a:lvl8pPr marL="1371600" algn="l" rtl="0" fontAlgn="base">
        <a:spcBef>
          <a:spcPct val="0"/>
        </a:spcBef>
        <a:spcAft>
          <a:spcPct val="0"/>
        </a:spcAft>
        <a:defRPr sz="2800" b="1">
          <a:solidFill>
            <a:schemeClr val="bg1"/>
          </a:solidFill>
          <a:latin typeface="Arial" panose="020B0604020202020204" pitchFamily="34" charset="0"/>
          <a:ea typeface="华文细黑" panose="02010600040101010101" pitchFamily="2" charset="-122"/>
        </a:defRPr>
      </a:lvl8pPr>
      <a:lvl9pPr marL="1828800" algn="l" rtl="0" fontAlgn="base">
        <a:spcBef>
          <a:spcPct val="0"/>
        </a:spcBef>
        <a:spcAft>
          <a:spcPct val="0"/>
        </a:spcAft>
        <a:defRPr sz="2800" b="1">
          <a:solidFill>
            <a:schemeClr val="bg1"/>
          </a:solidFill>
          <a:latin typeface="Arial" panose="020B0604020202020204" pitchFamily="34" charset="0"/>
          <a:ea typeface="华文细黑" panose="02010600040101010101" pitchFamily="2" charset="-122"/>
        </a:defRPr>
      </a:lvl9pPr>
    </p:titleStyle>
    <p:body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20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1600">
          <a:solidFill>
            <a:schemeClr val="tx1"/>
          </a:solidFill>
          <a:latin typeface="+mn-lt"/>
          <a:ea typeface="+mn-ea"/>
        </a:defRPr>
      </a:lvl3pPr>
      <a:lvl4pPr marL="1600200" indent="-228600" algn="l" rtl="0" eaLnBrk="0" fontAlgn="base" hangingPunct="0">
        <a:spcBef>
          <a:spcPct val="20000"/>
        </a:spcBef>
        <a:spcAft>
          <a:spcPct val="0"/>
        </a:spcAft>
        <a:buClr>
          <a:schemeClr val="hlink"/>
        </a:buClr>
        <a:buFont typeface="Wingdings" panose="05000000000000000000" pitchFamily="2" charset="2"/>
        <a:buChar char="n"/>
        <a:defRPr sz="14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a:solidFill>
            <a:schemeClr val="tx1"/>
          </a:solidFill>
          <a:latin typeface="+mn-lt"/>
          <a:ea typeface="+mn-ea"/>
        </a:defRPr>
      </a:lvl6pPr>
      <a:lvl7pPr marL="2971800" indent="-228600" algn="l" rtl="0" fontAlgn="base">
        <a:spcBef>
          <a:spcPct val="20000"/>
        </a:spcBef>
        <a:spcAft>
          <a:spcPct val="0"/>
        </a:spcAft>
        <a:buChar char="»"/>
        <a:defRPr>
          <a:solidFill>
            <a:schemeClr val="tx1"/>
          </a:solidFill>
          <a:latin typeface="+mn-lt"/>
          <a:ea typeface="+mn-ea"/>
        </a:defRPr>
      </a:lvl7pPr>
      <a:lvl8pPr marL="3429000" indent="-228600" algn="l" rtl="0" fontAlgn="base">
        <a:spcBef>
          <a:spcPct val="20000"/>
        </a:spcBef>
        <a:spcAft>
          <a:spcPct val="0"/>
        </a:spcAft>
        <a:buChar char="»"/>
        <a:defRPr>
          <a:solidFill>
            <a:schemeClr val="tx1"/>
          </a:solidFill>
          <a:latin typeface="+mn-lt"/>
          <a:ea typeface="+mn-ea"/>
        </a:defRPr>
      </a:lvl8pPr>
      <a:lvl9pPr marL="3886200" indent="-228600" algn="l" rtl="0" fontAlgn="base">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image" Target="../media/image6.png"/><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slideLayout" Target="../slideLayouts/slideLayout3.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image" Target="../media/image8.png"/><Relationship Id="rId10" Type="http://schemas.openxmlformats.org/officeDocument/2006/relationships/tags" Target="../tags/tag8.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image" Target="../media/image46.png"/></Relationships>
</file>

<file path=ppt/slides/_rels/slide51.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52.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3" Type="http://schemas.openxmlformats.org/officeDocument/2006/relationships/notesSlide" Target="../notesSlides/notesSlide20.xml"/><Relationship Id="rId12" Type="http://schemas.openxmlformats.org/officeDocument/2006/relationships/slideLayout" Target="../slideLayouts/slideLayout2.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image" Target="../media/image48.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5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5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5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6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6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6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7.png"/><Relationship Id="rId1" Type="http://schemas.openxmlformats.org/officeDocument/2006/relationships/image" Target="../media/image56.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7.png"/><Relationship Id="rId1" Type="http://schemas.openxmlformats.org/officeDocument/2006/relationships/image" Target="../media/image56.png"/></Relationships>
</file>

<file path=ppt/slides/_rels/slide6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59.png"/><Relationship Id="rId6" Type="http://schemas.openxmlformats.org/officeDocument/2006/relationships/image" Target="../media/image58.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6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6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68.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60.png"/><Relationship Id="rId6" Type="http://schemas.openxmlformats.org/officeDocument/2006/relationships/image" Target="../media/image61.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69.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62.png"/><Relationship Id="rId6" Type="http://schemas.openxmlformats.org/officeDocument/2006/relationships/image" Target="../media/image60.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7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3.png"/></Relationships>
</file>

<file path=ppt/slides/_rels/slide7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3.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3.png"/></Relationships>
</file>

<file path=ppt/slides/_rels/slide7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7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7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7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8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6.png"/></Relationships>
</file>

<file path=ppt/slides/_rels/slide8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68.png"/><Relationship Id="rId6" Type="http://schemas.openxmlformats.org/officeDocument/2006/relationships/image" Target="../media/image67.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9.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1.png"/><Relationship Id="rId1"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588"/>
            <a:ext cx="9142413" cy="685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8"/>
          <p:cNvSpPr txBox="1">
            <a:spLocks noChangeArrowheads="1"/>
          </p:cNvSpPr>
          <p:nvPr/>
        </p:nvSpPr>
        <p:spPr bwMode="auto">
          <a:xfrm>
            <a:off x="250825" y="62261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US" altLang="zh-CN" sz="2400" b="1">
              <a:latin typeface="Verdana" panose="020B0604030504040204" pitchFamily="34" charset="0"/>
            </a:endParaRPr>
          </a:p>
        </p:txBody>
      </p:sp>
      <p:sp>
        <p:nvSpPr>
          <p:cNvPr id="6" name="Rectangle 7"/>
          <p:cNvSpPr>
            <a:spLocks noChangeArrowheads="1"/>
          </p:cNvSpPr>
          <p:nvPr/>
        </p:nvSpPr>
        <p:spPr bwMode="auto">
          <a:xfrm>
            <a:off x="900113" y="2349500"/>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cene3d>
              <a:camera prst="orthographicFront"/>
              <a:lightRig rig="glow" dir="tl">
                <a:rot lat="0" lon="0" rev="5400000"/>
              </a:lightRig>
            </a:scene3d>
            <a:sp3d contourW="12700">
              <a:bevelT w="25400" h="25400"/>
              <a:contourClr>
                <a:schemeClr val="accent6">
                  <a:shade val="73000"/>
                </a:schemeClr>
              </a:contourClr>
            </a:sp3d>
          </a:bodyPr>
          <a:lstStyle/>
          <a:p>
            <a:pPr algn="ctr" eaLnBrk="1" hangingPunct="1">
              <a:defRPr/>
            </a:pPr>
            <a:r>
              <a:rPr lang="zh-CN" altLang="en-US" sz="6000" b="1" dirty="0">
                <a:ln w="11430"/>
                <a:gradFill>
                  <a:gsLst>
                    <a:gs pos="0">
                      <a:srgbClr val="F79646">
                        <a:tint val="90000"/>
                        <a:satMod val="120000"/>
                      </a:srgbClr>
                    </a:gs>
                    <a:gs pos="25000">
                      <a:srgbClr val="F79646">
                        <a:tint val="93000"/>
                        <a:satMod val="120000"/>
                      </a:srgbClr>
                    </a:gs>
                    <a:gs pos="50000">
                      <a:srgbClr val="F79646">
                        <a:shade val="89000"/>
                        <a:satMod val="110000"/>
                      </a:srgbClr>
                    </a:gs>
                    <a:gs pos="75000">
                      <a:srgbClr val="F79646">
                        <a:tint val="93000"/>
                        <a:satMod val="120000"/>
                      </a:srgbClr>
                    </a:gs>
                    <a:gs pos="100000">
                      <a:srgbClr val="F79646">
                        <a:tint val="90000"/>
                        <a:satMod val="120000"/>
                      </a:srgbClr>
                    </a:gs>
                  </a:gsLst>
                  <a:lin ang="5400000"/>
                </a:gradFill>
                <a:effectLst>
                  <a:outerShdw blurRad="50800" dist="38100" dir="8100000" algn="tr" rotWithShape="0">
                    <a:prstClr val="black">
                      <a:alpha val="40000"/>
                    </a:prstClr>
                  </a:outerShdw>
                </a:effectLst>
                <a:latin typeface="方正正大黑简体" pitchFamily="2" charset="-122"/>
                <a:ea typeface="方正正大黑简体" pitchFamily="2" charset="-122"/>
              </a:rPr>
              <a:t>第</a:t>
            </a:r>
            <a:r>
              <a:rPr lang="en-US" altLang="zh-CN" sz="6000" b="1" dirty="0">
                <a:ln w="11430"/>
                <a:gradFill>
                  <a:gsLst>
                    <a:gs pos="0">
                      <a:srgbClr val="F79646">
                        <a:tint val="90000"/>
                        <a:satMod val="120000"/>
                      </a:srgbClr>
                    </a:gs>
                    <a:gs pos="25000">
                      <a:srgbClr val="F79646">
                        <a:tint val="93000"/>
                        <a:satMod val="120000"/>
                      </a:srgbClr>
                    </a:gs>
                    <a:gs pos="50000">
                      <a:srgbClr val="F79646">
                        <a:shade val="89000"/>
                        <a:satMod val="110000"/>
                      </a:srgbClr>
                    </a:gs>
                    <a:gs pos="75000">
                      <a:srgbClr val="F79646">
                        <a:tint val="93000"/>
                        <a:satMod val="120000"/>
                      </a:srgbClr>
                    </a:gs>
                    <a:gs pos="100000">
                      <a:srgbClr val="F79646">
                        <a:tint val="90000"/>
                        <a:satMod val="120000"/>
                      </a:srgbClr>
                    </a:gs>
                  </a:gsLst>
                  <a:lin ang="5400000"/>
                </a:gradFill>
                <a:effectLst>
                  <a:outerShdw blurRad="50800" dist="38100" dir="8100000" algn="tr" rotWithShape="0">
                    <a:prstClr val="black">
                      <a:alpha val="40000"/>
                    </a:prstClr>
                  </a:outerShdw>
                </a:effectLst>
                <a:latin typeface="方正正大黑简体" pitchFamily="2" charset="-122"/>
                <a:ea typeface="方正正大黑简体" pitchFamily="2" charset="-122"/>
              </a:rPr>
              <a:t>6</a:t>
            </a:r>
            <a:r>
              <a:rPr lang="zh-CN" altLang="en-US" sz="6000" b="1" dirty="0">
                <a:ln w="11430"/>
                <a:gradFill>
                  <a:gsLst>
                    <a:gs pos="0">
                      <a:srgbClr val="F79646">
                        <a:tint val="90000"/>
                        <a:satMod val="120000"/>
                      </a:srgbClr>
                    </a:gs>
                    <a:gs pos="25000">
                      <a:srgbClr val="F79646">
                        <a:tint val="93000"/>
                        <a:satMod val="120000"/>
                      </a:srgbClr>
                    </a:gs>
                    <a:gs pos="50000">
                      <a:srgbClr val="F79646">
                        <a:shade val="89000"/>
                        <a:satMod val="110000"/>
                      </a:srgbClr>
                    </a:gs>
                    <a:gs pos="75000">
                      <a:srgbClr val="F79646">
                        <a:tint val="93000"/>
                        <a:satMod val="120000"/>
                      </a:srgbClr>
                    </a:gs>
                    <a:gs pos="100000">
                      <a:srgbClr val="F79646">
                        <a:tint val="90000"/>
                        <a:satMod val="120000"/>
                      </a:srgbClr>
                    </a:gs>
                  </a:gsLst>
                  <a:lin ang="5400000"/>
                </a:gradFill>
                <a:effectLst>
                  <a:outerShdw blurRad="50800" dist="38100" dir="8100000" algn="tr" rotWithShape="0">
                    <a:prstClr val="black">
                      <a:alpha val="40000"/>
                    </a:prstClr>
                  </a:outerShdw>
                </a:effectLst>
                <a:latin typeface="方正正大黑简体" pitchFamily="2" charset="-122"/>
                <a:ea typeface="方正正大黑简体" pitchFamily="2" charset="-122"/>
              </a:rPr>
              <a:t>章 回朔法</a:t>
            </a:r>
            <a:endParaRPr lang="zh-CN" altLang="en-US" sz="6000" b="1" dirty="0">
              <a:ln w="11430"/>
              <a:gradFill>
                <a:gsLst>
                  <a:gs pos="0">
                    <a:srgbClr val="F79646">
                      <a:tint val="90000"/>
                      <a:satMod val="120000"/>
                    </a:srgbClr>
                  </a:gs>
                  <a:gs pos="25000">
                    <a:srgbClr val="F79646">
                      <a:tint val="93000"/>
                      <a:satMod val="120000"/>
                    </a:srgbClr>
                  </a:gs>
                  <a:gs pos="50000">
                    <a:srgbClr val="F79646">
                      <a:shade val="89000"/>
                      <a:satMod val="110000"/>
                    </a:srgbClr>
                  </a:gs>
                  <a:gs pos="75000">
                    <a:srgbClr val="F79646">
                      <a:tint val="93000"/>
                      <a:satMod val="120000"/>
                    </a:srgbClr>
                  </a:gs>
                  <a:gs pos="100000">
                    <a:srgbClr val="F79646">
                      <a:tint val="90000"/>
                      <a:satMod val="120000"/>
                    </a:srgbClr>
                  </a:gs>
                </a:gsLst>
                <a:lin ang="5400000"/>
              </a:gradFill>
              <a:effectLst>
                <a:outerShdw blurRad="50800" dist="38100" dir="8100000" algn="tr" rotWithShape="0">
                  <a:prstClr val="black">
                    <a:alpha val="40000"/>
                  </a:prstClr>
                </a:outerShdw>
              </a:effectLst>
              <a:latin typeface="方正正大黑简体" pitchFamily="2" charset="-122"/>
              <a:ea typeface="方正正大黑简体"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1" y="1051168"/>
            <a:ext cx="521290" cy="62483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buFont typeface="Arial" panose="020B0604020202020204" pitchFamily="34" charset="0"/>
              <a:buNone/>
            </a:pPr>
            <a:endParaRPr lang="zh-CN" altLang="en-US"/>
          </a:p>
        </p:txBody>
      </p:sp>
      <p:pic>
        <p:nvPicPr>
          <p:cNvPr id="2" name="图片 1"/>
          <p:cNvPicPr>
            <a:picLocks noChangeAspect="1"/>
          </p:cNvPicPr>
          <p:nvPr/>
        </p:nvPicPr>
        <p:blipFill>
          <a:blip r:embed="rId1"/>
          <a:stretch>
            <a:fillRect/>
          </a:stretch>
        </p:blipFill>
        <p:spPr>
          <a:xfrm>
            <a:off x="1691640" y="908685"/>
            <a:ext cx="5902960" cy="5339080"/>
          </a:xfrm>
          <a:prstGeom prst="rect">
            <a:avLst/>
          </a:prstGeom>
        </p:spPr>
      </p:pic>
      <p:sp>
        <p:nvSpPr>
          <p:cNvPr id="4" name="文本框 3"/>
          <p:cNvSpPr txBox="1"/>
          <p:nvPr/>
        </p:nvSpPr>
        <p:spPr>
          <a:xfrm>
            <a:off x="521335" y="1124585"/>
            <a:ext cx="1515745" cy="368300"/>
          </a:xfrm>
          <a:prstGeom prst="rect">
            <a:avLst/>
          </a:prstGeom>
          <a:noFill/>
        </p:spPr>
        <p:txBody>
          <a:bodyPr wrap="square" rtlCol="0">
            <a:spAutoFit/>
          </a:bodyPr>
          <a:lstStyle/>
          <a:p>
            <a:r>
              <a:rPr lang="zh-CN" altLang="en-US">
                <a:latin typeface="黑体" panose="02010609060101010101" charset="-122"/>
                <a:ea typeface="黑体" panose="02010609060101010101" charset="-122"/>
                <a:cs typeface="Times New Roman" panose="02020603050405020304" pitchFamily="18" charset="0"/>
              </a:rPr>
              <a:t>本章概要</a:t>
            </a:r>
            <a:endParaRPr lang="zh-CN" altLang="en-US">
              <a:latin typeface="黑体" panose="02010609060101010101" charset="-122"/>
              <a:ea typeface="黑体" panose="02010609060101010101" charset="-122"/>
              <a:cs typeface="Times New Roman" panose="02020603050405020304" pitchFamily="18" charset="0"/>
            </a:endParaRPr>
          </a:p>
        </p:txBody>
      </p:sp>
      <p:sp>
        <p:nvSpPr>
          <p:cNvPr id="11" name="Freeform 6"/>
          <p:cNvSpPr/>
          <p:nvPr/>
        </p:nvSpPr>
        <p:spPr bwMode="auto">
          <a:xfrm>
            <a:off x="107195" y="1124554"/>
            <a:ext cx="397513" cy="501058"/>
          </a:xfrm>
          <a:custGeom>
            <a:avLst/>
            <a:gdLst>
              <a:gd name="T0" fmla="*/ 510720 w 1173"/>
              <a:gd name="T1" fmla="*/ 242556 h 1472"/>
              <a:gd name="T2" fmla="*/ 494464 w 1173"/>
              <a:gd name="T3" fmla="*/ 21309 h 1472"/>
              <a:gd name="T4" fmla="*/ 481820 w 1173"/>
              <a:gd name="T5" fmla="*/ 24482 h 1472"/>
              <a:gd name="T6" fmla="*/ 452920 w 1173"/>
              <a:gd name="T7" fmla="*/ 30830 h 1472"/>
              <a:gd name="T8" fmla="*/ 414988 w 1173"/>
              <a:gd name="T9" fmla="*/ 24482 h 1472"/>
              <a:gd name="T10" fmla="*/ 284035 w 1173"/>
              <a:gd name="T11" fmla="*/ 2267 h 1472"/>
              <a:gd name="T12" fmla="*/ 0 w 1173"/>
              <a:gd name="T13" fmla="*/ 348193 h 1472"/>
              <a:gd name="T14" fmla="*/ 290356 w 1173"/>
              <a:gd name="T15" fmla="*/ 665102 h 1472"/>
              <a:gd name="T16" fmla="*/ 529686 w 1173"/>
              <a:gd name="T17" fmla="*/ 492366 h 1472"/>
              <a:gd name="T18" fmla="*/ 491303 w 1173"/>
              <a:gd name="T19" fmla="*/ 469697 h 1472"/>
              <a:gd name="T20" fmla="*/ 312483 w 1173"/>
              <a:gd name="T21" fmla="*/ 620671 h 1472"/>
              <a:gd name="T22" fmla="*/ 130954 w 1173"/>
              <a:gd name="T23" fmla="*/ 328697 h 1472"/>
              <a:gd name="T24" fmla="*/ 290356 w 1173"/>
              <a:gd name="T25" fmla="*/ 47151 h 1472"/>
              <a:gd name="T26" fmla="*/ 472337 w 1173"/>
              <a:gd name="T27" fmla="*/ 258424 h 1472"/>
              <a:gd name="T28" fmla="*/ 510720 w 1173"/>
              <a:gd name="T29" fmla="*/ 242556 h 14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文本框 13"/>
          <p:cNvSpPr txBox="1"/>
          <p:nvPr/>
        </p:nvSpPr>
        <p:spPr>
          <a:xfrm>
            <a:off x="535305" y="1384300"/>
            <a:ext cx="1690370" cy="368300"/>
          </a:xfrm>
          <a:prstGeom prst="rect">
            <a:avLst/>
          </a:prstGeom>
          <a:noFill/>
        </p:spPr>
        <p:txBody>
          <a:bodyPr wrap="square" rtlCol="0">
            <a:spAutoFit/>
          </a:bodyPr>
          <a:p>
            <a:r>
              <a:rPr lang="en-US" altLang="zh-CN"/>
              <a:t>abstract</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1" y="1051168"/>
            <a:ext cx="521290" cy="62483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buFont typeface="Arial" panose="020B0604020202020204" pitchFamily="34" charset="0"/>
              <a:buNone/>
            </a:pPr>
            <a:endParaRPr lang="zh-CN" altLang="en-US"/>
          </a:p>
        </p:txBody>
      </p:sp>
      <p:sp>
        <p:nvSpPr>
          <p:cNvPr id="6" name="Freeform 6"/>
          <p:cNvSpPr/>
          <p:nvPr/>
        </p:nvSpPr>
        <p:spPr bwMode="auto">
          <a:xfrm>
            <a:off x="105925" y="1140429"/>
            <a:ext cx="397513" cy="501058"/>
          </a:xfrm>
          <a:custGeom>
            <a:avLst/>
            <a:gdLst>
              <a:gd name="T0" fmla="*/ 510720 w 1173"/>
              <a:gd name="T1" fmla="*/ 242556 h 1472"/>
              <a:gd name="T2" fmla="*/ 494464 w 1173"/>
              <a:gd name="T3" fmla="*/ 21309 h 1472"/>
              <a:gd name="T4" fmla="*/ 481820 w 1173"/>
              <a:gd name="T5" fmla="*/ 24482 h 1472"/>
              <a:gd name="T6" fmla="*/ 452920 w 1173"/>
              <a:gd name="T7" fmla="*/ 30830 h 1472"/>
              <a:gd name="T8" fmla="*/ 414988 w 1173"/>
              <a:gd name="T9" fmla="*/ 24482 h 1472"/>
              <a:gd name="T10" fmla="*/ 284035 w 1173"/>
              <a:gd name="T11" fmla="*/ 2267 h 1472"/>
              <a:gd name="T12" fmla="*/ 0 w 1173"/>
              <a:gd name="T13" fmla="*/ 348193 h 1472"/>
              <a:gd name="T14" fmla="*/ 290356 w 1173"/>
              <a:gd name="T15" fmla="*/ 665102 h 1472"/>
              <a:gd name="T16" fmla="*/ 529686 w 1173"/>
              <a:gd name="T17" fmla="*/ 492366 h 1472"/>
              <a:gd name="T18" fmla="*/ 491303 w 1173"/>
              <a:gd name="T19" fmla="*/ 469697 h 1472"/>
              <a:gd name="T20" fmla="*/ 312483 w 1173"/>
              <a:gd name="T21" fmla="*/ 620671 h 1472"/>
              <a:gd name="T22" fmla="*/ 130954 w 1173"/>
              <a:gd name="T23" fmla="*/ 328697 h 1472"/>
              <a:gd name="T24" fmla="*/ 290356 w 1173"/>
              <a:gd name="T25" fmla="*/ 47151 h 1472"/>
              <a:gd name="T26" fmla="*/ 472337 w 1173"/>
              <a:gd name="T27" fmla="*/ 258424 h 1472"/>
              <a:gd name="T28" fmla="*/ 510720 w 1173"/>
              <a:gd name="T29" fmla="*/ 242556 h 14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 name="Freeform 7"/>
          <p:cNvSpPr>
            <a:spLocks noEditPoints="1"/>
          </p:cNvSpPr>
          <p:nvPr/>
        </p:nvSpPr>
        <p:spPr bwMode="auto">
          <a:xfrm>
            <a:off x="566516" y="1497477"/>
            <a:ext cx="742660" cy="151151"/>
          </a:xfrm>
          <a:custGeom>
            <a:avLst/>
            <a:gdLst>
              <a:gd name="T0" fmla="*/ 22141 w 2195"/>
              <a:gd name="T1" fmla="*/ 126007 h 445"/>
              <a:gd name="T2" fmla="*/ 113870 w 2195"/>
              <a:gd name="T3" fmla="*/ 125101 h 445"/>
              <a:gd name="T4" fmla="*/ 68684 w 2195"/>
              <a:gd name="T5" fmla="*/ 200795 h 445"/>
              <a:gd name="T6" fmla="*/ 70491 w 2195"/>
              <a:gd name="T7" fmla="*/ 47593 h 445"/>
              <a:gd name="T8" fmla="*/ 68684 w 2195"/>
              <a:gd name="T9" fmla="*/ 200795 h 445"/>
              <a:gd name="T10" fmla="*/ 300490 w 2195"/>
              <a:gd name="T11" fmla="*/ 196716 h 445"/>
              <a:gd name="T12" fmla="*/ 279253 w 2195"/>
              <a:gd name="T13" fmla="*/ 106064 h 445"/>
              <a:gd name="T14" fmla="*/ 201532 w 2195"/>
              <a:gd name="T15" fmla="*/ 106970 h 445"/>
              <a:gd name="T16" fmla="*/ 180746 w 2195"/>
              <a:gd name="T17" fmla="*/ 197623 h 445"/>
              <a:gd name="T18" fmla="*/ 201532 w 2195"/>
              <a:gd name="T19" fmla="*/ 50312 h 445"/>
              <a:gd name="T20" fmla="*/ 249881 w 2195"/>
              <a:gd name="T21" fmla="*/ 46233 h 445"/>
              <a:gd name="T22" fmla="*/ 405323 w 2195"/>
              <a:gd name="T23" fmla="*/ 184478 h 445"/>
              <a:gd name="T24" fmla="*/ 387248 w 2195"/>
              <a:gd name="T25" fmla="*/ 199889 h 445"/>
              <a:gd name="T26" fmla="*/ 356973 w 2195"/>
              <a:gd name="T27" fmla="*/ 68443 h 445"/>
              <a:gd name="T28" fmla="*/ 336640 w 2195"/>
              <a:gd name="T29" fmla="*/ 50312 h 445"/>
              <a:gd name="T30" fmla="*/ 356973 w 2195"/>
              <a:gd name="T31" fmla="*/ 10878 h 445"/>
              <a:gd name="T32" fmla="*/ 378211 w 2195"/>
              <a:gd name="T33" fmla="*/ 50312 h 445"/>
              <a:gd name="T34" fmla="*/ 405323 w 2195"/>
              <a:gd name="T35" fmla="*/ 68443 h 445"/>
              <a:gd name="T36" fmla="*/ 378211 w 2195"/>
              <a:gd name="T37" fmla="*/ 167707 h 445"/>
              <a:gd name="T38" fmla="*/ 405323 w 2195"/>
              <a:gd name="T39" fmla="*/ 184478 h 445"/>
              <a:gd name="T40" fmla="*/ 548564 w 2195"/>
              <a:gd name="T41" fmla="*/ 112862 h 445"/>
              <a:gd name="T42" fmla="*/ 460902 w 2195"/>
              <a:gd name="T43" fmla="*/ 112862 h 445"/>
              <a:gd name="T44" fmla="*/ 570706 w 2195"/>
              <a:gd name="T45" fmla="*/ 157282 h 445"/>
              <a:gd name="T46" fmla="*/ 436502 w 2195"/>
              <a:gd name="T47" fmla="*/ 126007 h 445"/>
              <a:gd name="T48" fmla="*/ 571609 w 2195"/>
              <a:gd name="T49" fmla="*/ 126007 h 445"/>
              <a:gd name="T50" fmla="*/ 459999 w 2195"/>
              <a:gd name="T51" fmla="*/ 130993 h 445"/>
              <a:gd name="T52" fmla="*/ 548564 w 2195"/>
              <a:gd name="T53" fmla="*/ 151390 h 445"/>
              <a:gd name="T54" fmla="*/ 734733 w 2195"/>
              <a:gd name="T55" fmla="*/ 196716 h 445"/>
              <a:gd name="T56" fmla="*/ 713947 w 2195"/>
              <a:gd name="T57" fmla="*/ 106064 h 445"/>
              <a:gd name="T58" fmla="*/ 636226 w 2195"/>
              <a:gd name="T59" fmla="*/ 106970 h 445"/>
              <a:gd name="T60" fmla="*/ 614988 w 2195"/>
              <a:gd name="T61" fmla="*/ 197623 h 445"/>
              <a:gd name="T62" fmla="*/ 636226 w 2195"/>
              <a:gd name="T63" fmla="*/ 50312 h 445"/>
              <a:gd name="T64" fmla="*/ 684576 w 2195"/>
              <a:gd name="T65" fmla="*/ 46233 h 445"/>
              <a:gd name="T66" fmla="*/ 840017 w 2195"/>
              <a:gd name="T67" fmla="*/ 184478 h 445"/>
              <a:gd name="T68" fmla="*/ 821491 w 2195"/>
              <a:gd name="T69" fmla="*/ 199889 h 445"/>
              <a:gd name="T70" fmla="*/ 791668 w 2195"/>
              <a:gd name="T71" fmla="*/ 68443 h 445"/>
              <a:gd name="T72" fmla="*/ 771334 w 2195"/>
              <a:gd name="T73" fmla="*/ 50312 h 445"/>
              <a:gd name="T74" fmla="*/ 791668 w 2195"/>
              <a:gd name="T75" fmla="*/ 10878 h 445"/>
              <a:gd name="T76" fmla="*/ 812454 w 2195"/>
              <a:gd name="T77" fmla="*/ 50312 h 445"/>
              <a:gd name="T78" fmla="*/ 840017 w 2195"/>
              <a:gd name="T79" fmla="*/ 68443 h 445"/>
              <a:gd name="T80" fmla="*/ 812454 w 2195"/>
              <a:gd name="T81" fmla="*/ 167707 h 445"/>
              <a:gd name="T82" fmla="*/ 840017 w 2195"/>
              <a:gd name="T83" fmla="*/ 184478 h 445"/>
              <a:gd name="T84" fmla="*/ 985066 w 2195"/>
              <a:gd name="T85" fmla="*/ 85667 h 445"/>
              <a:gd name="T86" fmla="*/ 875263 w 2195"/>
              <a:gd name="T87" fmla="*/ 87933 h 445"/>
              <a:gd name="T88" fmla="*/ 968799 w 2195"/>
              <a:gd name="T89" fmla="*/ 159549 h 445"/>
              <a:gd name="T90" fmla="*/ 890174 w 2195"/>
              <a:gd name="T91" fmla="*/ 151390 h 445"/>
              <a:gd name="T92" fmla="*/ 931746 w 2195"/>
              <a:gd name="T93" fmla="*/ 200795 h 445"/>
              <a:gd name="T94" fmla="*/ 937620 w 2195"/>
              <a:gd name="T95" fmla="*/ 114222 h 445"/>
              <a:gd name="T96" fmla="*/ 929487 w 2195"/>
              <a:gd name="T97" fmla="*/ 65723 h 44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 name="Freeform 8"/>
          <p:cNvSpPr>
            <a:spLocks noEditPoints="1"/>
          </p:cNvSpPr>
          <p:nvPr/>
        </p:nvSpPr>
        <p:spPr bwMode="auto">
          <a:xfrm>
            <a:off x="595080" y="1061879"/>
            <a:ext cx="714096" cy="335625"/>
          </a:xfrm>
          <a:custGeom>
            <a:avLst/>
            <a:gdLst>
              <a:gd name="T0" fmla="*/ 345008 w 2109"/>
              <a:gd name="T1" fmla="*/ 0 h 986"/>
              <a:gd name="T2" fmla="*/ 305269 w 2109"/>
              <a:gd name="T3" fmla="*/ 447253 h 986"/>
              <a:gd name="T4" fmla="*/ 37933 w 2109"/>
              <a:gd name="T5" fmla="*/ 409150 h 986"/>
              <a:gd name="T6" fmla="*/ 0 w 2109"/>
              <a:gd name="T7" fmla="*/ 447253 h 986"/>
              <a:gd name="T8" fmla="*/ 37933 w 2109"/>
              <a:gd name="T9" fmla="*/ 36288 h 986"/>
              <a:gd name="T10" fmla="*/ 305269 w 2109"/>
              <a:gd name="T11" fmla="*/ 126555 h 986"/>
              <a:gd name="T12" fmla="*/ 37933 w 2109"/>
              <a:gd name="T13" fmla="*/ 36288 h 986"/>
              <a:gd name="T14" fmla="*/ 37933 w 2109"/>
              <a:gd name="T15" fmla="*/ 376944 h 986"/>
              <a:gd name="T16" fmla="*/ 305269 w 2109"/>
              <a:gd name="T17" fmla="*/ 284863 h 986"/>
              <a:gd name="T18" fmla="*/ 37933 w 2109"/>
              <a:gd name="T19" fmla="*/ 160576 h 986"/>
              <a:gd name="T20" fmla="*/ 305269 w 2109"/>
              <a:gd name="T21" fmla="*/ 252657 h 986"/>
              <a:gd name="T22" fmla="*/ 37933 w 2109"/>
              <a:gd name="T23" fmla="*/ 160576 h 986"/>
              <a:gd name="T24" fmla="*/ 912645 w 2109"/>
              <a:gd name="T25" fmla="*/ 250843 h 986"/>
              <a:gd name="T26" fmla="*/ 808781 w 2109"/>
              <a:gd name="T27" fmla="*/ 314801 h 986"/>
              <a:gd name="T28" fmla="*/ 926644 w 2109"/>
              <a:gd name="T29" fmla="*/ 415047 h 986"/>
              <a:gd name="T30" fmla="*/ 731109 w 2109"/>
              <a:gd name="T31" fmla="*/ 371048 h 986"/>
              <a:gd name="T32" fmla="*/ 605118 w 2109"/>
              <a:gd name="T33" fmla="*/ 441356 h 986"/>
              <a:gd name="T34" fmla="*/ 658856 w 2109"/>
              <a:gd name="T35" fmla="*/ 403253 h 986"/>
              <a:gd name="T36" fmla="*/ 694983 w 2109"/>
              <a:gd name="T37" fmla="*/ 202761 h 986"/>
              <a:gd name="T38" fmla="*/ 477321 w 2109"/>
              <a:gd name="T39" fmla="*/ 170555 h 986"/>
              <a:gd name="T40" fmla="*/ 834973 w 2109"/>
              <a:gd name="T41" fmla="*/ 118391 h 986"/>
              <a:gd name="T42" fmla="*/ 537381 w 2109"/>
              <a:gd name="T43" fmla="*/ 86185 h 986"/>
              <a:gd name="T44" fmla="*/ 834973 w 2109"/>
              <a:gd name="T45" fmla="*/ 34020 h 986"/>
              <a:gd name="T46" fmla="*/ 529253 w 2109"/>
              <a:gd name="T47" fmla="*/ 2268 h 986"/>
              <a:gd name="T48" fmla="*/ 872454 w 2109"/>
              <a:gd name="T49" fmla="*/ 170555 h 986"/>
              <a:gd name="T50" fmla="*/ 948771 w 2109"/>
              <a:gd name="T51" fmla="*/ 202761 h 986"/>
              <a:gd name="T52" fmla="*/ 731109 w 2109"/>
              <a:gd name="T53" fmla="*/ 218637 h 986"/>
              <a:gd name="T54" fmla="*/ 886453 w 2109"/>
              <a:gd name="T55" fmla="*/ 218637 h 986"/>
              <a:gd name="T56" fmla="*/ 675113 w 2109"/>
              <a:gd name="T57" fmla="*/ 293028 h 986"/>
              <a:gd name="T58" fmla="*/ 485449 w 2109"/>
              <a:gd name="T59" fmla="*/ 403253 h 986"/>
              <a:gd name="T60" fmla="*/ 537381 w 2109"/>
              <a:gd name="T61" fmla="*/ 214554 h 986"/>
              <a:gd name="T62" fmla="*/ 631310 w 2109"/>
              <a:gd name="T63" fmla="*/ 276698 h 986"/>
              <a:gd name="T64" fmla="*/ 549122 w 2109"/>
              <a:gd name="T65" fmla="*/ 266719 h 986"/>
              <a:gd name="T66" fmla="*/ 537381 w 2109"/>
              <a:gd name="T67" fmla="*/ 214554 h 98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109" h="986">
                <a:moveTo>
                  <a:pt x="0" y="0"/>
                </a:moveTo>
                <a:lnTo>
                  <a:pt x="764" y="0"/>
                </a:lnTo>
                <a:lnTo>
                  <a:pt x="764" y="986"/>
                </a:lnTo>
                <a:lnTo>
                  <a:pt x="676" y="986"/>
                </a:lnTo>
                <a:lnTo>
                  <a:pt x="676" y="902"/>
                </a:lnTo>
                <a:lnTo>
                  <a:pt x="84" y="902"/>
                </a:lnTo>
                <a:lnTo>
                  <a:pt x="84" y="986"/>
                </a:lnTo>
                <a:lnTo>
                  <a:pt x="0" y="986"/>
                </a:lnTo>
                <a:lnTo>
                  <a:pt x="0" y="0"/>
                </a:lnTo>
                <a:close/>
                <a:moveTo>
                  <a:pt x="84" y="80"/>
                </a:moveTo>
                <a:lnTo>
                  <a:pt x="84" y="279"/>
                </a:lnTo>
                <a:lnTo>
                  <a:pt x="676" y="279"/>
                </a:lnTo>
                <a:lnTo>
                  <a:pt x="676" y="80"/>
                </a:lnTo>
                <a:lnTo>
                  <a:pt x="84" y="80"/>
                </a:lnTo>
                <a:close/>
                <a:moveTo>
                  <a:pt x="84" y="628"/>
                </a:moveTo>
                <a:lnTo>
                  <a:pt x="84" y="831"/>
                </a:lnTo>
                <a:lnTo>
                  <a:pt x="676" y="831"/>
                </a:lnTo>
                <a:lnTo>
                  <a:pt x="676" y="628"/>
                </a:lnTo>
                <a:lnTo>
                  <a:pt x="84" y="628"/>
                </a:lnTo>
                <a:close/>
                <a:moveTo>
                  <a:pt x="84" y="354"/>
                </a:moveTo>
                <a:lnTo>
                  <a:pt x="84" y="557"/>
                </a:lnTo>
                <a:lnTo>
                  <a:pt x="676" y="557"/>
                </a:lnTo>
                <a:lnTo>
                  <a:pt x="676" y="354"/>
                </a:lnTo>
                <a:lnTo>
                  <a:pt x="84" y="354"/>
                </a:lnTo>
                <a:close/>
                <a:moveTo>
                  <a:pt x="1963" y="482"/>
                </a:moveTo>
                <a:lnTo>
                  <a:pt x="2021" y="553"/>
                </a:lnTo>
                <a:cubicBezTo>
                  <a:pt x="2000" y="568"/>
                  <a:pt x="1958" y="594"/>
                  <a:pt x="1893" y="632"/>
                </a:cubicBezTo>
                <a:cubicBezTo>
                  <a:pt x="1849" y="659"/>
                  <a:pt x="1815" y="679"/>
                  <a:pt x="1791" y="694"/>
                </a:cubicBezTo>
                <a:cubicBezTo>
                  <a:pt x="1859" y="753"/>
                  <a:pt x="1965" y="800"/>
                  <a:pt x="2109" y="836"/>
                </a:cubicBezTo>
                <a:cubicBezTo>
                  <a:pt x="2089" y="856"/>
                  <a:pt x="2070" y="883"/>
                  <a:pt x="2052" y="915"/>
                </a:cubicBezTo>
                <a:cubicBezTo>
                  <a:pt x="1849" y="856"/>
                  <a:pt x="1704" y="756"/>
                  <a:pt x="1619" y="615"/>
                </a:cubicBezTo>
                <a:lnTo>
                  <a:pt x="1619" y="818"/>
                </a:lnTo>
                <a:cubicBezTo>
                  <a:pt x="1624" y="924"/>
                  <a:pt x="1573" y="976"/>
                  <a:pt x="1464" y="973"/>
                </a:cubicBezTo>
                <a:cubicBezTo>
                  <a:pt x="1423" y="973"/>
                  <a:pt x="1381" y="973"/>
                  <a:pt x="1340" y="973"/>
                </a:cubicBezTo>
                <a:cubicBezTo>
                  <a:pt x="1337" y="937"/>
                  <a:pt x="1331" y="908"/>
                  <a:pt x="1322" y="884"/>
                </a:cubicBezTo>
                <a:cubicBezTo>
                  <a:pt x="1358" y="887"/>
                  <a:pt x="1403" y="889"/>
                  <a:pt x="1459" y="889"/>
                </a:cubicBezTo>
                <a:cubicBezTo>
                  <a:pt x="1515" y="892"/>
                  <a:pt x="1542" y="867"/>
                  <a:pt x="1539" y="814"/>
                </a:cubicBezTo>
                <a:lnTo>
                  <a:pt x="1539" y="447"/>
                </a:lnTo>
                <a:lnTo>
                  <a:pt x="1057" y="447"/>
                </a:lnTo>
                <a:lnTo>
                  <a:pt x="1057" y="376"/>
                </a:lnTo>
                <a:lnTo>
                  <a:pt x="1849" y="376"/>
                </a:lnTo>
                <a:lnTo>
                  <a:pt x="1849" y="261"/>
                </a:lnTo>
                <a:lnTo>
                  <a:pt x="1190" y="261"/>
                </a:lnTo>
                <a:lnTo>
                  <a:pt x="1190" y="190"/>
                </a:lnTo>
                <a:lnTo>
                  <a:pt x="1849" y="190"/>
                </a:lnTo>
                <a:lnTo>
                  <a:pt x="1849" y="75"/>
                </a:lnTo>
                <a:lnTo>
                  <a:pt x="1172" y="75"/>
                </a:lnTo>
                <a:lnTo>
                  <a:pt x="1172" y="5"/>
                </a:lnTo>
                <a:lnTo>
                  <a:pt x="1932" y="5"/>
                </a:lnTo>
                <a:lnTo>
                  <a:pt x="1932" y="376"/>
                </a:lnTo>
                <a:lnTo>
                  <a:pt x="2101" y="376"/>
                </a:lnTo>
                <a:lnTo>
                  <a:pt x="2101" y="447"/>
                </a:lnTo>
                <a:lnTo>
                  <a:pt x="1619" y="447"/>
                </a:lnTo>
                <a:lnTo>
                  <a:pt x="1619" y="482"/>
                </a:lnTo>
                <a:cubicBezTo>
                  <a:pt x="1654" y="544"/>
                  <a:pt x="1692" y="597"/>
                  <a:pt x="1733" y="641"/>
                </a:cubicBezTo>
                <a:cubicBezTo>
                  <a:pt x="1822" y="582"/>
                  <a:pt x="1899" y="529"/>
                  <a:pt x="1963" y="482"/>
                </a:cubicBezTo>
                <a:close/>
                <a:moveTo>
                  <a:pt x="1044" y="814"/>
                </a:moveTo>
                <a:cubicBezTo>
                  <a:pt x="1168" y="772"/>
                  <a:pt x="1318" y="716"/>
                  <a:pt x="1495" y="646"/>
                </a:cubicBezTo>
                <a:cubicBezTo>
                  <a:pt x="1501" y="672"/>
                  <a:pt x="1507" y="699"/>
                  <a:pt x="1513" y="725"/>
                </a:cubicBezTo>
                <a:cubicBezTo>
                  <a:pt x="1351" y="784"/>
                  <a:pt x="1205" y="839"/>
                  <a:pt x="1075" y="889"/>
                </a:cubicBezTo>
                <a:lnTo>
                  <a:pt x="1044" y="814"/>
                </a:lnTo>
                <a:close/>
                <a:moveTo>
                  <a:pt x="1190" y="473"/>
                </a:moveTo>
                <a:cubicBezTo>
                  <a:pt x="1202" y="482"/>
                  <a:pt x="1218" y="492"/>
                  <a:pt x="1238" y="504"/>
                </a:cubicBezTo>
                <a:cubicBezTo>
                  <a:pt x="1303" y="545"/>
                  <a:pt x="1356" y="581"/>
                  <a:pt x="1398" y="610"/>
                </a:cubicBezTo>
                <a:lnTo>
                  <a:pt x="1349" y="681"/>
                </a:lnTo>
                <a:cubicBezTo>
                  <a:pt x="1317" y="658"/>
                  <a:pt x="1272" y="627"/>
                  <a:pt x="1216" y="588"/>
                </a:cubicBezTo>
                <a:cubicBezTo>
                  <a:pt x="1184" y="565"/>
                  <a:pt x="1159" y="547"/>
                  <a:pt x="1141" y="535"/>
                </a:cubicBezTo>
                <a:lnTo>
                  <a:pt x="1190" y="473"/>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 name="Freeform 24"/>
          <p:cNvSpPr/>
          <p:nvPr>
            <p:custDataLst>
              <p:tags r:id="rId1"/>
            </p:custDataLst>
          </p:nvPr>
        </p:nvSpPr>
        <p:spPr bwMode="auto">
          <a:xfrm>
            <a:off x="4735725" y="3164396"/>
            <a:ext cx="3361660" cy="535572"/>
          </a:xfrm>
          <a:custGeom>
            <a:avLst/>
            <a:gdLst>
              <a:gd name="T0" fmla="*/ 91 w 8683"/>
              <a:gd name="T1" fmla="*/ 0 h 865"/>
              <a:gd name="T2" fmla="*/ 8591 w 8683"/>
              <a:gd name="T3" fmla="*/ 0 h 865"/>
              <a:gd name="T4" fmla="*/ 8683 w 8683"/>
              <a:gd name="T5" fmla="*/ 91 h 865"/>
              <a:gd name="T6" fmla="*/ 8683 w 8683"/>
              <a:gd name="T7" fmla="*/ 774 h 865"/>
              <a:gd name="T8" fmla="*/ 8591 w 8683"/>
              <a:gd name="T9" fmla="*/ 865 h 865"/>
              <a:gd name="T10" fmla="*/ 91 w 8683"/>
              <a:gd name="T11" fmla="*/ 865 h 865"/>
              <a:gd name="T12" fmla="*/ 0 w 8683"/>
              <a:gd name="T13" fmla="*/ 774 h 865"/>
              <a:gd name="T14" fmla="*/ 0 w 8683"/>
              <a:gd name="T15" fmla="*/ 91 h 865"/>
              <a:gd name="T16" fmla="*/ 91 w 8683"/>
              <a:gd name="T17" fmla="*/ 0 h 8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3" h="865">
                <a:moveTo>
                  <a:pt x="91" y="0"/>
                </a:moveTo>
                <a:lnTo>
                  <a:pt x="8591" y="0"/>
                </a:lnTo>
                <a:cubicBezTo>
                  <a:pt x="8642" y="0"/>
                  <a:pt x="8683" y="41"/>
                  <a:pt x="8683" y="91"/>
                </a:cubicBezTo>
                <a:lnTo>
                  <a:pt x="8683" y="774"/>
                </a:lnTo>
                <a:cubicBezTo>
                  <a:pt x="8683" y="824"/>
                  <a:pt x="8642" y="865"/>
                  <a:pt x="8591" y="865"/>
                </a:cubicBezTo>
                <a:lnTo>
                  <a:pt x="91" y="865"/>
                </a:lnTo>
                <a:cubicBezTo>
                  <a:pt x="41" y="865"/>
                  <a:pt x="0" y="824"/>
                  <a:pt x="0" y="774"/>
                </a:cubicBezTo>
                <a:lnTo>
                  <a:pt x="0" y="91"/>
                </a:lnTo>
                <a:cubicBezTo>
                  <a:pt x="0" y="41"/>
                  <a:pt x="41" y="0"/>
                  <a:pt x="91" y="0"/>
                </a:cubicBezTo>
                <a:close/>
              </a:path>
            </a:pathLst>
          </a:custGeom>
          <a:solidFill>
            <a:srgbClr val="FFFFFF"/>
          </a:solidFill>
          <a:ln w="9525" cap="flat">
            <a:solidFill>
              <a:schemeClr val="tx1">
                <a:lumMod val="50000"/>
                <a:lumOff val="50000"/>
              </a:schemeClr>
            </a:solidFill>
            <a:prstDash val="solid"/>
            <a:miter lim="800000"/>
          </a:ln>
        </p:spPr>
        <p:txBody>
          <a:bodyPr vert="horz" wrap="square" lIns="68553" tIns="34277" rIns="68553" bIns="34277" numCol="1" anchor="t" anchorCtr="0" compatLnSpc="1"/>
          <a:lstStyle/>
          <a:p>
            <a:endParaRPr lang="zh-CN" altLang="en-US"/>
          </a:p>
        </p:txBody>
      </p:sp>
      <p:sp>
        <p:nvSpPr>
          <p:cNvPr id="12" name="Freeform 26"/>
          <p:cNvSpPr/>
          <p:nvPr>
            <p:custDataLst>
              <p:tags r:id="rId2"/>
            </p:custDataLst>
          </p:nvPr>
        </p:nvSpPr>
        <p:spPr bwMode="auto">
          <a:xfrm>
            <a:off x="4735725" y="3985290"/>
            <a:ext cx="3361660" cy="535572"/>
          </a:xfrm>
          <a:custGeom>
            <a:avLst/>
            <a:gdLst>
              <a:gd name="T0" fmla="*/ 91 w 8683"/>
              <a:gd name="T1" fmla="*/ 0 h 865"/>
              <a:gd name="T2" fmla="*/ 8591 w 8683"/>
              <a:gd name="T3" fmla="*/ 0 h 865"/>
              <a:gd name="T4" fmla="*/ 8683 w 8683"/>
              <a:gd name="T5" fmla="*/ 91 h 865"/>
              <a:gd name="T6" fmla="*/ 8683 w 8683"/>
              <a:gd name="T7" fmla="*/ 774 h 865"/>
              <a:gd name="T8" fmla="*/ 8591 w 8683"/>
              <a:gd name="T9" fmla="*/ 865 h 865"/>
              <a:gd name="T10" fmla="*/ 91 w 8683"/>
              <a:gd name="T11" fmla="*/ 865 h 865"/>
              <a:gd name="T12" fmla="*/ 0 w 8683"/>
              <a:gd name="T13" fmla="*/ 774 h 865"/>
              <a:gd name="T14" fmla="*/ 0 w 8683"/>
              <a:gd name="T15" fmla="*/ 91 h 865"/>
              <a:gd name="T16" fmla="*/ 91 w 8683"/>
              <a:gd name="T17" fmla="*/ 0 h 8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3" h="865">
                <a:moveTo>
                  <a:pt x="91" y="0"/>
                </a:moveTo>
                <a:lnTo>
                  <a:pt x="8591" y="0"/>
                </a:lnTo>
                <a:cubicBezTo>
                  <a:pt x="8642" y="0"/>
                  <a:pt x="8683" y="41"/>
                  <a:pt x="8683" y="91"/>
                </a:cubicBezTo>
                <a:lnTo>
                  <a:pt x="8683" y="774"/>
                </a:lnTo>
                <a:cubicBezTo>
                  <a:pt x="8683" y="824"/>
                  <a:pt x="8642" y="865"/>
                  <a:pt x="8591" y="865"/>
                </a:cubicBezTo>
                <a:lnTo>
                  <a:pt x="91" y="865"/>
                </a:lnTo>
                <a:cubicBezTo>
                  <a:pt x="41" y="865"/>
                  <a:pt x="0" y="824"/>
                  <a:pt x="0" y="774"/>
                </a:cubicBezTo>
                <a:lnTo>
                  <a:pt x="0" y="91"/>
                </a:lnTo>
                <a:cubicBezTo>
                  <a:pt x="0" y="41"/>
                  <a:pt x="41" y="0"/>
                  <a:pt x="91" y="0"/>
                </a:cubicBezTo>
                <a:close/>
              </a:path>
            </a:pathLst>
          </a:custGeom>
          <a:solidFill>
            <a:srgbClr val="FFFFFF"/>
          </a:solidFill>
          <a:ln w="9525" cap="flat">
            <a:solidFill>
              <a:schemeClr val="tx1">
                <a:lumMod val="50000"/>
                <a:lumOff val="50000"/>
              </a:schemeClr>
            </a:solidFill>
            <a:prstDash val="solid"/>
            <a:miter lim="800000"/>
          </a:ln>
        </p:spPr>
        <p:txBody>
          <a:bodyPr vert="horz" wrap="square" lIns="68553" tIns="34277" rIns="68553" bIns="34277" numCol="1" anchor="t" anchorCtr="0" compatLnSpc="1"/>
          <a:lstStyle/>
          <a:p>
            <a:endParaRPr lang="zh-CN" altLang="en-US"/>
          </a:p>
        </p:txBody>
      </p:sp>
      <p:sp>
        <p:nvSpPr>
          <p:cNvPr id="17" name="TextBox 47"/>
          <p:cNvSpPr txBox="1"/>
          <p:nvPr>
            <p:custDataLst>
              <p:tags r:id="rId3"/>
            </p:custDataLst>
          </p:nvPr>
        </p:nvSpPr>
        <p:spPr>
          <a:xfrm>
            <a:off x="4860032" y="3212976"/>
            <a:ext cx="2955963" cy="429895"/>
          </a:xfrm>
          <a:prstGeom prst="rect">
            <a:avLst/>
          </a:prstGeom>
          <a:noFill/>
        </p:spPr>
        <p:txBody>
          <a:bodyPr wrap="square" rtlCol="0">
            <a:spAutoFit/>
          </a:bodyPr>
          <a:lstStyle/>
          <a:p>
            <a:r>
              <a:rPr lang="en-US" altLang="zh-CN" sz="2200" b="1" dirty="0">
                <a:solidFill>
                  <a:schemeClr val="tx2">
                    <a:lumMod val="75000"/>
                    <a:lumOff val="25000"/>
                  </a:schemeClr>
                </a:solidFill>
                <a:latin typeface="微软雅黑" panose="020B0503020204020204" pitchFamily="34" charset="-122"/>
                <a:ea typeface="微软雅黑" panose="020B0503020204020204" pitchFamily="34" charset="-122"/>
              </a:rPr>
              <a:t>6.2 </a:t>
            </a:r>
            <a:r>
              <a:rPr lang="zh-CN" altLang="en-US" sz="2200" b="1" dirty="0">
                <a:solidFill>
                  <a:schemeClr val="tx2">
                    <a:lumMod val="75000"/>
                    <a:lumOff val="25000"/>
                  </a:schemeClr>
                </a:solidFill>
                <a:latin typeface="微软雅黑" panose="020B0503020204020204" pitchFamily="34" charset="-122"/>
                <a:ea typeface="微软雅黑" panose="020B0503020204020204" pitchFamily="34" charset="-122"/>
              </a:rPr>
              <a:t>回朔算法核心</a:t>
            </a:r>
            <a:r>
              <a:rPr lang="zh-CN" altLang="en-US" sz="2200" b="1" dirty="0">
                <a:solidFill>
                  <a:schemeClr val="tx2">
                    <a:lumMod val="75000"/>
                    <a:lumOff val="25000"/>
                  </a:schemeClr>
                </a:solidFill>
                <a:latin typeface="微软雅黑" panose="020B0503020204020204" pitchFamily="34" charset="-122"/>
                <a:ea typeface="微软雅黑" panose="020B0503020204020204" pitchFamily="34" charset="-122"/>
              </a:rPr>
              <a:t>案例</a:t>
            </a:r>
            <a:endParaRPr lang="zh-CN" altLang="en-US" sz="2200" b="1" dirty="0">
              <a:solidFill>
                <a:schemeClr val="tx2">
                  <a:lumMod val="75000"/>
                  <a:lumOff val="25000"/>
                </a:schemeClr>
              </a:solidFill>
              <a:latin typeface="微软雅黑" panose="020B0503020204020204" pitchFamily="34" charset="-122"/>
              <a:ea typeface="微软雅黑" panose="020B0503020204020204" pitchFamily="34" charset="-122"/>
            </a:endParaRPr>
          </a:p>
        </p:txBody>
      </p:sp>
      <p:sp>
        <p:nvSpPr>
          <p:cNvPr id="18" name="TextBox 48"/>
          <p:cNvSpPr txBox="1"/>
          <p:nvPr>
            <p:custDataLst>
              <p:tags r:id="rId4"/>
            </p:custDataLst>
          </p:nvPr>
        </p:nvSpPr>
        <p:spPr>
          <a:xfrm>
            <a:off x="4860032" y="4078513"/>
            <a:ext cx="2955963" cy="429895"/>
          </a:xfrm>
          <a:prstGeom prst="rect">
            <a:avLst/>
          </a:prstGeom>
          <a:noFill/>
        </p:spPr>
        <p:txBody>
          <a:bodyPr wrap="square" rtlCol="0">
            <a:spAutoFit/>
          </a:bodyPr>
          <a:lstStyle>
            <a:defPPr>
              <a:defRPr lang="zh-CN"/>
            </a:defPPr>
            <a:lvl1pPr>
              <a:defRPr sz="3200" b="1">
                <a:solidFill>
                  <a:schemeClr val="accent1"/>
                </a:solidFill>
                <a:latin typeface="微软雅黑" panose="020B0503020204020204" pitchFamily="34" charset="-122"/>
                <a:ea typeface="微软雅黑" panose="020B0503020204020204" pitchFamily="34" charset="-122"/>
              </a:defRPr>
            </a:lvl1pPr>
          </a:lstStyle>
          <a:p>
            <a:r>
              <a:rPr lang="en-US" altLang="zh-CN" sz="2200" dirty="0">
                <a:solidFill>
                  <a:schemeClr val="tx2">
                    <a:lumMod val="75000"/>
                    <a:lumOff val="25000"/>
                  </a:schemeClr>
                </a:solidFill>
              </a:rPr>
              <a:t>6.3 </a:t>
            </a:r>
            <a:r>
              <a:rPr lang="zh-CN" altLang="en-US" sz="2200" dirty="0">
                <a:solidFill>
                  <a:schemeClr val="tx2">
                    <a:lumMod val="75000"/>
                    <a:lumOff val="25000"/>
                  </a:schemeClr>
                </a:solidFill>
              </a:rPr>
              <a:t>回朔法示例</a:t>
            </a:r>
            <a:endParaRPr lang="zh-CN" altLang="en-US" sz="2200" dirty="0">
              <a:solidFill>
                <a:schemeClr val="tx2">
                  <a:lumMod val="75000"/>
                  <a:lumOff val="25000"/>
                </a:schemeClr>
              </a:solidFill>
            </a:endParaRPr>
          </a:p>
        </p:txBody>
      </p:sp>
      <p:pic>
        <p:nvPicPr>
          <p:cNvPr id="21" name="Picture 2" descr="E:\我的文档\Nipic_6852949_20110401101000478152.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a:stretch>
            <a:fillRect/>
          </a:stretch>
        </p:blipFill>
        <p:spPr bwMode="auto">
          <a:xfrm>
            <a:off x="582590" y="2420888"/>
            <a:ext cx="2680498" cy="2947378"/>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2" name="Freeform 41"/>
          <p:cNvSpPr>
            <a:spLocks noEditPoints="1"/>
          </p:cNvSpPr>
          <p:nvPr>
            <p:custDataLst>
              <p:tags r:id="rId6"/>
            </p:custDataLst>
          </p:nvPr>
        </p:nvSpPr>
        <p:spPr bwMode="auto">
          <a:xfrm>
            <a:off x="4237000" y="3269469"/>
            <a:ext cx="360714" cy="356368"/>
          </a:xfrm>
          <a:custGeom>
            <a:avLst/>
            <a:gdLst>
              <a:gd name="T0" fmla="*/ 471 w 549"/>
              <a:gd name="T1" fmla="*/ 540 h 540"/>
              <a:gd name="T2" fmla="*/ 335 w 549"/>
              <a:gd name="T3" fmla="*/ 436 h 540"/>
              <a:gd name="T4" fmla="*/ 0 w 549"/>
              <a:gd name="T5" fmla="*/ 231 h 540"/>
              <a:gd name="T6" fmla="*/ 461 w 549"/>
              <a:gd name="T7" fmla="*/ 231 h 540"/>
              <a:gd name="T8" fmla="*/ 521 w 549"/>
              <a:gd name="T9" fmla="*/ 419 h 540"/>
              <a:gd name="T10" fmla="*/ 297 w 549"/>
              <a:gd name="T11" fmla="*/ 262 h 540"/>
              <a:gd name="T12" fmla="*/ 284 w 549"/>
              <a:gd name="T13" fmla="*/ 259 h 540"/>
              <a:gd name="T14" fmla="*/ 273 w 549"/>
              <a:gd name="T15" fmla="*/ 311 h 540"/>
              <a:gd name="T16" fmla="*/ 297 w 549"/>
              <a:gd name="T17" fmla="*/ 318 h 540"/>
              <a:gd name="T18" fmla="*/ 291 w 549"/>
              <a:gd name="T19" fmla="*/ 336 h 540"/>
              <a:gd name="T20" fmla="*/ 234 w 549"/>
              <a:gd name="T21" fmla="*/ 351 h 540"/>
              <a:gd name="T22" fmla="*/ 230 w 549"/>
              <a:gd name="T23" fmla="*/ 350 h 540"/>
              <a:gd name="T24" fmla="*/ 168 w 549"/>
              <a:gd name="T25" fmla="*/ 327 h 540"/>
              <a:gd name="T26" fmla="*/ 191 w 549"/>
              <a:gd name="T27" fmla="*/ 312 h 540"/>
              <a:gd name="T28" fmla="*/ 208 w 549"/>
              <a:gd name="T29" fmla="*/ 281 h 540"/>
              <a:gd name="T30" fmla="*/ 180 w 549"/>
              <a:gd name="T31" fmla="*/ 260 h 540"/>
              <a:gd name="T32" fmla="*/ 168 w 549"/>
              <a:gd name="T33" fmla="*/ 236 h 540"/>
              <a:gd name="T34" fmla="*/ 178 w 549"/>
              <a:gd name="T35" fmla="*/ 228 h 540"/>
              <a:gd name="T36" fmla="*/ 288 w 549"/>
              <a:gd name="T37" fmla="*/ 229 h 540"/>
              <a:gd name="T38" fmla="*/ 297 w 549"/>
              <a:gd name="T39" fmla="*/ 237 h 540"/>
              <a:gd name="T40" fmla="*/ 386 w 549"/>
              <a:gd name="T41" fmla="*/ 289 h 540"/>
              <a:gd name="T42" fmla="*/ 317 w 549"/>
              <a:gd name="T43" fmla="*/ 215 h 540"/>
              <a:gd name="T44" fmla="*/ 306 w 549"/>
              <a:gd name="T45" fmla="*/ 209 h 540"/>
              <a:gd name="T46" fmla="*/ 164 w 549"/>
              <a:gd name="T47" fmla="*/ 208 h 540"/>
              <a:gd name="T48" fmla="*/ 150 w 549"/>
              <a:gd name="T49" fmla="*/ 214 h 540"/>
              <a:gd name="T50" fmla="*/ 81 w 549"/>
              <a:gd name="T51" fmla="*/ 288 h 540"/>
              <a:gd name="T52" fmla="*/ 78 w 549"/>
              <a:gd name="T53" fmla="*/ 318 h 540"/>
              <a:gd name="T54" fmla="*/ 102 w 549"/>
              <a:gd name="T55" fmla="*/ 333 h 540"/>
              <a:gd name="T56" fmla="*/ 156 w 549"/>
              <a:gd name="T57" fmla="*/ 320 h 540"/>
              <a:gd name="T58" fmla="*/ 164 w 549"/>
              <a:gd name="T59" fmla="*/ 369 h 540"/>
              <a:gd name="T60" fmla="*/ 310 w 549"/>
              <a:gd name="T61" fmla="*/ 361 h 540"/>
              <a:gd name="T62" fmla="*/ 362 w 549"/>
              <a:gd name="T63" fmla="*/ 333 h 540"/>
              <a:gd name="T64" fmla="*/ 366 w 549"/>
              <a:gd name="T65" fmla="*/ 334 h 540"/>
              <a:gd name="T66" fmla="*/ 386 w 549"/>
              <a:gd name="T67" fmla="*/ 289 h 540"/>
              <a:gd name="T68" fmla="*/ 295 w 549"/>
              <a:gd name="T69" fmla="*/ 138 h 540"/>
              <a:gd name="T70" fmla="*/ 171 w 549"/>
              <a:gd name="T71" fmla="*/ 138 h 540"/>
              <a:gd name="T72" fmla="*/ 231 w 549"/>
              <a:gd name="T73" fmla="*/ 432 h 540"/>
              <a:gd name="T74" fmla="*/ 432 w 549"/>
              <a:gd name="T75" fmla="*/ 231 h 540"/>
              <a:gd name="T76" fmla="*/ 29 w 549"/>
              <a:gd name="T77" fmla="*/ 231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9" h="540">
                <a:moveTo>
                  <a:pt x="521" y="520"/>
                </a:moveTo>
                <a:cubicBezTo>
                  <a:pt x="507" y="534"/>
                  <a:pt x="489" y="540"/>
                  <a:pt x="471" y="540"/>
                </a:cubicBezTo>
                <a:cubicBezTo>
                  <a:pt x="452" y="540"/>
                  <a:pt x="434" y="534"/>
                  <a:pt x="420" y="520"/>
                </a:cubicBezTo>
                <a:lnTo>
                  <a:pt x="335" y="436"/>
                </a:lnTo>
                <a:cubicBezTo>
                  <a:pt x="304" y="452"/>
                  <a:pt x="268" y="462"/>
                  <a:pt x="231" y="462"/>
                </a:cubicBezTo>
                <a:cubicBezTo>
                  <a:pt x="103" y="462"/>
                  <a:pt x="0" y="358"/>
                  <a:pt x="0" y="231"/>
                </a:cubicBezTo>
                <a:cubicBezTo>
                  <a:pt x="0" y="103"/>
                  <a:pt x="103" y="0"/>
                  <a:pt x="231" y="0"/>
                </a:cubicBezTo>
                <a:cubicBezTo>
                  <a:pt x="358" y="0"/>
                  <a:pt x="461" y="103"/>
                  <a:pt x="461" y="231"/>
                </a:cubicBezTo>
                <a:cubicBezTo>
                  <a:pt x="461" y="269"/>
                  <a:pt x="452" y="304"/>
                  <a:pt x="436" y="336"/>
                </a:cubicBezTo>
                <a:lnTo>
                  <a:pt x="521" y="419"/>
                </a:lnTo>
                <a:cubicBezTo>
                  <a:pt x="549" y="447"/>
                  <a:pt x="549" y="492"/>
                  <a:pt x="521" y="520"/>
                </a:cubicBezTo>
                <a:close/>
                <a:moveTo>
                  <a:pt x="297" y="262"/>
                </a:moveTo>
                <a:lnTo>
                  <a:pt x="286" y="260"/>
                </a:lnTo>
                <a:cubicBezTo>
                  <a:pt x="285" y="259"/>
                  <a:pt x="285" y="259"/>
                  <a:pt x="284" y="259"/>
                </a:cubicBezTo>
                <a:cubicBezTo>
                  <a:pt x="272" y="258"/>
                  <a:pt x="260" y="267"/>
                  <a:pt x="257" y="281"/>
                </a:cubicBezTo>
                <a:cubicBezTo>
                  <a:pt x="255" y="294"/>
                  <a:pt x="261" y="307"/>
                  <a:pt x="273" y="311"/>
                </a:cubicBezTo>
                <a:cubicBezTo>
                  <a:pt x="273" y="312"/>
                  <a:pt x="274" y="312"/>
                  <a:pt x="274" y="312"/>
                </a:cubicBezTo>
                <a:lnTo>
                  <a:pt x="297" y="318"/>
                </a:lnTo>
                <a:lnTo>
                  <a:pt x="297" y="328"/>
                </a:lnTo>
                <a:cubicBezTo>
                  <a:pt x="297" y="331"/>
                  <a:pt x="295" y="335"/>
                  <a:pt x="291" y="336"/>
                </a:cubicBezTo>
                <a:lnTo>
                  <a:pt x="236" y="351"/>
                </a:lnTo>
                <a:cubicBezTo>
                  <a:pt x="235" y="351"/>
                  <a:pt x="234" y="351"/>
                  <a:pt x="234" y="351"/>
                </a:cubicBezTo>
                <a:cubicBezTo>
                  <a:pt x="233" y="351"/>
                  <a:pt x="232" y="351"/>
                  <a:pt x="231" y="351"/>
                </a:cubicBezTo>
                <a:cubicBezTo>
                  <a:pt x="231" y="351"/>
                  <a:pt x="230" y="351"/>
                  <a:pt x="230" y="350"/>
                </a:cubicBezTo>
                <a:lnTo>
                  <a:pt x="174" y="335"/>
                </a:lnTo>
                <a:cubicBezTo>
                  <a:pt x="171" y="334"/>
                  <a:pt x="168" y="331"/>
                  <a:pt x="168" y="327"/>
                </a:cubicBezTo>
                <a:lnTo>
                  <a:pt x="168" y="318"/>
                </a:lnTo>
                <a:lnTo>
                  <a:pt x="191" y="312"/>
                </a:lnTo>
                <a:cubicBezTo>
                  <a:pt x="192" y="312"/>
                  <a:pt x="192" y="312"/>
                  <a:pt x="193" y="311"/>
                </a:cubicBezTo>
                <a:cubicBezTo>
                  <a:pt x="204" y="307"/>
                  <a:pt x="211" y="294"/>
                  <a:pt x="208" y="281"/>
                </a:cubicBezTo>
                <a:cubicBezTo>
                  <a:pt x="205" y="267"/>
                  <a:pt x="193" y="258"/>
                  <a:pt x="181" y="259"/>
                </a:cubicBezTo>
                <a:cubicBezTo>
                  <a:pt x="181" y="259"/>
                  <a:pt x="180" y="259"/>
                  <a:pt x="180" y="260"/>
                </a:cubicBezTo>
                <a:lnTo>
                  <a:pt x="168" y="262"/>
                </a:lnTo>
                <a:lnTo>
                  <a:pt x="168" y="236"/>
                </a:lnTo>
                <a:cubicBezTo>
                  <a:pt x="168" y="233"/>
                  <a:pt x="169" y="231"/>
                  <a:pt x="171" y="229"/>
                </a:cubicBezTo>
                <a:cubicBezTo>
                  <a:pt x="173" y="228"/>
                  <a:pt x="176" y="227"/>
                  <a:pt x="178" y="228"/>
                </a:cubicBezTo>
                <a:lnTo>
                  <a:pt x="234" y="243"/>
                </a:lnTo>
                <a:lnTo>
                  <a:pt x="288" y="229"/>
                </a:lnTo>
                <a:cubicBezTo>
                  <a:pt x="290" y="228"/>
                  <a:pt x="292" y="228"/>
                  <a:pt x="294" y="230"/>
                </a:cubicBezTo>
                <a:cubicBezTo>
                  <a:pt x="296" y="232"/>
                  <a:pt x="297" y="234"/>
                  <a:pt x="297" y="237"/>
                </a:cubicBezTo>
                <a:lnTo>
                  <a:pt x="297" y="262"/>
                </a:lnTo>
                <a:close/>
                <a:moveTo>
                  <a:pt x="386" y="289"/>
                </a:moveTo>
                <a:cubicBezTo>
                  <a:pt x="385" y="289"/>
                  <a:pt x="385" y="288"/>
                  <a:pt x="385" y="288"/>
                </a:cubicBezTo>
                <a:lnTo>
                  <a:pt x="317" y="215"/>
                </a:lnTo>
                <a:cubicBezTo>
                  <a:pt x="316" y="215"/>
                  <a:pt x="316" y="214"/>
                  <a:pt x="316" y="214"/>
                </a:cubicBezTo>
                <a:cubicBezTo>
                  <a:pt x="313" y="211"/>
                  <a:pt x="309" y="210"/>
                  <a:pt x="306" y="209"/>
                </a:cubicBezTo>
                <a:cubicBezTo>
                  <a:pt x="305" y="208"/>
                  <a:pt x="304" y="208"/>
                  <a:pt x="302" y="208"/>
                </a:cubicBezTo>
                <a:lnTo>
                  <a:pt x="164" y="208"/>
                </a:lnTo>
                <a:cubicBezTo>
                  <a:pt x="163" y="208"/>
                  <a:pt x="163" y="208"/>
                  <a:pt x="163" y="208"/>
                </a:cubicBezTo>
                <a:cubicBezTo>
                  <a:pt x="158" y="209"/>
                  <a:pt x="153" y="211"/>
                  <a:pt x="150" y="214"/>
                </a:cubicBezTo>
                <a:cubicBezTo>
                  <a:pt x="149" y="214"/>
                  <a:pt x="149" y="215"/>
                  <a:pt x="149" y="215"/>
                </a:cubicBezTo>
                <a:lnTo>
                  <a:pt x="81" y="288"/>
                </a:lnTo>
                <a:cubicBezTo>
                  <a:pt x="81" y="288"/>
                  <a:pt x="80" y="289"/>
                  <a:pt x="80" y="289"/>
                </a:cubicBezTo>
                <a:cubicBezTo>
                  <a:pt x="74" y="297"/>
                  <a:pt x="73" y="309"/>
                  <a:pt x="78" y="318"/>
                </a:cubicBezTo>
                <a:cubicBezTo>
                  <a:pt x="82" y="327"/>
                  <a:pt x="90" y="334"/>
                  <a:pt x="99" y="334"/>
                </a:cubicBezTo>
                <a:cubicBezTo>
                  <a:pt x="100" y="334"/>
                  <a:pt x="101" y="334"/>
                  <a:pt x="102" y="333"/>
                </a:cubicBezTo>
                <a:cubicBezTo>
                  <a:pt x="103" y="333"/>
                  <a:pt x="103" y="333"/>
                  <a:pt x="104" y="333"/>
                </a:cubicBezTo>
                <a:lnTo>
                  <a:pt x="156" y="320"/>
                </a:lnTo>
                <a:lnTo>
                  <a:pt x="156" y="361"/>
                </a:lnTo>
                <a:cubicBezTo>
                  <a:pt x="156" y="365"/>
                  <a:pt x="160" y="369"/>
                  <a:pt x="164" y="369"/>
                </a:cubicBezTo>
                <a:lnTo>
                  <a:pt x="302" y="369"/>
                </a:lnTo>
                <a:cubicBezTo>
                  <a:pt x="307" y="369"/>
                  <a:pt x="310" y="365"/>
                  <a:pt x="310" y="361"/>
                </a:cubicBezTo>
                <a:lnTo>
                  <a:pt x="310" y="321"/>
                </a:lnTo>
                <a:lnTo>
                  <a:pt x="362" y="333"/>
                </a:lnTo>
                <a:cubicBezTo>
                  <a:pt x="362" y="333"/>
                  <a:pt x="363" y="333"/>
                  <a:pt x="363" y="333"/>
                </a:cubicBezTo>
                <a:cubicBezTo>
                  <a:pt x="364" y="334"/>
                  <a:pt x="365" y="334"/>
                  <a:pt x="366" y="334"/>
                </a:cubicBezTo>
                <a:cubicBezTo>
                  <a:pt x="374" y="334"/>
                  <a:pt x="381" y="329"/>
                  <a:pt x="386" y="322"/>
                </a:cubicBezTo>
                <a:cubicBezTo>
                  <a:pt x="393" y="312"/>
                  <a:pt x="393" y="299"/>
                  <a:pt x="386" y="289"/>
                </a:cubicBezTo>
                <a:close/>
                <a:moveTo>
                  <a:pt x="233" y="204"/>
                </a:moveTo>
                <a:cubicBezTo>
                  <a:pt x="267" y="204"/>
                  <a:pt x="295" y="174"/>
                  <a:pt x="295" y="138"/>
                </a:cubicBezTo>
                <a:cubicBezTo>
                  <a:pt x="295" y="101"/>
                  <a:pt x="267" y="71"/>
                  <a:pt x="233" y="71"/>
                </a:cubicBezTo>
                <a:cubicBezTo>
                  <a:pt x="198" y="71"/>
                  <a:pt x="171" y="101"/>
                  <a:pt x="171" y="138"/>
                </a:cubicBezTo>
                <a:cubicBezTo>
                  <a:pt x="171" y="174"/>
                  <a:pt x="198" y="204"/>
                  <a:pt x="233" y="204"/>
                </a:cubicBezTo>
                <a:close/>
                <a:moveTo>
                  <a:pt x="231" y="432"/>
                </a:moveTo>
                <a:lnTo>
                  <a:pt x="231" y="432"/>
                </a:lnTo>
                <a:cubicBezTo>
                  <a:pt x="342" y="432"/>
                  <a:pt x="432" y="342"/>
                  <a:pt x="432" y="231"/>
                </a:cubicBezTo>
                <a:cubicBezTo>
                  <a:pt x="432" y="120"/>
                  <a:pt x="342" y="30"/>
                  <a:pt x="231" y="30"/>
                </a:cubicBezTo>
                <a:cubicBezTo>
                  <a:pt x="119" y="30"/>
                  <a:pt x="29" y="120"/>
                  <a:pt x="29" y="231"/>
                </a:cubicBezTo>
                <a:cubicBezTo>
                  <a:pt x="29" y="342"/>
                  <a:pt x="119" y="432"/>
                  <a:pt x="231" y="43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a:p>
        </p:txBody>
      </p:sp>
      <p:sp>
        <p:nvSpPr>
          <p:cNvPr id="23" name="Freeform 47"/>
          <p:cNvSpPr>
            <a:spLocks noEditPoints="1"/>
          </p:cNvSpPr>
          <p:nvPr>
            <p:custDataLst>
              <p:tags r:id="rId7"/>
            </p:custDataLst>
          </p:nvPr>
        </p:nvSpPr>
        <p:spPr bwMode="auto">
          <a:xfrm>
            <a:off x="4289152" y="4078512"/>
            <a:ext cx="308562" cy="349125"/>
          </a:xfrm>
          <a:custGeom>
            <a:avLst/>
            <a:gdLst>
              <a:gd name="T0" fmla="*/ 298 w 467"/>
              <a:gd name="T1" fmla="*/ 66 h 528"/>
              <a:gd name="T2" fmla="*/ 232 w 467"/>
              <a:gd name="T3" fmla="*/ 132 h 528"/>
              <a:gd name="T4" fmla="*/ 166 w 467"/>
              <a:gd name="T5" fmla="*/ 132 h 528"/>
              <a:gd name="T6" fmla="*/ 100 w 467"/>
              <a:gd name="T7" fmla="*/ 66 h 528"/>
              <a:gd name="T8" fmla="*/ 166 w 467"/>
              <a:gd name="T9" fmla="*/ 0 h 528"/>
              <a:gd name="T10" fmla="*/ 232 w 467"/>
              <a:gd name="T11" fmla="*/ 0 h 528"/>
              <a:gd name="T12" fmla="*/ 298 w 467"/>
              <a:gd name="T13" fmla="*/ 66 h 528"/>
              <a:gd name="T14" fmla="*/ 330 w 467"/>
              <a:gd name="T15" fmla="*/ 66 h 528"/>
              <a:gd name="T16" fmla="*/ 331 w 467"/>
              <a:gd name="T17" fmla="*/ 81 h 528"/>
              <a:gd name="T18" fmla="*/ 248 w 467"/>
              <a:gd name="T19" fmla="*/ 164 h 528"/>
              <a:gd name="T20" fmla="*/ 149 w 467"/>
              <a:gd name="T21" fmla="*/ 164 h 528"/>
              <a:gd name="T22" fmla="*/ 66 w 467"/>
              <a:gd name="T23" fmla="*/ 81 h 528"/>
              <a:gd name="T24" fmla="*/ 68 w 467"/>
              <a:gd name="T25" fmla="*/ 66 h 528"/>
              <a:gd name="T26" fmla="*/ 0 w 467"/>
              <a:gd name="T27" fmla="*/ 147 h 528"/>
              <a:gd name="T28" fmla="*/ 0 w 467"/>
              <a:gd name="T29" fmla="*/ 445 h 528"/>
              <a:gd name="T30" fmla="*/ 83 w 467"/>
              <a:gd name="T31" fmla="*/ 528 h 528"/>
              <a:gd name="T32" fmla="*/ 303 w 467"/>
              <a:gd name="T33" fmla="*/ 528 h 528"/>
              <a:gd name="T34" fmla="*/ 213 w 467"/>
              <a:gd name="T35" fmla="*/ 392 h 528"/>
              <a:gd name="T36" fmla="*/ 361 w 467"/>
              <a:gd name="T37" fmla="*/ 244 h 528"/>
              <a:gd name="T38" fmla="*/ 397 w 467"/>
              <a:gd name="T39" fmla="*/ 248 h 528"/>
              <a:gd name="T40" fmla="*/ 397 w 467"/>
              <a:gd name="T41" fmla="*/ 147 h 528"/>
              <a:gd name="T42" fmla="*/ 330 w 467"/>
              <a:gd name="T43" fmla="*/ 66 h 528"/>
              <a:gd name="T44" fmla="*/ 186 w 467"/>
              <a:gd name="T45" fmla="*/ 331 h 528"/>
              <a:gd name="T46" fmla="*/ 186 w 467"/>
              <a:gd name="T47" fmla="*/ 331 h 528"/>
              <a:gd name="T48" fmla="*/ 83 w 467"/>
              <a:gd name="T49" fmla="*/ 331 h 528"/>
              <a:gd name="T50" fmla="*/ 66 w 467"/>
              <a:gd name="T51" fmla="*/ 314 h 528"/>
              <a:gd name="T52" fmla="*/ 83 w 467"/>
              <a:gd name="T53" fmla="*/ 298 h 528"/>
              <a:gd name="T54" fmla="*/ 186 w 467"/>
              <a:gd name="T55" fmla="*/ 298 h 528"/>
              <a:gd name="T56" fmla="*/ 203 w 467"/>
              <a:gd name="T57" fmla="*/ 314 h 528"/>
              <a:gd name="T58" fmla="*/ 186 w 467"/>
              <a:gd name="T59" fmla="*/ 331 h 528"/>
              <a:gd name="T60" fmla="*/ 219 w 467"/>
              <a:gd name="T61" fmla="*/ 264 h 528"/>
              <a:gd name="T62" fmla="*/ 219 w 467"/>
              <a:gd name="T63" fmla="*/ 264 h 528"/>
              <a:gd name="T64" fmla="*/ 83 w 467"/>
              <a:gd name="T65" fmla="*/ 264 h 528"/>
              <a:gd name="T66" fmla="*/ 66 w 467"/>
              <a:gd name="T67" fmla="*/ 248 h 528"/>
              <a:gd name="T68" fmla="*/ 83 w 467"/>
              <a:gd name="T69" fmla="*/ 231 h 528"/>
              <a:gd name="T70" fmla="*/ 219 w 467"/>
              <a:gd name="T71" fmla="*/ 231 h 528"/>
              <a:gd name="T72" fmla="*/ 236 w 467"/>
              <a:gd name="T73" fmla="*/ 248 h 528"/>
              <a:gd name="T74" fmla="*/ 219 w 467"/>
              <a:gd name="T75" fmla="*/ 264 h 528"/>
              <a:gd name="T76" fmla="*/ 388 w 467"/>
              <a:gd name="T77" fmla="*/ 289 h 528"/>
              <a:gd name="T78" fmla="*/ 362 w 467"/>
              <a:gd name="T79" fmla="*/ 286 h 528"/>
              <a:gd name="T80" fmla="*/ 257 w 467"/>
              <a:gd name="T81" fmla="*/ 391 h 528"/>
              <a:gd name="T82" fmla="*/ 340 w 467"/>
              <a:gd name="T83" fmla="*/ 494 h 528"/>
              <a:gd name="T84" fmla="*/ 362 w 467"/>
              <a:gd name="T85" fmla="*/ 497 h 528"/>
              <a:gd name="T86" fmla="*/ 467 w 467"/>
              <a:gd name="T87" fmla="*/ 391 h 528"/>
              <a:gd name="T88" fmla="*/ 388 w 467"/>
              <a:gd name="T89" fmla="*/ 289 h 528"/>
              <a:gd name="T90" fmla="*/ 422 w 467"/>
              <a:gd name="T91" fmla="*/ 376 h 528"/>
              <a:gd name="T92" fmla="*/ 422 w 467"/>
              <a:gd name="T93" fmla="*/ 376 h 528"/>
              <a:gd name="T94" fmla="*/ 388 w 467"/>
              <a:gd name="T95" fmla="*/ 410 h 528"/>
              <a:gd name="T96" fmla="*/ 362 w 467"/>
              <a:gd name="T97" fmla="*/ 436 h 528"/>
              <a:gd name="T98" fmla="*/ 332 w 467"/>
              <a:gd name="T99" fmla="*/ 436 h 528"/>
              <a:gd name="T100" fmla="*/ 302 w 467"/>
              <a:gd name="T101" fmla="*/ 406 h 528"/>
              <a:gd name="T102" fmla="*/ 302 w 467"/>
              <a:gd name="T103" fmla="*/ 376 h 528"/>
              <a:gd name="T104" fmla="*/ 332 w 467"/>
              <a:gd name="T105" fmla="*/ 376 h 528"/>
              <a:gd name="T106" fmla="*/ 347 w 467"/>
              <a:gd name="T107" fmla="*/ 391 h 528"/>
              <a:gd name="T108" fmla="*/ 388 w 467"/>
              <a:gd name="T109" fmla="*/ 350 h 528"/>
              <a:gd name="T110" fmla="*/ 392 w 467"/>
              <a:gd name="T111" fmla="*/ 346 h 528"/>
              <a:gd name="T112" fmla="*/ 422 w 467"/>
              <a:gd name="T113" fmla="*/ 346 h 528"/>
              <a:gd name="T114" fmla="*/ 422 w 467"/>
              <a:gd name="T115" fmla="*/ 37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67" h="528">
                <a:moveTo>
                  <a:pt x="298" y="66"/>
                </a:moveTo>
                <a:cubicBezTo>
                  <a:pt x="298" y="103"/>
                  <a:pt x="268" y="132"/>
                  <a:pt x="232" y="132"/>
                </a:cubicBezTo>
                <a:lnTo>
                  <a:pt x="166" y="132"/>
                </a:lnTo>
                <a:cubicBezTo>
                  <a:pt x="129" y="132"/>
                  <a:pt x="100" y="103"/>
                  <a:pt x="100" y="66"/>
                </a:cubicBezTo>
                <a:cubicBezTo>
                  <a:pt x="100" y="29"/>
                  <a:pt x="129" y="0"/>
                  <a:pt x="166" y="0"/>
                </a:cubicBezTo>
                <a:lnTo>
                  <a:pt x="232" y="0"/>
                </a:lnTo>
                <a:cubicBezTo>
                  <a:pt x="268" y="0"/>
                  <a:pt x="298" y="29"/>
                  <a:pt x="298" y="66"/>
                </a:cubicBezTo>
                <a:close/>
                <a:moveTo>
                  <a:pt x="330" y="66"/>
                </a:moveTo>
                <a:cubicBezTo>
                  <a:pt x="331" y="71"/>
                  <a:pt x="331" y="76"/>
                  <a:pt x="331" y="81"/>
                </a:cubicBezTo>
                <a:cubicBezTo>
                  <a:pt x="331" y="127"/>
                  <a:pt x="294" y="164"/>
                  <a:pt x="248" y="164"/>
                </a:cubicBezTo>
                <a:lnTo>
                  <a:pt x="149" y="164"/>
                </a:lnTo>
                <a:cubicBezTo>
                  <a:pt x="103" y="164"/>
                  <a:pt x="66" y="127"/>
                  <a:pt x="66" y="81"/>
                </a:cubicBezTo>
                <a:cubicBezTo>
                  <a:pt x="66" y="76"/>
                  <a:pt x="67" y="71"/>
                  <a:pt x="68" y="66"/>
                </a:cubicBezTo>
                <a:cubicBezTo>
                  <a:pt x="29" y="73"/>
                  <a:pt x="0" y="107"/>
                  <a:pt x="0" y="147"/>
                </a:cubicBezTo>
                <a:lnTo>
                  <a:pt x="0" y="445"/>
                </a:lnTo>
                <a:cubicBezTo>
                  <a:pt x="0" y="491"/>
                  <a:pt x="37" y="528"/>
                  <a:pt x="83" y="528"/>
                </a:cubicBezTo>
                <a:lnTo>
                  <a:pt x="303" y="528"/>
                </a:lnTo>
                <a:cubicBezTo>
                  <a:pt x="250" y="505"/>
                  <a:pt x="213" y="453"/>
                  <a:pt x="213" y="392"/>
                </a:cubicBezTo>
                <a:cubicBezTo>
                  <a:pt x="213" y="310"/>
                  <a:pt x="279" y="244"/>
                  <a:pt x="361" y="244"/>
                </a:cubicBezTo>
                <a:cubicBezTo>
                  <a:pt x="374" y="244"/>
                  <a:pt x="386" y="245"/>
                  <a:pt x="397" y="248"/>
                </a:cubicBezTo>
                <a:lnTo>
                  <a:pt x="397" y="147"/>
                </a:lnTo>
                <a:cubicBezTo>
                  <a:pt x="397" y="107"/>
                  <a:pt x="368" y="73"/>
                  <a:pt x="330" y="66"/>
                </a:cubicBezTo>
                <a:close/>
                <a:moveTo>
                  <a:pt x="186" y="331"/>
                </a:moveTo>
                <a:lnTo>
                  <a:pt x="186" y="331"/>
                </a:lnTo>
                <a:lnTo>
                  <a:pt x="83" y="331"/>
                </a:lnTo>
                <a:cubicBezTo>
                  <a:pt x="74" y="331"/>
                  <a:pt x="66" y="323"/>
                  <a:pt x="66" y="314"/>
                </a:cubicBezTo>
                <a:cubicBezTo>
                  <a:pt x="66" y="305"/>
                  <a:pt x="74" y="298"/>
                  <a:pt x="83" y="298"/>
                </a:cubicBezTo>
                <a:lnTo>
                  <a:pt x="186" y="298"/>
                </a:lnTo>
                <a:cubicBezTo>
                  <a:pt x="195" y="298"/>
                  <a:pt x="203" y="305"/>
                  <a:pt x="203" y="314"/>
                </a:cubicBezTo>
                <a:cubicBezTo>
                  <a:pt x="203" y="323"/>
                  <a:pt x="195" y="331"/>
                  <a:pt x="186" y="331"/>
                </a:cubicBezTo>
                <a:close/>
                <a:moveTo>
                  <a:pt x="219" y="264"/>
                </a:moveTo>
                <a:lnTo>
                  <a:pt x="219" y="264"/>
                </a:lnTo>
                <a:lnTo>
                  <a:pt x="83" y="264"/>
                </a:lnTo>
                <a:cubicBezTo>
                  <a:pt x="74" y="264"/>
                  <a:pt x="66" y="257"/>
                  <a:pt x="66" y="248"/>
                </a:cubicBezTo>
                <a:cubicBezTo>
                  <a:pt x="66" y="239"/>
                  <a:pt x="74" y="231"/>
                  <a:pt x="83" y="231"/>
                </a:cubicBezTo>
                <a:lnTo>
                  <a:pt x="219" y="231"/>
                </a:lnTo>
                <a:cubicBezTo>
                  <a:pt x="229" y="231"/>
                  <a:pt x="236" y="239"/>
                  <a:pt x="236" y="248"/>
                </a:cubicBezTo>
                <a:cubicBezTo>
                  <a:pt x="236" y="257"/>
                  <a:pt x="229" y="264"/>
                  <a:pt x="219" y="264"/>
                </a:cubicBezTo>
                <a:close/>
                <a:moveTo>
                  <a:pt x="388" y="289"/>
                </a:moveTo>
                <a:cubicBezTo>
                  <a:pt x="380" y="287"/>
                  <a:pt x="371" y="286"/>
                  <a:pt x="362" y="286"/>
                </a:cubicBezTo>
                <a:cubicBezTo>
                  <a:pt x="304" y="286"/>
                  <a:pt x="257" y="333"/>
                  <a:pt x="257" y="391"/>
                </a:cubicBezTo>
                <a:cubicBezTo>
                  <a:pt x="257" y="442"/>
                  <a:pt x="292" y="484"/>
                  <a:pt x="340" y="494"/>
                </a:cubicBezTo>
                <a:cubicBezTo>
                  <a:pt x="347" y="496"/>
                  <a:pt x="354" y="497"/>
                  <a:pt x="362" y="497"/>
                </a:cubicBezTo>
                <a:cubicBezTo>
                  <a:pt x="420" y="497"/>
                  <a:pt x="467" y="449"/>
                  <a:pt x="467" y="391"/>
                </a:cubicBezTo>
                <a:cubicBezTo>
                  <a:pt x="467" y="342"/>
                  <a:pt x="434" y="301"/>
                  <a:pt x="388" y="289"/>
                </a:cubicBezTo>
                <a:close/>
                <a:moveTo>
                  <a:pt x="422" y="376"/>
                </a:moveTo>
                <a:lnTo>
                  <a:pt x="422" y="376"/>
                </a:lnTo>
                <a:lnTo>
                  <a:pt x="388" y="410"/>
                </a:lnTo>
                <a:lnTo>
                  <a:pt x="362" y="436"/>
                </a:lnTo>
                <a:cubicBezTo>
                  <a:pt x="354" y="444"/>
                  <a:pt x="340" y="444"/>
                  <a:pt x="332" y="436"/>
                </a:cubicBezTo>
                <a:lnTo>
                  <a:pt x="302" y="406"/>
                </a:lnTo>
                <a:cubicBezTo>
                  <a:pt x="294" y="398"/>
                  <a:pt x="294" y="384"/>
                  <a:pt x="302" y="376"/>
                </a:cubicBezTo>
                <a:cubicBezTo>
                  <a:pt x="311" y="368"/>
                  <a:pt x="324" y="368"/>
                  <a:pt x="332" y="376"/>
                </a:cubicBezTo>
                <a:lnTo>
                  <a:pt x="347" y="391"/>
                </a:lnTo>
                <a:lnTo>
                  <a:pt x="388" y="350"/>
                </a:lnTo>
                <a:lnTo>
                  <a:pt x="392" y="346"/>
                </a:lnTo>
                <a:cubicBezTo>
                  <a:pt x="400" y="338"/>
                  <a:pt x="413" y="338"/>
                  <a:pt x="422" y="346"/>
                </a:cubicBezTo>
                <a:cubicBezTo>
                  <a:pt x="430" y="355"/>
                  <a:pt x="430" y="368"/>
                  <a:pt x="422" y="3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a:p>
        </p:txBody>
      </p:sp>
      <p:pic>
        <p:nvPicPr>
          <p:cNvPr id="30" name="图片 29"/>
          <p:cNvPicPr>
            <a:picLocks noChangeAspect="1"/>
          </p:cNvPicPr>
          <p:nvPr>
            <p:custDataLst>
              <p:tags r:id="rId8"/>
            </p:custDataLst>
          </p:nvPr>
        </p:nvPicPr>
        <p:blipFill>
          <a:blip r:embed="rId9"/>
          <a:stretch>
            <a:fillRect/>
          </a:stretch>
        </p:blipFill>
        <p:spPr>
          <a:xfrm>
            <a:off x="3947999" y="3974074"/>
            <a:ext cx="558000" cy="558000"/>
          </a:xfrm>
          <a:prstGeom prst="rect">
            <a:avLst/>
          </a:prstGeom>
        </p:spPr>
      </p:pic>
      <p:pic>
        <p:nvPicPr>
          <p:cNvPr id="31" name="图片 30"/>
          <p:cNvPicPr>
            <a:picLocks noChangeAspect="1"/>
          </p:cNvPicPr>
          <p:nvPr>
            <p:custDataLst>
              <p:tags r:id="rId10"/>
            </p:custDataLst>
          </p:nvPr>
        </p:nvPicPr>
        <p:blipFill>
          <a:blip r:embed="rId11"/>
          <a:stretch>
            <a:fillRect/>
          </a:stretch>
        </p:blipFill>
        <p:spPr>
          <a:xfrm>
            <a:off x="3960879" y="3164396"/>
            <a:ext cx="558000" cy="558000"/>
          </a:xfrm>
          <a:prstGeom prst="rect">
            <a:avLst/>
          </a:prstGeom>
        </p:spPr>
      </p:pic>
      <p:sp>
        <p:nvSpPr>
          <p:cNvPr id="15" name="Freeform 24"/>
          <p:cNvSpPr/>
          <p:nvPr>
            <p:custDataLst>
              <p:tags r:id="rId12"/>
            </p:custDataLst>
          </p:nvPr>
        </p:nvSpPr>
        <p:spPr bwMode="auto">
          <a:xfrm>
            <a:off x="4735725" y="2419112"/>
            <a:ext cx="3361660" cy="535572"/>
          </a:xfrm>
          <a:custGeom>
            <a:avLst/>
            <a:gdLst>
              <a:gd name="T0" fmla="*/ 91 w 8683"/>
              <a:gd name="T1" fmla="*/ 0 h 865"/>
              <a:gd name="T2" fmla="*/ 8591 w 8683"/>
              <a:gd name="T3" fmla="*/ 0 h 865"/>
              <a:gd name="T4" fmla="*/ 8683 w 8683"/>
              <a:gd name="T5" fmla="*/ 91 h 865"/>
              <a:gd name="T6" fmla="*/ 8683 w 8683"/>
              <a:gd name="T7" fmla="*/ 774 h 865"/>
              <a:gd name="T8" fmla="*/ 8591 w 8683"/>
              <a:gd name="T9" fmla="*/ 865 h 865"/>
              <a:gd name="T10" fmla="*/ 91 w 8683"/>
              <a:gd name="T11" fmla="*/ 865 h 865"/>
              <a:gd name="T12" fmla="*/ 0 w 8683"/>
              <a:gd name="T13" fmla="*/ 774 h 865"/>
              <a:gd name="T14" fmla="*/ 0 w 8683"/>
              <a:gd name="T15" fmla="*/ 91 h 865"/>
              <a:gd name="T16" fmla="*/ 91 w 8683"/>
              <a:gd name="T17" fmla="*/ 0 h 8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3" h="865">
                <a:moveTo>
                  <a:pt x="91" y="0"/>
                </a:moveTo>
                <a:lnTo>
                  <a:pt x="8591" y="0"/>
                </a:lnTo>
                <a:cubicBezTo>
                  <a:pt x="8642" y="0"/>
                  <a:pt x="8683" y="41"/>
                  <a:pt x="8683" y="91"/>
                </a:cubicBezTo>
                <a:lnTo>
                  <a:pt x="8683" y="774"/>
                </a:lnTo>
                <a:cubicBezTo>
                  <a:pt x="8683" y="824"/>
                  <a:pt x="8642" y="865"/>
                  <a:pt x="8591" y="865"/>
                </a:cubicBezTo>
                <a:lnTo>
                  <a:pt x="91" y="865"/>
                </a:lnTo>
                <a:cubicBezTo>
                  <a:pt x="41" y="865"/>
                  <a:pt x="0" y="824"/>
                  <a:pt x="0" y="774"/>
                </a:cubicBezTo>
                <a:lnTo>
                  <a:pt x="0" y="91"/>
                </a:lnTo>
                <a:cubicBezTo>
                  <a:pt x="0" y="41"/>
                  <a:pt x="41" y="0"/>
                  <a:pt x="91" y="0"/>
                </a:cubicBezTo>
                <a:close/>
              </a:path>
            </a:pathLst>
          </a:custGeom>
          <a:solidFill>
            <a:srgbClr val="FFFFFF"/>
          </a:solidFill>
          <a:ln w="9525" cap="flat">
            <a:solidFill>
              <a:schemeClr val="tx1">
                <a:lumMod val="50000"/>
                <a:lumOff val="50000"/>
              </a:schemeClr>
            </a:solidFill>
            <a:prstDash val="solid"/>
            <a:miter lim="800000"/>
          </a:ln>
        </p:spPr>
        <p:txBody>
          <a:bodyPr vert="horz" wrap="square" lIns="68553" tIns="34277" rIns="68553" bIns="34277" numCol="1" anchor="t" anchorCtr="0" compatLnSpc="1"/>
          <a:lstStyle/>
          <a:p>
            <a:endParaRPr lang="zh-CN" altLang="en-US"/>
          </a:p>
        </p:txBody>
      </p:sp>
      <p:sp>
        <p:nvSpPr>
          <p:cNvPr id="16" name="TextBox 47"/>
          <p:cNvSpPr txBox="1"/>
          <p:nvPr>
            <p:custDataLst>
              <p:tags r:id="rId13"/>
            </p:custDataLst>
          </p:nvPr>
        </p:nvSpPr>
        <p:spPr>
          <a:xfrm>
            <a:off x="4860032" y="2467692"/>
            <a:ext cx="2955963" cy="429895"/>
          </a:xfrm>
          <a:prstGeom prst="rect">
            <a:avLst/>
          </a:prstGeom>
          <a:noFill/>
        </p:spPr>
        <p:txBody>
          <a:bodyPr wrap="square" rtlCol="0">
            <a:spAutoFit/>
          </a:bodyPr>
          <a:lstStyle/>
          <a:p>
            <a:r>
              <a:rPr lang="en-US" altLang="zh-CN" sz="2200" b="1" smtClean="0">
                <a:solidFill>
                  <a:schemeClr val="tx2">
                    <a:lumMod val="75000"/>
                    <a:lumOff val="25000"/>
                  </a:schemeClr>
                </a:solidFill>
                <a:latin typeface="微软雅黑" panose="020B0503020204020204" pitchFamily="34" charset="-122"/>
                <a:ea typeface="微软雅黑" panose="020B0503020204020204" pitchFamily="34" charset="-122"/>
              </a:rPr>
              <a:t>6.1 </a:t>
            </a:r>
            <a:r>
              <a:rPr lang="zh-CN" altLang="en-US" sz="2200" b="1" smtClean="0">
                <a:solidFill>
                  <a:schemeClr val="tx2">
                    <a:lumMod val="75000"/>
                    <a:lumOff val="25000"/>
                  </a:schemeClr>
                </a:solidFill>
                <a:latin typeface="微软雅黑" panose="020B0503020204020204" pitchFamily="34" charset="-122"/>
                <a:ea typeface="微软雅黑" panose="020B0503020204020204" pitchFamily="34" charset="-122"/>
              </a:rPr>
              <a:t>回溯</a:t>
            </a:r>
            <a:r>
              <a:rPr lang="zh-CN" altLang="en-US" sz="2200" b="1" smtClean="0">
                <a:solidFill>
                  <a:schemeClr val="tx2">
                    <a:lumMod val="75000"/>
                    <a:lumOff val="25000"/>
                  </a:schemeClr>
                </a:solidFill>
                <a:latin typeface="微软雅黑" panose="020B0503020204020204" pitchFamily="34" charset="-122"/>
                <a:ea typeface="微软雅黑" panose="020B0503020204020204" pitchFamily="34" charset="-122"/>
              </a:rPr>
              <a:t>思想</a:t>
            </a:r>
            <a:endParaRPr lang="zh-CN" altLang="en-US" sz="2200" b="1" smtClean="0">
              <a:solidFill>
                <a:schemeClr val="tx2">
                  <a:lumMod val="75000"/>
                  <a:lumOff val="25000"/>
                </a:schemeClr>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custDataLst>
              <p:tags r:id="rId14"/>
            </p:custDataLst>
          </p:nvPr>
        </p:nvPicPr>
        <p:blipFill>
          <a:blip r:embed="rId11"/>
          <a:stretch>
            <a:fillRect/>
          </a:stretch>
        </p:blipFill>
        <p:spPr>
          <a:xfrm>
            <a:off x="3967905" y="2419112"/>
            <a:ext cx="558000" cy="5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4</a:t>
            </a:r>
            <a:endParaRPr lang="zh-CN" altLang="en-US">
              <a:solidFill>
                <a:schemeClr val="bg2">
                  <a:lumMod val="25000"/>
                  <a:lumOff val="75000"/>
                </a:schemeClr>
              </a:solidFill>
            </a:endParaRPr>
          </a:p>
        </p:txBody>
      </p:sp>
      <p:sp>
        <p:nvSpPr>
          <p:cNvPr id="14" name="文本框 13"/>
          <p:cNvSpPr txBox="1"/>
          <p:nvPr/>
        </p:nvSpPr>
        <p:spPr>
          <a:xfrm>
            <a:off x="755650" y="2093913"/>
            <a:ext cx="8010525" cy="645160"/>
          </a:xfrm>
          <a:prstGeom prst="rect">
            <a:avLst/>
          </a:prstGeom>
          <a:noFill/>
        </p:spPr>
        <p:txBody>
          <a:bodyPr>
            <a:spAutoFit/>
          </a:bodyPr>
          <a:lstStyle/>
          <a:p>
            <a:pPr>
              <a:defRPr/>
            </a:pPr>
            <a:r>
              <a:rPr lang="zh-CN" altLang="en-US">
                <a:solidFill>
                  <a:srgbClr val="000066"/>
                </a:solidFill>
                <a:uFillTx/>
                <a:latin typeface="Times New Roman" panose="02020603050405020304" pitchFamily="18" charset="0"/>
              </a:rPr>
              <a:t>情景再现</a:t>
            </a:r>
            <a:r>
              <a:rPr lang="en-US" altLang="zh-CN" dirty="0">
                <a:solidFill>
                  <a:srgbClr val="000066"/>
                </a:solidFill>
                <a:uFillTx/>
                <a:latin typeface="Times New Roman" panose="02020603050405020304" pitchFamily="18" charset="0"/>
              </a:rPr>
              <a:t>:</a:t>
            </a:r>
            <a:r>
              <a:rPr lang="zh-CN" altLang="en-US">
                <a:solidFill>
                  <a:srgbClr val="000066"/>
                </a:solidFill>
                <a:uFillTx/>
                <a:latin typeface="Times New Roman" panose="02020603050405020304" pitchFamily="18" charset="0"/>
              </a:rPr>
              <a:t>小明过年和朋友一起进入迷宫，比赛看谁先从迷宫中走出来，请问小明靠什么方法来走出迷宫？</a:t>
            </a:r>
            <a:endParaRPr lang="zh-CN" altLang="en-US">
              <a:solidFill>
                <a:srgbClr val="000066"/>
              </a:solidFill>
              <a:uFillTx/>
              <a:latin typeface="Times New Roman" panose="02020603050405020304" pitchFamily="18" charset="0"/>
            </a:endParaRPr>
          </a:p>
        </p:txBody>
      </p:sp>
      <p:pic>
        <p:nvPicPr>
          <p:cNvPr id="10245"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84438" y="2997200"/>
            <a:ext cx="360045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2484438" y="5157788"/>
            <a:ext cx="792162" cy="368300"/>
          </a:xfrm>
          <a:prstGeom prst="rect">
            <a:avLst/>
          </a:prstGeom>
          <a:noFill/>
        </p:spPr>
        <p:txBody>
          <a:bodyPr>
            <a:spAutoFit/>
          </a:bodyPr>
          <a:lstStyle/>
          <a:p>
            <a:pPr>
              <a:defRPr/>
            </a:pPr>
            <a:r>
              <a:rPr lang="zh-CN" altLang="en-US">
                <a:solidFill>
                  <a:srgbClr val="000066"/>
                </a:solidFill>
                <a:uFillTx/>
                <a:latin typeface="Times New Roman" panose="02020603050405020304" pitchFamily="18" charset="0"/>
              </a:rPr>
              <a:t>小明</a:t>
            </a:r>
            <a:endParaRPr lang="zh-CN" altLang="en-US">
              <a:solidFill>
                <a:srgbClr val="000066"/>
              </a:solidFill>
              <a:uFillTx/>
              <a:latin typeface="Times New Roman" panose="02020603050405020304" pitchFamily="18" charset="0"/>
            </a:endParaRPr>
          </a:p>
        </p:txBody>
      </p:sp>
      <p:sp>
        <p:nvSpPr>
          <p:cNvPr id="8" name="文本框 7"/>
          <p:cNvSpPr txBox="1"/>
          <p:nvPr/>
        </p:nvSpPr>
        <p:spPr>
          <a:xfrm>
            <a:off x="5508625" y="3929063"/>
            <a:ext cx="792163" cy="368300"/>
          </a:xfrm>
          <a:prstGeom prst="rect">
            <a:avLst/>
          </a:prstGeom>
          <a:noFill/>
        </p:spPr>
        <p:txBody>
          <a:bodyPr>
            <a:spAutoFit/>
          </a:bodyPr>
          <a:lstStyle/>
          <a:p>
            <a:pPr>
              <a:defRPr/>
            </a:pPr>
            <a:r>
              <a:rPr lang="zh-CN" altLang="en-US">
                <a:solidFill>
                  <a:srgbClr val="000066"/>
                </a:solidFill>
                <a:latin typeface="宋体" panose="02010600030101010101" pitchFamily="2" charset="-122"/>
              </a:rPr>
              <a:t>出口</a:t>
            </a:r>
            <a:endParaRPr lang="zh-CN" altLang="en-US">
              <a:solidFill>
                <a:srgbClr val="000066"/>
              </a:solidFill>
              <a:latin typeface="宋体" panose="02010600030101010101" pitchFamily="2" charset="-122"/>
            </a:endParaRPr>
          </a:p>
        </p:txBody>
      </p:sp>
      <p:cxnSp>
        <p:nvCxnSpPr>
          <p:cNvPr id="10248" name="直接连接符 5"/>
          <p:cNvCxnSpPr>
            <a:cxnSpLocks noChangeShapeType="1"/>
          </p:cNvCxnSpPr>
          <p:nvPr/>
        </p:nvCxnSpPr>
        <p:spPr bwMode="auto">
          <a:xfrm flipH="1" flipV="1">
            <a:off x="3613150" y="3324225"/>
            <a:ext cx="3175" cy="942975"/>
          </a:xfrm>
          <a:prstGeom prst="line">
            <a:avLst/>
          </a:prstGeom>
          <a:noFill/>
          <a:ln w="76200" algn="ctr">
            <a:solidFill>
              <a:schemeClr val="tx1"/>
            </a:solidFill>
            <a:round/>
          </a:ln>
          <a:extLst>
            <a:ext uri="{909E8E84-426E-40DD-AFC4-6F175D3DCCD1}">
              <a14:hiddenFill xmlns:a14="http://schemas.microsoft.com/office/drawing/2010/main">
                <a:noFill/>
              </a14:hiddenFill>
            </a:ext>
          </a:extLst>
        </p:spPr>
      </p:cxnSp>
      <p:cxnSp>
        <p:nvCxnSpPr>
          <p:cNvPr id="10249" name="直接连接符 12"/>
          <p:cNvCxnSpPr>
            <a:cxnSpLocks noChangeShapeType="1"/>
          </p:cNvCxnSpPr>
          <p:nvPr/>
        </p:nvCxnSpPr>
        <p:spPr bwMode="auto">
          <a:xfrm flipV="1">
            <a:off x="3613150" y="4870450"/>
            <a:ext cx="0" cy="471488"/>
          </a:xfrm>
          <a:prstGeom prst="line">
            <a:avLst/>
          </a:prstGeom>
          <a:noFill/>
          <a:ln w="76200" algn="ctr">
            <a:solidFill>
              <a:schemeClr val="tx1"/>
            </a:solidFill>
            <a:round/>
          </a:ln>
          <a:extLst>
            <a:ext uri="{909E8E84-426E-40DD-AFC4-6F175D3DCCD1}">
              <a14:hiddenFill xmlns:a14="http://schemas.microsoft.com/office/drawing/2010/main">
                <a:noFill/>
              </a14:hiddenFill>
            </a:ext>
          </a:extLst>
        </p:spPr>
      </p:cxnSp>
      <p:sp>
        <p:nvSpPr>
          <p:cNvPr id="15" name="文本框 14"/>
          <p:cNvSpPr txBox="1"/>
          <p:nvPr/>
        </p:nvSpPr>
        <p:spPr>
          <a:xfrm>
            <a:off x="3586163" y="3157538"/>
            <a:ext cx="792162" cy="368300"/>
          </a:xfrm>
          <a:prstGeom prst="rect">
            <a:avLst/>
          </a:prstGeom>
          <a:noFill/>
        </p:spPr>
        <p:txBody>
          <a:bodyPr>
            <a:spAutoFit/>
          </a:bodyPr>
          <a:lstStyle/>
          <a:p>
            <a:pPr>
              <a:defRPr/>
            </a:pPr>
            <a:r>
              <a:rPr lang="zh-CN" altLang="en-US">
                <a:solidFill>
                  <a:srgbClr val="FF0000"/>
                </a:solidFill>
                <a:latin typeface="+mj-ea"/>
                <a:ea typeface="+mj-ea"/>
              </a:rPr>
              <a:t>①</a:t>
            </a:r>
            <a:endParaRPr lang="zh-CN" altLang="en-US">
              <a:solidFill>
                <a:srgbClr val="FF0000"/>
              </a:solidFill>
              <a:latin typeface="+mj-ea"/>
              <a:ea typeface="+mj-ea"/>
            </a:endParaRPr>
          </a:p>
        </p:txBody>
      </p:sp>
      <p:sp>
        <p:nvSpPr>
          <p:cNvPr id="16" name="文本框 15"/>
          <p:cNvSpPr txBox="1"/>
          <p:nvPr/>
        </p:nvSpPr>
        <p:spPr>
          <a:xfrm>
            <a:off x="3586163" y="5138738"/>
            <a:ext cx="792162" cy="368300"/>
          </a:xfrm>
          <a:prstGeom prst="rect">
            <a:avLst/>
          </a:prstGeom>
          <a:noFill/>
        </p:spPr>
        <p:txBody>
          <a:bodyPr>
            <a:spAutoFit/>
          </a:bodyPr>
          <a:lstStyle/>
          <a:p>
            <a:pPr>
              <a:defRPr/>
            </a:pPr>
            <a:r>
              <a:rPr lang="zh-CN" altLang="en-US">
                <a:solidFill>
                  <a:srgbClr val="FF0000"/>
                </a:solidFill>
                <a:latin typeface="+mj-ea"/>
                <a:ea typeface="+mj-ea"/>
              </a:rPr>
              <a:t>②</a:t>
            </a:r>
            <a:endParaRPr lang="zh-CN" altLang="en-US">
              <a:solidFill>
                <a:srgbClr val="FF0000"/>
              </a:solidFill>
              <a:latin typeface="+mj-ea"/>
              <a:ea typeface="+mj-ea"/>
            </a:endParaRPr>
          </a:p>
        </p:txBody>
      </p:sp>
      <p:sp>
        <p:nvSpPr>
          <p:cNvPr id="17" name="文本框 16"/>
          <p:cNvSpPr txBox="1"/>
          <p:nvPr/>
        </p:nvSpPr>
        <p:spPr>
          <a:xfrm>
            <a:off x="3887788" y="3949700"/>
            <a:ext cx="792162" cy="369888"/>
          </a:xfrm>
          <a:prstGeom prst="rect">
            <a:avLst/>
          </a:prstGeom>
          <a:noFill/>
        </p:spPr>
        <p:txBody>
          <a:bodyPr>
            <a:spAutoFit/>
          </a:bodyPr>
          <a:lstStyle/>
          <a:p>
            <a:pPr>
              <a:defRPr/>
            </a:pPr>
            <a:r>
              <a:rPr lang="zh-CN" altLang="en-US">
                <a:solidFill>
                  <a:srgbClr val="FF0000"/>
                </a:solidFill>
                <a:latin typeface="+mj-ea"/>
                <a:ea typeface="+mj-ea"/>
              </a:rPr>
              <a:t>③</a:t>
            </a:r>
            <a:endParaRPr lang="zh-CN" altLang="en-US">
              <a:solidFill>
                <a:srgbClr val="FF0000"/>
              </a:solidFill>
              <a:latin typeface="+mj-ea"/>
              <a:ea typeface="+mj-ea"/>
            </a:endParaRPr>
          </a:p>
        </p:txBody>
      </p:sp>
      <p:sp>
        <p:nvSpPr>
          <p:cNvPr id="3" name="文本框 2"/>
          <p:cNvSpPr txBox="1"/>
          <p:nvPr/>
        </p:nvSpPr>
        <p:spPr>
          <a:xfrm>
            <a:off x="251460" y="836930"/>
            <a:ext cx="4572000" cy="534035"/>
          </a:xfrm>
          <a:prstGeom prst="rect">
            <a:avLst/>
          </a:prstGeom>
          <a:noFill/>
        </p:spPr>
        <p:txBody>
          <a:bodyPr wrap="square" rtlCol="0" anchor="t">
            <a:spAutoFit/>
          </a:bodyPr>
          <a:lstStyle/>
          <a:p>
            <a:pPr>
              <a:lnSpc>
                <a:spcPct val="120000"/>
              </a:lnSpc>
              <a:buNone/>
            </a:pPr>
            <a:r>
              <a:rPr lang="en-US" altLang="zh-CN" sz="2400" b="1" kern="0" dirty="0">
                <a:uFillTx/>
                <a:latin typeface="Times New Roman" panose="02020603050405020304" pitchFamily="18" charset="0"/>
                <a:cs typeface="Times New Roman" panose="02020603050405020304" pitchFamily="18" charset="0"/>
                <a:sym typeface="+mn-ea"/>
              </a:rPr>
              <a:t>6.1.1 </a:t>
            </a:r>
            <a:r>
              <a:rPr lang="zh-CN" altLang="en-US" sz="2400" b="1" kern="0" dirty="0">
                <a:uFillTx/>
                <a:latin typeface="Times New Roman" panose="02020603050405020304" pitchFamily="18" charset="0"/>
                <a:cs typeface="Times New Roman" panose="02020603050405020304" pitchFamily="18" charset="0"/>
                <a:sym typeface="+mn-ea"/>
              </a:rPr>
              <a:t>回溯</a:t>
            </a:r>
            <a:r>
              <a:rPr lang="zh-CN" altLang="en-US" sz="2400" b="1" kern="0" dirty="0">
                <a:uFillTx/>
                <a:latin typeface="Times New Roman" panose="02020603050405020304" pitchFamily="18" charset="0"/>
                <a:cs typeface="Times New Roman" panose="02020603050405020304" pitchFamily="18" charset="0"/>
                <a:sym typeface="+mn-ea"/>
              </a:rPr>
              <a:t>思想</a:t>
            </a:r>
            <a:endParaRPr lang="zh-CN" altLang="en-US" sz="2400" b="1" kern="0" dirty="0">
              <a:uFillTx/>
              <a:latin typeface="Times New Roman" panose="02020603050405020304" pitchFamily="18" charset="0"/>
              <a:cs typeface="Times New Roman" panose="02020603050405020304"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4</a:t>
            </a:r>
            <a:endParaRPr lang="zh-CN" altLang="en-US">
              <a:solidFill>
                <a:schemeClr val="bg2">
                  <a:lumMod val="25000"/>
                  <a:lumOff val="75000"/>
                </a:schemeClr>
              </a:solidFill>
            </a:endParaRPr>
          </a:p>
        </p:txBody>
      </p:sp>
      <p:sp>
        <p:nvSpPr>
          <p:cNvPr id="14" name="文本框 13"/>
          <p:cNvSpPr txBox="1"/>
          <p:nvPr/>
        </p:nvSpPr>
        <p:spPr>
          <a:xfrm>
            <a:off x="251460" y="1051878"/>
            <a:ext cx="8010525" cy="368300"/>
          </a:xfrm>
          <a:prstGeom prst="rect">
            <a:avLst/>
          </a:prstGeom>
          <a:noFill/>
        </p:spPr>
        <p:txBody>
          <a:bodyPr>
            <a:spAutoFit/>
          </a:bodyPr>
          <a:lstStyle/>
          <a:p>
            <a:pPr>
              <a:defRPr/>
            </a:pPr>
            <a:r>
              <a:rPr lang="zh-CN" altLang="en-US">
                <a:solidFill>
                  <a:schemeClr val="tx1"/>
                </a:solidFill>
                <a:uFillTx/>
                <a:latin typeface="Times New Roman" panose="02020603050405020304" pitchFamily="18" charset="0"/>
              </a:rPr>
              <a:t>迷宫问题可以抽象成一棵树（解空间</a:t>
            </a:r>
            <a:r>
              <a:rPr lang="zh-CN" altLang="en-US">
                <a:solidFill>
                  <a:schemeClr val="tx1"/>
                </a:solidFill>
                <a:uFillTx/>
                <a:latin typeface="Times New Roman" panose="02020603050405020304" pitchFamily="18" charset="0"/>
              </a:rPr>
              <a:t>树）：</a:t>
            </a:r>
            <a:endParaRPr lang="zh-CN" altLang="en-US">
              <a:solidFill>
                <a:schemeClr val="tx1"/>
              </a:solidFill>
              <a:uFillTx/>
              <a:latin typeface="Times New Roman" panose="02020603050405020304" pitchFamily="18" charset="0"/>
            </a:endParaRPr>
          </a:p>
        </p:txBody>
      </p:sp>
      <p:pic>
        <p:nvPicPr>
          <p:cNvPr id="10245"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67043" y="1628775"/>
            <a:ext cx="360045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467043" y="3789363"/>
            <a:ext cx="792162" cy="368300"/>
          </a:xfrm>
          <a:prstGeom prst="rect">
            <a:avLst/>
          </a:prstGeom>
          <a:noFill/>
        </p:spPr>
        <p:txBody>
          <a:bodyPr>
            <a:spAutoFit/>
          </a:bodyPr>
          <a:lstStyle/>
          <a:p>
            <a:pPr>
              <a:defRPr/>
            </a:pPr>
            <a:r>
              <a:rPr lang="zh-CN" altLang="en-US">
                <a:solidFill>
                  <a:srgbClr val="000066"/>
                </a:solidFill>
                <a:latin typeface="+mj-ea"/>
                <a:ea typeface="+mj-ea"/>
              </a:rPr>
              <a:t>小明</a:t>
            </a:r>
            <a:endParaRPr lang="zh-CN" altLang="en-US">
              <a:solidFill>
                <a:srgbClr val="000066"/>
              </a:solidFill>
              <a:latin typeface="+mj-ea"/>
              <a:ea typeface="+mj-ea"/>
            </a:endParaRPr>
          </a:p>
        </p:txBody>
      </p:sp>
      <p:sp>
        <p:nvSpPr>
          <p:cNvPr id="8" name="文本框 7"/>
          <p:cNvSpPr txBox="1"/>
          <p:nvPr/>
        </p:nvSpPr>
        <p:spPr>
          <a:xfrm>
            <a:off x="3491230" y="2560638"/>
            <a:ext cx="792163" cy="369887"/>
          </a:xfrm>
          <a:prstGeom prst="rect">
            <a:avLst/>
          </a:prstGeom>
          <a:noFill/>
        </p:spPr>
        <p:txBody>
          <a:bodyPr>
            <a:spAutoFit/>
          </a:bodyPr>
          <a:lstStyle/>
          <a:p>
            <a:pPr>
              <a:defRPr/>
            </a:pPr>
            <a:r>
              <a:rPr lang="zh-CN" altLang="en-US">
                <a:solidFill>
                  <a:srgbClr val="000066"/>
                </a:solidFill>
                <a:latin typeface="+mj-ea"/>
                <a:ea typeface="+mj-ea"/>
              </a:rPr>
              <a:t>出口</a:t>
            </a:r>
            <a:endParaRPr lang="zh-CN" altLang="en-US">
              <a:solidFill>
                <a:srgbClr val="000066"/>
              </a:solidFill>
              <a:latin typeface="+mj-ea"/>
              <a:ea typeface="+mj-ea"/>
            </a:endParaRPr>
          </a:p>
        </p:txBody>
      </p:sp>
      <p:cxnSp>
        <p:nvCxnSpPr>
          <p:cNvPr id="10248" name="直接连接符 5"/>
          <p:cNvCxnSpPr>
            <a:cxnSpLocks noChangeShapeType="1"/>
          </p:cNvCxnSpPr>
          <p:nvPr/>
        </p:nvCxnSpPr>
        <p:spPr bwMode="auto">
          <a:xfrm flipH="1" flipV="1">
            <a:off x="1595755" y="1955800"/>
            <a:ext cx="3175" cy="942975"/>
          </a:xfrm>
          <a:prstGeom prst="line">
            <a:avLst/>
          </a:prstGeom>
          <a:noFill/>
          <a:ln w="76200" algn="ctr">
            <a:solidFill>
              <a:schemeClr val="tx1"/>
            </a:solidFill>
            <a:round/>
          </a:ln>
          <a:extLst>
            <a:ext uri="{909E8E84-426E-40DD-AFC4-6F175D3DCCD1}">
              <a14:hiddenFill xmlns:a14="http://schemas.microsoft.com/office/drawing/2010/main">
                <a:noFill/>
              </a14:hiddenFill>
            </a:ext>
          </a:extLst>
        </p:spPr>
      </p:cxnSp>
      <p:cxnSp>
        <p:nvCxnSpPr>
          <p:cNvPr id="10249" name="直接连接符 12"/>
          <p:cNvCxnSpPr>
            <a:cxnSpLocks noChangeShapeType="1"/>
          </p:cNvCxnSpPr>
          <p:nvPr/>
        </p:nvCxnSpPr>
        <p:spPr bwMode="auto">
          <a:xfrm flipV="1">
            <a:off x="1595755" y="3502025"/>
            <a:ext cx="0" cy="471488"/>
          </a:xfrm>
          <a:prstGeom prst="line">
            <a:avLst/>
          </a:prstGeom>
          <a:noFill/>
          <a:ln w="76200" algn="ctr">
            <a:solidFill>
              <a:schemeClr val="tx1"/>
            </a:solidFill>
            <a:round/>
          </a:ln>
          <a:extLst>
            <a:ext uri="{909E8E84-426E-40DD-AFC4-6F175D3DCCD1}">
              <a14:hiddenFill xmlns:a14="http://schemas.microsoft.com/office/drawing/2010/main">
                <a:noFill/>
              </a14:hiddenFill>
            </a:ext>
          </a:extLst>
        </p:spPr>
      </p:cxnSp>
      <p:sp>
        <p:nvSpPr>
          <p:cNvPr id="15" name="文本框 14"/>
          <p:cNvSpPr txBox="1"/>
          <p:nvPr/>
        </p:nvSpPr>
        <p:spPr>
          <a:xfrm>
            <a:off x="1568768" y="1789113"/>
            <a:ext cx="792162" cy="368300"/>
          </a:xfrm>
          <a:prstGeom prst="rect">
            <a:avLst/>
          </a:prstGeom>
          <a:noFill/>
        </p:spPr>
        <p:txBody>
          <a:bodyPr>
            <a:spAutoFit/>
          </a:bodyPr>
          <a:lstStyle/>
          <a:p>
            <a:pPr>
              <a:defRPr/>
            </a:pPr>
            <a:r>
              <a:rPr lang="zh-CN" altLang="en-US">
                <a:solidFill>
                  <a:srgbClr val="FF0000"/>
                </a:solidFill>
                <a:latin typeface="+mj-ea"/>
                <a:ea typeface="+mj-ea"/>
              </a:rPr>
              <a:t>①</a:t>
            </a:r>
            <a:endParaRPr lang="zh-CN" altLang="en-US">
              <a:solidFill>
                <a:srgbClr val="FF0000"/>
              </a:solidFill>
              <a:latin typeface="+mj-ea"/>
              <a:ea typeface="+mj-ea"/>
            </a:endParaRPr>
          </a:p>
        </p:txBody>
      </p:sp>
      <p:sp>
        <p:nvSpPr>
          <p:cNvPr id="16" name="文本框 15"/>
          <p:cNvSpPr txBox="1"/>
          <p:nvPr/>
        </p:nvSpPr>
        <p:spPr>
          <a:xfrm>
            <a:off x="1568768" y="3770313"/>
            <a:ext cx="792162" cy="368300"/>
          </a:xfrm>
          <a:prstGeom prst="rect">
            <a:avLst/>
          </a:prstGeom>
          <a:noFill/>
        </p:spPr>
        <p:txBody>
          <a:bodyPr>
            <a:spAutoFit/>
          </a:bodyPr>
          <a:lstStyle/>
          <a:p>
            <a:pPr>
              <a:defRPr/>
            </a:pPr>
            <a:r>
              <a:rPr lang="zh-CN" altLang="en-US">
                <a:solidFill>
                  <a:srgbClr val="FF0000"/>
                </a:solidFill>
                <a:latin typeface="+mj-ea"/>
                <a:ea typeface="+mj-ea"/>
              </a:rPr>
              <a:t>②</a:t>
            </a:r>
            <a:endParaRPr lang="zh-CN" altLang="en-US">
              <a:solidFill>
                <a:srgbClr val="FF0000"/>
              </a:solidFill>
              <a:latin typeface="+mj-ea"/>
              <a:ea typeface="+mj-ea"/>
            </a:endParaRPr>
          </a:p>
        </p:txBody>
      </p:sp>
      <p:sp>
        <p:nvSpPr>
          <p:cNvPr id="17" name="文本框 16"/>
          <p:cNvSpPr txBox="1"/>
          <p:nvPr/>
        </p:nvSpPr>
        <p:spPr>
          <a:xfrm>
            <a:off x="1870393" y="2581275"/>
            <a:ext cx="792162" cy="369888"/>
          </a:xfrm>
          <a:prstGeom prst="rect">
            <a:avLst/>
          </a:prstGeom>
          <a:noFill/>
        </p:spPr>
        <p:txBody>
          <a:bodyPr>
            <a:spAutoFit/>
          </a:bodyPr>
          <a:lstStyle/>
          <a:p>
            <a:pPr>
              <a:defRPr/>
            </a:pPr>
            <a:r>
              <a:rPr lang="zh-CN" altLang="en-US">
                <a:solidFill>
                  <a:srgbClr val="FF0000"/>
                </a:solidFill>
                <a:latin typeface="+mj-ea"/>
                <a:ea typeface="+mj-ea"/>
              </a:rPr>
              <a:t>③</a:t>
            </a:r>
            <a:endParaRPr lang="zh-CN" altLang="en-US">
              <a:solidFill>
                <a:srgbClr val="FF0000"/>
              </a:solidFill>
              <a:latin typeface="+mj-ea"/>
              <a:ea typeface="+mj-ea"/>
            </a:endParaRPr>
          </a:p>
        </p:txBody>
      </p:sp>
      <p:grpSp>
        <p:nvGrpSpPr>
          <p:cNvPr id="72" name="组合 71"/>
          <p:cNvGrpSpPr/>
          <p:nvPr/>
        </p:nvGrpSpPr>
        <p:grpSpPr>
          <a:xfrm>
            <a:off x="5003800" y="1268730"/>
            <a:ext cx="3688080" cy="2865120"/>
            <a:chOff x="8221" y="3132"/>
            <a:chExt cx="5808" cy="4512"/>
          </a:xfrm>
        </p:grpSpPr>
        <p:grpSp>
          <p:nvGrpSpPr>
            <p:cNvPr id="13" name="组合 12"/>
            <p:cNvGrpSpPr/>
            <p:nvPr/>
          </p:nvGrpSpPr>
          <p:grpSpPr>
            <a:xfrm>
              <a:off x="10546" y="3132"/>
              <a:ext cx="1018" cy="916"/>
              <a:chOff x="10489" y="3359"/>
              <a:chExt cx="1018" cy="916"/>
            </a:xfrm>
          </p:grpSpPr>
          <p:sp>
            <p:nvSpPr>
              <p:cNvPr id="10" name="椭圆 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 name="文本框 1"/>
              <p:cNvSpPr txBox="1"/>
              <p:nvPr/>
            </p:nvSpPr>
            <p:spPr>
              <a:xfrm>
                <a:off x="10602" y="3586"/>
                <a:ext cx="874" cy="552"/>
              </a:xfrm>
              <a:prstGeom prst="rect">
                <a:avLst/>
              </a:prstGeom>
              <a:noFill/>
            </p:spPr>
            <p:txBody>
              <a:bodyPr>
                <a:noAutofit/>
              </a:bodyPr>
              <a:p>
                <a:pPr>
                  <a:defRPr/>
                </a:pPr>
                <a:r>
                  <a:rPr lang="zh-CN" altLang="en-US" sz="1400">
                    <a:solidFill>
                      <a:srgbClr val="000066"/>
                    </a:solidFill>
                    <a:latin typeface="+mj-ea"/>
                    <a:ea typeface="+mj-ea"/>
                  </a:rPr>
                  <a:t>入口</a:t>
                </a:r>
                <a:endParaRPr lang="zh-CN" altLang="en-US" sz="1400">
                  <a:solidFill>
                    <a:srgbClr val="000066"/>
                  </a:solidFill>
                  <a:latin typeface="+mj-ea"/>
                  <a:ea typeface="+mj-ea"/>
                </a:endParaRPr>
              </a:p>
            </p:txBody>
          </p:sp>
        </p:grpSp>
        <p:grpSp>
          <p:nvGrpSpPr>
            <p:cNvPr id="3" name="组合 2"/>
            <p:cNvGrpSpPr/>
            <p:nvPr/>
          </p:nvGrpSpPr>
          <p:grpSpPr>
            <a:xfrm>
              <a:off x="8675" y="4607"/>
              <a:ext cx="1018" cy="917"/>
              <a:chOff x="10489" y="3359"/>
              <a:chExt cx="1018" cy="917"/>
            </a:xfrm>
          </p:grpSpPr>
          <p:sp>
            <p:nvSpPr>
              <p:cNvPr id="5" name="椭圆 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 name="文本框 5"/>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1" name="组合 20"/>
            <p:cNvGrpSpPr/>
            <p:nvPr/>
          </p:nvGrpSpPr>
          <p:grpSpPr>
            <a:xfrm>
              <a:off x="12529" y="4607"/>
              <a:ext cx="1018" cy="916"/>
              <a:chOff x="10489" y="3359"/>
              <a:chExt cx="1018" cy="916"/>
            </a:xfrm>
          </p:grpSpPr>
          <p:sp>
            <p:nvSpPr>
              <p:cNvPr id="22" name="椭圆 2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3" name="文本框 22"/>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cxnSp>
          <p:nvCxnSpPr>
            <p:cNvPr id="24" name="曲线连接符 23"/>
            <p:cNvCxnSpPr>
              <a:stCxn id="10" idx="2"/>
              <a:endCxn id="5" idx="0"/>
            </p:cNvCxnSpPr>
            <p:nvPr/>
          </p:nvCxnSpPr>
          <p:spPr>
            <a:xfrm rot="10800000" flipV="1">
              <a:off x="9184" y="3591"/>
              <a:ext cx="1362" cy="1016"/>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5" name="曲线连接符 24"/>
            <p:cNvCxnSpPr>
              <a:stCxn id="2" idx="3"/>
              <a:endCxn id="22" idx="0"/>
            </p:cNvCxnSpPr>
            <p:nvPr/>
          </p:nvCxnSpPr>
          <p:spPr>
            <a:xfrm>
              <a:off x="11533" y="3635"/>
              <a:ext cx="1505" cy="972"/>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30" name="组合 29"/>
            <p:cNvGrpSpPr/>
            <p:nvPr/>
          </p:nvGrpSpPr>
          <p:grpSpPr>
            <a:xfrm>
              <a:off x="9355" y="6011"/>
              <a:ext cx="538" cy="539"/>
              <a:chOff x="10489" y="3359"/>
              <a:chExt cx="1018" cy="917"/>
            </a:xfrm>
          </p:grpSpPr>
          <p:sp>
            <p:nvSpPr>
              <p:cNvPr id="31" name="椭圆 3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2" name="文本框 3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33" name="组合 32"/>
            <p:cNvGrpSpPr/>
            <p:nvPr/>
          </p:nvGrpSpPr>
          <p:grpSpPr>
            <a:xfrm>
              <a:off x="8221" y="6011"/>
              <a:ext cx="538" cy="539"/>
              <a:chOff x="10489" y="3359"/>
              <a:chExt cx="1018" cy="917"/>
            </a:xfrm>
          </p:grpSpPr>
          <p:sp>
            <p:nvSpPr>
              <p:cNvPr id="34" name="椭圆 3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5" name="文本框 3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7" name="组合 6"/>
            <p:cNvGrpSpPr/>
            <p:nvPr/>
          </p:nvGrpSpPr>
          <p:grpSpPr>
            <a:xfrm>
              <a:off x="11440" y="6011"/>
              <a:ext cx="538" cy="539"/>
              <a:chOff x="10489" y="3359"/>
              <a:chExt cx="1018" cy="917"/>
            </a:xfrm>
          </p:grpSpPr>
          <p:sp>
            <p:nvSpPr>
              <p:cNvPr id="9" name="椭圆 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1" name="文本框 10"/>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36" name="组合 35"/>
            <p:cNvGrpSpPr/>
            <p:nvPr/>
          </p:nvGrpSpPr>
          <p:grpSpPr>
            <a:xfrm>
              <a:off x="13468" y="6011"/>
              <a:ext cx="538" cy="539"/>
              <a:chOff x="10489" y="3359"/>
              <a:chExt cx="1018" cy="917"/>
            </a:xfrm>
          </p:grpSpPr>
          <p:sp>
            <p:nvSpPr>
              <p:cNvPr id="37" name="椭圆 3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8" name="文本框 37"/>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39" name="组合 38"/>
            <p:cNvGrpSpPr/>
            <p:nvPr/>
          </p:nvGrpSpPr>
          <p:grpSpPr>
            <a:xfrm>
              <a:off x="12334" y="6011"/>
              <a:ext cx="538" cy="539"/>
              <a:chOff x="10489" y="3359"/>
              <a:chExt cx="1018" cy="917"/>
            </a:xfrm>
          </p:grpSpPr>
          <p:sp>
            <p:nvSpPr>
              <p:cNvPr id="40" name="椭圆 3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1" name="文本框 40"/>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42" name="曲线连接符 41"/>
            <p:cNvCxnSpPr>
              <a:stCxn id="5" idx="4"/>
              <a:endCxn id="35" idx="0"/>
            </p:cNvCxnSpPr>
            <p:nvPr/>
          </p:nvCxnSpPr>
          <p:spPr>
            <a:xfrm rot="5400000">
              <a:off x="8569" y="5467"/>
              <a:ext cx="558" cy="67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3" name="曲线连接符 42"/>
            <p:cNvCxnSpPr>
              <a:stCxn id="5" idx="4"/>
              <a:endCxn id="32" idx="0"/>
            </p:cNvCxnSpPr>
            <p:nvPr/>
          </p:nvCxnSpPr>
          <p:spPr>
            <a:xfrm rot="5400000" flipV="1">
              <a:off x="9136" y="5572"/>
              <a:ext cx="558" cy="46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4" name="曲线连接符 43"/>
            <p:cNvCxnSpPr>
              <a:stCxn id="22" idx="4"/>
              <a:endCxn id="41" idx="0"/>
            </p:cNvCxnSpPr>
            <p:nvPr/>
          </p:nvCxnSpPr>
          <p:spPr>
            <a:xfrm rot="5400000">
              <a:off x="12552" y="5596"/>
              <a:ext cx="558" cy="413"/>
            </a:xfrm>
            <a:prstGeom prst="curvedConnector3">
              <a:avLst>
                <a:gd name="adj1" fmla="val 49910"/>
              </a:avLst>
            </a:prstGeom>
            <a:solidFill>
              <a:schemeClr val="accent1"/>
            </a:solidFill>
            <a:ln w="9525" cap="flat" cmpd="sng" algn="ctr">
              <a:solidFill>
                <a:schemeClr val="tx1"/>
              </a:solidFill>
              <a:prstDash val="solid"/>
              <a:round/>
              <a:headEnd type="none" w="med" len="med"/>
              <a:tailEnd type="arrow" w="med" len="med"/>
            </a:ln>
          </p:spPr>
        </p:cxnSp>
        <p:cxnSp>
          <p:nvCxnSpPr>
            <p:cNvPr id="45" name="曲线连接符 44"/>
            <p:cNvCxnSpPr>
              <a:stCxn id="22" idx="4"/>
              <a:endCxn id="9" idx="0"/>
            </p:cNvCxnSpPr>
            <p:nvPr/>
          </p:nvCxnSpPr>
          <p:spPr>
            <a:xfrm rot="5400000">
              <a:off x="12130" y="5102"/>
              <a:ext cx="487" cy="1329"/>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cxnSp>
          <p:nvCxnSpPr>
            <p:cNvPr id="47" name="曲线连接符 46"/>
            <p:cNvCxnSpPr>
              <a:stCxn id="22" idx="4"/>
              <a:endCxn id="37" idx="0"/>
            </p:cNvCxnSpPr>
            <p:nvPr/>
          </p:nvCxnSpPr>
          <p:spPr>
            <a:xfrm rot="5400000" flipV="1">
              <a:off x="13144" y="5417"/>
              <a:ext cx="487" cy="699"/>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grpSp>
          <p:nvGrpSpPr>
            <p:cNvPr id="48" name="组合 47"/>
            <p:cNvGrpSpPr/>
            <p:nvPr/>
          </p:nvGrpSpPr>
          <p:grpSpPr>
            <a:xfrm>
              <a:off x="8221" y="7105"/>
              <a:ext cx="538" cy="539"/>
              <a:chOff x="10489" y="3359"/>
              <a:chExt cx="1018" cy="917"/>
            </a:xfrm>
          </p:grpSpPr>
          <p:sp>
            <p:nvSpPr>
              <p:cNvPr id="49" name="椭圆 4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0" name="文本框 4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51" name="组合 50"/>
            <p:cNvGrpSpPr/>
            <p:nvPr/>
          </p:nvGrpSpPr>
          <p:grpSpPr>
            <a:xfrm>
              <a:off x="9355" y="7105"/>
              <a:ext cx="538" cy="539"/>
              <a:chOff x="10489" y="3359"/>
              <a:chExt cx="1018" cy="917"/>
            </a:xfrm>
          </p:grpSpPr>
          <p:sp>
            <p:nvSpPr>
              <p:cNvPr id="52" name="椭圆 5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3" name="文本框 52"/>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57" name="组合 56"/>
            <p:cNvGrpSpPr/>
            <p:nvPr/>
          </p:nvGrpSpPr>
          <p:grpSpPr>
            <a:xfrm>
              <a:off x="11456" y="7104"/>
              <a:ext cx="538" cy="539"/>
              <a:chOff x="10489" y="3359"/>
              <a:chExt cx="1018" cy="917"/>
            </a:xfrm>
          </p:grpSpPr>
          <p:sp>
            <p:nvSpPr>
              <p:cNvPr id="58" name="椭圆 5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9" name="文本框 5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60" name="组合 59"/>
            <p:cNvGrpSpPr/>
            <p:nvPr/>
          </p:nvGrpSpPr>
          <p:grpSpPr>
            <a:xfrm>
              <a:off x="12373" y="7103"/>
              <a:ext cx="538" cy="539"/>
              <a:chOff x="10489" y="3359"/>
              <a:chExt cx="1018" cy="917"/>
            </a:xfrm>
          </p:grpSpPr>
          <p:sp>
            <p:nvSpPr>
              <p:cNvPr id="61" name="椭圆 6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2" name="文本框 6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63" name="组合 62"/>
            <p:cNvGrpSpPr/>
            <p:nvPr/>
          </p:nvGrpSpPr>
          <p:grpSpPr>
            <a:xfrm>
              <a:off x="13491" y="7105"/>
              <a:ext cx="538" cy="539"/>
              <a:chOff x="10489" y="3359"/>
              <a:chExt cx="1018" cy="917"/>
            </a:xfrm>
          </p:grpSpPr>
          <p:sp>
            <p:nvSpPr>
              <p:cNvPr id="64" name="椭圆 6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5" name="文本框 6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66" name="曲线连接符 65"/>
            <p:cNvCxnSpPr>
              <a:stCxn id="34" idx="4"/>
            </p:cNvCxnSpPr>
            <p:nvPr/>
          </p:nvCxnSpPr>
          <p:spPr>
            <a:xfrm rot="5400000" flipV="1">
              <a:off x="8226"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7" name="曲线连接符 66"/>
            <p:cNvCxnSpPr/>
            <p:nvPr/>
          </p:nvCxnSpPr>
          <p:spPr>
            <a:xfrm rot="5400000" flipV="1">
              <a:off x="9362" y="6798"/>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9" name="曲线连接符 68"/>
            <p:cNvCxnSpPr/>
            <p:nvPr/>
          </p:nvCxnSpPr>
          <p:spPr>
            <a:xfrm rot="5400000" flipV="1">
              <a:off x="11426"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0" name="曲线连接符 69"/>
            <p:cNvCxnSpPr/>
            <p:nvPr/>
          </p:nvCxnSpPr>
          <p:spPr>
            <a:xfrm rot="5400000" flipV="1">
              <a:off x="12379"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1" name="曲线连接符 70"/>
            <p:cNvCxnSpPr/>
            <p:nvPr/>
          </p:nvCxnSpPr>
          <p:spPr>
            <a:xfrm rot="5400000" flipV="1">
              <a:off x="13513"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sp>
        <p:nvSpPr>
          <p:cNvPr id="75" name="弧形 74"/>
          <p:cNvSpPr/>
          <p:nvPr/>
        </p:nvSpPr>
        <p:spPr>
          <a:xfrm flipH="1">
            <a:off x="5312410" y="2997200"/>
            <a:ext cx="807720" cy="1555115"/>
          </a:xfrm>
          <a:prstGeom prst="arc">
            <a:avLst/>
          </a:prstGeom>
          <a:noFill/>
          <a:ln w="38100" cap="sq" cmpd="sng" algn="ctr">
            <a:solidFill>
              <a:srgbClr val="FF0000"/>
            </a:solidFill>
            <a:prstDash val="solid"/>
            <a:round/>
            <a:headEnd type="triangle" w="med" len="med"/>
            <a:tailEnd type="none" w="med" len="med"/>
          </a:ln>
          <a:extLst>
            <a:ext uri="{909E8E84-426E-40DD-AFC4-6F175D3DCCD1}">
              <a14:hiddenFill xmlns:a14="http://schemas.microsoft.com/office/drawing/2010/main">
                <a:solidFill>
                  <a:schemeClr val="bg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6" name="弧形 75"/>
          <p:cNvSpPr/>
          <p:nvPr/>
        </p:nvSpPr>
        <p:spPr>
          <a:xfrm rot="1500000" flipH="1" flipV="1">
            <a:off x="5034915" y="1771015"/>
            <a:ext cx="934720" cy="2374265"/>
          </a:xfrm>
          <a:prstGeom prst="arc">
            <a:avLst>
              <a:gd name="adj1" fmla="val 16200000"/>
              <a:gd name="adj2" fmla="val 2141762"/>
            </a:avLst>
          </a:prstGeom>
          <a:noFill/>
          <a:ln w="38100" cap="sq" cmpd="sng" algn="ctr">
            <a:solidFill>
              <a:srgbClr val="FF0000"/>
            </a:solidFill>
            <a:prstDash val="solid"/>
            <a:round/>
            <a:headEnd type="triangle" w="med" len="med"/>
            <a:tailEnd type="none" w="med" len="med"/>
          </a:ln>
          <a:extLst>
            <a:ext uri="{909E8E84-426E-40DD-AFC4-6F175D3DCCD1}">
              <a14:hiddenFill xmlns:a14="http://schemas.microsoft.com/office/drawing/2010/main">
                <a:solidFill>
                  <a:schemeClr val="bg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9" name="文本框 78"/>
          <p:cNvSpPr txBox="1"/>
          <p:nvPr/>
        </p:nvSpPr>
        <p:spPr>
          <a:xfrm>
            <a:off x="4499610" y="3213735"/>
            <a:ext cx="469265" cy="401320"/>
          </a:xfrm>
          <a:prstGeom prst="rect">
            <a:avLst/>
          </a:prstGeom>
          <a:noFill/>
        </p:spPr>
        <p:txBody>
          <a:bodyPr wrap="square" rtlCol="0">
            <a:noAutofit/>
          </a:bodyPr>
          <a:p>
            <a:r>
              <a:rPr lang="zh-CN" altLang="en-US">
                <a:solidFill>
                  <a:srgbClr val="FF0000"/>
                </a:solidFill>
              </a:rPr>
              <a:t>②</a:t>
            </a:r>
            <a:endParaRPr lang="zh-CN" altLang="en-US">
              <a:solidFill>
                <a:srgbClr val="FF0000"/>
              </a:solidFill>
            </a:endParaRPr>
          </a:p>
        </p:txBody>
      </p:sp>
      <p:sp>
        <p:nvSpPr>
          <p:cNvPr id="80" name="文本框 79"/>
          <p:cNvSpPr txBox="1"/>
          <p:nvPr/>
        </p:nvSpPr>
        <p:spPr>
          <a:xfrm>
            <a:off x="5363845" y="3340735"/>
            <a:ext cx="469265" cy="401320"/>
          </a:xfrm>
          <a:prstGeom prst="rect">
            <a:avLst/>
          </a:prstGeom>
          <a:noFill/>
        </p:spPr>
        <p:txBody>
          <a:bodyPr wrap="square" rtlCol="0">
            <a:noAutofit/>
          </a:bodyPr>
          <a:p>
            <a:r>
              <a:rPr lang="zh-CN" altLang="en-US">
                <a:solidFill>
                  <a:srgbClr val="FF0000"/>
                </a:solidFill>
              </a:rPr>
              <a:t>③</a:t>
            </a:r>
            <a:endParaRPr lang="zh-CN" altLang="en-US">
              <a:solidFill>
                <a:srgbClr val="FF0000"/>
              </a:solidFill>
            </a:endParaRPr>
          </a:p>
        </p:txBody>
      </p:sp>
      <p:sp>
        <p:nvSpPr>
          <p:cNvPr id="73" name="弧形 72"/>
          <p:cNvSpPr/>
          <p:nvPr/>
        </p:nvSpPr>
        <p:spPr>
          <a:xfrm rot="10140000" flipH="1">
            <a:off x="5828665" y="2590165"/>
            <a:ext cx="295910" cy="1134110"/>
          </a:xfrm>
          <a:prstGeom prst="arc">
            <a:avLst/>
          </a:prstGeom>
          <a:noFill/>
          <a:ln w="38100" cap="sq" cmpd="sng" algn="ctr">
            <a:solidFill>
              <a:srgbClr val="FF0000"/>
            </a:solidFill>
            <a:prstDash val="solid"/>
            <a:round/>
            <a:headEnd type="triangle" w="med" len="med"/>
            <a:tailEnd type="none" w="med" len="med"/>
          </a:ln>
          <a:extLst>
            <a:ext uri="{909E8E84-426E-40DD-AFC4-6F175D3DCCD1}">
              <a14:hiddenFill xmlns:a14="http://schemas.microsoft.com/office/drawing/2010/main">
                <a:solidFill>
                  <a:schemeClr val="bg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4" name="文本框 73"/>
          <p:cNvSpPr txBox="1"/>
          <p:nvPr/>
        </p:nvSpPr>
        <p:spPr>
          <a:xfrm>
            <a:off x="6156325" y="3213735"/>
            <a:ext cx="469265" cy="401320"/>
          </a:xfrm>
          <a:prstGeom prst="rect">
            <a:avLst/>
          </a:prstGeom>
          <a:noFill/>
        </p:spPr>
        <p:txBody>
          <a:bodyPr wrap="square" rtlCol="0">
            <a:noAutofit/>
          </a:bodyPr>
          <a:p>
            <a:r>
              <a:rPr lang="zh-CN" altLang="en-US">
                <a:solidFill>
                  <a:srgbClr val="FF0000"/>
                </a:solidFill>
              </a:rPr>
              <a:t>④</a:t>
            </a:r>
            <a:endParaRPr lang="zh-CN" altLang="en-US">
              <a:solidFill>
                <a:srgbClr val="FF0000"/>
              </a:solidFill>
            </a:endParaRPr>
          </a:p>
        </p:txBody>
      </p:sp>
      <p:sp>
        <p:nvSpPr>
          <p:cNvPr id="83" name="任意多边形 82"/>
          <p:cNvSpPr/>
          <p:nvPr/>
        </p:nvSpPr>
        <p:spPr>
          <a:xfrm>
            <a:off x="5438775" y="1303020"/>
            <a:ext cx="962660" cy="625475"/>
          </a:xfrm>
          <a:custGeom>
            <a:avLst/>
            <a:gdLst>
              <a:gd name="connisteX0" fmla="*/ 962660 w 962660"/>
              <a:gd name="connsiteY0" fmla="*/ 0 h 625475"/>
              <a:gd name="connisteX1" fmla="*/ 307975 w 962660"/>
              <a:gd name="connsiteY1" fmla="*/ 163830 h 625475"/>
              <a:gd name="connisteX2" fmla="*/ 0 w 962660"/>
              <a:gd name="connsiteY2" fmla="*/ 625475 h 625475"/>
            </a:gdLst>
            <a:ahLst/>
            <a:cxnLst>
              <a:cxn ang="0">
                <a:pos x="connisteX0" y="connsiteY0"/>
              </a:cxn>
              <a:cxn ang="0">
                <a:pos x="connisteX1" y="connsiteY1"/>
              </a:cxn>
              <a:cxn ang="0">
                <a:pos x="connisteX2" y="connsiteY2"/>
              </a:cxn>
            </a:cxnLst>
            <a:rect l="l" t="t" r="r" b="b"/>
            <a:pathLst>
              <a:path w="962660" h="625475">
                <a:moveTo>
                  <a:pt x="962660" y="0"/>
                </a:moveTo>
                <a:cubicBezTo>
                  <a:pt x="837565" y="23495"/>
                  <a:pt x="500380" y="38735"/>
                  <a:pt x="307975" y="163830"/>
                </a:cubicBezTo>
                <a:cubicBezTo>
                  <a:pt x="115570" y="288925"/>
                  <a:pt x="48260" y="536575"/>
                  <a:pt x="0" y="625475"/>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4" name="文本框 83"/>
          <p:cNvSpPr txBox="1"/>
          <p:nvPr/>
        </p:nvSpPr>
        <p:spPr>
          <a:xfrm>
            <a:off x="5292725" y="1186815"/>
            <a:ext cx="469265" cy="401320"/>
          </a:xfrm>
          <a:prstGeom prst="rect">
            <a:avLst/>
          </a:prstGeom>
          <a:noFill/>
        </p:spPr>
        <p:txBody>
          <a:bodyPr wrap="square" rtlCol="0">
            <a:noAutofit/>
          </a:bodyPr>
          <a:p>
            <a:r>
              <a:rPr lang="zh-CN" altLang="en-US">
                <a:solidFill>
                  <a:srgbClr val="FF0000"/>
                </a:solidFill>
              </a:rPr>
              <a:t>①</a:t>
            </a:r>
            <a:endParaRPr lang="zh-CN" altLang="en-US">
              <a:solidFill>
                <a:srgbClr val="FF0000"/>
              </a:solidFill>
            </a:endParaRPr>
          </a:p>
        </p:txBody>
      </p:sp>
      <p:sp>
        <p:nvSpPr>
          <p:cNvPr id="85" name="任意多边形 84"/>
          <p:cNvSpPr/>
          <p:nvPr/>
        </p:nvSpPr>
        <p:spPr>
          <a:xfrm>
            <a:off x="5950585" y="1763395"/>
            <a:ext cx="529590" cy="461645"/>
          </a:xfrm>
          <a:custGeom>
            <a:avLst/>
            <a:gdLst>
              <a:gd name="connisteX0" fmla="*/ 0 w 529590"/>
              <a:gd name="connsiteY0" fmla="*/ 461645 h 461645"/>
              <a:gd name="connisteX1" fmla="*/ 182880 w 529590"/>
              <a:gd name="connsiteY1" fmla="*/ 153670 h 461645"/>
              <a:gd name="connisteX2" fmla="*/ 529590 w 529590"/>
              <a:gd name="connsiteY2" fmla="*/ 0 h 461645"/>
            </a:gdLst>
            <a:ahLst/>
            <a:cxnLst>
              <a:cxn ang="0">
                <a:pos x="connisteX0" y="connsiteY0"/>
              </a:cxn>
              <a:cxn ang="0">
                <a:pos x="connisteX1" y="connsiteY1"/>
              </a:cxn>
              <a:cxn ang="0">
                <a:pos x="connisteX2" y="connsiteY2"/>
              </a:cxn>
            </a:cxnLst>
            <a:rect l="l" t="t" r="r" b="b"/>
            <a:pathLst>
              <a:path w="529590" h="461645">
                <a:moveTo>
                  <a:pt x="0" y="461645"/>
                </a:moveTo>
                <a:cubicBezTo>
                  <a:pt x="29845" y="403225"/>
                  <a:pt x="76835" y="245745"/>
                  <a:pt x="182880" y="153670"/>
                </a:cubicBezTo>
                <a:cubicBezTo>
                  <a:pt x="288925" y="61595"/>
                  <a:pt x="464185" y="24765"/>
                  <a:pt x="529590" y="0"/>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6" name="文本框 85"/>
          <p:cNvSpPr txBox="1"/>
          <p:nvPr/>
        </p:nvSpPr>
        <p:spPr>
          <a:xfrm>
            <a:off x="6156325" y="1955800"/>
            <a:ext cx="469265" cy="401320"/>
          </a:xfrm>
          <a:prstGeom prst="rect">
            <a:avLst/>
          </a:prstGeom>
          <a:noFill/>
        </p:spPr>
        <p:txBody>
          <a:bodyPr wrap="square" rtlCol="0">
            <a:noAutofit/>
          </a:bodyPr>
          <a:p>
            <a:r>
              <a:rPr lang="zh-CN" altLang="en-US">
                <a:solidFill>
                  <a:srgbClr val="FF0000"/>
                </a:solidFill>
              </a:rPr>
              <a:t>⑤</a:t>
            </a:r>
            <a:endParaRPr lang="zh-CN" altLang="en-US">
              <a:solidFill>
                <a:srgbClr val="FF0000"/>
              </a:solidFill>
            </a:endParaRPr>
          </a:p>
        </p:txBody>
      </p:sp>
      <p:sp>
        <p:nvSpPr>
          <p:cNvPr id="87" name="任意多边形 86"/>
          <p:cNvSpPr/>
          <p:nvPr/>
        </p:nvSpPr>
        <p:spPr>
          <a:xfrm>
            <a:off x="6891655" y="1841500"/>
            <a:ext cx="856615" cy="2165350"/>
          </a:xfrm>
          <a:custGeom>
            <a:avLst/>
            <a:gdLst>
              <a:gd name="connisteX0" fmla="*/ 230943 w 856595"/>
              <a:gd name="connsiteY0" fmla="*/ 0 h 2165350"/>
              <a:gd name="connisteX1" fmla="*/ 740848 w 856595"/>
              <a:gd name="connsiteY1" fmla="*/ 67310 h 2165350"/>
              <a:gd name="connisteX2" fmla="*/ 846893 w 856595"/>
              <a:gd name="connsiteY2" fmla="*/ 394970 h 2165350"/>
              <a:gd name="connisteX3" fmla="*/ 634803 w 856595"/>
              <a:gd name="connsiteY3" fmla="*/ 856615 h 2165350"/>
              <a:gd name="connisteX4" fmla="*/ 67113 w 856595"/>
              <a:gd name="connsiteY4" fmla="*/ 1183640 h 2165350"/>
              <a:gd name="connisteX5" fmla="*/ 29013 w 856595"/>
              <a:gd name="connsiteY5" fmla="*/ 2165350 h 21653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856596" h="2165350">
                <a:moveTo>
                  <a:pt x="230944" y="0"/>
                </a:moveTo>
                <a:cubicBezTo>
                  <a:pt x="330639" y="6985"/>
                  <a:pt x="617659" y="-11430"/>
                  <a:pt x="740849" y="67310"/>
                </a:cubicBezTo>
                <a:cubicBezTo>
                  <a:pt x="864039" y="146050"/>
                  <a:pt x="867849" y="236855"/>
                  <a:pt x="846894" y="394970"/>
                </a:cubicBezTo>
                <a:cubicBezTo>
                  <a:pt x="825939" y="553085"/>
                  <a:pt x="791014" y="699135"/>
                  <a:pt x="634804" y="856615"/>
                </a:cubicBezTo>
                <a:cubicBezTo>
                  <a:pt x="478594" y="1014095"/>
                  <a:pt x="188399" y="922020"/>
                  <a:pt x="67114" y="1183640"/>
                </a:cubicBezTo>
                <a:cubicBezTo>
                  <a:pt x="-54171" y="1445260"/>
                  <a:pt x="25204" y="1975485"/>
                  <a:pt x="29014" y="2165350"/>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8" name="文本框 87"/>
          <p:cNvSpPr txBox="1"/>
          <p:nvPr/>
        </p:nvSpPr>
        <p:spPr>
          <a:xfrm>
            <a:off x="7270115" y="2061210"/>
            <a:ext cx="469265" cy="401320"/>
          </a:xfrm>
          <a:prstGeom prst="rect">
            <a:avLst/>
          </a:prstGeom>
          <a:noFill/>
        </p:spPr>
        <p:txBody>
          <a:bodyPr wrap="square" rtlCol="0">
            <a:noAutofit/>
          </a:bodyPr>
          <a:p>
            <a:r>
              <a:rPr lang="zh-CN" altLang="en-US">
                <a:solidFill>
                  <a:srgbClr val="FF0000"/>
                </a:solidFill>
              </a:rPr>
              <a:t>⑥</a:t>
            </a:r>
            <a:endParaRPr lang="zh-CN" altLang="en-US">
              <a:solidFill>
                <a:srgbClr val="FF0000"/>
              </a:solidFill>
            </a:endParaRPr>
          </a:p>
        </p:txBody>
      </p:sp>
      <p:sp>
        <p:nvSpPr>
          <p:cNvPr id="89" name="文本框 88"/>
          <p:cNvSpPr txBox="1"/>
          <p:nvPr/>
        </p:nvSpPr>
        <p:spPr>
          <a:xfrm>
            <a:off x="6901815" y="4362450"/>
            <a:ext cx="694690" cy="922020"/>
          </a:xfrm>
          <a:prstGeom prst="rect">
            <a:avLst/>
          </a:prstGeom>
          <a:noFill/>
        </p:spPr>
        <p:txBody>
          <a:bodyPr wrap="square" rtlCol="0">
            <a:spAutoFit/>
          </a:bodyPr>
          <a:p>
            <a:r>
              <a:rPr lang="zh-CN" altLang="en-US">
                <a:solidFill>
                  <a:srgbClr val="FF0000"/>
                </a:solidFill>
              </a:rPr>
              <a:t>出口直接返回</a:t>
            </a:r>
            <a:endParaRPr lang="zh-CN" altLang="en-US">
              <a:solidFill>
                <a:srgbClr val="FF0000"/>
              </a:solidFill>
            </a:endParaRPr>
          </a:p>
        </p:txBody>
      </p:sp>
      <p:sp>
        <p:nvSpPr>
          <p:cNvPr id="90" name="文本框 89"/>
          <p:cNvSpPr txBox="1"/>
          <p:nvPr/>
        </p:nvSpPr>
        <p:spPr>
          <a:xfrm>
            <a:off x="773430" y="5423535"/>
            <a:ext cx="7759065" cy="1198880"/>
          </a:xfrm>
          <a:prstGeom prst="rect">
            <a:avLst/>
          </a:prstGeom>
          <a:noFill/>
        </p:spPr>
        <p:txBody>
          <a:bodyPr wrap="square" rtlCol="0">
            <a:spAutoFit/>
          </a:bodyPr>
          <a:p>
            <a:r>
              <a:rPr lang="zh-CN" altLang="en-US"/>
              <a:t>回溯：系统地搜索所有可能解的算法（抽象解</a:t>
            </a:r>
            <a:r>
              <a:rPr lang="zh-CN" altLang="en-US"/>
              <a:t>空间树），通过递归的方式逐步构建解的过程。当发现当前路径无法满足题目要求或无法得到有效解时，算法会撤销上一步的选择（即「回溯」），返回到上一个决策点，尝试其他可能的路径。</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4</a:t>
            </a:r>
            <a:endParaRPr lang="zh-CN" altLang="en-US">
              <a:solidFill>
                <a:schemeClr val="bg2">
                  <a:lumMod val="25000"/>
                  <a:lumOff val="75000"/>
                </a:schemeClr>
              </a:solidFill>
            </a:endParaRPr>
          </a:p>
        </p:txBody>
      </p:sp>
      <p:sp>
        <p:nvSpPr>
          <p:cNvPr id="13" name="Rectangle 2"/>
          <p:cNvSpPr txBox="1">
            <a:spLocks noChangeArrowheads="1"/>
          </p:cNvSpPr>
          <p:nvPr/>
        </p:nvSpPr>
        <p:spPr bwMode="auto">
          <a:xfrm>
            <a:off x="556260" y="1443355"/>
            <a:ext cx="39433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2000" kern="0" smtClean="0">
                <a:solidFill>
                  <a:srgbClr val="FF0000"/>
                </a:solidFill>
                <a:uFillTx/>
                <a:latin typeface="宋体" panose="02010600030101010101" pitchFamily="2" charset="-122"/>
                <a:ea typeface="宋体" panose="02010600030101010101" pitchFamily="2" charset="-122"/>
              </a:rPr>
              <a:t>回顾二叉树的前、中、后序遍历</a:t>
            </a:r>
            <a:endParaRPr lang="zh-CN" altLang="en-US" sz="2000" kern="0" dirty="0" smtClean="0">
              <a:solidFill>
                <a:srgbClr val="FF0000"/>
              </a:solidFill>
              <a:uFillTx/>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899592" y="2708920"/>
            <a:ext cx="3311823" cy="2113807"/>
          </a:xfrm>
          <a:prstGeom prst="rect">
            <a:avLst/>
          </a:prstGeom>
        </p:spPr>
      </p:pic>
      <p:sp>
        <p:nvSpPr>
          <p:cNvPr id="3" name="文本框 2"/>
          <p:cNvSpPr txBox="1"/>
          <p:nvPr/>
        </p:nvSpPr>
        <p:spPr>
          <a:xfrm>
            <a:off x="1475656" y="2132856"/>
            <a:ext cx="2448272" cy="369332"/>
          </a:xfrm>
          <a:prstGeom prst="rect">
            <a:avLst/>
          </a:prstGeom>
          <a:noFill/>
        </p:spPr>
        <p:txBody>
          <a:bodyPr wrap="square" rtlCol="0">
            <a:spAutoFit/>
          </a:bodyPr>
          <a:lstStyle/>
          <a:p>
            <a:r>
              <a:rPr lang="zh-CN" altLang="en-US" b="1" smtClean="0"/>
              <a:t>如何遍历二叉树？</a:t>
            </a:r>
            <a:endParaRPr lang="zh-CN" altLang="en-US" b="1"/>
          </a:p>
        </p:txBody>
      </p:sp>
      <p:sp>
        <p:nvSpPr>
          <p:cNvPr id="18" name="文本框 17"/>
          <p:cNvSpPr txBox="1"/>
          <p:nvPr/>
        </p:nvSpPr>
        <p:spPr>
          <a:xfrm>
            <a:off x="4788024" y="2924944"/>
            <a:ext cx="3448224" cy="1754326"/>
          </a:xfrm>
          <a:prstGeom prst="rect">
            <a:avLst/>
          </a:prstGeom>
          <a:noFill/>
        </p:spPr>
        <p:txBody>
          <a:bodyPr wrap="square" rtlCol="0">
            <a:spAutoFit/>
          </a:bodyPr>
          <a:lstStyle/>
          <a:p>
            <a:r>
              <a:rPr lang="zh-CN" altLang="en-US" b="1" smtClean="0"/>
              <a:t>①二叉树的前序遍历？</a:t>
            </a:r>
            <a:endParaRPr lang="en-US" altLang="zh-CN" b="1" smtClean="0"/>
          </a:p>
          <a:p>
            <a:endParaRPr lang="en-US" altLang="zh-CN" b="1" smtClean="0"/>
          </a:p>
          <a:p>
            <a:r>
              <a:rPr lang="zh-CN" altLang="en-US" b="1" smtClean="0"/>
              <a:t>②二叉树的中序遍历？</a:t>
            </a:r>
            <a:endParaRPr lang="en-US" altLang="zh-CN" b="1" smtClean="0"/>
          </a:p>
          <a:p>
            <a:endParaRPr lang="zh-CN" altLang="en-US" b="1" smtClean="0"/>
          </a:p>
          <a:p>
            <a:r>
              <a:rPr lang="zh-CN" altLang="en-US" b="1" smtClean="0"/>
              <a:t>③二叉树的后序</a:t>
            </a:r>
            <a:r>
              <a:rPr lang="zh-CN" altLang="en-US" b="1"/>
              <a:t>遍历？</a:t>
            </a:r>
            <a:endParaRPr lang="zh-CN" altLang="en-US" b="1"/>
          </a:p>
          <a:p>
            <a:endParaRPr lang="zh-CN" altLang="en-US" b="1"/>
          </a:p>
        </p:txBody>
      </p:sp>
      <p:sp>
        <p:nvSpPr>
          <p:cNvPr id="5" name="文本框 4"/>
          <p:cNvSpPr txBox="1"/>
          <p:nvPr/>
        </p:nvSpPr>
        <p:spPr>
          <a:xfrm>
            <a:off x="4499992" y="2889415"/>
            <a:ext cx="3664248" cy="369332"/>
          </a:xfrm>
          <a:prstGeom prst="rect">
            <a:avLst/>
          </a:prstGeom>
          <a:solidFill>
            <a:schemeClr val="accent2">
              <a:lumMod val="60000"/>
              <a:lumOff val="40000"/>
            </a:schemeClr>
          </a:solidFill>
        </p:spPr>
        <p:txBody>
          <a:bodyPr wrap="square" rtlCol="0">
            <a:spAutoFit/>
          </a:bodyPr>
          <a:lstStyle/>
          <a:p>
            <a:r>
              <a:rPr lang="zh-CN" altLang="en-US" smtClean="0"/>
              <a:t>前序遍历：</a:t>
            </a:r>
            <a:r>
              <a:rPr lang="en-US" altLang="zh-CN" smtClean="0"/>
              <a:t>2</a:t>
            </a:r>
            <a:r>
              <a:rPr lang="zh-CN" altLang="en-US" smtClean="0"/>
              <a:t>，</a:t>
            </a:r>
            <a:r>
              <a:rPr lang="en-US" altLang="zh-CN" smtClean="0"/>
              <a:t>9</a:t>
            </a:r>
            <a:r>
              <a:rPr lang="zh-CN" altLang="en-US" smtClean="0"/>
              <a:t>，</a:t>
            </a:r>
            <a:r>
              <a:rPr lang="en-US" altLang="zh-CN" smtClean="0"/>
              <a:t>20</a:t>
            </a:r>
            <a:r>
              <a:rPr lang="zh-CN" altLang="en-US" smtClean="0"/>
              <a:t>，</a:t>
            </a:r>
            <a:r>
              <a:rPr lang="en-US" altLang="zh-CN" smtClean="0"/>
              <a:t>15</a:t>
            </a:r>
            <a:r>
              <a:rPr lang="zh-CN" altLang="en-US" smtClean="0"/>
              <a:t>，</a:t>
            </a:r>
            <a:r>
              <a:rPr lang="en-US" altLang="zh-CN" smtClean="0"/>
              <a:t>3</a:t>
            </a:r>
            <a:endParaRPr lang="zh-CN" altLang="en-US"/>
          </a:p>
        </p:txBody>
      </p:sp>
      <p:sp>
        <p:nvSpPr>
          <p:cNvPr id="19" name="文本框 18"/>
          <p:cNvSpPr txBox="1"/>
          <p:nvPr/>
        </p:nvSpPr>
        <p:spPr>
          <a:xfrm>
            <a:off x="4499992" y="3453052"/>
            <a:ext cx="3664248" cy="369332"/>
          </a:xfrm>
          <a:prstGeom prst="rect">
            <a:avLst/>
          </a:prstGeom>
          <a:solidFill>
            <a:schemeClr val="accent2">
              <a:lumMod val="60000"/>
              <a:lumOff val="40000"/>
            </a:schemeClr>
          </a:solidFill>
        </p:spPr>
        <p:txBody>
          <a:bodyPr wrap="square" rtlCol="0">
            <a:spAutoFit/>
          </a:bodyPr>
          <a:lstStyle/>
          <a:p>
            <a:r>
              <a:rPr lang="zh-CN" altLang="en-US" smtClean="0"/>
              <a:t>中序遍历：</a:t>
            </a:r>
            <a:r>
              <a:rPr lang="en-US" altLang="zh-CN" smtClean="0"/>
              <a:t>9</a:t>
            </a:r>
            <a:r>
              <a:rPr lang="zh-CN" altLang="en-US" smtClean="0"/>
              <a:t>，</a:t>
            </a:r>
            <a:r>
              <a:rPr lang="en-US" altLang="zh-CN" smtClean="0"/>
              <a:t>2</a:t>
            </a:r>
            <a:r>
              <a:rPr lang="zh-CN" altLang="en-US" smtClean="0"/>
              <a:t>，</a:t>
            </a:r>
            <a:r>
              <a:rPr lang="en-US" altLang="zh-CN" smtClean="0"/>
              <a:t>15</a:t>
            </a:r>
            <a:r>
              <a:rPr lang="zh-CN" altLang="en-US" smtClean="0"/>
              <a:t>，</a:t>
            </a:r>
            <a:r>
              <a:rPr lang="en-US" altLang="zh-CN" smtClean="0"/>
              <a:t>20</a:t>
            </a:r>
            <a:r>
              <a:rPr lang="zh-CN" altLang="en-US" smtClean="0"/>
              <a:t>，</a:t>
            </a:r>
            <a:r>
              <a:rPr lang="en-US" altLang="zh-CN" smtClean="0"/>
              <a:t>3</a:t>
            </a:r>
            <a:endParaRPr lang="zh-CN" altLang="en-US"/>
          </a:p>
        </p:txBody>
      </p:sp>
      <p:sp>
        <p:nvSpPr>
          <p:cNvPr id="20" name="文本框 19"/>
          <p:cNvSpPr txBox="1"/>
          <p:nvPr/>
        </p:nvSpPr>
        <p:spPr>
          <a:xfrm>
            <a:off x="4499447" y="4066161"/>
            <a:ext cx="3664248" cy="369332"/>
          </a:xfrm>
          <a:prstGeom prst="rect">
            <a:avLst/>
          </a:prstGeom>
          <a:solidFill>
            <a:schemeClr val="accent2">
              <a:lumMod val="60000"/>
              <a:lumOff val="40000"/>
            </a:schemeClr>
          </a:solidFill>
        </p:spPr>
        <p:txBody>
          <a:bodyPr wrap="square" rtlCol="0">
            <a:spAutoFit/>
          </a:bodyPr>
          <a:lstStyle/>
          <a:p>
            <a:r>
              <a:rPr lang="zh-CN" altLang="en-US" smtClean="0"/>
              <a:t>后序遍历：</a:t>
            </a:r>
            <a:r>
              <a:rPr lang="en-US" altLang="zh-CN" smtClean="0"/>
              <a:t>9</a:t>
            </a:r>
            <a:r>
              <a:rPr lang="zh-CN" altLang="en-US" smtClean="0"/>
              <a:t>，</a:t>
            </a:r>
            <a:r>
              <a:rPr lang="en-US" altLang="zh-CN" smtClean="0"/>
              <a:t>15</a:t>
            </a:r>
            <a:r>
              <a:rPr lang="zh-CN" altLang="en-US" smtClean="0"/>
              <a:t>，</a:t>
            </a:r>
            <a:r>
              <a:rPr lang="en-US" altLang="zh-CN" smtClean="0"/>
              <a:t>3</a:t>
            </a:r>
            <a:r>
              <a:rPr lang="zh-CN" altLang="en-US" smtClean="0"/>
              <a:t>，</a:t>
            </a:r>
            <a:r>
              <a:rPr lang="en-US" altLang="zh-CN" smtClean="0"/>
              <a:t>20</a:t>
            </a:r>
            <a:r>
              <a:rPr lang="zh-CN" altLang="en-US" smtClean="0"/>
              <a:t>，</a:t>
            </a:r>
            <a:r>
              <a:rPr lang="en-US" altLang="zh-CN" smtClean="0"/>
              <a:t>2</a:t>
            </a:r>
            <a:endParaRPr lang="zh-CN" altLang="en-US"/>
          </a:p>
        </p:txBody>
      </p:sp>
      <p:sp>
        <p:nvSpPr>
          <p:cNvPr id="4" name="文本框 3"/>
          <p:cNvSpPr txBox="1"/>
          <p:nvPr/>
        </p:nvSpPr>
        <p:spPr>
          <a:xfrm>
            <a:off x="251460" y="836930"/>
            <a:ext cx="5701665" cy="534035"/>
          </a:xfrm>
          <a:prstGeom prst="rect">
            <a:avLst/>
          </a:prstGeom>
          <a:noFill/>
        </p:spPr>
        <p:txBody>
          <a:bodyPr wrap="square" rtlCol="0" anchor="t">
            <a:spAutoFit/>
          </a:bodyPr>
          <a:lstStyle/>
          <a:p>
            <a:pPr>
              <a:lnSpc>
                <a:spcPct val="120000"/>
              </a:lnSpc>
              <a:buNone/>
            </a:pPr>
            <a:r>
              <a:rPr lang="en-US" altLang="zh-CN" sz="2400" b="1" kern="0" dirty="0">
                <a:uFillTx/>
                <a:latin typeface="Times New Roman" panose="02020603050405020304" pitchFamily="18" charset="0"/>
                <a:cs typeface="Times New Roman" panose="02020603050405020304" pitchFamily="18" charset="0"/>
                <a:sym typeface="+mn-ea"/>
              </a:rPr>
              <a:t>6.1.2</a:t>
            </a:r>
            <a:r>
              <a:rPr lang="zh-CN" altLang="en-US" sz="2400" b="1" kern="0" dirty="0">
                <a:uFillTx/>
                <a:latin typeface="Times New Roman" panose="02020603050405020304" pitchFamily="18" charset="0"/>
                <a:cs typeface="Times New Roman" panose="02020603050405020304" pitchFamily="18" charset="0"/>
                <a:sym typeface="+mn-ea"/>
              </a:rPr>
              <a:t>深度优先搜索（如何遍历</a:t>
            </a:r>
            <a:r>
              <a:rPr lang="zh-CN" altLang="en-US" sz="2400" b="1" kern="0" dirty="0">
                <a:uFillTx/>
                <a:latin typeface="Times New Roman" panose="02020603050405020304" pitchFamily="18" charset="0"/>
                <a:cs typeface="Times New Roman" panose="02020603050405020304" pitchFamily="18" charset="0"/>
                <a:sym typeface="+mn-ea"/>
              </a:rPr>
              <a:t>树？）</a:t>
            </a:r>
            <a:endParaRPr lang="en-US" altLang="zh-CN" sz="2400" b="1" kern="0" dirty="0">
              <a:uFillTx/>
              <a:latin typeface="Times New Roman" panose="02020603050405020304" pitchFamily="18" charset="0"/>
              <a:cs typeface="Times New Roman" panose="02020603050405020304"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1000"/>
                                        <p:tgtEl>
                                          <p:spTgt spid="20"/>
                                        </p:tgtEl>
                                      </p:cBhvr>
                                    </p:animEffect>
                                    <p:anim calcmode="lin" valueType="num">
                                      <p:cBhvr>
                                        <p:cTn id="22" dur="1000" fill="hold"/>
                                        <p:tgtEl>
                                          <p:spTgt spid="20"/>
                                        </p:tgtEl>
                                        <p:attrNameLst>
                                          <p:attrName>ppt_x</p:attrName>
                                        </p:attrNameLst>
                                      </p:cBhvr>
                                      <p:tavLst>
                                        <p:tav tm="0">
                                          <p:val>
                                            <p:strVal val="#ppt_x"/>
                                          </p:val>
                                        </p:tav>
                                        <p:tav tm="100000">
                                          <p:val>
                                            <p:strVal val="#ppt_x"/>
                                          </p:val>
                                        </p:tav>
                                      </p:tavLst>
                                    </p:anim>
                                    <p:anim calcmode="lin" valueType="num">
                                      <p:cBhvr>
                                        <p:cTn id="23"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9"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4</a:t>
            </a:r>
            <a:endParaRPr lang="zh-CN" altLang="en-US">
              <a:solidFill>
                <a:schemeClr val="bg2">
                  <a:lumMod val="25000"/>
                  <a:lumOff val="75000"/>
                </a:schemeClr>
              </a:solidFill>
            </a:endParaRPr>
          </a:p>
        </p:txBody>
      </p:sp>
      <p:pic>
        <p:nvPicPr>
          <p:cNvPr id="2" name="图片 1"/>
          <p:cNvPicPr>
            <a:picLocks noChangeAspect="1"/>
          </p:cNvPicPr>
          <p:nvPr/>
        </p:nvPicPr>
        <p:blipFill>
          <a:blip r:embed="rId1"/>
          <a:stretch>
            <a:fillRect/>
          </a:stretch>
        </p:blipFill>
        <p:spPr>
          <a:xfrm>
            <a:off x="899592" y="2708920"/>
            <a:ext cx="3311823" cy="2113807"/>
          </a:xfrm>
          <a:prstGeom prst="rect">
            <a:avLst/>
          </a:prstGeom>
        </p:spPr>
      </p:pic>
      <p:sp>
        <p:nvSpPr>
          <p:cNvPr id="3" name="文本框 2"/>
          <p:cNvSpPr txBox="1"/>
          <p:nvPr/>
        </p:nvSpPr>
        <p:spPr>
          <a:xfrm>
            <a:off x="1115695" y="2132965"/>
            <a:ext cx="2765425" cy="689610"/>
          </a:xfrm>
          <a:prstGeom prst="rect">
            <a:avLst/>
          </a:prstGeom>
          <a:noFill/>
        </p:spPr>
        <p:txBody>
          <a:bodyPr wrap="square" rtlCol="0">
            <a:noAutofit/>
          </a:bodyPr>
          <a:lstStyle/>
          <a:p>
            <a:r>
              <a:rPr lang="zh-CN" altLang="en-US" b="1" smtClean="0"/>
              <a:t>遍历二叉树程序设计？</a:t>
            </a:r>
            <a:endParaRPr lang="zh-CN" altLang="en-US" b="1"/>
          </a:p>
        </p:txBody>
      </p:sp>
      <p:sp>
        <p:nvSpPr>
          <p:cNvPr id="18" name="文本框 17"/>
          <p:cNvSpPr txBox="1"/>
          <p:nvPr/>
        </p:nvSpPr>
        <p:spPr>
          <a:xfrm>
            <a:off x="4772484" y="2779187"/>
            <a:ext cx="3528392" cy="2585323"/>
          </a:xfrm>
          <a:prstGeom prst="rect">
            <a:avLst/>
          </a:prstGeom>
          <a:solidFill>
            <a:schemeClr val="accent1">
              <a:lumMod val="60000"/>
              <a:lumOff val="40000"/>
            </a:schemeClr>
          </a:solidFill>
        </p:spPr>
        <p:txBody>
          <a:bodyPr wrap="square" rtlCol="0">
            <a:spAutoFit/>
          </a:bodyPr>
          <a:lstStyle/>
          <a:p>
            <a:r>
              <a:rPr lang="zh-CN" altLang="en-US" b="1" smtClean="0"/>
              <a:t>前序遍历：</a:t>
            </a:r>
            <a:endParaRPr lang="en-US" altLang="zh-CN" b="1" smtClean="0"/>
          </a:p>
          <a:p>
            <a:r>
              <a:rPr lang="en-US" altLang="zh-CN" b="1">
                <a:latin typeface="Times New Roman" panose="02020603050405020304" pitchFamily="18" charset="0"/>
                <a:cs typeface="Times New Roman" panose="02020603050405020304" pitchFamily="18" charset="0"/>
              </a:rPr>
              <a:t> if root == None:</a:t>
            </a:r>
            <a:endParaRPr lang="en-US" altLang="zh-CN" b="1">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            return</a:t>
            </a:r>
            <a:endParaRPr lang="en-US" altLang="zh-CN" b="1">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        else:</a:t>
            </a:r>
            <a:endParaRPr lang="en-US" altLang="zh-CN" b="1">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            print(root.val)</a:t>
            </a:r>
            <a:endParaRPr lang="en-US" altLang="zh-CN" b="1">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            dfs(root.left)</a:t>
            </a:r>
            <a:endParaRPr lang="en-US" altLang="zh-CN" b="1">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            dfs(root.right)</a:t>
            </a:r>
            <a:endParaRPr lang="en-US" altLang="zh-CN" b="1">
              <a:latin typeface="Times New Roman" panose="02020603050405020304" pitchFamily="18" charset="0"/>
              <a:cs typeface="Times New Roman" panose="02020603050405020304" pitchFamily="18" charset="0"/>
            </a:endParaRPr>
          </a:p>
          <a:p>
            <a:endParaRPr lang="zh-CN" altLang="en-US" b="1" smtClean="0"/>
          </a:p>
          <a:p>
            <a:endParaRPr lang="zh-CN" altLang="en-US" b="1"/>
          </a:p>
        </p:txBody>
      </p:sp>
      <p:sp>
        <p:nvSpPr>
          <p:cNvPr id="11" name="文本框 10"/>
          <p:cNvSpPr txBox="1"/>
          <p:nvPr/>
        </p:nvSpPr>
        <p:spPr>
          <a:xfrm>
            <a:off x="4772484" y="2779187"/>
            <a:ext cx="3528392" cy="2585323"/>
          </a:xfrm>
          <a:prstGeom prst="rect">
            <a:avLst/>
          </a:prstGeom>
          <a:solidFill>
            <a:schemeClr val="accent1">
              <a:lumMod val="60000"/>
              <a:lumOff val="40000"/>
            </a:schemeClr>
          </a:solidFill>
        </p:spPr>
        <p:txBody>
          <a:bodyPr wrap="square" rtlCol="0">
            <a:spAutoFit/>
          </a:bodyPr>
          <a:lstStyle/>
          <a:p>
            <a:r>
              <a:rPr lang="zh-CN" altLang="en-US" b="1" smtClean="0"/>
              <a:t>中序遍历：</a:t>
            </a:r>
            <a:endParaRPr lang="en-US" altLang="zh-CN" b="1" smtClean="0"/>
          </a:p>
          <a:p>
            <a:r>
              <a:rPr lang="en-US" altLang="zh-CN" b="1" smtClean="0">
                <a:latin typeface="Times New Roman" panose="02020603050405020304" pitchFamily="18" charset="0"/>
                <a:cs typeface="Times New Roman" panose="02020603050405020304" pitchFamily="18" charset="0"/>
              </a:rPr>
              <a:t> </a:t>
            </a:r>
            <a:r>
              <a:rPr lang="en-US" altLang="zh-CN" b="1">
                <a:latin typeface="Times New Roman" panose="02020603050405020304" pitchFamily="18" charset="0"/>
                <a:cs typeface="Times New Roman" panose="02020603050405020304" pitchFamily="18" charset="0"/>
              </a:rPr>
              <a:t>if root == None:</a:t>
            </a:r>
            <a:endParaRPr lang="en-US" altLang="zh-CN" b="1">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            return</a:t>
            </a:r>
            <a:endParaRPr lang="en-US" altLang="zh-CN" b="1">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        </a:t>
            </a:r>
            <a:r>
              <a:rPr lang="en-US" altLang="zh-CN" b="1">
                <a:latin typeface="Times New Roman" panose="02020603050405020304" pitchFamily="18" charset="0"/>
                <a:cs typeface="Times New Roman" panose="02020603050405020304" pitchFamily="18" charset="0"/>
              </a:rPr>
              <a:t>else</a:t>
            </a:r>
            <a:r>
              <a:rPr lang="en-US" altLang="zh-CN" b="1" smtClean="0">
                <a:latin typeface="Times New Roman" panose="02020603050405020304" pitchFamily="18" charset="0"/>
                <a:cs typeface="Times New Roman" panose="02020603050405020304" pitchFamily="18" charset="0"/>
              </a:rPr>
              <a:t>:</a:t>
            </a:r>
            <a:endParaRPr lang="en-US" altLang="zh-CN" b="1" smtClean="0">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 </a:t>
            </a:r>
            <a:r>
              <a:rPr lang="en-US" altLang="zh-CN" b="1" smtClean="0">
                <a:latin typeface="Times New Roman" panose="02020603050405020304" pitchFamily="18" charset="0"/>
                <a:cs typeface="Times New Roman" panose="02020603050405020304" pitchFamily="18" charset="0"/>
              </a:rPr>
              <a:t>           dfs(root.left)</a:t>
            </a:r>
            <a:endParaRPr lang="en-US" altLang="zh-CN" b="1" smtClean="0">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 </a:t>
            </a:r>
            <a:r>
              <a:rPr lang="en-US" altLang="zh-CN" b="1" smtClean="0">
                <a:latin typeface="Times New Roman" panose="02020603050405020304" pitchFamily="18" charset="0"/>
                <a:cs typeface="Times New Roman" panose="02020603050405020304" pitchFamily="18" charset="0"/>
              </a:rPr>
              <a:t>           print(root.val</a:t>
            </a:r>
            <a:r>
              <a:rPr lang="en-US" altLang="zh-CN" b="1">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 </a:t>
            </a:r>
            <a:r>
              <a:rPr lang="en-US" altLang="zh-CN" b="1" smtClean="0">
                <a:latin typeface="Times New Roman" panose="02020603050405020304" pitchFamily="18" charset="0"/>
                <a:cs typeface="Times New Roman" panose="02020603050405020304" pitchFamily="18" charset="0"/>
              </a:rPr>
              <a:t>           dfs(root.right</a:t>
            </a:r>
            <a:r>
              <a:rPr lang="en-US" altLang="zh-CN" b="1">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a:p>
            <a:endParaRPr lang="zh-CN" altLang="en-US" b="1" smtClean="0"/>
          </a:p>
          <a:p>
            <a:endParaRPr lang="zh-CN" altLang="en-US" b="1"/>
          </a:p>
        </p:txBody>
      </p:sp>
      <p:sp>
        <p:nvSpPr>
          <p:cNvPr id="14" name="文本框 13"/>
          <p:cNvSpPr txBox="1"/>
          <p:nvPr/>
        </p:nvSpPr>
        <p:spPr>
          <a:xfrm>
            <a:off x="4787479" y="2779187"/>
            <a:ext cx="3513397" cy="2585323"/>
          </a:xfrm>
          <a:prstGeom prst="rect">
            <a:avLst/>
          </a:prstGeom>
          <a:solidFill>
            <a:schemeClr val="accent1">
              <a:lumMod val="60000"/>
              <a:lumOff val="40000"/>
            </a:schemeClr>
          </a:solidFill>
        </p:spPr>
        <p:txBody>
          <a:bodyPr wrap="square" rtlCol="0">
            <a:spAutoFit/>
          </a:bodyPr>
          <a:lstStyle/>
          <a:p>
            <a:r>
              <a:rPr lang="zh-CN" altLang="en-US" b="1" smtClean="0"/>
              <a:t>后序遍历：</a:t>
            </a:r>
            <a:endParaRPr lang="en-US" altLang="zh-CN" b="1" smtClean="0"/>
          </a:p>
          <a:p>
            <a:r>
              <a:rPr lang="en-US" altLang="zh-CN" b="1" smtClean="0">
                <a:latin typeface="Times New Roman" panose="02020603050405020304" pitchFamily="18" charset="0"/>
                <a:cs typeface="Times New Roman" panose="02020603050405020304" pitchFamily="18" charset="0"/>
              </a:rPr>
              <a:t> </a:t>
            </a:r>
            <a:r>
              <a:rPr lang="en-US" altLang="zh-CN" b="1">
                <a:latin typeface="Times New Roman" panose="02020603050405020304" pitchFamily="18" charset="0"/>
                <a:cs typeface="Times New Roman" panose="02020603050405020304" pitchFamily="18" charset="0"/>
              </a:rPr>
              <a:t>if root == None:</a:t>
            </a:r>
            <a:endParaRPr lang="en-US" altLang="zh-CN" b="1">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            return</a:t>
            </a:r>
            <a:endParaRPr lang="en-US" altLang="zh-CN" b="1">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        </a:t>
            </a:r>
            <a:r>
              <a:rPr lang="en-US" altLang="zh-CN" b="1">
                <a:latin typeface="Times New Roman" panose="02020603050405020304" pitchFamily="18" charset="0"/>
                <a:cs typeface="Times New Roman" panose="02020603050405020304" pitchFamily="18" charset="0"/>
              </a:rPr>
              <a:t>else</a:t>
            </a:r>
            <a:r>
              <a:rPr lang="en-US" altLang="zh-CN" b="1" smtClean="0">
                <a:latin typeface="Times New Roman" panose="02020603050405020304" pitchFamily="18" charset="0"/>
                <a:cs typeface="Times New Roman" panose="02020603050405020304" pitchFamily="18" charset="0"/>
              </a:rPr>
              <a:t>:</a:t>
            </a:r>
            <a:endParaRPr lang="en-US" altLang="zh-CN" b="1" smtClean="0">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 </a:t>
            </a:r>
            <a:r>
              <a:rPr lang="en-US" altLang="zh-CN" b="1" smtClean="0">
                <a:latin typeface="Times New Roman" panose="02020603050405020304" pitchFamily="18" charset="0"/>
                <a:cs typeface="Times New Roman" panose="02020603050405020304" pitchFamily="18" charset="0"/>
              </a:rPr>
              <a:t>           dfs(root.left)</a:t>
            </a:r>
            <a:endParaRPr lang="en-US" altLang="zh-CN" b="1" smtClean="0">
              <a:latin typeface="Times New Roman" panose="02020603050405020304" pitchFamily="18" charset="0"/>
              <a:cs typeface="Times New Roman" panose="02020603050405020304" pitchFamily="18" charset="0"/>
            </a:endParaRPr>
          </a:p>
          <a:p>
            <a:r>
              <a:rPr lang="en-US" altLang="zh-CN" b="1" smtClean="0">
                <a:latin typeface="Times New Roman" panose="02020603050405020304" pitchFamily="18" charset="0"/>
                <a:cs typeface="Times New Roman" panose="02020603050405020304" pitchFamily="18" charset="0"/>
              </a:rPr>
              <a:t>            dfs(root.right)</a:t>
            </a:r>
            <a:endParaRPr lang="en-US" altLang="zh-CN" b="1" smtClean="0">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 </a:t>
            </a:r>
            <a:r>
              <a:rPr lang="en-US" altLang="zh-CN" b="1" smtClean="0">
                <a:latin typeface="Times New Roman" panose="02020603050405020304" pitchFamily="18" charset="0"/>
                <a:cs typeface="Times New Roman" panose="02020603050405020304" pitchFamily="18" charset="0"/>
              </a:rPr>
              <a:t>           print(root.val</a:t>
            </a:r>
            <a:r>
              <a:rPr lang="en-US" altLang="zh-CN" b="1">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a:p>
            <a:endParaRPr lang="zh-CN" altLang="en-US" b="1" smtClean="0"/>
          </a:p>
          <a:p>
            <a:endParaRPr lang="zh-CN" altLang="en-US" b="1"/>
          </a:p>
        </p:txBody>
      </p:sp>
      <p:sp>
        <p:nvSpPr>
          <p:cNvPr id="4" name="Rectangle 2"/>
          <p:cNvSpPr txBox="1">
            <a:spLocks noChangeArrowheads="1"/>
          </p:cNvSpPr>
          <p:nvPr/>
        </p:nvSpPr>
        <p:spPr bwMode="auto">
          <a:xfrm>
            <a:off x="467360" y="981075"/>
            <a:ext cx="39433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2000" kern="0" smtClean="0">
                <a:solidFill>
                  <a:srgbClr val="FF0000"/>
                </a:solidFill>
                <a:uFillTx/>
                <a:latin typeface="宋体" panose="02010600030101010101" pitchFamily="2" charset="-122"/>
                <a:ea typeface="宋体" panose="02010600030101010101" pitchFamily="2" charset="-122"/>
              </a:rPr>
              <a:t>回顾二叉树的前、中、后序遍历</a:t>
            </a:r>
            <a:endParaRPr lang="zh-CN" altLang="en-US" sz="2000" kern="0" dirty="0" smtClean="0">
              <a:solidFill>
                <a:srgbClr val="FF0000"/>
              </a:solidFill>
              <a:uFillTx/>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1"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5</a:t>
            </a:r>
            <a:endParaRPr lang="zh-CN" altLang="en-US">
              <a:solidFill>
                <a:schemeClr val="bg2">
                  <a:lumMod val="25000"/>
                  <a:lumOff val="75000"/>
                </a:schemeClr>
              </a:solidFill>
            </a:endParaRPr>
          </a:p>
        </p:txBody>
      </p:sp>
      <p:sp>
        <p:nvSpPr>
          <p:cNvPr id="44" name="文本框 43"/>
          <p:cNvSpPr txBox="1"/>
          <p:nvPr/>
        </p:nvSpPr>
        <p:spPr>
          <a:xfrm>
            <a:off x="466725" y="5862955"/>
            <a:ext cx="8443595" cy="731520"/>
          </a:xfrm>
          <a:prstGeom prst="rect">
            <a:avLst/>
          </a:prstGeom>
          <a:noFill/>
        </p:spPr>
        <p:txBody>
          <a:bodyPr>
            <a:noAutofit/>
          </a:bodyPr>
          <a:lstStyle/>
          <a:p>
            <a:pPr>
              <a:defRPr/>
            </a:pPr>
            <a:r>
              <a:rPr lang="zh-CN" altLang="en-US">
                <a:solidFill>
                  <a:schemeClr val="tx2"/>
                </a:solidFill>
                <a:uFillTx/>
                <a:latin typeface="Times New Roman" panose="02020603050405020304" pitchFamily="18" charset="0"/>
              </a:rPr>
              <a:t>如何用计算机的方式实现图的遍历</a:t>
            </a:r>
            <a:r>
              <a:rPr lang="en-US" altLang="zh-CN" dirty="0">
                <a:solidFill>
                  <a:schemeClr val="tx2"/>
                </a:solidFill>
                <a:uFillTx/>
                <a:latin typeface="Times New Roman" panose="02020603050405020304" pitchFamily="18" charset="0"/>
              </a:rPr>
              <a:t>?</a:t>
            </a:r>
            <a:r>
              <a:rPr lang="zh-CN" altLang="en-US" dirty="0">
                <a:solidFill>
                  <a:schemeClr val="tx2"/>
                </a:solidFill>
                <a:uFillTx/>
                <a:latin typeface="Times New Roman" panose="02020603050405020304" pitchFamily="18" charset="0"/>
              </a:rPr>
              <a:t>如何遇到没有路径的地方回溯到上一个</a:t>
            </a:r>
            <a:r>
              <a:rPr lang="zh-CN" altLang="en-US" dirty="0">
                <a:solidFill>
                  <a:schemeClr val="tx2"/>
                </a:solidFill>
                <a:uFillTx/>
                <a:latin typeface="Times New Roman" panose="02020603050405020304" pitchFamily="18" charset="0"/>
              </a:rPr>
              <a:t>节点？</a:t>
            </a:r>
            <a:endParaRPr lang="zh-CN" altLang="en-US" dirty="0">
              <a:solidFill>
                <a:schemeClr val="tx2"/>
              </a:solidFill>
              <a:uFillTx/>
              <a:latin typeface="Times New Roman" panose="02020603050405020304" pitchFamily="18" charset="0"/>
            </a:endParaRPr>
          </a:p>
        </p:txBody>
      </p:sp>
      <p:sp>
        <p:nvSpPr>
          <p:cNvPr id="45" name="文本框 44"/>
          <p:cNvSpPr txBox="1"/>
          <p:nvPr/>
        </p:nvSpPr>
        <p:spPr>
          <a:xfrm>
            <a:off x="539750" y="1484313"/>
            <a:ext cx="8226425" cy="645160"/>
          </a:xfrm>
          <a:prstGeom prst="rect">
            <a:avLst/>
          </a:prstGeom>
          <a:noFill/>
        </p:spPr>
        <p:txBody>
          <a:bodyPr>
            <a:spAutoFit/>
          </a:bodyPr>
          <a:lstStyle/>
          <a:p>
            <a:pPr>
              <a:defRPr/>
            </a:pPr>
            <a:r>
              <a:rPr lang="zh-CN" altLang="en-US" b="1">
                <a:solidFill>
                  <a:schemeClr val="tx1"/>
                </a:solidFill>
                <a:latin typeface="宋体" panose="02010600030101010101" pitchFamily="2" charset="-122"/>
                <a:cs typeface="宋体" panose="02010600030101010101" pitchFamily="2" charset="-122"/>
              </a:rPr>
              <a:t>方法</a:t>
            </a:r>
            <a:r>
              <a:rPr lang="en-US" altLang="zh-CN" b="1" dirty="0">
                <a:solidFill>
                  <a:schemeClr val="tx1"/>
                </a:solidFill>
                <a:latin typeface="宋体" panose="02010600030101010101" pitchFamily="2" charset="-122"/>
                <a:cs typeface="宋体" panose="02010600030101010101" pitchFamily="2" charset="-122"/>
              </a:rPr>
              <a:t>:</a:t>
            </a:r>
            <a:r>
              <a:rPr lang="zh-CN" altLang="en-US" b="1">
                <a:solidFill>
                  <a:schemeClr val="tx1"/>
                </a:solidFill>
                <a:latin typeface="宋体" panose="02010600030101010101" pitchFamily="2" charset="-122"/>
                <a:cs typeface="宋体" panose="02010600030101010101" pitchFamily="2" charset="-122"/>
              </a:rPr>
              <a:t>找出刚访问过的顶点的第一个未被访问的邻接点， 访问该顶点。 以该顶点为新顶点，重复此步骤， 直至刚访问过的顶点没有未被访问的邻接点为止。</a:t>
            </a:r>
            <a:endParaRPr lang="zh-CN" altLang="en-US" b="1">
              <a:solidFill>
                <a:schemeClr val="tx1"/>
              </a:solidFill>
              <a:latin typeface="宋体" panose="02010600030101010101" pitchFamily="2" charset="-122"/>
              <a:cs typeface="宋体" panose="02010600030101010101" pitchFamily="2" charset="-122"/>
            </a:endParaRPr>
          </a:p>
        </p:txBody>
      </p:sp>
      <p:sp>
        <p:nvSpPr>
          <p:cNvPr id="47" name="文本框 46"/>
          <p:cNvSpPr txBox="1"/>
          <p:nvPr/>
        </p:nvSpPr>
        <p:spPr>
          <a:xfrm>
            <a:off x="763588" y="2697163"/>
            <a:ext cx="930275" cy="368300"/>
          </a:xfrm>
          <a:prstGeom prst="rect">
            <a:avLst/>
          </a:prstGeom>
          <a:noFill/>
        </p:spPr>
        <p:txBody>
          <a:bodyPr>
            <a:spAutoFit/>
          </a:bodyPr>
          <a:lstStyle/>
          <a:p>
            <a:pPr>
              <a:defRPr/>
            </a:pPr>
            <a:r>
              <a:rPr lang="zh-CN" altLang="en-US">
                <a:solidFill>
                  <a:schemeClr val="tx1"/>
                </a:solidFill>
                <a:uFillTx/>
                <a:latin typeface="Times New Roman" panose="02020603050405020304" pitchFamily="18" charset="0"/>
              </a:rPr>
              <a:t>例如：</a:t>
            </a:r>
            <a:endParaRPr lang="zh-CN" altLang="en-US">
              <a:solidFill>
                <a:schemeClr val="tx1"/>
              </a:solidFill>
              <a:uFillTx/>
              <a:latin typeface="Times New Roman" panose="02020603050405020304" pitchFamily="18" charset="0"/>
            </a:endParaRPr>
          </a:p>
        </p:txBody>
      </p:sp>
      <p:sp>
        <p:nvSpPr>
          <p:cNvPr id="48" name="文本框 47"/>
          <p:cNvSpPr txBox="1"/>
          <p:nvPr/>
        </p:nvSpPr>
        <p:spPr>
          <a:xfrm>
            <a:off x="5054600" y="2687638"/>
            <a:ext cx="2154238" cy="368300"/>
          </a:xfrm>
          <a:prstGeom prst="rect">
            <a:avLst/>
          </a:prstGeom>
          <a:noFill/>
        </p:spPr>
        <p:txBody>
          <a:bodyPr>
            <a:spAutoFit/>
          </a:bodyPr>
          <a:lstStyle/>
          <a:p>
            <a:pPr>
              <a:defRPr/>
            </a:pPr>
            <a:r>
              <a:rPr lang="zh-CN" altLang="en-US">
                <a:solidFill>
                  <a:schemeClr val="tx1"/>
                </a:solidFill>
                <a:uFillTx/>
                <a:latin typeface="Times New Roman" panose="02020603050405020304" pitchFamily="18" charset="0"/>
              </a:rPr>
              <a:t>深度优先遍历：</a:t>
            </a:r>
            <a:endParaRPr lang="zh-CN" altLang="en-US">
              <a:solidFill>
                <a:schemeClr val="tx1"/>
              </a:solidFill>
              <a:uFillTx/>
              <a:latin typeface="Times New Roman" panose="02020603050405020304" pitchFamily="18" charset="0"/>
            </a:endParaRPr>
          </a:p>
        </p:txBody>
      </p:sp>
      <p:pic>
        <p:nvPicPr>
          <p:cNvPr id="1229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55650" y="3227388"/>
            <a:ext cx="3624263" cy="232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7" name="文本框 2"/>
          <p:cNvSpPr txBox="1">
            <a:spLocks noChangeArrowheads="1"/>
          </p:cNvSpPr>
          <p:nvPr/>
        </p:nvSpPr>
        <p:spPr bwMode="auto">
          <a:xfrm>
            <a:off x="5054600" y="3935413"/>
            <a:ext cx="32623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a:solidFill>
                  <a:schemeClr val="tx1"/>
                </a:solidFill>
                <a:ea typeface="宋体" panose="02010600030101010101" pitchFamily="2" charset="-122"/>
              </a:rPr>
              <a:t>A B E G F C H  D   </a:t>
            </a:r>
            <a:endParaRPr lang="zh-CN" altLang="en-US" sz="2400">
              <a:solidFill>
                <a:schemeClr val="tx1"/>
              </a:solidFill>
              <a:ea typeface="宋体" panose="02010600030101010101" pitchFamily="2" charset="-122"/>
            </a:endParaRPr>
          </a:p>
        </p:txBody>
      </p:sp>
      <p:sp>
        <p:nvSpPr>
          <p:cNvPr id="12298" name="矩形 20"/>
          <p:cNvSpPr>
            <a:spLocks noChangeArrowheads="1"/>
          </p:cNvSpPr>
          <p:nvPr/>
        </p:nvSpPr>
        <p:spPr bwMode="auto">
          <a:xfrm>
            <a:off x="5084763" y="3852863"/>
            <a:ext cx="1216025" cy="542925"/>
          </a:xfrm>
          <a:prstGeom prst="rect">
            <a:avLst/>
          </a:prstGeom>
          <a:noFill/>
          <a:ln w="38100" algn="ctr">
            <a:solidFill>
              <a:schemeClr val="accent1"/>
            </a:solidFill>
            <a:prstDash val="sysDash"/>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12299" name="矩形 21"/>
          <p:cNvSpPr>
            <a:spLocks noChangeArrowheads="1"/>
          </p:cNvSpPr>
          <p:nvPr/>
        </p:nvSpPr>
        <p:spPr bwMode="auto">
          <a:xfrm>
            <a:off x="6300788" y="3848100"/>
            <a:ext cx="908050" cy="547688"/>
          </a:xfrm>
          <a:prstGeom prst="rect">
            <a:avLst/>
          </a:prstGeom>
          <a:noFill/>
          <a:ln w="38100" algn="ctr">
            <a:solidFill>
              <a:schemeClr val="tx2"/>
            </a:solidFill>
            <a:prstDash val="sysDash"/>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12300" name="矩形 22"/>
          <p:cNvSpPr>
            <a:spLocks noChangeArrowheads="1"/>
          </p:cNvSpPr>
          <p:nvPr/>
        </p:nvSpPr>
        <p:spPr bwMode="auto">
          <a:xfrm>
            <a:off x="7208838" y="3868738"/>
            <a:ext cx="458787" cy="527050"/>
          </a:xfrm>
          <a:prstGeom prst="rect">
            <a:avLst/>
          </a:prstGeom>
          <a:noFill/>
          <a:ln w="38100" algn="ctr">
            <a:solidFill>
              <a:schemeClr val="accent1"/>
            </a:solidFill>
            <a:prstDash val="sysDash"/>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4" name="文本框 3"/>
          <p:cNvSpPr txBox="1"/>
          <p:nvPr/>
        </p:nvSpPr>
        <p:spPr>
          <a:xfrm>
            <a:off x="251460" y="836930"/>
            <a:ext cx="5701665" cy="534035"/>
          </a:xfrm>
          <a:prstGeom prst="rect">
            <a:avLst/>
          </a:prstGeom>
          <a:noFill/>
        </p:spPr>
        <p:txBody>
          <a:bodyPr wrap="square" rtlCol="0" anchor="t">
            <a:spAutoFit/>
          </a:bodyPr>
          <a:lstStyle/>
          <a:p>
            <a:pPr>
              <a:lnSpc>
                <a:spcPct val="120000"/>
              </a:lnSpc>
              <a:buNone/>
            </a:pPr>
            <a:r>
              <a:rPr lang="en-US" altLang="zh-CN" sz="2400" b="1" kern="0" dirty="0">
                <a:uFillTx/>
                <a:latin typeface="Times New Roman" panose="02020603050405020304" pitchFamily="18" charset="0"/>
                <a:cs typeface="Times New Roman" panose="02020603050405020304" pitchFamily="18" charset="0"/>
                <a:sym typeface="+mn-ea"/>
              </a:rPr>
              <a:t>6.1.2</a:t>
            </a:r>
            <a:r>
              <a:rPr lang="zh-CN" altLang="en-US" sz="2400" b="1" kern="0" dirty="0">
                <a:uFillTx/>
                <a:latin typeface="Times New Roman" panose="02020603050405020304" pitchFamily="18" charset="0"/>
                <a:cs typeface="Times New Roman" panose="02020603050405020304" pitchFamily="18" charset="0"/>
                <a:sym typeface="+mn-ea"/>
              </a:rPr>
              <a:t>深度优先搜索（回溯</a:t>
            </a:r>
            <a:r>
              <a:rPr lang="zh-CN" altLang="en-US" sz="2400" b="1" kern="0" dirty="0">
                <a:uFillTx/>
                <a:latin typeface="Times New Roman" panose="02020603050405020304" pitchFamily="18" charset="0"/>
                <a:cs typeface="Times New Roman" panose="02020603050405020304" pitchFamily="18" charset="0"/>
                <a:sym typeface="+mn-ea"/>
              </a:rPr>
              <a:t>实现）</a:t>
            </a:r>
            <a:endParaRPr lang="en-US" altLang="zh-CN" sz="2400" b="1" kern="0" dirty="0">
              <a:uFillTx/>
              <a:latin typeface="Times New Roman" panose="02020603050405020304" pitchFamily="18" charset="0"/>
              <a:cs typeface="Times New Roman" panose="02020603050405020304"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6</a:t>
            </a:r>
            <a:endParaRPr lang="zh-CN" altLang="en-US">
              <a:solidFill>
                <a:schemeClr val="bg2">
                  <a:lumMod val="25000"/>
                  <a:lumOff val="75000"/>
                </a:schemeClr>
              </a:solidFill>
            </a:endParaRPr>
          </a:p>
        </p:txBody>
      </p:sp>
      <p:pic>
        <p:nvPicPr>
          <p:cNvPr id="14340"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27405" y="2016125"/>
            <a:ext cx="3960813" cy="263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13"/>
          <p:cNvSpPr txBox="1"/>
          <p:nvPr/>
        </p:nvSpPr>
        <p:spPr>
          <a:xfrm>
            <a:off x="827405" y="4752975"/>
            <a:ext cx="2519363" cy="368300"/>
          </a:xfrm>
          <a:prstGeom prst="rect">
            <a:avLst/>
          </a:prstGeom>
          <a:noFill/>
        </p:spPr>
        <p:txBody>
          <a:bodyPr>
            <a:spAutoFit/>
          </a:bodyPr>
          <a:lstStyle/>
          <a:p>
            <a:pPr>
              <a:defRPr/>
            </a:pPr>
            <a:r>
              <a:rPr lang="zh-CN" altLang="en-US">
                <a:solidFill>
                  <a:srgbClr val="000066"/>
                </a:solidFill>
                <a:uFillTx/>
                <a:latin typeface="Times New Roman" panose="02020603050405020304" pitchFamily="18" charset="0"/>
              </a:rPr>
              <a:t>记录访问结果：</a:t>
            </a:r>
            <a:r>
              <a:rPr lang="en-US" altLang="zh-CN">
                <a:solidFill>
                  <a:srgbClr val="000066"/>
                </a:solidFill>
                <a:uFillTx/>
                <a:latin typeface="Times New Roman" panose="02020603050405020304" pitchFamily="18" charset="0"/>
              </a:rPr>
              <a:t>A </a:t>
            </a:r>
            <a:endParaRPr lang="en-US" altLang="zh-CN">
              <a:solidFill>
                <a:srgbClr val="000066"/>
              </a:solidFill>
              <a:uFillTx/>
              <a:latin typeface="Times New Roman" panose="02020603050405020304" pitchFamily="18" charset="0"/>
            </a:endParaRPr>
          </a:p>
        </p:txBody>
      </p:sp>
      <p:pic>
        <p:nvPicPr>
          <p:cNvPr id="14342"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43980" y="1916113"/>
            <a:ext cx="125730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右箭头 9"/>
          <p:cNvSpPr>
            <a:spLocks noChangeArrowheads="1"/>
          </p:cNvSpPr>
          <p:nvPr/>
        </p:nvSpPr>
        <p:spPr bwMode="auto">
          <a:xfrm>
            <a:off x="5102543" y="3190875"/>
            <a:ext cx="854075" cy="323850"/>
          </a:xfrm>
          <a:prstGeom prst="rightArrow">
            <a:avLst>
              <a:gd name="adj1" fmla="val 50000"/>
              <a:gd name="adj2" fmla="val 50181"/>
            </a:avLst>
          </a:prstGeom>
          <a:solidFill>
            <a:schemeClr val="accent1"/>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18" name="文本框 17"/>
          <p:cNvSpPr txBox="1"/>
          <p:nvPr/>
        </p:nvSpPr>
        <p:spPr>
          <a:xfrm>
            <a:off x="5123180" y="2828925"/>
            <a:ext cx="2152650" cy="368300"/>
          </a:xfrm>
          <a:prstGeom prst="rect">
            <a:avLst/>
          </a:prstGeom>
          <a:noFill/>
        </p:spPr>
        <p:txBody>
          <a:bodyPr>
            <a:spAutoFit/>
          </a:bodyPr>
          <a:lstStyle/>
          <a:p>
            <a:pPr>
              <a:defRPr/>
            </a:pPr>
            <a:r>
              <a:rPr lang="zh-CN" altLang="en-US">
                <a:solidFill>
                  <a:schemeClr val="tx2"/>
                </a:solidFill>
                <a:uFillTx/>
                <a:latin typeface="Times New Roman" panose="02020603050405020304" pitchFamily="18" charset="0"/>
              </a:rPr>
              <a:t>入栈</a:t>
            </a:r>
            <a:r>
              <a:rPr lang="en-US" altLang="zh-CN">
                <a:solidFill>
                  <a:schemeClr val="tx2"/>
                </a:solidFill>
                <a:uFillTx/>
                <a:latin typeface="Times New Roman" panose="02020603050405020304" pitchFamily="18" charset="0"/>
              </a:rPr>
              <a:t>A</a:t>
            </a:r>
            <a:endParaRPr lang="en-US" altLang="zh-CN">
              <a:solidFill>
                <a:schemeClr val="tx2"/>
              </a:solidFill>
              <a:uFillTx/>
              <a:latin typeface="Times New Roman" panose="02020603050405020304" pitchFamily="18" charset="0"/>
            </a:endParaRPr>
          </a:p>
        </p:txBody>
      </p:sp>
      <p:sp>
        <p:nvSpPr>
          <p:cNvPr id="2" name="Rectangle 2"/>
          <p:cNvSpPr txBox="1">
            <a:spLocks noChangeArrowheads="1"/>
          </p:cNvSpPr>
          <p:nvPr/>
        </p:nvSpPr>
        <p:spPr bwMode="auto">
          <a:xfrm>
            <a:off x="323215" y="1052195"/>
            <a:ext cx="441134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2000" kern="0">
                <a:solidFill>
                  <a:schemeClr val="tx2"/>
                </a:solidFill>
                <a:uFillTx/>
                <a:latin typeface="Times New Roman" panose="02020603050405020304" pitchFamily="18" charset="0"/>
                <a:ea typeface="宋体" panose="02010600030101010101" pitchFamily="2" charset="-122"/>
              </a:rPr>
              <a:t>深度</a:t>
            </a:r>
            <a:r>
              <a:rPr lang="zh-CN" altLang="en-US" sz="2000" kern="0" smtClean="0">
                <a:solidFill>
                  <a:schemeClr val="tx2"/>
                </a:solidFill>
                <a:uFillTx/>
                <a:latin typeface="Times New Roman" panose="02020603050405020304" pitchFamily="18" charset="0"/>
                <a:ea typeface="宋体" panose="02010600030101010101" pitchFamily="2" charset="-122"/>
              </a:rPr>
              <a:t>优先遍历流程（回溯如何实现？）</a:t>
            </a:r>
            <a:endParaRPr lang="zh-CN" altLang="en-US" sz="2000" kern="0" smtClean="0">
              <a:solidFill>
                <a:schemeClr val="tx2"/>
              </a:solidFill>
              <a:uFillTx/>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7</a:t>
            </a:r>
            <a:endParaRPr lang="zh-CN" altLang="en-US">
              <a:solidFill>
                <a:schemeClr val="bg2">
                  <a:lumMod val="25000"/>
                  <a:lumOff val="75000"/>
                </a:schemeClr>
              </a:solidFill>
            </a:endParaRPr>
          </a:p>
        </p:txBody>
      </p:sp>
      <p:sp>
        <p:nvSpPr>
          <p:cNvPr id="14" name="文本框 13"/>
          <p:cNvSpPr txBox="1"/>
          <p:nvPr/>
        </p:nvSpPr>
        <p:spPr>
          <a:xfrm>
            <a:off x="1147445" y="4685030"/>
            <a:ext cx="2376488" cy="368300"/>
          </a:xfrm>
          <a:prstGeom prst="rect">
            <a:avLst/>
          </a:prstGeom>
          <a:noFill/>
        </p:spPr>
        <p:txBody>
          <a:bodyPr>
            <a:spAutoFit/>
          </a:bodyPr>
          <a:lstStyle/>
          <a:p>
            <a:pPr>
              <a:defRPr/>
            </a:pPr>
            <a:r>
              <a:rPr lang="zh-CN" altLang="en-US">
                <a:solidFill>
                  <a:schemeClr val="tx1"/>
                </a:solidFill>
                <a:uFillTx/>
                <a:latin typeface="Times New Roman" panose="02020603050405020304" pitchFamily="18" charset="0"/>
              </a:rPr>
              <a:t>记录访问结果：</a:t>
            </a:r>
            <a:r>
              <a:rPr lang="en-US" altLang="zh-CN">
                <a:solidFill>
                  <a:schemeClr val="tx1"/>
                </a:solidFill>
                <a:uFillTx/>
                <a:latin typeface="Times New Roman" panose="02020603050405020304" pitchFamily="18" charset="0"/>
              </a:rPr>
              <a:t>A B </a:t>
            </a:r>
            <a:endParaRPr lang="en-US" altLang="zh-CN">
              <a:solidFill>
                <a:schemeClr val="tx1"/>
              </a:solidFill>
              <a:uFillTx/>
              <a:latin typeface="Times New Roman" panose="02020603050405020304" pitchFamily="18" charset="0"/>
            </a:endParaRPr>
          </a:p>
        </p:txBody>
      </p:sp>
      <p:sp>
        <p:nvSpPr>
          <p:cNvPr id="16389" name="右箭头 9"/>
          <p:cNvSpPr>
            <a:spLocks noChangeArrowheads="1"/>
          </p:cNvSpPr>
          <p:nvPr/>
        </p:nvSpPr>
        <p:spPr bwMode="auto">
          <a:xfrm>
            <a:off x="5206683" y="3307080"/>
            <a:ext cx="854075" cy="323850"/>
          </a:xfrm>
          <a:prstGeom prst="rightArrow">
            <a:avLst>
              <a:gd name="adj1" fmla="val 50000"/>
              <a:gd name="adj2" fmla="val 50181"/>
            </a:avLst>
          </a:prstGeom>
          <a:solidFill>
            <a:schemeClr val="accent1"/>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18" name="文本框 17"/>
          <p:cNvSpPr txBox="1"/>
          <p:nvPr/>
        </p:nvSpPr>
        <p:spPr>
          <a:xfrm>
            <a:off x="5227320" y="2945130"/>
            <a:ext cx="2152650" cy="368300"/>
          </a:xfrm>
          <a:prstGeom prst="rect">
            <a:avLst/>
          </a:prstGeom>
          <a:noFill/>
        </p:spPr>
        <p:txBody>
          <a:bodyPr>
            <a:spAutoFit/>
          </a:bodyPr>
          <a:lstStyle/>
          <a:p>
            <a:pPr>
              <a:defRPr/>
            </a:pPr>
            <a:r>
              <a:rPr lang="zh-CN" altLang="en-US">
                <a:solidFill>
                  <a:schemeClr val="tx2"/>
                </a:solidFill>
                <a:uFillTx/>
                <a:latin typeface="Times New Roman" panose="02020603050405020304" pitchFamily="18" charset="0"/>
              </a:rPr>
              <a:t>入栈</a:t>
            </a:r>
            <a:r>
              <a:rPr lang="en-US" altLang="zh-CN">
                <a:solidFill>
                  <a:schemeClr val="tx2"/>
                </a:solidFill>
                <a:uFillTx/>
                <a:latin typeface="Times New Roman" panose="02020603050405020304" pitchFamily="18" charset="0"/>
              </a:rPr>
              <a:t>B</a:t>
            </a:r>
            <a:endParaRPr lang="en-US" altLang="zh-CN">
              <a:solidFill>
                <a:schemeClr val="tx2"/>
              </a:solidFill>
              <a:uFillTx/>
              <a:latin typeface="Times New Roman" panose="02020603050405020304" pitchFamily="18" charset="0"/>
            </a:endParaRPr>
          </a:p>
        </p:txBody>
      </p:sp>
      <p:pic>
        <p:nvPicPr>
          <p:cNvPr id="16391"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06120" y="1957705"/>
            <a:ext cx="4076700"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2"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71908" y="2132330"/>
            <a:ext cx="1447800"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txBox="1">
            <a:spLocks noChangeArrowheads="1"/>
          </p:cNvSpPr>
          <p:nvPr/>
        </p:nvSpPr>
        <p:spPr bwMode="auto">
          <a:xfrm>
            <a:off x="323215" y="1052195"/>
            <a:ext cx="441134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2000" kern="0">
                <a:solidFill>
                  <a:schemeClr val="tx2"/>
                </a:solidFill>
                <a:uFillTx/>
                <a:latin typeface="Times New Roman" panose="02020603050405020304" pitchFamily="18" charset="0"/>
                <a:ea typeface="宋体" panose="02010600030101010101" pitchFamily="2" charset="-122"/>
              </a:rPr>
              <a:t>深度</a:t>
            </a:r>
            <a:r>
              <a:rPr lang="zh-CN" altLang="en-US" sz="2000" kern="0" smtClean="0">
                <a:solidFill>
                  <a:schemeClr val="tx2"/>
                </a:solidFill>
                <a:uFillTx/>
                <a:latin typeface="Times New Roman" panose="02020603050405020304" pitchFamily="18" charset="0"/>
                <a:ea typeface="宋体" panose="02010600030101010101" pitchFamily="2" charset="-122"/>
              </a:rPr>
              <a:t>优先遍历流程（回溯如何实现？）</a:t>
            </a:r>
            <a:endParaRPr lang="zh-CN" altLang="en-US" sz="2000" kern="0" smtClean="0">
              <a:solidFill>
                <a:schemeClr val="tx2"/>
              </a:solidFill>
              <a:uFillTx/>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8</a:t>
            </a:r>
            <a:endParaRPr lang="zh-CN" altLang="en-US">
              <a:solidFill>
                <a:schemeClr val="bg2">
                  <a:lumMod val="25000"/>
                  <a:lumOff val="75000"/>
                </a:schemeClr>
              </a:solidFill>
            </a:endParaRPr>
          </a:p>
        </p:txBody>
      </p:sp>
      <p:sp>
        <p:nvSpPr>
          <p:cNvPr id="41" name="Rectangle 2"/>
          <p:cNvSpPr txBox="1">
            <a:spLocks noChangeArrowheads="1"/>
          </p:cNvSpPr>
          <p:nvPr/>
        </p:nvSpPr>
        <p:spPr bwMode="auto">
          <a:xfrm>
            <a:off x="323215" y="1450975"/>
            <a:ext cx="441134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2000" kern="0">
                <a:solidFill>
                  <a:schemeClr val="tx2"/>
                </a:solidFill>
                <a:uFillTx/>
                <a:latin typeface="Times New Roman" panose="02020603050405020304" pitchFamily="18" charset="0"/>
                <a:ea typeface="宋体" panose="02010600030101010101" pitchFamily="2" charset="-122"/>
              </a:rPr>
              <a:t>深度</a:t>
            </a:r>
            <a:r>
              <a:rPr lang="zh-CN" altLang="en-US" sz="2000" kern="0" smtClean="0">
                <a:solidFill>
                  <a:schemeClr val="tx2"/>
                </a:solidFill>
                <a:uFillTx/>
                <a:latin typeface="Times New Roman" panose="02020603050405020304" pitchFamily="18" charset="0"/>
                <a:ea typeface="宋体" panose="02010600030101010101" pitchFamily="2" charset="-122"/>
              </a:rPr>
              <a:t>优先遍历流程（回溯如何实现？）</a:t>
            </a:r>
            <a:endParaRPr lang="zh-CN" altLang="en-US" sz="2000" kern="0" smtClean="0">
              <a:solidFill>
                <a:schemeClr val="tx2"/>
              </a:solidFill>
              <a:uFillTx/>
              <a:latin typeface="Times New Roman" panose="02020603050405020304" pitchFamily="18" charset="0"/>
              <a:ea typeface="宋体" panose="02010600030101010101" pitchFamily="2" charset="-122"/>
            </a:endParaRPr>
          </a:p>
        </p:txBody>
      </p:sp>
      <p:sp>
        <p:nvSpPr>
          <p:cNvPr id="14" name="文本框 13"/>
          <p:cNvSpPr txBox="1"/>
          <p:nvPr/>
        </p:nvSpPr>
        <p:spPr>
          <a:xfrm>
            <a:off x="755650" y="5513388"/>
            <a:ext cx="2808288" cy="368300"/>
          </a:xfrm>
          <a:prstGeom prst="rect">
            <a:avLst/>
          </a:prstGeom>
          <a:noFill/>
        </p:spPr>
        <p:txBody>
          <a:bodyPr>
            <a:spAutoFit/>
          </a:bodyPr>
          <a:lstStyle/>
          <a:p>
            <a:pPr>
              <a:defRPr/>
            </a:pPr>
            <a:r>
              <a:rPr lang="zh-CN" altLang="en-US">
                <a:solidFill>
                  <a:schemeClr val="tx2"/>
                </a:solidFill>
                <a:uFillTx/>
                <a:latin typeface="Times New Roman" panose="02020603050405020304" pitchFamily="18" charset="0"/>
              </a:rPr>
              <a:t>记录访问结果：</a:t>
            </a:r>
            <a:r>
              <a:rPr lang="en-US" altLang="zh-CN">
                <a:solidFill>
                  <a:schemeClr val="tx2"/>
                </a:solidFill>
                <a:uFillTx/>
                <a:latin typeface="Times New Roman" panose="02020603050405020304" pitchFamily="18" charset="0"/>
              </a:rPr>
              <a:t>A B E </a:t>
            </a:r>
            <a:endParaRPr lang="en-US" altLang="zh-CN">
              <a:solidFill>
                <a:schemeClr val="tx2"/>
              </a:solidFill>
              <a:uFillTx/>
              <a:latin typeface="Times New Roman" panose="02020603050405020304" pitchFamily="18" charset="0"/>
            </a:endParaRPr>
          </a:p>
        </p:txBody>
      </p:sp>
      <p:sp>
        <p:nvSpPr>
          <p:cNvPr id="18437" name="右箭头 9"/>
          <p:cNvSpPr>
            <a:spLocks noChangeArrowheads="1"/>
          </p:cNvSpPr>
          <p:nvPr/>
        </p:nvSpPr>
        <p:spPr bwMode="auto">
          <a:xfrm>
            <a:off x="4597400" y="4105275"/>
            <a:ext cx="854075" cy="323850"/>
          </a:xfrm>
          <a:prstGeom prst="rightArrow">
            <a:avLst>
              <a:gd name="adj1" fmla="val 50000"/>
              <a:gd name="adj2" fmla="val 50181"/>
            </a:avLst>
          </a:prstGeom>
          <a:solidFill>
            <a:schemeClr val="accent1"/>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18" name="文本框 17"/>
          <p:cNvSpPr txBox="1"/>
          <p:nvPr/>
        </p:nvSpPr>
        <p:spPr>
          <a:xfrm>
            <a:off x="4597400" y="3770313"/>
            <a:ext cx="2154238" cy="368300"/>
          </a:xfrm>
          <a:prstGeom prst="rect">
            <a:avLst/>
          </a:prstGeom>
          <a:noFill/>
        </p:spPr>
        <p:txBody>
          <a:bodyPr>
            <a:spAutoFit/>
          </a:bodyPr>
          <a:lstStyle/>
          <a:p>
            <a:pPr>
              <a:defRPr/>
            </a:pPr>
            <a:r>
              <a:rPr lang="zh-CN" altLang="en-US">
                <a:solidFill>
                  <a:schemeClr val="tx2"/>
                </a:solidFill>
                <a:uFillTx/>
                <a:latin typeface="Times New Roman" panose="02020603050405020304" pitchFamily="18" charset="0"/>
              </a:rPr>
              <a:t>入栈</a:t>
            </a:r>
            <a:r>
              <a:rPr lang="en-US" altLang="zh-CN">
                <a:solidFill>
                  <a:schemeClr val="tx2"/>
                </a:solidFill>
                <a:uFillTx/>
                <a:latin typeface="Times New Roman" panose="02020603050405020304" pitchFamily="18" charset="0"/>
              </a:rPr>
              <a:t>E</a:t>
            </a:r>
            <a:endParaRPr lang="en-US" altLang="zh-CN">
              <a:solidFill>
                <a:schemeClr val="tx2"/>
              </a:solidFill>
              <a:uFillTx/>
              <a:latin typeface="Times New Roman" panose="02020603050405020304" pitchFamily="18" charset="0"/>
            </a:endParaRPr>
          </a:p>
        </p:txBody>
      </p:sp>
      <p:pic>
        <p:nvPicPr>
          <p:cNvPr id="18439"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77825" y="2960688"/>
            <a:ext cx="3954463"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0"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32513" y="2673350"/>
            <a:ext cx="1533525"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09825"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9</a:t>
            </a:r>
            <a:endParaRPr lang="zh-CN" altLang="en-US">
              <a:solidFill>
                <a:schemeClr val="bg2">
                  <a:lumMod val="25000"/>
                  <a:lumOff val="75000"/>
                </a:schemeClr>
              </a:solidFill>
            </a:endParaRPr>
          </a:p>
        </p:txBody>
      </p:sp>
      <p:sp>
        <p:nvSpPr>
          <p:cNvPr id="14" name="文本框 13"/>
          <p:cNvSpPr txBox="1"/>
          <p:nvPr/>
        </p:nvSpPr>
        <p:spPr>
          <a:xfrm>
            <a:off x="1547178" y="4640580"/>
            <a:ext cx="2808287" cy="368300"/>
          </a:xfrm>
          <a:prstGeom prst="rect">
            <a:avLst/>
          </a:prstGeom>
          <a:noFill/>
        </p:spPr>
        <p:txBody>
          <a:bodyPr>
            <a:spAutoFit/>
          </a:bodyPr>
          <a:lstStyle/>
          <a:p>
            <a:pPr>
              <a:defRPr/>
            </a:pPr>
            <a:r>
              <a:rPr lang="zh-CN" altLang="en-US">
                <a:solidFill>
                  <a:schemeClr val="tx2"/>
                </a:solidFill>
                <a:uFillTx/>
                <a:latin typeface="Times New Roman" panose="02020603050405020304" pitchFamily="18" charset="0"/>
              </a:rPr>
              <a:t>访问结果：</a:t>
            </a:r>
            <a:r>
              <a:rPr lang="en-US" altLang="zh-CN">
                <a:solidFill>
                  <a:schemeClr val="tx2"/>
                </a:solidFill>
                <a:uFillTx/>
                <a:latin typeface="Times New Roman" panose="02020603050405020304" pitchFamily="18" charset="0"/>
              </a:rPr>
              <a:t>A B E G </a:t>
            </a:r>
            <a:endParaRPr lang="en-US" altLang="zh-CN">
              <a:solidFill>
                <a:schemeClr val="tx2"/>
              </a:solidFill>
              <a:uFillTx/>
              <a:latin typeface="Times New Roman" panose="02020603050405020304" pitchFamily="18" charset="0"/>
            </a:endParaRPr>
          </a:p>
        </p:txBody>
      </p:sp>
      <p:sp>
        <p:nvSpPr>
          <p:cNvPr id="20485" name="右箭头 9"/>
          <p:cNvSpPr>
            <a:spLocks noChangeArrowheads="1"/>
          </p:cNvSpPr>
          <p:nvPr/>
        </p:nvSpPr>
        <p:spPr bwMode="auto">
          <a:xfrm>
            <a:off x="4885690" y="3268980"/>
            <a:ext cx="854075" cy="323850"/>
          </a:xfrm>
          <a:prstGeom prst="rightArrow">
            <a:avLst>
              <a:gd name="adj1" fmla="val 50000"/>
              <a:gd name="adj2" fmla="val 50181"/>
            </a:avLst>
          </a:prstGeom>
          <a:solidFill>
            <a:schemeClr val="accent1"/>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18" name="文本框 17"/>
          <p:cNvSpPr txBox="1"/>
          <p:nvPr/>
        </p:nvSpPr>
        <p:spPr>
          <a:xfrm>
            <a:off x="4885690" y="2934018"/>
            <a:ext cx="2154238" cy="368300"/>
          </a:xfrm>
          <a:prstGeom prst="rect">
            <a:avLst/>
          </a:prstGeom>
          <a:noFill/>
        </p:spPr>
        <p:txBody>
          <a:bodyPr>
            <a:spAutoFit/>
          </a:bodyPr>
          <a:lstStyle/>
          <a:p>
            <a:pPr>
              <a:defRPr/>
            </a:pPr>
            <a:r>
              <a:rPr lang="zh-CN" altLang="en-US">
                <a:solidFill>
                  <a:schemeClr val="tx1"/>
                </a:solidFill>
                <a:uFillTx/>
                <a:latin typeface="Times New Roman" panose="02020603050405020304" pitchFamily="18" charset="0"/>
                <a:cs typeface="Times New Roman" panose="02020603050405020304" pitchFamily="18" charset="0"/>
              </a:rPr>
              <a:t>入栈</a:t>
            </a:r>
            <a:r>
              <a:rPr lang="en-US" altLang="zh-CN">
                <a:solidFill>
                  <a:schemeClr val="tx1"/>
                </a:solidFill>
                <a:uFillTx/>
                <a:latin typeface="Times New Roman" panose="02020603050405020304" pitchFamily="18" charset="0"/>
                <a:cs typeface="Times New Roman" panose="02020603050405020304" pitchFamily="18" charset="0"/>
              </a:rPr>
              <a:t>G</a:t>
            </a:r>
            <a:endParaRPr lang="en-US" altLang="zh-CN">
              <a:solidFill>
                <a:schemeClr val="tx1"/>
              </a:solidFill>
              <a:uFillTx/>
              <a:latin typeface="Times New Roman" panose="02020603050405020304" pitchFamily="18" charset="0"/>
              <a:cs typeface="Times New Roman" panose="02020603050405020304" pitchFamily="18" charset="0"/>
            </a:endParaRPr>
          </a:p>
        </p:txBody>
      </p:sp>
      <p:pic>
        <p:nvPicPr>
          <p:cNvPr id="20487"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91528" y="2087880"/>
            <a:ext cx="382905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8"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00153" y="1916430"/>
            <a:ext cx="1190625"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txBox="1">
            <a:spLocks noChangeArrowheads="1"/>
          </p:cNvSpPr>
          <p:nvPr/>
        </p:nvSpPr>
        <p:spPr bwMode="auto">
          <a:xfrm>
            <a:off x="323215" y="908685"/>
            <a:ext cx="441134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2000" kern="0">
                <a:solidFill>
                  <a:schemeClr val="tx2"/>
                </a:solidFill>
                <a:uFillTx/>
                <a:latin typeface="Times New Roman" panose="02020603050405020304" pitchFamily="18" charset="0"/>
                <a:ea typeface="宋体" panose="02010600030101010101" pitchFamily="2" charset="-122"/>
              </a:rPr>
              <a:t>深度</a:t>
            </a:r>
            <a:r>
              <a:rPr lang="zh-CN" altLang="en-US" sz="2000" kern="0" smtClean="0">
                <a:solidFill>
                  <a:schemeClr val="tx2"/>
                </a:solidFill>
                <a:uFillTx/>
                <a:latin typeface="Times New Roman" panose="02020603050405020304" pitchFamily="18" charset="0"/>
                <a:ea typeface="宋体" panose="02010600030101010101" pitchFamily="2" charset="-122"/>
              </a:rPr>
              <a:t>优先遍历流程（回溯如何实现？）</a:t>
            </a:r>
            <a:endParaRPr lang="zh-CN" altLang="en-US" sz="2000" kern="0" smtClean="0">
              <a:solidFill>
                <a:schemeClr val="tx2"/>
              </a:solidFill>
              <a:uFillTx/>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177347" y="1891485"/>
            <a:ext cx="1219200"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10</a:t>
            </a:r>
            <a:endParaRPr lang="zh-CN" altLang="en-US">
              <a:solidFill>
                <a:schemeClr val="bg2">
                  <a:lumMod val="25000"/>
                  <a:lumOff val="75000"/>
                </a:schemeClr>
              </a:solidFill>
            </a:endParaRPr>
          </a:p>
        </p:txBody>
      </p:sp>
      <p:sp>
        <p:nvSpPr>
          <p:cNvPr id="14" name="文本框 13"/>
          <p:cNvSpPr txBox="1"/>
          <p:nvPr/>
        </p:nvSpPr>
        <p:spPr>
          <a:xfrm>
            <a:off x="1321118" y="4563745"/>
            <a:ext cx="2808287" cy="368300"/>
          </a:xfrm>
          <a:prstGeom prst="rect">
            <a:avLst/>
          </a:prstGeom>
          <a:noFill/>
        </p:spPr>
        <p:txBody>
          <a:bodyPr>
            <a:spAutoFit/>
          </a:bodyPr>
          <a:lstStyle/>
          <a:p>
            <a:pPr>
              <a:defRPr/>
            </a:pPr>
            <a:r>
              <a:rPr lang="zh-CN" altLang="en-US">
                <a:solidFill>
                  <a:schemeClr val="tx2"/>
                </a:solidFill>
                <a:uFillTx/>
                <a:latin typeface="Times New Roman" panose="02020603050405020304" pitchFamily="18" charset="0"/>
              </a:rPr>
              <a:t>访问结果：</a:t>
            </a:r>
            <a:r>
              <a:rPr lang="en-US" altLang="zh-CN">
                <a:solidFill>
                  <a:schemeClr val="tx2"/>
                </a:solidFill>
                <a:uFillTx/>
                <a:latin typeface="Times New Roman" panose="02020603050405020304" pitchFamily="18" charset="0"/>
              </a:rPr>
              <a:t>A B E G </a:t>
            </a:r>
            <a:endParaRPr lang="en-US" altLang="zh-CN">
              <a:solidFill>
                <a:schemeClr val="tx2"/>
              </a:solidFill>
              <a:uFillTx/>
              <a:latin typeface="Times New Roman" panose="02020603050405020304" pitchFamily="18" charset="0"/>
            </a:endParaRPr>
          </a:p>
        </p:txBody>
      </p:sp>
      <p:sp>
        <p:nvSpPr>
          <p:cNvPr id="22534" name="右箭头 9"/>
          <p:cNvSpPr>
            <a:spLocks noChangeArrowheads="1"/>
          </p:cNvSpPr>
          <p:nvPr/>
        </p:nvSpPr>
        <p:spPr bwMode="auto">
          <a:xfrm>
            <a:off x="4461193" y="3173095"/>
            <a:ext cx="854075" cy="323850"/>
          </a:xfrm>
          <a:prstGeom prst="rightArrow">
            <a:avLst>
              <a:gd name="adj1" fmla="val 50000"/>
              <a:gd name="adj2" fmla="val 50181"/>
            </a:avLst>
          </a:prstGeom>
          <a:solidFill>
            <a:schemeClr val="accent1"/>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18" name="文本框 17"/>
          <p:cNvSpPr txBox="1"/>
          <p:nvPr/>
        </p:nvSpPr>
        <p:spPr>
          <a:xfrm>
            <a:off x="4353243" y="2803208"/>
            <a:ext cx="2152650" cy="368300"/>
          </a:xfrm>
          <a:prstGeom prst="rect">
            <a:avLst/>
          </a:prstGeom>
          <a:noFill/>
        </p:spPr>
        <p:txBody>
          <a:bodyPr>
            <a:spAutoFit/>
          </a:bodyPr>
          <a:lstStyle/>
          <a:p>
            <a:pPr>
              <a:defRPr/>
            </a:pPr>
            <a:r>
              <a:rPr lang="zh-CN" altLang="en-US">
                <a:solidFill>
                  <a:schemeClr val="tx2"/>
                </a:solidFill>
                <a:uFillTx/>
                <a:latin typeface="Times New Roman" panose="02020603050405020304" pitchFamily="18" charset="0"/>
              </a:rPr>
              <a:t>将</a:t>
            </a:r>
            <a:r>
              <a:rPr lang="en-US" altLang="zh-CN">
                <a:solidFill>
                  <a:schemeClr val="tx2"/>
                </a:solidFill>
                <a:uFillTx/>
                <a:latin typeface="Times New Roman" panose="02020603050405020304" pitchFamily="18" charset="0"/>
              </a:rPr>
              <a:t>E</a:t>
            </a:r>
            <a:r>
              <a:rPr lang="zh-CN" altLang="en-US">
                <a:solidFill>
                  <a:schemeClr val="tx2"/>
                </a:solidFill>
                <a:uFillTx/>
                <a:latin typeface="Times New Roman" panose="02020603050405020304" pitchFamily="18" charset="0"/>
              </a:rPr>
              <a:t>、</a:t>
            </a:r>
            <a:r>
              <a:rPr lang="en-US" altLang="zh-CN">
                <a:solidFill>
                  <a:schemeClr val="tx2"/>
                </a:solidFill>
                <a:uFillTx/>
                <a:latin typeface="Times New Roman" panose="02020603050405020304" pitchFamily="18" charset="0"/>
              </a:rPr>
              <a:t>G</a:t>
            </a:r>
            <a:r>
              <a:rPr lang="zh-CN" altLang="en-US">
                <a:solidFill>
                  <a:schemeClr val="tx2"/>
                </a:solidFill>
                <a:uFillTx/>
                <a:latin typeface="Times New Roman" panose="02020603050405020304" pitchFamily="18" charset="0"/>
              </a:rPr>
              <a:t>出栈</a:t>
            </a:r>
            <a:endParaRPr lang="zh-CN" altLang="en-US">
              <a:solidFill>
                <a:schemeClr val="tx2"/>
              </a:solidFill>
              <a:uFillTx/>
              <a:latin typeface="Times New Roman" panose="02020603050405020304" pitchFamily="18" charset="0"/>
            </a:endParaRPr>
          </a:p>
        </p:txBody>
      </p:sp>
      <p:pic>
        <p:nvPicPr>
          <p:cNvPr id="2253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5468" y="2011045"/>
            <a:ext cx="382905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7"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35909" y="1843860"/>
            <a:ext cx="1190625"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6232784" y="1699397"/>
            <a:ext cx="793750" cy="368300"/>
          </a:xfrm>
          <a:prstGeom prst="rect">
            <a:avLst/>
          </a:prstGeom>
          <a:noFill/>
        </p:spPr>
        <p:txBody>
          <a:bodyPr>
            <a:spAutoFit/>
          </a:bodyPr>
          <a:lstStyle/>
          <a:p>
            <a:pPr>
              <a:defRPr/>
            </a:pPr>
            <a:r>
              <a:rPr lang="zh-CN" altLang="en-US">
                <a:solidFill>
                  <a:srgbClr val="FF0000"/>
                </a:solidFill>
                <a:latin typeface="+mj-ea"/>
                <a:ea typeface="+mj-ea"/>
              </a:rPr>
              <a:t>①</a:t>
            </a:r>
            <a:endParaRPr lang="zh-CN" altLang="en-US">
              <a:solidFill>
                <a:srgbClr val="FF0000"/>
              </a:solidFill>
              <a:latin typeface="+mj-ea"/>
              <a:ea typeface="+mj-ea"/>
            </a:endParaRPr>
          </a:p>
        </p:txBody>
      </p:sp>
      <p:sp>
        <p:nvSpPr>
          <p:cNvPr id="11" name="文本框 10"/>
          <p:cNvSpPr txBox="1"/>
          <p:nvPr/>
        </p:nvSpPr>
        <p:spPr>
          <a:xfrm>
            <a:off x="7596447" y="1659710"/>
            <a:ext cx="793750" cy="369887"/>
          </a:xfrm>
          <a:prstGeom prst="rect">
            <a:avLst/>
          </a:prstGeom>
          <a:noFill/>
        </p:spPr>
        <p:txBody>
          <a:bodyPr>
            <a:spAutoFit/>
          </a:bodyPr>
          <a:lstStyle/>
          <a:p>
            <a:pPr>
              <a:defRPr/>
            </a:pPr>
            <a:r>
              <a:rPr lang="zh-CN" altLang="en-US">
                <a:solidFill>
                  <a:srgbClr val="FF0000"/>
                </a:solidFill>
                <a:latin typeface="+mj-ea"/>
                <a:ea typeface="+mj-ea"/>
              </a:rPr>
              <a:t>②</a:t>
            </a:r>
            <a:endParaRPr lang="zh-CN" altLang="en-US">
              <a:solidFill>
                <a:srgbClr val="FF0000"/>
              </a:solidFill>
              <a:latin typeface="+mj-ea"/>
              <a:ea typeface="+mj-ea"/>
            </a:endParaRPr>
          </a:p>
        </p:txBody>
      </p:sp>
      <p:sp>
        <p:nvSpPr>
          <p:cNvPr id="2" name="Rectangle 2"/>
          <p:cNvSpPr txBox="1">
            <a:spLocks noChangeArrowheads="1"/>
          </p:cNvSpPr>
          <p:nvPr/>
        </p:nvSpPr>
        <p:spPr bwMode="auto">
          <a:xfrm>
            <a:off x="323215" y="908685"/>
            <a:ext cx="441134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2000" kern="0">
                <a:solidFill>
                  <a:schemeClr val="tx2"/>
                </a:solidFill>
                <a:uFillTx/>
                <a:latin typeface="Times New Roman" panose="02020603050405020304" pitchFamily="18" charset="0"/>
                <a:ea typeface="宋体" panose="02010600030101010101" pitchFamily="2" charset="-122"/>
              </a:rPr>
              <a:t>深度</a:t>
            </a:r>
            <a:r>
              <a:rPr lang="zh-CN" altLang="en-US" sz="2000" kern="0" smtClean="0">
                <a:solidFill>
                  <a:schemeClr val="tx2"/>
                </a:solidFill>
                <a:uFillTx/>
                <a:latin typeface="Times New Roman" panose="02020603050405020304" pitchFamily="18" charset="0"/>
                <a:ea typeface="宋体" panose="02010600030101010101" pitchFamily="2" charset="-122"/>
              </a:rPr>
              <a:t>优先遍历流程（回溯如何实现？）</a:t>
            </a:r>
            <a:endParaRPr lang="zh-CN" altLang="en-US" sz="2000" kern="0" smtClean="0">
              <a:solidFill>
                <a:schemeClr val="tx2"/>
              </a:solidFill>
              <a:uFillTx/>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11</a:t>
            </a:r>
            <a:endParaRPr lang="zh-CN" altLang="en-US">
              <a:solidFill>
                <a:schemeClr val="bg2">
                  <a:lumMod val="25000"/>
                  <a:lumOff val="75000"/>
                </a:schemeClr>
              </a:solidFill>
            </a:endParaRPr>
          </a:p>
        </p:txBody>
      </p:sp>
      <p:sp>
        <p:nvSpPr>
          <p:cNvPr id="14" name="文本框 13"/>
          <p:cNvSpPr txBox="1"/>
          <p:nvPr/>
        </p:nvSpPr>
        <p:spPr>
          <a:xfrm>
            <a:off x="1232218" y="4551680"/>
            <a:ext cx="2808287" cy="369888"/>
          </a:xfrm>
          <a:prstGeom prst="rect">
            <a:avLst/>
          </a:prstGeom>
          <a:noFill/>
        </p:spPr>
        <p:txBody>
          <a:bodyPr>
            <a:spAutoFit/>
          </a:bodyPr>
          <a:lstStyle/>
          <a:p>
            <a:pPr>
              <a:defRPr/>
            </a:pPr>
            <a:r>
              <a:rPr lang="zh-CN" altLang="en-US">
                <a:solidFill>
                  <a:srgbClr val="000066"/>
                </a:solidFill>
                <a:latin typeface="+mj-ea"/>
                <a:ea typeface="+mj-ea"/>
              </a:rPr>
              <a:t>访问结果：</a:t>
            </a:r>
            <a:r>
              <a:rPr lang="en-US" altLang="zh-CN">
                <a:solidFill>
                  <a:srgbClr val="000066"/>
                </a:solidFill>
                <a:latin typeface="+mj-ea"/>
                <a:ea typeface="+mj-ea"/>
              </a:rPr>
              <a:t>A B E G F </a:t>
            </a:r>
            <a:endParaRPr lang="zh-CN" altLang="en-US">
              <a:solidFill>
                <a:srgbClr val="000066"/>
              </a:solidFill>
              <a:latin typeface="+mj-ea"/>
              <a:ea typeface="+mj-ea"/>
            </a:endParaRPr>
          </a:p>
        </p:txBody>
      </p:sp>
      <p:sp>
        <p:nvSpPr>
          <p:cNvPr id="24581" name="右箭头 9"/>
          <p:cNvSpPr>
            <a:spLocks noChangeArrowheads="1"/>
          </p:cNvSpPr>
          <p:nvPr/>
        </p:nvSpPr>
        <p:spPr bwMode="auto">
          <a:xfrm>
            <a:off x="4372293" y="3161030"/>
            <a:ext cx="854075" cy="323850"/>
          </a:xfrm>
          <a:prstGeom prst="rightArrow">
            <a:avLst>
              <a:gd name="adj1" fmla="val 50000"/>
              <a:gd name="adj2" fmla="val 50181"/>
            </a:avLst>
          </a:prstGeom>
          <a:solidFill>
            <a:schemeClr val="accent1"/>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18" name="文本框 17"/>
          <p:cNvSpPr txBox="1"/>
          <p:nvPr/>
        </p:nvSpPr>
        <p:spPr>
          <a:xfrm>
            <a:off x="4264343" y="2791143"/>
            <a:ext cx="1289050" cy="369887"/>
          </a:xfrm>
          <a:prstGeom prst="rect">
            <a:avLst/>
          </a:prstGeom>
          <a:noFill/>
        </p:spPr>
        <p:txBody>
          <a:bodyPr>
            <a:spAutoFit/>
          </a:bodyPr>
          <a:lstStyle/>
          <a:p>
            <a:pPr>
              <a:defRPr/>
            </a:pPr>
            <a:r>
              <a:rPr lang="zh-CN" altLang="en-US">
                <a:solidFill>
                  <a:srgbClr val="000066"/>
                </a:solidFill>
                <a:latin typeface="+mj-ea"/>
                <a:ea typeface="+mj-ea"/>
              </a:rPr>
              <a:t>入栈</a:t>
            </a:r>
            <a:r>
              <a:rPr lang="en-US" altLang="zh-CN">
                <a:solidFill>
                  <a:srgbClr val="000066"/>
                </a:solidFill>
                <a:latin typeface="+mj-ea"/>
                <a:ea typeface="+mj-ea"/>
              </a:rPr>
              <a:t>F</a:t>
            </a:r>
            <a:endParaRPr lang="zh-CN" altLang="en-US">
              <a:solidFill>
                <a:srgbClr val="000066"/>
              </a:solidFill>
              <a:latin typeface="+mj-ea"/>
              <a:ea typeface="+mj-ea"/>
            </a:endParaRPr>
          </a:p>
        </p:txBody>
      </p:sp>
      <p:pic>
        <p:nvPicPr>
          <p:cNvPr id="24583"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16280" y="2225993"/>
            <a:ext cx="3324225" cy="219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4"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09155" y="1484630"/>
            <a:ext cx="1181100"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5"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53393" y="1675130"/>
            <a:ext cx="1219200"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5978843" y="1492568"/>
            <a:ext cx="793750" cy="368300"/>
          </a:xfrm>
          <a:prstGeom prst="rect">
            <a:avLst/>
          </a:prstGeom>
          <a:noFill/>
        </p:spPr>
        <p:txBody>
          <a:bodyPr>
            <a:spAutoFit/>
          </a:bodyPr>
          <a:lstStyle/>
          <a:p>
            <a:pPr>
              <a:defRPr/>
            </a:pPr>
            <a:r>
              <a:rPr lang="zh-CN" altLang="en-US">
                <a:solidFill>
                  <a:srgbClr val="FF0000"/>
                </a:solidFill>
                <a:latin typeface="+mj-ea"/>
                <a:ea typeface="+mj-ea"/>
              </a:rPr>
              <a:t>①</a:t>
            </a:r>
            <a:endParaRPr lang="zh-CN" altLang="en-US">
              <a:solidFill>
                <a:srgbClr val="FF0000"/>
              </a:solidFill>
              <a:latin typeface="+mj-ea"/>
              <a:ea typeface="+mj-ea"/>
            </a:endParaRPr>
          </a:p>
        </p:txBody>
      </p:sp>
      <p:sp>
        <p:nvSpPr>
          <p:cNvPr id="11" name="文本框 10"/>
          <p:cNvSpPr txBox="1"/>
          <p:nvPr/>
        </p:nvSpPr>
        <p:spPr>
          <a:xfrm>
            <a:off x="7569518" y="1490980"/>
            <a:ext cx="793750" cy="369888"/>
          </a:xfrm>
          <a:prstGeom prst="rect">
            <a:avLst/>
          </a:prstGeom>
          <a:noFill/>
        </p:spPr>
        <p:txBody>
          <a:bodyPr>
            <a:spAutoFit/>
          </a:bodyPr>
          <a:lstStyle/>
          <a:p>
            <a:pPr>
              <a:defRPr/>
            </a:pPr>
            <a:r>
              <a:rPr lang="zh-CN" altLang="en-US">
                <a:solidFill>
                  <a:srgbClr val="FF0000"/>
                </a:solidFill>
                <a:latin typeface="+mj-ea"/>
                <a:ea typeface="+mj-ea"/>
              </a:rPr>
              <a:t>②</a:t>
            </a:r>
            <a:endParaRPr lang="zh-CN" altLang="en-US">
              <a:solidFill>
                <a:srgbClr val="FF0000"/>
              </a:solidFill>
              <a:latin typeface="+mj-ea"/>
              <a:ea typeface="+mj-ea"/>
            </a:endParaRPr>
          </a:p>
        </p:txBody>
      </p:sp>
      <p:sp>
        <p:nvSpPr>
          <p:cNvPr id="2" name="Rectangle 2"/>
          <p:cNvSpPr txBox="1">
            <a:spLocks noChangeArrowheads="1"/>
          </p:cNvSpPr>
          <p:nvPr/>
        </p:nvSpPr>
        <p:spPr bwMode="auto">
          <a:xfrm>
            <a:off x="323215" y="908685"/>
            <a:ext cx="441134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2000" kern="0">
                <a:solidFill>
                  <a:schemeClr val="tx2"/>
                </a:solidFill>
                <a:uFillTx/>
                <a:latin typeface="Times New Roman" panose="02020603050405020304" pitchFamily="18" charset="0"/>
                <a:ea typeface="宋体" panose="02010600030101010101" pitchFamily="2" charset="-122"/>
              </a:rPr>
              <a:t>深度</a:t>
            </a:r>
            <a:r>
              <a:rPr lang="zh-CN" altLang="en-US" sz="2000" kern="0" smtClean="0">
                <a:solidFill>
                  <a:schemeClr val="tx2"/>
                </a:solidFill>
                <a:uFillTx/>
                <a:latin typeface="Times New Roman" panose="02020603050405020304" pitchFamily="18" charset="0"/>
                <a:ea typeface="宋体" panose="02010600030101010101" pitchFamily="2" charset="-122"/>
              </a:rPr>
              <a:t>优先遍历流程（回溯如何实现？）</a:t>
            </a:r>
            <a:endParaRPr lang="zh-CN" altLang="en-US" sz="2000" kern="0" smtClean="0">
              <a:solidFill>
                <a:schemeClr val="tx2"/>
              </a:solidFill>
              <a:uFillTx/>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12</a:t>
            </a:r>
            <a:endParaRPr lang="zh-CN" altLang="en-US">
              <a:solidFill>
                <a:schemeClr val="bg2">
                  <a:lumMod val="25000"/>
                  <a:lumOff val="75000"/>
                </a:schemeClr>
              </a:solidFill>
            </a:endParaRPr>
          </a:p>
        </p:txBody>
      </p:sp>
      <p:sp>
        <p:nvSpPr>
          <p:cNvPr id="14" name="文本框 13"/>
          <p:cNvSpPr txBox="1"/>
          <p:nvPr/>
        </p:nvSpPr>
        <p:spPr>
          <a:xfrm>
            <a:off x="1618298" y="4396105"/>
            <a:ext cx="3140075" cy="368300"/>
          </a:xfrm>
          <a:prstGeom prst="rect">
            <a:avLst/>
          </a:prstGeom>
          <a:noFill/>
        </p:spPr>
        <p:txBody>
          <a:bodyPr>
            <a:spAutoFit/>
          </a:bodyPr>
          <a:lstStyle/>
          <a:p>
            <a:pPr>
              <a:defRPr/>
            </a:pPr>
            <a:r>
              <a:rPr lang="zh-CN" altLang="en-US">
                <a:solidFill>
                  <a:schemeClr val="tx2"/>
                </a:solidFill>
                <a:uFillTx/>
                <a:latin typeface="Times New Roman" panose="02020603050405020304" pitchFamily="18" charset="0"/>
              </a:rPr>
              <a:t>访问结果：</a:t>
            </a:r>
            <a:r>
              <a:rPr lang="en-US" altLang="zh-CN">
                <a:solidFill>
                  <a:schemeClr val="tx2"/>
                </a:solidFill>
                <a:uFillTx/>
                <a:latin typeface="Times New Roman" panose="02020603050405020304" pitchFamily="18" charset="0"/>
              </a:rPr>
              <a:t>A B E G F C H </a:t>
            </a:r>
            <a:endParaRPr lang="en-US" altLang="zh-CN">
              <a:solidFill>
                <a:schemeClr val="tx2"/>
              </a:solidFill>
              <a:uFillTx/>
              <a:latin typeface="Times New Roman" panose="02020603050405020304" pitchFamily="18" charset="0"/>
            </a:endParaRPr>
          </a:p>
        </p:txBody>
      </p:sp>
      <p:sp>
        <p:nvSpPr>
          <p:cNvPr id="26629" name="右箭头 9"/>
          <p:cNvSpPr>
            <a:spLocks noChangeArrowheads="1"/>
          </p:cNvSpPr>
          <p:nvPr/>
        </p:nvSpPr>
        <p:spPr bwMode="auto">
          <a:xfrm>
            <a:off x="4758373" y="3005455"/>
            <a:ext cx="854075" cy="323850"/>
          </a:xfrm>
          <a:prstGeom prst="rightArrow">
            <a:avLst>
              <a:gd name="adj1" fmla="val 50000"/>
              <a:gd name="adj2" fmla="val 50181"/>
            </a:avLst>
          </a:prstGeom>
          <a:solidFill>
            <a:schemeClr val="accent1"/>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18" name="文本框 17"/>
          <p:cNvSpPr txBox="1"/>
          <p:nvPr/>
        </p:nvSpPr>
        <p:spPr>
          <a:xfrm>
            <a:off x="4650423" y="2635568"/>
            <a:ext cx="1289050" cy="368300"/>
          </a:xfrm>
          <a:prstGeom prst="rect">
            <a:avLst/>
          </a:prstGeom>
          <a:noFill/>
        </p:spPr>
        <p:txBody>
          <a:bodyPr>
            <a:spAutoFit/>
          </a:bodyPr>
          <a:lstStyle/>
          <a:p>
            <a:pPr>
              <a:defRPr/>
            </a:pPr>
            <a:r>
              <a:rPr lang="zh-CN" altLang="en-US">
                <a:solidFill>
                  <a:schemeClr val="tx2"/>
                </a:solidFill>
                <a:uFillTx/>
                <a:latin typeface="Times New Roman" panose="02020603050405020304" pitchFamily="18" charset="0"/>
              </a:rPr>
              <a:t>入栈</a:t>
            </a:r>
            <a:r>
              <a:rPr lang="en-US" altLang="zh-CN">
                <a:solidFill>
                  <a:schemeClr val="tx2"/>
                </a:solidFill>
                <a:uFillTx/>
                <a:latin typeface="Times New Roman" panose="02020603050405020304" pitchFamily="18" charset="0"/>
              </a:rPr>
              <a:t>C</a:t>
            </a:r>
            <a:r>
              <a:rPr lang="zh-CN" altLang="en-US">
                <a:solidFill>
                  <a:schemeClr val="tx2"/>
                </a:solidFill>
                <a:uFillTx/>
                <a:latin typeface="Times New Roman" panose="02020603050405020304" pitchFamily="18" charset="0"/>
              </a:rPr>
              <a:t>、</a:t>
            </a:r>
            <a:r>
              <a:rPr lang="en-US" altLang="zh-CN">
                <a:solidFill>
                  <a:schemeClr val="tx2"/>
                </a:solidFill>
                <a:uFillTx/>
                <a:latin typeface="Times New Roman" panose="02020603050405020304" pitchFamily="18" charset="0"/>
              </a:rPr>
              <a:t>H</a:t>
            </a:r>
            <a:endParaRPr lang="en-US" altLang="zh-CN">
              <a:solidFill>
                <a:schemeClr val="tx2"/>
              </a:solidFill>
              <a:uFillTx/>
              <a:latin typeface="Times New Roman" panose="02020603050405020304" pitchFamily="18" charset="0"/>
            </a:endParaRPr>
          </a:p>
        </p:txBody>
      </p:sp>
      <p:pic>
        <p:nvPicPr>
          <p:cNvPr id="26631"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969010" y="1984693"/>
            <a:ext cx="3646488" cy="236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2"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99835" y="1916430"/>
            <a:ext cx="1323975"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txBox="1">
            <a:spLocks noChangeArrowheads="1"/>
          </p:cNvSpPr>
          <p:nvPr/>
        </p:nvSpPr>
        <p:spPr bwMode="auto">
          <a:xfrm>
            <a:off x="323215" y="908685"/>
            <a:ext cx="441134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2000" kern="0">
                <a:solidFill>
                  <a:schemeClr val="tx2"/>
                </a:solidFill>
                <a:uFillTx/>
                <a:latin typeface="Times New Roman" panose="02020603050405020304" pitchFamily="18" charset="0"/>
                <a:ea typeface="宋体" panose="02010600030101010101" pitchFamily="2" charset="-122"/>
              </a:rPr>
              <a:t>深度</a:t>
            </a:r>
            <a:r>
              <a:rPr lang="zh-CN" altLang="en-US" sz="2000" kern="0" smtClean="0">
                <a:solidFill>
                  <a:schemeClr val="tx2"/>
                </a:solidFill>
                <a:uFillTx/>
                <a:latin typeface="Times New Roman" panose="02020603050405020304" pitchFamily="18" charset="0"/>
                <a:ea typeface="宋体" panose="02010600030101010101" pitchFamily="2" charset="-122"/>
              </a:rPr>
              <a:t>优先遍历流程（回溯如何实现？）</a:t>
            </a:r>
            <a:endParaRPr lang="zh-CN" altLang="en-US" sz="2000" kern="0" smtClean="0">
              <a:solidFill>
                <a:schemeClr val="tx2"/>
              </a:solidFill>
              <a:uFillTx/>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900228" y="1884363"/>
            <a:ext cx="1333500"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13</a:t>
            </a:r>
            <a:endParaRPr lang="zh-CN" altLang="en-US">
              <a:solidFill>
                <a:schemeClr val="bg2">
                  <a:lumMod val="25000"/>
                  <a:lumOff val="75000"/>
                </a:schemeClr>
              </a:solidFill>
            </a:endParaRPr>
          </a:p>
        </p:txBody>
      </p:sp>
      <p:sp>
        <p:nvSpPr>
          <p:cNvPr id="14" name="文本框 13"/>
          <p:cNvSpPr txBox="1"/>
          <p:nvPr/>
        </p:nvSpPr>
        <p:spPr>
          <a:xfrm>
            <a:off x="1221423" y="4537075"/>
            <a:ext cx="3140075" cy="368300"/>
          </a:xfrm>
          <a:prstGeom prst="rect">
            <a:avLst/>
          </a:prstGeom>
          <a:noFill/>
        </p:spPr>
        <p:txBody>
          <a:bodyPr>
            <a:spAutoFit/>
          </a:bodyPr>
          <a:lstStyle/>
          <a:p>
            <a:pPr>
              <a:defRPr/>
            </a:pPr>
            <a:r>
              <a:rPr lang="zh-CN" altLang="en-US">
                <a:solidFill>
                  <a:schemeClr val="tx2"/>
                </a:solidFill>
                <a:uFillTx/>
                <a:latin typeface="Times New Roman" panose="02020603050405020304" pitchFamily="18" charset="0"/>
              </a:rPr>
              <a:t>访问结果：</a:t>
            </a:r>
            <a:r>
              <a:rPr lang="en-US" altLang="zh-CN">
                <a:solidFill>
                  <a:schemeClr val="tx2"/>
                </a:solidFill>
                <a:uFillTx/>
                <a:latin typeface="Times New Roman" panose="02020603050405020304" pitchFamily="18" charset="0"/>
              </a:rPr>
              <a:t>A B E G F C H </a:t>
            </a:r>
            <a:endParaRPr lang="en-US" altLang="zh-CN">
              <a:solidFill>
                <a:schemeClr val="tx2"/>
              </a:solidFill>
              <a:uFillTx/>
              <a:latin typeface="Times New Roman" panose="02020603050405020304" pitchFamily="18" charset="0"/>
            </a:endParaRPr>
          </a:p>
        </p:txBody>
      </p:sp>
      <p:sp>
        <p:nvSpPr>
          <p:cNvPr id="28678" name="右箭头 9"/>
          <p:cNvSpPr>
            <a:spLocks noChangeArrowheads="1"/>
          </p:cNvSpPr>
          <p:nvPr/>
        </p:nvSpPr>
        <p:spPr bwMode="auto">
          <a:xfrm>
            <a:off x="4361498" y="3146425"/>
            <a:ext cx="854075" cy="323850"/>
          </a:xfrm>
          <a:prstGeom prst="rightArrow">
            <a:avLst>
              <a:gd name="adj1" fmla="val 50000"/>
              <a:gd name="adj2" fmla="val 50181"/>
            </a:avLst>
          </a:prstGeom>
          <a:solidFill>
            <a:schemeClr val="accent1"/>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18" name="文本框 17"/>
          <p:cNvSpPr txBox="1"/>
          <p:nvPr/>
        </p:nvSpPr>
        <p:spPr>
          <a:xfrm>
            <a:off x="4253548" y="2776538"/>
            <a:ext cx="1289050" cy="368300"/>
          </a:xfrm>
          <a:prstGeom prst="rect">
            <a:avLst/>
          </a:prstGeom>
          <a:noFill/>
        </p:spPr>
        <p:txBody>
          <a:bodyPr>
            <a:spAutoFit/>
          </a:bodyPr>
          <a:lstStyle/>
          <a:p>
            <a:pPr>
              <a:defRPr/>
            </a:pPr>
            <a:r>
              <a:rPr lang="zh-CN" altLang="en-US">
                <a:solidFill>
                  <a:schemeClr val="tx2"/>
                </a:solidFill>
                <a:uFillTx/>
                <a:latin typeface="Times New Roman" panose="02020603050405020304" pitchFamily="18" charset="0"/>
              </a:rPr>
              <a:t>出栈</a:t>
            </a:r>
            <a:r>
              <a:rPr lang="en-US" altLang="zh-CN">
                <a:solidFill>
                  <a:schemeClr val="tx2"/>
                </a:solidFill>
                <a:uFillTx/>
                <a:latin typeface="Times New Roman" panose="02020603050405020304" pitchFamily="18" charset="0"/>
              </a:rPr>
              <a:t>C</a:t>
            </a:r>
            <a:r>
              <a:rPr lang="zh-CN" altLang="en-US">
                <a:solidFill>
                  <a:schemeClr val="tx2"/>
                </a:solidFill>
                <a:uFillTx/>
                <a:latin typeface="Times New Roman" panose="02020603050405020304" pitchFamily="18" charset="0"/>
              </a:rPr>
              <a:t>、</a:t>
            </a:r>
            <a:r>
              <a:rPr lang="en-US" altLang="zh-CN">
                <a:solidFill>
                  <a:schemeClr val="tx2"/>
                </a:solidFill>
                <a:uFillTx/>
                <a:latin typeface="Times New Roman" panose="02020603050405020304" pitchFamily="18" charset="0"/>
              </a:rPr>
              <a:t>H</a:t>
            </a:r>
            <a:endParaRPr lang="en-US" altLang="zh-CN">
              <a:solidFill>
                <a:schemeClr val="tx2"/>
              </a:solidFill>
              <a:uFillTx/>
              <a:latin typeface="Times New Roman" panose="02020603050405020304" pitchFamily="18" charset="0"/>
            </a:endParaRPr>
          </a:p>
        </p:txBody>
      </p:sp>
      <p:pic>
        <p:nvPicPr>
          <p:cNvPr id="28680"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2135" y="2125663"/>
            <a:ext cx="3646488" cy="236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1"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15928" y="1955800"/>
            <a:ext cx="1323975"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6014403" y="1738313"/>
            <a:ext cx="793750" cy="369887"/>
          </a:xfrm>
          <a:prstGeom prst="rect">
            <a:avLst/>
          </a:prstGeom>
          <a:noFill/>
        </p:spPr>
        <p:txBody>
          <a:bodyPr>
            <a:spAutoFit/>
          </a:bodyPr>
          <a:lstStyle/>
          <a:p>
            <a:pPr>
              <a:defRPr/>
            </a:pPr>
            <a:r>
              <a:rPr lang="zh-CN" altLang="en-US">
                <a:solidFill>
                  <a:srgbClr val="FF0000"/>
                </a:solidFill>
                <a:latin typeface="+mj-ea"/>
                <a:ea typeface="+mj-ea"/>
              </a:rPr>
              <a:t>①</a:t>
            </a:r>
            <a:endParaRPr lang="zh-CN" altLang="en-US">
              <a:solidFill>
                <a:srgbClr val="FF0000"/>
              </a:solidFill>
              <a:latin typeface="+mj-ea"/>
              <a:ea typeface="+mj-ea"/>
            </a:endParaRPr>
          </a:p>
        </p:txBody>
      </p:sp>
      <p:sp>
        <p:nvSpPr>
          <p:cNvPr id="11" name="文本框 10"/>
          <p:cNvSpPr txBox="1"/>
          <p:nvPr/>
        </p:nvSpPr>
        <p:spPr>
          <a:xfrm>
            <a:off x="7379653" y="1700213"/>
            <a:ext cx="792162" cy="368300"/>
          </a:xfrm>
          <a:prstGeom prst="rect">
            <a:avLst/>
          </a:prstGeom>
          <a:noFill/>
        </p:spPr>
        <p:txBody>
          <a:bodyPr>
            <a:spAutoFit/>
          </a:bodyPr>
          <a:lstStyle/>
          <a:p>
            <a:pPr>
              <a:defRPr/>
            </a:pPr>
            <a:r>
              <a:rPr lang="zh-CN" altLang="en-US">
                <a:solidFill>
                  <a:srgbClr val="FF0000"/>
                </a:solidFill>
                <a:latin typeface="+mj-ea"/>
                <a:ea typeface="+mj-ea"/>
              </a:rPr>
              <a:t>②</a:t>
            </a:r>
            <a:endParaRPr lang="zh-CN" altLang="en-US">
              <a:solidFill>
                <a:srgbClr val="FF0000"/>
              </a:solidFill>
              <a:latin typeface="+mj-ea"/>
              <a:ea typeface="+mj-ea"/>
            </a:endParaRPr>
          </a:p>
        </p:txBody>
      </p:sp>
      <p:sp>
        <p:nvSpPr>
          <p:cNvPr id="2" name="Rectangle 2"/>
          <p:cNvSpPr txBox="1">
            <a:spLocks noChangeArrowheads="1"/>
          </p:cNvSpPr>
          <p:nvPr/>
        </p:nvSpPr>
        <p:spPr bwMode="auto">
          <a:xfrm>
            <a:off x="323215" y="908685"/>
            <a:ext cx="441134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2000" kern="0">
                <a:solidFill>
                  <a:schemeClr val="tx2"/>
                </a:solidFill>
                <a:uFillTx/>
                <a:latin typeface="Times New Roman" panose="02020603050405020304" pitchFamily="18" charset="0"/>
                <a:ea typeface="宋体" panose="02010600030101010101" pitchFamily="2" charset="-122"/>
              </a:rPr>
              <a:t>深度</a:t>
            </a:r>
            <a:r>
              <a:rPr lang="zh-CN" altLang="en-US" sz="2000" kern="0" smtClean="0">
                <a:solidFill>
                  <a:schemeClr val="tx2"/>
                </a:solidFill>
                <a:uFillTx/>
                <a:latin typeface="Times New Roman" panose="02020603050405020304" pitchFamily="18" charset="0"/>
                <a:ea typeface="宋体" panose="02010600030101010101" pitchFamily="2" charset="-122"/>
              </a:rPr>
              <a:t>优先遍历流程（回溯如何实现？）</a:t>
            </a:r>
            <a:endParaRPr lang="zh-CN" altLang="en-US" sz="2000" kern="0" smtClean="0">
              <a:solidFill>
                <a:schemeClr val="tx2"/>
              </a:solidFill>
              <a:uFillTx/>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14</a:t>
            </a:r>
            <a:endParaRPr lang="zh-CN" altLang="en-US">
              <a:solidFill>
                <a:schemeClr val="bg2">
                  <a:lumMod val="25000"/>
                  <a:lumOff val="75000"/>
                </a:schemeClr>
              </a:solidFill>
            </a:endParaRPr>
          </a:p>
        </p:txBody>
      </p:sp>
      <p:sp>
        <p:nvSpPr>
          <p:cNvPr id="14" name="文本框 13"/>
          <p:cNvSpPr txBox="1"/>
          <p:nvPr/>
        </p:nvSpPr>
        <p:spPr>
          <a:xfrm>
            <a:off x="1933893" y="4530725"/>
            <a:ext cx="3140075" cy="368300"/>
          </a:xfrm>
          <a:prstGeom prst="rect">
            <a:avLst/>
          </a:prstGeom>
          <a:noFill/>
        </p:spPr>
        <p:txBody>
          <a:bodyPr>
            <a:spAutoFit/>
          </a:bodyPr>
          <a:lstStyle/>
          <a:p>
            <a:pPr>
              <a:defRPr/>
            </a:pPr>
            <a:r>
              <a:rPr lang="zh-CN" altLang="en-US">
                <a:solidFill>
                  <a:schemeClr val="tx2"/>
                </a:solidFill>
                <a:uFillTx/>
                <a:latin typeface="Times New Roman" panose="02020603050405020304" pitchFamily="18" charset="0"/>
              </a:rPr>
              <a:t>访问结果：</a:t>
            </a:r>
            <a:r>
              <a:rPr lang="en-US" altLang="zh-CN">
                <a:solidFill>
                  <a:schemeClr val="tx2"/>
                </a:solidFill>
                <a:uFillTx/>
                <a:latin typeface="Times New Roman" panose="02020603050405020304" pitchFamily="18" charset="0"/>
              </a:rPr>
              <a:t>A B E G F C H D </a:t>
            </a:r>
            <a:endParaRPr lang="en-US" altLang="zh-CN">
              <a:solidFill>
                <a:schemeClr val="tx2"/>
              </a:solidFill>
              <a:uFillTx/>
              <a:latin typeface="Times New Roman" panose="02020603050405020304" pitchFamily="18" charset="0"/>
            </a:endParaRPr>
          </a:p>
        </p:txBody>
      </p:sp>
      <p:sp>
        <p:nvSpPr>
          <p:cNvPr id="30725" name="右箭头 9"/>
          <p:cNvSpPr>
            <a:spLocks noChangeArrowheads="1"/>
          </p:cNvSpPr>
          <p:nvPr/>
        </p:nvSpPr>
        <p:spPr bwMode="auto">
          <a:xfrm>
            <a:off x="5073968" y="3140075"/>
            <a:ext cx="854075" cy="323850"/>
          </a:xfrm>
          <a:prstGeom prst="rightArrow">
            <a:avLst>
              <a:gd name="adj1" fmla="val 50000"/>
              <a:gd name="adj2" fmla="val 50181"/>
            </a:avLst>
          </a:prstGeom>
          <a:solidFill>
            <a:schemeClr val="accent1"/>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18" name="文本框 17"/>
          <p:cNvSpPr txBox="1"/>
          <p:nvPr/>
        </p:nvSpPr>
        <p:spPr>
          <a:xfrm>
            <a:off x="4966018" y="2770188"/>
            <a:ext cx="1289050" cy="368300"/>
          </a:xfrm>
          <a:prstGeom prst="rect">
            <a:avLst/>
          </a:prstGeom>
          <a:noFill/>
        </p:spPr>
        <p:txBody>
          <a:bodyPr>
            <a:spAutoFit/>
          </a:bodyPr>
          <a:lstStyle/>
          <a:p>
            <a:pPr>
              <a:defRPr/>
            </a:pPr>
            <a:r>
              <a:rPr lang="zh-CN" altLang="en-US">
                <a:solidFill>
                  <a:schemeClr val="tx1"/>
                </a:solidFill>
                <a:uFillTx/>
                <a:latin typeface="Times New Roman" panose="02020603050405020304" pitchFamily="18" charset="0"/>
              </a:rPr>
              <a:t>入栈</a:t>
            </a:r>
            <a:r>
              <a:rPr lang="en-US" altLang="zh-CN">
                <a:solidFill>
                  <a:schemeClr val="tx1"/>
                </a:solidFill>
                <a:uFillTx/>
                <a:latin typeface="Times New Roman" panose="02020603050405020304" pitchFamily="18" charset="0"/>
              </a:rPr>
              <a:t>D</a:t>
            </a:r>
            <a:endParaRPr lang="en-US" altLang="zh-CN">
              <a:solidFill>
                <a:schemeClr val="tx1"/>
              </a:solidFill>
              <a:uFillTx/>
              <a:latin typeface="Times New Roman" panose="02020603050405020304" pitchFamily="18" charset="0"/>
            </a:endParaRPr>
          </a:p>
        </p:txBody>
      </p:sp>
      <p:pic>
        <p:nvPicPr>
          <p:cNvPr id="30727"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228080" y="1844675"/>
            <a:ext cx="1285875"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8"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0768" y="1762125"/>
            <a:ext cx="3905250"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txBox="1">
            <a:spLocks noChangeArrowheads="1"/>
          </p:cNvSpPr>
          <p:nvPr/>
        </p:nvSpPr>
        <p:spPr bwMode="auto">
          <a:xfrm>
            <a:off x="323215" y="908685"/>
            <a:ext cx="441134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2000" kern="0">
                <a:solidFill>
                  <a:schemeClr val="tx2"/>
                </a:solidFill>
                <a:uFillTx/>
                <a:latin typeface="Times New Roman" panose="02020603050405020304" pitchFamily="18" charset="0"/>
                <a:ea typeface="宋体" panose="02010600030101010101" pitchFamily="2" charset="-122"/>
              </a:rPr>
              <a:t>深度</a:t>
            </a:r>
            <a:r>
              <a:rPr lang="zh-CN" altLang="en-US" sz="2000" kern="0" smtClean="0">
                <a:solidFill>
                  <a:schemeClr val="tx2"/>
                </a:solidFill>
                <a:uFillTx/>
                <a:latin typeface="Times New Roman" panose="02020603050405020304" pitchFamily="18" charset="0"/>
                <a:ea typeface="宋体" panose="02010600030101010101" pitchFamily="2" charset="-122"/>
              </a:rPr>
              <a:t>优先遍历流程（回溯如何实现？）</a:t>
            </a:r>
            <a:endParaRPr lang="zh-CN" altLang="en-US" sz="2000" kern="0" smtClean="0">
              <a:solidFill>
                <a:schemeClr val="tx2"/>
              </a:solidFill>
              <a:uFillTx/>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15</a:t>
            </a:r>
            <a:endParaRPr lang="zh-CN" altLang="en-US">
              <a:solidFill>
                <a:schemeClr val="bg2">
                  <a:lumMod val="25000"/>
                  <a:lumOff val="75000"/>
                </a:schemeClr>
              </a:solidFill>
            </a:endParaRPr>
          </a:p>
        </p:txBody>
      </p:sp>
      <p:sp>
        <p:nvSpPr>
          <p:cNvPr id="14" name="文本框 13"/>
          <p:cNvSpPr txBox="1"/>
          <p:nvPr/>
        </p:nvSpPr>
        <p:spPr>
          <a:xfrm>
            <a:off x="1443673" y="4705350"/>
            <a:ext cx="3140075" cy="368300"/>
          </a:xfrm>
          <a:prstGeom prst="rect">
            <a:avLst/>
          </a:prstGeom>
          <a:noFill/>
        </p:spPr>
        <p:txBody>
          <a:bodyPr>
            <a:spAutoFit/>
          </a:bodyPr>
          <a:lstStyle/>
          <a:p>
            <a:pPr>
              <a:defRPr/>
            </a:pPr>
            <a:r>
              <a:rPr lang="zh-CN" altLang="en-US">
                <a:solidFill>
                  <a:schemeClr val="tx1"/>
                </a:solidFill>
                <a:uFillTx/>
                <a:latin typeface="Times New Roman" panose="02020603050405020304" pitchFamily="18" charset="0"/>
              </a:rPr>
              <a:t>访问结果：</a:t>
            </a:r>
            <a:r>
              <a:rPr lang="en-US" altLang="zh-CN">
                <a:solidFill>
                  <a:schemeClr val="tx1"/>
                </a:solidFill>
                <a:uFillTx/>
                <a:latin typeface="Times New Roman" panose="02020603050405020304" pitchFamily="18" charset="0"/>
              </a:rPr>
              <a:t>A B E G F C H D </a:t>
            </a:r>
            <a:endParaRPr lang="en-US" altLang="zh-CN">
              <a:solidFill>
                <a:schemeClr val="tx1"/>
              </a:solidFill>
              <a:uFillTx/>
              <a:latin typeface="Times New Roman" panose="02020603050405020304" pitchFamily="18" charset="0"/>
            </a:endParaRPr>
          </a:p>
        </p:txBody>
      </p:sp>
      <p:sp>
        <p:nvSpPr>
          <p:cNvPr id="32773" name="右箭头 9"/>
          <p:cNvSpPr>
            <a:spLocks noChangeArrowheads="1"/>
          </p:cNvSpPr>
          <p:nvPr/>
        </p:nvSpPr>
        <p:spPr bwMode="auto">
          <a:xfrm>
            <a:off x="4583748" y="3314700"/>
            <a:ext cx="854075" cy="323850"/>
          </a:xfrm>
          <a:prstGeom prst="rightArrow">
            <a:avLst>
              <a:gd name="adj1" fmla="val 50000"/>
              <a:gd name="adj2" fmla="val 50181"/>
            </a:avLst>
          </a:prstGeom>
          <a:solidFill>
            <a:schemeClr val="accent1"/>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18" name="文本框 17"/>
          <p:cNvSpPr txBox="1"/>
          <p:nvPr/>
        </p:nvSpPr>
        <p:spPr>
          <a:xfrm>
            <a:off x="4475798" y="2944813"/>
            <a:ext cx="1289050" cy="368300"/>
          </a:xfrm>
          <a:prstGeom prst="rect">
            <a:avLst/>
          </a:prstGeom>
          <a:noFill/>
        </p:spPr>
        <p:txBody>
          <a:bodyPr>
            <a:spAutoFit/>
          </a:bodyPr>
          <a:lstStyle/>
          <a:p>
            <a:pPr>
              <a:defRPr/>
            </a:pPr>
            <a:r>
              <a:rPr lang="zh-CN" altLang="en-US">
                <a:solidFill>
                  <a:schemeClr val="tx2"/>
                </a:solidFill>
                <a:uFillTx/>
                <a:latin typeface="Times New Roman" panose="02020603050405020304" pitchFamily="18" charset="0"/>
              </a:rPr>
              <a:t>判断出栈</a:t>
            </a:r>
            <a:endParaRPr lang="zh-CN" altLang="en-US">
              <a:solidFill>
                <a:schemeClr val="tx2"/>
              </a:solidFill>
              <a:uFillTx/>
              <a:latin typeface="Times New Roman" panose="02020603050405020304" pitchFamily="18" charset="0"/>
            </a:endParaRPr>
          </a:p>
        </p:txBody>
      </p:sp>
      <p:pic>
        <p:nvPicPr>
          <p:cNvPr id="32775"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547360" y="2133600"/>
            <a:ext cx="1285875"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6"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0548" y="1936750"/>
            <a:ext cx="3905250"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7"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76098" y="2038350"/>
            <a:ext cx="1371600"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6034723" y="2078038"/>
            <a:ext cx="793750" cy="368300"/>
          </a:xfrm>
          <a:prstGeom prst="rect">
            <a:avLst/>
          </a:prstGeom>
          <a:noFill/>
        </p:spPr>
        <p:txBody>
          <a:bodyPr>
            <a:spAutoFit/>
          </a:bodyPr>
          <a:lstStyle/>
          <a:p>
            <a:pPr>
              <a:defRPr/>
            </a:pPr>
            <a:r>
              <a:rPr lang="zh-CN" altLang="en-US">
                <a:solidFill>
                  <a:srgbClr val="FF0000"/>
                </a:solidFill>
                <a:latin typeface="+mj-ea"/>
                <a:ea typeface="+mj-ea"/>
              </a:rPr>
              <a:t>①</a:t>
            </a:r>
            <a:endParaRPr lang="zh-CN" altLang="en-US">
              <a:solidFill>
                <a:srgbClr val="FF0000"/>
              </a:solidFill>
              <a:latin typeface="+mj-ea"/>
              <a:ea typeface="+mj-ea"/>
            </a:endParaRPr>
          </a:p>
        </p:txBody>
      </p:sp>
      <p:sp>
        <p:nvSpPr>
          <p:cNvPr id="11" name="文本框 10"/>
          <p:cNvSpPr txBox="1"/>
          <p:nvPr/>
        </p:nvSpPr>
        <p:spPr>
          <a:xfrm>
            <a:off x="7398385" y="2038350"/>
            <a:ext cx="793750" cy="369888"/>
          </a:xfrm>
          <a:prstGeom prst="rect">
            <a:avLst/>
          </a:prstGeom>
          <a:noFill/>
        </p:spPr>
        <p:txBody>
          <a:bodyPr>
            <a:spAutoFit/>
          </a:bodyPr>
          <a:lstStyle/>
          <a:p>
            <a:pPr>
              <a:defRPr/>
            </a:pPr>
            <a:r>
              <a:rPr lang="zh-CN" altLang="en-US">
                <a:solidFill>
                  <a:srgbClr val="FF0000"/>
                </a:solidFill>
                <a:latin typeface="+mj-ea"/>
                <a:ea typeface="+mj-ea"/>
              </a:rPr>
              <a:t>②</a:t>
            </a:r>
            <a:endParaRPr lang="zh-CN" altLang="en-US">
              <a:solidFill>
                <a:srgbClr val="FF0000"/>
              </a:solidFill>
              <a:latin typeface="+mj-ea"/>
              <a:ea typeface="+mj-ea"/>
            </a:endParaRPr>
          </a:p>
        </p:txBody>
      </p:sp>
      <p:sp>
        <p:nvSpPr>
          <p:cNvPr id="2" name="Rectangle 2"/>
          <p:cNvSpPr txBox="1">
            <a:spLocks noChangeArrowheads="1"/>
          </p:cNvSpPr>
          <p:nvPr/>
        </p:nvSpPr>
        <p:spPr bwMode="auto">
          <a:xfrm>
            <a:off x="323215" y="908685"/>
            <a:ext cx="441134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2000" kern="0">
                <a:solidFill>
                  <a:schemeClr val="tx2"/>
                </a:solidFill>
                <a:uFillTx/>
                <a:latin typeface="Times New Roman" panose="02020603050405020304" pitchFamily="18" charset="0"/>
                <a:ea typeface="宋体" panose="02010600030101010101" pitchFamily="2" charset="-122"/>
              </a:rPr>
              <a:t>深度</a:t>
            </a:r>
            <a:r>
              <a:rPr lang="zh-CN" altLang="en-US" sz="2000" kern="0" smtClean="0">
                <a:solidFill>
                  <a:schemeClr val="tx2"/>
                </a:solidFill>
                <a:uFillTx/>
                <a:latin typeface="Times New Roman" panose="02020603050405020304" pitchFamily="18" charset="0"/>
                <a:ea typeface="宋体" panose="02010600030101010101" pitchFamily="2" charset="-122"/>
              </a:rPr>
              <a:t>优先遍历流程（回溯如何实现？）</a:t>
            </a:r>
            <a:endParaRPr lang="zh-CN" altLang="en-US" sz="2000" kern="0" smtClean="0">
              <a:solidFill>
                <a:schemeClr val="tx2"/>
              </a:solidFill>
              <a:uFillTx/>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16</a:t>
            </a:r>
            <a:endParaRPr lang="zh-CN" altLang="en-US">
              <a:solidFill>
                <a:schemeClr val="bg2">
                  <a:lumMod val="25000"/>
                  <a:lumOff val="75000"/>
                </a:schemeClr>
              </a:solidFill>
            </a:endParaRPr>
          </a:p>
        </p:txBody>
      </p:sp>
      <p:pic>
        <p:nvPicPr>
          <p:cNvPr id="34821"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83260" y="1412240"/>
            <a:ext cx="7839075" cy="2762250"/>
          </a:xfrm>
          <a:prstGeom prst="rect">
            <a:avLst/>
          </a:prstGeom>
          <a:noFill/>
          <a:ln w="9525">
            <a:solidFill>
              <a:srgbClr val="5A93CA"/>
            </a:solidFill>
            <a:miter lim="800000"/>
            <a:headEnd/>
            <a:tailEnd/>
          </a:ln>
          <a:extLst>
            <a:ext uri="{909E8E84-426E-40DD-AFC4-6F175D3DCCD1}">
              <a14:hiddenFill xmlns:a14="http://schemas.microsoft.com/office/drawing/2010/main">
                <a:solidFill>
                  <a:srgbClr val="FFFFFF"/>
                </a:solidFill>
              </a14:hiddenFill>
            </a:ext>
          </a:extLst>
        </p:spPr>
      </p:pic>
      <p:sp>
        <p:nvSpPr>
          <p:cNvPr id="2" name="Rectangle 2"/>
          <p:cNvSpPr txBox="1">
            <a:spLocks noChangeArrowheads="1"/>
          </p:cNvSpPr>
          <p:nvPr/>
        </p:nvSpPr>
        <p:spPr bwMode="auto">
          <a:xfrm>
            <a:off x="323215" y="836295"/>
            <a:ext cx="441134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2000" kern="0">
                <a:solidFill>
                  <a:schemeClr val="tx2"/>
                </a:solidFill>
                <a:uFillTx/>
                <a:latin typeface="Times New Roman" panose="02020603050405020304" pitchFamily="18" charset="0"/>
                <a:ea typeface="宋体" panose="02010600030101010101" pitchFamily="2" charset="-122"/>
              </a:rPr>
              <a:t>深度</a:t>
            </a:r>
            <a:r>
              <a:rPr lang="zh-CN" altLang="en-US" sz="2000" kern="0" smtClean="0">
                <a:solidFill>
                  <a:schemeClr val="tx2"/>
                </a:solidFill>
                <a:uFillTx/>
                <a:latin typeface="Times New Roman" panose="02020603050405020304" pitchFamily="18" charset="0"/>
                <a:ea typeface="宋体" panose="02010600030101010101" pitchFamily="2" charset="-122"/>
              </a:rPr>
              <a:t>优先遍历流程算法</a:t>
            </a:r>
            <a:r>
              <a:rPr lang="zh-CN" altLang="en-US" sz="2000" kern="0" smtClean="0">
                <a:solidFill>
                  <a:schemeClr val="tx2"/>
                </a:solidFill>
                <a:uFillTx/>
                <a:latin typeface="Times New Roman" panose="02020603050405020304" pitchFamily="18" charset="0"/>
                <a:ea typeface="宋体" panose="02010600030101010101" pitchFamily="2" charset="-122"/>
              </a:rPr>
              <a:t>实现：</a:t>
            </a:r>
            <a:endParaRPr lang="zh-CN" altLang="en-US" sz="2000" kern="0" smtClean="0">
              <a:solidFill>
                <a:schemeClr val="tx2"/>
              </a:solidFill>
              <a:uFillTx/>
              <a:latin typeface="Times New Roman" panose="02020603050405020304" pitchFamily="18" charset="0"/>
              <a:ea typeface="宋体" panose="02010600030101010101" pitchFamily="2" charset="-122"/>
            </a:endParaRPr>
          </a:p>
        </p:txBody>
      </p:sp>
      <p:sp>
        <p:nvSpPr>
          <p:cNvPr id="4" name="文本框 3"/>
          <p:cNvSpPr txBox="1"/>
          <p:nvPr/>
        </p:nvSpPr>
        <p:spPr>
          <a:xfrm>
            <a:off x="251460" y="4580890"/>
            <a:ext cx="5701665" cy="534035"/>
          </a:xfrm>
          <a:prstGeom prst="rect">
            <a:avLst/>
          </a:prstGeom>
          <a:noFill/>
        </p:spPr>
        <p:txBody>
          <a:bodyPr wrap="square" rtlCol="0" anchor="t">
            <a:spAutoFit/>
          </a:bodyPr>
          <a:lstStyle/>
          <a:p>
            <a:pPr>
              <a:lnSpc>
                <a:spcPct val="120000"/>
              </a:lnSpc>
              <a:buNone/>
            </a:pPr>
            <a:r>
              <a:rPr lang="en-US" altLang="zh-CN" sz="2400" b="1" kern="0" dirty="0">
                <a:uFillTx/>
                <a:latin typeface="Times New Roman" panose="02020603050405020304" pitchFamily="18" charset="0"/>
                <a:cs typeface="Times New Roman" panose="02020603050405020304" pitchFamily="18" charset="0"/>
                <a:sym typeface="+mn-ea"/>
              </a:rPr>
              <a:t>6.1</a:t>
            </a:r>
            <a:r>
              <a:rPr lang="zh-CN" altLang="en-US" sz="2400" b="1" kern="0" dirty="0">
                <a:uFillTx/>
                <a:latin typeface="Times New Roman" panose="02020603050405020304" pitchFamily="18" charset="0"/>
                <a:cs typeface="Times New Roman" panose="02020603050405020304" pitchFamily="18" charset="0"/>
                <a:sym typeface="+mn-ea"/>
              </a:rPr>
              <a:t>小结</a:t>
            </a:r>
            <a:endParaRPr lang="zh-CN" altLang="en-US" sz="2400" b="1" kern="0" dirty="0">
              <a:uFillTx/>
              <a:latin typeface="Times New Roman" panose="02020603050405020304" pitchFamily="18" charset="0"/>
              <a:cs typeface="Times New Roman" panose="02020603050405020304" pitchFamily="18" charset="0"/>
              <a:sym typeface="+mn-ea"/>
            </a:endParaRPr>
          </a:p>
        </p:txBody>
      </p:sp>
      <p:sp>
        <p:nvSpPr>
          <p:cNvPr id="3" name="文本框 2"/>
          <p:cNvSpPr txBox="1"/>
          <p:nvPr/>
        </p:nvSpPr>
        <p:spPr>
          <a:xfrm>
            <a:off x="680085" y="5229225"/>
            <a:ext cx="7860030" cy="1198880"/>
          </a:xfrm>
          <a:prstGeom prst="rect">
            <a:avLst/>
          </a:prstGeom>
          <a:noFill/>
          <a:ln>
            <a:solidFill>
              <a:srgbClr val="0066FF"/>
            </a:solidFill>
          </a:ln>
        </p:spPr>
        <p:txBody>
          <a:bodyPr wrap="square" rtlCol="0">
            <a:spAutoFit/>
          </a:bodyPr>
          <a:p>
            <a:r>
              <a:rPr lang="zh-CN" altLang="en-US">
                <a:solidFill>
                  <a:srgbClr val="FF0000"/>
                </a:solidFill>
              </a:rPr>
              <a:t>（</a:t>
            </a:r>
            <a:r>
              <a:rPr lang="en-US" altLang="zh-CN">
                <a:solidFill>
                  <a:srgbClr val="FF0000"/>
                </a:solidFill>
              </a:rPr>
              <a:t>1</a:t>
            </a:r>
            <a:r>
              <a:rPr lang="zh-CN" altLang="en-US">
                <a:solidFill>
                  <a:srgbClr val="FF0000"/>
                </a:solidFill>
              </a:rPr>
              <a:t>）回溯的思想</a:t>
            </a:r>
            <a:endParaRPr lang="zh-CN" altLang="en-US">
              <a:solidFill>
                <a:srgbClr val="FF0000"/>
              </a:solidFill>
            </a:endParaRPr>
          </a:p>
          <a:p>
            <a:r>
              <a:rPr lang="zh-CN" altLang="en-US">
                <a:solidFill>
                  <a:srgbClr val="FF0000"/>
                </a:solidFill>
              </a:rPr>
              <a:t>（</a:t>
            </a:r>
            <a:r>
              <a:rPr lang="en-US" altLang="zh-CN">
                <a:solidFill>
                  <a:srgbClr val="FF0000"/>
                </a:solidFill>
              </a:rPr>
              <a:t>2</a:t>
            </a:r>
            <a:r>
              <a:rPr lang="zh-CN" altLang="en-US">
                <a:solidFill>
                  <a:srgbClr val="FF0000"/>
                </a:solidFill>
              </a:rPr>
              <a:t>）回溯算法的基本应用</a:t>
            </a:r>
            <a:endParaRPr lang="zh-CN" altLang="en-US">
              <a:solidFill>
                <a:srgbClr val="FF0000"/>
              </a:solidFill>
            </a:endParaRPr>
          </a:p>
          <a:p>
            <a:pPr lvl="1"/>
            <a:r>
              <a:rPr lang="zh-CN" altLang="en-US">
                <a:solidFill>
                  <a:srgbClr val="FF0000"/>
                </a:solidFill>
              </a:rPr>
              <a:t>①树的搜索</a:t>
            </a:r>
            <a:endParaRPr lang="zh-CN" altLang="en-US">
              <a:solidFill>
                <a:srgbClr val="FF0000"/>
              </a:solidFill>
            </a:endParaRPr>
          </a:p>
          <a:p>
            <a:pPr lvl="1"/>
            <a:r>
              <a:rPr lang="zh-CN" altLang="en-US">
                <a:solidFill>
                  <a:srgbClr val="FF0000"/>
                </a:solidFill>
              </a:rPr>
              <a:t>②图的遍历</a:t>
            </a:r>
            <a:endParaRPr lang="zh-CN" altLang="en-US">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a:solidFill>
                  <a:schemeClr val="bg2">
                    <a:lumMod val="25000"/>
                    <a:lumOff val="75000"/>
                  </a:schemeClr>
                </a:solidFill>
              </a:rPr>
              <a:t>16</a:t>
            </a:r>
            <a:endParaRPr lang="zh-CN" altLang="en-US">
              <a:solidFill>
                <a:schemeClr val="bg2">
                  <a:lumMod val="25000"/>
                  <a:lumOff val="75000"/>
                </a:schemeClr>
              </a:solidFill>
            </a:endParaRPr>
          </a:p>
        </p:txBody>
      </p:sp>
      <p:grpSp>
        <p:nvGrpSpPr>
          <p:cNvPr id="7" name="组合 6"/>
          <p:cNvGrpSpPr/>
          <p:nvPr/>
        </p:nvGrpSpPr>
        <p:grpSpPr>
          <a:xfrm>
            <a:off x="5220335" y="2060575"/>
            <a:ext cx="3931285" cy="2380615"/>
            <a:chOff x="1417" y="5627"/>
            <a:chExt cx="6191" cy="3749"/>
          </a:xfrm>
        </p:grpSpPr>
        <p:sp>
          <p:nvSpPr>
            <p:cNvPr id="4" name="文本框 3"/>
            <p:cNvSpPr txBox="1"/>
            <p:nvPr/>
          </p:nvSpPr>
          <p:spPr>
            <a:xfrm>
              <a:off x="1417" y="5627"/>
              <a:ext cx="6191" cy="580"/>
            </a:xfrm>
            <a:prstGeom prst="rect">
              <a:avLst/>
            </a:prstGeom>
            <a:noFill/>
          </p:spPr>
          <p:txBody>
            <a:bodyPr wrap="square" rtlCol="0">
              <a:spAutoFit/>
            </a:bodyPr>
            <a:p>
              <a:r>
                <a:rPr lang="en-US" altLang="zh-CN"/>
                <a:t>0-1</a:t>
              </a:r>
              <a:r>
                <a:rPr lang="zh-CN" altLang="en-US"/>
                <a:t>背包问题？</a:t>
              </a:r>
              <a:endParaRPr lang="zh-CN" altLang="en-US"/>
            </a:p>
          </p:txBody>
        </p:sp>
        <p:pic>
          <p:nvPicPr>
            <p:cNvPr id="5" name="图片 4"/>
            <p:cNvPicPr>
              <a:picLocks noChangeAspect="1"/>
            </p:cNvPicPr>
            <p:nvPr/>
          </p:nvPicPr>
          <p:blipFill>
            <a:blip r:embed="rId1"/>
            <a:stretch>
              <a:fillRect/>
            </a:stretch>
          </p:blipFill>
          <p:spPr>
            <a:xfrm>
              <a:off x="1757" y="6421"/>
              <a:ext cx="5113" cy="2955"/>
            </a:xfrm>
            <a:prstGeom prst="rect">
              <a:avLst/>
            </a:prstGeom>
          </p:spPr>
        </p:pic>
      </p:grpSp>
      <p:sp>
        <p:nvSpPr>
          <p:cNvPr id="8" name="文本框 7"/>
          <p:cNvSpPr txBox="1"/>
          <p:nvPr/>
        </p:nvSpPr>
        <p:spPr>
          <a:xfrm>
            <a:off x="755650" y="4725035"/>
            <a:ext cx="7136130" cy="694055"/>
          </a:xfrm>
          <a:prstGeom prst="rect">
            <a:avLst/>
          </a:prstGeom>
          <a:noFill/>
        </p:spPr>
        <p:txBody>
          <a:bodyPr wrap="square" rtlCol="0">
            <a:noAutofit/>
          </a:bodyPr>
          <a:p>
            <a:r>
              <a:rPr lang="zh-CN" altLang="en-US"/>
              <a:t>尝试列出问题的所有可能解？或者说列出问题的</a:t>
            </a:r>
            <a:r>
              <a:rPr lang="zh-CN" altLang="en-US"/>
              <a:t>搜索树。</a:t>
            </a:r>
            <a:endParaRPr lang="zh-CN" altLang="en-US"/>
          </a:p>
        </p:txBody>
      </p:sp>
      <p:sp>
        <p:nvSpPr>
          <p:cNvPr id="9" name="文本框 8"/>
          <p:cNvSpPr txBox="1"/>
          <p:nvPr/>
        </p:nvSpPr>
        <p:spPr>
          <a:xfrm>
            <a:off x="683260" y="908685"/>
            <a:ext cx="5701665" cy="534035"/>
          </a:xfrm>
          <a:prstGeom prst="rect">
            <a:avLst/>
          </a:prstGeom>
          <a:noFill/>
        </p:spPr>
        <p:txBody>
          <a:bodyPr wrap="square" rtlCol="0" anchor="t">
            <a:spAutoFit/>
          </a:bodyPr>
          <a:lstStyle/>
          <a:p>
            <a:pPr>
              <a:lnSpc>
                <a:spcPct val="120000"/>
              </a:lnSpc>
              <a:buNone/>
            </a:pPr>
            <a:r>
              <a:rPr lang="en-US" altLang="zh-CN" sz="2400" b="1" kern="0" dirty="0">
                <a:uFillTx/>
                <a:latin typeface="Times New Roman" panose="02020603050405020304" pitchFamily="18" charset="0"/>
                <a:cs typeface="Times New Roman" panose="02020603050405020304" pitchFamily="18" charset="0"/>
                <a:sym typeface="+mn-ea"/>
              </a:rPr>
              <a:t>6.2.1 </a:t>
            </a:r>
            <a:r>
              <a:rPr lang="zh-CN" altLang="en-US" sz="2400" kern="0">
                <a:solidFill>
                  <a:schemeClr val="tx1"/>
                </a:solidFill>
                <a:uFillTx/>
                <a:latin typeface="Times New Roman" panose="02020603050405020304" pitchFamily="18" charset="0"/>
                <a:sym typeface="+mn-ea"/>
              </a:rPr>
              <a:t>为什么说全排列和子集问题重要</a:t>
            </a:r>
            <a:endParaRPr lang="zh-CN" altLang="en-US" sz="2400" b="1" kern="0" dirty="0">
              <a:solidFill>
                <a:schemeClr val="tx1"/>
              </a:solidFill>
              <a:uFillTx/>
              <a:latin typeface="Times New Roman" panose="02020603050405020304" pitchFamily="18" charset="0"/>
              <a:cs typeface="Times New Roman" panose="02020603050405020304" pitchFamily="18" charset="0"/>
              <a:sym typeface="+mn-ea"/>
            </a:endParaRPr>
          </a:p>
        </p:txBody>
      </p:sp>
      <p:sp>
        <p:nvSpPr>
          <p:cNvPr id="11" name="文本框 10"/>
          <p:cNvSpPr txBox="1"/>
          <p:nvPr/>
        </p:nvSpPr>
        <p:spPr>
          <a:xfrm>
            <a:off x="539115" y="2187575"/>
            <a:ext cx="3931285" cy="368300"/>
          </a:xfrm>
          <a:prstGeom prst="rect">
            <a:avLst/>
          </a:prstGeom>
          <a:noFill/>
        </p:spPr>
        <p:txBody>
          <a:bodyPr wrap="square" rtlCol="0">
            <a:spAutoFit/>
          </a:bodyPr>
          <a:p>
            <a:r>
              <a:rPr lang="zh-CN" altLang="en-US"/>
              <a:t>暴力</a:t>
            </a:r>
            <a:r>
              <a:rPr lang="zh-CN" altLang="en-US"/>
              <a:t>枚举</a:t>
            </a:r>
            <a:endParaRPr lang="zh-CN" altLang="en-US"/>
          </a:p>
        </p:txBody>
      </p:sp>
      <p:sp>
        <p:nvSpPr>
          <p:cNvPr id="13" name="文本框 12"/>
          <p:cNvSpPr txBox="1"/>
          <p:nvPr/>
        </p:nvSpPr>
        <p:spPr>
          <a:xfrm>
            <a:off x="2239645" y="2694305"/>
            <a:ext cx="748030" cy="368300"/>
          </a:xfrm>
          <a:prstGeom prst="rect">
            <a:avLst/>
          </a:prstGeom>
          <a:noFill/>
        </p:spPr>
        <p:txBody>
          <a:bodyPr wrap="square" rtlCol="0">
            <a:spAutoFit/>
          </a:bodyPr>
          <a:p>
            <a:r>
              <a:rPr lang="en-US" altLang="zh-CN">
                <a:solidFill>
                  <a:schemeClr val="tx1"/>
                </a:solidFill>
                <a:uFillTx/>
                <a:latin typeface="Times New Roman" panose="02020603050405020304" pitchFamily="18" charset="0"/>
              </a:rPr>
              <a:t>A B</a:t>
            </a:r>
            <a:endParaRPr lang="en-US" altLang="zh-CN">
              <a:solidFill>
                <a:schemeClr val="tx1"/>
              </a:solidFill>
              <a:uFillTx/>
              <a:latin typeface="Times New Roman" panose="02020603050405020304" pitchFamily="18" charset="0"/>
            </a:endParaRPr>
          </a:p>
        </p:txBody>
      </p:sp>
      <p:sp>
        <p:nvSpPr>
          <p:cNvPr id="14" name="文本框 13"/>
          <p:cNvSpPr txBox="1"/>
          <p:nvPr/>
        </p:nvSpPr>
        <p:spPr>
          <a:xfrm>
            <a:off x="2239645" y="3068955"/>
            <a:ext cx="748030" cy="368300"/>
          </a:xfrm>
          <a:prstGeom prst="rect">
            <a:avLst/>
          </a:prstGeom>
          <a:noFill/>
        </p:spPr>
        <p:txBody>
          <a:bodyPr wrap="square" rtlCol="0">
            <a:spAutoFit/>
          </a:bodyPr>
          <a:p>
            <a:r>
              <a:rPr lang="en-US" altLang="zh-CN">
                <a:solidFill>
                  <a:schemeClr val="tx1"/>
                </a:solidFill>
                <a:uFillTx/>
                <a:latin typeface="Times New Roman" panose="02020603050405020304" pitchFamily="18" charset="0"/>
              </a:rPr>
              <a:t>A </a:t>
            </a:r>
            <a:r>
              <a:rPr lang="en-US" altLang="zh-CN">
                <a:solidFill>
                  <a:schemeClr val="tx1"/>
                </a:solidFill>
                <a:uFillTx/>
                <a:latin typeface="Times New Roman" panose="02020603050405020304" pitchFamily="18" charset="0"/>
              </a:rPr>
              <a:t>C</a:t>
            </a:r>
            <a:endParaRPr lang="en-US" altLang="zh-CN">
              <a:solidFill>
                <a:schemeClr val="tx1"/>
              </a:solidFill>
              <a:uFillTx/>
              <a:latin typeface="Times New Roman" panose="02020603050405020304" pitchFamily="18" charset="0"/>
            </a:endParaRPr>
          </a:p>
        </p:txBody>
      </p:sp>
      <p:sp>
        <p:nvSpPr>
          <p:cNvPr id="15" name="文本框 14"/>
          <p:cNvSpPr txBox="1"/>
          <p:nvPr/>
        </p:nvSpPr>
        <p:spPr>
          <a:xfrm>
            <a:off x="1763395" y="2899410"/>
            <a:ext cx="411480" cy="368300"/>
          </a:xfrm>
          <a:prstGeom prst="rect">
            <a:avLst/>
          </a:prstGeom>
          <a:noFill/>
        </p:spPr>
        <p:txBody>
          <a:bodyPr wrap="none" rtlCol="0" anchor="t">
            <a:spAutoFit/>
          </a:bodyPr>
          <a:p>
            <a:r>
              <a:rPr lang="zh-CN" altLang="en-US">
                <a:latin typeface="宋体" panose="02010600030101010101" pitchFamily="2" charset="-122"/>
              </a:rPr>
              <a:t>＋</a:t>
            </a:r>
            <a:endParaRPr lang="zh-CN" altLang="en-US">
              <a:latin typeface="宋体" panose="02010600030101010101" pitchFamily="2" charset="-122"/>
            </a:endParaRPr>
          </a:p>
        </p:txBody>
      </p:sp>
      <p:cxnSp>
        <p:nvCxnSpPr>
          <p:cNvPr id="16" name="直接连接符 15"/>
          <p:cNvCxnSpPr/>
          <p:nvPr/>
        </p:nvCxnSpPr>
        <p:spPr>
          <a:xfrm>
            <a:off x="1589405" y="3500120"/>
            <a:ext cx="1902460" cy="635"/>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17" name="文本框 16"/>
          <p:cNvSpPr txBox="1"/>
          <p:nvPr/>
        </p:nvSpPr>
        <p:spPr>
          <a:xfrm>
            <a:off x="2051685" y="3563620"/>
            <a:ext cx="748030" cy="368300"/>
          </a:xfrm>
          <a:prstGeom prst="rect">
            <a:avLst/>
          </a:prstGeom>
          <a:noFill/>
        </p:spPr>
        <p:txBody>
          <a:bodyPr wrap="square" rtlCol="0">
            <a:spAutoFit/>
          </a:bodyPr>
          <a:p>
            <a:r>
              <a:rPr lang="en-US" altLang="zh-CN">
                <a:solidFill>
                  <a:schemeClr val="tx1"/>
                </a:solidFill>
                <a:uFillTx/>
                <a:latin typeface="Times New Roman" panose="02020603050405020304" pitchFamily="18" charset="0"/>
              </a:rPr>
              <a:t>B </a:t>
            </a:r>
            <a:r>
              <a:rPr lang="en-US" altLang="zh-CN">
                <a:solidFill>
                  <a:schemeClr val="tx1"/>
                </a:solidFill>
                <a:uFillTx/>
                <a:latin typeface="Times New Roman" panose="02020603050405020304" pitchFamily="18" charset="0"/>
              </a:rPr>
              <a:t>C A </a:t>
            </a:r>
            <a:endParaRPr lang="en-US" altLang="zh-CN">
              <a:solidFill>
                <a:schemeClr val="tx1"/>
              </a:solidFill>
              <a:uFillTx/>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t>（</a:t>
            </a:r>
            <a:r>
              <a:rPr lang="en-US" altLang="zh-CN" sz="3600" kern="0" smtClean="0"/>
              <a:t>1</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14" name="文本框 13"/>
          <p:cNvSpPr txBox="1"/>
          <p:nvPr/>
        </p:nvSpPr>
        <p:spPr>
          <a:xfrm>
            <a:off x="539750" y="1557020"/>
            <a:ext cx="4032250" cy="442595"/>
          </a:xfrm>
          <a:prstGeom prst="rect">
            <a:avLst/>
          </a:prstGeom>
          <a:noFill/>
        </p:spPr>
        <p:txBody>
          <a:bodyPr>
            <a:noAutofit/>
          </a:bodyPr>
          <a:p>
            <a:pPr>
              <a:defRPr/>
            </a:pPr>
            <a:r>
              <a:rPr lang="zh-CN" altLang="en-US">
                <a:solidFill>
                  <a:srgbClr val="000066"/>
                </a:solidFill>
                <a:latin typeface="+mj-ea"/>
                <a:ea typeface="+mj-ea"/>
              </a:rPr>
              <a:t>假设有数组元素</a:t>
            </a:r>
            <a:r>
              <a:rPr lang="en-US" altLang="zh-CN">
                <a:solidFill>
                  <a:srgbClr val="000066"/>
                </a:solidFill>
                <a:latin typeface="+mj-ea"/>
                <a:ea typeface="+mj-ea"/>
              </a:rPr>
              <a:t>nums = [1,2,3] </a:t>
            </a:r>
            <a:endParaRPr lang="zh-CN" altLang="en-US">
              <a:solidFill>
                <a:srgbClr val="000066"/>
              </a:solidFill>
              <a:latin typeface="+mj-ea"/>
              <a:ea typeface="+mj-ea"/>
            </a:endParaRPr>
          </a:p>
        </p:txBody>
      </p:sp>
      <p:sp>
        <p:nvSpPr>
          <p:cNvPr id="5" name="文本框 4"/>
          <p:cNvSpPr txBox="1"/>
          <p:nvPr/>
        </p:nvSpPr>
        <p:spPr>
          <a:xfrm>
            <a:off x="539750" y="1988820"/>
            <a:ext cx="4481195" cy="448945"/>
          </a:xfrm>
          <a:prstGeom prst="rect">
            <a:avLst/>
          </a:prstGeom>
          <a:noFill/>
        </p:spPr>
        <p:txBody>
          <a:bodyPr>
            <a:noAutofit/>
          </a:bodyPr>
          <a:p>
            <a:pPr>
              <a:defRPr/>
            </a:pPr>
            <a:r>
              <a:rPr lang="zh-CN" altLang="en-US">
                <a:solidFill>
                  <a:srgbClr val="000066"/>
                </a:solidFill>
                <a:latin typeface="+mj-ea"/>
                <a:ea typeface="+mj-ea"/>
              </a:rPr>
              <a:t>找出</a:t>
            </a:r>
            <a:r>
              <a:rPr lang="en-US" altLang="zh-CN">
                <a:solidFill>
                  <a:srgbClr val="000066"/>
                </a:solidFill>
                <a:latin typeface="+mj-ea"/>
                <a:ea typeface="+mj-ea"/>
              </a:rPr>
              <a:t>nums</a:t>
            </a:r>
            <a:r>
              <a:rPr lang="zh-CN" altLang="en-US">
                <a:solidFill>
                  <a:srgbClr val="000066"/>
                </a:solidFill>
                <a:latin typeface="+mj-ea"/>
                <a:ea typeface="+mj-ea"/>
              </a:rPr>
              <a:t>数组元素所有的全排列集合？</a:t>
            </a:r>
            <a:r>
              <a:rPr lang="en-US" altLang="zh-CN">
                <a:solidFill>
                  <a:srgbClr val="000066"/>
                </a:solidFill>
                <a:latin typeface="+mj-ea"/>
                <a:ea typeface="+mj-ea"/>
              </a:rPr>
              <a:t> </a:t>
            </a:r>
            <a:endParaRPr lang="zh-CN" altLang="en-US">
              <a:solidFill>
                <a:srgbClr val="000066"/>
              </a:solidFill>
              <a:latin typeface="+mj-ea"/>
              <a:ea typeface="+mj-ea"/>
            </a:endParaRPr>
          </a:p>
        </p:txBody>
      </p:sp>
      <p:sp>
        <p:nvSpPr>
          <p:cNvPr id="7" name="文本框 6"/>
          <p:cNvSpPr txBox="1"/>
          <p:nvPr/>
        </p:nvSpPr>
        <p:spPr>
          <a:xfrm>
            <a:off x="576580" y="3429000"/>
            <a:ext cx="2649855" cy="1005840"/>
          </a:xfrm>
          <a:prstGeom prst="rect">
            <a:avLst/>
          </a:prstGeom>
          <a:solidFill>
            <a:schemeClr val="accent1">
              <a:lumMod val="60000"/>
              <a:lumOff val="40000"/>
            </a:schemeClr>
          </a:solidFill>
        </p:spPr>
        <p:txBody>
          <a:bodyPr>
            <a:noAutofit/>
          </a:bodyPr>
          <a:p>
            <a:pPr algn="ctr">
              <a:defRPr/>
            </a:pPr>
            <a:r>
              <a:rPr lang="en-US" altLang="zh-CN">
                <a:solidFill>
                  <a:srgbClr val="000066"/>
                </a:solidFill>
                <a:latin typeface="+mj-ea"/>
                <a:ea typeface="+mj-ea"/>
              </a:rPr>
              <a:t>[[1,2,3],[1,3,2],[2,1,3]</a:t>
            </a:r>
            <a:endParaRPr lang="en-US" altLang="zh-CN">
              <a:solidFill>
                <a:srgbClr val="000066"/>
              </a:solidFill>
              <a:latin typeface="+mj-ea"/>
              <a:ea typeface="+mj-ea"/>
            </a:endParaRPr>
          </a:p>
          <a:p>
            <a:pPr algn="ctr">
              <a:defRPr/>
            </a:pPr>
            <a:endParaRPr lang="en-US" altLang="zh-CN">
              <a:solidFill>
                <a:srgbClr val="000066"/>
              </a:solidFill>
              <a:latin typeface="+mj-ea"/>
              <a:ea typeface="+mj-ea"/>
            </a:endParaRPr>
          </a:p>
          <a:p>
            <a:pPr algn="ctr">
              <a:defRPr/>
            </a:pPr>
            <a:r>
              <a:rPr lang="en-US" altLang="zh-CN">
                <a:solidFill>
                  <a:srgbClr val="000066"/>
                </a:solidFill>
                <a:latin typeface="+mj-ea"/>
                <a:ea typeface="+mj-ea"/>
              </a:rPr>
              <a:t>[2,3,1],[3,1,2],[3,2,1]] </a:t>
            </a:r>
            <a:endParaRPr lang="zh-CN" altLang="en-US">
              <a:solidFill>
                <a:srgbClr val="000066"/>
              </a:solidFill>
              <a:latin typeface="+mj-ea"/>
              <a:ea typeface="+mj-ea"/>
            </a:endParaRPr>
          </a:p>
        </p:txBody>
      </p:sp>
      <p:sp>
        <p:nvSpPr>
          <p:cNvPr id="32773" name="右箭头 9"/>
          <p:cNvSpPr>
            <a:spLocks noChangeArrowheads="1"/>
          </p:cNvSpPr>
          <p:nvPr/>
        </p:nvSpPr>
        <p:spPr bwMode="auto">
          <a:xfrm>
            <a:off x="3348355" y="3842385"/>
            <a:ext cx="1529715" cy="497840"/>
          </a:xfrm>
          <a:prstGeom prst="rightArrow">
            <a:avLst>
              <a:gd name="adj1" fmla="val 50000"/>
              <a:gd name="adj2" fmla="val 50181"/>
            </a:avLst>
          </a:prstGeom>
          <a:solidFill>
            <a:schemeClr val="accent1"/>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9" name="文本框 8"/>
          <p:cNvSpPr txBox="1"/>
          <p:nvPr/>
        </p:nvSpPr>
        <p:spPr>
          <a:xfrm>
            <a:off x="3348355" y="3501390"/>
            <a:ext cx="1456690" cy="429895"/>
          </a:xfrm>
          <a:prstGeom prst="rect">
            <a:avLst/>
          </a:prstGeom>
          <a:noFill/>
        </p:spPr>
        <p:txBody>
          <a:bodyPr>
            <a:noAutofit/>
          </a:bodyPr>
          <a:p>
            <a:pPr>
              <a:defRPr/>
            </a:pPr>
            <a:r>
              <a:rPr lang="zh-CN" altLang="en-US">
                <a:solidFill>
                  <a:srgbClr val="000066"/>
                </a:solidFill>
                <a:latin typeface="+mj-ea"/>
                <a:ea typeface="+mj-ea"/>
              </a:rPr>
              <a:t>转成树结构</a:t>
            </a:r>
            <a:r>
              <a:rPr lang="en-US" altLang="zh-CN">
                <a:solidFill>
                  <a:srgbClr val="000066"/>
                </a:solidFill>
                <a:latin typeface="+mj-ea"/>
                <a:ea typeface="+mj-ea"/>
              </a:rPr>
              <a:t> </a:t>
            </a:r>
            <a:endParaRPr lang="zh-CN" altLang="en-US">
              <a:solidFill>
                <a:srgbClr val="000066"/>
              </a:solidFill>
              <a:latin typeface="+mj-ea"/>
              <a:ea typeface="+mj-ea"/>
            </a:endParaRPr>
          </a:p>
        </p:txBody>
      </p:sp>
      <p:grpSp>
        <p:nvGrpSpPr>
          <p:cNvPr id="72" name="组合 71"/>
          <p:cNvGrpSpPr/>
          <p:nvPr/>
        </p:nvGrpSpPr>
        <p:grpSpPr>
          <a:xfrm>
            <a:off x="5220335" y="1988820"/>
            <a:ext cx="3688080" cy="2865120"/>
            <a:chOff x="8221" y="3132"/>
            <a:chExt cx="5808" cy="4512"/>
          </a:xfrm>
        </p:grpSpPr>
        <p:grpSp>
          <p:nvGrpSpPr>
            <p:cNvPr id="13" name="组合 12"/>
            <p:cNvGrpSpPr/>
            <p:nvPr/>
          </p:nvGrpSpPr>
          <p:grpSpPr>
            <a:xfrm>
              <a:off x="10546" y="3132"/>
              <a:ext cx="1018" cy="916"/>
              <a:chOff x="10489" y="3359"/>
              <a:chExt cx="1018" cy="916"/>
            </a:xfrm>
          </p:grpSpPr>
          <p:sp>
            <p:nvSpPr>
              <p:cNvPr id="10" name="椭圆 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 name="文本框 11"/>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5" name="组合 14"/>
            <p:cNvGrpSpPr/>
            <p:nvPr/>
          </p:nvGrpSpPr>
          <p:grpSpPr>
            <a:xfrm>
              <a:off x="8675" y="4607"/>
              <a:ext cx="1018" cy="917"/>
              <a:chOff x="10489" y="3359"/>
              <a:chExt cx="1018" cy="917"/>
            </a:xfrm>
          </p:grpSpPr>
          <p:sp>
            <p:nvSpPr>
              <p:cNvPr id="16" name="椭圆 1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 name="文本框 16"/>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8" name="组合 17"/>
            <p:cNvGrpSpPr/>
            <p:nvPr/>
          </p:nvGrpSpPr>
          <p:grpSpPr>
            <a:xfrm>
              <a:off x="10546" y="4607"/>
              <a:ext cx="1018" cy="916"/>
              <a:chOff x="10489" y="3359"/>
              <a:chExt cx="1018" cy="916"/>
            </a:xfrm>
          </p:grpSpPr>
          <p:sp>
            <p:nvSpPr>
              <p:cNvPr id="19" name="椭圆 1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0" name="文本框 19"/>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21" name="组合 20"/>
            <p:cNvGrpSpPr/>
            <p:nvPr/>
          </p:nvGrpSpPr>
          <p:grpSpPr>
            <a:xfrm>
              <a:off x="12529" y="4607"/>
              <a:ext cx="1018" cy="916"/>
              <a:chOff x="10489" y="3359"/>
              <a:chExt cx="1018" cy="916"/>
            </a:xfrm>
          </p:grpSpPr>
          <p:sp>
            <p:nvSpPr>
              <p:cNvPr id="22" name="椭圆 2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3" name="文本框 22"/>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cxnSp>
          <p:nvCxnSpPr>
            <p:cNvPr id="24" name="曲线连接符 23"/>
            <p:cNvCxnSpPr>
              <a:stCxn id="10" idx="2"/>
              <a:endCxn id="16" idx="0"/>
            </p:cNvCxnSpPr>
            <p:nvPr/>
          </p:nvCxnSpPr>
          <p:spPr>
            <a:xfrm rot="10800000" flipV="1">
              <a:off x="9184" y="3591"/>
              <a:ext cx="1362" cy="1016"/>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5" name="曲线连接符 24"/>
            <p:cNvCxnSpPr>
              <a:stCxn id="12" idx="3"/>
              <a:endCxn id="22" idx="0"/>
            </p:cNvCxnSpPr>
            <p:nvPr/>
          </p:nvCxnSpPr>
          <p:spPr>
            <a:xfrm>
              <a:off x="11533" y="3635"/>
              <a:ext cx="1505" cy="972"/>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6" name="曲线连接符 25"/>
            <p:cNvCxnSpPr>
              <a:stCxn id="10" idx="4"/>
              <a:endCxn id="19" idx="0"/>
            </p:cNvCxnSpPr>
            <p:nvPr/>
          </p:nvCxnSpPr>
          <p:spPr>
            <a:xfrm rot="5400000" flipV="1">
              <a:off x="10776" y="4328"/>
              <a:ext cx="558" cy="5"/>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30" name="组合 29"/>
            <p:cNvGrpSpPr/>
            <p:nvPr/>
          </p:nvGrpSpPr>
          <p:grpSpPr>
            <a:xfrm>
              <a:off x="9355" y="6011"/>
              <a:ext cx="538" cy="539"/>
              <a:chOff x="10489" y="3359"/>
              <a:chExt cx="1018" cy="917"/>
            </a:xfrm>
          </p:grpSpPr>
          <p:sp>
            <p:nvSpPr>
              <p:cNvPr id="31" name="椭圆 3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2" name="文本框 3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33" name="组合 32"/>
            <p:cNvGrpSpPr/>
            <p:nvPr/>
          </p:nvGrpSpPr>
          <p:grpSpPr>
            <a:xfrm>
              <a:off x="8221" y="6011"/>
              <a:ext cx="538" cy="539"/>
              <a:chOff x="10489" y="3359"/>
              <a:chExt cx="1018" cy="917"/>
            </a:xfrm>
          </p:grpSpPr>
          <p:sp>
            <p:nvSpPr>
              <p:cNvPr id="34" name="椭圆 3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5" name="文本框 3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2" name="组合 1"/>
            <p:cNvGrpSpPr/>
            <p:nvPr/>
          </p:nvGrpSpPr>
          <p:grpSpPr>
            <a:xfrm>
              <a:off x="11440" y="6011"/>
              <a:ext cx="538" cy="539"/>
              <a:chOff x="10489" y="3359"/>
              <a:chExt cx="1018" cy="917"/>
            </a:xfrm>
          </p:grpSpPr>
          <p:sp>
            <p:nvSpPr>
              <p:cNvPr id="3" name="椭圆 2"/>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 name="文本框 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8" name="组合 7"/>
            <p:cNvGrpSpPr/>
            <p:nvPr/>
          </p:nvGrpSpPr>
          <p:grpSpPr>
            <a:xfrm>
              <a:off x="10306" y="6011"/>
              <a:ext cx="538" cy="539"/>
              <a:chOff x="10489" y="3359"/>
              <a:chExt cx="1018" cy="917"/>
            </a:xfrm>
          </p:grpSpPr>
          <p:sp>
            <p:nvSpPr>
              <p:cNvPr id="27" name="椭圆 2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8" name="文本框 27"/>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9" name="组合 28"/>
            <p:cNvGrpSpPr/>
            <p:nvPr/>
          </p:nvGrpSpPr>
          <p:grpSpPr>
            <a:xfrm>
              <a:off x="13468" y="6011"/>
              <a:ext cx="538" cy="539"/>
              <a:chOff x="10489" y="3359"/>
              <a:chExt cx="1018" cy="917"/>
            </a:xfrm>
          </p:grpSpPr>
          <p:sp>
            <p:nvSpPr>
              <p:cNvPr id="36" name="椭圆 3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7" name="文本框 3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38" name="组合 37"/>
            <p:cNvGrpSpPr/>
            <p:nvPr/>
          </p:nvGrpSpPr>
          <p:grpSpPr>
            <a:xfrm>
              <a:off x="12334" y="6011"/>
              <a:ext cx="538" cy="539"/>
              <a:chOff x="10489" y="3359"/>
              <a:chExt cx="1018" cy="917"/>
            </a:xfrm>
          </p:grpSpPr>
          <p:sp>
            <p:nvSpPr>
              <p:cNvPr id="39" name="椭圆 3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0" name="文本框 3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42" name="曲线连接符 41"/>
            <p:cNvCxnSpPr>
              <a:stCxn id="16" idx="4"/>
              <a:endCxn id="35" idx="0"/>
            </p:cNvCxnSpPr>
            <p:nvPr/>
          </p:nvCxnSpPr>
          <p:spPr>
            <a:xfrm rot="5400000">
              <a:off x="8569" y="5467"/>
              <a:ext cx="558" cy="67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3" name="曲线连接符 42"/>
            <p:cNvCxnSpPr>
              <a:stCxn id="16" idx="4"/>
              <a:endCxn id="32" idx="0"/>
            </p:cNvCxnSpPr>
            <p:nvPr/>
          </p:nvCxnSpPr>
          <p:spPr>
            <a:xfrm rot="5400000" flipV="1">
              <a:off x="9136" y="5572"/>
              <a:ext cx="558" cy="46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4" name="曲线连接符 43"/>
            <p:cNvCxnSpPr>
              <a:stCxn id="22" idx="4"/>
              <a:endCxn id="40" idx="0"/>
            </p:cNvCxnSpPr>
            <p:nvPr/>
          </p:nvCxnSpPr>
          <p:spPr>
            <a:xfrm rot="5400000">
              <a:off x="12552" y="5596"/>
              <a:ext cx="558" cy="413"/>
            </a:xfrm>
            <a:prstGeom prst="curvedConnector3">
              <a:avLst>
                <a:gd name="adj1" fmla="val 49910"/>
              </a:avLst>
            </a:prstGeom>
            <a:solidFill>
              <a:schemeClr val="accent1"/>
            </a:solidFill>
            <a:ln w="9525" cap="flat" cmpd="sng" algn="ctr">
              <a:solidFill>
                <a:schemeClr val="tx1"/>
              </a:solidFill>
              <a:prstDash val="solid"/>
              <a:round/>
              <a:headEnd type="none" w="med" len="med"/>
              <a:tailEnd type="arrow" w="med" len="med"/>
            </a:ln>
          </p:spPr>
        </p:cxnSp>
        <p:cxnSp>
          <p:nvCxnSpPr>
            <p:cNvPr id="45" name="曲线连接符 44"/>
            <p:cNvCxnSpPr>
              <a:stCxn id="19" idx="4"/>
              <a:endCxn id="3" idx="0"/>
            </p:cNvCxnSpPr>
            <p:nvPr/>
          </p:nvCxnSpPr>
          <p:spPr>
            <a:xfrm rot="5400000" flipV="1">
              <a:off x="11139" y="5440"/>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6" name="曲线连接符 45"/>
            <p:cNvCxnSpPr>
              <a:stCxn id="19" idx="4"/>
              <a:endCxn id="28" idx="0"/>
            </p:cNvCxnSpPr>
            <p:nvPr/>
          </p:nvCxnSpPr>
          <p:spPr>
            <a:xfrm rot="5400000">
              <a:off x="10547" y="5574"/>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7" name="曲线连接符 46"/>
            <p:cNvCxnSpPr>
              <a:stCxn id="22" idx="4"/>
              <a:endCxn id="36" idx="0"/>
            </p:cNvCxnSpPr>
            <p:nvPr/>
          </p:nvCxnSpPr>
          <p:spPr>
            <a:xfrm rot="5400000" flipV="1">
              <a:off x="13144" y="5417"/>
              <a:ext cx="487" cy="699"/>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grpSp>
          <p:nvGrpSpPr>
            <p:cNvPr id="48" name="组合 47"/>
            <p:cNvGrpSpPr/>
            <p:nvPr/>
          </p:nvGrpSpPr>
          <p:grpSpPr>
            <a:xfrm>
              <a:off x="8221" y="7105"/>
              <a:ext cx="538" cy="539"/>
              <a:chOff x="10489" y="3359"/>
              <a:chExt cx="1018" cy="917"/>
            </a:xfrm>
          </p:grpSpPr>
          <p:sp>
            <p:nvSpPr>
              <p:cNvPr id="49" name="椭圆 4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0" name="文本框 4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51" name="组合 50"/>
            <p:cNvGrpSpPr/>
            <p:nvPr/>
          </p:nvGrpSpPr>
          <p:grpSpPr>
            <a:xfrm>
              <a:off x="9355" y="7105"/>
              <a:ext cx="538" cy="539"/>
              <a:chOff x="10489" y="3359"/>
              <a:chExt cx="1018" cy="917"/>
            </a:xfrm>
          </p:grpSpPr>
          <p:sp>
            <p:nvSpPr>
              <p:cNvPr id="52" name="椭圆 5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3" name="文本框 52"/>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4" name="组合 53"/>
            <p:cNvGrpSpPr/>
            <p:nvPr/>
          </p:nvGrpSpPr>
          <p:grpSpPr>
            <a:xfrm>
              <a:off x="10306" y="7105"/>
              <a:ext cx="538" cy="539"/>
              <a:chOff x="10489" y="3359"/>
              <a:chExt cx="1018" cy="917"/>
            </a:xfrm>
          </p:grpSpPr>
          <p:sp>
            <p:nvSpPr>
              <p:cNvPr id="55" name="椭圆 5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6" name="文本框 5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57" name="组合 56"/>
            <p:cNvGrpSpPr/>
            <p:nvPr/>
          </p:nvGrpSpPr>
          <p:grpSpPr>
            <a:xfrm>
              <a:off x="11456" y="7104"/>
              <a:ext cx="538" cy="539"/>
              <a:chOff x="10489" y="3359"/>
              <a:chExt cx="1018" cy="917"/>
            </a:xfrm>
          </p:grpSpPr>
          <p:sp>
            <p:nvSpPr>
              <p:cNvPr id="58" name="椭圆 5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9" name="文本框 5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60" name="组合 59"/>
            <p:cNvGrpSpPr/>
            <p:nvPr/>
          </p:nvGrpSpPr>
          <p:grpSpPr>
            <a:xfrm>
              <a:off x="12373" y="7103"/>
              <a:ext cx="538" cy="539"/>
              <a:chOff x="10489" y="3359"/>
              <a:chExt cx="1018" cy="917"/>
            </a:xfrm>
          </p:grpSpPr>
          <p:sp>
            <p:nvSpPr>
              <p:cNvPr id="61" name="椭圆 6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2" name="文本框 6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63" name="组合 62"/>
            <p:cNvGrpSpPr/>
            <p:nvPr/>
          </p:nvGrpSpPr>
          <p:grpSpPr>
            <a:xfrm>
              <a:off x="13491" y="7105"/>
              <a:ext cx="538" cy="539"/>
              <a:chOff x="10489" y="3359"/>
              <a:chExt cx="1018" cy="917"/>
            </a:xfrm>
          </p:grpSpPr>
          <p:sp>
            <p:nvSpPr>
              <p:cNvPr id="64" name="椭圆 6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5" name="文本框 6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cxnSp>
        <p:nvCxnSpPr>
          <p:cNvPr id="41" name="曲线连接符 40"/>
          <p:cNvCxnSpPr/>
          <p:nvPr/>
        </p:nvCxnSpPr>
        <p:spPr>
          <a:xfrm rot="5400000" flipV="1">
            <a:off x="5223510" y="4326890"/>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3" name="曲线连接符 72"/>
          <p:cNvCxnSpPr/>
          <p:nvPr/>
        </p:nvCxnSpPr>
        <p:spPr>
          <a:xfrm rot="5400000" flipV="1">
            <a:off x="5944870" y="4316730"/>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4" name="曲线连接符 73"/>
          <p:cNvCxnSpPr/>
          <p:nvPr/>
        </p:nvCxnSpPr>
        <p:spPr>
          <a:xfrm rot="5400000" flipV="1">
            <a:off x="6529070" y="4331335"/>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5" name="曲线连接符 74"/>
          <p:cNvCxnSpPr/>
          <p:nvPr/>
        </p:nvCxnSpPr>
        <p:spPr>
          <a:xfrm rot="5400000" flipV="1">
            <a:off x="7255510" y="4331335"/>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6" name="曲线连接符 75"/>
          <p:cNvCxnSpPr/>
          <p:nvPr/>
        </p:nvCxnSpPr>
        <p:spPr>
          <a:xfrm rot="5400000" flipV="1">
            <a:off x="7860665" y="4326890"/>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7" name="曲线连接符 76"/>
          <p:cNvCxnSpPr/>
          <p:nvPr/>
        </p:nvCxnSpPr>
        <p:spPr>
          <a:xfrm rot="5400000" flipV="1">
            <a:off x="8580755" y="4326890"/>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grpSp>
        <p:nvGrpSpPr>
          <p:cNvPr id="72" name="组合 71"/>
          <p:cNvGrpSpPr/>
          <p:nvPr/>
        </p:nvGrpSpPr>
        <p:grpSpPr>
          <a:xfrm>
            <a:off x="828040" y="2276475"/>
            <a:ext cx="3688080" cy="2864485"/>
            <a:chOff x="8221" y="3132"/>
            <a:chExt cx="5808" cy="4511"/>
          </a:xfrm>
        </p:grpSpPr>
        <p:grpSp>
          <p:nvGrpSpPr>
            <p:cNvPr id="13" name="组合 12"/>
            <p:cNvGrpSpPr/>
            <p:nvPr/>
          </p:nvGrpSpPr>
          <p:grpSpPr>
            <a:xfrm>
              <a:off x="10546" y="3132"/>
              <a:ext cx="1018" cy="916"/>
              <a:chOff x="10489" y="3359"/>
              <a:chExt cx="1018" cy="916"/>
            </a:xfrm>
          </p:grpSpPr>
          <p:sp>
            <p:nvSpPr>
              <p:cNvPr id="10" name="椭圆 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 name="文本框 11"/>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5" name="组合 14"/>
            <p:cNvGrpSpPr/>
            <p:nvPr/>
          </p:nvGrpSpPr>
          <p:grpSpPr>
            <a:xfrm>
              <a:off x="8675" y="4607"/>
              <a:ext cx="1018" cy="917"/>
              <a:chOff x="10489" y="3359"/>
              <a:chExt cx="1018" cy="917"/>
            </a:xfrm>
          </p:grpSpPr>
          <p:sp>
            <p:nvSpPr>
              <p:cNvPr id="16" name="椭圆 1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 name="文本框 16"/>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8" name="组合 17"/>
            <p:cNvGrpSpPr/>
            <p:nvPr/>
          </p:nvGrpSpPr>
          <p:grpSpPr>
            <a:xfrm>
              <a:off x="10546" y="4607"/>
              <a:ext cx="1018" cy="916"/>
              <a:chOff x="10489" y="3359"/>
              <a:chExt cx="1018" cy="916"/>
            </a:xfrm>
          </p:grpSpPr>
          <p:sp>
            <p:nvSpPr>
              <p:cNvPr id="19" name="椭圆 1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0" name="文本框 19"/>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21" name="组合 20"/>
            <p:cNvGrpSpPr/>
            <p:nvPr/>
          </p:nvGrpSpPr>
          <p:grpSpPr>
            <a:xfrm>
              <a:off x="12529" y="4607"/>
              <a:ext cx="1018" cy="916"/>
              <a:chOff x="10489" y="3359"/>
              <a:chExt cx="1018" cy="916"/>
            </a:xfrm>
          </p:grpSpPr>
          <p:sp>
            <p:nvSpPr>
              <p:cNvPr id="22" name="椭圆 2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3" name="文本框 22"/>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cxnSp>
          <p:nvCxnSpPr>
            <p:cNvPr id="24" name="曲线连接符 23"/>
            <p:cNvCxnSpPr>
              <a:stCxn id="10" idx="2"/>
              <a:endCxn id="16" idx="0"/>
            </p:cNvCxnSpPr>
            <p:nvPr/>
          </p:nvCxnSpPr>
          <p:spPr>
            <a:xfrm rot="10800000" flipV="1">
              <a:off x="9184" y="3591"/>
              <a:ext cx="1362" cy="1016"/>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5" name="曲线连接符 24"/>
            <p:cNvCxnSpPr>
              <a:stCxn id="12" idx="3"/>
              <a:endCxn id="22" idx="0"/>
            </p:cNvCxnSpPr>
            <p:nvPr/>
          </p:nvCxnSpPr>
          <p:spPr>
            <a:xfrm>
              <a:off x="11533" y="3635"/>
              <a:ext cx="1505" cy="972"/>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6" name="曲线连接符 25"/>
            <p:cNvCxnSpPr>
              <a:stCxn id="10" idx="4"/>
              <a:endCxn id="19" idx="0"/>
            </p:cNvCxnSpPr>
            <p:nvPr/>
          </p:nvCxnSpPr>
          <p:spPr>
            <a:xfrm rot="5400000" flipV="1">
              <a:off x="10776" y="4328"/>
              <a:ext cx="558" cy="5"/>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30" name="组合 29"/>
            <p:cNvGrpSpPr/>
            <p:nvPr/>
          </p:nvGrpSpPr>
          <p:grpSpPr>
            <a:xfrm>
              <a:off x="9355" y="6011"/>
              <a:ext cx="538" cy="539"/>
              <a:chOff x="10489" y="3359"/>
              <a:chExt cx="1018" cy="917"/>
            </a:xfrm>
          </p:grpSpPr>
          <p:sp>
            <p:nvSpPr>
              <p:cNvPr id="31" name="椭圆 3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2" name="文本框 3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33" name="组合 32"/>
            <p:cNvGrpSpPr/>
            <p:nvPr/>
          </p:nvGrpSpPr>
          <p:grpSpPr>
            <a:xfrm>
              <a:off x="8221" y="6011"/>
              <a:ext cx="538" cy="539"/>
              <a:chOff x="10489" y="3359"/>
              <a:chExt cx="1018" cy="917"/>
            </a:xfrm>
          </p:grpSpPr>
          <p:sp>
            <p:nvSpPr>
              <p:cNvPr id="34" name="椭圆 3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5" name="文本框 3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 name="组合 4"/>
            <p:cNvGrpSpPr/>
            <p:nvPr/>
          </p:nvGrpSpPr>
          <p:grpSpPr>
            <a:xfrm>
              <a:off x="11440" y="6011"/>
              <a:ext cx="538" cy="539"/>
              <a:chOff x="10489" y="3359"/>
              <a:chExt cx="1018" cy="917"/>
            </a:xfrm>
          </p:grpSpPr>
          <p:sp>
            <p:nvSpPr>
              <p:cNvPr id="6" name="椭圆 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 name="文本框 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8" name="组合 7"/>
            <p:cNvGrpSpPr/>
            <p:nvPr/>
          </p:nvGrpSpPr>
          <p:grpSpPr>
            <a:xfrm>
              <a:off x="10306" y="6011"/>
              <a:ext cx="538" cy="539"/>
              <a:chOff x="10489" y="3359"/>
              <a:chExt cx="1018" cy="917"/>
            </a:xfrm>
          </p:grpSpPr>
          <p:sp>
            <p:nvSpPr>
              <p:cNvPr id="27" name="椭圆 2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8" name="文本框 27"/>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9" name="组合 28"/>
            <p:cNvGrpSpPr/>
            <p:nvPr/>
          </p:nvGrpSpPr>
          <p:grpSpPr>
            <a:xfrm>
              <a:off x="13468" y="6011"/>
              <a:ext cx="538" cy="539"/>
              <a:chOff x="10489" y="3359"/>
              <a:chExt cx="1018" cy="917"/>
            </a:xfrm>
          </p:grpSpPr>
          <p:sp>
            <p:nvSpPr>
              <p:cNvPr id="36" name="椭圆 3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7" name="文本框 3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38" name="组合 37"/>
            <p:cNvGrpSpPr/>
            <p:nvPr/>
          </p:nvGrpSpPr>
          <p:grpSpPr>
            <a:xfrm>
              <a:off x="12334" y="6011"/>
              <a:ext cx="538" cy="539"/>
              <a:chOff x="10489" y="3359"/>
              <a:chExt cx="1018" cy="917"/>
            </a:xfrm>
          </p:grpSpPr>
          <p:sp>
            <p:nvSpPr>
              <p:cNvPr id="39" name="椭圆 3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0" name="文本框 3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42" name="曲线连接符 41"/>
            <p:cNvCxnSpPr>
              <a:stCxn id="16" idx="4"/>
              <a:endCxn id="35" idx="0"/>
            </p:cNvCxnSpPr>
            <p:nvPr/>
          </p:nvCxnSpPr>
          <p:spPr>
            <a:xfrm rot="5400000">
              <a:off x="8569" y="5467"/>
              <a:ext cx="558" cy="67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3" name="曲线连接符 42"/>
            <p:cNvCxnSpPr>
              <a:stCxn id="16" idx="4"/>
              <a:endCxn id="32" idx="0"/>
            </p:cNvCxnSpPr>
            <p:nvPr/>
          </p:nvCxnSpPr>
          <p:spPr>
            <a:xfrm rot="5400000" flipV="1">
              <a:off x="9136" y="5572"/>
              <a:ext cx="558" cy="46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4" name="曲线连接符 43"/>
            <p:cNvCxnSpPr>
              <a:stCxn id="22" idx="4"/>
              <a:endCxn id="40" idx="0"/>
            </p:cNvCxnSpPr>
            <p:nvPr/>
          </p:nvCxnSpPr>
          <p:spPr>
            <a:xfrm rot="5400000">
              <a:off x="12552" y="5596"/>
              <a:ext cx="558" cy="413"/>
            </a:xfrm>
            <a:prstGeom prst="curvedConnector3">
              <a:avLst>
                <a:gd name="adj1" fmla="val 49910"/>
              </a:avLst>
            </a:prstGeom>
            <a:solidFill>
              <a:schemeClr val="accent1"/>
            </a:solidFill>
            <a:ln w="9525" cap="flat" cmpd="sng" algn="ctr">
              <a:solidFill>
                <a:schemeClr val="tx1"/>
              </a:solidFill>
              <a:prstDash val="solid"/>
              <a:round/>
              <a:headEnd type="none" w="med" len="med"/>
              <a:tailEnd type="arrow" w="med" len="med"/>
            </a:ln>
          </p:spPr>
        </p:cxnSp>
        <p:cxnSp>
          <p:nvCxnSpPr>
            <p:cNvPr id="45" name="曲线连接符 44"/>
            <p:cNvCxnSpPr>
              <a:stCxn id="19" idx="4"/>
              <a:endCxn id="6" idx="0"/>
            </p:cNvCxnSpPr>
            <p:nvPr/>
          </p:nvCxnSpPr>
          <p:spPr>
            <a:xfrm rot="5400000" flipV="1">
              <a:off x="11139" y="5440"/>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6" name="曲线连接符 45"/>
            <p:cNvCxnSpPr>
              <a:stCxn id="19" idx="4"/>
              <a:endCxn id="28" idx="0"/>
            </p:cNvCxnSpPr>
            <p:nvPr/>
          </p:nvCxnSpPr>
          <p:spPr>
            <a:xfrm rot="5400000">
              <a:off x="10547" y="5574"/>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7" name="曲线连接符 46"/>
            <p:cNvCxnSpPr>
              <a:stCxn id="22" idx="4"/>
              <a:endCxn id="36" idx="0"/>
            </p:cNvCxnSpPr>
            <p:nvPr/>
          </p:nvCxnSpPr>
          <p:spPr>
            <a:xfrm rot="5400000" flipV="1">
              <a:off x="13144" y="5417"/>
              <a:ext cx="487" cy="699"/>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grpSp>
          <p:nvGrpSpPr>
            <p:cNvPr id="48" name="组合 47"/>
            <p:cNvGrpSpPr/>
            <p:nvPr/>
          </p:nvGrpSpPr>
          <p:grpSpPr>
            <a:xfrm>
              <a:off x="8221" y="7105"/>
              <a:ext cx="538" cy="539"/>
              <a:chOff x="10489" y="3359"/>
              <a:chExt cx="1018" cy="917"/>
            </a:xfrm>
          </p:grpSpPr>
          <p:sp>
            <p:nvSpPr>
              <p:cNvPr id="49" name="椭圆 4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0" name="文本框 4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51" name="组合 50"/>
            <p:cNvGrpSpPr/>
            <p:nvPr/>
          </p:nvGrpSpPr>
          <p:grpSpPr>
            <a:xfrm>
              <a:off x="9355" y="7105"/>
              <a:ext cx="538" cy="539"/>
              <a:chOff x="10489" y="3359"/>
              <a:chExt cx="1018" cy="917"/>
            </a:xfrm>
          </p:grpSpPr>
          <p:sp>
            <p:nvSpPr>
              <p:cNvPr id="52" name="椭圆 5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3" name="文本框 52"/>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4" name="组合 53"/>
            <p:cNvGrpSpPr/>
            <p:nvPr/>
          </p:nvGrpSpPr>
          <p:grpSpPr>
            <a:xfrm>
              <a:off x="10306" y="7105"/>
              <a:ext cx="538" cy="539"/>
              <a:chOff x="10489" y="3359"/>
              <a:chExt cx="1018" cy="917"/>
            </a:xfrm>
          </p:grpSpPr>
          <p:sp>
            <p:nvSpPr>
              <p:cNvPr id="55" name="椭圆 5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6" name="文本框 5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57" name="组合 56"/>
            <p:cNvGrpSpPr/>
            <p:nvPr/>
          </p:nvGrpSpPr>
          <p:grpSpPr>
            <a:xfrm>
              <a:off x="11456" y="7104"/>
              <a:ext cx="538" cy="539"/>
              <a:chOff x="10489" y="3359"/>
              <a:chExt cx="1018" cy="917"/>
            </a:xfrm>
          </p:grpSpPr>
          <p:sp>
            <p:nvSpPr>
              <p:cNvPr id="58" name="椭圆 5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9" name="文本框 5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60" name="组合 59"/>
            <p:cNvGrpSpPr/>
            <p:nvPr/>
          </p:nvGrpSpPr>
          <p:grpSpPr>
            <a:xfrm>
              <a:off x="12373" y="7103"/>
              <a:ext cx="538" cy="539"/>
              <a:chOff x="10489" y="3359"/>
              <a:chExt cx="1018" cy="917"/>
            </a:xfrm>
          </p:grpSpPr>
          <p:sp>
            <p:nvSpPr>
              <p:cNvPr id="61" name="椭圆 6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2" name="文本框 6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63" name="组合 62"/>
            <p:cNvGrpSpPr/>
            <p:nvPr/>
          </p:nvGrpSpPr>
          <p:grpSpPr>
            <a:xfrm>
              <a:off x="13491" y="7105"/>
              <a:ext cx="538" cy="539"/>
              <a:chOff x="10489" y="3359"/>
              <a:chExt cx="1018" cy="917"/>
            </a:xfrm>
          </p:grpSpPr>
          <p:sp>
            <p:nvSpPr>
              <p:cNvPr id="64" name="椭圆 6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5" name="文本框 6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66" name="曲线连接符 65"/>
            <p:cNvCxnSpPr>
              <a:stCxn id="34" idx="4"/>
            </p:cNvCxnSpPr>
            <p:nvPr/>
          </p:nvCxnSpPr>
          <p:spPr>
            <a:xfrm rot="5400000" flipV="1">
              <a:off x="8226"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7" name="曲线连接符 66"/>
            <p:cNvCxnSpPr/>
            <p:nvPr/>
          </p:nvCxnSpPr>
          <p:spPr>
            <a:xfrm rot="5400000" flipV="1">
              <a:off x="9362" y="6798"/>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8" name="曲线连接符 67"/>
            <p:cNvCxnSpPr/>
            <p:nvPr/>
          </p:nvCxnSpPr>
          <p:spPr>
            <a:xfrm rot="5400000" flipV="1">
              <a:off x="10282"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9" name="曲线连接符 68"/>
            <p:cNvCxnSpPr/>
            <p:nvPr/>
          </p:nvCxnSpPr>
          <p:spPr>
            <a:xfrm rot="5400000" flipV="1">
              <a:off x="11426"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0" name="曲线连接符 69"/>
            <p:cNvCxnSpPr/>
            <p:nvPr/>
          </p:nvCxnSpPr>
          <p:spPr>
            <a:xfrm rot="5400000" flipV="1">
              <a:off x="12379"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1" name="曲线连接符 70"/>
            <p:cNvCxnSpPr/>
            <p:nvPr/>
          </p:nvCxnSpPr>
          <p:spPr>
            <a:xfrm rot="5400000" flipV="1">
              <a:off x="13513"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1</a:t>
            </a:r>
            <a:r>
              <a:rPr lang="zh-CN" altLang="en-US" sz="3600" kern="0" smtClean="0">
                <a:sym typeface="+mn-ea"/>
              </a:rPr>
              <a:t>）</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9" name="文本框 8"/>
          <p:cNvSpPr txBox="1"/>
          <p:nvPr/>
        </p:nvSpPr>
        <p:spPr>
          <a:xfrm>
            <a:off x="611505" y="1462405"/>
            <a:ext cx="4481195" cy="448945"/>
          </a:xfrm>
          <a:prstGeom prst="rect">
            <a:avLst/>
          </a:prstGeom>
          <a:noFill/>
        </p:spPr>
        <p:txBody>
          <a:bodyPr>
            <a:noAutofit/>
          </a:bodyPr>
          <a:p>
            <a:pPr>
              <a:defRPr/>
            </a:pPr>
            <a:r>
              <a:rPr lang="zh-CN" altLang="en-US">
                <a:solidFill>
                  <a:srgbClr val="000066"/>
                </a:solidFill>
                <a:latin typeface="+mj-ea"/>
                <a:ea typeface="+mj-ea"/>
              </a:rPr>
              <a:t>如何设计全排列</a:t>
            </a:r>
            <a:r>
              <a:rPr lang="en-US" altLang="zh-CN">
                <a:solidFill>
                  <a:srgbClr val="000066"/>
                </a:solidFill>
                <a:latin typeface="+mj-ea"/>
                <a:ea typeface="+mj-ea"/>
              </a:rPr>
              <a:t>I</a:t>
            </a:r>
            <a:r>
              <a:rPr lang="zh-CN" altLang="en-US">
                <a:solidFill>
                  <a:srgbClr val="000066"/>
                </a:solidFill>
                <a:latin typeface="+mj-ea"/>
                <a:ea typeface="+mj-ea"/>
              </a:rPr>
              <a:t>的程序？</a:t>
            </a:r>
            <a:r>
              <a:rPr lang="en-US" altLang="zh-CN">
                <a:solidFill>
                  <a:srgbClr val="000066"/>
                </a:solidFill>
                <a:latin typeface="+mj-ea"/>
                <a:ea typeface="+mj-ea"/>
              </a:rPr>
              <a:t> </a:t>
            </a:r>
            <a:endParaRPr lang="zh-CN" altLang="en-US">
              <a:solidFill>
                <a:srgbClr val="000066"/>
              </a:solidFill>
              <a:latin typeface="+mj-ea"/>
              <a:ea typeface="+mj-ea"/>
            </a:endParaRPr>
          </a:p>
        </p:txBody>
      </p:sp>
      <p:sp>
        <p:nvSpPr>
          <p:cNvPr id="75" name="弧形 74"/>
          <p:cNvSpPr/>
          <p:nvPr/>
        </p:nvSpPr>
        <p:spPr>
          <a:xfrm flipH="1">
            <a:off x="1136650" y="4004945"/>
            <a:ext cx="807720" cy="1555115"/>
          </a:xfrm>
          <a:prstGeom prst="arc">
            <a:avLst/>
          </a:prstGeom>
          <a:noFill/>
          <a:ln w="38100" cap="sq" cmpd="sng" algn="ctr">
            <a:solidFill>
              <a:srgbClr val="FF0000"/>
            </a:solidFill>
            <a:prstDash val="solid"/>
            <a:round/>
            <a:headEnd type="triangle" w="med" len="med"/>
            <a:tailEnd type="none" w="med" len="med"/>
          </a:ln>
          <a:extLst>
            <a:ext uri="{909E8E84-426E-40DD-AFC4-6F175D3DCCD1}">
              <a14:hiddenFill xmlns:a14="http://schemas.microsoft.com/office/drawing/2010/main">
                <a:solidFill>
                  <a:schemeClr val="bg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6" name="弧形 75"/>
          <p:cNvSpPr/>
          <p:nvPr/>
        </p:nvSpPr>
        <p:spPr>
          <a:xfrm rot="1500000" flipH="1" flipV="1">
            <a:off x="859155" y="2778760"/>
            <a:ext cx="934720" cy="2374265"/>
          </a:xfrm>
          <a:prstGeom prst="arc">
            <a:avLst>
              <a:gd name="adj1" fmla="val 16200000"/>
              <a:gd name="adj2" fmla="val 2141762"/>
            </a:avLst>
          </a:prstGeom>
          <a:noFill/>
          <a:ln w="38100" cap="sq" cmpd="sng" algn="ctr">
            <a:solidFill>
              <a:srgbClr val="FF0000"/>
            </a:solidFill>
            <a:prstDash val="solid"/>
            <a:round/>
            <a:headEnd type="triangle" w="med" len="med"/>
            <a:tailEnd type="none" w="med" len="med"/>
          </a:ln>
          <a:extLst>
            <a:ext uri="{909E8E84-426E-40DD-AFC4-6F175D3DCCD1}">
              <a14:hiddenFill xmlns:a14="http://schemas.microsoft.com/office/drawing/2010/main">
                <a:solidFill>
                  <a:schemeClr val="bg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7" name="文本框 76"/>
          <p:cNvSpPr txBox="1"/>
          <p:nvPr/>
        </p:nvSpPr>
        <p:spPr>
          <a:xfrm>
            <a:off x="683895" y="3085465"/>
            <a:ext cx="4010025" cy="783590"/>
          </a:xfrm>
          <a:prstGeom prst="rect">
            <a:avLst/>
          </a:prstGeom>
          <a:noFill/>
          <a:ln w="38100">
            <a:solidFill>
              <a:srgbClr val="FF0000"/>
            </a:solidFill>
          </a:ln>
        </p:spPr>
        <p:txBody>
          <a:bodyPr wrap="square" rtlCol="0">
            <a:noAutofit/>
          </a:bodyPr>
          <a:p>
            <a:endParaRPr lang="zh-CN" altLang="en-US"/>
          </a:p>
        </p:txBody>
      </p:sp>
      <p:sp>
        <p:nvSpPr>
          <p:cNvPr id="78" name="文本框 77"/>
          <p:cNvSpPr txBox="1"/>
          <p:nvPr/>
        </p:nvSpPr>
        <p:spPr>
          <a:xfrm>
            <a:off x="4190365" y="3141345"/>
            <a:ext cx="469265" cy="401320"/>
          </a:xfrm>
          <a:prstGeom prst="rect">
            <a:avLst/>
          </a:prstGeom>
          <a:noFill/>
        </p:spPr>
        <p:txBody>
          <a:bodyPr wrap="square" rtlCol="0">
            <a:noAutofit/>
          </a:bodyPr>
          <a:p>
            <a:r>
              <a:rPr lang="zh-CN" altLang="en-US">
                <a:solidFill>
                  <a:srgbClr val="FF0000"/>
                </a:solidFill>
              </a:rPr>
              <a:t>①</a:t>
            </a:r>
            <a:endParaRPr lang="zh-CN" altLang="en-US">
              <a:solidFill>
                <a:srgbClr val="FF0000"/>
              </a:solidFill>
            </a:endParaRPr>
          </a:p>
        </p:txBody>
      </p:sp>
      <p:sp>
        <p:nvSpPr>
          <p:cNvPr id="79" name="文本框 78"/>
          <p:cNvSpPr txBox="1"/>
          <p:nvPr/>
        </p:nvSpPr>
        <p:spPr>
          <a:xfrm>
            <a:off x="323850" y="4221480"/>
            <a:ext cx="469265" cy="401320"/>
          </a:xfrm>
          <a:prstGeom prst="rect">
            <a:avLst/>
          </a:prstGeom>
          <a:noFill/>
        </p:spPr>
        <p:txBody>
          <a:bodyPr wrap="square" rtlCol="0">
            <a:noAutofit/>
          </a:bodyPr>
          <a:p>
            <a:r>
              <a:rPr lang="zh-CN" altLang="en-US">
                <a:solidFill>
                  <a:srgbClr val="FF0000"/>
                </a:solidFill>
              </a:rPr>
              <a:t>②</a:t>
            </a:r>
            <a:endParaRPr lang="zh-CN" altLang="en-US">
              <a:solidFill>
                <a:srgbClr val="FF0000"/>
              </a:solidFill>
            </a:endParaRPr>
          </a:p>
        </p:txBody>
      </p:sp>
      <p:sp>
        <p:nvSpPr>
          <p:cNvPr id="80" name="文本框 79"/>
          <p:cNvSpPr txBox="1"/>
          <p:nvPr/>
        </p:nvSpPr>
        <p:spPr>
          <a:xfrm>
            <a:off x="1188085" y="4348480"/>
            <a:ext cx="469265" cy="401320"/>
          </a:xfrm>
          <a:prstGeom prst="rect">
            <a:avLst/>
          </a:prstGeom>
          <a:noFill/>
        </p:spPr>
        <p:txBody>
          <a:bodyPr wrap="square" rtlCol="0">
            <a:noAutofit/>
          </a:bodyPr>
          <a:p>
            <a:r>
              <a:rPr lang="zh-CN" altLang="en-US">
                <a:solidFill>
                  <a:srgbClr val="FF0000"/>
                </a:solidFill>
              </a:rPr>
              <a:t>③</a:t>
            </a:r>
            <a:endParaRPr lang="zh-CN" altLang="en-US">
              <a:solidFill>
                <a:srgbClr val="FF0000"/>
              </a:solidFill>
            </a:endParaRPr>
          </a:p>
        </p:txBody>
      </p:sp>
      <p:sp>
        <p:nvSpPr>
          <p:cNvPr id="81" name="文本框 80"/>
          <p:cNvSpPr txBox="1"/>
          <p:nvPr/>
        </p:nvSpPr>
        <p:spPr>
          <a:xfrm>
            <a:off x="5220335" y="2341245"/>
            <a:ext cx="3558540" cy="1097915"/>
          </a:xfrm>
          <a:prstGeom prst="rect">
            <a:avLst/>
          </a:prstGeom>
          <a:noFill/>
        </p:spPr>
        <p:txBody>
          <a:bodyPr wrap="square" rtlCol="0">
            <a:noAutofit/>
          </a:bodyPr>
          <a:p>
            <a:r>
              <a:rPr lang="zh-CN" altLang="en-US"/>
              <a:t>①每一层每个元素都要都有一</a:t>
            </a:r>
            <a:r>
              <a:rPr lang="zh-CN" altLang="en-US"/>
              <a:t>次遍历，是否要遍历要根据元素是否已被</a:t>
            </a:r>
            <a:r>
              <a:rPr lang="zh-CN" altLang="en-US"/>
              <a:t>访问</a:t>
            </a:r>
            <a:endParaRPr lang="zh-CN" altLang="en-US"/>
          </a:p>
        </p:txBody>
      </p:sp>
      <p:sp>
        <p:nvSpPr>
          <p:cNvPr id="82" name="文本框 81"/>
          <p:cNvSpPr txBox="1"/>
          <p:nvPr/>
        </p:nvSpPr>
        <p:spPr>
          <a:xfrm>
            <a:off x="5220335" y="3357245"/>
            <a:ext cx="3558540" cy="812800"/>
          </a:xfrm>
          <a:prstGeom prst="rect">
            <a:avLst/>
          </a:prstGeom>
          <a:noFill/>
        </p:spPr>
        <p:txBody>
          <a:bodyPr wrap="square" rtlCol="0">
            <a:noAutofit/>
          </a:bodyPr>
          <a:p>
            <a:r>
              <a:rPr lang="zh-CN" altLang="en-US"/>
              <a:t>②表示往下递归的方向要标记元素已经被</a:t>
            </a:r>
            <a:r>
              <a:rPr lang="zh-CN" altLang="en-US"/>
              <a:t>访问</a:t>
            </a:r>
            <a:endParaRPr lang="zh-CN" altLang="en-US"/>
          </a:p>
        </p:txBody>
      </p:sp>
      <p:sp>
        <p:nvSpPr>
          <p:cNvPr id="83" name="文本框 82"/>
          <p:cNvSpPr txBox="1"/>
          <p:nvPr/>
        </p:nvSpPr>
        <p:spPr>
          <a:xfrm>
            <a:off x="5292090" y="4237355"/>
            <a:ext cx="3558540" cy="812800"/>
          </a:xfrm>
          <a:prstGeom prst="rect">
            <a:avLst/>
          </a:prstGeom>
          <a:noFill/>
        </p:spPr>
        <p:txBody>
          <a:bodyPr wrap="square" rtlCol="0">
            <a:noAutofit/>
          </a:bodyPr>
          <a:p>
            <a:r>
              <a:rPr lang="zh-CN" altLang="en-US"/>
              <a:t>③表示往上回溯的时候要取消标记，否则在下一个分支就会出现</a:t>
            </a:r>
            <a:r>
              <a:rPr lang="zh-CN" altLang="en-US"/>
              <a:t>问题</a:t>
            </a:r>
            <a:endParaRPr lang="zh-CN" altLang="en-US"/>
          </a:p>
        </p:txBody>
      </p:sp>
      <p:sp>
        <p:nvSpPr>
          <p:cNvPr id="2" name="弧形 1"/>
          <p:cNvSpPr/>
          <p:nvPr/>
        </p:nvSpPr>
        <p:spPr>
          <a:xfrm rot="10140000" flipH="1">
            <a:off x="1652905" y="3597910"/>
            <a:ext cx="295910" cy="1134110"/>
          </a:xfrm>
          <a:prstGeom prst="arc">
            <a:avLst/>
          </a:prstGeom>
          <a:noFill/>
          <a:ln w="38100" cap="sq" cmpd="sng" algn="ctr">
            <a:solidFill>
              <a:srgbClr val="FF0000"/>
            </a:solidFill>
            <a:prstDash val="solid"/>
            <a:round/>
            <a:headEnd type="triangle" w="med" len="med"/>
            <a:tailEnd type="none" w="med" len="med"/>
          </a:ln>
          <a:extLst>
            <a:ext uri="{909E8E84-426E-40DD-AFC4-6F175D3DCCD1}">
              <a14:hiddenFill xmlns:a14="http://schemas.microsoft.com/office/drawing/2010/main">
                <a:solidFill>
                  <a:schemeClr val="bg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 name="文本框 2"/>
          <p:cNvSpPr txBox="1"/>
          <p:nvPr/>
        </p:nvSpPr>
        <p:spPr>
          <a:xfrm>
            <a:off x="1906905" y="4364990"/>
            <a:ext cx="469265" cy="401320"/>
          </a:xfrm>
          <a:prstGeom prst="rect">
            <a:avLst/>
          </a:prstGeom>
          <a:noFill/>
        </p:spPr>
        <p:txBody>
          <a:bodyPr wrap="square" rtlCol="0">
            <a:noAutofit/>
          </a:bodyPr>
          <a:p>
            <a:r>
              <a:rPr lang="zh-CN" altLang="en-US">
                <a:solidFill>
                  <a:srgbClr val="FF0000"/>
                </a:solidFill>
              </a:rPr>
              <a:t>④</a:t>
            </a:r>
            <a:endParaRPr lang="zh-CN" altLang="en-US">
              <a:solidFill>
                <a:srgbClr val="FF0000"/>
              </a:solidFill>
            </a:endParaRPr>
          </a:p>
        </p:txBody>
      </p:sp>
      <p:sp>
        <p:nvSpPr>
          <p:cNvPr id="14" name="文本框 13"/>
          <p:cNvSpPr txBox="1"/>
          <p:nvPr/>
        </p:nvSpPr>
        <p:spPr>
          <a:xfrm>
            <a:off x="5292090" y="5157470"/>
            <a:ext cx="3558540" cy="812800"/>
          </a:xfrm>
          <a:prstGeom prst="rect">
            <a:avLst/>
          </a:prstGeom>
          <a:noFill/>
        </p:spPr>
        <p:txBody>
          <a:bodyPr wrap="square" rtlCol="0">
            <a:noAutofit/>
          </a:bodyPr>
          <a:p>
            <a:r>
              <a:rPr lang="zh-CN" altLang="en-US"/>
              <a:t>④根据根节点状态进入下一个</a:t>
            </a:r>
            <a:r>
              <a:rPr lang="zh-CN" altLang="en-US"/>
              <a:t>分支</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grpSp>
        <p:nvGrpSpPr>
          <p:cNvPr id="72" name="组合 71"/>
          <p:cNvGrpSpPr/>
          <p:nvPr/>
        </p:nvGrpSpPr>
        <p:grpSpPr>
          <a:xfrm>
            <a:off x="2771775" y="2853055"/>
            <a:ext cx="3688080" cy="2865120"/>
            <a:chOff x="8221" y="3132"/>
            <a:chExt cx="5808" cy="4512"/>
          </a:xfrm>
        </p:grpSpPr>
        <p:grpSp>
          <p:nvGrpSpPr>
            <p:cNvPr id="13" name="组合 12"/>
            <p:cNvGrpSpPr/>
            <p:nvPr/>
          </p:nvGrpSpPr>
          <p:grpSpPr>
            <a:xfrm>
              <a:off x="10546" y="3132"/>
              <a:ext cx="1018" cy="916"/>
              <a:chOff x="10489" y="3359"/>
              <a:chExt cx="1018" cy="916"/>
            </a:xfrm>
          </p:grpSpPr>
          <p:sp>
            <p:nvSpPr>
              <p:cNvPr id="10" name="椭圆 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 name="文本框 11"/>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5" name="组合 14"/>
            <p:cNvGrpSpPr/>
            <p:nvPr/>
          </p:nvGrpSpPr>
          <p:grpSpPr>
            <a:xfrm>
              <a:off x="8675" y="4607"/>
              <a:ext cx="1018" cy="917"/>
              <a:chOff x="10489" y="3359"/>
              <a:chExt cx="1018" cy="917"/>
            </a:xfrm>
          </p:grpSpPr>
          <p:sp>
            <p:nvSpPr>
              <p:cNvPr id="16" name="椭圆 1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 name="文本框 16"/>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8" name="组合 17"/>
            <p:cNvGrpSpPr/>
            <p:nvPr/>
          </p:nvGrpSpPr>
          <p:grpSpPr>
            <a:xfrm>
              <a:off x="10546" y="4607"/>
              <a:ext cx="1018" cy="916"/>
              <a:chOff x="10489" y="3359"/>
              <a:chExt cx="1018" cy="916"/>
            </a:xfrm>
          </p:grpSpPr>
          <p:sp>
            <p:nvSpPr>
              <p:cNvPr id="19" name="椭圆 1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0" name="文本框 19"/>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21" name="组合 20"/>
            <p:cNvGrpSpPr/>
            <p:nvPr/>
          </p:nvGrpSpPr>
          <p:grpSpPr>
            <a:xfrm>
              <a:off x="12529" y="4607"/>
              <a:ext cx="1018" cy="916"/>
              <a:chOff x="10489" y="3359"/>
              <a:chExt cx="1018" cy="916"/>
            </a:xfrm>
          </p:grpSpPr>
          <p:sp>
            <p:nvSpPr>
              <p:cNvPr id="22" name="椭圆 2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3" name="文本框 22"/>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cxnSp>
          <p:nvCxnSpPr>
            <p:cNvPr id="24" name="曲线连接符 23"/>
            <p:cNvCxnSpPr>
              <a:stCxn id="10" idx="2"/>
              <a:endCxn id="16" idx="0"/>
            </p:cNvCxnSpPr>
            <p:nvPr/>
          </p:nvCxnSpPr>
          <p:spPr>
            <a:xfrm rot="10800000" flipV="1">
              <a:off x="9184" y="3591"/>
              <a:ext cx="1362" cy="1016"/>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5" name="曲线连接符 24"/>
            <p:cNvCxnSpPr>
              <a:stCxn id="12" idx="3"/>
              <a:endCxn id="22" idx="0"/>
            </p:cNvCxnSpPr>
            <p:nvPr/>
          </p:nvCxnSpPr>
          <p:spPr>
            <a:xfrm>
              <a:off x="11533" y="3635"/>
              <a:ext cx="1505" cy="972"/>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6" name="曲线连接符 25"/>
            <p:cNvCxnSpPr>
              <a:stCxn id="10" idx="4"/>
              <a:endCxn id="19" idx="0"/>
            </p:cNvCxnSpPr>
            <p:nvPr/>
          </p:nvCxnSpPr>
          <p:spPr>
            <a:xfrm rot="5400000" flipV="1">
              <a:off x="10776" y="4328"/>
              <a:ext cx="558" cy="5"/>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30" name="组合 29"/>
            <p:cNvGrpSpPr/>
            <p:nvPr/>
          </p:nvGrpSpPr>
          <p:grpSpPr>
            <a:xfrm>
              <a:off x="9355" y="6011"/>
              <a:ext cx="538" cy="539"/>
              <a:chOff x="10489" y="3359"/>
              <a:chExt cx="1018" cy="917"/>
            </a:xfrm>
          </p:grpSpPr>
          <p:sp>
            <p:nvSpPr>
              <p:cNvPr id="31" name="椭圆 3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2" name="文本框 3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33" name="组合 32"/>
            <p:cNvGrpSpPr/>
            <p:nvPr/>
          </p:nvGrpSpPr>
          <p:grpSpPr>
            <a:xfrm>
              <a:off x="8221" y="6011"/>
              <a:ext cx="538" cy="539"/>
              <a:chOff x="10489" y="3359"/>
              <a:chExt cx="1018" cy="917"/>
            </a:xfrm>
          </p:grpSpPr>
          <p:sp>
            <p:nvSpPr>
              <p:cNvPr id="34" name="椭圆 3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5" name="文本框 3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 name="组合 4"/>
            <p:cNvGrpSpPr/>
            <p:nvPr/>
          </p:nvGrpSpPr>
          <p:grpSpPr>
            <a:xfrm>
              <a:off x="11440" y="6011"/>
              <a:ext cx="538" cy="539"/>
              <a:chOff x="10489" y="3359"/>
              <a:chExt cx="1018" cy="917"/>
            </a:xfrm>
          </p:grpSpPr>
          <p:sp>
            <p:nvSpPr>
              <p:cNvPr id="6" name="椭圆 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 name="文本框 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8" name="组合 7"/>
            <p:cNvGrpSpPr/>
            <p:nvPr/>
          </p:nvGrpSpPr>
          <p:grpSpPr>
            <a:xfrm>
              <a:off x="10306" y="6011"/>
              <a:ext cx="538" cy="539"/>
              <a:chOff x="10489" y="3359"/>
              <a:chExt cx="1018" cy="917"/>
            </a:xfrm>
          </p:grpSpPr>
          <p:sp>
            <p:nvSpPr>
              <p:cNvPr id="27" name="椭圆 2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8" name="文本框 27"/>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9" name="组合 28"/>
            <p:cNvGrpSpPr/>
            <p:nvPr/>
          </p:nvGrpSpPr>
          <p:grpSpPr>
            <a:xfrm>
              <a:off x="13468" y="6011"/>
              <a:ext cx="538" cy="539"/>
              <a:chOff x="10489" y="3359"/>
              <a:chExt cx="1018" cy="917"/>
            </a:xfrm>
          </p:grpSpPr>
          <p:sp>
            <p:nvSpPr>
              <p:cNvPr id="36" name="椭圆 3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7" name="文本框 3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38" name="组合 37"/>
            <p:cNvGrpSpPr/>
            <p:nvPr/>
          </p:nvGrpSpPr>
          <p:grpSpPr>
            <a:xfrm>
              <a:off x="12334" y="6011"/>
              <a:ext cx="538" cy="539"/>
              <a:chOff x="10489" y="3359"/>
              <a:chExt cx="1018" cy="917"/>
            </a:xfrm>
          </p:grpSpPr>
          <p:sp>
            <p:nvSpPr>
              <p:cNvPr id="39" name="椭圆 3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0" name="文本框 3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42" name="曲线连接符 41"/>
            <p:cNvCxnSpPr>
              <a:stCxn id="16" idx="4"/>
              <a:endCxn id="35" idx="0"/>
            </p:cNvCxnSpPr>
            <p:nvPr/>
          </p:nvCxnSpPr>
          <p:spPr>
            <a:xfrm rot="5400000">
              <a:off x="8569" y="5467"/>
              <a:ext cx="558" cy="67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3" name="曲线连接符 42"/>
            <p:cNvCxnSpPr>
              <a:stCxn id="16" idx="4"/>
              <a:endCxn id="32" idx="0"/>
            </p:cNvCxnSpPr>
            <p:nvPr/>
          </p:nvCxnSpPr>
          <p:spPr>
            <a:xfrm rot="5400000" flipV="1">
              <a:off x="9136" y="5572"/>
              <a:ext cx="558" cy="46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4" name="曲线连接符 43"/>
            <p:cNvCxnSpPr>
              <a:stCxn id="22" idx="4"/>
              <a:endCxn id="40" idx="0"/>
            </p:cNvCxnSpPr>
            <p:nvPr/>
          </p:nvCxnSpPr>
          <p:spPr>
            <a:xfrm rot="5400000">
              <a:off x="12552" y="5596"/>
              <a:ext cx="558" cy="413"/>
            </a:xfrm>
            <a:prstGeom prst="curvedConnector3">
              <a:avLst>
                <a:gd name="adj1" fmla="val 49910"/>
              </a:avLst>
            </a:prstGeom>
            <a:solidFill>
              <a:schemeClr val="accent1"/>
            </a:solidFill>
            <a:ln w="9525" cap="flat" cmpd="sng" algn="ctr">
              <a:solidFill>
                <a:schemeClr val="tx1"/>
              </a:solidFill>
              <a:prstDash val="solid"/>
              <a:round/>
              <a:headEnd type="none" w="med" len="med"/>
              <a:tailEnd type="arrow" w="med" len="med"/>
            </a:ln>
          </p:spPr>
        </p:cxnSp>
        <p:cxnSp>
          <p:nvCxnSpPr>
            <p:cNvPr id="45" name="曲线连接符 44"/>
            <p:cNvCxnSpPr>
              <a:stCxn id="19" idx="4"/>
              <a:endCxn id="6" idx="0"/>
            </p:cNvCxnSpPr>
            <p:nvPr/>
          </p:nvCxnSpPr>
          <p:spPr>
            <a:xfrm rot="5400000" flipV="1">
              <a:off x="11139" y="5440"/>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6" name="曲线连接符 45"/>
            <p:cNvCxnSpPr>
              <a:stCxn id="19" idx="4"/>
              <a:endCxn id="28" idx="0"/>
            </p:cNvCxnSpPr>
            <p:nvPr/>
          </p:nvCxnSpPr>
          <p:spPr>
            <a:xfrm rot="5400000">
              <a:off x="10547" y="5574"/>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7" name="曲线连接符 46"/>
            <p:cNvCxnSpPr>
              <a:stCxn id="22" idx="4"/>
              <a:endCxn id="36" idx="0"/>
            </p:cNvCxnSpPr>
            <p:nvPr/>
          </p:nvCxnSpPr>
          <p:spPr>
            <a:xfrm rot="5400000" flipV="1">
              <a:off x="13144" y="5417"/>
              <a:ext cx="487" cy="699"/>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grpSp>
          <p:nvGrpSpPr>
            <p:cNvPr id="51" name="组合 50"/>
            <p:cNvGrpSpPr/>
            <p:nvPr/>
          </p:nvGrpSpPr>
          <p:grpSpPr>
            <a:xfrm>
              <a:off x="9355" y="7105"/>
              <a:ext cx="538" cy="539"/>
              <a:chOff x="10489" y="3359"/>
              <a:chExt cx="1018" cy="917"/>
            </a:xfrm>
          </p:grpSpPr>
          <p:sp>
            <p:nvSpPr>
              <p:cNvPr id="52" name="椭圆 5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3" name="文本框 52"/>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4" name="组合 53"/>
            <p:cNvGrpSpPr/>
            <p:nvPr/>
          </p:nvGrpSpPr>
          <p:grpSpPr>
            <a:xfrm>
              <a:off x="10306" y="7105"/>
              <a:ext cx="538" cy="539"/>
              <a:chOff x="10489" y="3359"/>
              <a:chExt cx="1018" cy="917"/>
            </a:xfrm>
          </p:grpSpPr>
          <p:sp>
            <p:nvSpPr>
              <p:cNvPr id="55" name="椭圆 5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6" name="文本框 5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57" name="组合 56"/>
            <p:cNvGrpSpPr/>
            <p:nvPr/>
          </p:nvGrpSpPr>
          <p:grpSpPr>
            <a:xfrm>
              <a:off x="11456" y="7104"/>
              <a:ext cx="538" cy="539"/>
              <a:chOff x="10489" y="3359"/>
              <a:chExt cx="1018" cy="917"/>
            </a:xfrm>
          </p:grpSpPr>
          <p:sp>
            <p:nvSpPr>
              <p:cNvPr id="58" name="椭圆 5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9" name="文本框 5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60" name="组合 59"/>
            <p:cNvGrpSpPr/>
            <p:nvPr/>
          </p:nvGrpSpPr>
          <p:grpSpPr>
            <a:xfrm>
              <a:off x="12373" y="7103"/>
              <a:ext cx="538" cy="539"/>
              <a:chOff x="10489" y="3359"/>
              <a:chExt cx="1018" cy="917"/>
            </a:xfrm>
          </p:grpSpPr>
          <p:sp>
            <p:nvSpPr>
              <p:cNvPr id="61" name="椭圆 6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2" name="文本框 6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63" name="组合 62"/>
            <p:cNvGrpSpPr/>
            <p:nvPr/>
          </p:nvGrpSpPr>
          <p:grpSpPr>
            <a:xfrm>
              <a:off x="13491" y="7105"/>
              <a:ext cx="538" cy="539"/>
              <a:chOff x="10489" y="3359"/>
              <a:chExt cx="1018" cy="917"/>
            </a:xfrm>
          </p:grpSpPr>
          <p:sp>
            <p:nvSpPr>
              <p:cNvPr id="64" name="椭圆 6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5" name="文本框 6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66" name="曲线连接符 65"/>
            <p:cNvCxnSpPr>
              <a:stCxn id="34" idx="4"/>
            </p:cNvCxnSpPr>
            <p:nvPr/>
          </p:nvCxnSpPr>
          <p:spPr>
            <a:xfrm rot="5400000" flipV="1">
              <a:off x="8226"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7" name="曲线连接符 66"/>
            <p:cNvCxnSpPr/>
            <p:nvPr/>
          </p:nvCxnSpPr>
          <p:spPr>
            <a:xfrm rot="5400000" flipV="1">
              <a:off x="9362" y="6798"/>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8" name="曲线连接符 67"/>
            <p:cNvCxnSpPr/>
            <p:nvPr/>
          </p:nvCxnSpPr>
          <p:spPr>
            <a:xfrm rot="5400000" flipV="1">
              <a:off x="10282"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9" name="曲线连接符 68"/>
            <p:cNvCxnSpPr/>
            <p:nvPr/>
          </p:nvCxnSpPr>
          <p:spPr>
            <a:xfrm rot="5400000" flipV="1">
              <a:off x="11426"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0" name="曲线连接符 69"/>
            <p:cNvCxnSpPr/>
            <p:nvPr/>
          </p:nvCxnSpPr>
          <p:spPr>
            <a:xfrm rot="5400000" flipV="1">
              <a:off x="12379"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1" name="曲线连接符 70"/>
            <p:cNvCxnSpPr/>
            <p:nvPr/>
          </p:nvCxnSpPr>
          <p:spPr>
            <a:xfrm rot="5400000" flipV="1">
              <a:off x="13513"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1</a:t>
            </a:r>
            <a:r>
              <a:rPr lang="zh-CN" altLang="en-US" sz="3600" kern="0" smtClean="0">
                <a:sym typeface="+mn-ea"/>
              </a:rPr>
              <a:t>）</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9" name="文本框 8"/>
          <p:cNvSpPr txBox="1"/>
          <p:nvPr/>
        </p:nvSpPr>
        <p:spPr>
          <a:xfrm>
            <a:off x="611505" y="1462405"/>
            <a:ext cx="4481195" cy="448945"/>
          </a:xfrm>
          <a:prstGeom prst="rect">
            <a:avLst/>
          </a:prstGeom>
          <a:noFill/>
        </p:spPr>
        <p:txBody>
          <a:bodyPr>
            <a:noAutofit/>
          </a:bodyPr>
          <a:p>
            <a:pPr>
              <a:defRPr/>
            </a:pPr>
            <a:r>
              <a:rPr lang="zh-CN" altLang="en-US" sz="1800">
                <a:solidFill>
                  <a:srgbClr val="000066"/>
                </a:solidFill>
                <a:latin typeface="+mj-ea"/>
                <a:ea typeface="+mj-ea"/>
              </a:rPr>
              <a:t>如何设计全排列</a:t>
            </a:r>
            <a:r>
              <a:rPr lang="en-US" altLang="zh-CN" sz="1800">
                <a:solidFill>
                  <a:srgbClr val="000066"/>
                </a:solidFill>
                <a:latin typeface="+mj-ea"/>
                <a:ea typeface="+mj-ea"/>
              </a:rPr>
              <a:t>I</a:t>
            </a:r>
            <a:r>
              <a:rPr lang="zh-CN" altLang="en-US" sz="1800">
                <a:solidFill>
                  <a:srgbClr val="000066"/>
                </a:solidFill>
                <a:latin typeface="+mj-ea"/>
                <a:ea typeface="+mj-ea"/>
              </a:rPr>
              <a:t>的程序？</a:t>
            </a:r>
            <a:r>
              <a:rPr lang="en-US" altLang="zh-CN" sz="1800">
                <a:solidFill>
                  <a:srgbClr val="000066"/>
                </a:solidFill>
                <a:latin typeface="+mj-ea"/>
                <a:ea typeface="+mj-ea"/>
              </a:rPr>
              <a:t> </a:t>
            </a:r>
            <a:endParaRPr lang="en-US" altLang="zh-CN" sz="1800">
              <a:solidFill>
                <a:srgbClr val="000066"/>
              </a:solidFill>
              <a:latin typeface="+mj-ea"/>
              <a:ea typeface="+mj-ea"/>
            </a:endParaRPr>
          </a:p>
        </p:txBody>
      </p:sp>
      <p:sp>
        <p:nvSpPr>
          <p:cNvPr id="78" name="文本框 77"/>
          <p:cNvSpPr txBox="1"/>
          <p:nvPr/>
        </p:nvSpPr>
        <p:spPr>
          <a:xfrm>
            <a:off x="3059430" y="2770505"/>
            <a:ext cx="469265" cy="401320"/>
          </a:xfrm>
          <a:prstGeom prst="rect">
            <a:avLst/>
          </a:prstGeom>
          <a:noFill/>
        </p:spPr>
        <p:txBody>
          <a:bodyPr wrap="square" rtlCol="0">
            <a:noAutofit/>
          </a:bodyPr>
          <a:p>
            <a:r>
              <a:rPr lang="zh-CN" altLang="en-US" sz="1800">
                <a:solidFill>
                  <a:srgbClr val="FF0000"/>
                </a:solidFill>
              </a:rPr>
              <a:t>①</a:t>
            </a:r>
            <a:endParaRPr lang="zh-CN" altLang="en-US" sz="1800">
              <a:solidFill>
                <a:srgbClr val="FF0000"/>
              </a:solidFill>
            </a:endParaRPr>
          </a:p>
        </p:txBody>
      </p:sp>
      <p:sp>
        <p:nvSpPr>
          <p:cNvPr id="79" name="文本框 78"/>
          <p:cNvSpPr txBox="1"/>
          <p:nvPr/>
        </p:nvSpPr>
        <p:spPr>
          <a:xfrm>
            <a:off x="2411730" y="4149090"/>
            <a:ext cx="469265" cy="401320"/>
          </a:xfrm>
          <a:prstGeom prst="rect">
            <a:avLst/>
          </a:prstGeom>
          <a:noFill/>
        </p:spPr>
        <p:txBody>
          <a:bodyPr wrap="square" rtlCol="0">
            <a:noAutofit/>
          </a:bodyPr>
          <a:p>
            <a:r>
              <a:rPr lang="zh-CN" altLang="en-US" sz="1800">
                <a:solidFill>
                  <a:srgbClr val="FF0000"/>
                </a:solidFill>
              </a:rPr>
              <a:t>②</a:t>
            </a:r>
            <a:endParaRPr lang="zh-CN" altLang="en-US" sz="1800">
              <a:solidFill>
                <a:srgbClr val="FF0000"/>
              </a:solidFill>
            </a:endParaRPr>
          </a:p>
        </p:txBody>
      </p:sp>
      <p:sp>
        <p:nvSpPr>
          <p:cNvPr id="3" name="文本框 2"/>
          <p:cNvSpPr txBox="1"/>
          <p:nvPr/>
        </p:nvSpPr>
        <p:spPr>
          <a:xfrm>
            <a:off x="2305050" y="4932045"/>
            <a:ext cx="336550" cy="429260"/>
          </a:xfrm>
          <a:prstGeom prst="rect">
            <a:avLst/>
          </a:prstGeom>
          <a:noFill/>
        </p:spPr>
        <p:txBody>
          <a:bodyPr wrap="square" rtlCol="0">
            <a:noAutofit/>
          </a:bodyPr>
          <a:p>
            <a:r>
              <a:rPr lang="zh-CN" altLang="en-US" sz="1800">
                <a:solidFill>
                  <a:srgbClr val="FF0000"/>
                </a:solidFill>
              </a:rPr>
              <a:t>③</a:t>
            </a:r>
            <a:endParaRPr lang="zh-CN" altLang="en-US" sz="1800">
              <a:solidFill>
                <a:srgbClr val="FF0000"/>
              </a:solidFill>
            </a:endParaRPr>
          </a:p>
        </p:txBody>
      </p:sp>
      <p:sp>
        <p:nvSpPr>
          <p:cNvPr id="84" name="任意多边形 83"/>
          <p:cNvSpPr/>
          <p:nvPr/>
        </p:nvSpPr>
        <p:spPr>
          <a:xfrm>
            <a:off x="3253105" y="2873375"/>
            <a:ext cx="882650" cy="617855"/>
          </a:xfrm>
          <a:custGeom>
            <a:avLst/>
            <a:gdLst>
              <a:gd name="connisteX0" fmla="*/ 882650 w 882650"/>
              <a:gd name="connsiteY0" fmla="*/ 0 h 617855"/>
              <a:gd name="connisteX1" fmla="*/ 317500 w 882650"/>
              <a:gd name="connsiteY1" fmla="*/ 150495 h 617855"/>
              <a:gd name="connisteX2" fmla="*/ 0 w 882650"/>
              <a:gd name="connsiteY2" fmla="*/ 617855 h 617855"/>
            </a:gdLst>
            <a:ahLst/>
            <a:cxnLst>
              <a:cxn ang="0">
                <a:pos x="connisteX0" y="connsiteY0"/>
              </a:cxn>
              <a:cxn ang="0">
                <a:pos x="connisteX1" y="connsiteY1"/>
              </a:cxn>
              <a:cxn ang="0">
                <a:pos x="connisteX2" y="connsiteY2"/>
              </a:cxn>
            </a:cxnLst>
            <a:rect l="l" t="t" r="r" b="b"/>
            <a:pathLst>
              <a:path w="882650" h="617855">
                <a:moveTo>
                  <a:pt x="882650" y="0"/>
                </a:moveTo>
                <a:cubicBezTo>
                  <a:pt x="775970" y="20955"/>
                  <a:pt x="494030" y="26670"/>
                  <a:pt x="317500" y="150495"/>
                </a:cubicBezTo>
                <a:cubicBezTo>
                  <a:pt x="140970" y="274320"/>
                  <a:pt x="52070" y="527685"/>
                  <a:pt x="0" y="617855"/>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4" name="文本框 13"/>
          <p:cNvSpPr txBox="1"/>
          <p:nvPr/>
        </p:nvSpPr>
        <p:spPr>
          <a:xfrm>
            <a:off x="683260" y="1844675"/>
            <a:ext cx="8192770" cy="415925"/>
          </a:xfrm>
          <a:prstGeom prst="rect">
            <a:avLst/>
          </a:prstGeom>
          <a:noFill/>
        </p:spPr>
        <p:txBody>
          <a:bodyPr wrap="square" rtlCol="0">
            <a:noAutofit/>
          </a:bodyPr>
          <a:p>
            <a:r>
              <a:rPr lang="en-US" altLang="zh-CN">
                <a:solidFill>
                  <a:schemeClr val="tx1"/>
                </a:solidFill>
                <a:uFillTx/>
                <a:latin typeface="Times New Roman" panose="02020603050405020304" pitchFamily="18" charset="0"/>
                <a:cs typeface="宋体" panose="02010600030101010101" pitchFamily="2" charset="-122"/>
              </a:rPr>
              <a:t>Visit</a:t>
            </a:r>
            <a:r>
              <a:rPr lang="zh-CN" altLang="en-US">
                <a:solidFill>
                  <a:schemeClr val="tx1"/>
                </a:solidFill>
                <a:uFillTx/>
                <a:latin typeface="Times New Roman" panose="02020603050405020304" pitchFamily="18" charset="0"/>
                <a:cs typeface="宋体" panose="02010600030101010101" pitchFamily="2" charset="-122"/>
              </a:rPr>
              <a:t>数组，表示元素是否被访问，</a:t>
            </a:r>
            <a:r>
              <a:rPr lang="en-US" altLang="zh-CN">
                <a:solidFill>
                  <a:schemeClr val="tx1"/>
                </a:solidFill>
                <a:uFillTx/>
                <a:latin typeface="Times New Roman" panose="02020603050405020304" pitchFamily="18" charset="0"/>
                <a:cs typeface="宋体" panose="02010600030101010101" pitchFamily="2" charset="-122"/>
              </a:rPr>
              <a:t>1</a:t>
            </a:r>
            <a:r>
              <a:rPr lang="zh-CN" altLang="en-US">
                <a:solidFill>
                  <a:schemeClr val="tx1"/>
                </a:solidFill>
                <a:uFillTx/>
                <a:latin typeface="Times New Roman" panose="02020603050405020304" pitchFamily="18" charset="0"/>
                <a:cs typeface="宋体" panose="02010600030101010101" pitchFamily="2" charset="-122"/>
              </a:rPr>
              <a:t>表示已被访问，</a:t>
            </a:r>
            <a:r>
              <a:rPr lang="en-US" altLang="zh-CN">
                <a:solidFill>
                  <a:schemeClr val="tx1"/>
                </a:solidFill>
                <a:uFillTx/>
                <a:latin typeface="Times New Roman" panose="02020603050405020304" pitchFamily="18" charset="0"/>
                <a:cs typeface="宋体" panose="02010600030101010101" pitchFamily="2" charset="-122"/>
              </a:rPr>
              <a:t>0</a:t>
            </a:r>
            <a:r>
              <a:rPr lang="zh-CN" altLang="en-US">
                <a:solidFill>
                  <a:schemeClr val="tx1"/>
                </a:solidFill>
                <a:uFillTx/>
                <a:latin typeface="Times New Roman" panose="02020603050405020304" pitchFamily="18" charset="0"/>
                <a:cs typeface="宋体" panose="02010600030101010101" pitchFamily="2" charset="-122"/>
              </a:rPr>
              <a:t>表示未被访问。</a:t>
            </a:r>
            <a:endParaRPr lang="zh-CN" altLang="en-US">
              <a:solidFill>
                <a:schemeClr val="tx1"/>
              </a:solidFill>
              <a:uFillTx/>
              <a:latin typeface="Times New Roman" panose="02020603050405020304" pitchFamily="18" charset="0"/>
              <a:cs typeface="宋体" panose="02010600030101010101" pitchFamily="2" charset="-122"/>
            </a:endParaRPr>
          </a:p>
        </p:txBody>
      </p:sp>
      <p:sp>
        <p:nvSpPr>
          <p:cNvPr id="74" name="文本框 73"/>
          <p:cNvSpPr txBox="1"/>
          <p:nvPr/>
        </p:nvSpPr>
        <p:spPr>
          <a:xfrm>
            <a:off x="683260" y="2204720"/>
            <a:ext cx="7426960" cy="498475"/>
          </a:xfrm>
          <a:prstGeom prst="rect">
            <a:avLst/>
          </a:prstGeom>
          <a:noFill/>
        </p:spPr>
        <p:txBody>
          <a:bodyPr wrap="square" rtlCol="0">
            <a:noAutofit/>
          </a:bodyPr>
          <a:p>
            <a:r>
              <a:rPr lang="en-US" altLang="zh-CN">
                <a:solidFill>
                  <a:schemeClr val="tx1"/>
                </a:solidFill>
                <a:uFillTx/>
                <a:latin typeface="Times New Roman" panose="02020603050405020304" pitchFamily="18" charset="0"/>
                <a:cs typeface="宋体" panose="02010600030101010101" pitchFamily="2" charset="-122"/>
              </a:rPr>
              <a:t>TempList</a:t>
            </a:r>
            <a:r>
              <a:rPr lang="zh-CN" altLang="en-US">
                <a:solidFill>
                  <a:schemeClr val="tx1"/>
                </a:solidFill>
                <a:uFillTx/>
                <a:latin typeface="Times New Roman" panose="02020603050405020304" pitchFamily="18" charset="0"/>
                <a:cs typeface="宋体" panose="02010600030101010101" pitchFamily="2" charset="-122"/>
              </a:rPr>
              <a:t>数组，临时存储全排列的所有</a:t>
            </a:r>
            <a:r>
              <a:rPr lang="zh-CN" altLang="en-US">
                <a:solidFill>
                  <a:schemeClr val="tx1"/>
                </a:solidFill>
                <a:uFillTx/>
                <a:latin typeface="Times New Roman" panose="02020603050405020304" pitchFamily="18" charset="0"/>
                <a:cs typeface="宋体" panose="02010600030101010101" pitchFamily="2" charset="-122"/>
              </a:rPr>
              <a:t>情况。</a:t>
            </a:r>
            <a:endParaRPr lang="zh-CN" altLang="en-US">
              <a:solidFill>
                <a:schemeClr val="tx1"/>
              </a:solidFill>
              <a:uFillTx/>
              <a:latin typeface="Times New Roman" panose="02020603050405020304" pitchFamily="18" charset="0"/>
              <a:cs typeface="宋体" panose="02010600030101010101" pitchFamily="2" charset="-122"/>
            </a:endParaRPr>
          </a:p>
        </p:txBody>
      </p:sp>
      <p:sp>
        <p:nvSpPr>
          <p:cNvPr id="77" name="椭圆 76"/>
          <p:cNvSpPr/>
          <p:nvPr/>
        </p:nvSpPr>
        <p:spPr>
          <a:xfrm>
            <a:off x="3060065" y="3789680"/>
            <a:ext cx="646430" cy="58229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1" name="文本框 80"/>
          <p:cNvSpPr txBox="1"/>
          <p:nvPr/>
        </p:nvSpPr>
        <p:spPr>
          <a:xfrm>
            <a:off x="3080385" y="3933190"/>
            <a:ext cx="554990" cy="350520"/>
          </a:xfrm>
          <a:prstGeom prst="rect">
            <a:avLst/>
          </a:prstGeom>
          <a:noFill/>
          <a:ln>
            <a:noFill/>
          </a:ln>
          <a:extLst>
            <a:ext uri="{909E8E84-426E-40DD-AFC4-6F175D3DCCD1}">
              <a14:hiddenFill xmlns:a14="http://schemas.microsoft.com/office/drawing/2010/main">
                <a:solidFill>
                  <a:srgbClr val="FF0000"/>
                </a:solidFill>
              </a14:hiddenFill>
            </a:ext>
          </a:extLst>
        </p:spPr>
        <p:txBody>
          <a:bodyPr>
            <a:noAutofit/>
          </a:bodyPr>
          <a:p>
            <a:pPr algn="ctr">
              <a:defRPr/>
            </a:pPr>
            <a:r>
              <a:rPr lang="en-US" sz="1400">
                <a:solidFill>
                  <a:schemeClr val="tx1"/>
                </a:solidFill>
                <a:latin typeface="+mj-ea"/>
                <a:ea typeface="+mj-ea"/>
              </a:rPr>
              <a:t>1</a:t>
            </a:r>
            <a:endParaRPr lang="en-US" sz="1400">
              <a:solidFill>
                <a:schemeClr val="tx1"/>
              </a:solidFill>
              <a:latin typeface="+mj-ea"/>
              <a:ea typeface="+mj-ea"/>
            </a:endParaRPr>
          </a:p>
        </p:txBody>
      </p:sp>
      <p:sp>
        <p:nvSpPr>
          <p:cNvPr id="85" name="文本框 84"/>
          <p:cNvSpPr txBox="1"/>
          <p:nvPr/>
        </p:nvSpPr>
        <p:spPr>
          <a:xfrm>
            <a:off x="395605" y="6165215"/>
            <a:ext cx="3919220" cy="410210"/>
          </a:xfrm>
          <a:prstGeom prst="rect">
            <a:avLst/>
          </a:prstGeom>
          <a:noFill/>
        </p:spPr>
        <p:txBody>
          <a:bodyPr wrap="square" rtlCol="0">
            <a:noAutofit/>
          </a:bodyPr>
          <a:p>
            <a:r>
              <a:rPr lang="en-US" altLang="zh-CN">
                <a:solidFill>
                  <a:schemeClr val="tx1"/>
                </a:solidFill>
                <a:uFillTx/>
                <a:latin typeface="Times New Roman" panose="02020603050405020304" pitchFamily="18" charset="0"/>
              </a:rPr>
              <a:t>Start</a:t>
            </a:r>
            <a:r>
              <a:rPr lang="zh-CN" altLang="en-US">
                <a:solidFill>
                  <a:schemeClr val="tx1"/>
                </a:solidFill>
                <a:uFillTx/>
                <a:latin typeface="Times New Roman" panose="02020603050405020304" pitchFamily="18" charset="0"/>
              </a:rPr>
              <a:t>：</a:t>
            </a:r>
            <a:r>
              <a:rPr lang="en-US" altLang="zh-CN">
                <a:uFillTx/>
                <a:latin typeface="Times New Roman" panose="02020603050405020304" pitchFamily="18" charset="0"/>
                <a:cs typeface="宋体" panose="02010600030101010101" pitchFamily="2" charset="-122"/>
                <a:sym typeface="+mn-ea"/>
              </a:rPr>
              <a:t>Visit=[0,0,0]</a:t>
            </a:r>
            <a:r>
              <a:rPr lang="zh-CN" altLang="en-US">
                <a:uFillTx/>
                <a:latin typeface="Times New Roman" panose="02020603050405020304" pitchFamily="18" charset="0"/>
                <a:cs typeface="宋体" panose="02010600030101010101" pitchFamily="2" charset="-122"/>
                <a:sym typeface="+mn-ea"/>
              </a:rPr>
              <a:t>，</a:t>
            </a:r>
            <a:r>
              <a:rPr lang="en-US" altLang="zh-CN">
                <a:uFillTx/>
                <a:latin typeface="Times New Roman" panose="02020603050405020304" pitchFamily="18" charset="0"/>
                <a:cs typeface="宋体" panose="02010600030101010101" pitchFamily="2" charset="-122"/>
                <a:sym typeface="+mn-ea"/>
              </a:rPr>
              <a:t>TempList = []</a:t>
            </a:r>
            <a:endParaRPr lang="en-US" altLang="zh-CN">
              <a:uFillTx/>
              <a:latin typeface="Times New Roman" panose="02020603050405020304" pitchFamily="18" charset="0"/>
              <a:cs typeface="宋体" panose="02010600030101010101" pitchFamily="2" charset="-122"/>
              <a:sym typeface="+mn-ea"/>
            </a:endParaRPr>
          </a:p>
          <a:p>
            <a:endParaRPr lang="zh-CN" altLang="en-US">
              <a:uFillTx/>
              <a:latin typeface="Times New Roman" panose="02020603050405020304" pitchFamily="18" charset="0"/>
              <a:cs typeface="宋体" panose="02010600030101010101" pitchFamily="2" charset="-122"/>
              <a:sym typeface="+mn-ea"/>
            </a:endParaRPr>
          </a:p>
          <a:p>
            <a:endParaRPr lang="zh-CN" altLang="en-US">
              <a:solidFill>
                <a:schemeClr val="tx1"/>
              </a:solidFill>
              <a:uFillTx/>
              <a:latin typeface="Times New Roman" panose="02020603050405020304" pitchFamily="18" charset="0"/>
            </a:endParaRPr>
          </a:p>
        </p:txBody>
      </p:sp>
      <p:sp>
        <p:nvSpPr>
          <p:cNvPr id="86" name="文本框 85"/>
          <p:cNvSpPr txBox="1"/>
          <p:nvPr/>
        </p:nvSpPr>
        <p:spPr>
          <a:xfrm>
            <a:off x="395605" y="6165215"/>
            <a:ext cx="3919220" cy="410210"/>
          </a:xfrm>
          <a:prstGeom prst="rect">
            <a:avLst/>
          </a:prstGeom>
          <a:noFill/>
        </p:spPr>
        <p:txBody>
          <a:bodyPr wrap="square" rtlCol="0">
            <a:noAutofit/>
          </a:bodyPr>
          <a:p>
            <a:r>
              <a:rPr lang="zh-CN" altLang="en-US">
                <a:solidFill>
                  <a:schemeClr val="tx1"/>
                </a:solidFill>
                <a:uFillTx/>
                <a:latin typeface="Times New Roman" panose="02020603050405020304" pitchFamily="18" charset="0"/>
              </a:rPr>
              <a:t>①：</a:t>
            </a:r>
            <a:r>
              <a:rPr lang="en-US" altLang="zh-CN">
                <a:uFillTx/>
                <a:latin typeface="Times New Roman" panose="02020603050405020304" pitchFamily="18" charset="0"/>
                <a:cs typeface="宋体" panose="02010600030101010101" pitchFamily="2" charset="-122"/>
                <a:sym typeface="+mn-ea"/>
              </a:rPr>
              <a:t>Visit=[1,0,0]</a:t>
            </a:r>
            <a:r>
              <a:rPr lang="zh-CN" altLang="en-US">
                <a:uFillTx/>
                <a:latin typeface="Times New Roman" panose="02020603050405020304" pitchFamily="18" charset="0"/>
                <a:cs typeface="宋体" panose="02010600030101010101" pitchFamily="2" charset="-122"/>
                <a:sym typeface="+mn-ea"/>
              </a:rPr>
              <a:t>，</a:t>
            </a:r>
            <a:r>
              <a:rPr lang="en-US" altLang="zh-CN">
                <a:uFillTx/>
                <a:latin typeface="Times New Roman" panose="02020603050405020304" pitchFamily="18" charset="0"/>
                <a:cs typeface="宋体" panose="02010600030101010101" pitchFamily="2" charset="-122"/>
                <a:sym typeface="+mn-ea"/>
              </a:rPr>
              <a:t>TempList = [1]</a:t>
            </a:r>
            <a:endParaRPr lang="en-US" altLang="zh-CN">
              <a:uFillTx/>
              <a:latin typeface="Times New Roman" panose="02020603050405020304" pitchFamily="18" charset="0"/>
              <a:cs typeface="宋体" panose="02010600030101010101" pitchFamily="2" charset="-122"/>
              <a:sym typeface="+mn-ea"/>
            </a:endParaRPr>
          </a:p>
          <a:p>
            <a:endParaRPr lang="zh-CN" altLang="en-US">
              <a:uFillTx/>
              <a:latin typeface="Times New Roman" panose="02020603050405020304" pitchFamily="18" charset="0"/>
              <a:cs typeface="宋体" panose="02010600030101010101" pitchFamily="2" charset="-122"/>
              <a:sym typeface="+mn-ea"/>
            </a:endParaRPr>
          </a:p>
          <a:p>
            <a:endParaRPr lang="zh-CN" altLang="en-US">
              <a:solidFill>
                <a:schemeClr val="tx1"/>
              </a:solidFill>
              <a:uFillTx/>
              <a:latin typeface="Times New Roman" panose="02020603050405020304" pitchFamily="18" charset="0"/>
            </a:endParaRPr>
          </a:p>
        </p:txBody>
      </p:sp>
      <p:sp>
        <p:nvSpPr>
          <p:cNvPr id="88" name="任意多边形 87"/>
          <p:cNvSpPr/>
          <p:nvPr/>
        </p:nvSpPr>
        <p:spPr>
          <a:xfrm>
            <a:off x="2736850" y="4210050"/>
            <a:ext cx="281305" cy="511810"/>
          </a:xfrm>
          <a:custGeom>
            <a:avLst/>
            <a:gdLst>
              <a:gd name="connisteX0" fmla="*/ 281102 w 281102"/>
              <a:gd name="connsiteY0" fmla="*/ 0 h 511976"/>
              <a:gd name="connisteX1" fmla="*/ 79807 w 281102"/>
              <a:gd name="connsiteY1" fmla="*/ 173990 h 511976"/>
              <a:gd name="connisteX2" fmla="*/ 6782 w 281102"/>
              <a:gd name="connsiteY2" fmla="*/ 485775 h 511976"/>
              <a:gd name="connisteX3" fmla="*/ 6782 w 281102"/>
              <a:gd name="connsiteY3" fmla="*/ 476250 h 511976"/>
            </a:gdLst>
            <a:ahLst/>
            <a:cxnLst>
              <a:cxn ang="0">
                <a:pos x="connisteX0" y="connsiteY0"/>
              </a:cxn>
              <a:cxn ang="0">
                <a:pos x="connisteX1" y="connsiteY1"/>
              </a:cxn>
              <a:cxn ang="0">
                <a:pos x="connisteX2" y="connsiteY2"/>
              </a:cxn>
              <a:cxn ang="0">
                <a:pos x="connisteX3" y="connsiteY3"/>
              </a:cxn>
            </a:cxnLst>
            <a:rect l="l" t="t" r="r" b="b"/>
            <a:pathLst>
              <a:path w="281103" h="511977">
                <a:moveTo>
                  <a:pt x="281103" y="0"/>
                </a:moveTo>
                <a:cubicBezTo>
                  <a:pt x="242368" y="28575"/>
                  <a:pt x="134418" y="76835"/>
                  <a:pt x="79808" y="173990"/>
                </a:cubicBezTo>
                <a:cubicBezTo>
                  <a:pt x="25198" y="271145"/>
                  <a:pt x="21388" y="425450"/>
                  <a:pt x="6783" y="485775"/>
                </a:cubicBezTo>
                <a:cubicBezTo>
                  <a:pt x="-7822" y="546100"/>
                  <a:pt x="5513" y="484505"/>
                  <a:pt x="6783" y="476250"/>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9" name="文本框 88"/>
          <p:cNvSpPr txBox="1"/>
          <p:nvPr/>
        </p:nvSpPr>
        <p:spPr>
          <a:xfrm>
            <a:off x="395605" y="6165215"/>
            <a:ext cx="3919220" cy="410210"/>
          </a:xfrm>
          <a:prstGeom prst="rect">
            <a:avLst/>
          </a:prstGeom>
          <a:noFill/>
        </p:spPr>
        <p:txBody>
          <a:bodyPr wrap="square" rtlCol="0">
            <a:noAutofit/>
          </a:bodyPr>
          <a:p>
            <a:r>
              <a:rPr lang="zh-CN" altLang="en-US">
                <a:solidFill>
                  <a:schemeClr val="tx1"/>
                </a:solidFill>
                <a:uFillTx/>
                <a:latin typeface="Times New Roman" panose="02020603050405020304" pitchFamily="18" charset="0"/>
              </a:rPr>
              <a:t>②：</a:t>
            </a:r>
            <a:r>
              <a:rPr lang="en-US" altLang="zh-CN">
                <a:uFillTx/>
                <a:latin typeface="Times New Roman" panose="02020603050405020304" pitchFamily="18" charset="0"/>
                <a:cs typeface="宋体" panose="02010600030101010101" pitchFamily="2" charset="-122"/>
                <a:sym typeface="+mn-ea"/>
              </a:rPr>
              <a:t>Visit=[1,1,0]</a:t>
            </a:r>
            <a:r>
              <a:rPr lang="zh-CN" altLang="en-US">
                <a:uFillTx/>
                <a:latin typeface="Times New Roman" panose="02020603050405020304" pitchFamily="18" charset="0"/>
                <a:cs typeface="宋体" panose="02010600030101010101" pitchFamily="2" charset="-122"/>
                <a:sym typeface="+mn-ea"/>
              </a:rPr>
              <a:t>，</a:t>
            </a:r>
            <a:r>
              <a:rPr lang="en-US" altLang="zh-CN">
                <a:uFillTx/>
                <a:latin typeface="Times New Roman" panose="02020603050405020304" pitchFamily="18" charset="0"/>
                <a:cs typeface="宋体" panose="02010600030101010101" pitchFamily="2" charset="-122"/>
                <a:sym typeface="+mn-ea"/>
              </a:rPr>
              <a:t>TempList = [1,2]</a:t>
            </a:r>
            <a:endParaRPr lang="en-US" altLang="zh-CN">
              <a:uFillTx/>
              <a:latin typeface="Times New Roman" panose="02020603050405020304" pitchFamily="18" charset="0"/>
              <a:cs typeface="宋体" panose="02010600030101010101" pitchFamily="2" charset="-122"/>
              <a:sym typeface="+mn-ea"/>
            </a:endParaRPr>
          </a:p>
          <a:p>
            <a:endParaRPr lang="zh-CN" altLang="en-US">
              <a:uFillTx/>
              <a:latin typeface="Times New Roman" panose="02020603050405020304" pitchFamily="18" charset="0"/>
              <a:cs typeface="宋体" panose="02010600030101010101" pitchFamily="2" charset="-122"/>
              <a:sym typeface="+mn-ea"/>
            </a:endParaRPr>
          </a:p>
          <a:p>
            <a:endParaRPr lang="zh-CN" altLang="en-US">
              <a:solidFill>
                <a:schemeClr val="tx1"/>
              </a:solidFill>
              <a:uFillTx/>
              <a:latin typeface="Times New Roman" panose="02020603050405020304" pitchFamily="18" charset="0"/>
            </a:endParaRPr>
          </a:p>
        </p:txBody>
      </p:sp>
      <p:sp>
        <p:nvSpPr>
          <p:cNvPr id="90" name="任意多边形 89"/>
          <p:cNvSpPr/>
          <p:nvPr/>
        </p:nvSpPr>
        <p:spPr>
          <a:xfrm>
            <a:off x="2713990" y="4952365"/>
            <a:ext cx="8890" cy="421640"/>
          </a:xfrm>
          <a:custGeom>
            <a:avLst/>
            <a:gdLst>
              <a:gd name="connisteX0" fmla="*/ 8890 w 8890"/>
              <a:gd name="connsiteY0" fmla="*/ 0 h 421640"/>
              <a:gd name="connisteX1" fmla="*/ 0 w 8890"/>
              <a:gd name="connsiteY1" fmla="*/ 421640 h 421640"/>
            </a:gdLst>
            <a:ahLst/>
            <a:cxnLst>
              <a:cxn ang="0">
                <a:pos x="connisteX0" y="connsiteY0"/>
              </a:cxn>
              <a:cxn ang="0">
                <a:pos x="connisteX1" y="connsiteY1"/>
              </a:cxn>
            </a:cxnLst>
            <a:rect l="l" t="t" r="r" b="b"/>
            <a:pathLst>
              <a:path w="8890" h="421640">
                <a:moveTo>
                  <a:pt x="8890" y="0"/>
                </a:moveTo>
                <a:cubicBezTo>
                  <a:pt x="5715" y="140335"/>
                  <a:pt x="3175" y="281305"/>
                  <a:pt x="0" y="421640"/>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1" name="文本框 90"/>
          <p:cNvSpPr txBox="1"/>
          <p:nvPr/>
        </p:nvSpPr>
        <p:spPr>
          <a:xfrm>
            <a:off x="395605" y="6165215"/>
            <a:ext cx="3919220" cy="410210"/>
          </a:xfrm>
          <a:prstGeom prst="rect">
            <a:avLst/>
          </a:prstGeom>
          <a:noFill/>
        </p:spPr>
        <p:txBody>
          <a:bodyPr wrap="square" rtlCol="0">
            <a:noAutofit/>
          </a:bodyPr>
          <a:p>
            <a:r>
              <a:rPr lang="zh-CN" altLang="en-US">
                <a:solidFill>
                  <a:schemeClr val="tx1"/>
                </a:solidFill>
                <a:uFillTx/>
                <a:latin typeface="Times New Roman" panose="02020603050405020304" pitchFamily="18" charset="0"/>
              </a:rPr>
              <a:t>③：</a:t>
            </a:r>
            <a:r>
              <a:rPr lang="en-US" altLang="zh-CN">
                <a:uFillTx/>
                <a:latin typeface="Times New Roman" panose="02020603050405020304" pitchFamily="18" charset="0"/>
                <a:cs typeface="宋体" panose="02010600030101010101" pitchFamily="2" charset="-122"/>
                <a:sym typeface="+mn-ea"/>
              </a:rPr>
              <a:t>Visit=[1,1,1]</a:t>
            </a:r>
            <a:r>
              <a:rPr lang="zh-CN" altLang="en-US">
                <a:uFillTx/>
                <a:latin typeface="Times New Roman" panose="02020603050405020304" pitchFamily="18" charset="0"/>
                <a:cs typeface="宋体" panose="02010600030101010101" pitchFamily="2" charset="-122"/>
                <a:sym typeface="+mn-ea"/>
              </a:rPr>
              <a:t>，</a:t>
            </a:r>
            <a:r>
              <a:rPr lang="en-US" altLang="zh-CN">
                <a:uFillTx/>
                <a:latin typeface="Times New Roman" panose="02020603050405020304" pitchFamily="18" charset="0"/>
                <a:cs typeface="宋体" panose="02010600030101010101" pitchFamily="2" charset="-122"/>
                <a:sym typeface="+mn-ea"/>
              </a:rPr>
              <a:t>TempList = [1,2,3]</a:t>
            </a:r>
            <a:endParaRPr lang="en-US" altLang="zh-CN">
              <a:uFillTx/>
              <a:latin typeface="Times New Roman" panose="02020603050405020304" pitchFamily="18" charset="0"/>
              <a:cs typeface="宋体" panose="02010600030101010101" pitchFamily="2" charset="-122"/>
              <a:sym typeface="+mn-ea"/>
            </a:endParaRPr>
          </a:p>
          <a:p>
            <a:endParaRPr lang="zh-CN" altLang="en-US">
              <a:uFillTx/>
              <a:latin typeface="Times New Roman" panose="02020603050405020304" pitchFamily="18" charset="0"/>
              <a:cs typeface="宋体" panose="02010600030101010101" pitchFamily="2" charset="-122"/>
              <a:sym typeface="+mn-ea"/>
            </a:endParaRPr>
          </a:p>
          <a:p>
            <a:endParaRPr lang="zh-CN" altLang="en-US">
              <a:solidFill>
                <a:schemeClr val="tx1"/>
              </a:solidFill>
              <a:uFillTx/>
              <a:latin typeface="Times New Roman" panose="02020603050405020304" pitchFamily="18" charset="0"/>
            </a:endParaRPr>
          </a:p>
        </p:txBody>
      </p:sp>
      <p:sp>
        <p:nvSpPr>
          <p:cNvPr id="92" name="椭圆 91"/>
          <p:cNvSpPr/>
          <p:nvPr/>
        </p:nvSpPr>
        <p:spPr>
          <a:xfrm>
            <a:off x="2771775" y="4681220"/>
            <a:ext cx="341630" cy="34226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3" name="文本框 92"/>
          <p:cNvSpPr txBox="1"/>
          <p:nvPr/>
        </p:nvSpPr>
        <p:spPr>
          <a:xfrm>
            <a:off x="2809697" y="4726009"/>
            <a:ext cx="293305" cy="206031"/>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sp>
        <p:nvSpPr>
          <p:cNvPr id="96" name="椭圆 95"/>
          <p:cNvSpPr/>
          <p:nvPr/>
        </p:nvSpPr>
        <p:spPr>
          <a:xfrm>
            <a:off x="2771775" y="5375910"/>
            <a:ext cx="341630" cy="342265"/>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7" name="文本框 96"/>
          <p:cNvSpPr txBox="1"/>
          <p:nvPr/>
        </p:nvSpPr>
        <p:spPr>
          <a:xfrm>
            <a:off x="2809697" y="5420699"/>
            <a:ext cx="293305" cy="206031"/>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sp>
        <p:nvSpPr>
          <p:cNvPr id="98" name="椭圆 97"/>
          <p:cNvSpPr/>
          <p:nvPr/>
        </p:nvSpPr>
        <p:spPr>
          <a:xfrm>
            <a:off x="2771775" y="5375910"/>
            <a:ext cx="341630" cy="34226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9" name="文本框 98"/>
          <p:cNvSpPr txBox="1"/>
          <p:nvPr/>
        </p:nvSpPr>
        <p:spPr>
          <a:xfrm>
            <a:off x="2809697" y="5420699"/>
            <a:ext cx="293305" cy="206031"/>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2"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box(in)">
                                      <p:cBhvr>
                                        <p:cTn id="7" dur="2000"/>
                                        <p:tgtEl>
                                          <p:spTgt spid="84"/>
                                        </p:tgtEl>
                                      </p:cBhvr>
                                    </p:animEffect>
                                  </p:childTnLst>
                                </p:cTn>
                              </p:par>
                              <p:par>
                                <p:cTn id="8" presetID="4" presetClass="entr" presetSubtype="16" fill="hold" grpId="2" nodeType="withEffect">
                                  <p:stCondLst>
                                    <p:cond delay="0"/>
                                  </p:stCondLst>
                                  <p:childTnLst>
                                    <p:set>
                                      <p:cBhvr>
                                        <p:cTn id="9" dur="1" fill="hold">
                                          <p:stCondLst>
                                            <p:cond delay="0"/>
                                          </p:stCondLst>
                                        </p:cTn>
                                        <p:tgtEl>
                                          <p:spTgt spid="78"/>
                                        </p:tgtEl>
                                        <p:attrNameLst>
                                          <p:attrName>style.visibility</p:attrName>
                                        </p:attrNameLst>
                                      </p:cBhvr>
                                      <p:to>
                                        <p:strVal val="visible"/>
                                      </p:to>
                                    </p:set>
                                    <p:animEffect transition="in" filter="box(in)">
                                      <p:cBhvr>
                                        <p:cTn id="10" dur="2000"/>
                                        <p:tgtEl>
                                          <p:spTgt spid="78"/>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81"/>
                                        </p:tgtEl>
                                        <p:attrNameLst>
                                          <p:attrName>style.visibility</p:attrName>
                                        </p:attrNameLst>
                                      </p:cBhvr>
                                      <p:to>
                                        <p:strVal val="visible"/>
                                      </p:to>
                                    </p:set>
                                    <p:animEffect transition="in" filter="box(in)">
                                      <p:cBhvr>
                                        <p:cTn id="15" dur="2000"/>
                                        <p:tgtEl>
                                          <p:spTgt spid="81"/>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77"/>
                                        </p:tgtEl>
                                        <p:attrNameLst>
                                          <p:attrName>style.visibility</p:attrName>
                                        </p:attrNameLst>
                                      </p:cBhvr>
                                      <p:to>
                                        <p:strVal val="visible"/>
                                      </p:to>
                                    </p:set>
                                    <p:animEffect transition="in" filter="box(in)">
                                      <p:cBhvr>
                                        <p:cTn id="18" dur="2000"/>
                                        <p:tgtEl>
                                          <p:spTgt spid="7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xit" presetSubtype="4" fill="hold" grpId="0" nodeType="clickEffect">
                                  <p:stCondLst>
                                    <p:cond delay="0"/>
                                  </p:stCondLst>
                                  <p:childTnLst>
                                    <p:anim calcmode="lin" valueType="num">
                                      <p:cBhvr additive="base">
                                        <p:cTn id="22" dur="500"/>
                                        <p:tgtEl>
                                          <p:spTgt spid="85"/>
                                        </p:tgtEl>
                                        <p:attrNameLst>
                                          <p:attrName>ppt_x</p:attrName>
                                        </p:attrNameLst>
                                      </p:cBhvr>
                                      <p:tavLst>
                                        <p:tav tm="0">
                                          <p:val>
                                            <p:strVal val="ppt_x"/>
                                          </p:val>
                                        </p:tav>
                                        <p:tav tm="100000">
                                          <p:val>
                                            <p:strVal val="ppt_x"/>
                                          </p:val>
                                        </p:tav>
                                      </p:tavLst>
                                    </p:anim>
                                    <p:anim calcmode="lin" valueType="num">
                                      <p:cBhvr additive="base">
                                        <p:cTn id="23" dur="500"/>
                                        <p:tgtEl>
                                          <p:spTgt spid="85"/>
                                        </p:tgtEl>
                                        <p:attrNameLst>
                                          <p:attrName>ppt_y</p:attrName>
                                        </p:attrNameLst>
                                      </p:cBhvr>
                                      <p:tavLst>
                                        <p:tav tm="0">
                                          <p:val>
                                            <p:strVal val="ppt_y"/>
                                          </p:val>
                                        </p:tav>
                                        <p:tav tm="100000">
                                          <p:val>
                                            <p:strVal val="1+ppt_h/2"/>
                                          </p:val>
                                        </p:tav>
                                      </p:tavLst>
                                    </p:anim>
                                    <p:set>
                                      <p:cBhvr>
                                        <p:cTn id="24" dur="1" fill="hold">
                                          <p:stCondLst>
                                            <p:cond delay="499"/>
                                          </p:stCondLst>
                                        </p:cTn>
                                        <p:tgtEl>
                                          <p:spTgt spid="85"/>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2" nodeType="clickEffect">
                                  <p:stCondLst>
                                    <p:cond delay="0"/>
                                  </p:stCondLst>
                                  <p:childTnLst>
                                    <p:set>
                                      <p:cBhvr>
                                        <p:cTn id="28" dur="1" fill="hold">
                                          <p:stCondLst>
                                            <p:cond delay="0"/>
                                          </p:stCondLst>
                                        </p:cTn>
                                        <p:tgtEl>
                                          <p:spTgt spid="86"/>
                                        </p:tgtEl>
                                        <p:attrNameLst>
                                          <p:attrName>style.visibility</p:attrName>
                                        </p:attrNameLst>
                                      </p:cBhvr>
                                      <p:to>
                                        <p:strVal val="visible"/>
                                      </p:to>
                                    </p:set>
                                    <p:anim calcmode="lin" valueType="num">
                                      <p:cBhvr additive="base">
                                        <p:cTn id="29" dur="500" fill="hold"/>
                                        <p:tgtEl>
                                          <p:spTgt spid="86"/>
                                        </p:tgtEl>
                                        <p:attrNameLst>
                                          <p:attrName>ppt_x</p:attrName>
                                        </p:attrNameLst>
                                      </p:cBhvr>
                                      <p:tavLst>
                                        <p:tav tm="0">
                                          <p:val>
                                            <p:strVal val="#ppt_x"/>
                                          </p:val>
                                        </p:tav>
                                        <p:tav tm="100000">
                                          <p:val>
                                            <p:strVal val="#ppt_x"/>
                                          </p:val>
                                        </p:tav>
                                      </p:tavLst>
                                    </p:anim>
                                    <p:anim calcmode="lin" valueType="num">
                                      <p:cBhvr additive="base">
                                        <p:cTn id="30"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xit" presetSubtype="4" fill="hold" grpId="0" nodeType="clickEffect">
                                  <p:stCondLst>
                                    <p:cond delay="0"/>
                                  </p:stCondLst>
                                  <p:childTnLst>
                                    <p:anim calcmode="lin" valueType="num">
                                      <p:cBhvr additive="base">
                                        <p:cTn id="34" dur="500"/>
                                        <p:tgtEl>
                                          <p:spTgt spid="86"/>
                                        </p:tgtEl>
                                        <p:attrNameLst>
                                          <p:attrName>ppt_x</p:attrName>
                                        </p:attrNameLst>
                                      </p:cBhvr>
                                      <p:tavLst>
                                        <p:tav tm="0">
                                          <p:val>
                                            <p:strVal val="ppt_x"/>
                                          </p:val>
                                        </p:tav>
                                        <p:tav tm="100000">
                                          <p:val>
                                            <p:strVal val="ppt_x"/>
                                          </p:val>
                                        </p:tav>
                                      </p:tavLst>
                                    </p:anim>
                                    <p:anim calcmode="lin" valueType="num">
                                      <p:cBhvr additive="base">
                                        <p:cTn id="35" dur="500"/>
                                        <p:tgtEl>
                                          <p:spTgt spid="86"/>
                                        </p:tgtEl>
                                        <p:attrNameLst>
                                          <p:attrName>ppt_y</p:attrName>
                                        </p:attrNameLst>
                                      </p:cBhvr>
                                      <p:tavLst>
                                        <p:tav tm="0">
                                          <p:val>
                                            <p:strVal val="ppt_y"/>
                                          </p:val>
                                        </p:tav>
                                        <p:tav tm="100000">
                                          <p:val>
                                            <p:strVal val="1+ppt_h/2"/>
                                          </p:val>
                                        </p:tav>
                                      </p:tavLst>
                                    </p:anim>
                                    <p:set>
                                      <p:cBhvr>
                                        <p:cTn id="36" dur="1" fill="hold">
                                          <p:stCondLst>
                                            <p:cond delay="499"/>
                                          </p:stCondLst>
                                        </p:cTn>
                                        <p:tgtEl>
                                          <p:spTgt spid="86"/>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79"/>
                                        </p:tgtEl>
                                        <p:attrNameLst>
                                          <p:attrName>style.visibility</p:attrName>
                                        </p:attrNameLst>
                                      </p:cBhvr>
                                      <p:to>
                                        <p:strVal val="visible"/>
                                      </p:to>
                                    </p:set>
                                    <p:animEffect transition="in" filter="box(in)">
                                      <p:cBhvr>
                                        <p:cTn id="41" dur="2000"/>
                                        <p:tgtEl>
                                          <p:spTgt spid="79"/>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88"/>
                                        </p:tgtEl>
                                        <p:attrNameLst>
                                          <p:attrName>style.visibility</p:attrName>
                                        </p:attrNameLst>
                                      </p:cBhvr>
                                      <p:to>
                                        <p:strVal val="visible"/>
                                      </p:to>
                                    </p:set>
                                    <p:animEffect transition="in" filter="box(in)">
                                      <p:cBhvr>
                                        <p:cTn id="44" dur="2000"/>
                                        <p:tgtEl>
                                          <p:spTgt spid="88"/>
                                        </p:tgtEl>
                                      </p:cBhvr>
                                    </p:animEffect>
                                  </p:childTnLst>
                                </p:cTn>
                              </p:par>
                              <p:par>
                                <p:cTn id="45" presetID="4" presetClass="entr" presetSubtype="16" fill="hold" grpId="0" nodeType="withEffect">
                                  <p:stCondLst>
                                    <p:cond delay="0"/>
                                  </p:stCondLst>
                                  <p:childTnLst>
                                    <p:set>
                                      <p:cBhvr>
                                        <p:cTn id="46" dur="1" fill="hold">
                                          <p:stCondLst>
                                            <p:cond delay="0"/>
                                          </p:stCondLst>
                                        </p:cTn>
                                        <p:tgtEl>
                                          <p:spTgt spid="93"/>
                                        </p:tgtEl>
                                        <p:attrNameLst>
                                          <p:attrName>style.visibility</p:attrName>
                                        </p:attrNameLst>
                                      </p:cBhvr>
                                      <p:to>
                                        <p:strVal val="visible"/>
                                      </p:to>
                                    </p:set>
                                    <p:animEffect transition="in" filter="box(in)">
                                      <p:cBhvr>
                                        <p:cTn id="47" dur="2000"/>
                                        <p:tgtEl>
                                          <p:spTgt spid="93"/>
                                        </p:tgtEl>
                                      </p:cBhvr>
                                    </p:animEffect>
                                  </p:childTnLst>
                                </p:cTn>
                              </p:par>
                              <p:par>
                                <p:cTn id="48" presetID="4" presetClass="entr" presetSubtype="16" fill="hold" grpId="0" nodeType="withEffect">
                                  <p:stCondLst>
                                    <p:cond delay="0"/>
                                  </p:stCondLst>
                                  <p:childTnLst>
                                    <p:set>
                                      <p:cBhvr>
                                        <p:cTn id="49" dur="1" fill="hold">
                                          <p:stCondLst>
                                            <p:cond delay="0"/>
                                          </p:stCondLst>
                                        </p:cTn>
                                        <p:tgtEl>
                                          <p:spTgt spid="92"/>
                                        </p:tgtEl>
                                        <p:attrNameLst>
                                          <p:attrName>style.visibility</p:attrName>
                                        </p:attrNameLst>
                                      </p:cBhvr>
                                      <p:to>
                                        <p:strVal val="visible"/>
                                      </p:to>
                                    </p:set>
                                    <p:animEffect transition="in" filter="box(in)">
                                      <p:cBhvr>
                                        <p:cTn id="50" dur="2000"/>
                                        <p:tgtEl>
                                          <p:spTgt spid="92"/>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2" nodeType="clickEffect">
                                  <p:stCondLst>
                                    <p:cond delay="0"/>
                                  </p:stCondLst>
                                  <p:childTnLst>
                                    <p:set>
                                      <p:cBhvr>
                                        <p:cTn id="54" dur="1" fill="hold">
                                          <p:stCondLst>
                                            <p:cond delay="0"/>
                                          </p:stCondLst>
                                        </p:cTn>
                                        <p:tgtEl>
                                          <p:spTgt spid="89"/>
                                        </p:tgtEl>
                                        <p:attrNameLst>
                                          <p:attrName>style.visibility</p:attrName>
                                        </p:attrNameLst>
                                      </p:cBhvr>
                                      <p:to>
                                        <p:strVal val="visible"/>
                                      </p:to>
                                    </p:set>
                                    <p:anim calcmode="lin" valueType="num">
                                      <p:cBhvr additive="base">
                                        <p:cTn id="55" dur="500" fill="hold"/>
                                        <p:tgtEl>
                                          <p:spTgt spid="89"/>
                                        </p:tgtEl>
                                        <p:attrNameLst>
                                          <p:attrName>ppt_x</p:attrName>
                                        </p:attrNameLst>
                                      </p:cBhvr>
                                      <p:tavLst>
                                        <p:tav tm="0">
                                          <p:val>
                                            <p:strVal val="#ppt_x"/>
                                          </p:val>
                                        </p:tav>
                                        <p:tav tm="100000">
                                          <p:val>
                                            <p:strVal val="#ppt_x"/>
                                          </p:val>
                                        </p:tav>
                                      </p:tavLst>
                                    </p:anim>
                                    <p:anim calcmode="lin" valueType="num">
                                      <p:cBhvr additive="base">
                                        <p:cTn id="56" dur="500" fill="hold"/>
                                        <p:tgtEl>
                                          <p:spTgt spid="8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0" nodeType="clickEffect">
                                  <p:stCondLst>
                                    <p:cond delay="0"/>
                                  </p:stCondLst>
                                  <p:childTnLst>
                                    <p:anim calcmode="lin" valueType="num">
                                      <p:cBhvr additive="base">
                                        <p:cTn id="60" dur="500"/>
                                        <p:tgtEl>
                                          <p:spTgt spid="89"/>
                                        </p:tgtEl>
                                        <p:attrNameLst>
                                          <p:attrName>ppt_x</p:attrName>
                                        </p:attrNameLst>
                                      </p:cBhvr>
                                      <p:tavLst>
                                        <p:tav tm="0">
                                          <p:val>
                                            <p:strVal val="ppt_x"/>
                                          </p:val>
                                        </p:tav>
                                        <p:tav tm="100000">
                                          <p:val>
                                            <p:strVal val="ppt_x"/>
                                          </p:val>
                                        </p:tav>
                                      </p:tavLst>
                                    </p:anim>
                                    <p:anim calcmode="lin" valueType="num">
                                      <p:cBhvr additive="base">
                                        <p:cTn id="61" dur="500"/>
                                        <p:tgtEl>
                                          <p:spTgt spid="89"/>
                                        </p:tgtEl>
                                        <p:attrNameLst>
                                          <p:attrName>ppt_y</p:attrName>
                                        </p:attrNameLst>
                                      </p:cBhvr>
                                      <p:tavLst>
                                        <p:tav tm="0">
                                          <p:val>
                                            <p:strVal val="ppt_y"/>
                                          </p:val>
                                        </p:tav>
                                        <p:tav tm="100000">
                                          <p:val>
                                            <p:strVal val="1+ppt_h/2"/>
                                          </p:val>
                                        </p:tav>
                                      </p:tavLst>
                                    </p:anim>
                                    <p:set>
                                      <p:cBhvr>
                                        <p:cTn id="62" dur="1" fill="hold">
                                          <p:stCondLst>
                                            <p:cond delay="499"/>
                                          </p:stCondLst>
                                        </p:cTn>
                                        <p:tgtEl>
                                          <p:spTgt spid="8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3"/>
                                        </p:tgtEl>
                                        <p:attrNameLst>
                                          <p:attrName>style.visibility</p:attrName>
                                        </p:attrNameLst>
                                      </p:cBhvr>
                                      <p:to>
                                        <p:strVal val="visible"/>
                                      </p:to>
                                    </p:set>
                                    <p:animEffect transition="in" filter="box(in)">
                                      <p:cBhvr>
                                        <p:cTn id="67" dur="2000"/>
                                        <p:tgtEl>
                                          <p:spTgt spid="3"/>
                                        </p:tgtEl>
                                      </p:cBhvr>
                                    </p:animEffect>
                                  </p:childTnLst>
                                </p:cTn>
                              </p:par>
                              <p:par>
                                <p:cTn id="68" presetID="4" presetClass="entr" presetSubtype="16" fill="hold" grpId="0" nodeType="withEffect">
                                  <p:stCondLst>
                                    <p:cond delay="0"/>
                                  </p:stCondLst>
                                  <p:childTnLst>
                                    <p:set>
                                      <p:cBhvr>
                                        <p:cTn id="69" dur="1" fill="hold">
                                          <p:stCondLst>
                                            <p:cond delay="0"/>
                                          </p:stCondLst>
                                        </p:cTn>
                                        <p:tgtEl>
                                          <p:spTgt spid="90"/>
                                        </p:tgtEl>
                                        <p:attrNameLst>
                                          <p:attrName>style.visibility</p:attrName>
                                        </p:attrNameLst>
                                      </p:cBhvr>
                                      <p:to>
                                        <p:strVal val="visible"/>
                                      </p:to>
                                    </p:set>
                                    <p:animEffect transition="in" filter="box(in)">
                                      <p:cBhvr>
                                        <p:cTn id="70" dur="2000"/>
                                        <p:tgtEl>
                                          <p:spTgt spid="90"/>
                                        </p:tgtEl>
                                      </p:cBhvr>
                                    </p:animEffect>
                                  </p:childTnLst>
                                </p:cTn>
                              </p:par>
                              <p:par>
                                <p:cTn id="71" presetID="4" presetClass="entr" presetSubtype="16" fill="hold" grpId="0" nodeType="withEffect">
                                  <p:stCondLst>
                                    <p:cond delay="0"/>
                                  </p:stCondLst>
                                  <p:childTnLst>
                                    <p:set>
                                      <p:cBhvr>
                                        <p:cTn id="72" dur="1" fill="hold">
                                          <p:stCondLst>
                                            <p:cond delay="0"/>
                                          </p:stCondLst>
                                        </p:cTn>
                                        <p:tgtEl>
                                          <p:spTgt spid="98"/>
                                        </p:tgtEl>
                                        <p:attrNameLst>
                                          <p:attrName>style.visibility</p:attrName>
                                        </p:attrNameLst>
                                      </p:cBhvr>
                                      <p:to>
                                        <p:strVal val="visible"/>
                                      </p:to>
                                    </p:set>
                                    <p:animEffect transition="in" filter="box(in)">
                                      <p:cBhvr>
                                        <p:cTn id="73" dur="2000"/>
                                        <p:tgtEl>
                                          <p:spTgt spid="98"/>
                                        </p:tgtEl>
                                      </p:cBhvr>
                                    </p:animEffect>
                                  </p:childTnLst>
                                </p:cTn>
                              </p:par>
                              <p:par>
                                <p:cTn id="74" presetID="4" presetClass="entr" presetSubtype="16" fill="hold" grpId="0" nodeType="withEffect">
                                  <p:stCondLst>
                                    <p:cond delay="0"/>
                                  </p:stCondLst>
                                  <p:childTnLst>
                                    <p:set>
                                      <p:cBhvr>
                                        <p:cTn id="75" dur="1" fill="hold">
                                          <p:stCondLst>
                                            <p:cond delay="0"/>
                                          </p:stCondLst>
                                        </p:cTn>
                                        <p:tgtEl>
                                          <p:spTgt spid="99"/>
                                        </p:tgtEl>
                                        <p:attrNameLst>
                                          <p:attrName>style.visibility</p:attrName>
                                        </p:attrNameLst>
                                      </p:cBhvr>
                                      <p:to>
                                        <p:strVal val="visible"/>
                                      </p:to>
                                    </p:set>
                                    <p:animEffect transition="in" filter="box(in)">
                                      <p:cBhvr>
                                        <p:cTn id="76" dur="2000"/>
                                        <p:tgtEl>
                                          <p:spTgt spid="99"/>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2" nodeType="clickEffect">
                                  <p:stCondLst>
                                    <p:cond delay="0"/>
                                  </p:stCondLst>
                                  <p:childTnLst>
                                    <p:set>
                                      <p:cBhvr>
                                        <p:cTn id="80" dur="1" fill="hold">
                                          <p:stCondLst>
                                            <p:cond delay="0"/>
                                          </p:stCondLst>
                                        </p:cTn>
                                        <p:tgtEl>
                                          <p:spTgt spid="91"/>
                                        </p:tgtEl>
                                        <p:attrNameLst>
                                          <p:attrName>style.visibility</p:attrName>
                                        </p:attrNameLst>
                                      </p:cBhvr>
                                      <p:to>
                                        <p:strVal val="visible"/>
                                      </p:to>
                                    </p:set>
                                    <p:anim calcmode="lin" valueType="num">
                                      <p:cBhvr additive="base">
                                        <p:cTn id="81" dur="500" fill="hold"/>
                                        <p:tgtEl>
                                          <p:spTgt spid="91"/>
                                        </p:tgtEl>
                                        <p:attrNameLst>
                                          <p:attrName>ppt_x</p:attrName>
                                        </p:attrNameLst>
                                      </p:cBhvr>
                                      <p:tavLst>
                                        <p:tav tm="0">
                                          <p:val>
                                            <p:strVal val="#ppt_x"/>
                                          </p:val>
                                        </p:tav>
                                        <p:tav tm="100000">
                                          <p:val>
                                            <p:strVal val="#ppt_x"/>
                                          </p:val>
                                        </p:tav>
                                      </p:tavLst>
                                    </p:anim>
                                    <p:anim calcmode="lin" valueType="num">
                                      <p:cBhvr additive="base">
                                        <p:cTn id="82" dur="500" fill="hold"/>
                                        <p:tgtEl>
                                          <p:spTgt spid="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P spid="78" grpId="1"/>
      <p:bldP spid="84" grpId="2" bldLvl="0" animBg="1"/>
      <p:bldP spid="78" grpId="2"/>
      <p:bldP spid="81" grpId="0"/>
      <p:bldP spid="77" grpId="0" bldLvl="0" animBg="1"/>
      <p:bldP spid="81" grpId="1"/>
      <p:bldP spid="77" grpId="1" animBg="1"/>
      <p:bldP spid="85" grpId="0"/>
      <p:bldP spid="85" grpId="1"/>
      <p:bldP spid="86" grpId="0"/>
      <p:bldP spid="86" grpId="1"/>
      <p:bldP spid="86" grpId="2"/>
      <p:bldP spid="79" grpId="0"/>
      <p:bldP spid="79" grpId="1"/>
      <p:bldP spid="89" grpId="0"/>
      <p:bldP spid="89" grpId="1"/>
      <p:bldP spid="89" grpId="2"/>
      <p:bldP spid="88" grpId="0" animBg="1"/>
      <p:bldP spid="88" grpId="1" animBg="1"/>
      <p:bldP spid="3" grpId="0"/>
      <p:bldP spid="90" grpId="0" animBg="1"/>
      <p:bldP spid="3" grpId="1"/>
      <p:bldP spid="90" grpId="1" animBg="1"/>
      <p:bldP spid="91" grpId="1"/>
      <p:bldP spid="91" grpId="2"/>
      <p:bldP spid="93" grpId="0"/>
      <p:bldP spid="92" grpId="0" bldLvl="0" animBg="1"/>
      <p:bldP spid="93" grpId="1"/>
      <p:bldP spid="92" grpId="1" animBg="1"/>
      <p:bldP spid="98" grpId="0" bldLvl="0" animBg="1"/>
      <p:bldP spid="99" grpId="0"/>
      <p:bldP spid="98" grpId="1" animBg="1"/>
      <p:bldP spid="99"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2" name="组合 71"/>
          <p:cNvGrpSpPr/>
          <p:nvPr/>
        </p:nvGrpSpPr>
        <p:grpSpPr>
          <a:xfrm>
            <a:off x="2771775" y="2853055"/>
            <a:ext cx="3688080" cy="2865120"/>
            <a:chOff x="8221" y="3132"/>
            <a:chExt cx="5808" cy="4512"/>
          </a:xfrm>
        </p:grpSpPr>
        <p:grpSp>
          <p:nvGrpSpPr>
            <p:cNvPr id="13" name="组合 12"/>
            <p:cNvGrpSpPr/>
            <p:nvPr/>
          </p:nvGrpSpPr>
          <p:grpSpPr>
            <a:xfrm>
              <a:off x="10546" y="3132"/>
              <a:ext cx="1018" cy="916"/>
              <a:chOff x="10489" y="3359"/>
              <a:chExt cx="1018" cy="916"/>
            </a:xfrm>
          </p:grpSpPr>
          <p:sp>
            <p:nvSpPr>
              <p:cNvPr id="10" name="椭圆 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 name="文本框 11"/>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5" name="组合 14"/>
            <p:cNvGrpSpPr/>
            <p:nvPr/>
          </p:nvGrpSpPr>
          <p:grpSpPr>
            <a:xfrm>
              <a:off x="8675" y="4607"/>
              <a:ext cx="1018" cy="917"/>
              <a:chOff x="10489" y="3359"/>
              <a:chExt cx="1018" cy="917"/>
            </a:xfrm>
          </p:grpSpPr>
          <p:sp>
            <p:nvSpPr>
              <p:cNvPr id="16" name="椭圆 1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 name="文本框 16"/>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8" name="组合 17"/>
            <p:cNvGrpSpPr/>
            <p:nvPr/>
          </p:nvGrpSpPr>
          <p:grpSpPr>
            <a:xfrm>
              <a:off x="10546" y="4607"/>
              <a:ext cx="1018" cy="916"/>
              <a:chOff x="10489" y="3359"/>
              <a:chExt cx="1018" cy="916"/>
            </a:xfrm>
          </p:grpSpPr>
          <p:sp>
            <p:nvSpPr>
              <p:cNvPr id="19" name="椭圆 1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0" name="文本框 19"/>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21" name="组合 20"/>
            <p:cNvGrpSpPr/>
            <p:nvPr/>
          </p:nvGrpSpPr>
          <p:grpSpPr>
            <a:xfrm>
              <a:off x="12529" y="4607"/>
              <a:ext cx="1018" cy="916"/>
              <a:chOff x="10489" y="3359"/>
              <a:chExt cx="1018" cy="916"/>
            </a:xfrm>
          </p:grpSpPr>
          <p:sp>
            <p:nvSpPr>
              <p:cNvPr id="22" name="椭圆 2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3" name="文本框 22"/>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cxnSp>
          <p:nvCxnSpPr>
            <p:cNvPr id="24" name="曲线连接符 23"/>
            <p:cNvCxnSpPr>
              <a:stCxn id="10" idx="2"/>
              <a:endCxn id="16" idx="0"/>
            </p:cNvCxnSpPr>
            <p:nvPr/>
          </p:nvCxnSpPr>
          <p:spPr>
            <a:xfrm rot="10800000" flipV="1">
              <a:off x="9184" y="3591"/>
              <a:ext cx="1362" cy="1016"/>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5" name="曲线连接符 24"/>
            <p:cNvCxnSpPr>
              <a:stCxn id="12" idx="3"/>
              <a:endCxn id="22" idx="0"/>
            </p:cNvCxnSpPr>
            <p:nvPr/>
          </p:nvCxnSpPr>
          <p:spPr>
            <a:xfrm>
              <a:off x="11533" y="3635"/>
              <a:ext cx="1505" cy="972"/>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6" name="曲线连接符 25"/>
            <p:cNvCxnSpPr>
              <a:stCxn id="10" idx="4"/>
              <a:endCxn id="19" idx="0"/>
            </p:cNvCxnSpPr>
            <p:nvPr/>
          </p:nvCxnSpPr>
          <p:spPr>
            <a:xfrm rot="5400000" flipV="1">
              <a:off x="10776" y="4328"/>
              <a:ext cx="558" cy="5"/>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30" name="组合 29"/>
            <p:cNvGrpSpPr/>
            <p:nvPr/>
          </p:nvGrpSpPr>
          <p:grpSpPr>
            <a:xfrm>
              <a:off x="9355" y="6011"/>
              <a:ext cx="538" cy="539"/>
              <a:chOff x="10489" y="3359"/>
              <a:chExt cx="1018" cy="917"/>
            </a:xfrm>
          </p:grpSpPr>
          <p:sp>
            <p:nvSpPr>
              <p:cNvPr id="31" name="椭圆 3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2" name="文本框 3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33" name="组合 32"/>
            <p:cNvGrpSpPr/>
            <p:nvPr/>
          </p:nvGrpSpPr>
          <p:grpSpPr>
            <a:xfrm>
              <a:off x="8221" y="6011"/>
              <a:ext cx="538" cy="539"/>
              <a:chOff x="10489" y="3359"/>
              <a:chExt cx="1018" cy="917"/>
            </a:xfrm>
          </p:grpSpPr>
          <p:sp>
            <p:nvSpPr>
              <p:cNvPr id="34" name="椭圆 3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5" name="文本框 3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 name="组合 4"/>
            <p:cNvGrpSpPr/>
            <p:nvPr/>
          </p:nvGrpSpPr>
          <p:grpSpPr>
            <a:xfrm>
              <a:off x="11440" y="6011"/>
              <a:ext cx="538" cy="539"/>
              <a:chOff x="10489" y="3359"/>
              <a:chExt cx="1018" cy="917"/>
            </a:xfrm>
          </p:grpSpPr>
          <p:sp>
            <p:nvSpPr>
              <p:cNvPr id="6" name="椭圆 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 name="文本框 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8" name="组合 7"/>
            <p:cNvGrpSpPr/>
            <p:nvPr/>
          </p:nvGrpSpPr>
          <p:grpSpPr>
            <a:xfrm>
              <a:off x="10306" y="6011"/>
              <a:ext cx="538" cy="539"/>
              <a:chOff x="10489" y="3359"/>
              <a:chExt cx="1018" cy="917"/>
            </a:xfrm>
          </p:grpSpPr>
          <p:sp>
            <p:nvSpPr>
              <p:cNvPr id="27" name="椭圆 2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8" name="文本框 27"/>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9" name="组合 28"/>
            <p:cNvGrpSpPr/>
            <p:nvPr/>
          </p:nvGrpSpPr>
          <p:grpSpPr>
            <a:xfrm>
              <a:off x="13468" y="6011"/>
              <a:ext cx="538" cy="539"/>
              <a:chOff x="10489" y="3359"/>
              <a:chExt cx="1018" cy="917"/>
            </a:xfrm>
          </p:grpSpPr>
          <p:sp>
            <p:nvSpPr>
              <p:cNvPr id="36" name="椭圆 3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7" name="文本框 3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38" name="组合 37"/>
            <p:cNvGrpSpPr/>
            <p:nvPr/>
          </p:nvGrpSpPr>
          <p:grpSpPr>
            <a:xfrm>
              <a:off x="12334" y="6011"/>
              <a:ext cx="538" cy="539"/>
              <a:chOff x="10489" y="3359"/>
              <a:chExt cx="1018" cy="917"/>
            </a:xfrm>
          </p:grpSpPr>
          <p:sp>
            <p:nvSpPr>
              <p:cNvPr id="39" name="椭圆 3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0" name="文本框 3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42" name="曲线连接符 41"/>
            <p:cNvCxnSpPr>
              <a:stCxn id="16" idx="4"/>
              <a:endCxn id="35" idx="0"/>
            </p:cNvCxnSpPr>
            <p:nvPr/>
          </p:nvCxnSpPr>
          <p:spPr>
            <a:xfrm rot="5400000">
              <a:off x="8569" y="5467"/>
              <a:ext cx="558" cy="67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3" name="曲线连接符 42"/>
            <p:cNvCxnSpPr>
              <a:stCxn id="16" idx="4"/>
              <a:endCxn id="32" idx="0"/>
            </p:cNvCxnSpPr>
            <p:nvPr/>
          </p:nvCxnSpPr>
          <p:spPr>
            <a:xfrm rot="5400000" flipV="1">
              <a:off x="9136" y="5572"/>
              <a:ext cx="558" cy="46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4" name="曲线连接符 43"/>
            <p:cNvCxnSpPr>
              <a:stCxn id="22" idx="4"/>
              <a:endCxn id="40" idx="0"/>
            </p:cNvCxnSpPr>
            <p:nvPr/>
          </p:nvCxnSpPr>
          <p:spPr>
            <a:xfrm rot="5400000">
              <a:off x="12552" y="5596"/>
              <a:ext cx="558" cy="413"/>
            </a:xfrm>
            <a:prstGeom prst="curvedConnector3">
              <a:avLst>
                <a:gd name="adj1" fmla="val 49910"/>
              </a:avLst>
            </a:prstGeom>
            <a:solidFill>
              <a:schemeClr val="accent1"/>
            </a:solidFill>
            <a:ln w="9525" cap="flat" cmpd="sng" algn="ctr">
              <a:solidFill>
                <a:schemeClr val="tx1"/>
              </a:solidFill>
              <a:prstDash val="solid"/>
              <a:round/>
              <a:headEnd type="none" w="med" len="med"/>
              <a:tailEnd type="arrow" w="med" len="med"/>
            </a:ln>
          </p:spPr>
        </p:cxnSp>
        <p:cxnSp>
          <p:nvCxnSpPr>
            <p:cNvPr id="45" name="曲线连接符 44"/>
            <p:cNvCxnSpPr>
              <a:stCxn id="19" idx="4"/>
              <a:endCxn id="6" idx="0"/>
            </p:cNvCxnSpPr>
            <p:nvPr/>
          </p:nvCxnSpPr>
          <p:spPr>
            <a:xfrm rot="5400000" flipV="1">
              <a:off x="11139" y="5440"/>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6" name="曲线连接符 45"/>
            <p:cNvCxnSpPr>
              <a:stCxn id="19" idx="4"/>
              <a:endCxn id="28" idx="0"/>
            </p:cNvCxnSpPr>
            <p:nvPr/>
          </p:nvCxnSpPr>
          <p:spPr>
            <a:xfrm rot="5400000">
              <a:off x="10547" y="5574"/>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7" name="曲线连接符 46"/>
            <p:cNvCxnSpPr>
              <a:stCxn id="22" idx="4"/>
              <a:endCxn id="36" idx="0"/>
            </p:cNvCxnSpPr>
            <p:nvPr/>
          </p:nvCxnSpPr>
          <p:spPr>
            <a:xfrm rot="5400000" flipV="1">
              <a:off x="13144" y="5417"/>
              <a:ext cx="487" cy="699"/>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grpSp>
          <p:nvGrpSpPr>
            <p:cNvPr id="51" name="组合 50"/>
            <p:cNvGrpSpPr/>
            <p:nvPr/>
          </p:nvGrpSpPr>
          <p:grpSpPr>
            <a:xfrm>
              <a:off x="9355" y="7105"/>
              <a:ext cx="538" cy="539"/>
              <a:chOff x="10489" y="3359"/>
              <a:chExt cx="1018" cy="917"/>
            </a:xfrm>
          </p:grpSpPr>
          <p:sp>
            <p:nvSpPr>
              <p:cNvPr id="52" name="椭圆 5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3" name="文本框 52"/>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4" name="组合 53"/>
            <p:cNvGrpSpPr/>
            <p:nvPr/>
          </p:nvGrpSpPr>
          <p:grpSpPr>
            <a:xfrm>
              <a:off x="10306" y="7105"/>
              <a:ext cx="538" cy="539"/>
              <a:chOff x="10489" y="3359"/>
              <a:chExt cx="1018" cy="917"/>
            </a:xfrm>
          </p:grpSpPr>
          <p:sp>
            <p:nvSpPr>
              <p:cNvPr id="55" name="椭圆 5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6" name="文本框 5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57" name="组合 56"/>
            <p:cNvGrpSpPr/>
            <p:nvPr/>
          </p:nvGrpSpPr>
          <p:grpSpPr>
            <a:xfrm>
              <a:off x="11456" y="7104"/>
              <a:ext cx="538" cy="539"/>
              <a:chOff x="10489" y="3359"/>
              <a:chExt cx="1018" cy="917"/>
            </a:xfrm>
          </p:grpSpPr>
          <p:sp>
            <p:nvSpPr>
              <p:cNvPr id="58" name="椭圆 5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9" name="文本框 5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60" name="组合 59"/>
            <p:cNvGrpSpPr/>
            <p:nvPr/>
          </p:nvGrpSpPr>
          <p:grpSpPr>
            <a:xfrm>
              <a:off x="12373" y="7103"/>
              <a:ext cx="538" cy="539"/>
              <a:chOff x="10489" y="3359"/>
              <a:chExt cx="1018" cy="917"/>
            </a:xfrm>
          </p:grpSpPr>
          <p:sp>
            <p:nvSpPr>
              <p:cNvPr id="61" name="椭圆 6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2" name="文本框 6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63" name="组合 62"/>
            <p:cNvGrpSpPr/>
            <p:nvPr/>
          </p:nvGrpSpPr>
          <p:grpSpPr>
            <a:xfrm>
              <a:off x="13491" y="7105"/>
              <a:ext cx="538" cy="539"/>
              <a:chOff x="10489" y="3359"/>
              <a:chExt cx="1018" cy="917"/>
            </a:xfrm>
          </p:grpSpPr>
          <p:sp>
            <p:nvSpPr>
              <p:cNvPr id="64" name="椭圆 6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5" name="文本框 6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66" name="曲线连接符 65"/>
            <p:cNvCxnSpPr>
              <a:stCxn id="34" idx="4"/>
            </p:cNvCxnSpPr>
            <p:nvPr/>
          </p:nvCxnSpPr>
          <p:spPr>
            <a:xfrm rot="5400000" flipV="1">
              <a:off x="8226"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7" name="曲线连接符 66"/>
            <p:cNvCxnSpPr/>
            <p:nvPr/>
          </p:nvCxnSpPr>
          <p:spPr>
            <a:xfrm rot="5400000" flipV="1">
              <a:off x="9362" y="6798"/>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8" name="曲线连接符 67"/>
            <p:cNvCxnSpPr/>
            <p:nvPr/>
          </p:nvCxnSpPr>
          <p:spPr>
            <a:xfrm rot="5400000" flipV="1">
              <a:off x="10282"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9" name="曲线连接符 68"/>
            <p:cNvCxnSpPr/>
            <p:nvPr/>
          </p:nvCxnSpPr>
          <p:spPr>
            <a:xfrm rot="5400000" flipV="1">
              <a:off x="11426"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0" name="曲线连接符 69"/>
            <p:cNvCxnSpPr/>
            <p:nvPr/>
          </p:nvCxnSpPr>
          <p:spPr>
            <a:xfrm rot="5400000" flipV="1">
              <a:off x="12379"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1" name="曲线连接符 70"/>
            <p:cNvCxnSpPr/>
            <p:nvPr/>
          </p:nvCxnSpPr>
          <p:spPr>
            <a:xfrm rot="5400000" flipV="1">
              <a:off x="13513"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1</a:t>
            </a:r>
            <a:r>
              <a:rPr lang="zh-CN" altLang="en-US" sz="3600" kern="0" smtClean="0">
                <a:sym typeface="+mn-ea"/>
              </a:rPr>
              <a:t>）</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9" name="文本框 8"/>
          <p:cNvSpPr txBox="1"/>
          <p:nvPr/>
        </p:nvSpPr>
        <p:spPr>
          <a:xfrm>
            <a:off x="611505" y="1462405"/>
            <a:ext cx="4481195" cy="448945"/>
          </a:xfrm>
          <a:prstGeom prst="rect">
            <a:avLst/>
          </a:prstGeom>
          <a:noFill/>
        </p:spPr>
        <p:txBody>
          <a:bodyPr>
            <a:noAutofit/>
          </a:bodyPr>
          <a:p>
            <a:pPr>
              <a:defRPr/>
            </a:pPr>
            <a:r>
              <a:rPr lang="zh-CN" altLang="en-US" sz="1800">
                <a:solidFill>
                  <a:srgbClr val="000066"/>
                </a:solidFill>
                <a:latin typeface="+mj-ea"/>
                <a:ea typeface="+mj-ea"/>
              </a:rPr>
              <a:t>如何设计全排列</a:t>
            </a:r>
            <a:r>
              <a:rPr lang="en-US" altLang="zh-CN" sz="1800">
                <a:solidFill>
                  <a:srgbClr val="000066"/>
                </a:solidFill>
                <a:latin typeface="+mj-ea"/>
                <a:ea typeface="+mj-ea"/>
              </a:rPr>
              <a:t>I</a:t>
            </a:r>
            <a:r>
              <a:rPr lang="zh-CN" altLang="en-US" sz="1800">
                <a:solidFill>
                  <a:srgbClr val="000066"/>
                </a:solidFill>
                <a:latin typeface="+mj-ea"/>
                <a:ea typeface="+mj-ea"/>
              </a:rPr>
              <a:t>的程序？</a:t>
            </a:r>
            <a:r>
              <a:rPr lang="en-US" altLang="zh-CN" sz="1800">
                <a:solidFill>
                  <a:srgbClr val="000066"/>
                </a:solidFill>
                <a:latin typeface="+mj-ea"/>
                <a:ea typeface="+mj-ea"/>
              </a:rPr>
              <a:t> </a:t>
            </a:r>
            <a:endParaRPr lang="en-US" altLang="zh-CN" sz="1800">
              <a:solidFill>
                <a:srgbClr val="000066"/>
              </a:solidFill>
              <a:latin typeface="+mj-ea"/>
              <a:ea typeface="+mj-ea"/>
            </a:endParaRPr>
          </a:p>
        </p:txBody>
      </p:sp>
      <p:sp>
        <p:nvSpPr>
          <p:cNvPr id="78" name="文本框 77"/>
          <p:cNvSpPr txBox="1"/>
          <p:nvPr/>
        </p:nvSpPr>
        <p:spPr>
          <a:xfrm>
            <a:off x="3059430" y="2770505"/>
            <a:ext cx="469265" cy="401320"/>
          </a:xfrm>
          <a:prstGeom prst="rect">
            <a:avLst/>
          </a:prstGeom>
          <a:noFill/>
        </p:spPr>
        <p:txBody>
          <a:bodyPr wrap="square" rtlCol="0">
            <a:noAutofit/>
          </a:bodyPr>
          <a:p>
            <a:r>
              <a:rPr lang="zh-CN" altLang="en-US" sz="1800">
                <a:solidFill>
                  <a:srgbClr val="FF0000"/>
                </a:solidFill>
              </a:rPr>
              <a:t>①</a:t>
            </a:r>
            <a:endParaRPr lang="zh-CN" altLang="en-US" sz="1800">
              <a:solidFill>
                <a:srgbClr val="FF0000"/>
              </a:solidFill>
            </a:endParaRPr>
          </a:p>
        </p:txBody>
      </p:sp>
      <p:sp>
        <p:nvSpPr>
          <p:cNvPr id="79" name="文本框 78"/>
          <p:cNvSpPr txBox="1"/>
          <p:nvPr/>
        </p:nvSpPr>
        <p:spPr>
          <a:xfrm>
            <a:off x="2411730" y="4149090"/>
            <a:ext cx="469265" cy="401320"/>
          </a:xfrm>
          <a:prstGeom prst="rect">
            <a:avLst/>
          </a:prstGeom>
          <a:noFill/>
        </p:spPr>
        <p:txBody>
          <a:bodyPr wrap="square" rtlCol="0">
            <a:noAutofit/>
          </a:bodyPr>
          <a:p>
            <a:r>
              <a:rPr lang="zh-CN" altLang="en-US" sz="1800">
                <a:solidFill>
                  <a:srgbClr val="FF0000"/>
                </a:solidFill>
              </a:rPr>
              <a:t>②</a:t>
            </a:r>
            <a:endParaRPr lang="zh-CN" altLang="en-US" sz="1800">
              <a:solidFill>
                <a:srgbClr val="FF0000"/>
              </a:solidFill>
            </a:endParaRPr>
          </a:p>
        </p:txBody>
      </p:sp>
      <p:sp>
        <p:nvSpPr>
          <p:cNvPr id="3" name="文本框 2"/>
          <p:cNvSpPr txBox="1"/>
          <p:nvPr/>
        </p:nvSpPr>
        <p:spPr>
          <a:xfrm>
            <a:off x="2305050" y="4932045"/>
            <a:ext cx="336550" cy="429260"/>
          </a:xfrm>
          <a:prstGeom prst="rect">
            <a:avLst/>
          </a:prstGeom>
          <a:noFill/>
        </p:spPr>
        <p:txBody>
          <a:bodyPr wrap="square" rtlCol="0">
            <a:noAutofit/>
          </a:bodyPr>
          <a:p>
            <a:r>
              <a:rPr lang="zh-CN" altLang="en-US" sz="1800">
                <a:solidFill>
                  <a:srgbClr val="FF0000"/>
                </a:solidFill>
              </a:rPr>
              <a:t>③</a:t>
            </a:r>
            <a:endParaRPr lang="zh-CN" altLang="en-US" sz="1800">
              <a:solidFill>
                <a:srgbClr val="FF0000"/>
              </a:solidFill>
            </a:endParaRPr>
          </a:p>
        </p:txBody>
      </p:sp>
      <p:sp>
        <p:nvSpPr>
          <p:cNvPr id="84" name="任意多边形 83"/>
          <p:cNvSpPr/>
          <p:nvPr/>
        </p:nvSpPr>
        <p:spPr>
          <a:xfrm>
            <a:off x="3253105" y="2873375"/>
            <a:ext cx="882650" cy="617855"/>
          </a:xfrm>
          <a:custGeom>
            <a:avLst/>
            <a:gdLst>
              <a:gd name="connisteX0" fmla="*/ 882650 w 882650"/>
              <a:gd name="connsiteY0" fmla="*/ 0 h 617855"/>
              <a:gd name="connisteX1" fmla="*/ 317500 w 882650"/>
              <a:gd name="connsiteY1" fmla="*/ 150495 h 617855"/>
              <a:gd name="connisteX2" fmla="*/ 0 w 882650"/>
              <a:gd name="connsiteY2" fmla="*/ 617855 h 617855"/>
            </a:gdLst>
            <a:ahLst/>
            <a:cxnLst>
              <a:cxn ang="0">
                <a:pos x="connisteX0" y="connsiteY0"/>
              </a:cxn>
              <a:cxn ang="0">
                <a:pos x="connisteX1" y="connsiteY1"/>
              </a:cxn>
              <a:cxn ang="0">
                <a:pos x="connisteX2" y="connsiteY2"/>
              </a:cxn>
            </a:cxnLst>
            <a:rect l="l" t="t" r="r" b="b"/>
            <a:pathLst>
              <a:path w="882650" h="617855">
                <a:moveTo>
                  <a:pt x="882650" y="0"/>
                </a:moveTo>
                <a:cubicBezTo>
                  <a:pt x="775970" y="20955"/>
                  <a:pt x="494030" y="26670"/>
                  <a:pt x="317500" y="150495"/>
                </a:cubicBezTo>
                <a:cubicBezTo>
                  <a:pt x="140970" y="274320"/>
                  <a:pt x="52070" y="527685"/>
                  <a:pt x="0" y="617855"/>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4" name="文本框 13"/>
          <p:cNvSpPr txBox="1"/>
          <p:nvPr/>
        </p:nvSpPr>
        <p:spPr>
          <a:xfrm>
            <a:off x="683260" y="1844675"/>
            <a:ext cx="8192770" cy="415925"/>
          </a:xfrm>
          <a:prstGeom prst="rect">
            <a:avLst/>
          </a:prstGeom>
          <a:noFill/>
        </p:spPr>
        <p:txBody>
          <a:bodyPr wrap="square" rtlCol="0">
            <a:noAutofit/>
          </a:bodyPr>
          <a:p>
            <a:r>
              <a:rPr lang="en-US" altLang="zh-CN" sz="1800">
                <a:solidFill>
                  <a:schemeClr val="tx1"/>
                </a:solidFill>
                <a:uFillTx/>
                <a:latin typeface="Times New Roman" panose="02020603050405020304" pitchFamily="18" charset="0"/>
                <a:cs typeface="宋体" panose="02010600030101010101" pitchFamily="2" charset="-122"/>
              </a:rPr>
              <a:t>Visit</a:t>
            </a:r>
            <a:r>
              <a:rPr lang="zh-CN" altLang="en-US" sz="1800">
                <a:solidFill>
                  <a:schemeClr val="tx1"/>
                </a:solidFill>
                <a:uFillTx/>
                <a:latin typeface="Times New Roman" panose="02020603050405020304" pitchFamily="18" charset="0"/>
                <a:cs typeface="宋体" panose="02010600030101010101" pitchFamily="2" charset="-122"/>
              </a:rPr>
              <a:t>数组，表示元素是否被访问，</a:t>
            </a:r>
            <a:r>
              <a:rPr lang="en-US" altLang="zh-CN" sz="1800">
                <a:solidFill>
                  <a:schemeClr val="tx1"/>
                </a:solidFill>
                <a:uFillTx/>
                <a:latin typeface="Times New Roman" panose="02020603050405020304" pitchFamily="18" charset="0"/>
                <a:cs typeface="宋体" panose="02010600030101010101" pitchFamily="2" charset="-122"/>
              </a:rPr>
              <a:t>1</a:t>
            </a:r>
            <a:r>
              <a:rPr lang="zh-CN" altLang="en-US" sz="1800">
                <a:solidFill>
                  <a:schemeClr val="tx1"/>
                </a:solidFill>
                <a:uFillTx/>
                <a:latin typeface="Times New Roman" panose="02020603050405020304" pitchFamily="18" charset="0"/>
                <a:cs typeface="宋体" panose="02010600030101010101" pitchFamily="2" charset="-122"/>
              </a:rPr>
              <a:t>表示已被访问，</a:t>
            </a:r>
            <a:r>
              <a:rPr lang="en-US" altLang="zh-CN" sz="1800">
                <a:solidFill>
                  <a:schemeClr val="tx1"/>
                </a:solidFill>
                <a:uFillTx/>
                <a:latin typeface="Times New Roman" panose="02020603050405020304" pitchFamily="18" charset="0"/>
                <a:cs typeface="宋体" panose="02010600030101010101" pitchFamily="2" charset="-122"/>
              </a:rPr>
              <a:t>0</a:t>
            </a:r>
            <a:r>
              <a:rPr lang="zh-CN" altLang="en-US" sz="1800">
                <a:solidFill>
                  <a:schemeClr val="tx1"/>
                </a:solidFill>
                <a:uFillTx/>
                <a:latin typeface="Times New Roman" panose="02020603050405020304" pitchFamily="18" charset="0"/>
                <a:cs typeface="宋体" panose="02010600030101010101" pitchFamily="2" charset="-122"/>
              </a:rPr>
              <a:t>表示未被访问。</a:t>
            </a:r>
            <a:endParaRPr lang="zh-CN" altLang="en-US" sz="1800">
              <a:solidFill>
                <a:schemeClr val="tx1"/>
              </a:solidFill>
              <a:uFillTx/>
              <a:latin typeface="Times New Roman" panose="02020603050405020304" pitchFamily="18" charset="0"/>
              <a:cs typeface="宋体" panose="02010600030101010101" pitchFamily="2" charset="-122"/>
            </a:endParaRPr>
          </a:p>
        </p:txBody>
      </p:sp>
      <p:sp>
        <p:nvSpPr>
          <p:cNvPr id="74" name="文本框 73"/>
          <p:cNvSpPr txBox="1"/>
          <p:nvPr/>
        </p:nvSpPr>
        <p:spPr>
          <a:xfrm>
            <a:off x="683260" y="2204720"/>
            <a:ext cx="7426960" cy="498475"/>
          </a:xfrm>
          <a:prstGeom prst="rect">
            <a:avLst/>
          </a:prstGeom>
          <a:noFill/>
        </p:spPr>
        <p:txBody>
          <a:bodyPr wrap="square" rtlCol="0">
            <a:noAutofit/>
          </a:bodyPr>
          <a:p>
            <a:r>
              <a:rPr lang="en-US" altLang="zh-CN" sz="1800">
                <a:solidFill>
                  <a:schemeClr val="tx1"/>
                </a:solidFill>
                <a:uFillTx/>
                <a:latin typeface="Times New Roman" panose="02020603050405020304" pitchFamily="18" charset="0"/>
                <a:cs typeface="宋体" panose="02010600030101010101" pitchFamily="2" charset="-122"/>
              </a:rPr>
              <a:t>TempList</a:t>
            </a:r>
            <a:r>
              <a:rPr lang="zh-CN" altLang="en-US" sz="1800">
                <a:solidFill>
                  <a:schemeClr val="tx1"/>
                </a:solidFill>
                <a:uFillTx/>
                <a:latin typeface="Times New Roman" panose="02020603050405020304" pitchFamily="18" charset="0"/>
                <a:cs typeface="宋体" panose="02010600030101010101" pitchFamily="2" charset="-122"/>
              </a:rPr>
              <a:t>数组，临时存储全排列的所有</a:t>
            </a:r>
            <a:r>
              <a:rPr lang="zh-CN" altLang="en-US" sz="1800">
                <a:solidFill>
                  <a:schemeClr val="tx1"/>
                </a:solidFill>
                <a:uFillTx/>
                <a:latin typeface="Times New Roman" panose="02020603050405020304" pitchFamily="18" charset="0"/>
                <a:cs typeface="宋体" panose="02010600030101010101" pitchFamily="2" charset="-122"/>
              </a:rPr>
              <a:t>情况。</a:t>
            </a:r>
            <a:endParaRPr lang="zh-CN" altLang="en-US" sz="1800">
              <a:solidFill>
                <a:schemeClr val="tx1"/>
              </a:solidFill>
              <a:uFillTx/>
              <a:latin typeface="Times New Roman" panose="02020603050405020304" pitchFamily="18" charset="0"/>
              <a:cs typeface="宋体" panose="02010600030101010101" pitchFamily="2" charset="-122"/>
            </a:endParaRPr>
          </a:p>
        </p:txBody>
      </p:sp>
      <p:sp>
        <p:nvSpPr>
          <p:cNvPr id="77" name="椭圆 76"/>
          <p:cNvSpPr/>
          <p:nvPr/>
        </p:nvSpPr>
        <p:spPr>
          <a:xfrm>
            <a:off x="3060065" y="3789680"/>
            <a:ext cx="646430" cy="58229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1" name="文本框 80"/>
          <p:cNvSpPr txBox="1"/>
          <p:nvPr/>
        </p:nvSpPr>
        <p:spPr>
          <a:xfrm>
            <a:off x="3080385" y="3933190"/>
            <a:ext cx="554990" cy="350520"/>
          </a:xfrm>
          <a:prstGeom prst="rect">
            <a:avLst/>
          </a:prstGeom>
          <a:noFill/>
          <a:ln>
            <a:noFill/>
          </a:ln>
          <a:extLst>
            <a:ext uri="{909E8E84-426E-40DD-AFC4-6F175D3DCCD1}">
              <a14:hiddenFill xmlns:a14="http://schemas.microsoft.com/office/drawing/2010/main">
                <a:solidFill>
                  <a:srgbClr val="FF0000"/>
                </a:solidFill>
              </a14:hiddenFill>
            </a:ext>
          </a:extLst>
        </p:spPr>
        <p:txBody>
          <a:bodyPr>
            <a:noAutofit/>
          </a:bodyPr>
          <a:p>
            <a:pPr algn="ctr">
              <a:defRPr/>
            </a:pPr>
            <a:r>
              <a:rPr lang="en-US" sz="1400">
                <a:solidFill>
                  <a:schemeClr val="tx1"/>
                </a:solidFill>
                <a:latin typeface="+mj-ea"/>
                <a:ea typeface="+mj-ea"/>
              </a:rPr>
              <a:t>1</a:t>
            </a:r>
            <a:endParaRPr lang="en-US" sz="1400">
              <a:solidFill>
                <a:schemeClr val="tx1"/>
              </a:solidFill>
              <a:latin typeface="+mj-ea"/>
              <a:ea typeface="+mj-ea"/>
            </a:endParaRPr>
          </a:p>
        </p:txBody>
      </p:sp>
      <p:sp>
        <p:nvSpPr>
          <p:cNvPr id="88" name="任意多边形 87"/>
          <p:cNvSpPr/>
          <p:nvPr/>
        </p:nvSpPr>
        <p:spPr>
          <a:xfrm>
            <a:off x="2736850" y="4210050"/>
            <a:ext cx="281305" cy="511810"/>
          </a:xfrm>
          <a:custGeom>
            <a:avLst/>
            <a:gdLst>
              <a:gd name="connisteX0" fmla="*/ 281102 w 281102"/>
              <a:gd name="connsiteY0" fmla="*/ 0 h 511976"/>
              <a:gd name="connisteX1" fmla="*/ 79807 w 281102"/>
              <a:gd name="connsiteY1" fmla="*/ 173990 h 511976"/>
              <a:gd name="connisteX2" fmla="*/ 6782 w 281102"/>
              <a:gd name="connsiteY2" fmla="*/ 485775 h 511976"/>
              <a:gd name="connisteX3" fmla="*/ 6782 w 281102"/>
              <a:gd name="connsiteY3" fmla="*/ 476250 h 511976"/>
            </a:gdLst>
            <a:ahLst/>
            <a:cxnLst>
              <a:cxn ang="0">
                <a:pos x="connisteX0" y="connsiteY0"/>
              </a:cxn>
              <a:cxn ang="0">
                <a:pos x="connisteX1" y="connsiteY1"/>
              </a:cxn>
              <a:cxn ang="0">
                <a:pos x="connisteX2" y="connsiteY2"/>
              </a:cxn>
              <a:cxn ang="0">
                <a:pos x="connisteX3" y="connsiteY3"/>
              </a:cxn>
            </a:cxnLst>
            <a:rect l="l" t="t" r="r" b="b"/>
            <a:pathLst>
              <a:path w="281103" h="511977">
                <a:moveTo>
                  <a:pt x="281103" y="0"/>
                </a:moveTo>
                <a:cubicBezTo>
                  <a:pt x="242368" y="28575"/>
                  <a:pt x="134418" y="76835"/>
                  <a:pt x="79808" y="173990"/>
                </a:cubicBezTo>
                <a:cubicBezTo>
                  <a:pt x="25198" y="271145"/>
                  <a:pt x="21388" y="425450"/>
                  <a:pt x="6783" y="485775"/>
                </a:cubicBezTo>
                <a:cubicBezTo>
                  <a:pt x="-7822" y="546100"/>
                  <a:pt x="5513" y="484505"/>
                  <a:pt x="6783" y="476250"/>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9" name="文本框 88"/>
          <p:cNvSpPr txBox="1"/>
          <p:nvPr/>
        </p:nvSpPr>
        <p:spPr>
          <a:xfrm>
            <a:off x="341630" y="6247765"/>
            <a:ext cx="3919220" cy="410210"/>
          </a:xfrm>
          <a:prstGeom prst="rect">
            <a:avLst/>
          </a:prstGeom>
          <a:noFill/>
        </p:spPr>
        <p:txBody>
          <a:bodyPr wrap="square" rtlCol="0">
            <a:noAutofit/>
          </a:bodyPr>
          <a:p>
            <a:r>
              <a:rPr lang="zh-CN" altLang="en-US" sz="1800">
                <a:solidFill>
                  <a:schemeClr val="tx1"/>
                </a:solidFill>
                <a:uFillTx/>
                <a:latin typeface="Times New Roman" panose="02020603050405020304" pitchFamily="18" charset="0"/>
              </a:rPr>
              <a:t>③：</a:t>
            </a:r>
            <a:r>
              <a:rPr lang="en-US" altLang="zh-CN" sz="1800">
                <a:uFillTx/>
                <a:latin typeface="Times New Roman" panose="02020603050405020304" pitchFamily="18" charset="0"/>
                <a:cs typeface="宋体" panose="02010600030101010101" pitchFamily="2" charset="-122"/>
                <a:sym typeface="+mn-ea"/>
              </a:rPr>
              <a:t>Visit=[1,1,1]</a:t>
            </a:r>
            <a:r>
              <a:rPr lang="zh-CN" altLang="en-US" sz="1800">
                <a:uFillTx/>
                <a:latin typeface="Times New Roman" panose="02020603050405020304" pitchFamily="18" charset="0"/>
                <a:cs typeface="宋体" panose="02010600030101010101" pitchFamily="2" charset="-122"/>
                <a:sym typeface="+mn-ea"/>
              </a:rPr>
              <a:t>，</a:t>
            </a:r>
            <a:r>
              <a:rPr lang="en-US" altLang="zh-CN" sz="1800">
                <a:uFillTx/>
                <a:latin typeface="Times New Roman" panose="02020603050405020304" pitchFamily="18" charset="0"/>
                <a:cs typeface="宋体" panose="02010600030101010101" pitchFamily="2" charset="-122"/>
                <a:sym typeface="+mn-ea"/>
              </a:rPr>
              <a:t>TempList = [1,2,3]</a:t>
            </a:r>
            <a:endParaRPr lang="en-US" altLang="zh-CN" sz="1800">
              <a:uFillTx/>
              <a:latin typeface="Times New Roman" panose="02020603050405020304" pitchFamily="18" charset="0"/>
              <a:cs typeface="宋体" panose="02010600030101010101" pitchFamily="2" charset="-122"/>
              <a:sym typeface="+mn-ea"/>
            </a:endParaRPr>
          </a:p>
          <a:p>
            <a:endParaRPr lang="zh-CN" altLang="en-US" sz="1800">
              <a:uFillTx/>
              <a:latin typeface="Times New Roman" panose="02020603050405020304" pitchFamily="18" charset="0"/>
              <a:cs typeface="宋体" panose="02010600030101010101" pitchFamily="2" charset="-122"/>
              <a:sym typeface="+mn-ea"/>
            </a:endParaRPr>
          </a:p>
          <a:p>
            <a:endParaRPr lang="zh-CN" altLang="en-US" sz="1800">
              <a:solidFill>
                <a:schemeClr val="tx1"/>
              </a:solidFill>
              <a:uFillTx/>
              <a:latin typeface="Times New Roman" panose="02020603050405020304" pitchFamily="18" charset="0"/>
              <a:cs typeface="宋体" panose="02010600030101010101" pitchFamily="2" charset="-122"/>
              <a:sym typeface="+mn-ea"/>
            </a:endParaRPr>
          </a:p>
        </p:txBody>
      </p:sp>
      <p:sp>
        <p:nvSpPr>
          <p:cNvPr id="90" name="任意多边形 89"/>
          <p:cNvSpPr/>
          <p:nvPr/>
        </p:nvSpPr>
        <p:spPr>
          <a:xfrm>
            <a:off x="2713990" y="4952365"/>
            <a:ext cx="8890" cy="421640"/>
          </a:xfrm>
          <a:custGeom>
            <a:avLst/>
            <a:gdLst>
              <a:gd name="connisteX0" fmla="*/ 8890 w 8890"/>
              <a:gd name="connsiteY0" fmla="*/ 0 h 421640"/>
              <a:gd name="connisteX1" fmla="*/ 0 w 8890"/>
              <a:gd name="connsiteY1" fmla="*/ 421640 h 421640"/>
            </a:gdLst>
            <a:ahLst/>
            <a:cxnLst>
              <a:cxn ang="0">
                <a:pos x="connisteX0" y="connsiteY0"/>
              </a:cxn>
              <a:cxn ang="0">
                <a:pos x="connisteX1" y="connsiteY1"/>
              </a:cxn>
            </a:cxnLst>
            <a:rect l="l" t="t" r="r" b="b"/>
            <a:pathLst>
              <a:path w="8890" h="421640">
                <a:moveTo>
                  <a:pt x="8890" y="0"/>
                </a:moveTo>
                <a:cubicBezTo>
                  <a:pt x="5715" y="140335"/>
                  <a:pt x="3175" y="281305"/>
                  <a:pt x="0" y="421640"/>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2" name="椭圆 91"/>
          <p:cNvSpPr/>
          <p:nvPr/>
        </p:nvSpPr>
        <p:spPr>
          <a:xfrm>
            <a:off x="2771775" y="4681220"/>
            <a:ext cx="341630" cy="34226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3" name="文本框 92"/>
          <p:cNvSpPr txBox="1"/>
          <p:nvPr/>
        </p:nvSpPr>
        <p:spPr>
          <a:xfrm>
            <a:off x="2809697" y="4726009"/>
            <a:ext cx="293305" cy="206031"/>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sp>
        <p:nvSpPr>
          <p:cNvPr id="96" name="椭圆 95"/>
          <p:cNvSpPr/>
          <p:nvPr/>
        </p:nvSpPr>
        <p:spPr>
          <a:xfrm>
            <a:off x="2771775" y="5375910"/>
            <a:ext cx="341630" cy="342265"/>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7" name="文本框 96"/>
          <p:cNvSpPr txBox="1"/>
          <p:nvPr/>
        </p:nvSpPr>
        <p:spPr>
          <a:xfrm>
            <a:off x="2809697" y="5420699"/>
            <a:ext cx="293305" cy="206031"/>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sp>
        <p:nvSpPr>
          <p:cNvPr id="98" name="椭圆 97"/>
          <p:cNvSpPr/>
          <p:nvPr/>
        </p:nvSpPr>
        <p:spPr>
          <a:xfrm>
            <a:off x="2771775" y="5375910"/>
            <a:ext cx="341630" cy="34226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9" name="文本框 98"/>
          <p:cNvSpPr txBox="1"/>
          <p:nvPr/>
        </p:nvSpPr>
        <p:spPr>
          <a:xfrm>
            <a:off x="2809697" y="5420699"/>
            <a:ext cx="293305" cy="206031"/>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sp>
        <p:nvSpPr>
          <p:cNvPr id="41" name="文本框 40"/>
          <p:cNvSpPr txBox="1"/>
          <p:nvPr/>
        </p:nvSpPr>
        <p:spPr>
          <a:xfrm>
            <a:off x="2544445" y="5625465"/>
            <a:ext cx="336550" cy="429260"/>
          </a:xfrm>
          <a:prstGeom prst="rect">
            <a:avLst/>
          </a:prstGeom>
          <a:noFill/>
        </p:spPr>
        <p:txBody>
          <a:bodyPr wrap="square" rtlCol="0">
            <a:noAutofit/>
          </a:bodyPr>
          <a:p>
            <a:r>
              <a:rPr lang="zh-CN" altLang="en-US" sz="1800">
                <a:solidFill>
                  <a:srgbClr val="FF0000"/>
                </a:solidFill>
              </a:rPr>
              <a:t>④</a:t>
            </a:r>
            <a:endParaRPr lang="zh-CN" altLang="en-US" sz="1800">
              <a:solidFill>
                <a:srgbClr val="FF0000"/>
              </a:solidFill>
            </a:endParaRPr>
          </a:p>
        </p:txBody>
      </p:sp>
      <p:sp>
        <p:nvSpPr>
          <p:cNvPr id="48" name="文本框 47"/>
          <p:cNvSpPr txBox="1"/>
          <p:nvPr/>
        </p:nvSpPr>
        <p:spPr>
          <a:xfrm>
            <a:off x="323850" y="6237605"/>
            <a:ext cx="4700270" cy="430530"/>
          </a:xfrm>
          <a:prstGeom prst="rect">
            <a:avLst/>
          </a:prstGeom>
          <a:noFill/>
        </p:spPr>
        <p:txBody>
          <a:bodyPr wrap="square" rtlCol="0">
            <a:noAutofit/>
          </a:bodyPr>
          <a:p>
            <a:r>
              <a:rPr lang="zh-CN" altLang="en-US" sz="1800">
                <a:solidFill>
                  <a:schemeClr val="tx1"/>
                </a:solidFill>
                <a:uFillTx/>
                <a:latin typeface="Times New Roman" panose="02020603050405020304" pitchFamily="18" charset="0"/>
              </a:rPr>
              <a:t>④：达到递归出口，把结果</a:t>
            </a:r>
            <a:r>
              <a:rPr lang="en-US" altLang="zh-CN" sz="1800">
                <a:solidFill>
                  <a:schemeClr val="tx1"/>
                </a:solidFill>
                <a:uFillTx/>
                <a:latin typeface="Times New Roman" panose="02020603050405020304" pitchFamily="18" charset="0"/>
              </a:rPr>
              <a:t>TempList</a:t>
            </a:r>
            <a:r>
              <a:rPr lang="zh-CN" altLang="en-US" sz="1800">
                <a:solidFill>
                  <a:schemeClr val="tx1"/>
                </a:solidFill>
                <a:uFillTx/>
                <a:latin typeface="Times New Roman" panose="02020603050405020304" pitchFamily="18" charset="0"/>
              </a:rPr>
              <a:t>保存</a:t>
            </a:r>
            <a:endParaRPr lang="en-US" altLang="zh-CN" sz="1800">
              <a:uFillTx/>
              <a:latin typeface="Times New Roman" panose="02020603050405020304" pitchFamily="18" charset="0"/>
              <a:cs typeface="宋体" panose="02010600030101010101" pitchFamily="2" charset="-122"/>
              <a:sym typeface="+mn-ea"/>
            </a:endParaRPr>
          </a:p>
          <a:p>
            <a:endParaRPr lang="zh-CN" altLang="en-US" sz="1800">
              <a:uFillTx/>
              <a:latin typeface="Times New Roman" panose="02020603050405020304" pitchFamily="18" charset="0"/>
              <a:cs typeface="宋体" panose="02010600030101010101" pitchFamily="2" charset="-122"/>
              <a:sym typeface="+mn-ea"/>
            </a:endParaRPr>
          </a:p>
          <a:p>
            <a:endParaRPr lang="zh-CN" altLang="en-US" sz="1800">
              <a:solidFill>
                <a:schemeClr val="tx1"/>
              </a:solidFill>
              <a:uFillTx/>
              <a:latin typeface="Times New Roman" panose="02020603050405020304" pitchFamily="18" charset="0"/>
              <a:cs typeface="宋体" panose="02010600030101010101" pitchFamily="2" charset="-122"/>
              <a:sym typeface="+mn-ea"/>
            </a:endParaRPr>
          </a:p>
        </p:txBody>
      </p:sp>
      <p:cxnSp>
        <p:nvCxnSpPr>
          <p:cNvPr id="50" name="直接箭头连接符 49"/>
          <p:cNvCxnSpPr/>
          <p:nvPr/>
        </p:nvCxnSpPr>
        <p:spPr>
          <a:xfrm>
            <a:off x="2950210" y="5737225"/>
            <a:ext cx="0" cy="132715"/>
          </a:xfrm>
          <a:prstGeom prst="straightConnector1">
            <a:avLst/>
          </a:prstGeom>
          <a:solidFill>
            <a:schemeClr val="accent1"/>
          </a:solidFill>
          <a:ln w="34925" cap="flat" cmpd="sng" algn="ctr">
            <a:solidFill>
              <a:srgbClr val="FF0000"/>
            </a:solidFill>
            <a:prstDash val="solid"/>
            <a:round/>
            <a:headEnd type="none" w="med" len="med"/>
            <a:tailEnd type="triangle" w="med" len="med"/>
          </a:ln>
        </p:spPr>
      </p:cxnSp>
      <p:sp>
        <p:nvSpPr>
          <p:cNvPr id="73" name="文本框 72"/>
          <p:cNvSpPr txBox="1"/>
          <p:nvPr/>
        </p:nvSpPr>
        <p:spPr>
          <a:xfrm>
            <a:off x="701040" y="2493010"/>
            <a:ext cx="7101205" cy="358775"/>
          </a:xfrm>
          <a:prstGeom prst="rect">
            <a:avLst/>
          </a:prstGeom>
          <a:noFill/>
        </p:spPr>
        <p:txBody>
          <a:bodyPr wrap="square" rtlCol="0">
            <a:noAutofit/>
          </a:bodyPr>
          <a:p>
            <a:r>
              <a:rPr lang="en-US" altLang="zh-CN">
                <a:solidFill>
                  <a:schemeClr val="tx1"/>
                </a:solidFill>
                <a:uFillTx/>
                <a:latin typeface="Times New Roman" panose="02020603050405020304" pitchFamily="18" charset="0"/>
              </a:rPr>
              <a:t>Result=[[1,2,3]]</a:t>
            </a:r>
            <a:endParaRPr lang="en-US" altLang="zh-CN">
              <a:solidFill>
                <a:schemeClr val="tx1"/>
              </a:solidFill>
              <a:uFillTx/>
              <a:latin typeface="Times New Roman" panose="02020603050405020304" pitchFamily="18" charset="0"/>
            </a:endParaRPr>
          </a:p>
        </p:txBody>
      </p:sp>
      <p:sp>
        <p:nvSpPr>
          <p:cNvPr id="75" name="文本框 74"/>
          <p:cNvSpPr txBox="1"/>
          <p:nvPr/>
        </p:nvSpPr>
        <p:spPr>
          <a:xfrm>
            <a:off x="3208655" y="5370195"/>
            <a:ext cx="336550" cy="429260"/>
          </a:xfrm>
          <a:prstGeom prst="rect">
            <a:avLst/>
          </a:prstGeom>
          <a:noFill/>
        </p:spPr>
        <p:txBody>
          <a:bodyPr wrap="square" rtlCol="0">
            <a:noAutofit/>
          </a:bodyPr>
          <a:p>
            <a:r>
              <a:rPr lang="zh-CN" altLang="en-US" sz="1800">
                <a:solidFill>
                  <a:srgbClr val="FF0000"/>
                </a:solidFill>
              </a:rPr>
              <a:t>⑤</a:t>
            </a:r>
            <a:endParaRPr lang="zh-CN" altLang="en-US" sz="1800">
              <a:solidFill>
                <a:srgbClr val="FF0000"/>
              </a:solidFill>
            </a:endParaRPr>
          </a:p>
        </p:txBody>
      </p:sp>
      <p:sp>
        <p:nvSpPr>
          <p:cNvPr id="80" name="文本框 79"/>
          <p:cNvSpPr txBox="1"/>
          <p:nvPr/>
        </p:nvSpPr>
        <p:spPr>
          <a:xfrm>
            <a:off x="322580" y="6247765"/>
            <a:ext cx="4700270" cy="430530"/>
          </a:xfrm>
          <a:prstGeom prst="rect">
            <a:avLst/>
          </a:prstGeom>
          <a:noFill/>
        </p:spPr>
        <p:txBody>
          <a:bodyPr wrap="square" rtlCol="0">
            <a:noAutofit/>
          </a:bodyPr>
          <a:p>
            <a:r>
              <a:rPr lang="zh-CN" altLang="en-US" sz="1800">
                <a:solidFill>
                  <a:schemeClr val="tx1"/>
                </a:solidFill>
                <a:uFillTx/>
                <a:latin typeface="Times New Roman" panose="02020603050405020304" pitchFamily="18" charset="0"/>
              </a:rPr>
              <a:t>⑤：</a:t>
            </a:r>
            <a:r>
              <a:rPr lang="en-US" altLang="zh-CN" sz="1800">
                <a:solidFill>
                  <a:schemeClr val="tx1"/>
                </a:solidFill>
                <a:uFillTx/>
                <a:latin typeface="Times New Roman" panose="02020603050405020304" pitchFamily="18" charset="0"/>
              </a:rPr>
              <a:t>Visit=[1,1,0]</a:t>
            </a:r>
            <a:r>
              <a:rPr lang="zh-CN" altLang="en-US" sz="1800">
                <a:solidFill>
                  <a:schemeClr val="tx1"/>
                </a:solidFill>
                <a:uFillTx/>
                <a:latin typeface="Times New Roman" panose="02020603050405020304" pitchFamily="18" charset="0"/>
              </a:rPr>
              <a:t>，</a:t>
            </a:r>
            <a:r>
              <a:rPr lang="en-US" altLang="zh-CN" sz="1800">
                <a:solidFill>
                  <a:schemeClr val="tx1"/>
                </a:solidFill>
                <a:uFillTx/>
                <a:latin typeface="Times New Roman" panose="02020603050405020304" pitchFamily="18" charset="0"/>
              </a:rPr>
              <a:t>TempList=[1,2]</a:t>
            </a:r>
            <a:endParaRPr lang="en-US" altLang="zh-CN" sz="1800">
              <a:uFillTx/>
              <a:latin typeface="Times New Roman" panose="02020603050405020304" pitchFamily="18" charset="0"/>
              <a:cs typeface="宋体" panose="02010600030101010101" pitchFamily="2" charset="-122"/>
              <a:sym typeface="+mn-ea"/>
            </a:endParaRPr>
          </a:p>
          <a:p>
            <a:endParaRPr lang="zh-CN" altLang="en-US" sz="1800">
              <a:uFillTx/>
              <a:latin typeface="Times New Roman" panose="02020603050405020304" pitchFamily="18" charset="0"/>
              <a:cs typeface="宋体" panose="02010600030101010101" pitchFamily="2" charset="-122"/>
              <a:sym typeface="+mn-ea"/>
            </a:endParaRPr>
          </a:p>
          <a:p>
            <a:endParaRPr lang="zh-CN" altLang="en-US" sz="1800">
              <a:solidFill>
                <a:schemeClr val="tx1"/>
              </a:solidFill>
              <a:uFillTx/>
              <a:latin typeface="Times New Roman" panose="02020603050405020304" pitchFamily="18" charset="0"/>
              <a:cs typeface="宋体" panose="02010600030101010101" pitchFamily="2" charset="-122"/>
              <a:sym typeface="+mn-ea"/>
            </a:endParaRPr>
          </a:p>
        </p:txBody>
      </p:sp>
      <p:sp>
        <p:nvSpPr>
          <p:cNvPr id="87" name="任意多边形 86"/>
          <p:cNvSpPr/>
          <p:nvPr/>
        </p:nvSpPr>
        <p:spPr>
          <a:xfrm>
            <a:off x="3059430" y="5341620"/>
            <a:ext cx="241935" cy="372745"/>
          </a:xfrm>
          <a:custGeom>
            <a:avLst/>
            <a:gdLst>
              <a:gd name="connisteX0" fmla="*/ 0 w 241617"/>
              <a:gd name="connsiteY0" fmla="*/ 372511 h 372511"/>
              <a:gd name="connisteX1" fmla="*/ 210185 w 241617"/>
              <a:gd name="connsiteY1" fmla="*/ 317266 h 372511"/>
              <a:gd name="connisteX2" fmla="*/ 210185 w 241617"/>
              <a:gd name="connsiteY2" fmla="*/ 24531 h 372511"/>
              <a:gd name="connisteX3" fmla="*/ 0 w 241617"/>
              <a:gd name="connsiteY3" fmla="*/ 33421 h 372511"/>
            </a:gdLst>
            <a:ahLst/>
            <a:cxnLst>
              <a:cxn ang="0">
                <a:pos x="connisteX0" y="connsiteY0"/>
              </a:cxn>
              <a:cxn ang="0">
                <a:pos x="connisteX1" y="connsiteY1"/>
              </a:cxn>
              <a:cxn ang="0">
                <a:pos x="connisteX2" y="connsiteY2"/>
              </a:cxn>
              <a:cxn ang="0">
                <a:pos x="connisteX3" y="connsiteY3"/>
              </a:cxn>
            </a:cxnLst>
            <a:rect l="l" t="t" r="r" b="b"/>
            <a:pathLst>
              <a:path w="241618" h="372511">
                <a:moveTo>
                  <a:pt x="0" y="372511"/>
                </a:moveTo>
                <a:cubicBezTo>
                  <a:pt x="41910" y="367431"/>
                  <a:pt x="168275" y="387116"/>
                  <a:pt x="210185" y="317266"/>
                </a:cubicBezTo>
                <a:cubicBezTo>
                  <a:pt x="252095" y="247416"/>
                  <a:pt x="252095" y="81046"/>
                  <a:pt x="210185" y="24531"/>
                </a:cubicBezTo>
                <a:cubicBezTo>
                  <a:pt x="168275" y="-31984"/>
                  <a:pt x="41910" y="25801"/>
                  <a:pt x="0" y="33421"/>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89"/>
                                        </p:tgtEl>
                                        <p:attrNameLst>
                                          <p:attrName>ppt_x</p:attrName>
                                        </p:attrNameLst>
                                      </p:cBhvr>
                                      <p:tavLst>
                                        <p:tav tm="0">
                                          <p:val>
                                            <p:strVal val="ppt_x"/>
                                          </p:val>
                                        </p:tav>
                                        <p:tav tm="100000">
                                          <p:val>
                                            <p:strVal val="ppt_x"/>
                                          </p:val>
                                        </p:tav>
                                      </p:tavLst>
                                    </p:anim>
                                    <p:anim calcmode="lin" valueType="num">
                                      <p:cBhvr additive="base">
                                        <p:cTn id="7" dur="500"/>
                                        <p:tgtEl>
                                          <p:spTgt spid="89"/>
                                        </p:tgtEl>
                                        <p:attrNameLst>
                                          <p:attrName>ppt_y</p:attrName>
                                        </p:attrNameLst>
                                      </p:cBhvr>
                                      <p:tavLst>
                                        <p:tav tm="0">
                                          <p:val>
                                            <p:strVal val="ppt_y"/>
                                          </p:val>
                                        </p:tav>
                                        <p:tav tm="100000">
                                          <p:val>
                                            <p:strVal val="1+ppt_h/2"/>
                                          </p:val>
                                        </p:tav>
                                      </p:tavLst>
                                    </p:anim>
                                    <p:set>
                                      <p:cBhvr>
                                        <p:cTn id="8" dur="1" fill="hold">
                                          <p:stCondLst>
                                            <p:cond delay="499"/>
                                          </p:stCondLst>
                                        </p:cTn>
                                        <p:tgtEl>
                                          <p:spTgt spid="89"/>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box(in)">
                                      <p:cBhvr>
                                        <p:cTn id="13" dur="2000"/>
                                        <p:tgtEl>
                                          <p:spTgt spid="50"/>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box(in)">
                                      <p:cBhvr>
                                        <p:cTn id="16" dur="2000"/>
                                        <p:tgtEl>
                                          <p:spTgt spid="41"/>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8"/>
                                        </p:tgtEl>
                                        <p:attrNameLst>
                                          <p:attrName>style.visibility</p:attrName>
                                        </p:attrNameLst>
                                      </p:cBhvr>
                                      <p:to>
                                        <p:strVal val="visible"/>
                                      </p:to>
                                    </p:set>
                                    <p:anim calcmode="lin" valueType="num">
                                      <p:cBhvr additive="base">
                                        <p:cTn id="21" dur="500" fill="hold"/>
                                        <p:tgtEl>
                                          <p:spTgt spid="48"/>
                                        </p:tgtEl>
                                        <p:attrNameLst>
                                          <p:attrName>ppt_x</p:attrName>
                                        </p:attrNameLst>
                                      </p:cBhvr>
                                      <p:tavLst>
                                        <p:tav tm="0">
                                          <p:val>
                                            <p:strVal val="#ppt_x"/>
                                          </p:val>
                                        </p:tav>
                                        <p:tav tm="100000">
                                          <p:val>
                                            <p:strVal val="#ppt_x"/>
                                          </p:val>
                                        </p:tav>
                                      </p:tavLst>
                                    </p:anim>
                                    <p:anim calcmode="lin" valueType="num">
                                      <p:cBhvr additive="base">
                                        <p:cTn id="2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3"/>
                                        </p:tgtEl>
                                        <p:attrNameLst>
                                          <p:attrName>style.visibility</p:attrName>
                                        </p:attrNameLst>
                                      </p:cBhvr>
                                      <p:to>
                                        <p:strVal val="visible"/>
                                      </p:to>
                                    </p:set>
                                    <p:anim calcmode="lin" valueType="num">
                                      <p:cBhvr additive="base">
                                        <p:cTn id="27" dur="500" fill="hold"/>
                                        <p:tgtEl>
                                          <p:spTgt spid="73"/>
                                        </p:tgtEl>
                                        <p:attrNameLst>
                                          <p:attrName>ppt_x</p:attrName>
                                        </p:attrNameLst>
                                      </p:cBhvr>
                                      <p:tavLst>
                                        <p:tav tm="0">
                                          <p:val>
                                            <p:strVal val="#ppt_x"/>
                                          </p:val>
                                        </p:tav>
                                        <p:tav tm="100000">
                                          <p:val>
                                            <p:strVal val="#ppt_x"/>
                                          </p:val>
                                        </p:tav>
                                      </p:tavLst>
                                    </p:anim>
                                    <p:anim calcmode="lin" valueType="num">
                                      <p:cBhvr additive="base">
                                        <p:cTn id="28"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xit" presetSubtype="4" fill="hold" grpId="2" nodeType="clickEffect">
                                  <p:stCondLst>
                                    <p:cond delay="0"/>
                                  </p:stCondLst>
                                  <p:childTnLst>
                                    <p:anim calcmode="lin" valueType="num">
                                      <p:cBhvr additive="base">
                                        <p:cTn id="32" dur="500"/>
                                        <p:tgtEl>
                                          <p:spTgt spid="48"/>
                                        </p:tgtEl>
                                        <p:attrNameLst>
                                          <p:attrName>ppt_x</p:attrName>
                                        </p:attrNameLst>
                                      </p:cBhvr>
                                      <p:tavLst>
                                        <p:tav tm="0">
                                          <p:val>
                                            <p:strVal val="ppt_x"/>
                                          </p:val>
                                        </p:tav>
                                        <p:tav tm="100000">
                                          <p:val>
                                            <p:strVal val="ppt_x"/>
                                          </p:val>
                                        </p:tav>
                                      </p:tavLst>
                                    </p:anim>
                                    <p:anim calcmode="lin" valueType="num">
                                      <p:cBhvr additive="base">
                                        <p:cTn id="33" dur="500"/>
                                        <p:tgtEl>
                                          <p:spTgt spid="48"/>
                                        </p:tgtEl>
                                        <p:attrNameLst>
                                          <p:attrName>ppt_y</p:attrName>
                                        </p:attrNameLst>
                                      </p:cBhvr>
                                      <p:tavLst>
                                        <p:tav tm="0">
                                          <p:val>
                                            <p:strVal val="ppt_y"/>
                                          </p:val>
                                        </p:tav>
                                        <p:tav tm="100000">
                                          <p:val>
                                            <p:strVal val="1+ppt_h/2"/>
                                          </p:val>
                                        </p:tav>
                                      </p:tavLst>
                                    </p:anim>
                                    <p:set>
                                      <p:cBhvr>
                                        <p:cTn id="34" dur="1" fill="hold">
                                          <p:stCondLst>
                                            <p:cond delay="499"/>
                                          </p:stCondLst>
                                        </p:cTn>
                                        <p:tgtEl>
                                          <p:spTgt spid="48"/>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75"/>
                                        </p:tgtEl>
                                        <p:attrNameLst>
                                          <p:attrName>style.visibility</p:attrName>
                                        </p:attrNameLst>
                                      </p:cBhvr>
                                      <p:to>
                                        <p:strVal val="visible"/>
                                      </p:to>
                                    </p:set>
                                    <p:animEffect transition="in" filter="box(in)">
                                      <p:cBhvr>
                                        <p:cTn id="39" dur="2000"/>
                                        <p:tgtEl>
                                          <p:spTgt spid="75"/>
                                        </p:tgtEl>
                                      </p:cBhvr>
                                    </p:animEffect>
                                  </p:childTnLst>
                                </p:cTn>
                              </p:par>
                              <p:par>
                                <p:cTn id="40" presetID="4" presetClass="entr" presetSubtype="16" fill="hold" grpId="0" nodeType="withEffect">
                                  <p:stCondLst>
                                    <p:cond delay="0"/>
                                  </p:stCondLst>
                                  <p:childTnLst>
                                    <p:set>
                                      <p:cBhvr>
                                        <p:cTn id="41" dur="1" fill="hold">
                                          <p:stCondLst>
                                            <p:cond delay="0"/>
                                          </p:stCondLst>
                                        </p:cTn>
                                        <p:tgtEl>
                                          <p:spTgt spid="87"/>
                                        </p:tgtEl>
                                        <p:attrNameLst>
                                          <p:attrName>style.visibility</p:attrName>
                                        </p:attrNameLst>
                                      </p:cBhvr>
                                      <p:to>
                                        <p:strVal val="visible"/>
                                      </p:to>
                                    </p:set>
                                    <p:animEffect transition="in" filter="box(in)">
                                      <p:cBhvr>
                                        <p:cTn id="42" dur="2000"/>
                                        <p:tgtEl>
                                          <p:spTgt spid="87"/>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80"/>
                                        </p:tgtEl>
                                        <p:attrNameLst>
                                          <p:attrName>style.visibility</p:attrName>
                                        </p:attrNameLst>
                                      </p:cBhvr>
                                      <p:to>
                                        <p:strVal val="visible"/>
                                      </p:to>
                                    </p:set>
                                    <p:anim calcmode="lin" valueType="num">
                                      <p:cBhvr additive="base">
                                        <p:cTn id="47" dur="500" fill="hold"/>
                                        <p:tgtEl>
                                          <p:spTgt spid="80"/>
                                        </p:tgtEl>
                                        <p:attrNameLst>
                                          <p:attrName>ppt_x</p:attrName>
                                        </p:attrNameLst>
                                      </p:cBhvr>
                                      <p:tavLst>
                                        <p:tav tm="0">
                                          <p:val>
                                            <p:strVal val="#ppt_x"/>
                                          </p:val>
                                        </p:tav>
                                        <p:tav tm="100000">
                                          <p:val>
                                            <p:strVal val="#ppt_x"/>
                                          </p:val>
                                        </p:tav>
                                      </p:tavLst>
                                    </p:anim>
                                    <p:anim calcmode="lin" valueType="num">
                                      <p:cBhvr additive="base">
                                        <p:cTn id="48"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P spid="78" grpId="1"/>
      <p:bldP spid="81" grpId="1"/>
      <p:bldP spid="77" grpId="1" animBg="1"/>
      <p:bldP spid="79" grpId="1"/>
      <p:bldP spid="88" grpId="1" animBg="1"/>
      <p:bldP spid="3" grpId="1"/>
      <p:bldP spid="90" grpId="1" animBg="1"/>
      <p:bldP spid="93" grpId="1"/>
      <p:bldP spid="92" grpId="1" animBg="1"/>
      <p:bldP spid="98" grpId="1" animBg="1"/>
      <p:bldP spid="99" grpId="1"/>
      <p:bldP spid="89" grpId="0"/>
      <p:bldP spid="89" grpId="1"/>
      <p:bldP spid="41" grpId="0"/>
      <p:bldP spid="41" grpId="1"/>
      <p:bldP spid="48" grpId="0"/>
      <p:bldP spid="48" grpId="1"/>
      <p:bldP spid="48" grpId="2"/>
      <p:bldP spid="73" grpId="0"/>
      <p:bldP spid="75" grpId="0"/>
      <p:bldP spid="75" grpId="1"/>
      <p:bldP spid="80" grpId="0"/>
      <p:bldP spid="80" grpId="1"/>
      <p:bldP spid="87" grpId="0" animBg="1"/>
      <p:bldP spid="87"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2" name="组合 71"/>
          <p:cNvGrpSpPr/>
          <p:nvPr/>
        </p:nvGrpSpPr>
        <p:grpSpPr>
          <a:xfrm>
            <a:off x="2771775" y="2853055"/>
            <a:ext cx="3688080" cy="2865120"/>
            <a:chOff x="8221" y="3132"/>
            <a:chExt cx="5808" cy="4512"/>
          </a:xfrm>
        </p:grpSpPr>
        <p:grpSp>
          <p:nvGrpSpPr>
            <p:cNvPr id="13" name="组合 12"/>
            <p:cNvGrpSpPr/>
            <p:nvPr/>
          </p:nvGrpSpPr>
          <p:grpSpPr>
            <a:xfrm>
              <a:off x="10546" y="3132"/>
              <a:ext cx="1018" cy="916"/>
              <a:chOff x="10489" y="3359"/>
              <a:chExt cx="1018" cy="916"/>
            </a:xfrm>
          </p:grpSpPr>
          <p:sp>
            <p:nvSpPr>
              <p:cNvPr id="10" name="椭圆 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 name="文本框 11"/>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5" name="组合 14"/>
            <p:cNvGrpSpPr/>
            <p:nvPr/>
          </p:nvGrpSpPr>
          <p:grpSpPr>
            <a:xfrm>
              <a:off x="8675" y="4607"/>
              <a:ext cx="1018" cy="917"/>
              <a:chOff x="10489" y="3359"/>
              <a:chExt cx="1018" cy="917"/>
            </a:xfrm>
          </p:grpSpPr>
          <p:sp>
            <p:nvSpPr>
              <p:cNvPr id="16" name="椭圆 1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 name="文本框 16"/>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8" name="组合 17"/>
            <p:cNvGrpSpPr/>
            <p:nvPr/>
          </p:nvGrpSpPr>
          <p:grpSpPr>
            <a:xfrm>
              <a:off x="10546" y="4607"/>
              <a:ext cx="1018" cy="916"/>
              <a:chOff x="10489" y="3359"/>
              <a:chExt cx="1018" cy="916"/>
            </a:xfrm>
          </p:grpSpPr>
          <p:sp>
            <p:nvSpPr>
              <p:cNvPr id="19" name="椭圆 1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0" name="文本框 19"/>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21" name="组合 20"/>
            <p:cNvGrpSpPr/>
            <p:nvPr/>
          </p:nvGrpSpPr>
          <p:grpSpPr>
            <a:xfrm>
              <a:off x="12529" y="4607"/>
              <a:ext cx="1018" cy="916"/>
              <a:chOff x="10489" y="3359"/>
              <a:chExt cx="1018" cy="916"/>
            </a:xfrm>
          </p:grpSpPr>
          <p:sp>
            <p:nvSpPr>
              <p:cNvPr id="22" name="椭圆 2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3" name="文本框 22"/>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cxnSp>
          <p:nvCxnSpPr>
            <p:cNvPr id="24" name="曲线连接符 23"/>
            <p:cNvCxnSpPr>
              <a:stCxn id="10" idx="2"/>
              <a:endCxn id="16" idx="0"/>
            </p:cNvCxnSpPr>
            <p:nvPr/>
          </p:nvCxnSpPr>
          <p:spPr>
            <a:xfrm rot="10800000" flipV="1">
              <a:off x="9184" y="3591"/>
              <a:ext cx="1362" cy="1016"/>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5" name="曲线连接符 24"/>
            <p:cNvCxnSpPr>
              <a:stCxn id="12" idx="3"/>
              <a:endCxn id="22" idx="0"/>
            </p:cNvCxnSpPr>
            <p:nvPr/>
          </p:nvCxnSpPr>
          <p:spPr>
            <a:xfrm>
              <a:off x="11533" y="3635"/>
              <a:ext cx="1505" cy="972"/>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6" name="曲线连接符 25"/>
            <p:cNvCxnSpPr>
              <a:stCxn id="10" idx="4"/>
              <a:endCxn id="19" idx="0"/>
            </p:cNvCxnSpPr>
            <p:nvPr/>
          </p:nvCxnSpPr>
          <p:spPr>
            <a:xfrm rot="5400000" flipV="1">
              <a:off x="10776" y="4328"/>
              <a:ext cx="558" cy="5"/>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33" name="组合 32"/>
            <p:cNvGrpSpPr/>
            <p:nvPr/>
          </p:nvGrpSpPr>
          <p:grpSpPr>
            <a:xfrm>
              <a:off x="8221" y="6011"/>
              <a:ext cx="538" cy="539"/>
              <a:chOff x="10489" y="3359"/>
              <a:chExt cx="1018" cy="917"/>
            </a:xfrm>
          </p:grpSpPr>
          <p:sp>
            <p:nvSpPr>
              <p:cNvPr id="34" name="椭圆 3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5" name="文本框 3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 name="组合 4"/>
            <p:cNvGrpSpPr/>
            <p:nvPr/>
          </p:nvGrpSpPr>
          <p:grpSpPr>
            <a:xfrm>
              <a:off x="11440" y="6011"/>
              <a:ext cx="538" cy="539"/>
              <a:chOff x="10489" y="3359"/>
              <a:chExt cx="1018" cy="917"/>
            </a:xfrm>
          </p:grpSpPr>
          <p:sp>
            <p:nvSpPr>
              <p:cNvPr id="6" name="椭圆 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 name="文本框 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8" name="组合 7"/>
            <p:cNvGrpSpPr/>
            <p:nvPr/>
          </p:nvGrpSpPr>
          <p:grpSpPr>
            <a:xfrm>
              <a:off x="10306" y="6011"/>
              <a:ext cx="538" cy="539"/>
              <a:chOff x="10489" y="3359"/>
              <a:chExt cx="1018" cy="917"/>
            </a:xfrm>
          </p:grpSpPr>
          <p:sp>
            <p:nvSpPr>
              <p:cNvPr id="27" name="椭圆 2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8" name="文本框 27"/>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9" name="组合 28"/>
            <p:cNvGrpSpPr/>
            <p:nvPr/>
          </p:nvGrpSpPr>
          <p:grpSpPr>
            <a:xfrm>
              <a:off x="13468" y="6011"/>
              <a:ext cx="538" cy="539"/>
              <a:chOff x="10489" y="3359"/>
              <a:chExt cx="1018" cy="917"/>
            </a:xfrm>
          </p:grpSpPr>
          <p:sp>
            <p:nvSpPr>
              <p:cNvPr id="36" name="椭圆 3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7" name="文本框 3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38" name="组合 37"/>
            <p:cNvGrpSpPr/>
            <p:nvPr/>
          </p:nvGrpSpPr>
          <p:grpSpPr>
            <a:xfrm>
              <a:off x="12334" y="6011"/>
              <a:ext cx="538" cy="539"/>
              <a:chOff x="10489" y="3359"/>
              <a:chExt cx="1018" cy="917"/>
            </a:xfrm>
          </p:grpSpPr>
          <p:sp>
            <p:nvSpPr>
              <p:cNvPr id="39" name="椭圆 3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0" name="文本框 3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42" name="曲线连接符 41"/>
            <p:cNvCxnSpPr>
              <a:stCxn id="16" idx="4"/>
              <a:endCxn id="35" idx="0"/>
            </p:cNvCxnSpPr>
            <p:nvPr/>
          </p:nvCxnSpPr>
          <p:spPr>
            <a:xfrm rot="5400000">
              <a:off x="8569" y="5467"/>
              <a:ext cx="558" cy="67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3" name="曲线连接符 42"/>
            <p:cNvCxnSpPr>
              <a:stCxn id="16" idx="4"/>
              <a:endCxn id="32" idx="0"/>
            </p:cNvCxnSpPr>
            <p:nvPr/>
          </p:nvCxnSpPr>
          <p:spPr>
            <a:xfrm rot="5400000" flipV="1">
              <a:off x="9136" y="5572"/>
              <a:ext cx="558" cy="46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4" name="曲线连接符 43"/>
            <p:cNvCxnSpPr>
              <a:stCxn id="22" idx="4"/>
              <a:endCxn id="40" idx="0"/>
            </p:cNvCxnSpPr>
            <p:nvPr/>
          </p:nvCxnSpPr>
          <p:spPr>
            <a:xfrm rot="5400000">
              <a:off x="12552" y="5596"/>
              <a:ext cx="558" cy="413"/>
            </a:xfrm>
            <a:prstGeom prst="curvedConnector3">
              <a:avLst>
                <a:gd name="adj1" fmla="val 49910"/>
              </a:avLst>
            </a:prstGeom>
            <a:solidFill>
              <a:schemeClr val="accent1"/>
            </a:solidFill>
            <a:ln w="9525" cap="flat" cmpd="sng" algn="ctr">
              <a:solidFill>
                <a:schemeClr val="tx1"/>
              </a:solidFill>
              <a:prstDash val="solid"/>
              <a:round/>
              <a:headEnd type="none" w="med" len="med"/>
              <a:tailEnd type="arrow" w="med" len="med"/>
            </a:ln>
          </p:spPr>
        </p:cxnSp>
        <p:cxnSp>
          <p:nvCxnSpPr>
            <p:cNvPr id="45" name="曲线连接符 44"/>
            <p:cNvCxnSpPr>
              <a:stCxn id="19" idx="4"/>
              <a:endCxn id="6" idx="0"/>
            </p:cNvCxnSpPr>
            <p:nvPr/>
          </p:nvCxnSpPr>
          <p:spPr>
            <a:xfrm rot="5400000" flipV="1">
              <a:off x="11139" y="5440"/>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6" name="曲线连接符 45"/>
            <p:cNvCxnSpPr>
              <a:stCxn id="19" idx="4"/>
              <a:endCxn id="28" idx="0"/>
            </p:cNvCxnSpPr>
            <p:nvPr/>
          </p:nvCxnSpPr>
          <p:spPr>
            <a:xfrm rot="5400000">
              <a:off x="10547" y="5574"/>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7" name="曲线连接符 46"/>
            <p:cNvCxnSpPr>
              <a:stCxn id="22" idx="4"/>
              <a:endCxn id="36" idx="0"/>
            </p:cNvCxnSpPr>
            <p:nvPr/>
          </p:nvCxnSpPr>
          <p:spPr>
            <a:xfrm rot="5400000" flipV="1">
              <a:off x="13144" y="5417"/>
              <a:ext cx="487" cy="699"/>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grpSp>
          <p:nvGrpSpPr>
            <p:cNvPr id="51" name="组合 50"/>
            <p:cNvGrpSpPr/>
            <p:nvPr/>
          </p:nvGrpSpPr>
          <p:grpSpPr>
            <a:xfrm>
              <a:off x="9355" y="7105"/>
              <a:ext cx="538" cy="539"/>
              <a:chOff x="10489" y="3359"/>
              <a:chExt cx="1018" cy="917"/>
            </a:xfrm>
          </p:grpSpPr>
          <p:sp>
            <p:nvSpPr>
              <p:cNvPr id="52" name="椭圆 5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3" name="文本框 52"/>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4" name="组合 53"/>
            <p:cNvGrpSpPr/>
            <p:nvPr/>
          </p:nvGrpSpPr>
          <p:grpSpPr>
            <a:xfrm>
              <a:off x="10306" y="7105"/>
              <a:ext cx="538" cy="539"/>
              <a:chOff x="10489" y="3359"/>
              <a:chExt cx="1018" cy="917"/>
            </a:xfrm>
          </p:grpSpPr>
          <p:sp>
            <p:nvSpPr>
              <p:cNvPr id="55" name="椭圆 5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6" name="文本框 5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57" name="组合 56"/>
            <p:cNvGrpSpPr/>
            <p:nvPr/>
          </p:nvGrpSpPr>
          <p:grpSpPr>
            <a:xfrm>
              <a:off x="11456" y="7104"/>
              <a:ext cx="538" cy="539"/>
              <a:chOff x="10489" y="3359"/>
              <a:chExt cx="1018" cy="917"/>
            </a:xfrm>
          </p:grpSpPr>
          <p:sp>
            <p:nvSpPr>
              <p:cNvPr id="58" name="椭圆 5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9" name="文本框 5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60" name="组合 59"/>
            <p:cNvGrpSpPr/>
            <p:nvPr/>
          </p:nvGrpSpPr>
          <p:grpSpPr>
            <a:xfrm>
              <a:off x="12373" y="7103"/>
              <a:ext cx="538" cy="539"/>
              <a:chOff x="10489" y="3359"/>
              <a:chExt cx="1018" cy="917"/>
            </a:xfrm>
          </p:grpSpPr>
          <p:sp>
            <p:nvSpPr>
              <p:cNvPr id="61" name="椭圆 6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2" name="文本框 6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63" name="组合 62"/>
            <p:cNvGrpSpPr/>
            <p:nvPr/>
          </p:nvGrpSpPr>
          <p:grpSpPr>
            <a:xfrm>
              <a:off x="13491" y="7105"/>
              <a:ext cx="538" cy="539"/>
              <a:chOff x="10489" y="3359"/>
              <a:chExt cx="1018" cy="917"/>
            </a:xfrm>
          </p:grpSpPr>
          <p:sp>
            <p:nvSpPr>
              <p:cNvPr id="64" name="椭圆 6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5" name="文本框 6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66" name="曲线连接符 65"/>
            <p:cNvCxnSpPr>
              <a:stCxn id="34" idx="4"/>
            </p:cNvCxnSpPr>
            <p:nvPr/>
          </p:nvCxnSpPr>
          <p:spPr>
            <a:xfrm rot="5400000" flipV="1">
              <a:off x="8226"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7" name="曲线连接符 66"/>
            <p:cNvCxnSpPr/>
            <p:nvPr/>
          </p:nvCxnSpPr>
          <p:spPr>
            <a:xfrm rot="5400000" flipV="1">
              <a:off x="9362" y="6798"/>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8" name="曲线连接符 67"/>
            <p:cNvCxnSpPr/>
            <p:nvPr/>
          </p:nvCxnSpPr>
          <p:spPr>
            <a:xfrm rot="5400000" flipV="1">
              <a:off x="10282"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9" name="曲线连接符 68"/>
            <p:cNvCxnSpPr/>
            <p:nvPr/>
          </p:nvCxnSpPr>
          <p:spPr>
            <a:xfrm rot="5400000" flipV="1">
              <a:off x="11426"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0" name="曲线连接符 69"/>
            <p:cNvCxnSpPr/>
            <p:nvPr/>
          </p:nvCxnSpPr>
          <p:spPr>
            <a:xfrm rot="5400000" flipV="1">
              <a:off x="12379"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1" name="曲线连接符 70"/>
            <p:cNvCxnSpPr/>
            <p:nvPr/>
          </p:nvCxnSpPr>
          <p:spPr>
            <a:xfrm rot="5400000" flipV="1">
              <a:off x="13513"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1</a:t>
            </a:r>
            <a:r>
              <a:rPr lang="zh-CN" altLang="en-US" sz="3600" kern="0" smtClean="0">
                <a:sym typeface="+mn-ea"/>
              </a:rPr>
              <a:t>）</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9" name="文本框 8"/>
          <p:cNvSpPr txBox="1"/>
          <p:nvPr/>
        </p:nvSpPr>
        <p:spPr>
          <a:xfrm>
            <a:off x="611505" y="1462405"/>
            <a:ext cx="4481195" cy="448945"/>
          </a:xfrm>
          <a:prstGeom prst="rect">
            <a:avLst/>
          </a:prstGeom>
          <a:noFill/>
        </p:spPr>
        <p:txBody>
          <a:bodyPr>
            <a:noAutofit/>
          </a:bodyPr>
          <a:p>
            <a:pPr>
              <a:defRPr/>
            </a:pPr>
            <a:r>
              <a:rPr lang="zh-CN" altLang="en-US" sz="1800">
                <a:solidFill>
                  <a:srgbClr val="000066"/>
                </a:solidFill>
                <a:latin typeface="+mj-ea"/>
                <a:ea typeface="+mj-ea"/>
              </a:rPr>
              <a:t>如何设计全排列</a:t>
            </a:r>
            <a:r>
              <a:rPr lang="en-US" altLang="zh-CN" sz="1800">
                <a:solidFill>
                  <a:srgbClr val="000066"/>
                </a:solidFill>
                <a:latin typeface="+mj-ea"/>
                <a:ea typeface="+mj-ea"/>
              </a:rPr>
              <a:t>I</a:t>
            </a:r>
            <a:r>
              <a:rPr lang="zh-CN" altLang="en-US" sz="1800">
                <a:solidFill>
                  <a:srgbClr val="000066"/>
                </a:solidFill>
                <a:latin typeface="+mj-ea"/>
                <a:ea typeface="+mj-ea"/>
              </a:rPr>
              <a:t>的程序？</a:t>
            </a:r>
            <a:r>
              <a:rPr lang="en-US" altLang="zh-CN" sz="1800">
                <a:solidFill>
                  <a:srgbClr val="000066"/>
                </a:solidFill>
                <a:latin typeface="+mj-ea"/>
                <a:ea typeface="+mj-ea"/>
              </a:rPr>
              <a:t> </a:t>
            </a:r>
            <a:endParaRPr lang="en-US" altLang="zh-CN" sz="1800">
              <a:solidFill>
                <a:srgbClr val="000066"/>
              </a:solidFill>
              <a:latin typeface="+mj-ea"/>
              <a:ea typeface="+mj-ea"/>
            </a:endParaRPr>
          </a:p>
        </p:txBody>
      </p:sp>
      <p:sp>
        <p:nvSpPr>
          <p:cNvPr id="78" name="文本框 77"/>
          <p:cNvSpPr txBox="1"/>
          <p:nvPr/>
        </p:nvSpPr>
        <p:spPr>
          <a:xfrm>
            <a:off x="3059430" y="2770505"/>
            <a:ext cx="469265" cy="401320"/>
          </a:xfrm>
          <a:prstGeom prst="rect">
            <a:avLst/>
          </a:prstGeom>
          <a:noFill/>
        </p:spPr>
        <p:txBody>
          <a:bodyPr wrap="square" rtlCol="0">
            <a:noAutofit/>
          </a:bodyPr>
          <a:p>
            <a:r>
              <a:rPr lang="zh-CN" altLang="en-US" sz="1800">
                <a:solidFill>
                  <a:srgbClr val="FF0000"/>
                </a:solidFill>
              </a:rPr>
              <a:t>①</a:t>
            </a:r>
            <a:endParaRPr lang="zh-CN" altLang="en-US" sz="1800">
              <a:solidFill>
                <a:srgbClr val="FF0000"/>
              </a:solidFill>
            </a:endParaRPr>
          </a:p>
        </p:txBody>
      </p:sp>
      <p:sp>
        <p:nvSpPr>
          <p:cNvPr id="79" name="文本框 78"/>
          <p:cNvSpPr txBox="1"/>
          <p:nvPr/>
        </p:nvSpPr>
        <p:spPr>
          <a:xfrm>
            <a:off x="2411730" y="4149090"/>
            <a:ext cx="469265" cy="401320"/>
          </a:xfrm>
          <a:prstGeom prst="rect">
            <a:avLst/>
          </a:prstGeom>
          <a:noFill/>
        </p:spPr>
        <p:txBody>
          <a:bodyPr wrap="square" rtlCol="0">
            <a:noAutofit/>
          </a:bodyPr>
          <a:p>
            <a:r>
              <a:rPr lang="zh-CN" altLang="en-US" sz="1800">
                <a:solidFill>
                  <a:srgbClr val="FF0000"/>
                </a:solidFill>
              </a:rPr>
              <a:t>②</a:t>
            </a:r>
            <a:endParaRPr lang="zh-CN" altLang="en-US" sz="1800">
              <a:solidFill>
                <a:srgbClr val="FF0000"/>
              </a:solidFill>
            </a:endParaRPr>
          </a:p>
        </p:txBody>
      </p:sp>
      <p:sp>
        <p:nvSpPr>
          <p:cNvPr id="3" name="文本框 2"/>
          <p:cNvSpPr txBox="1"/>
          <p:nvPr/>
        </p:nvSpPr>
        <p:spPr>
          <a:xfrm>
            <a:off x="2305050" y="4932045"/>
            <a:ext cx="336550" cy="429260"/>
          </a:xfrm>
          <a:prstGeom prst="rect">
            <a:avLst/>
          </a:prstGeom>
          <a:noFill/>
        </p:spPr>
        <p:txBody>
          <a:bodyPr wrap="square" rtlCol="0">
            <a:noAutofit/>
          </a:bodyPr>
          <a:p>
            <a:r>
              <a:rPr lang="zh-CN" altLang="en-US" sz="1800">
                <a:solidFill>
                  <a:srgbClr val="FF0000"/>
                </a:solidFill>
              </a:rPr>
              <a:t>③</a:t>
            </a:r>
            <a:endParaRPr lang="zh-CN" altLang="en-US" sz="1800">
              <a:solidFill>
                <a:srgbClr val="FF0000"/>
              </a:solidFill>
            </a:endParaRPr>
          </a:p>
        </p:txBody>
      </p:sp>
      <p:sp>
        <p:nvSpPr>
          <p:cNvPr id="84" name="任意多边形 83"/>
          <p:cNvSpPr/>
          <p:nvPr/>
        </p:nvSpPr>
        <p:spPr>
          <a:xfrm>
            <a:off x="3253105" y="2873375"/>
            <a:ext cx="882650" cy="617855"/>
          </a:xfrm>
          <a:custGeom>
            <a:avLst/>
            <a:gdLst>
              <a:gd name="connisteX0" fmla="*/ 882650 w 882650"/>
              <a:gd name="connsiteY0" fmla="*/ 0 h 617855"/>
              <a:gd name="connisteX1" fmla="*/ 317500 w 882650"/>
              <a:gd name="connsiteY1" fmla="*/ 150495 h 617855"/>
              <a:gd name="connisteX2" fmla="*/ 0 w 882650"/>
              <a:gd name="connsiteY2" fmla="*/ 617855 h 617855"/>
            </a:gdLst>
            <a:ahLst/>
            <a:cxnLst>
              <a:cxn ang="0">
                <a:pos x="connisteX0" y="connsiteY0"/>
              </a:cxn>
              <a:cxn ang="0">
                <a:pos x="connisteX1" y="connsiteY1"/>
              </a:cxn>
              <a:cxn ang="0">
                <a:pos x="connisteX2" y="connsiteY2"/>
              </a:cxn>
            </a:cxnLst>
            <a:rect l="l" t="t" r="r" b="b"/>
            <a:pathLst>
              <a:path w="882650" h="617855">
                <a:moveTo>
                  <a:pt x="882650" y="0"/>
                </a:moveTo>
                <a:cubicBezTo>
                  <a:pt x="775970" y="20955"/>
                  <a:pt x="494030" y="26670"/>
                  <a:pt x="317500" y="150495"/>
                </a:cubicBezTo>
                <a:cubicBezTo>
                  <a:pt x="140970" y="274320"/>
                  <a:pt x="52070" y="527685"/>
                  <a:pt x="0" y="617855"/>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4" name="文本框 13"/>
          <p:cNvSpPr txBox="1"/>
          <p:nvPr/>
        </p:nvSpPr>
        <p:spPr>
          <a:xfrm>
            <a:off x="683260" y="1844675"/>
            <a:ext cx="8192770" cy="415925"/>
          </a:xfrm>
          <a:prstGeom prst="rect">
            <a:avLst/>
          </a:prstGeom>
          <a:noFill/>
        </p:spPr>
        <p:txBody>
          <a:bodyPr wrap="square" rtlCol="0">
            <a:noAutofit/>
          </a:bodyPr>
          <a:p>
            <a:r>
              <a:rPr lang="en-US" altLang="zh-CN" sz="1800">
                <a:solidFill>
                  <a:schemeClr val="tx1"/>
                </a:solidFill>
                <a:uFillTx/>
                <a:latin typeface="Times New Roman" panose="02020603050405020304" pitchFamily="18" charset="0"/>
                <a:cs typeface="宋体" panose="02010600030101010101" pitchFamily="2" charset="-122"/>
              </a:rPr>
              <a:t>Visit</a:t>
            </a:r>
            <a:r>
              <a:rPr lang="zh-CN" altLang="en-US" sz="1800">
                <a:solidFill>
                  <a:schemeClr val="tx1"/>
                </a:solidFill>
                <a:uFillTx/>
                <a:latin typeface="Times New Roman" panose="02020603050405020304" pitchFamily="18" charset="0"/>
                <a:cs typeface="宋体" panose="02010600030101010101" pitchFamily="2" charset="-122"/>
              </a:rPr>
              <a:t>数组，表示元素是否被访问，</a:t>
            </a:r>
            <a:r>
              <a:rPr lang="en-US" altLang="zh-CN" sz="1800">
                <a:solidFill>
                  <a:schemeClr val="tx1"/>
                </a:solidFill>
                <a:uFillTx/>
                <a:latin typeface="Times New Roman" panose="02020603050405020304" pitchFamily="18" charset="0"/>
                <a:cs typeface="宋体" panose="02010600030101010101" pitchFamily="2" charset="-122"/>
              </a:rPr>
              <a:t>1</a:t>
            </a:r>
            <a:r>
              <a:rPr lang="zh-CN" altLang="en-US" sz="1800">
                <a:solidFill>
                  <a:schemeClr val="tx1"/>
                </a:solidFill>
                <a:uFillTx/>
                <a:latin typeface="Times New Roman" panose="02020603050405020304" pitchFamily="18" charset="0"/>
                <a:cs typeface="宋体" panose="02010600030101010101" pitchFamily="2" charset="-122"/>
              </a:rPr>
              <a:t>表示已被访问，</a:t>
            </a:r>
            <a:r>
              <a:rPr lang="en-US" altLang="zh-CN" sz="1800">
                <a:solidFill>
                  <a:schemeClr val="tx1"/>
                </a:solidFill>
                <a:uFillTx/>
                <a:latin typeface="Times New Roman" panose="02020603050405020304" pitchFamily="18" charset="0"/>
                <a:cs typeface="宋体" panose="02010600030101010101" pitchFamily="2" charset="-122"/>
              </a:rPr>
              <a:t>0</a:t>
            </a:r>
            <a:r>
              <a:rPr lang="zh-CN" altLang="en-US" sz="1800">
                <a:solidFill>
                  <a:schemeClr val="tx1"/>
                </a:solidFill>
                <a:uFillTx/>
                <a:latin typeface="Times New Roman" panose="02020603050405020304" pitchFamily="18" charset="0"/>
                <a:cs typeface="宋体" panose="02010600030101010101" pitchFamily="2" charset="-122"/>
              </a:rPr>
              <a:t>表示未被访问。</a:t>
            </a:r>
            <a:endParaRPr lang="zh-CN" altLang="en-US" sz="1800">
              <a:solidFill>
                <a:schemeClr val="tx1"/>
              </a:solidFill>
              <a:uFillTx/>
              <a:latin typeface="Times New Roman" panose="02020603050405020304" pitchFamily="18" charset="0"/>
              <a:cs typeface="宋体" panose="02010600030101010101" pitchFamily="2" charset="-122"/>
            </a:endParaRPr>
          </a:p>
        </p:txBody>
      </p:sp>
      <p:sp>
        <p:nvSpPr>
          <p:cNvPr id="74" name="文本框 73"/>
          <p:cNvSpPr txBox="1"/>
          <p:nvPr/>
        </p:nvSpPr>
        <p:spPr>
          <a:xfrm>
            <a:off x="683260" y="2204720"/>
            <a:ext cx="7426960" cy="498475"/>
          </a:xfrm>
          <a:prstGeom prst="rect">
            <a:avLst/>
          </a:prstGeom>
          <a:noFill/>
        </p:spPr>
        <p:txBody>
          <a:bodyPr wrap="square" rtlCol="0">
            <a:noAutofit/>
          </a:bodyPr>
          <a:p>
            <a:r>
              <a:rPr lang="en-US" altLang="zh-CN" sz="1800">
                <a:solidFill>
                  <a:schemeClr val="tx1"/>
                </a:solidFill>
                <a:uFillTx/>
                <a:latin typeface="Times New Roman" panose="02020603050405020304" pitchFamily="18" charset="0"/>
                <a:cs typeface="宋体" panose="02010600030101010101" pitchFamily="2" charset="-122"/>
              </a:rPr>
              <a:t>TempList</a:t>
            </a:r>
            <a:r>
              <a:rPr lang="zh-CN" altLang="en-US" sz="1800">
                <a:solidFill>
                  <a:schemeClr val="tx1"/>
                </a:solidFill>
                <a:uFillTx/>
                <a:latin typeface="Times New Roman" panose="02020603050405020304" pitchFamily="18" charset="0"/>
                <a:cs typeface="宋体" panose="02010600030101010101" pitchFamily="2" charset="-122"/>
              </a:rPr>
              <a:t>数组，临时存储全排列的所有</a:t>
            </a:r>
            <a:r>
              <a:rPr lang="zh-CN" altLang="en-US" sz="1800">
                <a:solidFill>
                  <a:schemeClr val="tx1"/>
                </a:solidFill>
                <a:uFillTx/>
                <a:latin typeface="Times New Roman" panose="02020603050405020304" pitchFamily="18" charset="0"/>
                <a:cs typeface="宋体" panose="02010600030101010101" pitchFamily="2" charset="-122"/>
              </a:rPr>
              <a:t>情况。</a:t>
            </a:r>
            <a:endParaRPr lang="zh-CN" altLang="en-US" sz="1800">
              <a:solidFill>
                <a:schemeClr val="tx1"/>
              </a:solidFill>
              <a:uFillTx/>
              <a:latin typeface="Times New Roman" panose="02020603050405020304" pitchFamily="18" charset="0"/>
              <a:cs typeface="宋体" panose="02010600030101010101" pitchFamily="2" charset="-122"/>
            </a:endParaRPr>
          </a:p>
        </p:txBody>
      </p:sp>
      <p:sp>
        <p:nvSpPr>
          <p:cNvPr id="77" name="椭圆 76"/>
          <p:cNvSpPr/>
          <p:nvPr/>
        </p:nvSpPr>
        <p:spPr>
          <a:xfrm>
            <a:off x="3060065" y="3789680"/>
            <a:ext cx="646430" cy="58229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1" name="文本框 80"/>
          <p:cNvSpPr txBox="1"/>
          <p:nvPr/>
        </p:nvSpPr>
        <p:spPr>
          <a:xfrm>
            <a:off x="3080385" y="3933190"/>
            <a:ext cx="554990" cy="350520"/>
          </a:xfrm>
          <a:prstGeom prst="rect">
            <a:avLst/>
          </a:prstGeom>
          <a:noFill/>
          <a:ln>
            <a:noFill/>
          </a:ln>
          <a:extLst>
            <a:ext uri="{909E8E84-426E-40DD-AFC4-6F175D3DCCD1}">
              <a14:hiddenFill xmlns:a14="http://schemas.microsoft.com/office/drawing/2010/main">
                <a:solidFill>
                  <a:srgbClr val="FF0000"/>
                </a:solidFill>
              </a14:hiddenFill>
            </a:ext>
          </a:extLst>
        </p:spPr>
        <p:txBody>
          <a:bodyPr>
            <a:noAutofit/>
          </a:bodyPr>
          <a:p>
            <a:pPr algn="ctr">
              <a:defRPr/>
            </a:pPr>
            <a:r>
              <a:rPr lang="en-US" sz="1400">
                <a:solidFill>
                  <a:schemeClr val="tx1"/>
                </a:solidFill>
                <a:latin typeface="+mj-ea"/>
                <a:ea typeface="+mj-ea"/>
              </a:rPr>
              <a:t>1</a:t>
            </a:r>
            <a:endParaRPr lang="en-US" sz="1400">
              <a:solidFill>
                <a:schemeClr val="tx1"/>
              </a:solidFill>
              <a:latin typeface="+mj-ea"/>
              <a:ea typeface="+mj-ea"/>
            </a:endParaRPr>
          </a:p>
        </p:txBody>
      </p:sp>
      <p:sp>
        <p:nvSpPr>
          <p:cNvPr id="88" name="任意多边形 87"/>
          <p:cNvSpPr/>
          <p:nvPr/>
        </p:nvSpPr>
        <p:spPr>
          <a:xfrm>
            <a:off x="2736850" y="4210050"/>
            <a:ext cx="281305" cy="511810"/>
          </a:xfrm>
          <a:custGeom>
            <a:avLst/>
            <a:gdLst>
              <a:gd name="connisteX0" fmla="*/ 281102 w 281102"/>
              <a:gd name="connsiteY0" fmla="*/ 0 h 511976"/>
              <a:gd name="connisteX1" fmla="*/ 79807 w 281102"/>
              <a:gd name="connsiteY1" fmla="*/ 173990 h 511976"/>
              <a:gd name="connisteX2" fmla="*/ 6782 w 281102"/>
              <a:gd name="connsiteY2" fmla="*/ 485775 h 511976"/>
              <a:gd name="connisteX3" fmla="*/ 6782 w 281102"/>
              <a:gd name="connsiteY3" fmla="*/ 476250 h 511976"/>
            </a:gdLst>
            <a:ahLst/>
            <a:cxnLst>
              <a:cxn ang="0">
                <a:pos x="connisteX0" y="connsiteY0"/>
              </a:cxn>
              <a:cxn ang="0">
                <a:pos x="connisteX1" y="connsiteY1"/>
              </a:cxn>
              <a:cxn ang="0">
                <a:pos x="connisteX2" y="connsiteY2"/>
              </a:cxn>
              <a:cxn ang="0">
                <a:pos x="connisteX3" y="connsiteY3"/>
              </a:cxn>
            </a:cxnLst>
            <a:rect l="l" t="t" r="r" b="b"/>
            <a:pathLst>
              <a:path w="281103" h="511977">
                <a:moveTo>
                  <a:pt x="281103" y="0"/>
                </a:moveTo>
                <a:cubicBezTo>
                  <a:pt x="242368" y="28575"/>
                  <a:pt x="134418" y="76835"/>
                  <a:pt x="79808" y="173990"/>
                </a:cubicBezTo>
                <a:cubicBezTo>
                  <a:pt x="25198" y="271145"/>
                  <a:pt x="21388" y="425450"/>
                  <a:pt x="6783" y="485775"/>
                </a:cubicBezTo>
                <a:cubicBezTo>
                  <a:pt x="-7822" y="546100"/>
                  <a:pt x="5513" y="484505"/>
                  <a:pt x="6783" y="476250"/>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0" name="任意多边形 89"/>
          <p:cNvSpPr/>
          <p:nvPr/>
        </p:nvSpPr>
        <p:spPr>
          <a:xfrm>
            <a:off x="2713990" y="4952365"/>
            <a:ext cx="8890" cy="421640"/>
          </a:xfrm>
          <a:custGeom>
            <a:avLst/>
            <a:gdLst>
              <a:gd name="connisteX0" fmla="*/ 8890 w 8890"/>
              <a:gd name="connsiteY0" fmla="*/ 0 h 421640"/>
              <a:gd name="connisteX1" fmla="*/ 0 w 8890"/>
              <a:gd name="connsiteY1" fmla="*/ 421640 h 421640"/>
            </a:gdLst>
            <a:ahLst/>
            <a:cxnLst>
              <a:cxn ang="0">
                <a:pos x="connisteX0" y="connsiteY0"/>
              </a:cxn>
              <a:cxn ang="0">
                <a:pos x="connisteX1" y="connsiteY1"/>
              </a:cxn>
            </a:cxnLst>
            <a:rect l="l" t="t" r="r" b="b"/>
            <a:pathLst>
              <a:path w="8890" h="421640">
                <a:moveTo>
                  <a:pt x="8890" y="0"/>
                </a:moveTo>
                <a:cubicBezTo>
                  <a:pt x="5715" y="140335"/>
                  <a:pt x="3175" y="281305"/>
                  <a:pt x="0" y="421640"/>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2" name="椭圆 91"/>
          <p:cNvSpPr/>
          <p:nvPr/>
        </p:nvSpPr>
        <p:spPr>
          <a:xfrm>
            <a:off x="2771775" y="4681220"/>
            <a:ext cx="341630" cy="34226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3" name="文本框 92"/>
          <p:cNvSpPr txBox="1"/>
          <p:nvPr/>
        </p:nvSpPr>
        <p:spPr>
          <a:xfrm>
            <a:off x="2809697" y="4726009"/>
            <a:ext cx="293305" cy="206031"/>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sp>
        <p:nvSpPr>
          <p:cNvPr id="96" name="椭圆 95"/>
          <p:cNvSpPr/>
          <p:nvPr/>
        </p:nvSpPr>
        <p:spPr>
          <a:xfrm>
            <a:off x="2771775" y="5375910"/>
            <a:ext cx="341630" cy="342265"/>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7" name="文本框 96"/>
          <p:cNvSpPr txBox="1"/>
          <p:nvPr/>
        </p:nvSpPr>
        <p:spPr>
          <a:xfrm>
            <a:off x="2809697" y="5420699"/>
            <a:ext cx="293305" cy="206031"/>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sp>
        <p:nvSpPr>
          <p:cNvPr id="98" name="椭圆 97"/>
          <p:cNvSpPr/>
          <p:nvPr/>
        </p:nvSpPr>
        <p:spPr>
          <a:xfrm>
            <a:off x="2771775" y="5375910"/>
            <a:ext cx="341630" cy="34226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9" name="文本框 98"/>
          <p:cNvSpPr txBox="1"/>
          <p:nvPr/>
        </p:nvSpPr>
        <p:spPr>
          <a:xfrm>
            <a:off x="2809697" y="5420699"/>
            <a:ext cx="293305" cy="206031"/>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sp>
        <p:nvSpPr>
          <p:cNvPr id="41" name="文本框 40"/>
          <p:cNvSpPr txBox="1"/>
          <p:nvPr/>
        </p:nvSpPr>
        <p:spPr>
          <a:xfrm>
            <a:off x="2544445" y="5625465"/>
            <a:ext cx="336550" cy="429260"/>
          </a:xfrm>
          <a:prstGeom prst="rect">
            <a:avLst/>
          </a:prstGeom>
          <a:noFill/>
        </p:spPr>
        <p:txBody>
          <a:bodyPr wrap="square" rtlCol="0">
            <a:noAutofit/>
          </a:bodyPr>
          <a:p>
            <a:r>
              <a:rPr lang="zh-CN" altLang="en-US" sz="1800">
                <a:solidFill>
                  <a:srgbClr val="FF0000"/>
                </a:solidFill>
              </a:rPr>
              <a:t>④</a:t>
            </a:r>
            <a:endParaRPr lang="zh-CN" altLang="en-US" sz="1800">
              <a:solidFill>
                <a:srgbClr val="FF0000"/>
              </a:solidFill>
            </a:endParaRPr>
          </a:p>
        </p:txBody>
      </p:sp>
      <p:cxnSp>
        <p:nvCxnSpPr>
          <p:cNvPr id="50" name="直接箭头连接符 49"/>
          <p:cNvCxnSpPr/>
          <p:nvPr/>
        </p:nvCxnSpPr>
        <p:spPr>
          <a:xfrm>
            <a:off x="2950210" y="5737225"/>
            <a:ext cx="0" cy="132715"/>
          </a:xfrm>
          <a:prstGeom prst="straightConnector1">
            <a:avLst/>
          </a:prstGeom>
          <a:solidFill>
            <a:schemeClr val="accent1"/>
          </a:solidFill>
          <a:ln w="34925" cap="flat" cmpd="sng" algn="ctr">
            <a:solidFill>
              <a:srgbClr val="FF0000"/>
            </a:solidFill>
            <a:prstDash val="solid"/>
            <a:round/>
            <a:headEnd type="none" w="med" len="med"/>
            <a:tailEnd type="triangle" w="med" len="med"/>
          </a:ln>
        </p:spPr>
      </p:cxnSp>
      <p:sp>
        <p:nvSpPr>
          <p:cNvPr id="73" name="文本框 72"/>
          <p:cNvSpPr txBox="1"/>
          <p:nvPr/>
        </p:nvSpPr>
        <p:spPr>
          <a:xfrm>
            <a:off x="701040" y="2493010"/>
            <a:ext cx="7101205" cy="358775"/>
          </a:xfrm>
          <a:prstGeom prst="rect">
            <a:avLst/>
          </a:prstGeom>
          <a:noFill/>
        </p:spPr>
        <p:txBody>
          <a:bodyPr wrap="square" rtlCol="0">
            <a:noAutofit/>
          </a:bodyPr>
          <a:p>
            <a:r>
              <a:rPr lang="en-US" altLang="zh-CN" sz="1800">
                <a:solidFill>
                  <a:schemeClr val="tx1"/>
                </a:solidFill>
                <a:uFillTx/>
                <a:latin typeface="Times New Roman" panose="02020603050405020304" pitchFamily="18" charset="0"/>
              </a:rPr>
              <a:t>Result=[[1,2,3]]</a:t>
            </a:r>
            <a:endParaRPr lang="en-US" altLang="zh-CN" sz="1800">
              <a:solidFill>
                <a:schemeClr val="tx1"/>
              </a:solidFill>
              <a:uFillTx/>
              <a:latin typeface="Times New Roman" panose="02020603050405020304" pitchFamily="18" charset="0"/>
            </a:endParaRPr>
          </a:p>
        </p:txBody>
      </p:sp>
      <p:sp>
        <p:nvSpPr>
          <p:cNvPr id="75" name="文本框 74"/>
          <p:cNvSpPr txBox="1"/>
          <p:nvPr/>
        </p:nvSpPr>
        <p:spPr>
          <a:xfrm>
            <a:off x="3197860" y="5375910"/>
            <a:ext cx="336550" cy="429260"/>
          </a:xfrm>
          <a:prstGeom prst="rect">
            <a:avLst/>
          </a:prstGeom>
          <a:noFill/>
        </p:spPr>
        <p:txBody>
          <a:bodyPr wrap="square" rtlCol="0">
            <a:noAutofit/>
          </a:bodyPr>
          <a:p>
            <a:r>
              <a:rPr lang="zh-CN" altLang="en-US" sz="1800">
                <a:solidFill>
                  <a:srgbClr val="FF0000"/>
                </a:solidFill>
              </a:rPr>
              <a:t>⑤</a:t>
            </a:r>
            <a:endParaRPr lang="zh-CN" altLang="en-US" sz="1800">
              <a:solidFill>
                <a:srgbClr val="FF0000"/>
              </a:solidFill>
            </a:endParaRPr>
          </a:p>
        </p:txBody>
      </p:sp>
      <p:sp>
        <p:nvSpPr>
          <p:cNvPr id="80" name="文本框 79"/>
          <p:cNvSpPr txBox="1"/>
          <p:nvPr/>
        </p:nvSpPr>
        <p:spPr>
          <a:xfrm>
            <a:off x="174625" y="6236970"/>
            <a:ext cx="4700270" cy="430530"/>
          </a:xfrm>
          <a:prstGeom prst="rect">
            <a:avLst/>
          </a:prstGeom>
          <a:noFill/>
        </p:spPr>
        <p:txBody>
          <a:bodyPr wrap="square" rtlCol="0">
            <a:noAutofit/>
          </a:bodyPr>
          <a:p>
            <a:r>
              <a:rPr lang="zh-CN" altLang="en-US" sz="1800">
                <a:solidFill>
                  <a:schemeClr val="tx1"/>
                </a:solidFill>
                <a:uFillTx/>
                <a:latin typeface="Times New Roman" panose="02020603050405020304" pitchFamily="18" charset="0"/>
              </a:rPr>
              <a:t>⑤：</a:t>
            </a:r>
            <a:r>
              <a:rPr lang="en-US" altLang="zh-CN" sz="1800">
                <a:solidFill>
                  <a:schemeClr val="tx1"/>
                </a:solidFill>
                <a:uFillTx/>
                <a:latin typeface="Times New Roman" panose="02020603050405020304" pitchFamily="18" charset="0"/>
              </a:rPr>
              <a:t>Visit=[1,1,0]</a:t>
            </a:r>
            <a:r>
              <a:rPr lang="zh-CN" altLang="en-US" sz="1800">
                <a:solidFill>
                  <a:schemeClr val="tx1"/>
                </a:solidFill>
                <a:uFillTx/>
                <a:latin typeface="Times New Roman" panose="02020603050405020304" pitchFamily="18" charset="0"/>
              </a:rPr>
              <a:t>，</a:t>
            </a:r>
            <a:r>
              <a:rPr lang="en-US" altLang="zh-CN" sz="1800">
                <a:solidFill>
                  <a:schemeClr val="tx1"/>
                </a:solidFill>
                <a:uFillTx/>
                <a:latin typeface="Times New Roman" panose="02020603050405020304" pitchFamily="18" charset="0"/>
              </a:rPr>
              <a:t>TempList=[1,2]</a:t>
            </a:r>
            <a:endParaRPr lang="en-US" altLang="zh-CN" sz="1800">
              <a:uFillTx/>
              <a:latin typeface="Times New Roman" panose="02020603050405020304" pitchFamily="18" charset="0"/>
              <a:cs typeface="宋体" panose="02010600030101010101" pitchFamily="2" charset="-122"/>
              <a:sym typeface="+mn-ea"/>
            </a:endParaRPr>
          </a:p>
          <a:p>
            <a:endParaRPr lang="zh-CN" altLang="en-US" sz="1800">
              <a:uFillTx/>
              <a:latin typeface="Times New Roman" panose="02020603050405020304" pitchFamily="18" charset="0"/>
              <a:cs typeface="宋体" panose="02010600030101010101" pitchFamily="2" charset="-122"/>
              <a:sym typeface="+mn-ea"/>
            </a:endParaRPr>
          </a:p>
          <a:p>
            <a:endParaRPr lang="zh-CN" altLang="en-US" sz="1800">
              <a:solidFill>
                <a:schemeClr val="tx1"/>
              </a:solidFill>
              <a:uFillTx/>
              <a:latin typeface="Times New Roman" panose="02020603050405020304" pitchFamily="18" charset="0"/>
              <a:cs typeface="宋体" panose="02010600030101010101" pitchFamily="2" charset="-122"/>
              <a:sym typeface="+mn-ea"/>
            </a:endParaRPr>
          </a:p>
        </p:txBody>
      </p:sp>
      <p:sp>
        <p:nvSpPr>
          <p:cNvPr id="87" name="任意多边形 86"/>
          <p:cNvSpPr/>
          <p:nvPr/>
        </p:nvSpPr>
        <p:spPr>
          <a:xfrm>
            <a:off x="3059430" y="5341620"/>
            <a:ext cx="241935" cy="372745"/>
          </a:xfrm>
          <a:custGeom>
            <a:avLst/>
            <a:gdLst>
              <a:gd name="connisteX0" fmla="*/ 0 w 241617"/>
              <a:gd name="connsiteY0" fmla="*/ 372511 h 372511"/>
              <a:gd name="connisteX1" fmla="*/ 210185 w 241617"/>
              <a:gd name="connsiteY1" fmla="*/ 317266 h 372511"/>
              <a:gd name="connisteX2" fmla="*/ 210185 w 241617"/>
              <a:gd name="connsiteY2" fmla="*/ 24531 h 372511"/>
              <a:gd name="connisteX3" fmla="*/ 0 w 241617"/>
              <a:gd name="connsiteY3" fmla="*/ 33421 h 372511"/>
            </a:gdLst>
            <a:ahLst/>
            <a:cxnLst>
              <a:cxn ang="0">
                <a:pos x="connisteX0" y="connsiteY0"/>
              </a:cxn>
              <a:cxn ang="0">
                <a:pos x="connisteX1" y="connsiteY1"/>
              </a:cxn>
              <a:cxn ang="0">
                <a:pos x="connisteX2" y="connsiteY2"/>
              </a:cxn>
              <a:cxn ang="0">
                <a:pos x="connisteX3" y="connsiteY3"/>
              </a:cxn>
            </a:cxnLst>
            <a:rect l="l" t="t" r="r" b="b"/>
            <a:pathLst>
              <a:path w="241618" h="372511">
                <a:moveTo>
                  <a:pt x="0" y="372511"/>
                </a:moveTo>
                <a:cubicBezTo>
                  <a:pt x="41910" y="367431"/>
                  <a:pt x="168275" y="387116"/>
                  <a:pt x="210185" y="317266"/>
                </a:cubicBezTo>
                <a:cubicBezTo>
                  <a:pt x="252095" y="247416"/>
                  <a:pt x="252095" y="81046"/>
                  <a:pt x="210185" y="24531"/>
                </a:cubicBezTo>
                <a:cubicBezTo>
                  <a:pt x="168275" y="-31984"/>
                  <a:pt x="41910" y="25801"/>
                  <a:pt x="0" y="33421"/>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 name="任意多边形 1"/>
          <p:cNvSpPr/>
          <p:nvPr/>
        </p:nvSpPr>
        <p:spPr>
          <a:xfrm>
            <a:off x="3159760" y="4848225"/>
            <a:ext cx="73660" cy="567690"/>
          </a:xfrm>
          <a:custGeom>
            <a:avLst/>
            <a:gdLst>
              <a:gd name="connisteX0" fmla="*/ 0 w 73660"/>
              <a:gd name="connsiteY0" fmla="*/ 567690 h 567690"/>
              <a:gd name="connisteX1" fmla="*/ 73660 w 73660"/>
              <a:gd name="connsiteY1" fmla="*/ 311150 h 567690"/>
              <a:gd name="connisteX2" fmla="*/ 0 w 73660"/>
              <a:gd name="connsiteY2" fmla="*/ 0 h 567690"/>
            </a:gdLst>
            <a:ahLst/>
            <a:cxnLst>
              <a:cxn ang="0">
                <a:pos x="connisteX0" y="connsiteY0"/>
              </a:cxn>
              <a:cxn ang="0">
                <a:pos x="connisteX1" y="connsiteY1"/>
              </a:cxn>
              <a:cxn ang="0">
                <a:pos x="connisteX2" y="connsiteY2"/>
              </a:cxn>
            </a:cxnLst>
            <a:rect l="l" t="t" r="r" b="b"/>
            <a:pathLst>
              <a:path w="73660" h="567690">
                <a:moveTo>
                  <a:pt x="0" y="567690"/>
                </a:moveTo>
                <a:cubicBezTo>
                  <a:pt x="16510" y="522605"/>
                  <a:pt x="73660" y="424815"/>
                  <a:pt x="73660" y="311150"/>
                </a:cubicBezTo>
                <a:cubicBezTo>
                  <a:pt x="73660" y="197485"/>
                  <a:pt x="16510" y="57150"/>
                  <a:pt x="0" y="0"/>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 name="文本框 3"/>
          <p:cNvSpPr txBox="1"/>
          <p:nvPr/>
        </p:nvSpPr>
        <p:spPr>
          <a:xfrm>
            <a:off x="3150235" y="4796790"/>
            <a:ext cx="336550" cy="429260"/>
          </a:xfrm>
          <a:prstGeom prst="rect">
            <a:avLst/>
          </a:prstGeom>
          <a:noFill/>
        </p:spPr>
        <p:txBody>
          <a:bodyPr wrap="square" rtlCol="0">
            <a:noAutofit/>
          </a:bodyPr>
          <a:p>
            <a:r>
              <a:rPr lang="zh-CN" altLang="en-US" sz="1800">
                <a:solidFill>
                  <a:srgbClr val="FF0000"/>
                </a:solidFill>
              </a:rPr>
              <a:t>⑥</a:t>
            </a:r>
            <a:endParaRPr lang="zh-CN" altLang="en-US" sz="1800">
              <a:solidFill>
                <a:srgbClr val="FF0000"/>
              </a:solidFill>
            </a:endParaRPr>
          </a:p>
        </p:txBody>
      </p:sp>
      <p:sp>
        <p:nvSpPr>
          <p:cNvPr id="49" name="文本框 48"/>
          <p:cNvSpPr txBox="1"/>
          <p:nvPr/>
        </p:nvSpPr>
        <p:spPr>
          <a:xfrm>
            <a:off x="167005" y="6237605"/>
            <a:ext cx="4700270" cy="430530"/>
          </a:xfrm>
          <a:prstGeom prst="rect">
            <a:avLst/>
          </a:prstGeom>
          <a:noFill/>
        </p:spPr>
        <p:txBody>
          <a:bodyPr wrap="square" rtlCol="0">
            <a:noAutofit/>
          </a:bodyPr>
          <a:p>
            <a:r>
              <a:rPr lang="zh-CN" altLang="en-US" sz="1800">
                <a:solidFill>
                  <a:schemeClr val="tx1"/>
                </a:solidFill>
                <a:uFillTx/>
                <a:latin typeface="Times New Roman" panose="02020603050405020304" pitchFamily="18" charset="0"/>
              </a:rPr>
              <a:t>⑥：</a:t>
            </a:r>
            <a:r>
              <a:rPr lang="en-US" altLang="zh-CN" sz="1800">
                <a:solidFill>
                  <a:schemeClr val="tx1"/>
                </a:solidFill>
                <a:uFillTx/>
                <a:latin typeface="Times New Roman" panose="02020603050405020304" pitchFamily="18" charset="0"/>
              </a:rPr>
              <a:t>Visit=[1,0,0]</a:t>
            </a:r>
            <a:r>
              <a:rPr lang="zh-CN" altLang="en-US" sz="1800">
                <a:solidFill>
                  <a:schemeClr val="tx1"/>
                </a:solidFill>
                <a:uFillTx/>
                <a:latin typeface="Times New Roman" panose="02020603050405020304" pitchFamily="18" charset="0"/>
              </a:rPr>
              <a:t>，</a:t>
            </a:r>
            <a:r>
              <a:rPr lang="en-US" altLang="zh-CN" sz="1800">
                <a:solidFill>
                  <a:schemeClr val="tx1"/>
                </a:solidFill>
                <a:uFillTx/>
                <a:latin typeface="Times New Roman" panose="02020603050405020304" pitchFamily="18" charset="0"/>
              </a:rPr>
              <a:t>TempList=[1]</a:t>
            </a:r>
            <a:endParaRPr lang="en-US" altLang="zh-CN" sz="1800">
              <a:uFillTx/>
              <a:latin typeface="Times New Roman" panose="02020603050405020304" pitchFamily="18" charset="0"/>
              <a:cs typeface="宋体" panose="02010600030101010101" pitchFamily="2" charset="-122"/>
              <a:sym typeface="+mn-ea"/>
            </a:endParaRPr>
          </a:p>
          <a:p>
            <a:endParaRPr lang="zh-CN" altLang="en-US" sz="1800">
              <a:uFillTx/>
              <a:latin typeface="Times New Roman" panose="02020603050405020304" pitchFamily="18" charset="0"/>
              <a:cs typeface="宋体" panose="02010600030101010101" pitchFamily="2" charset="-122"/>
              <a:sym typeface="+mn-ea"/>
            </a:endParaRPr>
          </a:p>
          <a:p>
            <a:endParaRPr lang="zh-CN" altLang="en-US" sz="1800">
              <a:solidFill>
                <a:schemeClr val="tx1"/>
              </a:solidFill>
              <a:uFillTx/>
              <a:latin typeface="Times New Roman" panose="02020603050405020304" pitchFamily="18" charset="0"/>
              <a:cs typeface="宋体" panose="02010600030101010101" pitchFamily="2" charset="-122"/>
              <a:sym typeface="+mn-ea"/>
            </a:endParaRPr>
          </a:p>
        </p:txBody>
      </p:sp>
      <p:sp>
        <p:nvSpPr>
          <p:cNvPr id="76" name="任意多边形 75"/>
          <p:cNvSpPr/>
          <p:nvPr/>
        </p:nvSpPr>
        <p:spPr>
          <a:xfrm>
            <a:off x="3165475" y="4585335"/>
            <a:ext cx="366395" cy="189865"/>
          </a:xfrm>
          <a:custGeom>
            <a:avLst/>
            <a:gdLst>
              <a:gd name="connisteX0" fmla="*/ 0 w 366395"/>
              <a:gd name="connsiteY0" fmla="*/ 189653 h 189653"/>
              <a:gd name="connisteX1" fmla="*/ 119380 w 366395"/>
              <a:gd name="connsiteY1" fmla="*/ 15028 h 189653"/>
              <a:gd name="connisteX2" fmla="*/ 320675 w 366395"/>
              <a:gd name="connsiteY2" fmla="*/ 24553 h 189653"/>
              <a:gd name="connisteX3" fmla="*/ 366395 w 366395"/>
              <a:gd name="connsiteY3" fmla="*/ 79163 h 189653"/>
            </a:gdLst>
            <a:ahLst/>
            <a:cxnLst>
              <a:cxn ang="0">
                <a:pos x="connisteX0" y="connsiteY0"/>
              </a:cxn>
              <a:cxn ang="0">
                <a:pos x="connisteX1" y="connsiteY1"/>
              </a:cxn>
              <a:cxn ang="0">
                <a:pos x="connisteX2" y="connsiteY2"/>
              </a:cxn>
              <a:cxn ang="0">
                <a:pos x="connisteX3" y="connsiteY3"/>
              </a:cxn>
            </a:cxnLst>
            <a:rect l="l" t="t" r="r" b="b"/>
            <a:pathLst>
              <a:path w="366395" h="189653">
                <a:moveTo>
                  <a:pt x="0" y="189653"/>
                </a:moveTo>
                <a:cubicBezTo>
                  <a:pt x="19685" y="154728"/>
                  <a:pt x="55245" y="48048"/>
                  <a:pt x="119380" y="15028"/>
                </a:cubicBezTo>
                <a:cubicBezTo>
                  <a:pt x="183515" y="-17992"/>
                  <a:pt x="271145" y="11853"/>
                  <a:pt x="320675" y="24553"/>
                </a:cubicBezTo>
                <a:cubicBezTo>
                  <a:pt x="370205" y="37253"/>
                  <a:pt x="361315" y="68368"/>
                  <a:pt x="366395" y="79163"/>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2" name="文本框 81"/>
          <p:cNvSpPr txBox="1"/>
          <p:nvPr/>
        </p:nvSpPr>
        <p:spPr>
          <a:xfrm>
            <a:off x="3150235" y="4547235"/>
            <a:ext cx="336550" cy="429260"/>
          </a:xfrm>
          <a:prstGeom prst="rect">
            <a:avLst/>
          </a:prstGeom>
          <a:noFill/>
        </p:spPr>
        <p:txBody>
          <a:bodyPr wrap="square" rtlCol="0">
            <a:noAutofit/>
          </a:bodyPr>
          <a:p>
            <a:r>
              <a:rPr lang="zh-CN" altLang="en-US" sz="1800">
                <a:solidFill>
                  <a:srgbClr val="FF0000"/>
                </a:solidFill>
              </a:rPr>
              <a:t>⑦</a:t>
            </a:r>
            <a:endParaRPr lang="zh-CN" altLang="en-US" sz="1800">
              <a:solidFill>
                <a:srgbClr val="FF0000"/>
              </a:solidFill>
            </a:endParaRPr>
          </a:p>
        </p:txBody>
      </p:sp>
      <p:sp>
        <p:nvSpPr>
          <p:cNvPr id="83" name="文本框 82"/>
          <p:cNvSpPr txBox="1"/>
          <p:nvPr/>
        </p:nvSpPr>
        <p:spPr>
          <a:xfrm>
            <a:off x="177800" y="6236970"/>
            <a:ext cx="4700270" cy="430530"/>
          </a:xfrm>
          <a:prstGeom prst="rect">
            <a:avLst/>
          </a:prstGeom>
          <a:noFill/>
        </p:spPr>
        <p:txBody>
          <a:bodyPr wrap="square" rtlCol="0">
            <a:noAutofit/>
          </a:bodyPr>
          <a:p>
            <a:r>
              <a:rPr lang="zh-CN" altLang="en-US" sz="1800">
                <a:solidFill>
                  <a:schemeClr val="tx1"/>
                </a:solidFill>
                <a:uFillTx/>
                <a:latin typeface="Times New Roman" panose="02020603050405020304" pitchFamily="18" charset="0"/>
              </a:rPr>
              <a:t>⑦：</a:t>
            </a:r>
            <a:r>
              <a:rPr lang="en-US" altLang="zh-CN" sz="1800">
                <a:solidFill>
                  <a:schemeClr val="tx1"/>
                </a:solidFill>
                <a:uFillTx/>
                <a:latin typeface="Times New Roman" panose="02020603050405020304" pitchFamily="18" charset="0"/>
              </a:rPr>
              <a:t>Visit=[1,0,1]</a:t>
            </a:r>
            <a:r>
              <a:rPr lang="zh-CN" altLang="en-US" sz="1800">
                <a:solidFill>
                  <a:schemeClr val="tx1"/>
                </a:solidFill>
                <a:uFillTx/>
                <a:latin typeface="Times New Roman" panose="02020603050405020304" pitchFamily="18" charset="0"/>
              </a:rPr>
              <a:t>，</a:t>
            </a:r>
            <a:r>
              <a:rPr lang="en-US" altLang="zh-CN" sz="1800">
                <a:solidFill>
                  <a:schemeClr val="tx1"/>
                </a:solidFill>
                <a:uFillTx/>
                <a:latin typeface="Times New Roman" panose="02020603050405020304" pitchFamily="18" charset="0"/>
              </a:rPr>
              <a:t>TempList=[1,3]</a:t>
            </a:r>
            <a:endParaRPr lang="en-US" altLang="zh-CN" sz="1800">
              <a:uFillTx/>
              <a:latin typeface="Times New Roman" panose="02020603050405020304" pitchFamily="18" charset="0"/>
              <a:cs typeface="宋体" panose="02010600030101010101" pitchFamily="2" charset="-122"/>
              <a:sym typeface="+mn-ea"/>
            </a:endParaRPr>
          </a:p>
          <a:p>
            <a:endParaRPr lang="zh-CN" altLang="en-US" sz="1800">
              <a:uFillTx/>
              <a:latin typeface="Times New Roman" panose="02020603050405020304" pitchFamily="18" charset="0"/>
              <a:cs typeface="宋体" panose="02010600030101010101" pitchFamily="2" charset="-122"/>
              <a:sym typeface="+mn-ea"/>
            </a:endParaRPr>
          </a:p>
          <a:p>
            <a:endParaRPr lang="zh-CN" altLang="en-US" sz="1800">
              <a:solidFill>
                <a:schemeClr val="tx1"/>
              </a:solidFill>
              <a:uFillTx/>
              <a:latin typeface="Times New Roman" panose="02020603050405020304" pitchFamily="18" charset="0"/>
              <a:cs typeface="宋体" panose="02010600030101010101" pitchFamily="2" charset="-122"/>
              <a:sym typeface="+mn-ea"/>
            </a:endParaRPr>
          </a:p>
        </p:txBody>
      </p:sp>
      <p:sp>
        <p:nvSpPr>
          <p:cNvPr id="85" name="椭圆 84"/>
          <p:cNvSpPr/>
          <p:nvPr/>
        </p:nvSpPr>
        <p:spPr>
          <a:xfrm>
            <a:off x="3491865" y="4681220"/>
            <a:ext cx="341630" cy="342265"/>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6" name="文本框 85"/>
          <p:cNvSpPr txBox="1"/>
          <p:nvPr/>
        </p:nvSpPr>
        <p:spPr>
          <a:xfrm>
            <a:off x="3529787" y="4726009"/>
            <a:ext cx="293305" cy="206031"/>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sp>
        <p:nvSpPr>
          <p:cNvPr id="91" name="椭圆 90"/>
          <p:cNvSpPr/>
          <p:nvPr/>
        </p:nvSpPr>
        <p:spPr>
          <a:xfrm>
            <a:off x="3484245" y="4681220"/>
            <a:ext cx="341630" cy="34226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4" name="文本框 93"/>
          <p:cNvSpPr txBox="1"/>
          <p:nvPr/>
        </p:nvSpPr>
        <p:spPr>
          <a:xfrm>
            <a:off x="3539947" y="4726009"/>
            <a:ext cx="293305" cy="206031"/>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2" nodeType="clickEffect">
                                  <p:stCondLst>
                                    <p:cond delay="0"/>
                                  </p:stCondLst>
                                  <p:childTnLst>
                                    <p:anim calcmode="lin" valueType="num">
                                      <p:cBhvr additive="base">
                                        <p:cTn id="6" dur="500"/>
                                        <p:tgtEl>
                                          <p:spTgt spid="80"/>
                                        </p:tgtEl>
                                        <p:attrNameLst>
                                          <p:attrName>ppt_x</p:attrName>
                                        </p:attrNameLst>
                                      </p:cBhvr>
                                      <p:tavLst>
                                        <p:tav tm="0">
                                          <p:val>
                                            <p:strVal val="ppt_x"/>
                                          </p:val>
                                        </p:tav>
                                        <p:tav tm="100000">
                                          <p:val>
                                            <p:strVal val="ppt_x"/>
                                          </p:val>
                                        </p:tav>
                                      </p:tavLst>
                                    </p:anim>
                                    <p:anim calcmode="lin" valueType="num">
                                      <p:cBhvr additive="base">
                                        <p:cTn id="7" dur="500"/>
                                        <p:tgtEl>
                                          <p:spTgt spid="80"/>
                                        </p:tgtEl>
                                        <p:attrNameLst>
                                          <p:attrName>ppt_y</p:attrName>
                                        </p:attrNameLst>
                                      </p:cBhvr>
                                      <p:tavLst>
                                        <p:tav tm="0">
                                          <p:val>
                                            <p:strVal val="ppt_y"/>
                                          </p:val>
                                        </p:tav>
                                        <p:tav tm="100000">
                                          <p:val>
                                            <p:strVal val="1+ppt_h/2"/>
                                          </p:val>
                                        </p:tav>
                                      </p:tavLst>
                                    </p:anim>
                                    <p:set>
                                      <p:cBhvr>
                                        <p:cTn id="8" dur="1" fill="hold">
                                          <p:stCondLst>
                                            <p:cond delay="499"/>
                                          </p:stCondLst>
                                        </p:cTn>
                                        <p:tgtEl>
                                          <p:spTgt spid="8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ox(in)">
                                      <p:cBhvr>
                                        <p:cTn id="13" dur="2000"/>
                                        <p:tgtEl>
                                          <p:spTgt spid="4"/>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ox(in)">
                                      <p:cBhvr>
                                        <p:cTn id="16" dur="2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9"/>
                                        </p:tgtEl>
                                        <p:attrNameLst>
                                          <p:attrName>style.visibility</p:attrName>
                                        </p:attrNameLst>
                                      </p:cBhvr>
                                      <p:to>
                                        <p:strVal val="visible"/>
                                      </p:to>
                                    </p:set>
                                    <p:anim calcmode="lin" valueType="num">
                                      <p:cBhvr additive="base">
                                        <p:cTn id="21" dur="500" fill="hold"/>
                                        <p:tgtEl>
                                          <p:spTgt spid="49"/>
                                        </p:tgtEl>
                                        <p:attrNameLst>
                                          <p:attrName>ppt_x</p:attrName>
                                        </p:attrNameLst>
                                      </p:cBhvr>
                                      <p:tavLst>
                                        <p:tav tm="0">
                                          <p:val>
                                            <p:strVal val="#ppt_x"/>
                                          </p:val>
                                        </p:tav>
                                        <p:tav tm="100000">
                                          <p:val>
                                            <p:strVal val="#ppt_x"/>
                                          </p:val>
                                        </p:tav>
                                      </p:tavLst>
                                    </p:anim>
                                    <p:anim calcmode="lin" valueType="num">
                                      <p:cBhvr additive="base">
                                        <p:cTn id="22"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xit" presetSubtype="4" fill="hold" grpId="2" nodeType="clickEffect">
                                  <p:stCondLst>
                                    <p:cond delay="0"/>
                                  </p:stCondLst>
                                  <p:childTnLst>
                                    <p:anim calcmode="lin" valueType="num">
                                      <p:cBhvr additive="base">
                                        <p:cTn id="26" dur="500"/>
                                        <p:tgtEl>
                                          <p:spTgt spid="49"/>
                                        </p:tgtEl>
                                        <p:attrNameLst>
                                          <p:attrName>ppt_x</p:attrName>
                                        </p:attrNameLst>
                                      </p:cBhvr>
                                      <p:tavLst>
                                        <p:tav tm="0">
                                          <p:val>
                                            <p:strVal val="ppt_x"/>
                                          </p:val>
                                        </p:tav>
                                        <p:tav tm="100000">
                                          <p:val>
                                            <p:strVal val="ppt_x"/>
                                          </p:val>
                                        </p:tav>
                                      </p:tavLst>
                                    </p:anim>
                                    <p:anim calcmode="lin" valueType="num">
                                      <p:cBhvr additive="base">
                                        <p:cTn id="27" dur="500"/>
                                        <p:tgtEl>
                                          <p:spTgt spid="49"/>
                                        </p:tgtEl>
                                        <p:attrNameLst>
                                          <p:attrName>ppt_y</p:attrName>
                                        </p:attrNameLst>
                                      </p:cBhvr>
                                      <p:tavLst>
                                        <p:tav tm="0">
                                          <p:val>
                                            <p:strVal val="ppt_y"/>
                                          </p:val>
                                        </p:tav>
                                        <p:tav tm="100000">
                                          <p:val>
                                            <p:strVal val="1+ppt_h/2"/>
                                          </p:val>
                                        </p:tav>
                                      </p:tavLst>
                                    </p:anim>
                                    <p:set>
                                      <p:cBhvr>
                                        <p:cTn id="28" dur="1" fill="hold">
                                          <p:stCondLst>
                                            <p:cond delay="499"/>
                                          </p:stCondLst>
                                        </p:cTn>
                                        <p:tgtEl>
                                          <p:spTgt spid="4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2" nodeType="clickEffect">
                                  <p:stCondLst>
                                    <p:cond delay="0"/>
                                  </p:stCondLst>
                                  <p:childTnLst>
                                    <p:set>
                                      <p:cBhvr>
                                        <p:cTn id="32" dur="1" fill="hold">
                                          <p:stCondLst>
                                            <p:cond delay="0"/>
                                          </p:stCondLst>
                                        </p:cTn>
                                        <p:tgtEl>
                                          <p:spTgt spid="82"/>
                                        </p:tgtEl>
                                        <p:attrNameLst>
                                          <p:attrName>style.visibility</p:attrName>
                                        </p:attrNameLst>
                                      </p:cBhvr>
                                      <p:to>
                                        <p:strVal val="visible"/>
                                      </p:to>
                                    </p:set>
                                    <p:animEffect transition="in" filter="box(in)">
                                      <p:cBhvr>
                                        <p:cTn id="33" dur="2000"/>
                                        <p:tgtEl>
                                          <p:spTgt spid="82"/>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76"/>
                                        </p:tgtEl>
                                        <p:attrNameLst>
                                          <p:attrName>style.visibility</p:attrName>
                                        </p:attrNameLst>
                                      </p:cBhvr>
                                      <p:to>
                                        <p:strVal val="visible"/>
                                      </p:to>
                                    </p:set>
                                    <p:animEffect transition="in" filter="box(in)">
                                      <p:cBhvr>
                                        <p:cTn id="36" dur="2000"/>
                                        <p:tgtEl>
                                          <p:spTgt spid="76"/>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91"/>
                                        </p:tgtEl>
                                        <p:attrNameLst>
                                          <p:attrName>style.visibility</p:attrName>
                                        </p:attrNameLst>
                                      </p:cBhvr>
                                      <p:to>
                                        <p:strVal val="visible"/>
                                      </p:to>
                                    </p:set>
                                    <p:animEffect transition="in" filter="box(in)">
                                      <p:cBhvr>
                                        <p:cTn id="41" dur="2000"/>
                                        <p:tgtEl>
                                          <p:spTgt spid="91"/>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83"/>
                                        </p:tgtEl>
                                        <p:attrNameLst>
                                          <p:attrName>style.visibility</p:attrName>
                                        </p:attrNameLst>
                                      </p:cBhvr>
                                      <p:to>
                                        <p:strVal val="visible"/>
                                      </p:to>
                                    </p:set>
                                    <p:anim calcmode="lin" valueType="num">
                                      <p:cBhvr additive="base">
                                        <p:cTn id="46" dur="500" fill="hold"/>
                                        <p:tgtEl>
                                          <p:spTgt spid="83"/>
                                        </p:tgtEl>
                                        <p:attrNameLst>
                                          <p:attrName>ppt_x</p:attrName>
                                        </p:attrNameLst>
                                      </p:cBhvr>
                                      <p:tavLst>
                                        <p:tav tm="0">
                                          <p:val>
                                            <p:strVal val="#ppt_x"/>
                                          </p:val>
                                        </p:tav>
                                        <p:tav tm="100000">
                                          <p:val>
                                            <p:strVal val="#ppt_x"/>
                                          </p:val>
                                        </p:tav>
                                      </p:tavLst>
                                    </p:anim>
                                    <p:anim calcmode="lin" valueType="num">
                                      <p:cBhvr additive="base">
                                        <p:cTn id="47"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xit" presetSubtype="4" fill="hold" grpId="2" nodeType="clickEffect">
                                  <p:stCondLst>
                                    <p:cond delay="0"/>
                                  </p:stCondLst>
                                  <p:childTnLst>
                                    <p:anim calcmode="lin" valueType="num">
                                      <p:cBhvr additive="base">
                                        <p:cTn id="51" dur="500"/>
                                        <p:tgtEl>
                                          <p:spTgt spid="83"/>
                                        </p:tgtEl>
                                        <p:attrNameLst>
                                          <p:attrName>ppt_x</p:attrName>
                                        </p:attrNameLst>
                                      </p:cBhvr>
                                      <p:tavLst>
                                        <p:tav tm="0">
                                          <p:val>
                                            <p:strVal val="ppt_x"/>
                                          </p:val>
                                        </p:tav>
                                        <p:tav tm="100000">
                                          <p:val>
                                            <p:strVal val="ppt_x"/>
                                          </p:val>
                                        </p:tav>
                                      </p:tavLst>
                                    </p:anim>
                                    <p:anim calcmode="lin" valueType="num">
                                      <p:cBhvr additive="base">
                                        <p:cTn id="52" dur="500"/>
                                        <p:tgtEl>
                                          <p:spTgt spid="83"/>
                                        </p:tgtEl>
                                        <p:attrNameLst>
                                          <p:attrName>ppt_y</p:attrName>
                                        </p:attrNameLst>
                                      </p:cBhvr>
                                      <p:tavLst>
                                        <p:tav tm="0">
                                          <p:val>
                                            <p:strVal val="ppt_y"/>
                                          </p:val>
                                        </p:tav>
                                        <p:tav tm="100000">
                                          <p:val>
                                            <p:strVal val="1+ppt_h/2"/>
                                          </p:val>
                                        </p:tav>
                                      </p:tavLst>
                                    </p:anim>
                                    <p:set>
                                      <p:cBhvr>
                                        <p:cTn id="53" dur="1" fill="hold">
                                          <p:stCondLst>
                                            <p:cond delay="499"/>
                                          </p:stCondLst>
                                        </p:cTn>
                                        <p:tgtEl>
                                          <p:spTgt spid="8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P spid="78" grpId="1"/>
      <p:bldP spid="81" grpId="1"/>
      <p:bldP spid="77" grpId="1" animBg="1"/>
      <p:bldP spid="79" grpId="1"/>
      <p:bldP spid="88" grpId="1" animBg="1"/>
      <p:bldP spid="3" grpId="1"/>
      <p:bldP spid="90" grpId="1" animBg="1"/>
      <p:bldP spid="93" grpId="1"/>
      <p:bldP spid="92" grpId="1" animBg="1"/>
      <p:bldP spid="98" grpId="1" animBg="1"/>
      <p:bldP spid="99" grpId="1"/>
      <p:bldP spid="41" grpId="1"/>
      <p:bldP spid="75" grpId="1"/>
      <p:bldP spid="80" grpId="1"/>
      <p:bldP spid="87" grpId="1" animBg="1"/>
      <p:bldP spid="49" grpId="0"/>
      <p:bldP spid="49" grpId="1"/>
      <p:bldP spid="80" grpId="2"/>
      <p:bldP spid="49" grpId="2"/>
      <p:bldP spid="4" grpId="0"/>
      <p:bldP spid="2" grpId="0" animBg="1"/>
      <p:bldP spid="4" grpId="1"/>
      <p:bldP spid="2" grpId="1" animBg="1"/>
      <p:bldP spid="82" grpId="1"/>
      <p:bldP spid="82" grpId="2"/>
      <p:bldP spid="76" grpId="0" animBg="1"/>
      <p:bldP spid="83" grpId="0"/>
      <p:bldP spid="83" grpId="1"/>
      <p:bldP spid="83" grpId="2"/>
      <p:bldP spid="91" grpId="0" bldLvl="0" animBg="1"/>
      <p:bldP spid="91"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2" name="组合 71"/>
          <p:cNvGrpSpPr/>
          <p:nvPr/>
        </p:nvGrpSpPr>
        <p:grpSpPr>
          <a:xfrm>
            <a:off x="2771775" y="2853055"/>
            <a:ext cx="3688080" cy="2865120"/>
            <a:chOff x="8221" y="3132"/>
            <a:chExt cx="5808" cy="4512"/>
          </a:xfrm>
        </p:grpSpPr>
        <p:grpSp>
          <p:nvGrpSpPr>
            <p:cNvPr id="13" name="组合 12"/>
            <p:cNvGrpSpPr/>
            <p:nvPr/>
          </p:nvGrpSpPr>
          <p:grpSpPr>
            <a:xfrm>
              <a:off x="10546" y="3132"/>
              <a:ext cx="1018" cy="916"/>
              <a:chOff x="10489" y="3359"/>
              <a:chExt cx="1018" cy="916"/>
            </a:xfrm>
          </p:grpSpPr>
          <p:sp>
            <p:nvSpPr>
              <p:cNvPr id="10" name="椭圆 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 name="文本框 11"/>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5" name="组合 14"/>
            <p:cNvGrpSpPr/>
            <p:nvPr/>
          </p:nvGrpSpPr>
          <p:grpSpPr>
            <a:xfrm>
              <a:off x="8675" y="4607"/>
              <a:ext cx="1018" cy="917"/>
              <a:chOff x="10489" y="3359"/>
              <a:chExt cx="1018" cy="917"/>
            </a:xfrm>
          </p:grpSpPr>
          <p:sp>
            <p:nvSpPr>
              <p:cNvPr id="16" name="椭圆 1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 name="文本框 16"/>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8" name="组合 17"/>
            <p:cNvGrpSpPr/>
            <p:nvPr/>
          </p:nvGrpSpPr>
          <p:grpSpPr>
            <a:xfrm>
              <a:off x="10546" y="4607"/>
              <a:ext cx="1018" cy="916"/>
              <a:chOff x="10489" y="3359"/>
              <a:chExt cx="1018" cy="916"/>
            </a:xfrm>
          </p:grpSpPr>
          <p:sp>
            <p:nvSpPr>
              <p:cNvPr id="19" name="椭圆 1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0" name="文本框 19"/>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21" name="组合 20"/>
            <p:cNvGrpSpPr/>
            <p:nvPr/>
          </p:nvGrpSpPr>
          <p:grpSpPr>
            <a:xfrm>
              <a:off x="12529" y="4607"/>
              <a:ext cx="1018" cy="916"/>
              <a:chOff x="10489" y="3359"/>
              <a:chExt cx="1018" cy="916"/>
            </a:xfrm>
          </p:grpSpPr>
          <p:sp>
            <p:nvSpPr>
              <p:cNvPr id="22" name="椭圆 2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3" name="文本框 22"/>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cxnSp>
          <p:nvCxnSpPr>
            <p:cNvPr id="24" name="曲线连接符 23"/>
            <p:cNvCxnSpPr>
              <a:stCxn id="10" idx="2"/>
              <a:endCxn id="16" idx="0"/>
            </p:cNvCxnSpPr>
            <p:nvPr/>
          </p:nvCxnSpPr>
          <p:spPr>
            <a:xfrm rot="10800000" flipV="1">
              <a:off x="9184" y="3591"/>
              <a:ext cx="1362" cy="1016"/>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5" name="曲线连接符 24"/>
            <p:cNvCxnSpPr>
              <a:stCxn id="12" idx="3"/>
              <a:endCxn id="22" idx="0"/>
            </p:cNvCxnSpPr>
            <p:nvPr/>
          </p:nvCxnSpPr>
          <p:spPr>
            <a:xfrm>
              <a:off x="11533" y="3635"/>
              <a:ext cx="1505" cy="972"/>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6" name="曲线连接符 25"/>
            <p:cNvCxnSpPr>
              <a:stCxn id="10" idx="4"/>
              <a:endCxn id="19" idx="0"/>
            </p:cNvCxnSpPr>
            <p:nvPr/>
          </p:nvCxnSpPr>
          <p:spPr>
            <a:xfrm rot="5400000" flipV="1">
              <a:off x="10776" y="4328"/>
              <a:ext cx="558" cy="5"/>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33" name="组合 32"/>
            <p:cNvGrpSpPr/>
            <p:nvPr/>
          </p:nvGrpSpPr>
          <p:grpSpPr>
            <a:xfrm>
              <a:off x="8221" y="6011"/>
              <a:ext cx="538" cy="539"/>
              <a:chOff x="10489" y="3359"/>
              <a:chExt cx="1018" cy="917"/>
            </a:xfrm>
          </p:grpSpPr>
          <p:sp>
            <p:nvSpPr>
              <p:cNvPr id="34" name="椭圆 3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5" name="文本框 3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 name="组合 4"/>
            <p:cNvGrpSpPr/>
            <p:nvPr/>
          </p:nvGrpSpPr>
          <p:grpSpPr>
            <a:xfrm>
              <a:off x="11440" y="6011"/>
              <a:ext cx="538" cy="539"/>
              <a:chOff x="10489" y="3359"/>
              <a:chExt cx="1018" cy="917"/>
            </a:xfrm>
          </p:grpSpPr>
          <p:sp>
            <p:nvSpPr>
              <p:cNvPr id="6" name="椭圆 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 name="文本框 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8" name="组合 7"/>
            <p:cNvGrpSpPr/>
            <p:nvPr/>
          </p:nvGrpSpPr>
          <p:grpSpPr>
            <a:xfrm>
              <a:off x="10306" y="6011"/>
              <a:ext cx="538" cy="539"/>
              <a:chOff x="10489" y="3359"/>
              <a:chExt cx="1018" cy="917"/>
            </a:xfrm>
          </p:grpSpPr>
          <p:sp>
            <p:nvSpPr>
              <p:cNvPr id="27" name="椭圆 2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8" name="文本框 27"/>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9" name="组合 28"/>
            <p:cNvGrpSpPr/>
            <p:nvPr/>
          </p:nvGrpSpPr>
          <p:grpSpPr>
            <a:xfrm>
              <a:off x="13468" y="6011"/>
              <a:ext cx="538" cy="539"/>
              <a:chOff x="10489" y="3359"/>
              <a:chExt cx="1018" cy="917"/>
            </a:xfrm>
          </p:grpSpPr>
          <p:sp>
            <p:nvSpPr>
              <p:cNvPr id="36" name="椭圆 3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7" name="文本框 3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38" name="组合 37"/>
            <p:cNvGrpSpPr/>
            <p:nvPr/>
          </p:nvGrpSpPr>
          <p:grpSpPr>
            <a:xfrm>
              <a:off x="12334" y="6011"/>
              <a:ext cx="538" cy="539"/>
              <a:chOff x="10489" y="3359"/>
              <a:chExt cx="1018" cy="917"/>
            </a:xfrm>
          </p:grpSpPr>
          <p:sp>
            <p:nvSpPr>
              <p:cNvPr id="39" name="椭圆 3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0" name="文本框 3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42" name="曲线连接符 41"/>
            <p:cNvCxnSpPr>
              <a:stCxn id="16" idx="4"/>
              <a:endCxn id="35" idx="0"/>
            </p:cNvCxnSpPr>
            <p:nvPr/>
          </p:nvCxnSpPr>
          <p:spPr>
            <a:xfrm rot="5400000">
              <a:off x="8569" y="5467"/>
              <a:ext cx="558" cy="67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3" name="曲线连接符 42"/>
            <p:cNvCxnSpPr>
              <a:stCxn id="16" idx="4"/>
              <a:endCxn id="32" idx="0"/>
            </p:cNvCxnSpPr>
            <p:nvPr/>
          </p:nvCxnSpPr>
          <p:spPr>
            <a:xfrm rot="5400000" flipV="1">
              <a:off x="9136" y="5572"/>
              <a:ext cx="558" cy="46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4" name="曲线连接符 43"/>
            <p:cNvCxnSpPr>
              <a:stCxn id="22" idx="4"/>
              <a:endCxn id="40" idx="0"/>
            </p:cNvCxnSpPr>
            <p:nvPr/>
          </p:nvCxnSpPr>
          <p:spPr>
            <a:xfrm rot="5400000">
              <a:off x="12552" y="5596"/>
              <a:ext cx="558" cy="413"/>
            </a:xfrm>
            <a:prstGeom prst="curvedConnector3">
              <a:avLst>
                <a:gd name="adj1" fmla="val 49910"/>
              </a:avLst>
            </a:prstGeom>
            <a:solidFill>
              <a:schemeClr val="accent1"/>
            </a:solidFill>
            <a:ln w="9525" cap="flat" cmpd="sng" algn="ctr">
              <a:solidFill>
                <a:schemeClr val="tx1"/>
              </a:solidFill>
              <a:prstDash val="solid"/>
              <a:round/>
              <a:headEnd type="none" w="med" len="med"/>
              <a:tailEnd type="arrow" w="med" len="med"/>
            </a:ln>
          </p:spPr>
        </p:cxnSp>
        <p:cxnSp>
          <p:nvCxnSpPr>
            <p:cNvPr id="45" name="曲线连接符 44"/>
            <p:cNvCxnSpPr>
              <a:stCxn id="19" idx="4"/>
              <a:endCxn id="6" idx="0"/>
            </p:cNvCxnSpPr>
            <p:nvPr/>
          </p:nvCxnSpPr>
          <p:spPr>
            <a:xfrm rot="5400000" flipV="1">
              <a:off x="11139" y="5440"/>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6" name="曲线连接符 45"/>
            <p:cNvCxnSpPr>
              <a:stCxn id="19" idx="4"/>
              <a:endCxn id="28" idx="0"/>
            </p:cNvCxnSpPr>
            <p:nvPr/>
          </p:nvCxnSpPr>
          <p:spPr>
            <a:xfrm rot="5400000">
              <a:off x="10547" y="5574"/>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7" name="曲线连接符 46"/>
            <p:cNvCxnSpPr>
              <a:stCxn id="22" idx="4"/>
              <a:endCxn id="36" idx="0"/>
            </p:cNvCxnSpPr>
            <p:nvPr/>
          </p:nvCxnSpPr>
          <p:spPr>
            <a:xfrm rot="5400000" flipV="1">
              <a:off x="13144" y="5417"/>
              <a:ext cx="487" cy="699"/>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grpSp>
          <p:nvGrpSpPr>
            <p:cNvPr id="54" name="组合 53"/>
            <p:cNvGrpSpPr/>
            <p:nvPr/>
          </p:nvGrpSpPr>
          <p:grpSpPr>
            <a:xfrm>
              <a:off x="10306" y="7105"/>
              <a:ext cx="538" cy="539"/>
              <a:chOff x="10489" y="3359"/>
              <a:chExt cx="1018" cy="917"/>
            </a:xfrm>
          </p:grpSpPr>
          <p:sp>
            <p:nvSpPr>
              <p:cNvPr id="55" name="椭圆 5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6" name="文本框 5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57" name="组合 56"/>
            <p:cNvGrpSpPr/>
            <p:nvPr/>
          </p:nvGrpSpPr>
          <p:grpSpPr>
            <a:xfrm>
              <a:off x="11456" y="7104"/>
              <a:ext cx="538" cy="539"/>
              <a:chOff x="10489" y="3359"/>
              <a:chExt cx="1018" cy="917"/>
            </a:xfrm>
          </p:grpSpPr>
          <p:sp>
            <p:nvSpPr>
              <p:cNvPr id="58" name="椭圆 5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9" name="文本框 5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60" name="组合 59"/>
            <p:cNvGrpSpPr/>
            <p:nvPr/>
          </p:nvGrpSpPr>
          <p:grpSpPr>
            <a:xfrm>
              <a:off x="12373" y="7103"/>
              <a:ext cx="538" cy="539"/>
              <a:chOff x="10489" y="3359"/>
              <a:chExt cx="1018" cy="917"/>
            </a:xfrm>
          </p:grpSpPr>
          <p:sp>
            <p:nvSpPr>
              <p:cNvPr id="61" name="椭圆 6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2" name="文本框 6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63" name="组合 62"/>
            <p:cNvGrpSpPr/>
            <p:nvPr/>
          </p:nvGrpSpPr>
          <p:grpSpPr>
            <a:xfrm>
              <a:off x="13491" y="7105"/>
              <a:ext cx="538" cy="539"/>
              <a:chOff x="10489" y="3359"/>
              <a:chExt cx="1018" cy="917"/>
            </a:xfrm>
          </p:grpSpPr>
          <p:sp>
            <p:nvSpPr>
              <p:cNvPr id="64" name="椭圆 6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5" name="文本框 6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66" name="曲线连接符 65"/>
            <p:cNvCxnSpPr>
              <a:stCxn id="34" idx="4"/>
            </p:cNvCxnSpPr>
            <p:nvPr/>
          </p:nvCxnSpPr>
          <p:spPr>
            <a:xfrm rot="5400000" flipV="1">
              <a:off x="8226"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7" name="曲线连接符 66"/>
            <p:cNvCxnSpPr/>
            <p:nvPr/>
          </p:nvCxnSpPr>
          <p:spPr>
            <a:xfrm rot="5400000" flipV="1">
              <a:off x="9362" y="6798"/>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8" name="曲线连接符 67"/>
            <p:cNvCxnSpPr/>
            <p:nvPr/>
          </p:nvCxnSpPr>
          <p:spPr>
            <a:xfrm rot="5400000" flipV="1">
              <a:off x="10282"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9" name="曲线连接符 68"/>
            <p:cNvCxnSpPr/>
            <p:nvPr/>
          </p:nvCxnSpPr>
          <p:spPr>
            <a:xfrm rot="5400000" flipV="1">
              <a:off x="11426"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0" name="曲线连接符 69"/>
            <p:cNvCxnSpPr/>
            <p:nvPr/>
          </p:nvCxnSpPr>
          <p:spPr>
            <a:xfrm rot="5400000" flipV="1">
              <a:off x="12379"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1" name="曲线连接符 70"/>
            <p:cNvCxnSpPr/>
            <p:nvPr/>
          </p:nvCxnSpPr>
          <p:spPr>
            <a:xfrm rot="5400000" flipV="1">
              <a:off x="13513"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1</a:t>
            </a:r>
            <a:r>
              <a:rPr lang="zh-CN" altLang="en-US" sz="3600" kern="0" smtClean="0">
                <a:sym typeface="+mn-ea"/>
              </a:rPr>
              <a:t>）</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9" name="文本框 8"/>
          <p:cNvSpPr txBox="1"/>
          <p:nvPr/>
        </p:nvSpPr>
        <p:spPr>
          <a:xfrm>
            <a:off x="611505" y="1462405"/>
            <a:ext cx="4481195" cy="448945"/>
          </a:xfrm>
          <a:prstGeom prst="rect">
            <a:avLst/>
          </a:prstGeom>
          <a:noFill/>
        </p:spPr>
        <p:txBody>
          <a:bodyPr>
            <a:noAutofit/>
          </a:bodyPr>
          <a:p>
            <a:pPr>
              <a:defRPr/>
            </a:pPr>
            <a:r>
              <a:rPr lang="zh-CN" altLang="en-US" sz="1800">
                <a:solidFill>
                  <a:srgbClr val="000066"/>
                </a:solidFill>
                <a:latin typeface="+mj-ea"/>
                <a:ea typeface="+mj-ea"/>
              </a:rPr>
              <a:t>如何设计全排列</a:t>
            </a:r>
            <a:r>
              <a:rPr lang="en-US" altLang="zh-CN" sz="1800">
                <a:solidFill>
                  <a:srgbClr val="000066"/>
                </a:solidFill>
                <a:latin typeface="+mj-ea"/>
                <a:ea typeface="+mj-ea"/>
              </a:rPr>
              <a:t>I</a:t>
            </a:r>
            <a:r>
              <a:rPr lang="zh-CN" altLang="en-US" sz="1800">
                <a:solidFill>
                  <a:srgbClr val="000066"/>
                </a:solidFill>
                <a:latin typeface="+mj-ea"/>
                <a:ea typeface="+mj-ea"/>
              </a:rPr>
              <a:t>的程序？</a:t>
            </a:r>
            <a:r>
              <a:rPr lang="en-US" altLang="zh-CN" sz="1800">
                <a:solidFill>
                  <a:srgbClr val="000066"/>
                </a:solidFill>
                <a:latin typeface="+mj-ea"/>
                <a:ea typeface="+mj-ea"/>
              </a:rPr>
              <a:t> </a:t>
            </a:r>
            <a:endParaRPr lang="en-US" altLang="zh-CN" sz="1800">
              <a:solidFill>
                <a:srgbClr val="000066"/>
              </a:solidFill>
              <a:latin typeface="+mj-ea"/>
              <a:ea typeface="+mj-ea"/>
            </a:endParaRPr>
          </a:p>
        </p:txBody>
      </p:sp>
      <p:sp>
        <p:nvSpPr>
          <p:cNvPr id="78" name="文本框 77"/>
          <p:cNvSpPr txBox="1"/>
          <p:nvPr/>
        </p:nvSpPr>
        <p:spPr>
          <a:xfrm>
            <a:off x="3059430" y="2770505"/>
            <a:ext cx="469265" cy="401320"/>
          </a:xfrm>
          <a:prstGeom prst="rect">
            <a:avLst/>
          </a:prstGeom>
          <a:noFill/>
        </p:spPr>
        <p:txBody>
          <a:bodyPr wrap="square" rtlCol="0">
            <a:noAutofit/>
          </a:bodyPr>
          <a:p>
            <a:r>
              <a:rPr lang="zh-CN" altLang="en-US" sz="1800">
                <a:solidFill>
                  <a:srgbClr val="FF0000"/>
                </a:solidFill>
              </a:rPr>
              <a:t>①</a:t>
            </a:r>
            <a:endParaRPr lang="zh-CN" altLang="en-US" sz="1800">
              <a:solidFill>
                <a:srgbClr val="FF0000"/>
              </a:solidFill>
            </a:endParaRPr>
          </a:p>
        </p:txBody>
      </p:sp>
      <p:sp>
        <p:nvSpPr>
          <p:cNvPr id="79" name="文本框 78"/>
          <p:cNvSpPr txBox="1"/>
          <p:nvPr/>
        </p:nvSpPr>
        <p:spPr>
          <a:xfrm>
            <a:off x="2411730" y="4149090"/>
            <a:ext cx="469265" cy="401320"/>
          </a:xfrm>
          <a:prstGeom prst="rect">
            <a:avLst/>
          </a:prstGeom>
          <a:noFill/>
        </p:spPr>
        <p:txBody>
          <a:bodyPr wrap="square" rtlCol="0">
            <a:noAutofit/>
          </a:bodyPr>
          <a:p>
            <a:r>
              <a:rPr lang="zh-CN" altLang="en-US" sz="1800">
                <a:solidFill>
                  <a:srgbClr val="FF0000"/>
                </a:solidFill>
              </a:rPr>
              <a:t>②</a:t>
            </a:r>
            <a:endParaRPr lang="zh-CN" altLang="en-US" sz="1800">
              <a:solidFill>
                <a:srgbClr val="FF0000"/>
              </a:solidFill>
            </a:endParaRPr>
          </a:p>
        </p:txBody>
      </p:sp>
      <p:sp>
        <p:nvSpPr>
          <p:cNvPr id="3" name="文本框 2"/>
          <p:cNvSpPr txBox="1"/>
          <p:nvPr/>
        </p:nvSpPr>
        <p:spPr>
          <a:xfrm>
            <a:off x="2305050" y="4932045"/>
            <a:ext cx="336550" cy="429260"/>
          </a:xfrm>
          <a:prstGeom prst="rect">
            <a:avLst/>
          </a:prstGeom>
          <a:noFill/>
        </p:spPr>
        <p:txBody>
          <a:bodyPr wrap="square" rtlCol="0">
            <a:noAutofit/>
          </a:bodyPr>
          <a:p>
            <a:r>
              <a:rPr lang="zh-CN" altLang="en-US" sz="1800">
                <a:solidFill>
                  <a:srgbClr val="FF0000"/>
                </a:solidFill>
              </a:rPr>
              <a:t>③</a:t>
            </a:r>
            <a:endParaRPr lang="zh-CN" altLang="en-US" sz="1800">
              <a:solidFill>
                <a:srgbClr val="FF0000"/>
              </a:solidFill>
            </a:endParaRPr>
          </a:p>
        </p:txBody>
      </p:sp>
      <p:sp>
        <p:nvSpPr>
          <p:cNvPr id="84" name="任意多边形 83"/>
          <p:cNvSpPr/>
          <p:nvPr/>
        </p:nvSpPr>
        <p:spPr>
          <a:xfrm>
            <a:off x="3253105" y="2873375"/>
            <a:ext cx="882650" cy="617855"/>
          </a:xfrm>
          <a:custGeom>
            <a:avLst/>
            <a:gdLst>
              <a:gd name="connisteX0" fmla="*/ 882650 w 882650"/>
              <a:gd name="connsiteY0" fmla="*/ 0 h 617855"/>
              <a:gd name="connisteX1" fmla="*/ 317500 w 882650"/>
              <a:gd name="connsiteY1" fmla="*/ 150495 h 617855"/>
              <a:gd name="connisteX2" fmla="*/ 0 w 882650"/>
              <a:gd name="connsiteY2" fmla="*/ 617855 h 617855"/>
            </a:gdLst>
            <a:ahLst/>
            <a:cxnLst>
              <a:cxn ang="0">
                <a:pos x="connisteX0" y="connsiteY0"/>
              </a:cxn>
              <a:cxn ang="0">
                <a:pos x="connisteX1" y="connsiteY1"/>
              </a:cxn>
              <a:cxn ang="0">
                <a:pos x="connisteX2" y="connsiteY2"/>
              </a:cxn>
            </a:cxnLst>
            <a:rect l="l" t="t" r="r" b="b"/>
            <a:pathLst>
              <a:path w="882650" h="617855">
                <a:moveTo>
                  <a:pt x="882650" y="0"/>
                </a:moveTo>
                <a:cubicBezTo>
                  <a:pt x="775970" y="20955"/>
                  <a:pt x="494030" y="26670"/>
                  <a:pt x="317500" y="150495"/>
                </a:cubicBezTo>
                <a:cubicBezTo>
                  <a:pt x="140970" y="274320"/>
                  <a:pt x="52070" y="527685"/>
                  <a:pt x="0" y="617855"/>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4" name="文本框 13"/>
          <p:cNvSpPr txBox="1"/>
          <p:nvPr/>
        </p:nvSpPr>
        <p:spPr>
          <a:xfrm>
            <a:off x="683260" y="1844675"/>
            <a:ext cx="8192770" cy="415925"/>
          </a:xfrm>
          <a:prstGeom prst="rect">
            <a:avLst/>
          </a:prstGeom>
          <a:noFill/>
        </p:spPr>
        <p:txBody>
          <a:bodyPr wrap="square" rtlCol="0">
            <a:noAutofit/>
          </a:bodyPr>
          <a:p>
            <a:r>
              <a:rPr lang="en-US" altLang="zh-CN" sz="1800">
                <a:solidFill>
                  <a:schemeClr val="tx1"/>
                </a:solidFill>
                <a:uFillTx/>
                <a:latin typeface="Times New Roman" panose="02020603050405020304" pitchFamily="18" charset="0"/>
                <a:cs typeface="宋体" panose="02010600030101010101" pitchFamily="2" charset="-122"/>
              </a:rPr>
              <a:t>Visit</a:t>
            </a:r>
            <a:r>
              <a:rPr lang="zh-CN" altLang="en-US" sz="1800">
                <a:solidFill>
                  <a:schemeClr val="tx1"/>
                </a:solidFill>
                <a:uFillTx/>
                <a:latin typeface="Times New Roman" panose="02020603050405020304" pitchFamily="18" charset="0"/>
                <a:cs typeface="宋体" panose="02010600030101010101" pitchFamily="2" charset="-122"/>
              </a:rPr>
              <a:t>数组，表示元素是否被访问，</a:t>
            </a:r>
            <a:r>
              <a:rPr lang="en-US" altLang="zh-CN" sz="1800">
                <a:solidFill>
                  <a:schemeClr val="tx1"/>
                </a:solidFill>
                <a:uFillTx/>
                <a:latin typeface="Times New Roman" panose="02020603050405020304" pitchFamily="18" charset="0"/>
                <a:cs typeface="宋体" panose="02010600030101010101" pitchFamily="2" charset="-122"/>
              </a:rPr>
              <a:t>1</a:t>
            </a:r>
            <a:r>
              <a:rPr lang="zh-CN" altLang="en-US" sz="1800">
                <a:solidFill>
                  <a:schemeClr val="tx1"/>
                </a:solidFill>
                <a:uFillTx/>
                <a:latin typeface="Times New Roman" panose="02020603050405020304" pitchFamily="18" charset="0"/>
                <a:cs typeface="宋体" panose="02010600030101010101" pitchFamily="2" charset="-122"/>
              </a:rPr>
              <a:t>表示已被访问，</a:t>
            </a:r>
            <a:r>
              <a:rPr lang="en-US" altLang="zh-CN" sz="1800">
                <a:solidFill>
                  <a:schemeClr val="tx1"/>
                </a:solidFill>
                <a:uFillTx/>
                <a:latin typeface="Times New Roman" panose="02020603050405020304" pitchFamily="18" charset="0"/>
                <a:cs typeface="宋体" panose="02010600030101010101" pitchFamily="2" charset="-122"/>
              </a:rPr>
              <a:t>0</a:t>
            </a:r>
            <a:r>
              <a:rPr lang="zh-CN" altLang="en-US" sz="1800">
                <a:solidFill>
                  <a:schemeClr val="tx1"/>
                </a:solidFill>
                <a:uFillTx/>
                <a:latin typeface="Times New Roman" panose="02020603050405020304" pitchFamily="18" charset="0"/>
                <a:cs typeface="宋体" panose="02010600030101010101" pitchFamily="2" charset="-122"/>
              </a:rPr>
              <a:t>表示未被访问。</a:t>
            </a:r>
            <a:endParaRPr lang="zh-CN" altLang="en-US" sz="1800">
              <a:solidFill>
                <a:schemeClr val="tx1"/>
              </a:solidFill>
              <a:uFillTx/>
              <a:latin typeface="Times New Roman" panose="02020603050405020304" pitchFamily="18" charset="0"/>
              <a:cs typeface="宋体" panose="02010600030101010101" pitchFamily="2" charset="-122"/>
            </a:endParaRPr>
          </a:p>
        </p:txBody>
      </p:sp>
      <p:sp>
        <p:nvSpPr>
          <p:cNvPr id="74" name="文本框 73"/>
          <p:cNvSpPr txBox="1"/>
          <p:nvPr/>
        </p:nvSpPr>
        <p:spPr>
          <a:xfrm>
            <a:off x="683260" y="2204720"/>
            <a:ext cx="7426960" cy="498475"/>
          </a:xfrm>
          <a:prstGeom prst="rect">
            <a:avLst/>
          </a:prstGeom>
          <a:noFill/>
        </p:spPr>
        <p:txBody>
          <a:bodyPr wrap="square" rtlCol="0">
            <a:noAutofit/>
          </a:bodyPr>
          <a:p>
            <a:r>
              <a:rPr lang="en-US" altLang="zh-CN" sz="1800">
                <a:solidFill>
                  <a:schemeClr val="tx1"/>
                </a:solidFill>
                <a:uFillTx/>
                <a:latin typeface="Times New Roman" panose="02020603050405020304" pitchFamily="18" charset="0"/>
                <a:cs typeface="宋体" panose="02010600030101010101" pitchFamily="2" charset="-122"/>
              </a:rPr>
              <a:t>TempList</a:t>
            </a:r>
            <a:r>
              <a:rPr lang="zh-CN" altLang="en-US" sz="1800">
                <a:solidFill>
                  <a:schemeClr val="tx1"/>
                </a:solidFill>
                <a:uFillTx/>
                <a:latin typeface="Times New Roman" panose="02020603050405020304" pitchFamily="18" charset="0"/>
                <a:cs typeface="宋体" panose="02010600030101010101" pitchFamily="2" charset="-122"/>
              </a:rPr>
              <a:t>数组，临时存储全排列的所有</a:t>
            </a:r>
            <a:r>
              <a:rPr lang="zh-CN" altLang="en-US" sz="1800">
                <a:solidFill>
                  <a:schemeClr val="tx1"/>
                </a:solidFill>
                <a:uFillTx/>
                <a:latin typeface="Times New Roman" panose="02020603050405020304" pitchFamily="18" charset="0"/>
                <a:cs typeface="宋体" panose="02010600030101010101" pitchFamily="2" charset="-122"/>
              </a:rPr>
              <a:t>情况。</a:t>
            </a:r>
            <a:endParaRPr lang="zh-CN" altLang="en-US" sz="1800">
              <a:solidFill>
                <a:schemeClr val="tx1"/>
              </a:solidFill>
              <a:uFillTx/>
              <a:latin typeface="Times New Roman" panose="02020603050405020304" pitchFamily="18" charset="0"/>
              <a:cs typeface="宋体" panose="02010600030101010101" pitchFamily="2" charset="-122"/>
            </a:endParaRPr>
          </a:p>
        </p:txBody>
      </p:sp>
      <p:sp>
        <p:nvSpPr>
          <p:cNvPr id="77" name="椭圆 76"/>
          <p:cNvSpPr/>
          <p:nvPr/>
        </p:nvSpPr>
        <p:spPr>
          <a:xfrm>
            <a:off x="3060065" y="3789680"/>
            <a:ext cx="646430" cy="58229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1" name="文本框 80"/>
          <p:cNvSpPr txBox="1"/>
          <p:nvPr/>
        </p:nvSpPr>
        <p:spPr>
          <a:xfrm>
            <a:off x="3080385" y="3933190"/>
            <a:ext cx="554990" cy="350520"/>
          </a:xfrm>
          <a:prstGeom prst="rect">
            <a:avLst/>
          </a:prstGeom>
          <a:noFill/>
          <a:ln>
            <a:noFill/>
          </a:ln>
          <a:extLst>
            <a:ext uri="{909E8E84-426E-40DD-AFC4-6F175D3DCCD1}">
              <a14:hiddenFill xmlns:a14="http://schemas.microsoft.com/office/drawing/2010/main">
                <a:solidFill>
                  <a:srgbClr val="FF0000"/>
                </a:solidFill>
              </a14:hiddenFill>
            </a:ext>
          </a:extLst>
        </p:spPr>
        <p:txBody>
          <a:bodyPr>
            <a:noAutofit/>
          </a:bodyPr>
          <a:p>
            <a:pPr algn="ctr">
              <a:defRPr/>
            </a:pPr>
            <a:r>
              <a:rPr lang="en-US" sz="1400">
                <a:solidFill>
                  <a:schemeClr val="tx1"/>
                </a:solidFill>
                <a:latin typeface="+mj-ea"/>
                <a:ea typeface="+mj-ea"/>
              </a:rPr>
              <a:t>1</a:t>
            </a:r>
            <a:endParaRPr lang="en-US" sz="1400">
              <a:solidFill>
                <a:schemeClr val="tx1"/>
              </a:solidFill>
              <a:latin typeface="+mj-ea"/>
              <a:ea typeface="+mj-ea"/>
            </a:endParaRPr>
          </a:p>
        </p:txBody>
      </p:sp>
      <p:sp>
        <p:nvSpPr>
          <p:cNvPr id="88" name="任意多边形 87"/>
          <p:cNvSpPr/>
          <p:nvPr/>
        </p:nvSpPr>
        <p:spPr>
          <a:xfrm>
            <a:off x="2736850" y="4210050"/>
            <a:ext cx="281305" cy="511810"/>
          </a:xfrm>
          <a:custGeom>
            <a:avLst/>
            <a:gdLst>
              <a:gd name="connisteX0" fmla="*/ 281102 w 281102"/>
              <a:gd name="connsiteY0" fmla="*/ 0 h 511976"/>
              <a:gd name="connisteX1" fmla="*/ 79807 w 281102"/>
              <a:gd name="connsiteY1" fmla="*/ 173990 h 511976"/>
              <a:gd name="connisteX2" fmla="*/ 6782 w 281102"/>
              <a:gd name="connsiteY2" fmla="*/ 485775 h 511976"/>
              <a:gd name="connisteX3" fmla="*/ 6782 w 281102"/>
              <a:gd name="connsiteY3" fmla="*/ 476250 h 511976"/>
            </a:gdLst>
            <a:ahLst/>
            <a:cxnLst>
              <a:cxn ang="0">
                <a:pos x="connisteX0" y="connsiteY0"/>
              </a:cxn>
              <a:cxn ang="0">
                <a:pos x="connisteX1" y="connsiteY1"/>
              </a:cxn>
              <a:cxn ang="0">
                <a:pos x="connisteX2" y="connsiteY2"/>
              </a:cxn>
              <a:cxn ang="0">
                <a:pos x="connisteX3" y="connsiteY3"/>
              </a:cxn>
            </a:cxnLst>
            <a:rect l="l" t="t" r="r" b="b"/>
            <a:pathLst>
              <a:path w="281103" h="511977">
                <a:moveTo>
                  <a:pt x="281103" y="0"/>
                </a:moveTo>
                <a:cubicBezTo>
                  <a:pt x="242368" y="28575"/>
                  <a:pt x="134418" y="76835"/>
                  <a:pt x="79808" y="173990"/>
                </a:cubicBezTo>
                <a:cubicBezTo>
                  <a:pt x="25198" y="271145"/>
                  <a:pt x="21388" y="425450"/>
                  <a:pt x="6783" y="485775"/>
                </a:cubicBezTo>
                <a:cubicBezTo>
                  <a:pt x="-7822" y="546100"/>
                  <a:pt x="5513" y="484505"/>
                  <a:pt x="6783" y="476250"/>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0" name="任意多边形 89"/>
          <p:cNvSpPr/>
          <p:nvPr/>
        </p:nvSpPr>
        <p:spPr>
          <a:xfrm>
            <a:off x="2713990" y="4952365"/>
            <a:ext cx="8890" cy="421640"/>
          </a:xfrm>
          <a:custGeom>
            <a:avLst/>
            <a:gdLst>
              <a:gd name="connisteX0" fmla="*/ 8890 w 8890"/>
              <a:gd name="connsiteY0" fmla="*/ 0 h 421640"/>
              <a:gd name="connisteX1" fmla="*/ 0 w 8890"/>
              <a:gd name="connsiteY1" fmla="*/ 421640 h 421640"/>
            </a:gdLst>
            <a:ahLst/>
            <a:cxnLst>
              <a:cxn ang="0">
                <a:pos x="connisteX0" y="connsiteY0"/>
              </a:cxn>
              <a:cxn ang="0">
                <a:pos x="connisteX1" y="connsiteY1"/>
              </a:cxn>
            </a:cxnLst>
            <a:rect l="l" t="t" r="r" b="b"/>
            <a:pathLst>
              <a:path w="8890" h="421640">
                <a:moveTo>
                  <a:pt x="8890" y="0"/>
                </a:moveTo>
                <a:cubicBezTo>
                  <a:pt x="5715" y="140335"/>
                  <a:pt x="3175" y="281305"/>
                  <a:pt x="0" y="421640"/>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2" name="椭圆 91"/>
          <p:cNvSpPr/>
          <p:nvPr/>
        </p:nvSpPr>
        <p:spPr>
          <a:xfrm>
            <a:off x="2771775" y="4681220"/>
            <a:ext cx="341630" cy="34226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3" name="文本框 92"/>
          <p:cNvSpPr txBox="1"/>
          <p:nvPr/>
        </p:nvSpPr>
        <p:spPr>
          <a:xfrm>
            <a:off x="2809697" y="4726009"/>
            <a:ext cx="293305" cy="206031"/>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sp>
        <p:nvSpPr>
          <p:cNvPr id="96" name="椭圆 95"/>
          <p:cNvSpPr/>
          <p:nvPr/>
        </p:nvSpPr>
        <p:spPr>
          <a:xfrm>
            <a:off x="2771775" y="5375910"/>
            <a:ext cx="341630" cy="342265"/>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7" name="文本框 96"/>
          <p:cNvSpPr txBox="1"/>
          <p:nvPr/>
        </p:nvSpPr>
        <p:spPr>
          <a:xfrm>
            <a:off x="2809697" y="5420699"/>
            <a:ext cx="293305" cy="206031"/>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sp>
        <p:nvSpPr>
          <p:cNvPr id="98" name="椭圆 97"/>
          <p:cNvSpPr/>
          <p:nvPr/>
        </p:nvSpPr>
        <p:spPr>
          <a:xfrm>
            <a:off x="2771775" y="5375910"/>
            <a:ext cx="341630" cy="34226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9" name="文本框 98"/>
          <p:cNvSpPr txBox="1"/>
          <p:nvPr/>
        </p:nvSpPr>
        <p:spPr>
          <a:xfrm>
            <a:off x="2809697" y="5420699"/>
            <a:ext cx="293305" cy="206031"/>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sp>
        <p:nvSpPr>
          <p:cNvPr id="41" name="文本框 40"/>
          <p:cNvSpPr txBox="1"/>
          <p:nvPr/>
        </p:nvSpPr>
        <p:spPr>
          <a:xfrm>
            <a:off x="2544445" y="5625465"/>
            <a:ext cx="336550" cy="429260"/>
          </a:xfrm>
          <a:prstGeom prst="rect">
            <a:avLst/>
          </a:prstGeom>
          <a:noFill/>
        </p:spPr>
        <p:txBody>
          <a:bodyPr wrap="square" rtlCol="0">
            <a:noAutofit/>
          </a:bodyPr>
          <a:p>
            <a:r>
              <a:rPr lang="zh-CN" altLang="en-US" sz="1800">
                <a:solidFill>
                  <a:srgbClr val="FF0000"/>
                </a:solidFill>
              </a:rPr>
              <a:t>④</a:t>
            </a:r>
            <a:endParaRPr lang="zh-CN" altLang="en-US" sz="1800">
              <a:solidFill>
                <a:srgbClr val="FF0000"/>
              </a:solidFill>
            </a:endParaRPr>
          </a:p>
        </p:txBody>
      </p:sp>
      <p:cxnSp>
        <p:nvCxnSpPr>
          <p:cNvPr id="50" name="直接箭头连接符 49"/>
          <p:cNvCxnSpPr/>
          <p:nvPr/>
        </p:nvCxnSpPr>
        <p:spPr>
          <a:xfrm>
            <a:off x="2950210" y="5737225"/>
            <a:ext cx="0" cy="132715"/>
          </a:xfrm>
          <a:prstGeom prst="straightConnector1">
            <a:avLst/>
          </a:prstGeom>
          <a:solidFill>
            <a:schemeClr val="accent1"/>
          </a:solidFill>
          <a:ln w="34925" cap="flat" cmpd="sng" algn="ctr">
            <a:solidFill>
              <a:srgbClr val="FF0000"/>
            </a:solidFill>
            <a:prstDash val="solid"/>
            <a:round/>
            <a:headEnd type="none" w="med" len="med"/>
            <a:tailEnd type="triangle" w="med" len="med"/>
          </a:ln>
        </p:spPr>
      </p:cxnSp>
      <p:sp>
        <p:nvSpPr>
          <p:cNvPr id="73" name="文本框 72"/>
          <p:cNvSpPr txBox="1"/>
          <p:nvPr/>
        </p:nvSpPr>
        <p:spPr>
          <a:xfrm>
            <a:off x="701040" y="2493010"/>
            <a:ext cx="7101205" cy="358775"/>
          </a:xfrm>
          <a:prstGeom prst="rect">
            <a:avLst/>
          </a:prstGeom>
          <a:noFill/>
        </p:spPr>
        <p:txBody>
          <a:bodyPr wrap="square" rtlCol="0">
            <a:noAutofit/>
          </a:bodyPr>
          <a:p>
            <a:r>
              <a:rPr lang="en-US" altLang="zh-CN" sz="1800">
                <a:solidFill>
                  <a:schemeClr val="tx1"/>
                </a:solidFill>
                <a:uFillTx/>
                <a:latin typeface="Times New Roman" panose="02020603050405020304" pitchFamily="18" charset="0"/>
              </a:rPr>
              <a:t>Result=[[1,2,3]]</a:t>
            </a:r>
            <a:endParaRPr lang="en-US" altLang="zh-CN" sz="1800">
              <a:solidFill>
                <a:schemeClr val="tx1"/>
              </a:solidFill>
              <a:uFillTx/>
              <a:latin typeface="Times New Roman" panose="02020603050405020304" pitchFamily="18" charset="0"/>
            </a:endParaRPr>
          </a:p>
        </p:txBody>
      </p:sp>
      <p:sp>
        <p:nvSpPr>
          <p:cNvPr id="75" name="文本框 74"/>
          <p:cNvSpPr txBox="1"/>
          <p:nvPr/>
        </p:nvSpPr>
        <p:spPr>
          <a:xfrm>
            <a:off x="3197860" y="5375910"/>
            <a:ext cx="336550" cy="429260"/>
          </a:xfrm>
          <a:prstGeom prst="rect">
            <a:avLst/>
          </a:prstGeom>
          <a:noFill/>
        </p:spPr>
        <p:txBody>
          <a:bodyPr wrap="square" rtlCol="0">
            <a:noAutofit/>
          </a:bodyPr>
          <a:p>
            <a:r>
              <a:rPr lang="zh-CN" altLang="en-US" sz="1800">
                <a:solidFill>
                  <a:srgbClr val="FF0000"/>
                </a:solidFill>
              </a:rPr>
              <a:t>⑤</a:t>
            </a:r>
            <a:endParaRPr lang="zh-CN" altLang="en-US" sz="1800">
              <a:solidFill>
                <a:srgbClr val="FF0000"/>
              </a:solidFill>
            </a:endParaRPr>
          </a:p>
        </p:txBody>
      </p:sp>
      <p:sp>
        <p:nvSpPr>
          <p:cNvPr id="87" name="任意多边形 86"/>
          <p:cNvSpPr/>
          <p:nvPr/>
        </p:nvSpPr>
        <p:spPr>
          <a:xfrm>
            <a:off x="3059430" y="5341620"/>
            <a:ext cx="241935" cy="372745"/>
          </a:xfrm>
          <a:custGeom>
            <a:avLst/>
            <a:gdLst>
              <a:gd name="connisteX0" fmla="*/ 0 w 241617"/>
              <a:gd name="connsiteY0" fmla="*/ 372511 h 372511"/>
              <a:gd name="connisteX1" fmla="*/ 210185 w 241617"/>
              <a:gd name="connsiteY1" fmla="*/ 317266 h 372511"/>
              <a:gd name="connisteX2" fmla="*/ 210185 w 241617"/>
              <a:gd name="connsiteY2" fmla="*/ 24531 h 372511"/>
              <a:gd name="connisteX3" fmla="*/ 0 w 241617"/>
              <a:gd name="connsiteY3" fmla="*/ 33421 h 372511"/>
            </a:gdLst>
            <a:ahLst/>
            <a:cxnLst>
              <a:cxn ang="0">
                <a:pos x="connisteX0" y="connsiteY0"/>
              </a:cxn>
              <a:cxn ang="0">
                <a:pos x="connisteX1" y="connsiteY1"/>
              </a:cxn>
              <a:cxn ang="0">
                <a:pos x="connisteX2" y="connsiteY2"/>
              </a:cxn>
              <a:cxn ang="0">
                <a:pos x="connisteX3" y="connsiteY3"/>
              </a:cxn>
            </a:cxnLst>
            <a:rect l="l" t="t" r="r" b="b"/>
            <a:pathLst>
              <a:path w="241618" h="372511">
                <a:moveTo>
                  <a:pt x="0" y="372511"/>
                </a:moveTo>
                <a:cubicBezTo>
                  <a:pt x="41910" y="367431"/>
                  <a:pt x="168275" y="387116"/>
                  <a:pt x="210185" y="317266"/>
                </a:cubicBezTo>
                <a:cubicBezTo>
                  <a:pt x="252095" y="247416"/>
                  <a:pt x="252095" y="81046"/>
                  <a:pt x="210185" y="24531"/>
                </a:cubicBezTo>
                <a:cubicBezTo>
                  <a:pt x="168275" y="-31984"/>
                  <a:pt x="41910" y="25801"/>
                  <a:pt x="0" y="33421"/>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 name="任意多边形 1"/>
          <p:cNvSpPr/>
          <p:nvPr/>
        </p:nvSpPr>
        <p:spPr>
          <a:xfrm>
            <a:off x="3159760" y="4848225"/>
            <a:ext cx="73660" cy="567690"/>
          </a:xfrm>
          <a:custGeom>
            <a:avLst/>
            <a:gdLst>
              <a:gd name="connisteX0" fmla="*/ 0 w 73660"/>
              <a:gd name="connsiteY0" fmla="*/ 567690 h 567690"/>
              <a:gd name="connisteX1" fmla="*/ 73660 w 73660"/>
              <a:gd name="connsiteY1" fmla="*/ 311150 h 567690"/>
              <a:gd name="connisteX2" fmla="*/ 0 w 73660"/>
              <a:gd name="connsiteY2" fmla="*/ 0 h 567690"/>
            </a:gdLst>
            <a:ahLst/>
            <a:cxnLst>
              <a:cxn ang="0">
                <a:pos x="connisteX0" y="connsiteY0"/>
              </a:cxn>
              <a:cxn ang="0">
                <a:pos x="connisteX1" y="connsiteY1"/>
              </a:cxn>
              <a:cxn ang="0">
                <a:pos x="connisteX2" y="connsiteY2"/>
              </a:cxn>
            </a:cxnLst>
            <a:rect l="l" t="t" r="r" b="b"/>
            <a:pathLst>
              <a:path w="73660" h="567690">
                <a:moveTo>
                  <a:pt x="0" y="567690"/>
                </a:moveTo>
                <a:cubicBezTo>
                  <a:pt x="16510" y="522605"/>
                  <a:pt x="73660" y="424815"/>
                  <a:pt x="73660" y="311150"/>
                </a:cubicBezTo>
                <a:cubicBezTo>
                  <a:pt x="73660" y="197485"/>
                  <a:pt x="16510" y="57150"/>
                  <a:pt x="0" y="0"/>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 name="文本框 3"/>
          <p:cNvSpPr txBox="1"/>
          <p:nvPr/>
        </p:nvSpPr>
        <p:spPr>
          <a:xfrm>
            <a:off x="3150235" y="4796790"/>
            <a:ext cx="336550" cy="429260"/>
          </a:xfrm>
          <a:prstGeom prst="rect">
            <a:avLst/>
          </a:prstGeom>
          <a:noFill/>
        </p:spPr>
        <p:txBody>
          <a:bodyPr wrap="square" rtlCol="0">
            <a:noAutofit/>
          </a:bodyPr>
          <a:p>
            <a:r>
              <a:rPr lang="zh-CN" altLang="en-US" sz="1800">
                <a:solidFill>
                  <a:srgbClr val="FF0000"/>
                </a:solidFill>
              </a:rPr>
              <a:t>⑥</a:t>
            </a:r>
            <a:endParaRPr lang="zh-CN" altLang="en-US" sz="1800">
              <a:solidFill>
                <a:srgbClr val="FF0000"/>
              </a:solidFill>
            </a:endParaRPr>
          </a:p>
        </p:txBody>
      </p:sp>
      <p:sp>
        <p:nvSpPr>
          <p:cNvPr id="76" name="任意多边形 75"/>
          <p:cNvSpPr/>
          <p:nvPr/>
        </p:nvSpPr>
        <p:spPr>
          <a:xfrm>
            <a:off x="3165475" y="4585335"/>
            <a:ext cx="366395" cy="189865"/>
          </a:xfrm>
          <a:custGeom>
            <a:avLst/>
            <a:gdLst>
              <a:gd name="connisteX0" fmla="*/ 0 w 366395"/>
              <a:gd name="connsiteY0" fmla="*/ 189653 h 189653"/>
              <a:gd name="connisteX1" fmla="*/ 119380 w 366395"/>
              <a:gd name="connsiteY1" fmla="*/ 15028 h 189653"/>
              <a:gd name="connisteX2" fmla="*/ 320675 w 366395"/>
              <a:gd name="connsiteY2" fmla="*/ 24553 h 189653"/>
              <a:gd name="connisteX3" fmla="*/ 366395 w 366395"/>
              <a:gd name="connsiteY3" fmla="*/ 79163 h 189653"/>
            </a:gdLst>
            <a:ahLst/>
            <a:cxnLst>
              <a:cxn ang="0">
                <a:pos x="connisteX0" y="connsiteY0"/>
              </a:cxn>
              <a:cxn ang="0">
                <a:pos x="connisteX1" y="connsiteY1"/>
              </a:cxn>
              <a:cxn ang="0">
                <a:pos x="connisteX2" y="connsiteY2"/>
              </a:cxn>
              <a:cxn ang="0">
                <a:pos x="connisteX3" y="connsiteY3"/>
              </a:cxn>
            </a:cxnLst>
            <a:rect l="l" t="t" r="r" b="b"/>
            <a:pathLst>
              <a:path w="366395" h="189653">
                <a:moveTo>
                  <a:pt x="0" y="189653"/>
                </a:moveTo>
                <a:cubicBezTo>
                  <a:pt x="19685" y="154728"/>
                  <a:pt x="55245" y="48048"/>
                  <a:pt x="119380" y="15028"/>
                </a:cubicBezTo>
                <a:cubicBezTo>
                  <a:pt x="183515" y="-17992"/>
                  <a:pt x="271145" y="11853"/>
                  <a:pt x="320675" y="24553"/>
                </a:cubicBezTo>
                <a:cubicBezTo>
                  <a:pt x="370205" y="37253"/>
                  <a:pt x="361315" y="68368"/>
                  <a:pt x="366395" y="79163"/>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2" name="文本框 81"/>
          <p:cNvSpPr txBox="1"/>
          <p:nvPr/>
        </p:nvSpPr>
        <p:spPr>
          <a:xfrm>
            <a:off x="3150235" y="4547235"/>
            <a:ext cx="336550" cy="429260"/>
          </a:xfrm>
          <a:prstGeom prst="rect">
            <a:avLst/>
          </a:prstGeom>
          <a:noFill/>
        </p:spPr>
        <p:txBody>
          <a:bodyPr wrap="square" rtlCol="0">
            <a:noAutofit/>
          </a:bodyPr>
          <a:p>
            <a:r>
              <a:rPr lang="zh-CN" altLang="en-US" sz="1800">
                <a:solidFill>
                  <a:srgbClr val="FF0000"/>
                </a:solidFill>
              </a:rPr>
              <a:t>⑦</a:t>
            </a:r>
            <a:endParaRPr lang="zh-CN" altLang="en-US" sz="1800">
              <a:solidFill>
                <a:srgbClr val="FF0000"/>
              </a:solidFill>
            </a:endParaRPr>
          </a:p>
        </p:txBody>
      </p:sp>
      <p:sp>
        <p:nvSpPr>
          <p:cNvPr id="83" name="文本框 82"/>
          <p:cNvSpPr txBox="1"/>
          <p:nvPr/>
        </p:nvSpPr>
        <p:spPr>
          <a:xfrm>
            <a:off x="323850" y="6165215"/>
            <a:ext cx="4700270" cy="430530"/>
          </a:xfrm>
          <a:prstGeom prst="rect">
            <a:avLst/>
          </a:prstGeom>
          <a:noFill/>
        </p:spPr>
        <p:txBody>
          <a:bodyPr wrap="square" rtlCol="0">
            <a:noAutofit/>
          </a:bodyPr>
          <a:p>
            <a:r>
              <a:rPr lang="zh-CN" altLang="en-US" sz="1800">
                <a:solidFill>
                  <a:schemeClr val="tx1"/>
                </a:solidFill>
                <a:uFillTx/>
                <a:latin typeface="Times New Roman" panose="02020603050405020304" pitchFamily="18" charset="0"/>
              </a:rPr>
              <a:t>⑦：</a:t>
            </a:r>
            <a:r>
              <a:rPr lang="en-US" altLang="zh-CN" sz="1800">
                <a:solidFill>
                  <a:schemeClr val="tx1"/>
                </a:solidFill>
                <a:uFillTx/>
                <a:latin typeface="Times New Roman" panose="02020603050405020304" pitchFamily="18" charset="0"/>
              </a:rPr>
              <a:t>Visit=[1,0,1]</a:t>
            </a:r>
            <a:r>
              <a:rPr lang="zh-CN" altLang="en-US" sz="1800">
                <a:solidFill>
                  <a:schemeClr val="tx1"/>
                </a:solidFill>
                <a:uFillTx/>
                <a:latin typeface="Times New Roman" panose="02020603050405020304" pitchFamily="18" charset="0"/>
              </a:rPr>
              <a:t>，</a:t>
            </a:r>
            <a:r>
              <a:rPr lang="en-US" altLang="zh-CN" sz="1800">
                <a:solidFill>
                  <a:schemeClr val="tx1"/>
                </a:solidFill>
                <a:uFillTx/>
                <a:latin typeface="Times New Roman" panose="02020603050405020304" pitchFamily="18" charset="0"/>
              </a:rPr>
              <a:t>TempList=[1,3]</a:t>
            </a:r>
            <a:endParaRPr lang="en-US" altLang="zh-CN" sz="1800">
              <a:uFillTx/>
              <a:latin typeface="Times New Roman" panose="02020603050405020304" pitchFamily="18" charset="0"/>
              <a:cs typeface="宋体" panose="02010600030101010101" pitchFamily="2" charset="-122"/>
              <a:sym typeface="+mn-ea"/>
            </a:endParaRPr>
          </a:p>
          <a:p>
            <a:endParaRPr lang="zh-CN" altLang="en-US" sz="1800">
              <a:uFillTx/>
              <a:latin typeface="Times New Roman" panose="02020603050405020304" pitchFamily="18" charset="0"/>
              <a:cs typeface="宋体" panose="02010600030101010101" pitchFamily="2" charset="-122"/>
              <a:sym typeface="+mn-ea"/>
            </a:endParaRPr>
          </a:p>
          <a:p>
            <a:endParaRPr lang="zh-CN" altLang="en-US" sz="1800">
              <a:solidFill>
                <a:schemeClr val="tx1"/>
              </a:solidFill>
              <a:uFillTx/>
              <a:latin typeface="Times New Roman" panose="02020603050405020304" pitchFamily="18" charset="0"/>
              <a:cs typeface="宋体" panose="02010600030101010101" pitchFamily="2" charset="-122"/>
              <a:sym typeface="+mn-ea"/>
            </a:endParaRPr>
          </a:p>
        </p:txBody>
      </p:sp>
      <p:sp>
        <p:nvSpPr>
          <p:cNvPr id="85" name="椭圆 84"/>
          <p:cNvSpPr/>
          <p:nvPr/>
        </p:nvSpPr>
        <p:spPr>
          <a:xfrm>
            <a:off x="3491865" y="4681220"/>
            <a:ext cx="341630" cy="342265"/>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6" name="文本框 85"/>
          <p:cNvSpPr txBox="1"/>
          <p:nvPr/>
        </p:nvSpPr>
        <p:spPr>
          <a:xfrm>
            <a:off x="3529787" y="4726009"/>
            <a:ext cx="293305" cy="206031"/>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sp>
        <p:nvSpPr>
          <p:cNvPr id="91" name="椭圆 90"/>
          <p:cNvSpPr/>
          <p:nvPr/>
        </p:nvSpPr>
        <p:spPr>
          <a:xfrm>
            <a:off x="3484245" y="4681220"/>
            <a:ext cx="341630" cy="34226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4" name="文本框 93"/>
          <p:cNvSpPr txBox="1"/>
          <p:nvPr/>
        </p:nvSpPr>
        <p:spPr>
          <a:xfrm>
            <a:off x="3539947" y="4726009"/>
            <a:ext cx="293305" cy="206031"/>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sp>
        <p:nvSpPr>
          <p:cNvPr id="30" name="文本框 29"/>
          <p:cNvSpPr txBox="1"/>
          <p:nvPr/>
        </p:nvSpPr>
        <p:spPr>
          <a:xfrm>
            <a:off x="3860800" y="4994275"/>
            <a:ext cx="336550" cy="429260"/>
          </a:xfrm>
          <a:prstGeom prst="rect">
            <a:avLst/>
          </a:prstGeom>
          <a:noFill/>
        </p:spPr>
        <p:txBody>
          <a:bodyPr wrap="square" rtlCol="0">
            <a:noAutofit/>
          </a:bodyPr>
          <a:p>
            <a:r>
              <a:rPr lang="zh-CN" altLang="en-US" sz="1800">
                <a:solidFill>
                  <a:srgbClr val="FF0000"/>
                </a:solidFill>
              </a:rPr>
              <a:t>⑧</a:t>
            </a:r>
            <a:endParaRPr lang="zh-CN" altLang="en-US" sz="1800">
              <a:solidFill>
                <a:srgbClr val="FF0000"/>
              </a:solidFill>
            </a:endParaRPr>
          </a:p>
        </p:txBody>
      </p:sp>
      <p:sp>
        <p:nvSpPr>
          <p:cNvPr id="31" name="任意多边形 30"/>
          <p:cNvSpPr/>
          <p:nvPr/>
        </p:nvSpPr>
        <p:spPr>
          <a:xfrm>
            <a:off x="3851910" y="4994275"/>
            <a:ext cx="8890" cy="421640"/>
          </a:xfrm>
          <a:custGeom>
            <a:avLst/>
            <a:gdLst>
              <a:gd name="connisteX0" fmla="*/ 8890 w 8890"/>
              <a:gd name="connsiteY0" fmla="*/ 0 h 421640"/>
              <a:gd name="connisteX1" fmla="*/ 0 w 8890"/>
              <a:gd name="connsiteY1" fmla="*/ 421640 h 421640"/>
            </a:gdLst>
            <a:ahLst/>
            <a:cxnLst>
              <a:cxn ang="0">
                <a:pos x="connisteX0" y="connsiteY0"/>
              </a:cxn>
              <a:cxn ang="0">
                <a:pos x="connisteX1" y="connsiteY1"/>
              </a:cxn>
            </a:cxnLst>
            <a:rect l="l" t="t" r="r" b="b"/>
            <a:pathLst>
              <a:path w="8890" h="421640">
                <a:moveTo>
                  <a:pt x="8890" y="0"/>
                </a:moveTo>
                <a:cubicBezTo>
                  <a:pt x="5715" y="140335"/>
                  <a:pt x="3175" y="281305"/>
                  <a:pt x="0" y="421640"/>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2" name="椭圆 31"/>
          <p:cNvSpPr/>
          <p:nvPr/>
        </p:nvSpPr>
        <p:spPr>
          <a:xfrm>
            <a:off x="3491865" y="5375910"/>
            <a:ext cx="341630" cy="342265"/>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8" name="文本框 47"/>
          <p:cNvSpPr txBox="1"/>
          <p:nvPr/>
        </p:nvSpPr>
        <p:spPr>
          <a:xfrm>
            <a:off x="3529787" y="5420699"/>
            <a:ext cx="293305" cy="206031"/>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sp>
        <p:nvSpPr>
          <p:cNvPr id="89" name="椭圆 88"/>
          <p:cNvSpPr/>
          <p:nvPr/>
        </p:nvSpPr>
        <p:spPr>
          <a:xfrm>
            <a:off x="3493135" y="5379720"/>
            <a:ext cx="341630" cy="342265"/>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5" name="文本框 94"/>
          <p:cNvSpPr txBox="1"/>
          <p:nvPr/>
        </p:nvSpPr>
        <p:spPr>
          <a:xfrm>
            <a:off x="3539947" y="5424509"/>
            <a:ext cx="293305" cy="206031"/>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sp>
        <p:nvSpPr>
          <p:cNvPr id="100" name="文本框 99"/>
          <p:cNvSpPr txBox="1"/>
          <p:nvPr/>
        </p:nvSpPr>
        <p:spPr>
          <a:xfrm>
            <a:off x="327660" y="6164580"/>
            <a:ext cx="4700270" cy="430530"/>
          </a:xfrm>
          <a:prstGeom prst="rect">
            <a:avLst/>
          </a:prstGeom>
          <a:noFill/>
        </p:spPr>
        <p:txBody>
          <a:bodyPr wrap="square" rtlCol="0">
            <a:noAutofit/>
          </a:bodyPr>
          <a:p>
            <a:r>
              <a:rPr lang="zh-CN" altLang="en-US" sz="1800">
                <a:solidFill>
                  <a:schemeClr val="tx1"/>
                </a:solidFill>
                <a:uFillTx/>
                <a:latin typeface="Times New Roman" panose="02020603050405020304" pitchFamily="18" charset="0"/>
              </a:rPr>
              <a:t>⑧：</a:t>
            </a:r>
            <a:r>
              <a:rPr lang="en-US" altLang="zh-CN" sz="1800">
                <a:solidFill>
                  <a:schemeClr val="tx1"/>
                </a:solidFill>
                <a:uFillTx/>
                <a:latin typeface="Times New Roman" panose="02020603050405020304" pitchFamily="18" charset="0"/>
              </a:rPr>
              <a:t>Visit=[1,1,1]</a:t>
            </a:r>
            <a:r>
              <a:rPr lang="zh-CN" altLang="en-US" sz="1800">
                <a:solidFill>
                  <a:schemeClr val="tx1"/>
                </a:solidFill>
                <a:uFillTx/>
                <a:latin typeface="Times New Roman" panose="02020603050405020304" pitchFamily="18" charset="0"/>
              </a:rPr>
              <a:t>，</a:t>
            </a:r>
            <a:r>
              <a:rPr lang="en-US" altLang="zh-CN" sz="1800">
                <a:solidFill>
                  <a:schemeClr val="tx1"/>
                </a:solidFill>
                <a:uFillTx/>
                <a:latin typeface="Times New Roman" panose="02020603050405020304" pitchFamily="18" charset="0"/>
              </a:rPr>
              <a:t>TempList=[1,3,2]</a:t>
            </a:r>
            <a:endParaRPr lang="en-US" altLang="zh-CN" sz="1800">
              <a:uFillTx/>
              <a:latin typeface="Times New Roman" panose="02020603050405020304" pitchFamily="18" charset="0"/>
              <a:cs typeface="宋体" panose="02010600030101010101" pitchFamily="2" charset="-122"/>
              <a:sym typeface="+mn-ea"/>
            </a:endParaRPr>
          </a:p>
          <a:p>
            <a:endParaRPr lang="zh-CN" altLang="en-US" sz="1800">
              <a:uFillTx/>
              <a:latin typeface="Times New Roman" panose="02020603050405020304" pitchFamily="18" charset="0"/>
              <a:cs typeface="宋体" panose="02010600030101010101" pitchFamily="2" charset="-122"/>
              <a:sym typeface="+mn-ea"/>
            </a:endParaRPr>
          </a:p>
          <a:p>
            <a:endParaRPr lang="zh-CN" altLang="en-US" sz="1800">
              <a:solidFill>
                <a:schemeClr val="tx1"/>
              </a:solidFill>
              <a:uFillTx/>
              <a:latin typeface="Times New Roman" panose="02020603050405020304" pitchFamily="18" charset="0"/>
              <a:cs typeface="宋体" panose="02010600030101010101" pitchFamily="2" charset="-122"/>
              <a:sym typeface="+mn-ea"/>
            </a:endParaRPr>
          </a:p>
        </p:txBody>
      </p:sp>
      <p:sp>
        <p:nvSpPr>
          <p:cNvPr id="101" name="文本框 100"/>
          <p:cNvSpPr txBox="1"/>
          <p:nvPr/>
        </p:nvSpPr>
        <p:spPr>
          <a:xfrm>
            <a:off x="325120" y="6166485"/>
            <a:ext cx="4700270" cy="430530"/>
          </a:xfrm>
          <a:prstGeom prst="rect">
            <a:avLst/>
          </a:prstGeom>
          <a:noFill/>
        </p:spPr>
        <p:txBody>
          <a:bodyPr wrap="square" rtlCol="0">
            <a:noAutofit/>
          </a:bodyPr>
          <a:p>
            <a:r>
              <a:rPr lang="zh-CN" altLang="en-US" sz="1800">
                <a:solidFill>
                  <a:schemeClr val="tx1"/>
                </a:solidFill>
                <a:uFillTx/>
                <a:latin typeface="Times New Roman" panose="02020603050405020304" pitchFamily="18" charset="0"/>
              </a:rPr>
              <a:t>⑨：达到递归出口，把结果</a:t>
            </a:r>
            <a:r>
              <a:rPr lang="en-US" altLang="zh-CN" sz="1800">
                <a:solidFill>
                  <a:schemeClr val="tx1"/>
                </a:solidFill>
                <a:uFillTx/>
                <a:latin typeface="Times New Roman" panose="02020603050405020304" pitchFamily="18" charset="0"/>
              </a:rPr>
              <a:t>TempList</a:t>
            </a:r>
            <a:r>
              <a:rPr lang="zh-CN" altLang="en-US" sz="1800">
                <a:solidFill>
                  <a:schemeClr val="tx1"/>
                </a:solidFill>
                <a:uFillTx/>
                <a:latin typeface="Times New Roman" panose="02020603050405020304" pitchFamily="18" charset="0"/>
              </a:rPr>
              <a:t>保存</a:t>
            </a:r>
            <a:endParaRPr lang="en-US" altLang="zh-CN" sz="1800">
              <a:uFillTx/>
              <a:latin typeface="Times New Roman" panose="02020603050405020304" pitchFamily="18" charset="0"/>
              <a:cs typeface="宋体" panose="02010600030101010101" pitchFamily="2" charset="-122"/>
              <a:sym typeface="+mn-ea"/>
            </a:endParaRPr>
          </a:p>
          <a:p>
            <a:endParaRPr lang="zh-CN" altLang="en-US" sz="1800">
              <a:uFillTx/>
              <a:latin typeface="Times New Roman" panose="02020603050405020304" pitchFamily="18" charset="0"/>
              <a:cs typeface="宋体" panose="02010600030101010101" pitchFamily="2" charset="-122"/>
              <a:sym typeface="+mn-ea"/>
            </a:endParaRPr>
          </a:p>
          <a:p>
            <a:endParaRPr lang="zh-CN" altLang="en-US" sz="1800">
              <a:solidFill>
                <a:schemeClr val="tx1"/>
              </a:solidFill>
              <a:uFillTx/>
              <a:latin typeface="Times New Roman" panose="02020603050405020304" pitchFamily="18" charset="0"/>
              <a:cs typeface="宋体" panose="02010600030101010101" pitchFamily="2" charset="-122"/>
              <a:sym typeface="+mn-ea"/>
            </a:endParaRPr>
          </a:p>
        </p:txBody>
      </p:sp>
      <p:sp>
        <p:nvSpPr>
          <p:cNvPr id="102" name="文本框 101"/>
          <p:cNvSpPr txBox="1"/>
          <p:nvPr/>
        </p:nvSpPr>
        <p:spPr>
          <a:xfrm>
            <a:off x="3301365" y="5661025"/>
            <a:ext cx="336550" cy="429260"/>
          </a:xfrm>
          <a:prstGeom prst="rect">
            <a:avLst/>
          </a:prstGeom>
          <a:noFill/>
        </p:spPr>
        <p:txBody>
          <a:bodyPr wrap="square" rtlCol="0">
            <a:noAutofit/>
          </a:bodyPr>
          <a:p>
            <a:r>
              <a:rPr lang="zh-CN" altLang="en-US" sz="1800">
                <a:solidFill>
                  <a:srgbClr val="FF0000"/>
                </a:solidFill>
              </a:rPr>
              <a:t>⑨</a:t>
            </a:r>
            <a:endParaRPr lang="zh-CN" altLang="en-US" sz="1800">
              <a:solidFill>
                <a:srgbClr val="FF0000"/>
              </a:solidFill>
            </a:endParaRPr>
          </a:p>
        </p:txBody>
      </p:sp>
      <p:cxnSp>
        <p:nvCxnSpPr>
          <p:cNvPr id="103" name="直接箭头连接符 102"/>
          <p:cNvCxnSpPr/>
          <p:nvPr/>
        </p:nvCxnSpPr>
        <p:spPr>
          <a:xfrm>
            <a:off x="3707130" y="5772785"/>
            <a:ext cx="0" cy="132715"/>
          </a:xfrm>
          <a:prstGeom prst="straightConnector1">
            <a:avLst/>
          </a:prstGeom>
          <a:solidFill>
            <a:schemeClr val="accent1"/>
          </a:solidFill>
          <a:ln w="34925" cap="flat" cmpd="sng" algn="ctr">
            <a:solidFill>
              <a:srgbClr val="FF0000"/>
            </a:solidFill>
            <a:prstDash val="solid"/>
            <a:round/>
            <a:headEnd type="none" w="med" len="med"/>
            <a:tailEnd type="triangle" w="med" len="med"/>
          </a:ln>
        </p:spPr>
      </p:cxnSp>
      <p:sp>
        <p:nvSpPr>
          <p:cNvPr id="104" name="文本框 103"/>
          <p:cNvSpPr txBox="1"/>
          <p:nvPr/>
        </p:nvSpPr>
        <p:spPr>
          <a:xfrm>
            <a:off x="702310" y="2496820"/>
            <a:ext cx="7101205" cy="358775"/>
          </a:xfrm>
          <a:prstGeom prst="rect">
            <a:avLst/>
          </a:prstGeom>
          <a:noFill/>
        </p:spPr>
        <p:txBody>
          <a:bodyPr wrap="square" rtlCol="0">
            <a:noAutofit/>
          </a:bodyPr>
          <a:p>
            <a:r>
              <a:rPr lang="en-US" altLang="zh-CN" sz="1800">
                <a:solidFill>
                  <a:schemeClr val="tx1"/>
                </a:solidFill>
                <a:uFillTx/>
                <a:latin typeface="Times New Roman" panose="02020603050405020304" pitchFamily="18" charset="0"/>
              </a:rPr>
              <a:t>Result=[[1,2,3],[1,3,2]]</a:t>
            </a:r>
            <a:endParaRPr lang="en-US" altLang="zh-CN" sz="1800">
              <a:solidFill>
                <a:schemeClr val="tx1"/>
              </a:solidFill>
              <a:uFillTx/>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2" nodeType="clickEffect">
                                  <p:stCondLst>
                                    <p:cond delay="0"/>
                                  </p:stCondLst>
                                  <p:childTnLst>
                                    <p:anim calcmode="lin" valueType="num">
                                      <p:cBhvr additive="base">
                                        <p:cTn id="6" dur="500"/>
                                        <p:tgtEl>
                                          <p:spTgt spid="83"/>
                                        </p:tgtEl>
                                        <p:attrNameLst>
                                          <p:attrName>ppt_x</p:attrName>
                                        </p:attrNameLst>
                                      </p:cBhvr>
                                      <p:tavLst>
                                        <p:tav tm="0">
                                          <p:val>
                                            <p:strVal val="ppt_x"/>
                                          </p:val>
                                        </p:tav>
                                        <p:tav tm="100000">
                                          <p:val>
                                            <p:strVal val="ppt_x"/>
                                          </p:val>
                                        </p:tav>
                                      </p:tavLst>
                                    </p:anim>
                                    <p:anim calcmode="lin" valueType="num">
                                      <p:cBhvr additive="base">
                                        <p:cTn id="7" dur="500"/>
                                        <p:tgtEl>
                                          <p:spTgt spid="83"/>
                                        </p:tgtEl>
                                        <p:attrNameLst>
                                          <p:attrName>ppt_y</p:attrName>
                                        </p:attrNameLst>
                                      </p:cBhvr>
                                      <p:tavLst>
                                        <p:tav tm="0">
                                          <p:val>
                                            <p:strVal val="ppt_y"/>
                                          </p:val>
                                        </p:tav>
                                        <p:tav tm="100000">
                                          <p:val>
                                            <p:strVal val="1+ppt_h/2"/>
                                          </p:val>
                                        </p:tav>
                                      </p:tavLst>
                                    </p:anim>
                                    <p:set>
                                      <p:cBhvr>
                                        <p:cTn id="8" dur="1" fill="hold">
                                          <p:stCondLst>
                                            <p:cond delay="499"/>
                                          </p:stCondLst>
                                        </p:cTn>
                                        <p:tgtEl>
                                          <p:spTgt spid="83"/>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box(in)">
                                      <p:cBhvr>
                                        <p:cTn id="13" dur="2000"/>
                                        <p:tgtEl>
                                          <p:spTgt spid="30"/>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box(in)">
                                      <p:cBhvr>
                                        <p:cTn id="16" dur="20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89"/>
                                        </p:tgtEl>
                                        <p:attrNameLst>
                                          <p:attrName>style.visibility</p:attrName>
                                        </p:attrNameLst>
                                      </p:cBhvr>
                                      <p:to>
                                        <p:strVal val="visible"/>
                                      </p:to>
                                    </p:set>
                                    <p:animEffect transition="in" filter="box(in)">
                                      <p:cBhvr>
                                        <p:cTn id="21" dur="2000"/>
                                        <p:tgtEl>
                                          <p:spTgt spid="89"/>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00"/>
                                        </p:tgtEl>
                                        <p:attrNameLst>
                                          <p:attrName>style.visibility</p:attrName>
                                        </p:attrNameLst>
                                      </p:cBhvr>
                                      <p:to>
                                        <p:strVal val="visible"/>
                                      </p:to>
                                    </p:set>
                                    <p:anim calcmode="lin" valueType="num">
                                      <p:cBhvr additive="base">
                                        <p:cTn id="26" dur="500" fill="hold"/>
                                        <p:tgtEl>
                                          <p:spTgt spid="100"/>
                                        </p:tgtEl>
                                        <p:attrNameLst>
                                          <p:attrName>ppt_x</p:attrName>
                                        </p:attrNameLst>
                                      </p:cBhvr>
                                      <p:tavLst>
                                        <p:tav tm="0">
                                          <p:val>
                                            <p:strVal val="#ppt_x"/>
                                          </p:val>
                                        </p:tav>
                                        <p:tav tm="100000">
                                          <p:val>
                                            <p:strVal val="#ppt_x"/>
                                          </p:val>
                                        </p:tav>
                                      </p:tavLst>
                                    </p:anim>
                                    <p:anim calcmode="lin" valueType="num">
                                      <p:cBhvr additive="base">
                                        <p:cTn id="27"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grpId="2" nodeType="clickEffect">
                                  <p:stCondLst>
                                    <p:cond delay="0"/>
                                  </p:stCondLst>
                                  <p:childTnLst>
                                    <p:anim calcmode="lin" valueType="num">
                                      <p:cBhvr additive="base">
                                        <p:cTn id="31" dur="500"/>
                                        <p:tgtEl>
                                          <p:spTgt spid="100"/>
                                        </p:tgtEl>
                                        <p:attrNameLst>
                                          <p:attrName>ppt_x</p:attrName>
                                        </p:attrNameLst>
                                      </p:cBhvr>
                                      <p:tavLst>
                                        <p:tav tm="0">
                                          <p:val>
                                            <p:strVal val="ppt_x"/>
                                          </p:val>
                                        </p:tav>
                                        <p:tav tm="100000">
                                          <p:val>
                                            <p:strVal val="ppt_x"/>
                                          </p:val>
                                        </p:tav>
                                      </p:tavLst>
                                    </p:anim>
                                    <p:anim calcmode="lin" valueType="num">
                                      <p:cBhvr additive="base">
                                        <p:cTn id="32" dur="500"/>
                                        <p:tgtEl>
                                          <p:spTgt spid="100"/>
                                        </p:tgtEl>
                                        <p:attrNameLst>
                                          <p:attrName>ppt_y</p:attrName>
                                        </p:attrNameLst>
                                      </p:cBhvr>
                                      <p:tavLst>
                                        <p:tav tm="0">
                                          <p:val>
                                            <p:strVal val="ppt_y"/>
                                          </p:val>
                                        </p:tav>
                                        <p:tav tm="100000">
                                          <p:val>
                                            <p:strVal val="1+ppt_h/2"/>
                                          </p:val>
                                        </p:tav>
                                      </p:tavLst>
                                    </p:anim>
                                    <p:set>
                                      <p:cBhvr>
                                        <p:cTn id="33" dur="1" fill="hold">
                                          <p:stCondLst>
                                            <p:cond delay="499"/>
                                          </p:stCondLst>
                                        </p:cTn>
                                        <p:tgtEl>
                                          <p:spTgt spid="100"/>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nodeType="clickEffect">
                                  <p:stCondLst>
                                    <p:cond delay="0"/>
                                  </p:stCondLst>
                                  <p:childTnLst>
                                    <p:set>
                                      <p:cBhvr>
                                        <p:cTn id="37" dur="1" fill="hold">
                                          <p:stCondLst>
                                            <p:cond delay="0"/>
                                          </p:stCondLst>
                                        </p:cTn>
                                        <p:tgtEl>
                                          <p:spTgt spid="103"/>
                                        </p:tgtEl>
                                        <p:attrNameLst>
                                          <p:attrName>style.visibility</p:attrName>
                                        </p:attrNameLst>
                                      </p:cBhvr>
                                      <p:to>
                                        <p:strVal val="visible"/>
                                      </p:to>
                                    </p:set>
                                    <p:animEffect transition="in" filter="box(in)">
                                      <p:cBhvr>
                                        <p:cTn id="38" dur="2000"/>
                                        <p:tgtEl>
                                          <p:spTgt spid="103"/>
                                        </p:tgtEl>
                                      </p:cBhvr>
                                    </p:animEffect>
                                  </p:childTnLst>
                                </p:cTn>
                              </p:par>
                              <p:par>
                                <p:cTn id="39" presetID="4" presetClass="entr" presetSubtype="16" fill="hold" grpId="0" nodeType="withEffect">
                                  <p:stCondLst>
                                    <p:cond delay="0"/>
                                  </p:stCondLst>
                                  <p:childTnLst>
                                    <p:set>
                                      <p:cBhvr>
                                        <p:cTn id="40" dur="1" fill="hold">
                                          <p:stCondLst>
                                            <p:cond delay="0"/>
                                          </p:stCondLst>
                                        </p:cTn>
                                        <p:tgtEl>
                                          <p:spTgt spid="102"/>
                                        </p:tgtEl>
                                        <p:attrNameLst>
                                          <p:attrName>style.visibility</p:attrName>
                                        </p:attrNameLst>
                                      </p:cBhvr>
                                      <p:to>
                                        <p:strVal val="visible"/>
                                      </p:to>
                                    </p:set>
                                    <p:animEffect transition="in" filter="box(in)">
                                      <p:cBhvr>
                                        <p:cTn id="41" dur="2000"/>
                                        <p:tgtEl>
                                          <p:spTgt spid="102"/>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01"/>
                                        </p:tgtEl>
                                        <p:attrNameLst>
                                          <p:attrName>style.visibility</p:attrName>
                                        </p:attrNameLst>
                                      </p:cBhvr>
                                      <p:to>
                                        <p:strVal val="visible"/>
                                      </p:to>
                                    </p:set>
                                    <p:anim calcmode="lin" valueType="num">
                                      <p:cBhvr additive="base">
                                        <p:cTn id="46" dur="500" fill="hold"/>
                                        <p:tgtEl>
                                          <p:spTgt spid="101"/>
                                        </p:tgtEl>
                                        <p:attrNameLst>
                                          <p:attrName>ppt_x</p:attrName>
                                        </p:attrNameLst>
                                      </p:cBhvr>
                                      <p:tavLst>
                                        <p:tav tm="0">
                                          <p:val>
                                            <p:strVal val="#ppt_x"/>
                                          </p:val>
                                        </p:tav>
                                        <p:tav tm="100000">
                                          <p:val>
                                            <p:strVal val="#ppt_x"/>
                                          </p:val>
                                        </p:tav>
                                      </p:tavLst>
                                    </p:anim>
                                    <p:anim calcmode="lin" valueType="num">
                                      <p:cBhvr additive="base">
                                        <p:cTn id="47"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xit" presetSubtype="4" fill="hold" grpId="0" nodeType="clickEffect">
                                  <p:stCondLst>
                                    <p:cond delay="0"/>
                                  </p:stCondLst>
                                  <p:childTnLst>
                                    <p:anim calcmode="lin" valueType="num">
                                      <p:cBhvr additive="base">
                                        <p:cTn id="51" dur="500"/>
                                        <p:tgtEl>
                                          <p:spTgt spid="73"/>
                                        </p:tgtEl>
                                        <p:attrNameLst>
                                          <p:attrName>ppt_x</p:attrName>
                                        </p:attrNameLst>
                                      </p:cBhvr>
                                      <p:tavLst>
                                        <p:tav tm="0">
                                          <p:val>
                                            <p:strVal val="ppt_x"/>
                                          </p:val>
                                        </p:tav>
                                        <p:tav tm="100000">
                                          <p:val>
                                            <p:strVal val="ppt_x"/>
                                          </p:val>
                                        </p:tav>
                                      </p:tavLst>
                                    </p:anim>
                                    <p:anim calcmode="lin" valueType="num">
                                      <p:cBhvr additive="base">
                                        <p:cTn id="52" dur="500"/>
                                        <p:tgtEl>
                                          <p:spTgt spid="73"/>
                                        </p:tgtEl>
                                        <p:attrNameLst>
                                          <p:attrName>ppt_y</p:attrName>
                                        </p:attrNameLst>
                                      </p:cBhvr>
                                      <p:tavLst>
                                        <p:tav tm="0">
                                          <p:val>
                                            <p:strVal val="ppt_y"/>
                                          </p:val>
                                        </p:tav>
                                        <p:tav tm="100000">
                                          <p:val>
                                            <p:strVal val="1+ppt_h/2"/>
                                          </p:val>
                                        </p:tav>
                                      </p:tavLst>
                                    </p:anim>
                                    <p:set>
                                      <p:cBhvr>
                                        <p:cTn id="53" dur="1" fill="hold">
                                          <p:stCondLst>
                                            <p:cond delay="499"/>
                                          </p:stCondLst>
                                        </p:cTn>
                                        <p:tgtEl>
                                          <p:spTgt spid="73"/>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04"/>
                                        </p:tgtEl>
                                        <p:attrNameLst>
                                          <p:attrName>style.visibility</p:attrName>
                                        </p:attrNameLst>
                                      </p:cBhvr>
                                      <p:to>
                                        <p:strVal val="visible"/>
                                      </p:to>
                                    </p:set>
                                    <p:anim calcmode="lin" valueType="num">
                                      <p:cBhvr additive="base">
                                        <p:cTn id="58" dur="500" fill="hold"/>
                                        <p:tgtEl>
                                          <p:spTgt spid="104"/>
                                        </p:tgtEl>
                                        <p:attrNameLst>
                                          <p:attrName>ppt_x</p:attrName>
                                        </p:attrNameLst>
                                      </p:cBhvr>
                                      <p:tavLst>
                                        <p:tav tm="0">
                                          <p:val>
                                            <p:strVal val="#ppt_x"/>
                                          </p:val>
                                        </p:tav>
                                        <p:tav tm="100000">
                                          <p:val>
                                            <p:strVal val="#ppt_x"/>
                                          </p:val>
                                        </p:tav>
                                      </p:tavLst>
                                    </p:anim>
                                    <p:anim calcmode="lin" valueType="num">
                                      <p:cBhvr additive="base">
                                        <p:cTn id="59"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P spid="78" grpId="1"/>
      <p:bldP spid="81" grpId="1"/>
      <p:bldP spid="77" grpId="1" animBg="1"/>
      <p:bldP spid="79" grpId="1"/>
      <p:bldP spid="88" grpId="1" animBg="1"/>
      <p:bldP spid="3" grpId="1"/>
      <p:bldP spid="90" grpId="1" animBg="1"/>
      <p:bldP spid="93" grpId="1"/>
      <p:bldP spid="92" grpId="1" animBg="1"/>
      <p:bldP spid="98" grpId="1" animBg="1"/>
      <p:bldP spid="99" grpId="1"/>
      <p:bldP spid="41" grpId="1"/>
      <p:bldP spid="75" grpId="1"/>
      <p:bldP spid="87" grpId="1" animBg="1"/>
      <p:bldP spid="4" grpId="1"/>
      <p:bldP spid="2" grpId="1" animBg="1"/>
      <p:bldP spid="82" grpId="1"/>
      <p:bldP spid="83" grpId="1"/>
      <p:bldP spid="91" grpId="1" animBg="1"/>
      <p:bldP spid="30" grpId="0"/>
      <p:bldP spid="31" grpId="0" animBg="1"/>
      <p:bldP spid="30" grpId="1"/>
      <p:bldP spid="31" grpId="1" animBg="1"/>
      <p:bldP spid="89" grpId="0" bldLvl="0" animBg="1"/>
      <p:bldP spid="89" grpId="1" animBg="1"/>
      <p:bldP spid="95" grpId="1"/>
      <p:bldP spid="100" grpId="0"/>
      <p:bldP spid="100" grpId="1"/>
      <p:bldP spid="102" grpId="0"/>
      <p:bldP spid="102" grpId="1"/>
      <p:bldP spid="100" grpId="2"/>
      <p:bldP spid="73" grpId="0"/>
      <p:bldP spid="73" grpId="1"/>
      <p:bldP spid="104" grpId="0"/>
      <p:bldP spid="104" grpId="1"/>
      <p:bldP spid="101" grpId="0"/>
      <p:bldP spid="101" grpId="1"/>
      <p:bldP spid="83" grpId="2"/>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1</a:t>
            </a:r>
            <a:r>
              <a:rPr lang="zh-CN" altLang="en-US" sz="3600" kern="0" smtClean="0">
                <a:sym typeface="+mn-ea"/>
              </a:rPr>
              <a:t>）</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3" name="文本框 2"/>
          <p:cNvSpPr txBox="1"/>
          <p:nvPr/>
        </p:nvSpPr>
        <p:spPr>
          <a:xfrm>
            <a:off x="251460" y="1556385"/>
            <a:ext cx="2535555" cy="368300"/>
          </a:xfrm>
          <a:prstGeom prst="rect">
            <a:avLst/>
          </a:prstGeom>
          <a:noFill/>
        </p:spPr>
        <p:txBody>
          <a:bodyPr wrap="square" rtlCol="0">
            <a:spAutoFit/>
          </a:bodyPr>
          <a:p>
            <a:r>
              <a:rPr lang="zh-CN" altLang="en-US"/>
              <a:t>运行</a:t>
            </a:r>
            <a:r>
              <a:rPr lang="zh-CN" altLang="en-US"/>
              <a:t>流程：</a:t>
            </a:r>
            <a:endParaRPr lang="zh-CN" altLang="en-US"/>
          </a:p>
        </p:txBody>
      </p:sp>
      <p:sp>
        <p:nvSpPr>
          <p:cNvPr id="10" name="文本框 9"/>
          <p:cNvSpPr txBox="1"/>
          <p:nvPr/>
        </p:nvSpPr>
        <p:spPr>
          <a:xfrm>
            <a:off x="962025" y="3212465"/>
            <a:ext cx="2585720" cy="344805"/>
          </a:xfrm>
          <a:prstGeom prst="rect">
            <a:avLst/>
          </a:prstGeom>
          <a:noFill/>
        </p:spPr>
        <p:txBody>
          <a:bodyPr wrap="square" rtlCol="0" anchor="t">
            <a:noAutofit/>
          </a:bodyPr>
          <a:p>
            <a:pPr algn="l"/>
            <a:r>
              <a:rPr lang="en-US" altLang="zh-CN">
                <a:solidFill>
                  <a:schemeClr val="tx1"/>
                </a:solidFill>
                <a:uFillTx/>
                <a:latin typeface="Times New Roman" panose="02020603050405020304" pitchFamily="18" charset="0"/>
              </a:rPr>
              <a:t>for i in range(len(nums)):</a:t>
            </a:r>
            <a:endParaRPr lang="en-US" altLang="zh-CN">
              <a:solidFill>
                <a:schemeClr val="tx1"/>
              </a:solidFill>
              <a:uFillTx/>
              <a:latin typeface="Times New Roman" panose="02020603050405020304" pitchFamily="18" charset="0"/>
            </a:endParaRPr>
          </a:p>
          <a:p>
            <a:endParaRPr lang="en-US" altLang="zh-CN">
              <a:solidFill>
                <a:schemeClr val="tx1"/>
              </a:solidFill>
              <a:uFillTx/>
              <a:latin typeface="Times New Roman" panose="02020603050405020304" pitchFamily="18" charset="0"/>
            </a:endParaRPr>
          </a:p>
        </p:txBody>
      </p:sp>
      <p:grpSp>
        <p:nvGrpSpPr>
          <p:cNvPr id="72" name="组合 71"/>
          <p:cNvGrpSpPr/>
          <p:nvPr/>
        </p:nvGrpSpPr>
        <p:grpSpPr>
          <a:xfrm>
            <a:off x="3547745" y="2132965"/>
            <a:ext cx="3688080" cy="2864485"/>
            <a:chOff x="8221" y="3132"/>
            <a:chExt cx="5808" cy="4511"/>
          </a:xfrm>
        </p:grpSpPr>
        <p:grpSp>
          <p:nvGrpSpPr>
            <p:cNvPr id="13" name="组合 12"/>
            <p:cNvGrpSpPr/>
            <p:nvPr/>
          </p:nvGrpSpPr>
          <p:grpSpPr>
            <a:xfrm>
              <a:off x="10546" y="3132"/>
              <a:ext cx="1018" cy="916"/>
              <a:chOff x="10489" y="3359"/>
              <a:chExt cx="1018" cy="916"/>
            </a:xfrm>
          </p:grpSpPr>
          <p:sp>
            <p:nvSpPr>
              <p:cNvPr id="12" name="椭圆 1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5" name="文本框 14"/>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6" name="组合 15"/>
            <p:cNvGrpSpPr/>
            <p:nvPr/>
          </p:nvGrpSpPr>
          <p:grpSpPr>
            <a:xfrm>
              <a:off x="8675" y="4607"/>
              <a:ext cx="1018" cy="917"/>
              <a:chOff x="10489" y="3359"/>
              <a:chExt cx="1018" cy="917"/>
            </a:xfrm>
          </p:grpSpPr>
          <p:sp>
            <p:nvSpPr>
              <p:cNvPr id="17" name="椭圆 1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8" name="文本框 17"/>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9" name="组合 18"/>
            <p:cNvGrpSpPr/>
            <p:nvPr/>
          </p:nvGrpSpPr>
          <p:grpSpPr>
            <a:xfrm>
              <a:off x="10546" y="4607"/>
              <a:ext cx="1018" cy="916"/>
              <a:chOff x="10489" y="3359"/>
              <a:chExt cx="1018" cy="916"/>
            </a:xfrm>
          </p:grpSpPr>
          <p:sp>
            <p:nvSpPr>
              <p:cNvPr id="20" name="椭圆 1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1" name="文本框 20"/>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22" name="组合 21"/>
            <p:cNvGrpSpPr/>
            <p:nvPr/>
          </p:nvGrpSpPr>
          <p:grpSpPr>
            <a:xfrm>
              <a:off x="12529" y="4607"/>
              <a:ext cx="1018" cy="916"/>
              <a:chOff x="10489" y="3359"/>
              <a:chExt cx="1018" cy="916"/>
            </a:xfrm>
          </p:grpSpPr>
          <p:sp>
            <p:nvSpPr>
              <p:cNvPr id="23" name="椭圆 22"/>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4" name="文本框 23"/>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cxnSp>
          <p:nvCxnSpPr>
            <p:cNvPr id="25" name="曲线连接符 24"/>
            <p:cNvCxnSpPr>
              <a:stCxn id="12" idx="2"/>
              <a:endCxn id="17" idx="0"/>
            </p:cNvCxnSpPr>
            <p:nvPr/>
          </p:nvCxnSpPr>
          <p:spPr>
            <a:xfrm rot="10800000" flipV="1">
              <a:off x="9184" y="3591"/>
              <a:ext cx="1362" cy="1016"/>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6" name="曲线连接符 25"/>
            <p:cNvCxnSpPr>
              <a:stCxn id="15" idx="3"/>
              <a:endCxn id="23" idx="0"/>
            </p:cNvCxnSpPr>
            <p:nvPr/>
          </p:nvCxnSpPr>
          <p:spPr>
            <a:xfrm>
              <a:off x="11533" y="3635"/>
              <a:ext cx="1505" cy="972"/>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7" name="曲线连接符 26"/>
            <p:cNvCxnSpPr>
              <a:stCxn id="12" idx="4"/>
              <a:endCxn id="20" idx="0"/>
            </p:cNvCxnSpPr>
            <p:nvPr/>
          </p:nvCxnSpPr>
          <p:spPr>
            <a:xfrm rot="5400000" flipV="1">
              <a:off x="10776" y="4328"/>
              <a:ext cx="558" cy="5"/>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30" name="组合 29"/>
            <p:cNvGrpSpPr/>
            <p:nvPr/>
          </p:nvGrpSpPr>
          <p:grpSpPr>
            <a:xfrm>
              <a:off x="9355" y="6011"/>
              <a:ext cx="538" cy="539"/>
              <a:chOff x="10489" y="3359"/>
              <a:chExt cx="1018" cy="917"/>
            </a:xfrm>
          </p:grpSpPr>
          <p:sp>
            <p:nvSpPr>
              <p:cNvPr id="31" name="椭圆 3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2" name="文本框 3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33" name="组合 32"/>
            <p:cNvGrpSpPr/>
            <p:nvPr/>
          </p:nvGrpSpPr>
          <p:grpSpPr>
            <a:xfrm>
              <a:off x="8221" y="6011"/>
              <a:ext cx="538" cy="539"/>
              <a:chOff x="10489" y="3359"/>
              <a:chExt cx="1018" cy="917"/>
            </a:xfrm>
          </p:grpSpPr>
          <p:sp>
            <p:nvSpPr>
              <p:cNvPr id="34" name="椭圆 3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5" name="文本框 3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28" name="组合 27"/>
            <p:cNvGrpSpPr/>
            <p:nvPr/>
          </p:nvGrpSpPr>
          <p:grpSpPr>
            <a:xfrm>
              <a:off x="11440" y="6011"/>
              <a:ext cx="538" cy="539"/>
              <a:chOff x="10489" y="3359"/>
              <a:chExt cx="1018" cy="917"/>
            </a:xfrm>
          </p:grpSpPr>
          <p:sp>
            <p:nvSpPr>
              <p:cNvPr id="29" name="椭圆 2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6" name="文本框 3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37" name="组合 36"/>
            <p:cNvGrpSpPr/>
            <p:nvPr/>
          </p:nvGrpSpPr>
          <p:grpSpPr>
            <a:xfrm>
              <a:off x="10306" y="6011"/>
              <a:ext cx="538" cy="539"/>
              <a:chOff x="10489" y="3359"/>
              <a:chExt cx="1018" cy="917"/>
            </a:xfrm>
          </p:grpSpPr>
          <p:sp>
            <p:nvSpPr>
              <p:cNvPr id="38" name="椭圆 3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9" name="文本框 3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40" name="组合 39"/>
            <p:cNvGrpSpPr/>
            <p:nvPr/>
          </p:nvGrpSpPr>
          <p:grpSpPr>
            <a:xfrm>
              <a:off x="13468" y="6011"/>
              <a:ext cx="538" cy="539"/>
              <a:chOff x="10489" y="3359"/>
              <a:chExt cx="1018" cy="917"/>
            </a:xfrm>
          </p:grpSpPr>
          <p:sp>
            <p:nvSpPr>
              <p:cNvPr id="41" name="椭圆 4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2" name="文本框 4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43" name="组合 42"/>
            <p:cNvGrpSpPr/>
            <p:nvPr/>
          </p:nvGrpSpPr>
          <p:grpSpPr>
            <a:xfrm>
              <a:off x="12334" y="6011"/>
              <a:ext cx="538" cy="539"/>
              <a:chOff x="10489" y="3359"/>
              <a:chExt cx="1018" cy="917"/>
            </a:xfrm>
          </p:grpSpPr>
          <p:sp>
            <p:nvSpPr>
              <p:cNvPr id="44" name="椭圆 4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5" name="文本框 4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46" name="曲线连接符 45"/>
            <p:cNvCxnSpPr>
              <a:stCxn id="17" idx="4"/>
              <a:endCxn id="35" idx="0"/>
            </p:cNvCxnSpPr>
            <p:nvPr/>
          </p:nvCxnSpPr>
          <p:spPr>
            <a:xfrm rot="5400000">
              <a:off x="8569" y="5467"/>
              <a:ext cx="558" cy="67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7" name="曲线连接符 46"/>
            <p:cNvCxnSpPr>
              <a:stCxn id="17" idx="4"/>
              <a:endCxn id="32" idx="0"/>
            </p:cNvCxnSpPr>
            <p:nvPr/>
          </p:nvCxnSpPr>
          <p:spPr>
            <a:xfrm rot="5400000" flipV="1">
              <a:off x="9136" y="5572"/>
              <a:ext cx="558" cy="46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8" name="曲线连接符 47"/>
            <p:cNvCxnSpPr>
              <a:stCxn id="23" idx="4"/>
              <a:endCxn id="45" idx="0"/>
            </p:cNvCxnSpPr>
            <p:nvPr/>
          </p:nvCxnSpPr>
          <p:spPr>
            <a:xfrm rot="5400000">
              <a:off x="12552" y="5596"/>
              <a:ext cx="558" cy="413"/>
            </a:xfrm>
            <a:prstGeom prst="curvedConnector3">
              <a:avLst>
                <a:gd name="adj1" fmla="val 49910"/>
              </a:avLst>
            </a:prstGeom>
            <a:solidFill>
              <a:schemeClr val="accent1"/>
            </a:solidFill>
            <a:ln w="9525" cap="flat" cmpd="sng" algn="ctr">
              <a:solidFill>
                <a:schemeClr val="tx1"/>
              </a:solidFill>
              <a:prstDash val="solid"/>
              <a:round/>
              <a:headEnd type="none" w="med" len="med"/>
              <a:tailEnd type="arrow" w="med" len="med"/>
            </a:ln>
          </p:spPr>
        </p:cxnSp>
        <p:cxnSp>
          <p:nvCxnSpPr>
            <p:cNvPr id="49" name="曲线连接符 48"/>
            <p:cNvCxnSpPr>
              <a:stCxn id="20" idx="4"/>
              <a:endCxn id="29" idx="0"/>
            </p:cNvCxnSpPr>
            <p:nvPr/>
          </p:nvCxnSpPr>
          <p:spPr>
            <a:xfrm rot="5400000" flipV="1">
              <a:off x="11139" y="5440"/>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50" name="曲线连接符 49"/>
            <p:cNvCxnSpPr>
              <a:stCxn id="20" idx="4"/>
              <a:endCxn id="39" idx="0"/>
            </p:cNvCxnSpPr>
            <p:nvPr/>
          </p:nvCxnSpPr>
          <p:spPr>
            <a:xfrm rot="5400000">
              <a:off x="10547" y="5574"/>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51" name="曲线连接符 50"/>
            <p:cNvCxnSpPr>
              <a:stCxn id="23" idx="4"/>
              <a:endCxn id="41" idx="0"/>
            </p:cNvCxnSpPr>
            <p:nvPr/>
          </p:nvCxnSpPr>
          <p:spPr>
            <a:xfrm rot="5400000" flipV="1">
              <a:off x="13144" y="5417"/>
              <a:ext cx="487" cy="699"/>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grpSp>
          <p:nvGrpSpPr>
            <p:cNvPr id="52" name="组合 51"/>
            <p:cNvGrpSpPr/>
            <p:nvPr/>
          </p:nvGrpSpPr>
          <p:grpSpPr>
            <a:xfrm>
              <a:off x="8221" y="7105"/>
              <a:ext cx="538" cy="539"/>
              <a:chOff x="10489" y="3359"/>
              <a:chExt cx="1018" cy="917"/>
            </a:xfrm>
          </p:grpSpPr>
          <p:sp>
            <p:nvSpPr>
              <p:cNvPr id="53" name="椭圆 52"/>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4" name="文本框 53"/>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55" name="组合 54"/>
            <p:cNvGrpSpPr/>
            <p:nvPr/>
          </p:nvGrpSpPr>
          <p:grpSpPr>
            <a:xfrm>
              <a:off x="9355" y="7105"/>
              <a:ext cx="538" cy="539"/>
              <a:chOff x="10489" y="3359"/>
              <a:chExt cx="1018" cy="917"/>
            </a:xfrm>
          </p:grpSpPr>
          <p:sp>
            <p:nvSpPr>
              <p:cNvPr id="56" name="椭圆 5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7" name="文本框 5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8" name="组合 57"/>
            <p:cNvGrpSpPr/>
            <p:nvPr/>
          </p:nvGrpSpPr>
          <p:grpSpPr>
            <a:xfrm>
              <a:off x="10306" y="7105"/>
              <a:ext cx="538" cy="539"/>
              <a:chOff x="10489" y="3359"/>
              <a:chExt cx="1018" cy="917"/>
            </a:xfrm>
          </p:grpSpPr>
          <p:sp>
            <p:nvSpPr>
              <p:cNvPr id="59" name="椭圆 5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0" name="文本框 5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61" name="组合 60"/>
            <p:cNvGrpSpPr/>
            <p:nvPr/>
          </p:nvGrpSpPr>
          <p:grpSpPr>
            <a:xfrm>
              <a:off x="11456" y="7104"/>
              <a:ext cx="538" cy="539"/>
              <a:chOff x="10489" y="3359"/>
              <a:chExt cx="1018" cy="917"/>
            </a:xfrm>
          </p:grpSpPr>
          <p:sp>
            <p:nvSpPr>
              <p:cNvPr id="62" name="椭圆 6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3" name="文本框 62"/>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64" name="组合 63"/>
            <p:cNvGrpSpPr/>
            <p:nvPr/>
          </p:nvGrpSpPr>
          <p:grpSpPr>
            <a:xfrm>
              <a:off x="12373" y="7103"/>
              <a:ext cx="538" cy="539"/>
              <a:chOff x="10489" y="3359"/>
              <a:chExt cx="1018" cy="917"/>
            </a:xfrm>
          </p:grpSpPr>
          <p:sp>
            <p:nvSpPr>
              <p:cNvPr id="65" name="椭圆 6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6" name="文本框 6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67" name="组合 66"/>
            <p:cNvGrpSpPr/>
            <p:nvPr/>
          </p:nvGrpSpPr>
          <p:grpSpPr>
            <a:xfrm>
              <a:off x="13491" y="7105"/>
              <a:ext cx="538" cy="539"/>
              <a:chOff x="10489" y="3359"/>
              <a:chExt cx="1018" cy="917"/>
            </a:xfrm>
          </p:grpSpPr>
          <p:sp>
            <p:nvSpPr>
              <p:cNvPr id="68" name="椭圆 6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9" name="文本框 6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70" name="曲线连接符 69"/>
            <p:cNvCxnSpPr>
              <a:stCxn id="34" idx="4"/>
            </p:cNvCxnSpPr>
            <p:nvPr/>
          </p:nvCxnSpPr>
          <p:spPr>
            <a:xfrm rot="5400000" flipV="1">
              <a:off x="8226"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1" name="曲线连接符 70"/>
            <p:cNvCxnSpPr/>
            <p:nvPr/>
          </p:nvCxnSpPr>
          <p:spPr>
            <a:xfrm rot="5400000" flipV="1">
              <a:off x="9362" y="6798"/>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3" name="曲线连接符 72"/>
            <p:cNvCxnSpPr/>
            <p:nvPr/>
          </p:nvCxnSpPr>
          <p:spPr>
            <a:xfrm rot="5400000" flipV="1">
              <a:off x="10282"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4" name="曲线连接符 73"/>
            <p:cNvCxnSpPr/>
            <p:nvPr/>
          </p:nvCxnSpPr>
          <p:spPr>
            <a:xfrm rot="5400000" flipV="1">
              <a:off x="11426"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5" name="曲线连接符 74"/>
            <p:cNvCxnSpPr/>
            <p:nvPr/>
          </p:nvCxnSpPr>
          <p:spPr>
            <a:xfrm rot="5400000" flipV="1">
              <a:off x="12379"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6" name="曲线连接符 75"/>
            <p:cNvCxnSpPr/>
            <p:nvPr/>
          </p:nvCxnSpPr>
          <p:spPr>
            <a:xfrm rot="5400000" flipV="1">
              <a:off x="13513"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sp>
        <p:nvSpPr>
          <p:cNvPr id="77" name="文本框 76"/>
          <p:cNvSpPr txBox="1"/>
          <p:nvPr/>
        </p:nvSpPr>
        <p:spPr>
          <a:xfrm>
            <a:off x="1004570" y="3071495"/>
            <a:ext cx="6006465" cy="756285"/>
          </a:xfrm>
          <a:prstGeom prst="rect">
            <a:avLst/>
          </a:prstGeom>
          <a:noFill/>
          <a:ln w="28575">
            <a:solidFill>
              <a:schemeClr val="accent1"/>
            </a:solidFill>
          </a:ln>
        </p:spPr>
        <p:txBody>
          <a:bodyPr wrap="square" rtlCol="0">
            <a:noAutofit/>
          </a:bodyPr>
          <a:p>
            <a:endParaRPr lang="zh-CN" altLang="en-US"/>
          </a:p>
        </p:txBody>
      </p:sp>
      <p:sp>
        <p:nvSpPr>
          <p:cNvPr id="78" name="文本框 77"/>
          <p:cNvSpPr txBox="1"/>
          <p:nvPr/>
        </p:nvSpPr>
        <p:spPr>
          <a:xfrm>
            <a:off x="958215" y="3968750"/>
            <a:ext cx="2585720" cy="344805"/>
          </a:xfrm>
          <a:prstGeom prst="rect">
            <a:avLst/>
          </a:prstGeom>
          <a:noFill/>
        </p:spPr>
        <p:txBody>
          <a:bodyPr wrap="square" rtlCol="0" anchor="t">
            <a:noAutofit/>
          </a:bodyPr>
          <a:p>
            <a:pPr algn="l"/>
            <a:r>
              <a:rPr lang="en-US" altLang="zh-CN">
                <a:solidFill>
                  <a:schemeClr val="tx1"/>
                </a:solidFill>
                <a:uFillTx/>
                <a:latin typeface="Times New Roman" panose="02020603050405020304" pitchFamily="18" charset="0"/>
              </a:rPr>
              <a:t>for i in range(len(nums)):</a:t>
            </a:r>
            <a:endParaRPr lang="en-US" altLang="zh-CN">
              <a:solidFill>
                <a:schemeClr val="tx1"/>
              </a:solidFill>
              <a:uFillTx/>
              <a:latin typeface="Times New Roman" panose="02020603050405020304" pitchFamily="18" charset="0"/>
            </a:endParaRPr>
          </a:p>
          <a:p>
            <a:endParaRPr lang="en-US" altLang="zh-CN">
              <a:solidFill>
                <a:schemeClr val="tx1"/>
              </a:solidFill>
              <a:uFillTx/>
              <a:latin typeface="Times New Roman" panose="02020603050405020304" pitchFamily="18" charset="0"/>
            </a:endParaRPr>
          </a:p>
        </p:txBody>
      </p:sp>
      <p:sp>
        <p:nvSpPr>
          <p:cNvPr id="79" name="文本框 78"/>
          <p:cNvSpPr txBox="1"/>
          <p:nvPr/>
        </p:nvSpPr>
        <p:spPr>
          <a:xfrm>
            <a:off x="1004570" y="3834130"/>
            <a:ext cx="6329045" cy="676275"/>
          </a:xfrm>
          <a:prstGeom prst="rect">
            <a:avLst/>
          </a:prstGeom>
          <a:noFill/>
          <a:ln w="28575">
            <a:solidFill>
              <a:schemeClr val="accent1"/>
            </a:solidFill>
          </a:ln>
        </p:spPr>
        <p:txBody>
          <a:bodyPr wrap="square" rtlCol="0">
            <a:noAutofit/>
          </a:bodyPr>
          <a:p>
            <a:endParaRPr lang="zh-CN" altLang="en-US"/>
          </a:p>
        </p:txBody>
      </p:sp>
      <p:sp>
        <p:nvSpPr>
          <p:cNvPr id="80" name="文本框 79"/>
          <p:cNvSpPr txBox="1"/>
          <p:nvPr/>
        </p:nvSpPr>
        <p:spPr>
          <a:xfrm>
            <a:off x="1012190" y="4644390"/>
            <a:ext cx="2585720" cy="344805"/>
          </a:xfrm>
          <a:prstGeom prst="rect">
            <a:avLst/>
          </a:prstGeom>
          <a:noFill/>
        </p:spPr>
        <p:txBody>
          <a:bodyPr wrap="square" rtlCol="0" anchor="t">
            <a:noAutofit/>
          </a:bodyPr>
          <a:p>
            <a:pPr algn="l"/>
            <a:r>
              <a:rPr lang="en-US" altLang="zh-CN">
                <a:solidFill>
                  <a:schemeClr val="tx1"/>
                </a:solidFill>
                <a:uFillTx/>
                <a:latin typeface="Times New Roman" panose="02020603050405020304" pitchFamily="18" charset="0"/>
              </a:rPr>
              <a:t>for i in range(len(nums)):</a:t>
            </a:r>
            <a:endParaRPr lang="en-US" altLang="zh-CN">
              <a:solidFill>
                <a:schemeClr val="tx1"/>
              </a:solidFill>
              <a:uFillTx/>
              <a:latin typeface="Times New Roman" panose="02020603050405020304" pitchFamily="18" charset="0"/>
            </a:endParaRPr>
          </a:p>
          <a:p>
            <a:endParaRPr lang="en-US" altLang="zh-CN">
              <a:solidFill>
                <a:schemeClr val="tx1"/>
              </a:solidFill>
              <a:uFillTx/>
              <a:latin typeface="Times New Roman" panose="02020603050405020304" pitchFamily="18" charset="0"/>
            </a:endParaRPr>
          </a:p>
        </p:txBody>
      </p:sp>
      <p:sp>
        <p:nvSpPr>
          <p:cNvPr id="81" name="文本框 80"/>
          <p:cNvSpPr txBox="1"/>
          <p:nvPr/>
        </p:nvSpPr>
        <p:spPr>
          <a:xfrm>
            <a:off x="1004570" y="4509135"/>
            <a:ext cx="6329045" cy="676275"/>
          </a:xfrm>
          <a:prstGeom prst="rect">
            <a:avLst/>
          </a:prstGeom>
          <a:noFill/>
          <a:ln w="28575">
            <a:solidFill>
              <a:schemeClr val="accent1"/>
            </a:solidFill>
          </a:ln>
        </p:spPr>
        <p:txBody>
          <a:bodyPr wrap="square" rtlCol="0">
            <a:noAutofit/>
          </a:bodyPr>
          <a:p>
            <a:endParaRPr lang="zh-CN" altLang="en-US"/>
          </a:p>
        </p:txBody>
      </p:sp>
      <p:cxnSp>
        <p:nvCxnSpPr>
          <p:cNvPr id="82" name="曲线连接符 81"/>
          <p:cNvCxnSpPr/>
          <p:nvPr/>
        </p:nvCxnSpPr>
        <p:spPr>
          <a:xfrm rot="5400000" flipV="1">
            <a:off x="3550920" y="5156835"/>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83" name="曲线连接符 82"/>
          <p:cNvCxnSpPr/>
          <p:nvPr/>
        </p:nvCxnSpPr>
        <p:spPr>
          <a:xfrm rot="5400000" flipV="1">
            <a:off x="4272280" y="5146675"/>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84" name="曲线连接符 83"/>
          <p:cNvCxnSpPr/>
          <p:nvPr/>
        </p:nvCxnSpPr>
        <p:spPr>
          <a:xfrm rot="5400000" flipV="1">
            <a:off x="4856480" y="5161280"/>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85" name="曲线连接符 84"/>
          <p:cNvCxnSpPr/>
          <p:nvPr/>
        </p:nvCxnSpPr>
        <p:spPr>
          <a:xfrm rot="5400000" flipV="1">
            <a:off x="5582920" y="5161280"/>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86" name="曲线连接符 85"/>
          <p:cNvCxnSpPr/>
          <p:nvPr/>
        </p:nvCxnSpPr>
        <p:spPr>
          <a:xfrm rot="5400000" flipV="1">
            <a:off x="6188075" y="5156835"/>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87" name="曲线连接符 86"/>
          <p:cNvCxnSpPr/>
          <p:nvPr/>
        </p:nvCxnSpPr>
        <p:spPr>
          <a:xfrm rot="5400000" flipV="1">
            <a:off x="6908165" y="5156835"/>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sp>
        <p:nvSpPr>
          <p:cNvPr id="88" name="文本框 87"/>
          <p:cNvSpPr txBox="1"/>
          <p:nvPr/>
        </p:nvSpPr>
        <p:spPr>
          <a:xfrm>
            <a:off x="988060" y="5201285"/>
            <a:ext cx="6447155" cy="368300"/>
          </a:xfrm>
          <a:prstGeom prst="rect">
            <a:avLst/>
          </a:prstGeom>
          <a:noFill/>
          <a:ln w="38100">
            <a:solidFill>
              <a:schemeClr val="accent1">
                <a:lumMod val="60000"/>
                <a:lumOff val="40000"/>
              </a:schemeClr>
            </a:solidFill>
          </a:ln>
        </p:spPr>
        <p:txBody>
          <a:bodyPr wrap="square" rtlCol="0">
            <a:spAutoFit/>
          </a:bodyPr>
          <a:p>
            <a:r>
              <a:rPr lang="en-US" altLang="zh-CN">
                <a:solidFill>
                  <a:schemeClr val="tx1"/>
                </a:solidFill>
                <a:uFillTx/>
                <a:latin typeface="Times New Roman" panose="02020603050405020304" pitchFamily="18" charset="0"/>
              </a:rPr>
              <a:t>result.append(TempList[:])</a:t>
            </a:r>
            <a:endParaRPr lang="en-US" altLang="zh-CN">
              <a:solidFill>
                <a:schemeClr val="tx1"/>
              </a:solidFill>
              <a:uFillTx/>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1</a:t>
            </a:r>
            <a:r>
              <a:rPr lang="zh-CN" altLang="en-US" sz="3600" kern="0" smtClean="0">
                <a:sym typeface="+mn-ea"/>
              </a:rPr>
              <a:t>）</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pic>
        <p:nvPicPr>
          <p:cNvPr id="3" name="图片 2"/>
          <p:cNvPicPr/>
          <p:nvPr/>
        </p:nvPicPr>
        <p:blipFill>
          <a:blip r:embed="rId1"/>
          <a:stretch>
            <a:fillRect/>
          </a:stretch>
        </p:blipFill>
        <p:spPr>
          <a:xfrm>
            <a:off x="1691640" y="1988503"/>
            <a:ext cx="5200650" cy="3876674"/>
          </a:xfrm>
          <a:prstGeom prst="rect">
            <a:avLst/>
          </a:prstGeom>
        </p:spPr>
      </p:pic>
      <p:sp>
        <p:nvSpPr>
          <p:cNvPr id="14" name="文本框 13"/>
          <p:cNvSpPr txBox="1"/>
          <p:nvPr/>
        </p:nvSpPr>
        <p:spPr>
          <a:xfrm>
            <a:off x="899795" y="1412875"/>
            <a:ext cx="6430010" cy="780415"/>
          </a:xfrm>
          <a:prstGeom prst="rect">
            <a:avLst/>
          </a:prstGeom>
          <a:noFill/>
        </p:spPr>
        <p:txBody>
          <a:bodyPr wrap="square" rtlCol="0">
            <a:noAutofit/>
          </a:bodyPr>
          <a:p>
            <a:r>
              <a:rPr lang="zh-CN" altLang="en-US"/>
              <a:t>源码实现</a:t>
            </a:r>
            <a:r>
              <a:rPr lang="zh-CN" altLang="en-US"/>
              <a:t>示例：</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1</a:t>
            </a:r>
            <a:r>
              <a:rPr lang="zh-CN" altLang="en-US" sz="3600" kern="0" smtClean="0">
                <a:sym typeface="+mn-ea"/>
              </a:rPr>
              <a:t>）</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14" name="文本框 13"/>
          <p:cNvSpPr txBox="1"/>
          <p:nvPr/>
        </p:nvSpPr>
        <p:spPr>
          <a:xfrm>
            <a:off x="899795" y="1412875"/>
            <a:ext cx="6430010" cy="780415"/>
          </a:xfrm>
          <a:prstGeom prst="rect">
            <a:avLst/>
          </a:prstGeom>
          <a:noFill/>
        </p:spPr>
        <p:txBody>
          <a:bodyPr wrap="square" rtlCol="0">
            <a:noAutofit/>
          </a:bodyPr>
          <a:p>
            <a:r>
              <a:rPr lang="zh-CN" altLang="en-US"/>
              <a:t>运行流程：（第一层递归会标记第</a:t>
            </a:r>
            <a:r>
              <a:rPr lang="zh-CN" altLang="en-US"/>
              <a:t>一个元素已经</a:t>
            </a:r>
            <a:r>
              <a:rPr lang="zh-CN" altLang="en-US"/>
              <a:t>被访问）</a:t>
            </a:r>
            <a:endParaRPr lang="zh-CN" altLang="en-US"/>
          </a:p>
        </p:txBody>
      </p:sp>
      <p:pic>
        <p:nvPicPr>
          <p:cNvPr id="6" name="图片 5"/>
          <p:cNvPicPr>
            <a:picLocks noChangeAspect="1"/>
          </p:cNvPicPr>
          <p:nvPr/>
        </p:nvPicPr>
        <p:blipFill>
          <a:blip r:embed="rId1"/>
          <a:stretch>
            <a:fillRect/>
          </a:stretch>
        </p:blipFill>
        <p:spPr>
          <a:xfrm>
            <a:off x="1115695" y="1772920"/>
            <a:ext cx="5178425" cy="46310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1</a:t>
            </a:r>
            <a:r>
              <a:rPr lang="zh-CN" altLang="en-US" sz="3600" kern="0" smtClean="0">
                <a:sym typeface="+mn-ea"/>
              </a:rPr>
              <a:t>）</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14" name="文本框 13"/>
          <p:cNvSpPr txBox="1"/>
          <p:nvPr/>
        </p:nvSpPr>
        <p:spPr>
          <a:xfrm>
            <a:off x="899795" y="1412875"/>
            <a:ext cx="6430010" cy="780415"/>
          </a:xfrm>
          <a:prstGeom prst="rect">
            <a:avLst/>
          </a:prstGeom>
          <a:noFill/>
        </p:spPr>
        <p:txBody>
          <a:bodyPr wrap="square" rtlCol="0">
            <a:noAutofit/>
          </a:bodyPr>
          <a:p>
            <a:r>
              <a:rPr lang="zh-CN" altLang="en-US"/>
              <a:t>运行流程：（第二层递归会标记第</a:t>
            </a:r>
            <a:r>
              <a:rPr lang="zh-CN" altLang="en-US"/>
              <a:t>二个元素已经</a:t>
            </a:r>
            <a:r>
              <a:rPr lang="zh-CN" altLang="en-US"/>
              <a:t>被访问）</a:t>
            </a:r>
            <a:endParaRPr lang="zh-CN" altLang="en-US"/>
          </a:p>
        </p:txBody>
      </p:sp>
      <p:pic>
        <p:nvPicPr>
          <p:cNvPr id="5" name="图片 4"/>
          <p:cNvPicPr/>
          <p:nvPr/>
        </p:nvPicPr>
        <p:blipFill>
          <a:blip r:embed="rId1"/>
          <a:stretch>
            <a:fillRect/>
          </a:stretch>
        </p:blipFill>
        <p:spPr>
          <a:xfrm>
            <a:off x="1181100" y="1844675"/>
            <a:ext cx="6746240" cy="43707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1</a:t>
            </a:r>
            <a:r>
              <a:rPr lang="zh-CN" altLang="en-US" sz="3600" kern="0" smtClean="0">
                <a:sym typeface="+mn-ea"/>
              </a:rPr>
              <a:t>）</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14" name="文本框 13"/>
          <p:cNvSpPr txBox="1"/>
          <p:nvPr/>
        </p:nvSpPr>
        <p:spPr>
          <a:xfrm>
            <a:off x="899795" y="1412875"/>
            <a:ext cx="6430010" cy="780415"/>
          </a:xfrm>
          <a:prstGeom prst="rect">
            <a:avLst/>
          </a:prstGeom>
          <a:noFill/>
        </p:spPr>
        <p:txBody>
          <a:bodyPr wrap="square" rtlCol="0">
            <a:noAutofit/>
          </a:bodyPr>
          <a:p>
            <a:r>
              <a:rPr lang="zh-CN" altLang="en-US"/>
              <a:t>运行流程：（第三层递归会标记第</a:t>
            </a:r>
            <a:r>
              <a:rPr lang="zh-CN" altLang="en-US"/>
              <a:t>三个元素已经</a:t>
            </a:r>
            <a:r>
              <a:rPr lang="zh-CN" altLang="en-US"/>
              <a:t>被访问）</a:t>
            </a:r>
            <a:endParaRPr lang="zh-CN" altLang="en-US"/>
          </a:p>
        </p:txBody>
      </p:sp>
      <p:pic>
        <p:nvPicPr>
          <p:cNvPr id="2" name="图片 1"/>
          <p:cNvPicPr/>
          <p:nvPr/>
        </p:nvPicPr>
        <p:blipFill>
          <a:blip r:embed="rId1"/>
          <a:stretch>
            <a:fillRect/>
          </a:stretch>
        </p:blipFill>
        <p:spPr>
          <a:xfrm>
            <a:off x="1331595" y="1844675"/>
            <a:ext cx="6250940" cy="4373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1</a:t>
            </a:r>
            <a:r>
              <a:rPr lang="zh-CN" altLang="en-US" sz="3600" kern="0" smtClean="0">
                <a:sym typeface="+mn-ea"/>
              </a:rPr>
              <a:t>）</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14" name="文本框 13"/>
          <p:cNvSpPr txBox="1"/>
          <p:nvPr/>
        </p:nvSpPr>
        <p:spPr>
          <a:xfrm>
            <a:off x="899795" y="1412875"/>
            <a:ext cx="6430010" cy="780415"/>
          </a:xfrm>
          <a:prstGeom prst="rect">
            <a:avLst/>
          </a:prstGeom>
          <a:noFill/>
        </p:spPr>
        <p:txBody>
          <a:bodyPr wrap="square" rtlCol="0">
            <a:noAutofit/>
          </a:bodyPr>
          <a:p>
            <a:r>
              <a:rPr lang="zh-CN" altLang="en-US"/>
              <a:t>运行流程：（第三层递归</a:t>
            </a:r>
            <a:r>
              <a:rPr lang="zh-CN" altLang="en-US"/>
              <a:t>回溯）</a:t>
            </a:r>
            <a:endParaRPr lang="zh-CN" altLang="en-US"/>
          </a:p>
        </p:txBody>
      </p:sp>
      <p:pic>
        <p:nvPicPr>
          <p:cNvPr id="3" name="图片 2"/>
          <p:cNvPicPr>
            <a:picLocks noChangeAspect="1"/>
          </p:cNvPicPr>
          <p:nvPr/>
        </p:nvPicPr>
        <p:blipFill>
          <a:blip r:embed="rId1"/>
          <a:stretch>
            <a:fillRect/>
          </a:stretch>
        </p:blipFill>
        <p:spPr>
          <a:xfrm>
            <a:off x="467995" y="1706880"/>
            <a:ext cx="5674360" cy="4746625"/>
          </a:xfrm>
          <a:prstGeom prst="rect">
            <a:avLst/>
          </a:prstGeom>
        </p:spPr>
      </p:pic>
      <p:sp>
        <p:nvSpPr>
          <p:cNvPr id="5" name="文本框 4"/>
          <p:cNvSpPr txBox="1"/>
          <p:nvPr/>
        </p:nvSpPr>
        <p:spPr>
          <a:xfrm>
            <a:off x="6228080" y="1917065"/>
            <a:ext cx="2915920" cy="1800860"/>
          </a:xfrm>
          <a:prstGeom prst="rect">
            <a:avLst/>
          </a:prstGeom>
          <a:noFill/>
        </p:spPr>
        <p:txBody>
          <a:bodyPr wrap="square" rtlCol="0">
            <a:noAutofit/>
          </a:bodyPr>
          <a:p>
            <a:pPr algn="just"/>
            <a:r>
              <a:rPr lang="zh-CN" altLang="en-US"/>
              <a:t>第三层递归回溯的时候</a:t>
            </a:r>
            <a:r>
              <a:rPr lang="zh-CN" altLang="en-US"/>
              <a:t>已经第三层递归也已经循环</a:t>
            </a:r>
            <a:r>
              <a:rPr lang="zh-CN" altLang="en-US"/>
              <a:t>结束。</a:t>
            </a:r>
            <a:endParaRPr lang="zh-CN" altLang="en-US"/>
          </a:p>
          <a:p>
            <a:pPr algn="just"/>
            <a:r>
              <a:rPr lang="zh-CN" altLang="en-US"/>
              <a:t>此时会直接返回到第二层递归回溯。</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1</a:t>
            </a:r>
            <a:r>
              <a:rPr lang="zh-CN" altLang="en-US" sz="3600" kern="0" smtClean="0">
                <a:sym typeface="+mn-ea"/>
              </a:rPr>
              <a:t>）</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14" name="文本框 13"/>
          <p:cNvSpPr txBox="1"/>
          <p:nvPr/>
        </p:nvSpPr>
        <p:spPr>
          <a:xfrm>
            <a:off x="899795" y="1412875"/>
            <a:ext cx="6430010" cy="780415"/>
          </a:xfrm>
          <a:prstGeom prst="rect">
            <a:avLst/>
          </a:prstGeom>
          <a:noFill/>
        </p:spPr>
        <p:txBody>
          <a:bodyPr wrap="square" rtlCol="0">
            <a:noAutofit/>
          </a:bodyPr>
          <a:p>
            <a:r>
              <a:rPr lang="zh-CN" altLang="en-US"/>
              <a:t>运行流程：（第</a:t>
            </a:r>
            <a:r>
              <a:rPr lang="zh-CN" altLang="en-US"/>
              <a:t>二层递归</a:t>
            </a:r>
            <a:r>
              <a:rPr lang="zh-CN" altLang="en-US"/>
              <a:t>回溯）</a:t>
            </a:r>
            <a:endParaRPr lang="zh-CN" altLang="en-US"/>
          </a:p>
        </p:txBody>
      </p:sp>
      <p:sp>
        <p:nvSpPr>
          <p:cNvPr id="5" name="文本框 4"/>
          <p:cNvSpPr txBox="1"/>
          <p:nvPr/>
        </p:nvSpPr>
        <p:spPr>
          <a:xfrm>
            <a:off x="6228080" y="1917065"/>
            <a:ext cx="2915920" cy="1800860"/>
          </a:xfrm>
          <a:prstGeom prst="rect">
            <a:avLst/>
          </a:prstGeom>
          <a:noFill/>
        </p:spPr>
        <p:txBody>
          <a:bodyPr wrap="square" rtlCol="0">
            <a:noAutofit/>
          </a:bodyPr>
          <a:p>
            <a:pPr algn="just"/>
            <a:r>
              <a:rPr lang="zh-CN" altLang="en-US"/>
              <a:t>第二层递归回溯的时候递归还没结束，因为第二次递归时候</a:t>
            </a:r>
            <a:r>
              <a:rPr lang="en-US" altLang="zh-CN"/>
              <a:t>i=1</a:t>
            </a:r>
            <a:r>
              <a:rPr lang="zh-CN" altLang="en-US"/>
              <a:t>，此时回溯到标记数组为</a:t>
            </a:r>
            <a:r>
              <a:rPr lang="en-US" altLang="zh-CN"/>
              <a:t>opt=[1,0,0]</a:t>
            </a:r>
            <a:r>
              <a:rPr lang="zh-CN" altLang="en-US"/>
              <a:t>，然后</a:t>
            </a:r>
            <a:r>
              <a:rPr lang="en-US" altLang="zh-CN"/>
              <a:t>i=2</a:t>
            </a:r>
            <a:r>
              <a:rPr lang="zh-CN" altLang="en-US"/>
              <a:t>的时候递归。递归出</a:t>
            </a:r>
            <a:r>
              <a:rPr lang="en-US" altLang="zh-CN"/>
              <a:t>[1,3,2]</a:t>
            </a:r>
            <a:r>
              <a:rPr lang="zh-CN" altLang="en-US"/>
              <a:t>的</a:t>
            </a:r>
            <a:r>
              <a:rPr lang="zh-CN" altLang="en-US"/>
              <a:t>结果。</a:t>
            </a:r>
            <a:endParaRPr lang="zh-CN" altLang="en-US"/>
          </a:p>
        </p:txBody>
      </p:sp>
      <p:pic>
        <p:nvPicPr>
          <p:cNvPr id="2" name="图片 1"/>
          <p:cNvPicPr/>
          <p:nvPr/>
        </p:nvPicPr>
        <p:blipFill>
          <a:blip r:embed="rId1"/>
          <a:stretch>
            <a:fillRect/>
          </a:stretch>
        </p:blipFill>
        <p:spPr>
          <a:xfrm>
            <a:off x="395605" y="1917065"/>
            <a:ext cx="5883275" cy="39744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t>（</a:t>
            </a:r>
            <a:r>
              <a:rPr lang="en-US" altLang="zh-CN" sz="3600" kern="0" smtClean="0"/>
              <a:t>1</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14" name="文本框 13"/>
          <p:cNvSpPr txBox="1"/>
          <p:nvPr/>
        </p:nvSpPr>
        <p:spPr>
          <a:xfrm>
            <a:off x="539750" y="1557020"/>
            <a:ext cx="4032250" cy="442595"/>
          </a:xfrm>
          <a:prstGeom prst="rect">
            <a:avLst/>
          </a:prstGeom>
          <a:noFill/>
        </p:spPr>
        <p:txBody>
          <a:bodyPr>
            <a:noAutofit/>
          </a:bodyPr>
          <a:p>
            <a:pPr>
              <a:defRPr/>
            </a:pPr>
            <a:r>
              <a:rPr lang="zh-CN" altLang="en-US" sz="1800">
                <a:solidFill>
                  <a:srgbClr val="000066"/>
                </a:solidFill>
                <a:latin typeface="+mj-ea"/>
                <a:ea typeface="+mj-ea"/>
              </a:rPr>
              <a:t>交换法回溯</a:t>
            </a:r>
            <a:r>
              <a:rPr lang="en-US" altLang="zh-CN" sz="1800">
                <a:solidFill>
                  <a:srgbClr val="000066"/>
                </a:solidFill>
                <a:latin typeface="+mj-ea"/>
                <a:ea typeface="+mj-ea"/>
              </a:rPr>
              <a:t> :</a:t>
            </a:r>
            <a:endParaRPr lang="zh-CN" altLang="en-US" sz="1800">
              <a:solidFill>
                <a:srgbClr val="000066"/>
              </a:solidFill>
              <a:latin typeface="+mj-ea"/>
              <a:ea typeface="+mj-ea"/>
            </a:endParaRPr>
          </a:p>
        </p:txBody>
      </p:sp>
      <p:sp>
        <p:nvSpPr>
          <p:cNvPr id="32773" name="右箭头 9"/>
          <p:cNvSpPr>
            <a:spLocks noChangeArrowheads="1"/>
          </p:cNvSpPr>
          <p:nvPr/>
        </p:nvSpPr>
        <p:spPr bwMode="auto">
          <a:xfrm>
            <a:off x="3348355" y="3842385"/>
            <a:ext cx="1529715" cy="497840"/>
          </a:xfrm>
          <a:prstGeom prst="rightArrow">
            <a:avLst>
              <a:gd name="adj1" fmla="val 50000"/>
              <a:gd name="adj2" fmla="val 50181"/>
            </a:avLst>
          </a:prstGeom>
          <a:solidFill>
            <a:schemeClr val="accent1"/>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9" name="文本框 8"/>
          <p:cNvSpPr txBox="1"/>
          <p:nvPr/>
        </p:nvSpPr>
        <p:spPr>
          <a:xfrm>
            <a:off x="3348355" y="3501390"/>
            <a:ext cx="1456690" cy="429895"/>
          </a:xfrm>
          <a:prstGeom prst="rect">
            <a:avLst/>
          </a:prstGeom>
          <a:noFill/>
        </p:spPr>
        <p:txBody>
          <a:bodyPr>
            <a:noAutofit/>
          </a:bodyPr>
          <a:p>
            <a:pPr>
              <a:defRPr/>
            </a:pPr>
            <a:r>
              <a:rPr lang="zh-CN" altLang="en-US" sz="1800">
                <a:solidFill>
                  <a:srgbClr val="000066"/>
                </a:solidFill>
                <a:latin typeface="+mj-ea"/>
                <a:ea typeface="+mj-ea"/>
              </a:rPr>
              <a:t>转成树结构</a:t>
            </a:r>
            <a:r>
              <a:rPr lang="en-US" altLang="zh-CN" sz="1800">
                <a:solidFill>
                  <a:srgbClr val="000066"/>
                </a:solidFill>
                <a:latin typeface="+mj-ea"/>
                <a:ea typeface="+mj-ea"/>
              </a:rPr>
              <a:t> </a:t>
            </a:r>
            <a:endParaRPr lang="en-US" altLang="zh-CN" sz="1800">
              <a:solidFill>
                <a:srgbClr val="000066"/>
              </a:solidFill>
              <a:latin typeface="+mj-ea"/>
              <a:ea typeface="+mj-ea"/>
            </a:endParaRPr>
          </a:p>
        </p:txBody>
      </p:sp>
      <p:grpSp>
        <p:nvGrpSpPr>
          <p:cNvPr id="72" name="组合 71"/>
          <p:cNvGrpSpPr/>
          <p:nvPr/>
        </p:nvGrpSpPr>
        <p:grpSpPr>
          <a:xfrm>
            <a:off x="5220335" y="1988820"/>
            <a:ext cx="3688080" cy="2864485"/>
            <a:chOff x="8221" y="3132"/>
            <a:chExt cx="5808" cy="4511"/>
          </a:xfrm>
        </p:grpSpPr>
        <p:grpSp>
          <p:nvGrpSpPr>
            <p:cNvPr id="13" name="组合 12"/>
            <p:cNvGrpSpPr/>
            <p:nvPr/>
          </p:nvGrpSpPr>
          <p:grpSpPr>
            <a:xfrm>
              <a:off x="10546" y="3132"/>
              <a:ext cx="1018" cy="916"/>
              <a:chOff x="10489" y="3359"/>
              <a:chExt cx="1018" cy="916"/>
            </a:xfrm>
          </p:grpSpPr>
          <p:sp>
            <p:nvSpPr>
              <p:cNvPr id="10" name="椭圆 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 name="文本框 11"/>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5" name="组合 14"/>
            <p:cNvGrpSpPr/>
            <p:nvPr/>
          </p:nvGrpSpPr>
          <p:grpSpPr>
            <a:xfrm>
              <a:off x="8675" y="4607"/>
              <a:ext cx="1018" cy="917"/>
              <a:chOff x="10489" y="3359"/>
              <a:chExt cx="1018" cy="917"/>
            </a:xfrm>
          </p:grpSpPr>
          <p:sp>
            <p:nvSpPr>
              <p:cNvPr id="16" name="椭圆 1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 name="文本框 16"/>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8" name="组合 17"/>
            <p:cNvGrpSpPr/>
            <p:nvPr/>
          </p:nvGrpSpPr>
          <p:grpSpPr>
            <a:xfrm>
              <a:off x="10546" y="4607"/>
              <a:ext cx="1018" cy="916"/>
              <a:chOff x="10489" y="3359"/>
              <a:chExt cx="1018" cy="916"/>
            </a:xfrm>
          </p:grpSpPr>
          <p:sp>
            <p:nvSpPr>
              <p:cNvPr id="19" name="椭圆 1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0" name="文本框 19"/>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21" name="组合 20"/>
            <p:cNvGrpSpPr/>
            <p:nvPr/>
          </p:nvGrpSpPr>
          <p:grpSpPr>
            <a:xfrm>
              <a:off x="12529" y="4607"/>
              <a:ext cx="1018" cy="916"/>
              <a:chOff x="10489" y="3359"/>
              <a:chExt cx="1018" cy="916"/>
            </a:xfrm>
          </p:grpSpPr>
          <p:sp>
            <p:nvSpPr>
              <p:cNvPr id="22" name="椭圆 2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3" name="文本框 22"/>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cxnSp>
          <p:nvCxnSpPr>
            <p:cNvPr id="24" name="曲线连接符 23"/>
            <p:cNvCxnSpPr>
              <a:stCxn id="10" idx="2"/>
              <a:endCxn id="16" idx="0"/>
            </p:cNvCxnSpPr>
            <p:nvPr/>
          </p:nvCxnSpPr>
          <p:spPr>
            <a:xfrm rot="10800000" flipV="1">
              <a:off x="9184" y="3591"/>
              <a:ext cx="1362" cy="1016"/>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5" name="曲线连接符 24"/>
            <p:cNvCxnSpPr>
              <a:stCxn id="12" idx="3"/>
              <a:endCxn id="22" idx="0"/>
            </p:cNvCxnSpPr>
            <p:nvPr/>
          </p:nvCxnSpPr>
          <p:spPr>
            <a:xfrm>
              <a:off x="11533" y="3635"/>
              <a:ext cx="1505" cy="972"/>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6" name="曲线连接符 25"/>
            <p:cNvCxnSpPr>
              <a:stCxn id="10" idx="4"/>
              <a:endCxn id="19" idx="0"/>
            </p:cNvCxnSpPr>
            <p:nvPr/>
          </p:nvCxnSpPr>
          <p:spPr>
            <a:xfrm rot="5400000" flipV="1">
              <a:off x="10776" y="4328"/>
              <a:ext cx="558" cy="5"/>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30" name="组合 29"/>
            <p:cNvGrpSpPr/>
            <p:nvPr/>
          </p:nvGrpSpPr>
          <p:grpSpPr>
            <a:xfrm>
              <a:off x="9355" y="6011"/>
              <a:ext cx="538" cy="539"/>
              <a:chOff x="10489" y="3359"/>
              <a:chExt cx="1018" cy="917"/>
            </a:xfrm>
          </p:grpSpPr>
          <p:sp>
            <p:nvSpPr>
              <p:cNvPr id="31" name="椭圆 3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2" name="文本框 3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33" name="组合 32"/>
            <p:cNvGrpSpPr/>
            <p:nvPr/>
          </p:nvGrpSpPr>
          <p:grpSpPr>
            <a:xfrm>
              <a:off x="8221" y="6011"/>
              <a:ext cx="538" cy="539"/>
              <a:chOff x="10489" y="3359"/>
              <a:chExt cx="1018" cy="917"/>
            </a:xfrm>
          </p:grpSpPr>
          <p:sp>
            <p:nvSpPr>
              <p:cNvPr id="34" name="椭圆 3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5" name="文本框 3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2" name="组合 1"/>
            <p:cNvGrpSpPr/>
            <p:nvPr/>
          </p:nvGrpSpPr>
          <p:grpSpPr>
            <a:xfrm>
              <a:off x="11440" y="6011"/>
              <a:ext cx="538" cy="539"/>
              <a:chOff x="10489" y="3359"/>
              <a:chExt cx="1018" cy="917"/>
            </a:xfrm>
          </p:grpSpPr>
          <p:sp>
            <p:nvSpPr>
              <p:cNvPr id="3" name="椭圆 2"/>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 name="文本框 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8" name="组合 7"/>
            <p:cNvGrpSpPr/>
            <p:nvPr/>
          </p:nvGrpSpPr>
          <p:grpSpPr>
            <a:xfrm>
              <a:off x="10306" y="6011"/>
              <a:ext cx="538" cy="539"/>
              <a:chOff x="10489" y="3359"/>
              <a:chExt cx="1018" cy="917"/>
            </a:xfrm>
          </p:grpSpPr>
          <p:sp>
            <p:nvSpPr>
              <p:cNvPr id="27" name="椭圆 2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8" name="文本框 27"/>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9" name="组合 28"/>
            <p:cNvGrpSpPr/>
            <p:nvPr/>
          </p:nvGrpSpPr>
          <p:grpSpPr>
            <a:xfrm>
              <a:off x="13468" y="6011"/>
              <a:ext cx="538" cy="539"/>
              <a:chOff x="10489" y="3359"/>
              <a:chExt cx="1018" cy="917"/>
            </a:xfrm>
          </p:grpSpPr>
          <p:sp>
            <p:nvSpPr>
              <p:cNvPr id="36" name="椭圆 3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7" name="文本框 3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38" name="组合 37"/>
            <p:cNvGrpSpPr/>
            <p:nvPr/>
          </p:nvGrpSpPr>
          <p:grpSpPr>
            <a:xfrm>
              <a:off x="12334" y="6011"/>
              <a:ext cx="538" cy="539"/>
              <a:chOff x="10489" y="3359"/>
              <a:chExt cx="1018" cy="917"/>
            </a:xfrm>
          </p:grpSpPr>
          <p:sp>
            <p:nvSpPr>
              <p:cNvPr id="39" name="椭圆 3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0" name="文本框 3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42" name="曲线连接符 41"/>
            <p:cNvCxnSpPr>
              <a:stCxn id="16" idx="4"/>
              <a:endCxn id="35" idx="0"/>
            </p:cNvCxnSpPr>
            <p:nvPr/>
          </p:nvCxnSpPr>
          <p:spPr>
            <a:xfrm rot="5400000">
              <a:off x="8569" y="5467"/>
              <a:ext cx="558" cy="67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3" name="曲线连接符 42"/>
            <p:cNvCxnSpPr>
              <a:stCxn id="16" idx="4"/>
              <a:endCxn id="32" idx="0"/>
            </p:cNvCxnSpPr>
            <p:nvPr/>
          </p:nvCxnSpPr>
          <p:spPr>
            <a:xfrm rot="5400000" flipV="1">
              <a:off x="9136" y="5572"/>
              <a:ext cx="558" cy="46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4" name="曲线连接符 43"/>
            <p:cNvCxnSpPr>
              <a:stCxn id="22" idx="4"/>
              <a:endCxn id="40" idx="0"/>
            </p:cNvCxnSpPr>
            <p:nvPr/>
          </p:nvCxnSpPr>
          <p:spPr>
            <a:xfrm rot="5400000">
              <a:off x="12552" y="5596"/>
              <a:ext cx="558" cy="413"/>
            </a:xfrm>
            <a:prstGeom prst="curvedConnector3">
              <a:avLst>
                <a:gd name="adj1" fmla="val 49910"/>
              </a:avLst>
            </a:prstGeom>
            <a:solidFill>
              <a:schemeClr val="accent1"/>
            </a:solidFill>
            <a:ln w="9525" cap="flat" cmpd="sng" algn="ctr">
              <a:solidFill>
                <a:schemeClr val="tx1"/>
              </a:solidFill>
              <a:prstDash val="solid"/>
              <a:round/>
              <a:headEnd type="none" w="med" len="med"/>
              <a:tailEnd type="arrow" w="med" len="med"/>
            </a:ln>
          </p:spPr>
        </p:cxnSp>
        <p:cxnSp>
          <p:nvCxnSpPr>
            <p:cNvPr id="45" name="曲线连接符 44"/>
            <p:cNvCxnSpPr>
              <a:stCxn id="19" idx="4"/>
              <a:endCxn id="3" idx="0"/>
            </p:cNvCxnSpPr>
            <p:nvPr/>
          </p:nvCxnSpPr>
          <p:spPr>
            <a:xfrm rot="5400000" flipV="1">
              <a:off x="11139" y="5440"/>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6" name="曲线连接符 45"/>
            <p:cNvCxnSpPr>
              <a:stCxn id="19" idx="4"/>
              <a:endCxn id="28" idx="0"/>
            </p:cNvCxnSpPr>
            <p:nvPr/>
          </p:nvCxnSpPr>
          <p:spPr>
            <a:xfrm rot="5400000">
              <a:off x="10547" y="5574"/>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7" name="曲线连接符 46"/>
            <p:cNvCxnSpPr>
              <a:stCxn id="22" idx="4"/>
              <a:endCxn id="36" idx="0"/>
            </p:cNvCxnSpPr>
            <p:nvPr/>
          </p:nvCxnSpPr>
          <p:spPr>
            <a:xfrm rot="5400000" flipV="1">
              <a:off x="13144" y="5417"/>
              <a:ext cx="487" cy="699"/>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grpSp>
          <p:nvGrpSpPr>
            <p:cNvPr id="48" name="组合 47"/>
            <p:cNvGrpSpPr/>
            <p:nvPr/>
          </p:nvGrpSpPr>
          <p:grpSpPr>
            <a:xfrm>
              <a:off x="8221" y="7105"/>
              <a:ext cx="538" cy="539"/>
              <a:chOff x="10489" y="3359"/>
              <a:chExt cx="1018" cy="917"/>
            </a:xfrm>
          </p:grpSpPr>
          <p:sp>
            <p:nvSpPr>
              <p:cNvPr id="49" name="椭圆 4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0" name="文本框 4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51" name="组合 50"/>
            <p:cNvGrpSpPr/>
            <p:nvPr/>
          </p:nvGrpSpPr>
          <p:grpSpPr>
            <a:xfrm>
              <a:off x="9355" y="7105"/>
              <a:ext cx="538" cy="539"/>
              <a:chOff x="10489" y="3359"/>
              <a:chExt cx="1018" cy="917"/>
            </a:xfrm>
          </p:grpSpPr>
          <p:sp>
            <p:nvSpPr>
              <p:cNvPr id="52" name="椭圆 5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3" name="文本框 52"/>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4" name="组合 53"/>
            <p:cNvGrpSpPr/>
            <p:nvPr/>
          </p:nvGrpSpPr>
          <p:grpSpPr>
            <a:xfrm>
              <a:off x="10306" y="7105"/>
              <a:ext cx="538" cy="539"/>
              <a:chOff x="10489" y="3359"/>
              <a:chExt cx="1018" cy="917"/>
            </a:xfrm>
          </p:grpSpPr>
          <p:sp>
            <p:nvSpPr>
              <p:cNvPr id="55" name="椭圆 5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6" name="文本框 5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57" name="组合 56"/>
            <p:cNvGrpSpPr/>
            <p:nvPr/>
          </p:nvGrpSpPr>
          <p:grpSpPr>
            <a:xfrm>
              <a:off x="11456" y="7104"/>
              <a:ext cx="538" cy="539"/>
              <a:chOff x="10489" y="3359"/>
              <a:chExt cx="1018" cy="917"/>
            </a:xfrm>
          </p:grpSpPr>
          <p:sp>
            <p:nvSpPr>
              <p:cNvPr id="58" name="椭圆 5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9" name="文本框 5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60" name="组合 59"/>
            <p:cNvGrpSpPr/>
            <p:nvPr/>
          </p:nvGrpSpPr>
          <p:grpSpPr>
            <a:xfrm>
              <a:off x="12373" y="7103"/>
              <a:ext cx="538" cy="539"/>
              <a:chOff x="10489" y="3359"/>
              <a:chExt cx="1018" cy="917"/>
            </a:xfrm>
          </p:grpSpPr>
          <p:sp>
            <p:nvSpPr>
              <p:cNvPr id="61" name="椭圆 6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2" name="文本框 6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63" name="组合 62"/>
            <p:cNvGrpSpPr/>
            <p:nvPr/>
          </p:nvGrpSpPr>
          <p:grpSpPr>
            <a:xfrm>
              <a:off x="13491" y="7105"/>
              <a:ext cx="538" cy="539"/>
              <a:chOff x="10489" y="3359"/>
              <a:chExt cx="1018" cy="917"/>
            </a:xfrm>
          </p:grpSpPr>
          <p:sp>
            <p:nvSpPr>
              <p:cNvPr id="64" name="椭圆 6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5" name="文本框 6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66" name="曲线连接符 65"/>
            <p:cNvCxnSpPr>
              <a:stCxn id="34" idx="4"/>
            </p:cNvCxnSpPr>
            <p:nvPr/>
          </p:nvCxnSpPr>
          <p:spPr>
            <a:xfrm rot="5400000" flipV="1">
              <a:off x="8226"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7" name="曲线连接符 66"/>
            <p:cNvCxnSpPr/>
            <p:nvPr/>
          </p:nvCxnSpPr>
          <p:spPr>
            <a:xfrm rot="5400000" flipV="1">
              <a:off x="9362" y="6798"/>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8" name="曲线连接符 67"/>
            <p:cNvCxnSpPr/>
            <p:nvPr/>
          </p:nvCxnSpPr>
          <p:spPr>
            <a:xfrm rot="5400000" flipV="1">
              <a:off x="10282"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9" name="曲线连接符 68"/>
            <p:cNvCxnSpPr/>
            <p:nvPr/>
          </p:nvCxnSpPr>
          <p:spPr>
            <a:xfrm rot="5400000" flipV="1">
              <a:off x="11426"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0" name="曲线连接符 69"/>
            <p:cNvCxnSpPr/>
            <p:nvPr/>
          </p:nvCxnSpPr>
          <p:spPr>
            <a:xfrm rot="5400000" flipV="1">
              <a:off x="12379"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1" name="曲线连接符 70"/>
            <p:cNvCxnSpPr/>
            <p:nvPr/>
          </p:nvCxnSpPr>
          <p:spPr>
            <a:xfrm rot="5400000" flipV="1">
              <a:off x="13513"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sp>
        <p:nvSpPr>
          <p:cNvPr id="41" name="文本框 40"/>
          <p:cNvSpPr txBox="1"/>
          <p:nvPr/>
        </p:nvSpPr>
        <p:spPr>
          <a:xfrm>
            <a:off x="577215" y="2483485"/>
            <a:ext cx="2050415" cy="1476375"/>
          </a:xfrm>
          <a:prstGeom prst="rect">
            <a:avLst/>
          </a:prstGeom>
          <a:solidFill>
            <a:srgbClr val="92D050"/>
          </a:solidFill>
        </p:spPr>
        <p:txBody>
          <a:bodyPr wrap="square" rtlCol="0">
            <a:spAutoFit/>
          </a:bodyPr>
          <a:p>
            <a:pPr algn="l">
              <a:defRPr/>
            </a:pPr>
            <a:r>
              <a:rPr lang="en-US" altLang="zh-CN">
                <a:solidFill>
                  <a:srgbClr val="000066"/>
                </a:solidFill>
                <a:latin typeface="Times New Roman" panose="02020603050405020304" pitchFamily="18" charset="0"/>
                <a:ea typeface="+mj-ea"/>
                <a:cs typeface="Times New Roman" panose="02020603050405020304" pitchFamily="18" charset="0"/>
                <a:sym typeface="+mn-ea"/>
              </a:rPr>
              <a:t>[</a:t>
            </a:r>
            <a:endParaRPr lang="en-US" altLang="zh-CN">
              <a:solidFill>
                <a:srgbClr val="000066"/>
              </a:solidFill>
              <a:latin typeface="Times New Roman" panose="02020603050405020304" pitchFamily="18" charset="0"/>
              <a:ea typeface="+mj-ea"/>
              <a:cs typeface="Times New Roman" panose="02020603050405020304" pitchFamily="18" charset="0"/>
            </a:endParaRPr>
          </a:p>
          <a:p>
            <a:pPr algn="l">
              <a:defRPr/>
            </a:pPr>
            <a:r>
              <a:rPr lang="en-US" altLang="zh-CN">
                <a:solidFill>
                  <a:srgbClr val="000066"/>
                </a:solidFill>
                <a:latin typeface="Times New Roman" panose="02020603050405020304" pitchFamily="18" charset="0"/>
                <a:ea typeface="+mj-ea"/>
                <a:cs typeface="Times New Roman" panose="02020603050405020304" pitchFamily="18" charset="0"/>
                <a:sym typeface="+mn-ea"/>
              </a:rPr>
              <a:t>[1,2,3],[1,3,2]</a:t>
            </a:r>
            <a:endParaRPr lang="en-US" altLang="zh-CN">
              <a:solidFill>
                <a:srgbClr val="000066"/>
              </a:solidFill>
              <a:latin typeface="Times New Roman" panose="02020603050405020304" pitchFamily="18" charset="0"/>
              <a:ea typeface="+mj-ea"/>
              <a:cs typeface="Times New Roman" panose="02020603050405020304" pitchFamily="18" charset="0"/>
            </a:endParaRPr>
          </a:p>
          <a:p>
            <a:pPr algn="l">
              <a:defRPr/>
            </a:pPr>
            <a:r>
              <a:rPr lang="en-US" altLang="zh-CN">
                <a:solidFill>
                  <a:srgbClr val="000066"/>
                </a:solidFill>
                <a:latin typeface="Times New Roman" panose="02020603050405020304" pitchFamily="18" charset="0"/>
                <a:ea typeface="+mj-ea"/>
                <a:cs typeface="Times New Roman" panose="02020603050405020304" pitchFamily="18" charset="0"/>
                <a:sym typeface="+mn-ea"/>
              </a:rPr>
              <a:t>[2,1,3],[2,3,1]</a:t>
            </a:r>
            <a:endParaRPr lang="en-US" altLang="zh-CN">
              <a:solidFill>
                <a:srgbClr val="000066"/>
              </a:solidFill>
              <a:latin typeface="Times New Roman" panose="02020603050405020304" pitchFamily="18" charset="0"/>
              <a:ea typeface="+mj-ea"/>
              <a:cs typeface="Times New Roman" panose="02020603050405020304" pitchFamily="18" charset="0"/>
            </a:endParaRPr>
          </a:p>
          <a:p>
            <a:pPr algn="l">
              <a:defRPr/>
            </a:pPr>
            <a:r>
              <a:rPr lang="en-US" altLang="zh-CN">
                <a:solidFill>
                  <a:srgbClr val="000066"/>
                </a:solidFill>
                <a:latin typeface="Times New Roman" panose="02020603050405020304" pitchFamily="18" charset="0"/>
                <a:ea typeface="+mj-ea"/>
                <a:cs typeface="Times New Roman" panose="02020603050405020304" pitchFamily="18" charset="0"/>
                <a:sym typeface="+mn-ea"/>
              </a:rPr>
              <a:t>[3,1,2],[3,2,1]</a:t>
            </a:r>
            <a:endParaRPr lang="en-US" altLang="zh-CN">
              <a:solidFill>
                <a:srgbClr val="000066"/>
              </a:solidFill>
              <a:latin typeface="Times New Roman" panose="02020603050405020304" pitchFamily="18" charset="0"/>
              <a:ea typeface="+mj-ea"/>
              <a:cs typeface="Times New Roman" panose="02020603050405020304" pitchFamily="18" charset="0"/>
              <a:sym typeface="+mn-ea"/>
            </a:endParaRPr>
          </a:p>
          <a:p>
            <a:pPr algn="l">
              <a:defRPr/>
            </a:pPr>
            <a:r>
              <a:rPr lang="en-US" altLang="zh-CN">
                <a:solidFill>
                  <a:srgbClr val="000066"/>
                </a:solidFill>
                <a:latin typeface="Times New Roman" panose="02020603050405020304" pitchFamily="18" charset="0"/>
                <a:ea typeface="+mj-ea"/>
                <a:cs typeface="Times New Roman" panose="02020603050405020304" pitchFamily="18" charset="0"/>
                <a:sym typeface="+mn-ea"/>
              </a:rPr>
              <a:t>]</a:t>
            </a:r>
            <a:endParaRPr lang="zh-CN" altLang="en-US">
              <a:latin typeface="Times New Roman" panose="02020603050405020304" pitchFamily="18" charset="0"/>
              <a:cs typeface="Times New Roman" panose="02020603050405020304" pitchFamily="18" charset="0"/>
            </a:endParaRPr>
          </a:p>
        </p:txBody>
      </p:sp>
      <p:sp>
        <p:nvSpPr>
          <p:cNvPr id="73" name="文本框 72"/>
          <p:cNvSpPr txBox="1"/>
          <p:nvPr/>
        </p:nvSpPr>
        <p:spPr>
          <a:xfrm>
            <a:off x="577215" y="2089785"/>
            <a:ext cx="2864485" cy="568960"/>
          </a:xfrm>
          <a:prstGeom prst="rect">
            <a:avLst/>
          </a:prstGeom>
          <a:noFill/>
        </p:spPr>
        <p:txBody>
          <a:bodyPr wrap="square" rtlCol="0">
            <a:noAutofit/>
          </a:bodyPr>
          <a:p>
            <a:r>
              <a:rPr lang="zh-CN" altLang="en-US">
                <a:latin typeface="Times New Roman" panose="02020603050405020304" pitchFamily="18" charset="0"/>
                <a:cs typeface="Times New Roman" panose="02020603050405020304" pitchFamily="18" charset="0"/>
              </a:rPr>
              <a:t>例如：</a:t>
            </a:r>
            <a:r>
              <a:rPr lang="en-US" altLang="zh-CN">
                <a:latin typeface="Times New Roman" panose="02020603050405020304" pitchFamily="18" charset="0"/>
                <a:cs typeface="Times New Roman" panose="02020603050405020304" pitchFamily="18" charset="0"/>
              </a:rPr>
              <a:t>nums=[1,2,3]</a:t>
            </a:r>
            <a:endParaRPr lang="en-US" altLang="zh-CN">
              <a:latin typeface="Times New Roman" panose="02020603050405020304" pitchFamily="18" charset="0"/>
              <a:cs typeface="Times New Roman" panose="02020603050405020304" pitchFamily="18" charset="0"/>
            </a:endParaRPr>
          </a:p>
        </p:txBody>
      </p:sp>
      <p:sp>
        <p:nvSpPr>
          <p:cNvPr id="74" name="文本框 73"/>
          <p:cNvSpPr txBox="1"/>
          <p:nvPr/>
        </p:nvSpPr>
        <p:spPr>
          <a:xfrm>
            <a:off x="539115" y="5012690"/>
            <a:ext cx="7850505" cy="1733550"/>
          </a:xfrm>
          <a:prstGeom prst="rect">
            <a:avLst/>
          </a:prstGeom>
          <a:solidFill>
            <a:srgbClr val="92D050"/>
          </a:solidFill>
        </p:spPr>
        <p:txBody>
          <a:bodyPr wrap="square" rtlCol="0">
            <a:noAutofit/>
          </a:bodyPr>
          <a:p>
            <a:pPr algn="l">
              <a:defRPr/>
            </a:pPr>
            <a:r>
              <a:rPr lang="en-US" altLang="zh-CN">
                <a:solidFill>
                  <a:srgbClr val="000066"/>
                </a:solidFill>
                <a:latin typeface="Times New Roman" panose="02020603050405020304" pitchFamily="18" charset="0"/>
                <a:ea typeface="+mj-ea"/>
                <a:cs typeface="Times New Roman" panose="02020603050405020304" pitchFamily="18" charset="0"/>
                <a:sym typeface="+mn-ea"/>
              </a:rPr>
              <a:t>[</a:t>
            </a:r>
            <a:endParaRPr lang="en-US" altLang="zh-CN">
              <a:solidFill>
                <a:srgbClr val="000066"/>
              </a:solidFill>
              <a:latin typeface="Times New Roman" panose="02020603050405020304" pitchFamily="18" charset="0"/>
              <a:ea typeface="+mj-ea"/>
              <a:cs typeface="Times New Roman" panose="02020603050405020304" pitchFamily="18" charset="0"/>
            </a:endParaRPr>
          </a:p>
          <a:p>
            <a:pPr algn="l">
              <a:defRPr/>
            </a:pPr>
            <a:r>
              <a:rPr lang="en-US" altLang="zh-CN">
                <a:solidFill>
                  <a:srgbClr val="000066"/>
                </a:solidFill>
                <a:latin typeface="Times New Roman" panose="02020603050405020304" pitchFamily="18" charset="0"/>
                <a:ea typeface="+mj-ea"/>
                <a:cs typeface="Times New Roman" panose="02020603050405020304" pitchFamily="18" charset="0"/>
                <a:sym typeface="+mn-ea"/>
              </a:rPr>
              <a:t>[1, 2, 3, 4],[1, 2, 4, 3],[1, 3, 2, 4],[1, 3, 4, 2],[1, 4, 3, 2],[1, 4, 2, 3]</a:t>
            </a:r>
            <a:endParaRPr lang="en-US" altLang="zh-CN">
              <a:solidFill>
                <a:srgbClr val="000066"/>
              </a:solidFill>
              <a:latin typeface="Times New Roman" panose="02020603050405020304" pitchFamily="18" charset="0"/>
              <a:ea typeface="+mj-ea"/>
              <a:cs typeface="Times New Roman" panose="02020603050405020304" pitchFamily="18" charset="0"/>
              <a:sym typeface="+mn-ea"/>
            </a:endParaRPr>
          </a:p>
          <a:p>
            <a:pPr algn="l">
              <a:defRPr/>
            </a:pPr>
            <a:r>
              <a:rPr lang="en-US" altLang="zh-CN">
                <a:solidFill>
                  <a:srgbClr val="000066"/>
                </a:solidFill>
                <a:latin typeface="Times New Roman" panose="02020603050405020304" pitchFamily="18" charset="0"/>
                <a:ea typeface="+mj-ea"/>
                <a:cs typeface="Times New Roman" panose="02020603050405020304" pitchFamily="18" charset="0"/>
                <a:sym typeface="+mn-ea"/>
              </a:rPr>
              <a:t>[2, 1, 3, 4],[2, 1, 4, 3],[2, 3, 1, 4],[2, 3, 4, 1],[2, 4, 3, 1],[2, 4, 1, 3]</a:t>
            </a:r>
            <a:endParaRPr lang="en-US" altLang="zh-CN">
              <a:solidFill>
                <a:srgbClr val="000066"/>
              </a:solidFill>
              <a:latin typeface="Times New Roman" panose="02020603050405020304" pitchFamily="18" charset="0"/>
              <a:ea typeface="+mj-ea"/>
              <a:cs typeface="Times New Roman" panose="02020603050405020304" pitchFamily="18" charset="0"/>
              <a:sym typeface="+mn-ea"/>
            </a:endParaRPr>
          </a:p>
          <a:p>
            <a:pPr algn="l">
              <a:defRPr/>
            </a:pPr>
            <a:r>
              <a:rPr lang="en-US" altLang="zh-CN">
                <a:solidFill>
                  <a:srgbClr val="000066"/>
                </a:solidFill>
                <a:latin typeface="Times New Roman" panose="02020603050405020304" pitchFamily="18" charset="0"/>
                <a:ea typeface="+mj-ea"/>
                <a:cs typeface="Times New Roman" panose="02020603050405020304" pitchFamily="18" charset="0"/>
                <a:sym typeface="+mn-ea"/>
              </a:rPr>
              <a:t>...</a:t>
            </a:r>
            <a:endParaRPr lang="en-US" altLang="zh-CN">
              <a:solidFill>
                <a:srgbClr val="000066"/>
              </a:solidFill>
              <a:latin typeface="Times New Roman" panose="02020603050405020304" pitchFamily="18" charset="0"/>
              <a:ea typeface="+mj-ea"/>
              <a:cs typeface="Times New Roman" panose="02020603050405020304" pitchFamily="18" charset="0"/>
              <a:sym typeface="+mn-ea"/>
            </a:endParaRPr>
          </a:p>
          <a:p>
            <a:pPr algn="l">
              <a:defRPr/>
            </a:pPr>
            <a:r>
              <a:rPr lang="en-US" altLang="zh-CN">
                <a:solidFill>
                  <a:srgbClr val="FF0000"/>
                </a:solidFill>
                <a:latin typeface="Times New Roman" panose="02020603050405020304" pitchFamily="18" charset="0"/>
                <a:ea typeface="+mj-ea"/>
                <a:cs typeface="Times New Roman" panose="02020603050405020304" pitchFamily="18" charset="0"/>
                <a:sym typeface="+mn-ea"/>
              </a:rPr>
              <a:t>[4, 1, 2, 3],[4, 1, 3, 2],[4, 2, 1, 3],[4, 2, 3, 1],[4, 3, 1, 2],[4, 3, 2, 1]</a:t>
            </a:r>
            <a:endParaRPr lang="en-US" altLang="zh-CN">
              <a:solidFill>
                <a:srgbClr val="000066"/>
              </a:solidFill>
              <a:latin typeface="Times New Roman" panose="02020603050405020304" pitchFamily="18" charset="0"/>
              <a:ea typeface="+mj-ea"/>
              <a:cs typeface="Times New Roman" panose="02020603050405020304" pitchFamily="18" charset="0"/>
              <a:sym typeface="+mn-ea"/>
            </a:endParaRPr>
          </a:p>
          <a:p>
            <a:pPr algn="l">
              <a:defRPr/>
            </a:pPr>
            <a:r>
              <a:rPr lang="en-US" altLang="zh-CN">
                <a:solidFill>
                  <a:srgbClr val="000066"/>
                </a:solidFill>
                <a:latin typeface="Times New Roman" panose="02020603050405020304" pitchFamily="18" charset="0"/>
                <a:ea typeface="+mj-ea"/>
                <a:cs typeface="Times New Roman" panose="02020603050405020304" pitchFamily="18" charset="0"/>
                <a:sym typeface="+mn-ea"/>
              </a:rPr>
              <a:t>]</a:t>
            </a:r>
            <a:endParaRPr lang="zh-CN" altLang="en-US">
              <a:latin typeface="Times New Roman" panose="02020603050405020304" pitchFamily="18" charset="0"/>
              <a:cs typeface="Times New Roman" panose="02020603050405020304" pitchFamily="18" charset="0"/>
            </a:endParaRPr>
          </a:p>
        </p:txBody>
      </p:sp>
      <p:sp>
        <p:nvSpPr>
          <p:cNvPr id="75" name="文本框 74"/>
          <p:cNvSpPr txBox="1"/>
          <p:nvPr/>
        </p:nvSpPr>
        <p:spPr>
          <a:xfrm>
            <a:off x="539750" y="4193540"/>
            <a:ext cx="2864485" cy="568960"/>
          </a:xfrm>
          <a:prstGeom prst="rect">
            <a:avLst/>
          </a:prstGeom>
          <a:noFill/>
        </p:spPr>
        <p:txBody>
          <a:bodyPr wrap="square" rtlCol="0">
            <a:noAutofit/>
          </a:bodyPr>
          <a:p>
            <a:r>
              <a:rPr lang="zh-CN" altLang="en-US">
                <a:latin typeface="Times New Roman" panose="02020603050405020304" pitchFamily="18" charset="0"/>
                <a:cs typeface="Times New Roman" panose="02020603050405020304" pitchFamily="18" charset="0"/>
              </a:rPr>
              <a:t>例如：</a:t>
            </a:r>
            <a:r>
              <a:rPr lang="en-US" altLang="zh-CN">
                <a:latin typeface="Times New Roman" panose="02020603050405020304" pitchFamily="18" charset="0"/>
                <a:cs typeface="Times New Roman" panose="02020603050405020304" pitchFamily="18" charset="0"/>
              </a:rPr>
              <a:t>nums=[1,2,3,4]</a:t>
            </a:r>
            <a:endParaRPr lang="en-US" altLang="zh-CN">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t>（</a:t>
            </a:r>
            <a:r>
              <a:rPr lang="en-US" altLang="zh-CN" sz="3600" kern="0" smtClean="0"/>
              <a:t>1</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14" name="文本框 13"/>
          <p:cNvSpPr txBox="1"/>
          <p:nvPr/>
        </p:nvSpPr>
        <p:spPr>
          <a:xfrm>
            <a:off x="539750" y="1402080"/>
            <a:ext cx="4032250" cy="442595"/>
          </a:xfrm>
          <a:prstGeom prst="rect">
            <a:avLst/>
          </a:prstGeom>
          <a:noFill/>
        </p:spPr>
        <p:txBody>
          <a:bodyPr>
            <a:noAutofit/>
          </a:bodyPr>
          <a:p>
            <a:pPr>
              <a:defRPr/>
            </a:pPr>
            <a:r>
              <a:rPr lang="zh-CN" altLang="en-US" sz="1800">
                <a:solidFill>
                  <a:srgbClr val="000066"/>
                </a:solidFill>
                <a:latin typeface="+mj-ea"/>
                <a:ea typeface="+mj-ea"/>
              </a:rPr>
              <a:t>交换法回溯</a:t>
            </a:r>
            <a:r>
              <a:rPr lang="en-US" altLang="zh-CN" sz="1800">
                <a:solidFill>
                  <a:srgbClr val="000066"/>
                </a:solidFill>
                <a:latin typeface="+mj-ea"/>
                <a:ea typeface="+mj-ea"/>
              </a:rPr>
              <a:t> :</a:t>
            </a:r>
            <a:endParaRPr lang="zh-CN" altLang="en-US" sz="1800">
              <a:solidFill>
                <a:srgbClr val="000066"/>
              </a:solidFill>
              <a:latin typeface="+mj-ea"/>
              <a:ea typeface="+mj-ea"/>
            </a:endParaRPr>
          </a:p>
        </p:txBody>
      </p:sp>
      <p:grpSp>
        <p:nvGrpSpPr>
          <p:cNvPr id="13" name="组合 12"/>
          <p:cNvGrpSpPr/>
          <p:nvPr/>
        </p:nvGrpSpPr>
        <p:grpSpPr>
          <a:xfrm rot="0">
            <a:off x="3815715" y="1438275"/>
            <a:ext cx="646430" cy="581660"/>
            <a:chOff x="10489" y="3359"/>
            <a:chExt cx="1018" cy="916"/>
          </a:xfrm>
        </p:grpSpPr>
        <p:sp>
          <p:nvSpPr>
            <p:cNvPr id="10" name="椭圆 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 name="文本框 11"/>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5" name="组合 14"/>
          <p:cNvGrpSpPr/>
          <p:nvPr/>
        </p:nvGrpSpPr>
        <p:grpSpPr>
          <a:xfrm rot="0">
            <a:off x="2124710" y="2302510"/>
            <a:ext cx="646430" cy="582295"/>
            <a:chOff x="10489" y="3359"/>
            <a:chExt cx="1018" cy="917"/>
          </a:xfrm>
        </p:grpSpPr>
        <p:sp>
          <p:nvSpPr>
            <p:cNvPr id="16" name="椭圆 1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 name="文本框 16"/>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8" name="组合 17"/>
          <p:cNvGrpSpPr/>
          <p:nvPr/>
        </p:nvGrpSpPr>
        <p:grpSpPr>
          <a:xfrm rot="0">
            <a:off x="3312795" y="2302510"/>
            <a:ext cx="646430" cy="581660"/>
            <a:chOff x="10489" y="3359"/>
            <a:chExt cx="1018" cy="916"/>
          </a:xfrm>
        </p:grpSpPr>
        <p:sp>
          <p:nvSpPr>
            <p:cNvPr id="19" name="椭圆 1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0" name="文本框 19"/>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21" name="组合 20"/>
          <p:cNvGrpSpPr/>
          <p:nvPr/>
        </p:nvGrpSpPr>
        <p:grpSpPr>
          <a:xfrm rot="0">
            <a:off x="4572000" y="2302510"/>
            <a:ext cx="646430" cy="581660"/>
            <a:chOff x="10489" y="3359"/>
            <a:chExt cx="1018" cy="916"/>
          </a:xfrm>
        </p:grpSpPr>
        <p:sp>
          <p:nvSpPr>
            <p:cNvPr id="22" name="椭圆 2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3" name="文本框 22"/>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cxnSp>
        <p:nvCxnSpPr>
          <p:cNvPr id="24" name="曲线连接符 23"/>
          <p:cNvCxnSpPr/>
          <p:nvPr/>
        </p:nvCxnSpPr>
        <p:spPr>
          <a:xfrm rot="10800000" flipV="1">
            <a:off x="2447925" y="1729740"/>
            <a:ext cx="1367790" cy="572770"/>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5" name="曲线连接符 24"/>
          <p:cNvCxnSpPr/>
          <p:nvPr/>
        </p:nvCxnSpPr>
        <p:spPr>
          <a:xfrm rot="5400000" flipV="1">
            <a:off x="4376103" y="1783398"/>
            <a:ext cx="281940" cy="756285"/>
          </a:xfrm>
          <a:prstGeom prst="curvedConnector3">
            <a:avLst>
              <a:gd name="adj1" fmla="val 49887"/>
            </a:avLst>
          </a:prstGeom>
          <a:solidFill>
            <a:schemeClr val="accent1"/>
          </a:solidFill>
          <a:ln w="9525" cap="flat" cmpd="sng" algn="ctr">
            <a:solidFill>
              <a:schemeClr val="tx1"/>
            </a:solidFill>
            <a:prstDash val="solid"/>
            <a:round/>
            <a:headEnd type="none" w="med" len="med"/>
            <a:tailEnd type="arrow" w="med" len="med"/>
          </a:ln>
        </p:spPr>
      </p:cxnSp>
      <p:cxnSp>
        <p:nvCxnSpPr>
          <p:cNvPr id="26" name="曲线连接符 25"/>
          <p:cNvCxnSpPr/>
          <p:nvPr/>
        </p:nvCxnSpPr>
        <p:spPr>
          <a:xfrm rot="5400000">
            <a:off x="3746500" y="1910080"/>
            <a:ext cx="281940" cy="5029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sp>
        <p:nvSpPr>
          <p:cNvPr id="74" name="文本框 73"/>
          <p:cNvSpPr txBox="1"/>
          <p:nvPr/>
        </p:nvSpPr>
        <p:spPr>
          <a:xfrm>
            <a:off x="539115" y="5124450"/>
            <a:ext cx="7850505" cy="1733550"/>
          </a:xfrm>
          <a:prstGeom prst="rect">
            <a:avLst/>
          </a:prstGeom>
          <a:solidFill>
            <a:srgbClr val="92D050"/>
          </a:solidFill>
        </p:spPr>
        <p:txBody>
          <a:bodyPr wrap="square" rtlCol="0">
            <a:noAutofit/>
          </a:bodyPr>
          <a:p>
            <a:pPr algn="l">
              <a:defRPr/>
            </a:pPr>
            <a:r>
              <a:rPr lang="en-US" altLang="zh-CN" sz="1800">
                <a:solidFill>
                  <a:srgbClr val="000066"/>
                </a:solidFill>
                <a:latin typeface="Times New Roman" panose="02020603050405020304" pitchFamily="18" charset="0"/>
                <a:ea typeface="+mj-ea"/>
                <a:cs typeface="Times New Roman" panose="02020603050405020304" pitchFamily="18" charset="0"/>
                <a:sym typeface="+mn-ea"/>
              </a:rPr>
              <a:t>[</a:t>
            </a:r>
            <a:endParaRPr lang="en-US" altLang="zh-CN" sz="1800">
              <a:solidFill>
                <a:srgbClr val="000066"/>
              </a:solidFill>
              <a:latin typeface="Times New Roman" panose="02020603050405020304" pitchFamily="18" charset="0"/>
              <a:ea typeface="+mj-ea"/>
              <a:cs typeface="Times New Roman" panose="02020603050405020304" pitchFamily="18" charset="0"/>
            </a:endParaRPr>
          </a:p>
          <a:p>
            <a:pPr algn="l">
              <a:defRPr/>
            </a:pPr>
            <a:r>
              <a:rPr lang="en-US" altLang="zh-CN" sz="1800">
                <a:solidFill>
                  <a:srgbClr val="000066"/>
                </a:solidFill>
                <a:latin typeface="Times New Roman" panose="02020603050405020304" pitchFamily="18" charset="0"/>
                <a:ea typeface="+mj-ea"/>
                <a:cs typeface="Times New Roman" panose="02020603050405020304" pitchFamily="18" charset="0"/>
                <a:sym typeface="+mn-ea"/>
              </a:rPr>
              <a:t>[1, 2, 3, 4],[1, 2, 4, 3],[1, 3, 2, 4],[1, 3, 4, 2],[1, 4, 3, 2],[1, 4, 2, 3]</a:t>
            </a:r>
            <a:endParaRPr lang="en-US" altLang="zh-CN" sz="1800">
              <a:solidFill>
                <a:srgbClr val="000066"/>
              </a:solidFill>
              <a:latin typeface="Times New Roman" panose="02020603050405020304" pitchFamily="18" charset="0"/>
              <a:ea typeface="+mj-ea"/>
              <a:cs typeface="Times New Roman" panose="02020603050405020304" pitchFamily="18" charset="0"/>
              <a:sym typeface="+mn-ea"/>
            </a:endParaRPr>
          </a:p>
          <a:p>
            <a:pPr algn="l">
              <a:defRPr/>
            </a:pPr>
            <a:r>
              <a:rPr lang="en-US" altLang="zh-CN" sz="1800">
                <a:solidFill>
                  <a:srgbClr val="000066"/>
                </a:solidFill>
                <a:latin typeface="Times New Roman" panose="02020603050405020304" pitchFamily="18" charset="0"/>
                <a:ea typeface="+mj-ea"/>
                <a:cs typeface="Times New Roman" panose="02020603050405020304" pitchFamily="18" charset="0"/>
                <a:sym typeface="+mn-ea"/>
              </a:rPr>
              <a:t>[2, 1, 3, 4],[2, 1, 4, 3],[2, 3, 1, 4],[2, 3, 4, 1],[2, 4, 3, 1],[2, 4, 1, 3]</a:t>
            </a:r>
            <a:endParaRPr lang="en-US" altLang="zh-CN" sz="1800">
              <a:solidFill>
                <a:srgbClr val="000066"/>
              </a:solidFill>
              <a:latin typeface="Times New Roman" panose="02020603050405020304" pitchFamily="18" charset="0"/>
              <a:ea typeface="+mj-ea"/>
              <a:cs typeface="Times New Roman" panose="02020603050405020304" pitchFamily="18" charset="0"/>
              <a:sym typeface="+mn-ea"/>
            </a:endParaRPr>
          </a:p>
          <a:p>
            <a:pPr algn="l">
              <a:defRPr/>
            </a:pPr>
            <a:r>
              <a:rPr lang="en-US" altLang="zh-CN" sz="1800">
                <a:solidFill>
                  <a:srgbClr val="000066"/>
                </a:solidFill>
                <a:latin typeface="Times New Roman" panose="02020603050405020304" pitchFamily="18" charset="0"/>
                <a:ea typeface="+mj-ea"/>
                <a:cs typeface="Times New Roman" panose="02020603050405020304" pitchFamily="18" charset="0"/>
                <a:sym typeface="+mn-ea"/>
              </a:rPr>
              <a:t>...</a:t>
            </a:r>
            <a:endParaRPr lang="en-US" altLang="zh-CN" sz="1800">
              <a:solidFill>
                <a:srgbClr val="000066"/>
              </a:solidFill>
              <a:latin typeface="Times New Roman" panose="02020603050405020304" pitchFamily="18" charset="0"/>
              <a:ea typeface="+mj-ea"/>
              <a:cs typeface="Times New Roman" panose="02020603050405020304" pitchFamily="18" charset="0"/>
              <a:sym typeface="+mn-ea"/>
            </a:endParaRPr>
          </a:p>
          <a:p>
            <a:pPr algn="l">
              <a:defRPr/>
            </a:pPr>
            <a:r>
              <a:rPr lang="en-US" altLang="zh-CN" sz="1800">
                <a:solidFill>
                  <a:srgbClr val="FF0000"/>
                </a:solidFill>
                <a:latin typeface="Times New Roman" panose="02020603050405020304" pitchFamily="18" charset="0"/>
                <a:ea typeface="+mj-ea"/>
                <a:cs typeface="Times New Roman" panose="02020603050405020304" pitchFamily="18" charset="0"/>
                <a:sym typeface="+mn-ea"/>
              </a:rPr>
              <a:t>[4, 1, 2, 3],[4, 1, 3, 2],[4, 2, 1, 3],[4, 2, 3, 1],[4, 3, 1, 2],[4, 3, 2, 1]</a:t>
            </a:r>
            <a:endParaRPr lang="en-US" altLang="zh-CN" sz="1800">
              <a:solidFill>
                <a:srgbClr val="000066"/>
              </a:solidFill>
              <a:latin typeface="Times New Roman" panose="02020603050405020304" pitchFamily="18" charset="0"/>
              <a:ea typeface="+mj-ea"/>
              <a:cs typeface="Times New Roman" panose="02020603050405020304" pitchFamily="18" charset="0"/>
              <a:sym typeface="+mn-ea"/>
            </a:endParaRPr>
          </a:p>
          <a:p>
            <a:pPr algn="l">
              <a:defRPr/>
            </a:pPr>
            <a:r>
              <a:rPr lang="en-US" altLang="zh-CN" sz="1800">
                <a:solidFill>
                  <a:srgbClr val="000066"/>
                </a:solidFill>
                <a:latin typeface="Times New Roman" panose="02020603050405020304" pitchFamily="18" charset="0"/>
                <a:ea typeface="+mj-ea"/>
                <a:cs typeface="Times New Roman" panose="02020603050405020304" pitchFamily="18" charset="0"/>
                <a:sym typeface="+mn-ea"/>
              </a:rPr>
              <a:t>]</a:t>
            </a:r>
            <a:endParaRPr lang="en-US" altLang="zh-CN" sz="1800">
              <a:solidFill>
                <a:srgbClr val="000066"/>
              </a:solidFill>
              <a:latin typeface="Times New Roman" panose="02020603050405020304" pitchFamily="18" charset="0"/>
              <a:ea typeface="+mj-ea"/>
              <a:cs typeface="Times New Roman" panose="02020603050405020304" pitchFamily="18" charset="0"/>
              <a:sym typeface="+mn-ea"/>
            </a:endParaRPr>
          </a:p>
        </p:txBody>
      </p:sp>
      <p:grpSp>
        <p:nvGrpSpPr>
          <p:cNvPr id="5" name="组合 4"/>
          <p:cNvGrpSpPr/>
          <p:nvPr/>
        </p:nvGrpSpPr>
        <p:grpSpPr>
          <a:xfrm rot="0">
            <a:off x="5653405" y="2302510"/>
            <a:ext cx="646430" cy="582295"/>
            <a:chOff x="10489" y="3359"/>
            <a:chExt cx="1018" cy="917"/>
          </a:xfrm>
        </p:grpSpPr>
        <p:sp>
          <p:nvSpPr>
            <p:cNvPr id="7" name="椭圆 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6" name="文本框 75"/>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4</a:t>
              </a:r>
              <a:endParaRPr lang="en-US" sz="1400">
                <a:solidFill>
                  <a:srgbClr val="000066"/>
                </a:solidFill>
                <a:latin typeface="+mj-ea"/>
                <a:ea typeface="+mj-ea"/>
              </a:endParaRPr>
            </a:p>
          </p:txBody>
        </p:sp>
      </p:grpSp>
      <p:cxnSp>
        <p:nvCxnSpPr>
          <p:cNvPr id="77" name="曲线连接符 76"/>
          <p:cNvCxnSpPr/>
          <p:nvPr/>
        </p:nvCxnSpPr>
        <p:spPr>
          <a:xfrm>
            <a:off x="4442460" y="1757680"/>
            <a:ext cx="1534160" cy="544830"/>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82" name="组合 81"/>
          <p:cNvGrpSpPr/>
          <p:nvPr/>
        </p:nvGrpSpPr>
        <p:grpSpPr>
          <a:xfrm rot="0">
            <a:off x="4438650" y="3140710"/>
            <a:ext cx="646430" cy="582295"/>
            <a:chOff x="10489" y="3359"/>
            <a:chExt cx="1018" cy="917"/>
          </a:xfrm>
        </p:grpSpPr>
        <p:sp>
          <p:nvSpPr>
            <p:cNvPr id="83" name="椭圆 82"/>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4" name="文本框 83"/>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85" name="组合 84"/>
          <p:cNvGrpSpPr/>
          <p:nvPr/>
        </p:nvGrpSpPr>
        <p:grpSpPr>
          <a:xfrm rot="0">
            <a:off x="5626735" y="3140710"/>
            <a:ext cx="646430" cy="581660"/>
            <a:chOff x="10489" y="3359"/>
            <a:chExt cx="1018" cy="916"/>
          </a:xfrm>
        </p:grpSpPr>
        <p:sp>
          <p:nvSpPr>
            <p:cNvPr id="86" name="椭圆 8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7" name="文本框 86"/>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88" name="组合 87"/>
          <p:cNvGrpSpPr/>
          <p:nvPr/>
        </p:nvGrpSpPr>
        <p:grpSpPr>
          <a:xfrm rot="0">
            <a:off x="6885940" y="3140710"/>
            <a:ext cx="646430" cy="581660"/>
            <a:chOff x="10489" y="3359"/>
            <a:chExt cx="1018" cy="916"/>
          </a:xfrm>
        </p:grpSpPr>
        <p:sp>
          <p:nvSpPr>
            <p:cNvPr id="89" name="椭圆 8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0" name="文本框 89"/>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cxnSp>
        <p:nvCxnSpPr>
          <p:cNvPr id="91" name="曲线连接符 90"/>
          <p:cNvCxnSpPr>
            <a:stCxn id="7" idx="4"/>
            <a:endCxn id="83" idx="0"/>
          </p:cNvCxnSpPr>
          <p:nvPr/>
        </p:nvCxnSpPr>
        <p:spPr>
          <a:xfrm rot="5400000">
            <a:off x="5241290" y="2404745"/>
            <a:ext cx="255905" cy="1214755"/>
          </a:xfrm>
          <a:prstGeom prst="curvedConnector3">
            <a:avLst>
              <a:gd name="adj1" fmla="val 50124"/>
            </a:avLst>
          </a:prstGeom>
          <a:solidFill>
            <a:schemeClr val="accent1"/>
          </a:solidFill>
          <a:ln w="9525" cap="flat" cmpd="sng" algn="ctr">
            <a:solidFill>
              <a:schemeClr val="tx1"/>
            </a:solidFill>
            <a:prstDash val="solid"/>
            <a:round/>
            <a:headEnd type="none" w="med" len="med"/>
            <a:tailEnd type="arrow" w="med" len="med"/>
          </a:ln>
        </p:spPr>
      </p:cxnSp>
      <p:cxnSp>
        <p:nvCxnSpPr>
          <p:cNvPr id="92" name="曲线连接符 91"/>
          <p:cNvCxnSpPr>
            <a:stCxn id="7" idx="4"/>
            <a:endCxn id="89" idx="0"/>
          </p:cNvCxnSpPr>
          <p:nvPr/>
        </p:nvCxnSpPr>
        <p:spPr>
          <a:xfrm rot="5400000" flipV="1">
            <a:off x="6464935" y="2395855"/>
            <a:ext cx="255905" cy="1232535"/>
          </a:xfrm>
          <a:prstGeom prst="curvedConnector3">
            <a:avLst>
              <a:gd name="adj1" fmla="val 50124"/>
            </a:avLst>
          </a:prstGeom>
          <a:solidFill>
            <a:schemeClr val="accent1"/>
          </a:solidFill>
          <a:ln w="9525" cap="flat" cmpd="sng" algn="ctr">
            <a:solidFill>
              <a:schemeClr val="tx1"/>
            </a:solidFill>
            <a:prstDash val="solid"/>
            <a:round/>
            <a:headEnd type="none" w="med" len="med"/>
            <a:tailEnd type="arrow" w="med" len="med"/>
          </a:ln>
        </p:spPr>
      </p:cxnSp>
      <p:cxnSp>
        <p:nvCxnSpPr>
          <p:cNvPr id="93" name="曲线连接符 92"/>
          <p:cNvCxnSpPr>
            <a:stCxn id="7" idx="4"/>
            <a:endCxn id="86" idx="0"/>
          </p:cNvCxnSpPr>
          <p:nvPr/>
        </p:nvCxnSpPr>
        <p:spPr>
          <a:xfrm rot="5400000">
            <a:off x="5835650" y="2999105"/>
            <a:ext cx="255905" cy="2667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nvGrpSpPr>
          <p:cNvPr id="94" name="组合 93"/>
          <p:cNvGrpSpPr/>
          <p:nvPr/>
        </p:nvGrpSpPr>
        <p:grpSpPr>
          <a:xfrm rot="0">
            <a:off x="4870450" y="4032250"/>
            <a:ext cx="341630" cy="342265"/>
            <a:chOff x="10489" y="3359"/>
            <a:chExt cx="1018" cy="917"/>
          </a:xfrm>
        </p:grpSpPr>
        <p:sp>
          <p:nvSpPr>
            <p:cNvPr id="95" name="椭圆 9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6" name="文本框 9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97" name="组合 96"/>
          <p:cNvGrpSpPr/>
          <p:nvPr/>
        </p:nvGrpSpPr>
        <p:grpSpPr>
          <a:xfrm rot="0">
            <a:off x="4150360" y="4032250"/>
            <a:ext cx="341630" cy="342265"/>
            <a:chOff x="10489" y="3359"/>
            <a:chExt cx="1018" cy="917"/>
          </a:xfrm>
        </p:grpSpPr>
        <p:sp>
          <p:nvSpPr>
            <p:cNvPr id="98" name="椭圆 9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99" name="文本框 9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100" name="组合 99"/>
          <p:cNvGrpSpPr/>
          <p:nvPr/>
        </p:nvGrpSpPr>
        <p:grpSpPr>
          <a:xfrm rot="0">
            <a:off x="6194425" y="4032250"/>
            <a:ext cx="341630" cy="342265"/>
            <a:chOff x="10489" y="3359"/>
            <a:chExt cx="1018" cy="917"/>
          </a:xfrm>
        </p:grpSpPr>
        <p:sp>
          <p:nvSpPr>
            <p:cNvPr id="101" name="椭圆 10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02" name="文本框 10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103" name="组合 102"/>
          <p:cNvGrpSpPr/>
          <p:nvPr/>
        </p:nvGrpSpPr>
        <p:grpSpPr>
          <a:xfrm rot="0">
            <a:off x="5474335" y="4032250"/>
            <a:ext cx="341630" cy="342265"/>
            <a:chOff x="10489" y="3359"/>
            <a:chExt cx="1018" cy="917"/>
          </a:xfrm>
        </p:grpSpPr>
        <p:sp>
          <p:nvSpPr>
            <p:cNvPr id="104" name="椭圆 10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05" name="文本框 10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06" name="组合 105"/>
          <p:cNvGrpSpPr/>
          <p:nvPr/>
        </p:nvGrpSpPr>
        <p:grpSpPr>
          <a:xfrm rot="0">
            <a:off x="7482205" y="4032250"/>
            <a:ext cx="341630" cy="342265"/>
            <a:chOff x="10489" y="3359"/>
            <a:chExt cx="1018" cy="917"/>
          </a:xfrm>
        </p:grpSpPr>
        <p:sp>
          <p:nvSpPr>
            <p:cNvPr id="107" name="椭圆 10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08" name="文本框 107"/>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109" name="组合 108"/>
          <p:cNvGrpSpPr/>
          <p:nvPr/>
        </p:nvGrpSpPr>
        <p:grpSpPr>
          <a:xfrm rot="0">
            <a:off x="6762115" y="4032250"/>
            <a:ext cx="341630" cy="342265"/>
            <a:chOff x="10489" y="3359"/>
            <a:chExt cx="1018" cy="917"/>
          </a:xfrm>
        </p:grpSpPr>
        <p:sp>
          <p:nvSpPr>
            <p:cNvPr id="110" name="椭圆 10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11" name="文本框 110"/>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112" name="曲线连接符 111"/>
          <p:cNvCxnSpPr/>
          <p:nvPr/>
        </p:nvCxnSpPr>
        <p:spPr>
          <a:xfrm rot="5400000">
            <a:off x="4371340" y="3686810"/>
            <a:ext cx="354330" cy="4267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13" name="曲线连接符 112"/>
          <p:cNvCxnSpPr/>
          <p:nvPr/>
        </p:nvCxnSpPr>
        <p:spPr>
          <a:xfrm rot="5400000" flipV="1">
            <a:off x="4731385" y="3753485"/>
            <a:ext cx="354330" cy="29337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14" name="曲线连接符 113"/>
          <p:cNvCxnSpPr/>
          <p:nvPr/>
        </p:nvCxnSpPr>
        <p:spPr>
          <a:xfrm rot="5400000">
            <a:off x="6900545" y="3768725"/>
            <a:ext cx="354330" cy="262255"/>
          </a:xfrm>
          <a:prstGeom prst="curvedConnector3">
            <a:avLst>
              <a:gd name="adj1" fmla="val 49910"/>
            </a:avLst>
          </a:prstGeom>
          <a:solidFill>
            <a:schemeClr val="accent1"/>
          </a:solidFill>
          <a:ln w="9525" cap="flat" cmpd="sng" algn="ctr">
            <a:solidFill>
              <a:schemeClr val="tx1"/>
            </a:solidFill>
            <a:prstDash val="solid"/>
            <a:round/>
            <a:headEnd type="none" w="med" len="med"/>
            <a:tailEnd type="arrow" w="med" len="med"/>
          </a:ln>
        </p:spPr>
      </p:cxnSp>
      <p:cxnSp>
        <p:nvCxnSpPr>
          <p:cNvPr id="115" name="曲线连接符 114"/>
          <p:cNvCxnSpPr/>
          <p:nvPr/>
        </p:nvCxnSpPr>
        <p:spPr>
          <a:xfrm rot="5400000" flipV="1">
            <a:off x="6003290" y="3669665"/>
            <a:ext cx="309245" cy="41529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16" name="曲线连接符 115"/>
          <p:cNvCxnSpPr/>
          <p:nvPr/>
        </p:nvCxnSpPr>
        <p:spPr>
          <a:xfrm rot="5400000">
            <a:off x="5627370" y="3754755"/>
            <a:ext cx="354330" cy="29083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17" name="曲线连接符 116"/>
          <p:cNvCxnSpPr/>
          <p:nvPr/>
        </p:nvCxnSpPr>
        <p:spPr>
          <a:xfrm rot="5400000" flipV="1">
            <a:off x="7276465" y="3655060"/>
            <a:ext cx="309245" cy="443865"/>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grpSp>
        <p:nvGrpSpPr>
          <p:cNvPr id="118" name="组合 117"/>
          <p:cNvGrpSpPr/>
          <p:nvPr/>
        </p:nvGrpSpPr>
        <p:grpSpPr>
          <a:xfrm rot="0">
            <a:off x="4150360" y="4726940"/>
            <a:ext cx="341630" cy="342265"/>
            <a:chOff x="10489" y="3359"/>
            <a:chExt cx="1018" cy="917"/>
          </a:xfrm>
        </p:grpSpPr>
        <p:sp>
          <p:nvSpPr>
            <p:cNvPr id="119" name="椭圆 11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0" name="文本框 11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121" name="组合 120"/>
          <p:cNvGrpSpPr/>
          <p:nvPr/>
        </p:nvGrpSpPr>
        <p:grpSpPr>
          <a:xfrm rot="0">
            <a:off x="4870450" y="4726940"/>
            <a:ext cx="341630" cy="342265"/>
            <a:chOff x="10489" y="3359"/>
            <a:chExt cx="1018" cy="917"/>
          </a:xfrm>
        </p:grpSpPr>
        <p:sp>
          <p:nvSpPr>
            <p:cNvPr id="122" name="椭圆 12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3" name="文本框 122"/>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124" name="组合 123"/>
          <p:cNvGrpSpPr/>
          <p:nvPr/>
        </p:nvGrpSpPr>
        <p:grpSpPr>
          <a:xfrm rot="0">
            <a:off x="5474335" y="4726940"/>
            <a:ext cx="341630" cy="342265"/>
            <a:chOff x="10489" y="3359"/>
            <a:chExt cx="1018" cy="917"/>
          </a:xfrm>
        </p:grpSpPr>
        <p:sp>
          <p:nvSpPr>
            <p:cNvPr id="125" name="椭圆 12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6" name="文本框 12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127" name="组合 126"/>
          <p:cNvGrpSpPr/>
          <p:nvPr/>
        </p:nvGrpSpPr>
        <p:grpSpPr>
          <a:xfrm rot="0">
            <a:off x="6204585" y="4726305"/>
            <a:ext cx="341630" cy="342265"/>
            <a:chOff x="10489" y="3359"/>
            <a:chExt cx="1018" cy="917"/>
          </a:xfrm>
        </p:grpSpPr>
        <p:sp>
          <p:nvSpPr>
            <p:cNvPr id="128" name="椭圆 12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9" name="文本框 12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30" name="组合 129"/>
          <p:cNvGrpSpPr/>
          <p:nvPr/>
        </p:nvGrpSpPr>
        <p:grpSpPr>
          <a:xfrm rot="0">
            <a:off x="6786880" y="4725670"/>
            <a:ext cx="341630" cy="342265"/>
            <a:chOff x="10489" y="3359"/>
            <a:chExt cx="1018" cy="917"/>
          </a:xfrm>
        </p:grpSpPr>
        <p:sp>
          <p:nvSpPr>
            <p:cNvPr id="131" name="椭圆 13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32" name="文本框 13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133" name="组合 132"/>
          <p:cNvGrpSpPr/>
          <p:nvPr/>
        </p:nvGrpSpPr>
        <p:grpSpPr>
          <a:xfrm rot="0">
            <a:off x="7496810" y="4726940"/>
            <a:ext cx="341630" cy="342265"/>
            <a:chOff x="10489" y="3359"/>
            <a:chExt cx="1018" cy="917"/>
          </a:xfrm>
        </p:grpSpPr>
        <p:sp>
          <p:nvSpPr>
            <p:cNvPr id="134" name="椭圆 13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35" name="文本框 13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136" name="曲线连接符 135"/>
          <p:cNvCxnSpPr/>
          <p:nvPr/>
        </p:nvCxnSpPr>
        <p:spPr>
          <a:xfrm rot="5400000" flipV="1">
            <a:off x="4153535" y="4542155"/>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37" name="曲线连接符 136"/>
          <p:cNvCxnSpPr/>
          <p:nvPr/>
        </p:nvCxnSpPr>
        <p:spPr>
          <a:xfrm rot="5400000" flipV="1">
            <a:off x="4874895" y="4531995"/>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38" name="曲线连接符 137"/>
          <p:cNvCxnSpPr/>
          <p:nvPr/>
        </p:nvCxnSpPr>
        <p:spPr>
          <a:xfrm rot="5400000" flipV="1">
            <a:off x="5459095" y="4546600"/>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39" name="曲线连接符 138"/>
          <p:cNvCxnSpPr/>
          <p:nvPr/>
        </p:nvCxnSpPr>
        <p:spPr>
          <a:xfrm rot="5400000" flipV="1">
            <a:off x="6185535" y="4546600"/>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40" name="曲线连接符 139"/>
          <p:cNvCxnSpPr/>
          <p:nvPr/>
        </p:nvCxnSpPr>
        <p:spPr>
          <a:xfrm rot="5400000" flipV="1">
            <a:off x="6790690" y="4542155"/>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41" name="曲线连接符 140"/>
          <p:cNvCxnSpPr/>
          <p:nvPr/>
        </p:nvCxnSpPr>
        <p:spPr>
          <a:xfrm rot="5400000" flipV="1">
            <a:off x="7510780" y="4542155"/>
            <a:ext cx="347980" cy="127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t>（</a:t>
            </a:r>
            <a:r>
              <a:rPr lang="en-US" altLang="zh-CN" sz="3600" kern="0" smtClean="0"/>
              <a:t>1</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14" name="文本框 13"/>
          <p:cNvSpPr txBox="1"/>
          <p:nvPr/>
        </p:nvSpPr>
        <p:spPr>
          <a:xfrm>
            <a:off x="251460" y="1484630"/>
            <a:ext cx="1807210" cy="442595"/>
          </a:xfrm>
          <a:prstGeom prst="rect">
            <a:avLst/>
          </a:prstGeom>
          <a:noFill/>
        </p:spPr>
        <p:txBody>
          <a:bodyPr>
            <a:noAutofit/>
          </a:bodyPr>
          <a:p>
            <a:pPr>
              <a:defRPr/>
            </a:pPr>
            <a:r>
              <a:rPr lang="zh-CN" altLang="en-US" sz="1800">
                <a:solidFill>
                  <a:srgbClr val="000066"/>
                </a:solidFill>
                <a:latin typeface="+mj-ea"/>
                <a:ea typeface="+mj-ea"/>
              </a:rPr>
              <a:t>交换法回溯</a:t>
            </a:r>
            <a:r>
              <a:rPr lang="en-US" altLang="zh-CN" sz="1800">
                <a:solidFill>
                  <a:srgbClr val="000066"/>
                </a:solidFill>
                <a:latin typeface="+mj-ea"/>
                <a:ea typeface="+mj-ea"/>
              </a:rPr>
              <a:t> :</a:t>
            </a:r>
            <a:endParaRPr lang="zh-CN" altLang="en-US" sz="1800">
              <a:solidFill>
                <a:srgbClr val="000066"/>
              </a:solidFill>
              <a:latin typeface="+mj-ea"/>
              <a:ea typeface="+mj-ea"/>
            </a:endParaRPr>
          </a:p>
        </p:txBody>
      </p:sp>
      <p:grpSp>
        <p:nvGrpSpPr>
          <p:cNvPr id="72" name="组合 71"/>
          <p:cNvGrpSpPr/>
          <p:nvPr/>
        </p:nvGrpSpPr>
        <p:grpSpPr>
          <a:xfrm>
            <a:off x="4830445" y="2133600"/>
            <a:ext cx="3688080" cy="2864485"/>
            <a:chOff x="8221" y="3132"/>
            <a:chExt cx="5808" cy="4511"/>
          </a:xfrm>
        </p:grpSpPr>
        <p:grpSp>
          <p:nvGrpSpPr>
            <p:cNvPr id="13" name="组合 12"/>
            <p:cNvGrpSpPr/>
            <p:nvPr/>
          </p:nvGrpSpPr>
          <p:grpSpPr>
            <a:xfrm>
              <a:off x="10546" y="3132"/>
              <a:ext cx="1018" cy="916"/>
              <a:chOff x="10489" y="3359"/>
              <a:chExt cx="1018" cy="916"/>
            </a:xfrm>
          </p:grpSpPr>
          <p:sp>
            <p:nvSpPr>
              <p:cNvPr id="10" name="椭圆 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 name="文本框 11"/>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5" name="组合 14"/>
            <p:cNvGrpSpPr/>
            <p:nvPr/>
          </p:nvGrpSpPr>
          <p:grpSpPr>
            <a:xfrm>
              <a:off x="8675" y="4607"/>
              <a:ext cx="1018" cy="917"/>
              <a:chOff x="10489" y="3359"/>
              <a:chExt cx="1018" cy="917"/>
            </a:xfrm>
          </p:grpSpPr>
          <p:sp>
            <p:nvSpPr>
              <p:cNvPr id="16" name="椭圆 1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 name="文本框 16"/>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8" name="组合 17"/>
            <p:cNvGrpSpPr/>
            <p:nvPr/>
          </p:nvGrpSpPr>
          <p:grpSpPr>
            <a:xfrm>
              <a:off x="10546" y="4607"/>
              <a:ext cx="1018" cy="916"/>
              <a:chOff x="10489" y="3359"/>
              <a:chExt cx="1018" cy="916"/>
            </a:xfrm>
          </p:grpSpPr>
          <p:sp>
            <p:nvSpPr>
              <p:cNvPr id="19" name="椭圆 1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0" name="文本框 19"/>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21" name="组合 20"/>
            <p:cNvGrpSpPr/>
            <p:nvPr/>
          </p:nvGrpSpPr>
          <p:grpSpPr>
            <a:xfrm>
              <a:off x="12529" y="4607"/>
              <a:ext cx="1018" cy="916"/>
              <a:chOff x="10489" y="3359"/>
              <a:chExt cx="1018" cy="916"/>
            </a:xfrm>
          </p:grpSpPr>
          <p:sp>
            <p:nvSpPr>
              <p:cNvPr id="22" name="椭圆 2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3" name="文本框 22"/>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cxnSp>
          <p:nvCxnSpPr>
            <p:cNvPr id="24" name="曲线连接符 23"/>
            <p:cNvCxnSpPr>
              <a:stCxn id="10" idx="2"/>
              <a:endCxn id="16" idx="0"/>
            </p:cNvCxnSpPr>
            <p:nvPr/>
          </p:nvCxnSpPr>
          <p:spPr>
            <a:xfrm rot="10800000" flipV="1">
              <a:off x="9184" y="3591"/>
              <a:ext cx="1362" cy="1016"/>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5" name="曲线连接符 24"/>
            <p:cNvCxnSpPr>
              <a:stCxn id="12" idx="3"/>
              <a:endCxn id="22" idx="0"/>
            </p:cNvCxnSpPr>
            <p:nvPr/>
          </p:nvCxnSpPr>
          <p:spPr>
            <a:xfrm>
              <a:off x="11533" y="3635"/>
              <a:ext cx="1505" cy="972"/>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6" name="曲线连接符 25"/>
            <p:cNvCxnSpPr>
              <a:stCxn id="10" idx="4"/>
              <a:endCxn id="19" idx="0"/>
            </p:cNvCxnSpPr>
            <p:nvPr/>
          </p:nvCxnSpPr>
          <p:spPr>
            <a:xfrm rot="5400000" flipV="1">
              <a:off x="10776" y="4328"/>
              <a:ext cx="558" cy="5"/>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30" name="组合 29"/>
            <p:cNvGrpSpPr/>
            <p:nvPr/>
          </p:nvGrpSpPr>
          <p:grpSpPr>
            <a:xfrm>
              <a:off x="9355" y="6011"/>
              <a:ext cx="538" cy="539"/>
              <a:chOff x="10489" y="3359"/>
              <a:chExt cx="1018" cy="917"/>
            </a:xfrm>
          </p:grpSpPr>
          <p:sp>
            <p:nvSpPr>
              <p:cNvPr id="31" name="椭圆 3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2" name="文本框 3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33" name="组合 32"/>
            <p:cNvGrpSpPr/>
            <p:nvPr/>
          </p:nvGrpSpPr>
          <p:grpSpPr>
            <a:xfrm>
              <a:off x="8221" y="6011"/>
              <a:ext cx="538" cy="539"/>
              <a:chOff x="10489" y="3359"/>
              <a:chExt cx="1018" cy="917"/>
            </a:xfrm>
          </p:grpSpPr>
          <p:sp>
            <p:nvSpPr>
              <p:cNvPr id="34" name="椭圆 3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5" name="文本框 3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2" name="组合 1"/>
            <p:cNvGrpSpPr/>
            <p:nvPr/>
          </p:nvGrpSpPr>
          <p:grpSpPr>
            <a:xfrm>
              <a:off x="11440" y="6011"/>
              <a:ext cx="538" cy="539"/>
              <a:chOff x="10489" y="3359"/>
              <a:chExt cx="1018" cy="917"/>
            </a:xfrm>
          </p:grpSpPr>
          <p:sp>
            <p:nvSpPr>
              <p:cNvPr id="3" name="椭圆 2"/>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 name="文本框 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8" name="组合 7"/>
            <p:cNvGrpSpPr/>
            <p:nvPr/>
          </p:nvGrpSpPr>
          <p:grpSpPr>
            <a:xfrm>
              <a:off x="10306" y="6011"/>
              <a:ext cx="538" cy="539"/>
              <a:chOff x="10489" y="3359"/>
              <a:chExt cx="1018" cy="917"/>
            </a:xfrm>
          </p:grpSpPr>
          <p:sp>
            <p:nvSpPr>
              <p:cNvPr id="27" name="椭圆 2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8" name="文本框 27"/>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9" name="组合 28"/>
            <p:cNvGrpSpPr/>
            <p:nvPr/>
          </p:nvGrpSpPr>
          <p:grpSpPr>
            <a:xfrm>
              <a:off x="13468" y="6011"/>
              <a:ext cx="538" cy="539"/>
              <a:chOff x="10489" y="3359"/>
              <a:chExt cx="1018" cy="917"/>
            </a:xfrm>
          </p:grpSpPr>
          <p:sp>
            <p:nvSpPr>
              <p:cNvPr id="36" name="椭圆 3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7" name="文本框 3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38" name="组合 37"/>
            <p:cNvGrpSpPr/>
            <p:nvPr/>
          </p:nvGrpSpPr>
          <p:grpSpPr>
            <a:xfrm>
              <a:off x="12334" y="6011"/>
              <a:ext cx="538" cy="539"/>
              <a:chOff x="10489" y="3359"/>
              <a:chExt cx="1018" cy="917"/>
            </a:xfrm>
          </p:grpSpPr>
          <p:sp>
            <p:nvSpPr>
              <p:cNvPr id="39" name="椭圆 3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0" name="文本框 3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42" name="曲线连接符 41"/>
            <p:cNvCxnSpPr>
              <a:stCxn id="16" idx="4"/>
              <a:endCxn id="35" idx="0"/>
            </p:cNvCxnSpPr>
            <p:nvPr/>
          </p:nvCxnSpPr>
          <p:spPr>
            <a:xfrm rot="5400000">
              <a:off x="8569" y="5467"/>
              <a:ext cx="558" cy="67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3" name="曲线连接符 42"/>
            <p:cNvCxnSpPr>
              <a:stCxn id="16" idx="4"/>
              <a:endCxn id="32" idx="0"/>
            </p:cNvCxnSpPr>
            <p:nvPr/>
          </p:nvCxnSpPr>
          <p:spPr>
            <a:xfrm rot="5400000" flipV="1">
              <a:off x="9136" y="5572"/>
              <a:ext cx="558" cy="46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4" name="曲线连接符 43"/>
            <p:cNvCxnSpPr>
              <a:stCxn id="22" idx="4"/>
              <a:endCxn id="40" idx="0"/>
            </p:cNvCxnSpPr>
            <p:nvPr/>
          </p:nvCxnSpPr>
          <p:spPr>
            <a:xfrm rot="5400000">
              <a:off x="12552" y="5596"/>
              <a:ext cx="558" cy="413"/>
            </a:xfrm>
            <a:prstGeom prst="curvedConnector3">
              <a:avLst>
                <a:gd name="adj1" fmla="val 49910"/>
              </a:avLst>
            </a:prstGeom>
            <a:solidFill>
              <a:schemeClr val="accent1"/>
            </a:solidFill>
            <a:ln w="9525" cap="flat" cmpd="sng" algn="ctr">
              <a:solidFill>
                <a:schemeClr val="tx1"/>
              </a:solidFill>
              <a:prstDash val="solid"/>
              <a:round/>
              <a:headEnd type="none" w="med" len="med"/>
              <a:tailEnd type="arrow" w="med" len="med"/>
            </a:ln>
          </p:spPr>
        </p:cxnSp>
        <p:cxnSp>
          <p:nvCxnSpPr>
            <p:cNvPr id="45" name="曲线连接符 44"/>
            <p:cNvCxnSpPr>
              <a:stCxn id="19" idx="4"/>
              <a:endCxn id="3" idx="0"/>
            </p:cNvCxnSpPr>
            <p:nvPr/>
          </p:nvCxnSpPr>
          <p:spPr>
            <a:xfrm rot="5400000" flipV="1">
              <a:off x="11139" y="5440"/>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6" name="曲线连接符 45"/>
            <p:cNvCxnSpPr>
              <a:stCxn id="19" idx="4"/>
              <a:endCxn id="28" idx="0"/>
            </p:cNvCxnSpPr>
            <p:nvPr/>
          </p:nvCxnSpPr>
          <p:spPr>
            <a:xfrm rot="5400000">
              <a:off x="10547" y="5574"/>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7" name="曲线连接符 46"/>
            <p:cNvCxnSpPr>
              <a:stCxn id="22" idx="4"/>
              <a:endCxn id="36" idx="0"/>
            </p:cNvCxnSpPr>
            <p:nvPr/>
          </p:nvCxnSpPr>
          <p:spPr>
            <a:xfrm rot="5400000" flipV="1">
              <a:off x="13144" y="5417"/>
              <a:ext cx="487" cy="699"/>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grpSp>
          <p:nvGrpSpPr>
            <p:cNvPr id="48" name="组合 47"/>
            <p:cNvGrpSpPr/>
            <p:nvPr/>
          </p:nvGrpSpPr>
          <p:grpSpPr>
            <a:xfrm>
              <a:off x="8221" y="7105"/>
              <a:ext cx="538" cy="539"/>
              <a:chOff x="10489" y="3359"/>
              <a:chExt cx="1018" cy="917"/>
            </a:xfrm>
          </p:grpSpPr>
          <p:sp>
            <p:nvSpPr>
              <p:cNvPr id="49" name="椭圆 4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0" name="文本框 4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51" name="组合 50"/>
            <p:cNvGrpSpPr/>
            <p:nvPr/>
          </p:nvGrpSpPr>
          <p:grpSpPr>
            <a:xfrm>
              <a:off x="9355" y="7105"/>
              <a:ext cx="538" cy="539"/>
              <a:chOff x="10489" y="3359"/>
              <a:chExt cx="1018" cy="917"/>
            </a:xfrm>
          </p:grpSpPr>
          <p:sp>
            <p:nvSpPr>
              <p:cNvPr id="52" name="椭圆 5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3" name="文本框 52"/>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4" name="组合 53"/>
            <p:cNvGrpSpPr/>
            <p:nvPr/>
          </p:nvGrpSpPr>
          <p:grpSpPr>
            <a:xfrm>
              <a:off x="10306" y="7105"/>
              <a:ext cx="538" cy="539"/>
              <a:chOff x="10489" y="3359"/>
              <a:chExt cx="1018" cy="917"/>
            </a:xfrm>
          </p:grpSpPr>
          <p:sp>
            <p:nvSpPr>
              <p:cNvPr id="55" name="椭圆 5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6" name="文本框 5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57" name="组合 56"/>
            <p:cNvGrpSpPr/>
            <p:nvPr/>
          </p:nvGrpSpPr>
          <p:grpSpPr>
            <a:xfrm>
              <a:off x="11456" y="7104"/>
              <a:ext cx="538" cy="539"/>
              <a:chOff x="10489" y="3359"/>
              <a:chExt cx="1018" cy="917"/>
            </a:xfrm>
          </p:grpSpPr>
          <p:sp>
            <p:nvSpPr>
              <p:cNvPr id="58" name="椭圆 5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9" name="文本框 5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60" name="组合 59"/>
            <p:cNvGrpSpPr/>
            <p:nvPr/>
          </p:nvGrpSpPr>
          <p:grpSpPr>
            <a:xfrm>
              <a:off x="12373" y="7103"/>
              <a:ext cx="538" cy="539"/>
              <a:chOff x="10489" y="3359"/>
              <a:chExt cx="1018" cy="917"/>
            </a:xfrm>
          </p:grpSpPr>
          <p:sp>
            <p:nvSpPr>
              <p:cNvPr id="61" name="椭圆 6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2" name="文本框 6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63" name="组合 62"/>
            <p:cNvGrpSpPr/>
            <p:nvPr/>
          </p:nvGrpSpPr>
          <p:grpSpPr>
            <a:xfrm>
              <a:off x="13491" y="7105"/>
              <a:ext cx="538" cy="539"/>
              <a:chOff x="10489" y="3359"/>
              <a:chExt cx="1018" cy="917"/>
            </a:xfrm>
          </p:grpSpPr>
          <p:sp>
            <p:nvSpPr>
              <p:cNvPr id="64" name="椭圆 6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5" name="文本框 6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66" name="曲线连接符 65"/>
            <p:cNvCxnSpPr>
              <a:stCxn id="34" idx="4"/>
            </p:cNvCxnSpPr>
            <p:nvPr/>
          </p:nvCxnSpPr>
          <p:spPr>
            <a:xfrm rot="5400000" flipV="1">
              <a:off x="8226"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7" name="曲线连接符 66"/>
            <p:cNvCxnSpPr/>
            <p:nvPr/>
          </p:nvCxnSpPr>
          <p:spPr>
            <a:xfrm rot="5400000" flipV="1">
              <a:off x="9362" y="6798"/>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8" name="曲线连接符 67"/>
            <p:cNvCxnSpPr/>
            <p:nvPr/>
          </p:nvCxnSpPr>
          <p:spPr>
            <a:xfrm rot="5400000" flipV="1">
              <a:off x="10282"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9" name="曲线连接符 68"/>
            <p:cNvCxnSpPr/>
            <p:nvPr/>
          </p:nvCxnSpPr>
          <p:spPr>
            <a:xfrm rot="5400000" flipV="1">
              <a:off x="11426"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0" name="曲线连接符 69"/>
            <p:cNvCxnSpPr/>
            <p:nvPr/>
          </p:nvCxnSpPr>
          <p:spPr>
            <a:xfrm rot="5400000" flipV="1">
              <a:off x="12379"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1" name="曲线连接符 70"/>
            <p:cNvCxnSpPr/>
            <p:nvPr/>
          </p:nvCxnSpPr>
          <p:spPr>
            <a:xfrm rot="5400000" flipV="1">
              <a:off x="13513"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sp>
        <p:nvSpPr>
          <p:cNvPr id="76" name="矩形 75"/>
          <p:cNvSpPr/>
          <p:nvPr/>
        </p:nvSpPr>
        <p:spPr>
          <a:xfrm>
            <a:off x="4909185" y="2853055"/>
            <a:ext cx="3584575" cy="1008380"/>
          </a:xfrm>
          <a:prstGeom prst="rect">
            <a:avLst/>
          </a:prstGeom>
          <a:noFill/>
          <a:ln w="2857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00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7" name="文本框 76"/>
          <p:cNvSpPr txBox="1"/>
          <p:nvPr/>
        </p:nvSpPr>
        <p:spPr>
          <a:xfrm>
            <a:off x="33020" y="2827020"/>
            <a:ext cx="4718685" cy="337185"/>
          </a:xfrm>
          <a:prstGeom prst="rect">
            <a:avLst/>
          </a:prstGeom>
          <a:noFill/>
        </p:spPr>
        <p:txBody>
          <a:bodyPr wrap="square" rtlCol="0">
            <a:spAutoFit/>
          </a:bodyPr>
          <a:p>
            <a:r>
              <a:rPr lang="zh-CN" altLang="en-US" sz="1600"/>
              <a:t>①：第一层，任何一个元素均可以占据首部一次</a:t>
            </a:r>
            <a:endParaRPr lang="zh-CN" altLang="en-US" sz="1600"/>
          </a:p>
        </p:txBody>
      </p:sp>
      <p:sp>
        <p:nvSpPr>
          <p:cNvPr id="78" name="文本框 77"/>
          <p:cNvSpPr txBox="1"/>
          <p:nvPr/>
        </p:nvSpPr>
        <p:spPr>
          <a:xfrm>
            <a:off x="4867275" y="2832735"/>
            <a:ext cx="503555" cy="319405"/>
          </a:xfrm>
          <a:prstGeom prst="rect">
            <a:avLst/>
          </a:prstGeom>
          <a:noFill/>
        </p:spPr>
        <p:txBody>
          <a:bodyPr wrap="square" rtlCol="0" anchor="t">
            <a:noAutofit/>
          </a:bodyPr>
          <a:p>
            <a:r>
              <a:rPr lang="zh-CN" altLang="en-US">
                <a:solidFill>
                  <a:srgbClr val="FF0000"/>
                </a:solidFill>
                <a:sym typeface="+mn-ea"/>
              </a:rPr>
              <a:t>①</a:t>
            </a:r>
            <a:endParaRPr lang="zh-CN" altLang="en-US">
              <a:solidFill>
                <a:srgbClr val="FF0000"/>
              </a:solidFill>
              <a:sym typeface="+mn-ea"/>
            </a:endParaRPr>
          </a:p>
        </p:txBody>
      </p:sp>
      <p:sp>
        <p:nvSpPr>
          <p:cNvPr id="79" name="矩形 78"/>
          <p:cNvSpPr/>
          <p:nvPr/>
        </p:nvSpPr>
        <p:spPr>
          <a:xfrm>
            <a:off x="4583430" y="3932555"/>
            <a:ext cx="1426845" cy="523875"/>
          </a:xfrm>
          <a:prstGeom prst="rect">
            <a:avLst/>
          </a:prstGeom>
          <a:noFill/>
          <a:ln w="2857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00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0" name="文本框 79"/>
          <p:cNvSpPr txBox="1"/>
          <p:nvPr/>
        </p:nvSpPr>
        <p:spPr>
          <a:xfrm>
            <a:off x="4509770" y="3885565"/>
            <a:ext cx="166370" cy="167005"/>
          </a:xfrm>
          <a:prstGeom prst="rect">
            <a:avLst/>
          </a:prstGeom>
          <a:noFill/>
        </p:spPr>
        <p:txBody>
          <a:bodyPr wrap="square" rtlCol="0" anchor="t">
            <a:noAutofit/>
          </a:bodyPr>
          <a:p>
            <a:r>
              <a:rPr lang="zh-CN" altLang="en-US">
                <a:solidFill>
                  <a:srgbClr val="FF0000"/>
                </a:solidFill>
                <a:sym typeface="+mn-ea"/>
              </a:rPr>
              <a:t>②</a:t>
            </a:r>
            <a:endParaRPr lang="zh-CN" altLang="en-US">
              <a:solidFill>
                <a:srgbClr val="FF0000"/>
              </a:solidFill>
              <a:sym typeface="+mn-ea"/>
            </a:endParaRPr>
          </a:p>
        </p:txBody>
      </p:sp>
      <p:sp>
        <p:nvSpPr>
          <p:cNvPr id="81" name="文本框 80"/>
          <p:cNvSpPr txBox="1"/>
          <p:nvPr/>
        </p:nvSpPr>
        <p:spPr>
          <a:xfrm>
            <a:off x="58420" y="3429000"/>
            <a:ext cx="4718685" cy="337185"/>
          </a:xfrm>
          <a:prstGeom prst="rect">
            <a:avLst/>
          </a:prstGeom>
          <a:noFill/>
        </p:spPr>
        <p:txBody>
          <a:bodyPr wrap="square" rtlCol="0">
            <a:spAutoFit/>
          </a:bodyPr>
          <a:p>
            <a:r>
              <a:rPr lang="zh-CN" altLang="en-US" sz="1600">
                <a:solidFill>
                  <a:schemeClr val="tx1"/>
                </a:solidFill>
                <a:uFillTx/>
                <a:latin typeface="Times New Roman" panose="02020603050405020304" pitchFamily="18" charset="0"/>
              </a:rPr>
              <a:t>②：第二层，剩余</a:t>
            </a:r>
            <a:r>
              <a:rPr lang="en-US" altLang="zh-CN" sz="1600">
                <a:solidFill>
                  <a:schemeClr val="tx1"/>
                </a:solidFill>
                <a:uFillTx/>
                <a:latin typeface="Times New Roman" panose="02020603050405020304" pitchFamily="18" charset="0"/>
              </a:rPr>
              <a:t>n-1</a:t>
            </a:r>
            <a:r>
              <a:rPr lang="zh-CN" altLang="en-US" sz="1600">
                <a:solidFill>
                  <a:schemeClr val="tx1"/>
                </a:solidFill>
                <a:uFillTx/>
                <a:latin typeface="Times New Roman" panose="02020603050405020304" pitchFamily="18" charset="0"/>
              </a:rPr>
              <a:t>个元素都可以占据首部一次</a:t>
            </a:r>
            <a:endParaRPr lang="zh-CN" altLang="en-US" sz="1600">
              <a:solidFill>
                <a:schemeClr val="tx1"/>
              </a:solidFill>
              <a:uFillTx/>
              <a:latin typeface="Times New Roman" panose="02020603050405020304" pitchFamily="18" charset="0"/>
            </a:endParaRPr>
          </a:p>
        </p:txBody>
      </p:sp>
      <p:sp>
        <p:nvSpPr>
          <p:cNvPr id="5" name="文本框 4"/>
          <p:cNvSpPr txBox="1"/>
          <p:nvPr/>
        </p:nvSpPr>
        <p:spPr>
          <a:xfrm>
            <a:off x="-42545" y="4869180"/>
            <a:ext cx="4718685" cy="583565"/>
          </a:xfrm>
          <a:prstGeom prst="rect">
            <a:avLst/>
          </a:prstGeom>
          <a:noFill/>
        </p:spPr>
        <p:txBody>
          <a:bodyPr wrap="square" rtlCol="0">
            <a:spAutoFit/>
          </a:bodyPr>
          <a:p>
            <a:r>
              <a:rPr lang="zh-CN" altLang="en-US" sz="1600">
                <a:solidFill>
                  <a:srgbClr val="FF0000"/>
                </a:solidFill>
                <a:uFillTx/>
                <a:latin typeface="Times New Roman" panose="02020603050405020304" pitchFamily="18" charset="0"/>
              </a:rPr>
              <a:t>注意：每次交换均是与首位交换，所以每次递归结束，一定要回溯！</a:t>
            </a:r>
            <a:endParaRPr lang="zh-CN" altLang="en-US" sz="1600">
              <a:solidFill>
                <a:srgbClr val="FF0000"/>
              </a:solidFill>
              <a:uFillTx/>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t>（</a:t>
            </a:r>
            <a:r>
              <a:rPr lang="en-US" altLang="zh-CN" sz="3600" kern="0" smtClean="0"/>
              <a:t>1</a:t>
            </a:r>
            <a:r>
              <a:rPr lang="zh-CN" altLang="en-US" sz="3600" kern="0" smtClean="0"/>
              <a:t>）全排列</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14" name="文本框 13"/>
          <p:cNvSpPr txBox="1"/>
          <p:nvPr/>
        </p:nvSpPr>
        <p:spPr>
          <a:xfrm>
            <a:off x="251460" y="1484630"/>
            <a:ext cx="2764155" cy="371475"/>
          </a:xfrm>
          <a:prstGeom prst="rect">
            <a:avLst/>
          </a:prstGeom>
          <a:noFill/>
        </p:spPr>
        <p:txBody>
          <a:bodyPr>
            <a:noAutofit/>
          </a:bodyPr>
          <a:p>
            <a:pPr>
              <a:defRPr/>
            </a:pPr>
            <a:r>
              <a:rPr lang="zh-CN" altLang="en-US" sz="1800">
                <a:solidFill>
                  <a:srgbClr val="000066"/>
                </a:solidFill>
                <a:uFillTx/>
                <a:latin typeface="Times New Roman" panose="02020603050405020304" pitchFamily="18" charset="0"/>
              </a:rPr>
              <a:t>交换法回溯代码实现</a:t>
            </a:r>
            <a:r>
              <a:rPr lang="en-US" altLang="zh-CN" sz="1800">
                <a:solidFill>
                  <a:srgbClr val="000066"/>
                </a:solidFill>
                <a:uFillTx/>
                <a:latin typeface="Times New Roman" panose="02020603050405020304" pitchFamily="18" charset="0"/>
              </a:rPr>
              <a:t>:</a:t>
            </a:r>
            <a:endParaRPr lang="en-US" altLang="zh-CN" sz="1800">
              <a:solidFill>
                <a:srgbClr val="000066"/>
              </a:solidFill>
              <a:uFillTx/>
              <a:latin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251460" y="1844675"/>
            <a:ext cx="5248275" cy="3381375"/>
          </a:xfrm>
          <a:prstGeom prst="rect">
            <a:avLst/>
          </a:prstGeom>
        </p:spPr>
      </p:pic>
      <p:sp>
        <p:nvSpPr>
          <p:cNvPr id="9" name="文本框 8"/>
          <p:cNvSpPr txBox="1"/>
          <p:nvPr/>
        </p:nvSpPr>
        <p:spPr>
          <a:xfrm>
            <a:off x="251460" y="5516880"/>
            <a:ext cx="4550410" cy="429260"/>
          </a:xfrm>
          <a:prstGeom prst="rect">
            <a:avLst/>
          </a:prstGeom>
          <a:noFill/>
        </p:spPr>
        <p:txBody>
          <a:bodyPr>
            <a:noAutofit/>
          </a:bodyPr>
          <a:p>
            <a:pPr>
              <a:defRPr/>
            </a:pPr>
            <a:r>
              <a:rPr lang="zh-CN" altLang="en-US" sz="1800">
                <a:solidFill>
                  <a:srgbClr val="000066"/>
                </a:solidFill>
                <a:uFillTx/>
                <a:latin typeface="Times New Roman" panose="02020603050405020304" pitchFamily="18" charset="0"/>
              </a:rPr>
              <a:t>除此之外还有头中尾插入法、前缀法。</a:t>
            </a:r>
            <a:endParaRPr lang="zh-CN" altLang="en-US" sz="1800">
              <a:solidFill>
                <a:srgbClr val="000066"/>
              </a:solidFill>
              <a:uFillTx/>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2</a:t>
            </a:r>
            <a:r>
              <a:rPr lang="zh-CN" altLang="en-US" sz="3600" kern="0" smtClean="0">
                <a:sym typeface="+mn-ea"/>
              </a:rPr>
              <a:t>）</a:t>
            </a:r>
            <a:r>
              <a:rPr lang="zh-CN" altLang="en-US" sz="3600" kern="0" smtClean="0"/>
              <a:t>子集</a:t>
            </a:r>
            <a:r>
              <a:rPr lang="en-US" altLang="zh-CN" sz="3600" kern="0" smtClean="0"/>
              <a:t>I(</a:t>
            </a:r>
            <a:r>
              <a:rPr lang="zh-CN" altLang="en-US" sz="3600" kern="0" smtClean="0"/>
              <a:t>没有重复元素的子集</a:t>
            </a:r>
            <a:r>
              <a:rPr lang="en-US" altLang="zh-CN" sz="3600" kern="0" smtClean="0"/>
              <a:t>)</a:t>
            </a:r>
            <a:endParaRPr lang="en-US" altLang="zh-CN" sz="3600" kern="0" smtClean="0"/>
          </a:p>
        </p:txBody>
      </p:sp>
      <p:sp>
        <p:nvSpPr>
          <p:cNvPr id="14" name="文本框 13"/>
          <p:cNvSpPr txBox="1"/>
          <p:nvPr/>
        </p:nvSpPr>
        <p:spPr>
          <a:xfrm>
            <a:off x="539750" y="1557020"/>
            <a:ext cx="4032250" cy="442595"/>
          </a:xfrm>
          <a:prstGeom prst="rect">
            <a:avLst/>
          </a:prstGeom>
          <a:noFill/>
        </p:spPr>
        <p:txBody>
          <a:bodyPr>
            <a:noAutofit/>
          </a:bodyPr>
          <a:p>
            <a:pPr>
              <a:defRPr/>
            </a:pPr>
            <a:r>
              <a:rPr lang="zh-CN" altLang="en-US">
                <a:solidFill>
                  <a:srgbClr val="000066"/>
                </a:solidFill>
                <a:latin typeface="+mj-ea"/>
                <a:ea typeface="+mj-ea"/>
              </a:rPr>
              <a:t>假设有数组元素</a:t>
            </a:r>
            <a:r>
              <a:rPr lang="en-US" altLang="zh-CN">
                <a:solidFill>
                  <a:srgbClr val="000066"/>
                </a:solidFill>
                <a:latin typeface="+mj-ea"/>
                <a:ea typeface="+mj-ea"/>
              </a:rPr>
              <a:t>nums = [1,2,3] </a:t>
            </a:r>
            <a:endParaRPr lang="zh-CN" altLang="en-US">
              <a:solidFill>
                <a:srgbClr val="000066"/>
              </a:solidFill>
              <a:latin typeface="+mj-ea"/>
              <a:ea typeface="+mj-ea"/>
            </a:endParaRPr>
          </a:p>
        </p:txBody>
      </p:sp>
      <p:sp>
        <p:nvSpPr>
          <p:cNvPr id="5" name="文本框 4"/>
          <p:cNvSpPr txBox="1"/>
          <p:nvPr/>
        </p:nvSpPr>
        <p:spPr>
          <a:xfrm>
            <a:off x="539750" y="1988820"/>
            <a:ext cx="4481195" cy="448945"/>
          </a:xfrm>
          <a:prstGeom prst="rect">
            <a:avLst/>
          </a:prstGeom>
          <a:noFill/>
        </p:spPr>
        <p:txBody>
          <a:bodyPr>
            <a:noAutofit/>
          </a:bodyPr>
          <a:p>
            <a:pPr>
              <a:defRPr/>
            </a:pPr>
            <a:r>
              <a:rPr lang="zh-CN" altLang="en-US">
                <a:solidFill>
                  <a:srgbClr val="000066"/>
                </a:solidFill>
                <a:latin typeface="+mj-ea"/>
                <a:ea typeface="+mj-ea"/>
              </a:rPr>
              <a:t>找出</a:t>
            </a:r>
            <a:r>
              <a:rPr lang="en-US" altLang="zh-CN">
                <a:solidFill>
                  <a:srgbClr val="000066"/>
                </a:solidFill>
                <a:latin typeface="+mj-ea"/>
                <a:ea typeface="+mj-ea"/>
              </a:rPr>
              <a:t>nums</a:t>
            </a:r>
            <a:r>
              <a:rPr lang="zh-CN" altLang="en-US">
                <a:solidFill>
                  <a:srgbClr val="000066"/>
                </a:solidFill>
                <a:latin typeface="+mj-ea"/>
                <a:ea typeface="+mj-ea"/>
              </a:rPr>
              <a:t>数组元素所有的</a:t>
            </a:r>
            <a:r>
              <a:rPr lang="zh-CN" altLang="en-US">
                <a:solidFill>
                  <a:srgbClr val="000066"/>
                </a:solidFill>
                <a:latin typeface="+mj-ea"/>
                <a:ea typeface="+mj-ea"/>
              </a:rPr>
              <a:t>子集集合？</a:t>
            </a:r>
            <a:r>
              <a:rPr lang="en-US" altLang="zh-CN">
                <a:solidFill>
                  <a:srgbClr val="000066"/>
                </a:solidFill>
                <a:latin typeface="+mj-ea"/>
                <a:ea typeface="+mj-ea"/>
              </a:rPr>
              <a:t> </a:t>
            </a:r>
            <a:endParaRPr lang="zh-CN" altLang="en-US">
              <a:solidFill>
                <a:srgbClr val="000066"/>
              </a:solidFill>
              <a:latin typeface="+mj-ea"/>
              <a:ea typeface="+mj-ea"/>
            </a:endParaRPr>
          </a:p>
        </p:txBody>
      </p:sp>
      <p:sp>
        <p:nvSpPr>
          <p:cNvPr id="7" name="文本框 6"/>
          <p:cNvSpPr txBox="1"/>
          <p:nvPr/>
        </p:nvSpPr>
        <p:spPr>
          <a:xfrm>
            <a:off x="576580" y="3429000"/>
            <a:ext cx="2649855" cy="1005840"/>
          </a:xfrm>
          <a:prstGeom prst="rect">
            <a:avLst/>
          </a:prstGeom>
          <a:solidFill>
            <a:schemeClr val="accent1">
              <a:lumMod val="60000"/>
              <a:lumOff val="40000"/>
            </a:schemeClr>
          </a:solidFill>
        </p:spPr>
        <p:txBody>
          <a:bodyPr>
            <a:noAutofit/>
          </a:bodyPr>
          <a:p>
            <a:pPr algn="ctr">
              <a:defRPr/>
            </a:pPr>
            <a:r>
              <a:rPr lang="en-US" altLang="zh-CN">
                <a:solidFill>
                  <a:srgbClr val="000066"/>
                </a:solidFill>
                <a:latin typeface="+mj-ea"/>
                <a:ea typeface="+mj-ea"/>
              </a:rPr>
              <a:t>[[1,2,3],[1,2],[1,3]</a:t>
            </a:r>
            <a:endParaRPr lang="en-US" altLang="zh-CN">
              <a:solidFill>
                <a:srgbClr val="000066"/>
              </a:solidFill>
              <a:latin typeface="+mj-ea"/>
              <a:ea typeface="+mj-ea"/>
            </a:endParaRPr>
          </a:p>
          <a:p>
            <a:pPr algn="ctr">
              <a:defRPr/>
            </a:pPr>
            <a:endParaRPr lang="en-US" altLang="zh-CN">
              <a:solidFill>
                <a:srgbClr val="000066"/>
              </a:solidFill>
              <a:latin typeface="+mj-ea"/>
              <a:ea typeface="+mj-ea"/>
            </a:endParaRPr>
          </a:p>
          <a:p>
            <a:pPr algn="ctr">
              <a:defRPr/>
            </a:pPr>
            <a:r>
              <a:rPr lang="en-US" altLang="zh-CN">
                <a:solidFill>
                  <a:srgbClr val="000066"/>
                </a:solidFill>
                <a:latin typeface="+mj-ea"/>
                <a:ea typeface="+mj-ea"/>
              </a:rPr>
              <a:t>[2,3],[1],</a:t>
            </a:r>
            <a:r>
              <a:rPr lang="en-US" altLang="zh-CN">
                <a:solidFill>
                  <a:srgbClr val="000066"/>
                </a:solidFill>
                <a:latin typeface="+mj-ea"/>
                <a:ea typeface="+mj-ea"/>
                <a:sym typeface="+mn-ea"/>
              </a:rPr>
              <a:t>[2],[3],</a:t>
            </a:r>
            <a:r>
              <a:rPr lang="en-US" altLang="zh-CN">
                <a:solidFill>
                  <a:srgbClr val="000066"/>
                </a:solidFill>
                <a:latin typeface="+mj-ea"/>
                <a:ea typeface="+mj-ea"/>
              </a:rPr>
              <a:t>[]] </a:t>
            </a:r>
            <a:endParaRPr lang="zh-CN" altLang="en-US">
              <a:solidFill>
                <a:srgbClr val="000066"/>
              </a:solidFill>
              <a:latin typeface="+mj-ea"/>
              <a:ea typeface="+mj-ea"/>
            </a:endParaRPr>
          </a:p>
        </p:txBody>
      </p:sp>
      <p:sp>
        <p:nvSpPr>
          <p:cNvPr id="32773" name="右箭头 9"/>
          <p:cNvSpPr>
            <a:spLocks noChangeArrowheads="1"/>
          </p:cNvSpPr>
          <p:nvPr/>
        </p:nvSpPr>
        <p:spPr bwMode="auto">
          <a:xfrm>
            <a:off x="3348355" y="3842385"/>
            <a:ext cx="1529715" cy="497840"/>
          </a:xfrm>
          <a:prstGeom prst="rightArrow">
            <a:avLst>
              <a:gd name="adj1" fmla="val 50000"/>
              <a:gd name="adj2" fmla="val 50181"/>
            </a:avLst>
          </a:prstGeom>
          <a:solidFill>
            <a:schemeClr val="accent1"/>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9" name="文本框 8"/>
          <p:cNvSpPr txBox="1"/>
          <p:nvPr/>
        </p:nvSpPr>
        <p:spPr>
          <a:xfrm>
            <a:off x="3348355" y="3501390"/>
            <a:ext cx="1456690" cy="429895"/>
          </a:xfrm>
          <a:prstGeom prst="rect">
            <a:avLst/>
          </a:prstGeom>
          <a:noFill/>
        </p:spPr>
        <p:txBody>
          <a:bodyPr>
            <a:noAutofit/>
          </a:bodyPr>
          <a:p>
            <a:pPr>
              <a:defRPr/>
            </a:pPr>
            <a:r>
              <a:rPr lang="zh-CN" altLang="en-US">
                <a:solidFill>
                  <a:srgbClr val="000066"/>
                </a:solidFill>
                <a:latin typeface="+mj-ea"/>
                <a:ea typeface="+mj-ea"/>
              </a:rPr>
              <a:t>转成树结构</a:t>
            </a:r>
            <a:r>
              <a:rPr lang="en-US" altLang="zh-CN">
                <a:solidFill>
                  <a:srgbClr val="000066"/>
                </a:solidFill>
                <a:latin typeface="+mj-ea"/>
                <a:ea typeface="+mj-ea"/>
              </a:rPr>
              <a:t> </a:t>
            </a:r>
            <a:endParaRPr lang="zh-CN" altLang="en-US">
              <a:solidFill>
                <a:srgbClr val="000066"/>
              </a:solidFill>
              <a:latin typeface="+mj-ea"/>
              <a:ea typeface="+mj-ea"/>
            </a:endParaRPr>
          </a:p>
        </p:txBody>
      </p:sp>
      <p:grpSp>
        <p:nvGrpSpPr>
          <p:cNvPr id="13" name="组合 12"/>
          <p:cNvGrpSpPr/>
          <p:nvPr/>
        </p:nvGrpSpPr>
        <p:grpSpPr>
          <a:xfrm rot="0">
            <a:off x="6732270" y="1628775"/>
            <a:ext cx="646430" cy="581660"/>
            <a:chOff x="10489" y="3359"/>
            <a:chExt cx="1018" cy="916"/>
          </a:xfrm>
        </p:grpSpPr>
        <p:sp>
          <p:nvSpPr>
            <p:cNvPr id="10" name="椭圆 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 name="文本框 11"/>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5" name="组合 14"/>
          <p:cNvGrpSpPr/>
          <p:nvPr/>
        </p:nvGrpSpPr>
        <p:grpSpPr>
          <a:xfrm rot="0">
            <a:off x="5993765" y="2637790"/>
            <a:ext cx="646430" cy="582295"/>
            <a:chOff x="10489" y="3359"/>
            <a:chExt cx="1018" cy="917"/>
          </a:xfrm>
        </p:grpSpPr>
        <p:sp>
          <p:nvSpPr>
            <p:cNvPr id="16" name="椭圆 1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 name="文本框 16"/>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1" name="组合 20"/>
          <p:cNvGrpSpPr/>
          <p:nvPr/>
        </p:nvGrpSpPr>
        <p:grpSpPr>
          <a:xfrm rot="0">
            <a:off x="7406005" y="2636520"/>
            <a:ext cx="646430" cy="581660"/>
            <a:chOff x="10489" y="3359"/>
            <a:chExt cx="1018" cy="916"/>
          </a:xfrm>
        </p:grpSpPr>
        <p:sp>
          <p:nvSpPr>
            <p:cNvPr id="22" name="椭圆 2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3" name="文本框 22"/>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cxnSp>
        <p:nvCxnSpPr>
          <p:cNvPr id="24" name="曲线连接符 23"/>
          <p:cNvCxnSpPr/>
          <p:nvPr/>
        </p:nvCxnSpPr>
        <p:spPr>
          <a:xfrm rot="10800000" flipV="1">
            <a:off x="6334760" y="1919605"/>
            <a:ext cx="396875" cy="716915"/>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5" name="曲线连接符 24"/>
          <p:cNvCxnSpPr/>
          <p:nvPr/>
        </p:nvCxnSpPr>
        <p:spPr>
          <a:xfrm>
            <a:off x="7359015" y="1948180"/>
            <a:ext cx="370205" cy="688340"/>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30" name="组合 29"/>
          <p:cNvGrpSpPr/>
          <p:nvPr/>
        </p:nvGrpSpPr>
        <p:grpSpPr>
          <a:xfrm rot="0">
            <a:off x="6425565" y="3529330"/>
            <a:ext cx="341630" cy="342265"/>
            <a:chOff x="10489" y="3359"/>
            <a:chExt cx="1018" cy="917"/>
          </a:xfrm>
        </p:grpSpPr>
        <p:sp>
          <p:nvSpPr>
            <p:cNvPr id="31" name="椭圆 3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2" name="文本框 3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grpSp>
        <p:nvGrpSpPr>
          <p:cNvPr id="33" name="组合 32"/>
          <p:cNvGrpSpPr/>
          <p:nvPr/>
        </p:nvGrpSpPr>
        <p:grpSpPr>
          <a:xfrm rot="0">
            <a:off x="5705475" y="3529330"/>
            <a:ext cx="341630" cy="342265"/>
            <a:chOff x="10489" y="3359"/>
            <a:chExt cx="1018" cy="917"/>
          </a:xfrm>
        </p:grpSpPr>
        <p:sp>
          <p:nvSpPr>
            <p:cNvPr id="34" name="椭圆 3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5" name="文本框 3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9" name="组合 28"/>
          <p:cNvGrpSpPr/>
          <p:nvPr/>
        </p:nvGrpSpPr>
        <p:grpSpPr>
          <a:xfrm rot="0">
            <a:off x="8002270" y="3528060"/>
            <a:ext cx="341630" cy="342265"/>
            <a:chOff x="10489" y="3359"/>
            <a:chExt cx="1018" cy="917"/>
          </a:xfrm>
        </p:grpSpPr>
        <p:sp>
          <p:nvSpPr>
            <p:cNvPr id="36" name="椭圆 3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7" name="文本框 3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grpSp>
        <p:nvGrpSpPr>
          <p:cNvPr id="38" name="组合 37"/>
          <p:cNvGrpSpPr/>
          <p:nvPr/>
        </p:nvGrpSpPr>
        <p:grpSpPr>
          <a:xfrm rot="0">
            <a:off x="7282180" y="3528060"/>
            <a:ext cx="341630" cy="342265"/>
            <a:chOff x="10489" y="3359"/>
            <a:chExt cx="1018" cy="917"/>
          </a:xfrm>
        </p:grpSpPr>
        <p:sp>
          <p:nvSpPr>
            <p:cNvPr id="39" name="椭圆 3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0" name="文本框 3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42" name="曲线连接符 41"/>
          <p:cNvCxnSpPr/>
          <p:nvPr/>
        </p:nvCxnSpPr>
        <p:spPr>
          <a:xfrm rot="5400000">
            <a:off x="5926455" y="3183890"/>
            <a:ext cx="354330" cy="4267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3" name="曲线连接符 42"/>
          <p:cNvCxnSpPr/>
          <p:nvPr/>
        </p:nvCxnSpPr>
        <p:spPr>
          <a:xfrm rot="5400000" flipV="1">
            <a:off x="6286500" y="3250565"/>
            <a:ext cx="354330" cy="29337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4" name="曲线连接符 43"/>
          <p:cNvCxnSpPr/>
          <p:nvPr/>
        </p:nvCxnSpPr>
        <p:spPr>
          <a:xfrm rot="5400000">
            <a:off x="7420610" y="3264535"/>
            <a:ext cx="354330" cy="262255"/>
          </a:xfrm>
          <a:prstGeom prst="curvedConnector3">
            <a:avLst>
              <a:gd name="adj1" fmla="val 49910"/>
            </a:avLst>
          </a:prstGeom>
          <a:solidFill>
            <a:schemeClr val="accent1"/>
          </a:solidFill>
          <a:ln w="9525" cap="flat" cmpd="sng" algn="ctr">
            <a:solidFill>
              <a:schemeClr val="tx1"/>
            </a:solidFill>
            <a:prstDash val="solid"/>
            <a:round/>
            <a:headEnd type="none" w="med" len="med"/>
            <a:tailEnd type="arrow" w="med" len="med"/>
          </a:ln>
        </p:spPr>
      </p:cxnSp>
      <p:cxnSp>
        <p:nvCxnSpPr>
          <p:cNvPr id="47" name="曲线连接符 46"/>
          <p:cNvCxnSpPr/>
          <p:nvPr/>
        </p:nvCxnSpPr>
        <p:spPr>
          <a:xfrm rot="5400000" flipV="1">
            <a:off x="7796530" y="3150870"/>
            <a:ext cx="309245" cy="443865"/>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grpSp>
        <p:nvGrpSpPr>
          <p:cNvPr id="95" name="组合 94"/>
          <p:cNvGrpSpPr/>
          <p:nvPr/>
        </p:nvGrpSpPr>
        <p:grpSpPr>
          <a:xfrm>
            <a:off x="5364480" y="3871595"/>
            <a:ext cx="1061720" cy="650875"/>
            <a:chOff x="4579" y="8358"/>
            <a:chExt cx="1672" cy="1025"/>
          </a:xfrm>
        </p:grpSpPr>
        <p:grpSp>
          <p:nvGrpSpPr>
            <p:cNvPr id="76" name="组合 75"/>
            <p:cNvGrpSpPr/>
            <p:nvPr/>
          </p:nvGrpSpPr>
          <p:grpSpPr>
            <a:xfrm rot="0">
              <a:off x="5713" y="8845"/>
              <a:ext cx="538" cy="539"/>
              <a:chOff x="10489" y="3359"/>
              <a:chExt cx="1018" cy="917"/>
            </a:xfrm>
          </p:grpSpPr>
          <p:sp>
            <p:nvSpPr>
              <p:cNvPr id="77" name="椭圆 7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8" name="文本框 77"/>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grpSp>
          <p:nvGrpSpPr>
            <p:cNvPr id="79" name="组合 78"/>
            <p:cNvGrpSpPr/>
            <p:nvPr/>
          </p:nvGrpSpPr>
          <p:grpSpPr>
            <a:xfrm rot="0">
              <a:off x="4579" y="8845"/>
              <a:ext cx="538" cy="539"/>
              <a:chOff x="10489" y="3359"/>
              <a:chExt cx="1018" cy="917"/>
            </a:xfrm>
          </p:grpSpPr>
          <p:sp>
            <p:nvSpPr>
              <p:cNvPr id="80" name="椭圆 7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1" name="文本框 80"/>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82" name="曲线连接符 81"/>
            <p:cNvCxnSpPr/>
            <p:nvPr/>
          </p:nvCxnSpPr>
          <p:spPr>
            <a:xfrm rot="5400000" flipV="1">
              <a:off x="5412" y="8274"/>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83" name="曲线连接符 82"/>
            <p:cNvCxnSpPr/>
            <p:nvPr/>
          </p:nvCxnSpPr>
          <p:spPr>
            <a:xfrm rot="5400000">
              <a:off x="4820" y="8408"/>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cxnSp>
        <p:nvCxnSpPr>
          <p:cNvPr id="92" name="直接连接符 91"/>
          <p:cNvCxnSpPr/>
          <p:nvPr/>
        </p:nvCxnSpPr>
        <p:spPr>
          <a:xfrm flipV="1">
            <a:off x="5508625" y="3211195"/>
            <a:ext cx="2872105" cy="6985"/>
          </a:xfrm>
          <a:prstGeom prst="line">
            <a:avLst/>
          </a:prstGeom>
          <a:solidFill>
            <a:schemeClr val="accent1"/>
          </a:solidFill>
          <a:ln w="38100" cap="flat" cmpd="sng" algn="ctr">
            <a:solidFill>
              <a:srgbClr val="FF0000"/>
            </a:solidFill>
            <a:prstDash val="solid"/>
            <a:round/>
            <a:headEnd type="none" w="med" len="med"/>
            <a:tailEnd type="none" w="med" len="med"/>
          </a:ln>
        </p:spPr>
      </p:cxnSp>
      <p:sp>
        <p:nvSpPr>
          <p:cNvPr id="93" name="文本框 92"/>
          <p:cNvSpPr txBox="1"/>
          <p:nvPr/>
        </p:nvSpPr>
        <p:spPr>
          <a:xfrm>
            <a:off x="5323840" y="2762885"/>
            <a:ext cx="669925" cy="368300"/>
          </a:xfrm>
          <a:prstGeom prst="rect">
            <a:avLst/>
          </a:prstGeom>
          <a:noFill/>
        </p:spPr>
        <p:txBody>
          <a:bodyPr wrap="square" rtlCol="0">
            <a:spAutoFit/>
          </a:bodyPr>
          <a:p>
            <a:r>
              <a:rPr lang="zh-CN" altLang="en-US"/>
              <a:t>①</a:t>
            </a:r>
            <a:endParaRPr lang="zh-CN" altLang="en-US"/>
          </a:p>
        </p:txBody>
      </p:sp>
      <p:cxnSp>
        <p:nvCxnSpPr>
          <p:cNvPr id="94" name="直接连接符 93"/>
          <p:cNvCxnSpPr/>
          <p:nvPr/>
        </p:nvCxnSpPr>
        <p:spPr>
          <a:xfrm>
            <a:off x="5220335" y="4004945"/>
            <a:ext cx="3744595" cy="0"/>
          </a:xfrm>
          <a:prstGeom prst="line">
            <a:avLst/>
          </a:prstGeom>
          <a:solidFill>
            <a:schemeClr val="accent1"/>
          </a:solidFill>
          <a:ln w="38100" cap="flat" cmpd="sng" algn="ctr">
            <a:solidFill>
              <a:srgbClr val="FF0000"/>
            </a:solidFill>
            <a:prstDash val="solid"/>
            <a:round/>
            <a:headEnd type="none" w="med" len="med"/>
            <a:tailEnd type="none" w="med" len="med"/>
          </a:ln>
        </p:spPr>
      </p:cxnSp>
      <p:cxnSp>
        <p:nvCxnSpPr>
          <p:cNvPr id="98" name="直接连接符 97"/>
          <p:cNvCxnSpPr/>
          <p:nvPr/>
        </p:nvCxnSpPr>
        <p:spPr>
          <a:xfrm flipV="1">
            <a:off x="4805045" y="4699000"/>
            <a:ext cx="4375785" cy="17145"/>
          </a:xfrm>
          <a:prstGeom prst="line">
            <a:avLst/>
          </a:prstGeom>
          <a:solidFill>
            <a:schemeClr val="accent1"/>
          </a:solidFill>
          <a:ln w="38100" cap="flat" cmpd="sng" algn="ctr">
            <a:solidFill>
              <a:srgbClr val="FF0000"/>
            </a:solidFill>
            <a:prstDash val="solid"/>
            <a:round/>
            <a:headEnd type="none" w="med" len="med"/>
            <a:tailEnd type="none" w="med" len="med"/>
          </a:ln>
        </p:spPr>
      </p:cxnSp>
      <p:sp>
        <p:nvSpPr>
          <p:cNvPr id="99" name="文本框 98"/>
          <p:cNvSpPr txBox="1"/>
          <p:nvPr/>
        </p:nvSpPr>
        <p:spPr>
          <a:xfrm>
            <a:off x="5048885" y="3472180"/>
            <a:ext cx="669925" cy="368300"/>
          </a:xfrm>
          <a:prstGeom prst="rect">
            <a:avLst/>
          </a:prstGeom>
          <a:noFill/>
        </p:spPr>
        <p:txBody>
          <a:bodyPr wrap="square" rtlCol="0">
            <a:spAutoFit/>
          </a:bodyPr>
          <a:p>
            <a:r>
              <a:rPr lang="zh-CN" altLang="en-US"/>
              <a:t>②</a:t>
            </a:r>
            <a:endParaRPr lang="zh-CN" altLang="en-US"/>
          </a:p>
        </p:txBody>
      </p:sp>
      <p:sp>
        <p:nvSpPr>
          <p:cNvPr id="100" name="文本框 99"/>
          <p:cNvSpPr txBox="1"/>
          <p:nvPr/>
        </p:nvSpPr>
        <p:spPr>
          <a:xfrm>
            <a:off x="4732655" y="4181475"/>
            <a:ext cx="669925" cy="368300"/>
          </a:xfrm>
          <a:prstGeom prst="rect">
            <a:avLst/>
          </a:prstGeom>
          <a:noFill/>
        </p:spPr>
        <p:txBody>
          <a:bodyPr wrap="square" rtlCol="0">
            <a:spAutoFit/>
          </a:bodyPr>
          <a:p>
            <a:r>
              <a:rPr lang="zh-CN" altLang="en-US"/>
              <a:t>③</a:t>
            </a:r>
            <a:endParaRPr lang="zh-CN" altLang="en-US"/>
          </a:p>
        </p:txBody>
      </p:sp>
      <p:sp>
        <p:nvSpPr>
          <p:cNvPr id="101" name="文本框 100"/>
          <p:cNvSpPr txBox="1"/>
          <p:nvPr/>
        </p:nvSpPr>
        <p:spPr>
          <a:xfrm>
            <a:off x="755650" y="5229225"/>
            <a:ext cx="8209280" cy="869950"/>
          </a:xfrm>
          <a:prstGeom prst="rect">
            <a:avLst/>
          </a:prstGeom>
          <a:noFill/>
        </p:spPr>
        <p:txBody>
          <a:bodyPr wrap="square" rtlCol="0">
            <a:noAutofit/>
          </a:bodyPr>
          <a:p>
            <a:r>
              <a:rPr lang="zh-CN" altLang="en-US"/>
              <a:t>①表示第一个元素的选择与不选择，②表示第二个元素的选择与不选择，③表示第三个元素的选择与不选择。从根节点到叶子节点都是一个</a:t>
            </a:r>
            <a:r>
              <a:rPr lang="zh-CN" altLang="en-US"/>
              <a:t>子集。</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2</a:t>
            </a:r>
            <a:r>
              <a:rPr lang="zh-CN" altLang="en-US" sz="3600" kern="0" smtClean="0">
                <a:sym typeface="+mn-ea"/>
              </a:rPr>
              <a:t>）</a:t>
            </a:r>
            <a:r>
              <a:rPr lang="zh-CN" altLang="en-US" sz="3600" kern="0" smtClean="0"/>
              <a:t>子集</a:t>
            </a:r>
            <a:r>
              <a:rPr lang="en-US" altLang="zh-CN" sz="3600" kern="0" smtClean="0"/>
              <a:t>I(</a:t>
            </a:r>
            <a:r>
              <a:rPr lang="zh-CN" altLang="en-US" sz="3600" kern="0" smtClean="0"/>
              <a:t>没有重复元素的子集</a:t>
            </a:r>
            <a:r>
              <a:rPr lang="en-US" altLang="zh-CN" sz="3600" kern="0" smtClean="0"/>
              <a:t>)</a:t>
            </a:r>
            <a:endParaRPr lang="en-US" altLang="zh-CN" sz="3600" kern="0" smtClean="0"/>
          </a:p>
        </p:txBody>
      </p:sp>
      <p:grpSp>
        <p:nvGrpSpPr>
          <p:cNvPr id="13" name="组合 12"/>
          <p:cNvGrpSpPr/>
          <p:nvPr/>
        </p:nvGrpSpPr>
        <p:grpSpPr>
          <a:xfrm rot="0">
            <a:off x="4356100" y="1629410"/>
            <a:ext cx="646430" cy="581660"/>
            <a:chOff x="10489" y="3359"/>
            <a:chExt cx="1018" cy="916"/>
          </a:xfrm>
        </p:grpSpPr>
        <p:sp>
          <p:nvSpPr>
            <p:cNvPr id="10" name="椭圆 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 name="文本框 11"/>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5" name="组合 14"/>
          <p:cNvGrpSpPr/>
          <p:nvPr/>
        </p:nvGrpSpPr>
        <p:grpSpPr>
          <a:xfrm rot="0">
            <a:off x="3617595" y="2638425"/>
            <a:ext cx="646430" cy="582295"/>
            <a:chOff x="10489" y="3359"/>
            <a:chExt cx="1018" cy="917"/>
          </a:xfrm>
        </p:grpSpPr>
        <p:sp>
          <p:nvSpPr>
            <p:cNvPr id="16" name="椭圆 1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 name="文本框 16"/>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1" name="组合 20"/>
          <p:cNvGrpSpPr/>
          <p:nvPr/>
        </p:nvGrpSpPr>
        <p:grpSpPr>
          <a:xfrm rot="0">
            <a:off x="5029835" y="2637155"/>
            <a:ext cx="646430" cy="581660"/>
            <a:chOff x="10489" y="3359"/>
            <a:chExt cx="1018" cy="916"/>
          </a:xfrm>
        </p:grpSpPr>
        <p:sp>
          <p:nvSpPr>
            <p:cNvPr id="22" name="椭圆 2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3" name="文本框 22"/>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cxnSp>
        <p:nvCxnSpPr>
          <p:cNvPr id="24" name="曲线连接符 23"/>
          <p:cNvCxnSpPr/>
          <p:nvPr/>
        </p:nvCxnSpPr>
        <p:spPr>
          <a:xfrm rot="10800000" flipV="1">
            <a:off x="3958590" y="1920240"/>
            <a:ext cx="396875" cy="716915"/>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5" name="曲线连接符 24"/>
          <p:cNvCxnSpPr/>
          <p:nvPr/>
        </p:nvCxnSpPr>
        <p:spPr>
          <a:xfrm>
            <a:off x="4982845" y="1948815"/>
            <a:ext cx="370205" cy="688340"/>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30" name="组合 29"/>
          <p:cNvGrpSpPr/>
          <p:nvPr/>
        </p:nvGrpSpPr>
        <p:grpSpPr>
          <a:xfrm rot="0">
            <a:off x="4049395" y="3529965"/>
            <a:ext cx="341630" cy="342265"/>
            <a:chOff x="10489" y="3359"/>
            <a:chExt cx="1018" cy="917"/>
          </a:xfrm>
        </p:grpSpPr>
        <p:sp>
          <p:nvSpPr>
            <p:cNvPr id="31" name="椭圆 3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2" name="文本框 3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grpSp>
        <p:nvGrpSpPr>
          <p:cNvPr id="33" name="组合 32"/>
          <p:cNvGrpSpPr/>
          <p:nvPr/>
        </p:nvGrpSpPr>
        <p:grpSpPr>
          <a:xfrm rot="0">
            <a:off x="3329305" y="3529965"/>
            <a:ext cx="341630" cy="342265"/>
            <a:chOff x="10489" y="3359"/>
            <a:chExt cx="1018" cy="917"/>
          </a:xfrm>
        </p:grpSpPr>
        <p:sp>
          <p:nvSpPr>
            <p:cNvPr id="34" name="椭圆 3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5" name="文本框 3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9" name="组合 28"/>
          <p:cNvGrpSpPr/>
          <p:nvPr/>
        </p:nvGrpSpPr>
        <p:grpSpPr>
          <a:xfrm rot="0">
            <a:off x="5626100" y="3528695"/>
            <a:ext cx="341630" cy="342265"/>
            <a:chOff x="10489" y="3359"/>
            <a:chExt cx="1018" cy="917"/>
          </a:xfrm>
        </p:grpSpPr>
        <p:sp>
          <p:nvSpPr>
            <p:cNvPr id="36" name="椭圆 3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7" name="文本框 3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grpSp>
        <p:nvGrpSpPr>
          <p:cNvPr id="38" name="组合 37"/>
          <p:cNvGrpSpPr/>
          <p:nvPr/>
        </p:nvGrpSpPr>
        <p:grpSpPr>
          <a:xfrm rot="0">
            <a:off x="4906010" y="3528695"/>
            <a:ext cx="341630" cy="342265"/>
            <a:chOff x="10489" y="3359"/>
            <a:chExt cx="1018" cy="917"/>
          </a:xfrm>
        </p:grpSpPr>
        <p:sp>
          <p:nvSpPr>
            <p:cNvPr id="39" name="椭圆 3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0" name="文本框 3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42" name="曲线连接符 41"/>
          <p:cNvCxnSpPr/>
          <p:nvPr/>
        </p:nvCxnSpPr>
        <p:spPr>
          <a:xfrm rot="5400000">
            <a:off x="3550285" y="3184525"/>
            <a:ext cx="354330" cy="4267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3" name="曲线连接符 42"/>
          <p:cNvCxnSpPr/>
          <p:nvPr/>
        </p:nvCxnSpPr>
        <p:spPr>
          <a:xfrm rot="5400000" flipV="1">
            <a:off x="3910330" y="3251200"/>
            <a:ext cx="354330" cy="29337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4" name="曲线连接符 43"/>
          <p:cNvCxnSpPr/>
          <p:nvPr/>
        </p:nvCxnSpPr>
        <p:spPr>
          <a:xfrm rot="5400000">
            <a:off x="5044440" y="3265170"/>
            <a:ext cx="354330" cy="262255"/>
          </a:xfrm>
          <a:prstGeom prst="curvedConnector3">
            <a:avLst>
              <a:gd name="adj1" fmla="val 49910"/>
            </a:avLst>
          </a:prstGeom>
          <a:solidFill>
            <a:schemeClr val="accent1"/>
          </a:solidFill>
          <a:ln w="9525" cap="flat" cmpd="sng" algn="ctr">
            <a:solidFill>
              <a:schemeClr val="tx1"/>
            </a:solidFill>
            <a:prstDash val="solid"/>
            <a:round/>
            <a:headEnd type="none" w="med" len="med"/>
            <a:tailEnd type="arrow" w="med" len="med"/>
          </a:ln>
        </p:spPr>
      </p:cxnSp>
      <p:cxnSp>
        <p:nvCxnSpPr>
          <p:cNvPr id="47" name="曲线连接符 46"/>
          <p:cNvCxnSpPr/>
          <p:nvPr/>
        </p:nvCxnSpPr>
        <p:spPr>
          <a:xfrm rot="5400000" flipV="1">
            <a:off x="5420360" y="3151505"/>
            <a:ext cx="309245" cy="443865"/>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grpSp>
        <p:nvGrpSpPr>
          <p:cNvPr id="95" name="组合 94"/>
          <p:cNvGrpSpPr/>
          <p:nvPr/>
        </p:nvGrpSpPr>
        <p:grpSpPr>
          <a:xfrm>
            <a:off x="2988310" y="3872230"/>
            <a:ext cx="1061720" cy="650875"/>
            <a:chOff x="4579" y="8358"/>
            <a:chExt cx="1672" cy="1025"/>
          </a:xfrm>
        </p:grpSpPr>
        <p:grpSp>
          <p:nvGrpSpPr>
            <p:cNvPr id="76" name="组合 75"/>
            <p:cNvGrpSpPr/>
            <p:nvPr/>
          </p:nvGrpSpPr>
          <p:grpSpPr>
            <a:xfrm rot="0">
              <a:off x="5713" y="8845"/>
              <a:ext cx="538" cy="539"/>
              <a:chOff x="10489" y="3359"/>
              <a:chExt cx="1018" cy="917"/>
            </a:xfrm>
          </p:grpSpPr>
          <p:sp>
            <p:nvSpPr>
              <p:cNvPr id="77" name="椭圆 7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8" name="文本框 77"/>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grpSp>
          <p:nvGrpSpPr>
            <p:cNvPr id="79" name="组合 78"/>
            <p:cNvGrpSpPr/>
            <p:nvPr/>
          </p:nvGrpSpPr>
          <p:grpSpPr>
            <a:xfrm rot="0">
              <a:off x="4579" y="8845"/>
              <a:ext cx="538" cy="539"/>
              <a:chOff x="10489" y="3359"/>
              <a:chExt cx="1018" cy="917"/>
            </a:xfrm>
          </p:grpSpPr>
          <p:sp>
            <p:nvSpPr>
              <p:cNvPr id="80" name="椭圆 7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1" name="文本框 80"/>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82" name="曲线连接符 81"/>
            <p:cNvCxnSpPr/>
            <p:nvPr/>
          </p:nvCxnSpPr>
          <p:spPr>
            <a:xfrm rot="5400000" flipV="1">
              <a:off x="5412" y="8274"/>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83" name="曲线连接符 82"/>
            <p:cNvCxnSpPr/>
            <p:nvPr/>
          </p:nvCxnSpPr>
          <p:spPr>
            <a:xfrm rot="5400000">
              <a:off x="4820" y="8408"/>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cxnSp>
        <p:nvCxnSpPr>
          <p:cNvPr id="92" name="直接连接符 91"/>
          <p:cNvCxnSpPr/>
          <p:nvPr/>
        </p:nvCxnSpPr>
        <p:spPr>
          <a:xfrm flipV="1">
            <a:off x="3132455" y="3211830"/>
            <a:ext cx="2872105" cy="6985"/>
          </a:xfrm>
          <a:prstGeom prst="line">
            <a:avLst/>
          </a:prstGeom>
          <a:solidFill>
            <a:schemeClr val="accent1"/>
          </a:solidFill>
          <a:ln w="38100" cap="flat" cmpd="sng" algn="ctr">
            <a:solidFill>
              <a:srgbClr val="FF0000"/>
            </a:solidFill>
            <a:prstDash val="solid"/>
            <a:round/>
            <a:headEnd type="none" w="med" len="med"/>
            <a:tailEnd type="none" w="med" len="med"/>
          </a:ln>
        </p:spPr>
      </p:cxnSp>
      <p:sp>
        <p:nvSpPr>
          <p:cNvPr id="93" name="文本框 92"/>
          <p:cNvSpPr txBox="1"/>
          <p:nvPr/>
        </p:nvSpPr>
        <p:spPr>
          <a:xfrm>
            <a:off x="2947670" y="2763520"/>
            <a:ext cx="669925" cy="368300"/>
          </a:xfrm>
          <a:prstGeom prst="rect">
            <a:avLst/>
          </a:prstGeom>
          <a:noFill/>
        </p:spPr>
        <p:txBody>
          <a:bodyPr wrap="square" rtlCol="0">
            <a:spAutoFit/>
          </a:bodyPr>
          <a:p>
            <a:r>
              <a:rPr lang="zh-CN" altLang="en-US" sz="1800"/>
              <a:t>①</a:t>
            </a:r>
            <a:endParaRPr lang="zh-CN" altLang="en-US" sz="1800"/>
          </a:p>
        </p:txBody>
      </p:sp>
      <p:cxnSp>
        <p:nvCxnSpPr>
          <p:cNvPr id="94" name="直接连接符 93"/>
          <p:cNvCxnSpPr/>
          <p:nvPr/>
        </p:nvCxnSpPr>
        <p:spPr>
          <a:xfrm>
            <a:off x="2844165" y="4005580"/>
            <a:ext cx="3744595" cy="0"/>
          </a:xfrm>
          <a:prstGeom prst="line">
            <a:avLst/>
          </a:prstGeom>
          <a:solidFill>
            <a:schemeClr val="accent1"/>
          </a:solidFill>
          <a:ln w="38100" cap="flat" cmpd="sng" algn="ctr">
            <a:solidFill>
              <a:srgbClr val="FF0000"/>
            </a:solidFill>
            <a:prstDash val="solid"/>
            <a:round/>
            <a:headEnd type="none" w="med" len="med"/>
            <a:tailEnd type="none" w="med" len="med"/>
          </a:ln>
        </p:spPr>
      </p:cxnSp>
      <p:cxnSp>
        <p:nvCxnSpPr>
          <p:cNvPr id="98" name="直接连接符 97"/>
          <p:cNvCxnSpPr/>
          <p:nvPr/>
        </p:nvCxnSpPr>
        <p:spPr>
          <a:xfrm flipV="1">
            <a:off x="2428875" y="4699635"/>
            <a:ext cx="4375785" cy="17145"/>
          </a:xfrm>
          <a:prstGeom prst="line">
            <a:avLst/>
          </a:prstGeom>
          <a:solidFill>
            <a:schemeClr val="accent1"/>
          </a:solidFill>
          <a:ln w="38100" cap="flat" cmpd="sng" algn="ctr">
            <a:solidFill>
              <a:srgbClr val="FF0000"/>
            </a:solidFill>
            <a:prstDash val="solid"/>
            <a:round/>
            <a:headEnd type="none" w="med" len="med"/>
            <a:tailEnd type="none" w="med" len="med"/>
          </a:ln>
        </p:spPr>
      </p:cxnSp>
      <p:sp>
        <p:nvSpPr>
          <p:cNvPr id="99" name="文本框 98"/>
          <p:cNvSpPr txBox="1"/>
          <p:nvPr/>
        </p:nvSpPr>
        <p:spPr>
          <a:xfrm>
            <a:off x="2672715" y="3472815"/>
            <a:ext cx="669925" cy="368300"/>
          </a:xfrm>
          <a:prstGeom prst="rect">
            <a:avLst/>
          </a:prstGeom>
          <a:noFill/>
        </p:spPr>
        <p:txBody>
          <a:bodyPr wrap="square" rtlCol="0">
            <a:spAutoFit/>
          </a:bodyPr>
          <a:p>
            <a:r>
              <a:rPr lang="zh-CN" altLang="en-US" sz="1800"/>
              <a:t>②</a:t>
            </a:r>
            <a:endParaRPr lang="zh-CN" altLang="en-US" sz="1800"/>
          </a:p>
        </p:txBody>
      </p:sp>
      <p:sp>
        <p:nvSpPr>
          <p:cNvPr id="100" name="文本框 99"/>
          <p:cNvSpPr txBox="1"/>
          <p:nvPr/>
        </p:nvSpPr>
        <p:spPr>
          <a:xfrm>
            <a:off x="2356485" y="4182110"/>
            <a:ext cx="669925" cy="368300"/>
          </a:xfrm>
          <a:prstGeom prst="rect">
            <a:avLst/>
          </a:prstGeom>
          <a:noFill/>
        </p:spPr>
        <p:txBody>
          <a:bodyPr wrap="square" rtlCol="0">
            <a:spAutoFit/>
          </a:bodyPr>
          <a:p>
            <a:r>
              <a:rPr lang="zh-CN" altLang="en-US" sz="1800"/>
              <a:t>③</a:t>
            </a:r>
            <a:endParaRPr lang="zh-CN" altLang="en-US" sz="1800"/>
          </a:p>
        </p:txBody>
      </p:sp>
      <p:sp>
        <p:nvSpPr>
          <p:cNvPr id="101" name="文本框 100"/>
          <p:cNvSpPr txBox="1"/>
          <p:nvPr/>
        </p:nvSpPr>
        <p:spPr>
          <a:xfrm>
            <a:off x="354330" y="5372735"/>
            <a:ext cx="8649335" cy="501650"/>
          </a:xfrm>
          <a:prstGeom prst="rect">
            <a:avLst/>
          </a:prstGeom>
          <a:noFill/>
        </p:spPr>
        <p:txBody>
          <a:bodyPr wrap="square" rtlCol="0">
            <a:noAutofit/>
          </a:bodyPr>
          <a:p>
            <a:r>
              <a:rPr lang="zh-CN" altLang="en-US" sz="1800"/>
              <a:t>此时，需要对原来的元素选择做一个回溯，回溯之后不影响下一个分支的</a:t>
            </a:r>
            <a:r>
              <a:rPr lang="zh-CN" altLang="en-US" sz="1800"/>
              <a:t>选与不选。</a:t>
            </a:r>
            <a:endParaRPr lang="zh-CN" altLang="en-US" sz="1800"/>
          </a:p>
        </p:txBody>
      </p:sp>
      <p:sp>
        <p:nvSpPr>
          <p:cNvPr id="3" name="任意多边形 2"/>
          <p:cNvSpPr/>
          <p:nvPr/>
        </p:nvSpPr>
        <p:spPr>
          <a:xfrm>
            <a:off x="3342005" y="4076700"/>
            <a:ext cx="302260" cy="367030"/>
          </a:xfrm>
          <a:custGeom>
            <a:avLst/>
            <a:gdLst>
              <a:gd name="connisteX0" fmla="*/ 0 w 302260"/>
              <a:gd name="connsiteY0" fmla="*/ 367028 h 367028"/>
              <a:gd name="connisteX1" fmla="*/ 173990 w 302260"/>
              <a:gd name="connsiteY1" fmla="*/ 633 h 367028"/>
              <a:gd name="connisteX2" fmla="*/ 302260 w 302260"/>
              <a:gd name="connsiteY2" fmla="*/ 294003 h 367028"/>
            </a:gdLst>
            <a:ahLst/>
            <a:cxnLst>
              <a:cxn ang="0">
                <a:pos x="connisteX0" y="connsiteY0"/>
              </a:cxn>
              <a:cxn ang="0">
                <a:pos x="connisteX1" y="connsiteY1"/>
              </a:cxn>
              <a:cxn ang="0">
                <a:pos x="connisteX2" y="connsiteY2"/>
              </a:cxn>
            </a:cxnLst>
            <a:rect l="l" t="t" r="r" b="b"/>
            <a:pathLst>
              <a:path w="302260" h="367029">
                <a:moveTo>
                  <a:pt x="0" y="367029"/>
                </a:moveTo>
                <a:cubicBezTo>
                  <a:pt x="32385" y="287654"/>
                  <a:pt x="113665" y="15239"/>
                  <a:pt x="173990" y="634"/>
                </a:cubicBezTo>
                <a:cubicBezTo>
                  <a:pt x="234315" y="-13971"/>
                  <a:pt x="280035" y="227964"/>
                  <a:pt x="302260" y="294004"/>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 name="任意多边形 5"/>
          <p:cNvSpPr/>
          <p:nvPr/>
        </p:nvSpPr>
        <p:spPr>
          <a:xfrm>
            <a:off x="3717290" y="3397885"/>
            <a:ext cx="302260" cy="304165"/>
          </a:xfrm>
          <a:custGeom>
            <a:avLst/>
            <a:gdLst>
              <a:gd name="connisteX0" fmla="*/ 0 w 302260"/>
              <a:gd name="connsiteY0" fmla="*/ 304251 h 304251"/>
              <a:gd name="connisteX1" fmla="*/ 201295 w 302260"/>
              <a:gd name="connsiteY1" fmla="*/ 1991 h 304251"/>
              <a:gd name="connisteX2" fmla="*/ 302260 w 302260"/>
              <a:gd name="connsiteY2" fmla="*/ 194396 h 304251"/>
            </a:gdLst>
            <a:ahLst/>
            <a:cxnLst>
              <a:cxn ang="0">
                <a:pos x="connisteX0" y="connsiteY0"/>
              </a:cxn>
              <a:cxn ang="0">
                <a:pos x="connisteX1" y="connsiteY1"/>
              </a:cxn>
              <a:cxn ang="0">
                <a:pos x="connisteX2" y="connsiteY2"/>
              </a:cxn>
            </a:cxnLst>
            <a:rect l="l" t="t" r="r" b="b"/>
            <a:pathLst>
              <a:path w="302260" h="304252">
                <a:moveTo>
                  <a:pt x="0" y="304252"/>
                </a:moveTo>
                <a:cubicBezTo>
                  <a:pt x="38100" y="240117"/>
                  <a:pt x="140970" y="24217"/>
                  <a:pt x="201295" y="1992"/>
                </a:cubicBezTo>
                <a:cubicBezTo>
                  <a:pt x="261620" y="-20233"/>
                  <a:pt x="286385" y="149947"/>
                  <a:pt x="302260" y="194397"/>
                </a:cubicBezTo>
              </a:path>
            </a:pathLst>
          </a:custGeom>
          <a:noFill/>
          <a:ln w="34925" cap="flat" cmpd="sng" algn="ctr">
            <a:solidFill>
              <a:srgbClr val="FF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2</a:t>
            </a:r>
            <a:r>
              <a:rPr lang="zh-CN" altLang="en-US" sz="3600" kern="0" smtClean="0">
                <a:sym typeface="+mn-ea"/>
              </a:rPr>
              <a:t>）</a:t>
            </a:r>
            <a:r>
              <a:rPr lang="zh-CN" altLang="en-US" sz="3600" kern="0" smtClean="0"/>
              <a:t>子集</a:t>
            </a:r>
            <a:r>
              <a:rPr lang="en-US" altLang="zh-CN" sz="3600" kern="0" smtClean="0"/>
              <a:t>I(</a:t>
            </a:r>
            <a:r>
              <a:rPr lang="zh-CN" altLang="en-US" sz="3600" kern="0" smtClean="0"/>
              <a:t>没有重复元素的子集</a:t>
            </a:r>
            <a:r>
              <a:rPr lang="en-US" altLang="zh-CN" sz="3600" kern="0" smtClean="0"/>
              <a:t>)</a:t>
            </a:r>
            <a:endParaRPr lang="en-US" altLang="zh-CN" sz="3600" kern="0" smtClean="0"/>
          </a:p>
        </p:txBody>
      </p:sp>
      <p:sp>
        <p:nvSpPr>
          <p:cNvPr id="14" name="文本框 13"/>
          <p:cNvSpPr txBox="1"/>
          <p:nvPr/>
        </p:nvSpPr>
        <p:spPr>
          <a:xfrm>
            <a:off x="899795" y="1412875"/>
            <a:ext cx="6430010" cy="780415"/>
          </a:xfrm>
          <a:prstGeom prst="rect">
            <a:avLst/>
          </a:prstGeom>
          <a:noFill/>
        </p:spPr>
        <p:txBody>
          <a:bodyPr wrap="square" rtlCol="0">
            <a:noAutofit/>
          </a:bodyPr>
          <a:p>
            <a:r>
              <a:rPr lang="zh-CN" altLang="en-US"/>
              <a:t>源码实现</a:t>
            </a:r>
            <a:r>
              <a:rPr lang="zh-CN" altLang="en-US"/>
              <a:t>示例：</a:t>
            </a:r>
            <a:endParaRPr lang="zh-CN" altLang="en-US"/>
          </a:p>
        </p:txBody>
      </p:sp>
      <p:pic>
        <p:nvPicPr>
          <p:cNvPr id="2" name="图片 1"/>
          <p:cNvPicPr>
            <a:picLocks noChangeAspect="1"/>
          </p:cNvPicPr>
          <p:nvPr/>
        </p:nvPicPr>
        <p:blipFill>
          <a:blip r:embed="rId1"/>
          <a:stretch>
            <a:fillRect/>
          </a:stretch>
        </p:blipFill>
        <p:spPr>
          <a:xfrm>
            <a:off x="2268220" y="1844675"/>
            <a:ext cx="4781550" cy="38290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2</a:t>
            </a:r>
            <a:r>
              <a:rPr lang="zh-CN" altLang="en-US" sz="3600" kern="0" smtClean="0">
                <a:sym typeface="+mn-ea"/>
              </a:rPr>
              <a:t>）</a:t>
            </a:r>
            <a:r>
              <a:rPr lang="zh-CN" altLang="en-US" sz="3600" kern="0" smtClean="0"/>
              <a:t>子集</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14" name="文本框 13"/>
          <p:cNvSpPr txBox="1"/>
          <p:nvPr/>
        </p:nvSpPr>
        <p:spPr>
          <a:xfrm>
            <a:off x="899795" y="1412875"/>
            <a:ext cx="6430010" cy="780415"/>
          </a:xfrm>
          <a:prstGeom prst="rect">
            <a:avLst/>
          </a:prstGeom>
          <a:noFill/>
        </p:spPr>
        <p:txBody>
          <a:bodyPr wrap="square" rtlCol="0">
            <a:noAutofit/>
          </a:bodyPr>
          <a:p>
            <a:r>
              <a:rPr lang="zh-CN" altLang="en-US"/>
              <a:t>运行流程：代码其中的一个</a:t>
            </a:r>
            <a:r>
              <a:rPr lang="zh-CN" altLang="en-US"/>
              <a:t>状态</a:t>
            </a:r>
            <a:endParaRPr lang="zh-CN" altLang="en-US"/>
          </a:p>
        </p:txBody>
      </p:sp>
      <p:sp>
        <p:nvSpPr>
          <p:cNvPr id="5" name="文本框 4"/>
          <p:cNvSpPr txBox="1"/>
          <p:nvPr/>
        </p:nvSpPr>
        <p:spPr>
          <a:xfrm>
            <a:off x="6161405" y="1917065"/>
            <a:ext cx="2982595" cy="1023620"/>
          </a:xfrm>
          <a:prstGeom prst="rect">
            <a:avLst/>
          </a:prstGeom>
          <a:gradFill>
            <a:gsLst>
              <a:gs pos="50000">
                <a:schemeClr val="accent1"/>
              </a:gs>
              <a:gs pos="0">
                <a:schemeClr val="accent1">
                  <a:lumMod val="25000"/>
                  <a:lumOff val="75000"/>
                </a:schemeClr>
              </a:gs>
              <a:gs pos="100000">
                <a:schemeClr val="accent1">
                  <a:lumMod val="85000"/>
                </a:schemeClr>
              </a:gs>
            </a:gsLst>
            <a:lin ang="5400000" scaled="1"/>
          </a:gradFill>
          <a:ln>
            <a:gradFill>
              <a:gsLst>
                <a:gs pos="50000">
                  <a:schemeClr val="accent3"/>
                </a:gs>
                <a:gs pos="0">
                  <a:schemeClr val="accent3">
                    <a:lumMod val="25000"/>
                    <a:lumOff val="75000"/>
                  </a:schemeClr>
                </a:gs>
                <a:gs pos="100000">
                  <a:schemeClr val="accent3">
                    <a:lumMod val="85000"/>
                  </a:schemeClr>
                </a:gs>
              </a:gsLst>
              <a:lin ang="5400000" scaled="0"/>
            </a:gradFill>
          </a:ln>
        </p:spPr>
        <p:txBody>
          <a:bodyPr wrap="square" rtlCol="0">
            <a:noAutofit/>
          </a:bodyPr>
          <a:p>
            <a:pPr algn="just"/>
            <a:r>
              <a:rPr lang="en-US" altLang="zh-CN">
                <a:latin typeface="Times New Roman" panose="02020603050405020304" pitchFamily="18" charset="0"/>
                <a:cs typeface="Times New Roman" panose="02020603050405020304" pitchFamily="18" charset="0"/>
              </a:rPr>
              <a:t>temp.append(nums[n])</a:t>
            </a:r>
            <a:endParaRPr lang="en-US" altLang="zh-CN">
              <a:latin typeface="Times New Roman" panose="02020603050405020304" pitchFamily="18" charset="0"/>
              <a:cs typeface="Times New Roman" panose="02020603050405020304" pitchFamily="18" charset="0"/>
            </a:endParaRPr>
          </a:p>
          <a:p>
            <a:pPr algn="just"/>
            <a:r>
              <a:rPr lang="en-US" altLang="zh-CN">
                <a:latin typeface="Times New Roman" panose="02020603050405020304" pitchFamily="18" charset="0"/>
                <a:cs typeface="Times New Roman" panose="02020603050405020304" pitchFamily="18" charset="0"/>
              </a:rPr>
              <a:t>dfs(nums,n+1,temp)</a:t>
            </a:r>
            <a:endParaRPr lang="en-US" altLang="zh-CN">
              <a:latin typeface="Times New Roman" panose="02020603050405020304" pitchFamily="18" charset="0"/>
              <a:cs typeface="Times New Roman" panose="02020603050405020304" pitchFamily="18" charset="0"/>
            </a:endParaRPr>
          </a:p>
          <a:p>
            <a:pPr algn="just"/>
            <a:r>
              <a:rPr lang="zh-CN" altLang="en-US">
                <a:latin typeface="Times New Roman" panose="02020603050405020304" pitchFamily="18" charset="0"/>
                <a:cs typeface="Times New Roman" panose="02020603050405020304" pitchFamily="18" charset="0"/>
              </a:rPr>
              <a:t>表示进入左</a:t>
            </a:r>
            <a:r>
              <a:rPr lang="zh-CN" altLang="en-US">
                <a:latin typeface="Times New Roman" panose="02020603050405020304" pitchFamily="18" charset="0"/>
                <a:cs typeface="Times New Roman" panose="02020603050405020304" pitchFamily="18" charset="0"/>
              </a:rPr>
              <a:t>子树</a:t>
            </a:r>
            <a:endParaRPr lang="zh-CN" altLang="en-US">
              <a:latin typeface="Times New Roman" panose="02020603050405020304" pitchFamily="18" charset="0"/>
              <a:cs typeface="Times New Roman" panose="02020603050405020304" pitchFamily="18" charset="0"/>
            </a:endParaRPr>
          </a:p>
          <a:p>
            <a:pPr algn="just"/>
            <a:endParaRPr lang="zh-CN" altLang="en-US">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755650" y="1772920"/>
            <a:ext cx="5238750" cy="4288790"/>
          </a:xfrm>
          <a:prstGeom prst="rect">
            <a:avLst/>
          </a:prstGeom>
        </p:spPr>
      </p:pic>
      <p:sp>
        <p:nvSpPr>
          <p:cNvPr id="6" name="文本框 5"/>
          <p:cNvSpPr txBox="1"/>
          <p:nvPr/>
        </p:nvSpPr>
        <p:spPr>
          <a:xfrm>
            <a:off x="6156325" y="2853055"/>
            <a:ext cx="2987675" cy="1229995"/>
          </a:xfrm>
          <a:prstGeom prst="rect">
            <a:avLst/>
          </a:prstGeom>
          <a:gradFill>
            <a:gsLst>
              <a:gs pos="50000">
                <a:schemeClr val="accent1"/>
              </a:gs>
              <a:gs pos="0">
                <a:schemeClr val="accent1">
                  <a:lumMod val="25000"/>
                  <a:lumOff val="75000"/>
                </a:schemeClr>
              </a:gs>
              <a:gs pos="100000">
                <a:schemeClr val="accent1">
                  <a:lumMod val="85000"/>
                </a:schemeClr>
              </a:gs>
            </a:gsLst>
            <a:lin ang="5400000" scaled="1"/>
          </a:gradFill>
        </p:spPr>
        <p:txBody>
          <a:bodyPr wrap="square" rtlCol="0" anchor="t">
            <a:noAutofit/>
          </a:bodyPr>
          <a:p>
            <a:pPr algn="just"/>
            <a:r>
              <a:rPr lang="en-US" altLang="zh-CN">
                <a:latin typeface="Times New Roman" panose="02020603050405020304" pitchFamily="18" charset="0"/>
                <a:cs typeface="Times New Roman" panose="02020603050405020304" pitchFamily="18" charset="0"/>
                <a:sym typeface="+mn-ea"/>
              </a:rPr>
              <a:t>temp.pop(-1)</a:t>
            </a:r>
            <a:endParaRPr lang="en-US" altLang="zh-CN">
              <a:latin typeface="Times New Roman" panose="02020603050405020304" pitchFamily="18" charset="0"/>
              <a:cs typeface="Times New Roman" panose="02020603050405020304" pitchFamily="18" charset="0"/>
            </a:endParaRPr>
          </a:p>
          <a:p>
            <a:pPr algn="just"/>
            <a:r>
              <a:rPr lang="en-US" altLang="zh-CN">
                <a:latin typeface="Times New Roman" panose="02020603050405020304" pitchFamily="18" charset="0"/>
                <a:cs typeface="Times New Roman" panose="02020603050405020304" pitchFamily="18" charset="0"/>
                <a:sym typeface="+mn-ea"/>
              </a:rPr>
              <a:t>dfs(nums,n+1,temp)</a:t>
            </a:r>
            <a:endParaRPr lang="en-US" altLang="zh-CN">
              <a:latin typeface="Times New Roman" panose="02020603050405020304" pitchFamily="18" charset="0"/>
              <a:cs typeface="Times New Roman" panose="02020603050405020304" pitchFamily="18" charset="0"/>
            </a:endParaRPr>
          </a:p>
          <a:p>
            <a:pPr algn="just"/>
            <a:r>
              <a:rPr lang="zh-CN" altLang="en-US">
                <a:latin typeface="Times New Roman" panose="02020603050405020304" pitchFamily="18" charset="0"/>
                <a:cs typeface="Times New Roman" panose="02020603050405020304" pitchFamily="18" charset="0"/>
                <a:sym typeface="+mn-ea"/>
              </a:rPr>
              <a:t>表示进入了右子树</a:t>
            </a:r>
            <a:endParaRPr lang="zh-CN" altLang="en-US">
              <a:latin typeface="Times New Roman" panose="02020603050405020304" pitchFamily="18" charset="0"/>
              <a:cs typeface="Times New Roman" panose="02020603050405020304" pitchFamily="18" charset="0"/>
            </a:endParaRPr>
          </a:p>
          <a:p>
            <a:pPr algn="just"/>
            <a:r>
              <a:rPr lang="zh-CN" altLang="en-US">
                <a:latin typeface="Times New Roman" panose="02020603050405020304" pitchFamily="18" charset="0"/>
                <a:cs typeface="Times New Roman" panose="02020603050405020304" pitchFamily="18" charset="0"/>
                <a:sym typeface="+mn-ea"/>
              </a:rPr>
              <a:t>注意代码的细节</a:t>
            </a:r>
            <a:r>
              <a:rPr lang="en-US" altLang="zh-CN">
                <a:latin typeface="Times New Roman" panose="02020603050405020304" pitchFamily="18" charset="0"/>
                <a:cs typeface="Times New Roman" panose="02020603050405020304" pitchFamily="18" charset="0"/>
                <a:sym typeface="+mn-ea"/>
              </a:rPr>
              <a:t>opt</a:t>
            </a:r>
            <a:r>
              <a:rPr lang="zh-CN" altLang="en-US">
                <a:latin typeface="Times New Roman" panose="02020603050405020304" pitchFamily="18" charset="0"/>
                <a:cs typeface="Times New Roman" panose="02020603050405020304" pitchFamily="18" charset="0"/>
                <a:sym typeface="+mn-ea"/>
              </a:rPr>
              <a:t>数组？</a:t>
            </a:r>
            <a:endParaRPr lang="zh-CN" altLang="en-US">
              <a:latin typeface="Times New Roman" panose="02020603050405020304" pitchFamily="18" charset="0"/>
              <a:cs typeface="Times New Roman" panose="02020603050405020304"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779272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sym typeface="+mn-ea"/>
              </a:rPr>
              <a:t>（</a:t>
            </a:r>
            <a:r>
              <a:rPr lang="en-US" altLang="zh-CN" sz="3600" kern="0" smtClean="0">
                <a:sym typeface="+mn-ea"/>
              </a:rPr>
              <a:t>2</a:t>
            </a:r>
            <a:r>
              <a:rPr lang="zh-CN" altLang="en-US" sz="3600" kern="0" smtClean="0">
                <a:sym typeface="+mn-ea"/>
              </a:rPr>
              <a:t>）</a:t>
            </a:r>
            <a:r>
              <a:rPr lang="zh-CN" altLang="en-US" sz="3600" kern="0" smtClean="0"/>
              <a:t>子集</a:t>
            </a:r>
            <a:r>
              <a:rPr lang="en-US" altLang="zh-CN" sz="3600" kern="0" smtClean="0"/>
              <a:t>I(</a:t>
            </a:r>
            <a:r>
              <a:rPr lang="zh-CN" altLang="en-US" sz="3600" kern="0" smtClean="0"/>
              <a:t>没有重复元素的全排列</a:t>
            </a:r>
            <a:r>
              <a:rPr lang="en-US" altLang="zh-CN" sz="3600" kern="0" smtClean="0"/>
              <a:t>)</a:t>
            </a:r>
            <a:endParaRPr lang="en-US" altLang="zh-CN" sz="3600" kern="0" smtClean="0"/>
          </a:p>
        </p:txBody>
      </p:sp>
      <p:sp>
        <p:nvSpPr>
          <p:cNvPr id="3" name="文本框 2"/>
          <p:cNvSpPr txBox="1"/>
          <p:nvPr/>
        </p:nvSpPr>
        <p:spPr>
          <a:xfrm>
            <a:off x="755650" y="2852420"/>
            <a:ext cx="5486400" cy="361315"/>
          </a:xfrm>
          <a:prstGeom prst="rect">
            <a:avLst/>
          </a:prstGeom>
          <a:noFill/>
        </p:spPr>
        <p:txBody>
          <a:bodyPr wrap="square" rtlCol="0" anchor="t">
            <a:noAutofit/>
          </a:bodyPr>
          <a:p>
            <a:r>
              <a:rPr lang="zh-CN" altLang="en-US" sz="1800" kern="0" smtClean="0">
                <a:sym typeface="+mn-ea"/>
              </a:rPr>
              <a:t>子集的另一种解法：迭代二进制</a:t>
            </a:r>
            <a:r>
              <a:rPr lang="zh-CN" altLang="en-US" sz="1800" kern="0" smtClean="0">
                <a:sym typeface="+mn-ea"/>
              </a:rPr>
              <a:t>法</a:t>
            </a:r>
            <a:endParaRPr lang="zh-CN" altLang="en-US" sz="1800" kern="0" smtClean="0">
              <a:sym typeface="+mn-ea"/>
            </a:endParaRPr>
          </a:p>
        </p:txBody>
      </p:sp>
      <p:graphicFrame>
        <p:nvGraphicFramePr>
          <p:cNvPr id="7" name="表格 6"/>
          <p:cNvGraphicFramePr/>
          <p:nvPr>
            <p:custDataLst>
              <p:tags r:id="rId1"/>
            </p:custDataLst>
          </p:nvPr>
        </p:nvGraphicFramePr>
        <p:xfrm>
          <a:off x="3563620" y="3356610"/>
          <a:ext cx="2595880" cy="3063240"/>
        </p:xfrm>
        <a:graphic>
          <a:graphicData uri="http://schemas.openxmlformats.org/drawingml/2006/table">
            <a:tbl>
              <a:tblPr firstRow="1" bandRow="1">
                <a:tableStyleId>{5C22544A-7EE6-4342-B048-85BDC9FD1C3A}</a:tableStyleId>
              </a:tblPr>
              <a:tblGrid>
                <a:gridCol w="1297940"/>
                <a:gridCol w="1297940"/>
              </a:tblGrid>
              <a:tr h="382905">
                <a:tc>
                  <a:txBody>
                    <a:bodyPr/>
                    <a:p>
                      <a:pPr>
                        <a:buNone/>
                      </a:pPr>
                      <a:r>
                        <a:rPr lang="en-US" altLang="zh-CN" b="0">
                          <a:solidFill>
                            <a:schemeClr val="tx2"/>
                          </a:solidFill>
                          <a:latin typeface="Times New Roman" panose="02020603050405020304" pitchFamily="18" charset="0"/>
                          <a:cs typeface="Times New Roman" panose="02020603050405020304" pitchFamily="18" charset="0"/>
                        </a:rPr>
                        <a:t>000</a:t>
                      </a:r>
                      <a:endParaRPr lang="en-US" altLang="zh-CN" b="0">
                        <a:solidFill>
                          <a:schemeClr val="tx2"/>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b="0">
                          <a:solidFill>
                            <a:schemeClr val="tx2"/>
                          </a:solidFill>
                          <a:latin typeface="Times New Roman" panose="02020603050405020304" pitchFamily="18" charset="0"/>
                          <a:cs typeface="Times New Roman" panose="02020603050405020304" pitchFamily="18" charset="0"/>
                        </a:rPr>
                        <a:t>[]</a:t>
                      </a:r>
                      <a:endParaRPr lang="en-US" altLang="zh-CN" b="0">
                        <a:solidFill>
                          <a:schemeClr val="tx2"/>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2905">
                <a:tc>
                  <a:txBody>
                    <a:bodyPr/>
                    <a:p>
                      <a:pPr>
                        <a:buNone/>
                      </a:pPr>
                      <a:r>
                        <a:rPr lang="en-US" altLang="zh-CN" b="0">
                          <a:solidFill>
                            <a:schemeClr val="tx2"/>
                          </a:solidFill>
                          <a:latin typeface="Times New Roman" panose="02020603050405020304" pitchFamily="18" charset="0"/>
                          <a:cs typeface="Times New Roman" panose="02020603050405020304" pitchFamily="18" charset="0"/>
                        </a:rPr>
                        <a:t>001</a:t>
                      </a:r>
                      <a:endParaRPr lang="en-US" altLang="zh-CN" b="0">
                        <a:solidFill>
                          <a:schemeClr val="tx2"/>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b="0">
                          <a:solidFill>
                            <a:schemeClr val="tx2"/>
                          </a:solidFill>
                          <a:latin typeface="Times New Roman" panose="02020603050405020304" pitchFamily="18" charset="0"/>
                          <a:cs typeface="Times New Roman" panose="02020603050405020304" pitchFamily="18" charset="0"/>
                        </a:rPr>
                        <a:t>[1]</a:t>
                      </a:r>
                      <a:endParaRPr lang="en-US" altLang="zh-CN" b="0">
                        <a:solidFill>
                          <a:schemeClr val="tx2"/>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2905">
                <a:tc>
                  <a:txBody>
                    <a:bodyPr/>
                    <a:p>
                      <a:pPr>
                        <a:buNone/>
                      </a:pPr>
                      <a:r>
                        <a:rPr lang="en-US" altLang="zh-CN" sz="1800" b="0">
                          <a:solidFill>
                            <a:schemeClr val="tx2"/>
                          </a:solidFill>
                          <a:latin typeface="Times New Roman" panose="02020603050405020304" pitchFamily="18" charset="0"/>
                          <a:cs typeface="Times New Roman" panose="02020603050405020304" pitchFamily="18" charset="0"/>
                          <a:sym typeface="+mn-ea"/>
                        </a:rPr>
                        <a:t>010</a:t>
                      </a:r>
                      <a:endParaRPr lang="en-US" altLang="zh-CN" sz="1800" b="0">
                        <a:solidFill>
                          <a:schemeClr val="tx2"/>
                        </a:solidFill>
                        <a:latin typeface="Times New Roman" panose="02020603050405020304" pitchFamily="18" charset="0"/>
                        <a:cs typeface="Times New Roman" panose="02020603050405020304" pitchFamily="18"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1800" b="0">
                          <a:solidFill>
                            <a:schemeClr val="tx2"/>
                          </a:solidFill>
                          <a:latin typeface="Times New Roman" panose="02020603050405020304" pitchFamily="18" charset="0"/>
                          <a:cs typeface="Times New Roman" panose="02020603050405020304" pitchFamily="18" charset="0"/>
                          <a:sym typeface="+mn-ea"/>
                        </a:rPr>
                        <a:t>[2]</a:t>
                      </a:r>
                      <a:endParaRPr lang="en-US" altLang="zh-CN" sz="1800" b="0">
                        <a:solidFill>
                          <a:schemeClr val="tx2"/>
                        </a:solidFill>
                        <a:latin typeface="Times New Roman" panose="02020603050405020304" pitchFamily="18" charset="0"/>
                        <a:cs typeface="Times New Roman" panose="02020603050405020304" pitchFamily="18"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2905">
                <a:tc>
                  <a:txBody>
                    <a:bodyPr/>
                    <a:p>
                      <a:pPr>
                        <a:buNone/>
                      </a:pPr>
                      <a:r>
                        <a:rPr lang="en-US" altLang="zh-CN" sz="1800" b="0">
                          <a:solidFill>
                            <a:schemeClr val="tx2"/>
                          </a:solidFill>
                          <a:latin typeface="Times New Roman" panose="02020603050405020304" pitchFamily="18" charset="0"/>
                          <a:cs typeface="Times New Roman" panose="02020603050405020304" pitchFamily="18" charset="0"/>
                          <a:sym typeface="+mn-ea"/>
                        </a:rPr>
                        <a:t>011</a:t>
                      </a:r>
                      <a:endParaRPr lang="en-US" altLang="zh-CN" sz="1800" b="0">
                        <a:solidFill>
                          <a:schemeClr val="tx2"/>
                        </a:solidFill>
                        <a:latin typeface="Times New Roman" panose="02020603050405020304" pitchFamily="18" charset="0"/>
                        <a:cs typeface="Times New Roman" panose="02020603050405020304" pitchFamily="18"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b="0">
                          <a:solidFill>
                            <a:schemeClr val="tx2"/>
                          </a:solidFill>
                          <a:latin typeface="Times New Roman" panose="02020603050405020304" pitchFamily="18" charset="0"/>
                          <a:cs typeface="Times New Roman" panose="02020603050405020304" pitchFamily="18" charset="0"/>
                        </a:rPr>
                        <a:t>[1,2]</a:t>
                      </a:r>
                      <a:endParaRPr lang="en-US" altLang="zh-CN" b="0">
                        <a:solidFill>
                          <a:schemeClr val="tx2"/>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2905">
                <a:tc>
                  <a:txBody>
                    <a:bodyPr/>
                    <a:p>
                      <a:pPr>
                        <a:buNone/>
                      </a:pPr>
                      <a:r>
                        <a:rPr lang="en-US" altLang="zh-CN" sz="1800" b="0">
                          <a:solidFill>
                            <a:schemeClr val="tx2"/>
                          </a:solidFill>
                          <a:latin typeface="Times New Roman" panose="02020603050405020304" pitchFamily="18" charset="0"/>
                          <a:cs typeface="Times New Roman" panose="02020603050405020304" pitchFamily="18" charset="0"/>
                          <a:sym typeface="+mn-ea"/>
                        </a:rPr>
                        <a:t>100</a:t>
                      </a:r>
                      <a:endParaRPr lang="en-US" altLang="zh-CN" sz="1800" b="0">
                        <a:solidFill>
                          <a:schemeClr val="tx2"/>
                        </a:solidFill>
                        <a:latin typeface="Times New Roman" panose="02020603050405020304" pitchFamily="18" charset="0"/>
                        <a:cs typeface="Times New Roman" panose="02020603050405020304" pitchFamily="18"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b="0">
                          <a:solidFill>
                            <a:schemeClr val="tx2"/>
                          </a:solidFill>
                          <a:latin typeface="Times New Roman" panose="02020603050405020304" pitchFamily="18" charset="0"/>
                          <a:cs typeface="Times New Roman" panose="02020603050405020304" pitchFamily="18" charset="0"/>
                        </a:rPr>
                        <a:t>[3]</a:t>
                      </a:r>
                      <a:endParaRPr lang="en-US" altLang="zh-CN" b="0">
                        <a:solidFill>
                          <a:schemeClr val="tx2"/>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2905">
                <a:tc>
                  <a:txBody>
                    <a:bodyPr/>
                    <a:p>
                      <a:pPr>
                        <a:buNone/>
                      </a:pPr>
                      <a:r>
                        <a:rPr lang="en-US" altLang="zh-CN" sz="1800" b="0">
                          <a:solidFill>
                            <a:schemeClr val="tx2"/>
                          </a:solidFill>
                          <a:latin typeface="Times New Roman" panose="02020603050405020304" pitchFamily="18" charset="0"/>
                          <a:cs typeface="Times New Roman" panose="02020603050405020304" pitchFamily="18" charset="0"/>
                          <a:sym typeface="+mn-ea"/>
                        </a:rPr>
                        <a:t>101</a:t>
                      </a:r>
                      <a:endParaRPr lang="en-US" altLang="zh-CN" sz="1800" b="0">
                        <a:solidFill>
                          <a:schemeClr val="tx2"/>
                        </a:solidFill>
                        <a:latin typeface="Times New Roman" panose="02020603050405020304" pitchFamily="18" charset="0"/>
                        <a:cs typeface="Times New Roman" panose="02020603050405020304" pitchFamily="18"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b="0">
                          <a:solidFill>
                            <a:schemeClr val="tx2"/>
                          </a:solidFill>
                          <a:latin typeface="Times New Roman" panose="02020603050405020304" pitchFamily="18" charset="0"/>
                          <a:cs typeface="Times New Roman" panose="02020603050405020304" pitchFamily="18" charset="0"/>
                        </a:rPr>
                        <a:t>[1,3]</a:t>
                      </a:r>
                      <a:endParaRPr lang="en-US" altLang="zh-CN" b="0">
                        <a:solidFill>
                          <a:schemeClr val="tx2"/>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2905">
                <a:tc>
                  <a:txBody>
                    <a:bodyPr/>
                    <a:p>
                      <a:pPr>
                        <a:buNone/>
                      </a:pPr>
                      <a:r>
                        <a:rPr lang="en-US" altLang="zh-CN" sz="1800" b="0">
                          <a:solidFill>
                            <a:schemeClr val="tx2"/>
                          </a:solidFill>
                          <a:latin typeface="Times New Roman" panose="02020603050405020304" pitchFamily="18" charset="0"/>
                          <a:cs typeface="Times New Roman" panose="02020603050405020304" pitchFamily="18" charset="0"/>
                          <a:sym typeface="+mn-ea"/>
                        </a:rPr>
                        <a:t>110</a:t>
                      </a:r>
                      <a:endParaRPr lang="en-US" altLang="zh-CN" sz="1800" b="0">
                        <a:solidFill>
                          <a:schemeClr val="tx2"/>
                        </a:solidFill>
                        <a:latin typeface="Times New Roman" panose="02020603050405020304" pitchFamily="18" charset="0"/>
                        <a:cs typeface="Times New Roman" panose="02020603050405020304" pitchFamily="18"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b="0">
                          <a:solidFill>
                            <a:schemeClr val="tx2"/>
                          </a:solidFill>
                          <a:latin typeface="Times New Roman" panose="02020603050405020304" pitchFamily="18" charset="0"/>
                          <a:cs typeface="Times New Roman" panose="02020603050405020304" pitchFamily="18" charset="0"/>
                        </a:rPr>
                        <a:t>[2,3]</a:t>
                      </a:r>
                      <a:endParaRPr lang="en-US" altLang="zh-CN" b="0">
                        <a:solidFill>
                          <a:schemeClr val="tx2"/>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2905">
                <a:tc>
                  <a:txBody>
                    <a:bodyPr/>
                    <a:p>
                      <a:pPr>
                        <a:buNone/>
                      </a:pPr>
                      <a:r>
                        <a:rPr lang="en-US" altLang="zh-CN" sz="1800" b="0">
                          <a:solidFill>
                            <a:schemeClr val="tx2"/>
                          </a:solidFill>
                          <a:latin typeface="Times New Roman" panose="02020603050405020304" pitchFamily="18" charset="0"/>
                          <a:cs typeface="Times New Roman" panose="02020603050405020304" pitchFamily="18" charset="0"/>
                          <a:sym typeface="+mn-ea"/>
                        </a:rPr>
                        <a:t>111</a:t>
                      </a:r>
                      <a:endParaRPr lang="en-US" altLang="zh-CN" sz="1800" b="0">
                        <a:solidFill>
                          <a:schemeClr val="tx2"/>
                        </a:solidFill>
                        <a:latin typeface="Times New Roman" panose="02020603050405020304" pitchFamily="18" charset="0"/>
                        <a:cs typeface="Times New Roman" panose="02020603050405020304" pitchFamily="18"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b="0">
                          <a:solidFill>
                            <a:schemeClr val="tx2"/>
                          </a:solidFill>
                          <a:latin typeface="Times New Roman" panose="02020603050405020304" pitchFamily="18" charset="0"/>
                          <a:cs typeface="Times New Roman" panose="02020603050405020304" pitchFamily="18" charset="0"/>
                        </a:rPr>
                        <a:t>[1,2,3]</a:t>
                      </a:r>
                      <a:endParaRPr lang="en-US" altLang="zh-CN" b="0">
                        <a:solidFill>
                          <a:schemeClr val="tx2"/>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
        <p:nvSpPr>
          <p:cNvPr id="8" name="文本框 7"/>
          <p:cNvSpPr txBox="1"/>
          <p:nvPr/>
        </p:nvSpPr>
        <p:spPr>
          <a:xfrm>
            <a:off x="683260" y="1462405"/>
            <a:ext cx="6148070" cy="831850"/>
          </a:xfrm>
          <a:prstGeom prst="rect">
            <a:avLst/>
          </a:prstGeom>
          <a:noFill/>
        </p:spPr>
        <p:txBody>
          <a:bodyPr wrap="square" rtlCol="0" anchor="t">
            <a:noAutofit/>
          </a:bodyPr>
          <a:p>
            <a:r>
              <a:rPr lang="zh-CN" altLang="en-US" sz="1800" kern="0" smtClean="0">
                <a:sym typeface="+mn-ea"/>
              </a:rPr>
              <a:t>观察</a:t>
            </a:r>
            <a:r>
              <a:rPr lang="en-US" altLang="zh-CN" sz="1800" kern="0" smtClean="0">
                <a:sym typeface="+mn-ea"/>
              </a:rPr>
              <a:t>opt</a:t>
            </a:r>
            <a:r>
              <a:rPr lang="zh-CN" altLang="en-US" sz="1800" kern="0" smtClean="0">
                <a:sym typeface="+mn-ea"/>
              </a:rPr>
              <a:t>数组的变化</a:t>
            </a:r>
            <a:r>
              <a:rPr lang="en-US" altLang="zh-CN" sz="1800" kern="0" smtClean="0">
                <a:sym typeface="+mn-ea"/>
              </a:rPr>
              <a:t>:[</a:t>
            </a:r>
            <a:r>
              <a:rPr lang="en-US" altLang="zh-CN" sz="1800">
                <a:solidFill>
                  <a:schemeClr val="tx2"/>
                </a:solidFill>
                <a:latin typeface="Times New Roman" panose="02020603050405020304" pitchFamily="18" charset="0"/>
                <a:cs typeface="Times New Roman" panose="02020603050405020304" pitchFamily="18" charset="0"/>
                <a:sym typeface="+mn-ea"/>
              </a:rPr>
              <a:t>000</a:t>
            </a:r>
            <a:r>
              <a:rPr lang="en-US" altLang="zh-CN" sz="1800" kern="0" smtClean="0">
                <a:sym typeface="+mn-ea"/>
              </a:rPr>
              <a:t>]</a:t>
            </a:r>
            <a:r>
              <a:rPr lang="zh-CN" altLang="en-US" sz="1800" kern="0" smtClean="0">
                <a:sym typeface="+mn-ea"/>
              </a:rPr>
              <a:t>，</a:t>
            </a:r>
            <a:r>
              <a:rPr lang="en-US" altLang="zh-CN" sz="1800" kern="0" smtClean="0">
                <a:sym typeface="+mn-ea"/>
              </a:rPr>
              <a:t>[001]</a:t>
            </a:r>
            <a:r>
              <a:rPr lang="zh-CN" altLang="en-US" sz="1800" kern="0" smtClean="0">
                <a:sym typeface="+mn-ea"/>
              </a:rPr>
              <a:t>，</a:t>
            </a:r>
            <a:r>
              <a:rPr lang="en-US" altLang="zh-CN" sz="1800" kern="0" smtClean="0">
                <a:sym typeface="+mn-ea"/>
              </a:rPr>
              <a:t>[010]</a:t>
            </a:r>
            <a:r>
              <a:rPr lang="zh-CN" altLang="en-US" sz="1800" kern="0" smtClean="0">
                <a:sym typeface="+mn-ea"/>
              </a:rPr>
              <a:t>，</a:t>
            </a:r>
            <a:r>
              <a:rPr lang="en-US" altLang="zh-CN" sz="1800" kern="0" smtClean="0">
                <a:sym typeface="+mn-ea"/>
              </a:rPr>
              <a:t>...</a:t>
            </a:r>
            <a:r>
              <a:rPr lang="zh-CN" altLang="en-US" sz="1800" kern="0" smtClean="0">
                <a:sym typeface="+mn-ea"/>
              </a:rPr>
              <a:t>，</a:t>
            </a:r>
            <a:r>
              <a:rPr lang="en-US" altLang="zh-CN" sz="1800" kern="0" smtClean="0">
                <a:sym typeface="+mn-ea"/>
              </a:rPr>
              <a:t>[111]</a:t>
            </a:r>
            <a:endParaRPr lang="en-US" altLang="zh-CN" sz="1800" kern="0" smtClean="0">
              <a:sym typeface="+mn-ea"/>
            </a:endParaRPr>
          </a:p>
          <a:p>
            <a:r>
              <a:rPr lang="en-US" altLang="zh-CN" sz="1800" kern="0" smtClean="0">
                <a:sym typeface="+mn-ea"/>
              </a:rPr>
              <a:t>                               []</a:t>
            </a:r>
            <a:r>
              <a:rPr lang="zh-CN" altLang="en-US" sz="1800" kern="0" smtClean="0">
                <a:sym typeface="+mn-ea"/>
              </a:rPr>
              <a:t>，</a:t>
            </a:r>
            <a:r>
              <a:rPr lang="en-US" altLang="zh-CN" sz="1800" kern="0" smtClean="0">
                <a:sym typeface="+mn-ea"/>
              </a:rPr>
              <a:t>      [1]</a:t>
            </a:r>
            <a:r>
              <a:rPr lang="zh-CN" altLang="en-US" sz="1800" kern="0" smtClean="0">
                <a:sym typeface="+mn-ea"/>
              </a:rPr>
              <a:t>，</a:t>
            </a:r>
            <a:r>
              <a:rPr lang="en-US" altLang="zh-CN" sz="1800" kern="0" smtClean="0">
                <a:sym typeface="+mn-ea"/>
              </a:rPr>
              <a:t>    [2]</a:t>
            </a:r>
            <a:r>
              <a:rPr lang="zh-CN" altLang="en-US" sz="1800" kern="0" smtClean="0">
                <a:sym typeface="+mn-ea"/>
              </a:rPr>
              <a:t>，</a:t>
            </a:r>
            <a:r>
              <a:rPr lang="en-US" altLang="zh-CN" sz="1800" kern="0" smtClean="0">
                <a:sym typeface="+mn-ea"/>
              </a:rPr>
              <a:t>...</a:t>
            </a:r>
            <a:r>
              <a:rPr lang="zh-CN" altLang="en-US" sz="1800" kern="0" smtClean="0">
                <a:sym typeface="+mn-ea"/>
              </a:rPr>
              <a:t>，</a:t>
            </a:r>
            <a:r>
              <a:rPr lang="en-US" altLang="zh-CN" sz="1800" kern="0" smtClean="0">
                <a:sym typeface="+mn-ea"/>
              </a:rPr>
              <a:t>    [1,2,3]</a:t>
            </a:r>
            <a:endParaRPr lang="en-US" altLang="zh-CN" sz="1800" kern="0" smtClean="0">
              <a:sym typeface="+mn-ea"/>
            </a:endParaRPr>
          </a:p>
          <a:p>
            <a:endParaRPr lang="en-US" altLang="zh-CN" sz="1800" kern="0" smtClean="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3" name="文本框 2"/>
          <p:cNvSpPr txBox="1"/>
          <p:nvPr/>
        </p:nvSpPr>
        <p:spPr>
          <a:xfrm>
            <a:off x="467360" y="1064260"/>
            <a:ext cx="2992120" cy="368300"/>
          </a:xfrm>
          <a:prstGeom prst="rect">
            <a:avLst/>
          </a:prstGeom>
          <a:noFill/>
        </p:spPr>
        <p:txBody>
          <a:bodyPr wrap="square" rtlCol="0">
            <a:spAutoFit/>
          </a:bodyPr>
          <a:p>
            <a:r>
              <a:rPr lang="zh-CN" altLang="en-US"/>
              <a:t>轻松一下！！！</a:t>
            </a:r>
            <a:endParaRPr lang="en-US" altLang="zh-CN"/>
          </a:p>
        </p:txBody>
      </p:sp>
      <p:pic>
        <p:nvPicPr>
          <p:cNvPr id="8" name="图片 7" descr="image-e8A40SoxSCevzq8cQ06UD"/>
          <p:cNvPicPr>
            <a:picLocks noChangeAspect="1"/>
          </p:cNvPicPr>
          <p:nvPr/>
        </p:nvPicPr>
        <p:blipFill>
          <a:blip r:embed="rId1"/>
          <a:stretch>
            <a:fillRect/>
          </a:stretch>
        </p:blipFill>
        <p:spPr>
          <a:xfrm>
            <a:off x="2339340" y="2228215"/>
            <a:ext cx="648970" cy="648970"/>
          </a:xfrm>
          <a:prstGeom prst="rect">
            <a:avLst/>
          </a:prstGeom>
        </p:spPr>
      </p:pic>
      <p:pic>
        <p:nvPicPr>
          <p:cNvPr id="9" name="图片 8" descr="红苹果"/>
          <p:cNvPicPr>
            <a:picLocks noChangeAspect="1"/>
          </p:cNvPicPr>
          <p:nvPr/>
        </p:nvPicPr>
        <p:blipFill>
          <a:blip r:embed="rId2"/>
          <a:stretch>
            <a:fillRect/>
          </a:stretch>
        </p:blipFill>
        <p:spPr>
          <a:xfrm>
            <a:off x="4932045" y="2228215"/>
            <a:ext cx="606425" cy="606425"/>
          </a:xfrm>
          <a:prstGeom prst="rect">
            <a:avLst/>
          </a:prstGeom>
        </p:spPr>
      </p:pic>
      <p:pic>
        <p:nvPicPr>
          <p:cNvPr id="10" name="图片 9" descr="image-e8A40SoxSCevzq8cQ06UD"/>
          <p:cNvPicPr>
            <a:picLocks noChangeAspect="1"/>
          </p:cNvPicPr>
          <p:nvPr/>
        </p:nvPicPr>
        <p:blipFill>
          <a:blip r:embed="rId1"/>
          <a:stretch>
            <a:fillRect/>
          </a:stretch>
        </p:blipFill>
        <p:spPr>
          <a:xfrm>
            <a:off x="3275965" y="2228215"/>
            <a:ext cx="648970" cy="648970"/>
          </a:xfrm>
          <a:prstGeom prst="rect">
            <a:avLst/>
          </a:prstGeom>
        </p:spPr>
      </p:pic>
      <p:pic>
        <p:nvPicPr>
          <p:cNvPr id="12" name="图片 11" descr="image-e8A40SoxSCevzq8cQ06UD"/>
          <p:cNvPicPr>
            <a:picLocks noChangeAspect="1"/>
          </p:cNvPicPr>
          <p:nvPr/>
        </p:nvPicPr>
        <p:blipFill>
          <a:blip r:embed="rId1"/>
          <a:stretch>
            <a:fillRect/>
          </a:stretch>
        </p:blipFill>
        <p:spPr>
          <a:xfrm>
            <a:off x="4067810" y="2228215"/>
            <a:ext cx="648970" cy="648970"/>
          </a:xfrm>
          <a:prstGeom prst="rect">
            <a:avLst/>
          </a:prstGeom>
        </p:spPr>
      </p:pic>
      <p:pic>
        <p:nvPicPr>
          <p:cNvPr id="13" name="图片 12" descr="红苹果"/>
          <p:cNvPicPr>
            <a:picLocks noChangeAspect="1"/>
          </p:cNvPicPr>
          <p:nvPr/>
        </p:nvPicPr>
        <p:blipFill>
          <a:blip r:embed="rId2"/>
          <a:stretch>
            <a:fillRect/>
          </a:stretch>
        </p:blipFill>
        <p:spPr>
          <a:xfrm>
            <a:off x="5796280" y="2228215"/>
            <a:ext cx="606425" cy="606425"/>
          </a:xfrm>
          <a:prstGeom prst="rect">
            <a:avLst/>
          </a:prstGeom>
        </p:spPr>
      </p:pic>
      <p:pic>
        <p:nvPicPr>
          <p:cNvPr id="15" name="图片 14"/>
          <p:cNvPicPr>
            <a:picLocks noChangeAspect="1"/>
          </p:cNvPicPr>
          <p:nvPr/>
        </p:nvPicPr>
        <p:blipFill>
          <a:blip r:embed="rId3"/>
          <a:stretch>
            <a:fillRect/>
          </a:stretch>
        </p:blipFill>
        <p:spPr>
          <a:xfrm>
            <a:off x="1691640" y="3356610"/>
            <a:ext cx="1812925" cy="1857375"/>
          </a:xfrm>
          <a:prstGeom prst="rect">
            <a:avLst/>
          </a:prstGeom>
        </p:spPr>
      </p:pic>
      <p:pic>
        <p:nvPicPr>
          <p:cNvPr id="16" name="图片 15"/>
          <p:cNvPicPr>
            <a:picLocks noChangeAspect="1"/>
          </p:cNvPicPr>
          <p:nvPr/>
        </p:nvPicPr>
        <p:blipFill>
          <a:blip r:embed="rId3"/>
          <a:stretch>
            <a:fillRect/>
          </a:stretch>
        </p:blipFill>
        <p:spPr>
          <a:xfrm>
            <a:off x="3924935" y="3860800"/>
            <a:ext cx="1181100" cy="1209675"/>
          </a:xfrm>
          <a:prstGeom prst="rect">
            <a:avLst/>
          </a:prstGeom>
        </p:spPr>
      </p:pic>
      <p:pic>
        <p:nvPicPr>
          <p:cNvPr id="17" name="图片 16"/>
          <p:cNvPicPr>
            <a:picLocks noChangeAspect="1"/>
          </p:cNvPicPr>
          <p:nvPr/>
        </p:nvPicPr>
        <p:blipFill>
          <a:blip r:embed="rId3"/>
          <a:stretch>
            <a:fillRect/>
          </a:stretch>
        </p:blipFill>
        <p:spPr>
          <a:xfrm>
            <a:off x="5829935" y="4110990"/>
            <a:ext cx="900430" cy="922655"/>
          </a:xfrm>
          <a:prstGeom prst="rect">
            <a:avLst/>
          </a:prstGeom>
        </p:spPr>
      </p:pic>
      <p:sp>
        <p:nvSpPr>
          <p:cNvPr id="18" name="文本框 17"/>
          <p:cNvSpPr txBox="1"/>
          <p:nvPr/>
        </p:nvSpPr>
        <p:spPr>
          <a:xfrm>
            <a:off x="939800" y="1586230"/>
            <a:ext cx="6800215" cy="645160"/>
          </a:xfrm>
          <a:prstGeom prst="rect">
            <a:avLst/>
          </a:prstGeom>
          <a:noFill/>
        </p:spPr>
        <p:txBody>
          <a:bodyPr wrap="square" rtlCol="0">
            <a:spAutoFit/>
          </a:bodyPr>
          <a:p>
            <a:r>
              <a:rPr lang="zh-CN" altLang="en-US"/>
              <a:t>有五个苹果图案，三青二红，被三个小朋友各贴在后背上，个子高的小朋友能知道各自矮的小朋友贴的</a:t>
            </a:r>
            <a:r>
              <a:rPr lang="zh-CN" altLang="en-US"/>
              <a:t>什么颜色</a:t>
            </a:r>
            <a:r>
              <a:rPr lang="zh-CN" altLang="en-US"/>
              <a:t>水果。</a:t>
            </a:r>
            <a:endParaRPr lang="zh-CN" altLang="en-US"/>
          </a:p>
        </p:txBody>
      </p:sp>
      <p:sp>
        <p:nvSpPr>
          <p:cNvPr id="19" name="文本框 18"/>
          <p:cNvSpPr txBox="1"/>
          <p:nvPr/>
        </p:nvSpPr>
        <p:spPr>
          <a:xfrm>
            <a:off x="1619250" y="3068955"/>
            <a:ext cx="6800215" cy="368300"/>
          </a:xfrm>
          <a:prstGeom prst="rect">
            <a:avLst/>
          </a:prstGeom>
          <a:noFill/>
        </p:spPr>
        <p:txBody>
          <a:bodyPr wrap="square" rtlCol="0">
            <a:spAutoFit/>
          </a:bodyPr>
          <a:p>
            <a:r>
              <a:rPr lang="zh-CN" altLang="en-US"/>
              <a:t>（</a:t>
            </a:r>
            <a:r>
              <a:rPr lang="en-US" altLang="zh-CN"/>
              <a:t>1</a:t>
            </a:r>
            <a:r>
              <a:rPr lang="zh-CN" altLang="en-US"/>
              <a:t>）</a:t>
            </a:r>
            <a:r>
              <a:rPr lang="en-US" altLang="zh-CN"/>
              <a:t>                             </a:t>
            </a:r>
            <a:r>
              <a:rPr lang="zh-CN" altLang="en-US">
                <a:sym typeface="+mn-ea"/>
              </a:rPr>
              <a:t>（</a:t>
            </a:r>
            <a:r>
              <a:rPr lang="en-US" altLang="zh-CN">
                <a:sym typeface="+mn-ea"/>
              </a:rPr>
              <a:t>2</a:t>
            </a:r>
            <a:r>
              <a:rPr lang="zh-CN" altLang="en-US">
                <a:sym typeface="+mn-ea"/>
              </a:rPr>
              <a:t>）</a:t>
            </a:r>
            <a:r>
              <a:rPr lang="en-US" altLang="zh-CN"/>
              <a:t>                    </a:t>
            </a:r>
            <a:r>
              <a:rPr lang="zh-CN" altLang="en-US">
                <a:sym typeface="+mn-ea"/>
              </a:rPr>
              <a:t>（</a:t>
            </a:r>
            <a:r>
              <a:rPr lang="en-US" altLang="zh-CN">
                <a:sym typeface="+mn-ea"/>
              </a:rPr>
              <a:t>3</a:t>
            </a:r>
            <a:r>
              <a:rPr lang="zh-CN" altLang="en-US">
                <a:sym typeface="+mn-ea"/>
              </a:rPr>
              <a:t>）</a:t>
            </a:r>
            <a:r>
              <a:rPr lang="en-US" altLang="zh-CN"/>
              <a:t>              </a:t>
            </a:r>
            <a:endParaRPr lang="en-US" altLang="zh-CN"/>
          </a:p>
        </p:txBody>
      </p:sp>
      <p:sp>
        <p:nvSpPr>
          <p:cNvPr id="20" name="文本框 19"/>
          <p:cNvSpPr txBox="1"/>
          <p:nvPr/>
        </p:nvSpPr>
        <p:spPr>
          <a:xfrm>
            <a:off x="1115060" y="5229225"/>
            <a:ext cx="6800215" cy="368300"/>
          </a:xfrm>
          <a:prstGeom prst="rect">
            <a:avLst/>
          </a:prstGeom>
          <a:noFill/>
        </p:spPr>
        <p:txBody>
          <a:bodyPr wrap="square" rtlCol="0">
            <a:spAutoFit/>
          </a:bodyPr>
          <a:p>
            <a:r>
              <a:rPr lang="zh-CN" altLang="en-US"/>
              <a:t>第一个小朋友说：我不知道自己</a:t>
            </a:r>
            <a:r>
              <a:rPr lang="zh-CN" altLang="en-US"/>
              <a:t>贴的什么颜色苹果</a:t>
            </a:r>
            <a:r>
              <a:rPr lang="en-US" altLang="zh-CN"/>
              <a:t>              </a:t>
            </a:r>
            <a:endParaRPr lang="en-US" altLang="zh-CN"/>
          </a:p>
        </p:txBody>
      </p:sp>
      <p:sp>
        <p:nvSpPr>
          <p:cNvPr id="21" name="文本框 20"/>
          <p:cNvSpPr txBox="1"/>
          <p:nvPr/>
        </p:nvSpPr>
        <p:spPr>
          <a:xfrm>
            <a:off x="1117600" y="5707380"/>
            <a:ext cx="6800215" cy="368300"/>
          </a:xfrm>
          <a:prstGeom prst="rect">
            <a:avLst/>
          </a:prstGeom>
          <a:noFill/>
        </p:spPr>
        <p:txBody>
          <a:bodyPr wrap="square" rtlCol="0">
            <a:spAutoFit/>
          </a:bodyPr>
          <a:p>
            <a:r>
              <a:rPr lang="zh-CN" altLang="en-US"/>
              <a:t>第二个小朋友也说：我不知道自己</a:t>
            </a:r>
            <a:r>
              <a:rPr lang="zh-CN" altLang="en-US"/>
              <a:t>贴的什么颜色苹果</a:t>
            </a:r>
            <a:r>
              <a:rPr lang="en-US" altLang="zh-CN"/>
              <a:t>              </a:t>
            </a:r>
            <a:endParaRPr lang="en-US" altLang="zh-CN"/>
          </a:p>
        </p:txBody>
      </p:sp>
      <p:sp>
        <p:nvSpPr>
          <p:cNvPr id="22" name="文本框 21"/>
          <p:cNvSpPr txBox="1"/>
          <p:nvPr/>
        </p:nvSpPr>
        <p:spPr>
          <a:xfrm>
            <a:off x="1117600" y="6096635"/>
            <a:ext cx="6800215" cy="368300"/>
          </a:xfrm>
          <a:prstGeom prst="rect">
            <a:avLst/>
          </a:prstGeom>
          <a:noFill/>
        </p:spPr>
        <p:txBody>
          <a:bodyPr wrap="square" rtlCol="0">
            <a:spAutoFit/>
          </a:bodyPr>
          <a:p>
            <a:r>
              <a:rPr lang="zh-CN" altLang="en-US">
                <a:solidFill>
                  <a:srgbClr val="FF0000"/>
                </a:solidFill>
              </a:rPr>
              <a:t>请问第三个小朋友</a:t>
            </a:r>
            <a:r>
              <a:rPr lang="zh-CN" altLang="en-US">
                <a:solidFill>
                  <a:srgbClr val="FF0000"/>
                </a:solidFill>
              </a:rPr>
              <a:t>能否知道自己后面是什么颜色的水果吗？</a:t>
            </a:r>
            <a:r>
              <a:rPr lang="en-US" altLang="zh-CN">
                <a:solidFill>
                  <a:srgbClr val="FF0000"/>
                </a:solidFill>
              </a:rPr>
              <a:t>            </a:t>
            </a:r>
            <a:endParaRPr lang="en-US" altLang="zh-CN">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635" y="367030"/>
            <a:ext cx="8676640" cy="1122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sz="3600" kern="0" smtClean="0"/>
              <a:t>（</a:t>
            </a:r>
            <a:r>
              <a:rPr lang="en-US" altLang="zh-CN" sz="3600" kern="0" smtClean="0"/>
              <a:t>3</a:t>
            </a:r>
            <a:r>
              <a:rPr lang="zh-CN" sz="3600" kern="0" smtClean="0"/>
              <a:t>）</a:t>
            </a:r>
            <a:r>
              <a:rPr lang="zh-CN" altLang="en-US" sz="3600" kern="0" smtClean="0"/>
              <a:t>全排列</a:t>
            </a:r>
            <a:r>
              <a:rPr lang="en-US" altLang="zh-CN" sz="3600" kern="0" smtClean="0"/>
              <a:t>II</a:t>
            </a:r>
            <a:r>
              <a:rPr lang="zh-CN" altLang="en-US" sz="3600" kern="0" smtClean="0"/>
              <a:t>和子集</a:t>
            </a:r>
            <a:r>
              <a:rPr lang="en-US" altLang="zh-CN" sz="3600" kern="0" smtClean="0"/>
              <a:t>II(</a:t>
            </a:r>
            <a:r>
              <a:rPr lang="zh-CN" altLang="en-US" sz="3600" kern="0" smtClean="0"/>
              <a:t>需要对搜索树剪枝</a:t>
            </a:r>
            <a:r>
              <a:rPr lang="en-US" altLang="zh-CN" sz="3600" kern="0" smtClean="0"/>
              <a:t>)</a:t>
            </a:r>
            <a:endParaRPr lang="en-US" altLang="zh-CN" sz="3600" kern="0" smtClean="0"/>
          </a:p>
        </p:txBody>
      </p:sp>
      <p:grpSp>
        <p:nvGrpSpPr>
          <p:cNvPr id="72" name="组合 71"/>
          <p:cNvGrpSpPr/>
          <p:nvPr/>
        </p:nvGrpSpPr>
        <p:grpSpPr>
          <a:xfrm>
            <a:off x="2493645" y="2348865"/>
            <a:ext cx="3688080" cy="2864485"/>
            <a:chOff x="8221" y="3132"/>
            <a:chExt cx="5808" cy="4511"/>
          </a:xfrm>
        </p:grpSpPr>
        <p:grpSp>
          <p:nvGrpSpPr>
            <p:cNvPr id="13" name="组合 12"/>
            <p:cNvGrpSpPr/>
            <p:nvPr/>
          </p:nvGrpSpPr>
          <p:grpSpPr>
            <a:xfrm>
              <a:off x="10546" y="3132"/>
              <a:ext cx="1018" cy="916"/>
              <a:chOff x="10489" y="3359"/>
              <a:chExt cx="1018" cy="916"/>
            </a:xfrm>
          </p:grpSpPr>
          <p:sp>
            <p:nvSpPr>
              <p:cNvPr id="10" name="椭圆 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 name="文本框 11"/>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5" name="组合 14"/>
            <p:cNvGrpSpPr/>
            <p:nvPr/>
          </p:nvGrpSpPr>
          <p:grpSpPr>
            <a:xfrm>
              <a:off x="8675" y="4607"/>
              <a:ext cx="1018" cy="917"/>
              <a:chOff x="10489" y="3359"/>
              <a:chExt cx="1018" cy="917"/>
            </a:xfrm>
          </p:grpSpPr>
          <p:sp>
            <p:nvSpPr>
              <p:cNvPr id="16" name="椭圆 1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 name="文本框 16"/>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8" name="组合 17"/>
            <p:cNvGrpSpPr/>
            <p:nvPr/>
          </p:nvGrpSpPr>
          <p:grpSpPr>
            <a:xfrm>
              <a:off x="10546" y="4607"/>
              <a:ext cx="1018" cy="916"/>
              <a:chOff x="10489" y="3359"/>
              <a:chExt cx="1018" cy="916"/>
            </a:xfrm>
          </p:grpSpPr>
          <p:sp>
            <p:nvSpPr>
              <p:cNvPr id="19" name="椭圆 1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0" name="文本框 19"/>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1" name="组合 20"/>
            <p:cNvGrpSpPr/>
            <p:nvPr/>
          </p:nvGrpSpPr>
          <p:grpSpPr>
            <a:xfrm>
              <a:off x="12529" y="4607"/>
              <a:ext cx="1018" cy="916"/>
              <a:chOff x="10489" y="3359"/>
              <a:chExt cx="1018" cy="916"/>
            </a:xfrm>
          </p:grpSpPr>
          <p:sp>
            <p:nvSpPr>
              <p:cNvPr id="22" name="椭圆 2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3" name="文本框 22"/>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cxnSp>
          <p:nvCxnSpPr>
            <p:cNvPr id="24" name="曲线连接符 23"/>
            <p:cNvCxnSpPr>
              <a:stCxn id="10" idx="2"/>
              <a:endCxn id="16" idx="0"/>
            </p:cNvCxnSpPr>
            <p:nvPr/>
          </p:nvCxnSpPr>
          <p:spPr>
            <a:xfrm rot="10800000" flipV="1">
              <a:off x="9184" y="3591"/>
              <a:ext cx="1362" cy="1016"/>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5" name="曲线连接符 24"/>
            <p:cNvCxnSpPr>
              <a:stCxn id="12" idx="3"/>
              <a:endCxn id="22" idx="0"/>
            </p:cNvCxnSpPr>
            <p:nvPr/>
          </p:nvCxnSpPr>
          <p:spPr>
            <a:xfrm>
              <a:off x="11533" y="3635"/>
              <a:ext cx="1505" cy="972"/>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26" name="曲线连接符 25"/>
            <p:cNvCxnSpPr>
              <a:stCxn id="10" idx="4"/>
              <a:endCxn id="19" idx="0"/>
            </p:cNvCxnSpPr>
            <p:nvPr/>
          </p:nvCxnSpPr>
          <p:spPr>
            <a:xfrm rot="5400000" flipV="1">
              <a:off x="10776" y="4328"/>
              <a:ext cx="558" cy="5"/>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30" name="组合 29"/>
            <p:cNvGrpSpPr/>
            <p:nvPr/>
          </p:nvGrpSpPr>
          <p:grpSpPr>
            <a:xfrm>
              <a:off x="9355" y="6011"/>
              <a:ext cx="538" cy="539"/>
              <a:chOff x="10489" y="3359"/>
              <a:chExt cx="1018" cy="917"/>
            </a:xfrm>
          </p:grpSpPr>
          <p:sp>
            <p:nvSpPr>
              <p:cNvPr id="31" name="椭圆 3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2" name="文本框 3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33" name="组合 32"/>
            <p:cNvGrpSpPr/>
            <p:nvPr/>
          </p:nvGrpSpPr>
          <p:grpSpPr>
            <a:xfrm>
              <a:off x="8221" y="6011"/>
              <a:ext cx="538" cy="539"/>
              <a:chOff x="10489" y="3359"/>
              <a:chExt cx="1018" cy="917"/>
            </a:xfrm>
          </p:grpSpPr>
          <p:sp>
            <p:nvSpPr>
              <p:cNvPr id="34" name="椭圆 3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5" name="文本框 3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3" name="组合 2"/>
            <p:cNvGrpSpPr/>
            <p:nvPr/>
          </p:nvGrpSpPr>
          <p:grpSpPr>
            <a:xfrm>
              <a:off x="11440" y="6011"/>
              <a:ext cx="538" cy="539"/>
              <a:chOff x="10489" y="3359"/>
              <a:chExt cx="1018" cy="917"/>
            </a:xfrm>
          </p:grpSpPr>
          <p:sp>
            <p:nvSpPr>
              <p:cNvPr id="7" name="椭圆 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8" name="文本框 7"/>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9" name="组合 8"/>
            <p:cNvGrpSpPr/>
            <p:nvPr/>
          </p:nvGrpSpPr>
          <p:grpSpPr>
            <a:xfrm>
              <a:off x="10306" y="6011"/>
              <a:ext cx="538" cy="539"/>
              <a:chOff x="10489" y="3359"/>
              <a:chExt cx="1018" cy="917"/>
            </a:xfrm>
          </p:grpSpPr>
          <p:sp>
            <p:nvSpPr>
              <p:cNvPr id="27" name="椭圆 2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8" name="文本框 27"/>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29" name="组合 28"/>
            <p:cNvGrpSpPr/>
            <p:nvPr/>
          </p:nvGrpSpPr>
          <p:grpSpPr>
            <a:xfrm>
              <a:off x="13468" y="6011"/>
              <a:ext cx="538" cy="539"/>
              <a:chOff x="10489" y="3359"/>
              <a:chExt cx="1018" cy="917"/>
            </a:xfrm>
          </p:grpSpPr>
          <p:sp>
            <p:nvSpPr>
              <p:cNvPr id="36" name="椭圆 35"/>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37" name="文本框 36"/>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38" name="组合 37"/>
            <p:cNvGrpSpPr/>
            <p:nvPr/>
          </p:nvGrpSpPr>
          <p:grpSpPr>
            <a:xfrm>
              <a:off x="12334" y="6011"/>
              <a:ext cx="538" cy="539"/>
              <a:chOff x="10489" y="3359"/>
              <a:chExt cx="1018" cy="917"/>
            </a:xfrm>
          </p:grpSpPr>
          <p:sp>
            <p:nvSpPr>
              <p:cNvPr id="39" name="椭圆 3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40" name="文本框 3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42" name="曲线连接符 41"/>
            <p:cNvCxnSpPr>
              <a:stCxn id="16" idx="4"/>
              <a:endCxn id="35" idx="0"/>
            </p:cNvCxnSpPr>
            <p:nvPr/>
          </p:nvCxnSpPr>
          <p:spPr>
            <a:xfrm rot="5400000">
              <a:off x="8569" y="5467"/>
              <a:ext cx="558" cy="67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3" name="曲线连接符 42"/>
            <p:cNvCxnSpPr>
              <a:stCxn id="16" idx="4"/>
              <a:endCxn id="32" idx="0"/>
            </p:cNvCxnSpPr>
            <p:nvPr/>
          </p:nvCxnSpPr>
          <p:spPr>
            <a:xfrm rot="5400000" flipV="1">
              <a:off x="9136" y="5572"/>
              <a:ext cx="558" cy="462"/>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4" name="曲线连接符 43"/>
            <p:cNvCxnSpPr>
              <a:stCxn id="22" idx="4"/>
              <a:endCxn id="40" idx="0"/>
            </p:cNvCxnSpPr>
            <p:nvPr/>
          </p:nvCxnSpPr>
          <p:spPr>
            <a:xfrm rot="5400000">
              <a:off x="12552" y="5596"/>
              <a:ext cx="558" cy="413"/>
            </a:xfrm>
            <a:prstGeom prst="curvedConnector3">
              <a:avLst>
                <a:gd name="adj1" fmla="val 49910"/>
              </a:avLst>
            </a:prstGeom>
            <a:solidFill>
              <a:schemeClr val="accent1"/>
            </a:solidFill>
            <a:ln w="9525" cap="flat" cmpd="sng" algn="ctr">
              <a:solidFill>
                <a:schemeClr val="tx1"/>
              </a:solidFill>
              <a:prstDash val="solid"/>
              <a:round/>
              <a:headEnd type="none" w="med" len="med"/>
              <a:tailEnd type="arrow" w="med" len="med"/>
            </a:ln>
          </p:spPr>
        </p:cxnSp>
        <p:cxnSp>
          <p:nvCxnSpPr>
            <p:cNvPr id="45" name="曲线连接符 44"/>
            <p:cNvCxnSpPr>
              <a:stCxn id="19" idx="4"/>
              <a:endCxn id="7" idx="0"/>
            </p:cNvCxnSpPr>
            <p:nvPr/>
          </p:nvCxnSpPr>
          <p:spPr>
            <a:xfrm rot="5400000" flipV="1">
              <a:off x="11139" y="5440"/>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6" name="曲线连接符 45"/>
            <p:cNvCxnSpPr>
              <a:stCxn id="19" idx="4"/>
              <a:endCxn id="28" idx="0"/>
            </p:cNvCxnSpPr>
            <p:nvPr/>
          </p:nvCxnSpPr>
          <p:spPr>
            <a:xfrm rot="5400000">
              <a:off x="10547" y="5574"/>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47" name="曲线连接符 46"/>
            <p:cNvCxnSpPr>
              <a:stCxn id="22" idx="4"/>
              <a:endCxn id="36" idx="0"/>
            </p:cNvCxnSpPr>
            <p:nvPr/>
          </p:nvCxnSpPr>
          <p:spPr>
            <a:xfrm rot="5400000" flipV="1">
              <a:off x="13144" y="5417"/>
              <a:ext cx="487" cy="699"/>
            </a:xfrm>
            <a:prstGeom prst="curvedConnector3">
              <a:avLst>
                <a:gd name="adj1" fmla="val 50103"/>
              </a:avLst>
            </a:prstGeom>
            <a:solidFill>
              <a:schemeClr val="accent1"/>
            </a:solidFill>
            <a:ln w="9525" cap="flat" cmpd="sng" algn="ctr">
              <a:solidFill>
                <a:schemeClr val="tx1"/>
              </a:solidFill>
              <a:prstDash val="solid"/>
              <a:round/>
              <a:headEnd type="none" w="med" len="med"/>
              <a:tailEnd type="arrow" w="med" len="med"/>
            </a:ln>
          </p:spPr>
        </p:cxnSp>
        <p:grpSp>
          <p:nvGrpSpPr>
            <p:cNvPr id="48" name="组合 47"/>
            <p:cNvGrpSpPr/>
            <p:nvPr/>
          </p:nvGrpSpPr>
          <p:grpSpPr>
            <a:xfrm>
              <a:off x="8221" y="7105"/>
              <a:ext cx="538" cy="539"/>
              <a:chOff x="10489" y="3359"/>
              <a:chExt cx="1018" cy="917"/>
            </a:xfrm>
          </p:grpSpPr>
          <p:sp>
            <p:nvSpPr>
              <p:cNvPr id="49" name="椭圆 4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0" name="文本框 4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1" name="组合 50"/>
            <p:cNvGrpSpPr/>
            <p:nvPr/>
          </p:nvGrpSpPr>
          <p:grpSpPr>
            <a:xfrm>
              <a:off x="9355" y="7105"/>
              <a:ext cx="538" cy="539"/>
              <a:chOff x="10489" y="3359"/>
              <a:chExt cx="1018" cy="917"/>
            </a:xfrm>
          </p:grpSpPr>
          <p:sp>
            <p:nvSpPr>
              <p:cNvPr id="52" name="椭圆 5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3" name="文本框 52"/>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54" name="组合 53"/>
            <p:cNvGrpSpPr/>
            <p:nvPr/>
          </p:nvGrpSpPr>
          <p:grpSpPr>
            <a:xfrm>
              <a:off x="10306" y="7105"/>
              <a:ext cx="538" cy="539"/>
              <a:chOff x="10489" y="3359"/>
              <a:chExt cx="1018" cy="917"/>
            </a:xfrm>
          </p:grpSpPr>
          <p:sp>
            <p:nvSpPr>
              <p:cNvPr id="55" name="椭圆 5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6" name="文本框 5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grpSp>
          <p:nvGrpSpPr>
            <p:cNvPr id="57" name="组合 56"/>
            <p:cNvGrpSpPr/>
            <p:nvPr/>
          </p:nvGrpSpPr>
          <p:grpSpPr>
            <a:xfrm>
              <a:off x="11456" y="7104"/>
              <a:ext cx="538" cy="539"/>
              <a:chOff x="10489" y="3359"/>
              <a:chExt cx="1018" cy="917"/>
            </a:xfrm>
          </p:grpSpPr>
          <p:sp>
            <p:nvSpPr>
              <p:cNvPr id="58" name="椭圆 5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59" name="文本框 5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60" name="组合 59"/>
            <p:cNvGrpSpPr/>
            <p:nvPr/>
          </p:nvGrpSpPr>
          <p:grpSpPr>
            <a:xfrm>
              <a:off x="12373" y="7103"/>
              <a:ext cx="538" cy="539"/>
              <a:chOff x="10489" y="3359"/>
              <a:chExt cx="1018" cy="917"/>
            </a:xfrm>
          </p:grpSpPr>
          <p:sp>
            <p:nvSpPr>
              <p:cNvPr id="61" name="椭圆 6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2" name="文本框 61"/>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63" name="组合 62"/>
            <p:cNvGrpSpPr/>
            <p:nvPr/>
          </p:nvGrpSpPr>
          <p:grpSpPr>
            <a:xfrm>
              <a:off x="13491" y="7105"/>
              <a:ext cx="538" cy="539"/>
              <a:chOff x="10489" y="3359"/>
              <a:chExt cx="1018" cy="917"/>
            </a:xfrm>
          </p:grpSpPr>
          <p:sp>
            <p:nvSpPr>
              <p:cNvPr id="64" name="椭圆 6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65" name="文本框 64"/>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66" name="曲线连接符 65"/>
            <p:cNvCxnSpPr>
              <a:stCxn id="34" idx="4"/>
            </p:cNvCxnSpPr>
            <p:nvPr/>
          </p:nvCxnSpPr>
          <p:spPr>
            <a:xfrm rot="5400000" flipV="1">
              <a:off x="8226"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7" name="曲线连接符 66"/>
            <p:cNvCxnSpPr/>
            <p:nvPr/>
          </p:nvCxnSpPr>
          <p:spPr>
            <a:xfrm rot="5400000" flipV="1">
              <a:off x="9362" y="6798"/>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8" name="曲线连接符 67"/>
            <p:cNvCxnSpPr/>
            <p:nvPr/>
          </p:nvCxnSpPr>
          <p:spPr>
            <a:xfrm rot="5400000" flipV="1">
              <a:off x="10282"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69" name="曲线连接符 68"/>
            <p:cNvCxnSpPr/>
            <p:nvPr/>
          </p:nvCxnSpPr>
          <p:spPr>
            <a:xfrm rot="5400000" flipV="1">
              <a:off x="11426" y="6821"/>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0" name="曲线连接符 69"/>
            <p:cNvCxnSpPr/>
            <p:nvPr/>
          </p:nvCxnSpPr>
          <p:spPr>
            <a:xfrm rot="5400000" flipV="1">
              <a:off x="12379"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71" name="曲线连接符 70"/>
            <p:cNvCxnSpPr/>
            <p:nvPr/>
          </p:nvCxnSpPr>
          <p:spPr>
            <a:xfrm rot="5400000" flipV="1">
              <a:off x="13513" y="6814"/>
              <a:ext cx="548" cy="2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sp>
        <p:nvSpPr>
          <p:cNvPr id="41" name="文本框 40"/>
          <p:cNvSpPr txBox="1"/>
          <p:nvPr/>
        </p:nvSpPr>
        <p:spPr>
          <a:xfrm>
            <a:off x="539750" y="1701165"/>
            <a:ext cx="5606415" cy="405765"/>
          </a:xfrm>
          <a:prstGeom prst="rect">
            <a:avLst/>
          </a:prstGeom>
          <a:noFill/>
        </p:spPr>
        <p:txBody>
          <a:bodyPr>
            <a:noAutofit/>
          </a:bodyPr>
          <a:p>
            <a:pPr>
              <a:defRPr/>
            </a:pPr>
            <a:r>
              <a:rPr lang="zh-CN" altLang="en-US">
                <a:solidFill>
                  <a:srgbClr val="000066"/>
                </a:solidFill>
                <a:latin typeface="+mj-ea"/>
                <a:ea typeface="+mj-ea"/>
              </a:rPr>
              <a:t>示例：找出数组</a:t>
            </a:r>
            <a:r>
              <a:rPr lang="en-US" altLang="zh-CN">
                <a:solidFill>
                  <a:srgbClr val="000066"/>
                </a:solidFill>
                <a:latin typeface="+mj-ea"/>
                <a:ea typeface="+mj-ea"/>
              </a:rPr>
              <a:t>nums=[1,1,2]</a:t>
            </a:r>
            <a:r>
              <a:rPr lang="zh-CN" altLang="en-US">
                <a:solidFill>
                  <a:srgbClr val="000066"/>
                </a:solidFill>
                <a:latin typeface="+mj-ea"/>
                <a:ea typeface="+mj-ea"/>
              </a:rPr>
              <a:t>全排列和子集？</a:t>
            </a:r>
            <a:r>
              <a:rPr lang="en-US" altLang="zh-CN">
                <a:solidFill>
                  <a:srgbClr val="000066"/>
                </a:solidFill>
                <a:latin typeface="+mj-ea"/>
                <a:ea typeface="+mj-ea"/>
              </a:rPr>
              <a:t> </a:t>
            </a:r>
            <a:endParaRPr lang="zh-CN" altLang="en-US">
              <a:solidFill>
                <a:srgbClr val="000066"/>
              </a:solidFill>
              <a:latin typeface="+mj-ea"/>
              <a:ea typeface="+mj-ea"/>
            </a:endParaRPr>
          </a:p>
        </p:txBody>
      </p:sp>
      <p:sp>
        <p:nvSpPr>
          <p:cNvPr id="73" name="文本框 72"/>
          <p:cNvSpPr txBox="1"/>
          <p:nvPr/>
        </p:nvSpPr>
        <p:spPr>
          <a:xfrm>
            <a:off x="3789680" y="3213100"/>
            <a:ext cx="1141095" cy="2081530"/>
          </a:xfrm>
          <a:prstGeom prst="rect">
            <a:avLst/>
          </a:prstGeom>
          <a:noFill/>
          <a:ln w="28575" cmpd="sng">
            <a:solidFill>
              <a:schemeClr val="accent1">
                <a:shade val="50000"/>
              </a:schemeClr>
            </a:solidFill>
            <a:prstDash val="solid"/>
          </a:ln>
          <a:extLst>
            <a:ext uri="{909E8E84-426E-40DD-AFC4-6F175D3DCCD1}">
              <a14:hiddenFill xmlns:a14="http://schemas.microsoft.com/office/drawing/2010/main">
                <a:solidFill>
                  <a:srgbClr val="92D050"/>
                </a:solidFill>
              </a14:hiddenFill>
            </a:ext>
          </a:extLst>
        </p:spPr>
        <p:txBody>
          <a:bodyPr wrap="square" rtlCol="0">
            <a:noAutofit/>
          </a:bodyPr>
          <a:p>
            <a:endParaRPr lang="zh-CN" altLang="en-US"/>
          </a:p>
        </p:txBody>
      </p:sp>
      <p:sp>
        <p:nvSpPr>
          <p:cNvPr id="74" name="文本框 73"/>
          <p:cNvSpPr txBox="1"/>
          <p:nvPr/>
        </p:nvSpPr>
        <p:spPr>
          <a:xfrm>
            <a:off x="2493645" y="3213100"/>
            <a:ext cx="1141095" cy="2081530"/>
          </a:xfrm>
          <a:prstGeom prst="rect">
            <a:avLst/>
          </a:prstGeom>
          <a:noFill/>
          <a:ln w="28575" cmpd="sng">
            <a:solidFill>
              <a:schemeClr val="accent1">
                <a:shade val="50000"/>
              </a:schemeClr>
            </a:solidFill>
            <a:prstDash val="solid"/>
          </a:ln>
          <a:extLst>
            <a:ext uri="{909E8E84-426E-40DD-AFC4-6F175D3DCCD1}">
              <a14:hiddenFill xmlns:a14="http://schemas.microsoft.com/office/drawing/2010/main">
                <a:solidFill>
                  <a:srgbClr val="92D050"/>
                </a:solidFill>
              </a14:hiddenFill>
            </a:ext>
          </a:extLst>
        </p:spPr>
        <p:txBody>
          <a:bodyPr wrap="square" rtlCol="0">
            <a:noAutofit/>
          </a:bodyPr>
          <a:p>
            <a:endParaRPr lang="zh-CN" altLang="en-US"/>
          </a:p>
        </p:txBody>
      </p:sp>
      <p:sp>
        <p:nvSpPr>
          <p:cNvPr id="75" name="文本框 74"/>
          <p:cNvSpPr txBox="1"/>
          <p:nvPr/>
        </p:nvSpPr>
        <p:spPr>
          <a:xfrm>
            <a:off x="5734050" y="4076700"/>
            <a:ext cx="560705" cy="1220470"/>
          </a:xfrm>
          <a:prstGeom prst="rect">
            <a:avLst/>
          </a:prstGeom>
          <a:noFill/>
          <a:ln w="28575" cmpd="sng">
            <a:solidFill>
              <a:schemeClr val="accent1">
                <a:shade val="50000"/>
              </a:schemeClr>
            </a:solidFill>
            <a:prstDash val="solid"/>
          </a:ln>
          <a:extLst>
            <a:ext uri="{909E8E84-426E-40DD-AFC4-6F175D3DCCD1}">
              <a14:hiddenFill xmlns:a14="http://schemas.microsoft.com/office/drawing/2010/main">
                <a:solidFill>
                  <a:srgbClr val="92D050"/>
                </a:solidFill>
              </a14:hiddenFill>
            </a:ext>
          </a:extLst>
        </p:spPr>
        <p:txBody>
          <a:bodyPr wrap="square" rtlCol="0">
            <a:noAutofit/>
          </a:bodyPr>
          <a:p>
            <a:endParaRPr lang="zh-CN" altLang="en-US"/>
          </a:p>
        </p:txBody>
      </p:sp>
      <p:sp>
        <p:nvSpPr>
          <p:cNvPr id="76" name="文本框 75"/>
          <p:cNvSpPr txBox="1"/>
          <p:nvPr/>
        </p:nvSpPr>
        <p:spPr>
          <a:xfrm>
            <a:off x="5085715" y="4076700"/>
            <a:ext cx="466090" cy="1217930"/>
          </a:xfrm>
          <a:prstGeom prst="rect">
            <a:avLst/>
          </a:prstGeom>
          <a:noFill/>
          <a:ln w="28575" cmpd="sng">
            <a:solidFill>
              <a:schemeClr val="accent1">
                <a:shade val="50000"/>
              </a:schemeClr>
            </a:solidFill>
            <a:prstDash val="solid"/>
          </a:ln>
          <a:extLst>
            <a:ext uri="{909E8E84-426E-40DD-AFC4-6F175D3DCCD1}">
              <a14:hiddenFill xmlns:a14="http://schemas.microsoft.com/office/drawing/2010/main">
                <a:solidFill>
                  <a:srgbClr val="92D050"/>
                </a:solidFill>
              </a14:hiddenFill>
            </a:ext>
          </a:extLst>
        </p:spPr>
        <p:txBody>
          <a:bodyPr wrap="square" rtlCol="0">
            <a:noAutofit/>
          </a:bodyPr>
          <a:p>
            <a:endParaRPr lang="zh-CN" altLang="en-US"/>
          </a:p>
        </p:txBody>
      </p:sp>
      <p:sp>
        <p:nvSpPr>
          <p:cNvPr id="77" name="文本框 76"/>
          <p:cNvSpPr txBox="1"/>
          <p:nvPr/>
        </p:nvSpPr>
        <p:spPr>
          <a:xfrm>
            <a:off x="2421255" y="3213100"/>
            <a:ext cx="297180" cy="368300"/>
          </a:xfrm>
          <a:prstGeom prst="rect">
            <a:avLst/>
          </a:prstGeom>
          <a:noFill/>
          <a:ln>
            <a:noFill/>
          </a:ln>
        </p:spPr>
        <p:txBody>
          <a:bodyPr wrap="square" rtlCol="0">
            <a:spAutoFit/>
          </a:bodyPr>
          <a:p>
            <a:r>
              <a:rPr lang="zh-CN" altLang="en-US">
                <a:solidFill>
                  <a:srgbClr val="FF0000"/>
                </a:solidFill>
              </a:rPr>
              <a:t>①</a:t>
            </a:r>
            <a:endParaRPr lang="zh-CN" altLang="en-US">
              <a:solidFill>
                <a:srgbClr val="FF0000"/>
              </a:solidFill>
            </a:endParaRPr>
          </a:p>
        </p:txBody>
      </p:sp>
      <p:sp>
        <p:nvSpPr>
          <p:cNvPr id="78" name="文本框 77"/>
          <p:cNvSpPr txBox="1"/>
          <p:nvPr/>
        </p:nvSpPr>
        <p:spPr>
          <a:xfrm>
            <a:off x="3817620" y="3213100"/>
            <a:ext cx="297180" cy="368300"/>
          </a:xfrm>
          <a:prstGeom prst="rect">
            <a:avLst/>
          </a:prstGeom>
          <a:noFill/>
          <a:ln>
            <a:noFill/>
          </a:ln>
        </p:spPr>
        <p:txBody>
          <a:bodyPr wrap="square" rtlCol="0">
            <a:spAutoFit/>
          </a:bodyPr>
          <a:p>
            <a:r>
              <a:rPr lang="zh-CN" altLang="en-US">
                <a:solidFill>
                  <a:srgbClr val="FF0000"/>
                </a:solidFill>
              </a:rPr>
              <a:t>②</a:t>
            </a:r>
            <a:endParaRPr lang="zh-CN" altLang="en-US">
              <a:solidFill>
                <a:srgbClr val="FF0000"/>
              </a:solidFill>
            </a:endParaRPr>
          </a:p>
        </p:txBody>
      </p:sp>
      <p:sp>
        <p:nvSpPr>
          <p:cNvPr id="79" name="文本框 78"/>
          <p:cNvSpPr txBox="1"/>
          <p:nvPr/>
        </p:nvSpPr>
        <p:spPr>
          <a:xfrm>
            <a:off x="5254625" y="4076700"/>
            <a:ext cx="297180" cy="368300"/>
          </a:xfrm>
          <a:prstGeom prst="rect">
            <a:avLst/>
          </a:prstGeom>
          <a:noFill/>
          <a:ln>
            <a:noFill/>
          </a:ln>
        </p:spPr>
        <p:txBody>
          <a:bodyPr wrap="square" rtlCol="0">
            <a:spAutoFit/>
          </a:bodyPr>
          <a:p>
            <a:r>
              <a:rPr lang="zh-CN" altLang="en-US">
                <a:solidFill>
                  <a:srgbClr val="FF0000"/>
                </a:solidFill>
              </a:rPr>
              <a:t>③</a:t>
            </a:r>
            <a:endParaRPr lang="zh-CN" altLang="en-US">
              <a:solidFill>
                <a:srgbClr val="FF0000"/>
              </a:solidFill>
            </a:endParaRPr>
          </a:p>
        </p:txBody>
      </p:sp>
      <p:sp>
        <p:nvSpPr>
          <p:cNvPr id="80" name="文本框 79"/>
          <p:cNvSpPr txBox="1"/>
          <p:nvPr/>
        </p:nvSpPr>
        <p:spPr>
          <a:xfrm>
            <a:off x="6021705" y="4059555"/>
            <a:ext cx="297180" cy="368300"/>
          </a:xfrm>
          <a:prstGeom prst="rect">
            <a:avLst/>
          </a:prstGeom>
          <a:noFill/>
          <a:ln>
            <a:noFill/>
          </a:ln>
        </p:spPr>
        <p:txBody>
          <a:bodyPr wrap="square" rtlCol="0">
            <a:spAutoFit/>
          </a:bodyPr>
          <a:p>
            <a:r>
              <a:rPr lang="zh-CN" altLang="en-US">
                <a:solidFill>
                  <a:srgbClr val="FF0000"/>
                </a:solidFill>
              </a:rPr>
              <a:t>④</a:t>
            </a:r>
            <a:endParaRPr lang="zh-CN" altLang="en-US">
              <a:solidFill>
                <a:srgbClr val="FF0000"/>
              </a:solidFill>
            </a:endParaRPr>
          </a:p>
        </p:txBody>
      </p:sp>
      <p:sp>
        <p:nvSpPr>
          <p:cNvPr id="81" name="文本框 80"/>
          <p:cNvSpPr txBox="1"/>
          <p:nvPr/>
        </p:nvSpPr>
        <p:spPr>
          <a:xfrm>
            <a:off x="467995" y="1988820"/>
            <a:ext cx="5606415" cy="405765"/>
          </a:xfrm>
          <a:prstGeom prst="rect">
            <a:avLst/>
          </a:prstGeom>
          <a:noFill/>
        </p:spPr>
        <p:txBody>
          <a:bodyPr>
            <a:noAutofit/>
          </a:bodyPr>
          <a:p>
            <a:pPr>
              <a:defRPr/>
            </a:pPr>
            <a:r>
              <a:rPr lang="zh-CN">
                <a:solidFill>
                  <a:srgbClr val="000066"/>
                </a:solidFill>
                <a:latin typeface="+mj-ea"/>
                <a:ea typeface="+mj-ea"/>
              </a:rPr>
              <a:t>（</a:t>
            </a:r>
            <a:r>
              <a:rPr lang="en-US" altLang="zh-CN">
                <a:solidFill>
                  <a:srgbClr val="000066"/>
                </a:solidFill>
                <a:latin typeface="+mj-ea"/>
                <a:ea typeface="+mj-ea"/>
              </a:rPr>
              <a:t>1</a:t>
            </a:r>
            <a:r>
              <a:rPr lang="zh-CN">
                <a:solidFill>
                  <a:srgbClr val="000066"/>
                </a:solidFill>
                <a:latin typeface="+mj-ea"/>
                <a:ea typeface="+mj-ea"/>
              </a:rPr>
              <a:t>）观察全排列有重复的剪枝条件</a:t>
            </a:r>
            <a:r>
              <a:rPr lang="en-US" altLang="zh-CN">
                <a:solidFill>
                  <a:srgbClr val="000066"/>
                </a:solidFill>
                <a:latin typeface="+mj-ea"/>
                <a:ea typeface="+mj-ea"/>
              </a:rPr>
              <a:t> </a:t>
            </a:r>
            <a:endParaRPr lang="zh-CN" altLang="en-US">
              <a:solidFill>
                <a:srgbClr val="000066"/>
              </a:solidFill>
              <a:latin typeface="+mj-ea"/>
              <a:ea typeface="+mj-ea"/>
            </a:endParaRPr>
          </a:p>
        </p:txBody>
      </p:sp>
      <p:sp>
        <p:nvSpPr>
          <p:cNvPr id="82" name="文本框 81"/>
          <p:cNvSpPr txBox="1"/>
          <p:nvPr/>
        </p:nvSpPr>
        <p:spPr>
          <a:xfrm>
            <a:off x="2555875" y="5254625"/>
            <a:ext cx="4572000" cy="1198880"/>
          </a:xfrm>
          <a:prstGeom prst="rect">
            <a:avLst/>
          </a:prstGeom>
          <a:noFill/>
        </p:spPr>
        <p:txBody>
          <a:bodyPr wrap="square" rtlCol="0" anchor="t">
            <a:spAutoFit/>
          </a:bodyPr>
          <a:p>
            <a:r>
              <a:rPr lang="en-US" altLang="zh-CN">
                <a:solidFill>
                  <a:srgbClr val="000066"/>
                </a:solidFill>
                <a:latin typeface="+mj-ea"/>
                <a:ea typeface="+mj-ea"/>
                <a:sym typeface="+mn-ea"/>
              </a:rPr>
              <a:t>[1,1,2]            </a:t>
            </a:r>
            <a:r>
              <a:rPr lang="en-US" altLang="zh-CN">
                <a:solidFill>
                  <a:srgbClr val="FF0000"/>
                </a:solidFill>
                <a:latin typeface="+mj-ea"/>
                <a:ea typeface="+mj-ea"/>
                <a:sym typeface="+mn-ea"/>
              </a:rPr>
              <a:t>[1,1,2] </a:t>
            </a:r>
            <a:endParaRPr lang="en-US" altLang="zh-CN">
              <a:solidFill>
                <a:srgbClr val="000066"/>
              </a:solidFill>
              <a:latin typeface="+mj-ea"/>
              <a:ea typeface="+mj-ea"/>
              <a:sym typeface="+mn-ea"/>
            </a:endParaRPr>
          </a:p>
          <a:p>
            <a:r>
              <a:rPr lang="en-US" altLang="zh-CN">
                <a:solidFill>
                  <a:srgbClr val="000066"/>
                </a:solidFill>
                <a:latin typeface="+mj-ea"/>
                <a:ea typeface="+mj-ea"/>
                <a:sym typeface="+mn-ea"/>
              </a:rPr>
              <a:t>[1,2,1]            </a:t>
            </a:r>
            <a:r>
              <a:rPr lang="en-US" altLang="zh-CN">
                <a:solidFill>
                  <a:srgbClr val="FF0000"/>
                </a:solidFill>
                <a:latin typeface="+mj-ea"/>
                <a:ea typeface="+mj-ea"/>
                <a:sym typeface="+mn-ea"/>
              </a:rPr>
              <a:t>[1,2,1]</a:t>
            </a:r>
            <a:endParaRPr lang="en-US" altLang="zh-CN">
              <a:solidFill>
                <a:srgbClr val="FF0000"/>
              </a:solidFill>
              <a:latin typeface="+mj-ea"/>
              <a:ea typeface="+mj-ea"/>
              <a:sym typeface="+mn-ea"/>
            </a:endParaRPr>
          </a:p>
          <a:p>
            <a:endParaRPr lang="en-US" altLang="zh-CN">
              <a:solidFill>
                <a:srgbClr val="000066"/>
              </a:solidFill>
              <a:latin typeface="+mj-ea"/>
              <a:ea typeface="+mj-ea"/>
              <a:sym typeface="+mn-ea"/>
            </a:endParaRPr>
          </a:p>
          <a:p>
            <a:endParaRPr lang="en-US" altLang="zh-CN">
              <a:solidFill>
                <a:srgbClr val="000066"/>
              </a:solidFill>
              <a:latin typeface="+mj-ea"/>
              <a:ea typeface="+mj-ea"/>
              <a:sym typeface="+mn-ea"/>
            </a:endParaRPr>
          </a:p>
        </p:txBody>
      </p:sp>
      <p:sp>
        <p:nvSpPr>
          <p:cNvPr id="83" name="文本框 82"/>
          <p:cNvSpPr txBox="1"/>
          <p:nvPr/>
        </p:nvSpPr>
        <p:spPr>
          <a:xfrm>
            <a:off x="5076190" y="5297170"/>
            <a:ext cx="1671955" cy="612140"/>
          </a:xfrm>
          <a:prstGeom prst="rect">
            <a:avLst/>
          </a:prstGeom>
          <a:noFill/>
        </p:spPr>
        <p:txBody>
          <a:bodyPr wrap="square" rtlCol="0" anchor="t">
            <a:noAutofit/>
          </a:bodyPr>
          <a:p>
            <a:r>
              <a:rPr lang="en-US" altLang="zh-CN">
                <a:solidFill>
                  <a:srgbClr val="000066"/>
                </a:solidFill>
                <a:latin typeface="+mj-ea"/>
                <a:ea typeface="+mj-ea"/>
                <a:sym typeface="+mn-ea"/>
              </a:rPr>
              <a:t>[2,1,1]            </a:t>
            </a:r>
            <a:endParaRPr lang="en-US" altLang="zh-CN">
              <a:solidFill>
                <a:srgbClr val="000066"/>
              </a:solidFill>
              <a:latin typeface="+mj-ea"/>
              <a:ea typeface="+mj-ea"/>
              <a:sym typeface="+mn-ea"/>
            </a:endParaRPr>
          </a:p>
          <a:p>
            <a:r>
              <a:rPr lang="en-US" altLang="zh-CN">
                <a:solidFill>
                  <a:srgbClr val="FF0000"/>
                </a:solidFill>
                <a:latin typeface="+mj-ea"/>
                <a:ea typeface="+mj-ea"/>
                <a:sym typeface="+mn-ea"/>
              </a:rPr>
              <a:t>[2,1,1]</a:t>
            </a:r>
            <a:r>
              <a:rPr lang="en-US" altLang="zh-CN">
                <a:solidFill>
                  <a:srgbClr val="000066"/>
                </a:solidFill>
                <a:latin typeface="+mj-ea"/>
                <a:ea typeface="+mj-ea"/>
                <a:sym typeface="+mn-ea"/>
              </a:rPr>
              <a:t>            </a:t>
            </a:r>
            <a:endParaRPr lang="en-US" altLang="zh-CN">
              <a:solidFill>
                <a:srgbClr val="FF0000"/>
              </a:solidFill>
              <a:latin typeface="+mj-ea"/>
              <a:ea typeface="+mj-ea"/>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207645" y="367030"/>
            <a:ext cx="8468360" cy="1122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sz="3600" kern="0" smtClean="0">
                <a:sym typeface="+mn-ea"/>
              </a:rPr>
              <a:t>（</a:t>
            </a:r>
            <a:r>
              <a:rPr lang="en-US" altLang="zh-CN" sz="3600" kern="0" smtClean="0">
                <a:sym typeface="+mn-ea"/>
              </a:rPr>
              <a:t>3</a:t>
            </a:r>
            <a:r>
              <a:rPr lang="zh-CN" sz="3600" kern="0" smtClean="0">
                <a:sym typeface="+mn-ea"/>
              </a:rPr>
              <a:t>）</a:t>
            </a:r>
            <a:r>
              <a:rPr lang="zh-CN" altLang="en-US" sz="3600" kern="0" smtClean="0"/>
              <a:t>全排列</a:t>
            </a:r>
            <a:r>
              <a:rPr lang="en-US" altLang="zh-CN" sz="3600" kern="0" smtClean="0"/>
              <a:t>II</a:t>
            </a:r>
            <a:r>
              <a:rPr lang="zh-CN" altLang="en-US" sz="3600" kern="0" smtClean="0"/>
              <a:t>和子集</a:t>
            </a:r>
            <a:r>
              <a:rPr lang="en-US" altLang="zh-CN" sz="3600" kern="0" smtClean="0"/>
              <a:t>II(</a:t>
            </a:r>
            <a:r>
              <a:rPr lang="zh-CN" altLang="en-US" sz="3600" kern="0" smtClean="0"/>
              <a:t>需要对搜索树剪枝</a:t>
            </a:r>
            <a:r>
              <a:rPr lang="en-US" altLang="zh-CN" sz="3600" kern="0" smtClean="0"/>
              <a:t>)</a:t>
            </a:r>
            <a:endParaRPr lang="en-US" altLang="zh-CN" sz="3600" kern="0" smtClean="0"/>
          </a:p>
        </p:txBody>
      </p:sp>
      <p:sp>
        <p:nvSpPr>
          <p:cNvPr id="41" name="文本框 40"/>
          <p:cNvSpPr txBox="1"/>
          <p:nvPr/>
        </p:nvSpPr>
        <p:spPr>
          <a:xfrm>
            <a:off x="539750" y="1701165"/>
            <a:ext cx="5606415" cy="405765"/>
          </a:xfrm>
          <a:prstGeom prst="rect">
            <a:avLst/>
          </a:prstGeom>
          <a:noFill/>
        </p:spPr>
        <p:txBody>
          <a:bodyPr>
            <a:noAutofit/>
          </a:bodyPr>
          <a:p>
            <a:pPr>
              <a:defRPr/>
            </a:pPr>
            <a:r>
              <a:rPr lang="zh-CN" altLang="en-US">
                <a:solidFill>
                  <a:srgbClr val="000066"/>
                </a:solidFill>
                <a:latin typeface="+mj-ea"/>
                <a:ea typeface="+mj-ea"/>
              </a:rPr>
              <a:t>示例：找出数组</a:t>
            </a:r>
            <a:r>
              <a:rPr lang="en-US" altLang="zh-CN">
                <a:solidFill>
                  <a:srgbClr val="000066"/>
                </a:solidFill>
                <a:latin typeface="+mj-ea"/>
                <a:ea typeface="+mj-ea"/>
              </a:rPr>
              <a:t>nums=[1,1,2]</a:t>
            </a:r>
            <a:r>
              <a:rPr lang="zh-CN" altLang="en-US">
                <a:solidFill>
                  <a:srgbClr val="000066"/>
                </a:solidFill>
                <a:latin typeface="+mj-ea"/>
                <a:ea typeface="+mj-ea"/>
              </a:rPr>
              <a:t>全排列和子集？</a:t>
            </a:r>
            <a:r>
              <a:rPr lang="en-US" altLang="zh-CN">
                <a:solidFill>
                  <a:srgbClr val="000066"/>
                </a:solidFill>
                <a:latin typeface="+mj-ea"/>
                <a:ea typeface="+mj-ea"/>
              </a:rPr>
              <a:t> </a:t>
            </a:r>
            <a:endParaRPr lang="zh-CN" altLang="en-US">
              <a:solidFill>
                <a:srgbClr val="000066"/>
              </a:solidFill>
              <a:latin typeface="+mj-ea"/>
              <a:ea typeface="+mj-ea"/>
            </a:endParaRPr>
          </a:p>
        </p:txBody>
      </p:sp>
      <p:sp>
        <p:nvSpPr>
          <p:cNvPr id="81" name="文本框 80"/>
          <p:cNvSpPr txBox="1"/>
          <p:nvPr/>
        </p:nvSpPr>
        <p:spPr>
          <a:xfrm>
            <a:off x="467995" y="1988820"/>
            <a:ext cx="5606415" cy="405765"/>
          </a:xfrm>
          <a:prstGeom prst="rect">
            <a:avLst/>
          </a:prstGeom>
          <a:noFill/>
        </p:spPr>
        <p:txBody>
          <a:bodyPr>
            <a:noAutofit/>
          </a:bodyPr>
          <a:p>
            <a:pPr>
              <a:defRPr/>
            </a:pPr>
            <a:r>
              <a:rPr lang="zh-CN">
                <a:solidFill>
                  <a:srgbClr val="000066"/>
                </a:solidFill>
                <a:latin typeface="+mj-ea"/>
                <a:ea typeface="+mj-ea"/>
              </a:rPr>
              <a:t>（</a:t>
            </a:r>
            <a:r>
              <a:rPr lang="en-US" altLang="zh-CN">
                <a:solidFill>
                  <a:srgbClr val="000066"/>
                </a:solidFill>
                <a:latin typeface="+mj-ea"/>
                <a:ea typeface="+mj-ea"/>
              </a:rPr>
              <a:t>1</a:t>
            </a:r>
            <a:r>
              <a:rPr lang="zh-CN">
                <a:solidFill>
                  <a:srgbClr val="000066"/>
                </a:solidFill>
                <a:latin typeface="+mj-ea"/>
                <a:ea typeface="+mj-ea"/>
              </a:rPr>
              <a:t>）观察全排列有重复的剪枝条件，加入</a:t>
            </a:r>
            <a:r>
              <a:rPr lang="en-US" altLang="zh-CN">
                <a:solidFill>
                  <a:srgbClr val="000066"/>
                </a:solidFill>
                <a:latin typeface="+mj-ea"/>
                <a:ea typeface="+mj-ea"/>
              </a:rPr>
              <a:t>if</a:t>
            </a:r>
            <a:r>
              <a:rPr lang="zh-CN" altLang="en-US">
                <a:solidFill>
                  <a:srgbClr val="000066"/>
                </a:solidFill>
                <a:latin typeface="+mj-ea"/>
                <a:ea typeface="+mj-ea"/>
              </a:rPr>
              <a:t>条件剪枝</a:t>
            </a:r>
            <a:r>
              <a:rPr lang="en-US" altLang="zh-CN">
                <a:solidFill>
                  <a:srgbClr val="000066"/>
                </a:solidFill>
                <a:latin typeface="+mj-ea"/>
                <a:ea typeface="+mj-ea"/>
              </a:rPr>
              <a:t> </a:t>
            </a:r>
            <a:endParaRPr lang="zh-CN" altLang="en-US">
              <a:solidFill>
                <a:srgbClr val="000066"/>
              </a:solidFill>
              <a:latin typeface="+mj-ea"/>
              <a:ea typeface="+mj-ea"/>
            </a:endParaRPr>
          </a:p>
        </p:txBody>
      </p:sp>
      <p:sp>
        <p:nvSpPr>
          <p:cNvPr id="5" name="矩形 4"/>
          <p:cNvSpPr/>
          <p:nvPr/>
        </p:nvSpPr>
        <p:spPr>
          <a:xfrm>
            <a:off x="2628265" y="4437380"/>
            <a:ext cx="3672205" cy="360045"/>
          </a:xfrm>
          <a:prstGeom prst="rect">
            <a:avLst/>
          </a:prstGeom>
          <a:noFill/>
          <a:ln w="28575" cap="flat" cmpd="sng" algn="ctr">
            <a:solidFill>
              <a:schemeClr val="accent1">
                <a:shade val="50000"/>
              </a:schemeClr>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pic>
        <p:nvPicPr>
          <p:cNvPr id="3" name="图片 2"/>
          <p:cNvPicPr>
            <a:picLocks noChangeAspect="1"/>
          </p:cNvPicPr>
          <p:nvPr/>
        </p:nvPicPr>
        <p:blipFill>
          <a:blip r:embed="rId1"/>
          <a:stretch>
            <a:fillRect/>
          </a:stretch>
        </p:blipFill>
        <p:spPr>
          <a:xfrm>
            <a:off x="1763395" y="2507615"/>
            <a:ext cx="4705350" cy="4219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225425" y="367030"/>
            <a:ext cx="8450580" cy="1122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sz="3600" kern="0" smtClean="0">
                <a:sym typeface="+mn-ea"/>
              </a:rPr>
              <a:t>（</a:t>
            </a:r>
            <a:r>
              <a:rPr lang="en-US" altLang="zh-CN" sz="3600" kern="0" smtClean="0">
                <a:sym typeface="+mn-ea"/>
              </a:rPr>
              <a:t>3</a:t>
            </a:r>
            <a:r>
              <a:rPr lang="zh-CN" sz="3600" kern="0" smtClean="0">
                <a:sym typeface="+mn-ea"/>
              </a:rPr>
              <a:t>）</a:t>
            </a:r>
            <a:r>
              <a:rPr lang="zh-CN" altLang="en-US" sz="3600" kern="0" smtClean="0"/>
              <a:t>全排列</a:t>
            </a:r>
            <a:r>
              <a:rPr lang="en-US" altLang="zh-CN" sz="3600" kern="0" smtClean="0"/>
              <a:t>II</a:t>
            </a:r>
            <a:r>
              <a:rPr lang="zh-CN" altLang="en-US" sz="3600" kern="0" smtClean="0"/>
              <a:t>和子集</a:t>
            </a:r>
            <a:r>
              <a:rPr lang="en-US" altLang="zh-CN" sz="3600" kern="0" smtClean="0"/>
              <a:t>II(</a:t>
            </a:r>
            <a:r>
              <a:rPr lang="zh-CN" altLang="en-US" sz="3600" kern="0" smtClean="0"/>
              <a:t>需要对搜索树剪枝</a:t>
            </a:r>
            <a:r>
              <a:rPr lang="en-US" altLang="zh-CN" sz="3600" kern="0" smtClean="0"/>
              <a:t>)</a:t>
            </a:r>
            <a:endParaRPr lang="en-US" altLang="zh-CN" sz="3600" kern="0" smtClean="0"/>
          </a:p>
        </p:txBody>
      </p:sp>
      <p:sp>
        <p:nvSpPr>
          <p:cNvPr id="81" name="文本框 80"/>
          <p:cNvSpPr txBox="1"/>
          <p:nvPr/>
        </p:nvSpPr>
        <p:spPr>
          <a:xfrm>
            <a:off x="427990" y="1489075"/>
            <a:ext cx="5606415" cy="405765"/>
          </a:xfrm>
          <a:prstGeom prst="rect">
            <a:avLst/>
          </a:prstGeom>
          <a:noFill/>
        </p:spPr>
        <p:txBody>
          <a:bodyPr>
            <a:noAutofit/>
          </a:bodyPr>
          <a:p>
            <a:pPr>
              <a:defRPr/>
            </a:pPr>
            <a:r>
              <a:rPr lang="zh-CN">
                <a:solidFill>
                  <a:srgbClr val="000066"/>
                </a:solidFill>
                <a:latin typeface="+mj-ea"/>
                <a:ea typeface="+mj-ea"/>
              </a:rPr>
              <a:t>（</a:t>
            </a:r>
            <a:r>
              <a:rPr lang="en-US" altLang="zh-CN">
                <a:solidFill>
                  <a:srgbClr val="000066"/>
                </a:solidFill>
                <a:latin typeface="+mj-ea"/>
                <a:ea typeface="+mj-ea"/>
              </a:rPr>
              <a:t>2</a:t>
            </a:r>
            <a:r>
              <a:rPr lang="zh-CN">
                <a:solidFill>
                  <a:srgbClr val="000066"/>
                </a:solidFill>
                <a:latin typeface="+mj-ea"/>
                <a:ea typeface="+mj-ea"/>
              </a:rPr>
              <a:t>）观察</a:t>
            </a:r>
            <a:r>
              <a:rPr lang="zh-CN">
                <a:solidFill>
                  <a:srgbClr val="000066"/>
                </a:solidFill>
                <a:latin typeface="+mj-ea"/>
                <a:ea typeface="+mj-ea"/>
              </a:rPr>
              <a:t>子集有重复的剪枝条件</a:t>
            </a:r>
            <a:r>
              <a:rPr lang="en-US" altLang="zh-CN">
                <a:solidFill>
                  <a:srgbClr val="000066"/>
                </a:solidFill>
                <a:latin typeface="+mj-ea"/>
                <a:ea typeface="+mj-ea"/>
              </a:rPr>
              <a:t> </a:t>
            </a:r>
            <a:endParaRPr lang="zh-CN" altLang="en-US">
              <a:solidFill>
                <a:srgbClr val="000066"/>
              </a:solidFill>
              <a:latin typeface="+mj-ea"/>
              <a:ea typeface="+mj-ea"/>
            </a:endParaRPr>
          </a:p>
        </p:txBody>
      </p:sp>
      <p:grpSp>
        <p:nvGrpSpPr>
          <p:cNvPr id="120" name="组合 119"/>
          <p:cNvGrpSpPr/>
          <p:nvPr/>
        </p:nvGrpSpPr>
        <p:grpSpPr>
          <a:xfrm rot="0">
            <a:off x="4139565" y="1972310"/>
            <a:ext cx="646430" cy="581660"/>
            <a:chOff x="10489" y="3359"/>
            <a:chExt cx="1018" cy="916"/>
          </a:xfrm>
        </p:grpSpPr>
        <p:sp>
          <p:nvSpPr>
            <p:cNvPr id="121" name="椭圆 12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2" name="文本框 121"/>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23" name="组合 122"/>
          <p:cNvGrpSpPr/>
          <p:nvPr/>
        </p:nvGrpSpPr>
        <p:grpSpPr>
          <a:xfrm rot="0">
            <a:off x="3401060" y="2981325"/>
            <a:ext cx="646430" cy="582295"/>
            <a:chOff x="10489" y="3359"/>
            <a:chExt cx="1018" cy="917"/>
          </a:xfrm>
        </p:grpSpPr>
        <p:sp>
          <p:nvSpPr>
            <p:cNvPr id="124" name="椭圆 12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5" name="文本框 124"/>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26" name="组合 125"/>
          <p:cNvGrpSpPr/>
          <p:nvPr/>
        </p:nvGrpSpPr>
        <p:grpSpPr>
          <a:xfrm rot="0">
            <a:off x="4813300" y="2980055"/>
            <a:ext cx="646430" cy="581660"/>
            <a:chOff x="10489" y="3359"/>
            <a:chExt cx="1018" cy="916"/>
          </a:xfrm>
        </p:grpSpPr>
        <p:sp>
          <p:nvSpPr>
            <p:cNvPr id="127" name="椭圆 12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8" name="文本框 127"/>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cxnSp>
        <p:nvCxnSpPr>
          <p:cNvPr id="129" name="曲线连接符 128"/>
          <p:cNvCxnSpPr/>
          <p:nvPr/>
        </p:nvCxnSpPr>
        <p:spPr>
          <a:xfrm rot="10800000" flipV="1">
            <a:off x="3742055" y="2263140"/>
            <a:ext cx="396875" cy="716915"/>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130" name="曲线连接符 129"/>
          <p:cNvCxnSpPr/>
          <p:nvPr/>
        </p:nvCxnSpPr>
        <p:spPr>
          <a:xfrm>
            <a:off x="4766310" y="2291715"/>
            <a:ext cx="370205" cy="688340"/>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143" name="曲线连接符 142"/>
          <p:cNvCxnSpPr>
            <a:endCxn id="136" idx="0"/>
          </p:cNvCxnSpPr>
          <p:nvPr/>
        </p:nvCxnSpPr>
        <p:spPr>
          <a:xfrm rot="10800000" flipV="1">
            <a:off x="2793365" y="3563620"/>
            <a:ext cx="930275" cy="382270"/>
          </a:xfrm>
          <a:prstGeom prst="curvedConnector2">
            <a:avLst/>
          </a:prstGeom>
          <a:solidFill>
            <a:schemeClr val="accent1"/>
          </a:solidFill>
          <a:ln w="9525" cap="flat" cmpd="sng" algn="ctr">
            <a:solidFill>
              <a:schemeClr val="tx1"/>
            </a:solidFill>
            <a:prstDash val="solid"/>
            <a:round/>
            <a:headEnd type="none" w="med" len="med"/>
            <a:tailEnd type="arrow" w="med" len="med"/>
          </a:ln>
        </p:spPr>
      </p:cxnSp>
      <p:cxnSp>
        <p:nvCxnSpPr>
          <p:cNvPr id="144" name="曲线连接符 143"/>
          <p:cNvCxnSpPr/>
          <p:nvPr/>
        </p:nvCxnSpPr>
        <p:spPr>
          <a:xfrm rot="5400000" flipV="1">
            <a:off x="3693795" y="3594100"/>
            <a:ext cx="354330" cy="29337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45" name="曲线连接符 144"/>
          <p:cNvCxnSpPr>
            <a:endCxn id="142" idx="0"/>
          </p:cNvCxnSpPr>
          <p:nvPr/>
        </p:nvCxnSpPr>
        <p:spPr>
          <a:xfrm rot="5400000" flipV="1">
            <a:off x="5057140" y="3641090"/>
            <a:ext cx="389255" cy="230505"/>
          </a:xfrm>
          <a:prstGeom prst="curvedConnector3">
            <a:avLst>
              <a:gd name="adj1" fmla="val 50082"/>
            </a:avLst>
          </a:prstGeom>
          <a:solidFill>
            <a:schemeClr val="accent1"/>
          </a:solidFill>
          <a:ln w="9525" cap="flat" cmpd="sng" algn="ctr">
            <a:solidFill>
              <a:schemeClr val="tx1"/>
            </a:solidFill>
            <a:prstDash val="solid"/>
            <a:round/>
            <a:headEnd type="none" w="med" len="med"/>
            <a:tailEnd type="arrow" w="med" len="med"/>
          </a:ln>
        </p:spPr>
      </p:cxnSp>
      <p:cxnSp>
        <p:nvCxnSpPr>
          <p:cNvPr id="146" name="曲线连接符 145"/>
          <p:cNvCxnSpPr>
            <a:endCxn id="138" idx="0"/>
          </p:cNvCxnSpPr>
          <p:nvPr/>
        </p:nvCxnSpPr>
        <p:spPr>
          <a:xfrm>
            <a:off x="5136515" y="3561715"/>
            <a:ext cx="1382395" cy="294005"/>
          </a:xfrm>
          <a:prstGeom prst="curvedConnector2">
            <a:avLst/>
          </a:prstGeom>
          <a:solidFill>
            <a:schemeClr val="accent1"/>
          </a:solidFill>
          <a:ln w="9525" cap="flat" cmpd="sng" algn="ctr">
            <a:solidFill>
              <a:schemeClr val="tx1"/>
            </a:solidFill>
            <a:prstDash val="solid"/>
            <a:round/>
            <a:headEnd type="none" w="med" len="med"/>
            <a:tailEnd type="arrow" w="med" len="med"/>
          </a:ln>
        </p:spPr>
      </p:cxnSp>
      <p:grpSp>
        <p:nvGrpSpPr>
          <p:cNvPr id="162" name="组合 161"/>
          <p:cNvGrpSpPr/>
          <p:nvPr/>
        </p:nvGrpSpPr>
        <p:grpSpPr>
          <a:xfrm>
            <a:off x="2268220" y="3900805"/>
            <a:ext cx="1061720" cy="992505"/>
            <a:chOff x="4365" y="6099"/>
            <a:chExt cx="1672" cy="1563"/>
          </a:xfrm>
        </p:grpSpPr>
        <p:grpSp>
          <p:nvGrpSpPr>
            <p:cNvPr id="134" name="组合 133"/>
            <p:cNvGrpSpPr/>
            <p:nvPr/>
          </p:nvGrpSpPr>
          <p:grpSpPr>
            <a:xfrm rot="0">
              <a:off x="4902" y="6099"/>
              <a:ext cx="538" cy="539"/>
              <a:chOff x="10489" y="3359"/>
              <a:chExt cx="1018" cy="917"/>
            </a:xfrm>
          </p:grpSpPr>
          <p:sp>
            <p:nvSpPr>
              <p:cNvPr id="135" name="椭圆 13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36" name="文本框 13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47" name="组合 146"/>
            <p:cNvGrpSpPr/>
            <p:nvPr/>
          </p:nvGrpSpPr>
          <p:grpSpPr>
            <a:xfrm>
              <a:off x="4365" y="6638"/>
              <a:ext cx="1672" cy="1025"/>
              <a:chOff x="4579" y="8358"/>
              <a:chExt cx="1672" cy="1025"/>
            </a:xfrm>
          </p:grpSpPr>
          <p:grpSp>
            <p:nvGrpSpPr>
              <p:cNvPr id="148" name="组合 147"/>
              <p:cNvGrpSpPr/>
              <p:nvPr/>
            </p:nvGrpSpPr>
            <p:grpSpPr>
              <a:xfrm rot="0">
                <a:off x="5713" y="8845"/>
                <a:ext cx="538" cy="539"/>
                <a:chOff x="10489" y="3359"/>
                <a:chExt cx="1018" cy="917"/>
              </a:xfrm>
            </p:grpSpPr>
            <p:sp>
              <p:nvSpPr>
                <p:cNvPr id="149" name="椭圆 14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50" name="文本框 14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grpSp>
            <p:nvGrpSpPr>
              <p:cNvPr id="151" name="组合 150"/>
              <p:cNvGrpSpPr/>
              <p:nvPr/>
            </p:nvGrpSpPr>
            <p:grpSpPr>
              <a:xfrm rot="0">
                <a:off x="4579" y="8845"/>
                <a:ext cx="538" cy="539"/>
                <a:chOff x="10489" y="3359"/>
                <a:chExt cx="1018" cy="917"/>
              </a:xfrm>
            </p:grpSpPr>
            <p:sp>
              <p:nvSpPr>
                <p:cNvPr id="152" name="椭圆 15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53" name="文本框 152"/>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154" name="曲线连接符 153"/>
              <p:cNvCxnSpPr/>
              <p:nvPr/>
            </p:nvCxnSpPr>
            <p:spPr>
              <a:xfrm rot="5400000" flipV="1">
                <a:off x="5412" y="8274"/>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55" name="曲线连接符 154"/>
              <p:cNvCxnSpPr/>
              <p:nvPr/>
            </p:nvCxnSpPr>
            <p:spPr>
              <a:xfrm rot="5400000">
                <a:off x="4820" y="8408"/>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grpSp>
      <p:sp>
        <p:nvSpPr>
          <p:cNvPr id="157" name="文本框 156"/>
          <p:cNvSpPr txBox="1"/>
          <p:nvPr/>
        </p:nvSpPr>
        <p:spPr>
          <a:xfrm>
            <a:off x="2356485" y="3107055"/>
            <a:ext cx="669925" cy="368300"/>
          </a:xfrm>
          <a:prstGeom prst="rect">
            <a:avLst/>
          </a:prstGeom>
          <a:noFill/>
        </p:spPr>
        <p:txBody>
          <a:bodyPr wrap="square" rtlCol="0">
            <a:spAutoFit/>
          </a:bodyPr>
          <a:p>
            <a:r>
              <a:rPr lang="zh-CN" altLang="en-US"/>
              <a:t>①</a:t>
            </a:r>
            <a:r>
              <a:rPr lang="en-US" altLang="zh-CN"/>
              <a:t> 1</a:t>
            </a:r>
            <a:endParaRPr lang="en-US" altLang="zh-CN"/>
          </a:p>
        </p:txBody>
      </p:sp>
      <p:sp>
        <p:nvSpPr>
          <p:cNvPr id="160" name="文本框 159"/>
          <p:cNvSpPr txBox="1"/>
          <p:nvPr/>
        </p:nvSpPr>
        <p:spPr>
          <a:xfrm>
            <a:off x="1835785" y="3789045"/>
            <a:ext cx="669925" cy="368300"/>
          </a:xfrm>
          <a:prstGeom prst="rect">
            <a:avLst/>
          </a:prstGeom>
          <a:noFill/>
        </p:spPr>
        <p:txBody>
          <a:bodyPr wrap="square" rtlCol="0">
            <a:spAutoFit/>
          </a:bodyPr>
          <a:p>
            <a:r>
              <a:rPr lang="zh-CN" altLang="en-US"/>
              <a:t>②</a:t>
            </a:r>
            <a:r>
              <a:rPr lang="en-US" altLang="zh-CN"/>
              <a:t> 1</a:t>
            </a:r>
            <a:endParaRPr lang="en-US" altLang="zh-CN"/>
          </a:p>
        </p:txBody>
      </p:sp>
      <p:sp>
        <p:nvSpPr>
          <p:cNvPr id="161" name="文本框 160"/>
          <p:cNvSpPr txBox="1"/>
          <p:nvPr/>
        </p:nvSpPr>
        <p:spPr>
          <a:xfrm>
            <a:off x="1331595" y="4525010"/>
            <a:ext cx="669925" cy="368300"/>
          </a:xfrm>
          <a:prstGeom prst="rect">
            <a:avLst/>
          </a:prstGeom>
          <a:noFill/>
        </p:spPr>
        <p:txBody>
          <a:bodyPr wrap="square" rtlCol="0">
            <a:spAutoFit/>
          </a:bodyPr>
          <a:p>
            <a:r>
              <a:rPr lang="zh-CN" altLang="en-US"/>
              <a:t>③</a:t>
            </a:r>
            <a:r>
              <a:rPr lang="en-US" altLang="zh-CN"/>
              <a:t> 2</a:t>
            </a:r>
            <a:endParaRPr lang="en-US" altLang="zh-CN"/>
          </a:p>
        </p:txBody>
      </p:sp>
      <p:grpSp>
        <p:nvGrpSpPr>
          <p:cNvPr id="163" name="组合 162"/>
          <p:cNvGrpSpPr/>
          <p:nvPr/>
        </p:nvGrpSpPr>
        <p:grpSpPr>
          <a:xfrm>
            <a:off x="4834255" y="3917950"/>
            <a:ext cx="1061720" cy="992505"/>
            <a:chOff x="4365" y="6099"/>
            <a:chExt cx="1672" cy="1563"/>
          </a:xfrm>
        </p:grpSpPr>
        <p:grpSp>
          <p:nvGrpSpPr>
            <p:cNvPr id="164" name="组合 163"/>
            <p:cNvGrpSpPr/>
            <p:nvPr/>
          </p:nvGrpSpPr>
          <p:grpSpPr>
            <a:xfrm rot="0">
              <a:off x="4902" y="6099"/>
              <a:ext cx="538" cy="539"/>
              <a:chOff x="10489" y="3359"/>
              <a:chExt cx="1018" cy="917"/>
            </a:xfrm>
          </p:grpSpPr>
          <p:sp>
            <p:nvSpPr>
              <p:cNvPr id="165" name="椭圆 16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66" name="文本框 16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67" name="组合 166"/>
            <p:cNvGrpSpPr/>
            <p:nvPr/>
          </p:nvGrpSpPr>
          <p:grpSpPr>
            <a:xfrm>
              <a:off x="4365" y="6638"/>
              <a:ext cx="1672" cy="1025"/>
              <a:chOff x="4579" y="8358"/>
              <a:chExt cx="1672" cy="1025"/>
            </a:xfrm>
          </p:grpSpPr>
          <p:grpSp>
            <p:nvGrpSpPr>
              <p:cNvPr id="168" name="组合 167"/>
              <p:cNvGrpSpPr/>
              <p:nvPr/>
            </p:nvGrpSpPr>
            <p:grpSpPr>
              <a:xfrm rot="0">
                <a:off x="5713" y="8845"/>
                <a:ext cx="538" cy="539"/>
                <a:chOff x="10489" y="3359"/>
                <a:chExt cx="1018" cy="917"/>
              </a:xfrm>
            </p:grpSpPr>
            <p:sp>
              <p:nvSpPr>
                <p:cNvPr id="169" name="椭圆 168"/>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0" name="文本框 169"/>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grpSp>
            <p:nvGrpSpPr>
              <p:cNvPr id="171" name="组合 170"/>
              <p:cNvGrpSpPr/>
              <p:nvPr/>
            </p:nvGrpSpPr>
            <p:grpSpPr>
              <a:xfrm rot="0">
                <a:off x="4579" y="8845"/>
                <a:ext cx="538" cy="539"/>
                <a:chOff x="10489" y="3359"/>
                <a:chExt cx="1018" cy="917"/>
              </a:xfrm>
            </p:grpSpPr>
            <p:sp>
              <p:nvSpPr>
                <p:cNvPr id="172" name="椭圆 17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3" name="文本框 172"/>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174" name="曲线连接符 173"/>
              <p:cNvCxnSpPr/>
              <p:nvPr/>
            </p:nvCxnSpPr>
            <p:spPr>
              <a:xfrm rot="5400000" flipV="1">
                <a:off x="5412" y="8274"/>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75" name="曲线连接符 174"/>
              <p:cNvCxnSpPr/>
              <p:nvPr/>
            </p:nvCxnSpPr>
            <p:spPr>
              <a:xfrm rot="5400000">
                <a:off x="4820" y="8408"/>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grpSp>
      <p:grpSp>
        <p:nvGrpSpPr>
          <p:cNvPr id="176" name="组合 175"/>
          <p:cNvGrpSpPr/>
          <p:nvPr/>
        </p:nvGrpSpPr>
        <p:grpSpPr>
          <a:xfrm>
            <a:off x="3529965" y="3917950"/>
            <a:ext cx="1061720" cy="992505"/>
            <a:chOff x="4365" y="6099"/>
            <a:chExt cx="1672" cy="1563"/>
          </a:xfrm>
        </p:grpSpPr>
        <p:grpSp>
          <p:nvGrpSpPr>
            <p:cNvPr id="177" name="组合 176"/>
            <p:cNvGrpSpPr/>
            <p:nvPr/>
          </p:nvGrpSpPr>
          <p:grpSpPr>
            <a:xfrm rot="0">
              <a:off x="4902" y="6099"/>
              <a:ext cx="538" cy="539"/>
              <a:chOff x="10489" y="3359"/>
              <a:chExt cx="1018" cy="917"/>
            </a:xfrm>
          </p:grpSpPr>
          <p:sp>
            <p:nvSpPr>
              <p:cNvPr id="178" name="椭圆 17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79" name="文本框 17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grpSp>
          <p:nvGrpSpPr>
            <p:cNvPr id="180" name="组合 179"/>
            <p:cNvGrpSpPr/>
            <p:nvPr/>
          </p:nvGrpSpPr>
          <p:grpSpPr>
            <a:xfrm>
              <a:off x="4365" y="6638"/>
              <a:ext cx="1672" cy="1025"/>
              <a:chOff x="4579" y="8358"/>
              <a:chExt cx="1672" cy="1025"/>
            </a:xfrm>
          </p:grpSpPr>
          <p:grpSp>
            <p:nvGrpSpPr>
              <p:cNvPr id="181" name="组合 180"/>
              <p:cNvGrpSpPr/>
              <p:nvPr/>
            </p:nvGrpSpPr>
            <p:grpSpPr>
              <a:xfrm rot="0">
                <a:off x="5713" y="8845"/>
                <a:ext cx="538" cy="539"/>
                <a:chOff x="10489" y="3359"/>
                <a:chExt cx="1018" cy="917"/>
              </a:xfrm>
            </p:grpSpPr>
            <p:sp>
              <p:nvSpPr>
                <p:cNvPr id="182" name="椭圆 181"/>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83" name="文本框 182"/>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grpSp>
            <p:nvGrpSpPr>
              <p:cNvPr id="184" name="组合 183"/>
              <p:cNvGrpSpPr/>
              <p:nvPr/>
            </p:nvGrpSpPr>
            <p:grpSpPr>
              <a:xfrm rot="0">
                <a:off x="4579" y="8845"/>
                <a:ext cx="538" cy="539"/>
                <a:chOff x="10489" y="3359"/>
                <a:chExt cx="1018" cy="917"/>
              </a:xfrm>
            </p:grpSpPr>
            <p:sp>
              <p:nvSpPr>
                <p:cNvPr id="185" name="椭圆 18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86" name="文本框 18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187" name="曲线连接符 186"/>
              <p:cNvCxnSpPr/>
              <p:nvPr/>
            </p:nvCxnSpPr>
            <p:spPr>
              <a:xfrm rot="5400000" flipV="1">
                <a:off x="5412" y="8274"/>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88" name="曲线连接符 187"/>
              <p:cNvCxnSpPr/>
              <p:nvPr/>
            </p:nvCxnSpPr>
            <p:spPr>
              <a:xfrm rot="5400000">
                <a:off x="4820" y="8408"/>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grpSp>
      <p:grpSp>
        <p:nvGrpSpPr>
          <p:cNvPr id="189" name="组合 188"/>
          <p:cNvGrpSpPr/>
          <p:nvPr/>
        </p:nvGrpSpPr>
        <p:grpSpPr>
          <a:xfrm>
            <a:off x="6012180" y="3900805"/>
            <a:ext cx="1061720" cy="992505"/>
            <a:chOff x="4365" y="6099"/>
            <a:chExt cx="1672" cy="1563"/>
          </a:xfrm>
        </p:grpSpPr>
        <p:grpSp>
          <p:nvGrpSpPr>
            <p:cNvPr id="190" name="组合 189"/>
            <p:cNvGrpSpPr/>
            <p:nvPr/>
          </p:nvGrpSpPr>
          <p:grpSpPr>
            <a:xfrm rot="0">
              <a:off x="4902" y="6099"/>
              <a:ext cx="538" cy="539"/>
              <a:chOff x="10489" y="3359"/>
              <a:chExt cx="1018" cy="917"/>
            </a:xfrm>
          </p:grpSpPr>
          <p:sp>
            <p:nvSpPr>
              <p:cNvPr id="191" name="椭圆 19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92" name="文本框 191"/>
              <p:cNvSpPr txBox="1"/>
              <p:nvPr/>
            </p:nvSpPr>
            <p:spPr>
              <a:xfrm>
                <a:off x="10603" y="3480"/>
                <a:ext cx="874" cy="694"/>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grpSp>
          <p:nvGrpSpPr>
            <p:cNvPr id="193" name="组合 192"/>
            <p:cNvGrpSpPr/>
            <p:nvPr/>
          </p:nvGrpSpPr>
          <p:grpSpPr>
            <a:xfrm>
              <a:off x="4365" y="6638"/>
              <a:ext cx="1672" cy="1025"/>
              <a:chOff x="4579" y="8358"/>
              <a:chExt cx="1672" cy="1025"/>
            </a:xfrm>
          </p:grpSpPr>
          <p:grpSp>
            <p:nvGrpSpPr>
              <p:cNvPr id="194" name="组合 193"/>
              <p:cNvGrpSpPr/>
              <p:nvPr/>
            </p:nvGrpSpPr>
            <p:grpSpPr>
              <a:xfrm rot="0">
                <a:off x="5713" y="8845"/>
                <a:ext cx="538" cy="539"/>
                <a:chOff x="10489" y="3359"/>
                <a:chExt cx="1018" cy="917"/>
              </a:xfrm>
            </p:grpSpPr>
            <p:sp>
              <p:nvSpPr>
                <p:cNvPr id="195" name="椭圆 19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96" name="文本框 195"/>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0</a:t>
                  </a:r>
                  <a:endParaRPr lang="en-US" sz="1400">
                    <a:solidFill>
                      <a:srgbClr val="000066"/>
                    </a:solidFill>
                    <a:latin typeface="+mj-ea"/>
                    <a:ea typeface="+mj-ea"/>
                  </a:endParaRPr>
                </a:p>
              </p:txBody>
            </p:sp>
          </p:grpSp>
          <p:grpSp>
            <p:nvGrpSpPr>
              <p:cNvPr id="197" name="组合 196"/>
              <p:cNvGrpSpPr/>
              <p:nvPr/>
            </p:nvGrpSpPr>
            <p:grpSpPr>
              <a:xfrm rot="0">
                <a:off x="4579" y="8845"/>
                <a:ext cx="538" cy="539"/>
                <a:chOff x="10489" y="3359"/>
                <a:chExt cx="1018" cy="917"/>
              </a:xfrm>
            </p:grpSpPr>
            <p:sp>
              <p:nvSpPr>
                <p:cNvPr id="198" name="椭圆 197"/>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99" name="文本框 198"/>
                <p:cNvSpPr txBox="1"/>
                <p:nvPr/>
              </p:nvSpPr>
              <p:spPr>
                <a:xfrm>
                  <a:off x="10602" y="3479"/>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cxnSp>
            <p:nvCxnSpPr>
              <p:cNvPr id="200" name="曲线连接符 199"/>
              <p:cNvCxnSpPr/>
              <p:nvPr/>
            </p:nvCxnSpPr>
            <p:spPr>
              <a:xfrm rot="5400000" flipV="1">
                <a:off x="5412" y="8274"/>
                <a:ext cx="487" cy="654"/>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201" name="曲线连接符 200"/>
              <p:cNvCxnSpPr/>
              <p:nvPr/>
            </p:nvCxnSpPr>
            <p:spPr>
              <a:xfrm rot="5400000">
                <a:off x="4820" y="8408"/>
                <a:ext cx="558" cy="458"/>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grpSp>
      </p:grpSp>
      <p:sp>
        <p:nvSpPr>
          <p:cNvPr id="203" name="矩形 202"/>
          <p:cNvSpPr/>
          <p:nvPr/>
        </p:nvSpPr>
        <p:spPr>
          <a:xfrm>
            <a:off x="3275965" y="2934970"/>
            <a:ext cx="1368425" cy="2078355"/>
          </a:xfrm>
          <a:prstGeom prst="rect">
            <a:avLst/>
          </a:prstGeom>
          <a:noFill/>
          <a:ln w="28575" cap="flat" cmpd="sng" algn="ctr">
            <a:solidFill>
              <a:schemeClr val="accent1">
                <a:shade val="50000"/>
              </a:schemeClr>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04" name="矩形 203"/>
          <p:cNvSpPr/>
          <p:nvPr/>
        </p:nvSpPr>
        <p:spPr>
          <a:xfrm>
            <a:off x="4665980" y="2934970"/>
            <a:ext cx="1346835" cy="2078355"/>
          </a:xfrm>
          <a:prstGeom prst="rect">
            <a:avLst/>
          </a:prstGeom>
          <a:noFill/>
          <a:ln w="28575" cap="flat" cmpd="sng" algn="ctr">
            <a:solidFill>
              <a:schemeClr val="accent1">
                <a:shade val="50000"/>
              </a:schemeClr>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205" name="文本框 204"/>
          <p:cNvSpPr txBox="1"/>
          <p:nvPr/>
        </p:nvSpPr>
        <p:spPr>
          <a:xfrm>
            <a:off x="4157980" y="2934970"/>
            <a:ext cx="297180" cy="368300"/>
          </a:xfrm>
          <a:prstGeom prst="rect">
            <a:avLst/>
          </a:prstGeom>
          <a:noFill/>
          <a:ln>
            <a:noFill/>
          </a:ln>
        </p:spPr>
        <p:txBody>
          <a:bodyPr wrap="square" rtlCol="0">
            <a:spAutoFit/>
          </a:bodyPr>
          <a:p>
            <a:r>
              <a:rPr lang="zh-CN" altLang="en-US">
                <a:solidFill>
                  <a:srgbClr val="FF0000"/>
                </a:solidFill>
              </a:rPr>
              <a:t>①</a:t>
            </a:r>
            <a:endParaRPr lang="zh-CN" altLang="en-US">
              <a:solidFill>
                <a:srgbClr val="FF0000"/>
              </a:solidFill>
            </a:endParaRPr>
          </a:p>
        </p:txBody>
      </p:sp>
      <p:sp>
        <p:nvSpPr>
          <p:cNvPr id="206" name="文本框 205"/>
          <p:cNvSpPr txBox="1"/>
          <p:nvPr/>
        </p:nvSpPr>
        <p:spPr>
          <a:xfrm>
            <a:off x="5554345" y="2934970"/>
            <a:ext cx="297180" cy="368300"/>
          </a:xfrm>
          <a:prstGeom prst="rect">
            <a:avLst/>
          </a:prstGeom>
          <a:noFill/>
          <a:ln>
            <a:noFill/>
          </a:ln>
        </p:spPr>
        <p:txBody>
          <a:bodyPr wrap="square" rtlCol="0">
            <a:spAutoFit/>
          </a:bodyPr>
          <a:p>
            <a:r>
              <a:rPr lang="zh-CN" altLang="en-US">
                <a:solidFill>
                  <a:srgbClr val="FF0000"/>
                </a:solidFill>
              </a:rPr>
              <a:t>②</a:t>
            </a:r>
            <a:endParaRPr lang="zh-CN" altLang="en-US">
              <a:solidFill>
                <a:srgbClr val="FF0000"/>
              </a:solidFill>
            </a:endParaRPr>
          </a:p>
        </p:txBody>
      </p:sp>
      <p:sp>
        <p:nvSpPr>
          <p:cNvPr id="207" name="文本框 206"/>
          <p:cNvSpPr txBox="1"/>
          <p:nvPr/>
        </p:nvSpPr>
        <p:spPr>
          <a:xfrm>
            <a:off x="2124075" y="5013325"/>
            <a:ext cx="5523230" cy="645160"/>
          </a:xfrm>
          <a:prstGeom prst="rect">
            <a:avLst/>
          </a:prstGeom>
          <a:noFill/>
        </p:spPr>
        <p:txBody>
          <a:bodyPr wrap="square" rtlCol="0" anchor="t">
            <a:spAutoFit/>
          </a:bodyPr>
          <a:p>
            <a:r>
              <a:rPr lang="en-US" altLang="zh-CN">
                <a:solidFill>
                  <a:srgbClr val="000066"/>
                </a:solidFill>
                <a:latin typeface="+mj-ea"/>
                <a:ea typeface="+mj-ea"/>
                <a:sym typeface="+mn-ea"/>
              </a:rPr>
              <a:t>[1,1,2] </a:t>
            </a:r>
            <a:r>
              <a:rPr lang="en-US" altLang="zh-CN">
                <a:solidFill>
                  <a:srgbClr val="000066"/>
                </a:solidFill>
                <a:latin typeface="+mj-ea"/>
                <a:ea typeface="+mj-ea"/>
                <a:sym typeface="+mn-ea"/>
              </a:rPr>
              <a:t>[1,1]  </a:t>
            </a:r>
            <a:r>
              <a:rPr lang="en-US" altLang="zh-CN">
                <a:solidFill>
                  <a:srgbClr val="FF0000"/>
                </a:solidFill>
                <a:latin typeface="+mj-ea"/>
                <a:ea typeface="+mj-ea"/>
                <a:sym typeface="+mn-ea"/>
              </a:rPr>
              <a:t>[1,2]    [1]      [1,2]    [1]</a:t>
            </a:r>
            <a:r>
              <a:rPr lang="en-US" altLang="zh-CN">
                <a:solidFill>
                  <a:srgbClr val="000066"/>
                </a:solidFill>
                <a:latin typeface="+mj-ea"/>
                <a:ea typeface="+mj-ea"/>
                <a:sym typeface="+mn-ea"/>
              </a:rPr>
              <a:t> </a:t>
            </a:r>
            <a:r>
              <a:rPr lang="en-US" altLang="zh-CN">
                <a:solidFill>
                  <a:srgbClr val="000066"/>
                </a:solidFill>
                <a:latin typeface="+mj-ea"/>
                <a:ea typeface="+mj-ea"/>
                <a:sym typeface="+mn-ea"/>
              </a:rPr>
              <a:t>   [2]        [] </a:t>
            </a:r>
            <a:endParaRPr lang="en-US" altLang="zh-CN">
              <a:solidFill>
                <a:srgbClr val="000066"/>
              </a:solidFill>
              <a:latin typeface="+mj-ea"/>
              <a:ea typeface="+mj-ea"/>
              <a:sym typeface="+mn-ea"/>
            </a:endParaRPr>
          </a:p>
          <a:p>
            <a:endParaRPr lang="en-US" altLang="zh-CN">
              <a:solidFill>
                <a:srgbClr val="000066"/>
              </a:solidFill>
              <a:latin typeface="+mj-ea"/>
              <a:ea typeface="+mj-ea"/>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993900" y="1745615"/>
            <a:ext cx="4819650" cy="4048125"/>
          </a:xfrm>
          <a:prstGeom prst="rect">
            <a:avLst/>
          </a:prstGeom>
        </p:spPr>
      </p:pic>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188595" y="367030"/>
            <a:ext cx="8487410" cy="1122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sz="3600" kern="0" smtClean="0">
                <a:sym typeface="+mn-ea"/>
              </a:rPr>
              <a:t>（</a:t>
            </a:r>
            <a:r>
              <a:rPr lang="en-US" altLang="zh-CN" sz="3600" kern="0" smtClean="0">
                <a:sym typeface="+mn-ea"/>
              </a:rPr>
              <a:t>3</a:t>
            </a:r>
            <a:r>
              <a:rPr lang="zh-CN" sz="3600" kern="0" smtClean="0">
                <a:sym typeface="+mn-ea"/>
              </a:rPr>
              <a:t>）</a:t>
            </a:r>
            <a:r>
              <a:rPr lang="zh-CN" altLang="en-US" sz="3600" kern="0" smtClean="0"/>
              <a:t>全排列</a:t>
            </a:r>
            <a:r>
              <a:rPr lang="en-US" altLang="zh-CN" sz="3600" kern="0" smtClean="0"/>
              <a:t>II</a:t>
            </a:r>
            <a:r>
              <a:rPr lang="zh-CN" altLang="en-US" sz="3600" kern="0" smtClean="0"/>
              <a:t>和子集</a:t>
            </a:r>
            <a:r>
              <a:rPr lang="en-US" altLang="zh-CN" sz="3600" kern="0" smtClean="0"/>
              <a:t>II(</a:t>
            </a:r>
            <a:r>
              <a:rPr lang="zh-CN" altLang="en-US" sz="3600" kern="0" smtClean="0"/>
              <a:t>需要对搜索树剪枝</a:t>
            </a:r>
            <a:r>
              <a:rPr lang="en-US" altLang="zh-CN" sz="3600" kern="0" smtClean="0"/>
              <a:t>)</a:t>
            </a:r>
            <a:endParaRPr lang="en-US" altLang="zh-CN" sz="3600" kern="0" smtClean="0"/>
          </a:p>
        </p:txBody>
      </p:sp>
      <p:sp>
        <p:nvSpPr>
          <p:cNvPr id="81" name="文本框 80"/>
          <p:cNvSpPr txBox="1"/>
          <p:nvPr/>
        </p:nvSpPr>
        <p:spPr>
          <a:xfrm>
            <a:off x="427990" y="1489075"/>
            <a:ext cx="5606415" cy="405765"/>
          </a:xfrm>
          <a:prstGeom prst="rect">
            <a:avLst/>
          </a:prstGeom>
          <a:noFill/>
        </p:spPr>
        <p:txBody>
          <a:bodyPr>
            <a:noAutofit/>
          </a:bodyPr>
          <a:p>
            <a:pPr>
              <a:defRPr/>
            </a:pPr>
            <a:r>
              <a:rPr lang="zh-CN">
                <a:solidFill>
                  <a:srgbClr val="000066"/>
                </a:solidFill>
                <a:latin typeface="+mj-ea"/>
                <a:ea typeface="+mj-ea"/>
              </a:rPr>
              <a:t>（</a:t>
            </a:r>
            <a:r>
              <a:rPr lang="en-US" altLang="zh-CN">
                <a:solidFill>
                  <a:srgbClr val="000066"/>
                </a:solidFill>
                <a:latin typeface="+mj-ea"/>
                <a:ea typeface="+mj-ea"/>
              </a:rPr>
              <a:t>2</a:t>
            </a:r>
            <a:r>
              <a:rPr lang="zh-CN">
                <a:solidFill>
                  <a:srgbClr val="000066"/>
                </a:solidFill>
                <a:latin typeface="+mj-ea"/>
                <a:ea typeface="+mj-ea"/>
              </a:rPr>
              <a:t>）观察</a:t>
            </a:r>
            <a:r>
              <a:rPr lang="zh-CN">
                <a:solidFill>
                  <a:srgbClr val="000066"/>
                </a:solidFill>
                <a:latin typeface="+mj-ea"/>
                <a:ea typeface="+mj-ea"/>
              </a:rPr>
              <a:t>子集有重复的剪枝条件</a:t>
            </a:r>
            <a:r>
              <a:rPr lang="en-US" altLang="zh-CN">
                <a:solidFill>
                  <a:srgbClr val="000066"/>
                </a:solidFill>
                <a:latin typeface="+mj-ea"/>
                <a:ea typeface="+mj-ea"/>
              </a:rPr>
              <a:t> </a:t>
            </a:r>
            <a:endParaRPr lang="zh-CN" altLang="en-US">
              <a:solidFill>
                <a:srgbClr val="000066"/>
              </a:solidFill>
              <a:latin typeface="+mj-ea"/>
              <a:ea typeface="+mj-ea"/>
            </a:endParaRPr>
          </a:p>
        </p:txBody>
      </p:sp>
      <p:sp>
        <p:nvSpPr>
          <p:cNvPr id="5" name="矩形 4"/>
          <p:cNvSpPr/>
          <p:nvPr/>
        </p:nvSpPr>
        <p:spPr>
          <a:xfrm>
            <a:off x="2555875" y="4077335"/>
            <a:ext cx="4015740" cy="575945"/>
          </a:xfrm>
          <a:prstGeom prst="rect">
            <a:avLst/>
          </a:prstGeom>
          <a:noFill/>
          <a:ln w="28575" cap="flat" cmpd="sng" algn="ctr">
            <a:solidFill>
              <a:schemeClr val="accent1">
                <a:shade val="50000"/>
              </a:schemeClr>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188595" y="367030"/>
            <a:ext cx="8487410" cy="1122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sz="3600" kern="0" smtClean="0">
                <a:sym typeface="+mn-ea"/>
              </a:rPr>
              <a:t>（</a:t>
            </a:r>
            <a:r>
              <a:rPr lang="en-US" altLang="zh-CN" sz="3600" kern="0" smtClean="0">
                <a:sym typeface="+mn-ea"/>
              </a:rPr>
              <a:t>4</a:t>
            </a:r>
            <a:r>
              <a:rPr lang="zh-CN" sz="3600" kern="0" smtClean="0">
                <a:sym typeface="+mn-ea"/>
              </a:rPr>
              <a:t>）</a:t>
            </a:r>
            <a:r>
              <a:rPr lang="zh-CN" altLang="en-US" sz="3600" kern="0" smtClean="0"/>
              <a:t>组合问题</a:t>
            </a:r>
            <a:endParaRPr lang="en-US" altLang="zh-CN" sz="3600" kern="0" smtClean="0"/>
          </a:p>
        </p:txBody>
      </p:sp>
      <p:sp>
        <p:nvSpPr>
          <p:cNvPr id="81" name="文本框 80"/>
          <p:cNvSpPr txBox="1"/>
          <p:nvPr/>
        </p:nvSpPr>
        <p:spPr>
          <a:xfrm>
            <a:off x="427990" y="1489075"/>
            <a:ext cx="7971790" cy="380365"/>
          </a:xfrm>
          <a:prstGeom prst="rect">
            <a:avLst/>
          </a:prstGeom>
          <a:noFill/>
        </p:spPr>
        <p:txBody>
          <a:bodyPr>
            <a:noAutofit/>
          </a:bodyPr>
          <a:p>
            <a:pPr>
              <a:defRPr/>
            </a:pPr>
            <a:r>
              <a:rPr lang="zh-CN">
                <a:solidFill>
                  <a:srgbClr val="000066"/>
                </a:solidFill>
                <a:uFillTx/>
                <a:latin typeface="Times New Roman" panose="02020603050405020304" pitchFamily="18" charset="0"/>
              </a:rPr>
              <a:t>（</a:t>
            </a:r>
            <a:r>
              <a:rPr lang="en-US" altLang="zh-CN">
                <a:solidFill>
                  <a:srgbClr val="000066"/>
                </a:solidFill>
                <a:uFillTx/>
                <a:latin typeface="Times New Roman" panose="02020603050405020304" pitchFamily="18" charset="0"/>
              </a:rPr>
              <a:t>1</a:t>
            </a:r>
            <a:r>
              <a:rPr lang="zh-CN">
                <a:solidFill>
                  <a:srgbClr val="000066"/>
                </a:solidFill>
                <a:uFillTx/>
                <a:latin typeface="Times New Roman" panose="02020603050405020304" pitchFamily="18" charset="0"/>
              </a:rPr>
              <a:t>）问题描述：</a:t>
            </a:r>
            <a:r>
              <a:rPr lang="zh-CN" altLang="en-US">
                <a:solidFill>
                  <a:srgbClr val="000066"/>
                </a:solidFill>
                <a:uFillTx/>
                <a:latin typeface="Times New Roman" panose="02020603050405020304" pitchFamily="18" charset="0"/>
              </a:rPr>
              <a:t>给定两个整数</a:t>
            </a:r>
            <a:r>
              <a:rPr lang="en-US" altLang="zh-CN">
                <a:solidFill>
                  <a:srgbClr val="000066"/>
                </a:solidFill>
                <a:uFillTx/>
                <a:latin typeface="Times New Roman" panose="02020603050405020304" pitchFamily="18" charset="0"/>
              </a:rPr>
              <a:t> n </a:t>
            </a:r>
            <a:r>
              <a:rPr lang="zh-CN" altLang="en-US">
                <a:solidFill>
                  <a:srgbClr val="000066"/>
                </a:solidFill>
                <a:uFillTx/>
                <a:latin typeface="Times New Roman" panose="02020603050405020304" pitchFamily="18" charset="0"/>
              </a:rPr>
              <a:t>和</a:t>
            </a:r>
            <a:r>
              <a:rPr lang="en-US" altLang="zh-CN">
                <a:solidFill>
                  <a:srgbClr val="000066"/>
                </a:solidFill>
                <a:uFillTx/>
                <a:latin typeface="Times New Roman" panose="02020603050405020304" pitchFamily="18" charset="0"/>
              </a:rPr>
              <a:t> k</a:t>
            </a:r>
            <a:r>
              <a:rPr lang="zh-CN" altLang="en-US">
                <a:solidFill>
                  <a:srgbClr val="000066"/>
                </a:solidFill>
                <a:uFillTx/>
                <a:latin typeface="Times New Roman" panose="02020603050405020304" pitchFamily="18" charset="0"/>
              </a:rPr>
              <a:t>，返回范围</a:t>
            </a:r>
            <a:r>
              <a:rPr lang="en-US" altLang="zh-CN">
                <a:solidFill>
                  <a:srgbClr val="000066"/>
                </a:solidFill>
                <a:uFillTx/>
                <a:latin typeface="Times New Roman" panose="02020603050405020304" pitchFamily="18" charset="0"/>
              </a:rPr>
              <a:t> [1, n] </a:t>
            </a:r>
            <a:r>
              <a:rPr lang="zh-CN" altLang="en-US">
                <a:solidFill>
                  <a:srgbClr val="000066"/>
                </a:solidFill>
                <a:uFillTx/>
                <a:latin typeface="Times New Roman" panose="02020603050405020304" pitchFamily="18" charset="0"/>
              </a:rPr>
              <a:t>中所有可能的</a:t>
            </a:r>
            <a:r>
              <a:rPr lang="en-US" altLang="zh-CN">
                <a:solidFill>
                  <a:srgbClr val="000066"/>
                </a:solidFill>
                <a:uFillTx/>
                <a:latin typeface="Times New Roman" panose="02020603050405020304" pitchFamily="18" charset="0"/>
              </a:rPr>
              <a:t> k </a:t>
            </a:r>
            <a:r>
              <a:rPr lang="zh-CN" altLang="en-US">
                <a:solidFill>
                  <a:srgbClr val="000066"/>
                </a:solidFill>
                <a:uFillTx/>
                <a:latin typeface="Times New Roman" panose="02020603050405020304" pitchFamily="18" charset="0"/>
              </a:rPr>
              <a:t>个数的组合。</a:t>
            </a:r>
            <a:r>
              <a:rPr lang="en-US" altLang="zh-CN">
                <a:solidFill>
                  <a:srgbClr val="000066"/>
                </a:solidFill>
                <a:uFillTx/>
                <a:latin typeface="Times New Roman" panose="02020603050405020304" pitchFamily="18" charset="0"/>
              </a:rPr>
              <a:t> </a:t>
            </a:r>
            <a:endParaRPr lang="en-US" altLang="zh-CN">
              <a:solidFill>
                <a:srgbClr val="000066"/>
              </a:solidFill>
              <a:uFillTx/>
              <a:latin typeface="Times New Roman" panose="02020603050405020304" pitchFamily="18" charset="0"/>
            </a:endParaRPr>
          </a:p>
        </p:txBody>
      </p:sp>
      <p:grpSp>
        <p:nvGrpSpPr>
          <p:cNvPr id="120" name="组合 119"/>
          <p:cNvGrpSpPr/>
          <p:nvPr/>
        </p:nvGrpSpPr>
        <p:grpSpPr>
          <a:xfrm rot="0">
            <a:off x="3889375" y="2492375"/>
            <a:ext cx="646430" cy="581660"/>
            <a:chOff x="10489" y="3359"/>
            <a:chExt cx="1018" cy="916"/>
          </a:xfrm>
        </p:grpSpPr>
        <p:sp>
          <p:nvSpPr>
            <p:cNvPr id="121" name="椭圆 120"/>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2" name="文本框 121"/>
            <p:cNvSpPr txBox="1"/>
            <p:nvPr/>
          </p:nvSpPr>
          <p:spPr>
            <a:xfrm>
              <a:off x="10602" y="3586"/>
              <a:ext cx="874" cy="552"/>
            </a:xfrm>
            <a:prstGeom prst="rect">
              <a:avLst/>
            </a:prstGeom>
            <a:noFill/>
          </p:spPr>
          <p:txBody>
            <a:bodyPr>
              <a:noAutofit/>
            </a:bodyPr>
            <a:p>
              <a:pPr>
                <a:defRPr/>
              </a:pPr>
              <a:r>
                <a:rPr lang="en-US" sz="1400">
                  <a:solidFill>
                    <a:srgbClr val="000066"/>
                  </a:solidFill>
                  <a:latin typeface="+mj-ea"/>
                  <a:ea typeface="+mj-ea"/>
                </a:rPr>
                <a:t>start</a:t>
              </a:r>
              <a:endParaRPr lang="en-US" sz="1400">
                <a:solidFill>
                  <a:srgbClr val="000066"/>
                </a:solidFill>
                <a:latin typeface="+mj-ea"/>
                <a:ea typeface="+mj-ea"/>
              </a:endParaRPr>
            </a:p>
          </p:txBody>
        </p:sp>
      </p:grpSp>
      <p:grpSp>
        <p:nvGrpSpPr>
          <p:cNvPr id="123" name="组合 122"/>
          <p:cNvGrpSpPr/>
          <p:nvPr/>
        </p:nvGrpSpPr>
        <p:grpSpPr>
          <a:xfrm rot="0">
            <a:off x="2575560" y="3500755"/>
            <a:ext cx="646430" cy="582295"/>
            <a:chOff x="10489" y="3359"/>
            <a:chExt cx="1018" cy="917"/>
          </a:xfrm>
        </p:grpSpPr>
        <p:sp>
          <p:nvSpPr>
            <p:cNvPr id="124" name="椭圆 123"/>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5" name="文本框 124"/>
            <p:cNvSpPr txBox="1"/>
            <p:nvPr/>
          </p:nvSpPr>
          <p:spPr>
            <a:xfrm>
              <a:off x="10521" y="3585"/>
              <a:ext cx="874" cy="552"/>
            </a:xfrm>
            <a:prstGeom prst="rect">
              <a:avLst/>
            </a:prstGeom>
            <a:noFill/>
          </p:spPr>
          <p:txBody>
            <a:bodyPr>
              <a:noAutofit/>
            </a:bodyPr>
            <a:p>
              <a:pPr algn="ctr">
                <a:defRPr/>
              </a:pPr>
              <a:r>
                <a:rPr lang="en-US" sz="1400">
                  <a:solidFill>
                    <a:srgbClr val="000066"/>
                  </a:solidFill>
                  <a:latin typeface="+mj-ea"/>
                  <a:ea typeface="+mj-ea"/>
                </a:rPr>
                <a:t>1</a:t>
              </a:r>
              <a:endParaRPr lang="en-US" sz="1400">
                <a:solidFill>
                  <a:srgbClr val="000066"/>
                </a:solidFill>
                <a:latin typeface="+mj-ea"/>
                <a:ea typeface="+mj-ea"/>
              </a:endParaRPr>
            </a:p>
          </p:txBody>
        </p:sp>
      </p:grpSp>
      <p:grpSp>
        <p:nvGrpSpPr>
          <p:cNvPr id="126" name="组合 125"/>
          <p:cNvGrpSpPr/>
          <p:nvPr/>
        </p:nvGrpSpPr>
        <p:grpSpPr>
          <a:xfrm rot="0">
            <a:off x="3491865" y="3500120"/>
            <a:ext cx="646430" cy="581660"/>
            <a:chOff x="10489" y="3359"/>
            <a:chExt cx="1018" cy="916"/>
          </a:xfrm>
        </p:grpSpPr>
        <p:sp>
          <p:nvSpPr>
            <p:cNvPr id="127" name="椭圆 126"/>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8" name="文本框 127"/>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2</a:t>
              </a:r>
              <a:endParaRPr lang="en-US" sz="1400">
                <a:solidFill>
                  <a:srgbClr val="000066"/>
                </a:solidFill>
                <a:latin typeface="+mj-ea"/>
                <a:ea typeface="+mj-ea"/>
              </a:endParaRPr>
            </a:p>
          </p:txBody>
        </p:sp>
      </p:grpSp>
      <p:cxnSp>
        <p:nvCxnSpPr>
          <p:cNvPr id="129" name="曲线连接符 128"/>
          <p:cNvCxnSpPr/>
          <p:nvPr/>
        </p:nvCxnSpPr>
        <p:spPr>
          <a:xfrm rot="5400000">
            <a:off x="3342640" y="2630170"/>
            <a:ext cx="426085" cy="1313815"/>
          </a:xfrm>
          <a:prstGeom prst="curvedConnector3">
            <a:avLst>
              <a:gd name="adj1" fmla="val 50075"/>
            </a:avLst>
          </a:prstGeom>
          <a:solidFill>
            <a:schemeClr val="accent1"/>
          </a:solidFill>
          <a:ln w="9525" cap="flat" cmpd="sng" algn="ctr">
            <a:solidFill>
              <a:schemeClr val="tx1"/>
            </a:solidFill>
            <a:prstDash val="solid"/>
            <a:round/>
            <a:headEnd type="none" w="med" len="med"/>
            <a:tailEnd type="arrow" w="med" len="med"/>
          </a:ln>
        </p:spPr>
      </p:cxnSp>
      <p:cxnSp>
        <p:nvCxnSpPr>
          <p:cNvPr id="130" name="曲线连接符 129"/>
          <p:cNvCxnSpPr/>
          <p:nvPr/>
        </p:nvCxnSpPr>
        <p:spPr>
          <a:xfrm rot="5400000">
            <a:off x="3801110" y="3088640"/>
            <a:ext cx="425450" cy="39751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43" name="曲线连接符 142"/>
          <p:cNvCxnSpPr>
            <a:endCxn id="135" idx="0"/>
          </p:cNvCxnSpPr>
          <p:nvPr/>
        </p:nvCxnSpPr>
        <p:spPr>
          <a:xfrm rot="5400000">
            <a:off x="2225675" y="3729990"/>
            <a:ext cx="320675" cy="1025525"/>
          </a:xfrm>
          <a:prstGeom prst="curvedConnector3">
            <a:avLst>
              <a:gd name="adj1" fmla="val 50099"/>
            </a:avLst>
          </a:prstGeom>
          <a:solidFill>
            <a:schemeClr val="accent1"/>
          </a:solidFill>
          <a:ln w="9525" cap="flat" cmpd="sng" algn="ctr">
            <a:solidFill>
              <a:schemeClr val="tx1"/>
            </a:solidFill>
            <a:prstDash val="solid"/>
            <a:round/>
            <a:headEnd type="none" w="med" len="med"/>
            <a:tailEnd type="arrow" w="med" len="med"/>
          </a:ln>
        </p:spPr>
      </p:cxnSp>
      <p:cxnSp>
        <p:nvCxnSpPr>
          <p:cNvPr id="144" name="曲线连接符 143"/>
          <p:cNvCxnSpPr>
            <a:endCxn id="15" idx="0"/>
          </p:cNvCxnSpPr>
          <p:nvPr/>
        </p:nvCxnSpPr>
        <p:spPr>
          <a:xfrm rot="5400000">
            <a:off x="2522538" y="4027488"/>
            <a:ext cx="320675" cy="43180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45" name="曲线连接符 144"/>
          <p:cNvCxnSpPr/>
          <p:nvPr/>
        </p:nvCxnSpPr>
        <p:spPr>
          <a:xfrm rot="5400000" flipV="1">
            <a:off x="4806950" y="4161155"/>
            <a:ext cx="389255" cy="230505"/>
          </a:xfrm>
          <a:prstGeom prst="curvedConnector3">
            <a:avLst>
              <a:gd name="adj1" fmla="val 50082"/>
            </a:avLst>
          </a:prstGeom>
          <a:solidFill>
            <a:schemeClr val="accent1"/>
          </a:solidFill>
          <a:ln w="9525" cap="flat" cmpd="sng" algn="ctr">
            <a:solidFill>
              <a:schemeClr val="tx1"/>
            </a:solidFill>
            <a:prstDash val="solid"/>
            <a:round/>
            <a:headEnd type="none" w="med" len="med"/>
            <a:tailEnd type="arrow" w="med" len="med"/>
          </a:ln>
        </p:spPr>
      </p:cxnSp>
      <p:sp>
        <p:nvSpPr>
          <p:cNvPr id="135" name="椭圆 134"/>
          <p:cNvSpPr/>
          <p:nvPr/>
        </p:nvSpPr>
        <p:spPr>
          <a:xfrm>
            <a:off x="1702435" y="4403725"/>
            <a:ext cx="341630" cy="342265"/>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rPr>
              <a:t>2</a:t>
            </a:r>
            <a:endParaRPr kumimoji="0" lang="en-US" altLang="zh-CN" sz="1800" b="0"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endParaRPr>
          </a:p>
        </p:txBody>
      </p:sp>
      <p:sp>
        <p:nvSpPr>
          <p:cNvPr id="157" name="文本框 156"/>
          <p:cNvSpPr txBox="1"/>
          <p:nvPr/>
        </p:nvSpPr>
        <p:spPr>
          <a:xfrm>
            <a:off x="1134110" y="3721100"/>
            <a:ext cx="669925" cy="368300"/>
          </a:xfrm>
          <a:prstGeom prst="rect">
            <a:avLst/>
          </a:prstGeom>
          <a:noFill/>
        </p:spPr>
        <p:txBody>
          <a:bodyPr wrap="square" rtlCol="0">
            <a:spAutoFit/>
          </a:bodyPr>
          <a:p>
            <a:r>
              <a:rPr lang="zh-CN" altLang="en-US"/>
              <a:t>①</a:t>
            </a:r>
            <a:r>
              <a:rPr lang="en-US" altLang="zh-CN"/>
              <a:t> </a:t>
            </a:r>
            <a:endParaRPr lang="en-US" altLang="zh-CN"/>
          </a:p>
        </p:txBody>
      </p:sp>
      <p:sp>
        <p:nvSpPr>
          <p:cNvPr id="160" name="文本框 159"/>
          <p:cNvSpPr txBox="1"/>
          <p:nvPr/>
        </p:nvSpPr>
        <p:spPr>
          <a:xfrm>
            <a:off x="539750" y="4415790"/>
            <a:ext cx="669925" cy="368300"/>
          </a:xfrm>
          <a:prstGeom prst="rect">
            <a:avLst/>
          </a:prstGeom>
          <a:noFill/>
        </p:spPr>
        <p:txBody>
          <a:bodyPr wrap="square" rtlCol="0">
            <a:spAutoFit/>
          </a:bodyPr>
          <a:p>
            <a:r>
              <a:rPr lang="zh-CN" altLang="en-US"/>
              <a:t>②</a:t>
            </a:r>
            <a:r>
              <a:rPr lang="en-US" altLang="zh-CN"/>
              <a:t> </a:t>
            </a:r>
            <a:endParaRPr lang="en-US" altLang="zh-CN"/>
          </a:p>
        </p:txBody>
      </p:sp>
      <p:grpSp>
        <p:nvGrpSpPr>
          <p:cNvPr id="164" name="组合 163"/>
          <p:cNvGrpSpPr/>
          <p:nvPr/>
        </p:nvGrpSpPr>
        <p:grpSpPr>
          <a:xfrm rot="0">
            <a:off x="4925060" y="4438015"/>
            <a:ext cx="341630" cy="342265"/>
            <a:chOff x="10489" y="3359"/>
            <a:chExt cx="1018" cy="917"/>
          </a:xfrm>
        </p:grpSpPr>
        <p:sp>
          <p:nvSpPr>
            <p:cNvPr id="165" name="椭圆 16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66" name="文本框 165"/>
            <p:cNvSpPr txBox="1"/>
            <p:nvPr/>
          </p:nvSpPr>
          <p:spPr>
            <a:xfrm>
              <a:off x="10602" y="3479"/>
              <a:ext cx="874" cy="552"/>
            </a:xfrm>
            <a:prstGeom prst="rect">
              <a:avLst/>
            </a:prstGeom>
            <a:noFill/>
          </p:spPr>
          <p:txBody>
            <a:bodyPr>
              <a:noAutofit/>
            </a:bodyPr>
            <a:p>
              <a:pPr algn="ctr">
                <a:defRPr/>
              </a:pPr>
              <a:r>
                <a:rPr lang="en-US" sz="1800">
                  <a:solidFill>
                    <a:srgbClr val="000066"/>
                  </a:solidFill>
                  <a:latin typeface="Times New Roman" panose="02020603050405020304" pitchFamily="18" charset="0"/>
                  <a:ea typeface="+mj-ea"/>
                  <a:cs typeface="Times New Roman" panose="02020603050405020304" pitchFamily="18" charset="0"/>
                </a:rPr>
                <a:t>4</a:t>
              </a:r>
              <a:endParaRPr lang="en-US" sz="1800">
                <a:solidFill>
                  <a:srgbClr val="000066"/>
                </a:solidFill>
                <a:latin typeface="Times New Roman" panose="02020603050405020304" pitchFamily="18" charset="0"/>
                <a:ea typeface="+mj-ea"/>
                <a:cs typeface="Times New Roman" panose="02020603050405020304" pitchFamily="18" charset="0"/>
              </a:endParaRPr>
            </a:p>
          </p:txBody>
        </p:sp>
      </p:grpSp>
      <p:sp>
        <p:nvSpPr>
          <p:cNvPr id="207" name="文本框 206"/>
          <p:cNvSpPr txBox="1"/>
          <p:nvPr/>
        </p:nvSpPr>
        <p:spPr>
          <a:xfrm>
            <a:off x="1619885" y="4826000"/>
            <a:ext cx="5189220" cy="450850"/>
          </a:xfrm>
          <a:prstGeom prst="rect">
            <a:avLst/>
          </a:prstGeom>
          <a:noFill/>
        </p:spPr>
        <p:txBody>
          <a:bodyPr wrap="square" rtlCol="0" anchor="t">
            <a:noAutofit/>
          </a:bodyPr>
          <a:p>
            <a:r>
              <a:rPr lang="en-US" altLang="zh-CN">
                <a:solidFill>
                  <a:schemeClr val="tx1"/>
                </a:solidFill>
                <a:latin typeface="Times New Roman" panose="02020603050405020304" pitchFamily="18" charset="0"/>
                <a:sym typeface="+mn-ea"/>
              </a:rPr>
              <a:t>[1,2]  [1,3]   [1,3]   [2,3]    [2,4]      [3,4]       </a:t>
            </a:r>
            <a:endParaRPr lang="en-US" altLang="zh-CN">
              <a:solidFill>
                <a:schemeClr val="tx1"/>
              </a:solidFill>
              <a:latin typeface="Times New Roman" panose="02020603050405020304" pitchFamily="18" charset="0"/>
              <a:sym typeface="+mn-ea"/>
            </a:endParaRPr>
          </a:p>
          <a:p>
            <a:endParaRPr lang="en-US" altLang="zh-CN">
              <a:solidFill>
                <a:schemeClr val="tx1"/>
              </a:solidFill>
              <a:latin typeface="Times New Roman" panose="02020603050405020304" pitchFamily="18" charset="0"/>
              <a:sym typeface="+mn-ea"/>
            </a:endParaRPr>
          </a:p>
        </p:txBody>
      </p:sp>
      <p:sp>
        <p:nvSpPr>
          <p:cNvPr id="3" name="文本框 2"/>
          <p:cNvSpPr txBox="1"/>
          <p:nvPr/>
        </p:nvSpPr>
        <p:spPr>
          <a:xfrm>
            <a:off x="1115695" y="1772285"/>
            <a:ext cx="7971790" cy="431165"/>
          </a:xfrm>
          <a:prstGeom prst="rect">
            <a:avLst/>
          </a:prstGeom>
          <a:noFill/>
        </p:spPr>
        <p:txBody>
          <a:bodyPr>
            <a:noAutofit/>
          </a:bodyPr>
          <a:p>
            <a:pPr>
              <a:defRPr/>
            </a:pPr>
            <a:r>
              <a:rPr lang="zh-CN" altLang="en-US">
                <a:solidFill>
                  <a:srgbClr val="000066"/>
                </a:solidFill>
                <a:uFillTx/>
                <a:latin typeface="Times New Roman" panose="02020603050405020304" pitchFamily="18" charset="0"/>
              </a:rPr>
              <a:t>例如：输入：</a:t>
            </a:r>
            <a:r>
              <a:rPr lang="en-US" altLang="zh-CN">
                <a:solidFill>
                  <a:srgbClr val="000066"/>
                </a:solidFill>
                <a:uFillTx/>
                <a:latin typeface="Times New Roman" panose="02020603050405020304" pitchFamily="18" charset="0"/>
              </a:rPr>
              <a:t>n = 4, k = 2</a:t>
            </a:r>
            <a:r>
              <a:rPr lang="zh-CN" altLang="en-US">
                <a:solidFill>
                  <a:srgbClr val="000066"/>
                </a:solidFill>
                <a:uFillTx/>
                <a:latin typeface="Times New Roman" panose="02020603050405020304" pitchFamily="18" charset="0"/>
              </a:rPr>
              <a:t>输出：</a:t>
            </a:r>
            <a:r>
              <a:rPr lang="en-US" altLang="zh-CN">
                <a:solidFill>
                  <a:srgbClr val="000066"/>
                </a:solidFill>
                <a:uFillTx/>
                <a:latin typeface="Times New Roman" panose="02020603050405020304" pitchFamily="18" charset="0"/>
              </a:rPr>
              <a:t>[[2,4],[3,4],[2,3],[1,2],[1,3],[1,4],]</a:t>
            </a:r>
            <a:endParaRPr lang="en-US" altLang="zh-CN">
              <a:solidFill>
                <a:srgbClr val="000066"/>
              </a:solidFill>
              <a:uFillTx/>
              <a:latin typeface="Times New Roman" panose="02020603050405020304" pitchFamily="18" charset="0"/>
            </a:endParaRPr>
          </a:p>
        </p:txBody>
      </p:sp>
      <p:grpSp>
        <p:nvGrpSpPr>
          <p:cNvPr id="2" name="组合 1"/>
          <p:cNvGrpSpPr/>
          <p:nvPr/>
        </p:nvGrpSpPr>
        <p:grpSpPr>
          <a:xfrm rot="0">
            <a:off x="4500245" y="3506470"/>
            <a:ext cx="646430" cy="581660"/>
            <a:chOff x="10489" y="3359"/>
            <a:chExt cx="1018" cy="916"/>
          </a:xfrm>
        </p:grpSpPr>
        <p:sp>
          <p:nvSpPr>
            <p:cNvPr id="5" name="椭圆 4"/>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7" name="文本框 6"/>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3</a:t>
              </a:r>
              <a:endParaRPr lang="en-US" sz="1400">
                <a:solidFill>
                  <a:srgbClr val="000066"/>
                </a:solidFill>
                <a:latin typeface="+mj-ea"/>
                <a:ea typeface="+mj-ea"/>
              </a:endParaRPr>
            </a:p>
          </p:txBody>
        </p:sp>
      </p:grpSp>
      <p:grpSp>
        <p:nvGrpSpPr>
          <p:cNvPr id="9" name="组合 8"/>
          <p:cNvGrpSpPr/>
          <p:nvPr/>
        </p:nvGrpSpPr>
        <p:grpSpPr>
          <a:xfrm rot="0">
            <a:off x="5436235" y="3507105"/>
            <a:ext cx="646430" cy="581660"/>
            <a:chOff x="10489" y="3359"/>
            <a:chExt cx="1018" cy="916"/>
          </a:xfrm>
        </p:grpSpPr>
        <p:sp>
          <p:nvSpPr>
            <p:cNvPr id="10" name="椭圆 9"/>
            <p:cNvSpPr/>
            <p:nvPr/>
          </p:nvSpPr>
          <p:spPr>
            <a:xfrm>
              <a:off x="10489" y="3359"/>
              <a:ext cx="1018" cy="917"/>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endParaRPr>
            </a:p>
          </p:txBody>
        </p:sp>
        <p:sp>
          <p:nvSpPr>
            <p:cNvPr id="12" name="文本框 11"/>
            <p:cNvSpPr txBox="1"/>
            <p:nvPr/>
          </p:nvSpPr>
          <p:spPr>
            <a:xfrm>
              <a:off x="10602" y="3586"/>
              <a:ext cx="874" cy="552"/>
            </a:xfrm>
            <a:prstGeom prst="rect">
              <a:avLst/>
            </a:prstGeom>
            <a:noFill/>
          </p:spPr>
          <p:txBody>
            <a:bodyPr>
              <a:noAutofit/>
            </a:bodyPr>
            <a:p>
              <a:pPr algn="ctr">
                <a:defRPr/>
              </a:pPr>
              <a:r>
                <a:rPr lang="en-US" sz="1400">
                  <a:solidFill>
                    <a:srgbClr val="000066"/>
                  </a:solidFill>
                  <a:latin typeface="+mj-ea"/>
                  <a:ea typeface="+mj-ea"/>
                </a:rPr>
                <a:t>4</a:t>
              </a:r>
              <a:endParaRPr lang="en-US" sz="1400">
                <a:solidFill>
                  <a:srgbClr val="000066"/>
                </a:solidFill>
                <a:latin typeface="+mj-ea"/>
                <a:ea typeface="+mj-ea"/>
              </a:endParaRPr>
            </a:p>
          </p:txBody>
        </p:sp>
      </p:grpSp>
      <p:cxnSp>
        <p:nvCxnSpPr>
          <p:cNvPr id="13" name="曲线连接符 12"/>
          <p:cNvCxnSpPr/>
          <p:nvPr/>
        </p:nvCxnSpPr>
        <p:spPr>
          <a:xfrm rot="5400000" flipV="1">
            <a:off x="4302125" y="2985135"/>
            <a:ext cx="431800" cy="61087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cxnSp>
        <p:nvCxnSpPr>
          <p:cNvPr id="14" name="曲线连接符 13"/>
          <p:cNvCxnSpPr/>
          <p:nvPr/>
        </p:nvCxnSpPr>
        <p:spPr>
          <a:xfrm rot="5400000" flipV="1">
            <a:off x="4770120" y="2517140"/>
            <a:ext cx="432435" cy="154686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sp>
        <p:nvSpPr>
          <p:cNvPr id="15" name="椭圆 14"/>
          <p:cNvSpPr/>
          <p:nvPr/>
        </p:nvSpPr>
        <p:spPr>
          <a:xfrm>
            <a:off x="2296160" y="4403725"/>
            <a:ext cx="341630" cy="342265"/>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rPr>
              <a:t>3</a:t>
            </a:r>
            <a:endParaRPr kumimoji="0" lang="en-US" altLang="zh-CN" sz="1800" b="0"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endParaRPr>
          </a:p>
        </p:txBody>
      </p:sp>
      <p:sp>
        <p:nvSpPr>
          <p:cNvPr id="16" name="椭圆 15"/>
          <p:cNvSpPr/>
          <p:nvPr/>
        </p:nvSpPr>
        <p:spPr>
          <a:xfrm>
            <a:off x="2869565" y="4420870"/>
            <a:ext cx="341630" cy="342265"/>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rPr>
              <a:t>4</a:t>
            </a:r>
            <a:endParaRPr kumimoji="0" lang="en-US" altLang="zh-CN" sz="1800" b="0"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endParaRPr>
          </a:p>
        </p:txBody>
      </p:sp>
      <p:cxnSp>
        <p:nvCxnSpPr>
          <p:cNvPr id="17" name="曲线连接符 16"/>
          <p:cNvCxnSpPr>
            <a:endCxn id="16" idx="0"/>
          </p:cNvCxnSpPr>
          <p:nvPr/>
        </p:nvCxnSpPr>
        <p:spPr>
          <a:xfrm rot="5400000" flipV="1">
            <a:off x="2800668" y="4181158"/>
            <a:ext cx="337820" cy="141605"/>
          </a:xfrm>
          <a:prstGeom prst="curvedConnector3">
            <a:avLst>
              <a:gd name="adj1" fmla="val 49906"/>
            </a:avLst>
          </a:prstGeom>
          <a:solidFill>
            <a:schemeClr val="accent1"/>
          </a:solidFill>
          <a:ln w="9525" cap="flat" cmpd="sng" algn="ctr">
            <a:solidFill>
              <a:schemeClr val="tx1"/>
            </a:solidFill>
            <a:prstDash val="solid"/>
            <a:round/>
            <a:headEnd type="none" w="med" len="med"/>
            <a:tailEnd type="arrow" w="med" len="med"/>
          </a:ln>
        </p:spPr>
      </p:cxnSp>
      <p:cxnSp>
        <p:nvCxnSpPr>
          <p:cNvPr id="20" name="曲线连接符 19"/>
          <p:cNvCxnSpPr>
            <a:endCxn id="21" idx="0"/>
          </p:cNvCxnSpPr>
          <p:nvPr/>
        </p:nvCxnSpPr>
        <p:spPr>
          <a:xfrm rot="5400000">
            <a:off x="3515995" y="4121150"/>
            <a:ext cx="338455" cy="259715"/>
          </a:xfrm>
          <a:prstGeom prst="curvedConnector3">
            <a:avLst>
              <a:gd name="adj1" fmla="val 50094"/>
            </a:avLst>
          </a:prstGeom>
          <a:solidFill>
            <a:schemeClr val="accent1"/>
          </a:solidFill>
          <a:ln w="9525" cap="flat" cmpd="sng" algn="ctr">
            <a:solidFill>
              <a:schemeClr val="tx1"/>
            </a:solidFill>
            <a:prstDash val="solid"/>
            <a:round/>
            <a:headEnd type="none" w="med" len="med"/>
            <a:tailEnd type="arrow" w="med" len="med"/>
          </a:ln>
        </p:spPr>
      </p:cxnSp>
      <p:sp>
        <p:nvSpPr>
          <p:cNvPr id="21" name="椭圆 20"/>
          <p:cNvSpPr/>
          <p:nvPr/>
        </p:nvSpPr>
        <p:spPr>
          <a:xfrm>
            <a:off x="3384550" y="4420870"/>
            <a:ext cx="341630" cy="342265"/>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rPr>
              <a:t>3</a:t>
            </a:r>
            <a:endParaRPr kumimoji="0" lang="en-US" altLang="zh-CN" sz="18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endParaRPr>
          </a:p>
        </p:txBody>
      </p:sp>
      <p:cxnSp>
        <p:nvCxnSpPr>
          <p:cNvPr id="22" name="曲线连接符 21"/>
          <p:cNvCxnSpPr>
            <a:endCxn id="23" idx="0"/>
          </p:cNvCxnSpPr>
          <p:nvPr/>
        </p:nvCxnSpPr>
        <p:spPr>
          <a:xfrm rot="5400000" flipV="1">
            <a:off x="3830320" y="4067175"/>
            <a:ext cx="321310" cy="351790"/>
          </a:xfrm>
          <a:prstGeom prst="curvedConnector3">
            <a:avLst>
              <a:gd name="adj1" fmla="val 50000"/>
            </a:avLst>
          </a:prstGeom>
          <a:solidFill>
            <a:schemeClr val="accent1"/>
          </a:solidFill>
          <a:ln w="9525" cap="flat" cmpd="sng" algn="ctr">
            <a:solidFill>
              <a:schemeClr val="tx1"/>
            </a:solidFill>
            <a:prstDash val="solid"/>
            <a:round/>
            <a:headEnd type="none" w="med" len="med"/>
            <a:tailEnd type="arrow" w="med" len="med"/>
          </a:ln>
        </p:spPr>
      </p:cxnSp>
      <p:sp>
        <p:nvSpPr>
          <p:cNvPr id="23" name="椭圆 22"/>
          <p:cNvSpPr/>
          <p:nvPr/>
        </p:nvSpPr>
        <p:spPr>
          <a:xfrm>
            <a:off x="3996055" y="4403725"/>
            <a:ext cx="341630" cy="342265"/>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rPr>
              <a:t>4</a:t>
            </a:r>
            <a:endParaRPr kumimoji="0" lang="en-US" altLang="zh-CN" sz="1800" b="0"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endParaRPr>
          </a:p>
        </p:txBody>
      </p:sp>
      <p:cxnSp>
        <p:nvCxnSpPr>
          <p:cNvPr id="24" name="直接连接符 23"/>
          <p:cNvCxnSpPr/>
          <p:nvPr/>
        </p:nvCxnSpPr>
        <p:spPr>
          <a:xfrm>
            <a:off x="1139825" y="4145915"/>
            <a:ext cx="5448935" cy="0"/>
          </a:xfrm>
          <a:prstGeom prst="line">
            <a:avLst/>
          </a:prstGeom>
          <a:ln>
            <a:solidFill>
              <a:srgbClr val="FF0000"/>
            </a:solidFill>
            <a:headEnd type="none" w="med" len="med"/>
            <a:tailEnd type="none" w="med" len="med"/>
          </a:ln>
        </p:spPr>
        <p:style>
          <a:lnRef idx="3">
            <a:schemeClr val="accent1"/>
          </a:lnRef>
          <a:fillRef idx="0">
            <a:srgbClr val="FFFFFF"/>
          </a:fillRef>
          <a:effectRef idx="0">
            <a:srgbClr val="FFFFFF"/>
          </a:effectRef>
          <a:fontRef idx="minor">
            <a:schemeClr val="tx1"/>
          </a:fontRef>
        </p:style>
      </p:cxnSp>
      <p:cxnSp>
        <p:nvCxnSpPr>
          <p:cNvPr id="25" name="直接连接符 24"/>
          <p:cNvCxnSpPr/>
          <p:nvPr/>
        </p:nvCxnSpPr>
        <p:spPr>
          <a:xfrm>
            <a:off x="1187450" y="4822190"/>
            <a:ext cx="5448935" cy="0"/>
          </a:xfrm>
          <a:prstGeom prst="line">
            <a:avLst/>
          </a:prstGeom>
          <a:ln>
            <a:solidFill>
              <a:srgbClr val="FF0000"/>
            </a:solidFill>
            <a:headEnd type="none" w="med" len="med"/>
            <a:tailEnd type="none" w="med" len="med"/>
          </a:ln>
        </p:spPr>
        <p:style>
          <a:lnRef idx="3">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188595" y="367030"/>
            <a:ext cx="8487410" cy="1122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sz="3600" kern="0" smtClean="0">
                <a:sym typeface="+mn-ea"/>
              </a:rPr>
              <a:t>（</a:t>
            </a:r>
            <a:r>
              <a:rPr lang="en-US" altLang="zh-CN" sz="3600" kern="0" smtClean="0">
                <a:sym typeface="+mn-ea"/>
              </a:rPr>
              <a:t>4</a:t>
            </a:r>
            <a:r>
              <a:rPr lang="zh-CN" sz="3600" kern="0" smtClean="0">
                <a:sym typeface="+mn-ea"/>
              </a:rPr>
              <a:t>）</a:t>
            </a:r>
            <a:r>
              <a:rPr lang="zh-CN" altLang="en-US" sz="3600" kern="0" smtClean="0"/>
              <a:t>组合问题</a:t>
            </a:r>
            <a:endParaRPr lang="en-US" altLang="zh-CN" sz="3600" kern="0" smtClean="0"/>
          </a:p>
        </p:txBody>
      </p:sp>
      <p:sp>
        <p:nvSpPr>
          <p:cNvPr id="81" name="文本框 80"/>
          <p:cNvSpPr txBox="1"/>
          <p:nvPr/>
        </p:nvSpPr>
        <p:spPr>
          <a:xfrm>
            <a:off x="427990" y="1489075"/>
            <a:ext cx="7971790" cy="380365"/>
          </a:xfrm>
          <a:prstGeom prst="rect">
            <a:avLst/>
          </a:prstGeom>
          <a:noFill/>
        </p:spPr>
        <p:txBody>
          <a:bodyPr>
            <a:noAutofit/>
          </a:bodyPr>
          <a:p>
            <a:pPr>
              <a:defRPr/>
            </a:pPr>
            <a:r>
              <a:rPr lang="zh-CN" sz="1800">
                <a:solidFill>
                  <a:srgbClr val="000066"/>
                </a:solidFill>
                <a:uFillTx/>
                <a:latin typeface="Times New Roman" panose="02020603050405020304" pitchFamily="18" charset="0"/>
              </a:rPr>
              <a:t>代码</a:t>
            </a:r>
            <a:r>
              <a:rPr lang="zh-CN" sz="1800">
                <a:solidFill>
                  <a:srgbClr val="000066"/>
                </a:solidFill>
                <a:uFillTx/>
                <a:latin typeface="Times New Roman" panose="02020603050405020304" pitchFamily="18" charset="0"/>
              </a:rPr>
              <a:t>实现：</a:t>
            </a:r>
            <a:endParaRPr lang="en-US" altLang="zh-CN" sz="1800">
              <a:solidFill>
                <a:srgbClr val="000066"/>
              </a:solidFill>
              <a:uFillTx/>
              <a:latin typeface="Times New Roman" panose="02020603050405020304" pitchFamily="18" charset="0"/>
            </a:endParaRPr>
          </a:p>
        </p:txBody>
      </p:sp>
      <p:pic>
        <p:nvPicPr>
          <p:cNvPr id="8" name="图片 7"/>
          <p:cNvPicPr>
            <a:picLocks noChangeAspect="1"/>
          </p:cNvPicPr>
          <p:nvPr/>
        </p:nvPicPr>
        <p:blipFill>
          <a:blip r:embed="rId1"/>
          <a:stretch>
            <a:fillRect/>
          </a:stretch>
        </p:blipFill>
        <p:spPr>
          <a:xfrm>
            <a:off x="2114550" y="2085975"/>
            <a:ext cx="4914900" cy="26860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11" name="Rectangle 2"/>
          <p:cNvSpPr txBox="1">
            <a:spLocks noChangeArrowheads="1"/>
          </p:cNvSpPr>
          <p:nvPr/>
        </p:nvSpPr>
        <p:spPr bwMode="auto">
          <a:xfrm>
            <a:off x="395605" y="367030"/>
            <a:ext cx="8280400" cy="1122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2pPr>
            <a:lvl3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3pPr>
            <a:lvl4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4pPr>
            <a:lvl5pPr algn="l" rtl="0" eaLnBrk="0" fontAlgn="base" hangingPunct="0">
              <a:spcBef>
                <a:spcPct val="0"/>
              </a:spcBef>
              <a:spcAft>
                <a:spcPct val="0"/>
              </a:spcAft>
              <a:defRPr sz="4400">
                <a:solidFill>
                  <a:srgbClr val="333399"/>
                </a:solidFill>
                <a:latin typeface="Arial" panose="020B0604020202020204" pitchFamily="34" charset="0"/>
                <a:ea typeface="黑体" panose="02010609060101010101" charset="-122"/>
              </a:defRPr>
            </a:lvl5pPr>
            <a:lvl6pPr marL="4572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6pPr>
            <a:lvl7pPr marL="9144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7pPr>
            <a:lvl8pPr marL="13716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8pPr>
            <a:lvl9pPr marL="1828800" algn="l" rtl="0" fontAlgn="base">
              <a:spcBef>
                <a:spcPct val="0"/>
              </a:spcBef>
              <a:spcAft>
                <a:spcPct val="0"/>
              </a:spcAft>
              <a:defRPr sz="4400">
                <a:solidFill>
                  <a:srgbClr val="333399"/>
                </a:solidFill>
                <a:latin typeface="Arial" panose="020B0604020202020204" pitchFamily="34" charset="0"/>
                <a:ea typeface="黑体" panose="02010609060101010101" charset="-122"/>
              </a:defRPr>
            </a:lvl9pPr>
          </a:lstStyle>
          <a:p>
            <a:pPr eaLnBrk="1" hangingPunct="1">
              <a:buFont typeface="Wingdings" panose="05000000000000000000" pitchFamily="2" charset="2"/>
              <a:buNone/>
              <a:defRPr/>
            </a:pPr>
            <a:r>
              <a:rPr lang="zh-CN" altLang="en-US" sz="3600" kern="0" smtClean="0"/>
              <a:t>总结</a:t>
            </a:r>
            <a:endParaRPr lang="zh-CN" altLang="en-US" sz="3600" kern="0" smtClean="0"/>
          </a:p>
        </p:txBody>
      </p:sp>
      <p:sp>
        <p:nvSpPr>
          <p:cNvPr id="81" name="文本框 80"/>
          <p:cNvSpPr txBox="1"/>
          <p:nvPr/>
        </p:nvSpPr>
        <p:spPr>
          <a:xfrm>
            <a:off x="427990" y="1489075"/>
            <a:ext cx="5606415" cy="405765"/>
          </a:xfrm>
          <a:prstGeom prst="rect">
            <a:avLst/>
          </a:prstGeom>
          <a:noFill/>
        </p:spPr>
        <p:txBody>
          <a:bodyPr>
            <a:noAutofit/>
          </a:bodyPr>
          <a:p>
            <a:pPr>
              <a:defRPr/>
            </a:pPr>
            <a:r>
              <a:rPr lang="zh-CN">
                <a:solidFill>
                  <a:srgbClr val="000066"/>
                </a:solidFill>
                <a:uFillTx/>
                <a:latin typeface="Times New Roman" panose="02020603050405020304" pitchFamily="18" charset="0"/>
              </a:rPr>
              <a:t>（</a:t>
            </a:r>
            <a:r>
              <a:rPr lang="en-US" altLang="zh-CN">
                <a:solidFill>
                  <a:srgbClr val="000066"/>
                </a:solidFill>
                <a:uFillTx/>
                <a:latin typeface="Times New Roman" panose="02020603050405020304" pitchFamily="18" charset="0"/>
              </a:rPr>
              <a:t>1</a:t>
            </a:r>
            <a:r>
              <a:rPr lang="zh-CN">
                <a:solidFill>
                  <a:srgbClr val="000066"/>
                </a:solidFill>
                <a:uFillTx/>
                <a:latin typeface="Times New Roman" panose="02020603050405020304" pitchFamily="18" charset="0"/>
              </a:rPr>
              <a:t>）回溯模板</a:t>
            </a:r>
            <a:r>
              <a:rPr lang="en-US" altLang="zh-CN">
                <a:solidFill>
                  <a:srgbClr val="000066"/>
                </a:solidFill>
                <a:uFillTx/>
                <a:latin typeface="Times New Roman" panose="02020603050405020304" pitchFamily="18" charset="0"/>
              </a:rPr>
              <a:t> </a:t>
            </a:r>
            <a:endParaRPr lang="en-US" altLang="zh-CN">
              <a:solidFill>
                <a:srgbClr val="000066"/>
              </a:solidFill>
              <a:uFillTx/>
              <a:latin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899795" y="2132965"/>
            <a:ext cx="3381375" cy="3076575"/>
          </a:xfrm>
          <a:prstGeom prst="rect">
            <a:avLst/>
          </a:prstGeom>
        </p:spPr>
      </p:pic>
      <p:sp>
        <p:nvSpPr>
          <p:cNvPr id="6" name="文本框 5"/>
          <p:cNvSpPr txBox="1"/>
          <p:nvPr/>
        </p:nvSpPr>
        <p:spPr>
          <a:xfrm>
            <a:off x="4140200" y="1489075"/>
            <a:ext cx="5606415" cy="405765"/>
          </a:xfrm>
          <a:prstGeom prst="rect">
            <a:avLst/>
          </a:prstGeom>
          <a:noFill/>
        </p:spPr>
        <p:txBody>
          <a:bodyPr>
            <a:noAutofit/>
          </a:bodyPr>
          <a:p>
            <a:pPr>
              <a:defRPr/>
            </a:pPr>
            <a:r>
              <a:rPr lang="zh-CN">
                <a:solidFill>
                  <a:srgbClr val="000066"/>
                </a:solidFill>
                <a:uFillTx/>
                <a:latin typeface="Times New Roman" panose="02020603050405020304" pitchFamily="18" charset="0"/>
              </a:rPr>
              <a:t>（</a:t>
            </a:r>
            <a:r>
              <a:rPr lang="en-US" altLang="zh-CN">
                <a:solidFill>
                  <a:srgbClr val="000066"/>
                </a:solidFill>
                <a:uFillTx/>
                <a:latin typeface="Times New Roman" panose="02020603050405020304" pitchFamily="18" charset="0"/>
              </a:rPr>
              <a:t>2</a:t>
            </a:r>
            <a:r>
              <a:rPr lang="zh-CN">
                <a:solidFill>
                  <a:srgbClr val="000066"/>
                </a:solidFill>
                <a:uFillTx/>
                <a:latin typeface="Times New Roman" panose="02020603050405020304" pitchFamily="18" charset="0"/>
              </a:rPr>
              <a:t>）回溯模板（有剪枝）</a:t>
            </a:r>
            <a:r>
              <a:rPr lang="en-US" altLang="zh-CN">
                <a:solidFill>
                  <a:srgbClr val="000066"/>
                </a:solidFill>
                <a:uFillTx/>
                <a:latin typeface="Times New Roman" panose="02020603050405020304" pitchFamily="18" charset="0"/>
              </a:rPr>
              <a:t> </a:t>
            </a:r>
            <a:endParaRPr lang="en-US" altLang="zh-CN">
              <a:solidFill>
                <a:srgbClr val="000066"/>
              </a:solidFill>
              <a:uFillTx/>
              <a:latin typeface="Times New Roman" panose="02020603050405020304" pitchFamily="18" charset="0"/>
            </a:endParaRPr>
          </a:p>
        </p:txBody>
      </p:sp>
      <p:pic>
        <p:nvPicPr>
          <p:cNvPr id="7" name="图片 6"/>
          <p:cNvPicPr>
            <a:picLocks noChangeAspect="1"/>
          </p:cNvPicPr>
          <p:nvPr/>
        </p:nvPicPr>
        <p:blipFill>
          <a:blip r:embed="rId2"/>
          <a:stretch>
            <a:fillRect/>
          </a:stretch>
        </p:blipFill>
        <p:spPr>
          <a:xfrm>
            <a:off x="4499610" y="1772920"/>
            <a:ext cx="3962400" cy="3648075"/>
          </a:xfrm>
          <a:prstGeom prst="rect">
            <a:avLst/>
          </a:prstGeom>
        </p:spPr>
      </p:pic>
      <p:sp>
        <p:nvSpPr>
          <p:cNvPr id="2" name="文本框 1"/>
          <p:cNvSpPr txBox="1"/>
          <p:nvPr/>
        </p:nvSpPr>
        <p:spPr>
          <a:xfrm>
            <a:off x="554990" y="5704840"/>
            <a:ext cx="5606415" cy="405765"/>
          </a:xfrm>
          <a:prstGeom prst="rect">
            <a:avLst/>
          </a:prstGeom>
          <a:noFill/>
        </p:spPr>
        <p:txBody>
          <a:bodyPr>
            <a:noAutofit/>
          </a:bodyPr>
          <a:p>
            <a:pPr>
              <a:defRPr/>
            </a:pPr>
            <a:r>
              <a:rPr lang="zh-CN">
                <a:solidFill>
                  <a:srgbClr val="000066"/>
                </a:solidFill>
                <a:uFillTx/>
                <a:latin typeface="Times New Roman" panose="02020603050405020304" pitchFamily="18" charset="0"/>
              </a:rPr>
              <a:t>（</a:t>
            </a:r>
            <a:r>
              <a:rPr lang="en-US" altLang="zh-CN">
                <a:solidFill>
                  <a:srgbClr val="000066"/>
                </a:solidFill>
                <a:uFillTx/>
                <a:latin typeface="Times New Roman" panose="02020603050405020304" pitchFamily="18" charset="0"/>
              </a:rPr>
              <a:t>3</a:t>
            </a:r>
            <a:r>
              <a:rPr lang="zh-CN">
                <a:solidFill>
                  <a:srgbClr val="000066"/>
                </a:solidFill>
                <a:uFillTx/>
                <a:latin typeface="Times New Roman" panose="02020603050405020304" pitchFamily="18" charset="0"/>
              </a:rPr>
              <a:t>）空间树类型：子集树，全排列树，</a:t>
            </a:r>
            <a:r>
              <a:rPr lang="en-US" altLang="zh-CN">
                <a:solidFill>
                  <a:srgbClr val="000066"/>
                </a:solidFill>
                <a:uFillTx/>
                <a:latin typeface="Times New Roman" panose="02020603050405020304" pitchFamily="18" charset="0"/>
              </a:rPr>
              <a:t>n</a:t>
            </a:r>
            <a:r>
              <a:rPr lang="zh-CN" altLang="en-US">
                <a:solidFill>
                  <a:srgbClr val="000066"/>
                </a:solidFill>
                <a:uFillTx/>
                <a:latin typeface="Times New Roman" panose="02020603050405020304" pitchFamily="18" charset="0"/>
              </a:rPr>
              <a:t>叉树</a:t>
            </a:r>
            <a:r>
              <a:rPr lang="en-US" altLang="zh-CN">
                <a:solidFill>
                  <a:srgbClr val="000066"/>
                </a:solidFill>
                <a:uFillTx/>
                <a:latin typeface="Times New Roman" panose="02020603050405020304" pitchFamily="18" charset="0"/>
              </a:rPr>
              <a:t> </a:t>
            </a:r>
            <a:endParaRPr lang="en-US" altLang="zh-CN">
              <a:solidFill>
                <a:srgbClr val="000066"/>
              </a:solidFill>
              <a:uFillTx/>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443663" y="6370638"/>
            <a:ext cx="2444750" cy="368300"/>
          </a:xfrm>
          <a:prstGeom prst="rect">
            <a:avLst/>
          </a:prstGeom>
          <a:noFill/>
        </p:spPr>
        <p:txBody>
          <a:bodyPr>
            <a:spAutoFit/>
          </a:bodyPr>
          <a:lstStyle/>
          <a:p>
            <a:pPr algn="r" eaLnBrk="1" hangingPunct="1">
              <a:buFont typeface="Arial" panose="020B0604020202020204" pitchFamily="34" charset="0"/>
              <a:buNone/>
              <a:defRPr/>
            </a:pPr>
            <a:r>
              <a:rPr lang="en-US" altLang="zh-CN" sz="1800">
                <a:solidFill>
                  <a:schemeClr val="bg2">
                    <a:lumMod val="25000"/>
                    <a:lumOff val="75000"/>
                  </a:schemeClr>
                </a:solidFill>
              </a:rPr>
              <a:t>16</a:t>
            </a:r>
            <a:endParaRPr lang="en-US" altLang="zh-CN" sz="1800">
              <a:solidFill>
                <a:schemeClr val="bg2">
                  <a:lumMod val="25000"/>
                  <a:lumOff val="75000"/>
                </a:schemeClr>
              </a:solidFill>
            </a:endParaRPr>
          </a:p>
        </p:txBody>
      </p:sp>
      <p:sp>
        <p:nvSpPr>
          <p:cNvPr id="9" name="文本框 8"/>
          <p:cNvSpPr txBox="1"/>
          <p:nvPr/>
        </p:nvSpPr>
        <p:spPr>
          <a:xfrm>
            <a:off x="683260" y="908685"/>
            <a:ext cx="5701665" cy="534035"/>
          </a:xfrm>
          <a:prstGeom prst="rect">
            <a:avLst/>
          </a:prstGeom>
          <a:noFill/>
        </p:spPr>
        <p:txBody>
          <a:bodyPr wrap="square" rtlCol="0" anchor="t">
            <a:spAutoFit/>
          </a:bodyPr>
          <a:lstStyle/>
          <a:p>
            <a:pPr>
              <a:lnSpc>
                <a:spcPct val="120000"/>
              </a:lnSpc>
              <a:buNone/>
            </a:pPr>
            <a:r>
              <a:rPr lang="en-US" altLang="zh-CN" sz="2400" b="1" kern="0" dirty="0">
                <a:uFillTx/>
                <a:latin typeface="Times New Roman" panose="02020603050405020304" pitchFamily="18" charset="0"/>
                <a:cs typeface="Times New Roman" panose="02020603050405020304" pitchFamily="18" charset="0"/>
                <a:sym typeface="+mn-ea"/>
              </a:rPr>
              <a:t>6.3 </a:t>
            </a:r>
            <a:r>
              <a:rPr lang="en-US" altLang="zh-CN" sz="2400" kern="0">
                <a:solidFill>
                  <a:schemeClr val="tx1"/>
                </a:solidFill>
                <a:uFillTx/>
                <a:latin typeface="Times New Roman" panose="02020603050405020304" pitchFamily="18" charset="0"/>
                <a:sym typeface="+mn-ea"/>
              </a:rPr>
              <a:t>n</a:t>
            </a:r>
            <a:r>
              <a:rPr lang="zh-CN" altLang="en-US" sz="2400" kern="0">
                <a:solidFill>
                  <a:schemeClr val="tx1"/>
                </a:solidFill>
                <a:uFillTx/>
                <a:latin typeface="Times New Roman" panose="02020603050405020304" pitchFamily="18" charset="0"/>
                <a:sym typeface="+mn-ea"/>
              </a:rPr>
              <a:t>皇后</a:t>
            </a:r>
            <a:r>
              <a:rPr lang="zh-CN" altLang="en-US" sz="2400" kern="0">
                <a:solidFill>
                  <a:schemeClr val="tx1"/>
                </a:solidFill>
                <a:uFillTx/>
                <a:latin typeface="Times New Roman" panose="02020603050405020304" pitchFamily="18" charset="0"/>
                <a:sym typeface="+mn-ea"/>
              </a:rPr>
              <a:t>问题</a:t>
            </a:r>
            <a:endParaRPr lang="zh-CN" altLang="en-US" sz="2400" kern="0">
              <a:solidFill>
                <a:schemeClr val="tx1"/>
              </a:solidFill>
              <a:uFillTx/>
              <a:latin typeface="Times New Roman" panose="02020603050405020304" pitchFamily="18" charset="0"/>
              <a:sym typeface="+mn-ea"/>
            </a:endParaRPr>
          </a:p>
        </p:txBody>
      </p:sp>
      <p:sp>
        <p:nvSpPr>
          <p:cNvPr id="3" name="Text Box 4"/>
          <p:cNvSpPr txBox="1">
            <a:spLocks noChangeArrowheads="1"/>
          </p:cNvSpPr>
          <p:nvPr/>
        </p:nvSpPr>
        <p:spPr bwMode="auto">
          <a:xfrm>
            <a:off x="0" y="1313210"/>
            <a:ext cx="8874126"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indent="457200">
              <a:spcBef>
                <a:spcPts val="0"/>
              </a:spcBef>
              <a:buSzTx/>
              <a:buFontTx/>
              <a:buNone/>
            </a:pPr>
            <a:r>
              <a:rPr lang="zh-CN" altLang="en-US" sz="2400" dirty="0">
                <a:solidFill>
                  <a:srgbClr val="080808"/>
                </a:solidFill>
                <a:uFillTx/>
                <a:latin typeface="宋体" panose="02010600030101010101" pitchFamily="2" charset="-122"/>
              </a:rPr>
              <a:t>问题描述：八皇后问题是一个古老的问题，说的是在</a:t>
            </a:r>
            <a:r>
              <a:rPr lang="en-US" altLang="zh-CN" sz="2400" dirty="0">
                <a:solidFill>
                  <a:srgbClr val="080808"/>
                </a:solidFill>
                <a:uFillTx/>
                <a:latin typeface="宋体" panose="02010600030101010101" pitchFamily="2" charset="-122"/>
              </a:rPr>
              <a:t>8×8</a:t>
            </a:r>
            <a:r>
              <a:rPr lang="zh-CN" altLang="en-US" sz="2400" dirty="0">
                <a:solidFill>
                  <a:srgbClr val="080808"/>
                </a:solidFill>
                <a:uFillTx/>
                <a:latin typeface="宋体" panose="02010600030101010101" pitchFamily="2" charset="-122"/>
              </a:rPr>
              <a:t>的国际象棋棋盘上摆放八个皇后，使其不能互相攻击，即其中任意两个皇后都不能处于同一行、同一列或同一斜线上。如下图所示：</a:t>
            </a:r>
            <a:endParaRPr lang="zh-CN" altLang="en-US" sz="2400" dirty="0">
              <a:solidFill>
                <a:srgbClr val="080808"/>
              </a:solidFill>
              <a:uFillTx/>
              <a:latin typeface="宋体" panose="02010600030101010101" pitchFamily="2" charset="-122"/>
            </a:endParaRPr>
          </a:p>
        </p:txBody>
      </p:sp>
      <p:pic>
        <p:nvPicPr>
          <p:cNvPr id="6" name="图片 5"/>
          <p:cNvPicPr/>
          <p:nvPr/>
        </p:nvPicPr>
        <p:blipFill>
          <a:blip r:embed="rId6">
            <a:extLst>
              <a:ext uri="{28A0092B-C50C-407E-A947-70E740481C1C}">
                <a14:useLocalDpi xmlns:a14="http://schemas.microsoft.com/office/drawing/2010/main" val="0"/>
              </a:ext>
            </a:extLst>
          </a:blip>
          <a:stretch>
            <a:fillRect/>
          </a:stretch>
        </p:blipFill>
        <p:spPr>
          <a:xfrm>
            <a:off x="2793261" y="2564517"/>
            <a:ext cx="3650704" cy="362788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683260" y="908685"/>
            <a:ext cx="5701665" cy="534035"/>
          </a:xfrm>
          <a:prstGeom prst="rect">
            <a:avLst/>
          </a:prstGeom>
          <a:noFill/>
        </p:spPr>
        <p:txBody>
          <a:bodyPr wrap="square" rtlCol="0" anchor="t">
            <a:spAutoFit/>
          </a:bodyPr>
          <a:lstStyle/>
          <a:p>
            <a:pPr>
              <a:lnSpc>
                <a:spcPct val="120000"/>
              </a:lnSpc>
              <a:buNone/>
            </a:pPr>
            <a:r>
              <a:rPr lang="en-US" altLang="zh-CN" sz="2400" b="1" kern="0" dirty="0">
                <a:uFillTx/>
                <a:latin typeface="Times New Roman" panose="02020603050405020304" pitchFamily="18" charset="0"/>
                <a:cs typeface="Times New Roman" panose="02020603050405020304" pitchFamily="18" charset="0"/>
                <a:sym typeface="+mn-ea"/>
              </a:rPr>
              <a:t>6.3 </a:t>
            </a:r>
            <a:r>
              <a:rPr lang="en-US" altLang="zh-CN" sz="2400" kern="0">
                <a:solidFill>
                  <a:schemeClr val="tx1"/>
                </a:solidFill>
                <a:uFillTx/>
                <a:latin typeface="Times New Roman" panose="02020603050405020304" pitchFamily="18" charset="0"/>
                <a:sym typeface="+mn-ea"/>
              </a:rPr>
              <a:t>n</a:t>
            </a:r>
            <a:r>
              <a:rPr lang="zh-CN" altLang="en-US" sz="2400" kern="0">
                <a:solidFill>
                  <a:schemeClr val="tx1"/>
                </a:solidFill>
                <a:uFillTx/>
                <a:latin typeface="Times New Roman" panose="02020603050405020304" pitchFamily="18" charset="0"/>
                <a:sym typeface="+mn-ea"/>
              </a:rPr>
              <a:t>皇后</a:t>
            </a:r>
            <a:r>
              <a:rPr lang="zh-CN" altLang="en-US" sz="2400" kern="0">
                <a:solidFill>
                  <a:schemeClr val="tx1"/>
                </a:solidFill>
                <a:uFillTx/>
                <a:latin typeface="Times New Roman" panose="02020603050405020304" pitchFamily="18" charset="0"/>
                <a:sym typeface="+mn-ea"/>
              </a:rPr>
              <a:t>问题</a:t>
            </a:r>
            <a:endParaRPr lang="zh-CN" altLang="en-US" sz="2400" kern="0">
              <a:solidFill>
                <a:schemeClr val="tx1"/>
              </a:solidFill>
              <a:uFillTx/>
              <a:latin typeface="Times New Roman" panose="02020603050405020304" pitchFamily="18" charset="0"/>
              <a:sym typeface="+mn-ea"/>
            </a:endParaRPr>
          </a:p>
        </p:txBody>
      </p:sp>
      <p:sp>
        <p:nvSpPr>
          <p:cNvPr id="3" name="Text Box 4"/>
          <p:cNvSpPr txBox="1">
            <a:spLocks noChangeArrowheads="1"/>
          </p:cNvSpPr>
          <p:nvPr/>
        </p:nvSpPr>
        <p:spPr bwMode="auto">
          <a:xfrm>
            <a:off x="0" y="1442750"/>
            <a:ext cx="887412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indent="457200">
              <a:spcBef>
                <a:spcPts val="0"/>
              </a:spcBef>
              <a:buSzTx/>
              <a:buFontTx/>
              <a:buNone/>
            </a:pPr>
            <a:r>
              <a:rPr lang="zh-CN" altLang="en-US" sz="2400" dirty="0">
                <a:solidFill>
                  <a:srgbClr val="080808"/>
                </a:solidFill>
                <a:uFillTx/>
                <a:latin typeface="Times New Roman" panose="02020603050405020304" pitchFamily="18" charset="0"/>
              </a:rPr>
              <a:t>加入皇后数为</a:t>
            </a:r>
            <a:r>
              <a:rPr lang="en-US" altLang="zh-CN" sz="2400" dirty="0">
                <a:solidFill>
                  <a:srgbClr val="080808"/>
                </a:solidFill>
                <a:uFillTx/>
                <a:latin typeface="Times New Roman" panose="02020603050405020304" pitchFamily="18" charset="0"/>
              </a:rPr>
              <a:t>4</a:t>
            </a:r>
            <a:r>
              <a:rPr lang="zh-CN" altLang="en-US" sz="2400" dirty="0">
                <a:solidFill>
                  <a:srgbClr val="080808"/>
                </a:solidFill>
                <a:uFillTx/>
                <a:latin typeface="Times New Roman" panose="02020603050405020304" pitchFamily="18" charset="0"/>
              </a:rPr>
              <a:t>，放在一个</a:t>
            </a:r>
            <a:r>
              <a:rPr lang="en-US" altLang="zh-CN" sz="2400" dirty="0">
                <a:solidFill>
                  <a:srgbClr val="080808"/>
                </a:solidFill>
                <a:uFillTx/>
                <a:latin typeface="Times New Roman" panose="02020603050405020304" pitchFamily="18" charset="0"/>
              </a:rPr>
              <a:t>4X4</a:t>
            </a:r>
            <a:r>
              <a:rPr lang="zh-CN" altLang="en-US" sz="2400" dirty="0">
                <a:solidFill>
                  <a:srgbClr val="080808"/>
                </a:solidFill>
                <a:uFillTx/>
                <a:latin typeface="Times New Roman" panose="02020603050405020304" pitchFamily="18" charset="0"/>
              </a:rPr>
              <a:t>的棋盘上，有多少中方法</a:t>
            </a:r>
            <a:r>
              <a:rPr lang="en-US" altLang="zh-CN" sz="2400" dirty="0">
                <a:solidFill>
                  <a:srgbClr val="080808"/>
                </a:solidFill>
                <a:uFillTx/>
                <a:latin typeface="Times New Roman" panose="02020603050405020304" pitchFamily="18" charset="0"/>
              </a:rPr>
              <a:t>?</a:t>
            </a:r>
            <a:endParaRPr lang="en-US" altLang="zh-CN" sz="2400" dirty="0">
              <a:solidFill>
                <a:srgbClr val="080808"/>
              </a:solidFill>
              <a:uFillTx/>
              <a:latin typeface="Times New Roman" panose="02020603050405020304" pitchFamily="18" charset="0"/>
            </a:endParaRPr>
          </a:p>
        </p:txBody>
      </p:sp>
      <p:graphicFrame>
        <p:nvGraphicFramePr>
          <p:cNvPr id="2" name="表格 1"/>
          <p:cNvGraphicFramePr/>
          <p:nvPr>
            <p:custDataLst>
              <p:tags r:id="rId6"/>
            </p:custDataLst>
          </p:nvPr>
        </p:nvGraphicFramePr>
        <p:xfrm>
          <a:off x="3563620" y="3068955"/>
          <a:ext cx="2207260" cy="1524000"/>
        </p:xfrm>
        <a:graphic>
          <a:graphicData uri="http://schemas.openxmlformats.org/drawingml/2006/table">
            <a:tbl>
              <a:tblPr firstRow="1" bandRow="1">
                <a:tableStyleId>{5C22544A-7EE6-4342-B048-85BDC9FD1C3A}</a:tableStyleId>
              </a:tblPr>
              <a:tblGrid>
                <a:gridCol w="551815"/>
                <a:gridCol w="551815"/>
                <a:gridCol w="551815"/>
                <a:gridCol w="551815"/>
              </a:tblGrid>
              <a:tr h="381000">
                <a:tc>
                  <a:txBody>
                    <a:bodyPr/>
                    <a:p>
                      <a:pPr>
                        <a:buNone/>
                      </a:pPr>
                      <a:r>
                        <a:rPr lang="en-US" altLang="zh-CN">
                          <a:solidFill>
                            <a:srgbClr val="FF0000"/>
                          </a:solidFill>
                          <a:latin typeface="Times New Roman" panose="02020603050405020304" pitchFamily="18" charset="0"/>
                          <a:cs typeface="Times New Roman" panose="02020603050405020304" pitchFamily="18" charset="0"/>
                        </a:rPr>
                        <a:t>Q1</a:t>
                      </a: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b="1">
                          <a:solidFill>
                            <a:srgbClr val="FF0000"/>
                          </a:solidFill>
                          <a:latin typeface="Times New Roman" panose="02020603050405020304" pitchFamily="18" charset="0"/>
                          <a:cs typeface="Times New Roman" panose="02020603050405020304" pitchFamily="18" charset="0"/>
                        </a:rPr>
                        <a:t>Q2</a:t>
                      </a:r>
                      <a:endParaRPr lang="en-US" altLang="zh-CN" b="1">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endParaRPr lang="en-US" altLang="zh-CN">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bl>
          </a:graphicData>
        </a:graphic>
      </p:graphicFrame>
      <p:graphicFrame>
        <p:nvGraphicFramePr>
          <p:cNvPr id="49" name="表格 48"/>
          <p:cNvGraphicFramePr/>
          <p:nvPr>
            <p:custDataLst>
              <p:tags r:id="rId7"/>
            </p:custDataLst>
          </p:nvPr>
        </p:nvGraphicFramePr>
        <p:xfrm>
          <a:off x="683260" y="3108960"/>
          <a:ext cx="2207260" cy="1524000"/>
        </p:xfrm>
        <a:graphic>
          <a:graphicData uri="http://schemas.openxmlformats.org/drawingml/2006/table">
            <a:tbl>
              <a:tblPr firstRow="1" bandRow="1">
                <a:tableStyleId>{5C22544A-7EE6-4342-B048-85BDC9FD1C3A}</a:tableStyleId>
              </a:tblPr>
              <a:tblGrid>
                <a:gridCol w="551815"/>
                <a:gridCol w="551815"/>
                <a:gridCol w="551815"/>
                <a:gridCol w="551815"/>
              </a:tblGrid>
              <a:tr h="381000">
                <a:tc>
                  <a:txBody>
                    <a:bodyPr/>
                    <a:p>
                      <a:pPr>
                        <a:buNone/>
                      </a:pPr>
                      <a:r>
                        <a:rPr lang="en-US" altLang="zh-CN">
                          <a:solidFill>
                            <a:srgbClr val="FF0000"/>
                          </a:solidFill>
                          <a:latin typeface="Times New Roman" panose="02020603050405020304" pitchFamily="18" charset="0"/>
                          <a:cs typeface="Times New Roman" panose="02020603050405020304" pitchFamily="18" charset="0"/>
                        </a:rPr>
                        <a:t>Q1</a:t>
                      </a: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r>
                        <a:rPr lang="en-US" altLang="zh-CN" sz="1800">
                          <a:solidFill>
                            <a:srgbClr val="FF0000"/>
                          </a:solidFill>
                          <a:latin typeface="Times New Roman" panose="02020603050405020304" pitchFamily="18" charset="0"/>
                          <a:cs typeface="Times New Roman" panose="02020603050405020304" pitchFamily="18" charset="0"/>
                          <a:sym typeface="+mn-ea"/>
                        </a:rPr>
                        <a:t>X</a:t>
                      </a: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sz="1800">
                          <a:solidFill>
                            <a:srgbClr val="FF0000"/>
                          </a:solidFill>
                          <a:latin typeface="Times New Roman" panose="02020603050405020304" pitchFamily="18" charset="0"/>
                          <a:cs typeface="Times New Roman" panose="02020603050405020304" pitchFamily="18" charset="0"/>
                          <a:sym typeface="+mn-ea"/>
                        </a:rPr>
                        <a:t>X</a:t>
                      </a:r>
                      <a:endParaRPr lang="en-US" altLang="zh-CN">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b="1">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bl>
          </a:graphicData>
        </a:graphic>
      </p:graphicFrame>
      <p:graphicFrame>
        <p:nvGraphicFramePr>
          <p:cNvPr id="50" name="表格 49"/>
          <p:cNvGraphicFramePr/>
          <p:nvPr>
            <p:custDataLst>
              <p:tags r:id="rId8"/>
            </p:custDataLst>
          </p:nvPr>
        </p:nvGraphicFramePr>
        <p:xfrm>
          <a:off x="683260" y="3108960"/>
          <a:ext cx="2207260" cy="1524000"/>
        </p:xfrm>
        <a:graphic>
          <a:graphicData uri="http://schemas.openxmlformats.org/drawingml/2006/table">
            <a:tbl>
              <a:tblPr firstRow="1" bandRow="1">
                <a:tableStyleId>{5C22544A-7EE6-4342-B048-85BDC9FD1C3A}</a:tableStyleId>
              </a:tblPr>
              <a:tblGrid>
                <a:gridCol w="551815"/>
                <a:gridCol w="551815"/>
                <a:gridCol w="551815"/>
                <a:gridCol w="551815"/>
              </a:tblGrid>
              <a:tr h="381000">
                <a:tc>
                  <a:txBody>
                    <a:bodyPr/>
                    <a:p>
                      <a:pPr>
                        <a:buNone/>
                      </a:pPr>
                      <a:r>
                        <a:rPr lang="en-US" altLang="zh-CN">
                          <a:solidFill>
                            <a:srgbClr val="FF0000"/>
                          </a:solidFill>
                          <a:latin typeface="Times New Roman" panose="02020603050405020304" pitchFamily="18" charset="0"/>
                          <a:cs typeface="Times New Roman" panose="02020603050405020304" pitchFamily="18" charset="0"/>
                        </a:rPr>
                        <a:t>Q1</a:t>
                      </a: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sz="1800" b="1">
                          <a:solidFill>
                            <a:srgbClr val="FF0000"/>
                          </a:solidFill>
                          <a:latin typeface="Times New Roman" panose="02020603050405020304" pitchFamily="18" charset="0"/>
                          <a:cs typeface="Times New Roman" panose="02020603050405020304" pitchFamily="18" charset="0"/>
                          <a:sym typeface="+mn-ea"/>
                        </a:rPr>
                        <a:t>Q2</a:t>
                      </a:r>
                      <a:endParaRPr lang="en-US" altLang="zh-CN" b="1">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r>
                        <a:rPr lang="en-US" altLang="zh-CN">
                          <a:solidFill>
                            <a:srgbClr val="FF0000"/>
                          </a:solidFill>
                          <a:latin typeface="Times New Roman" panose="02020603050405020304" pitchFamily="18" charset="0"/>
                          <a:cs typeface="Times New Roman" panose="02020603050405020304" pitchFamily="18" charset="0"/>
                        </a:rPr>
                        <a:t>X</a:t>
                      </a: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b="0">
                          <a:solidFill>
                            <a:srgbClr val="FF0000"/>
                          </a:solidFill>
                          <a:latin typeface="Times New Roman" panose="02020603050405020304" pitchFamily="18" charset="0"/>
                          <a:cs typeface="Times New Roman" panose="02020603050405020304" pitchFamily="18" charset="0"/>
                        </a:rPr>
                        <a:t>X</a:t>
                      </a:r>
                      <a:endParaRPr lang="en-US" altLang="zh-CN" b="0">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a:solidFill>
                            <a:srgbClr val="FF0000"/>
                          </a:solidFill>
                          <a:latin typeface="Times New Roman" panose="02020603050405020304" pitchFamily="18" charset="0"/>
                        </a:rPr>
                        <a:t>X</a:t>
                      </a:r>
                      <a:endParaRPr lang="en-US" altLang="zh-CN">
                        <a:solidFill>
                          <a:srgbClr val="FF0000"/>
                        </a:solidFill>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a:solidFill>
                            <a:srgbClr val="FF0000"/>
                          </a:solidFill>
                          <a:latin typeface="Times New Roman" panose="02020603050405020304" pitchFamily="18" charset="0"/>
                        </a:rPr>
                        <a:t>X</a:t>
                      </a:r>
                      <a:endParaRPr lang="en-US" altLang="zh-CN">
                        <a:solidFill>
                          <a:srgbClr val="FF0000"/>
                        </a:solidFill>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bl>
          </a:graphicData>
        </a:graphic>
      </p:graphicFrame>
      <p:grpSp>
        <p:nvGrpSpPr>
          <p:cNvPr id="64" name="组合 63"/>
          <p:cNvGrpSpPr/>
          <p:nvPr/>
        </p:nvGrpSpPr>
        <p:grpSpPr>
          <a:xfrm>
            <a:off x="3191510" y="1988820"/>
            <a:ext cx="5363210" cy="3522345"/>
            <a:chOff x="5813" y="3245"/>
            <a:chExt cx="8446" cy="5547"/>
          </a:xfrm>
        </p:grpSpPr>
        <p:sp>
          <p:nvSpPr>
            <p:cNvPr id="8" name="椭圆 7"/>
            <p:cNvSpPr/>
            <p:nvPr/>
          </p:nvSpPr>
          <p:spPr>
            <a:xfrm>
              <a:off x="11282" y="3245"/>
              <a:ext cx="935" cy="623"/>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rPr>
                <a:t>start</a:t>
              </a:r>
              <a:endPar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endParaRPr>
            </a:p>
          </p:txBody>
        </p:sp>
        <p:cxnSp>
          <p:nvCxnSpPr>
            <p:cNvPr id="11" name="直接箭头连接符 10"/>
            <p:cNvCxnSpPr>
              <a:stCxn id="8" idx="4"/>
            </p:cNvCxnSpPr>
            <p:nvPr/>
          </p:nvCxnSpPr>
          <p:spPr>
            <a:xfrm flipH="1">
              <a:off x="8788" y="3868"/>
              <a:ext cx="2962" cy="96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4" name="直接箭头连接符 13"/>
            <p:cNvCxnSpPr>
              <a:stCxn id="8" idx="4"/>
            </p:cNvCxnSpPr>
            <p:nvPr/>
          </p:nvCxnSpPr>
          <p:spPr>
            <a:xfrm flipH="1">
              <a:off x="10602" y="3868"/>
              <a:ext cx="1148" cy="96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27" name="直接箭头连接符 26"/>
            <p:cNvCxnSpPr>
              <a:stCxn id="8" idx="4"/>
            </p:cNvCxnSpPr>
            <p:nvPr/>
          </p:nvCxnSpPr>
          <p:spPr>
            <a:xfrm>
              <a:off x="11750" y="3868"/>
              <a:ext cx="553" cy="96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28" name="直接箭头连接符 27"/>
            <p:cNvCxnSpPr>
              <a:stCxn id="8" idx="4"/>
            </p:cNvCxnSpPr>
            <p:nvPr/>
          </p:nvCxnSpPr>
          <p:spPr>
            <a:xfrm>
              <a:off x="11750" y="3868"/>
              <a:ext cx="2027" cy="96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30" name="椭圆 29"/>
            <p:cNvSpPr/>
            <p:nvPr/>
          </p:nvSpPr>
          <p:spPr>
            <a:xfrm>
              <a:off x="8334" y="4833"/>
              <a:ext cx="935" cy="623"/>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rPr>
                <a:t>0</a:t>
              </a:r>
              <a:endPar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endParaRPr>
            </a:p>
          </p:txBody>
        </p:sp>
        <p:sp>
          <p:nvSpPr>
            <p:cNvPr id="31" name="椭圆 30"/>
            <p:cNvSpPr/>
            <p:nvPr/>
          </p:nvSpPr>
          <p:spPr>
            <a:xfrm>
              <a:off x="10148" y="4833"/>
              <a:ext cx="935" cy="623"/>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rPr>
                <a:t>1</a:t>
              </a:r>
              <a:endPar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endParaRPr>
            </a:p>
          </p:txBody>
        </p:sp>
        <p:sp>
          <p:nvSpPr>
            <p:cNvPr id="32" name="椭圆 31"/>
            <p:cNvSpPr/>
            <p:nvPr/>
          </p:nvSpPr>
          <p:spPr>
            <a:xfrm>
              <a:off x="11850" y="4832"/>
              <a:ext cx="935" cy="623"/>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rPr>
                <a:t>2</a:t>
              </a:r>
              <a:endPar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endParaRPr>
            </a:p>
          </p:txBody>
        </p:sp>
        <p:sp>
          <p:nvSpPr>
            <p:cNvPr id="33" name="椭圆 32"/>
            <p:cNvSpPr/>
            <p:nvPr/>
          </p:nvSpPr>
          <p:spPr>
            <a:xfrm>
              <a:off x="13324" y="4832"/>
              <a:ext cx="935" cy="623"/>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rPr>
                <a:t>3</a:t>
              </a:r>
              <a:endPar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endParaRPr>
            </a:p>
          </p:txBody>
        </p:sp>
        <p:cxnSp>
          <p:nvCxnSpPr>
            <p:cNvPr id="34" name="直接箭头连接符 33"/>
            <p:cNvCxnSpPr/>
            <p:nvPr/>
          </p:nvCxnSpPr>
          <p:spPr>
            <a:xfrm flipH="1">
              <a:off x="5813" y="5457"/>
              <a:ext cx="2962" cy="96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35" name="直接箭头连接符 34"/>
            <p:cNvCxnSpPr/>
            <p:nvPr/>
          </p:nvCxnSpPr>
          <p:spPr>
            <a:xfrm flipH="1">
              <a:off x="7627" y="5457"/>
              <a:ext cx="1148" cy="96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36" name="直接箭头连接符 35"/>
            <p:cNvCxnSpPr/>
            <p:nvPr/>
          </p:nvCxnSpPr>
          <p:spPr>
            <a:xfrm>
              <a:off x="8775" y="5457"/>
              <a:ext cx="553" cy="96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37" name="直接箭头连接符 36"/>
            <p:cNvCxnSpPr/>
            <p:nvPr/>
          </p:nvCxnSpPr>
          <p:spPr>
            <a:xfrm>
              <a:off x="8775" y="5457"/>
              <a:ext cx="2027" cy="96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41" name="椭圆 40"/>
            <p:cNvSpPr/>
            <p:nvPr/>
          </p:nvSpPr>
          <p:spPr>
            <a:xfrm>
              <a:off x="8902" y="6429"/>
              <a:ext cx="935" cy="623"/>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rPr>
                <a:t>2</a:t>
              </a:r>
              <a:endPar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endParaRPr>
            </a:p>
          </p:txBody>
        </p:sp>
        <p:sp>
          <p:nvSpPr>
            <p:cNvPr id="42" name="椭圆 41"/>
            <p:cNvSpPr/>
            <p:nvPr/>
          </p:nvSpPr>
          <p:spPr>
            <a:xfrm>
              <a:off x="10376" y="6429"/>
              <a:ext cx="935" cy="623"/>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rPr>
                <a:t>3</a:t>
              </a:r>
              <a:endPar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endParaRPr>
            </a:p>
          </p:txBody>
        </p:sp>
        <p:cxnSp>
          <p:nvCxnSpPr>
            <p:cNvPr id="43" name="直接箭头连接符 42"/>
            <p:cNvCxnSpPr/>
            <p:nvPr/>
          </p:nvCxnSpPr>
          <p:spPr>
            <a:xfrm flipH="1">
              <a:off x="9014" y="7051"/>
              <a:ext cx="341" cy="163"/>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44" name="直接箭头连接符 43"/>
            <p:cNvCxnSpPr/>
            <p:nvPr/>
          </p:nvCxnSpPr>
          <p:spPr>
            <a:xfrm flipH="1">
              <a:off x="9276" y="7051"/>
              <a:ext cx="79" cy="17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45" name="直接箭头连接符 44"/>
            <p:cNvCxnSpPr/>
            <p:nvPr/>
          </p:nvCxnSpPr>
          <p:spPr>
            <a:xfrm>
              <a:off x="9355" y="7051"/>
              <a:ext cx="113" cy="163"/>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46" name="直接箭头连接符 45"/>
            <p:cNvCxnSpPr/>
            <p:nvPr/>
          </p:nvCxnSpPr>
          <p:spPr>
            <a:xfrm>
              <a:off x="9355" y="7051"/>
              <a:ext cx="453" cy="163"/>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51" name="直接箭头连接符 50"/>
            <p:cNvCxnSpPr/>
            <p:nvPr/>
          </p:nvCxnSpPr>
          <p:spPr>
            <a:xfrm flipH="1">
              <a:off x="7867" y="7059"/>
              <a:ext cx="2962" cy="96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52" name="直接箭头连接符 51"/>
            <p:cNvCxnSpPr/>
            <p:nvPr/>
          </p:nvCxnSpPr>
          <p:spPr>
            <a:xfrm flipH="1">
              <a:off x="9681" y="7059"/>
              <a:ext cx="1148" cy="96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53" name="直接箭头连接符 52"/>
            <p:cNvCxnSpPr/>
            <p:nvPr/>
          </p:nvCxnSpPr>
          <p:spPr>
            <a:xfrm>
              <a:off x="10829" y="7059"/>
              <a:ext cx="553" cy="96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54" name="直接箭头连接符 53"/>
            <p:cNvCxnSpPr/>
            <p:nvPr/>
          </p:nvCxnSpPr>
          <p:spPr>
            <a:xfrm>
              <a:off x="10829" y="7059"/>
              <a:ext cx="2027" cy="96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58" name="椭圆 57"/>
            <p:cNvSpPr/>
            <p:nvPr/>
          </p:nvSpPr>
          <p:spPr>
            <a:xfrm>
              <a:off x="9213" y="7995"/>
              <a:ext cx="935" cy="623"/>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rPr>
                <a:t>1</a:t>
              </a:r>
              <a:endParaRPr kumimoji="0" lang="en-US" altLang="zh-CN" sz="900" b="0" i="1" u="none" strike="noStrike" cap="none" normalizeH="0" baseline="0" smtClean="0">
                <a:ln>
                  <a:noFill/>
                </a:ln>
                <a:solidFill>
                  <a:schemeClr val="tx1"/>
                </a:solidFill>
                <a:effectLst/>
                <a:latin typeface="Times New Roman" panose="02020603050405020304" pitchFamily="18" charset="0"/>
                <a:ea typeface="华文细黑" panose="02010600040101010101" pitchFamily="2" charset="-122"/>
                <a:cs typeface="Times New Roman" panose="02020603050405020304" pitchFamily="18" charset="0"/>
              </a:endParaRPr>
            </a:p>
          </p:txBody>
        </p:sp>
        <p:cxnSp>
          <p:nvCxnSpPr>
            <p:cNvPr id="59" name="直接箭头连接符 58"/>
            <p:cNvCxnSpPr/>
            <p:nvPr/>
          </p:nvCxnSpPr>
          <p:spPr>
            <a:xfrm flipH="1">
              <a:off x="9325" y="8617"/>
              <a:ext cx="341" cy="163"/>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60" name="直接箭头连接符 59"/>
            <p:cNvCxnSpPr/>
            <p:nvPr/>
          </p:nvCxnSpPr>
          <p:spPr>
            <a:xfrm flipH="1">
              <a:off x="9587" y="8617"/>
              <a:ext cx="79" cy="17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61" name="直接箭头连接符 60"/>
            <p:cNvCxnSpPr/>
            <p:nvPr/>
          </p:nvCxnSpPr>
          <p:spPr>
            <a:xfrm>
              <a:off x="9666" y="8617"/>
              <a:ext cx="113" cy="163"/>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62" name="直接箭头连接符 61"/>
            <p:cNvCxnSpPr/>
            <p:nvPr/>
          </p:nvCxnSpPr>
          <p:spPr>
            <a:xfrm>
              <a:off x="9666" y="8617"/>
              <a:ext cx="453" cy="163"/>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grpSp>
      <p:sp>
        <p:nvSpPr>
          <p:cNvPr id="66" name="文本框 65"/>
          <p:cNvSpPr txBox="1"/>
          <p:nvPr/>
        </p:nvSpPr>
        <p:spPr>
          <a:xfrm>
            <a:off x="3940810" y="3500755"/>
            <a:ext cx="402590" cy="351790"/>
          </a:xfrm>
          <a:prstGeom prst="rect">
            <a:avLst/>
          </a:prstGeom>
          <a:noFill/>
        </p:spPr>
        <p:txBody>
          <a:bodyPr wrap="square" rtlCol="0">
            <a:noAutofit/>
          </a:bodyPr>
          <a:p>
            <a:r>
              <a:rPr lang="en-US" altLang="zh-CN">
                <a:solidFill>
                  <a:srgbClr val="FF0000"/>
                </a:solidFill>
              </a:rPr>
              <a:t>X</a:t>
            </a:r>
            <a:endParaRPr lang="en-US" altLang="zh-CN">
              <a:solidFill>
                <a:srgbClr val="FF0000"/>
              </a:solidFill>
            </a:endParaRPr>
          </a:p>
        </p:txBody>
      </p:sp>
      <p:sp>
        <p:nvSpPr>
          <p:cNvPr id="67" name="文本框 66"/>
          <p:cNvSpPr txBox="1"/>
          <p:nvPr/>
        </p:nvSpPr>
        <p:spPr>
          <a:xfrm>
            <a:off x="4506595" y="3500755"/>
            <a:ext cx="402590" cy="351790"/>
          </a:xfrm>
          <a:prstGeom prst="rect">
            <a:avLst/>
          </a:prstGeom>
          <a:noFill/>
        </p:spPr>
        <p:txBody>
          <a:bodyPr wrap="square" rtlCol="0">
            <a:noAutofit/>
          </a:bodyPr>
          <a:p>
            <a:r>
              <a:rPr lang="en-US" altLang="zh-CN">
                <a:solidFill>
                  <a:srgbClr val="FF0000"/>
                </a:solidFill>
              </a:rPr>
              <a:t>X</a:t>
            </a:r>
            <a:endParaRPr lang="en-US" altLang="zh-CN">
              <a:solidFill>
                <a:srgbClr val="FF0000"/>
              </a:solidFill>
            </a:endParaRPr>
          </a:p>
        </p:txBody>
      </p:sp>
      <p:sp>
        <p:nvSpPr>
          <p:cNvPr id="69" name="文本框 68"/>
          <p:cNvSpPr txBox="1"/>
          <p:nvPr/>
        </p:nvSpPr>
        <p:spPr>
          <a:xfrm>
            <a:off x="5296535" y="4281170"/>
            <a:ext cx="402590" cy="351790"/>
          </a:xfrm>
          <a:prstGeom prst="rect">
            <a:avLst/>
          </a:prstGeom>
          <a:noFill/>
        </p:spPr>
        <p:txBody>
          <a:bodyPr wrap="square" rtlCol="0">
            <a:noAutofit/>
          </a:bodyPr>
          <a:p>
            <a:r>
              <a:rPr lang="en-US" altLang="zh-CN">
                <a:solidFill>
                  <a:srgbClr val="FF0000"/>
                </a:solidFill>
              </a:rPr>
              <a:t>X</a:t>
            </a:r>
            <a:endParaRPr lang="en-US" altLang="zh-CN">
              <a:solidFill>
                <a:srgbClr val="FF0000"/>
              </a:solidFill>
            </a:endParaRPr>
          </a:p>
        </p:txBody>
      </p:sp>
      <p:sp>
        <p:nvSpPr>
          <p:cNvPr id="71" name="文本框 70"/>
          <p:cNvSpPr txBox="1"/>
          <p:nvPr/>
        </p:nvSpPr>
        <p:spPr>
          <a:xfrm>
            <a:off x="7095490" y="4653280"/>
            <a:ext cx="402590" cy="351790"/>
          </a:xfrm>
          <a:prstGeom prst="rect">
            <a:avLst/>
          </a:prstGeom>
          <a:noFill/>
        </p:spPr>
        <p:txBody>
          <a:bodyPr wrap="square" rtlCol="0">
            <a:noAutofit/>
          </a:bodyPr>
          <a:p>
            <a:r>
              <a:rPr lang="en-US" altLang="zh-CN">
                <a:solidFill>
                  <a:srgbClr val="FF0000"/>
                </a:solidFill>
              </a:rPr>
              <a:t>X</a:t>
            </a:r>
            <a:endParaRPr lang="en-US" altLang="zh-CN">
              <a:solidFill>
                <a:srgbClr val="FF0000"/>
              </a:solidFill>
            </a:endParaRPr>
          </a:p>
        </p:txBody>
      </p:sp>
      <p:sp>
        <p:nvSpPr>
          <p:cNvPr id="72" name="文本框 71"/>
          <p:cNvSpPr txBox="1"/>
          <p:nvPr/>
        </p:nvSpPr>
        <p:spPr>
          <a:xfrm>
            <a:off x="6449060" y="4653280"/>
            <a:ext cx="402590" cy="351790"/>
          </a:xfrm>
          <a:prstGeom prst="rect">
            <a:avLst/>
          </a:prstGeom>
          <a:noFill/>
        </p:spPr>
        <p:txBody>
          <a:bodyPr wrap="square" rtlCol="0">
            <a:noAutofit/>
          </a:bodyPr>
          <a:p>
            <a:r>
              <a:rPr lang="en-US" altLang="zh-CN">
                <a:solidFill>
                  <a:srgbClr val="FF0000"/>
                </a:solidFill>
              </a:rPr>
              <a:t>X</a:t>
            </a:r>
            <a:endParaRPr lang="en-US" altLang="zh-CN">
              <a:solidFill>
                <a:srgbClr val="FF0000"/>
              </a:solidFill>
            </a:endParaRPr>
          </a:p>
        </p:txBody>
      </p:sp>
      <p:sp>
        <p:nvSpPr>
          <p:cNvPr id="73" name="文本框 72"/>
          <p:cNvSpPr txBox="1"/>
          <p:nvPr/>
        </p:nvSpPr>
        <p:spPr>
          <a:xfrm>
            <a:off x="4648835" y="4759960"/>
            <a:ext cx="402590" cy="351790"/>
          </a:xfrm>
          <a:prstGeom prst="rect">
            <a:avLst/>
          </a:prstGeom>
          <a:noFill/>
        </p:spPr>
        <p:txBody>
          <a:bodyPr wrap="square" rtlCol="0">
            <a:noAutofit/>
          </a:bodyPr>
          <a:p>
            <a:r>
              <a:rPr lang="en-US" altLang="zh-CN">
                <a:solidFill>
                  <a:srgbClr val="FF0000"/>
                </a:solidFill>
              </a:rPr>
              <a:t>X</a:t>
            </a:r>
            <a:endParaRPr lang="en-US" altLang="zh-CN">
              <a:solidFill>
                <a:srgbClr val="FF0000"/>
              </a:solidFill>
            </a:endParaRPr>
          </a:p>
        </p:txBody>
      </p:sp>
      <p:graphicFrame>
        <p:nvGraphicFramePr>
          <p:cNvPr id="74" name="表格 73"/>
          <p:cNvGraphicFramePr/>
          <p:nvPr>
            <p:custDataLst>
              <p:tags r:id="rId9"/>
            </p:custDataLst>
          </p:nvPr>
        </p:nvGraphicFramePr>
        <p:xfrm>
          <a:off x="683260" y="3108960"/>
          <a:ext cx="2207260" cy="1524000"/>
        </p:xfrm>
        <a:graphic>
          <a:graphicData uri="http://schemas.openxmlformats.org/drawingml/2006/table">
            <a:tbl>
              <a:tblPr firstRow="1" bandRow="1">
                <a:tableStyleId>{5C22544A-7EE6-4342-B048-85BDC9FD1C3A}</a:tableStyleId>
              </a:tblPr>
              <a:tblGrid>
                <a:gridCol w="551815"/>
                <a:gridCol w="551815"/>
                <a:gridCol w="551815"/>
                <a:gridCol w="551815"/>
              </a:tblGrid>
              <a:tr h="381000">
                <a:tc>
                  <a:txBody>
                    <a:bodyPr/>
                    <a:p>
                      <a:pPr>
                        <a:buNone/>
                      </a:pPr>
                      <a:r>
                        <a:rPr lang="en-US" altLang="zh-CN">
                          <a:solidFill>
                            <a:srgbClr val="FF0000"/>
                          </a:solidFill>
                          <a:latin typeface="Times New Roman" panose="02020603050405020304" pitchFamily="18" charset="0"/>
                          <a:cs typeface="Times New Roman" panose="02020603050405020304" pitchFamily="18" charset="0"/>
                        </a:rPr>
                        <a:t>Q1</a:t>
                      </a: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b="1">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sz="1800" b="1">
                          <a:solidFill>
                            <a:srgbClr val="FF0000"/>
                          </a:solidFill>
                          <a:latin typeface="Times New Roman" panose="02020603050405020304" pitchFamily="18" charset="0"/>
                          <a:cs typeface="Times New Roman" panose="02020603050405020304" pitchFamily="18" charset="0"/>
                          <a:sym typeface="+mn-ea"/>
                        </a:rPr>
                        <a:t>Q2</a:t>
                      </a: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r>
                        <a:rPr lang="en-US" altLang="zh-CN">
                          <a:solidFill>
                            <a:srgbClr val="FF0000"/>
                          </a:solidFill>
                          <a:latin typeface="Times New Roman" panose="02020603050405020304" pitchFamily="18" charset="0"/>
                          <a:cs typeface="Times New Roman" panose="02020603050405020304" pitchFamily="18" charset="0"/>
                        </a:rPr>
                        <a:t>X</a:t>
                      </a: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b="0">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bl>
          </a:graphicData>
        </a:graphic>
      </p:graphicFrame>
      <p:sp>
        <p:nvSpPr>
          <p:cNvPr id="75" name="文本框 74"/>
          <p:cNvSpPr txBox="1"/>
          <p:nvPr/>
        </p:nvSpPr>
        <p:spPr>
          <a:xfrm>
            <a:off x="5487670" y="5300980"/>
            <a:ext cx="402590" cy="351790"/>
          </a:xfrm>
          <a:prstGeom prst="rect">
            <a:avLst/>
          </a:prstGeom>
          <a:noFill/>
        </p:spPr>
        <p:txBody>
          <a:bodyPr wrap="square" rtlCol="0">
            <a:noAutofit/>
          </a:bodyPr>
          <a:p>
            <a:r>
              <a:rPr lang="en-US" altLang="zh-CN">
                <a:solidFill>
                  <a:srgbClr val="FF0000"/>
                </a:solidFill>
              </a:rPr>
              <a:t>X</a:t>
            </a:r>
            <a:endParaRPr lang="en-US" altLang="zh-CN">
              <a:solidFill>
                <a:srgbClr val="FF0000"/>
              </a:solidFill>
            </a:endParaRPr>
          </a:p>
        </p:txBody>
      </p:sp>
      <p:graphicFrame>
        <p:nvGraphicFramePr>
          <p:cNvPr id="78" name="表格 77"/>
          <p:cNvGraphicFramePr/>
          <p:nvPr>
            <p:custDataLst>
              <p:tags r:id="rId10"/>
            </p:custDataLst>
          </p:nvPr>
        </p:nvGraphicFramePr>
        <p:xfrm>
          <a:off x="683260" y="3108960"/>
          <a:ext cx="2207260" cy="1524000"/>
        </p:xfrm>
        <a:graphic>
          <a:graphicData uri="http://schemas.openxmlformats.org/drawingml/2006/table">
            <a:tbl>
              <a:tblPr firstRow="1" bandRow="1">
                <a:tableStyleId>{5C22544A-7EE6-4342-B048-85BDC9FD1C3A}</a:tableStyleId>
              </a:tblPr>
              <a:tblGrid>
                <a:gridCol w="551815"/>
                <a:gridCol w="551815"/>
                <a:gridCol w="551815"/>
                <a:gridCol w="551815"/>
              </a:tblGrid>
              <a:tr h="381000">
                <a:tc>
                  <a:txBody>
                    <a:bodyPr/>
                    <a:p>
                      <a:pPr>
                        <a:buNone/>
                      </a:pPr>
                      <a:r>
                        <a:rPr lang="en-US" altLang="zh-CN">
                          <a:solidFill>
                            <a:srgbClr val="FF0000"/>
                          </a:solidFill>
                          <a:latin typeface="Times New Roman" panose="02020603050405020304" pitchFamily="18" charset="0"/>
                          <a:cs typeface="Times New Roman" panose="02020603050405020304" pitchFamily="18" charset="0"/>
                        </a:rPr>
                        <a:t>Q1</a:t>
                      </a: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b="1">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sz="1800" b="1">
                          <a:solidFill>
                            <a:srgbClr val="FF0000"/>
                          </a:solidFill>
                          <a:latin typeface="Times New Roman" panose="02020603050405020304" pitchFamily="18" charset="0"/>
                          <a:cs typeface="Times New Roman" panose="02020603050405020304" pitchFamily="18" charset="0"/>
                          <a:sym typeface="+mn-ea"/>
                        </a:rPr>
                        <a:t>Q2</a:t>
                      </a: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b="1">
                          <a:solidFill>
                            <a:srgbClr val="FF0000"/>
                          </a:solidFill>
                          <a:latin typeface="Times New Roman" panose="02020603050405020304" pitchFamily="18" charset="0"/>
                          <a:cs typeface="Times New Roman" panose="02020603050405020304" pitchFamily="18" charset="0"/>
                        </a:rPr>
                        <a:t>Q3</a:t>
                      </a:r>
                      <a:endParaRPr lang="en-US" altLang="zh-CN" b="1">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r>
                        <a:rPr lang="en-US" altLang="zh-CN">
                          <a:solidFill>
                            <a:srgbClr val="FF0000"/>
                          </a:solidFill>
                          <a:latin typeface="Times New Roman" panose="02020603050405020304" pitchFamily="18" charset="0"/>
                          <a:cs typeface="Times New Roman" panose="02020603050405020304" pitchFamily="18" charset="0"/>
                        </a:rPr>
                        <a:t>X</a:t>
                      </a: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a:solidFill>
                            <a:srgbClr val="FF0000"/>
                          </a:solidFill>
                          <a:latin typeface="Times New Roman" panose="02020603050405020304" pitchFamily="18" charset="0"/>
                          <a:cs typeface="Times New Roman" panose="02020603050405020304" pitchFamily="18" charset="0"/>
                        </a:rPr>
                        <a:t>X</a:t>
                      </a: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a:solidFill>
                            <a:srgbClr val="FF0000"/>
                          </a:solidFill>
                          <a:latin typeface="Times New Roman" panose="02020603050405020304" pitchFamily="18" charset="0"/>
                          <a:cs typeface="Times New Roman" panose="02020603050405020304" pitchFamily="18" charset="0"/>
                        </a:rPr>
                        <a:t>X</a:t>
                      </a: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a:solidFill>
                            <a:srgbClr val="FF0000"/>
                          </a:solidFill>
                          <a:latin typeface="Times New Roman" panose="02020603050405020304" pitchFamily="18" charset="0"/>
                          <a:cs typeface="Times New Roman" panose="02020603050405020304" pitchFamily="18" charset="0"/>
                        </a:rPr>
                        <a:t>X</a:t>
                      </a: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bl>
          </a:graphicData>
        </a:graphic>
      </p:graphicFrame>
      <p:graphicFrame>
        <p:nvGraphicFramePr>
          <p:cNvPr id="79" name="表格 78"/>
          <p:cNvGraphicFramePr/>
          <p:nvPr>
            <p:custDataLst>
              <p:tags r:id="rId11"/>
            </p:custDataLst>
          </p:nvPr>
        </p:nvGraphicFramePr>
        <p:xfrm>
          <a:off x="683260" y="3108960"/>
          <a:ext cx="2207260" cy="1524000"/>
        </p:xfrm>
        <a:graphic>
          <a:graphicData uri="http://schemas.openxmlformats.org/drawingml/2006/table">
            <a:tbl>
              <a:tblPr firstRow="1" bandRow="1">
                <a:tableStyleId>{5C22544A-7EE6-4342-B048-85BDC9FD1C3A}</a:tableStyleId>
              </a:tblPr>
              <a:tblGrid>
                <a:gridCol w="551815"/>
                <a:gridCol w="551815"/>
                <a:gridCol w="551815"/>
                <a:gridCol w="551815"/>
              </a:tblGrid>
              <a:tr h="381000">
                <a:tc>
                  <a:txBody>
                    <a:bodyPr/>
                    <a:p>
                      <a:pPr>
                        <a:buNone/>
                      </a:pPr>
                      <a:r>
                        <a:rPr lang="en-US" altLang="zh-CN">
                          <a:solidFill>
                            <a:srgbClr val="FF0000"/>
                          </a:solidFill>
                          <a:latin typeface="Times New Roman" panose="02020603050405020304" pitchFamily="18" charset="0"/>
                          <a:cs typeface="Times New Roman" panose="02020603050405020304" pitchFamily="18" charset="0"/>
                        </a:rPr>
                        <a:t>Q1</a:t>
                      </a: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b="1">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sz="1800" b="1">
                          <a:solidFill>
                            <a:srgbClr val="FF0000"/>
                          </a:solidFill>
                          <a:latin typeface="Times New Roman" panose="02020603050405020304" pitchFamily="18" charset="0"/>
                          <a:cs typeface="Times New Roman" panose="02020603050405020304" pitchFamily="18" charset="0"/>
                          <a:sym typeface="+mn-ea"/>
                        </a:rPr>
                        <a:t>Q2</a:t>
                      </a: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b="1">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a:solidFill>
                            <a:srgbClr val="FF0000"/>
                          </a:solidFill>
                          <a:latin typeface="Times New Roman" panose="02020603050405020304" pitchFamily="18" charset="0"/>
                        </a:rPr>
                        <a:t>X</a:t>
                      </a:r>
                      <a:endParaRPr lang="en-US" altLang="zh-CN">
                        <a:solidFill>
                          <a:srgbClr val="FF0000"/>
                        </a:solidFill>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r>
                        <a:rPr lang="en-US" altLang="zh-CN">
                          <a:solidFill>
                            <a:srgbClr val="FF0000"/>
                          </a:solidFill>
                          <a:latin typeface="Times New Roman" panose="02020603050405020304" pitchFamily="18" charset="0"/>
                        </a:rPr>
                        <a:t>X</a:t>
                      </a:r>
                      <a:endParaRPr lang="en-US" altLang="zh-CN">
                        <a:solidFill>
                          <a:srgbClr val="FF0000"/>
                        </a:solidFill>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1000">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534722 -0.00138889 L -0.750625 0.00444444 " pathEditMode="relative" rAng="0" ptsTypes="">
                                      <p:cBhvr>
                                        <p:cTn id="6" dur="2000" fill="hold"/>
                                        <p:tgtEl>
                                          <p:spTgt spid="2"/>
                                        </p:tgtEl>
                                        <p:attrNameLst>
                                          <p:attrName>ppt_x</p:attrName>
                                          <p:attrName>ppt_y</p:attrName>
                                        </p:attrNameLst>
                                      </p:cBhvr>
                                      <p:rCtr x="-377" y="-3"/>
                                    </p:animMotion>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anim calcmode="lin" valueType="num">
                                      <p:cBhvr additive="base">
                                        <p:cTn id="11" dur="500" fill="hold"/>
                                        <p:tgtEl>
                                          <p:spTgt spid="64"/>
                                        </p:tgtEl>
                                        <p:attrNameLst>
                                          <p:attrName>ppt_x</p:attrName>
                                        </p:attrNameLst>
                                      </p:cBhvr>
                                      <p:tavLst>
                                        <p:tav tm="0">
                                          <p:val>
                                            <p:strVal val="#ppt_x"/>
                                          </p:val>
                                        </p:tav>
                                        <p:tav tm="100000">
                                          <p:val>
                                            <p:strVal val="#ppt_x"/>
                                          </p:val>
                                        </p:tav>
                                      </p:tavLst>
                                    </p:anim>
                                    <p:anim calcmode="lin" valueType="num">
                                      <p:cBhvr additive="base">
                                        <p:cTn id="12"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6"/>
                                        </p:tgtEl>
                                        <p:attrNameLst>
                                          <p:attrName>style.visibility</p:attrName>
                                        </p:attrNameLst>
                                      </p:cBhvr>
                                      <p:to>
                                        <p:strVal val="visible"/>
                                      </p:to>
                                    </p:set>
                                    <p:anim calcmode="lin" valueType="num">
                                      <p:cBhvr additive="base">
                                        <p:cTn id="17" dur="500" fill="hold"/>
                                        <p:tgtEl>
                                          <p:spTgt spid="66"/>
                                        </p:tgtEl>
                                        <p:attrNameLst>
                                          <p:attrName>ppt_x</p:attrName>
                                        </p:attrNameLst>
                                      </p:cBhvr>
                                      <p:tavLst>
                                        <p:tav tm="0">
                                          <p:val>
                                            <p:strVal val="#ppt_x"/>
                                          </p:val>
                                        </p:tav>
                                        <p:tav tm="100000">
                                          <p:val>
                                            <p:strVal val="#ppt_x"/>
                                          </p:val>
                                        </p:tav>
                                      </p:tavLst>
                                    </p:anim>
                                    <p:anim calcmode="lin" valueType="num">
                                      <p:cBhvr additive="base">
                                        <p:cTn id="18" dur="500" fill="hold"/>
                                        <p:tgtEl>
                                          <p:spTgt spid="6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7"/>
                                        </p:tgtEl>
                                        <p:attrNameLst>
                                          <p:attrName>style.visibility</p:attrName>
                                        </p:attrNameLst>
                                      </p:cBhvr>
                                      <p:to>
                                        <p:strVal val="visible"/>
                                      </p:to>
                                    </p:set>
                                    <p:anim calcmode="lin" valueType="num">
                                      <p:cBhvr additive="base">
                                        <p:cTn id="21" dur="500" fill="hold"/>
                                        <p:tgtEl>
                                          <p:spTgt spid="67"/>
                                        </p:tgtEl>
                                        <p:attrNameLst>
                                          <p:attrName>ppt_x</p:attrName>
                                        </p:attrNameLst>
                                      </p:cBhvr>
                                      <p:tavLst>
                                        <p:tav tm="0">
                                          <p:val>
                                            <p:strVal val="#ppt_x"/>
                                          </p:val>
                                        </p:tav>
                                        <p:tav tm="100000">
                                          <p:val>
                                            <p:strVal val="#ppt_x"/>
                                          </p:val>
                                        </p:tav>
                                      </p:tavLst>
                                    </p:anim>
                                    <p:anim calcmode="lin" valueType="num">
                                      <p:cBhvr additive="base">
                                        <p:cTn id="22"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 calcmode="lin" valueType="num">
                                      <p:cBhvr additive="base">
                                        <p:cTn id="27" dur="500" fill="hold"/>
                                        <p:tgtEl>
                                          <p:spTgt spid="49"/>
                                        </p:tgtEl>
                                        <p:attrNameLst>
                                          <p:attrName>ppt_x</p:attrName>
                                        </p:attrNameLst>
                                      </p:cBhvr>
                                      <p:tavLst>
                                        <p:tav tm="0">
                                          <p:val>
                                            <p:strVal val="#ppt_x"/>
                                          </p:val>
                                        </p:tav>
                                        <p:tav tm="100000">
                                          <p:val>
                                            <p:strVal val="#ppt_x"/>
                                          </p:val>
                                        </p:tav>
                                      </p:tavLst>
                                    </p:anim>
                                    <p:anim calcmode="lin" valueType="num">
                                      <p:cBhvr additive="base">
                                        <p:cTn id="28"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xit" presetSubtype="4" fill="hold" nodeType="clickEffect">
                                  <p:stCondLst>
                                    <p:cond delay="0"/>
                                  </p:stCondLst>
                                  <p:childTnLst>
                                    <p:anim calcmode="lin" valueType="num">
                                      <p:cBhvr additive="base">
                                        <p:cTn id="32" dur="500"/>
                                        <p:tgtEl>
                                          <p:spTgt spid="49"/>
                                        </p:tgtEl>
                                        <p:attrNameLst>
                                          <p:attrName>ppt_x</p:attrName>
                                        </p:attrNameLst>
                                      </p:cBhvr>
                                      <p:tavLst>
                                        <p:tav tm="0">
                                          <p:val>
                                            <p:strVal val="ppt_x"/>
                                          </p:val>
                                        </p:tav>
                                        <p:tav tm="100000">
                                          <p:val>
                                            <p:strVal val="ppt_x"/>
                                          </p:val>
                                        </p:tav>
                                      </p:tavLst>
                                    </p:anim>
                                    <p:anim calcmode="lin" valueType="num">
                                      <p:cBhvr additive="base">
                                        <p:cTn id="33" dur="500"/>
                                        <p:tgtEl>
                                          <p:spTgt spid="49"/>
                                        </p:tgtEl>
                                        <p:attrNameLst>
                                          <p:attrName>ppt_y</p:attrName>
                                        </p:attrNameLst>
                                      </p:cBhvr>
                                      <p:tavLst>
                                        <p:tav tm="0">
                                          <p:val>
                                            <p:strVal val="ppt_y"/>
                                          </p:val>
                                        </p:tav>
                                        <p:tav tm="100000">
                                          <p:val>
                                            <p:strVal val="1+ppt_h/2"/>
                                          </p:val>
                                        </p:tav>
                                      </p:tavLst>
                                    </p:anim>
                                    <p:set>
                                      <p:cBhvr>
                                        <p:cTn id="34" dur="1" fill="hold">
                                          <p:stCondLst>
                                            <p:cond delay="499"/>
                                          </p:stCondLst>
                                        </p:cTn>
                                        <p:tgtEl>
                                          <p:spTgt spid="4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9"/>
                                        </p:tgtEl>
                                        <p:attrNameLst>
                                          <p:attrName>style.visibility</p:attrName>
                                        </p:attrNameLst>
                                      </p:cBhvr>
                                      <p:to>
                                        <p:strVal val="visible"/>
                                      </p:to>
                                    </p:set>
                                    <p:anim calcmode="lin" valueType="num">
                                      <p:cBhvr additive="base">
                                        <p:cTn id="39" dur="500" fill="hold"/>
                                        <p:tgtEl>
                                          <p:spTgt spid="69"/>
                                        </p:tgtEl>
                                        <p:attrNameLst>
                                          <p:attrName>ppt_x</p:attrName>
                                        </p:attrNameLst>
                                      </p:cBhvr>
                                      <p:tavLst>
                                        <p:tav tm="0">
                                          <p:val>
                                            <p:strVal val="#ppt_x"/>
                                          </p:val>
                                        </p:tav>
                                        <p:tav tm="100000">
                                          <p:val>
                                            <p:strVal val="#ppt_x"/>
                                          </p:val>
                                        </p:tav>
                                      </p:tavLst>
                                    </p:anim>
                                    <p:anim calcmode="lin" valueType="num">
                                      <p:cBhvr additive="base">
                                        <p:cTn id="40"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50"/>
                                        </p:tgtEl>
                                        <p:attrNameLst>
                                          <p:attrName>style.visibility</p:attrName>
                                        </p:attrNameLst>
                                      </p:cBhvr>
                                      <p:to>
                                        <p:strVal val="visible"/>
                                      </p:to>
                                    </p:set>
                                    <p:anim calcmode="lin" valueType="num">
                                      <p:cBhvr additive="base">
                                        <p:cTn id="45" dur="500" fill="hold"/>
                                        <p:tgtEl>
                                          <p:spTgt spid="50"/>
                                        </p:tgtEl>
                                        <p:attrNameLst>
                                          <p:attrName>ppt_x</p:attrName>
                                        </p:attrNameLst>
                                      </p:cBhvr>
                                      <p:tavLst>
                                        <p:tav tm="0">
                                          <p:val>
                                            <p:strVal val="#ppt_x"/>
                                          </p:val>
                                        </p:tav>
                                        <p:tav tm="100000">
                                          <p:val>
                                            <p:strVal val="#ppt_x"/>
                                          </p:val>
                                        </p:tav>
                                      </p:tavLst>
                                    </p:anim>
                                    <p:anim calcmode="lin" valueType="num">
                                      <p:cBhvr additive="base">
                                        <p:cTn id="46"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xit" presetSubtype="4" fill="hold" nodeType="clickEffect">
                                  <p:stCondLst>
                                    <p:cond delay="0"/>
                                  </p:stCondLst>
                                  <p:childTnLst>
                                    <p:anim calcmode="lin" valueType="num">
                                      <p:cBhvr additive="base">
                                        <p:cTn id="50" dur="500"/>
                                        <p:tgtEl>
                                          <p:spTgt spid="50"/>
                                        </p:tgtEl>
                                        <p:attrNameLst>
                                          <p:attrName>ppt_x</p:attrName>
                                        </p:attrNameLst>
                                      </p:cBhvr>
                                      <p:tavLst>
                                        <p:tav tm="0">
                                          <p:val>
                                            <p:strVal val="ppt_x"/>
                                          </p:val>
                                        </p:tav>
                                        <p:tav tm="100000">
                                          <p:val>
                                            <p:strVal val="ppt_x"/>
                                          </p:val>
                                        </p:tav>
                                      </p:tavLst>
                                    </p:anim>
                                    <p:anim calcmode="lin" valueType="num">
                                      <p:cBhvr additive="base">
                                        <p:cTn id="51" dur="500"/>
                                        <p:tgtEl>
                                          <p:spTgt spid="50"/>
                                        </p:tgtEl>
                                        <p:attrNameLst>
                                          <p:attrName>ppt_y</p:attrName>
                                        </p:attrNameLst>
                                      </p:cBhvr>
                                      <p:tavLst>
                                        <p:tav tm="0">
                                          <p:val>
                                            <p:strVal val="ppt_y"/>
                                          </p:val>
                                        </p:tav>
                                        <p:tav tm="100000">
                                          <p:val>
                                            <p:strVal val="1+ppt_h/2"/>
                                          </p:val>
                                        </p:tav>
                                      </p:tavLst>
                                    </p:anim>
                                    <p:set>
                                      <p:cBhvr>
                                        <p:cTn id="52" dur="1" fill="hold">
                                          <p:stCondLst>
                                            <p:cond delay="499"/>
                                          </p:stCondLst>
                                        </p:cTn>
                                        <p:tgtEl>
                                          <p:spTgt spid="50"/>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73"/>
                                        </p:tgtEl>
                                        <p:attrNameLst>
                                          <p:attrName>style.visibility</p:attrName>
                                        </p:attrNameLst>
                                      </p:cBhvr>
                                      <p:to>
                                        <p:strVal val="visible"/>
                                      </p:to>
                                    </p:set>
                                    <p:anim calcmode="lin" valueType="num">
                                      <p:cBhvr additive="base">
                                        <p:cTn id="57" dur="500" fill="hold"/>
                                        <p:tgtEl>
                                          <p:spTgt spid="73"/>
                                        </p:tgtEl>
                                        <p:attrNameLst>
                                          <p:attrName>ppt_x</p:attrName>
                                        </p:attrNameLst>
                                      </p:cBhvr>
                                      <p:tavLst>
                                        <p:tav tm="0">
                                          <p:val>
                                            <p:strVal val="#ppt_x"/>
                                          </p:val>
                                        </p:tav>
                                        <p:tav tm="100000">
                                          <p:val>
                                            <p:strVal val="#ppt_x"/>
                                          </p:val>
                                        </p:tav>
                                      </p:tavLst>
                                    </p:anim>
                                    <p:anim calcmode="lin" valueType="num">
                                      <p:cBhvr additive="base">
                                        <p:cTn id="58"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74"/>
                                        </p:tgtEl>
                                        <p:attrNameLst>
                                          <p:attrName>style.visibility</p:attrName>
                                        </p:attrNameLst>
                                      </p:cBhvr>
                                      <p:to>
                                        <p:strVal val="visible"/>
                                      </p:to>
                                    </p:set>
                                    <p:anim calcmode="lin" valueType="num">
                                      <p:cBhvr additive="base">
                                        <p:cTn id="63" dur="500" fill="hold"/>
                                        <p:tgtEl>
                                          <p:spTgt spid="74"/>
                                        </p:tgtEl>
                                        <p:attrNameLst>
                                          <p:attrName>ppt_x</p:attrName>
                                        </p:attrNameLst>
                                      </p:cBhvr>
                                      <p:tavLst>
                                        <p:tav tm="0">
                                          <p:val>
                                            <p:strVal val="#ppt_x"/>
                                          </p:val>
                                        </p:tav>
                                        <p:tav tm="100000">
                                          <p:val>
                                            <p:strVal val="#ppt_x"/>
                                          </p:val>
                                        </p:tav>
                                      </p:tavLst>
                                    </p:anim>
                                    <p:anim calcmode="lin" valueType="num">
                                      <p:cBhvr additive="base">
                                        <p:cTn id="64"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xit" presetSubtype="4" fill="hold" nodeType="clickEffect">
                                  <p:stCondLst>
                                    <p:cond delay="0"/>
                                  </p:stCondLst>
                                  <p:childTnLst>
                                    <p:anim calcmode="lin" valueType="num">
                                      <p:cBhvr additive="base">
                                        <p:cTn id="68" dur="500"/>
                                        <p:tgtEl>
                                          <p:spTgt spid="74"/>
                                        </p:tgtEl>
                                        <p:attrNameLst>
                                          <p:attrName>ppt_x</p:attrName>
                                        </p:attrNameLst>
                                      </p:cBhvr>
                                      <p:tavLst>
                                        <p:tav tm="0">
                                          <p:val>
                                            <p:strVal val="ppt_x"/>
                                          </p:val>
                                        </p:tav>
                                        <p:tav tm="100000">
                                          <p:val>
                                            <p:strVal val="ppt_x"/>
                                          </p:val>
                                        </p:tav>
                                      </p:tavLst>
                                    </p:anim>
                                    <p:anim calcmode="lin" valueType="num">
                                      <p:cBhvr additive="base">
                                        <p:cTn id="69" dur="500"/>
                                        <p:tgtEl>
                                          <p:spTgt spid="74"/>
                                        </p:tgtEl>
                                        <p:attrNameLst>
                                          <p:attrName>ppt_y</p:attrName>
                                        </p:attrNameLst>
                                      </p:cBhvr>
                                      <p:tavLst>
                                        <p:tav tm="0">
                                          <p:val>
                                            <p:strVal val="ppt_y"/>
                                          </p:val>
                                        </p:tav>
                                        <p:tav tm="100000">
                                          <p:val>
                                            <p:strVal val="1+ppt_h/2"/>
                                          </p:val>
                                        </p:tav>
                                      </p:tavLst>
                                    </p:anim>
                                    <p:set>
                                      <p:cBhvr>
                                        <p:cTn id="70" dur="1" fill="hold">
                                          <p:stCondLst>
                                            <p:cond delay="499"/>
                                          </p:stCondLst>
                                        </p:cTn>
                                        <p:tgtEl>
                                          <p:spTgt spid="74"/>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75"/>
                                        </p:tgtEl>
                                        <p:attrNameLst>
                                          <p:attrName>style.visibility</p:attrName>
                                        </p:attrNameLst>
                                      </p:cBhvr>
                                      <p:to>
                                        <p:strVal val="visible"/>
                                      </p:to>
                                    </p:set>
                                    <p:anim calcmode="lin" valueType="num">
                                      <p:cBhvr additive="base">
                                        <p:cTn id="75" dur="500" fill="hold"/>
                                        <p:tgtEl>
                                          <p:spTgt spid="75"/>
                                        </p:tgtEl>
                                        <p:attrNameLst>
                                          <p:attrName>ppt_x</p:attrName>
                                        </p:attrNameLst>
                                      </p:cBhvr>
                                      <p:tavLst>
                                        <p:tav tm="0">
                                          <p:val>
                                            <p:strVal val="#ppt_x"/>
                                          </p:val>
                                        </p:tav>
                                        <p:tav tm="100000">
                                          <p:val>
                                            <p:strVal val="#ppt_x"/>
                                          </p:val>
                                        </p:tav>
                                      </p:tavLst>
                                    </p:anim>
                                    <p:anim calcmode="lin" valueType="num">
                                      <p:cBhvr additive="base">
                                        <p:cTn id="76"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78"/>
                                        </p:tgtEl>
                                        <p:attrNameLst>
                                          <p:attrName>style.visibility</p:attrName>
                                        </p:attrNameLst>
                                      </p:cBhvr>
                                      <p:to>
                                        <p:strVal val="visible"/>
                                      </p:to>
                                    </p:set>
                                    <p:anim calcmode="lin" valueType="num">
                                      <p:cBhvr additive="base">
                                        <p:cTn id="81" dur="500" fill="hold"/>
                                        <p:tgtEl>
                                          <p:spTgt spid="78"/>
                                        </p:tgtEl>
                                        <p:attrNameLst>
                                          <p:attrName>ppt_x</p:attrName>
                                        </p:attrNameLst>
                                      </p:cBhvr>
                                      <p:tavLst>
                                        <p:tav tm="0">
                                          <p:val>
                                            <p:strVal val="#ppt_x"/>
                                          </p:val>
                                        </p:tav>
                                        <p:tav tm="100000">
                                          <p:val>
                                            <p:strVal val="#ppt_x"/>
                                          </p:val>
                                        </p:tav>
                                      </p:tavLst>
                                    </p:anim>
                                    <p:anim calcmode="lin" valueType="num">
                                      <p:cBhvr additive="base">
                                        <p:cTn id="8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xit" presetSubtype="4" fill="hold" nodeType="clickEffect">
                                  <p:stCondLst>
                                    <p:cond delay="0"/>
                                  </p:stCondLst>
                                  <p:childTnLst>
                                    <p:anim calcmode="lin" valueType="num">
                                      <p:cBhvr additive="base">
                                        <p:cTn id="86" dur="500"/>
                                        <p:tgtEl>
                                          <p:spTgt spid="78"/>
                                        </p:tgtEl>
                                        <p:attrNameLst>
                                          <p:attrName>ppt_x</p:attrName>
                                        </p:attrNameLst>
                                      </p:cBhvr>
                                      <p:tavLst>
                                        <p:tav tm="0">
                                          <p:val>
                                            <p:strVal val="ppt_x"/>
                                          </p:val>
                                        </p:tav>
                                        <p:tav tm="100000">
                                          <p:val>
                                            <p:strVal val="ppt_x"/>
                                          </p:val>
                                        </p:tav>
                                      </p:tavLst>
                                    </p:anim>
                                    <p:anim calcmode="lin" valueType="num">
                                      <p:cBhvr additive="base">
                                        <p:cTn id="87" dur="500"/>
                                        <p:tgtEl>
                                          <p:spTgt spid="78"/>
                                        </p:tgtEl>
                                        <p:attrNameLst>
                                          <p:attrName>ppt_y</p:attrName>
                                        </p:attrNameLst>
                                      </p:cBhvr>
                                      <p:tavLst>
                                        <p:tav tm="0">
                                          <p:val>
                                            <p:strVal val="ppt_y"/>
                                          </p:val>
                                        </p:tav>
                                        <p:tav tm="100000">
                                          <p:val>
                                            <p:strVal val="1+ppt_h/2"/>
                                          </p:val>
                                        </p:tav>
                                      </p:tavLst>
                                    </p:anim>
                                    <p:set>
                                      <p:cBhvr>
                                        <p:cTn id="88" dur="1" fill="hold">
                                          <p:stCondLst>
                                            <p:cond delay="499"/>
                                          </p:stCondLst>
                                        </p:cTn>
                                        <p:tgtEl>
                                          <p:spTgt spid="78"/>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72"/>
                                        </p:tgtEl>
                                        <p:attrNameLst>
                                          <p:attrName>style.visibility</p:attrName>
                                        </p:attrNameLst>
                                      </p:cBhvr>
                                      <p:to>
                                        <p:strVal val="visible"/>
                                      </p:to>
                                    </p:set>
                                    <p:anim calcmode="lin" valueType="num">
                                      <p:cBhvr additive="base">
                                        <p:cTn id="93" dur="500" fill="hold"/>
                                        <p:tgtEl>
                                          <p:spTgt spid="72"/>
                                        </p:tgtEl>
                                        <p:attrNameLst>
                                          <p:attrName>ppt_x</p:attrName>
                                        </p:attrNameLst>
                                      </p:cBhvr>
                                      <p:tavLst>
                                        <p:tav tm="0">
                                          <p:val>
                                            <p:strVal val="#ppt_x"/>
                                          </p:val>
                                        </p:tav>
                                        <p:tav tm="100000">
                                          <p:val>
                                            <p:strVal val="#ppt_x"/>
                                          </p:val>
                                        </p:tav>
                                      </p:tavLst>
                                    </p:anim>
                                    <p:anim calcmode="lin" valueType="num">
                                      <p:cBhvr additive="base">
                                        <p:cTn id="94" dur="500" fill="hold"/>
                                        <p:tgtEl>
                                          <p:spTgt spid="72"/>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71"/>
                                        </p:tgtEl>
                                        <p:attrNameLst>
                                          <p:attrName>style.visibility</p:attrName>
                                        </p:attrNameLst>
                                      </p:cBhvr>
                                      <p:to>
                                        <p:strVal val="visible"/>
                                      </p:to>
                                    </p:set>
                                    <p:anim calcmode="lin" valueType="num">
                                      <p:cBhvr additive="base">
                                        <p:cTn id="97" dur="500" fill="hold"/>
                                        <p:tgtEl>
                                          <p:spTgt spid="71"/>
                                        </p:tgtEl>
                                        <p:attrNameLst>
                                          <p:attrName>ppt_x</p:attrName>
                                        </p:attrNameLst>
                                      </p:cBhvr>
                                      <p:tavLst>
                                        <p:tav tm="0">
                                          <p:val>
                                            <p:strVal val="#ppt_x"/>
                                          </p:val>
                                        </p:tav>
                                        <p:tav tm="100000">
                                          <p:val>
                                            <p:strVal val="#ppt_x"/>
                                          </p:val>
                                        </p:tav>
                                      </p:tavLst>
                                    </p:anim>
                                    <p:anim calcmode="lin" valueType="num">
                                      <p:cBhvr additive="base">
                                        <p:cTn id="98"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79"/>
                                        </p:tgtEl>
                                        <p:attrNameLst>
                                          <p:attrName>style.visibility</p:attrName>
                                        </p:attrNameLst>
                                      </p:cBhvr>
                                      <p:to>
                                        <p:strVal val="visible"/>
                                      </p:to>
                                    </p:set>
                                    <p:anim calcmode="lin" valueType="num">
                                      <p:cBhvr additive="base">
                                        <p:cTn id="103" dur="500" fill="hold"/>
                                        <p:tgtEl>
                                          <p:spTgt spid="79"/>
                                        </p:tgtEl>
                                        <p:attrNameLst>
                                          <p:attrName>ppt_x</p:attrName>
                                        </p:attrNameLst>
                                      </p:cBhvr>
                                      <p:tavLst>
                                        <p:tav tm="0">
                                          <p:val>
                                            <p:strVal val="#ppt_x"/>
                                          </p:val>
                                        </p:tav>
                                        <p:tav tm="100000">
                                          <p:val>
                                            <p:strVal val="#ppt_x"/>
                                          </p:val>
                                        </p:tav>
                                      </p:tavLst>
                                    </p:anim>
                                    <p:anim calcmode="lin" valueType="num">
                                      <p:cBhvr additive="base">
                                        <p:cTn id="104"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xit" presetSubtype="4" fill="hold" nodeType="clickEffect">
                                  <p:stCondLst>
                                    <p:cond delay="0"/>
                                  </p:stCondLst>
                                  <p:childTnLst>
                                    <p:anim calcmode="lin" valueType="num">
                                      <p:cBhvr additive="base">
                                        <p:cTn id="108" dur="500"/>
                                        <p:tgtEl>
                                          <p:spTgt spid="79"/>
                                        </p:tgtEl>
                                        <p:attrNameLst>
                                          <p:attrName>ppt_x</p:attrName>
                                        </p:attrNameLst>
                                      </p:cBhvr>
                                      <p:tavLst>
                                        <p:tav tm="0">
                                          <p:val>
                                            <p:strVal val="ppt_x"/>
                                          </p:val>
                                        </p:tav>
                                        <p:tav tm="100000">
                                          <p:val>
                                            <p:strVal val="ppt_x"/>
                                          </p:val>
                                        </p:tav>
                                      </p:tavLst>
                                    </p:anim>
                                    <p:anim calcmode="lin" valueType="num">
                                      <p:cBhvr additive="base">
                                        <p:cTn id="109" dur="500"/>
                                        <p:tgtEl>
                                          <p:spTgt spid="79"/>
                                        </p:tgtEl>
                                        <p:attrNameLst>
                                          <p:attrName>ppt_y</p:attrName>
                                        </p:attrNameLst>
                                      </p:cBhvr>
                                      <p:tavLst>
                                        <p:tav tm="0">
                                          <p:val>
                                            <p:strVal val="ppt_y"/>
                                          </p:val>
                                        </p:tav>
                                        <p:tav tm="100000">
                                          <p:val>
                                            <p:strVal val="1+ppt_h/2"/>
                                          </p:val>
                                        </p:tav>
                                      </p:tavLst>
                                    </p:anim>
                                    <p:set>
                                      <p:cBhvr>
                                        <p:cTn id="110" dur="1" fill="hold">
                                          <p:stCondLst>
                                            <p:cond delay="499"/>
                                          </p:stCondLst>
                                        </p:cTn>
                                        <p:tgtEl>
                                          <p:spTgt spid="7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9" grpId="0"/>
      <p:bldP spid="73" grpId="0"/>
      <p:bldP spid="75" grpId="0"/>
      <p:bldP spid="72" grpId="0"/>
      <p:bldP spid="7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6" name="文本框 5"/>
          <p:cNvSpPr txBox="1"/>
          <p:nvPr/>
        </p:nvSpPr>
        <p:spPr>
          <a:xfrm>
            <a:off x="755650" y="1083310"/>
            <a:ext cx="5606415" cy="405765"/>
          </a:xfrm>
          <a:prstGeom prst="rect">
            <a:avLst/>
          </a:prstGeom>
          <a:noFill/>
        </p:spPr>
        <p:txBody>
          <a:bodyPr>
            <a:noAutofit/>
          </a:bodyPr>
          <a:p>
            <a:pPr>
              <a:defRPr/>
            </a:pPr>
            <a:r>
              <a:rPr lang="en-US" altLang="zh-CN" sz="1800">
                <a:solidFill>
                  <a:srgbClr val="000066"/>
                </a:solidFill>
                <a:uFillTx/>
                <a:latin typeface="Times New Roman" panose="02020603050405020304" pitchFamily="18" charset="0"/>
              </a:rPr>
              <a:t>n</a:t>
            </a:r>
            <a:r>
              <a:rPr lang="zh-CN" altLang="en-US" sz="1800">
                <a:solidFill>
                  <a:srgbClr val="000066"/>
                </a:solidFill>
                <a:uFillTx/>
                <a:latin typeface="Times New Roman" panose="02020603050405020304" pitchFamily="18" charset="0"/>
              </a:rPr>
              <a:t>皇后模板</a:t>
            </a:r>
            <a:r>
              <a:rPr lang="en-US" altLang="zh-CN" sz="1800">
                <a:solidFill>
                  <a:srgbClr val="000066"/>
                </a:solidFill>
                <a:uFillTx/>
                <a:latin typeface="Times New Roman" panose="02020603050405020304" pitchFamily="18" charset="0"/>
              </a:rPr>
              <a:t> </a:t>
            </a:r>
            <a:endParaRPr lang="en-US" altLang="zh-CN" sz="1800">
              <a:solidFill>
                <a:srgbClr val="000066"/>
              </a:solidFill>
              <a:uFillTx/>
              <a:latin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3273425" y="1700530"/>
            <a:ext cx="3962400" cy="3648075"/>
          </a:xfrm>
          <a:prstGeom prst="rect">
            <a:avLst/>
          </a:prstGeom>
        </p:spPr>
      </p:pic>
      <p:sp>
        <p:nvSpPr>
          <p:cNvPr id="2" name="文本框 1"/>
          <p:cNvSpPr txBox="1"/>
          <p:nvPr/>
        </p:nvSpPr>
        <p:spPr>
          <a:xfrm>
            <a:off x="554990" y="5704840"/>
            <a:ext cx="5606415" cy="405765"/>
          </a:xfrm>
          <a:prstGeom prst="rect">
            <a:avLst/>
          </a:prstGeom>
          <a:noFill/>
        </p:spPr>
        <p:txBody>
          <a:bodyPr>
            <a:noAutofit/>
          </a:bodyPr>
          <a:p>
            <a:pPr>
              <a:defRPr/>
            </a:pPr>
            <a:r>
              <a:rPr lang="zh-CN" altLang="en-US" sz="1800">
                <a:solidFill>
                  <a:srgbClr val="000066"/>
                </a:solidFill>
                <a:uFillTx/>
                <a:latin typeface="Times New Roman" panose="02020603050405020304" pitchFamily="18" charset="0"/>
              </a:rPr>
              <a:t>现在问题的关键是，如何找到合适的方法来剪枝？</a:t>
            </a:r>
            <a:r>
              <a:rPr lang="en-US" altLang="zh-CN" sz="1800">
                <a:solidFill>
                  <a:srgbClr val="000066"/>
                </a:solidFill>
                <a:uFillTx/>
                <a:latin typeface="Times New Roman" panose="02020603050405020304" pitchFamily="18" charset="0"/>
              </a:rPr>
              <a:t> </a:t>
            </a:r>
            <a:endParaRPr lang="en-US" altLang="zh-CN" sz="1800">
              <a:solidFill>
                <a:srgbClr val="000066"/>
              </a:solidFill>
              <a:uFillTx/>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graphicFrame>
        <p:nvGraphicFramePr>
          <p:cNvPr id="79" name="表格 78"/>
          <p:cNvGraphicFramePr/>
          <p:nvPr>
            <p:custDataLst>
              <p:tags r:id="rId1"/>
            </p:custDataLst>
          </p:nvPr>
        </p:nvGraphicFramePr>
        <p:xfrm>
          <a:off x="5723890" y="3140710"/>
          <a:ext cx="2062480" cy="1539240"/>
        </p:xfrm>
        <a:graphic>
          <a:graphicData uri="http://schemas.openxmlformats.org/drawingml/2006/table">
            <a:tbl>
              <a:tblPr firstRow="1" bandRow="1">
                <a:tableStyleId>{5C22544A-7EE6-4342-B048-85BDC9FD1C3A}</a:tableStyleId>
              </a:tblPr>
              <a:tblGrid>
                <a:gridCol w="515620"/>
                <a:gridCol w="515620"/>
                <a:gridCol w="515620"/>
                <a:gridCol w="515620"/>
              </a:tblGrid>
              <a:tr h="384810">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4810">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b="1">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4810">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b="1">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84810">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bl>
          </a:graphicData>
        </a:graphic>
      </p:graphicFrame>
      <p:sp>
        <p:nvSpPr>
          <p:cNvPr id="3" name="文本框 2"/>
          <p:cNvSpPr txBox="1"/>
          <p:nvPr/>
        </p:nvSpPr>
        <p:spPr>
          <a:xfrm>
            <a:off x="539115" y="1268730"/>
            <a:ext cx="7682230" cy="504190"/>
          </a:xfrm>
          <a:prstGeom prst="rect">
            <a:avLst/>
          </a:prstGeom>
          <a:noFill/>
        </p:spPr>
        <p:txBody>
          <a:bodyPr wrap="square" rtlCol="0">
            <a:noAutofit/>
          </a:bodyPr>
          <a:p>
            <a:r>
              <a:rPr lang="zh-CN" altLang="en-US"/>
              <a:t>因为，行是递归深度，每次都考虑一个所以不需要考虑行的剪枝</a:t>
            </a:r>
            <a:r>
              <a:rPr lang="zh-CN" altLang="en-US"/>
              <a:t>判断。</a:t>
            </a:r>
            <a:endParaRPr lang="zh-CN" altLang="en-US"/>
          </a:p>
        </p:txBody>
      </p:sp>
      <p:sp>
        <p:nvSpPr>
          <p:cNvPr id="5" name="文本框 4"/>
          <p:cNvSpPr txBox="1"/>
          <p:nvPr/>
        </p:nvSpPr>
        <p:spPr>
          <a:xfrm>
            <a:off x="539115" y="1700530"/>
            <a:ext cx="7682230" cy="504190"/>
          </a:xfrm>
          <a:prstGeom prst="rect">
            <a:avLst/>
          </a:prstGeom>
          <a:noFill/>
        </p:spPr>
        <p:txBody>
          <a:bodyPr wrap="square" rtlCol="0">
            <a:noAutofit/>
          </a:bodyPr>
          <a:p>
            <a:r>
              <a:rPr lang="zh-CN" altLang="en-US"/>
              <a:t>因为，列是总共有</a:t>
            </a:r>
            <a:r>
              <a:rPr lang="en-US" altLang="zh-CN"/>
              <a:t>4</a:t>
            </a:r>
            <a:r>
              <a:rPr lang="zh-CN" altLang="en-US"/>
              <a:t>列，可以用一个长度为</a:t>
            </a:r>
            <a:r>
              <a:rPr lang="en-US" altLang="zh-CN"/>
              <a:t>4</a:t>
            </a:r>
            <a:r>
              <a:rPr lang="zh-CN" altLang="en-US"/>
              <a:t>数组，标记是否可以放置</a:t>
            </a:r>
            <a:r>
              <a:rPr lang="zh-CN" altLang="en-US"/>
              <a:t>皇后</a:t>
            </a:r>
            <a:endParaRPr lang="zh-CN" altLang="en-US"/>
          </a:p>
        </p:txBody>
      </p:sp>
      <p:sp>
        <p:nvSpPr>
          <p:cNvPr id="8" name="文本框 7"/>
          <p:cNvSpPr txBox="1"/>
          <p:nvPr/>
        </p:nvSpPr>
        <p:spPr>
          <a:xfrm>
            <a:off x="5723890" y="2780665"/>
            <a:ext cx="2472690" cy="367665"/>
          </a:xfrm>
          <a:prstGeom prst="rect">
            <a:avLst/>
          </a:prstGeom>
          <a:noFill/>
        </p:spPr>
        <p:txBody>
          <a:bodyPr wrap="square" rtlCol="0">
            <a:noAutofit/>
          </a:bodyPr>
          <a:p>
            <a:r>
              <a:rPr lang="en-US" altLang="zh-CN">
                <a:solidFill>
                  <a:schemeClr val="tx1"/>
                </a:solidFill>
                <a:uFillTx/>
                <a:latin typeface="Times New Roman" panose="02020603050405020304" pitchFamily="18" charset="0"/>
              </a:rPr>
              <a:t>0        1          2          3</a:t>
            </a:r>
            <a:endParaRPr lang="en-US" altLang="zh-CN">
              <a:solidFill>
                <a:schemeClr val="tx1"/>
              </a:solidFill>
              <a:uFillTx/>
              <a:latin typeface="Times New Roman" panose="02020603050405020304" pitchFamily="18" charset="0"/>
            </a:endParaRPr>
          </a:p>
        </p:txBody>
      </p:sp>
      <p:sp>
        <p:nvSpPr>
          <p:cNvPr id="9" name="文本框 8"/>
          <p:cNvSpPr txBox="1"/>
          <p:nvPr/>
        </p:nvSpPr>
        <p:spPr>
          <a:xfrm>
            <a:off x="5436235" y="3140710"/>
            <a:ext cx="354330" cy="361315"/>
          </a:xfrm>
          <a:prstGeom prst="rect">
            <a:avLst/>
          </a:prstGeom>
          <a:noFill/>
        </p:spPr>
        <p:txBody>
          <a:bodyPr wrap="square" rtlCol="0">
            <a:noAutofit/>
          </a:bodyPr>
          <a:p>
            <a:r>
              <a:rPr lang="en-US" altLang="zh-CN">
                <a:solidFill>
                  <a:schemeClr val="tx1"/>
                </a:solidFill>
                <a:uFillTx/>
                <a:latin typeface="Times New Roman" panose="02020603050405020304" pitchFamily="18" charset="0"/>
              </a:rPr>
              <a:t>0  </a:t>
            </a:r>
            <a:endParaRPr lang="en-US" altLang="zh-CN">
              <a:solidFill>
                <a:schemeClr val="tx1"/>
              </a:solidFill>
              <a:uFillTx/>
              <a:latin typeface="Times New Roman" panose="02020603050405020304" pitchFamily="18" charset="0"/>
            </a:endParaRPr>
          </a:p>
          <a:p>
            <a:endParaRPr lang="en-US" altLang="zh-CN">
              <a:solidFill>
                <a:schemeClr val="tx1"/>
              </a:solidFill>
              <a:uFillTx/>
              <a:latin typeface="Times New Roman" panose="02020603050405020304" pitchFamily="18" charset="0"/>
            </a:endParaRPr>
          </a:p>
        </p:txBody>
      </p:sp>
      <p:sp>
        <p:nvSpPr>
          <p:cNvPr id="10" name="文本框 9"/>
          <p:cNvSpPr txBox="1"/>
          <p:nvPr/>
        </p:nvSpPr>
        <p:spPr>
          <a:xfrm>
            <a:off x="5436235" y="4293870"/>
            <a:ext cx="366395" cy="384810"/>
          </a:xfrm>
          <a:prstGeom prst="rect">
            <a:avLst/>
          </a:prstGeom>
          <a:noFill/>
        </p:spPr>
        <p:txBody>
          <a:bodyPr wrap="square" rtlCol="0" anchor="t">
            <a:noAutofit/>
          </a:bodyPr>
          <a:p>
            <a:r>
              <a:rPr lang="en-US" altLang="zh-CN">
                <a:uFillTx/>
                <a:latin typeface="Times New Roman" panose="02020603050405020304" pitchFamily="18" charset="0"/>
                <a:sym typeface="+mn-ea"/>
              </a:rPr>
              <a:t>3</a:t>
            </a:r>
            <a:endParaRPr lang="en-US" altLang="zh-CN">
              <a:uFillTx/>
              <a:latin typeface="Times New Roman" panose="02020603050405020304" pitchFamily="18" charset="0"/>
              <a:sym typeface="+mn-ea"/>
            </a:endParaRPr>
          </a:p>
        </p:txBody>
      </p:sp>
      <p:sp>
        <p:nvSpPr>
          <p:cNvPr id="11" name="文本框 10"/>
          <p:cNvSpPr txBox="1"/>
          <p:nvPr/>
        </p:nvSpPr>
        <p:spPr>
          <a:xfrm>
            <a:off x="5436235" y="3535680"/>
            <a:ext cx="410845" cy="325755"/>
          </a:xfrm>
          <a:prstGeom prst="rect">
            <a:avLst/>
          </a:prstGeom>
          <a:noFill/>
        </p:spPr>
        <p:txBody>
          <a:bodyPr wrap="square" rtlCol="0" anchor="t">
            <a:noAutofit/>
          </a:bodyPr>
          <a:p>
            <a:r>
              <a:rPr lang="en-US" altLang="zh-CN">
                <a:uFillTx/>
                <a:latin typeface="Times New Roman" panose="02020603050405020304" pitchFamily="18" charset="0"/>
                <a:sym typeface="+mn-ea"/>
              </a:rPr>
              <a:t>1</a:t>
            </a:r>
            <a:endParaRPr lang="en-US" altLang="zh-CN">
              <a:uFillTx/>
              <a:latin typeface="Times New Roman" panose="02020603050405020304" pitchFamily="18" charset="0"/>
              <a:sym typeface="+mn-ea"/>
            </a:endParaRPr>
          </a:p>
        </p:txBody>
      </p:sp>
      <p:sp>
        <p:nvSpPr>
          <p:cNvPr id="12" name="文本框 11"/>
          <p:cNvSpPr txBox="1"/>
          <p:nvPr/>
        </p:nvSpPr>
        <p:spPr>
          <a:xfrm>
            <a:off x="5435600" y="3932555"/>
            <a:ext cx="354965" cy="269240"/>
          </a:xfrm>
          <a:prstGeom prst="rect">
            <a:avLst/>
          </a:prstGeom>
          <a:noFill/>
        </p:spPr>
        <p:txBody>
          <a:bodyPr wrap="square" rtlCol="0" anchor="t">
            <a:noAutofit/>
          </a:bodyPr>
          <a:p>
            <a:r>
              <a:rPr lang="en-US" altLang="zh-CN">
                <a:uFillTx/>
                <a:latin typeface="Times New Roman" panose="02020603050405020304" pitchFamily="18" charset="0"/>
                <a:sym typeface="+mn-ea"/>
              </a:rPr>
              <a:t>2 </a:t>
            </a:r>
            <a:endParaRPr lang="en-US" altLang="zh-CN">
              <a:uFillTx/>
              <a:latin typeface="Times New Roman" panose="02020603050405020304" pitchFamily="18" charset="0"/>
              <a:sym typeface="+mn-ea"/>
            </a:endParaRPr>
          </a:p>
        </p:txBody>
      </p:sp>
      <p:cxnSp>
        <p:nvCxnSpPr>
          <p:cNvPr id="13" name="直接连接符 12"/>
          <p:cNvCxnSpPr/>
          <p:nvPr/>
        </p:nvCxnSpPr>
        <p:spPr>
          <a:xfrm>
            <a:off x="7411720" y="3020060"/>
            <a:ext cx="616585" cy="552450"/>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14" name="直接连接符 13"/>
          <p:cNvCxnSpPr/>
          <p:nvPr/>
        </p:nvCxnSpPr>
        <p:spPr>
          <a:xfrm>
            <a:off x="6732270" y="3068320"/>
            <a:ext cx="1151890" cy="984885"/>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15" name="直接连接符 14"/>
          <p:cNvCxnSpPr/>
          <p:nvPr/>
        </p:nvCxnSpPr>
        <p:spPr>
          <a:xfrm>
            <a:off x="6228080" y="3068320"/>
            <a:ext cx="1728470" cy="1369060"/>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16" name="直接连接符 15"/>
          <p:cNvCxnSpPr/>
          <p:nvPr/>
        </p:nvCxnSpPr>
        <p:spPr>
          <a:xfrm>
            <a:off x="5723890" y="3140710"/>
            <a:ext cx="2016125" cy="1511935"/>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17" name="直接连接符 16"/>
          <p:cNvCxnSpPr/>
          <p:nvPr/>
        </p:nvCxnSpPr>
        <p:spPr>
          <a:xfrm>
            <a:off x="5579745" y="3428365"/>
            <a:ext cx="1728470" cy="1369060"/>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18" name="直接连接符 17"/>
          <p:cNvCxnSpPr/>
          <p:nvPr/>
        </p:nvCxnSpPr>
        <p:spPr>
          <a:xfrm>
            <a:off x="5579745" y="4272915"/>
            <a:ext cx="616585" cy="552450"/>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19" name="直接连接符 18"/>
          <p:cNvCxnSpPr/>
          <p:nvPr/>
        </p:nvCxnSpPr>
        <p:spPr>
          <a:xfrm>
            <a:off x="5580380" y="3860800"/>
            <a:ext cx="1151890" cy="984885"/>
          </a:xfrm>
          <a:prstGeom prst="line">
            <a:avLst/>
          </a:prstGeom>
          <a:solidFill>
            <a:schemeClr val="accent1"/>
          </a:solidFill>
          <a:ln w="19050" cap="flat" cmpd="sng" algn="ctr">
            <a:solidFill>
              <a:srgbClr val="FF0000"/>
            </a:solidFill>
            <a:prstDash val="solid"/>
            <a:round/>
            <a:headEnd type="none" w="med" len="med"/>
            <a:tailEnd type="none" w="med" len="med"/>
          </a:ln>
        </p:spPr>
      </p:cxnSp>
      <p:graphicFrame>
        <p:nvGraphicFramePr>
          <p:cNvPr id="20" name="表格 19"/>
          <p:cNvGraphicFramePr/>
          <p:nvPr>
            <p:custDataLst>
              <p:tags r:id="rId2"/>
            </p:custDataLst>
          </p:nvPr>
        </p:nvGraphicFramePr>
        <p:xfrm>
          <a:off x="1266190" y="2996565"/>
          <a:ext cx="1983740" cy="1513840"/>
        </p:xfrm>
        <a:graphic>
          <a:graphicData uri="http://schemas.openxmlformats.org/drawingml/2006/table">
            <a:tbl>
              <a:tblPr firstRow="1" bandRow="1">
                <a:tableStyleId>{5C22544A-7EE6-4342-B048-85BDC9FD1C3A}</a:tableStyleId>
              </a:tblPr>
              <a:tblGrid>
                <a:gridCol w="495935"/>
                <a:gridCol w="495935"/>
                <a:gridCol w="495935"/>
                <a:gridCol w="495935"/>
              </a:tblGrid>
              <a:tr h="378460">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78460">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b="1">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zh-CN" altLang="en-US">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78460">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b="1">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r h="378460">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c>
                  <a:txBody>
                    <a:bodyPr/>
                    <a:p>
                      <a:pPr>
                        <a:buNone/>
                      </a:pPr>
                      <a:endParaRPr lang="en-US" altLang="zh-CN">
                        <a:solidFill>
                          <a:srgbClr val="FF0000"/>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0000">
                        <a:alpha val="0"/>
                      </a:srgbClr>
                    </a:solidFill>
                  </a:tcPr>
                </a:tc>
              </a:tr>
            </a:tbl>
          </a:graphicData>
        </a:graphic>
      </p:graphicFrame>
      <p:sp>
        <p:nvSpPr>
          <p:cNvPr id="21" name="文本框 20"/>
          <p:cNvSpPr txBox="1"/>
          <p:nvPr/>
        </p:nvSpPr>
        <p:spPr>
          <a:xfrm>
            <a:off x="1187450" y="2636520"/>
            <a:ext cx="2472690" cy="367665"/>
          </a:xfrm>
          <a:prstGeom prst="rect">
            <a:avLst/>
          </a:prstGeom>
          <a:noFill/>
        </p:spPr>
        <p:txBody>
          <a:bodyPr wrap="square" rtlCol="0">
            <a:noAutofit/>
          </a:bodyPr>
          <a:p>
            <a:r>
              <a:rPr lang="en-US" altLang="zh-CN">
                <a:solidFill>
                  <a:schemeClr val="tx1"/>
                </a:solidFill>
                <a:uFillTx/>
                <a:latin typeface="Times New Roman" panose="02020603050405020304" pitchFamily="18" charset="0"/>
              </a:rPr>
              <a:t>0        1          2          3</a:t>
            </a:r>
            <a:endParaRPr lang="en-US" altLang="zh-CN">
              <a:solidFill>
                <a:schemeClr val="tx1"/>
              </a:solidFill>
              <a:uFillTx/>
              <a:latin typeface="Times New Roman" panose="02020603050405020304" pitchFamily="18" charset="0"/>
            </a:endParaRPr>
          </a:p>
        </p:txBody>
      </p:sp>
      <p:sp>
        <p:nvSpPr>
          <p:cNvPr id="22" name="文本框 21"/>
          <p:cNvSpPr txBox="1"/>
          <p:nvPr/>
        </p:nvSpPr>
        <p:spPr>
          <a:xfrm>
            <a:off x="899795" y="2996565"/>
            <a:ext cx="354330" cy="361315"/>
          </a:xfrm>
          <a:prstGeom prst="rect">
            <a:avLst/>
          </a:prstGeom>
          <a:noFill/>
        </p:spPr>
        <p:txBody>
          <a:bodyPr wrap="square" rtlCol="0">
            <a:noAutofit/>
          </a:bodyPr>
          <a:p>
            <a:r>
              <a:rPr lang="en-US" altLang="zh-CN">
                <a:solidFill>
                  <a:schemeClr val="tx1"/>
                </a:solidFill>
                <a:uFillTx/>
                <a:latin typeface="Times New Roman" panose="02020603050405020304" pitchFamily="18" charset="0"/>
              </a:rPr>
              <a:t>0  </a:t>
            </a:r>
            <a:endParaRPr lang="en-US" altLang="zh-CN">
              <a:solidFill>
                <a:schemeClr val="tx1"/>
              </a:solidFill>
              <a:uFillTx/>
              <a:latin typeface="Times New Roman" panose="02020603050405020304" pitchFamily="18" charset="0"/>
            </a:endParaRPr>
          </a:p>
          <a:p>
            <a:endParaRPr lang="en-US" altLang="zh-CN">
              <a:solidFill>
                <a:schemeClr val="tx1"/>
              </a:solidFill>
              <a:uFillTx/>
              <a:latin typeface="Times New Roman" panose="02020603050405020304" pitchFamily="18" charset="0"/>
            </a:endParaRPr>
          </a:p>
        </p:txBody>
      </p:sp>
      <p:sp>
        <p:nvSpPr>
          <p:cNvPr id="23" name="文本框 22"/>
          <p:cNvSpPr txBox="1"/>
          <p:nvPr/>
        </p:nvSpPr>
        <p:spPr>
          <a:xfrm>
            <a:off x="899795" y="4149725"/>
            <a:ext cx="366395" cy="384810"/>
          </a:xfrm>
          <a:prstGeom prst="rect">
            <a:avLst/>
          </a:prstGeom>
          <a:noFill/>
        </p:spPr>
        <p:txBody>
          <a:bodyPr wrap="square" rtlCol="0" anchor="t">
            <a:noAutofit/>
          </a:bodyPr>
          <a:p>
            <a:r>
              <a:rPr lang="en-US" altLang="zh-CN">
                <a:uFillTx/>
                <a:latin typeface="Times New Roman" panose="02020603050405020304" pitchFamily="18" charset="0"/>
                <a:sym typeface="+mn-ea"/>
              </a:rPr>
              <a:t>3</a:t>
            </a:r>
            <a:endParaRPr lang="en-US" altLang="zh-CN">
              <a:uFillTx/>
              <a:latin typeface="Times New Roman" panose="02020603050405020304" pitchFamily="18" charset="0"/>
              <a:sym typeface="+mn-ea"/>
            </a:endParaRPr>
          </a:p>
        </p:txBody>
      </p:sp>
      <p:sp>
        <p:nvSpPr>
          <p:cNvPr id="24" name="文本框 23"/>
          <p:cNvSpPr txBox="1"/>
          <p:nvPr/>
        </p:nvSpPr>
        <p:spPr>
          <a:xfrm>
            <a:off x="899795" y="3391535"/>
            <a:ext cx="410845" cy="325755"/>
          </a:xfrm>
          <a:prstGeom prst="rect">
            <a:avLst/>
          </a:prstGeom>
          <a:noFill/>
        </p:spPr>
        <p:txBody>
          <a:bodyPr wrap="square" rtlCol="0" anchor="t">
            <a:noAutofit/>
          </a:bodyPr>
          <a:p>
            <a:r>
              <a:rPr lang="en-US" altLang="zh-CN">
                <a:uFillTx/>
                <a:latin typeface="Times New Roman" panose="02020603050405020304" pitchFamily="18" charset="0"/>
                <a:sym typeface="+mn-ea"/>
              </a:rPr>
              <a:t>1</a:t>
            </a:r>
            <a:endParaRPr lang="en-US" altLang="zh-CN">
              <a:uFillTx/>
              <a:latin typeface="Times New Roman" panose="02020603050405020304" pitchFamily="18" charset="0"/>
              <a:sym typeface="+mn-ea"/>
            </a:endParaRPr>
          </a:p>
        </p:txBody>
      </p:sp>
      <p:sp>
        <p:nvSpPr>
          <p:cNvPr id="25" name="文本框 24"/>
          <p:cNvSpPr txBox="1"/>
          <p:nvPr/>
        </p:nvSpPr>
        <p:spPr>
          <a:xfrm>
            <a:off x="899160" y="3788410"/>
            <a:ext cx="354965" cy="269240"/>
          </a:xfrm>
          <a:prstGeom prst="rect">
            <a:avLst/>
          </a:prstGeom>
          <a:noFill/>
        </p:spPr>
        <p:txBody>
          <a:bodyPr wrap="square" rtlCol="0" anchor="t">
            <a:noAutofit/>
          </a:bodyPr>
          <a:p>
            <a:r>
              <a:rPr lang="en-US" altLang="zh-CN">
                <a:uFillTx/>
                <a:latin typeface="Times New Roman" panose="02020603050405020304" pitchFamily="18" charset="0"/>
                <a:sym typeface="+mn-ea"/>
              </a:rPr>
              <a:t>2 </a:t>
            </a:r>
            <a:endParaRPr lang="en-US" altLang="zh-CN">
              <a:uFillTx/>
              <a:latin typeface="Times New Roman" panose="02020603050405020304" pitchFamily="18" charset="0"/>
              <a:sym typeface="+mn-ea"/>
            </a:endParaRPr>
          </a:p>
        </p:txBody>
      </p:sp>
      <p:cxnSp>
        <p:nvCxnSpPr>
          <p:cNvPr id="26" name="直接连接符 25"/>
          <p:cNvCxnSpPr/>
          <p:nvPr/>
        </p:nvCxnSpPr>
        <p:spPr>
          <a:xfrm flipH="1">
            <a:off x="1259205" y="2996565"/>
            <a:ext cx="504190" cy="432435"/>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33" name="直接连接符 32"/>
          <p:cNvCxnSpPr>
            <a:stCxn id="20" idx="0"/>
          </p:cNvCxnSpPr>
          <p:nvPr/>
        </p:nvCxnSpPr>
        <p:spPr>
          <a:xfrm flipH="1">
            <a:off x="1266190" y="2996565"/>
            <a:ext cx="991870" cy="769620"/>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34" name="直接连接符 33"/>
          <p:cNvCxnSpPr/>
          <p:nvPr/>
        </p:nvCxnSpPr>
        <p:spPr>
          <a:xfrm flipH="1">
            <a:off x="1254125" y="2996565"/>
            <a:ext cx="1517650" cy="1117600"/>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35" name="直接连接符 34"/>
          <p:cNvCxnSpPr/>
          <p:nvPr/>
        </p:nvCxnSpPr>
        <p:spPr>
          <a:xfrm flipH="1">
            <a:off x="1259205" y="3018155"/>
            <a:ext cx="1971040" cy="1490980"/>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36" name="直接连接符 35"/>
          <p:cNvCxnSpPr/>
          <p:nvPr/>
        </p:nvCxnSpPr>
        <p:spPr>
          <a:xfrm flipH="1">
            <a:off x="1763395" y="3388360"/>
            <a:ext cx="1517650" cy="1117600"/>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37" name="直接连接符 36"/>
          <p:cNvCxnSpPr/>
          <p:nvPr/>
        </p:nvCxnSpPr>
        <p:spPr>
          <a:xfrm flipH="1">
            <a:off x="2258060" y="3736340"/>
            <a:ext cx="991870" cy="769620"/>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38" name="直接连接符 37"/>
          <p:cNvCxnSpPr/>
          <p:nvPr/>
        </p:nvCxnSpPr>
        <p:spPr>
          <a:xfrm flipH="1">
            <a:off x="2771775" y="4114165"/>
            <a:ext cx="504190" cy="432435"/>
          </a:xfrm>
          <a:prstGeom prst="line">
            <a:avLst/>
          </a:prstGeom>
          <a:solidFill>
            <a:schemeClr val="accent1"/>
          </a:solidFill>
          <a:ln w="19050" cap="flat" cmpd="sng" algn="ctr">
            <a:solidFill>
              <a:srgbClr val="FF0000"/>
            </a:solidFill>
            <a:prstDash val="solid"/>
            <a:round/>
            <a:headEnd type="none" w="med" len="med"/>
            <a:tailEnd type="none" w="med" len="med"/>
          </a:ln>
        </p:spPr>
      </p:cxnSp>
      <p:sp>
        <p:nvSpPr>
          <p:cNvPr id="40" name="文本框 39"/>
          <p:cNvSpPr txBox="1"/>
          <p:nvPr/>
        </p:nvSpPr>
        <p:spPr>
          <a:xfrm>
            <a:off x="611505" y="2240280"/>
            <a:ext cx="7682230" cy="504190"/>
          </a:xfrm>
          <a:prstGeom prst="rect">
            <a:avLst/>
          </a:prstGeom>
          <a:noFill/>
        </p:spPr>
        <p:txBody>
          <a:bodyPr wrap="square" rtlCol="0">
            <a:noAutofit/>
          </a:bodyPr>
          <a:p>
            <a:r>
              <a:rPr lang="zh-CN" altLang="en-US"/>
              <a:t>最困难的是主对角线和副对角线如何</a:t>
            </a:r>
            <a:r>
              <a:rPr lang="zh-CN" altLang="en-US"/>
              <a:t>判断？</a:t>
            </a:r>
            <a:endParaRPr lang="zh-CN" altLang="en-US"/>
          </a:p>
        </p:txBody>
      </p:sp>
      <p:sp>
        <p:nvSpPr>
          <p:cNvPr id="41" name="文本框 40"/>
          <p:cNvSpPr txBox="1"/>
          <p:nvPr/>
        </p:nvSpPr>
        <p:spPr>
          <a:xfrm>
            <a:off x="7884160" y="4317365"/>
            <a:ext cx="354330" cy="361315"/>
          </a:xfrm>
          <a:prstGeom prst="rect">
            <a:avLst/>
          </a:prstGeom>
          <a:noFill/>
        </p:spPr>
        <p:txBody>
          <a:bodyPr wrap="square" rtlCol="0">
            <a:noAutofit/>
          </a:bodyPr>
          <a:p>
            <a:r>
              <a:rPr lang="en-US" altLang="zh-CN">
                <a:solidFill>
                  <a:schemeClr val="tx1"/>
                </a:solidFill>
                <a:uFillTx/>
                <a:latin typeface="Times New Roman" panose="02020603050405020304" pitchFamily="18" charset="0"/>
              </a:rPr>
              <a:t>0  </a:t>
            </a:r>
            <a:endParaRPr lang="en-US" altLang="zh-CN">
              <a:solidFill>
                <a:schemeClr val="tx1"/>
              </a:solidFill>
              <a:uFillTx/>
              <a:latin typeface="Times New Roman" panose="02020603050405020304" pitchFamily="18" charset="0"/>
            </a:endParaRPr>
          </a:p>
          <a:p>
            <a:endParaRPr lang="en-US" altLang="zh-CN">
              <a:solidFill>
                <a:schemeClr val="tx1"/>
              </a:solidFill>
              <a:uFillTx/>
              <a:latin typeface="Times New Roman" panose="02020603050405020304" pitchFamily="18" charset="0"/>
            </a:endParaRPr>
          </a:p>
        </p:txBody>
      </p:sp>
      <p:sp>
        <p:nvSpPr>
          <p:cNvPr id="42" name="文本框 41"/>
          <p:cNvSpPr txBox="1"/>
          <p:nvPr/>
        </p:nvSpPr>
        <p:spPr>
          <a:xfrm>
            <a:off x="7884160" y="3950335"/>
            <a:ext cx="410845" cy="325755"/>
          </a:xfrm>
          <a:prstGeom prst="rect">
            <a:avLst/>
          </a:prstGeom>
          <a:noFill/>
        </p:spPr>
        <p:txBody>
          <a:bodyPr wrap="square" rtlCol="0" anchor="t">
            <a:noAutofit/>
          </a:bodyPr>
          <a:p>
            <a:r>
              <a:rPr lang="en-US" altLang="zh-CN">
                <a:uFillTx/>
                <a:latin typeface="Times New Roman" panose="02020603050405020304" pitchFamily="18" charset="0"/>
                <a:sym typeface="+mn-ea"/>
              </a:rPr>
              <a:t>1</a:t>
            </a:r>
            <a:endParaRPr lang="en-US" altLang="zh-CN">
              <a:uFillTx/>
              <a:latin typeface="Times New Roman" panose="02020603050405020304" pitchFamily="18" charset="0"/>
              <a:sym typeface="+mn-ea"/>
            </a:endParaRPr>
          </a:p>
        </p:txBody>
      </p:sp>
      <p:sp>
        <p:nvSpPr>
          <p:cNvPr id="43" name="文本框 42"/>
          <p:cNvSpPr txBox="1"/>
          <p:nvPr/>
        </p:nvSpPr>
        <p:spPr>
          <a:xfrm>
            <a:off x="7866380" y="3572510"/>
            <a:ext cx="354965" cy="269240"/>
          </a:xfrm>
          <a:prstGeom prst="rect">
            <a:avLst/>
          </a:prstGeom>
          <a:noFill/>
        </p:spPr>
        <p:txBody>
          <a:bodyPr wrap="square" rtlCol="0" anchor="t">
            <a:noAutofit/>
          </a:bodyPr>
          <a:p>
            <a:r>
              <a:rPr lang="en-US" altLang="zh-CN">
                <a:uFillTx/>
                <a:latin typeface="Times New Roman" panose="02020603050405020304" pitchFamily="18" charset="0"/>
                <a:sym typeface="+mn-ea"/>
              </a:rPr>
              <a:t>2 </a:t>
            </a:r>
            <a:endParaRPr lang="en-US" altLang="zh-CN">
              <a:uFillTx/>
              <a:latin typeface="Times New Roman" panose="02020603050405020304" pitchFamily="18" charset="0"/>
              <a:sym typeface="+mn-ea"/>
            </a:endParaRPr>
          </a:p>
        </p:txBody>
      </p:sp>
      <p:sp>
        <p:nvSpPr>
          <p:cNvPr id="44" name="文本框 43"/>
          <p:cNvSpPr txBox="1"/>
          <p:nvPr/>
        </p:nvSpPr>
        <p:spPr>
          <a:xfrm>
            <a:off x="7854950" y="3149600"/>
            <a:ext cx="366395" cy="384810"/>
          </a:xfrm>
          <a:prstGeom prst="rect">
            <a:avLst/>
          </a:prstGeom>
          <a:noFill/>
        </p:spPr>
        <p:txBody>
          <a:bodyPr wrap="square" rtlCol="0" anchor="t">
            <a:noAutofit/>
          </a:bodyPr>
          <a:p>
            <a:r>
              <a:rPr lang="en-US" altLang="zh-CN">
                <a:uFillTx/>
                <a:latin typeface="Times New Roman" panose="02020603050405020304" pitchFamily="18" charset="0"/>
                <a:sym typeface="+mn-ea"/>
              </a:rPr>
              <a:t>3</a:t>
            </a:r>
            <a:endParaRPr lang="en-US" altLang="zh-CN">
              <a:uFillTx/>
              <a:latin typeface="Times New Roman" panose="02020603050405020304" pitchFamily="18" charset="0"/>
              <a:sym typeface="+mn-ea"/>
            </a:endParaRPr>
          </a:p>
        </p:txBody>
      </p:sp>
      <p:sp>
        <p:nvSpPr>
          <p:cNvPr id="45" name="文本框 44"/>
          <p:cNvSpPr txBox="1"/>
          <p:nvPr/>
        </p:nvSpPr>
        <p:spPr>
          <a:xfrm>
            <a:off x="1085850" y="5100955"/>
            <a:ext cx="1308100" cy="342265"/>
          </a:xfrm>
          <a:prstGeom prst="rect">
            <a:avLst/>
          </a:prstGeom>
          <a:noFill/>
        </p:spPr>
        <p:txBody>
          <a:bodyPr wrap="square" rtlCol="0">
            <a:noAutofit/>
          </a:bodyPr>
          <a:p>
            <a:r>
              <a:rPr lang="en-US" altLang="zh-CN">
                <a:latin typeface="Times New Roman" panose="02020603050405020304" pitchFamily="18" charset="0"/>
                <a:cs typeface="Times New Roman" panose="02020603050405020304" pitchFamily="18" charset="0"/>
              </a:rPr>
              <a:t>sub [i+j]</a:t>
            </a:r>
            <a:endParaRPr lang="en-US" altLang="zh-CN">
              <a:latin typeface="Times New Roman" panose="02020603050405020304" pitchFamily="18" charset="0"/>
              <a:cs typeface="Times New Roman" panose="02020603050405020304" pitchFamily="18" charset="0"/>
            </a:endParaRPr>
          </a:p>
        </p:txBody>
      </p:sp>
      <p:sp>
        <p:nvSpPr>
          <p:cNvPr id="46" name="文本框 45"/>
          <p:cNvSpPr txBox="1"/>
          <p:nvPr/>
        </p:nvSpPr>
        <p:spPr>
          <a:xfrm>
            <a:off x="6103620" y="5121910"/>
            <a:ext cx="2408555" cy="281305"/>
          </a:xfrm>
          <a:prstGeom prst="rect">
            <a:avLst/>
          </a:prstGeom>
          <a:noFill/>
        </p:spPr>
        <p:txBody>
          <a:bodyPr wrap="square" rtlCol="0">
            <a:noAutofit/>
          </a:bodyPr>
          <a:p>
            <a:r>
              <a:rPr lang="en-US" altLang="zh-CN">
                <a:latin typeface="Times New Roman" panose="02020603050405020304" pitchFamily="18" charset="0"/>
                <a:cs typeface="Times New Roman" panose="02020603050405020304" pitchFamily="18" charset="0"/>
              </a:rPr>
              <a:t>main [j+k],k=-i+n-1</a:t>
            </a:r>
            <a:endParaRPr lang="en-US" altLang="zh-CN">
              <a:latin typeface="Times New Roman" panose="02020603050405020304" pitchFamily="18" charset="0"/>
              <a:cs typeface="Times New Roman" panose="02020603050405020304" pitchFamily="18" charset="0"/>
            </a:endParaRPr>
          </a:p>
        </p:txBody>
      </p:sp>
      <p:sp>
        <p:nvSpPr>
          <p:cNvPr id="47" name="文本框 46"/>
          <p:cNvSpPr txBox="1"/>
          <p:nvPr/>
        </p:nvSpPr>
        <p:spPr>
          <a:xfrm>
            <a:off x="6155690" y="5426075"/>
            <a:ext cx="2408555" cy="281305"/>
          </a:xfrm>
          <a:prstGeom prst="rect">
            <a:avLst/>
          </a:prstGeom>
          <a:noFill/>
        </p:spPr>
        <p:txBody>
          <a:bodyPr wrap="square" rtlCol="0">
            <a:noAutofit/>
          </a:bodyPr>
          <a:p>
            <a:r>
              <a:rPr lang="en-US" altLang="zh-CN">
                <a:latin typeface="Times New Roman" panose="02020603050405020304" pitchFamily="18" charset="0"/>
                <a:cs typeface="Times New Roman" panose="02020603050405020304" pitchFamily="18" charset="0"/>
              </a:rPr>
              <a:t>main [j-i+n-1]</a:t>
            </a:r>
            <a:endParaRPr lang="en-US" altLang="zh-CN">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
                                        </p:tgtEl>
                                        <p:attrNameLst>
                                          <p:attrName>style.visibility</p:attrName>
                                        </p:attrNameLst>
                                      </p:cBhvr>
                                      <p:to>
                                        <p:strVal val="visible"/>
                                      </p:to>
                                    </p:set>
                                    <p:anim calcmode="lin" valueType="num">
                                      <p:cBhvr additive="base">
                                        <p:cTn id="13" dur="500" fill="hold"/>
                                        <p:tgtEl>
                                          <p:spTgt spid="41"/>
                                        </p:tgtEl>
                                        <p:attrNameLst>
                                          <p:attrName>ppt_x</p:attrName>
                                        </p:attrNameLst>
                                      </p:cBhvr>
                                      <p:tavLst>
                                        <p:tav tm="0">
                                          <p:val>
                                            <p:strVal val="#ppt_x"/>
                                          </p:val>
                                        </p:tav>
                                        <p:tav tm="100000">
                                          <p:val>
                                            <p:strVal val="#ppt_x"/>
                                          </p:val>
                                        </p:tav>
                                      </p:tavLst>
                                    </p:anim>
                                    <p:anim calcmode="lin" valueType="num">
                                      <p:cBhvr additive="base">
                                        <p:cTn id="14" dur="500" fill="hold"/>
                                        <p:tgtEl>
                                          <p:spTgt spid="4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anim calcmode="lin" valueType="num">
                                      <p:cBhvr additive="base">
                                        <p:cTn id="17" dur="500" fill="hold"/>
                                        <p:tgtEl>
                                          <p:spTgt spid="42"/>
                                        </p:tgtEl>
                                        <p:attrNameLst>
                                          <p:attrName>ppt_x</p:attrName>
                                        </p:attrNameLst>
                                      </p:cBhvr>
                                      <p:tavLst>
                                        <p:tav tm="0">
                                          <p:val>
                                            <p:strVal val="#ppt_x"/>
                                          </p:val>
                                        </p:tav>
                                        <p:tav tm="100000">
                                          <p:val>
                                            <p:strVal val="#ppt_x"/>
                                          </p:val>
                                        </p:tav>
                                      </p:tavLst>
                                    </p:anim>
                                    <p:anim calcmode="lin" valueType="num">
                                      <p:cBhvr additive="base">
                                        <p:cTn id="18" dur="500" fill="hold"/>
                                        <p:tgtEl>
                                          <p:spTgt spid="4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anim calcmode="lin" valueType="num">
                                      <p:cBhvr additive="base">
                                        <p:cTn id="21" dur="500" fill="hold"/>
                                        <p:tgtEl>
                                          <p:spTgt spid="43"/>
                                        </p:tgtEl>
                                        <p:attrNameLst>
                                          <p:attrName>ppt_x</p:attrName>
                                        </p:attrNameLst>
                                      </p:cBhvr>
                                      <p:tavLst>
                                        <p:tav tm="0">
                                          <p:val>
                                            <p:strVal val="#ppt_x"/>
                                          </p:val>
                                        </p:tav>
                                        <p:tav tm="100000">
                                          <p:val>
                                            <p:strVal val="#ppt_x"/>
                                          </p:val>
                                        </p:tav>
                                      </p:tavLst>
                                    </p:anim>
                                    <p:anim calcmode="lin" valueType="num">
                                      <p:cBhvr additive="base">
                                        <p:cTn id="22" dur="500" fill="hold"/>
                                        <p:tgtEl>
                                          <p:spTgt spid="4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anim calcmode="lin" valueType="num">
                                      <p:cBhvr additive="base">
                                        <p:cTn id="25" dur="500" fill="hold"/>
                                        <p:tgtEl>
                                          <p:spTgt spid="44"/>
                                        </p:tgtEl>
                                        <p:attrNameLst>
                                          <p:attrName>ppt_x</p:attrName>
                                        </p:attrNameLst>
                                      </p:cBhvr>
                                      <p:tavLst>
                                        <p:tav tm="0">
                                          <p:val>
                                            <p:strVal val="#ppt_x"/>
                                          </p:val>
                                        </p:tav>
                                        <p:tav tm="100000">
                                          <p:val>
                                            <p:strVal val="#ppt_x"/>
                                          </p:val>
                                        </p:tav>
                                      </p:tavLst>
                                    </p:anim>
                                    <p:anim calcmode="lin" valueType="num">
                                      <p:cBhvr additive="base">
                                        <p:cTn id="26"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anim calcmode="lin" valueType="num">
                                      <p:cBhvr additive="base">
                                        <p:cTn id="31" dur="500" fill="hold"/>
                                        <p:tgtEl>
                                          <p:spTgt spid="46"/>
                                        </p:tgtEl>
                                        <p:attrNameLst>
                                          <p:attrName>ppt_x</p:attrName>
                                        </p:attrNameLst>
                                      </p:cBhvr>
                                      <p:tavLst>
                                        <p:tav tm="0">
                                          <p:val>
                                            <p:strVal val="#ppt_x"/>
                                          </p:val>
                                        </p:tav>
                                        <p:tav tm="100000">
                                          <p:val>
                                            <p:strVal val="#ppt_x"/>
                                          </p:val>
                                        </p:tav>
                                      </p:tavLst>
                                    </p:anim>
                                    <p:anim calcmode="lin" valueType="num">
                                      <p:cBhvr additive="base">
                                        <p:cTn id="32" dur="500" fill="hold"/>
                                        <p:tgtEl>
                                          <p:spTgt spid="4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anim calcmode="lin" valueType="num">
                                      <p:cBhvr additive="base">
                                        <p:cTn id="35" dur="500" fill="hold"/>
                                        <p:tgtEl>
                                          <p:spTgt spid="47"/>
                                        </p:tgtEl>
                                        <p:attrNameLst>
                                          <p:attrName>ppt_x</p:attrName>
                                        </p:attrNameLst>
                                      </p:cBhvr>
                                      <p:tavLst>
                                        <p:tav tm="0">
                                          <p:val>
                                            <p:strVal val="#ppt_x"/>
                                          </p:val>
                                        </p:tav>
                                        <p:tav tm="100000">
                                          <p:val>
                                            <p:strVal val="#ppt_x"/>
                                          </p:val>
                                        </p:tav>
                                      </p:tavLst>
                                    </p:anim>
                                    <p:anim calcmode="lin" valueType="num">
                                      <p:cBhvr additive="base">
                                        <p:cTn id="36"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P spid="41" grpId="1"/>
      <p:bldP spid="42" grpId="1"/>
      <p:bldP spid="43" grpId="1"/>
      <p:bldP spid="44" grpId="1"/>
      <p:bldP spid="45" grpId="0"/>
      <p:bldP spid="45" grpId="1"/>
      <p:bldP spid="46" grpId="0"/>
      <p:bldP spid="47" grpId="0"/>
      <p:bldP spid="46" grpId="1"/>
      <p:bldP spid="47"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r>
              <a:rPr lang="de-DE" altLang="en-US"/>
              <a:t>Page </a:t>
            </a:r>
            <a:r>
              <a:rPr lang="de-DE" altLang="en-US">
                <a:sym typeface="MS UI Gothic" panose="020B0600070205080204" pitchFamily="34" charset="-128"/>
              </a:rPr>
              <a:t></a:t>
            </a:r>
            <a:r>
              <a:rPr lang="de-DE" altLang="en-US"/>
              <a:t> </a:t>
            </a:r>
            <a:fld id="{AB2E83DC-661B-4DCC-B4A3-95AD0DF58E27}" type="slidenum">
              <a:rPr lang="zh-CN" altLang="en-US" smtClean="0"/>
            </a:fld>
            <a:endParaRPr lang="en-US" altLang="zh-CN"/>
          </a:p>
        </p:txBody>
      </p:sp>
      <p:sp>
        <p:nvSpPr>
          <p:cNvPr id="3" name="文本框 2"/>
          <p:cNvSpPr txBox="1"/>
          <p:nvPr/>
        </p:nvSpPr>
        <p:spPr>
          <a:xfrm>
            <a:off x="873125" y="692150"/>
            <a:ext cx="7946390" cy="5354320"/>
          </a:xfrm>
          <a:prstGeom prst="rect">
            <a:avLst/>
          </a:prstGeom>
          <a:noFill/>
        </p:spPr>
        <p:txBody>
          <a:bodyPr wrap="square" rtlCol="0" anchor="t">
            <a:spAutoFit/>
          </a:bodyPr>
          <a:p>
            <a:r>
              <a:rPr lang="en-US" altLang="zh-CN">
                <a:solidFill>
                  <a:schemeClr val="tx1"/>
                </a:solidFill>
                <a:uFillTx/>
                <a:latin typeface="Times New Roman" panose="02020603050405020304" pitchFamily="18" charset="0"/>
              </a:rPr>
              <a:t>    def solveNQueens(self, n: int) -&gt; list:</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col = [0]*n</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main_Line = [0]*(2*n-1)</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sub_Line = [0]*(2*n-1)</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def dfs(n:int,lev:int,temp:list)-&gt;int:</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if n==lev:</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return 1</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count = 0</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for i in range(n):</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if col[i]==0 and main_Line[i+lev]==0 and sub_Line[i-lev+n-1]==0:</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col[i] = 1</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main_Line[i+lev] = 1</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sub_Line[i-lev+n-1] = 1</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count+=dfs(n,lev+1)</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col[i] = 0</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main_Line[i+lev] = 0</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sub_Line[i-lev+n-1] = 0</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return count</a:t>
            </a:r>
            <a:endParaRPr lang="en-US" altLang="zh-CN">
              <a:solidFill>
                <a:schemeClr val="tx1"/>
              </a:solidFill>
              <a:uFillTx/>
              <a:latin typeface="Times New Roman" panose="02020603050405020304" pitchFamily="18" charset="0"/>
            </a:endParaRPr>
          </a:p>
          <a:p>
            <a:r>
              <a:rPr lang="en-US" altLang="zh-CN">
                <a:solidFill>
                  <a:schemeClr val="tx1"/>
                </a:solidFill>
                <a:uFillTx/>
                <a:latin typeface="Times New Roman" panose="02020603050405020304" pitchFamily="18" charset="0"/>
              </a:rPr>
              <a:t>        return dfs(n,0,)</a:t>
            </a:r>
            <a:endParaRPr lang="en-US" altLang="zh-CN">
              <a:solidFill>
                <a:schemeClr val="tx1"/>
              </a:solidFill>
              <a:uFillTx/>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134936" y="1988840"/>
            <a:ext cx="8874126"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indent="457200">
              <a:spcBef>
                <a:spcPct val="50000"/>
              </a:spcBef>
              <a:buSzTx/>
              <a:buFontTx/>
              <a:buNone/>
            </a:pPr>
            <a:r>
              <a:rPr lang="zh-CN" altLang="en-US" sz="2400" dirty="0">
                <a:solidFill>
                  <a:srgbClr val="080808"/>
                </a:solidFill>
                <a:latin typeface="楷体" panose="02010609060101010101" pitchFamily="49" charset="-122"/>
                <a:ea typeface="楷体" panose="02010609060101010101" pitchFamily="49" charset="-122"/>
              </a:rPr>
              <a:t>现实中存在很多问题，目前来说没有高效的算法，这个时候求解问题只能使用蛮力法，即通过穷举搜索的方式来解决，在搜索过程中，蛮力法会生成该问题所有的可能解，之后去判断其是否满足约束条件，但蛮力算法效率普遍较低，尤其是在处理规模较大的问题时耗费时间较长，回溯法是对蛮力法的改进，是有组织的搜索，它基于下面两个特征来组织搜索过程：</a:t>
            </a:r>
            <a:endParaRPr lang="en-US" altLang="zh-CN" sz="2400" dirty="0">
              <a:solidFill>
                <a:srgbClr val="080808"/>
              </a:solidFill>
              <a:latin typeface="楷体" panose="02010609060101010101" pitchFamily="49" charset="-122"/>
              <a:ea typeface="楷体" panose="02010609060101010101" pitchFamily="49" charset="-122"/>
            </a:endParaRPr>
          </a:p>
          <a:p>
            <a:pPr indent="457200">
              <a:spcBef>
                <a:spcPct val="50000"/>
              </a:spcBef>
              <a:buSzTx/>
              <a:buFontTx/>
              <a:buNone/>
            </a:pPr>
            <a:r>
              <a:rPr lang="zh-CN" altLang="en-US" sz="2400" dirty="0">
                <a:solidFill>
                  <a:srgbClr val="080808"/>
                </a:solidFill>
                <a:latin typeface="楷体" panose="02010609060101010101" pitchFamily="49" charset="-122"/>
                <a:ea typeface="楷体" panose="02010609060101010101" pitchFamily="49" charset="-122"/>
              </a:rPr>
              <a:t>一是在求解问题的过程中只有满足约束条件的解才是可行解，二是只有满足目标函数的解才是最优解，如此能够避免不必要的重复搜索，提高搜索效率。回溯法每次只构造可能解的一部分，接着用约束条件先进行判断，如果满足条件再对其进一步构造，这样就能够避免搜索所有的可能解，节省时间。</a:t>
            </a:r>
            <a:endParaRPr lang="zh-CN" altLang="en-US" sz="2400" dirty="0">
              <a:solidFill>
                <a:srgbClr val="080808"/>
              </a:solidFill>
              <a:latin typeface="楷体" panose="02010609060101010101" pitchFamily="49" charset="-122"/>
              <a:ea typeface="楷体" panose="02010609060101010101" pitchFamily="49" charset="-122"/>
            </a:endParaRPr>
          </a:p>
        </p:txBody>
      </p:sp>
      <p:sp>
        <p:nvSpPr>
          <p:cNvPr id="4" name="Text Box 3"/>
          <p:cNvSpPr txBox="1">
            <a:spLocks noChangeArrowheads="1"/>
          </p:cNvSpPr>
          <p:nvPr/>
        </p:nvSpPr>
        <p:spPr bwMode="auto">
          <a:xfrm>
            <a:off x="2083739" y="1186824"/>
            <a:ext cx="4976520" cy="584775"/>
          </a:xfrm>
          <a:prstGeom prst="rect">
            <a:avLst/>
          </a:prstGeom>
          <a:noFill/>
          <a:ln w="9525">
            <a:noFill/>
            <a:miter lim="800000"/>
          </a:ln>
          <a:effectLst/>
        </p:spPr>
        <p:txBody>
          <a:bodyPr wrap="square">
            <a:spAutoFit/>
          </a:bodyPr>
          <a:lstStyle/>
          <a:p>
            <a:pPr algn="ctr">
              <a:spcBef>
                <a:spcPct val="50000"/>
              </a:spcBef>
              <a:defRPr/>
            </a:pPr>
            <a:r>
              <a:rPr lang="en-US" altLang="zh-CN" sz="3200" dirty="0">
                <a:ln w="18000">
                  <a:solidFill>
                    <a:schemeClr val="accent2">
                      <a:satMod val="140000"/>
                    </a:schemeClr>
                  </a:solidFill>
                  <a:prstDash val="solid"/>
                  <a:miter lim="800000"/>
                </a:ln>
                <a:solidFill>
                  <a:srgbClr val="080808"/>
                </a:solidFill>
                <a:effectLst>
                  <a:outerShdw blurRad="25500" dist="23000" dir="7020000" algn="tl">
                    <a:srgbClr val="000000">
                      <a:alpha val="50000"/>
                    </a:srgbClr>
                  </a:outerShdw>
                </a:effectLst>
                <a:ea typeface="隶书" panose="02010509060101010101" pitchFamily="49" charset="-122"/>
              </a:rPr>
              <a:t>6.1 </a:t>
            </a:r>
            <a:r>
              <a:rPr lang="zh-CN" altLang="en-US" sz="3200" dirty="0">
                <a:ln w="18000">
                  <a:solidFill>
                    <a:schemeClr val="accent2">
                      <a:satMod val="140000"/>
                    </a:schemeClr>
                  </a:solidFill>
                  <a:prstDash val="solid"/>
                  <a:miter lim="800000"/>
                </a:ln>
                <a:solidFill>
                  <a:srgbClr val="080808"/>
                </a:solidFill>
                <a:effectLst>
                  <a:outerShdw blurRad="25500" dist="23000" dir="7020000" algn="tl">
                    <a:srgbClr val="000000">
                      <a:alpha val="50000"/>
                    </a:srgbClr>
                  </a:outerShdw>
                </a:effectLst>
                <a:ea typeface="隶书" panose="02010509060101010101" pitchFamily="49" charset="-122"/>
              </a:rPr>
              <a:t>回朔法概述</a:t>
            </a:r>
            <a:endParaRPr lang="zh-CN" altLang="en-US" sz="3200" dirty="0">
              <a:ln w="18000">
                <a:solidFill>
                  <a:schemeClr val="accent2">
                    <a:satMod val="140000"/>
                  </a:schemeClr>
                </a:solidFill>
                <a:prstDash val="solid"/>
                <a:miter lim="800000"/>
              </a:ln>
              <a:solidFill>
                <a:srgbClr val="080808"/>
              </a:solidFill>
              <a:effectLst>
                <a:outerShdw blurRad="25500" dist="23000" dir="7020000" algn="tl">
                  <a:srgbClr val="000000">
                    <a:alpha val="50000"/>
                  </a:srgbClr>
                </a:outerShdw>
              </a:effectLst>
              <a:ea typeface="隶书" panose="020105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172869" y="1484784"/>
            <a:ext cx="8798261"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spcBef>
                <a:spcPts val="0"/>
              </a:spcBef>
              <a:buSzTx/>
              <a:buFontTx/>
              <a:buNone/>
            </a:pPr>
            <a:r>
              <a:rPr lang="en-US" altLang="zh-CN" sz="2400" b="1" dirty="0">
                <a:solidFill>
                  <a:srgbClr val="080808"/>
                </a:solidFill>
                <a:latin typeface="楷体" panose="02010609060101010101" pitchFamily="49" charset="-122"/>
                <a:ea typeface="楷体" panose="02010609060101010101" pitchFamily="49" charset="-122"/>
              </a:rPr>
              <a:t>6.1.1 </a:t>
            </a:r>
            <a:r>
              <a:rPr lang="zh-CN" altLang="en-US" sz="2400" b="1" dirty="0">
                <a:solidFill>
                  <a:srgbClr val="080808"/>
                </a:solidFill>
                <a:latin typeface="楷体" panose="02010609060101010101" pitchFamily="49" charset="-122"/>
                <a:ea typeface="楷体" panose="02010609060101010101" pitchFamily="49" charset="-122"/>
              </a:rPr>
              <a:t>问题的解空间</a:t>
            </a:r>
            <a:endParaRPr lang="en-US" altLang="zh-CN" sz="2400" b="1" dirty="0">
              <a:solidFill>
                <a:srgbClr val="080808"/>
              </a:solidFill>
              <a:latin typeface="楷体" panose="02010609060101010101" pitchFamily="49" charset="-122"/>
              <a:ea typeface="楷体" panose="02010609060101010101" pitchFamily="49" charset="-122"/>
            </a:endParaRPr>
          </a:p>
          <a:p>
            <a:pPr>
              <a:spcBef>
                <a:spcPts val="0"/>
              </a:spcBef>
              <a:buSzTx/>
              <a:buFontTx/>
              <a:buNone/>
            </a:pPr>
            <a:endParaRPr lang="zh-CN" altLang="en-US" sz="2400" b="1" dirty="0">
              <a:solidFill>
                <a:srgbClr val="080808"/>
              </a:solidFill>
              <a:latin typeface="楷体" panose="02010609060101010101" pitchFamily="49" charset="-122"/>
              <a:ea typeface="楷体" panose="02010609060101010101" pitchFamily="49" charset="-122"/>
            </a:endParaRPr>
          </a:p>
          <a:p>
            <a:pPr>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、解空间的概念</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问题的解空间是指解决一个问题的所有可能解构成的集合。复杂问题的解通常是由若干个决策步骤组成的决策序列，设问题的解由一个解向量</a:t>
            </a:r>
            <a:r>
              <a:rPr lang="en-US" altLang="zh-CN" sz="2400" dirty="0">
                <a:solidFill>
                  <a:srgbClr val="080808"/>
                </a:solidFill>
                <a:latin typeface="楷体" panose="02010609060101010101" pitchFamily="49" charset="-122"/>
                <a:ea typeface="楷体" panose="02010609060101010101" pitchFamily="49" charset="-122"/>
              </a:rPr>
              <a:t>X={x1,x2,…,</a:t>
            </a:r>
            <a:r>
              <a:rPr lang="en-US" altLang="zh-CN" sz="2400" dirty="0" err="1">
                <a:solidFill>
                  <a:srgbClr val="080808"/>
                </a:solidFill>
                <a:latin typeface="楷体" panose="02010609060101010101" pitchFamily="49" charset="-122"/>
                <a:ea typeface="楷体" panose="02010609060101010101" pitchFamily="49" charset="-122"/>
              </a:rPr>
              <a:t>xn</a:t>
            </a: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组成，其中分量</a:t>
            </a:r>
            <a:r>
              <a:rPr lang="en-US" altLang="zh-CN" sz="2400" dirty="0">
                <a:solidFill>
                  <a:srgbClr val="080808"/>
                </a:solidFill>
                <a:latin typeface="楷体" panose="02010609060101010101" pitchFamily="49" charset="-122"/>
                <a:ea typeface="楷体" panose="02010609060101010101" pitchFamily="49" charset="-122"/>
              </a:rPr>
              <a:t>xi</a:t>
            </a:r>
            <a:r>
              <a:rPr lang="zh-CN" altLang="en-US" sz="2400" dirty="0">
                <a:solidFill>
                  <a:srgbClr val="080808"/>
                </a:solidFill>
                <a:latin typeface="楷体" panose="02010609060101010101" pitchFamily="49" charset="-122"/>
                <a:ea typeface="楷体" panose="02010609060101010101" pitchFamily="49" charset="-122"/>
              </a:rPr>
              <a:t>表示第</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个决策步骤的操作，</a:t>
            </a:r>
            <a:r>
              <a:rPr lang="en-US" altLang="zh-CN" sz="2400" dirty="0">
                <a:solidFill>
                  <a:srgbClr val="080808"/>
                </a:solidFill>
                <a:latin typeface="楷体" panose="02010609060101010101" pitchFamily="49" charset="-122"/>
                <a:ea typeface="楷体" panose="02010609060101010101" pitchFamily="49" charset="-122"/>
              </a:rPr>
              <a:t>xi</a:t>
            </a:r>
            <a:r>
              <a:rPr lang="zh-CN" altLang="en-US" sz="2400" dirty="0">
                <a:solidFill>
                  <a:srgbClr val="080808"/>
                </a:solidFill>
                <a:latin typeface="楷体" panose="02010609060101010101" pitchFamily="49" charset="-122"/>
                <a:ea typeface="楷体" panose="02010609060101010101" pitchFamily="49" charset="-122"/>
              </a:rPr>
              <a:t>的所有可能取值的组合叫做问题的解空间。</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例：在</a:t>
            </a:r>
            <a:r>
              <a:rPr lang="en-US" altLang="zh-CN" sz="2400" dirty="0">
                <a:solidFill>
                  <a:srgbClr val="080808"/>
                </a:solidFill>
                <a:latin typeface="楷体" panose="02010609060101010101" pitchFamily="49" charset="-122"/>
                <a:ea typeface="楷体" panose="02010609060101010101" pitchFamily="49" charset="-122"/>
              </a:rPr>
              <a:t>0-1</a:t>
            </a:r>
            <a:r>
              <a:rPr lang="zh-CN" altLang="en-US" sz="2400" dirty="0">
                <a:solidFill>
                  <a:srgbClr val="080808"/>
                </a:solidFill>
                <a:latin typeface="楷体" panose="02010609060101010101" pitchFamily="49" charset="-122"/>
                <a:ea typeface="楷体" panose="02010609060101010101" pitchFamily="49" charset="-122"/>
              </a:rPr>
              <a:t>背包问题中，</a:t>
            </a:r>
            <a:r>
              <a:rPr lang="en-US" altLang="zh-CN" sz="2400" dirty="0">
                <a:solidFill>
                  <a:srgbClr val="080808"/>
                </a:solidFill>
                <a:latin typeface="楷体" panose="02010609060101010101" pitchFamily="49" charset="-122"/>
                <a:ea typeface="楷体" panose="02010609060101010101" pitchFamily="49" charset="-122"/>
              </a:rPr>
              <a:t>xi </a:t>
            </a:r>
            <a:r>
              <a:rPr lang="zh-CN" altLang="en-US" sz="2400" dirty="0">
                <a:solidFill>
                  <a:srgbClr val="080808"/>
                </a:solidFill>
                <a:latin typeface="楷体" panose="02010609060101010101" pitchFamily="49" charset="-122"/>
                <a:ea typeface="楷体" panose="02010609060101010101" pitchFamily="49" charset="-122"/>
              </a:rPr>
              <a:t>有</a:t>
            </a:r>
            <a:r>
              <a:rPr lang="en-US" altLang="zh-CN" sz="2400" dirty="0">
                <a:solidFill>
                  <a:srgbClr val="080808"/>
                </a:solidFill>
                <a:latin typeface="楷体" panose="02010609060101010101" pitchFamily="49" charset="-122"/>
                <a:ea typeface="楷体" panose="02010609060101010101" pitchFamily="49" charset="-122"/>
              </a:rPr>
              <a:t>0</a:t>
            </a:r>
            <a:r>
              <a:rPr lang="zh-CN" altLang="en-US" sz="2400" dirty="0">
                <a:solidFill>
                  <a:srgbClr val="080808"/>
                </a:solidFill>
                <a:latin typeface="楷体" panose="02010609060101010101" pitchFamily="49" charset="-122"/>
                <a:ea typeface="楷体" panose="02010609060101010101" pitchFamily="49" charset="-122"/>
              </a:rPr>
              <a:t>和</a:t>
            </a:r>
            <a:r>
              <a:rPr lang="en-US" altLang="zh-CN" sz="2400" dirty="0">
                <a:solidFill>
                  <a:srgbClr val="080808"/>
                </a:solidFill>
                <a:latin typeface="楷体" panose="02010609060101010101" pitchFamily="49" charset="-122"/>
                <a:ea typeface="楷体" panose="02010609060101010101" pitchFamily="49" charset="-122"/>
              </a:rPr>
              <a:t>1 </a:t>
            </a:r>
            <a:r>
              <a:rPr lang="zh-CN" altLang="en-US" sz="2400" dirty="0">
                <a:solidFill>
                  <a:srgbClr val="080808"/>
                </a:solidFill>
                <a:latin typeface="楷体" panose="02010609060101010101" pitchFamily="49" charset="-122"/>
                <a:ea typeface="楷体" panose="02010609060101010101" pitchFamily="49" charset="-122"/>
              </a:rPr>
              <a:t>两种可能的取值，当</a:t>
            </a:r>
            <a:r>
              <a:rPr lang="en-US" altLang="zh-CN" sz="2400" dirty="0">
                <a:solidFill>
                  <a:srgbClr val="080808"/>
                </a:solidFill>
                <a:latin typeface="楷体" panose="02010609060101010101" pitchFamily="49" charset="-122"/>
                <a:ea typeface="楷体" panose="02010609060101010101" pitchFamily="49" charset="-122"/>
              </a:rPr>
              <a:t>n=3</a:t>
            </a:r>
            <a:r>
              <a:rPr lang="zh-CN" altLang="en-US" sz="2400" dirty="0">
                <a:solidFill>
                  <a:srgbClr val="080808"/>
                </a:solidFill>
                <a:latin typeface="楷体" panose="02010609060101010101" pitchFamily="49" charset="-122"/>
                <a:ea typeface="楷体" panose="02010609060101010101" pitchFamily="49" charset="-122"/>
              </a:rPr>
              <a:t>时，</a:t>
            </a:r>
            <a:r>
              <a:rPr lang="en-US" altLang="zh-CN" sz="2400" dirty="0">
                <a:solidFill>
                  <a:srgbClr val="080808"/>
                </a:solidFill>
                <a:latin typeface="楷体" panose="02010609060101010101" pitchFamily="49" charset="-122"/>
                <a:ea typeface="楷体" panose="02010609060101010101" pitchFamily="49" charset="-122"/>
              </a:rPr>
              <a:t>0-1</a:t>
            </a:r>
            <a:r>
              <a:rPr lang="zh-CN" altLang="en-US" sz="2400" dirty="0">
                <a:solidFill>
                  <a:srgbClr val="080808"/>
                </a:solidFill>
                <a:latin typeface="楷体" panose="02010609060101010101" pitchFamily="49" charset="-122"/>
                <a:ea typeface="楷体" panose="02010609060101010101" pitchFamily="49" charset="-122"/>
              </a:rPr>
              <a:t>背包问题的解空间如下：</a:t>
            </a:r>
            <a:endParaRPr lang="en-US" altLang="zh-CN"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{(0,0,0), (0,0,1), (0,1,0), (0,1,1), </a:t>
            </a:r>
            <a:endParaRPr lang="en-US" altLang="zh-CN"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(1,0,0), (1,0,1), (1,1,0), (1,1,1)}</a:t>
            </a:r>
            <a:endParaRPr lang="en-US" altLang="zh-CN"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endParaRPr lang="zh-CN" altLang="en-US" sz="2400" dirty="0">
              <a:solidFill>
                <a:srgbClr val="080808"/>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172869" y="1484784"/>
            <a:ext cx="8798261"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当</a:t>
            </a:r>
            <a:r>
              <a:rPr lang="en-US" altLang="zh-CN" sz="2400" dirty="0">
                <a:solidFill>
                  <a:srgbClr val="080808"/>
                </a:solidFill>
                <a:latin typeface="楷体" panose="02010609060101010101" pitchFamily="49" charset="-122"/>
                <a:ea typeface="楷体" panose="02010609060101010101" pitchFamily="49" charset="-122"/>
              </a:rPr>
              <a:t>n=4</a:t>
            </a:r>
            <a:r>
              <a:rPr lang="zh-CN" altLang="en-US" sz="2400" dirty="0">
                <a:solidFill>
                  <a:srgbClr val="080808"/>
                </a:solidFill>
                <a:latin typeface="楷体" panose="02010609060101010101" pitchFamily="49" charset="-122"/>
                <a:ea typeface="楷体" panose="02010609060101010101" pitchFamily="49" charset="-122"/>
              </a:rPr>
              <a:t>时，</a:t>
            </a:r>
            <a:r>
              <a:rPr lang="en-US" altLang="zh-CN" sz="2400" dirty="0">
                <a:solidFill>
                  <a:srgbClr val="080808"/>
                </a:solidFill>
                <a:latin typeface="楷体" panose="02010609060101010101" pitchFamily="49" charset="-122"/>
                <a:ea typeface="楷体" panose="02010609060101010101" pitchFamily="49" charset="-122"/>
              </a:rPr>
              <a:t>0-1</a:t>
            </a:r>
            <a:r>
              <a:rPr lang="zh-CN" altLang="en-US" sz="2400" dirty="0">
                <a:solidFill>
                  <a:srgbClr val="080808"/>
                </a:solidFill>
                <a:latin typeface="楷体" panose="02010609060101010101" pitchFamily="49" charset="-122"/>
                <a:ea typeface="楷体" panose="02010609060101010101" pitchFamily="49" charset="-122"/>
              </a:rPr>
              <a:t>背包问题的解空间如下：</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{(0,0,0,0), (0,0,0,1), (0,0,1,0), (0,0,1,1), </a:t>
            </a:r>
            <a:endParaRPr lang="en-US" altLang="zh-CN"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(0,1,0,0), (0,1,0,1), (0,1,1,0), (0,1,1,1)</a:t>
            </a:r>
            <a:r>
              <a:rPr lang="zh-CN" altLang="en-US" sz="2400" dirty="0">
                <a:solidFill>
                  <a:srgbClr val="080808"/>
                </a:solidFill>
                <a:latin typeface="楷体" panose="02010609060101010101" pitchFamily="49" charset="-122"/>
                <a:ea typeface="楷体" panose="02010609060101010101" pitchFamily="49" charset="-122"/>
              </a:rPr>
              <a:t>，</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(1,0,0,0), (1,0,0,1), (1,0,1,0), (1,0,1,1), </a:t>
            </a:r>
            <a:endParaRPr lang="en-US" altLang="zh-CN"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(1,1,0,0), (1,1,0,1), (1,1,1,0), (1,1,1,1)}</a:t>
            </a:r>
            <a:endParaRPr lang="en-US" altLang="zh-CN"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即：当问题规模为</a:t>
            </a:r>
            <a:r>
              <a:rPr lang="en-US" altLang="zh-CN" sz="2400" dirty="0">
                <a:solidFill>
                  <a:srgbClr val="080808"/>
                </a:solidFill>
                <a:latin typeface="楷体" panose="02010609060101010101" pitchFamily="49" charset="-122"/>
                <a:ea typeface="楷体" panose="02010609060101010101" pitchFamily="49" charset="-122"/>
              </a:rPr>
              <a:t>n </a:t>
            </a:r>
            <a:r>
              <a:rPr lang="zh-CN" altLang="en-US" sz="2400" dirty="0">
                <a:solidFill>
                  <a:srgbClr val="080808"/>
                </a:solidFill>
                <a:latin typeface="楷体" panose="02010609060101010101" pitchFamily="49" charset="-122"/>
                <a:ea typeface="楷体" panose="02010609060101010101" pitchFamily="49" charset="-122"/>
              </a:rPr>
              <a:t>时，有</a:t>
            </a:r>
            <a:r>
              <a:rPr lang="en-US" altLang="zh-CN" sz="2400" dirty="0">
                <a:solidFill>
                  <a:srgbClr val="080808"/>
                </a:solidFill>
                <a:latin typeface="楷体" panose="02010609060101010101" pitchFamily="49" charset="-122"/>
                <a:ea typeface="楷体" panose="02010609060101010101" pitchFamily="49" charset="-122"/>
              </a:rPr>
              <a:t>2n </a:t>
            </a:r>
            <a:r>
              <a:rPr lang="zh-CN" altLang="en-US" sz="2400" dirty="0">
                <a:solidFill>
                  <a:srgbClr val="080808"/>
                </a:solidFill>
                <a:latin typeface="楷体" panose="02010609060101010101" pitchFamily="49" charset="-122"/>
                <a:ea typeface="楷体" panose="02010609060101010101" pitchFamily="49" charset="-122"/>
              </a:rPr>
              <a:t>种可能的解。</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endParaRPr lang="en-US" altLang="zh-CN"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可能解的表示：用等长向量 </a:t>
            </a:r>
            <a:r>
              <a:rPr lang="en-US" altLang="zh-CN" sz="2400" dirty="0">
                <a:solidFill>
                  <a:srgbClr val="080808"/>
                </a:solidFill>
                <a:latin typeface="楷体" panose="02010609060101010101" pitchFamily="49" charset="-122"/>
                <a:ea typeface="楷体" panose="02010609060101010101" pitchFamily="49" charset="-122"/>
              </a:rPr>
              <a:t>X=(x1, x2, …, </a:t>
            </a:r>
            <a:r>
              <a:rPr lang="en-US" altLang="zh-CN" sz="2400" dirty="0" err="1">
                <a:solidFill>
                  <a:srgbClr val="080808"/>
                </a:solidFill>
                <a:latin typeface="楷体" panose="02010609060101010101" pitchFamily="49" charset="-122"/>
                <a:ea typeface="楷体" panose="02010609060101010101" pitchFamily="49" charset="-122"/>
              </a:rPr>
              <a:t>xn</a:t>
            </a: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，其中分量 </a:t>
            </a:r>
            <a:r>
              <a:rPr lang="en-US" altLang="zh-CN" sz="2400" dirty="0">
                <a:solidFill>
                  <a:srgbClr val="080808"/>
                </a:solidFill>
                <a:latin typeface="楷体" panose="02010609060101010101" pitchFamily="49" charset="-122"/>
                <a:ea typeface="楷体" panose="02010609060101010101" pitchFamily="49" charset="-122"/>
              </a:rPr>
              <a:t>xi (1≤i≤n) </a:t>
            </a:r>
            <a:r>
              <a:rPr lang="zh-CN" altLang="en-US" sz="2400" dirty="0">
                <a:solidFill>
                  <a:srgbClr val="080808"/>
                </a:solidFill>
                <a:latin typeface="楷体" panose="02010609060101010101" pitchFamily="49" charset="-122"/>
                <a:ea typeface="楷体" panose="02010609060101010101" pitchFamily="49" charset="-122"/>
              </a:rPr>
              <a:t>的取值范围是某个有限集合 </a:t>
            </a:r>
            <a:r>
              <a:rPr lang="en-US" altLang="zh-CN" sz="2400" dirty="0">
                <a:solidFill>
                  <a:srgbClr val="080808"/>
                </a:solidFill>
                <a:latin typeface="楷体" panose="02010609060101010101" pitchFamily="49" charset="-122"/>
                <a:ea typeface="楷体" panose="02010609060101010101" pitchFamily="49" charset="-122"/>
              </a:rPr>
              <a:t>S={a1, a2, …, </a:t>
            </a:r>
            <a:r>
              <a:rPr lang="en-US" altLang="zh-CN" sz="2400" dirty="0" err="1">
                <a:solidFill>
                  <a:srgbClr val="080808"/>
                </a:solidFill>
                <a:latin typeface="楷体" panose="02010609060101010101" pitchFamily="49" charset="-122"/>
                <a:ea typeface="楷体" panose="02010609060101010101" pitchFamily="49" charset="-122"/>
              </a:rPr>
              <a:t>aj</a:t>
            </a: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，所有可能的解向量就构成了问题的解空间。</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endParaRPr lang="zh-CN" altLang="en-US" sz="2400" dirty="0">
              <a:solidFill>
                <a:srgbClr val="080808"/>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172869" y="1484784"/>
            <a:ext cx="8798261"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、解空间树</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问题的解空间一般采用树的方式来组织，称之为解空间树，解空间树中的各个结点都能够确定所解问题的一个状态。</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）第</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层：即树的根结点，代表搜索的初始状态；</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）第</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层结点：表示对解向量的第</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个分量做出选择后到达的状态；</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3</a:t>
            </a:r>
            <a:r>
              <a:rPr lang="zh-CN" altLang="en-US" sz="2400" dirty="0">
                <a:solidFill>
                  <a:srgbClr val="080808"/>
                </a:solidFill>
                <a:latin typeface="楷体" panose="02010609060101010101" pitchFamily="49" charset="-122"/>
                <a:ea typeface="楷体" panose="02010609060101010101" pitchFamily="49" charset="-122"/>
              </a:rPr>
              <a:t>）第</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层到第</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层间的边：标出对第</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个分量选择的结果。</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依此类推，通常情况下，从根结点到叶子结点的路径就构成了解空间的一个可能解。</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在解空间中，满足约束条件的解称为可行解，在约束条件下使目标达到最优的可行解称为该问题的最优解。例如在背包问题中，有</a:t>
            </a:r>
            <a:r>
              <a:rPr lang="en-US" altLang="zh-CN" sz="2400" dirty="0">
                <a:solidFill>
                  <a:srgbClr val="080808"/>
                </a:solidFill>
                <a:latin typeface="楷体" panose="02010609060101010101" pitchFamily="49" charset="-122"/>
                <a:ea typeface="楷体" panose="02010609060101010101" pitchFamily="49" charset="-122"/>
              </a:rPr>
              <a:t>2n</a:t>
            </a:r>
            <a:r>
              <a:rPr lang="zh-CN" altLang="en-US" sz="2400" dirty="0">
                <a:solidFill>
                  <a:srgbClr val="080808"/>
                </a:solidFill>
                <a:latin typeface="楷体" panose="02010609060101010101" pitchFamily="49" charset="-122"/>
                <a:ea typeface="楷体" panose="02010609060101010101" pitchFamily="49" charset="-122"/>
              </a:rPr>
              <a:t>种可能解，一部分是可行解，而可行解中只有一个或几个是最优解。</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endParaRPr lang="zh-CN" altLang="en-US" sz="2400" dirty="0">
              <a:solidFill>
                <a:srgbClr val="080808"/>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107504" y="1124744"/>
            <a:ext cx="886362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indent="457200">
              <a:spcBef>
                <a:spcPts val="0"/>
              </a:spcBef>
              <a:buSzTx/>
              <a:buFontTx/>
              <a:buNone/>
            </a:pPr>
            <a:r>
              <a:rPr lang="zh-CN" altLang="en-US" sz="2000" dirty="0">
                <a:solidFill>
                  <a:srgbClr val="080808"/>
                </a:solidFill>
                <a:latin typeface="楷体" panose="02010609060101010101" pitchFamily="49" charset="-122"/>
                <a:ea typeface="楷体" panose="02010609060101010101" pitchFamily="49" charset="-122"/>
              </a:rPr>
              <a:t>例：在</a:t>
            </a:r>
            <a:r>
              <a:rPr lang="en-US" altLang="zh-CN" sz="2000" dirty="0">
                <a:solidFill>
                  <a:srgbClr val="080808"/>
                </a:solidFill>
                <a:latin typeface="楷体" panose="02010609060101010101" pitchFamily="49" charset="-122"/>
                <a:ea typeface="楷体" panose="02010609060101010101" pitchFamily="49" charset="-122"/>
              </a:rPr>
              <a:t>0-1</a:t>
            </a:r>
            <a:r>
              <a:rPr lang="zh-CN" altLang="en-US" sz="2000" dirty="0">
                <a:solidFill>
                  <a:srgbClr val="080808"/>
                </a:solidFill>
                <a:latin typeface="楷体" panose="02010609060101010101" pitchFamily="49" charset="-122"/>
                <a:ea typeface="楷体" panose="02010609060101010101" pitchFamily="49" charset="-122"/>
              </a:rPr>
              <a:t>背包问题中，当</a:t>
            </a:r>
            <a:r>
              <a:rPr lang="en-US" altLang="zh-CN" sz="2000" dirty="0">
                <a:solidFill>
                  <a:srgbClr val="080808"/>
                </a:solidFill>
                <a:latin typeface="楷体" panose="02010609060101010101" pitchFamily="49" charset="-122"/>
                <a:ea typeface="楷体" panose="02010609060101010101" pitchFamily="49" charset="-122"/>
              </a:rPr>
              <a:t>n=3</a:t>
            </a:r>
            <a:r>
              <a:rPr lang="zh-CN" altLang="en-US" sz="2000" dirty="0">
                <a:solidFill>
                  <a:srgbClr val="080808"/>
                </a:solidFill>
                <a:latin typeface="楷体" panose="02010609060101010101" pitchFamily="49" charset="-122"/>
                <a:ea typeface="楷体" panose="02010609060101010101" pitchFamily="49" charset="-122"/>
              </a:rPr>
              <a:t>时，其解空间树如下图</a:t>
            </a:r>
            <a:r>
              <a:rPr lang="en-US" altLang="zh-CN" sz="2000" dirty="0">
                <a:solidFill>
                  <a:srgbClr val="080808"/>
                </a:solidFill>
                <a:latin typeface="楷体" panose="02010609060101010101" pitchFamily="49" charset="-122"/>
                <a:ea typeface="楷体" panose="02010609060101010101" pitchFamily="49" charset="-122"/>
              </a:rPr>
              <a:t>6.1 </a:t>
            </a:r>
            <a:r>
              <a:rPr lang="zh-CN" altLang="en-US" sz="2000" dirty="0">
                <a:solidFill>
                  <a:srgbClr val="080808"/>
                </a:solidFill>
                <a:latin typeface="楷体" panose="02010609060101010101" pitchFamily="49" charset="-122"/>
                <a:ea typeface="楷体" panose="02010609060101010101" pitchFamily="49" charset="-122"/>
              </a:rPr>
              <a:t>所示，第</a:t>
            </a:r>
            <a:r>
              <a:rPr lang="en-US" altLang="zh-CN" sz="2000" dirty="0">
                <a:solidFill>
                  <a:srgbClr val="080808"/>
                </a:solidFill>
                <a:latin typeface="楷体" panose="02010609060101010101" pitchFamily="49" charset="-122"/>
                <a:ea typeface="楷体" panose="02010609060101010101" pitchFamily="49" charset="-122"/>
              </a:rPr>
              <a:t>1</a:t>
            </a:r>
            <a:r>
              <a:rPr lang="zh-CN" altLang="en-US" sz="2000" dirty="0">
                <a:solidFill>
                  <a:srgbClr val="080808"/>
                </a:solidFill>
                <a:latin typeface="楷体" panose="02010609060101010101" pitchFamily="49" charset="-122"/>
                <a:ea typeface="楷体" panose="02010609060101010101" pitchFamily="49" charset="-122"/>
              </a:rPr>
              <a:t>层到第</a:t>
            </a:r>
            <a:r>
              <a:rPr lang="en-US" altLang="zh-CN" sz="2000" dirty="0">
                <a:solidFill>
                  <a:srgbClr val="080808"/>
                </a:solidFill>
                <a:latin typeface="楷体" panose="02010609060101010101" pitchFamily="49" charset="-122"/>
                <a:ea typeface="楷体" panose="02010609060101010101" pitchFamily="49" charset="-122"/>
              </a:rPr>
              <a:t>2</a:t>
            </a:r>
            <a:r>
              <a:rPr lang="zh-CN" altLang="en-US" sz="2000" dirty="0">
                <a:solidFill>
                  <a:srgbClr val="080808"/>
                </a:solidFill>
                <a:latin typeface="楷体" panose="02010609060101010101" pitchFamily="49" charset="-122"/>
                <a:ea typeface="楷体" panose="02010609060101010101" pitchFamily="49" charset="-122"/>
              </a:rPr>
              <a:t>层间的边表示对物品</a:t>
            </a:r>
            <a:r>
              <a:rPr lang="en-US" altLang="zh-CN" sz="2000" dirty="0">
                <a:solidFill>
                  <a:srgbClr val="080808"/>
                </a:solidFill>
                <a:latin typeface="楷体" panose="02010609060101010101" pitchFamily="49" charset="-122"/>
                <a:ea typeface="楷体" panose="02010609060101010101" pitchFamily="49" charset="-122"/>
              </a:rPr>
              <a:t>1</a:t>
            </a:r>
            <a:r>
              <a:rPr lang="zh-CN" altLang="en-US" sz="2000" dirty="0">
                <a:solidFill>
                  <a:srgbClr val="080808"/>
                </a:solidFill>
                <a:latin typeface="楷体" panose="02010609060101010101" pitchFamily="49" charset="-122"/>
                <a:ea typeface="楷体" panose="02010609060101010101" pitchFamily="49" charset="-122"/>
              </a:rPr>
              <a:t>的选择，左分支的</a:t>
            </a:r>
            <a:r>
              <a:rPr lang="en-US" altLang="zh-CN" sz="2000" dirty="0">
                <a:solidFill>
                  <a:srgbClr val="080808"/>
                </a:solidFill>
                <a:latin typeface="楷体" panose="02010609060101010101" pitchFamily="49" charset="-122"/>
                <a:ea typeface="楷体" panose="02010609060101010101" pitchFamily="49" charset="-122"/>
              </a:rPr>
              <a:t>1</a:t>
            </a:r>
            <a:r>
              <a:rPr lang="zh-CN" altLang="en-US" sz="2000" dirty="0">
                <a:solidFill>
                  <a:srgbClr val="080808"/>
                </a:solidFill>
                <a:latin typeface="楷体" panose="02010609060101010101" pitchFamily="49" charset="-122"/>
                <a:ea typeface="楷体" panose="02010609060101010101" pitchFamily="49" charset="-122"/>
              </a:rPr>
              <a:t>表示装入物品</a:t>
            </a:r>
            <a:r>
              <a:rPr lang="en-US" altLang="zh-CN" sz="2000" dirty="0">
                <a:solidFill>
                  <a:srgbClr val="080808"/>
                </a:solidFill>
                <a:latin typeface="楷体" panose="02010609060101010101" pitchFamily="49" charset="-122"/>
                <a:ea typeface="楷体" panose="02010609060101010101" pitchFamily="49" charset="-122"/>
              </a:rPr>
              <a:t>1</a:t>
            </a:r>
            <a:r>
              <a:rPr lang="zh-CN" altLang="en-US" sz="2000" dirty="0">
                <a:solidFill>
                  <a:srgbClr val="080808"/>
                </a:solidFill>
                <a:latin typeface="楷体" panose="02010609060101010101" pitchFamily="49" charset="-122"/>
                <a:ea typeface="楷体" panose="02010609060101010101" pitchFamily="49" charset="-122"/>
              </a:rPr>
              <a:t>，右分支的</a:t>
            </a:r>
            <a:r>
              <a:rPr lang="en-US" altLang="zh-CN" sz="2000" dirty="0">
                <a:solidFill>
                  <a:srgbClr val="080808"/>
                </a:solidFill>
                <a:latin typeface="楷体" panose="02010609060101010101" pitchFamily="49" charset="-122"/>
                <a:ea typeface="楷体" panose="02010609060101010101" pitchFamily="49" charset="-122"/>
              </a:rPr>
              <a:t>0</a:t>
            </a:r>
            <a:r>
              <a:rPr lang="zh-CN" altLang="en-US" sz="2000" dirty="0">
                <a:solidFill>
                  <a:srgbClr val="080808"/>
                </a:solidFill>
                <a:latin typeface="楷体" panose="02010609060101010101" pitchFamily="49" charset="-122"/>
                <a:ea typeface="楷体" panose="02010609060101010101" pitchFamily="49" charset="-122"/>
              </a:rPr>
              <a:t>表示不装入物品</a:t>
            </a:r>
            <a:r>
              <a:rPr lang="en-US" altLang="zh-CN" sz="2000" dirty="0">
                <a:solidFill>
                  <a:srgbClr val="080808"/>
                </a:solidFill>
                <a:latin typeface="楷体" panose="02010609060101010101" pitchFamily="49" charset="-122"/>
                <a:ea typeface="楷体" panose="02010609060101010101" pitchFamily="49" charset="-122"/>
              </a:rPr>
              <a:t>1</a:t>
            </a:r>
            <a:r>
              <a:rPr lang="zh-CN" altLang="en-US" sz="2000" dirty="0">
                <a:solidFill>
                  <a:srgbClr val="080808"/>
                </a:solidFill>
                <a:latin typeface="楷体" panose="02010609060101010101" pitchFamily="49" charset="-122"/>
                <a:ea typeface="楷体" panose="02010609060101010101" pitchFamily="49" charset="-122"/>
              </a:rPr>
              <a:t>，第</a:t>
            </a:r>
            <a:r>
              <a:rPr lang="en-US" altLang="zh-CN" sz="2000" dirty="0">
                <a:solidFill>
                  <a:srgbClr val="080808"/>
                </a:solidFill>
                <a:latin typeface="楷体" panose="02010609060101010101" pitchFamily="49" charset="-122"/>
                <a:ea typeface="楷体" panose="02010609060101010101" pitchFamily="49" charset="-122"/>
              </a:rPr>
              <a:t>2</a:t>
            </a:r>
            <a:r>
              <a:rPr lang="zh-CN" altLang="en-US" sz="2000" dirty="0">
                <a:solidFill>
                  <a:srgbClr val="080808"/>
                </a:solidFill>
                <a:latin typeface="楷体" panose="02010609060101010101" pitchFamily="49" charset="-122"/>
                <a:ea typeface="楷体" panose="02010609060101010101" pitchFamily="49" charset="-122"/>
              </a:rPr>
              <a:t>层到第</a:t>
            </a:r>
            <a:r>
              <a:rPr lang="en-US" altLang="zh-CN" sz="2000" dirty="0">
                <a:solidFill>
                  <a:srgbClr val="080808"/>
                </a:solidFill>
                <a:latin typeface="楷体" panose="02010609060101010101" pitchFamily="49" charset="-122"/>
                <a:ea typeface="楷体" panose="02010609060101010101" pitchFamily="49" charset="-122"/>
              </a:rPr>
              <a:t>3</a:t>
            </a:r>
            <a:r>
              <a:rPr lang="zh-CN" altLang="en-US" sz="2000" dirty="0">
                <a:solidFill>
                  <a:srgbClr val="080808"/>
                </a:solidFill>
                <a:latin typeface="楷体" panose="02010609060101010101" pitchFamily="49" charset="-122"/>
                <a:ea typeface="楷体" panose="02010609060101010101" pitchFamily="49" charset="-122"/>
              </a:rPr>
              <a:t>层间的边表示对物品</a:t>
            </a:r>
            <a:r>
              <a:rPr lang="en-US" altLang="zh-CN" sz="2000" dirty="0">
                <a:solidFill>
                  <a:srgbClr val="080808"/>
                </a:solidFill>
                <a:latin typeface="楷体" panose="02010609060101010101" pitchFamily="49" charset="-122"/>
                <a:ea typeface="楷体" panose="02010609060101010101" pitchFamily="49" charset="-122"/>
              </a:rPr>
              <a:t>2</a:t>
            </a:r>
            <a:r>
              <a:rPr lang="zh-CN" altLang="en-US" sz="2000" dirty="0">
                <a:solidFill>
                  <a:srgbClr val="080808"/>
                </a:solidFill>
                <a:latin typeface="楷体" panose="02010609060101010101" pitchFamily="49" charset="-122"/>
                <a:ea typeface="楷体" panose="02010609060101010101" pitchFamily="49" charset="-122"/>
              </a:rPr>
              <a:t>的选择，左分支的</a:t>
            </a:r>
            <a:r>
              <a:rPr lang="en-US" altLang="zh-CN" sz="2000" dirty="0">
                <a:solidFill>
                  <a:srgbClr val="080808"/>
                </a:solidFill>
                <a:latin typeface="楷体" panose="02010609060101010101" pitchFamily="49" charset="-122"/>
                <a:ea typeface="楷体" panose="02010609060101010101" pitchFamily="49" charset="-122"/>
              </a:rPr>
              <a:t>1</a:t>
            </a:r>
            <a:r>
              <a:rPr lang="zh-CN" altLang="en-US" sz="2000" dirty="0">
                <a:solidFill>
                  <a:srgbClr val="080808"/>
                </a:solidFill>
                <a:latin typeface="楷体" panose="02010609060101010101" pitchFamily="49" charset="-122"/>
                <a:ea typeface="楷体" panose="02010609060101010101" pitchFamily="49" charset="-122"/>
              </a:rPr>
              <a:t>表示装入物品</a:t>
            </a:r>
            <a:r>
              <a:rPr lang="en-US" altLang="zh-CN" sz="2000" dirty="0">
                <a:solidFill>
                  <a:srgbClr val="080808"/>
                </a:solidFill>
                <a:latin typeface="楷体" panose="02010609060101010101" pitchFamily="49" charset="-122"/>
                <a:ea typeface="楷体" panose="02010609060101010101" pitchFamily="49" charset="-122"/>
              </a:rPr>
              <a:t>2</a:t>
            </a:r>
            <a:r>
              <a:rPr lang="zh-CN" altLang="en-US" sz="2000" dirty="0">
                <a:solidFill>
                  <a:srgbClr val="080808"/>
                </a:solidFill>
                <a:latin typeface="楷体" panose="02010609060101010101" pitchFamily="49" charset="-122"/>
                <a:ea typeface="楷体" panose="02010609060101010101" pitchFamily="49" charset="-122"/>
              </a:rPr>
              <a:t>，右分支的</a:t>
            </a:r>
            <a:r>
              <a:rPr lang="en-US" altLang="zh-CN" sz="2000" dirty="0">
                <a:solidFill>
                  <a:srgbClr val="080808"/>
                </a:solidFill>
                <a:latin typeface="楷体" panose="02010609060101010101" pitchFamily="49" charset="-122"/>
                <a:ea typeface="楷体" panose="02010609060101010101" pitchFamily="49" charset="-122"/>
              </a:rPr>
              <a:t>0</a:t>
            </a:r>
            <a:r>
              <a:rPr lang="zh-CN" altLang="en-US" sz="2000" dirty="0">
                <a:solidFill>
                  <a:srgbClr val="080808"/>
                </a:solidFill>
                <a:latin typeface="楷体" panose="02010609060101010101" pitchFamily="49" charset="-122"/>
                <a:ea typeface="楷体" panose="02010609060101010101" pitchFamily="49" charset="-122"/>
              </a:rPr>
              <a:t>表示不装入物品</a:t>
            </a:r>
            <a:r>
              <a:rPr lang="en-US" altLang="zh-CN" sz="2000" dirty="0">
                <a:solidFill>
                  <a:srgbClr val="080808"/>
                </a:solidFill>
                <a:latin typeface="楷体" panose="02010609060101010101" pitchFamily="49" charset="-122"/>
                <a:ea typeface="楷体" panose="02010609060101010101" pitchFamily="49" charset="-122"/>
              </a:rPr>
              <a:t>2</a:t>
            </a:r>
            <a:r>
              <a:rPr lang="zh-CN" altLang="en-US" sz="2000" dirty="0">
                <a:solidFill>
                  <a:srgbClr val="080808"/>
                </a:solidFill>
                <a:latin typeface="楷体" panose="02010609060101010101" pitchFamily="49" charset="-122"/>
                <a:ea typeface="楷体" panose="02010609060101010101" pitchFamily="49" charset="-122"/>
              </a:rPr>
              <a:t>，第</a:t>
            </a:r>
            <a:r>
              <a:rPr lang="en-US" altLang="zh-CN" sz="2000" dirty="0">
                <a:solidFill>
                  <a:srgbClr val="080808"/>
                </a:solidFill>
                <a:latin typeface="楷体" panose="02010609060101010101" pitchFamily="49" charset="-122"/>
                <a:ea typeface="楷体" panose="02010609060101010101" pitchFamily="49" charset="-122"/>
              </a:rPr>
              <a:t>3</a:t>
            </a:r>
            <a:r>
              <a:rPr lang="zh-CN" altLang="en-US" sz="2000" dirty="0">
                <a:solidFill>
                  <a:srgbClr val="080808"/>
                </a:solidFill>
                <a:latin typeface="楷体" panose="02010609060101010101" pitchFamily="49" charset="-122"/>
                <a:ea typeface="楷体" panose="02010609060101010101" pitchFamily="49" charset="-122"/>
              </a:rPr>
              <a:t>层到第</a:t>
            </a:r>
            <a:r>
              <a:rPr lang="en-US" altLang="zh-CN" sz="2000" dirty="0">
                <a:solidFill>
                  <a:srgbClr val="080808"/>
                </a:solidFill>
                <a:latin typeface="楷体" panose="02010609060101010101" pitchFamily="49" charset="-122"/>
                <a:ea typeface="楷体" panose="02010609060101010101" pitchFamily="49" charset="-122"/>
              </a:rPr>
              <a:t>4</a:t>
            </a:r>
            <a:r>
              <a:rPr lang="zh-CN" altLang="en-US" sz="2000" dirty="0">
                <a:solidFill>
                  <a:srgbClr val="080808"/>
                </a:solidFill>
                <a:latin typeface="楷体" panose="02010609060101010101" pitchFamily="49" charset="-122"/>
                <a:ea typeface="楷体" panose="02010609060101010101" pitchFamily="49" charset="-122"/>
              </a:rPr>
              <a:t>层间的边表示对物品</a:t>
            </a:r>
            <a:r>
              <a:rPr lang="en-US" altLang="zh-CN" sz="2000" dirty="0">
                <a:solidFill>
                  <a:srgbClr val="080808"/>
                </a:solidFill>
                <a:latin typeface="楷体" panose="02010609060101010101" pitchFamily="49" charset="-122"/>
                <a:ea typeface="楷体" panose="02010609060101010101" pitchFamily="49" charset="-122"/>
              </a:rPr>
              <a:t>3</a:t>
            </a:r>
            <a:r>
              <a:rPr lang="zh-CN" altLang="en-US" sz="2000" dirty="0">
                <a:solidFill>
                  <a:srgbClr val="080808"/>
                </a:solidFill>
                <a:latin typeface="楷体" panose="02010609060101010101" pitchFamily="49" charset="-122"/>
                <a:ea typeface="楷体" panose="02010609060101010101" pitchFamily="49" charset="-122"/>
              </a:rPr>
              <a:t>的选择，左分支的</a:t>
            </a:r>
            <a:r>
              <a:rPr lang="en-US" altLang="zh-CN" sz="2000" dirty="0">
                <a:solidFill>
                  <a:srgbClr val="080808"/>
                </a:solidFill>
                <a:latin typeface="楷体" panose="02010609060101010101" pitchFamily="49" charset="-122"/>
                <a:ea typeface="楷体" panose="02010609060101010101" pitchFamily="49" charset="-122"/>
              </a:rPr>
              <a:t>1</a:t>
            </a:r>
            <a:r>
              <a:rPr lang="zh-CN" altLang="en-US" sz="2000" dirty="0">
                <a:solidFill>
                  <a:srgbClr val="080808"/>
                </a:solidFill>
                <a:latin typeface="楷体" panose="02010609060101010101" pitchFamily="49" charset="-122"/>
                <a:ea typeface="楷体" panose="02010609060101010101" pitchFamily="49" charset="-122"/>
              </a:rPr>
              <a:t>表示装入物品</a:t>
            </a:r>
            <a:r>
              <a:rPr lang="en-US" altLang="zh-CN" sz="2000" dirty="0">
                <a:solidFill>
                  <a:srgbClr val="080808"/>
                </a:solidFill>
                <a:latin typeface="楷体" panose="02010609060101010101" pitchFamily="49" charset="-122"/>
                <a:ea typeface="楷体" panose="02010609060101010101" pitchFamily="49" charset="-122"/>
              </a:rPr>
              <a:t>3</a:t>
            </a:r>
            <a:r>
              <a:rPr lang="zh-CN" altLang="en-US" sz="2000" dirty="0">
                <a:solidFill>
                  <a:srgbClr val="080808"/>
                </a:solidFill>
                <a:latin typeface="楷体" panose="02010609060101010101" pitchFamily="49" charset="-122"/>
                <a:ea typeface="楷体" panose="02010609060101010101" pitchFamily="49" charset="-122"/>
              </a:rPr>
              <a:t>，右分支的</a:t>
            </a:r>
            <a:r>
              <a:rPr lang="en-US" altLang="zh-CN" sz="2000" dirty="0">
                <a:solidFill>
                  <a:srgbClr val="080808"/>
                </a:solidFill>
                <a:latin typeface="楷体" panose="02010609060101010101" pitchFamily="49" charset="-122"/>
                <a:ea typeface="楷体" panose="02010609060101010101" pitchFamily="49" charset="-122"/>
              </a:rPr>
              <a:t>0</a:t>
            </a:r>
            <a:r>
              <a:rPr lang="zh-CN" altLang="en-US" sz="2000" dirty="0">
                <a:solidFill>
                  <a:srgbClr val="080808"/>
                </a:solidFill>
                <a:latin typeface="楷体" panose="02010609060101010101" pitchFamily="49" charset="-122"/>
                <a:ea typeface="楷体" panose="02010609060101010101" pitchFamily="49" charset="-122"/>
              </a:rPr>
              <a:t>表示不装入物品</a:t>
            </a:r>
            <a:r>
              <a:rPr lang="en-US" altLang="zh-CN" sz="2000" dirty="0">
                <a:solidFill>
                  <a:srgbClr val="080808"/>
                </a:solidFill>
                <a:latin typeface="楷体" panose="02010609060101010101" pitchFamily="49" charset="-122"/>
                <a:ea typeface="楷体" panose="02010609060101010101" pitchFamily="49" charset="-122"/>
              </a:rPr>
              <a:t>3</a:t>
            </a:r>
            <a:r>
              <a:rPr lang="zh-CN" altLang="en-US" sz="2000" dirty="0">
                <a:solidFill>
                  <a:srgbClr val="080808"/>
                </a:solidFill>
                <a:latin typeface="楷体" panose="02010609060101010101" pitchFamily="49" charset="-122"/>
                <a:ea typeface="楷体" panose="02010609060101010101" pitchFamily="49" charset="-122"/>
              </a:rPr>
              <a:t>，树中的</a:t>
            </a:r>
            <a:r>
              <a:rPr lang="en-US" altLang="zh-CN" sz="2000" dirty="0">
                <a:solidFill>
                  <a:srgbClr val="080808"/>
                </a:solidFill>
                <a:latin typeface="楷体" panose="02010609060101010101" pitchFamily="49" charset="-122"/>
                <a:ea typeface="楷体" panose="02010609060101010101" pitchFamily="49" charset="-122"/>
              </a:rPr>
              <a:t>8</a:t>
            </a:r>
            <a:r>
              <a:rPr lang="zh-CN" altLang="en-US" sz="2000" dirty="0">
                <a:solidFill>
                  <a:srgbClr val="080808"/>
                </a:solidFill>
                <a:latin typeface="楷体" panose="02010609060101010101" pitchFamily="49" charset="-122"/>
                <a:ea typeface="楷体" panose="02010609060101010101" pitchFamily="49" charset="-122"/>
              </a:rPr>
              <a:t>个叶子结点分别代表此问题的 </a:t>
            </a:r>
            <a:r>
              <a:rPr lang="en-US" altLang="zh-CN" sz="2000" dirty="0">
                <a:solidFill>
                  <a:srgbClr val="080808"/>
                </a:solidFill>
                <a:latin typeface="楷体" panose="02010609060101010101" pitchFamily="49" charset="-122"/>
                <a:ea typeface="楷体" panose="02010609060101010101" pitchFamily="49" charset="-122"/>
              </a:rPr>
              <a:t>8 </a:t>
            </a:r>
            <a:r>
              <a:rPr lang="zh-CN" altLang="en-US" sz="2000" dirty="0">
                <a:solidFill>
                  <a:srgbClr val="080808"/>
                </a:solidFill>
                <a:latin typeface="楷体" panose="02010609060101010101" pitchFamily="49" charset="-122"/>
                <a:ea typeface="楷体" panose="02010609060101010101" pitchFamily="49" charset="-122"/>
              </a:rPr>
              <a:t>个可能解。</a:t>
            </a:r>
            <a:endParaRPr lang="zh-CN" altLang="en-US" sz="2000" dirty="0">
              <a:solidFill>
                <a:srgbClr val="080808"/>
              </a:solidFill>
              <a:latin typeface="楷体" panose="02010609060101010101" pitchFamily="49" charset="-122"/>
              <a:ea typeface="楷体" panose="02010609060101010101" pitchFamily="49" charset="-122"/>
            </a:endParaRPr>
          </a:p>
        </p:txBody>
      </p:sp>
      <p:pic>
        <p:nvPicPr>
          <p:cNvPr id="3" name="图片 2"/>
          <p:cNvPicPr/>
          <p:nvPr/>
        </p:nvPicPr>
        <p:blipFill>
          <a:blip r:embed="rId6">
            <a:extLst>
              <a:ext uri="{28A0092B-C50C-407E-A947-70E740481C1C}">
                <a14:useLocalDpi xmlns:a14="http://schemas.microsoft.com/office/drawing/2010/main" val="0"/>
              </a:ext>
            </a:extLst>
          </a:blip>
          <a:stretch>
            <a:fillRect/>
          </a:stretch>
        </p:blipFill>
        <p:spPr>
          <a:xfrm>
            <a:off x="434862" y="3063736"/>
            <a:ext cx="8208912" cy="348932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172869" y="1484784"/>
            <a:ext cx="8798261"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spcBef>
                <a:spcPts val="0"/>
              </a:spcBef>
              <a:buSzTx/>
              <a:buFontTx/>
              <a:buNone/>
            </a:pPr>
            <a:r>
              <a:rPr lang="en-US" altLang="zh-CN" sz="2400" b="1" dirty="0">
                <a:solidFill>
                  <a:srgbClr val="080808"/>
                </a:solidFill>
                <a:latin typeface="楷体" panose="02010609060101010101" pitchFamily="49" charset="-122"/>
                <a:ea typeface="楷体" panose="02010609060101010101" pitchFamily="49" charset="-122"/>
              </a:rPr>
              <a:t>6.1.2 </a:t>
            </a:r>
            <a:r>
              <a:rPr lang="zh-CN" altLang="en-US" sz="2400" b="1" dirty="0">
                <a:solidFill>
                  <a:srgbClr val="080808"/>
                </a:solidFill>
                <a:latin typeface="楷体" panose="02010609060101010101" pitchFamily="49" charset="-122"/>
                <a:ea typeface="楷体" panose="02010609060101010101" pitchFamily="49" charset="-122"/>
              </a:rPr>
              <a:t>回朔法的基本思想</a:t>
            </a:r>
            <a:endParaRPr lang="en-US" altLang="zh-CN" sz="2400" b="1" dirty="0">
              <a:solidFill>
                <a:srgbClr val="080808"/>
              </a:solidFill>
              <a:latin typeface="楷体" panose="02010609060101010101" pitchFamily="49" charset="-122"/>
              <a:ea typeface="楷体" panose="02010609060101010101" pitchFamily="49" charset="-122"/>
            </a:endParaRPr>
          </a:p>
          <a:p>
            <a:pPr>
              <a:spcBef>
                <a:spcPts val="0"/>
              </a:spcBef>
              <a:buSzTx/>
              <a:buFontTx/>
              <a:buNone/>
            </a:pPr>
            <a:endParaRPr lang="zh-CN" altLang="en-US" sz="2400" b="1"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回溯法是有组织的，在不断探索的过程中寻找问题的解，当探索到某一步时，发现不满足约束条件的时候，就回退一步，而后重新选择，继续尝试其它的路径，这种方法就叫做回溯法，满足回溯条件的某个状态的点称为“回溯点”。</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在解空间树中，回溯法是从初始状态，即根结点出发，遵循深度优先遍历的策略，探索满足约束条件的解。在探索到树中的某一结点时，会先判断该结点所对应解是否满足约束条件，即判断该结点是否包含问题的解，如果不满足条件，就不再对以该结点为根的子树进行探索，称之为剪枝；如果满足条件的话再进入以该结点为根的子树，继续按照深度优先策略进行探索。</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endParaRPr lang="zh-CN" altLang="en-US" sz="2400" dirty="0">
              <a:solidFill>
                <a:srgbClr val="080808"/>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172869" y="1484784"/>
            <a:ext cx="879826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例：在</a:t>
            </a:r>
            <a:r>
              <a:rPr lang="en-US" altLang="zh-CN" sz="2400" dirty="0">
                <a:solidFill>
                  <a:srgbClr val="080808"/>
                </a:solidFill>
                <a:latin typeface="楷体" panose="02010609060101010101" pitchFamily="49" charset="-122"/>
                <a:ea typeface="楷体" panose="02010609060101010101" pitchFamily="49" charset="-122"/>
              </a:rPr>
              <a:t>0-1</a:t>
            </a:r>
            <a:r>
              <a:rPr lang="zh-CN" altLang="en-US" sz="2400" dirty="0">
                <a:solidFill>
                  <a:srgbClr val="080808"/>
                </a:solidFill>
                <a:latin typeface="楷体" panose="02010609060101010101" pitchFamily="49" charset="-122"/>
                <a:ea typeface="楷体" panose="02010609060101010101" pitchFamily="49" charset="-122"/>
              </a:rPr>
              <a:t>背包问题中，已知</a:t>
            </a:r>
            <a:r>
              <a:rPr lang="en-US" altLang="zh-CN" sz="2400" dirty="0">
                <a:solidFill>
                  <a:srgbClr val="080808"/>
                </a:solidFill>
                <a:latin typeface="楷体" panose="02010609060101010101" pitchFamily="49" charset="-122"/>
                <a:ea typeface="楷体" panose="02010609060101010101" pitchFamily="49" charset="-122"/>
              </a:rPr>
              <a:t>n=3</a:t>
            </a:r>
            <a:r>
              <a:rPr lang="zh-CN" altLang="en-US" sz="2400" dirty="0">
                <a:solidFill>
                  <a:srgbClr val="080808"/>
                </a:solidFill>
                <a:latin typeface="楷体" panose="02010609060101010101" pitchFamily="49" charset="-122"/>
                <a:ea typeface="楷体" panose="02010609060101010101" pitchFamily="49" charset="-122"/>
              </a:rPr>
              <a:t>，背包容量为</a:t>
            </a:r>
            <a:r>
              <a:rPr lang="en-US" altLang="zh-CN" sz="2400" dirty="0">
                <a:solidFill>
                  <a:srgbClr val="080808"/>
                </a:solidFill>
                <a:latin typeface="楷体" panose="02010609060101010101" pitchFamily="49" charset="-122"/>
                <a:ea typeface="楷体" panose="02010609060101010101" pitchFamily="49" charset="-122"/>
              </a:rPr>
              <a:t>20</a:t>
            </a:r>
            <a:r>
              <a:rPr lang="zh-CN" altLang="en-US" sz="2400" dirty="0">
                <a:solidFill>
                  <a:srgbClr val="080808"/>
                </a:solidFill>
                <a:latin typeface="楷体" panose="02010609060101010101" pitchFamily="49" charset="-122"/>
                <a:ea typeface="楷体" panose="02010609060101010101" pitchFamily="49" charset="-122"/>
              </a:rPr>
              <a:t>。物品清单如下表所示：</a:t>
            </a:r>
            <a:endParaRPr lang="zh-CN" altLang="en-US" sz="2400" dirty="0">
              <a:solidFill>
                <a:srgbClr val="080808"/>
              </a:solidFill>
              <a:latin typeface="楷体" panose="02010609060101010101" pitchFamily="49" charset="-122"/>
              <a:ea typeface="楷体" panose="02010609060101010101" pitchFamily="49" charset="-122"/>
            </a:endParaRPr>
          </a:p>
        </p:txBody>
      </p:sp>
      <p:pic>
        <p:nvPicPr>
          <p:cNvPr id="2" name="图片 1"/>
          <p:cNvPicPr>
            <a:picLocks noChangeAspect="1"/>
          </p:cNvPicPr>
          <p:nvPr/>
        </p:nvPicPr>
        <p:blipFill>
          <a:blip r:embed="rId6"/>
          <a:stretch>
            <a:fillRect/>
          </a:stretch>
        </p:blipFill>
        <p:spPr>
          <a:xfrm>
            <a:off x="2195736" y="2420888"/>
            <a:ext cx="4136831" cy="24990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0" y="0"/>
            <a:ext cx="9252520" cy="7038092"/>
          </a:xfrm>
          <a:prstGeom prst="rect">
            <a:avLst/>
          </a:prstGeom>
        </p:spPr>
      </p:pic>
      <p:pic>
        <p:nvPicPr>
          <p:cNvPr id="4" name="图片 3"/>
          <p:cNvPicPr/>
          <p:nvPr/>
        </p:nvPicPr>
        <p:blipFill>
          <a:blip r:embed="rId2">
            <a:extLst>
              <a:ext uri="{28A0092B-C50C-407E-A947-70E740481C1C}">
                <a14:useLocalDpi xmlns:a14="http://schemas.microsoft.com/office/drawing/2010/main" val="0"/>
              </a:ext>
            </a:extLst>
          </a:blip>
          <a:stretch>
            <a:fillRect/>
          </a:stretch>
        </p:blipFill>
        <p:spPr>
          <a:xfrm>
            <a:off x="0" y="3573017"/>
            <a:ext cx="9144001" cy="346507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0" y="0"/>
            <a:ext cx="9252520" cy="7038092"/>
          </a:xfrm>
          <a:prstGeom prst="rect">
            <a:avLst/>
          </a:prstGeom>
        </p:spPr>
      </p:pic>
      <p:pic>
        <p:nvPicPr>
          <p:cNvPr id="4" name="图片 3"/>
          <p:cNvPicPr/>
          <p:nvPr/>
        </p:nvPicPr>
        <p:blipFill>
          <a:blip r:embed="rId2">
            <a:extLst>
              <a:ext uri="{28A0092B-C50C-407E-A947-70E740481C1C}">
                <a14:useLocalDpi xmlns:a14="http://schemas.microsoft.com/office/drawing/2010/main" val="0"/>
              </a:ext>
            </a:extLst>
          </a:blip>
          <a:stretch>
            <a:fillRect/>
          </a:stretch>
        </p:blipFill>
        <p:spPr>
          <a:xfrm>
            <a:off x="54259" y="539988"/>
            <a:ext cx="9144001" cy="29610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107504" y="908720"/>
            <a:ext cx="8798261"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spcBef>
                <a:spcPts val="0"/>
              </a:spcBef>
              <a:buSzTx/>
              <a:buFontTx/>
              <a:buNone/>
            </a:pPr>
            <a:r>
              <a:rPr lang="en-US" altLang="zh-CN" sz="2400" b="1" dirty="0">
                <a:solidFill>
                  <a:srgbClr val="080808"/>
                </a:solidFill>
                <a:latin typeface="楷体" panose="02010609060101010101" pitchFamily="49" charset="-122"/>
                <a:ea typeface="楷体" panose="02010609060101010101" pitchFamily="49" charset="-122"/>
              </a:rPr>
              <a:t>6.1.3  0-1</a:t>
            </a:r>
            <a:r>
              <a:rPr lang="zh-CN" altLang="en-US" sz="2400" b="1" dirty="0">
                <a:solidFill>
                  <a:srgbClr val="080808"/>
                </a:solidFill>
                <a:latin typeface="楷体" panose="02010609060101010101" pitchFamily="49" charset="-122"/>
                <a:ea typeface="楷体" panose="02010609060101010101" pitchFamily="49" charset="-122"/>
              </a:rPr>
              <a:t>背包问题</a:t>
            </a:r>
            <a:endParaRPr lang="zh-CN" altLang="en-US" sz="2400" b="1"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问题描述：给定一个容量为</a:t>
            </a:r>
            <a:r>
              <a:rPr lang="en-US" altLang="zh-CN" sz="2400" dirty="0">
                <a:solidFill>
                  <a:srgbClr val="080808"/>
                </a:solidFill>
                <a:latin typeface="楷体" panose="02010609060101010101" pitchFamily="49" charset="-122"/>
                <a:ea typeface="楷体" panose="02010609060101010101" pitchFamily="49" charset="-122"/>
              </a:rPr>
              <a:t>C</a:t>
            </a:r>
            <a:r>
              <a:rPr lang="zh-CN" altLang="en-US" sz="2400" dirty="0">
                <a:solidFill>
                  <a:srgbClr val="080808"/>
                </a:solidFill>
                <a:latin typeface="楷体" panose="02010609060101010101" pitchFamily="49" charset="-122"/>
                <a:ea typeface="楷体" panose="02010609060101010101" pitchFamily="49" charset="-122"/>
              </a:rPr>
              <a:t>的背包和</a:t>
            </a:r>
            <a:r>
              <a:rPr lang="en-US" altLang="zh-CN" sz="2400" dirty="0">
                <a:solidFill>
                  <a:srgbClr val="080808"/>
                </a:solidFill>
                <a:latin typeface="楷体" panose="02010609060101010101" pitchFamily="49" charset="-122"/>
                <a:ea typeface="楷体" panose="02010609060101010101" pitchFamily="49" charset="-122"/>
              </a:rPr>
              <a:t>n</a:t>
            </a:r>
            <a:r>
              <a:rPr lang="zh-CN" altLang="en-US" sz="2400" dirty="0">
                <a:solidFill>
                  <a:srgbClr val="080808"/>
                </a:solidFill>
                <a:latin typeface="楷体" panose="02010609060101010101" pitchFamily="49" charset="-122"/>
                <a:ea typeface="楷体" panose="02010609060101010101" pitchFamily="49" charset="-122"/>
              </a:rPr>
              <a:t>种物品，已知物品</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的重量是 </a:t>
            </a:r>
            <a:r>
              <a:rPr lang="en-US" altLang="zh-CN" sz="2400" dirty="0" err="1">
                <a:solidFill>
                  <a:srgbClr val="080808"/>
                </a:solidFill>
                <a:latin typeface="楷体" panose="02010609060101010101" pitchFamily="49" charset="-122"/>
                <a:ea typeface="楷体" panose="02010609060101010101" pitchFamily="49" charset="-122"/>
              </a:rPr>
              <a:t>wi</a:t>
            </a:r>
            <a:r>
              <a:rPr lang="zh-CN" altLang="en-US" sz="2400" dirty="0">
                <a:solidFill>
                  <a:srgbClr val="080808"/>
                </a:solidFill>
                <a:latin typeface="楷体" panose="02010609060101010101" pitchFamily="49" charset="-122"/>
                <a:ea typeface="楷体" panose="02010609060101010101" pitchFamily="49" charset="-122"/>
              </a:rPr>
              <a:t>，其价值为 </a:t>
            </a:r>
            <a:r>
              <a:rPr lang="en-US" altLang="zh-CN" sz="2400" dirty="0">
                <a:solidFill>
                  <a:srgbClr val="080808"/>
                </a:solidFill>
                <a:latin typeface="楷体" panose="02010609060101010101" pitchFamily="49" charset="-122"/>
                <a:ea typeface="楷体" panose="02010609060101010101" pitchFamily="49" charset="-122"/>
              </a:rPr>
              <a:t>vi</a:t>
            </a:r>
            <a:r>
              <a:rPr lang="zh-CN" altLang="en-US" sz="2400" dirty="0">
                <a:solidFill>
                  <a:srgbClr val="080808"/>
                </a:solidFill>
                <a:latin typeface="楷体" panose="02010609060101010101" pitchFamily="49" charset="-122"/>
                <a:ea typeface="楷体" panose="02010609060101010101" pitchFamily="49" charset="-122"/>
              </a:rPr>
              <a:t>，求解的问题是</a:t>
            </a:r>
            <a:r>
              <a:rPr lang="en-US" altLang="zh-CN" sz="2400" dirty="0">
                <a:solidFill>
                  <a:srgbClr val="080808"/>
                </a:solidFill>
                <a:latin typeface="楷体" panose="02010609060101010101" pitchFamily="49" charset="-122"/>
                <a:ea typeface="楷体" panose="02010609060101010101" pitchFamily="49" charset="-122"/>
              </a:rPr>
              <a:t>: </a:t>
            </a:r>
            <a:r>
              <a:rPr lang="zh-CN" altLang="en-US" sz="2400" dirty="0">
                <a:solidFill>
                  <a:srgbClr val="080808"/>
                </a:solidFill>
                <a:latin typeface="楷体" panose="02010609060101010101" pitchFamily="49" charset="-122"/>
                <a:ea typeface="楷体" panose="02010609060101010101" pitchFamily="49" charset="-122"/>
              </a:rPr>
              <a:t>如何选择装入背包的物品，使得装入背包中物品的总价值最大。</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）设</a:t>
            </a:r>
            <a:r>
              <a:rPr lang="en-US" altLang="zh-CN" sz="2400" dirty="0">
                <a:solidFill>
                  <a:srgbClr val="080808"/>
                </a:solidFill>
                <a:latin typeface="楷体" panose="02010609060101010101" pitchFamily="49" charset="-122"/>
                <a:ea typeface="楷体" panose="02010609060101010101" pitchFamily="49" charset="-122"/>
              </a:rPr>
              <a:t>xi </a:t>
            </a:r>
            <a:r>
              <a:rPr lang="zh-CN" altLang="en-US" sz="2400" dirty="0">
                <a:solidFill>
                  <a:srgbClr val="080808"/>
                </a:solidFill>
                <a:latin typeface="楷体" panose="02010609060101010101" pitchFamily="49" charset="-122"/>
                <a:ea typeface="楷体" panose="02010609060101010101" pitchFamily="49" charset="-122"/>
              </a:rPr>
              <a:t>表示物品 </a:t>
            </a:r>
            <a:r>
              <a:rPr lang="en-US" altLang="zh-CN" sz="2400" dirty="0" err="1">
                <a:solidFill>
                  <a:srgbClr val="080808"/>
                </a:solidFill>
                <a:latin typeface="楷体" panose="02010609060101010101" pitchFamily="49" charset="-122"/>
                <a:ea typeface="楷体" panose="02010609060101010101" pitchFamily="49" charset="-122"/>
              </a:rPr>
              <a:t>i</a:t>
            </a:r>
            <a:r>
              <a:rPr lang="en-US" altLang="zh-CN" sz="2400" dirty="0">
                <a:solidFill>
                  <a:srgbClr val="080808"/>
                </a:solidFill>
                <a:latin typeface="楷体" panose="02010609060101010101" pitchFamily="49" charset="-122"/>
                <a:ea typeface="楷体" panose="02010609060101010101" pitchFamily="49" charset="-122"/>
              </a:rPr>
              <a:t> </a:t>
            </a:r>
            <a:r>
              <a:rPr lang="zh-CN" altLang="en-US" sz="2400" dirty="0">
                <a:solidFill>
                  <a:srgbClr val="080808"/>
                </a:solidFill>
                <a:latin typeface="楷体" panose="02010609060101010101" pitchFamily="49" charset="-122"/>
                <a:ea typeface="楷体" panose="02010609060101010101" pitchFamily="49" charset="-122"/>
              </a:rPr>
              <a:t>装入背包的情况，即解向量：</a:t>
            </a:r>
            <a:r>
              <a:rPr lang="en-US" altLang="zh-CN" sz="2400" dirty="0">
                <a:solidFill>
                  <a:srgbClr val="080808"/>
                </a:solidFill>
                <a:latin typeface="楷体" panose="02010609060101010101" pitchFamily="49" charset="-122"/>
                <a:ea typeface="楷体" panose="02010609060101010101" pitchFamily="49" charset="-122"/>
              </a:rPr>
              <a:t>X=(x1, x2, …, </a:t>
            </a:r>
            <a:r>
              <a:rPr lang="en-US" altLang="zh-CN" sz="2400" dirty="0" err="1">
                <a:solidFill>
                  <a:srgbClr val="080808"/>
                </a:solidFill>
                <a:latin typeface="楷体" panose="02010609060101010101" pitchFamily="49" charset="-122"/>
                <a:ea typeface="楷体" panose="02010609060101010101" pitchFamily="49" charset="-122"/>
              </a:rPr>
              <a:t>xn</a:t>
            </a:r>
            <a:r>
              <a:rPr lang="en-US" altLang="zh-CN" sz="2400" dirty="0">
                <a:solidFill>
                  <a:srgbClr val="080808"/>
                </a:solidFill>
                <a:latin typeface="楷体" panose="02010609060101010101" pitchFamily="49" charset="-122"/>
                <a:ea typeface="楷体" panose="02010609060101010101" pitchFamily="49" charset="-122"/>
              </a:rPr>
              <a:t>), </a:t>
            </a:r>
            <a:r>
              <a:rPr lang="zh-CN" altLang="en-US" sz="2400" dirty="0">
                <a:solidFill>
                  <a:srgbClr val="080808"/>
                </a:solidFill>
                <a:latin typeface="楷体" panose="02010609060101010101" pitchFamily="49" charset="-122"/>
                <a:ea typeface="楷体" panose="02010609060101010101" pitchFamily="49" charset="-122"/>
              </a:rPr>
              <a:t>则</a:t>
            </a:r>
            <a:r>
              <a:rPr lang="en-US" altLang="zh-CN" sz="2400" dirty="0">
                <a:solidFill>
                  <a:srgbClr val="080808"/>
                </a:solidFill>
                <a:latin typeface="楷体" panose="02010609060101010101" pitchFamily="49" charset="-122"/>
                <a:ea typeface="楷体" panose="02010609060101010101" pitchFamily="49" charset="-122"/>
              </a:rPr>
              <a:t>xi</a:t>
            </a:r>
            <a:r>
              <a:rPr lang="zh-CN" altLang="en-US" sz="2400" dirty="0">
                <a:solidFill>
                  <a:srgbClr val="080808"/>
                </a:solidFill>
                <a:latin typeface="楷体" panose="02010609060101010101" pitchFamily="49" charset="-122"/>
                <a:ea typeface="楷体" panose="02010609060101010101" pitchFamily="49" charset="-122"/>
              </a:rPr>
              <a:t>取值只有</a:t>
            </a:r>
            <a:r>
              <a:rPr lang="en-US" altLang="zh-CN" sz="2400" dirty="0">
                <a:solidFill>
                  <a:srgbClr val="080808"/>
                </a:solidFill>
                <a:latin typeface="楷体" panose="02010609060101010101" pitchFamily="49" charset="-122"/>
                <a:ea typeface="楷体" panose="02010609060101010101" pitchFamily="49" charset="-122"/>
              </a:rPr>
              <a:t>0</a:t>
            </a:r>
            <a:r>
              <a:rPr lang="zh-CN" altLang="en-US" sz="2400" dirty="0">
                <a:solidFill>
                  <a:srgbClr val="080808"/>
                </a:solidFill>
                <a:latin typeface="楷体" panose="02010609060101010101" pitchFamily="49" charset="-122"/>
                <a:ea typeface="楷体" panose="02010609060101010101" pitchFamily="49" charset="-122"/>
              </a:rPr>
              <a:t>和</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，当</a:t>
            </a:r>
            <a:r>
              <a:rPr lang="en-US" altLang="zh-CN" sz="2400" dirty="0">
                <a:solidFill>
                  <a:srgbClr val="080808"/>
                </a:solidFill>
                <a:latin typeface="楷体" panose="02010609060101010101" pitchFamily="49" charset="-122"/>
                <a:ea typeface="楷体" panose="02010609060101010101" pitchFamily="49" charset="-122"/>
              </a:rPr>
              <a:t>xi=0</a:t>
            </a:r>
            <a:r>
              <a:rPr lang="zh-CN" altLang="en-US" sz="2400" dirty="0">
                <a:solidFill>
                  <a:srgbClr val="080808"/>
                </a:solidFill>
                <a:latin typeface="楷体" panose="02010609060101010101" pitchFamily="49" charset="-122"/>
                <a:ea typeface="楷体" panose="02010609060101010101" pitchFamily="49" charset="-122"/>
              </a:rPr>
              <a:t>时表示物体</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没被装入背包，当</a:t>
            </a:r>
            <a:r>
              <a:rPr lang="en-US" altLang="zh-CN" sz="2400" dirty="0">
                <a:solidFill>
                  <a:srgbClr val="080808"/>
                </a:solidFill>
                <a:latin typeface="楷体" panose="02010609060101010101" pitchFamily="49" charset="-122"/>
                <a:ea typeface="楷体" panose="02010609060101010101" pitchFamily="49" charset="-122"/>
              </a:rPr>
              <a:t>xi=1</a:t>
            </a:r>
            <a:r>
              <a:rPr lang="zh-CN" altLang="en-US" sz="2400" dirty="0">
                <a:solidFill>
                  <a:srgbClr val="080808"/>
                </a:solidFill>
                <a:latin typeface="楷体" panose="02010609060101010101" pitchFamily="49" charset="-122"/>
                <a:ea typeface="楷体" panose="02010609060101010101" pitchFamily="49" charset="-122"/>
              </a:rPr>
              <a:t>时表示物体</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整个被装入背包。  </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）约束条件</a:t>
            </a: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背包载重量是</a:t>
            </a:r>
            <a:r>
              <a:rPr lang="en-US" altLang="zh-CN" sz="2400" dirty="0">
                <a:solidFill>
                  <a:srgbClr val="080808"/>
                </a:solidFill>
                <a:latin typeface="楷体" panose="02010609060101010101" pitchFamily="49" charset="-122"/>
                <a:ea typeface="楷体" panose="02010609060101010101" pitchFamily="49" charset="-122"/>
              </a:rPr>
              <a:t>C</a:t>
            </a:r>
            <a:r>
              <a:rPr lang="zh-CN" altLang="en-US" sz="2400" dirty="0">
                <a:solidFill>
                  <a:srgbClr val="080808"/>
                </a:solidFill>
                <a:latin typeface="楷体" panose="02010609060101010101" pitchFamily="49" charset="-122"/>
                <a:ea typeface="楷体" panose="02010609060101010101" pitchFamily="49" charset="-122"/>
              </a:rPr>
              <a:t>，因此选入背包中物品的总重量不得超过</a:t>
            </a:r>
            <a:r>
              <a:rPr lang="en-US" altLang="zh-CN" sz="2400" dirty="0">
                <a:solidFill>
                  <a:srgbClr val="080808"/>
                </a:solidFill>
                <a:latin typeface="楷体" panose="02010609060101010101" pitchFamily="49" charset="-122"/>
                <a:ea typeface="楷体" panose="02010609060101010101" pitchFamily="49" charset="-122"/>
              </a:rPr>
              <a:t>C</a:t>
            </a:r>
            <a:r>
              <a:rPr lang="zh-CN" altLang="en-US" sz="2400" dirty="0">
                <a:solidFill>
                  <a:srgbClr val="080808"/>
                </a:solidFill>
                <a:latin typeface="楷体" panose="02010609060101010101" pitchFamily="49" charset="-122"/>
                <a:ea typeface="楷体" panose="02010609060101010101" pitchFamily="49" charset="-122"/>
              </a:rPr>
              <a:t>，即：</a:t>
            </a:r>
            <a:endParaRPr lang="zh-CN" altLang="en-US" sz="2400" dirty="0">
              <a:solidFill>
                <a:srgbClr val="080808"/>
              </a:solidFill>
              <a:latin typeface="楷体" panose="02010609060101010101" pitchFamily="49" charset="-122"/>
              <a:ea typeface="楷体" panose="02010609060101010101" pitchFamily="49" charset="-122"/>
            </a:endParaRPr>
          </a:p>
        </p:txBody>
      </p:sp>
      <p:pic>
        <p:nvPicPr>
          <p:cNvPr id="2" name="图片 1"/>
          <p:cNvPicPr>
            <a:picLocks noChangeAspect="1"/>
          </p:cNvPicPr>
          <p:nvPr/>
        </p:nvPicPr>
        <p:blipFill>
          <a:blip r:embed="rId6"/>
          <a:stretch>
            <a:fillRect/>
          </a:stretch>
        </p:blipFill>
        <p:spPr>
          <a:xfrm>
            <a:off x="3282499" y="4149080"/>
            <a:ext cx="1794936" cy="897467"/>
          </a:xfrm>
          <a:prstGeom prst="rect">
            <a:avLst/>
          </a:prstGeom>
        </p:spPr>
      </p:pic>
      <p:sp>
        <p:nvSpPr>
          <p:cNvPr id="5" name="Text Box 4"/>
          <p:cNvSpPr txBox="1">
            <a:spLocks noChangeArrowheads="1"/>
          </p:cNvSpPr>
          <p:nvPr/>
        </p:nvSpPr>
        <p:spPr bwMode="auto">
          <a:xfrm>
            <a:off x="546195" y="5046547"/>
            <a:ext cx="87982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3</a:t>
            </a:r>
            <a:r>
              <a:rPr lang="zh-CN" altLang="en-US" sz="2400" dirty="0">
                <a:solidFill>
                  <a:srgbClr val="080808"/>
                </a:solidFill>
                <a:latin typeface="楷体" panose="02010609060101010101" pitchFamily="49" charset="-122"/>
                <a:ea typeface="楷体" panose="02010609060101010101" pitchFamily="49" charset="-122"/>
              </a:rPr>
              <a:t>）问题的求解目标</a:t>
            </a: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背包中的物品总价值最大，即：</a:t>
            </a:r>
            <a:endParaRPr lang="zh-CN" altLang="en-US" sz="2400" dirty="0">
              <a:solidFill>
                <a:srgbClr val="080808"/>
              </a:solidFill>
              <a:latin typeface="楷体" panose="02010609060101010101" pitchFamily="49" charset="-122"/>
              <a:ea typeface="楷体" panose="02010609060101010101" pitchFamily="49" charset="-122"/>
            </a:endParaRPr>
          </a:p>
        </p:txBody>
      </p:sp>
      <p:pic>
        <p:nvPicPr>
          <p:cNvPr id="3" name="图片 2"/>
          <p:cNvPicPr>
            <a:picLocks noChangeAspect="1"/>
          </p:cNvPicPr>
          <p:nvPr/>
        </p:nvPicPr>
        <p:blipFill>
          <a:blip r:embed="rId7"/>
          <a:stretch>
            <a:fillRect/>
          </a:stretch>
        </p:blipFill>
        <p:spPr>
          <a:xfrm>
            <a:off x="3224462" y="5508212"/>
            <a:ext cx="1911009" cy="10057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172869" y="1484784"/>
            <a:ext cx="8798261"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、解题思路</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使用回朔法求解</a:t>
            </a:r>
            <a:r>
              <a:rPr lang="en-US" altLang="zh-CN" sz="2400" dirty="0">
                <a:solidFill>
                  <a:srgbClr val="080808"/>
                </a:solidFill>
                <a:latin typeface="楷体" panose="02010609060101010101" pitchFamily="49" charset="-122"/>
                <a:ea typeface="楷体" panose="02010609060101010101" pitchFamily="49" charset="-122"/>
              </a:rPr>
              <a:t>0-1</a:t>
            </a:r>
            <a:r>
              <a:rPr lang="zh-CN" altLang="en-US" sz="2400" dirty="0">
                <a:solidFill>
                  <a:srgbClr val="080808"/>
                </a:solidFill>
                <a:latin typeface="楷体" panose="02010609060101010101" pitchFamily="49" charset="-122"/>
                <a:ea typeface="楷体" panose="02010609060101010101" pitchFamily="49" charset="-122"/>
              </a:rPr>
              <a:t>背包问题，首先确定问题的解空间树。数中的每个结点都代表背包的一种状态，可以在每个结点中存放当前背包装入物品的总重量和总价值。每个结点的下面有两个分支表示对某个物品是否放入背包的两种可能选择。例如，对于对第</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层上的某个结点，其左下方的分支表示物品</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装入背包，此时背包中物品的总重量增加了</a:t>
            </a:r>
            <a:r>
              <a:rPr lang="en-US" altLang="zh-CN" sz="2400" dirty="0">
                <a:solidFill>
                  <a:srgbClr val="080808"/>
                </a:solidFill>
                <a:latin typeface="楷体" panose="02010609060101010101" pitchFamily="49" charset="-122"/>
                <a:ea typeface="楷体" panose="02010609060101010101" pitchFamily="49" charset="-122"/>
              </a:rPr>
              <a:t>w[</a:t>
            </a:r>
            <a:r>
              <a:rPr lang="en-US" altLang="zh-CN" sz="2400" dirty="0" err="1">
                <a:solidFill>
                  <a:srgbClr val="080808"/>
                </a:solidFill>
                <a:latin typeface="楷体" panose="02010609060101010101" pitchFamily="49" charset="-122"/>
                <a:ea typeface="楷体" panose="02010609060101010101" pitchFamily="49" charset="-122"/>
              </a:rPr>
              <a:t>i</a:t>
            </a: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，总价值增加了</a:t>
            </a:r>
            <a:r>
              <a:rPr lang="en-US" altLang="zh-CN" sz="2400" dirty="0">
                <a:solidFill>
                  <a:srgbClr val="080808"/>
                </a:solidFill>
                <a:latin typeface="楷体" panose="02010609060101010101" pitchFamily="49" charset="-122"/>
                <a:ea typeface="楷体" panose="02010609060101010101" pitchFamily="49" charset="-122"/>
              </a:rPr>
              <a:t>v[</a:t>
            </a:r>
            <a:r>
              <a:rPr lang="en-US" altLang="zh-CN" sz="2400" dirty="0" err="1">
                <a:solidFill>
                  <a:srgbClr val="080808"/>
                </a:solidFill>
                <a:latin typeface="楷体" panose="02010609060101010101" pitchFamily="49" charset="-122"/>
                <a:ea typeface="楷体" panose="02010609060101010101" pitchFamily="49" charset="-122"/>
              </a:rPr>
              <a:t>i</a:t>
            </a: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，其右下方的分支表示物品</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不装入背包，此时背包的重量和价值不发生变化。在搜索过程中，用约束条件来进行判断，剪去无法获得可行解的分支，避免无效搜索。所有的可行解都在叶子节点中，最后根据目标函数从中找出最优解。</a:t>
            </a:r>
            <a:endParaRPr lang="zh-CN" altLang="en-US" sz="2400" dirty="0">
              <a:solidFill>
                <a:srgbClr val="080808"/>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172869" y="1484784"/>
            <a:ext cx="879826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例：在</a:t>
            </a:r>
            <a:r>
              <a:rPr lang="en-US" altLang="zh-CN" sz="2400" dirty="0">
                <a:solidFill>
                  <a:srgbClr val="080808"/>
                </a:solidFill>
                <a:latin typeface="楷体" panose="02010609060101010101" pitchFamily="49" charset="-122"/>
                <a:ea typeface="楷体" panose="02010609060101010101" pitchFamily="49" charset="-122"/>
              </a:rPr>
              <a:t>0-1</a:t>
            </a:r>
            <a:r>
              <a:rPr lang="zh-CN" altLang="en-US" sz="2400" dirty="0">
                <a:solidFill>
                  <a:srgbClr val="080808"/>
                </a:solidFill>
                <a:latin typeface="楷体" panose="02010609060101010101" pitchFamily="49" charset="-122"/>
                <a:ea typeface="楷体" panose="02010609060101010101" pitchFamily="49" charset="-122"/>
              </a:rPr>
              <a:t>背包问题中，已知</a:t>
            </a:r>
            <a:r>
              <a:rPr lang="en-US" altLang="zh-CN" sz="2400" dirty="0">
                <a:solidFill>
                  <a:srgbClr val="080808"/>
                </a:solidFill>
                <a:latin typeface="楷体" panose="02010609060101010101" pitchFamily="49" charset="-122"/>
                <a:ea typeface="楷体" panose="02010609060101010101" pitchFamily="49" charset="-122"/>
              </a:rPr>
              <a:t>n=4</a:t>
            </a:r>
            <a:r>
              <a:rPr lang="zh-CN" altLang="en-US" sz="2400" dirty="0">
                <a:solidFill>
                  <a:srgbClr val="080808"/>
                </a:solidFill>
                <a:latin typeface="楷体" panose="02010609060101010101" pitchFamily="49" charset="-122"/>
                <a:ea typeface="楷体" panose="02010609060101010101" pitchFamily="49" charset="-122"/>
              </a:rPr>
              <a:t>，背包容量为</a:t>
            </a:r>
            <a:r>
              <a:rPr lang="en-US" altLang="zh-CN" sz="2400" dirty="0">
                <a:solidFill>
                  <a:srgbClr val="080808"/>
                </a:solidFill>
                <a:latin typeface="楷体" panose="02010609060101010101" pitchFamily="49" charset="-122"/>
                <a:ea typeface="楷体" panose="02010609060101010101" pitchFamily="49" charset="-122"/>
              </a:rPr>
              <a:t>8</a:t>
            </a:r>
            <a:r>
              <a:rPr lang="zh-CN" altLang="en-US" sz="2400" dirty="0">
                <a:solidFill>
                  <a:srgbClr val="080808"/>
                </a:solidFill>
                <a:latin typeface="楷体" panose="02010609060101010101" pitchFamily="49" charset="-122"/>
                <a:ea typeface="楷体" panose="02010609060101010101" pitchFamily="49" charset="-122"/>
              </a:rPr>
              <a:t>。物品清单如下表所示：</a:t>
            </a:r>
            <a:endParaRPr lang="zh-CN" altLang="en-US" sz="2400" dirty="0">
              <a:solidFill>
                <a:srgbClr val="080808"/>
              </a:solidFill>
              <a:latin typeface="楷体" panose="02010609060101010101" pitchFamily="49" charset="-122"/>
              <a:ea typeface="楷体" panose="02010609060101010101" pitchFamily="49" charset="-122"/>
            </a:endParaRPr>
          </a:p>
        </p:txBody>
      </p:sp>
      <p:pic>
        <p:nvPicPr>
          <p:cNvPr id="2" name="图片 1"/>
          <p:cNvPicPr>
            <a:picLocks noChangeAspect="1"/>
          </p:cNvPicPr>
          <p:nvPr/>
        </p:nvPicPr>
        <p:blipFill>
          <a:blip r:embed="rId6"/>
          <a:stretch>
            <a:fillRect/>
          </a:stretch>
        </p:blipFill>
        <p:spPr>
          <a:xfrm>
            <a:off x="2195736" y="2420888"/>
            <a:ext cx="4579190" cy="319441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172869" y="1340768"/>
            <a:ext cx="87982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解空间树：</a:t>
            </a:r>
            <a:endParaRPr lang="zh-CN" altLang="en-US" sz="2400" dirty="0">
              <a:solidFill>
                <a:srgbClr val="080808"/>
              </a:solidFill>
              <a:latin typeface="楷体" panose="02010609060101010101" pitchFamily="49" charset="-122"/>
              <a:ea typeface="楷体" panose="02010609060101010101" pitchFamily="49" charset="-122"/>
            </a:endParaRPr>
          </a:p>
        </p:txBody>
      </p:sp>
      <p:pic>
        <p:nvPicPr>
          <p:cNvPr id="4" name="图片 3"/>
          <p:cNvPicPr/>
          <p:nvPr/>
        </p:nvPicPr>
        <p:blipFill>
          <a:blip r:embed="rId6">
            <a:extLst>
              <a:ext uri="{28A0092B-C50C-407E-A947-70E740481C1C}">
                <a14:useLocalDpi xmlns:a14="http://schemas.microsoft.com/office/drawing/2010/main" val="0"/>
              </a:ext>
            </a:extLst>
          </a:blip>
          <a:stretch>
            <a:fillRect/>
          </a:stretch>
        </p:blipFill>
        <p:spPr>
          <a:xfrm>
            <a:off x="467544" y="1834650"/>
            <a:ext cx="7673018" cy="4772877"/>
          </a:xfrm>
          <a:prstGeom prst="rect">
            <a:avLst/>
          </a:prstGeom>
        </p:spPr>
      </p:pic>
      <p:pic>
        <p:nvPicPr>
          <p:cNvPr id="5" name="图片 4"/>
          <p:cNvPicPr>
            <a:picLocks noChangeAspect="1"/>
          </p:cNvPicPr>
          <p:nvPr/>
        </p:nvPicPr>
        <p:blipFill>
          <a:blip r:embed="rId7"/>
          <a:stretch>
            <a:fillRect/>
          </a:stretch>
        </p:blipFill>
        <p:spPr>
          <a:xfrm>
            <a:off x="5400505" y="0"/>
            <a:ext cx="3780008" cy="26369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1" y="-10954"/>
            <a:ext cx="5400506" cy="163121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spcBef>
                <a:spcPts val="0"/>
              </a:spcBef>
              <a:buSzTx/>
              <a:buFontTx/>
              <a:buNone/>
            </a:pPr>
            <a:r>
              <a:rPr lang="zh-CN" altLang="en-US" sz="2000" dirty="0">
                <a:solidFill>
                  <a:srgbClr val="080808"/>
                </a:solidFill>
                <a:latin typeface="楷体" panose="02010609060101010101" pitchFamily="49" charset="-122"/>
                <a:ea typeface="楷体" panose="02010609060101010101" pitchFamily="49" charset="-122"/>
              </a:rPr>
              <a:t>如上图所示，解空间树中的有些分枝结点的总重量已超过了</a:t>
            </a:r>
            <a:r>
              <a:rPr lang="en-US" altLang="zh-CN" sz="2000" dirty="0">
                <a:solidFill>
                  <a:srgbClr val="080808"/>
                </a:solidFill>
                <a:latin typeface="楷体" panose="02010609060101010101" pitchFamily="49" charset="-122"/>
                <a:ea typeface="楷体" panose="02010609060101010101" pitchFamily="49" charset="-122"/>
              </a:rPr>
              <a:t>c</a:t>
            </a:r>
            <a:r>
              <a:rPr lang="zh-CN" altLang="en-US" sz="2000" dirty="0">
                <a:solidFill>
                  <a:srgbClr val="080808"/>
                </a:solidFill>
                <a:latin typeface="楷体" panose="02010609060101010101" pitchFamily="49" charset="-122"/>
                <a:ea typeface="楷体" panose="02010609060101010101" pitchFamily="49" charset="-122"/>
              </a:rPr>
              <a:t>，就无需再继续搜索了，可以在此处设置约束函数，即装入背包物品的重量之和</a:t>
            </a:r>
            <a:r>
              <a:rPr lang="en-US" altLang="zh-CN" sz="2000" dirty="0">
                <a:solidFill>
                  <a:srgbClr val="080808"/>
                </a:solidFill>
                <a:latin typeface="楷体" panose="02010609060101010101" pitchFamily="49" charset="-122"/>
                <a:ea typeface="楷体" panose="02010609060101010101" pitchFamily="49" charset="-122"/>
              </a:rPr>
              <a:t>&lt;c</a:t>
            </a:r>
            <a:r>
              <a:rPr lang="zh-CN" altLang="en-US" sz="2000" dirty="0">
                <a:solidFill>
                  <a:srgbClr val="080808"/>
                </a:solidFill>
                <a:latin typeface="楷体" panose="02010609060101010101" pitchFamily="49" charset="-122"/>
                <a:ea typeface="楷体" panose="02010609060101010101" pitchFamily="49" charset="-122"/>
              </a:rPr>
              <a:t>，运用它对解空间树进行剪枝，剪枝后的解空间树如下图所示。</a:t>
            </a:r>
            <a:endParaRPr lang="zh-CN" altLang="en-US" sz="2000" dirty="0">
              <a:solidFill>
                <a:srgbClr val="080808"/>
              </a:solidFill>
              <a:latin typeface="楷体" panose="02010609060101010101" pitchFamily="49" charset="-122"/>
              <a:ea typeface="楷体" panose="02010609060101010101" pitchFamily="49" charset="-122"/>
            </a:endParaRPr>
          </a:p>
        </p:txBody>
      </p:sp>
      <p:pic>
        <p:nvPicPr>
          <p:cNvPr id="5" name="图片 4"/>
          <p:cNvPicPr>
            <a:picLocks noChangeAspect="1"/>
          </p:cNvPicPr>
          <p:nvPr/>
        </p:nvPicPr>
        <p:blipFill>
          <a:blip r:embed="rId6"/>
          <a:stretch>
            <a:fillRect/>
          </a:stretch>
        </p:blipFill>
        <p:spPr>
          <a:xfrm>
            <a:off x="5400505" y="0"/>
            <a:ext cx="3780008" cy="2636912"/>
          </a:xfrm>
          <a:prstGeom prst="rect">
            <a:avLst/>
          </a:prstGeom>
        </p:spPr>
      </p:pic>
      <p:pic>
        <p:nvPicPr>
          <p:cNvPr id="6" name="图片 5"/>
          <p:cNvPicPr/>
          <p:nvPr/>
        </p:nvPicPr>
        <p:blipFill>
          <a:blip r:embed="rId7">
            <a:extLst>
              <a:ext uri="{28A0092B-C50C-407E-A947-70E740481C1C}">
                <a14:useLocalDpi xmlns:a14="http://schemas.microsoft.com/office/drawing/2010/main" val="0"/>
              </a:ext>
            </a:extLst>
          </a:blip>
          <a:stretch>
            <a:fillRect/>
          </a:stretch>
        </p:blipFill>
        <p:spPr>
          <a:xfrm>
            <a:off x="107504" y="2636912"/>
            <a:ext cx="8876050" cy="39845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116351" y="1493495"/>
            <a:ext cx="8874126"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indent="457200">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例</a:t>
            </a:r>
            <a:r>
              <a:rPr lang="en-US" altLang="zh-CN" sz="2400" dirty="0">
                <a:solidFill>
                  <a:srgbClr val="080808"/>
                </a:solidFill>
                <a:latin typeface="楷体" panose="02010609060101010101" pitchFamily="49" charset="-122"/>
                <a:ea typeface="楷体" panose="02010609060101010101" pitchFamily="49" charset="-122"/>
              </a:rPr>
              <a:t>6.1】</a:t>
            </a:r>
            <a:r>
              <a:rPr lang="zh-CN" altLang="en-US" sz="2400" dirty="0">
                <a:solidFill>
                  <a:srgbClr val="080808"/>
                </a:solidFill>
                <a:latin typeface="楷体" panose="02010609060101010101" pitchFamily="49" charset="-122"/>
                <a:ea typeface="楷体" panose="02010609060101010101" pitchFamily="49" charset="-122"/>
              </a:rPr>
              <a:t>子集和问题。</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问题描述：现有正整数集</a:t>
            </a:r>
            <a:r>
              <a:rPr lang="en-US" altLang="zh-CN" sz="2400" dirty="0">
                <a:solidFill>
                  <a:srgbClr val="080808"/>
                </a:solidFill>
                <a:latin typeface="楷体" panose="02010609060101010101" pitchFamily="49" charset="-122"/>
                <a:ea typeface="楷体" panose="02010609060101010101" pitchFamily="49" charset="-122"/>
              </a:rPr>
              <a:t>z=</a:t>
            </a: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z1,z2,…,</a:t>
            </a:r>
            <a:r>
              <a:rPr lang="en-US" altLang="zh-CN" sz="2400" dirty="0" err="1">
                <a:solidFill>
                  <a:srgbClr val="080808"/>
                </a:solidFill>
                <a:latin typeface="楷体" panose="02010609060101010101" pitchFamily="49" charset="-122"/>
                <a:ea typeface="楷体" panose="02010609060101010101" pitchFamily="49" charset="-122"/>
              </a:rPr>
              <a:t>zn</a:t>
            </a:r>
            <a:r>
              <a:rPr lang="zh-CN" altLang="en-US" sz="2400" dirty="0">
                <a:solidFill>
                  <a:srgbClr val="080808"/>
                </a:solidFill>
                <a:latin typeface="楷体" panose="02010609060101010101" pitchFamily="49" charset="-122"/>
                <a:ea typeface="楷体" panose="02010609060101010101" pitchFamily="49" charset="-122"/>
              </a:rPr>
              <a:t>），其中各数据元素的值不相等，给定一个正数</a:t>
            </a:r>
            <a:r>
              <a:rPr lang="en-US" altLang="zh-CN" sz="2400" dirty="0">
                <a:solidFill>
                  <a:srgbClr val="080808"/>
                </a:solidFill>
                <a:latin typeface="楷体" panose="02010609060101010101" pitchFamily="49" charset="-122"/>
                <a:ea typeface="楷体" panose="02010609060101010101" pitchFamily="49" charset="-122"/>
              </a:rPr>
              <a:t>c</a:t>
            </a:r>
            <a:r>
              <a:rPr lang="zh-CN" altLang="en-US" sz="2400" dirty="0">
                <a:solidFill>
                  <a:srgbClr val="080808"/>
                </a:solidFill>
                <a:latin typeface="楷体" panose="02010609060101010101" pitchFamily="49" charset="-122"/>
                <a:ea typeface="楷体" panose="02010609060101010101" pitchFamily="49" charset="-122"/>
              </a:rPr>
              <a:t>，请设计算法找出</a:t>
            </a:r>
            <a:r>
              <a:rPr lang="en-US" altLang="zh-CN" sz="2400" dirty="0">
                <a:solidFill>
                  <a:srgbClr val="080808"/>
                </a:solidFill>
                <a:latin typeface="楷体" panose="02010609060101010101" pitchFamily="49" charset="-122"/>
                <a:ea typeface="楷体" panose="02010609060101010101" pitchFamily="49" charset="-122"/>
              </a:rPr>
              <a:t>z</a:t>
            </a:r>
            <a:r>
              <a:rPr lang="zh-CN" altLang="en-US" sz="2400" dirty="0">
                <a:solidFill>
                  <a:srgbClr val="080808"/>
                </a:solidFill>
                <a:latin typeface="楷体" panose="02010609060101010101" pitchFamily="49" charset="-122"/>
                <a:ea typeface="楷体" panose="02010609060101010101" pitchFamily="49" charset="-122"/>
              </a:rPr>
              <a:t>的子集</a:t>
            </a:r>
            <a:r>
              <a:rPr lang="en-US" altLang="zh-CN" sz="2400" dirty="0">
                <a:solidFill>
                  <a:srgbClr val="080808"/>
                </a:solidFill>
                <a:latin typeface="楷体" panose="02010609060101010101" pitchFamily="49" charset="-122"/>
                <a:ea typeface="楷体" panose="02010609060101010101" pitchFamily="49" charset="-122"/>
              </a:rPr>
              <a:t>t</a:t>
            </a:r>
            <a:r>
              <a:rPr lang="zh-CN" altLang="en-US" sz="2400" dirty="0">
                <a:solidFill>
                  <a:srgbClr val="080808"/>
                </a:solidFill>
                <a:latin typeface="楷体" panose="02010609060101010101" pitchFamily="49" charset="-122"/>
                <a:ea typeface="楷体" panose="02010609060101010101" pitchFamily="49" charset="-122"/>
              </a:rPr>
              <a:t>，使该子集中所有元素的和等于</a:t>
            </a:r>
            <a:r>
              <a:rPr lang="en-US" altLang="zh-CN" sz="2400" dirty="0">
                <a:solidFill>
                  <a:srgbClr val="080808"/>
                </a:solidFill>
                <a:latin typeface="楷体" panose="02010609060101010101" pitchFamily="49" charset="-122"/>
                <a:ea typeface="楷体" panose="02010609060101010101" pitchFamily="49" charset="-122"/>
              </a:rPr>
              <a:t>c</a:t>
            </a:r>
            <a:r>
              <a:rPr lang="zh-CN" altLang="en-US" sz="2400" dirty="0">
                <a:solidFill>
                  <a:srgbClr val="080808"/>
                </a:solidFill>
                <a:latin typeface="楷体" panose="02010609060101010101" pitchFamily="49" charset="-122"/>
                <a:ea typeface="楷体" panose="02010609060101010101" pitchFamily="49" charset="-122"/>
              </a:rPr>
              <a:t>。</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例：已知</a:t>
            </a:r>
            <a:r>
              <a:rPr lang="en-US" altLang="zh-CN" sz="2400" dirty="0">
                <a:solidFill>
                  <a:srgbClr val="080808"/>
                </a:solidFill>
                <a:latin typeface="楷体" panose="02010609060101010101" pitchFamily="49" charset="-122"/>
                <a:ea typeface="楷体" panose="02010609060101010101" pitchFamily="49" charset="-122"/>
              </a:rPr>
              <a:t>n=4</a:t>
            </a: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z=</a:t>
            </a: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16,12,28,7</a:t>
            </a: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c=35</a:t>
            </a:r>
            <a:r>
              <a:rPr lang="zh-CN" altLang="en-US" sz="2400" dirty="0">
                <a:solidFill>
                  <a:srgbClr val="080808"/>
                </a:solidFill>
                <a:latin typeface="楷体" panose="02010609060101010101" pitchFamily="49" charset="-122"/>
                <a:ea typeface="楷体" panose="02010609060101010101" pitchFamily="49" charset="-122"/>
              </a:rPr>
              <a:t>。</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则所求子集为：（</a:t>
            </a:r>
            <a:r>
              <a:rPr lang="en-US" altLang="zh-CN" sz="2400" dirty="0">
                <a:solidFill>
                  <a:srgbClr val="080808"/>
                </a:solidFill>
                <a:latin typeface="楷体" panose="02010609060101010101" pitchFamily="49" charset="-122"/>
                <a:ea typeface="楷体" panose="02010609060101010101" pitchFamily="49" charset="-122"/>
              </a:rPr>
              <a:t>16,12,7</a:t>
            </a:r>
            <a:r>
              <a:rPr lang="zh-CN" altLang="en-US" sz="2400" dirty="0">
                <a:solidFill>
                  <a:srgbClr val="080808"/>
                </a:solidFill>
                <a:latin typeface="楷体" panose="02010609060101010101" pitchFamily="49" charset="-122"/>
                <a:ea typeface="楷体" panose="02010609060101010101" pitchFamily="49" charset="-122"/>
              </a:rPr>
              <a:t>）和（</a:t>
            </a:r>
            <a:r>
              <a:rPr lang="en-US" altLang="zh-CN" sz="2400" dirty="0">
                <a:solidFill>
                  <a:srgbClr val="080808"/>
                </a:solidFill>
                <a:latin typeface="楷体" panose="02010609060101010101" pitchFamily="49" charset="-122"/>
                <a:ea typeface="楷体" panose="02010609060101010101" pitchFamily="49" charset="-122"/>
              </a:rPr>
              <a:t>28,7</a:t>
            </a:r>
            <a:r>
              <a:rPr lang="zh-CN" altLang="en-US" sz="2400" dirty="0">
                <a:solidFill>
                  <a:srgbClr val="080808"/>
                </a:solidFill>
                <a:latin typeface="楷体" panose="02010609060101010101" pitchFamily="49" charset="-122"/>
                <a:ea typeface="楷体" panose="02010609060101010101" pitchFamily="49" charset="-122"/>
              </a:rPr>
              <a:t>）。</a:t>
            </a:r>
            <a:endParaRPr lang="en-US" altLang="zh-CN"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问题求解：本题采用回朔法策略。首先构造解空间树，如下图</a:t>
            </a:r>
            <a:r>
              <a:rPr lang="en-US" altLang="zh-CN" sz="2400" dirty="0">
                <a:solidFill>
                  <a:srgbClr val="080808"/>
                </a:solidFill>
                <a:latin typeface="楷体" panose="02010609060101010101" pitchFamily="49" charset="-122"/>
                <a:ea typeface="楷体" panose="02010609060101010101" pitchFamily="49" charset="-122"/>
              </a:rPr>
              <a:t>6.5</a:t>
            </a:r>
            <a:r>
              <a:rPr lang="zh-CN" altLang="en-US" sz="2400" dirty="0">
                <a:solidFill>
                  <a:srgbClr val="080808"/>
                </a:solidFill>
                <a:latin typeface="楷体" panose="02010609060101010101" pitchFamily="49" charset="-122"/>
                <a:ea typeface="楷体" panose="02010609060101010101" pitchFamily="49" charset="-122"/>
              </a:rPr>
              <a:t>所示：第</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层到第</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层间的边表示对元素</a:t>
            </a:r>
            <a:r>
              <a:rPr lang="en-US" altLang="zh-CN" sz="2400" dirty="0">
                <a:solidFill>
                  <a:srgbClr val="080808"/>
                </a:solidFill>
                <a:latin typeface="楷体" panose="02010609060101010101" pitchFamily="49" charset="-122"/>
                <a:ea typeface="楷体" panose="02010609060101010101" pitchFamily="49" charset="-122"/>
              </a:rPr>
              <a:t>z1</a:t>
            </a:r>
            <a:r>
              <a:rPr lang="zh-CN" altLang="en-US" sz="2400" dirty="0">
                <a:solidFill>
                  <a:srgbClr val="080808"/>
                </a:solidFill>
                <a:latin typeface="楷体" panose="02010609060101010101" pitchFamily="49" charset="-122"/>
                <a:ea typeface="楷体" panose="02010609060101010101" pitchFamily="49" charset="-122"/>
              </a:rPr>
              <a:t>的选择，左分支的</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表示选择</a:t>
            </a:r>
            <a:r>
              <a:rPr lang="en-US" altLang="zh-CN" sz="2400" dirty="0">
                <a:solidFill>
                  <a:srgbClr val="080808"/>
                </a:solidFill>
                <a:latin typeface="楷体" panose="02010609060101010101" pitchFamily="49" charset="-122"/>
                <a:ea typeface="楷体" panose="02010609060101010101" pitchFamily="49" charset="-122"/>
              </a:rPr>
              <a:t>z1</a:t>
            </a:r>
            <a:r>
              <a:rPr lang="zh-CN" altLang="en-US" sz="2400" dirty="0">
                <a:solidFill>
                  <a:srgbClr val="080808"/>
                </a:solidFill>
                <a:latin typeface="楷体" panose="02010609060101010101" pitchFamily="49" charset="-122"/>
                <a:ea typeface="楷体" panose="02010609060101010101" pitchFamily="49" charset="-122"/>
              </a:rPr>
              <a:t>，右分支的</a:t>
            </a:r>
            <a:r>
              <a:rPr lang="en-US" altLang="zh-CN" sz="2400" dirty="0">
                <a:solidFill>
                  <a:srgbClr val="080808"/>
                </a:solidFill>
                <a:latin typeface="楷体" panose="02010609060101010101" pitchFamily="49" charset="-122"/>
                <a:ea typeface="楷体" panose="02010609060101010101" pitchFamily="49" charset="-122"/>
              </a:rPr>
              <a:t>0</a:t>
            </a:r>
            <a:r>
              <a:rPr lang="zh-CN" altLang="en-US" sz="2400" dirty="0">
                <a:solidFill>
                  <a:srgbClr val="080808"/>
                </a:solidFill>
                <a:latin typeface="楷体" panose="02010609060101010101" pitchFamily="49" charset="-122"/>
                <a:ea typeface="楷体" panose="02010609060101010101" pitchFamily="49" charset="-122"/>
              </a:rPr>
              <a:t>表示不选择</a:t>
            </a:r>
            <a:r>
              <a:rPr lang="en-US" altLang="zh-CN" sz="2400" dirty="0">
                <a:solidFill>
                  <a:srgbClr val="080808"/>
                </a:solidFill>
                <a:latin typeface="楷体" panose="02010609060101010101" pitchFamily="49" charset="-122"/>
                <a:ea typeface="楷体" panose="02010609060101010101" pitchFamily="49" charset="-122"/>
              </a:rPr>
              <a:t>z</a:t>
            </a:r>
            <a:r>
              <a:rPr lang="zh-CN" altLang="en-US" sz="2400" dirty="0">
                <a:solidFill>
                  <a:srgbClr val="080808"/>
                </a:solidFill>
                <a:latin typeface="楷体" panose="02010609060101010101" pitchFamily="49" charset="-122"/>
                <a:ea typeface="楷体" panose="02010609060101010101" pitchFamily="49" charset="-122"/>
              </a:rPr>
              <a:t>，第</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层到第</a:t>
            </a:r>
            <a:r>
              <a:rPr lang="en-US" altLang="zh-CN" sz="2400" dirty="0">
                <a:solidFill>
                  <a:srgbClr val="080808"/>
                </a:solidFill>
                <a:latin typeface="楷体" panose="02010609060101010101" pitchFamily="49" charset="-122"/>
                <a:ea typeface="楷体" panose="02010609060101010101" pitchFamily="49" charset="-122"/>
              </a:rPr>
              <a:t>3</a:t>
            </a:r>
            <a:r>
              <a:rPr lang="zh-CN" altLang="en-US" sz="2400" dirty="0">
                <a:solidFill>
                  <a:srgbClr val="080808"/>
                </a:solidFill>
                <a:latin typeface="楷体" panose="02010609060101010101" pitchFamily="49" charset="-122"/>
                <a:ea typeface="楷体" panose="02010609060101010101" pitchFamily="49" charset="-122"/>
              </a:rPr>
              <a:t>层间的边表示对元素</a:t>
            </a:r>
            <a:r>
              <a:rPr lang="en-US" altLang="zh-CN" sz="2400" dirty="0">
                <a:solidFill>
                  <a:srgbClr val="080808"/>
                </a:solidFill>
                <a:latin typeface="楷体" panose="02010609060101010101" pitchFamily="49" charset="-122"/>
                <a:ea typeface="楷体" panose="02010609060101010101" pitchFamily="49" charset="-122"/>
              </a:rPr>
              <a:t>z2</a:t>
            </a:r>
            <a:r>
              <a:rPr lang="zh-CN" altLang="en-US" sz="2400" dirty="0">
                <a:solidFill>
                  <a:srgbClr val="080808"/>
                </a:solidFill>
                <a:latin typeface="楷体" panose="02010609060101010101" pitchFamily="49" charset="-122"/>
                <a:ea typeface="楷体" panose="02010609060101010101" pitchFamily="49" charset="-122"/>
              </a:rPr>
              <a:t>的选择，左分支的</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表示选择</a:t>
            </a:r>
            <a:r>
              <a:rPr lang="en-US" altLang="zh-CN" sz="2400" dirty="0">
                <a:solidFill>
                  <a:srgbClr val="080808"/>
                </a:solidFill>
                <a:latin typeface="楷体" panose="02010609060101010101" pitchFamily="49" charset="-122"/>
                <a:ea typeface="楷体" panose="02010609060101010101" pitchFamily="49" charset="-122"/>
              </a:rPr>
              <a:t>z2</a:t>
            </a:r>
            <a:r>
              <a:rPr lang="zh-CN" altLang="en-US" sz="2400" dirty="0">
                <a:solidFill>
                  <a:srgbClr val="080808"/>
                </a:solidFill>
                <a:latin typeface="楷体" panose="02010609060101010101" pitchFamily="49" charset="-122"/>
                <a:ea typeface="楷体" panose="02010609060101010101" pitchFamily="49" charset="-122"/>
              </a:rPr>
              <a:t>，右分支的</a:t>
            </a:r>
            <a:r>
              <a:rPr lang="en-US" altLang="zh-CN" sz="2400" dirty="0">
                <a:solidFill>
                  <a:srgbClr val="080808"/>
                </a:solidFill>
                <a:latin typeface="楷体" panose="02010609060101010101" pitchFamily="49" charset="-122"/>
                <a:ea typeface="楷体" panose="02010609060101010101" pitchFamily="49" charset="-122"/>
              </a:rPr>
              <a:t>0</a:t>
            </a:r>
            <a:r>
              <a:rPr lang="zh-CN" altLang="en-US" sz="2400" dirty="0">
                <a:solidFill>
                  <a:srgbClr val="080808"/>
                </a:solidFill>
                <a:latin typeface="楷体" panose="02010609060101010101" pitchFamily="49" charset="-122"/>
                <a:ea typeface="楷体" panose="02010609060101010101" pitchFamily="49" charset="-122"/>
              </a:rPr>
              <a:t>表示不选择</a:t>
            </a:r>
            <a:r>
              <a:rPr lang="en-US" altLang="zh-CN" sz="2400" dirty="0">
                <a:solidFill>
                  <a:srgbClr val="080808"/>
                </a:solidFill>
                <a:latin typeface="楷体" panose="02010609060101010101" pitchFamily="49" charset="-122"/>
                <a:ea typeface="楷体" panose="02010609060101010101" pitchFamily="49" charset="-122"/>
              </a:rPr>
              <a:t>z2</a:t>
            </a:r>
            <a:r>
              <a:rPr lang="zh-CN" altLang="en-US" sz="2400" dirty="0">
                <a:solidFill>
                  <a:srgbClr val="080808"/>
                </a:solidFill>
                <a:latin typeface="楷体" panose="02010609060101010101" pitchFamily="49" charset="-122"/>
                <a:ea typeface="楷体" panose="02010609060101010101" pitchFamily="49" charset="-122"/>
              </a:rPr>
              <a:t>，第</a:t>
            </a:r>
            <a:r>
              <a:rPr lang="en-US" altLang="zh-CN" sz="2400" dirty="0">
                <a:solidFill>
                  <a:srgbClr val="080808"/>
                </a:solidFill>
                <a:latin typeface="楷体" panose="02010609060101010101" pitchFamily="49" charset="-122"/>
                <a:ea typeface="楷体" panose="02010609060101010101" pitchFamily="49" charset="-122"/>
              </a:rPr>
              <a:t>3</a:t>
            </a:r>
            <a:r>
              <a:rPr lang="zh-CN" altLang="en-US" sz="2400" dirty="0">
                <a:solidFill>
                  <a:srgbClr val="080808"/>
                </a:solidFill>
                <a:latin typeface="楷体" panose="02010609060101010101" pitchFamily="49" charset="-122"/>
                <a:ea typeface="楷体" panose="02010609060101010101" pitchFamily="49" charset="-122"/>
              </a:rPr>
              <a:t>层到第</a:t>
            </a:r>
            <a:r>
              <a:rPr lang="en-US" altLang="zh-CN" sz="2400" dirty="0">
                <a:solidFill>
                  <a:srgbClr val="080808"/>
                </a:solidFill>
                <a:latin typeface="楷体" panose="02010609060101010101" pitchFamily="49" charset="-122"/>
                <a:ea typeface="楷体" panose="02010609060101010101" pitchFamily="49" charset="-122"/>
              </a:rPr>
              <a:t>4</a:t>
            </a:r>
            <a:r>
              <a:rPr lang="zh-CN" altLang="en-US" sz="2400" dirty="0">
                <a:solidFill>
                  <a:srgbClr val="080808"/>
                </a:solidFill>
                <a:latin typeface="楷体" panose="02010609060101010101" pitchFamily="49" charset="-122"/>
                <a:ea typeface="楷体" panose="02010609060101010101" pitchFamily="49" charset="-122"/>
              </a:rPr>
              <a:t>层间的边表示对元素</a:t>
            </a:r>
            <a:r>
              <a:rPr lang="en-US" altLang="zh-CN" sz="2400" dirty="0">
                <a:solidFill>
                  <a:srgbClr val="080808"/>
                </a:solidFill>
                <a:latin typeface="楷体" panose="02010609060101010101" pitchFamily="49" charset="-122"/>
                <a:ea typeface="楷体" panose="02010609060101010101" pitchFamily="49" charset="-122"/>
              </a:rPr>
              <a:t>z3</a:t>
            </a:r>
            <a:r>
              <a:rPr lang="zh-CN" altLang="en-US" sz="2400" dirty="0">
                <a:solidFill>
                  <a:srgbClr val="080808"/>
                </a:solidFill>
                <a:latin typeface="楷体" panose="02010609060101010101" pitchFamily="49" charset="-122"/>
                <a:ea typeface="楷体" panose="02010609060101010101" pitchFamily="49" charset="-122"/>
              </a:rPr>
              <a:t>的选择，左分支的</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表示选择</a:t>
            </a:r>
            <a:r>
              <a:rPr lang="en-US" altLang="zh-CN" sz="2400" dirty="0">
                <a:solidFill>
                  <a:srgbClr val="080808"/>
                </a:solidFill>
                <a:latin typeface="楷体" panose="02010609060101010101" pitchFamily="49" charset="-122"/>
                <a:ea typeface="楷体" panose="02010609060101010101" pitchFamily="49" charset="-122"/>
              </a:rPr>
              <a:t>z3</a:t>
            </a:r>
            <a:r>
              <a:rPr lang="zh-CN" altLang="en-US" sz="2400" dirty="0">
                <a:solidFill>
                  <a:srgbClr val="080808"/>
                </a:solidFill>
                <a:latin typeface="楷体" panose="02010609060101010101" pitchFamily="49" charset="-122"/>
                <a:ea typeface="楷体" panose="02010609060101010101" pitchFamily="49" charset="-122"/>
              </a:rPr>
              <a:t>，右分支的</a:t>
            </a:r>
            <a:r>
              <a:rPr lang="en-US" altLang="zh-CN" sz="2400" dirty="0">
                <a:solidFill>
                  <a:srgbClr val="080808"/>
                </a:solidFill>
                <a:latin typeface="楷体" panose="02010609060101010101" pitchFamily="49" charset="-122"/>
                <a:ea typeface="楷体" panose="02010609060101010101" pitchFamily="49" charset="-122"/>
              </a:rPr>
              <a:t>0</a:t>
            </a:r>
            <a:r>
              <a:rPr lang="zh-CN" altLang="en-US" sz="2400" dirty="0">
                <a:solidFill>
                  <a:srgbClr val="080808"/>
                </a:solidFill>
                <a:latin typeface="楷体" panose="02010609060101010101" pitchFamily="49" charset="-122"/>
                <a:ea typeface="楷体" panose="02010609060101010101" pitchFamily="49" charset="-122"/>
              </a:rPr>
              <a:t>表示不选择</a:t>
            </a:r>
            <a:r>
              <a:rPr lang="en-US" altLang="zh-CN" sz="2400" dirty="0">
                <a:solidFill>
                  <a:srgbClr val="080808"/>
                </a:solidFill>
                <a:latin typeface="楷体" panose="02010609060101010101" pitchFamily="49" charset="-122"/>
                <a:ea typeface="楷体" panose="02010609060101010101" pitchFamily="49" charset="-122"/>
              </a:rPr>
              <a:t>z3</a:t>
            </a:r>
            <a:r>
              <a:rPr lang="zh-CN" altLang="en-US" sz="2400" dirty="0">
                <a:solidFill>
                  <a:srgbClr val="080808"/>
                </a:solidFill>
                <a:latin typeface="楷体" panose="02010609060101010101" pitchFamily="49" charset="-122"/>
                <a:ea typeface="楷体" panose="02010609060101010101" pitchFamily="49" charset="-122"/>
              </a:rPr>
              <a:t>，第</a:t>
            </a:r>
            <a:r>
              <a:rPr lang="en-US" altLang="zh-CN" sz="2400" dirty="0">
                <a:solidFill>
                  <a:srgbClr val="080808"/>
                </a:solidFill>
                <a:latin typeface="楷体" panose="02010609060101010101" pitchFamily="49" charset="-122"/>
                <a:ea typeface="楷体" panose="02010609060101010101" pitchFamily="49" charset="-122"/>
              </a:rPr>
              <a:t>3</a:t>
            </a:r>
            <a:r>
              <a:rPr lang="zh-CN" altLang="en-US" sz="2400" dirty="0">
                <a:solidFill>
                  <a:srgbClr val="080808"/>
                </a:solidFill>
                <a:latin typeface="楷体" panose="02010609060101010101" pitchFamily="49" charset="-122"/>
                <a:ea typeface="楷体" panose="02010609060101010101" pitchFamily="49" charset="-122"/>
              </a:rPr>
              <a:t>层到第</a:t>
            </a:r>
            <a:r>
              <a:rPr lang="en-US" altLang="zh-CN" sz="2400" dirty="0">
                <a:solidFill>
                  <a:srgbClr val="080808"/>
                </a:solidFill>
                <a:latin typeface="楷体" panose="02010609060101010101" pitchFamily="49" charset="-122"/>
                <a:ea typeface="楷体" panose="02010609060101010101" pitchFamily="49" charset="-122"/>
              </a:rPr>
              <a:t>4</a:t>
            </a:r>
            <a:r>
              <a:rPr lang="zh-CN" altLang="en-US" sz="2400" dirty="0">
                <a:solidFill>
                  <a:srgbClr val="080808"/>
                </a:solidFill>
                <a:latin typeface="楷体" panose="02010609060101010101" pitchFamily="49" charset="-122"/>
                <a:ea typeface="楷体" panose="02010609060101010101" pitchFamily="49" charset="-122"/>
              </a:rPr>
              <a:t>层间的边表示对元素</a:t>
            </a:r>
            <a:r>
              <a:rPr lang="en-US" altLang="zh-CN" sz="2400" dirty="0">
                <a:solidFill>
                  <a:srgbClr val="080808"/>
                </a:solidFill>
                <a:latin typeface="楷体" panose="02010609060101010101" pitchFamily="49" charset="-122"/>
                <a:ea typeface="楷体" panose="02010609060101010101" pitchFamily="49" charset="-122"/>
              </a:rPr>
              <a:t>z4</a:t>
            </a:r>
            <a:r>
              <a:rPr lang="zh-CN" altLang="en-US" sz="2400" dirty="0">
                <a:solidFill>
                  <a:srgbClr val="080808"/>
                </a:solidFill>
                <a:latin typeface="楷体" panose="02010609060101010101" pitchFamily="49" charset="-122"/>
                <a:ea typeface="楷体" panose="02010609060101010101" pitchFamily="49" charset="-122"/>
              </a:rPr>
              <a:t>的选择，左分支的</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表示选择</a:t>
            </a:r>
            <a:r>
              <a:rPr lang="en-US" altLang="zh-CN" sz="2400" dirty="0">
                <a:solidFill>
                  <a:srgbClr val="080808"/>
                </a:solidFill>
                <a:latin typeface="楷体" panose="02010609060101010101" pitchFamily="49" charset="-122"/>
                <a:ea typeface="楷体" panose="02010609060101010101" pitchFamily="49" charset="-122"/>
              </a:rPr>
              <a:t>z4</a:t>
            </a:r>
            <a:r>
              <a:rPr lang="zh-CN" altLang="en-US" sz="2400" dirty="0">
                <a:solidFill>
                  <a:srgbClr val="080808"/>
                </a:solidFill>
                <a:latin typeface="楷体" panose="02010609060101010101" pitchFamily="49" charset="-122"/>
                <a:ea typeface="楷体" panose="02010609060101010101" pitchFamily="49" charset="-122"/>
              </a:rPr>
              <a:t>，右分支的</a:t>
            </a:r>
            <a:r>
              <a:rPr lang="en-US" altLang="zh-CN" sz="2400" dirty="0">
                <a:solidFill>
                  <a:srgbClr val="080808"/>
                </a:solidFill>
                <a:latin typeface="楷体" panose="02010609060101010101" pitchFamily="49" charset="-122"/>
                <a:ea typeface="楷体" panose="02010609060101010101" pitchFamily="49" charset="-122"/>
              </a:rPr>
              <a:t>0</a:t>
            </a:r>
            <a:r>
              <a:rPr lang="zh-CN" altLang="en-US" sz="2400" dirty="0">
                <a:solidFill>
                  <a:srgbClr val="080808"/>
                </a:solidFill>
                <a:latin typeface="楷体" panose="02010609060101010101" pitchFamily="49" charset="-122"/>
                <a:ea typeface="楷体" panose="02010609060101010101" pitchFamily="49" charset="-122"/>
              </a:rPr>
              <a:t>表示不选择</a:t>
            </a:r>
            <a:r>
              <a:rPr lang="en-US" altLang="zh-CN" sz="2400" dirty="0">
                <a:solidFill>
                  <a:srgbClr val="080808"/>
                </a:solidFill>
                <a:latin typeface="楷体" panose="02010609060101010101" pitchFamily="49" charset="-122"/>
                <a:ea typeface="楷体" panose="02010609060101010101" pitchFamily="49" charset="-122"/>
              </a:rPr>
              <a:t>z4</a:t>
            </a:r>
            <a:r>
              <a:rPr lang="zh-CN" altLang="en-US" sz="2400" dirty="0">
                <a:solidFill>
                  <a:srgbClr val="080808"/>
                </a:solidFill>
                <a:latin typeface="楷体" panose="02010609060101010101" pitchFamily="49" charset="-122"/>
                <a:ea typeface="楷体" panose="02010609060101010101" pitchFamily="49" charset="-122"/>
              </a:rPr>
              <a:t>，树中的</a:t>
            </a:r>
            <a:r>
              <a:rPr lang="en-US" altLang="zh-CN" sz="2400" dirty="0">
                <a:solidFill>
                  <a:srgbClr val="080808"/>
                </a:solidFill>
                <a:latin typeface="楷体" panose="02010609060101010101" pitchFamily="49" charset="-122"/>
                <a:ea typeface="楷体" panose="02010609060101010101" pitchFamily="49" charset="-122"/>
              </a:rPr>
              <a:t>15</a:t>
            </a:r>
            <a:r>
              <a:rPr lang="zh-CN" altLang="en-US" sz="2400" dirty="0">
                <a:solidFill>
                  <a:srgbClr val="080808"/>
                </a:solidFill>
                <a:latin typeface="楷体" panose="02010609060101010101" pitchFamily="49" charset="-122"/>
                <a:ea typeface="楷体" panose="02010609060101010101" pitchFamily="49" charset="-122"/>
              </a:rPr>
              <a:t>个叶子结点分别代表此问题的 </a:t>
            </a:r>
            <a:r>
              <a:rPr lang="en-US" altLang="zh-CN" sz="2400" dirty="0">
                <a:solidFill>
                  <a:srgbClr val="080808"/>
                </a:solidFill>
                <a:latin typeface="楷体" panose="02010609060101010101" pitchFamily="49" charset="-122"/>
                <a:ea typeface="楷体" panose="02010609060101010101" pitchFamily="49" charset="-122"/>
              </a:rPr>
              <a:t>15</a:t>
            </a:r>
            <a:r>
              <a:rPr lang="zh-CN" altLang="en-US" sz="2400" dirty="0">
                <a:solidFill>
                  <a:srgbClr val="080808"/>
                </a:solidFill>
                <a:latin typeface="楷体" panose="02010609060101010101" pitchFamily="49" charset="-122"/>
                <a:ea typeface="楷体" panose="02010609060101010101" pitchFamily="49" charset="-122"/>
              </a:rPr>
              <a:t>个可能解：</a:t>
            </a:r>
            <a:endParaRPr lang="zh-CN" altLang="en-US" sz="2400" dirty="0">
              <a:solidFill>
                <a:srgbClr val="080808"/>
              </a:solidFill>
              <a:latin typeface="楷体" panose="02010609060101010101" pitchFamily="49" charset="-122"/>
              <a:ea typeface="楷体" panose="02010609060101010101" pitchFamily="49" charset="-122"/>
            </a:endParaRPr>
          </a:p>
        </p:txBody>
      </p:sp>
      <p:sp>
        <p:nvSpPr>
          <p:cNvPr id="4" name="Text Box 3"/>
          <p:cNvSpPr txBox="1">
            <a:spLocks noChangeArrowheads="1"/>
          </p:cNvSpPr>
          <p:nvPr/>
        </p:nvSpPr>
        <p:spPr bwMode="auto">
          <a:xfrm>
            <a:off x="2123728" y="908720"/>
            <a:ext cx="4976520" cy="584775"/>
          </a:xfrm>
          <a:prstGeom prst="rect">
            <a:avLst/>
          </a:prstGeom>
          <a:noFill/>
          <a:ln w="9525">
            <a:noFill/>
            <a:miter lim="800000"/>
          </a:ln>
          <a:effectLst/>
        </p:spPr>
        <p:txBody>
          <a:bodyPr wrap="square">
            <a:spAutoFit/>
          </a:bodyPr>
          <a:lstStyle/>
          <a:p>
            <a:pPr algn="ctr">
              <a:spcBef>
                <a:spcPct val="50000"/>
              </a:spcBef>
              <a:defRPr/>
            </a:pPr>
            <a:r>
              <a:rPr lang="en-US" altLang="zh-CN" sz="3200" dirty="0">
                <a:ln w="18000">
                  <a:solidFill>
                    <a:schemeClr val="accent2">
                      <a:satMod val="140000"/>
                    </a:schemeClr>
                  </a:solidFill>
                  <a:prstDash val="solid"/>
                  <a:miter lim="800000"/>
                </a:ln>
                <a:solidFill>
                  <a:srgbClr val="080808"/>
                </a:solidFill>
                <a:effectLst>
                  <a:outerShdw blurRad="25500" dist="23000" dir="7020000" algn="tl">
                    <a:srgbClr val="000000">
                      <a:alpha val="50000"/>
                    </a:srgbClr>
                  </a:outerShdw>
                </a:effectLst>
                <a:ea typeface="隶书" panose="02010509060101010101" pitchFamily="49" charset="-122"/>
              </a:rPr>
              <a:t>6.2 </a:t>
            </a:r>
            <a:r>
              <a:rPr lang="zh-CN" altLang="en-US" sz="3200" dirty="0">
                <a:ln w="18000">
                  <a:solidFill>
                    <a:schemeClr val="accent2">
                      <a:satMod val="140000"/>
                    </a:schemeClr>
                  </a:solidFill>
                  <a:prstDash val="solid"/>
                  <a:miter lim="800000"/>
                </a:ln>
                <a:solidFill>
                  <a:srgbClr val="080808"/>
                </a:solidFill>
                <a:effectLst>
                  <a:outerShdw blurRad="25500" dist="23000" dir="7020000" algn="tl">
                    <a:srgbClr val="000000">
                      <a:alpha val="50000"/>
                    </a:srgbClr>
                  </a:outerShdw>
                </a:effectLst>
                <a:ea typeface="隶书" panose="02010509060101010101" pitchFamily="49" charset="-122"/>
              </a:rPr>
              <a:t>回朔法示例</a:t>
            </a:r>
            <a:endParaRPr lang="zh-CN" altLang="en-US" sz="3200" dirty="0">
              <a:ln w="18000">
                <a:solidFill>
                  <a:schemeClr val="accent2">
                    <a:satMod val="140000"/>
                  </a:schemeClr>
                </a:solidFill>
                <a:prstDash val="solid"/>
                <a:miter lim="800000"/>
              </a:ln>
              <a:solidFill>
                <a:srgbClr val="080808"/>
              </a:solidFill>
              <a:effectLst>
                <a:outerShdw blurRad="25500" dist="23000" dir="7020000" algn="tl">
                  <a:srgbClr val="000000">
                    <a:alpha val="50000"/>
                  </a:srgbClr>
                </a:outerShdw>
              </a:effectLst>
              <a:ea typeface="隶书" panose="020105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1">
            <a:extLst>
              <a:ext uri="{28A0092B-C50C-407E-A947-70E740481C1C}">
                <a14:useLocalDpi xmlns:a14="http://schemas.microsoft.com/office/drawing/2010/main" val="0"/>
              </a:ext>
            </a:extLst>
          </a:blip>
          <a:stretch>
            <a:fillRect/>
          </a:stretch>
        </p:blipFill>
        <p:spPr>
          <a:xfrm>
            <a:off x="486873" y="1340768"/>
            <a:ext cx="8170254" cy="511256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76363" y="1622539"/>
            <a:ext cx="9067637"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为求解子集和问题需要搜索整个解空间树，设解向量</a:t>
            </a:r>
            <a:r>
              <a:rPr lang="en-US" altLang="zh-CN" sz="2400" dirty="0">
                <a:solidFill>
                  <a:srgbClr val="080808"/>
                </a:solidFill>
                <a:latin typeface="楷体" panose="02010609060101010101" pitchFamily="49" charset="-122"/>
                <a:ea typeface="楷体" panose="02010609060101010101" pitchFamily="49" charset="-122"/>
              </a:rPr>
              <a:t>x=</a:t>
            </a: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x1,x2,…,</a:t>
            </a:r>
            <a:r>
              <a:rPr lang="en-US" altLang="zh-CN" sz="2400" dirty="0" err="1">
                <a:solidFill>
                  <a:srgbClr val="080808"/>
                </a:solidFill>
                <a:latin typeface="楷体" panose="02010609060101010101" pitchFamily="49" charset="-122"/>
                <a:ea typeface="楷体" panose="02010609060101010101" pitchFamily="49" charset="-122"/>
              </a:rPr>
              <a:t>xn</a:t>
            </a:r>
            <a:r>
              <a:rPr lang="zh-CN" altLang="en-US" sz="2400" dirty="0">
                <a:solidFill>
                  <a:srgbClr val="080808"/>
                </a:solidFill>
                <a:latin typeface="楷体" panose="02010609060101010101" pitchFamily="49" charset="-122"/>
                <a:ea typeface="楷体" panose="02010609060101010101" pitchFamily="49" charset="-122"/>
              </a:rPr>
              <a:t>），当搜索到叶子结点的时候，计算子集和，如果相应所得结果为</a:t>
            </a:r>
            <a:r>
              <a:rPr lang="en-US" altLang="zh-CN" sz="2400" dirty="0">
                <a:solidFill>
                  <a:srgbClr val="080808"/>
                </a:solidFill>
                <a:latin typeface="楷体" panose="02010609060101010101" pitchFamily="49" charset="-122"/>
                <a:ea typeface="楷体" panose="02010609060101010101" pitchFamily="49" charset="-122"/>
              </a:rPr>
              <a:t>c</a:t>
            </a:r>
            <a:r>
              <a:rPr lang="zh-CN" altLang="en-US" sz="2400" dirty="0">
                <a:solidFill>
                  <a:srgbClr val="080808"/>
                </a:solidFill>
                <a:latin typeface="楷体" panose="02010609060101010101" pitchFamily="49" charset="-122"/>
                <a:ea typeface="楷体" panose="02010609060101010101" pitchFamily="49" charset="-122"/>
              </a:rPr>
              <a:t>，就输出</a:t>
            </a:r>
            <a:r>
              <a:rPr lang="en-US" altLang="zh-CN" sz="2400" dirty="0">
                <a:solidFill>
                  <a:srgbClr val="080808"/>
                </a:solidFill>
                <a:latin typeface="楷体" panose="02010609060101010101" pitchFamily="49" charset="-122"/>
                <a:ea typeface="楷体" panose="02010609060101010101" pitchFamily="49" charset="-122"/>
              </a:rPr>
              <a:t>x</a:t>
            </a:r>
            <a:r>
              <a:rPr lang="zh-CN" altLang="en-US" sz="2400" dirty="0">
                <a:solidFill>
                  <a:srgbClr val="080808"/>
                </a:solidFill>
                <a:latin typeface="楷体" panose="02010609060101010101" pitchFamily="49" charset="-122"/>
                <a:ea typeface="楷体" panose="02010609060101010101" pitchFamily="49" charset="-122"/>
              </a:rPr>
              <a:t>。在搜索过程中设置约束函数进行剪枝，设</a:t>
            </a:r>
            <a:r>
              <a:rPr lang="en-US" altLang="zh-CN" sz="2400" dirty="0" err="1">
                <a:solidFill>
                  <a:srgbClr val="080808"/>
                </a:solidFill>
                <a:latin typeface="楷体" panose="02010609060101010101" pitchFamily="49" charset="-122"/>
                <a:ea typeface="楷体" panose="02010609060101010101" pitchFamily="49" charset="-122"/>
              </a:rPr>
              <a:t>tz</a:t>
            </a:r>
            <a:r>
              <a:rPr lang="zh-CN" altLang="en-US" sz="2400" dirty="0">
                <a:solidFill>
                  <a:srgbClr val="080808"/>
                </a:solidFill>
                <a:latin typeface="楷体" panose="02010609060101010101" pitchFamily="49" charset="-122"/>
                <a:ea typeface="楷体" panose="02010609060101010101" pitchFamily="49" charset="-122"/>
              </a:rPr>
              <a:t>表示已选取整数的和，</a:t>
            </a:r>
            <a:r>
              <a:rPr lang="en-US" altLang="zh-CN" sz="2400" dirty="0" err="1">
                <a:solidFill>
                  <a:srgbClr val="080808"/>
                </a:solidFill>
                <a:latin typeface="楷体" panose="02010609060101010101" pitchFamily="49" charset="-122"/>
                <a:ea typeface="楷体" panose="02010609060101010101" pitchFamily="49" charset="-122"/>
              </a:rPr>
              <a:t>rz</a:t>
            </a:r>
            <a:r>
              <a:rPr lang="zh-CN" altLang="en-US" sz="2400" dirty="0">
                <a:solidFill>
                  <a:srgbClr val="080808"/>
                </a:solidFill>
                <a:latin typeface="楷体" panose="02010609060101010101" pitchFamily="49" charset="-122"/>
                <a:ea typeface="楷体" panose="02010609060101010101" pitchFamily="49" charset="-122"/>
              </a:rPr>
              <a:t>表示余下整数的和，则：</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约束函数：一是判断当前整数</a:t>
            </a:r>
            <a:r>
              <a:rPr lang="en-US" altLang="zh-CN" sz="2400" dirty="0" err="1">
                <a:solidFill>
                  <a:srgbClr val="080808"/>
                </a:solidFill>
                <a:latin typeface="楷体" panose="02010609060101010101" pitchFamily="49" charset="-122"/>
                <a:ea typeface="楷体" panose="02010609060101010101" pitchFamily="49" charset="-122"/>
              </a:rPr>
              <a:t>zi</a:t>
            </a:r>
            <a:r>
              <a:rPr lang="zh-CN" altLang="en-US" sz="2400" dirty="0">
                <a:solidFill>
                  <a:srgbClr val="080808"/>
                </a:solidFill>
                <a:latin typeface="楷体" panose="02010609060101010101" pitchFamily="49" charset="-122"/>
                <a:ea typeface="楷体" panose="02010609060101010101" pitchFamily="49" charset="-122"/>
              </a:rPr>
              <a:t>加入后的子集和是否小于</a:t>
            </a:r>
            <a:r>
              <a:rPr lang="en-US" altLang="zh-CN" sz="2400" dirty="0">
                <a:solidFill>
                  <a:srgbClr val="080808"/>
                </a:solidFill>
                <a:latin typeface="楷体" panose="02010609060101010101" pitchFamily="49" charset="-122"/>
                <a:ea typeface="楷体" panose="02010609060101010101" pitchFamily="49" charset="-122"/>
              </a:rPr>
              <a:t>c</a:t>
            </a:r>
            <a:r>
              <a:rPr lang="zh-CN" altLang="en-US" sz="2400" dirty="0">
                <a:solidFill>
                  <a:srgbClr val="080808"/>
                </a:solidFill>
                <a:latin typeface="楷体" panose="02010609060101010101" pitchFamily="49" charset="-122"/>
                <a:ea typeface="楷体" panose="02010609060101010101" pitchFamily="49" charset="-122"/>
              </a:rPr>
              <a:t>，如果是就继续搜索，否则结束搜索。</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限界函数：如果某一个结点的</a:t>
            </a:r>
            <a:r>
              <a:rPr lang="en-US" altLang="zh-CN" sz="2400" dirty="0" err="1">
                <a:solidFill>
                  <a:srgbClr val="080808"/>
                </a:solidFill>
                <a:latin typeface="楷体" panose="02010609060101010101" pitchFamily="49" charset="-122"/>
                <a:ea typeface="楷体" panose="02010609060101010101" pitchFamily="49" charset="-122"/>
              </a:rPr>
              <a:t>tz+rz</a:t>
            </a:r>
            <a:r>
              <a:rPr lang="en-US" altLang="zh-CN" sz="2400" dirty="0">
                <a:solidFill>
                  <a:srgbClr val="080808"/>
                </a:solidFill>
                <a:latin typeface="楷体" panose="02010609060101010101" pitchFamily="49" charset="-122"/>
                <a:ea typeface="楷体" panose="02010609060101010101" pitchFamily="49" charset="-122"/>
              </a:rPr>
              <a:t>&lt;c</a:t>
            </a:r>
            <a:r>
              <a:rPr lang="zh-CN" altLang="en-US" sz="2400" dirty="0">
                <a:solidFill>
                  <a:srgbClr val="080808"/>
                </a:solidFill>
                <a:latin typeface="楷体" panose="02010609060101010101" pitchFamily="49" charset="-122"/>
                <a:ea typeface="楷体" panose="02010609060101010101" pitchFamily="49" charset="-122"/>
              </a:rPr>
              <a:t>，表示无解，结束搜索。</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从根结点出发，对解空间树的搜索过程如表</a:t>
            </a:r>
            <a:r>
              <a:rPr lang="en-US" altLang="zh-CN" sz="2400" dirty="0">
                <a:solidFill>
                  <a:srgbClr val="080808"/>
                </a:solidFill>
                <a:latin typeface="楷体" panose="02010609060101010101" pitchFamily="49" charset="-122"/>
                <a:ea typeface="楷体" panose="02010609060101010101" pitchFamily="49" charset="-122"/>
              </a:rPr>
              <a:t>6.2</a:t>
            </a:r>
            <a:r>
              <a:rPr lang="zh-CN" altLang="en-US" sz="2400" dirty="0">
                <a:solidFill>
                  <a:srgbClr val="080808"/>
                </a:solidFill>
                <a:latin typeface="楷体" panose="02010609060101010101" pitchFamily="49" charset="-122"/>
                <a:ea typeface="楷体" panose="02010609060101010101" pitchFamily="49" charset="-122"/>
              </a:rPr>
              <a:t>所示：</a:t>
            </a:r>
            <a:endParaRPr lang="zh-CN" altLang="en-US" sz="2400" dirty="0">
              <a:solidFill>
                <a:srgbClr val="080808"/>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0" y="1"/>
          <a:ext cx="9144000" cy="7315200"/>
        </p:xfrm>
        <a:graphic>
          <a:graphicData uri="http://schemas.openxmlformats.org/drawingml/2006/table">
            <a:tbl>
              <a:tblPr firstRow="1" firstCol="1" bandRow="1"/>
              <a:tblGrid>
                <a:gridCol w="1088601"/>
                <a:gridCol w="1088601"/>
                <a:gridCol w="2039767"/>
                <a:gridCol w="1089806"/>
                <a:gridCol w="1089806"/>
                <a:gridCol w="2747419"/>
              </a:tblGrid>
              <a:tr h="213406">
                <a:tc>
                  <a:txBody>
                    <a:bodyPr/>
                    <a:lstStyle/>
                    <a:p>
                      <a:pPr algn="ctr">
                        <a:lnSpc>
                          <a:spcPts val="1800"/>
                        </a:lnSpc>
                        <a:spcAft>
                          <a:spcPts val="0"/>
                        </a:spcAft>
                      </a:pPr>
                      <a:r>
                        <a:rPr lang="zh-CN" sz="1600" kern="100">
                          <a:effectLst/>
                        </a:rPr>
                        <a:t>层数</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结点</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子集</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tz</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rz</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备注</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63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起始状态</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337">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{16,12,28}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56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tz&gt;35</a:t>
                      </a:r>
                      <a:r>
                        <a:rPr lang="zh-CN" sz="1600" kern="100">
                          <a:effectLst/>
                        </a:rPr>
                        <a:t>，终止搜索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{16,12,7}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dirty="0">
                          <a:effectLst/>
                        </a:rPr>
                        <a:t>不可行解</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337">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tz&gt;35</a:t>
                      </a:r>
                      <a:r>
                        <a:rPr lang="zh-CN" sz="1600" kern="100">
                          <a:effectLst/>
                        </a:rPr>
                        <a:t>，终止搜索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63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51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337">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tz&gt;35</a:t>
                      </a:r>
                      <a:r>
                        <a:rPr lang="zh-CN" sz="1600" kern="100">
                          <a:effectLst/>
                        </a:rPr>
                        <a:t>，终止搜索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51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51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63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63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56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63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dirty="0">
                          <a:effectLst/>
                        </a:rPr>
                        <a:t>不可行解</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bl>
          </a:graphicData>
        </a:graphic>
      </p:graphicFrame>
      <p:pic>
        <p:nvPicPr>
          <p:cNvPr id="4" name="图片 3"/>
          <p:cNvPicPr/>
          <p:nvPr/>
        </p:nvPicPr>
        <p:blipFill>
          <a:blip r:embed="rId1">
            <a:extLst>
              <a:ext uri="{28A0092B-C50C-407E-A947-70E740481C1C}">
                <a14:useLocalDpi xmlns:a14="http://schemas.microsoft.com/office/drawing/2010/main" val="0"/>
              </a:ext>
            </a:extLst>
          </a:blip>
          <a:stretch>
            <a:fillRect/>
          </a:stretch>
        </p:blipFill>
        <p:spPr>
          <a:xfrm>
            <a:off x="0" y="3429000"/>
            <a:ext cx="9144000" cy="4045496"/>
          </a:xfrm>
          <a:prstGeom prst="rect">
            <a:avLst/>
          </a:prstGeom>
        </p:spPr>
      </p:pic>
      <p:sp>
        <p:nvSpPr>
          <p:cNvPr id="5" name="矩形 4"/>
          <p:cNvSpPr/>
          <p:nvPr/>
        </p:nvSpPr>
        <p:spPr>
          <a:xfrm>
            <a:off x="5220072" y="3657601"/>
            <a:ext cx="4107215" cy="323165"/>
          </a:xfrm>
          <a:prstGeom prst="rect">
            <a:avLst/>
          </a:prstGeom>
        </p:spPr>
        <p:txBody>
          <a:bodyPr wrap="none">
            <a:spAutoFit/>
          </a:bodyPr>
          <a:lstStyle/>
          <a:p>
            <a:pPr indent="266700" algn="just">
              <a:lnSpc>
                <a:spcPts val="1800"/>
              </a:lnSpc>
              <a:spcAft>
                <a:spcPts val="0"/>
              </a:spcAft>
            </a:pPr>
            <a:r>
              <a:rPr lang="zh-CN" altLang="zh-CN" kern="100" dirty="0">
                <a:latin typeface="Times New Roman" panose="02020603050405020304" pitchFamily="18" charset="0"/>
                <a:cs typeface="Times New Roman" panose="02020603050405020304" pitchFamily="18" charset="0"/>
              </a:rPr>
              <a:t>已知</a:t>
            </a:r>
            <a:r>
              <a:rPr lang="en-US" altLang="zh-CN" kern="100" dirty="0">
                <a:latin typeface="Times New Roman" panose="02020603050405020304" pitchFamily="18" charset="0"/>
                <a:cs typeface="Times New Roman" panose="02020603050405020304" pitchFamily="18" charset="0"/>
              </a:rPr>
              <a:t>n=4</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z=</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16,12,28,7</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c=35</a:t>
            </a:r>
            <a:r>
              <a:rPr lang="zh-CN" altLang="zh-CN" kern="100" dirty="0">
                <a:latin typeface="Times New Roman" panose="02020603050405020304" pitchFamily="18" charset="0"/>
                <a:cs typeface="Times New Roman" panose="02020603050405020304" pitchFamily="18" charset="0"/>
              </a:rPr>
              <a:t>。</a:t>
            </a:r>
            <a:endParaRPr lang="zh-CN" altLang="zh-CN" kern="1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0" y="1"/>
          <a:ext cx="9144000" cy="7315200"/>
        </p:xfrm>
        <a:graphic>
          <a:graphicData uri="http://schemas.openxmlformats.org/drawingml/2006/table">
            <a:tbl>
              <a:tblPr firstRow="1" firstCol="1" bandRow="1"/>
              <a:tblGrid>
                <a:gridCol w="1088601"/>
                <a:gridCol w="1088601"/>
                <a:gridCol w="2039767"/>
                <a:gridCol w="1089806"/>
                <a:gridCol w="1089806"/>
                <a:gridCol w="2747419"/>
              </a:tblGrid>
              <a:tr h="213406">
                <a:tc>
                  <a:txBody>
                    <a:bodyPr/>
                    <a:lstStyle/>
                    <a:p>
                      <a:pPr algn="ctr">
                        <a:lnSpc>
                          <a:spcPts val="1800"/>
                        </a:lnSpc>
                        <a:spcAft>
                          <a:spcPts val="0"/>
                        </a:spcAft>
                      </a:pPr>
                      <a:r>
                        <a:rPr lang="zh-CN" sz="1600" kern="100">
                          <a:effectLst/>
                        </a:rPr>
                        <a:t>层数</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结点</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子集</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tz</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rz</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备注</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63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起始状态</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337">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{16,12,28}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56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tz&gt;35</a:t>
                      </a:r>
                      <a:r>
                        <a:rPr lang="zh-CN" sz="1600" kern="100">
                          <a:effectLst/>
                        </a:rPr>
                        <a:t>，终止搜索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{16,12,7}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337">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tz&gt;35</a:t>
                      </a:r>
                      <a:r>
                        <a:rPr lang="zh-CN" sz="1600" kern="100">
                          <a:effectLst/>
                        </a:rPr>
                        <a:t>，终止搜索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63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51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337">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tz&gt;35</a:t>
                      </a:r>
                      <a:r>
                        <a:rPr lang="zh-CN" sz="1600" kern="100">
                          <a:effectLst/>
                        </a:rPr>
                        <a:t>，终止搜索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51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44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51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63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29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63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继续搜索</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56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a:effectLst/>
                        </a:rPr>
                        <a:t>不可行解</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r h="213406">
                <a:tc>
                  <a:txBody>
                    <a:bodyPr/>
                    <a:lstStyle/>
                    <a:p>
                      <a:pPr algn="ctr">
                        <a:lnSpc>
                          <a:spcPts val="1800"/>
                        </a:lnSpc>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31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en-US" sz="1600" kern="100">
                          <a:effectLst/>
                        </a:rPr>
                        <a:t>63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c>
                  <a:txBody>
                    <a:bodyPr/>
                    <a:lstStyle/>
                    <a:p>
                      <a:pPr algn="ctr">
                        <a:lnSpc>
                          <a:spcPts val="1800"/>
                        </a:lnSpc>
                        <a:spcAft>
                          <a:spcPts val="0"/>
                        </a:spcAft>
                      </a:pPr>
                      <a:r>
                        <a:rPr lang="zh-CN" sz="1600" kern="100" dirty="0">
                          <a:effectLst/>
                        </a:rPr>
                        <a:t>不可行解</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4506" marR="54506" marT="0" marB="0">
                    <a:solidFill>
                      <a:schemeClr val="bg1"/>
                    </a:solidFill>
                  </a:tcPr>
                </a:tc>
              </a:tr>
            </a:tbl>
          </a:graphicData>
        </a:graphic>
      </p:graphicFrame>
      <p:pic>
        <p:nvPicPr>
          <p:cNvPr id="4" name="图片 3"/>
          <p:cNvPicPr/>
          <p:nvPr/>
        </p:nvPicPr>
        <p:blipFill>
          <a:blip r:embed="rId1">
            <a:extLst>
              <a:ext uri="{28A0092B-C50C-407E-A947-70E740481C1C}">
                <a14:useLocalDpi xmlns:a14="http://schemas.microsoft.com/office/drawing/2010/main" val="0"/>
              </a:ext>
            </a:extLst>
          </a:blip>
          <a:stretch>
            <a:fillRect/>
          </a:stretch>
        </p:blipFill>
        <p:spPr>
          <a:xfrm>
            <a:off x="-19473" y="-29682"/>
            <a:ext cx="9144000" cy="3458682"/>
          </a:xfrm>
          <a:prstGeom prst="rect">
            <a:avLst/>
          </a:prstGeom>
        </p:spPr>
      </p:pic>
      <p:sp>
        <p:nvSpPr>
          <p:cNvPr id="5" name="矩形 4"/>
          <p:cNvSpPr/>
          <p:nvPr/>
        </p:nvSpPr>
        <p:spPr>
          <a:xfrm>
            <a:off x="5056258" y="116632"/>
            <a:ext cx="4107215" cy="323165"/>
          </a:xfrm>
          <a:prstGeom prst="rect">
            <a:avLst/>
          </a:prstGeom>
        </p:spPr>
        <p:txBody>
          <a:bodyPr wrap="none">
            <a:spAutoFit/>
          </a:bodyPr>
          <a:lstStyle/>
          <a:p>
            <a:pPr indent="266700" algn="just">
              <a:lnSpc>
                <a:spcPts val="1800"/>
              </a:lnSpc>
              <a:spcAft>
                <a:spcPts val="0"/>
              </a:spcAft>
            </a:pPr>
            <a:r>
              <a:rPr lang="zh-CN" altLang="zh-CN" kern="100" dirty="0">
                <a:latin typeface="Times New Roman" panose="02020603050405020304" pitchFamily="18" charset="0"/>
                <a:cs typeface="Times New Roman" panose="02020603050405020304" pitchFamily="18" charset="0"/>
              </a:rPr>
              <a:t>已知</a:t>
            </a:r>
            <a:r>
              <a:rPr lang="en-US" altLang="zh-CN" kern="100" dirty="0">
                <a:latin typeface="Times New Roman" panose="02020603050405020304" pitchFamily="18" charset="0"/>
                <a:cs typeface="Times New Roman" panose="02020603050405020304" pitchFamily="18" charset="0"/>
              </a:rPr>
              <a:t>n=4</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z=</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16,12,28,7</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c=35</a:t>
            </a:r>
            <a:r>
              <a:rPr lang="zh-CN" altLang="zh-CN" kern="100" dirty="0">
                <a:latin typeface="Times New Roman" panose="02020603050405020304" pitchFamily="18" charset="0"/>
                <a:cs typeface="Times New Roman" panose="02020603050405020304" pitchFamily="18" charset="0"/>
              </a:rPr>
              <a:t>。</a:t>
            </a:r>
            <a:endParaRPr lang="zh-CN" altLang="zh-CN" kern="1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0" y="1340768"/>
            <a:ext cx="8874126"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indent="457200">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例</a:t>
            </a:r>
            <a:r>
              <a:rPr lang="en-US" altLang="zh-CN" sz="2400" dirty="0">
                <a:solidFill>
                  <a:srgbClr val="080808"/>
                </a:solidFill>
                <a:latin typeface="楷体" panose="02010609060101010101" pitchFamily="49" charset="-122"/>
                <a:ea typeface="楷体" panose="02010609060101010101" pitchFamily="49" charset="-122"/>
              </a:rPr>
              <a:t>6.2】</a:t>
            </a:r>
            <a:r>
              <a:rPr lang="zh-CN" altLang="en-US" sz="2400" dirty="0">
                <a:solidFill>
                  <a:srgbClr val="080808"/>
                </a:solidFill>
                <a:latin typeface="楷体" panose="02010609060101010101" pitchFamily="49" charset="-122"/>
                <a:ea typeface="楷体" panose="02010609060101010101" pitchFamily="49" charset="-122"/>
              </a:rPr>
              <a:t>装载问题。</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问题描述：现有</a:t>
            </a:r>
            <a:r>
              <a:rPr lang="en-US" altLang="zh-CN" sz="2400" dirty="0">
                <a:solidFill>
                  <a:srgbClr val="080808"/>
                </a:solidFill>
                <a:latin typeface="楷体" panose="02010609060101010101" pitchFamily="49" charset="-122"/>
                <a:ea typeface="楷体" panose="02010609060101010101" pitchFamily="49" charset="-122"/>
              </a:rPr>
              <a:t>n</a:t>
            </a:r>
            <a:r>
              <a:rPr lang="zh-CN" altLang="en-US" sz="2400" dirty="0">
                <a:solidFill>
                  <a:srgbClr val="080808"/>
                </a:solidFill>
                <a:latin typeface="楷体" panose="02010609060101010101" pitchFamily="49" charset="-122"/>
                <a:ea typeface="楷体" panose="02010609060101010101" pitchFamily="49" charset="-122"/>
              </a:rPr>
              <a:t>个集装箱，要装上</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艘轮船，轮船的载重量分别为</a:t>
            </a:r>
            <a:r>
              <a:rPr lang="en-US" altLang="zh-CN" sz="2400" dirty="0">
                <a:solidFill>
                  <a:srgbClr val="080808"/>
                </a:solidFill>
                <a:latin typeface="楷体" panose="02010609060101010101" pitchFamily="49" charset="-122"/>
                <a:ea typeface="楷体" panose="02010609060101010101" pitchFamily="49" charset="-122"/>
              </a:rPr>
              <a:t>c1</a:t>
            </a:r>
            <a:r>
              <a:rPr lang="zh-CN" altLang="en-US" sz="2400" dirty="0">
                <a:solidFill>
                  <a:srgbClr val="080808"/>
                </a:solidFill>
                <a:latin typeface="楷体" panose="02010609060101010101" pitchFamily="49" charset="-122"/>
                <a:ea typeface="楷体" panose="02010609060101010101" pitchFamily="49" charset="-122"/>
              </a:rPr>
              <a:t>和</a:t>
            </a:r>
            <a:r>
              <a:rPr lang="en-US" altLang="zh-CN" sz="2400" dirty="0">
                <a:solidFill>
                  <a:srgbClr val="080808"/>
                </a:solidFill>
                <a:latin typeface="楷体" panose="02010609060101010101" pitchFamily="49" charset="-122"/>
                <a:ea typeface="楷体" panose="02010609060101010101" pitchFamily="49" charset="-122"/>
              </a:rPr>
              <a:t>c2</a:t>
            </a:r>
            <a:r>
              <a:rPr lang="zh-CN" altLang="en-US" sz="2400" dirty="0">
                <a:solidFill>
                  <a:srgbClr val="080808"/>
                </a:solidFill>
                <a:latin typeface="楷体" panose="02010609060101010101" pitchFamily="49" charset="-122"/>
                <a:ea typeface="楷体" panose="02010609060101010101" pitchFamily="49" charset="-122"/>
              </a:rPr>
              <a:t>，已知集装箱</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的重量为</a:t>
            </a:r>
            <a:r>
              <a:rPr lang="en-US" altLang="zh-CN" sz="2400" dirty="0" err="1">
                <a:solidFill>
                  <a:srgbClr val="080808"/>
                </a:solidFill>
                <a:latin typeface="楷体" panose="02010609060101010101" pitchFamily="49" charset="-122"/>
                <a:ea typeface="楷体" panose="02010609060101010101" pitchFamily="49" charset="-122"/>
              </a:rPr>
              <a:t>wi</a:t>
            </a:r>
            <a:r>
              <a:rPr lang="zh-CN" altLang="en-US" sz="2400" dirty="0">
                <a:solidFill>
                  <a:srgbClr val="080808"/>
                </a:solidFill>
                <a:latin typeface="楷体" panose="02010609060101010101" pitchFamily="49" charset="-122"/>
                <a:ea typeface="楷体" panose="02010609060101010101" pitchFamily="49" charset="-122"/>
              </a:rPr>
              <a:t>，且</a:t>
            </a:r>
            <a:r>
              <a:rPr lang="en-US" altLang="zh-CN" sz="2400" dirty="0">
                <a:solidFill>
                  <a:srgbClr val="080808"/>
                </a:solidFill>
                <a:latin typeface="楷体" panose="02010609060101010101" pitchFamily="49" charset="-122"/>
                <a:ea typeface="楷体" panose="02010609060101010101" pitchFamily="49" charset="-122"/>
              </a:rPr>
              <a:t>w1+w2+……+</a:t>
            </a:r>
            <a:r>
              <a:rPr lang="en-US" altLang="zh-CN" sz="2400" dirty="0" err="1">
                <a:solidFill>
                  <a:srgbClr val="080808"/>
                </a:solidFill>
                <a:latin typeface="楷体" panose="02010609060101010101" pitchFamily="49" charset="-122"/>
                <a:ea typeface="楷体" panose="02010609060101010101" pitchFamily="49" charset="-122"/>
              </a:rPr>
              <a:t>wn</a:t>
            </a:r>
            <a:r>
              <a:rPr lang="en-US" altLang="zh-CN" sz="2400" dirty="0">
                <a:solidFill>
                  <a:srgbClr val="080808"/>
                </a:solidFill>
                <a:latin typeface="楷体" panose="02010609060101010101" pitchFamily="49" charset="-122"/>
                <a:ea typeface="楷体" panose="02010609060101010101" pitchFamily="49" charset="-122"/>
              </a:rPr>
              <a:t>&lt;=c1+c2</a:t>
            </a:r>
            <a:r>
              <a:rPr lang="zh-CN" altLang="en-US" sz="2400" dirty="0">
                <a:solidFill>
                  <a:srgbClr val="080808"/>
                </a:solidFill>
                <a:latin typeface="楷体" panose="02010609060101010101" pitchFamily="49" charset="-122"/>
                <a:ea typeface="楷体" panose="02010609060101010101" pitchFamily="49" charset="-122"/>
              </a:rPr>
              <a:t>，请设计算法找出一个合理的装载方案可将全部集装箱装上这</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艘轮船。</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、解题思路：分为以下两步：</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）先将第一艘轮船尽可能的装满；</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）而后将剩余的集装箱装在第二艘轮船上。</a:t>
            </a:r>
            <a:endParaRPr lang="en-US" altLang="zh-CN"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endParaRPr lang="en-US" altLang="zh-CN"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采用回朔法求解，将第一艘轮船尽可能的装满相当于选取所有集装箱的一个子集，使该子集中的集装箱重量之和尽可能接近</a:t>
            </a:r>
            <a:r>
              <a:rPr lang="en-US" altLang="zh-CN" sz="2400" dirty="0">
                <a:solidFill>
                  <a:srgbClr val="080808"/>
                </a:solidFill>
                <a:latin typeface="楷体" panose="02010609060101010101" pitchFamily="49" charset="-122"/>
                <a:ea typeface="楷体" panose="02010609060101010101" pitchFamily="49" charset="-122"/>
              </a:rPr>
              <a:t>C1</a:t>
            </a:r>
            <a:r>
              <a:rPr lang="zh-CN" altLang="en-US" sz="2400" dirty="0">
                <a:solidFill>
                  <a:srgbClr val="080808"/>
                </a:solidFill>
                <a:latin typeface="楷体" panose="02010609060101010101" pitchFamily="49" charset="-122"/>
                <a:ea typeface="楷体" panose="02010609060101010101" pitchFamily="49" charset="-122"/>
              </a:rPr>
              <a:t>，和背包问题有些类似，问题描述如下</a:t>
            </a:r>
            <a:r>
              <a:rPr lang="en-US" altLang="zh-CN" sz="2400" dirty="0">
                <a:solidFill>
                  <a:srgbClr val="080808"/>
                </a:solidFill>
                <a:latin typeface="楷体" panose="02010609060101010101" pitchFamily="49" charset="-122"/>
                <a:ea typeface="楷体" panose="02010609060101010101" pitchFamily="49" charset="-122"/>
              </a:rPr>
              <a:t>:</a:t>
            </a:r>
            <a:endParaRPr lang="en-US" altLang="zh-CN"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endParaRPr lang="zh-CN" altLang="en-US" sz="2400" dirty="0">
              <a:solidFill>
                <a:srgbClr val="080808"/>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4088" y="1124744"/>
            <a:ext cx="8874126"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）设</a:t>
            </a:r>
            <a:r>
              <a:rPr lang="en-US" altLang="zh-CN" sz="2400" dirty="0">
                <a:solidFill>
                  <a:srgbClr val="080808"/>
                </a:solidFill>
                <a:latin typeface="楷体" panose="02010609060101010101" pitchFamily="49" charset="-122"/>
                <a:ea typeface="楷体" panose="02010609060101010101" pitchFamily="49" charset="-122"/>
              </a:rPr>
              <a:t>xi </a:t>
            </a:r>
            <a:r>
              <a:rPr lang="zh-CN" altLang="en-US" sz="2400" dirty="0">
                <a:solidFill>
                  <a:srgbClr val="080808"/>
                </a:solidFill>
                <a:latin typeface="楷体" panose="02010609060101010101" pitchFamily="49" charset="-122"/>
                <a:ea typeface="楷体" panose="02010609060101010101" pitchFamily="49" charset="-122"/>
              </a:rPr>
              <a:t>表示集装箱 </a:t>
            </a:r>
            <a:r>
              <a:rPr lang="en-US" altLang="zh-CN" sz="2400" dirty="0" err="1">
                <a:solidFill>
                  <a:srgbClr val="080808"/>
                </a:solidFill>
                <a:latin typeface="楷体" panose="02010609060101010101" pitchFamily="49" charset="-122"/>
                <a:ea typeface="楷体" panose="02010609060101010101" pitchFamily="49" charset="-122"/>
              </a:rPr>
              <a:t>i</a:t>
            </a:r>
            <a:r>
              <a:rPr lang="en-US" altLang="zh-CN" sz="2400" dirty="0">
                <a:solidFill>
                  <a:srgbClr val="080808"/>
                </a:solidFill>
                <a:latin typeface="楷体" panose="02010609060101010101" pitchFamily="49" charset="-122"/>
                <a:ea typeface="楷体" panose="02010609060101010101" pitchFamily="49" charset="-122"/>
              </a:rPr>
              <a:t> </a:t>
            </a:r>
            <a:r>
              <a:rPr lang="zh-CN" altLang="en-US" sz="2400" dirty="0">
                <a:solidFill>
                  <a:srgbClr val="080808"/>
                </a:solidFill>
                <a:latin typeface="楷体" panose="02010609060101010101" pitchFamily="49" charset="-122"/>
                <a:ea typeface="楷体" panose="02010609060101010101" pitchFamily="49" charset="-122"/>
              </a:rPr>
              <a:t>装入轮船</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的情况，即解向量：</a:t>
            </a:r>
            <a:r>
              <a:rPr lang="en-US" altLang="zh-CN" sz="2400" dirty="0">
                <a:solidFill>
                  <a:srgbClr val="080808"/>
                </a:solidFill>
                <a:latin typeface="楷体" panose="02010609060101010101" pitchFamily="49" charset="-122"/>
                <a:ea typeface="楷体" panose="02010609060101010101" pitchFamily="49" charset="-122"/>
              </a:rPr>
              <a:t>X=(x1, x2, …, </a:t>
            </a:r>
            <a:r>
              <a:rPr lang="en-US" altLang="zh-CN" sz="2400" dirty="0" err="1">
                <a:solidFill>
                  <a:srgbClr val="080808"/>
                </a:solidFill>
                <a:latin typeface="楷体" panose="02010609060101010101" pitchFamily="49" charset="-122"/>
                <a:ea typeface="楷体" panose="02010609060101010101" pitchFamily="49" charset="-122"/>
              </a:rPr>
              <a:t>xn</a:t>
            </a:r>
            <a:r>
              <a:rPr lang="en-US" altLang="zh-CN" sz="2400" dirty="0">
                <a:solidFill>
                  <a:srgbClr val="080808"/>
                </a:solidFill>
                <a:latin typeface="楷体" panose="02010609060101010101" pitchFamily="49" charset="-122"/>
                <a:ea typeface="楷体" panose="02010609060101010101" pitchFamily="49" charset="-122"/>
              </a:rPr>
              <a:t>), </a:t>
            </a:r>
            <a:r>
              <a:rPr lang="zh-CN" altLang="en-US" sz="2400" dirty="0">
                <a:solidFill>
                  <a:srgbClr val="080808"/>
                </a:solidFill>
                <a:latin typeface="楷体" panose="02010609060101010101" pitchFamily="49" charset="-122"/>
                <a:ea typeface="楷体" panose="02010609060101010101" pitchFamily="49" charset="-122"/>
              </a:rPr>
              <a:t>则</a:t>
            </a:r>
            <a:r>
              <a:rPr lang="en-US" altLang="zh-CN" sz="2400" dirty="0">
                <a:solidFill>
                  <a:srgbClr val="080808"/>
                </a:solidFill>
                <a:latin typeface="楷体" panose="02010609060101010101" pitchFamily="49" charset="-122"/>
                <a:ea typeface="楷体" panose="02010609060101010101" pitchFamily="49" charset="-122"/>
              </a:rPr>
              <a:t>xi</a:t>
            </a:r>
            <a:r>
              <a:rPr lang="zh-CN" altLang="en-US" sz="2400" dirty="0">
                <a:solidFill>
                  <a:srgbClr val="080808"/>
                </a:solidFill>
                <a:latin typeface="楷体" panose="02010609060101010101" pitchFamily="49" charset="-122"/>
                <a:ea typeface="楷体" panose="02010609060101010101" pitchFamily="49" charset="-122"/>
              </a:rPr>
              <a:t>取值只有</a:t>
            </a:r>
            <a:r>
              <a:rPr lang="en-US" altLang="zh-CN" sz="2400" dirty="0">
                <a:solidFill>
                  <a:srgbClr val="080808"/>
                </a:solidFill>
                <a:latin typeface="楷体" panose="02010609060101010101" pitchFamily="49" charset="-122"/>
                <a:ea typeface="楷体" panose="02010609060101010101" pitchFamily="49" charset="-122"/>
              </a:rPr>
              <a:t>0</a:t>
            </a:r>
            <a:r>
              <a:rPr lang="zh-CN" altLang="en-US" sz="2400" dirty="0">
                <a:solidFill>
                  <a:srgbClr val="080808"/>
                </a:solidFill>
                <a:latin typeface="楷体" panose="02010609060101010101" pitchFamily="49" charset="-122"/>
                <a:ea typeface="楷体" panose="02010609060101010101" pitchFamily="49" charset="-122"/>
              </a:rPr>
              <a:t>和</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，当</a:t>
            </a:r>
            <a:r>
              <a:rPr lang="en-US" altLang="zh-CN" sz="2400" dirty="0">
                <a:solidFill>
                  <a:srgbClr val="080808"/>
                </a:solidFill>
                <a:latin typeface="楷体" panose="02010609060101010101" pitchFamily="49" charset="-122"/>
                <a:ea typeface="楷体" panose="02010609060101010101" pitchFamily="49" charset="-122"/>
              </a:rPr>
              <a:t>xi=0</a:t>
            </a:r>
            <a:r>
              <a:rPr lang="zh-CN" altLang="en-US" sz="2400" dirty="0">
                <a:solidFill>
                  <a:srgbClr val="080808"/>
                </a:solidFill>
                <a:latin typeface="楷体" panose="02010609060101010101" pitchFamily="49" charset="-122"/>
                <a:ea typeface="楷体" panose="02010609060101010101" pitchFamily="49" charset="-122"/>
              </a:rPr>
              <a:t>时表示物体</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没被装入轮船</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，当</a:t>
            </a:r>
            <a:r>
              <a:rPr lang="en-US" altLang="zh-CN" sz="2400" dirty="0">
                <a:solidFill>
                  <a:srgbClr val="080808"/>
                </a:solidFill>
                <a:latin typeface="楷体" panose="02010609060101010101" pitchFamily="49" charset="-122"/>
                <a:ea typeface="楷体" panose="02010609060101010101" pitchFamily="49" charset="-122"/>
              </a:rPr>
              <a:t>xi=1</a:t>
            </a:r>
            <a:r>
              <a:rPr lang="zh-CN" altLang="en-US" sz="2400" dirty="0">
                <a:solidFill>
                  <a:srgbClr val="080808"/>
                </a:solidFill>
                <a:latin typeface="楷体" panose="02010609060101010101" pitchFamily="49" charset="-122"/>
                <a:ea typeface="楷体" panose="02010609060101010101" pitchFamily="49" charset="-122"/>
              </a:rPr>
              <a:t>时表示物体</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整个被装入轮船</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   </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）约束条件</a:t>
            </a: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轮船</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的载重量是</a:t>
            </a:r>
            <a:r>
              <a:rPr lang="en-US" altLang="zh-CN" sz="2400" dirty="0">
                <a:solidFill>
                  <a:srgbClr val="080808"/>
                </a:solidFill>
                <a:latin typeface="楷体" panose="02010609060101010101" pitchFamily="49" charset="-122"/>
                <a:ea typeface="楷体" panose="02010609060101010101" pitchFamily="49" charset="-122"/>
              </a:rPr>
              <a:t>c1</a:t>
            </a:r>
            <a:r>
              <a:rPr lang="zh-CN" altLang="en-US" sz="2400" dirty="0">
                <a:solidFill>
                  <a:srgbClr val="080808"/>
                </a:solidFill>
                <a:latin typeface="楷体" panose="02010609060101010101" pitchFamily="49" charset="-122"/>
                <a:ea typeface="楷体" panose="02010609060101010101" pitchFamily="49" charset="-122"/>
              </a:rPr>
              <a:t>，因此装入轮船</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中的集装箱总重量不得超过</a:t>
            </a:r>
            <a:r>
              <a:rPr lang="en-US" altLang="zh-CN" sz="2400" dirty="0">
                <a:solidFill>
                  <a:srgbClr val="080808"/>
                </a:solidFill>
                <a:latin typeface="楷体" panose="02010609060101010101" pitchFamily="49" charset="-122"/>
                <a:ea typeface="楷体" panose="02010609060101010101" pitchFamily="49" charset="-122"/>
              </a:rPr>
              <a:t>c1</a:t>
            </a:r>
            <a:r>
              <a:rPr lang="zh-CN" altLang="en-US" sz="2400" dirty="0">
                <a:solidFill>
                  <a:srgbClr val="080808"/>
                </a:solidFill>
                <a:latin typeface="楷体" panose="02010609060101010101" pitchFamily="49" charset="-122"/>
                <a:ea typeface="楷体" panose="02010609060101010101" pitchFamily="49" charset="-122"/>
              </a:rPr>
              <a:t>，即：</a:t>
            </a:r>
            <a:r>
              <a:rPr lang="en-US" altLang="zh-CN" sz="2400" dirty="0">
                <a:solidFill>
                  <a:srgbClr val="080808"/>
                </a:solidFill>
                <a:latin typeface="楷体" panose="02010609060101010101" pitchFamily="49" charset="-122"/>
                <a:ea typeface="楷体" panose="02010609060101010101" pitchFamily="49" charset="-122"/>
              </a:rPr>
              <a:t>(w1x1+w2x2+...+</a:t>
            </a:r>
            <a:r>
              <a:rPr lang="en-US" altLang="zh-CN" sz="2400" dirty="0" err="1">
                <a:solidFill>
                  <a:srgbClr val="080808"/>
                </a:solidFill>
                <a:latin typeface="楷体" panose="02010609060101010101" pitchFamily="49" charset="-122"/>
                <a:ea typeface="楷体" panose="02010609060101010101" pitchFamily="49" charset="-122"/>
              </a:rPr>
              <a:t>wixi</a:t>
            </a:r>
            <a:r>
              <a:rPr lang="en-US" altLang="zh-CN" sz="2400" dirty="0">
                <a:solidFill>
                  <a:srgbClr val="080808"/>
                </a:solidFill>
                <a:latin typeface="楷体" panose="02010609060101010101" pitchFamily="49" charset="-122"/>
                <a:ea typeface="楷体" panose="02010609060101010101" pitchFamily="49" charset="-122"/>
              </a:rPr>
              <a:t>)&lt;= c1</a:t>
            </a:r>
            <a:r>
              <a:rPr lang="zh-CN" altLang="en-US" sz="2400" dirty="0">
                <a:solidFill>
                  <a:srgbClr val="080808"/>
                </a:solidFill>
                <a:latin typeface="楷体" panose="02010609060101010101" pitchFamily="49" charset="-122"/>
                <a:ea typeface="楷体" panose="02010609060101010101" pitchFamily="49" charset="-122"/>
              </a:rPr>
              <a:t>，可以用于解空间树的剪枝。</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3</a:t>
            </a:r>
            <a:r>
              <a:rPr lang="zh-CN" altLang="en-US" sz="2400" dirty="0">
                <a:solidFill>
                  <a:srgbClr val="080808"/>
                </a:solidFill>
                <a:latin typeface="楷体" panose="02010609060101010101" pitchFamily="49" charset="-122"/>
                <a:ea typeface="楷体" panose="02010609060101010101" pitchFamily="49" charset="-122"/>
              </a:rPr>
              <a:t>）问题的求解目标</a:t>
            </a:r>
            <a:r>
              <a:rPr lang="en-US" altLang="zh-CN" sz="2400" dirty="0">
                <a:solidFill>
                  <a:srgbClr val="080808"/>
                </a:solidFill>
                <a:latin typeface="楷体" panose="02010609060101010101" pitchFamily="49" charset="-122"/>
                <a:ea typeface="楷体" panose="02010609060101010101" pitchFamily="49" charset="-122"/>
              </a:rPr>
              <a:t>: </a:t>
            </a:r>
            <a:r>
              <a:rPr lang="zh-CN" altLang="en-US" sz="2400" dirty="0">
                <a:solidFill>
                  <a:srgbClr val="080808"/>
                </a:solidFill>
                <a:latin typeface="楷体" panose="02010609060101010101" pitchFamily="49" charset="-122"/>
                <a:ea typeface="楷体" panose="02010609060101010101" pitchFamily="49" charset="-122"/>
              </a:rPr>
              <a:t>装入轮船</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中的集装箱总重量最大，即</a:t>
            </a:r>
            <a:r>
              <a:rPr lang="en-US" altLang="zh-CN" sz="2400" dirty="0">
                <a:solidFill>
                  <a:srgbClr val="080808"/>
                </a:solidFill>
                <a:latin typeface="楷体" panose="02010609060101010101" pitchFamily="49" charset="-122"/>
                <a:ea typeface="楷体" panose="02010609060101010101" pitchFamily="49" charset="-122"/>
              </a:rPr>
              <a:t>max(w1x1+w2x2+...+</a:t>
            </a:r>
            <a:r>
              <a:rPr lang="en-US" altLang="zh-CN" sz="2400" dirty="0" err="1">
                <a:solidFill>
                  <a:srgbClr val="080808"/>
                </a:solidFill>
                <a:latin typeface="楷体" panose="02010609060101010101" pitchFamily="49" charset="-122"/>
                <a:ea typeface="楷体" panose="02010609060101010101" pitchFamily="49" charset="-122"/>
              </a:rPr>
              <a:t>wixi</a:t>
            </a: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搜索该问题的解空间树，给出以下两个剪枝函数：</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）约束条件：当搜索到第</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层的结点时，设</a:t>
            </a:r>
            <a:r>
              <a:rPr lang="en-US" altLang="zh-CN" sz="2400" dirty="0" err="1">
                <a:solidFill>
                  <a:srgbClr val="080808"/>
                </a:solidFill>
                <a:latin typeface="楷体" panose="02010609060101010101" pitchFamily="49" charset="-122"/>
                <a:ea typeface="楷体" panose="02010609060101010101" pitchFamily="49" charset="-122"/>
              </a:rPr>
              <a:t>cw</a:t>
            </a:r>
            <a:r>
              <a:rPr lang="zh-CN" altLang="en-US" sz="2400" dirty="0">
                <a:solidFill>
                  <a:srgbClr val="080808"/>
                </a:solidFill>
                <a:latin typeface="楷体" panose="02010609060101010101" pitchFamily="49" charset="-122"/>
                <a:ea typeface="楷体" panose="02010609060101010101" pitchFamily="49" charset="-122"/>
              </a:rPr>
              <a:t>为当前结点已有的轮船载重量，当满足</a:t>
            </a:r>
            <a:r>
              <a:rPr lang="en-US" altLang="zh-CN" sz="2400" dirty="0" err="1">
                <a:solidFill>
                  <a:srgbClr val="080808"/>
                </a:solidFill>
                <a:latin typeface="楷体" panose="02010609060101010101" pitchFamily="49" charset="-122"/>
                <a:ea typeface="楷体" panose="02010609060101010101" pitchFamily="49" charset="-122"/>
              </a:rPr>
              <a:t>cw+w</a:t>
            </a:r>
            <a:r>
              <a:rPr lang="en-US" altLang="zh-CN" sz="2400" dirty="0">
                <a:solidFill>
                  <a:srgbClr val="080808"/>
                </a:solidFill>
                <a:latin typeface="楷体" panose="02010609060101010101" pitchFamily="49" charset="-122"/>
                <a:ea typeface="楷体" panose="02010609060101010101" pitchFamily="49" charset="-122"/>
              </a:rPr>
              <a:t>[</a:t>
            </a:r>
            <a:r>
              <a:rPr lang="en-US" altLang="zh-CN" sz="2400" dirty="0" err="1">
                <a:solidFill>
                  <a:srgbClr val="080808"/>
                </a:solidFill>
                <a:latin typeface="楷体" panose="02010609060101010101" pitchFamily="49" charset="-122"/>
                <a:ea typeface="楷体" panose="02010609060101010101" pitchFamily="49" charset="-122"/>
              </a:rPr>
              <a:t>i</a:t>
            </a:r>
            <a:r>
              <a:rPr lang="en-US" altLang="zh-CN" sz="2400" dirty="0">
                <a:solidFill>
                  <a:srgbClr val="080808"/>
                </a:solidFill>
                <a:latin typeface="楷体" panose="02010609060101010101" pitchFamily="49" charset="-122"/>
                <a:ea typeface="楷体" panose="02010609060101010101" pitchFamily="49" charset="-122"/>
              </a:rPr>
              <a:t>] &lt;= c</a:t>
            </a:r>
            <a:r>
              <a:rPr lang="zh-CN" altLang="en-US" sz="2400" dirty="0">
                <a:solidFill>
                  <a:srgbClr val="080808"/>
                </a:solidFill>
                <a:latin typeface="楷体" panose="02010609060101010101" pitchFamily="49" charset="-122"/>
                <a:ea typeface="楷体" panose="02010609060101010101" pitchFamily="49" charset="-122"/>
              </a:rPr>
              <a:t>时继续搜索左子树</a:t>
            </a:r>
            <a:r>
              <a:rPr lang="en-US" altLang="zh-CN" sz="2400" dirty="0">
                <a:solidFill>
                  <a:srgbClr val="080808"/>
                </a:solidFill>
                <a:latin typeface="楷体" panose="02010609060101010101" pitchFamily="49" charset="-122"/>
                <a:ea typeface="楷体" panose="02010609060101010101" pitchFamily="49" charset="-122"/>
              </a:rPr>
              <a:t>; </a:t>
            </a:r>
            <a:r>
              <a:rPr lang="zh-CN" altLang="en-US" sz="2400" dirty="0">
                <a:solidFill>
                  <a:srgbClr val="080808"/>
                </a:solidFill>
                <a:latin typeface="楷体" panose="02010609060101010101" pitchFamily="49" charset="-122"/>
                <a:ea typeface="楷体" panose="02010609060101010101" pitchFamily="49" charset="-122"/>
              </a:rPr>
              <a:t>否则将该结点的子树删去。</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）限界函数：当搜索到某个结点时，设 </a:t>
            </a:r>
            <a:r>
              <a:rPr lang="en-US" altLang="zh-CN" sz="2400" dirty="0" err="1">
                <a:solidFill>
                  <a:srgbClr val="080808"/>
                </a:solidFill>
                <a:latin typeface="楷体" panose="02010609060101010101" pitchFamily="49" charset="-122"/>
                <a:ea typeface="楷体" panose="02010609060101010101" pitchFamily="49" charset="-122"/>
              </a:rPr>
              <a:t>bw</a:t>
            </a:r>
            <a:r>
              <a:rPr lang="zh-CN" altLang="en-US" sz="2400" dirty="0">
                <a:solidFill>
                  <a:srgbClr val="080808"/>
                </a:solidFill>
                <a:latin typeface="楷体" panose="02010609060101010101" pitchFamily="49" charset="-122"/>
                <a:ea typeface="楷体" panose="02010609060101010101" pitchFamily="49" charset="-122"/>
              </a:rPr>
              <a:t>为当前最优载重量</a:t>
            </a:r>
            <a:r>
              <a:rPr lang="en-US" altLang="zh-CN" sz="2400" dirty="0">
                <a:solidFill>
                  <a:srgbClr val="080808"/>
                </a:solidFill>
                <a:latin typeface="楷体" panose="02010609060101010101" pitchFamily="49" charset="-122"/>
                <a:ea typeface="楷体" panose="02010609060101010101" pitchFamily="49" charset="-122"/>
              </a:rPr>
              <a:t>, rest</a:t>
            </a:r>
            <a:r>
              <a:rPr lang="zh-CN" altLang="en-US" sz="2400" dirty="0">
                <a:solidFill>
                  <a:srgbClr val="080808"/>
                </a:solidFill>
                <a:latin typeface="楷体" panose="02010609060101010101" pitchFamily="49" charset="-122"/>
                <a:ea typeface="楷体" panose="02010609060101010101" pitchFamily="49" charset="-122"/>
              </a:rPr>
              <a:t>为剩余集装箱的重量，当</a:t>
            </a:r>
            <a:r>
              <a:rPr lang="en-US" altLang="zh-CN" sz="2400" dirty="0" err="1">
                <a:solidFill>
                  <a:srgbClr val="080808"/>
                </a:solidFill>
                <a:latin typeface="楷体" panose="02010609060101010101" pitchFamily="49" charset="-122"/>
                <a:ea typeface="楷体" panose="02010609060101010101" pitchFamily="49" charset="-122"/>
              </a:rPr>
              <a:t>cw</a:t>
            </a:r>
            <a:r>
              <a:rPr lang="en-US" altLang="zh-CN" sz="2400" dirty="0">
                <a:solidFill>
                  <a:srgbClr val="080808"/>
                </a:solidFill>
                <a:latin typeface="楷体" panose="02010609060101010101" pitchFamily="49" charset="-122"/>
                <a:ea typeface="楷体" panose="02010609060101010101" pitchFamily="49" charset="-122"/>
              </a:rPr>
              <a:t> + rest&gt; </a:t>
            </a:r>
            <a:r>
              <a:rPr lang="en-US" altLang="zh-CN" sz="2400" dirty="0" err="1">
                <a:solidFill>
                  <a:srgbClr val="080808"/>
                </a:solidFill>
                <a:latin typeface="楷体" panose="02010609060101010101" pitchFamily="49" charset="-122"/>
                <a:ea typeface="楷体" panose="02010609060101010101" pitchFamily="49" charset="-122"/>
              </a:rPr>
              <a:t>bw</a:t>
            </a:r>
            <a:r>
              <a:rPr lang="zh-CN" altLang="en-US" sz="2400" dirty="0">
                <a:solidFill>
                  <a:srgbClr val="080808"/>
                </a:solidFill>
                <a:latin typeface="楷体" panose="02010609060101010101" pitchFamily="49" charset="-122"/>
                <a:ea typeface="楷体" panose="02010609060101010101" pitchFamily="49" charset="-122"/>
              </a:rPr>
              <a:t>时，继续搜索右子树</a:t>
            </a: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否则将该结点的右子树剪去。</a:t>
            </a:r>
            <a:endParaRPr lang="zh-CN" altLang="en-US" sz="2400" dirty="0">
              <a:solidFill>
                <a:srgbClr val="080808"/>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36512" y="980728"/>
            <a:ext cx="8874126"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indent="457200">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例</a:t>
            </a:r>
            <a:r>
              <a:rPr lang="en-US" altLang="zh-CN" sz="2400" dirty="0">
                <a:solidFill>
                  <a:srgbClr val="080808"/>
                </a:solidFill>
                <a:latin typeface="楷体" panose="02010609060101010101" pitchFamily="49" charset="-122"/>
                <a:ea typeface="楷体" panose="02010609060101010101" pitchFamily="49" charset="-122"/>
              </a:rPr>
              <a:t>6.3】</a:t>
            </a:r>
            <a:r>
              <a:rPr lang="zh-CN" altLang="en-US" sz="2400" dirty="0">
                <a:solidFill>
                  <a:srgbClr val="080808"/>
                </a:solidFill>
                <a:latin typeface="楷体" panose="02010609060101010101" pitchFamily="49" charset="-122"/>
                <a:ea typeface="楷体" panose="02010609060101010101" pitchFamily="49" charset="-122"/>
              </a:rPr>
              <a:t>求解迷宫问题。</a:t>
            </a:r>
            <a:endParaRPr lang="en-US" altLang="zh-CN"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问题描述：给定</a:t>
            </a:r>
            <a:r>
              <a:rPr lang="en-US" altLang="zh-CN" sz="2400" dirty="0">
                <a:solidFill>
                  <a:srgbClr val="080808"/>
                </a:solidFill>
                <a:latin typeface="楷体" panose="02010609060101010101" pitchFamily="49" charset="-122"/>
                <a:ea typeface="楷体" panose="02010609060101010101" pitchFamily="49" charset="-122"/>
              </a:rPr>
              <a:t>m</a:t>
            </a:r>
            <a:r>
              <a:rPr lang="zh-CN" altLang="en-US" sz="2400" dirty="0">
                <a:solidFill>
                  <a:srgbClr val="080808"/>
                </a:solidFill>
                <a:latin typeface="楷体" panose="02010609060101010101" pitchFamily="49" charset="-122"/>
                <a:ea typeface="楷体" panose="02010609060101010101" pitchFamily="49" charset="-122"/>
              </a:rPr>
              <a:t>行</a:t>
            </a:r>
            <a:r>
              <a:rPr lang="en-US" altLang="zh-CN" sz="2400" dirty="0">
                <a:solidFill>
                  <a:srgbClr val="080808"/>
                </a:solidFill>
                <a:latin typeface="楷体" panose="02010609060101010101" pitchFamily="49" charset="-122"/>
                <a:ea typeface="楷体" panose="02010609060101010101" pitchFamily="49" charset="-122"/>
              </a:rPr>
              <a:t>×n</a:t>
            </a:r>
            <a:r>
              <a:rPr lang="zh-CN" altLang="en-US" sz="2400" dirty="0">
                <a:solidFill>
                  <a:srgbClr val="080808"/>
                </a:solidFill>
                <a:latin typeface="楷体" panose="02010609060101010101" pitchFamily="49" charset="-122"/>
                <a:ea typeface="楷体" panose="02010609060101010101" pitchFamily="49" charset="-122"/>
              </a:rPr>
              <a:t>列的迷宫图，求从指定入口到出口的所有可行的路径。设现有一张迷宫图如下图</a:t>
            </a:r>
            <a:r>
              <a:rPr lang="en-US" altLang="zh-CN" sz="2400" dirty="0">
                <a:solidFill>
                  <a:srgbClr val="080808"/>
                </a:solidFill>
                <a:latin typeface="楷体" panose="02010609060101010101" pitchFamily="49" charset="-122"/>
                <a:ea typeface="楷体" panose="02010609060101010101" pitchFamily="49" charset="-122"/>
              </a:rPr>
              <a:t>6.6</a:t>
            </a:r>
            <a:r>
              <a:rPr lang="zh-CN" altLang="en-US" sz="2400" dirty="0">
                <a:solidFill>
                  <a:srgbClr val="080808"/>
                </a:solidFill>
                <a:latin typeface="楷体" panose="02010609060101010101" pitchFamily="49" charset="-122"/>
                <a:ea typeface="楷体" panose="02010609060101010101" pitchFamily="49" charset="-122"/>
              </a:rPr>
              <a:t>所示， </a:t>
            </a:r>
            <a:r>
              <a:rPr lang="en-US" altLang="zh-CN" sz="2400" dirty="0">
                <a:solidFill>
                  <a:srgbClr val="080808"/>
                </a:solidFill>
                <a:latin typeface="楷体" panose="02010609060101010101" pitchFamily="49" charset="-122"/>
                <a:ea typeface="楷体" panose="02010609060101010101" pitchFamily="49" charset="-122"/>
              </a:rPr>
              <a:t>m=7</a:t>
            </a: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n=8</a:t>
            </a:r>
            <a:r>
              <a:rPr lang="zh-CN" altLang="en-US" sz="2400" dirty="0">
                <a:solidFill>
                  <a:srgbClr val="080808"/>
                </a:solidFill>
                <a:latin typeface="楷体" panose="02010609060101010101" pitchFamily="49" charset="-122"/>
                <a:ea typeface="楷体" panose="02010609060101010101" pitchFamily="49" charset="-122"/>
              </a:rPr>
              <a:t>，外围是一圈围墙，能够防止在查找时出界，整个迷宫由两种方块构成，白色方块代表可以走的通道，灰色方块代表不可以走的的障碍物。要求所求出的路径必须是简单路径，即当中不能重复出现同一空白方块，规定从每个方块出发只能走四个位置：向上、向下、向左和向右这四个相邻的空白方块。</a:t>
            </a:r>
            <a:endParaRPr lang="zh-CN" altLang="en-US" sz="2400" dirty="0">
              <a:solidFill>
                <a:srgbClr val="080808"/>
              </a:solidFill>
              <a:latin typeface="楷体" panose="02010609060101010101" pitchFamily="49" charset="-122"/>
              <a:ea typeface="楷体" panose="02010609060101010101" pitchFamily="49" charset="-122"/>
            </a:endParaRPr>
          </a:p>
        </p:txBody>
      </p:sp>
      <p:pic>
        <p:nvPicPr>
          <p:cNvPr id="5" name="图片 4"/>
          <p:cNvPicPr/>
          <p:nvPr/>
        </p:nvPicPr>
        <p:blipFill>
          <a:blip r:embed="rId6">
            <a:extLst>
              <a:ext uri="{28A0092B-C50C-407E-A947-70E740481C1C}">
                <a14:useLocalDpi xmlns:a14="http://schemas.microsoft.com/office/drawing/2010/main" val="0"/>
              </a:ext>
            </a:extLst>
          </a:blip>
          <a:stretch>
            <a:fillRect/>
          </a:stretch>
        </p:blipFill>
        <p:spPr>
          <a:xfrm>
            <a:off x="3203848" y="3933056"/>
            <a:ext cx="2865482" cy="263407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20801" y="976660"/>
            <a:ext cx="8874126"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indent="457200">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、解题思路。在迷宫中的每一个方块，都有上下左右相邻的四个方块，如下图</a:t>
            </a:r>
            <a:r>
              <a:rPr lang="en-US" altLang="zh-CN" sz="2400" dirty="0">
                <a:solidFill>
                  <a:srgbClr val="080808"/>
                </a:solidFill>
                <a:latin typeface="楷体" panose="02010609060101010101" pitchFamily="49" charset="-122"/>
                <a:ea typeface="楷体" panose="02010609060101010101" pitchFamily="49" charset="-122"/>
              </a:rPr>
              <a:t>6.7</a:t>
            </a:r>
            <a:r>
              <a:rPr lang="zh-CN" altLang="en-US" sz="2400" dirty="0">
                <a:solidFill>
                  <a:srgbClr val="080808"/>
                </a:solidFill>
                <a:latin typeface="楷体" panose="02010609060101010101" pitchFamily="49" charset="-122"/>
                <a:ea typeface="楷体" panose="02010609060101010101" pitchFamily="49" charset="-122"/>
              </a:rPr>
              <a:t>所示，设第</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行第</a:t>
            </a:r>
            <a:r>
              <a:rPr lang="en-US" altLang="zh-CN" sz="2400" dirty="0">
                <a:solidFill>
                  <a:srgbClr val="080808"/>
                </a:solidFill>
                <a:latin typeface="楷体" panose="02010609060101010101" pitchFamily="49" charset="-122"/>
                <a:ea typeface="楷体" panose="02010609060101010101" pitchFamily="49" charset="-122"/>
              </a:rPr>
              <a:t>j</a:t>
            </a:r>
            <a:r>
              <a:rPr lang="zh-CN" altLang="en-US" sz="2400" dirty="0">
                <a:solidFill>
                  <a:srgbClr val="080808"/>
                </a:solidFill>
                <a:latin typeface="楷体" panose="02010609060101010101" pitchFamily="49" charset="-122"/>
                <a:ea typeface="楷体" panose="02010609060101010101" pitchFamily="49" charset="-122"/>
              </a:rPr>
              <a:t>列的方块的位置记为</a:t>
            </a:r>
            <a:r>
              <a:rPr lang="en-US" altLang="zh-CN" sz="2400" dirty="0">
                <a:solidFill>
                  <a:srgbClr val="080808"/>
                </a:solidFill>
                <a:latin typeface="楷体" panose="02010609060101010101" pitchFamily="49" charset="-122"/>
                <a:ea typeface="楷体" panose="02010609060101010101" pitchFamily="49" charset="-122"/>
              </a:rPr>
              <a:t>(</a:t>
            </a:r>
            <a:r>
              <a:rPr lang="en-US" altLang="zh-CN" sz="2400" dirty="0" err="1">
                <a:solidFill>
                  <a:srgbClr val="080808"/>
                </a:solidFill>
                <a:latin typeface="楷体" panose="02010609060101010101" pitchFamily="49" charset="-122"/>
                <a:ea typeface="楷体" panose="02010609060101010101" pitchFamily="49" charset="-122"/>
              </a:rPr>
              <a:t>i,j</a:t>
            </a: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，为了搜索有序，现规定上方方块的方位是</a:t>
            </a:r>
            <a:r>
              <a:rPr lang="en-US" altLang="zh-CN" sz="2400" dirty="0">
                <a:solidFill>
                  <a:srgbClr val="080808"/>
                </a:solidFill>
                <a:latin typeface="楷体" panose="02010609060101010101" pitchFamily="49" charset="-122"/>
                <a:ea typeface="楷体" panose="02010609060101010101" pitchFamily="49" charset="-122"/>
              </a:rPr>
              <a:t>0</a:t>
            </a:r>
            <a:r>
              <a:rPr lang="zh-CN" altLang="en-US" sz="2400" dirty="0">
                <a:solidFill>
                  <a:srgbClr val="080808"/>
                </a:solidFill>
                <a:latin typeface="楷体" panose="02010609060101010101" pitchFamily="49" charset="-122"/>
                <a:ea typeface="楷体" panose="02010609060101010101" pitchFamily="49" charset="-122"/>
              </a:rPr>
              <a:t>，并按顺时针方向递增进行编号，左方方块的方位是</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，下方方块的方位是</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，右方方块的方位是</a:t>
            </a:r>
            <a:r>
              <a:rPr lang="en-US" altLang="zh-CN" sz="2400" dirty="0">
                <a:solidFill>
                  <a:srgbClr val="080808"/>
                </a:solidFill>
                <a:latin typeface="楷体" panose="02010609060101010101" pitchFamily="49" charset="-122"/>
                <a:ea typeface="楷体" panose="02010609060101010101" pitchFamily="49" charset="-122"/>
              </a:rPr>
              <a:t>3</a:t>
            </a:r>
            <a:r>
              <a:rPr lang="zh-CN" altLang="en-US" sz="2400" dirty="0">
                <a:solidFill>
                  <a:srgbClr val="080808"/>
                </a:solidFill>
                <a:latin typeface="楷体" panose="02010609060101010101" pitchFamily="49" charset="-122"/>
                <a:ea typeface="楷体" panose="02010609060101010101" pitchFamily="49" charset="-122"/>
              </a:rPr>
              <a:t>，在搜索过程中，将从方位</a:t>
            </a:r>
            <a:r>
              <a:rPr lang="en-US" altLang="zh-CN" sz="2400" dirty="0">
                <a:solidFill>
                  <a:srgbClr val="080808"/>
                </a:solidFill>
                <a:latin typeface="楷体" panose="02010609060101010101" pitchFamily="49" charset="-122"/>
                <a:ea typeface="楷体" panose="02010609060101010101" pitchFamily="49" charset="-122"/>
              </a:rPr>
              <a:t>0</a:t>
            </a:r>
            <a:r>
              <a:rPr lang="zh-CN" altLang="en-US" sz="2400" dirty="0">
                <a:solidFill>
                  <a:srgbClr val="080808"/>
                </a:solidFill>
                <a:latin typeface="楷体" panose="02010609060101010101" pitchFamily="49" charset="-122"/>
                <a:ea typeface="楷体" panose="02010609060101010101" pitchFamily="49" charset="-122"/>
              </a:rPr>
              <a:t>到方位</a:t>
            </a:r>
            <a:r>
              <a:rPr lang="en-US" altLang="zh-CN" sz="2400" dirty="0">
                <a:solidFill>
                  <a:srgbClr val="080808"/>
                </a:solidFill>
                <a:latin typeface="楷体" panose="02010609060101010101" pitchFamily="49" charset="-122"/>
                <a:ea typeface="楷体" panose="02010609060101010101" pitchFamily="49" charset="-122"/>
              </a:rPr>
              <a:t>3</a:t>
            </a:r>
            <a:r>
              <a:rPr lang="zh-CN" altLang="en-US" sz="2400" dirty="0">
                <a:solidFill>
                  <a:srgbClr val="080808"/>
                </a:solidFill>
                <a:latin typeface="楷体" panose="02010609060101010101" pitchFamily="49" charset="-122"/>
                <a:ea typeface="楷体" panose="02010609060101010101" pitchFamily="49" charset="-122"/>
              </a:rPr>
              <a:t>的方向查找下一个可走的方块。</a:t>
            </a:r>
            <a:endParaRPr lang="zh-CN" altLang="en-US" sz="2400" dirty="0">
              <a:solidFill>
                <a:srgbClr val="080808"/>
              </a:solidFill>
              <a:latin typeface="楷体" panose="02010609060101010101" pitchFamily="49" charset="-122"/>
              <a:ea typeface="楷体" panose="02010609060101010101" pitchFamily="49" charset="-122"/>
            </a:endParaRPr>
          </a:p>
        </p:txBody>
      </p:sp>
      <p:pic>
        <p:nvPicPr>
          <p:cNvPr id="5" name="图片 4"/>
          <p:cNvPicPr/>
          <p:nvPr/>
        </p:nvPicPr>
        <p:blipFill>
          <a:blip r:embed="rId6">
            <a:extLst>
              <a:ext uri="{28A0092B-C50C-407E-A947-70E740481C1C}">
                <a14:useLocalDpi xmlns:a14="http://schemas.microsoft.com/office/drawing/2010/main" val="0"/>
              </a:ext>
            </a:extLst>
          </a:blip>
          <a:stretch>
            <a:fillRect/>
          </a:stretch>
        </p:blipFill>
        <p:spPr>
          <a:xfrm>
            <a:off x="3131840" y="3140968"/>
            <a:ext cx="3384376" cy="2934816"/>
          </a:xfrm>
          <a:prstGeom prst="rect">
            <a:avLst/>
          </a:prstGeom>
        </p:spPr>
      </p:pic>
      <p:sp>
        <p:nvSpPr>
          <p:cNvPr id="2" name="矩形 1"/>
          <p:cNvSpPr/>
          <p:nvPr/>
        </p:nvSpPr>
        <p:spPr>
          <a:xfrm>
            <a:off x="0" y="6087821"/>
            <a:ext cx="9217024" cy="553998"/>
          </a:xfrm>
          <a:prstGeom prst="rect">
            <a:avLst/>
          </a:prstGeom>
        </p:spPr>
        <p:txBody>
          <a:bodyPr wrap="square">
            <a:spAutoFit/>
          </a:bodyPr>
          <a:lstStyle/>
          <a:p>
            <a:pPr algn="just">
              <a:lnSpc>
                <a:spcPts val="1800"/>
              </a:lnSpc>
              <a:spcAft>
                <a:spcPts val="0"/>
              </a:spcAft>
            </a:pPr>
            <a:r>
              <a:rPr lang="zh-CN" altLang="zh-CN" kern="100" dirty="0">
                <a:latin typeface="Times New Roman" panose="02020603050405020304" pitchFamily="18" charset="0"/>
                <a:cs typeface="Times New Roman" panose="02020603050405020304" pitchFamily="18" charset="0"/>
              </a:rPr>
              <a:t>设当从起点</a:t>
            </a:r>
            <a:r>
              <a:rPr lang="en-US" altLang="zh-CN" kern="100" dirty="0">
                <a:latin typeface="Times New Roman" panose="02020603050405020304" pitchFamily="18" charset="0"/>
                <a:cs typeface="Times New Roman" panose="02020603050405020304" pitchFamily="18" charset="0"/>
              </a:rPr>
              <a:t>(</a:t>
            </a:r>
            <a:r>
              <a:rPr lang="en-US" altLang="zh-CN" kern="100" dirty="0" err="1">
                <a:latin typeface="Times New Roman" panose="02020603050405020304" pitchFamily="18" charset="0"/>
                <a:cs typeface="Times New Roman" panose="02020603050405020304" pitchFamily="18" charset="0"/>
              </a:rPr>
              <a:t>xs</a:t>
            </a:r>
            <a:r>
              <a:rPr lang="en-US" altLang="zh-CN" kern="100" dirty="0">
                <a:latin typeface="Times New Roman" panose="02020603050405020304" pitchFamily="18" charset="0"/>
                <a:cs typeface="Times New Roman" panose="02020603050405020304" pitchFamily="18" charset="0"/>
              </a:rPr>
              <a:t>, </a:t>
            </a:r>
            <a:r>
              <a:rPr lang="en-US" altLang="zh-CN" kern="100" dirty="0" err="1">
                <a:latin typeface="Times New Roman" panose="02020603050405020304" pitchFamily="18" charset="0"/>
                <a:cs typeface="Times New Roman" panose="02020603050405020304" pitchFamily="18" charset="0"/>
              </a:rPr>
              <a:t>ys</a:t>
            </a:r>
            <a:r>
              <a:rPr lang="en-US" altLang="zh-CN" kern="100" dirty="0">
                <a:latin typeface="Times New Roman" panose="02020603050405020304" pitchFamily="18" charset="0"/>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方块找到一个可走相邻方块</a:t>
            </a:r>
            <a:r>
              <a:rPr lang="en-US" altLang="zh-CN" kern="100" dirty="0">
                <a:latin typeface="Times New Roman" panose="02020603050405020304" pitchFamily="18" charset="0"/>
                <a:cs typeface="Times New Roman" panose="02020603050405020304" pitchFamily="18" charset="0"/>
              </a:rPr>
              <a:t>(</a:t>
            </a:r>
            <a:r>
              <a:rPr lang="en-US" altLang="zh-CN" kern="100" dirty="0" err="1">
                <a:latin typeface="Times New Roman" panose="02020603050405020304" pitchFamily="18" charset="0"/>
                <a:cs typeface="Times New Roman" panose="02020603050405020304" pitchFamily="18" charset="0"/>
              </a:rPr>
              <a:t>xs</a:t>
            </a:r>
            <a:r>
              <a:rPr lang="en-US" altLang="zh-CN" kern="100" dirty="0">
                <a:latin typeface="Times New Roman" panose="02020603050405020304" pitchFamily="18" charset="0"/>
                <a:cs typeface="Times New Roman" panose="02020603050405020304" pitchFamily="18" charset="0"/>
              </a:rPr>
              <a:t>, ys+1)</a:t>
            </a:r>
            <a:r>
              <a:rPr lang="zh-CN" altLang="zh-CN" kern="100" dirty="0">
                <a:latin typeface="Times New Roman" panose="02020603050405020304" pitchFamily="18" charset="0"/>
                <a:cs typeface="Times New Roman" panose="02020603050405020304" pitchFamily="18" charset="0"/>
              </a:rPr>
              <a:t>后，接下来的要求解的问题就是从方块</a:t>
            </a:r>
            <a:r>
              <a:rPr lang="en-US" altLang="zh-CN" kern="100" dirty="0">
                <a:latin typeface="Times New Roman" panose="02020603050405020304" pitchFamily="18" charset="0"/>
                <a:cs typeface="Times New Roman" panose="02020603050405020304" pitchFamily="18" charset="0"/>
              </a:rPr>
              <a:t>(</a:t>
            </a:r>
            <a:r>
              <a:rPr lang="en-US" altLang="zh-CN" kern="100" dirty="0" err="1">
                <a:latin typeface="Times New Roman" panose="02020603050405020304" pitchFamily="18" charset="0"/>
                <a:cs typeface="Times New Roman" panose="02020603050405020304" pitchFamily="18" charset="0"/>
              </a:rPr>
              <a:t>xs</a:t>
            </a:r>
            <a:r>
              <a:rPr lang="en-US" altLang="zh-CN" kern="100" dirty="0">
                <a:latin typeface="Times New Roman" panose="02020603050405020304" pitchFamily="18" charset="0"/>
                <a:cs typeface="Times New Roman" panose="02020603050405020304" pitchFamily="18" charset="0"/>
              </a:rPr>
              <a:t>, ys+1)</a:t>
            </a:r>
            <a:r>
              <a:rPr lang="zh-CN" altLang="zh-CN" kern="100" dirty="0">
                <a:latin typeface="Times New Roman" panose="02020603050405020304" pitchFamily="18" charset="0"/>
                <a:cs typeface="Times New Roman" panose="02020603050405020304" pitchFamily="18" charset="0"/>
              </a:rPr>
              <a:t>到出口</a:t>
            </a:r>
            <a:r>
              <a:rPr lang="en-US" altLang="zh-CN" kern="100" dirty="0">
                <a:latin typeface="Times New Roman" panose="02020603050405020304" pitchFamily="18" charset="0"/>
                <a:cs typeface="Times New Roman" panose="02020603050405020304" pitchFamily="18" charset="0"/>
              </a:rPr>
              <a:t>(</a:t>
            </a:r>
            <a:r>
              <a:rPr lang="en-US" altLang="zh-CN" kern="100" dirty="0" err="1">
                <a:latin typeface="Times New Roman" panose="02020603050405020304" pitchFamily="18" charset="0"/>
                <a:cs typeface="Times New Roman" panose="02020603050405020304" pitchFamily="18" charset="0"/>
              </a:rPr>
              <a:t>xe,ye</a:t>
            </a:r>
            <a:r>
              <a:rPr lang="en-US" altLang="zh-CN" kern="100" dirty="0">
                <a:latin typeface="Times New Roman" panose="02020603050405020304" pitchFamily="18" charset="0"/>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的路径，显然这个问题是原问题的子问题，可以使用递归技术</a:t>
            </a:r>
            <a:endParaRPr lang="zh-CN" altLang="zh-CN" kern="1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134937" y="1484784"/>
            <a:ext cx="8874126"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八皇后问题可以扩展到 </a:t>
            </a:r>
            <a:r>
              <a:rPr lang="en-US" altLang="zh-CN" sz="2400" dirty="0">
                <a:solidFill>
                  <a:srgbClr val="080808"/>
                </a:solidFill>
                <a:latin typeface="楷体" panose="02010609060101010101" pitchFamily="49" charset="-122"/>
                <a:ea typeface="楷体" panose="02010609060101010101" pitchFamily="49" charset="-122"/>
              </a:rPr>
              <a:t>n </a:t>
            </a:r>
            <a:r>
              <a:rPr lang="zh-CN" altLang="en-US" sz="2400" dirty="0">
                <a:solidFill>
                  <a:srgbClr val="080808"/>
                </a:solidFill>
                <a:latin typeface="楷体" panose="02010609060101010101" pitchFamily="49" charset="-122"/>
                <a:ea typeface="楷体" panose="02010609060101010101" pitchFamily="49" charset="-122"/>
              </a:rPr>
              <a:t>皇后问题，即在</a:t>
            </a:r>
            <a:r>
              <a:rPr lang="en-US" altLang="zh-CN" sz="2400" dirty="0" err="1">
                <a:solidFill>
                  <a:srgbClr val="080808"/>
                </a:solidFill>
                <a:latin typeface="楷体" panose="02010609060101010101" pitchFamily="49" charset="-122"/>
                <a:ea typeface="楷体" panose="02010609060101010101" pitchFamily="49" charset="-122"/>
              </a:rPr>
              <a:t>n×n</a:t>
            </a:r>
            <a:r>
              <a:rPr lang="zh-CN" altLang="en-US" sz="2400" dirty="0">
                <a:solidFill>
                  <a:srgbClr val="080808"/>
                </a:solidFill>
                <a:latin typeface="楷体" panose="02010609060101010101" pitchFamily="49" charset="-122"/>
                <a:ea typeface="楷体" panose="02010609060101010101" pitchFamily="49" charset="-122"/>
              </a:rPr>
              <a:t>的国际象棋棋盘上摆放 </a:t>
            </a:r>
            <a:r>
              <a:rPr lang="en-US" altLang="zh-CN" sz="2400" dirty="0">
                <a:solidFill>
                  <a:srgbClr val="080808"/>
                </a:solidFill>
                <a:latin typeface="楷体" panose="02010609060101010101" pitchFamily="49" charset="-122"/>
                <a:ea typeface="楷体" panose="02010609060101010101" pitchFamily="49" charset="-122"/>
              </a:rPr>
              <a:t>n </a:t>
            </a:r>
            <a:r>
              <a:rPr lang="zh-CN" altLang="en-US" sz="2400" dirty="0">
                <a:solidFill>
                  <a:srgbClr val="080808"/>
                </a:solidFill>
                <a:latin typeface="楷体" panose="02010609060101010101" pitchFamily="49" charset="-122"/>
                <a:ea typeface="楷体" panose="02010609060101010101" pitchFamily="49" charset="-122"/>
              </a:rPr>
              <a:t>个皇后，使其中任意两个皇后都不能处于同一行、同一列或同一斜线上。</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、解题思路。首先，在棋盘的每一行上都能够且必须摆放一个皇后，此时可以用一个向量 </a:t>
            </a:r>
            <a:r>
              <a:rPr lang="en-US" altLang="zh-CN" sz="2400" dirty="0">
                <a:solidFill>
                  <a:srgbClr val="080808"/>
                </a:solidFill>
                <a:latin typeface="楷体" panose="02010609060101010101" pitchFamily="49" charset="-122"/>
                <a:ea typeface="楷体" panose="02010609060101010101" pitchFamily="49" charset="-122"/>
              </a:rPr>
              <a:t>X=(x1, x2, …, </a:t>
            </a:r>
            <a:r>
              <a:rPr lang="en-US" altLang="zh-CN" sz="2400" dirty="0" err="1">
                <a:solidFill>
                  <a:srgbClr val="080808"/>
                </a:solidFill>
                <a:latin typeface="楷体" panose="02010609060101010101" pitchFamily="49" charset="-122"/>
                <a:ea typeface="楷体" panose="02010609060101010101" pitchFamily="49" charset="-122"/>
              </a:rPr>
              <a:t>xn</a:t>
            </a:r>
            <a:r>
              <a:rPr lang="en-US" altLang="zh-CN" sz="2400" dirty="0">
                <a:solidFill>
                  <a:srgbClr val="080808"/>
                </a:solidFill>
                <a:latin typeface="楷体" panose="02010609060101010101" pitchFamily="49" charset="-122"/>
                <a:ea typeface="楷体" panose="02010609060101010101" pitchFamily="49" charset="-122"/>
              </a:rPr>
              <a:t>) </a:t>
            </a:r>
            <a:r>
              <a:rPr lang="zh-CN" altLang="en-US" sz="2400" dirty="0">
                <a:solidFill>
                  <a:srgbClr val="080808"/>
                </a:solidFill>
                <a:latin typeface="楷体" panose="02010609060101010101" pitchFamily="49" charset="-122"/>
                <a:ea typeface="楷体" panose="02010609060101010101" pitchFamily="49" charset="-122"/>
              </a:rPr>
              <a:t>来表示</a:t>
            </a:r>
            <a:r>
              <a:rPr lang="en-US" altLang="zh-CN" sz="2400" dirty="0">
                <a:solidFill>
                  <a:srgbClr val="080808"/>
                </a:solidFill>
                <a:latin typeface="楷体" panose="02010609060101010101" pitchFamily="49" charset="-122"/>
                <a:ea typeface="楷体" panose="02010609060101010101" pitchFamily="49" charset="-122"/>
              </a:rPr>
              <a:t>n </a:t>
            </a:r>
            <a:r>
              <a:rPr lang="zh-CN" altLang="en-US" sz="2400" dirty="0">
                <a:solidFill>
                  <a:srgbClr val="080808"/>
                </a:solidFill>
                <a:latin typeface="楷体" panose="02010609060101010101" pitchFamily="49" charset="-122"/>
                <a:ea typeface="楷体" panose="02010609060101010101" pitchFamily="49" charset="-122"/>
              </a:rPr>
              <a:t>皇后问题的可能解，其中</a:t>
            </a:r>
            <a:r>
              <a:rPr lang="en-US" altLang="zh-CN" sz="2400" dirty="0">
                <a:solidFill>
                  <a:srgbClr val="080808"/>
                </a:solidFill>
                <a:latin typeface="楷体" panose="02010609060101010101" pitchFamily="49" charset="-122"/>
                <a:ea typeface="楷体" panose="02010609060101010101" pitchFamily="49" charset="-122"/>
              </a:rPr>
              <a:t>1≤i≤n </a:t>
            </a:r>
            <a:r>
              <a:rPr lang="zh-CN" altLang="en-US" sz="2400" dirty="0">
                <a:solidFill>
                  <a:srgbClr val="080808"/>
                </a:solidFill>
                <a:latin typeface="楷体" panose="02010609060101010101" pitchFamily="49" charset="-122"/>
                <a:ea typeface="楷体" panose="02010609060101010101" pitchFamily="49" charset="-122"/>
              </a:rPr>
              <a:t>并且 </a:t>
            </a:r>
            <a:r>
              <a:rPr lang="en-US" altLang="zh-CN" sz="2400" dirty="0">
                <a:solidFill>
                  <a:srgbClr val="080808"/>
                </a:solidFill>
                <a:latin typeface="楷体" panose="02010609060101010101" pitchFamily="49" charset="-122"/>
                <a:ea typeface="楷体" panose="02010609060101010101" pitchFamily="49" charset="-122"/>
              </a:rPr>
              <a:t>1≤xi≤n</a:t>
            </a:r>
            <a:r>
              <a:rPr lang="zh-CN" altLang="en-US" sz="2400" dirty="0">
                <a:solidFill>
                  <a:srgbClr val="080808"/>
                </a:solidFill>
                <a:latin typeface="楷体" panose="02010609060101010101" pitchFamily="49" charset="-122"/>
                <a:ea typeface="楷体" panose="02010609060101010101" pitchFamily="49" charset="-122"/>
              </a:rPr>
              <a:t>，即第</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个皇后放在第</a:t>
            </a:r>
            <a:r>
              <a:rPr lang="en-US" altLang="zh-CN" sz="2400" dirty="0" err="1">
                <a:solidFill>
                  <a:srgbClr val="080808"/>
                </a:solidFill>
                <a:latin typeface="楷体" panose="02010609060101010101" pitchFamily="49" charset="-122"/>
                <a:ea typeface="楷体" panose="02010609060101010101" pitchFamily="49" charset="-122"/>
              </a:rPr>
              <a:t>i</a:t>
            </a:r>
            <a:r>
              <a:rPr lang="en-US" altLang="zh-CN" sz="2400" dirty="0">
                <a:solidFill>
                  <a:srgbClr val="080808"/>
                </a:solidFill>
                <a:latin typeface="楷体" panose="02010609060101010101" pitchFamily="49" charset="-122"/>
                <a:ea typeface="楷体" panose="02010609060101010101" pitchFamily="49" charset="-122"/>
              </a:rPr>
              <a:t> </a:t>
            </a:r>
            <a:r>
              <a:rPr lang="zh-CN" altLang="en-US" sz="2400" dirty="0">
                <a:solidFill>
                  <a:srgbClr val="080808"/>
                </a:solidFill>
                <a:latin typeface="楷体" panose="02010609060101010101" pitchFamily="49" charset="-122"/>
                <a:ea typeface="楷体" panose="02010609060101010101" pitchFamily="49" charset="-122"/>
              </a:rPr>
              <a:t>行第</a:t>
            </a:r>
            <a:r>
              <a:rPr lang="en-US" altLang="zh-CN" sz="2400" dirty="0">
                <a:solidFill>
                  <a:srgbClr val="080808"/>
                </a:solidFill>
                <a:latin typeface="楷体" panose="02010609060101010101" pitchFamily="49" charset="-122"/>
                <a:ea typeface="楷体" panose="02010609060101010101" pitchFamily="49" charset="-122"/>
              </a:rPr>
              <a:t>xi</a:t>
            </a:r>
            <a:r>
              <a:rPr lang="zh-CN" altLang="en-US" sz="2400" dirty="0">
                <a:solidFill>
                  <a:srgbClr val="080808"/>
                </a:solidFill>
                <a:latin typeface="楷体" panose="02010609060101010101" pitchFamily="49" charset="-122"/>
                <a:ea typeface="楷体" panose="02010609060101010101" pitchFamily="49" charset="-122"/>
              </a:rPr>
              <a:t>列上。</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根据题目要求，两个皇后是不能放在同一列上的，因此约束条件是：</a:t>
            </a:r>
            <a:r>
              <a:rPr lang="en-US" altLang="zh-CN" sz="2400" dirty="0" err="1">
                <a:solidFill>
                  <a:srgbClr val="080808"/>
                </a:solidFill>
                <a:latin typeface="楷体" panose="02010609060101010101" pitchFamily="49" charset="-122"/>
                <a:ea typeface="楷体" panose="02010609060101010101" pitchFamily="49" charset="-122"/>
              </a:rPr>
              <a:t>xi≠xj</a:t>
            </a:r>
            <a:r>
              <a:rPr lang="zh-CN" altLang="en-US" sz="2400" dirty="0">
                <a:solidFill>
                  <a:srgbClr val="080808"/>
                </a:solidFill>
                <a:latin typeface="楷体" panose="02010609060101010101" pitchFamily="49" charset="-122"/>
                <a:ea typeface="楷体" panose="02010609060101010101" pitchFamily="49" charset="-122"/>
              </a:rPr>
              <a:t>，还有就是两个皇后是不能放在同一斜线上的，设两个皇后摆放的位置分别是 </a:t>
            </a:r>
            <a:r>
              <a:rPr lang="en-US" altLang="zh-CN" sz="2400" dirty="0">
                <a:solidFill>
                  <a:srgbClr val="080808"/>
                </a:solidFill>
                <a:latin typeface="楷体" panose="02010609060101010101" pitchFamily="49" charset="-122"/>
                <a:ea typeface="楷体" panose="02010609060101010101" pitchFamily="49" charset="-122"/>
              </a:rPr>
              <a:t>(</a:t>
            </a:r>
            <a:r>
              <a:rPr lang="en-US" altLang="zh-CN" sz="2400" dirty="0" err="1">
                <a:solidFill>
                  <a:srgbClr val="080808"/>
                </a:solidFill>
                <a:latin typeface="楷体" panose="02010609060101010101" pitchFamily="49" charset="-122"/>
                <a:ea typeface="楷体" panose="02010609060101010101" pitchFamily="49" charset="-122"/>
              </a:rPr>
              <a:t>i</a:t>
            </a:r>
            <a:r>
              <a:rPr lang="en-US" altLang="zh-CN" sz="2400" dirty="0">
                <a:solidFill>
                  <a:srgbClr val="080808"/>
                </a:solidFill>
                <a:latin typeface="楷体" panose="02010609060101010101" pitchFamily="49" charset="-122"/>
                <a:ea typeface="楷体" panose="02010609060101010101" pitchFamily="49" charset="-122"/>
              </a:rPr>
              <a:t>, xi)</a:t>
            </a:r>
            <a:r>
              <a:rPr lang="zh-CN" altLang="en-US" sz="2400" dirty="0">
                <a:solidFill>
                  <a:srgbClr val="080808"/>
                </a:solidFill>
                <a:latin typeface="楷体" panose="02010609060101010101" pitchFamily="49" charset="-122"/>
                <a:ea typeface="楷体" panose="02010609060101010101" pitchFamily="49" charset="-122"/>
              </a:rPr>
              <a:t>和</a:t>
            </a:r>
            <a:r>
              <a:rPr lang="en-US" altLang="zh-CN" sz="2400" dirty="0">
                <a:solidFill>
                  <a:srgbClr val="080808"/>
                </a:solidFill>
                <a:latin typeface="楷体" panose="02010609060101010101" pitchFamily="49" charset="-122"/>
                <a:ea typeface="楷体" panose="02010609060101010101" pitchFamily="49" charset="-122"/>
              </a:rPr>
              <a:t>(j, </a:t>
            </a:r>
            <a:r>
              <a:rPr lang="en-US" altLang="zh-CN" sz="2400" dirty="0" err="1">
                <a:solidFill>
                  <a:srgbClr val="080808"/>
                </a:solidFill>
                <a:latin typeface="楷体" panose="02010609060101010101" pitchFamily="49" charset="-122"/>
                <a:ea typeface="楷体" panose="02010609060101010101" pitchFamily="49" charset="-122"/>
              </a:rPr>
              <a:t>xj</a:t>
            </a: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，在棋盘上斜率为</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的斜线上，满足条件</a:t>
            </a:r>
            <a:r>
              <a:rPr lang="en-US" altLang="zh-CN" sz="2400" dirty="0" err="1">
                <a:solidFill>
                  <a:srgbClr val="080808"/>
                </a:solidFill>
                <a:latin typeface="楷体" panose="02010609060101010101" pitchFamily="49" charset="-122"/>
                <a:ea typeface="楷体" panose="02010609060101010101" pitchFamily="49" charset="-122"/>
              </a:rPr>
              <a:t>i</a:t>
            </a:r>
            <a:r>
              <a:rPr lang="en-US" altLang="zh-CN" sz="2400" dirty="0">
                <a:solidFill>
                  <a:srgbClr val="080808"/>
                </a:solidFill>
                <a:latin typeface="楷体" panose="02010609060101010101" pitchFamily="49" charset="-122"/>
                <a:ea typeface="楷体" panose="02010609060101010101" pitchFamily="49" charset="-122"/>
              </a:rPr>
              <a:t>-j=</a:t>
            </a:r>
            <a:r>
              <a:rPr lang="en-US" altLang="zh-CN" sz="2400" dirty="0" err="1">
                <a:solidFill>
                  <a:srgbClr val="080808"/>
                </a:solidFill>
                <a:latin typeface="楷体" panose="02010609060101010101" pitchFamily="49" charset="-122"/>
                <a:ea typeface="楷体" panose="02010609060101010101" pitchFamily="49" charset="-122"/>
              </a:rPr>
              <a:t>xj</a:t>
            </a:r>
            <a:r>
              <a:rPr lang="en-US" altLang="zh-CN" sz="2400" dirty="0">
                <a:solidFill>
                  <a:srgbClr val="080808"/>
                </a:solidFill>
                <a:latin typeface="楷体" panose="02010609060101010101" pitchFamily="49" charset="-122"/>
                <a:ea typeface="楷体" panose="02010609060101010101" pitchFamily="49" charset="-122"/>
              </a:rPr>
              <a:t>-xi</a:t>
            </a:r>
            <a:r>
              <a:rPr lang="zh-CN" altLang="en-US" sz="2400" dirty="0">
                <a:solidFill>
                  <a:srgbClr val="080808"/>
                </a:solidFill>
                <a:latin typeface="楷体" panose="02010609060101010101" pitchFamily="49" charset="-122"/>
                <a:ea typeface="楷体" panose="02010609060101010101" pitchFamily="49" charset="-122"/>
              </a:rPr>
              <a:t>，在棋盘上斜率为</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的斜线上，满足条件 </a:t>
            </a:r>
            <a:r>
              <a:rPr lang="en-US" altLang="zh-CN" sz="2400" dirty="0" err="1">
                <a:solidFill>
                  <a:srgbClr val="080808"/>
                </a:solidFill>
                <a:latin typeface="楷体" panose="02010609060101010101" pitchFamily="49" charset="-122"/>
                <a:ea typeface="楷体" panose="02010609060101010101" pitchFamily="49" charset="-122"/>
              </a:rPr>
              <a:t>i</a:t>
            </a:r>
            <a:r>
              <a:rPr lang="en-US" altLang="zh-CN" sz="2400" dirty="0">
                <a:solidFill>
                  <a:srgbClr val="080808"/>
                </a:solidFill>
                <a:latin typeface="楷体" panose="02010609060101010101" pitchFamily="49" charset="-122"/>
                <a:ea typeface="楷体" panose="02010609060101010101" pitchFamily="49" charset="-122"/>
              </a:rPr>
              <a:t>-j= xi-</a:t>
            </a:r>
            <a:r>
              <a:rPr lang="en-US" altLang="zh-CN" sz="2400" dirty="0" err="1">
                <a:solidFill>
                  <a:srgbClr val="080808"/>
                </a:solidFill>
                <a:latin typeface="楷体" panose="02010609060101010101" pitchFamily="49" charset="-122"/>
                <a:ea typeface="楷体" panose="02010609060101010101" pitchFamily="49" charset="-122"/>
              </a:rPr>
              <a:t>xj</a:t>
            </a:r>
            <a:r>
              <a:rPr lang="zh-CN" altLang="en-US" sz="2400" dirty="0">
                <a:solidFill>
                  <a:srgbClr val="080808"/>
                </a:solidFill>
                <a:latin typeface="楷体" panose="02010609060101010101" pitchFamily="49" charset="-122"/>
                <a:ea typeface="楷体" panose="02010609060101010101" pitchFamily="49" charset="-122"/>
              </a:rPr>
              <a:t>，因此约束条件是：</a:t>
            </a:r>
            <a:r>
              <a:rPr lang="en-US" altLang="zh-CN" sz="2400" dirty="0">
                <a:solidFill>
                  <a:srgbClr val="080808"/>
                </a:solidFill>
                <a:latin typeface="楷体" panose="02010609060101010101" pitchFamily="49" charset="-122"/>
                <a:ea typeface="楷体" panose="02010609060101010101" pitchFamily="49" charset="-122"/>
              </a:rPr>
              <a:t>|</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j|≠|xi</a:t>
            </a: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err="1">
                <a:solidFill>
                  <a:srgbClr val="080808"/>
                </a:solidFill>
                <a:latin typeface="楷体" panose="02010609060101010101" pitchFamily="49" charset="-122"/>
                <a:ea typeface="楷体" panose="02010609060101010101" pitchFamily="49" charset="-122"/>
              </a:rPr>
              <a:t>xj</a:t>
            </a:r>
            <a:r>
              <a:rPr lang="en-US" altLang="zh-CN" sz="2400" dirty="0">
                <a:solidFill>
                  <a:srgbClr val="080808"/>
                </a:solidFill>
                <a:latin typeface="楷体" panose="02010609060101010101" pitchFamily="49" charset="-122"/>
                <a:ea typeface="楷体" panose="02010609060101010101" pitchFamily="49" charset="-122"/>
              </a:rPr>
              <a:t>|</a:t>
            </a:r>
            <a:r>
              <a:rPr lang="zh-CN" altLang="en-US" sz="2400" dirty="0">
                <a:solidFill>
                  <a:srgbClr val="080808"/>
                </a:solidFill>
                <a:latin typeface="楷体" panose="02010609060101010101" pitchFamily="49" charset="-122"/>
                <a:ea typeface="楷体" panose="02010609060101010101" pitchFamily="49" charset="-122"/>
              </a:rPr>
              <a:t>。</a:t>
            </a:r>
            <a:endParaRPr lang="zh-CN" altLang="en-US" sz="2400" dirty="0">
              <a:solidFill>
                <a:srgbClr val="080808"/>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134937" y="1484784"/>
            <a:ext cx="8874126"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下面以四皇后问题为例，分析</a:t>
            </a:r>
            <a:r>
              <a:rPr lang="en-US" altLang="zh-CN" sz="2400" dirty="0">
                <a:solidFill>
                  <a:srgbClr val="080808"/>
                </a:solidFill>
                <a:latin typeface="楷体" panose="02010609060101010101" pitchFamily="49" charset="-122"/>
                <a:ea typeface="楷体" panose="02010609060101010101" pitchFamily="49" charset="-122"/>
              </a:rPr>
              <a:t>n</a:t>
            </a:r>
            <a:r>
              <a:rPr lang="zh-CN" altLang="en-US" sz="2400" dirty="0">
                <a:solidFill>
                  <a:srgbClr val="080808"/>
                </a:solidFill>
                <a:latin typeface="楷体" panose="02010609060101010101" pitchFamily="49" charset="-122"/>
                <a:ea typeface="楷体" panose="02010609060101010101" pitchFamily="49" charset="-122"/>
              </a:rPr>
              <a:t>皇后问题的求解过程：</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四皇后问题的解空间：向量</a:t>
            </a:r>
            <a:r>
              <a:rPr lang="en-US" altLang="zh-CN" sz="2400" dirty="0">
                <a:solidFill>
                  <a:srgbClr val="080808"/>
                </a:solidFill>
                <a:latin typeface="楷体" panose="02010609060101010101" pitchFamily="49" charset="-122"/>
                <a:ea typeface="楷体" panose="02010609060101010101" pitchFamily="49" charset="-122"/>
              </a:rPr>
              <a:t>X=(x1, x2, x3, x4)</a:t>
            </a:r>
            <a:r>
              <a:rPr lang="zh-CN" altLang="en-US" sz="2400" dirty="0">
                <a:solidFill>
                  <a:srgbClr val="080808"/>
                </a:solidFill>
                <a:latin typeface="楷体" panose="02010609060101010101" pitchFamily="49" charset="-122"/>
                <a:ea typeface="楷体" panose="02010609060101010101" pitchFamily="49" charset="-122"/>
              </a:rPr>
              <a:t>表示四皇后的布局，其中</a:t>
            </a:r>
            <a:r>
              <a:rPr lang="en-US" altLang="zh-CN" sz="2400" dirty="0">
                <a:solidFill>
                  <a:srgbClr val="080808"/>
                </a:solidFill>
                <a:latin typeface="楷体" panose="02010609060101010101" pitchFamily="49" charset="-122"/>
                <a:ea typeface="楷体" panose="02010609060101010101" pitchFamily="49" charset="-122"/>
              </a:rPr>
              <a:t>xi</a:t>
            </a:r>
            <a:r>
              <a:rPr lang="zh-CN" altLang="en-US" sz="2400" dirty="0">
                <a:solidFill>
                  <a:srgbClr val="080808"/>
                </a:solidFill>
                <a:latin typeface="楷体" panose="02010609060101010101" pitchFamily="49" charset="-122"/>
                <a:ea typeface="楷体" panose="02010609060101010101" pitchFamily="49" charset="-122"/>
              </a:rPr>
              <a:t>表示第</a:t>
            </a:r>
            <a:r>
              <a:rPr lang="en-US" altLang="zh-CN" sz="2400" dirty="0" err="1">
                <a:solidFill>
                  <a:srgbClr val="080808"/>
                </a:solidFill>
                <a:latin typeface="楷体" panose="02010609060101010101" pitchFamily="49" charset="-122"/>
                <a:ea typeface="楷体" panose="02010609060101010101" pitchFamily="49" charset="-122"/>
              </a:rPr>
              <a:t>i</a:t>
            </a:r>
            <a:r>
              <a:rPr lang="en-US" altLang="zh-CN" sz="2400" dirty="0">
                <a:solidFill>
                  <a:srgbClr val="080808"/>
                </a:solidFill>
                <a:latin typeface="楷体" panose="02010609060101010101" pitchFamily="49" charset="-122"/>
                <a:ea typeface="楷体" panose="02010609060101010101" pitchFamily="49" charset="-122"/>
              </a:rPr>
              <a:t> </a:t>
            </a:r>
            <a:r>
              <a:rPr lang="zh-CN" altLang="en-US" sz="2400" dirty="0">
                <a:solidFill>
                  <a:srgbClr val="080808"/>
                </a:solidFill>
                <a:latin typeface="楷体" panose="02010609060101010101" pitchFamily="49" charset="-122"/>
                <a:ea typeface="楷体" panose="02010609060101010101" pitchFamily="49" charset="-122"/>
              </a:rPr>
              <a:t>行皇后的列位置，</a:t>
            </a:r>
            <a:r>
              <a:rPr lang="en-US" altLang="zh-CN" sz="2400" dirty="0">
                <a:solidFill>
                  <a:srgbClr val="080808"/>
                </a:solidFill>
                <a:latin typeface="楷体" panose="02010609060101010101" pitchFamily="49" charset="-122"/>
                <a:ea typeface="楷体" panose="02010609060101010101" pitchFamily="49" charset="-122"/>
              </a:rPr>
              <a:t>xi</a:t>
            </a:r>
            <a:r>
              <a:rPr lang="zh-CN" altLang="en-US" sz="2400" dirty="0">
                <a:solidFill>
                  <a:srgbClr val="080808"/>
                </a:solidFill>
                <a:latin typeface="楷体" panose="02010609060101010101" pitchFamily="49" charset="-122"/>
                <a:ea typeface="楷体" panose="02010609060101010101" pitchFamily="49" charset="-122"/>
              </a:rPr>
              <a:t>的取值范围</a:t>
            </a:r>
            <a:r>
              <a:rPr lang="en-US" altLang="zh-CN" sz="2400" dirty="0">
                <a:solidFill>
                  <a:srgbClr val="080808"/>
                </a:solidFill>
                <a:latin typeface="楷体" panose="02010609060101010101" pitchFamily="49" charset="-122"/>
                <a:ea typeface="楷体" panose="02010609060101010101" pitchFamily="49" charset="-122"/>
              </a:rPr>
              <a:t>Si={1,2,3,4}</a:t>
            </a:r>
            <a:r>
              <a:rPr lang="zh-CN" altLang="en-US" sz="2400" dirty="0">
                <a:solidFill>
                  <a:srgbClr val="080808"/>
                </a:solidFill>
                <a:latin typeface="楷体" panose="02010609060101010101" pitchFamily="49" charset="-122"/>
                <a:ea typeface="楷体" panose="02010609060101010101" pitchFamily="49" charset="-122"/>
              </a:rPr>
              <a:t>，有</a:t>
            </a:r>
            <a:r>
              <a:rPr lang="en-US" altLang="zh-CN" sz="2400" dirty="0">
                <a:solidFill>
                  <a:srgbClr val="080808"/>
                </a:solidFill>
                <a:latin typeface="楷体" panose="02010609060101010101" pitchFamily="49" charset="-122"/>
                <a:ea typeface="楷体" panose="02010609060101010101" pitchFamily="49" charset="-122"/>
              </a:rPr>
              <a:t>44</a:t>
            </a:r>
            <a:r>
              <a:rPr lang="zh-CN" altLang="en-US" sz="2400" dirty="0">
                <a:solidFill>
                  <a:srgbClr val="080808"/>
                </a:solidFill>
                <a:latin typeface="楷体" panose="02010609060101010101" pitchFamily="49" charset="-122"/>
                <a:ea typeface="楷体" panose="02010609060101010101" pitchFamily="49" charset="-122"/>
              </a:rPr>
              <a:t>个可能的解，其解空间树是一个完全</a:t>
            </a:r>
            <a:r>
              <a:rPr lang="en-US" altLang="zh-CN" sz="2400" dirty="0">
                <a:solidFill>
                  <a:srgbClr val="080808"/>
                </a:solidFill>
                <a:latin typeface="楷体" panose="02010609060101010101" pitchFamily="49" charset="-122"/>
                <a:ea typeface="楷体" panose="02010609060101010101" pitchFamily="49" charset="-122"/>
              </a:rPr>
              <a:t>4</a:t>
            </a:r>
            <a:r>
              <a:rPr lang="zh-CN" altLang="en-US" sz="2400" dirty="0">
                <a:solidFill>
                  <a:srgbClr val="080808"/>
                </a:solidFill>
                <a:latin typeface="楷体" panose="02010609060101010101" pitchFamily="49" charset="-122"/>
                <a:ea typeface="楷体" panose="02010609060101010101" pitchFamily="49" charset="-122"/>
              </a:rPr>
              <a:t>叉树。约束条件是：</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err="1">
                <a:solidFill>
                  <a:srgbClr val="080808"/>
                </a:solidFill>
                <a:latin typeface="楷体" panose="02010609060101010101" pitchFamily="49" charset="-122"/>
                <a:ea typeface="楷体" panose="02010609060101010101" pitchFamily="49" charset="-122"/>
              </a:rPr>
              <a:t>xi≠xj</a:t>
            </a:r>
            <a:r>
              <a:rPr lang="en-US" altLang="zh-CN" sz="2400" dirty="0">
                <a:solidFill>
                  <a:srgbClr val="080808"/>
                </a:solidFill>
                <a:latin typeface="楷体" panose="02010609060101010101" pitchFamily="49" charset="-122"/>
                <a:ea typeface="楷体" panose="02010609060101010101" pitchFamily="49" charset="-122"/>
              </a:rPr>
              <a:t>                   </a:t>
            </a:r>
            <a:r>
              <a:rPr lang="zh-CN" altLang="en-US" sz="2400" dirty="0">
                <a:solidFill>
                  <a:srgbClr val="080808"/>
                </a:solidFill>
                <a:latin typeface="楷体" panose="02010609060101010101" pitchFamily="49" charset="-122"/>
                <a:ea typeface="楷体" panose="02010609060101010101" pitchFamily="49" charset="-122"/>
              </a:rPr>
              <a:t>对列的约束；           </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a:t>
            </a:r>
            <a:r>
              <a:rPr lang="en-US" altLang="zh-CN" sz="2400" dirty="0" err="1">
                <a:solidFill>
                  <a:srgbClr val="080808"/>
                </a:solidFill>
                <a:latin typeface="楷体" panose="02010609060101010101" pitchFamily="49" charset="-122"/>
                <a:ea typeface="楷体" panose="02010609060101010101" pitchFamily="49" charset="-122"/>
              </a:rPr>
              <a:t>i</a:t>
            </a: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a:solidFill>
                  <a:srgbClr val="080808"/>
                </a:solidFill>
                <a:latin typeface="楷体" panose="02010609060101010101" pitchFamily="49" charset="-122"/>
                <a:ea typeface="楷体" panose="02010609060101010101" pitchFamily="49" charset="-122"/>
              </a:rPr>
              <a:t>j|≠|xi</a:t>
            </a:r>
            <a:r>
              <a:rPr lang="zh-CN" altLang="en-US" sz="2400" dirty="0">
                <a:solidFill>
                  <a:srgbClr val="080808"/>
                </a:solidFill>
                <a:latin typeface="楷体" panose="02010609060101010101" pitchFamily="49" charset="-122"/>
                <a:ea typeface="楷体" panose="02010609060101010101" pitchFamily="49" charset="-122"/>
              </a:rPr>
              <a:t>－</a:t>
            </a:r>
            <a:r>
              <a:rPr lang="en-US" altLang="zh-CN" sz="2400" dirty="0" err="1">
                <a:solidFill>
                  <a:srgbClr val="080808"/>
                </a:solidFill>
                <a:latin typeface="楷体" panose="02010609060101010101" pitchFamily="49" charset="-122"/>
                <a:ea typeface="楷体" panose="02010609060101010101" pitchFamily="49" charset="-122"/>
              </a:rPr>
              <a:t>xj</a:t>
            </a:r>
            <a:r>
              <a:rPr lang="en-US" altLang="zh-CN" sz="2400" dirty="0">
                <a:solidFill>
                  <a:srgbClr val="080808"/>
                </a:solidFill>
                <a:latin typeface="楷体" panose="02010609060101010101" pitchFamily="49" charset="-122"/>
                <a:ea typeface="楷体" panose="02010609060101010101" pitchFamily="49" charset="-122"/>
              </a:rPr>
              <a:t>|         </a:t>
            </a:r>
            <a:r>
              <a:rPr lang="zh-CN" altLang="en-US" sz="2400" dirty="0">
                <a:solidFill>
                  <a:srgbClr val="080808"/>
                </a:solidFill>
                <a:latin typeface="楷体" panose="02010609060101010101" pitchFamily="49" charset="-122"/>
                <a:ea typeface="楷体" panose="02010609060101010101" pitchFamily="49" charset="-122"/>
              </a:rPr>
              <a:t>对斜线的约束；</a:t>
            </a:r>
            <a:endParaRPr lang="zh-CN" altLang="en-US" sz="2400" dirty="0">
              <a:solidFill>
                <a:srgbClr val="080808"/>
              </a:solidFill>
              <a:latin typeface="楷体" panose="02010609060101010101" pitchFamily="49" charset="-122"/>
              <a:ea typeface="楷体" panose="02010609060101010101" pitchFamily="49" charset="-122"/>
            </a:endParaRPr>
          </a:p>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四皇后问题的解空间树如下图</a:t>
            </a:r>
            <a:r>
              <a:rPr lang="en-US" altLang="zh-CN" sz="2400" dirty="0">
                <a:solidFill>
                  <a:srgbClr val="080808"/>
                </a:solidFill>
                <a:latin typeface="楷体" panose="02010609060101010101" pitchFamily="49" charset="-122"/>
                <a:ea typeface="楷体" panose="02010609060101010101" pitchFamily="49" charset="-122"/>
              </a:rPr>
              <a:t>6.10</a:t>
            </a:r>
            <a:r>
              <a:rPr lang="zh-CN" altLang="en-US" sz="2400" dirty="0">
                <a:solidFill>
                  <a:srgbClr val="080808"/>
                </a:solidFill>
                <a:latin typeface="楷体" panose="02010609060101010101" pitchFamily="49" charset="-122"/>
                <a:ea typeface="楷体" panose="02010609060101010101" pitchFamily="49" charset="-122"/>
              </a:rPr>
              <a:t>所示：从树的根结点开始搜索，从第</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层到第</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层结点对应皇后</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在棋盘中第</a:t>
            </a:r>
            <a:r>
              <a:rPr lang="en-US" altLang="zh-CN" sz="2400" dirty="0">
                <a:solidFill>
                  <a:srgbClr val="080808"/>
                </a:solidFill>
                <a:latin typeface="楷体" panose="02010609060101010101" pitchFamily="49" charset="-122"/>
                <a:ea typeface="楷体" panose="02010609060101010101" pitchFamily="49" charset="-122"/>
              </a:rPr>
              <a:t>1</a:t>
            </a:r>
            <a:r>
              <a:rPr lang="zh-CN" altLang="en-US" sz="2400" dirty="0">
                <a:solidFill>
                  <a:srgbClr val="080808"/>
                </a:solidFill>
                <a:latin typeface="楷体" panose="02010609060101010101" pitchFamily="49" charset="-122"/>
                <a:ea typeface="楷体" panose="02010609060101010101" pitchFamily="49" charset="-122"/>
              </a:rPr>
              <a:t>行的可能摆放位置，从第</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层结点到第</a:t>
            </a:r>
            <a:r>
              <a:rPr lang="en-US" altLang="zh-CN" sz="2400" dirty="0">
                <a:solidFill>
                  <a:srgbClr val="080808"/>
                </a:solidFill>
                <a:latin typeface="楷体" panose="02010609060101010101" pitchFamily="49" charset="-122"/>
                <a:ea typeface="楷体" panose="02010609060101010101" pitchFamily="49" charset="-122"/>
              </a:rPr>
              <a:t>3</a:t>
            </a:r>
            <a:r>
              <a:rPr lang="zh-CN" altLang="en-US" sz="2400" dirty="0">
                <a:solidFill>
                  <a:srgbClr val="080808"/>
                </a:solidFill>
                <a:latin typeface="楷体" panose="02010609060101010101" pitchFamily="49" charset="-122"/>
                <a:ea typeface="楷体" panose="02010609060101010101" pitchFamily="49" charset="-122"/>
              </a:rPr>
              <a:t>层结点对应皇后</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在棋盘中第</a:t>
            </a:r>
            <a:r>
              <a:rPr lang="en-US" altLang="zh-CN" sz="2400" dirty="0">
                <a:solidFill>
                  <a:srgbClr val="080808"/>
                </a:solidFill>
                <a:latin typeface="楷体" panose="02010609060101010101" pitchFamily="49" charset="-122"/>
                <a:ea typeface="楷体" panose="02010609060101010101" pitchFamily="49" charset="-122"/>
              </a:rPr>
              <a:t>2</a:t>
            </a:r>
            <a:r>
              <a:rPr lang="zh-CN" altLang="en-US" sz="2400" dirty="0">
                <a:solidFill>
                  <a:srgbClr val="080808"/>
                </a:solidFill>
                <a:latin typeface="楷体" panose="02010609060101010101" pitchFamily="49" charset="-122"/>
                <a:ea typeface="楷体" panose="02010609060101010101" pitchFamily="49" charset="-122"/>
              </a:rPr>
              <a:t>行的可能摆放位置，从第</a:t>
            </a:r>
            <a:r>
              <a:rPr lang="en-US" altLang="zh-CN" sz="2400" dirty="0">
                <a:solidFill>
                  <a:srgbClr val="080808"/>
                </a:solidFill>
                <a:latin typeface="楷体" panose="02010609060101010101" pitchFamily="49" charset="-122"/>
                <a:ea typeface="楷体" panose="02010609060101010101" pitchFamily="49" charset="-122"/>
              </a:rPr>
              <a:t>3</a:t>
            </a:r>
            <a:r>
              <a:rPr lang="zh-CN" altLang="en-US" sz="2400" dirty="0">
                <a:solidFill>
                  <a:srgbClr val="080808"/>
                </a:solidFill>
                <a:latin typeface="楷体" panose="02010609060101010101" pitchFamily="49" charset="-122"/>
                <a:ea typeface="楷体" panose="02010609060101010101" pitchFamily="49" charset="-122"/>
              </a:rPr>
              <a:t>层到第</a:t>
            </a:r>
            <a:r>
              <a:rPr lang="en-US" altLang="zh-CN" sz="2400" dirty="0">
                <a:solidFill>
                  <a:srgbClr val="080808"/>
                </a:solidFill>
                <a:latin typeface="楷体" panose="02010609060101010101" pitchFamily="49" charset="-122"/>
                <a:ea typeface="楷体" panose="02010609060101010101" pitchFamily="49" charset="-122"/>
              </a:rPr>
              <a:t>4</a:t>
            </a:r>
            <a:r>
              <a:rPr lang="zh-CN" altLang="en-US" sz="2400" dirty="0">
                <a:solidFill>
                  <a:srgbClr val="080808"/>
                </a:solidFill>
                <a:latin typeface="楷体" panose="02010609060101010101" pitchFamily="49" charset="-122"/>
                <a:ea typeface="楷体" panose="02010609060101010101" pitchFamily="49" charset="-122"/>
              </a:rPr>
              <a:t>层结点对应皇后</a:t>
            </a:r>
            <a:r>
              <a:rPr lang="en-US" altLang="zh-CN" sz="2400" dirty="0">
                <a:solidFill>
                  <a:srgbClr val="080808"/>
                </a:solidFill>
                <a:latin typeface="楷体" panose="02010609060101010101" pitchFamily="49" charset="-122"/>
                <a:ea typeface="楷体" panose="02010609060101010101" pitchFamily="49" charset="-122"/>
              </a:rPr>
              <a:t>3</a:t>
            </a:r>
            <a:r>
              <a:rPr lang="zh-CN" altLang="en-US" sz="2400" dirty="0">
                <a:solidFill>
                  <a:srgbClr val="080808"/>
                </a:solidFill>
                <a:latin typeface="楷体" panose="02010609060101010101" pitchFamily="49" charset="-122"/>
                <a:ea typeface="楷体" panose="02010609060101010101" pitchFamily="49" charset="-122"/>
              </a:rPr>
              <a:t>在棋盘中第</a:t>
            </a:r>
            <a:r>
              <a:rPr lang="en-US" altLang="zh-CN" sz="2400" dirty="0">
                <a:solidFill>
                  <a:srgbClr val="080808"/>
                </a:solidFill>
                <a:latin typeface="楷体" panose="02010609060101010101" pitchFamily="49" charset="-122"/>
                <a:ea typeface="楷体" panose="02010609060101010101" pitchFamily="49" charset="-122"/>
              </a:rPr>
              <a:t>3</a:t>
            </a:r>
            <a:r>
              <a:rPr lang="zh-CN" altLang="en-US" sz="2400" dirty="0">
                <a:solidFill>
                  <a:srgbClr val="080808"/>
                </a:solidFill>
                <a:latin typeface="楷体" panose="02010609060101010101" pitchFamily="49" charset="-122"/>
                <a:ea typeface="楷体" panose="02010609060101010101" pitchFamily="49" charset="-122"/>
              </a:rPr>
              <a:t>行的可能摆放位置，从第</a:t>
            </a:r>
            <a:r>
              <a:rPr lang="en-US" altLang="zh-CN" sz="2400" dirty="0">
                <a:solidFill>
                  <a:srgbClr val="080808"/>
                </a:solidFill>
                <a:latin typeface="楷体" panose="02010609060101010101" pitchFamily="49" charset="-122"/>
                <a:ea typeface="楷体" panose="02010609060101010101" pitchFamily="49" charset="-122"/>
              </a:rPr>
              <a:t>4</a:t>
            </a:r>
            <a:r>
              <a:rPr lang="zh-CN" altLang="en-US" sz="2400" dirty="0">
                <a:solidFill>
                  <a:srgbClr val="080808"/>
                </a:solidFill>
                <a:latin typeface="楷体" panose="02010609060101010101" pitchFamily="49" charset="-122"/>
                <a:ea typeface="楷体" panose="02010609060101010101" pitchFamily="49" charset="-122"/>
              </a:rPr>
              <a:t>层到第</a:t>
            </a:r>
            <a:r>
              <a:rPr lang="en-US" altLang="zh-CN" sz="2400" dirty="0">
                <a:solidFill>
                  <a:srgbClr val="080808"/>
                </a:solidFill>
                <a:latin typeface="楷体" panose="02010609060101010101" pitchFamily="49" charset="-122"/>
                <a:ea typeface="楷体" panose="02010609060101010101" pitchFamily="49" charset="-122"/>
              </a:rPr>
              <a:t>5</a:t>
            </a:r>
            <a:r>
              <a:rPr lang="zh-CN" altLang="en-US" sz="2400" dirty="0">
                <a:solidFill>
                  <a:srgbClr val="080808"/>
                </a:solidFill>
                <a:latin typeface="楷体" panose="02010609060101010101" pitchFamily="49" charset="-122"/>
                <a:ea typeface="楷体" panose="02010609060101010101" pitchFamily="49" charset="-122"/>
              </a:rPr>
              <a:t>层结点对应皇后</a:t>
            </a:r>
            <a:r>
              <a:rPr lang="en-US" altLang="zh-CN" sz="2400" dirty="0">
                <a:solidFill>
                  <a:srgbClr val="080808"/>
                </a:solidFill>
                <a:latin typeface="楷体" panose="02010609060101010101" pitchFamily="49" charset="-122"/>
                <a:ea typeface="楷体" panose="02010609060101010101" pitchFamily="49" charset="-122"/>
              </a:rPr>
              <a:t>4</a:t>
            </a:r>
            <a:r>
              <a:rPr lang="zh-CN" altLang="en-US" sz="2400" dirty="0">
                <a:solidFill>
                  <a:srgbClr val="080808"/>
                </a:solidFill>
                <a:latin typeface="楷体" panose="02010609060101010101" pitchFamily="49" charset="-122"/>
                <a:ea typeface="楷体" panose="02010609060101010101" pitchFamily="49" charset="-122"/>
              </a:rPr>
              <a:t>在棋盘中第</a:t>
            </a:r>
            <a:r>
              <a:rPr lang="en-US" altLang="zh-CN" sz="2400" dirty="0">
                <a:solidFill>
                  <a:srgbClr val="080808"/>
                </a:solidFill>
                <a:latin typeface="楷体" panose="02010609060101010101" pitchFamily="49" charset="-122"/>
                <a:ea typeface="楷体" panose="02010609060101010101" pitchFamily="49" charset="-122"/>
              </a:rPr>
              <a:t>4</a:t>
            </a:r>
            <a:r>
              <a:rPr lang="zh-CN" altLang="en-US" sz="2400" dirty="0">
                <a:solidFill>
                  <a:srgbClr val="080808"/>
                </a:solidFill>
                <a:latin typeface="楷体" panose="02010609060101010101" pitchFamily="49" charset="-122"/>
                <a:ea typeface="楷体" panose="02010609060101010101" pitchFamily="49" charset="-122"/>
              </a:rPr>
              <a:t>行的可能摆放位置。</a:t>
            </a:r>
            <a:endParaRPr lang="zh-CN" altLang="en-US" sz="2400" dirty="0">
              <a:solidFill>
                <a:srgbClr val="080808"/>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1">
            <a:extLst>
              <a:ext uri="{28A0092B-C50C-407E-A947-70E740481C1C}">
                <a14:useLocalDpi xmlns:a14="http://schemas.microsoft.com/office/drawing/2010/main" val="0"/>
              </a:ext>
            </a:extLst>
          </a:blip>
          <a:stretch>
            <a:fillRect/>
          </a:stretch>
        </p:blipFill>
        <p:spPr>
          <a:xfrm>
            <a:off x="109717" y="1484784"/>
            <a:ext cx="8924565" cy="511256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180528" y="1117032"/>
            <a:ext cx="88741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indent="457200">
              <a:spcBef>
                <a:spcPts val="0"/>
              </a:spcBef>
              <a:buSzTx/>
              <a:buFontTx/>
              <a:buNone/>
            </a:pPr>
            <a:r>
              <a:rPr lang="zh-CN" altLang="en-US" sz="2400" dirty="0">
                <a:solidFill>
                  <a:srgbClr val="080808"/>
                </a:solidFill>
                <a:latin typeface="楷体" panose="02010609060101010101" pitchFamily="49" charset="-122"/>
                <a:ea typeface="楷体" panose="02010609060101010101" pitchFamily="49" charset="-122"/>
              </a:rPr>
              <a:t>下图</a:t>
            </a:r>
            <a:r>
              <a:rPr lang="en-US" altLang="zh-CN" sz="2400" dirty="0">
                <a:solidFill>
                  <a:srgbClr val="080808"/>
                </a:solidFill>
                <a:latin typeface="楷体" panose="02010609060101010101" pitchFamily="49" charset="-122"/>
                <a:ea typeface="楷体" panose="02010609060101010101" pitchFamily="49" charset="-122"/>
              </a:rPr>
              <a:t>6.11</a:t>
            </a:r>
            <a:r>
              <a:rPr lang="zh-CN" altLang="en-US" sz="2400" dirty="0">
                <a:solidFill>
                  <a:srgbClr val="080808"/>
                </a:solidFill>
                <a:latin typeface="楷体" panose="02010609060101010101" pitchFamily="49" charset="-122"/>
                <a:ea typeface="楷体" panose="02010609060101010101" pitchFamily="49" charset="-122"/>
              </a:rPr>
              <a:t>所示是四皇后问题寻找第一个解的过程：</a:t>
            </a:r>
            <a:endParaRPr lang="zh-CN" altLang="en-US" sz="2400" dirty="0">
              <a:solidFill>
                <a:srgbClr val="080808"/>
              </a:solidFill>
              <a:latin typeface="楷体" panose="02010609060101010101" pitchFamily="49" charset="-122"/>
              <a:ea typeface="楷体" panose="02010609060101010101" pitchFamily="49" charset="-122"/>
            </a:endParaRPr>
          </a:p>
        </p:txBody>
      </p:sp>
      <p:grpSp>
        <p:nvGrpSpPr>
          <p:cNvPr id="4" name="组合 3"/>
          <p:cNvGrpSpPr/>
          <p:nvPr/>
        </p:nvGrpSpPr>
        <p:grpSpPr>
          <a:xfrm>
            <a:off x="1156490" y="1578697"/>
            <a:ext cx="6367837" cy="5279303"/>
            <a:chOff x="0" y="0"/>
            <a:chExt cx="3759200" cy="3498850"/>
          </a:xfrm>
        </p:grpSpPr>
        <p:pic>
          <p:nvPicPr>
            <p:cNvPr id="5" name="图片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3759200" cy="1612900"/>
            </a:xfrm>
            <a:prstGeom prst="rect">
              <a:avLst/>
            </a:prstGeom>
          </p:spPr>
        </p:pic>
        <p:pic>
          <p:nvPicPr>
            <p:cNvPr id="6" name="图片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720850"/>
              <a:ext cx="3759200" cy="17780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1" cstate="print">
            <a:extLst>
              <a:ext uri="{28A0092B-C50C-407E-A947-70E740481C1C}">
                <a14:useLocalDpi xmlns:a14="http://schemas.microsoft.com/office/drawing/2010/main" val="0"/>
              </a:ext>
            </a:extLst>
          </a:blip>
          <a:stretch>
            <a:fillRect/>
          </a:stretch>
        </p:blipFill>
        <p:spPr>
          <a:xfrm>
            <a:off x="873829" y="1916832"/>
            <a:ext cx="7082548" cy="32839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773771" y="1484784"/>
            <a:ext cx="5596458" cy="5068654"/>
            <a:chOff x="0" y="0"/>
            <a:chExt cx="3848431" cy="3944731"/>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3848100" cy="2172335"/>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1" y="2258171"/>
              <a:ext cx="3840480" cy="168656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DIAGRAM_VIRTUALLY_FRAME" val="{&quot;height&quot;:166.3749606299213,&quot;left&quot;:310.866062992126,&quot;top&quot;:190.48125984251968,&quot;width&quot;:326.7233070866141}"/>
</p:tagLst>
</file>

<file path=ppt/tags/tag2.xml><?xml version="1.0" encoding="utf-8"?>
<p:tagLst xmlns:p="http://schemas.openxmlformats.org/presentationml/2006/main">
  <p:tag name="KSO_WM_DIAGRAM_VIRTUALLY_FRAME" val="{&quot;height&quot;:166.3749606299213,&quot;left&quot;:310.866062992126,&quot;top&quot;:190.48125984251968,&quot;width&quot;:326.7233070866141}"/>
</p:tagLst>
</file>

<file path=ppt/tags/tag3.xml><?xml version="1.0" encoding="utf-8"?>
<p:tagLst xmlns:p="http://schemas.openxmlformats.org/presentationml/2006/main">
  <p:tag name="KSO_WM_DIAGRAM_VIRTUALLY_FRAME" val="{&quot;height&quot;:166.3749606299213,&quot;left&quot;:310.866062992126,&quot;top&quot;:190.48125984251968,&quot;width&quot;:326.7233070866141}"/>
</p:tagLst>
</file>

<file path=ppt/tags/tag4.xml><?xml version="1.0" encoding="utf-8"?>
<p:tagLst xmlns:p="http://schemas.openxmlformats.org/presentationml/2006/main">
  <p:tag name="KSO_WM_DIAGRAM_VIRTUALLY_FRAME" val="{&quot;height&quot;:166.3749606299213,&quot;left&quot;:310.866062992126,&quot;top&quot;:190.48125984251968,&quot;width&quot;:326.7233070866141}"/>
</p:tagLst>
</file>

<file path=ppt/tags/tag5.xml><?xml version="1.0" encoding="utf-8"?>
<p:tagLst xmlns:p="http://schemas.openxmlformats.org/presentationml/2006/main">
  <p:tag name="KSO_WM_DIAGRAM_VIRTUALLY_FRAME" val="{&quot;height&quot;:166.3749606299213,&quot;left&quot;:310.866062992126,&quot;top&quot;:190.48125984251968,&quot;width&quot;:326.7233070866141}"/>
</p:tagLst>
</file>

<file path=ppt/tags/tag6.xml><?xml version="1.0" encoding="utf-8"?>
<p:tagLst xmlns:p="http://schemas.openxmlformats.org/presentationml/2006/main">
  <p:tag name="KSO_WM_DIAGRAM_VIRTUALLY_FRAME" val="{&quot;height&quot;:166.3749606299213,&quot;left&quot;:310.866062992126,&quot;top&quot;:190.48125984251968,&quot;width&quot;:326.7233070866141}"/>
</p:tagLst>
</file>

<file path=ppt/tags/tag7.xml><?xml version="1.0" encoding="utf-8"?>
<p:tagLst xmlns:p="http://schemas.openxmlformats.org/presentationml/2006/main">
  <p:tag name="KSO_WM_DIAGRAM_VIRTUALLY_FRAME" val="{&quot;height&quot;:166.3749606299213,&quot;left&quot;:310.866062992126,&quot;top&quot;:190.48125984251968,&quot;width&quot;:326.7233070866141}"/>
</p:tagLst>
</file>

<file path=ppt/tags/tag8.xml><?xml version="1.0" encoding="utf-8"?>
<p:tagLst xmlns:p="http://schemas.openxmlformats.org/presentationml/2006/main">
  <p:tag name="KSO_WM_DIAGRAM_VIRTUALLY_FRAME" val="{&quot;height&quot;:166.3749606299213,&quot;left&quot;:310.866062992126,&quot;top&quot;:190.48125984251968,&quot;width&quot;:326.7233070866141}"/>
</p:tagLst>
</file>

<file path=ppt/tags/tag9.xml><?xml version="1.0" encoding="utf-8"?>
<p:tagLst xmlns:p="http://schemas.openxmlformats.org/presentationml/2006/main">
  <p:tag name="KSO_WM_DIAGRAM_VIRTUALLY_FRAME" val="{&quot;height&quot;:166.3749606299213,&quot;left&quot;:310.866062992126,&quot;top&quot;:190.48125984251968,&quot;width&quot;:326.7233070866141}"/>
</p:tagLst>
</file>

<file path=ppt/tags/tag10.xml><?xml version="1.0" encoding="utf-8"?>
<p:tagLst xmlns:p="http://schemas.openxmlformats.org/presentationml/2006/main">
  <p:tag name="KSO_WM_DIAGRAM_VIRTUALLY_FRAME" val="{&quot;height&quot;:166.3749606299213,&quot;left&quot;:310.866062992126,&quot;top&quot;:190.48125984251968,&quot;width&quot;:326.7233070866141}"/>
</p:tagLst>
</file>

<file path=ppt/tags/tag11.xml><?xml version="1.0" encoding="utf-8"?>
<p:tagLst xmlns:p="http://schemas.openxmlformats.org/presentationml/2006/main">
  <p:tag name="KSO_WM_DIAGRAM_VIRTUALLY_FRAME" val="{&quot;height&quot;:166.3749606299213,&quot;left&quot;:310.866062992126,&quot;top&quot;:190.48125984251968,&quot;width&quot;:326.7233070866141}"/>
</p:tagLst>
</file>

<file path=ppt/tags/tag12.xml><?xml version="1.0" encoding="utf-8"?>
<p:tagLst xmlns:p="http://schemas.openxmlformats.org/presentationml/2006/main">
  <p:tag name="TABLE_ENDDRAG_ORIGIN_RECT" val="204*180"/>
  <p:tag name="TABLE_ENDDRAG_RECT" val="108*180*204*180"/>
</p:tagLst>
</file>

<file path=ppt/tags/tag13.xml><?xml version="1.0" encoding="utf-8"?>
<p:tagLst xmlns:p="http://schemas.openxmlformats.org/presentationml/2006/main">
  <p:tag name="TABLE_ENDDRAG_ORIGIN_RECT" val="173*120"/>
  <p:tag name="TABLE_ENDDRAG_RECT" val="108*210*173*120"/>
</p:tagLst>
</file>

<file path=ppt/tags/tag14.xml><?xml version="1.0" encoding="utf-8"?>
<p:tagLst xmlns:p="http://schemas.openxmlformats.org/presentationml/2006/main">
  <p:tag name="TABLE_ENDDRAG_ORIGIN_RECT" val="173*120"/>
  <p:tag name="TABLE_ENDDRAG_RECT" val="108*210*173*120"/>
</p:tagLst>
</file>

<file path=ppt/tags/tag15.xml><?xml version="1.0" encoding="utf-8"?>
<p:tagLst xmlns:p="http://schemas.openxmlformats.org/presentationml/2006/main">
  <p:tag name="TABLE_ENDDRAG_ORIGIN_RECT" val="173*120"/>
  <p:tag name="TABLE_ENDDRAG_RECT" val="108*210*173*120"/>
</p:tagLst>
</file>

<file path=ppt/tags/tag16.xml><?xml version="1.0" encoding="utf-8"?>
<p:tagLst xmlns:p="http://schemas.openxmlformats.org/presentationml/2006/main">
  <p:tag name="TABLE_ENDDRAG_ORIGIN_RECT" val="173*120"/>
  <p:tag name="TABLE_ENDDRAG_RECT" val="108*210*173*120"/>
</p:tagLst>
</file>

<file path=ppt/tags/tag17.xml><?xml version="1.0" encoding="utf-8"?>
<p:tagLst xmlns:p="http://schemas.openxmlformats.org/presentationml/2006/main">
  <p:tag name="TABLE_ENDDRAG_ORIGIN_RECT" val="173*120"/>
  <p:tag name="TABLE_ENDDRAG_RECT" val="108*210*173*120"/>
</p:tagLst>
</file>

<file path=ppt/tags/tag18.xml><?xml version="1.0" encoding="utf-8"?>
<p:tagLst xmlns:p="http://schemas.openxmlformats.org/presentationml/2006/main">
  <p:tag name="TABLE_ENDDRAG_ORIGIN_RECT" val="173*120"/>
  <p:tag name="TABLE_ENDDRAG_RECT" val="108*210*173*120"/>
</p:tagLst>
</file>

<file path=ppt/tags/tag19.xml><?xml version="1.0" encoding="utf-8"?>
<p:tagLst xmlns:p="http://schemas.openxmlformats.org/presentationml/2006/main">
  <p:tag name="TABLE_ENDDRAG_ORIGIN_RECT" val="162*121"/>
  <p:tag name="TABLE_ENDDRAG_RECT" val="138*201*162*121"/>
</p:tagLst>
</file>

<file path=ppt/tags/tag20.xml><?xml version="1.0" encoding="utf-8"?>
<p:tagLst xmlns:p="http://schemas.openxmlformats.org/presentationml/2006/main">
  <p:tag name="TABLE_ENDDRAG_ORIGIN_RECT" val="156*119"/>
  <p:tag name="TABLE_ENDDRAG_RECT" val="99*235*156*119"/>
</p:tagLst>
</file>

<file path=ppt/theme/theme1.xml><?xml version="1.0" encoding="utf-8"?>
<a:theme xmlns:a="http://schemas.openxmlformats.org/drawingml/2006/main" name="第一PPT：www.1ppt.com">
  <a:themeElements>
    <a:clrScheme name="演示设计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7BD520"/>
      </a:folHlink>
    </a:clrScheme>
    <a:fontScheme name="演示设计">
      <a:majorFont>
        <a:latin typeface="Arial"/>
        <a:ea typeface="华文细黑"/>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defRPr>
        </a:defPPr>
      </a:lstStyle>
    </a:lnDef>
  </a:objectDefaults>
  <a:extraClrSchemeLst>
    <a:extraClrScheme>
      <a:clrScheme name="演示设计 1">
        <a:dk1>
          <a:srgbClr val="000000"/>
        </a:dk1>
        <a:lt1>
          <a:srgbClr val="FFFFFF"/>
        </a:lt1>
        <a:dk2>
          <a:srgbClr val="000000"/>
        </a:dk2>
        <a:lt2>
          <a:srgbClr val="808080"/>
        </a:lt2>
        <a:accent1>
          <a:srgbClr val="FFCC00"/>
        </a:accent1>
        <a:accent2>
          <a:srgbClr val="FF9933"/>
        </a:accent2>
        <a:accent3>
          <a:srgbClr val="FFFFFF"/>
        </a:accent3>
        <a:accent4>
          <a:srgbClr val="000000"/>
        </a:accent4>
        <a:accent5>
          <a:srgbClr val="FFE2AA"/>
        </a:accent5>
        <a:accent6>
          <a:srgbClr val="E78A2D"/>
        </a:accent6>
        <a:hlink>
          <a:srgbClr val="463900"/>
        </a:hlink>
        <a:folHlink>
          <a:srgbClr val="FFE67D"/>
        </a:folHlink>
      </a:clrScheme>
      <a:clrMap bg1="lt1" tx1="dk1" bg2="lt2" tx2="dk2" accent1="accent1" accent2="accent2" accent3="accent3" accent4="accent4" accent5="accent5" accent6="accent6" hlink="hlink" folHlink="folHlink"/>
    </a:extraClrScheme>
    <a:extraClrScheme>
      <a:clrScheme name="演示设计 2">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AD5B"/>
        </a:folHlink>
      </a:clrScheme>
      <a:clrMap bg1="lt1" tx1="dk1" bg2="lt2" tx2="dk2" accent1="accent1" accent2="accent2" accent3="accent3" accent4="accent4" accent5="accent5" accent6="accent6" hlink="hlink" folHlink="folHlink"/>
    </a:extraClrScheme>
    <a:extraClrScheme>
      <a:clrScheme name="演示设计 3">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2A94FE"/>
        </a:folHlink>
      </a:clrScheme>
      <a:clrMap bg1="lt1" tx1="dk1" bg2="lt2" tx2="dk2" accent1="accent1" accent2="accent2" accent3="accent3" accent4="accent4" accent5="accent5" accent6="accent6" hlink="hlink" folHlink="folHlink"/>
    </a:extraClrScheme>
    <a:extraClrScheme>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C0C0C0"/>
        </a:folHlink>
      </a:clrScheme>
      <a:clrMap bg1="lt1" tx1="dk1" bg2="lt2" tx2="dk2" accent1="accent1" accent2="accent2" accent3="accent3" accent4="accent4" accent5="accent5" accent6="accent6" hlink="hlink" folHlink="folHlink"/>
    </a:extraClrScheme>
    <a:extraClrScheme>
      <a:clrScheme name="演示设计 5">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C468BD"/>
        </a:folHlink>
      </a:clrScheme>
      <a:clrMap bg1="lt1" tx1="dk1" bg2="lt2" tx2="dk2" accent1="accent1" accent2="accent2" accent3="accent3" accent4="accent4" accent5="accent5" accent6="accent6" hlink="hlink" folHlink="folHlink"/>
    </a:extraClrScheme>
    <a:extraClrScheme>
      <a:clrScheme name="演示设计 6">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3B3B"/>
        </a:folHlink>
      </a:clrScheme>
      <a:clrMap bg1="lt1" tx1="dk1" bg2="lt2" tx2="dk2" accent1="accent1" accent2="accent2" accent3="accent3" accent4="accent4" accent5="accent5" accent6="accent6" hlink="hlink" folHlink="folHlink"/>
    </a:extraClrScheme>
    <a:extraClrScheme>
      <a:clrScheme name="演示设计 7">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DDDF91"/>
        </a:folHlink>
      </a:clrScheme>
      <a:clrMap bg1="lt1" tx1="dk1" bg2="lt2" tx2="dk2" accent1="accent1" accent2="accent2" accent3="accent3" accent4="accent4" accent5="accent5" accent6="accent6" hlink="hlink" folHlink="folHlink"/>
    </a:extraClrScheme>
    <a:extraClrScheme>
      <a:clrScheme name="演示设计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7BD52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12587</Words>
  <Application>WPS 演示</Application>
  <PresentationFormat>全屏显示(4:3)</PresentationFormat>
  <Paragraphs>2294</Paragraphs>
  <Slides>85</Slides>
  <Notes>16</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85</vt:i4>
      </vt:variant>
    </vt:vector>
  </HeadingPairs>
  <TitlesOfParts>
    <vt:vector size="101" baseType="lpstr">
      <vt:lpstr>Arial</vt:lpstr>
      <vt:lpstr>宋体</vt:lpstr>
      <vt:lpstr>Wingdings</vt:lpstr>
      <vt:lpstr>华文细黑</vt:lpstr>
      <vt:lpstr>MS UI Gothic</vt:lpstr>
      <vt:lpstr>Calibri</vt:lpstr>
      <vt:lpstr>Verdana</vt:lpstr>
      <vt:lpstr>方正正大黑简体</vt:lpstr>
      <vt:lpstr>黑体</vt:lpstr>
      <vt:lpstr>Times New Roman</vt:lpstr>
      <vt:lpstr>微软雅黑</vt:lpstr>
      <vt:lpstr>Tahoma</vt:lpstr>
      <vt:lpstr>Arial Unicode MS</vt:lpstr>
      <vt:lpstr>楷体</vt:lpstr>
      <vt:lpstr>隶书</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第一PPT模板网：www.1ppt.com</dc:title>
  <dc:creator>第一PPT模板网：www.1ppt.com</dc:creator>
  <cp:lastModifiedBy>时间矿泉水</cp:lastModifiedBy>
  <cp:revision>415</cp:revision>
  <dcterms:created xsi:type="dcterms:W3CDTF">2010-09-23T08:30:00Z</dcterms:created>
  <dcterms:modified xsi:type="dcterms:W3CDTF">2025-12-09T05:10:14Z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模板">
    <vt:lpwstr>www.1ppt.com</vt:lpwstr>
  </property>
  <property fmtid="{D5CDD505-2E9C-101B-9397-08002B2CF9AE}" pid="3" name="ICV">
    <vt:lpwstr>8CB5677F65EF44AF96EB1F9AC61F9FD7_12</vt:lpwstr>
  </property>
  <property fmtid="{D5CDD505-2E9C-101B-9397-08002B2CF9AE}" pid="4" name="KSOProductBuildVer">
    <vt:lpwstr>2052-12.1.0.24034</vt:lpwstr>
  </property>
</Properties>
</file>