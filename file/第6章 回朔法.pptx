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0"/>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07" r:id="rId26"/>
    <p:sldId id="310" r:id="rId27"/>
    <p:sldId id="313" r:id="rId28"/>
    <p:sldId id="311" r:id="rId29"/>
    <p:sldId id="312" r:id="rId30"/>
    <p:sldId id="314" r:id="rId31"/>
    <p:sldId id="317" r:id="rId32"/>
    <p:sldId id="318" r:id="rId33"/>
    <p:sldId id="319" r:id="rId34"/>
    <p:sldId id="320" r:id="rId35"/>
    <p:sldId id="323" r:id="rId36"/>
    <p:sldId id="321" r:id="rId37"/>
    <p:sldId id="324" r:id="rId38"/>
    <p:sldId id="325" r:id="rId39"/>
    <p:sldId id="256" r:id="rId40"/>
    <p:sldId id="257" r:id="rId41"/>
    <p:sldId id="258" r:id="rId42"/>
    <p:sldId id="259" r:id="rId43"/>
    <p:sldId id="260" r:id="rId44"/>
    <p:sldId id="261" r:id="rId45"/>
    <p:sldId id="262" r:id="rId46"/>
    <p:sldId id="263" r:id="rId47"/>
    <p:sldId id="264" r:id="rId48"/>
    <p:sldId id="265" r:id="rId49"/>
    <p:sldId id="266" r:id="rId50"/>
    <p:sldId id="267" r:id="rId51"/>
    <p:sldId id="268" r:id="rId52"/>
    <p:sldId id="269" r:id="rId53"/>
    <p:sldId id="270" r:id="rId54"/>
    <p:sldId id="271" r:id="rId55"/>
    <p:sldId id="272" r:id="rId56"/>
    <p:sldId id="273" r:id="rId57"/>
    <p:sldId id="274" r:id="rId58"/>
    <p:sldId id="275" r:id="rId59"/>
    <p:sldId id="276" r:id="rId60"/>
    <p:sldId id="277" r:id="rId61"/>
    <p:sldId id="278" r:id="rId62"/>
    <p:sldId id="279" r:id="rId63"/>
    <p:sldId id="280" r:id="rId64"/>
    <p:sldId id="281" r:id="rId65"/>
    <p:sldId id="282" r:id="rId66"/>
    <p:sldId id="283" r:id="rId67"/>
    <p:sldId id="284" r:id="rId68"/>
    <p:sldId id="285" r:id="rId69"/>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50" userDrawn="1">
          <p15:clr>
            <a:srgbClr val="A4A3A4"/>
          </p15:clr>
        </p15:guide>
        <p15:guide id="2" pos="286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50"/>
        <p:guide pos="286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4" Type="http://schemas.openxmlformats.org/officeDocument/2006/relationships/commentAuthors" Target="commentAuthors.xml"/><Relationship Id="rId73" Type="http://schemas.openxmlformats.org/officeDocument/2006/relationships/tableStyles" Target="tableStyles.xml"/><Relationship Id="rId72" Type="http://schemas.openxmlformats.org/officeDocument/2006/relationships/viewProps" Target="viewProps.xml"/><Relationship Id="rId71" Type="http://schemas.openxmlformats.org/officeDocument/2006/relationships/presProps" Target="presProps.xml"/><Relationship Id="rId70" Type="http://schemas.openxmlformats.org/officeDocument/2006/relationships/handoutMaster" Target="handoutMasters/handoutMaster1.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2.xml"/><Relationship Id="rId2" Type="http://schemas.openxmlformats.org/officeDocument/2006/relationships/image" Target="../media/image31.png"/><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1.png"/></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3.png"/><Relationship Id="rId1" Type="http://schemas.openxmlformats.org/officeDocument/2006/relationships/image" Target="../media/image42.png"/></Relationships>
</file>

<file path=ppt/slides/_rels/slide3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3.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5.png"/><Relationship Id="rId6" Type="http://schemas.openxmlformats.org/officeDocument/2006/relationships/image" Target="../media/image56.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7.png"/><Relationship Id="rId6" Type="http://schemas.openxmlformats.org/officeDocument/2006/relationships/image" Target="../media/image55.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4.png"/><Relationship Id="rId6" Type="http://schemas.openxmlformats.org/officeDocument/2006/relationships/image" Target="../media/image63.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7.png"/><Relationship Id="rId1"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sp>
        <p:nvSpPr>
          <p:cNvPr id="11" name="Rectangle 2"/>
          <p:cNvSpPr txBox="1">
            <a:spLocks noChangeArrowheads="1"/>
          </p:cNvSpPr>
          <p:nvPr/>
        </p:nvSpPr>
        <p:spPr bwMode="auto">
          <a:xfrm>
            <a:off x="1147763" y="295275"/>
            <a:ext cx="7793037" cy="146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1.</a:t>
            </a:r>
            <a:r>
              <a:rPr lang="en-US" altLang="zh-CN" sz="3600" kern="0" smtClean="0"/>
              <a:t>2</a:t>
            </a:r>
            <a:r>
              <a:rPr lang="zh-CN" altLang="en-US" sz="3600" kern="0"/>
              <a:t>深度优先遍历的方法和实现</a:t>
            </a:r>
            <a:endParaRPr lang="en-US" altLang="zh-CN" sz="3600" kern="0" dirty="0"/>
          </a:p>
        </p:txBody>
      </p:sp>
      <p:sp>
        <p:nvSpPr>
          <p:cNvPr id="13" name="文本框 12"/>
          <p:cNvSpPr txBox="1"/>
          <p:nvPr/>
        </p:nvSpPr>
        <p:spPr>
          <a:xfrm>
            <a:off x="1147763" y="1911350"/>
            <a:ext cx="1479550" cy="369888"/>
          </a:xfrm>
          <a:prstGeom prst="rect">
            <a:avLst/>
          </a:prstGeom>
          <a:noFill/>
        </p:spPr>
        <p:txBody>
          <a:bodyPr>
            <a:spAutoFit/>
          </a:bodyPr>
          <a:lstStyle/>
          <a:p>
            <a:pPr>
              <a:defRPr/>
            </a:pPr>
            <a:r>
              <a:rPr lang="zh-CN" altLang="en-US">
                <a:solidFill>
                  <a:srgbClr val="000066"/>
                </a:solidFill>
                <a:latin typeface="+mj-ea"/>
                <a:ea typeface="+mj-ea"/>
              </a:rPr>
              <a:t>算法实现：</a:t>
            </a:r>
            <a:endParaRPr lang="zh-CN" altLang="en-US">
              <a:solidFill>
                <a:srgbClr val="000066"/>
              </a:solidFill>
              <a:latin typeface="+mj-ea"/>
              <a:ea typeface="+mj-ea"/>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278130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6" name="组合 5"/>
          <p:cNvGrpSpPr/>
          <p:nvPr/>
        </p:nvGrpSpPr>
        <p:grpSpPr>
          <a:xfrm>
            <a:off x="612140" y="1988820"/>
            <a:ext cx="3931285" cy="1894205"/>
            <a:chOff x="1464" y="2358"/>
            <a:chExt cx="6191" cy="2983"/>
          </a:xfrm>
        </p:grpSpPr>
        <p:sp>
          <p:nvSpPr>
            <p:cNvPr id="2" name="文本框 1"/>
            <p:cNvSpPr txBox="1"/>
            <p:nvPr/>
          </p:nvSpPr>
          <p:spPr>
            <a:xfrm>
              <a:off x="1464" y="2358"/>
              <a:ext cx="6191" cy="580"/>
            </a:xfrm>
            <a:prstGeom prst="rect">
              <a:avLst/>
            </a:prstGeom>
            <a:noFill/>
          </p:spPr>
          <p:txBody>
            <a:bodyPr wrap="square" rtlCol="0">
              <a:spAutoFit/>
            </a:bodyPr>
            <a:p>
              <a:r>
                <a:rPr lang="zh-CN" altLang="en-US"/>
                <a:t>（</a:t>
              </a:r>
              <a:r>
                <a:rPr lang="en-US" altLang="zh-CN"/>
                <a:t>1</a:t>
              </a:r>
              <a:r>
                <a:rPr lang="zh-CN" altLang="en-US"/>
                <a:t>）思考机器人路径问题？</a:t>
              </a:r>
              <a:endParaRPr lang="zh-CN" altLang="en-US"/>
            </a:p>
          </p:txBody>
        </p:sp>
        <p:pic>
          <p:nvPicPr>
            <p:cNvPr id="3" name="图片 -2147482500" descr="IMG_256"/>
            <p:cNvPicPr>
              <a:picLocks noChangeAspect="1"/>
            </p:cNvPicPr>
            <p:nvPr/>
          </p:nvPicPr>
          <p:blipFill>
            <a:blip r:embed="rId1"/>
            <a:stretch>
              <a:fillRect/>
            </a:stretch>
          </p:blipFill>
          <p:spPr>
            <a:xfrm>
              <a:off x="1871" y="3175"/>
              <a:ext cx="4976" cy="2166"/>
            </a:xfrm>
            <a:prstGeom prst="rect">
              <a:avLst/>
            </a:prstGeom>
            <a:noFill/>
            <a:ln w="9525">
              <a:noFill/>
            </a:ln>
          </p:spPr>
        </p:pic>
      </p:grpSp>
      <p:grpSp>
        <p:nvGrpSpPr>
          <p:cNvPr id="7" name="组合 6"/>
          <p:cNvGrpSpPr/>
          <p:nvPr/>
        </p:nvGrpSpPr>
        <p:grpSpPr>
          <a:xfrm>
            <a:off x="4860290" y="1988820"/>
            <a:ext cx="3930650" cy="2379980"/>
            <a:chOff x="1417" y="5627"/>
            <a:chExt cx="6190" cy="3748"/>
          </a:xfrm>
        </p:grpSpPr>
        <p:sp>
          <p:nvSpPr>
            <p:cNvPr id="4" name="文本框 3"/>
            <p:cNvSpPr txBox="1"/>
            <p:nvPr/>
          </p:nvSpPr>
          <p:spPr>
            <a:xfrm>
              <a:off x="1417" y="5627"/>
              <a:ext cx="6191" cy="580"/>
            </a:xfrm>
            <a:prstGeom prst="rect">
              <a:avLst/>
            </a:prstGeom>
            <a:noFill/>
          </p:spPr>
          <p:txBody>
            <a:bodyPr wrap="square" rtlCol="0">
              <a:spAutoFit/>
            </a:bodyPr>
            <a:p>
              <a:r>
                <a:rPr lang="zh-CN" altLang="en-US"/>
                <a:t>（</a:t>
              </a:r>
              <a:r>
                <a:rPr lang="en-US" altLang="zh-CN"/>
                <a:t>2</a:t>
              </a:r>
              <a:r>
                <a:rPr lang="zh-CN" altLang="en-US"/>
                <a:t>）</a:t>
              </a:r>
              <a:r>
                <a:rPr lang="en-US" altLang="zh-CN"/>
                <a:t>0-1</a:t>
              </a:r>
              <a:r>
                <a:rPr lang="zh-CN" altLang="en-US"/>
                <a:t>背包问题？</a:t>
              </a:r>
              <a:endParaRPr lang="zh-CN" altLang="en-US"/>
            </a:p>
          </p:txBody>
        </p:sp>
        <p:pic>
          <p:nvPicPr>
            <p:cNvPr id="5" name="图片 4"/>
            <p:cNvPicPr>
              <a:picLocks noChangeAspect="1"/>
            </p:cNvPicPr>
            <p:nvPr/>
          </p:nvPicPr>
          <p:blipFill>
            <a:blip r:embed="rId2"/>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尝试列出这两个问题的所有可能解？或者说列出问题的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2</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2</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2</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altLang="zh-CN" sz="3600" kern="0" smtClean="0"/>
              <a:t>2</a:t>
            </a:r>
            <a:r>
              <a:rPr lang="zh-CN" altLang="en-US" sz="3600" kern="0" smtClean="0"/>
              <a:t>.</a:t>
            </a:r>
            <a:r>
              <a:rPr lang="en-US" altLang="zh-CN" sz="3600" kern="0" smtClean="0"/>
              <a:t>3</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en-US" sz="3600" kern="0" smtClean="0"/>
              <a:t>3</a:t>
            </a: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）回溯模板</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）回溯模板（有剪枝</a:t>
            </a:r>
            <a:r>
              <a:rPr lang="zh-CN">
                <a:solidFill>
                  <a:srgbClr val="000066"/>
                </a:solidFill>
                <a:latin typeface="+mj-ea"/>
                <a:ea typeface="+mj-ea"/>
              </a:rPr>
              <a:t>）</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8840</Words>
  <Application>WPS 演示</Application>
  <PresentationFormat>全屏显示(4:3)</PresentationFormat>
  <Paragraphs>1479</Paragraphs>
  <Slides>66</Slides>
  <Notes>16</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66</vt:i4>
      </vt:variant>
    </vt:vector>
  </HeadingPairs>
  <TitlesOfParts>
    <vt:vector size="82"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385</cp:revision>
  <dcterms:created xsi:type="dcterms:W3CDTF">2010-09-23T08:30:00Z</dcterms:created>
  <dcterms:modified xsi:type="dcterms:W3CDTF">2025-12-01T01:34:21Z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2052-12.1.0.23542</vt:lpwstr>
  </property>
</Properties>
</file>