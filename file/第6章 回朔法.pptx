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8"/>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30" r:id="rId26"/>
    <p:sldId id="331" r:id="rId27"/>
    <p:sldId id="333" r:id="rId28"/>
    <p:sldId id="334" r:id="rId29"/>
    <p:sldId id="307" r:id="rId30"/>
    <p:sldId id="310" r:id="rId31"/>
    <p:sldId id="313" r:id="rId32"/>
    <p:sldId id="311" r:id="rId33"/>
    <p:sldId id="312" r:id="rId34"/>
    <p:sldId id="314" r:id="rId35"/>
    <p:sldId id="335" r:id="rId36"/>
    <p:sldId id="336" r:id="rId37"/>
    <p:sldId id="337" r:id="rId38"/>
    <p:sldId id="317" r:id="rId39"/>
    <p:sldId id="318" r:id="rId40"/>
    <p:sldId id="319" r:id="rId41"/>
    <p:sldId id="320" r:id="rId42"/>
    <p:sldId id="323" r:id="rId43"/>
    <p:sldId id="321" r:id="rId44"/>
    <p:sldId id="324" r:id="rId45"/>
    <p:sldId id="329" r:id="rId46"/>
    <p:sldId id="325" r:id="rId47"/>
    <p:sldId id="256" r:id="rId48"/>
    <p:sldId id="257" r:id="rId49"/>
    <p:sldId id="258" r:id="rId50"/>
    <p:sldId id="259" r:id="rId51"/>
    <p:sldId id="260" r:id="rId52"/>
    <p:sldId id="261" r:id="rId53"/>
    <p:sldId id="262" r:id="rId54"/>
    <p:sldId id="263" r:id="rId55"/>
    <p:sldId id="264" r:id="rId56"/>
    <p:sldId id="265" r:id="rId57"/>
    <p:sldId id="266" r:id="rId58"/>
    <p:sldId id="267" r:id="rId59"/>
    <p:sldId id="268" r:id="rId60"/>
    <p:sldId id="269" r:id="rId61"/>
    <p:sldId id="270" r:id="rId62"/>
    <p:sldId id="271" r:id="rId63"/>
    <p:sldId id="272" r:id="rId64"/>
    <p:sldId id="273" r:id="rId65"/>
    <p:sldId id="274" r:id="rId66"/>
    <p:sldId id="275" r:id="rId67"/>
    <p:sldId id="276" r:id="rId68"/>
    <p:sldId id="277" r:id="rId69"/>
    <p:sldId id="278" r:id="rId70"/>
    <p:sldId id="279" r:id="rId71"/>
    <p:sldId id="280" r:id="rId72"/>
    <p:sldId id="281" r:id="rId73"/>
    <p:sldId id="282" r:id="rId74"/>
    <p:sldId id="283" r:id="rId75"/>
    <p:sldId id="284" r:id="rId76"/>
    <p:sldId id="285" r:id="rId77"/>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14" userDrawn="1">
          <p15:clr>
            <a:srgbClr val="A4A3A4"/>
          </p15:clr>
        </p15:guide>
        <p15:guide id="2" pos="284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14"/>
        <p:guide pos="2844"/>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2" Type="http://schemas.openxmlformats.org/officeDocument/2006/relationships/commentAuthors" Target="commentAuthors.xml"/><Relationship Id="rId81" Type="http://schemas.openxmlformats.org/officeDocument/2006/relationships/tableStyles" Target="tableStyles.xml"/><Relationship Id="rId80" Type="http://schemas.openxmlformats.org/officeDocument/2006/relationships/viewProps" Target="viewProps.xml"/><Relationship Id="rId8" Type="http://schemas.openxmlformats.org/officeDocument/2006/relationships/slide" Target="slides/slide5.xml"/><Relationship Id="rId79" Type="http://schemas.openxmlformats.org/officeDocument/2006/relationships/presProps" Target="presProps.xml"/><Relationship Id="rId78" Type="http://schemas.openxmlformats.org/officeDocument/2006/relationships/handoutMaster" Target="handoutMasters/handoutMaster1.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3.png"/><Relationship Id="rId1" Type="http://schemas.openxmlformats.org/officeDocument/2006/relationships/image" Target="../media/image42.png"/></Relationships>
</file>

<file path=ppt/slides/_rels/slide4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4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2.png"/><Relationship Id="rId1" Type="http://schemas.openxmlformats.org/officeDocument/2006/relationships/image" Target="../media/image51.png"/></Relationships>
</file>

<file path=ppt/slides/_rels/slide5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2.png"/><Relationship Id="rId1" Type="http://schemas.openxmlformats.org/officeDocument/2006/relationships/image" Target="../media/image51.png"/></Relationships>
</file>

<file path=ppt/slides/_rels/slide5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4.png"/><Relationship Id="rId6" Type="http://schemas.openxmlformats.org/officeDocument/2006/relationships/image" Target="../media/image53.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5.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7.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5.png"/><Relationship Id="rId6" Type="http://schemas.openxmlformats.org/officeDocument/2006/relationships/image" Target="../media/image56.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8.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7.png"/><Relationship Id="rId6" Type="http://schemas.openxmlformats.org/officeDocument/2006/relationships/image" Target="../media/image55.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5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6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6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1.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6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7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7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2.png"/></Relationships>
</file>

<file path=ppt/slides/_rels/slide7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64.png"/><Relationship Id="rId6" Type="http://schemas.openxmlformats.org/officeDocument/2006/relationships/image" Target="../media/image63.png"/><Relationship Id="rId5" Type="http://schemas.openxmlformats.org/officeDocument/2006/relationships/image" Target="../media/image48.png"/><Relationship Id="rId4" Type="http://schemas.openxmlformats.org/officeDocument/2006/relationships/image" Target="../media/image47.png"/><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image" Target="../media/image44.png"/></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5.png"/></Relationships>
</file>

<file path=ppt/slides/_rels/slide7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67.png"/><Relationship Id="rId1" Type="http://schemas.openxmlformats.org/officeDocument/2006/relationships/image" Target="../media/image6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p:transition spd="slow" advTm="109041"/>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47941"/>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83260" y="141224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
        <p:nvSpPr>
          <p:cNvPr id="2" name="Rectangle 2"/>
          <p:cNvSpPr txBox="1">
            <a:spLocks noChangeArrowheads="1"/>
          </p:cNvSpPr>
          <p:nvPr/>
        </p:nvSpPr>
        <p:spPr bwMode="auto">
          <a:xfrm>
            <a:off x="323215" y="8362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优先遍历流程算法</a:t>
            </a:r>
            <a:r>
              <a:rPr lang="zh-CN" altLang="en-US" sz="2000" kern="0" smtClean="0">
                <a:solidFill>
                  <a:schemeClr val="tx2"/>
                </a:solidFill>
                <a:uFillTx/>
                <a:latin typeface="Times New Roman" panose="02020603050405020304" pitchFamily="18" charset="0"/>
                <a:ea typeface="宋体" panose="02010600030101010101" pitchFamily="2" charset="-122"/>
              </a:rPr>
              <a:t>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4" name="文本框 3"/>
          <p:cNvSpPr txBox="1"/>
          <p:nvPr/>
        </p:nvSpPr>
        <p:spPr>
          <a:xfrm>
            <a:off x="251460" y="458089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a:t>
            </a:r>
            <a:r>
              <a:rPr lang="zh-CN" altLang="en-US" sz="2400" b="1" kern="0" dirty="0">
                <a:uFillTx/>
                <a:latin typeface="Times New Roman" panose="02020603050405020304" pitchFamily="18" charset="0"/>
                <a:cs typeface="Times New Roman" panose="02020603050405020304" pitchFamily="18" charset="0"/>
                <a:sym typeface="+mn-ea"/>
              </a:rPr>
              <a:t>小结</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680085" y="5229225"/>
            <a:ext cx="7860030" cy="1198880"/>
          </a:xfrm>
          <a:prstGeom prst="rect">
            <a:avLst/>
          </a:prstGeom>
          <a:noFill/>
          <a:ln>
            <a:solidFill>
              <a:srgbClr val="0066FF"/>
            </a:solidFill>
          </a:ln>
        </p:spPr>
        <p:txBody>
          <a:bodyPr wrap="square" rtlCol="0">
            <a:spAutoFit/>
          </a:bodyPr>
          <a:p>
            <a:r>
              <a:rPr lang="zh-CN" altLang="en-US">
                <a:solidFill>
                  <a:srgbClr val="FF0000"/>
                </a:solidFill>
              </a:rPr>
              <a:t>（</a:t>
            </a:r>
            <a:r>
              <a:rPr lang="en-US" altLang="zh-CN">
                <a:solidFill>
                  <a:srgbClr val="FF0000"/>
                </a:solidFill>
              </a:rPr>
              <a:t>1</a:t>
            </a:r>
            <a:r>
              <a:rPr lang="zh-CN" altLang="en-US">
                <a:solidFill>
                  <a:srgbClr val="FF0000"/>
                </a:solidFill>
              </a:rPr>
              <a:t>）回溯的思想</a:t>
            </a:r>
            <a:endParaRPr lang="zh-CN" altLang="en-US">
              <a:solidFill>
                <a:srgbClr val="FF0000"/>
              </a:solidFill>
            </a:endParaRPr>
          </a:p>
          <a:p>
            <a:r>
              <a:rPr lang="zh-CN" altLang="en-US">
                <a:solidFill>
                  <a:srgbClr val="FF0000"/>
                </a:solidFill>
              </a:rPr>
              <a:t>（</a:t>
            </a:r>
            <a:r>
              <a:rPr lang="en-US" altLang="zh-CN">
                <a:solidFill>
                  <a:srgbClr val="FF0000"/>
                </a:solidFill>
              </a:rPr>
              <a:t>2</a:t>
            </a:r>
            <a:r>
              <a:rPr lang="zh-CN" altLang="en-US">
                <a:solidFill>
                  <a:srgbClr val="FF0000"/>
                </a:solidFill>
              </a:rPr>
              <a:t>）回溯算法的基本应用</a:t>
            </a:r>
            <a:endParaRPr lang="zh-CN" altLang="en-US">
              <a:solidFill>
                <a:srgbClr val="FF0000"/>
              </a:solidFill>
            </a:endParaRPr>
          </a:p>
          <a:p>
            <a:pPr lvl="1"/>
            <a:r>
              <a:rPr lang="zh-CN" altLang="en-US">
                <a:solidFill>
                  <a:srgbClr val="FF0000"/>
                </a:solidFill>
              </a:rPr>
              <a:t>①树的搜索</a:t>
            </a:r>
            <a:endParaRPr lang="zh-CN" altLang="en-US">
              <a:solidFill>
                <a:srgbClr val="FF0000"/>
              </a:solidFill>
            </a:endParaRPr>
          </a:p>
          <a:p>
            <a:pPr lvl="1"/>
            <a:r>
              <a:rPr lang="zh-CN" altLang="en-US">
                <a:solidFill>
                  <a:srgbClr val="FF0000"/>
                </a:solidFill>
              </a:rPr>
              <a:t>②图的遍历</a:t>
            </a:r>
            <a:endParaRPr lang="zh-CN" altLang="en-US">
              <a:solidFill>
                <a:srgbClr val="FF0000"/>
              </a:solidFill>
            </a:endParaRPr>
          </a:p>
        </p:txBody>
      </p:sp>
    </p:spTree>
  </p:cSld>
  <p:clrMapOvr>
    <a:masterClrMapping/>
  </p:clrMapOvr>
  <p:transition spd="slow" advTm="437"/>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7" name="组合 6"/>
          <p:cNvGrpSpPr/>
          <p:nvPr/>
        </p:nvGrpSpPr>
        <p:grpSpPr>
          <a:xfrm>
            <a:off x="5220335" y="2060575"/>
            <a:ext cx="3931285" cy="2380615"/>
            <a:chOff x="1417" y="5627"/>
            <a:chExt cx="6191" cy="3749"/>
          </a:xfrm>
        </p:grpSpPr>
        <p:sp>
          <p:nvSpPr>
            <p:cNvPr id="4" name="文本框 3"/>
            <p:cNvSpPr txBox="1"/>
            <p:nvPr/>
          </p:nvSpPr>
          <p:spPr>
            <a:xfrm>
              <a:off x="1417" y="5627"/>
              <a:ext cx="6191" cy="580"/>
            </a:xfrm>
            <a:prstGeom prst="rect">
              <a:avLst/>
            </a:prstGeom>
            <a:noFill/>
          </p:spPr>
          <p:txBody>
            <a:bodyPr wrap="square" rtlCol="0">
              <a:spAutoFit/>
            </a:bodyPr>
            <a:p>
              <a:r>
                <a:rPr lang="en-US" altLang="zh-CN"/>
                <a:t>0-1</a:t>
              </a:r>
              <a:r>
                <a:rPr lang="zh-CN" altLang="en-US"/>
                <a:t>背包问题？</a:t>
              </a:r>
              <a:endParaRPr lang="zh-CN" altLang="en-US"/>
            </a:p>
          </p:txBody>
        </p:sp>
        <p:pic>
          <p:nvPicPr>
            <p:cNvPr id="5" name="图片 4"/>
            <p:cNvPicPr>
              <a:picLocks noChangeAspect="1"/>
            </p:cNvPicPr>
            <p:nvPr/>
          </p:nvPicPr>
          <p:blipFill>
            <a:blip r:embed="rId1"/>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11" name="文本框 10"/>
          <p:cNvSpPr txBox="1"/>
          <p:nvPr/>
        </p:nvSpPr>
        <p:spPr>
          <a:xfrm>
            <a:off x="539115" y="2187575"/>
            <a:ext cx="3931285" cy="368300"/>
          </a:xfrm>
          <a:prstGeom prst="rect">
            <a:avLst/>
          </a:prstGeom>
          <a:noFill/>
        </p:spPr>
        <p:txBody>
          <a:bodyPr wrap="square" rtlCol="0">
            <a:spAutoFit/>
          </a:bodyPr>
          <a:p>
            <a:r>
              <a:rPr lang="zh-CN" altLang="en-US"/>
              <a:t>暴力</a:t>
            </a:r>
            <a:r>
              <a:rPr lang="zh-CN" altLang="en-US"/>
              <a:t>枚举</a:t>
            </a:r>
            <a:endParaRPr lang="zh-CN" altLang="en-US"/>
          </a:p>
        </p:txBody>
      </p:sp>
      <p:sp>
        <p:nvSpPr>
          <p:cNvPr id="13" name="文本框 12"/>
          <p:cNvSpPr txBox="1"/>
          <p:nvPr/>
        </p:nvSpPr>
        <p:spPr>
          <a:xfrm>
            <a:off x="2239645" y="269430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B</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2239645" y="306895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a:t>
            </a:r>
            <a:r>
              <a:rPr lang="en-US" altLang="zh-CN">
                <a:solidFill>
                  <a:schemeClr val="tx1"/>
                </a:solidFill>
                <a:uFillTx/>
                <a:latin typeface="Times New Roman" panose="02020603050405020304" pitchFamily="18" charset="0"/>
              </a:rPr>
              <a:t>C</a:t>
            </a:r>
            <a:endParaRPr lang="en-US" altLang="zh-CN">
              <a:solidFill>
                <a:schemeClr val="tx1"/>
              </a:solidFill>
              <a:uFillTx/>
              <a:latin typeface="Times New Roman" panose="02020603050405020304" pitchFamily="18" charset="0"/>
            </a:endParaRPr>
          </a:p>
        </p:txBody>
      </p:sp>
      <p:sp>
        <p:nvSpPr>
          <p:cNvPr id="15" name="文本框 14"/>
          <p:cNvSpPr txBox="1"/>
          <p:nvPr/>
        </p:nvSpPr>
        <p:spPr>
          <a:xfrm>
            <a:off x="1763395" y="2899410"/>
            <a:ext cx="411480" cy="368300"/>
          </a:xfrm>
          <a:prstGeom prst="rect">
            <a:avLst/>
          </a:prstGeom>
          <a:noFill/>
        </p:spPr>
        <p:txBody>
          <a:bodyPr wrap="none" rtlCol="0" anchor="t">
            <a:spAutoFit/>
          </a:bodyPr>
          <a:p>
            <a:r>
              <a:rPr lang="zh-CN" altLang="en-US">
                <a:latin typeface="宋体" panose="02010600030101010101" pitchFamily="2" charset="-122"/>
              </a:rPr>
              <a:t>＋</a:t>
            </a:r>
            <a:endParaRPr lang="zh-CN" altLang="en-US">
              <a:latin typeface="宋体" panose="02010600030101010101" pitchFamily="2" charset="-122"/>
            </a:endParaRPr>
          </a:p>
        </p:txBody>
      </p:sp>
      <p:cxnSp>
        <p:nvCxnSpPr>
          <p:cNvPr id="16" name="直接连接符 15"/>
          <p:cNvCxnSpPr/>
          <p:nvPr/>
        </p:nvCxnSpPr>
        <p:spPr>
          <a:xfrm>
            <a:off x="1589405" y="3500120"/>
            <a:ext cx="1902460" cy="63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7" name="文本框 16"/>
          <p:cNvSpPr txBox="1"/>
          <p:nvPr/>
        </p:nvSpPr>
        <p:spPr>
          <a:xfrm>
            <a:off x="2051685" y="3563620"/>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B </a:t>
            </a:r>
            <a:r>
              <a:rPr lang="en-US" altLang="zh-CN">
                <a:solidFill>
                  <a:schemeClr val="tx1"/>
                </a:solidFill>
                <a:uFillTx/>
                <a:latin typeface="Times New Roman" panose="02020603050405020304" pitchFamily="18" charset="0"/>
              </a:rPr>
              <a:t>C A </a:t>
            </a:r>
            <a:endParaRPr lang="en-US" altLang="zh-CN">
              <a:solidFill>
                <a:schemeClr val="tx1"/>
              </a:solidFill>
              <a:uFillTx/>
              <a:latin typeface="Times New Roman" panose="02020603050405020304" pitchFamily="18" charset="0"/>
            </a:endParaRPr>
          </a:p>
        </p:txBody>
      </p:sp>
    </p:spTree>
  </p:cSld>
  <p:clrMapOvr>
    <a:masterClrMapping/>
  </p:clrMapOvr>
  <p:transition spd="slow" advTm="437"/>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Visit</a:t>
            </a:r>
            <a:r>
              <a:rPr lang="zh-CN" altLang="en-US">
                <a:solidFill>
                  <a:schemeClr val="tx1"/>
                </a:solidFill>
                <a:uFillTx/>
                <a:latin typeface="Times New Roman" panose="02020603050405020304" pitchFamily="18" charset="0"/>
                <a:cs typeface="宋体" panose="02010600030101010101" pitchFamily="2" charset="-122"/>
              </a:rPr>
              <a:t>数组，表示元素是否被访问，</a:t>
            </a:r>
            <a:r>
              <a:rPr lang="en-US" altLang="zh-CN">
                <a:solidFill>
                  <a:schemeClr val="tx1"/>
                </a:solidFill>
                <a:uFillTx/>
                <a:latin typeface="Times New Roman" panose="02020603050405020304" pitchFamily="18" charset="0"/>
                <a:cs typeface="宋体" panose="02010600030101010101" pitchFamily="2" charset="-122"/>
              </a:rPr>
              <a:t>1</a:t>
            </a:r>
            <a:r>
              <a:rPr lang="zh-CN" altLang="en-US">
                <a:solidFill>
                  <a:schemeClr val="tx1"/>
                </a:solidFill>
                <a:uFillTx/>
                <a:latin typeface="Times New Roman" panose="02020603050405020304" pitchFamily="18" charset="0"/>
                <a:cs typeface="宋体" panose="02010600030101010101" pitchFamily="2" charset="-122"/>
              </a:rPr>
              <a:t>表示已被访问，</a:t>
            </a:r>
            <a:r>
              <a:rPr lang="en-US" altLang="zh-CN">
                <a:solidFill>
                  <a:schemeClr val="tx1"/>
                </a:solidFill>
                <a:uFillTx/>
                <a:latin typeface="Times New Roman" panose="02020603050405020304" pitchFamily="18" charset="0"/>
                <a:cs typeface="宋体" panose="02010600030101010101" pitchFamily="2" charset="-122"/>
              </a:rPr>
              <a:t>0</a:t>
            </a:r>
            <a:r>
              <a:rPr lang="zh-CN" altLang="en-US">
                <a:solidFill>
                  <a:schemeClr val="tx1"/>
                </a:solidFill>
                <a:uFillTx/>
                <a:latin typeface="Times New Roman" panose="02020603050405020304" pitchFamily="18" charset="0"/>
                <a:cs typeface="宋体" panose="02010600030101010101" pitchFamily="2" charset="-122"/>
              </a:rPr>
              <a:t>表示未被访问。</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TempList</a:t>
            </a:r>
            <a:r>
              <a:rPr lang="zh-CN" altLang="en-US">
                <a:solidFill>
                  <a:schemeClr val="tx1"/>
                </a:solidFill>
                <a:uFillTx/>
                <a:latin typeface="Times New Roman" panose="02020603050405020304" pitchFamily="18" charset="0"/>
                <a:cs typeface="宋体" panose="02010600030101010101" pitchFamily="2" charset="-122"/>
              </a:rPr>
              <a:t>数组，临时存储全排列的所有</a:t>
            </a:r>
            <a:r>
              <a:rPr lang="zh-CN" altLang="en-US">
                <a:solidFill>
                  <a:schemeClr val="tx1"/>
                </a:solidFill>
                <a:uFillTx/>
                <a:latin typeface="Times New Roman" panose="02020603050405020304" pitchFamily="18" charset="0"/>
                <a:cs typeface="宋体" panose="02010600030101010101" pitchFamily="2" charset="-122"/>
              </a:rPr>
              <a:t>情况。</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5" name="文本框 84"/>
          <p:cNvSpPr txBox="1"/>
          <p:nvPr/>
        </p:nvSpPr>
        <p:spPr>
          <a:xfrm>
            <a:off x="395605" y="6165215"/>
            <a:ext cx="3919220" cy="410210"/>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Start</a:t>
            </a:r>
            <a:r>
              <a:rPr lang="zh-CN" altLang="en-US">
                <a:solidFill>
                  <a:schemeClr val="tx1"/>
                </a:solidFill>
                <a:uFillTx/>
                <a:latin typeface="Times New Roman" panose="02020603050405020304" pitchFamily="18" charset="0"/>
              </a:rPr>
              <a:t>：</a:t>
            </a:r>
            <a:r>
              <a:rPr lang="en-US" altLang="zh-CN">
                <a:uFillTx/>
                <a:latin typeface="Times New Roman" panose="02020603050405020304" pitchFamily="18" charset="0"/>
                <a:cs typeface="宋体" panose="02010600030101010101" pitchFamily="2" charset="-122"/>
                <a:sym typeface="+mn-ea"/>
              </a:rPr>
              <a:t>Visit=[0,0,0]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6" name="文本框 85"/>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①：</a:t>
            </a:r>
            <a:r>
              <a:rPr lang="en-US" altLang="zh-CN">
                <a:uFillTx/>
                <a:latin typeface="Times New Roman" panose="02020603050405020304" pitchFamily="18" charset="0"/>
                <a:cs typeface="宋体" panose="02010600030101010101" pitchFamily="2" charset="-122"/>
                <a:sym typeface="+mn-ea"/>
              </a:rPr>
              <a:t>Visit=[1,0,0]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②：</a:t>
            </a:r>
            <a:r>
              <a:rPr lang="en-US" altLang="zh-CN">
                <a:uFillTx/>
                <a:latin typeface="Times New Roman" panose="02020603050405020304" pitchFamily="18" charset="0"/>
                <a:cs typeface="宋体" panose="02010600030101010101" pitchFamily="2" charset="-122"/>
                <a:sym typeface="+mn-ea"/>
              </a:rPr>
              <a:t>Visit=[1,1,0]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1" name="文本框 90"/>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③：</a:t>
            </a:r>
            <a:r>
              <a:rPr lang="en-US" altLang="zh-CN">
                <a:uFillTx/>
                <a:latin typeface="Times New Roman" panose="02020603050405020304" pitchFamily="18" charset="0"/>
                <a:cs typeface="宋体" panose="02010600030101010101" pitchFamily="2" charset="-122"/>
                <a:sym typeface="+mn-ea"/>
              </a:rPr>
              <a:t>Visit=[1,1,1]</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[1,2,3]</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2" nodeType="clickEffect">
                                  <p:stCondLst>
                                    <p:cond delay="0"/>
                                  </p:stCondLst>
                                  <p:childTnLst>
                                    <p:set>
                                      <p:cBhvr>
                                        <p:cTn id="6" dur="1" fill="hold">
                                          <p:stCondLst>
                                            <p:cond delay="0"/>
                                          </p:stCondLst>
                                        </p:cTn>
                                        <p:tgtEl>
                                          <p:spTgt spid="84"/>
                                        </p:tgtEl>
                                        <p:attrNameLst>
                                          <p:attrName>style.visibility</p:attrName>
                                        </p:attrNameLst>
                                      </p:cBhvr>
                                      <p:to>
                                        <p:strVal val="visible"/>
                                      </p:to>
                                    </p:set>
                                    <p:animEffect transition="in" filter="box(in)">
                                      <p:cBhvr>
                                        <p:cTn id="7" dur="2000"/>
                                        <p:tgtEl>
                                          <p:spTgt spid="84"/>
                                        </p:tgtEl>
                                      </p:cBhvr>
                                    </p:animEffect>
                                  </p:childTnLst>
                                </p:cTn>
                              </p:par>
                              <p:par>
                                <p:cTn id="8" presetID="4" presetClass="entr" presetSubtype="16" fill="hold" grpId="2" nodeType="withEffect">
                                  <p:stCondLst>
                                    <p:cond delay="0"/>
                                  </p:stCondLst>
                                  <p:childTnLst>
                                    <p:set>
                                      <p:cBhvr>
                                        <p:cTn id="9" dur="1" fill="hold">
                                          <p:stCondLst>
                                            <p:cond delay="0"/>
                                          </p:stCondLst>
                                        </p:cTn>
                                        <p:tgtEl>
                                          <p:spTgt spid="78"/>
                                        </p:tgtEl>
                                        <p:attrNameLst>
                                          <p:attrName>style.visibility</p:attrName>
                                        </p:attrNameLst>
                                      </p:cBhvr>
                                      <p:to>
                                        <p:strVal val="visible"/>
                                      </p:to>
                                    </p:set>
                                    <p:animEffect transition="in" filter="box(in)">
                                      <p:cBhvr>
                                        <p:cTn id="10" dur="2000"/>
                                        <p:tgtEl>
                                          <p:spTgt spid="78"/>
                                        </p:tgtEl>
                                      </p:cBhvr>
                                    </p:animEffect>
                                  </p:childTnLst>
                                </p:cTn>
                              </p:par>
                            </p:childTnLst>
                          </p:cTn>
                        </p:par>
                      </p:childTnLst>
                    </p:cTn>
                  </p:par>
                  <p:par>
                    <p:cTn id="11" fill="hold">
                      <p:stCondLst>
                        <p:cond delay="indefinite"/>
                      </p:stCondLst>
                      <p:childTnLst>
                        <p:par>
                          <p:cTn id="12" fill="hold">
                            <p:stCondLst>
                              <p:cond delay="0"/>
                            </p:stCondLst>
                            <p:childTnLst>
                              <p:par>
                                <p:cTn id="13" presetID="4" presetClass="entr" presetSubtype="16" fill="hold" grpId="0" nodeType="clickEffect">
                                  <p:stCondLst>
                                    <p:cond delay="0"/>
                                  </p:stCondLst>
                                  <p:childTnLst>
                                    <p:set>
                                      <p:cBhvr>
                                        <p:cTn id="14" dur="1" fill="hold">
                                          <p:stCondLst>
                                            <p:cond delay="0"/>
                                          </p:stCondLst>
                                        </p:cTn>
                                        <p:tgtEl>
                                          <p:spTgt spid="81"/>
                                        </p:tgtEl>
                                        <p:attrNameLst>
                                          <p:attrName>style.visibility</p:attrName>
                                        </p:attrNameLst>
                                      </p:cBhvr>
                                      <p:to>
                                        <p:strVal val="visible"/>
                                      </p:to>
                                    </p:set>
                                    <p:animEffect transition="in" filter="box(in)">
                                      <p:cBhvr>
                                        <p:cTn id="15" dur="2000"/>
                                        <p:tgtEl>
                                          <p:spTgt spid="81"/>
                                        </p:tgtEl>
                                      </p:cBhvr>
                                    </p:animEffect>
                                  </p:childTnLst>
                                </p:cTn>
                              </p:par>
                              <p:par>
                                <p:cTn id="16" presetID="4" presetClass="entr" presetSubtype="16" fill="hold" grpId="0" nodeType="withEffect">
                                  <p:stCondLst>
                                    <p:cond delay="0"/>
                                  </p:stCondLst>
                                  <p:childTnLst>
                                    <p:set>
                                      <p:cBhvr>
                                        <p:cTn id="17" dur="1" fill="hold">
                                          <p:stCondLst>
                                            <p:cond delay="0"/>
                                          </p:stCondLst>
                                        </p:cTn>
                                        <p:tgtEl>
                                          <p:spTgt spid="77"/>
                                        </p:tgtEl>
                                        <p:attrNameLst>
                                          <p:attrName>style.visibility</p:attrName>
                                        </p:attrNameLst>
                                      </p:cBhvr>
                                      <p:to>
                                        <p:strVal val="visible"/>
                                      </p:to>
                                    </p:set>
                                    <p:animEffect transition="in" filter="box(in)">
                                      <p:cBhvr>
                                        <p:cTn id="18" dur="2000"/>
                                        <p:tgtEl>
                                          <p:spTgt spid="77"/>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xit" presetSubtype="4" fill="hold" grpId="0" nodeType="clickEffect">
                                  <p:stCondLst>
                                    <p:cond delay="0"/>
                                  </p:stCondLst>
                                  <p:childTnLst>
                                    <p:anim calcmode="lin" valueType="num">
                                      <p:cBhvr additive="base">
                                        <p:cTn id="22" dur="500"/>
                                        <p:tgtEl>
                                          <p:spTgt spid="85"/>
                                        </p:tgtEl>
                                        <p:attrNameLst>
                                          <p:attrName>ppt_x</p:attrName>
                                        </p:attrNameLst>
                                      </p:cBhvr>
                                      <p:tavLst>
                                        <p:tav tm="0">
                                          <p:val>
                                            <p:strVal val="ppt_x"/>
                                          </p:val>
                                        </p:tav>
                                        <p:tav tm="100000">
                                          <p:val>
                                            <p:strVal val="ppt_x"/>
                                          </p:val>
                                        </p:tav>
                                      </p:tavLst>
                                    </p:anim>
                                    <p:anim calcmode="lin" valueType="num">
                                      <p:cBhvr additive="base">
                                        <p:cTn id="23" dur="500"/>
                                        <p:tgtEl>
                                          <p:spTgt spid="85"/>
                                        </p:tgtEl>
                                        <p:attrNameLst>
                                          <p:attrName>ppt_y</p:attrName>
                                        </p:attrNameLst>
                                      </p:cBhvr>
                                      <p:tavLst>
                                        <p:tav tm="0">
                                          <p:val>
                                            <p:strVal val="ppt_y"/>
                                          </p:val>
                                        </p:tav>
                                        <p:tav tm="100000">
                                          <p:val>
                                            <p:strVal val="1+ppt_h/2"/>
                                          </p:val>
                                        </p:tav>
                                      </p:tavLst>
                                    </p:anim>
                                    <p:set>
                                      <p:cBhvr>
                                        <p:cTn id="24" dur="1" fill="hold">
                                          <p:stCondLst>
                                            <p:cond delay="499"/>
                                          </p:stCondLst>
                                        </p:cTn>
                                        <p:tgtEl>
                                          <p:spTgt spid="85"/>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2" nodeType="clickEffect">
                                  <p:stCondLst>
                                    <p:cond delay="0"/>
                                  </p:stCondLst>
                                  <p:childTnLst>
                                    <p:set>
                                      <p:cBhvr>
                                        <p:cTn id="28" dur="1" fill="hold">
                                          <p:stCondLst>
                                            <p:cond delay="0"/>
                                          </p:stCondLst>
                                        </p:cTn>
                                        <p:tgtEl>
                                          <p:spTgt spid="86"/>
                                        </p:tgtEl>
                                        <p:attrNameLst>
                                          <p:attrName>style.visibility</p:attrName>
                                        </p:attrNameLst>
                                      </p:cBhvr>
                                      <p:to>
                                        <p:strVal val="visible"/>
                                      </p:to>
                                    </p:set>
                                    <p:anim calcmode="lin" valueType="num">
                                      <p:cBhvr additive="base">
                                        <p:cTn id="29" dur="500" fill="hold"/>
                                        <p:tgtEl>
                                          <p:spTgt spid="86"/>
                                        </p:tgtEl>
                                        <p:attrNameLst>
                                          <p:attrName>ppt_x</p:attrName>
                                        </p:attrNameLst>
                                      </p:cBhvr>
                                      <p:tavLst>
                                        <p:tav tm="0">
                                          <p:val>
                                            <p:strVal val="#ppt_x"/>
                                          </p:val>
                                        </p:tav>
                                        <p:tav tm="100000">
                                          <p:val>
                                            <p:strVal val="#ppt_x"/>
                                          </p:val>
                                        </p:tav>
                                      </p:tavLst>
                                    </p:anim>
                                    <p:anim calcmode="lin" valueType="num">
                                      <p:cBhvr additive="base">
                                        <p:cTn id="30" dur="500" fill="hold"/>
                                        <p:tgtEl>
                                          <p:spTgt spid="86"/>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grpId="0" nodeType="clickEffect">
                                  <p:stCondLst>
                                    <p:cond delay="0"/>
                                  </p:stCondLst>
                                  <p:childTnLst>
                                    <p:anim calcmode="lin" valueType="num">
                                      <p:cBhvr additive="base">
                                        <p:cTn id="34" dur="500"/>
                                        <p:tgtEl>
                                          <p:spTgt spid="86"/>
                                        </p:tgtEl>
                                        <p:attrNameLst>
                                          <p:attrName>ppt_x</p:attrName>
                                        </p:attrNameLst>
                                      </p:cBhvr>
                                      <p:tavLst>
                                        <p:tav tm="0">
                                          <p:val>
                                            <p:strVal val="ppt_x"/>
                                          </p:val>
                                        </p:tav>
                                        <p:tav tm="100000">
                                          <p:val>
                                            <p:strVal val="ppt_x"/>
                                          </p:val>
                                        </p:tav>
                                      </p:tavLst>
                                    </p:anim>
                                    <p:anim calcmode="lin" valueType="num">
                                      <p:cBhvr additive="base">
                                        <p:cTn id="35" dur="500"/>
                                        <p:tgtEl>
                                          <p:spTgt spid="86"/>
                                        </p:tgtEl>
                                        <p:attrNameLst>
                                          <p:attrName>ppt_y</p:attrName>
                                        </p:attrNameLst>
                                      </p:cBhvr>
                                      <p:tavLst>
                                        <p:tav tm="0">
                                          <p:val>
                                            <p:strVal val="ppt_y"/>
                                          </p:val>
                                        </p:tav>
                                        <p:tav tm="100000">
                                          <p:val>
                                            <p:strVal val="1+ppt_h/2"/>
                                          </p:val>
                                        </p:tav>
                                      </p:tavLst>
                                    </p:anim>
                                    <p:set>
                                      <p:cBhvr>
                                        <p:cTn id="36" dur="1" fill="hold">
                                          <p:stCondLst>
                                            <p:cond delay="499"/>
                                          </p:stCondLst>
                                        </p:cTn>
                                        <p:tgtEl>
                                          <p:spTgt spid="86"/>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79"/>
                                        </p:tgtEl>
                                        <p:attrNameLst>
                                          <p:attrName>style.visibility</p:attrName>
                                        </p:attrNameLst>
                                      </p:cBhvr>
                                      <p:to>
                                        <p:strVal val="visible"/>
                                      </p:to>
                                    </p:set>
                                    <p:animEffect transition="in" filter="box(in)">
                                      <p:cBhvr>
                                        <p:cTn id="41" dur="2000"/>
                                        <p:tgtEl>
                                          <p:spTgt spid="79"/>
                                        </p:tgtEl>
                                      </p:cBhvr>
                                    </p:animEffect>
                                  </p:childTnLst>
                                </p:cTn>
                              </p:par>
                              <p:par>
                                <p:cTn id="42" presetID="4" presetClass="entr" presetSubtype="16" fill="hold" grpId="0" nodeType="withEffect">
                                  <p:stCondLst>
                                    <p:cond delay="0"/>
                                  </p:stCondLst>
                                  <p:childTnLst>
                                    <p:set>
                                      <p:cBhvr>
                                        <p:cTn id="43" dur="1" fill="hold">
                                          <p:stCondLst>
                                            <p:cond delay="0"/>
                                          </p:stCondLst>
                                        </p:cTn>
                                        <p:tgtEl>
                                          <p:spTgt spid="88"/>
                                        </p:tgtEl>
                                        <p:attrNameLst>
                                          <p:attrName>style.visibility</p:attrName>
                                        </p:attrNameLst>
                                      </p:cBhvr>
                                      <p:to>
                                        <p:strVal val="visible"/>
                                      </p:to>
                                    </p:set>
                                    <p:animEffect transition="in" filter="box(in)">
                                      <p:cBhvr>
                                        <p:cTn id="44" dur="2000"/>
                                        <p:tgtEl>
                                          <p:spTgt spid="88"/>
                                        </p:tgtEl>
                                      </p:cBhvr>
                                    </p:animEffect>
                                  </p:childTnLst>
                                </p:cTn>
                              </p:par>
                              <p:par>
                                <p:cTn id="45" presetID="4" presetClass="entr" presetSubtype="16"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animEffect transition="in" filter="box(in)">
                                      <p:cBhvr>
                                        <p:cTn id="47" dur="2000"/>
                                        <p:tgtEl>
                                          <p:spTgt spid="93"/>
                                        </p:tgtEl>
                                      </p:cBhvr>
                                    </p:animEffect>
                                  </p:childTnLst>
                                </p:cTn>
                              </p:par>
                              <p:par>
                                <p:cTn id="48" presetID="4" presetClass="entr" presetSubtype="16" fill="hold" grpId="0" nodeType="withEffect">
                                  <p:stCondLst>
                                    <p:cond delay="0"/>
                                  </p:stCondLst>
                                  <p:childTnLst>
                                    <p:set>
                                      <p:cBhvr>
                                        <p:cTn id="49" dur="1" fill="hold">
                                          <p:stCondLst>
                                            <p:cond delay="0"/>
                                          </p:stCondLst>
                                        </p:cTn>
                                        <p:tgtEl>
                                          <p:spTgt spid="92"/>
                                        </p:tgtEl>
                                        <p:attrNameLst>
                                          <p:attrName>style.visibility</p:attrName>
                                        </p:attrNameLst>
                                      </p:cBhvr>
                                      <p:to>
                                        <p:strVal val="visible"/>
                                      </p:to>
                                    </p:set>
                                    <p:animEffect transition="in" filter="box(in)">
                                      <p:cBhvr>
                                        <p:cTn id="50" dur="2000"/>
                                        <p:tgtEl>
                                          <p:spTgt spid="92"/>
                                        </p:tgtEl>
                                      </p:cBhvr>
                                    </p:animEffect>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2" nodeType="click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4" fill="hold" grpId="0" nodeType="clickEffect">
                                  <p:stCondLst>
                                    <p:cond delay="0"/>
                                  </p:stCondLst>
                                  <p:childTnLst>
                                    <p:anim calcmode="lin" valueType="num">
                                      <p:cBhvr additive="base">
                                        <p:cTn id="60" dur="500"/>
                                        <p:tgtEl>
                                          <p:spTgt spid="89"/>
                                        </p:tgtEl>
                                        <p:attrNameLst>
                                          <p:attrName>ppt_x</p:attrName>
                                        </p:attrNameLst>
                                      </p:cBhvr>
                                      <p:tavLst>
                                        <p:tav tm="0">
                                          <p:val>
                                            <p:strVal val="ppt_x"/>
                                          </p:val>
                                        </p:tav>
                                        <p:tav tm="100000">
                                          <p:val>
                                            <p:strVal val="ppt_x"/>
                                          </p:val>
                                        </p:tav>
                                      </p:tavLst>
                                    </p:anim>
                                    <p:anim calcmode="lin" valueType="num">
                                      <p:cBhvr additive="base">
                                        <p:cTn id="61" dur="500"/>
                                        <p:tgtEl>
                                          <p:spTgt spid="89"/>
                                        </p:tgtEl>
                                        <p:attrNameLst>
                                          <p:attrName>ppt_y</p:attrName>
                                        </p:attrNameLst>
                                      </p:cBhvr>
                                      <p:tavLst>
                                        <p:tav tm="0">
                                          <p:val>
                                            <p:strVal val="ppt_y"/>
                                          </p:val>
                                        </p:tav>
                                        <p:tav tm="100000">
                                          <p:val>
                                            <p:strVal val="1+ppt_h/2"/>
                                          </p:val>
                                        </p:tav>
                                      </p:tavLst>
                                    </p:anim>
                                    <p:set>
                                      <p:cBhvr>
                                        <p:cTn id="62" dur="1" fill="hold">
                                          <p:stCondLst>
                                            <p:cond delay="499"/>
                                          </p:stCondLst>
                                        </p:cTn>
                                        <p:tgtEl>
                                          <p:spTgt spid="89"/>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4" presetClass="entr" presetSubtype="16" fill="hold" grpId="0" nodeType="clickEffect">
                                  <p:stCondLst>
                                    <p:cond delay="0"/>
                                  </p:stCondLst>
                                  <p:childTnLst>
                                    <p:set>
                                      <p:cBhvr>
                                        <p:cTn id="66" dur="1" fill="hold">
                                          <p:stCondLst>
                                            <p:cond delay="0"/>
                                          </p:stCondLst>
                                        </p:cTn>
                                        <p:tgtEl>
                                          <p:spTgt spid="3"/>
                                        </p:tgtEl>
                                        <p:attrNameLst>
                                          <p:attrName>style.visibility</p:attrName>
                                        </p:attrNameLst>
                                      </p:cBhvr>
                                      <p:to>
                                        <p:strVal val="visible"/>
                                      </p:to>
                                    </p:set>
                                    <p:animEffect transition="in" filter="box(in)">
                                      <p:cBhvr>
                                        <p:cTn id="67" dur="2000"/>
                                        <p:tgtEl>
                                          <p:spTgt spid="3"/>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90"/>
                                        </p:tgtEl>
                                        <p:attrNameLst>
                                          <p:attrName>style.visibility</p:attrName>
                                        </p:attrNameLst>
                                      </p:cBhvr>
                                      <p:to>
                                        <p:strVal val="visible"/>
                                      </p:to>
                                    </p:set>
                                    <p:animEffect transition="in" filter="box(in)">
                                      <p:cBhvr>
                                        <p:cTn id="70" dur="2000"/>
                                        <p:tgtEl>
                                          <p:spTgt spid="9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animEffect transition="in" filter="box(in)">
                                      <p:cBhvr>
                                        <p:cTn id="73" dur="2000"/>
                                        <p:tgtEl>
                                          <p:spTgt spid="98"/>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99"/>
                                        </p:tgtEl>
                                        <p:attrNameLst>
                                          <p:attrName>style.visibility</p:attrName>
                                        </p:attrNameLst>
                                      </p:cBhvr>
                                      <p:to>
                                        <p:strVal val="visible"/>
                                      </p:to>
                                    </p:set>
                                    <p:animEffect transition="in" filter="box(in)">
                                      <p:cBhvr>
                                        <p:cTn id="76" dur="2000"/>
                                        <p:tgtEl>
                                          <p:spTgt spid="99"/>
                                        </p:tgtEl>
                                      </p:cBhvr>
                                    </p:animEffec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2" nodeType="clickEffect">
                                  <p:stCondLst>
                                    <p:cond delay="0"/>
                                  </p:stCondLst>
                                  <p:childTnLst>
                                    <p:set>
                                      <p:cBhvr>
                                        <p:cTn id="80" dur="1" fill="hold">
                                          <p:stCondLst>
                                            <p:cond delay="0"/>
                                          </p:stCondLst>
                                        </p:cTn>
                                        <p:tgtEl>
                                          <p:spTgt spid="91"/>
                                        </p:tgtEl>
                                        <p:attrNameLst>
                                          <p:attrName>style.visibility</p:attrName>
                                        </p:attrNameLst>
                                      </p:cBhvr>
                                      <p:to>
                                        <p:strVal val="visible"/>
                                      </p:to>
                                    </p:set>
                                    <p:anim calcmode="lin" valueType="num">
                                      <p:cBhvr additive="base">
                                        <p:cTn id="81" dur="500" fill="hold"/>
                                        <p:tgtEl>
                                          <p:spTgt spid="91"/>
                                        </p:tgtEl>
                                        <p:attrNameLst>
                                          <p:attrName>ppt_x</p:attrName>
                                        </p:attrNameLst>
                                      </p:cBhvr>
                                      <p:tavLst>
                                        <p:tav tm="0">
                                          <p:val>
                                            <p:strVal val="#ppt_x"/>
                                          </p:val>
                                        </p:tav>
                                        <p:tav tm="100000">
                                          <p:val>
                                            <p:strVal val="#ppt_x"/>
                                          </p:val>
                                        </p:tav>
                                      </p:tavLst>
                                    </p:anim>
                                    <p:anim calcmode="lin" valueType="num">
                                      <p:cBhvr additive="base">
                                        <p:cTn id="82" dur="500" fill="hold"/>
                                        <p:tgtEl>
                                          <p:spTgt spid="9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4" grpId="2" bldLvl="0" animBg="1"/>
      <p:bldP spid="78" grpId="2"/>
      <p:bldP spid="81" grpId="0"/>
      <p:bldP spid="77" grpId="0" bldLvl="0" animBg="1"/>
      <p:bldP spid="81" grpId="1"/>
      <p:bldP spid="77" grpId="1" animBg="1"/>
      <p:bldP spid="85" grpId="0"/>
      <p:bldP spid="85" grpId="1"/>
      <p:bldP spid="86" grpId="0"/>
      <p:bldP spid="86" grpId="1"/>
      <p:bldP spid="86" grpId="2"/>
      <p:bldP spid="79" grpId="0"/>
      <p:bldP spid="79" grpId="1"/>
      <p:bldP spid="89" grpId="0"/>
      <p:bldP spid="89" grpId="1"/>
      <p:bldP spid="89" grpId="2"/>
      <p:bldP spid="88" grpId="0" animBg="1"/>
      <p:bldP spid="88" grpId="1" animBg="1"/>
      <p:bldP spid="3" grpId="0"/>
      <p:bldP spid="90" grpId="0" animBg="1"/>
      <p:bldP spid="3" grpId="1"/>
      <p:bldP spid="90" grpId="1" animBg="1"/>
      <p:bldP spid="91" grpId="1"/>
      <p:bldP spid="91" grpId="2"/>
      <p:bldP spid="93" grpId="0"/>
      <p:bldP spid="92" grpId="0" bldLvl="0" animBg="1"/>
      <p:bldP spid="93" grpId="1"/>
      <p:bldP spid="92" grpId="1" animBg="1"/>
      <p:bldP spid="98" grpId="0" bldLvl="0" animBg="1"/>
      <p:bldP spid="99" grpId="0"/>
      <p:bldP spid="98" grpId="1" animBg="1"/>
      <p:bldP spid="99" grpId="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41630" y="6247765"/>
            <a:ext cx="3919220" cy="41021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③：</a:t>
            </a:r>
            <a:r>
              <a:rPr lang="en-US" altLang="zh-CN" sz="1800">
                <a:uFillTx/>
                <a:latin typeface="Times New Roman" panose="02020603050405020304" pitchFamily="18" charset="0"/>
                <a:cs typeface="宋体" panose="02010600030101010101" pitchFamily="2" charset="-122"/>
                <a:sym typeface="+mn-ea"/>
              </a:rPr>
              <a:t>Visit=[1,1,1]</a:t>
            </a:r>
            <a:r>
              <a:rPr lang="zh-CN" altLang="en-US" sz="1800">
                <a:uFillTx/>
                <a:latin typeface="Times New Roman" panose="02020603050405020304" pitchFamily="18" charset="0"/>
                <a:cs typeface="宋体" panose="02010600030101010101" pitchFamily="2" charset="-122"/>
                <a:sym typeface="+mn-ea"/>
              </a:rPr>
              <a:t>，</a:t>
            </a:r>
            <a:r>
              <a:rPr lang="en-US" altLang="zh-CN" sz="1800">
                <a:uFillTx/>
                <a:latin typeface="Times New Roman" panose="02020603050405020304" pitchFamily="18" charset="0"/>
                <a:cs typeface="宋体" panose="02010600030101010101" pitchFamily="2" charset="-122"/>
                <a:sym typeface="+mn-ea"/>
              </a:rPr>
              <a:t>TempList = [1,2,3]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sp>
        <p:nvSpPr>
          <p:cNvPr id="48" name="文本框 47"/>
          <p:cNvSpPr txBox="1"/>
          <p:nvPr/>
        </p:nvSpPr>
        <p:spPr>
          <a:xfrm>
            <a:off x="323850"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④：达到递归出口，把结果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Result=[[1,2,3]]</a:t>
            </a:r>
            <a:endParaRPr lang="en-US" altLang="zh-CN">
              <a:solidFill>
                <a:schemeClr val="tx1"/>
              </a:solidFill>
              <a:uFillTx/>
              <a:latin typeface="Times New Roman" panose="02020603050405020304" pitchFamily="18" charset="0"/>
            </a:endParaRPr>
          </a:p>
        </p:txBody>
      </p:sp>
      <p:sp>
        <p:nvSpPr>
          <p:cNvPr id="75" name="文本框 74"/>
          <p:cNvSpPr txBox="1"/>
          <p:nvPr/>
        </p:nvSpPr>
        <p:spPr>
          <a:xfrm>
            <a:off x="3204210" y="4990465"/>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322580" y="624776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0" nodeType="clickEffect">
                                  <p:stCondLst>
                                    <p:cond delay="0"/>
                                  </p:stCondLst>
                                  <p:childTnLst>
                                    <p:anim calcmode="lin" valueType="num">
                                      <p:cBhvr additive="base">
                                        <p:cTn id="6" dur="500"/>
                                        <p:tgtEl>
                                          <p:spTgt spid="89"/>
                                        </p:tgtEl>
                                        <p:attrNameLst>
                                          <p:attrName>ppt_x</p:attrName>
                                        </p:attrNameLst>
                                      </p:cBhvr>
                                      <p:tavLst>
                                        <p:tav tm="0">
                                          <p:val>
                                            <p:strVal val="ppt_x"/>
                                          </p:val>
                                        </p:tav>
                                        <p:tav tm="100000">
                                          <p:val>
                                            <p:strVal val="ppt_x"/>
                                          </p:val>
                                        </p:tav>
                                      </p:tavLst>
                                    </p:anim>
                                    <p:anim calcmode="lin" valueType="num">
                                      <p:cBhvr additive="base">
                                        <p:cTn id="7" dur="500"/>
                                        <p:tgtEl>
                                          <p:spTgt spid="89"/>
                                        </p:tgtEl>
                                        <p:attrNameLst>
                                          <p:attrName>ppt_y</p:attrName>
                                        </p:attrNameLst>
                                      </p:cBhvr>
                                      <p:tavLst>
                                        <p:tav tm="0">
                                          <p:val>
                                            <p:strVal val="ppt_y"/>
                                          </p:val>
                                        </p:tav>
                                        <p:tav tm="100000">
                                          <p:val>
                                            <p:strVal val="1+ppt_h/2"/>
                                          </p:val>
                                        </p:tav>
                                      </p:tavLst>
                                    </p:anim>
                                    <p:set>
                                      <p:cBhvr>
                                        <p:cTn id="8" dur="1" fill="hold">
                                          <p:stCondLst>
                                            <p:cond delay="499"/>
                                          </p:stCondLst>
                                        </p:cTn>
                                        <p:tgtEl>
                                          <p:spTgt spid="89"/>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nodeType="clickEffect">
                                  <p:stCondLst>
                                    <p:cond delay="0"/>
                                  </p:stCondLst>
                                  <p:childTnLst>
                                    <p:set>
                                      <p:cBhvr>
                                        <p:cTn id="12" dur="1" fill="hold">
                                          <p:stCondLst>
                                            <p:cond delay="0"/>
                                          </p:stCondLst>
                                        </p:cTn>
                                        <p:tgtEl>
                                          <p:spTgt spid="50"/>
                                        </p:tgtEl>
                                        <p:attrNameLst>
                                          <p:attrName>style.visibility</p:attrName>
                                        </p:attrNameLst>
                                      </p:cBhvr>
                                      <p:to>
                                        <p:strVal val="visible"/>
                                      </p:to>
                                    </p:set>
                                    <p:animEffect transition="in" filter="box(in)">
                                      <p:cBhvr>
                                        <p:cTn id="13" dur="2000"/>
                                        <p:tgtEl>
                                          <p:spTgt spid="5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41"/>
                                        </p:tgtEl>
                                        <p:attrNameLst>
                                          <p:attrName>style.visibility</p:attrName>
                                        </p:attrNameLst>
                                      </p:cBhvr>
                                      <p:to>
                                        <p:strVal val="visible"/>
                                      </p:to>
                                    </p:set>
                                    <p:animEffect transition="in" filter="box(in)">
                                      <p:cBhvr>
                                        <p:cTn id="16" dur="2000"/>
                                        <p:tgtEl>
                                          <p:spTgt spid="41"/>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8"/>
                                        </p:tgtEl>
                                        <p:attrNameLst>
                                          <p:attrName>style.visibility</p:attrName>
                                        </p:attrNameLst>
                                      </p:cBhvr>
                                      <p:to>
                                        <p:strVal val="visible"/>
                                      </p:to>
                                    </p:set>
                                    <p:anim calcmode="lin" valueType="num">
                                      <p:cBhvr additive="base">
                                        <p:cTn id="21" dur="500" fill="hold"/>
                                        <p:tgtEl>
                                          <p:spTgt spid="48"/>
                                        </p:tgtEl>
                                        <p:attrNameLst>
                                          <p:attrName>ppt_x</p:attrName>
                                        </p:attrNameLst>
                                      </p:cBhvr>
                                      <p:tavLst>
                                        <p:tav tm="0">
                                          <p:val>
                                            <p:strVal val="#ppt_x"/>
                                          </p:val>
                                        </p:tav>
                                        <p:tav tm="100000">
                                          <p:val>
                                            <p:strVal val="#ppt_x"/>
                                          </p:val>
                                        </p:tav>
                                      </p:tavLst>
                                    </p:anim>
                                    <p:anim calcmode="lin" valueType="num">
                                      <p:cBhvr additive="base">
                                        <p:cTn id="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73"/>
                                        </p:tgtEl>
                                        <p:attrNameLst>
                                          <p:attrName>style.visibility</p:attrName>
                                        </p:attrNameLst>
                                      </p:cBhvr>
                                      <p:to>
                                        <p:strVal val="visible"/>
                                      </p:to>
                                    </p:set>
                                    <p:anim calcmode="lin" valueType="num">
                                      <p:cBhvr additive="base">
                                        <p:cTn id="27" dur="500" fill="hold"/>
                                        <p:tgtEl>
                                          <p:spTgt spid="73"/>
                                        </p:tgtEl>
                                        <p:attrNameLst>
                                          <p:attrName>ppt_x</p:attrName>
                                        </p:attrNameLst>
                                      </p:cBhvr>
                                      <p:tavLst>
                                        <p:tav tm="0">
                                          <p:val>
                                            <p:strVal val="#ppt_x"/>
                                          </p:val>
                                        </p:tav>
                                        <p:tav tm="100000">
                                          <p:val>
                                            <p:strVal val="#ppt_x"/>
                                          </p:val>
                                        </p:tav>
                                      </p:tavLst>
                                    </p:anim>
                                    <p:anim calcmode="lin" valueType="num">
                                      <p:cBhvr additive="base">
                                        <p:cTn id="2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grpId="2" nodeType="clickEffect">
                                  <p:stCondLst>
                                    <p:cond delay="0"/>
                                  </p:stCondLst>
                                  <p:childTnLst>
                                    <p:anim calcmode="lin" valueType="num">
                                      <p:cBhvr additive="base">
                                        <p:cTn id="32" dur="500"/>
                                        <p:tgtEl>
                                          <p:spTgt spid="48"/>
                                        </p:tgtEl>
                                        <p:attrNameLst>
                                          <p:attrName>ppt_x</p:attrName>
                                        </p:attrNameLst>
                                      </p:cBhvr>
                                      <p:tavLst>
                                        <p:tav tm="0">
                                          <p:val>
                                            <p:strVal val="ppt_x"/>
                                          </p:val>
                                        </p:tav>
                                        <p:tav tm="100000">
                                          <p:val>
                                            <p:strVal val="ppt_x"/>
                                          </p:val>
                                        </p:tav>
                                      </p:tavLst>
                                    </p:anim>
                                    <p:anim calcmode="lin" valueType="num">
                                      <p:cBhvr additive="base">
                                        <p:cTn id="33" dur="500"/>
                                        <p:tgtEl>
                                          <p:spTgt spid="48"/>
                                        </p:tgtEl>
                                        <p:attrNameLst>
                                          <p:attrName>ppt_y</p:attrName>
                                        </p:attrNameLst>
                                      </p:cBhvr>
                                      <p:tavLst>
                                        <p:tav tm="0">
                                          <p:val>
                                            <p:strVal val="ppt_y"/>
                                          </p:val>
                                        </p:tav>
                                        <p:tav tm="100000">
                                          <p:val>
                                            <p:strVal val="1+ppt_h/2"/>
                                          </p:val>
                                        </p:tav>
                                      </p:tavLst>
                                    </p:anim>
                                    <p:set>
                                      <p:cBhvr>
                                        <p:cTn id="34" dur="1" fill="hold">
                                          <p:stCondLst>
                                            <p:cond delay="499"/>
                                          </p:stCondLst>
                                        </p:cTn>
                                        <p:tgtEl>
                                          <p:spTgt spid="48"/>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4" presetClass="entr" presetSubtype="16" fill="hold" grpId="0" nodeType="click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box(in)">
                                      <p:cBhvr>
                                        <p:cTn id="39" dur="2000"/>
                                        <p:tgtEl>
                                          <p:spTgt spid="75"/>
                                        </p:tgtEl>
                                      </p:cBhvr>
                                    </p:animEffect>
                                  </p:childTnLst>
                                </p:cTn>
                              </p:par>
                              <p:par>
                                <p:cTn id="40" presetID="4" presetClass="entr" presetSubtype="16" fill="hold" grpId="0" nodeType="withEffect">
                                  <p:stCondLst>
                                    <p:cond delay="0"/>
                                  </p:stCondLst>
                                  <p:childTnLst>
                                    <p:set>
                                      <p:cBhvr>
                                        <p:cTn id="41" dur="1" fill="hold">
                                          <p:stCondLst>
                                            <p:cond delay="0"/>
                                          </p:stCondLst>
                                        </p:cTn>
                                        <p:tgtEl>
                                          <p:spTgt spid="87"/>
                                        </p:tgtEl>
                                        <p:attrNameLst>
                                          <p:attrName>style.visibility</p:attrName>
                                        </p:attrNameLst>
                                      </p:cBhvr>
                                      <p:to>
                                        <p:strVal val="visible"/>
                                      </p:to>
                                    </p:set>
                                    <p:animEffect transition="in" filter="box(in)">
                                      <p:cBhvr>
                                        <p:cTn id="42" dur="2000"/>
                                        <p:tgtEl>
                                          <p:spTgt spid="87"/>
                                        </p:tgtEl>
                                      </p:cBhvr>
                                    </p:animEffec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80"/>
                                        </p:tgtEl>
                                        <p:attrNameLst>
                                          <p:attrName>style.visibility</p:attrName>
                                        </p:attrNameLst>
                                      </p:cBhvr>
                                      <p:to>
                                        <p:strVal val="visible"/>
                                      </p:to>
                                    </p:set>
                                    <p:anim calcmode="lin" valueType="num">
                                      <p:cBhvr additive="base">
                                        <p:cTn id="47" dur="500" fill="hold"/>
                                        <p:tgtEl>
                                          <p:spTgt spid="80"/>
                                        </p:tgtEl>
                                        <p:attrNameLst>
                                          <p:attrName>ppt_x</p:attrName>
                                        </p:attrNameLst>
                                      </p:cBhvr>
                                      <p:tavLst>
                                        <p:tav tm="0">
                                          <p:val>
                                            <p:strVal val="#ppt_x"/>
                                          </p:val>
                                        </p:tav>
                                        <p:tav tm="100000">
                                          <p:val>
                                            <p:strVal val="#ppt_x"/>
                                          </p:val>
                                        </p:tav>
                                      </p:tavLst>
                                    </p:anim>
                                    <p:anim calcmode="lin" valueType="num">
                                      <p:cBhvr additive="base">
                                        <p:cTn id="48"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89" grpId="0"/>
      <p:bldP spid="89" grpId="1"/>
      <p:bldP spid="41" grpId="0"/>
      <p:bldP spid="41" grpId="1"/>
      <p:bldP spid="48" grpId="0"/>
      <p:bldP spid="48" grpId="1"/>
      <p:bldP spid="48" grpId="2"/>
      <p:bldP spid="73" grpId="0"/>
      <p:bldP spid="75" grpId="0"/>
      <p:bldP spid="75" grpId="1"/>
      <p:bldP spid="80" grpId="0"/>
      <p:bldP spid="80" grpId="1"/>
      <p:bldP spid="87" grpId="0" animBg="1"/>
      <p:bldP spid="87"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174625"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49" name="文本框 48"/>
          <p:cNvSpPr txBox="1"/>
          <p:nvPr/>
        </p:nvSpPr>
        <p:spPr>
          <a:xfrm>
            <a:off x="167005"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⑥：</a:t>
            </a:r>
            <a:r>
              <a:rPr lang="en-US" altLang="zh-CN" sz="1800">
                <a:solidFill>
                  <a:schemeClr val="tx1"/>
                </a:solidFill>
                <a:uFillTx/>
                <a:latin typeface="Times New Roman" panose="02020603050405020304" pitchFamily="18" charset="0"/>
              </a:rPr>
              <a:t>Visit=[1,0,0]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177800"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0"/>
                                        </p:tgtEl>
                                        <p:attrNameLst>
                                          <p:attrName>ppt_x</p:attrName>
                                        </p:attrNameLst>
                                      </p:cBhvr>
                                      <p:tavLst>
                                        <p:tav tm="0">
                                          <p:val>
                                            <p:strVal val="ppt_x"/>
                                          </p:val>
                                        </p:tav>
                                        <p:tav tm="100000">
                                          <p:val>
                                            <p:strVal val="ppt_x"/>
                                          </p:val>
                                        </p:tav>
                                      </p:tavLst>
                                    </p:anim>
                                    <p:anim calcmode="lin" valueType="num">
                                      <p:cBhvr additive="base">
                                        <p:cTn id="7" dur="500"/>
                                        <p:tgtEl>
                                          <p:spTgt spid="80"/>
                                        </p:tgtEl>
                                        <p:attrNameLst>
                                          <p:attrName>ppt_y</p:attrName>
                                        </p:attrNameLst>
                                      </p:cBhvr>
                                      <p:tavLst>
                                        <p:tav tm="0">
                                          <p:val>
                                            <p:strVal val="ppt_y"/>
                                          </p:val>
                                        </p:tav>
                                        <p:tav tm="100000">
                                          <p:val>
                                            <p:strVal val="1+ppt_h/2"/>
                                          </p:val>
                                        </p:tav>
                                      </p:tavLst>
                                    </p:anim>
                                    <p:set>
                                      <p:cBhvr>
                                        <p:cTn id="8" dur="1" fill="hold">
                                          <p:stCondLst>
                                            <p:cond delay="499"/>
                                          </p:stCondLst>
                                        </p:cTn>
                                        <p:tgtEl>
                                          <p:spTgt spid="80"/>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box(in)">
                                      <p:cBhvr>
                                        <p:cTn id="13" dur="2000"/>
                                        <p:tgtEl>
                                          <p:spTgt spid="4"/>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box(in)">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9"/>
                                        </p:tgtEl>
                                        <p:attrNameLst>
                                          <p:attrName>style.visibility</p:attrName>
                                        </p:attrNameLst>
                                      </p:cBhvr>
                                      <p:to>
                                        <p:strVal val="visible"/>
                                      </p:to>
                                    </p:set>
                                    <p:anim calcmode="lin" valueType="num">
                                      <p:cBhvr additive="base">
                                        <p:cTn id="21" dur="500" fill="hold"/>
                                        <p:tgtEl>
                                          <p:spTgt spid="49"/>
                                        </p:tgtEl>
                                        <p:attrNameLst>
                                          <p:attrName>ppt_x</p:attrName>
                                        </p:attrNameLst>
                                      </p:cBhvr>
                                      <p:tavLst>
                                        <p:tav tm="0">
                                          <p:val>
                                            <p:strVal val="#ppt_x"/>
                                          </p:val>
                                        </p:tav>
                                        <p:tav tm="100000">
                                          <p:val>
                                            <p:strVal val="#ppt_x"/>
                                          </p:val>
                                        </p:tav>
                                      </p:tavLst>
                                    </p:anim>
                                    <p:anim calcmode="lin" valueType="num">
                                      <p:cBhvr additive="base">
                                        <p:cTn id="22"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xit" presetSubtype="4" fill="hold" grpId="2" nodeType="clickEffect">
                                  <p:stCondLst>
                                    <p:cond delay="0"/>
                                  </p:stCondLst>
                                  <p:childTnLst>
                                    <p:anim calcmode="lin" valueType="num">
                                      <p:cBhvr additive="base">
                                        <p:cTn id="26" dur="500"/>
                                        <p:tgtEl>
                                          <p:spTgt spid="49"/>
                                        </p:tgtEl>
                                        <p:attrNameLst>
                                          <p:attrName>ppt_x</p:attrName>
                                        </p:attrNameLst>
                                      </p:cBhvr>
                                      <p:tavLst>
                                        <p:tav tm="0">
                                          <p:val>
                                            <p:strVal val="ppt_x"/>
                                          </p:val>
                                        </p:tav>
                                        <p:tav tm="100000">
                                          <p:val>
                                            <p:strVal val="ppt_x"/>
                                          </p:val>
                                        </p:tav>
                                      </p:tavLst>
                                    </p:anim>
                                    <p:anim calcmode="lin" valueType="num">
                                      <p:cBhvr additive="base">
                                        <p:cTn id="27" dur="500"/>
                                        <p:tgtEl>
                                          <p:spTgt spid="49"/>
                                        </p:tgtEl>
                                        <p:attrNameLst>
                                          <p:attrName>ppt_y</p:attrName>
                                        </p:attrNameLst>
                                      </p:cBhvr>
                                      <p:tavLst>
                                        <p:tav tm="0">
                                          <p:val>
                                            <p:strVal val="ppt_y"/>
                                          </p:val>
                                        </p:tav>
                                        <p:tav tm="100000">
                                          <p:val>
                                            <p:strVal val="1+ppt_h/2"/>
                                          </p:val>
                                        </p:tav>
                                      </p:tavLst>
                                    </p:anim>
                                    <p:set>
                                      <p:cBhvr>
                                        <p:cTn id="28" dur="1" fill="hold">
                                          <p:stCondLst>
                                            <p:cond delay="499"/>
                                          </p:stCondLst>
                                        </p:cTn>
                                        <p:tgtEl>
                                          <p:spTgt spid="49"/>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4" presetClass="entr" presetSubtype="16" fill="hold" grpId="2" nodeType="clickEffect">
                                  <p:stCondLst>
                                    <p:cond delay="0"/>
                                  </p:stCondLst>
                                  <p:childTnLst>
                                    <p:set>
                                      <p:cBhvr>
                                        <p:cTn id="32" dur="1" fill="hold">
                                          <p:stCondLst>
                                            <p:cond delay="0"/>
                                          </p:stCondLst>
                                        </p:cTn>
                                        <p:tgtEl>
                                          <p:spTgt spid="82"/>
                                        </p:tgtEl>
                                        <p:attrNameLst>
                                          <p:attrName>style.visibility</p:attrName>
                                        </p:attrNameLst>
                                      </p:cBhvr>
                                      <p:to>
                                        <p:strVal val="visible"/>
                                      </p:to>
                                    </p:set>
                                    <p:animEffect transition="in" filter="box(in)">
                                      <p:cBhvr>
                                        <p:cTn id="33" dur="2000"/>
                                        <p:tgtEl>
                                          <p:spTgt spid="82"/>
                                        </p:tgtEl>
                                      </p:cBhvr>
                                    </p:animEffect>
                                  </p:childTnLst>
                                </p:cTn>
                              </p:par>
                              <p:par>
                                <p:cTn id="34" presetID="4" presetClass="entr" presetSubtype="16" fill="hold" grpId="0" nodeType="withEffect">
                                  <p:stCondLst>
                                    <p:cond delay="0"/>
                                  </p:stCondLst>
                                  <p:childTnLst>
                                    <p:set>
                                      <p:cBhvr>
                                        <p:cTn id="35" dur="1" fill="hold">
                                          <p:stCondLst>
                                            <p:cond delay="0"/>
                                          </p:stCondLst>
                                        </p:cTn>
                                        <p:tgtEl>
                                          <p:spTgt spid="76"/>
                                        </p:tgtEl>
                                        <p:attrNameLst>
                                          <p:attrName>style.visibility</p:attrName>
                                        </p:attrNameLst>
                                      </p:cBhvr>
                                      <p:to>
                                        <p:strVal val="visible"/>
                                      </p:to>
                                    </p:set>
                                    <p:animEffect transition="in" filter="box(in)">
                                      <p:cBhvr>
                                        <p:cTn id="36" dur="2000"/>
                                        <p:tgtEl>
                                          <p:spTgt spid="76"/>
                                        </p:tgtEl>
                                      </p:cBhvr>
                                    </p:animEffec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91"/>
                                        </p:tgtEl>
                                        <p:attrNameLst>
                                          <p:attrName>style.visibility</p:attrName>
                                        </p:attrNameLst>
                                      </p:cBhvr>
                                      <p:to>
                                        <p:strVal val="visible"/>
                                      </p:to>
                                    </p:set>
                                    <p:animEffect transition="in" filter="box(in)">
                                      <p:cBhvr>
                                        <p:cTn id="41" dur="2000"/>
                                        <p:tgtEl>
                                          <p:spTgt spid="91"/>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83"/>
                                        </p:tgtEl>
                                        <p:attrNameLst>
                                          <p:attrName>style.visibility</p:attrName>
                                        </p:attrNameLst>
                                      </p:cBhvr>
                                      <p:to>
                                        <p:strVal val="visible"/>
                                      </p:to>
                                    </p:set>
                                    <p:anim calcmode="lin" valueType="num">
                                      <p:cBhvr additive="base">
                                        <p:cTn id="46" dur="500" fill="hold"/>
                                        <p:tgtEl>
                                          <p:spTgt spid="83"/>
                                        </p:tgtEl>
                                        <p:attrNameLst>
                                          <p:attrName>ppt_x</p:attrName>
                                        </p:attrNameLst>
                                      </p:cBhvr>
                                      <p:tavLst>
                                        <p:tav tm="0">
                                          <p:val>
                                            <p:strVal val="#ppt_x"/>
                                          </p:val>
                                        </p:tav>
                                        <p:tav tm="100000">
                                          <p:val>
                                            <p:strVal val="#ppt_x"/>
                                          </p:val>
                                        </p:tav>
                                      </p:tavLst>
                                    </p:anim>
                                    <p:anim calcmode="lin" valueType="num">
                                      <p:cBhvr additive="base">
                                        <p:cTn id="47"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2" nodeType="clickEffect">
                                  <p:stCondLst>
                                    <p:cond delay="0"/>
                                  </p:stCondLst>
                                  <p:childTnLst>
                                    <p:anim calcmode="lin" valueType="num">
                                      <p:cBhvr additive="base">
                                        <p:cTn id="51" dur="500"/>
                                        <p:tgtEl>
                                          <p:spTgt spid="83"/>
                                        </p:tgtEl>
                                        <p:attrNameLst>
                                          <p:attrName>ppt_x</p:attrName>
                                        </p:attrNameLst>
                                      </p:cBhvr>
                                      <p:tavLst>
                                        <p:tav tm="0">
                                          <p:val>
                                            <p:strVal val="ppt_x"/>
                                          </p:val>
                                        </p:tav>
                                        <p:tav tm="100000">
                                          <p:val>
                                            <p:strVal val="ppt_x"/>
                                          </p:val>
                                        </p:tav>
                                      </p:tavLst>
                                    </p:anim>
                                    <p:anim calcmode="lin" valueType="num">
                                      <p:cBhvr additive="base">
                                        <p:cTn id="52" dur="500"/>
                                        <p:tgtEl>
                                          <p:spTgt spid="83"/>
                                        </p:tgtEl>
                                        <p:attrNameLst>
                                          <p:attrName>ppt_y</p:attrName>
                                        </p:attrNameLst>
                                      </p:cBhvr>
                                      <p:tavLst>
                                        <p:tav tm="0">
                                          <p:val>
                                            <p:strVal val="ppt_y"/>
                                          </p:val>
                                        </p:tav>
                                        <p:tav tm="100000">
                                          <p:val>
                                            <p:strVal val="1+ppt_h/2"/>
                                          </p:val>
                                        </p:tav>
                                      </p:tavLst>
                                    </p:anim>
                                    <p:set>
                                      <p:cBhvr>
                                        <p:cTn id="53" dur="1" fill="hold">
                                          <p:stCondLst>
                                            <p:cond delay="499"/>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0" grpId="1"/>
      <p:bldP spid="87" grpId="1" animBg="1"/>
      <p:bldP spid="49" grpId="0"/>
      <p:bldP spid="49" grpId="1"/>
      <p:bldP spid="80" grpId="2"/>
      <p:bldP spid="49" grpId="2"/>
      <p:bldP spid="4" grpId="0"/>
      <p:bldP spid="2" grpId="0" animBg="1"/>
      <p:bldP spid="4" grpId="1"/>
      <p:bldP spid="2" grpId="1" animBg="1"/>
      <p:bldP spid="82" grpId="1"/>
      <p:bldP spid="82" grpId="2"/>
      <p:bldP spid="76" grpId="0" animBg="1"/>
      <p:bldP spid="83" grpId="0"/>
      <p:bldP spid="83" grpId="1"/>
      <p:bldP spid="83" grpId="2"/>
      <p:bldP spid="91" grpId="0" bldLvl="0" animBg="1"/>
      <p:bldP spid="91" grpId="1"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323850" y="616521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30" name="文本框 29"/>
          <p:cNvSpPr txBox="1"/>
          <p:nvPr/>
        </p:nvSpPr>
        <p:spPr>
          <a:xfrm>
            <a:off x="3860800" y="4994275"/>
            <a:ext cx="336550" cy="429260"/>
          </a:xfrm>
          <a:prstGeom prst="rect">
            <a:avLst/>
          </a:prstGeom>
          <a:noFill/>
        </p:spPr>
        <p:txBody>
          <a:bodyPr wrap="square" rtlCol="0">
            <a:noAutofit/>
          </a:bodyPr>
          <a:p>
            <a:r>
              <a:rPr lang="zh-CN" altLang="en-US" sz="1800">
                <a:solidFill>
                  <a:srgbClr val="FF0000"/>
                </a:solidFill>
              </a:rPr>
              <a:t>⑧</a:t>
            </a:r>
            <a:endParaRPr lang="zh-CN" altLang="en-US" sz="1800">
              <a:solidFill>
                <a:srgbClr val="FF0000"/>
              </a:solidFill>
            </a:endParaRPr>
          </a:p>
        </p:txBody>
      </p:sp>
      <p:sp>
        <p:nvSpPr>
          <p:cNvPr id="31" name="任意多边形 30"/>
          <p:cNvSpPr/>
          <p:nvPr/>
        </p:nvSpPr>
        <p:spPr>
          <a:xfrm>
            <a:off x="3851910" y="499427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椭圆 31"/>
          <p:cNvSpPr/>
          <p:nvPr/>
        </p:nvSpPr>
        <p:spPr>
          <a:xfrm>
            <a:off x="349186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3529787" y="542069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89" name="椭圆 88"/>
          <p:cNvSpPr/>
          <p:nvPr/>
        </p:nvSpPr>
        <p:spPr>
          <a:xfrm>
            <a:off x="3493135" y="53797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文本框 94"/>
          <p:cNvSpPr txBox="1"/>
          <p:nvPr/>
        </p:nvSpPr>
        <p:spPr>
          <a:xfrm>
            <a:off x="3539947" y="54245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100" name="文本框 99"/>
          <p:cNvSpPr txBox="1"/>
          <p:nvPr/>
        </p:nvSpPr>
        <p:spPr>
          <a:xfrm>
            <a:off x="327660" y="616458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⑧：</a:t>
            </a:r>
            <a:r>
              <a:rPr lang="en-US" altLang="zh-CN" sz="1800">
                <a:solidFill>
                  <a:schemeClr val="tx1"/>
                </a:solidFill>
                <a:uFillTx/>
                <a:latin typeface="Times New Roman" panose="02020603050405020304" pitchFamily="18" charset="0"/>
              </a:rPr>
              <a:t>Visit=[1,1,1]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1" name="文本框 100"/>
          <p:cNvSpPr txBox="1"/>
          <p:nvPr/>
        </p:nvSpPr>
        <p:spPr>
          <a:xfrm>
            <a:off x="325120" y="616648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⑨：达到递归出口，把结果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2" name="文本框 101"/>
          <p:cNvSpPr txBox="1"/>
          <p:nvPr/>
        </p:nvSpPr>
        <p:spPr>
          <a:xfrm>
            <a:off x="3301365" y="5661025"/>
            <a:ext cx="336550" cy="429260"/>
          </a:xfrm>
          <a:prstGeom prst="rect">
            <a:avLst/>
          </a:prstGeom>
          <a:noFill/>
        </p:spPr>
        <p:txBody>
          <a:bodyPr wrap="square" rtlCol="0">
            <a:noAutofit/>
          </a:bodyPr>
          <a:p>
            <a:r>
              <a:rPr lang="zh-CN" altLang="en-US" sz="1800">
                <a:solidFill>
                  <a:srgbClr val="FF0000"/>
                </a:solidFill>
              </a:rPr>
              <a:t>⑨</a:t>
            </a:r>
            <a:endParaRPr lang="zh-CN" altLang="en-US" sz="1800">
              <a:solidFill>
                <a:srgbClr val="FF0000"/>
              </a:solidFill>
            </a:endParaRPr>
          </a:p>
        </p:txBody>
      </p:sp>
      <p:cxnSp>
        <p:nvCxnSpPr>
          <p:cNvPr id="103" name="直接箭头连接符 102"/>
          <p:cNvCxnSpPr/>
          <p:nvPr/>
        </p:nvCxnSpPr>
        <p:spPr>
          <a:xfrm>
            <a:off x="3707130" y="577278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104" name="文本框 103"/>
          <p:cNvSpPr txBox="1"/>
          <p:nvPr/>
        </p:nvSpPr>
        <p:spPr>
          <a:xfrm>
            <a:off x="702310" y="249682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Result=[[1,2,3],[1,3,2]]</a:t>
            </a:r>
            <a:endParaRPr lang="en-US" altLang="zh-CN" sz="1800">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3"/>
                                        </p:tgtEl>
                                        <p:attrNameLst>
                                          <p:attrName>ppt_x</p:attrName>
                                        </p:attrNameLst>
                                      </p:cBhvr>
                                      <p:tavLst>
                                        <p:tav tm="0">
                                          <p:val>
                                            <p:strVal val="ppt_x"/>
                                          </p:val>
                                        </p:tav>
                                        <p:tav tm="100000">
                                          <p:val>
                                            <p:strVal val="ppt_x"/>
                                          </p:val>
                                        </p:tav>
                                      </p:tavLst>
                                    </p:anim>
                                    <p:anim calcmode="lin" valueType="num">
                                      <p:cBhvr additive="base">
                                        <p:cTn id="7" dur="500"/>
                                        <p:tgtEl>
                                          <p:spTgt spid="83"/>
                                        </p:tgtEl>
                                        <p:attrNameLst>
                                          <p:attrName>ppt_y</p:attrName>
                                        </p:attrNameLst>
                                      </p:cBhvr>
                                      <p:tavLst>
                                        <p:tav tm="0">
                                          <p:val>
                                            <p:strVal val="ppt_y"/>
                                          </p:val>
                                        </p:tav>
                                        <p:tav tm="100000">
                                          <p:val>
                                            <p:strVal val="1+ppt_h/2"/>
                                          </p:val>
                                        </p:tav>
                                      </p:tavLst>
                                    </p:anim>
                                    <p:set>
                                      <p:cBhvr>
                                        <p:cTn id="8" dur="1" fill="hold">
                                          <p:stCondLst>
                                            <p:cond delay="499"/>
                                          </p:stCondLst>
                                        </p:cTn>
                                        <p:tgtEl>
                                          <p:spTgt spid="83"/>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animEffect transition="in" filter="box(in)">
                                      <p:cBhvr>
                                        <p:cTn id="13" dur="2000"/>
                                        <p:tgtEl>
                                          <p:spTgt spid="3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box(in)">
                                      <p:cBhvr>
                                        <p:cTn id="16" dur="2000"/>
                                        <p:tgtEl>
                                          <p:spTgt spid="31"/>
                                        </p:tgtEl>
                                      </p:cBhvr>
                                    </p:animEffect>
                                  </p:childTnLst>
                                </p:cTn>
                              </p:par>
                            </p:childTnLst>
                          </p:cTn>
                        </p:par>
                      </p:childTnLst>
                    </p:cTn>
                  </p:par>
                  <p:par>
                    <p:cTn id="17" fill="hold">
                      <p:stCondLst>
                        <p:cond delay="indefinite"/>
                      </p:stCondLst>
                      <p:childTnLst>
                        <p:par>
                          <p:cTn id="18" fill="hold">
                            <p:stCondLst>
                              <p:cond delay="0"/>
                            </p:stCondLst>
                            <p:childTnLst>
                              <p:par>
                                <p:cTn id="19" presetID="4" presetClass="entr" presetSubtype="16" fill="hold" grpId="0" nodeType="clickEffect">
                                  <p:stCondLst>
                                    <p:cond delay="0"/>
                                  </p:stCondLst>
                                  <p:childTnLst>
                                    <p:set>
                                      <p:cBhvr>
                                        <p:cTn id="20" dur="1" fill="hold">
                                          <p:stCondLst>
                                            <p:cond delay="0"/>
                                          </p:stCondLst>
                                        </p:cTn>
                                        <p:tgtEl>
                                          <p:spTgt spid="89"/>
                                        </p:tgtEl>
                                        <p:attrNameLst>
                                          <p:attrName>style.visibility</p:attrName>
                                        </p:attrNameLst>
                                      </p:cBhvr>
                                      <p:to>
                                        <p:strVal val="visible"/>
                                      </p:to>
                                    </p:set>
                                    <p:animEffect transition="in" filter="box(in)">
                                      <p:cBhvr>
                                        <p:cTn id="21" dur="2000"/>
                                        <p:tgtEl>
                                          <p:spTgt spid="89"/>
                                        </p:tgtEl>
                                      </p:cBhvr>
                                    </p:animEffect>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p:stCondLst>
                                    <p:cond delay="0"/>
                                  </p:stCondLst>
                                  <p:childTnLst>
                                    <p:set>
                                      <p:cBhvr>
                                        <p:cTn id="25" dur="1" fill="hold">
                                          <p:stCondLst>
                                            <p:cond delay="0"/>
                                          </p:stCondLst>
                                        </p:cTn>
                                        <p:tgtEl>
                                          <p:spTgt spid="100"/>
                                        </p:tgtEl>
                                        <p:attrNameLst>
                                          <p:attrName>style.visibility</p:attrName>
                                        </p:attrNameLst>
                                      </p:cBhvr>
                                      <p:to>
                                        <p:strVal val="visible"/>
                                      </p:to>
                                    </p:set>
                                    <p:anim calcmode="lin" valueType="num">
                                      <p:cBhvr additive="base">
                                        <p:cTn id="26" dur="500" fill="hold"/>
                                        <p:tgtEl>
                                          <p:spTgt spid="100"/>
                                        </p:tgtEl>
                                        <p:attrNameLst>
                                          <p:attrName>ppt_x</p:attrName>
                                        </p:attrNameLst>
                                      </p:cBhvr>
                                      <p:tavLst>
                                        <p:tav tm="0">
                                          <p:val>
                                            <p:strVal val="#ppt_x"/>
                                          </p:val>
                                        </p:tav>
                                        <p:tav tm="100000">
                                          <p:val>
                                            <p:strVal val="#ppt_x"/>
                                          </p:val>
                                        </p:tav>
                                      </p:tavLst>
                                    </p:anim>
                                    <p:anim calcmode="lin" valueType="num">
                                      <p:cBhvr additive="base">
                                        <p:cTn id="27" dur="500" fill="hold"/>
                                        <p:tgtEl>
                                          <p:spTgt spid="100"/>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xit" presetSubtype="4" fill="hold" grpId="2" nodeType="clickEffect">
                                  <p:stCondLst>
                                    <p:cond delay="0"/>
                                  </p:stCondLst>
                                  <p:childTnLst>
                                    <p:anim calcmode="lin" valueType="num">
                                      <p:cBhvr additive="base">
                                        <p:cTn id="31" dur="500"/>
                                        <p:tgtEl>
                                          <p:spTgt spid="100"/>
                                        </p:tgtEl>
                                        <p:attrNameLst>
                                          <p:attrName>ppt_x</p:attrName>
                                        </p:attrNameLst>
                                      </p:cBhvr>
                                      <p:tavLst>
                                        <p:tav tm="0">
                                          <p:val>
                                            <p:strVal val="ppt_x"/>
                                          </p:val>
                                        </p:tav>
                                        <p:tav tm="100000">
                                          <p:val>
                                            <p:strVal val="ppt_x"/>
                                          </p:val>
                                        </p:tav>
                                      </p:tavLst>
                                    </p:anim>
                                    <p:anim calcmode="lin" valueType="num">
                                      <p:cBhvr additive="base">
                                        <p:cTn id="32" dur="500"/>
                                        <p:tgtEl>
                                          <p:spTgt spid="100"/>
                                        </p:tgtEl>
                                        <p:attrNameLst>
                                          <p:attrName>ppt_y</p:attrName>
                                        </p:attrNameLst>
                                      </p:cBhvr>
                                      <p:tavLst>
                                        <p:tav tm="0">
                                          <p:val>
                                            <p:strVal val="ppt_y"/>
                                          </p:val>
                                        </p:tav>
                                        <p:tav tm="100000">
                                          <p:val>
                                            <p:strVal val="1+ppt_h/2"/>
                                          </p:val>
                                        </p:tav>
                                      </p:tavLst>
                                    </p:anim>
                                    <p:set>
                                      <p:cBhvr>
                                        <p:cTn id="33" dur="1" fill="hold">
                                          <p:stCondLst>
                                            <p:cond delay="499"/>
                                          </p:stCondLst>
                                        </p:cTn>
                                        <p:tgtEl>
                                          <p:spTgt spid="100"/>
                                        </p:tgtEl>
                                        <p:attrNameLst>
                                          <p:attrName>style.visibility</p:attrName>
                                        </p:attrNameLst>
                                      </p:cBhvr>
                                      <p:to>
                                        <p:strVal val="hidden"/>
                                      </p:to>
                                    </p:set>
                                  </p:childTnLst>
                                </p:cTn>
                              </p:par>
                            </p:childTnLst>
                          </p:cTn>
                        </p:par>
                      </p:childTnLst>
                    </p:cTn>
                  </p:par>
                  <p:par>
                    <p:cTn id="34" fill="hold">
                      <p:stCondLst>
                        <p:cond delay="indefinite"/>
                      </p:stCondLst>
                      <p:childTnLst>
                        <p:par>
                          <p:cTn id="35" fill="hold">
                            <p:stCondLst>
                              <p:cond delay="0"/>
                            </p:stCondLst>
                            <p:childTnLst>
                              <p:par>
                                <p:cTn id="36" presetID="4" presetClass="entr" presetSubtype="16" fill="hold" nodeType="clickEffect">
                                  <p:stCondLst>
                                    <p:cond delay="0"/>
                                  </p:stCondLst>
                                  <p:childTnLst>
                                    <p:set>
                                      <p:cBhvr>
                                        <p:cTn id="37" dur="1" fill="hold">
                                          <p:stCondLst>
                                            <p:cond delay="0"/>
                                          </p:stCondLst>
                                        </p:cTn>
                                        <p:tgtEl>
                                          <p:spTgt spid="103"/>
                                        </p:tgtEl>
                                        <p:attrNameLst>
                                          <p:attrName>style.visibility</p:attrName>
                                        </p:attrNameLst>
                                      </p:cBhvr>
                                      <p:to>
                                        <p:strVal val="visible"/>
                                      </p:to>
                                    </p:set>
                                    <p:animEffect transition="in" filter="box(in)">
                                      <p:cBhvr>
                                        <p:cTn id="38" dur="2000"/>
                                        <p:tgtEl>
                                          <p:spTgt spid="103"/>
                                        </p:tgtEl>
                                      </p:cBhvr>
                                    </p:animEffect>
                                  </p:childTnLst>
                                </p:cTn>
                              </p:par>
                              <p:par>
                                <p:cTn id="39" presetID="4" presetClass="entr" presetSubtype="16" fill="hold" grpId="0" nodeType="withEffect">
                                  <p:stCondLst>
                                    <p:cond delay="0"/>
                                  </p:stCondLst>
                                  <p:childTnLst>
                                    <p:set>
                                      <p:cBhvr>
                                        <p:cTn id="40" dur="1" fill="hold">
                                          <p:stCondLst>
                                            <p:cond delay="0"/>
                                          </p:stCondLst>
                                        </p:cTn>
                                        <p:tgtEl>
                                          <p:spTgt spid="102"/>
                                        </p:tgtEl>
                                        <p:attrNameLst>
                                          <p:attrName>style.visibility</p:attrName>
                                        </p:attrNameLst>
                                      </p:cBhvr>
                                      <p:to>
                                        <p:strVal val="visible"/>
                                      </p:to>
                                    </p:set>
                                    <p:animEffect transition="in" filter="box(in)">
                                      <p:cBhvr>
                                        <p:cTn id="41" dur="2000"/>
                                        <p:tgtEl>
                                          <p:spTgt spid="102"/>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101"/>
                                        </p:tgtEl>
                                        <p:attrNameLst>
                                          <p:attrName>style.visibility</p:attrName>
                                        </p:attrNameLst>
                                      </p:cBhvr>
                                      <p:to>
                                        <p:strVal val="visible"/>
                                      </p:to>
                                    </p:set>
                                    <p:anim calcmode="lin" valueType="num">
                                      <p:cBhvr additive="base">
                                        <p:cTn id="46" dur="500" fill="hold"/>
                                        <p:tgtEl>
                                          <p:spTgt spid="101"/>
                                        </p:tgtEl>
                                        <p:attrNameLst>
                                          <p:attrName>ppt_x</p:attrName>
                                        </p:attrNameLst>
                                      </p:cBhvr>
                                      <p:tavLst>
                                        <p:tav tm="0">
                                          <p:val>
                                            <p:strVal val="#ppt_x"/>
                                          </p:val>
                                        </p:tav>
                                        <p:tav tm="100000">
                                          <p:val>
                                            <p:strVal val="#ppt_x"/>
                                          </p:val>
                                        </p:tav>
                                      </p:tavLst>
                                    </p:anim>
                                    <p:anim calcmode="lin" valueType="num">
                                      <p:cBhvr additive="base">
                                        <p:cTn id="47" dur="500" fill="hold"/>
                                        <p:tgtEl>
                                          <p:spTgt spid="101"/>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0" nodeType="clickEffect">
                                  <p:stCondLst>
                                    <p:cond delay="0"/>
                                  </p:stCondLst>
                                  <p:childTnLst>
                                    <p:anim calcmode="lin" valueType="num">
                                      <p:cBhvr additive="base">
                                        <p:cTn id="51" dur="500"/>
                                        <p:tgtEl>
                                          <p:spTgt spid="73"/>
                                        </p:tgtEl>
                                        <p:attrNameLst>
                                          <p:attrName>ppt_x</p:attrName>
                                        </p:attrNameLst>
                                      </p:cBhvr>
                                      <p:tavLst>
                                        <p:tav tm="0">
                                          <p:val>
                                            <p:strVal val="ppt_x"/>
                                          </p:val>
                                        </p:tav>
                                        <p:tav tm="100000">
                                          <p:val>
                                            <p:strVal val="ppt_x"/>
                                          </p:val>
                                        </p:tav>
                                      </p:tavLst>
                                    </p:anim>
                                    <p:anim calcmode="lin" valueType="num">
                                      <p:cBhvr additive="base">
                                        <p:cTn id="52" dur="500"/>
                                        <p:tgtEl>
                                          <p:spTgt spid="73"/>
                                        </p:tgtEl>
                                        <p:attrNameLst>
                                          <p:attrName>ppt_y</p:attrName>
                                        </p:attrNameLst>
                                      </p:cBhvr>
                                      <p:tavLst>
                                        <p:tav tm="0">
                                          <p:val>
                                            <p:strVal val="ppt_y"/>
                                          </p:val>
                                        </p:tav>
                                        <p:tav tm="100000">
                                          <p:val>
                                            <p:strVal val="1+ppt_h/2"/>
                                          </p:val>
                                        </p:tav>
                                      </p:tavLst>
                                    </p:anim>
                                    <p:set>
                                      <p:cBhvr>
                                        <p:cTn id="53" dur="1" fill="hold">
                                          <p:stCondLst>
                                            <p:cond delay="499"/>
                                          </p:stCondLst>
                                        </p:cTn>
                                        <p:tgtEl>
                                          <p:spTgt spid="7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4" fill="hold" grpId="0" nodeType="clickEffect">
                                  <p:stCondLst>
                                    <p:cond delay="0"/>
                                  </p:stCondLst>
                                  <p:childTnLst>
                                    <p:set>
                                      <p:cBhvr>
                                        <p:cTn id="57" dur="1" fill="hold">
                                          <p:stCondLst>
                                            <p:cond delay="0"/>
                                          </p:stCondLst>
                                        </p:cTn>
                                        <p:tgtEl>
                                          <p:spTgt spid="104"/>
                                        </p:tgtEl>
                                        <p:attrNameLst>
                                          <p:attrName>style.visibility</p:attrName>
                                        </p:attrNameLst>
                                      </p:cBhvr>
                                      <p:to>
                                        <p:strVal val="visible"/>
                                      </p:to>
                                    </p:set>
                                    <p:anim calcmode="lin" valueType="num">
                                      <p:cBhvr additive="base">
                                        <p:cTn id="58" dur="500" fill="hold"/>
                                        <p:tgtEl>
                                          <p:spTgt spid="104"/>
                                        </p:tgtEl>
                                        <p:attrNameLst>
                                          <p:attrName>ppt_x</p:attrName>
                                        </p:attrNameLst>
                                      </p:cBhvr>
                                      <p:tavLst>
                                        <p:tav tm="0">
                                          <p:val>
                                            <p:strVal val="#ppt_x"/>
                                          </p:val>
                                        </p:tav>
                                        <p:tav tm="100000">
                                          <p:val>
                                            <p:strVal val="#ppt_x"/>
                                          </p:val>
                                        </p:tav>
                                      </p:tavLst>
                                    </p:anim>
                                    <p:anim calcmode="lin" valueType="num">
                                      <p:cBhvr additive="base">
                                        <p:cTn id="59"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7" grpId="1" animBg="1"/>
      <p:bldP spid="4" grpId="1"/>
      <p:bldP spid="2" grpId="1" animBg="1"/>
      <p:bldP spid="82" grpId="1"/>
      <p:bldP spid="83" grpId="1"/>
      <p:bldP spid="91" grpId="1" animBg="1"/>
      <p:bldP spid="30" grpId="0"/>
      <p:bldP spid="31" grpId="0" animBg="1"/>
      <p:bldP spid="30" grpId="1"/>
      <p:bldP spid="31" grpId="1" animBg="1"/>
      <p:bldP spid="89" grpId="0" bldLvl="0" animBg="1"/>
      <p:bldP spid="89" grpId="1" animBg="1"/>
      <p:bldP spid="95" grpId="1"/>
      <p:bldP spid="100" grpId="0"/>
      <p:bldP spid="100" grpId="1"/>
      <p:bldP spid="102" grpId="0"/>
      <p:bldP spid="102" grpId="1"/>
      <p:bldP spid="100" grpId="2"/>
      <p:bldP spid="73" grpId="0"/>
      <p:bldP spid="73" grpId="1"/>
      <p:bldP spid="104" grpId="0"/>
      <p:bldP spid="104" grpId="1"/>
      <p:bldP spid="101" grpId="0"/>
      <p:bldP spid="101" grpId="1"/>
      <p:bldP spid="83" grpId="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sz="1800">
                <a:solidFill>
                  <a:srgbClr val="000066"/>
                </a:solidFill>
                <a:latin typeface="+mj-ea"/>
                <a:ea typeface="+mj-ea"/>
              </a:rPr>
              <a:t>转成树结构</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77215" y="2483485"/>
            <a:ext cx="2050415" cy="1476375"/>
          </a:xfrm>
          <a:prstGeom prst="rect">
            <a:avLst/>
          </a:prstGeom>
          <a:solidFill>
            <a:srgbClr val="92D050"/>
          </a:solidFill>
        </p:spPr>
        <p:txBody>
          <a:bodyPr wrap="square" rtlCol="0">
            <a:sp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[1,2,3],[1,3,2]</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[2,1,3],[2,3,1]</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[3,1,2],[3,2,1]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3" name="文本框 72"/>
          <p:cNvSpPr txBox="1"/>
          <p:nvPr/>
        </p:nvSpPr>
        <p:spPr>
          <a:xfrm>
            <a:off x="577215" y="2089785"/>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a:t>
            </a:r>
            <a:endParaRPr lang="en-US" altLang="zh-CN">
              <a:latin typeface="Times New Roman" panose="02020603050405020304" pitchFamily="18" charset="0"/>
              <a:cs typeface="Times New Roman" panose="02020603050405020304" pitchFamily="18" charset="0"/>
            </a:endParaRPr>
          </a:p>
        </p:txBody>
      </p:sp>
      <p:sp>
        <p:nvSpPr>
          <p:cNvPr id="74" name="文本框 73"/>
          <p:cNvSpPr txBox="1"/>
          <p:nvPr/>
        </p:nvSpPr>
        <p:spPr>
          <a:xfrm>
            <a:off x="539115" y="5012690"/>
            <a:ext cx="7860665" cy="1405890"/>
          </a:xfrm>
          <a:prstGeom prst="rect">
            <a:avLst/>
          </a:prstGeom>
          <a:solidFill>
            <a:srgbClr val="92D050"/>
          </a:solidFill>
        </p:spPr>
        <p:txBody>
          <a:bodyPr wrap="square" rtlCol="0">
            <a:no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5" name="文本框 74"/>
          <p:cNvSpPr txBox="1"/>
          <p:nvPr/>
        </p:nvSpPr>
        <p:spPr>
          <a:xfrm>
            <a:off x="539750" y="4193540"/>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nums=[1,2,3,4]</a:t>
            </a:r>
            <a:endParaRPr lang="en-US" altLang="zh-CN">
              <a:latin typeface="Times New Roman" panose="02020603050405020304" pitchFamily="18" charset="0"/>
              <a:cs typeface="Times New Roman" panose="02020603050405020304" pitchFamily="18"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180721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72" name="组合 71"/>
          <p:cNvGrpSpPr/>
          <p:nvPr/>
        </p:nvGrpSpPr>
        <p:grpSpPr>
          <a:xfrm>
            <a:off x="4830445" y="213360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6" name="矩形 75"/>
          <p:cNvSpPr/>
          <p:nvPr/>
        </p:nvSpPr>
        <p:spPr>
          <a:xfrm>
            <a:off x="4909185" y="2853055"/>
            <a:ext cx="3584575" cy="1008380"/>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33020" y="2827020"/>
            <a:ext cx="4718685" cy="337185"/>
          </a:xfrm>
          <a:prstGeom prst="rect">
            <a:avLst/>
          </a:prstGeom>
          <a:noFill/>
        </p:spPr>
        <p:txBody>
          <a:bodyPr wrap="square" rtlCol="0">
            <a:spAutoFit/>
          </a:bodyPr>
          <a:p>
            <a:r>
              <a:rPr lang="zh-CN" altLang="en-US" sz="1600"/>
              <a:t>①：第一层，任何一个元素均可以占据首部一次</a:t>
            </a:r>
            <a:endParaRPr lang="zh-CN" altLang="en-US" sz="1600"/>
          </a:p>
        </p:txBody>
      </p:sp>
      <p:sp>
        <p:nvSpPr>
          <p:cNvPr id="78" name="文本框 77"/>
          <p:cNvSpPr txBox="1"/>
          <p:nvPr/>
        </p:nvSpPr>
        <p:spPr>
          <a:xfrm>
            <a:off x="4867275" y="2832735"/>
            <a:ext cx="503555" cy="319405"/>
          </a:xfrm>
          <a:prstGeom prst="rect">
            <a:avLst/>
          </a:prstGeom>
          <a:noFill/>
        </p:spPr>
        <p:txBody>
          <a:bodyPr wrap="square" rtlCol="0" anchor="t">
            <a:noAutofit/>
          </a:bodyPr>
          <a:p>
            <a:r>
              <a:rPr lang="zh-CN" altLang="en-US">
                <a:solidFill>
                  <a:srgbClr val="FF0000"/>
                </a:solidFill>
                <a:sym typeface="+mn-ea"/>
              </a:rPr>
              <a:t>①</a:t>
            </a:r>
            <a:endParaRPr lang="zh-CN" altLang="en-US">
              <a:solidFill>
                <a:srgbClr val="FF0000"/>
              </a:solidFill>
              <a:sym typeface="+mn-ea"/>
            </a:endParaRPr>
          </a:p>
        </p:txBody>
      </p:sp>
      <p:sp>
        <p:nvSpPr>
          <p:cNvPr id="79" name="矩形 78"/>
          <p:cNvSpPr/>
          <p:nvPr/>
        </p:nvSpPr>
        <p:spPr>
          <a:xfrm>
            <a:off x="4583430" y="3932555"/>
            <a:ext cx="1426845" cy="5238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4509770" y="3885565"/>
            <a:ext cx="166370" cy="167005"/>
          </a:xfrm>
          <a:prstGeom prst="rect">
            <a:avLst/>
          </a:prstGeom>
          <a:noFill/>
        </p:spPr>
        <p:txBody>
          <a:bodyPr wrap="square" rtlCol="0" anchor="t">
            <a:noAutofit/>
          </a:bodyPr>
          <a:p>
            <a:r>
              <a:rPr lang="zh-CN" altLang="en-US">
                <a:solidFill>
                  <a:srgbClr val="FF0000"/>
                </a:solidFill>
                <a:sym typeface="+mn-ea"/>
              </a:rPr>
              <a:t>②</a:t>
            </a:r>
            <a:endParaRPr lang="zh-CN" altLang="en-US">
              <a:solidFill>
                <a:srgbClr val="FF0000"/>
              </a:solidFill>
              <a:sym typeface="+mn-ea"/>
            </a:endParaRPr>
          </a:p>
        </p:txBody>
      </p:sp>
      <p:sp>
        <p:nvSpPr>
          <p:cNvPr id="81" name="文本框 80"/>
          <p:cNvSpPr txBox="1"/>
          <p:nvPr/>
        </p:nvSpPr>
        <p:spPr>
          <a:xfrm>
            <a:off x="58420" y="3429000"/>
            <a:ext cx="4718685" cy="337185"/>
          </a:xfrm>
          <a:prstGeom prst="rect">
            <a:avLst/>
          </a:prstGeom>
          <a:noFill/>
        </p:spPr>
        <p:txBody>
          <a:bodyPr wrap="square" rtlCol="0">
            <a:spAutoFit/>
          </a:bodyPr>
          <a:p>
            <a:r>
              <a:rPr lang="zh-CN" altLang="en-US" sz="1600">
                <a:solidFill>
                  <a:schemeClr val="tx1"/>
                </a:solidFill>
                <a:uFillTx/>
                <a:latin typeface="Times New Roman" panose="02020603050405020304" pitchFamily="18" charset="0"/>
              </a:rPr>
              <a:t>②：第二层，剩余</a:t>
            </a:r>
            <a:r>
              <a:rPr lang="en-US" altLang="zh-CN" sz="1600">
                <a:solidFill>
                  <a:schemeClr val="tx1"/>
                </a:solidFill>
                <a:uFillTx/>
                <a:latin typeface="Times New Roman" panose="02020603050405020304" pitchFamily="18" charset="0"/>
              </a:rPr>
              <a:t>n-1</a:t>
            </a:r>
            <a:r>
              <a:rPr lang="zh-CN" altLang="en-US" sz="1600">
                <a:solidFill>
                  <a:schemeClr val="tx1"/>
                </a:solidFill>
                <a:uFillTx/>
                <a:latin typeface="Times New Roman" panose="02020603050405020304" pitchFamily="18" charset="0"/>
              </a:rPr>
              <a:t>个元素都可以占据首部一次</a:t>
            </a:r>
            <a:endParaRPr lang="zh-CN" altLang="en-US" sz="1600">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2764155" cy="371475"/>
          </a:xfrm>
          <a:prstGeom prst="rect">
            <a:avLst/>
          </a:prstGeom>
          <a:noFill/>
        </p:spPr>
        <p:txBody>
          <a:bodyPr>
            <a:noAutofit/>
          </a:bodyPr>
          <a:p>
            <a:pPr>
              <a:defRPr/>
            </a:pPr>
            <a:r>
              <a:rPr lang="zh-CN" altLang="en-US" sz="1800">
                <a:solidFill>
                  <a:srgbClr val="000066"/>
                </a:solidFill>
                <a:latin typeface="+mj-ea"/>
                <a:ea typeface="+mj-ea"/>
              </a:rPr>
              <a:t>交换法回溯代码实现</a:t>
            </a:r>
            <a:r>
              <a:rPr lang="en-US" altLang="zh-CN" sz="1800">
                <a:solidFill>
                  <a:srgbClr val="000066"/>
                </a:solidFill>
                <a:latin typeface="+mj-ea"/>
                <a:ea typeface="+mj-ea"/>
              </a:rPr>
              <a:t>:</a:t>
            </a:r>
            <a:endParaRPr lang="zh-CN" altLang="en-US" sz="1800">
              <a:solidFill>
                <a:srgbClr val="000066"/>
              </a:solidFill>
              <a:latin typeface="+mj-ea"/>
              <a:ea typeface="+mj-ea"/>
            </a:endParaRPr>
          </a:p>
        </p:txBody>
      </p:sp>
      <p:pic>
        <p:nvPicPr>
          <p:cNvPr id="7" name="图片 6"/>
          <p:cNvPicPr>
            <a:picLocks noChangeAspect="1"/>
          </p:cNvPicPr>
          <p:nvPr/>
        </p:nvPicPr>
        <p:blipFill>
          <a:blip r:embed="rId1"/>
          <a:stretch>
            <a:fillRect/>
          </a:stretch>
        </p:blipFill>
        <p:spPr>
          <a:xfrm>
            <a:off x="1979295" y="1844675"/>
            <a:ext cx="5248275" cy="3381375"/>
          </a:xfrm>
          <a:prstGeom prst="rect">
            <a:avLst/>
          </a:prstGeom>
        </p:spPr>
      </p:pic>
      <p:sp>
        <p:nvSpPr>
          <p:cNvPr id="9" name="文本框 8"/>
          <p:cNvSpPr txBox="1"/>
          <p:nvPr/>
        </p:nvSpPr>
        <p:spPr>
          <a:xfrm>
            <a:off x="251460" y="5516880"/>
            <a:ext cx="4550410" cy="429260"/>
          </a:xfrm>
          <a:prstGeom prst="rect">
            <a:avLst/>
          </a:prstGeom>
          <a:noFill/>
        </p:spPr>
        <p:txBody>
          <a:bodyPr>
            <a:noAutofit/>
          </a:bodyPr>
          <a:p>
            <a:pPr>
              <a:defRPr/>
            </a:pPr>
            <a:r>
              <a:rPr lang="zh-CN" altLang="en-US" sz="1800">
                <a:solidFill>
                  <a:srgbClr val="000066"/>
                </a:solidFill>
                <a:latin typeface="+mj-ea"/>
                <a:ea typeface="+mj-ea"/>
              </a:rPr>
              <a:t>除此之外还有头中尾</a:t>
            </a:r>
            <a:r>
              <a:rPr lang="zh-CN" altLang="en-US" sz="1800">
                <a:solidFill>
                  <a:srgbClr val="000066"/>
                </a:solidFill>
                <a:latin typeface="+mj-ea"/>
                <a:ea typeface="+mj-ea"/>
              </a:rPr>
              <a:t>插入法、前缀法。</a:t>
            </a:r>
            <a:endParaRPr lang="zh-CN" altLang="en-US" sz="1800">
              <a:solidFill>
                <a:srgbClr val="000066"/>
              </a:solidFill>
              <a:latin typeface="+mj-ea"/>
              <a:ea typeface="+mj-ea"/>
            </a:endParaRP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635" y="367030"/>
            <a:ext cx="867664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t>（</a:t>
            </a:r>
            <a:r>
              <a:rPr lang="en-US" altLang="zh-CN" sz="3600" kern="0" smtClean="0"/>
              <a:t>3</a:t>
            </a:r>
            <a:r>
              <a:rPr lang="zh-CN" sz="3600" kern="0" smtClean="0"/>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07645" y="367030"/>
            <a:ext cx="846836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835785" y="2319020"/>
            <a:ext cx="5572125" cy="4124325"/>
          </a:xfrm>
          <a:prstGeom prst="rect">
            <a:avLst/>
          </a:prstGeom>
        </p:spPr>
      </p:pic>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25425" y="367030"/>
            <a:ext cx="845058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979930" y="2132965"/>
            <a:ext cx="4943475" cy="3638550"/>
          </a:xfrm>
          <a:prstGeom prst="rect">
            <a:avLst/>
          </a:prstGeom>
        </p:spPr>
      </p:pic>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）问题描述：</a:t>
            </a:r>
            <a:r>
              <a:rPr lang="zh-CN" altLang="en-US">
                <a:solidFill>
                  <a:srgbClr val="000066"/>
                </a:solidFill>
                <a:uFillTx/>
                <a:latin typeface="Times New Roman" panose="02020603050405020304" pitchFamily="18" charset="0"/>
              </a:rPr>
              <a:t>给定两个整数</a:t>
            </a:r>
            <a:r>
              <a:rPr lang="en-US" altLang="zh-CN">
                <a:solidFill>
                  <a:srgbClr val="000066"/>
                </a:solidFill>
                <a:uFillTx/>
                <a:latin typeface="Times New Roman" panose="02020603050405020304" pitchFamily="18" charset="0"/>
              </a:rPr>
              <a:t> n </a:t>
            </a:r>
            <a:r>
              <a:rPr lang="zh-CN" altLang="en-US">
                <a:solidFill>
                  <a:srgbClr val="000066"/>
                </a:solidFill>
                <a:uFillTx/>
                <a:latin typeface="Times New Roman" panose="02020603050405020304" pitchFamily="18" charset="0"/>
              </a:rPr>
              <a:t>和</a:t>
            </a:r>
            <a:r>
              <a:rPr lang="en-US" altLang="zh-CN">
                <a:solidFill>
                  <a:srgbClr val="000066"/>
                </a:solidFill>
                <a:uFillTx/>
                <a:latin typeface="Times New Roman" panose="02020603050405020304" pitchFamily="18" charset="0"/>
              </a:rPr>
              <a:t> k</a:t>
            </a:r>
            <a:r>
              <a:rPr lang="zh-CN" altLang="en-US">
                <a:solidFill>
                  <a:srgbClr val="000066"/>
                </a:solidFill>
                <a:uFillTx/>
                <a:latin typeface="Times New Roman" panose="02020603050405020304" pitchFamily="18" charset="0"/>
              </a:rPr>
              <a:t>，返回范围</a:t>
            </a:r>
            <a:r>
              <a:rPr lang="en-US" altLang="zh-CN">
                <a:solidFill>
                  <a:srgbClr val="000066"/>
                </a:solidFill>
                <a:uFillTx/>
                <a:latin typeface="Times New Roman" panose="02020603050405020304" pitchFamily="18" charset="0"/>
              </a:rPr>
              <a:t> [1, n] </a:t>
            </a:r>
            <a:r>
              <a:rPr lang="zh-CN" altLang="en-US">
                <a:solidFill>
                  <a:srgbClr val="000066"/>
                </a:solidFill>
                <a:uFillTx/>
                <a:latin typeface="Times New Roman" panose="02020603050405020304" pitchFamily="18" charset="0"/>
              </a:rPr>
              <a:t>中所有可能的</a:t>
            </a:r>
            <a:r>
              <a:rPr lang="en-US" altLang="zh-CN">
                <a:solidFill>
                  <a:srgbClr val="000066"/>
                </a:solidFill>
                <a:uFillTx/>
                <a:latin typeface="Times New Roman" panose="02020603050405020304" pitchFamily="18" charset="0"/>
              </a:rPr>
              <a:t> k </a:t>
            </a:r>
            <a:r>
              <a:rPr lang="zh-CN" altLang="en-US">
                <a:solidFill>
                  <a:srgbClr val="000066"/>
                </a:solidFill>
                <a:uFillTx/>
                <a:latin typeface="Times New Roman" panose="02020603050405020304" pitchFamily="18" charset="0"/>
              </a:rPr>
              <a:t>个数的组合。</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grpSp>
        <p:nvGrpSpPr>
          <p:cNvPr id="120" name="组合 119"/>
          <p:cNvGrpSpPr/>
          <p:nvPr/>
        </p:nvGrpSpPr>
        <p:grpSpPr>
          <a:xfrm rot="0">
            <a:off x="3889375" y="2492375"/>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2575560" y="350075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3491865" y="3500120"/>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129" name="曲线连接符 128"/>
          <p:cNvCxnSpPr/>
          <p:nvPr/>
        </p:nvCxnSpPr>
        <p:spPr>
          <a:xfrm rot="5400000">
            <a:off x="3342640" y="2630170"/>
            <a:ext cx="426085" cy="1313815"/>
          </a:xfrm>
          <a:prstGeom prst="curvedConnector3">
            <a:avLst>
              <a:gd name="adj1" fmla="val 50075"/>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rot="5400000">
            <a:off x="3801110" y="3088640"/>
            <a:ext cx="425450" cy="39751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5" idx="0"/>
          </p:cNvCxnSpPr>
          <p:nvPr/>
        </p:nvCxnSpPr>
        <p:spPr>
          <a:xfrm rot="5400000">
            <a:off x="2225675" y="3729990"/>
            <a:ext cx="320675" cy="1025525"/>
          </a:xfrm>
          <a:prstGeom prst="curvedConnector3">
            <a:avLst>
              <a:gd name="adj1" fmla="val 50099"/>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a:endCxn id="15" idx="0"/>
          </p:cNvCxnSpPr>
          <p:nvPr/>
        </p:nvCxnSpPr>
        <p:spPr>
          <a:xfrm rot="5400000">
            <a:off x="2522538" y="4027488"/>
            <a:ext cx="320675" cy="4318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p:nvPr/>
        </p:nvCxnSpPr>
        <p:spPr>
          <a:xfrm rot="5400000" flipV="1">
            <a:off x="4806950" y="4161155"/>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sp>
        <p:nvSpPr>
          <p:cNvPr id="135" name="椭圆 134"/>
          <p:cNvSpPr/>
          <p:nvPr/>
        </p:nvSpPr>
        <p:spPr>
          <a:xfrm>
            <a:off x="170243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7" name="文本框 156"/>
          <p:cNvSpPr txBox="1"/>
          <p:nvPr/>
        </p:nvSpPr>
        <p:spPr>
          <a:xfrm>
            <a:off x="1134110" y="3721100"/>
            <a:ext cx="669925" cy="368300"/>
          </a:xfrm>
          <a:prstGeom prst="rect">
            <a:avLst/>
          </a:prstGeom>
          <a:noFill/>
        </p:spPr>
        <p:txBody>
          <a:bodyPr wrap="square" rtlCol="0">
            <a:spAutoFit/>
          </a:bodyPr>
          <a:p>
            <a:r>
              <a:rPr lang="zh-CN" altLang="en-US"/>
              <a:t>①</a:t>
            </a:r>
            <a:r>
              <a:rPr lang="en-US" altLang="zh-CN"/>
              <a:t> </a:t>
            </a:r>
            <a:endParaRPr lang="en-US" altLang="zh-CN"/>
          </a:p>
        </p:txBody>
      </p:sp>
      <p:sp>
        <p:nvSpPr>
          <p:cNvPr id="160" name="文本框 159"/>
          <p:cNvSpPr txBox="1"/>
          <p:nvPr/>
        </p:nvSpPr>
        <p:spPr>
          <a:xfrm>
            <a:off x="539750" y="4415790"/>
            <a:ext cx="669925" cy="368300"/>
          </a:xfrm>
          <a:prstGeom prst="rect">
            <a:avLst/>
          </a:prstGeom>
          <a:noFill/>
        </p:spPr>
        <p:txBody>
          <a:bodyPr wrap="square" rtlCol="0">
            <a:spAutoFit/>
          </a:bodyPr>
          <a:p>
            <a:r>
              <a:rPr lang="zh-CN" altLang="en-US"/>
              <a:t>②</a:t>
            </a:r>
            <a:r>
              <a:rPr lang="en-US" altLang="zh-CN"/>
              <a:t> </a:t>
            </a:r>
            <a:endParaRPr lang="en-US" altLang="zh-CN"/>
          </a:p>
        </p:txBody>
      </p:sp>
      <p:grpSp>
        <p:nvGrpSpPr>
          <p:cNvPr id="164" name="组合 163"/>
          <p:cNvGrpSpPr/>
          <p:nvPr/>
        </p:nvGrpSpPr>
        <p:grpSpPr>
          <a:xfrm rot="0">
            <a:off x="4925060" y="4438015"/>
            <a:ext cx="341630" cy="342265"/>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800">
                  <a:solidFill>
                    <a:srgbClr val="000066"/>
                  </a:solidFill>
                  <a:latin typeface="Times New Roman" panose="02020603050405020304" pitchFamily="18" charset="0"/>
                  <a:ea typeface="+mj-ea"/>
                  <a:cs typeface="Times New Roman" panose="02020603050405020304" pitchFamily="18" charset="0"/>
                </a:rPr>
                <a:t>4</a:t>
              </a:r>
              <a:endParaRPr lang="en-US" sz="1800">
                <a:solidFill>
                  <a:srgbClr val="000066"/>
                </a:solidFill>
                <a:latin typeface="Times New Roman" panose="02020603050405020304" pitchFamily="18" charset="0"/>
                <a:ea typeface="+mj-ea"/>
                <a:cs typeface="Times New Roman" panose="02020603050405020304" pitchFamily="18" charset="0"/>
              </a:endParaRPr>
            </a:p>
          </p:txBody>
        </p:sp>
      </p:grpSp>
      <p:sp>
        <p:nvSpPr>
          <p:cNvPr id="207" name="文本框 206"/>
          <p:cNvSpPr txBox="1"/>
          <p:nvPr/>
        </p:nvSpPr>
        <p:spPr>
          <a:xfrm>
            <a:off x="1619885" y="4826000"/>
            <a:ext cx="5189220" cy="450850"/>
          </a:xfrm>
          <a:prstGeom prst="rect">
            <a:avLst/>
          </a:prstGeom>
          <a:noFill/>
        </p:spPr>
        <p:txBody>
          <a:bodyPr wrap="square" rtlCol="0" anchor="t">
            <a:noAutofit/>
          </a:bodyPr>
          <a:p>
            <a:r>
              <a:rPr lang="en-US" altLang="zh-CN">
                <a:solidFill>
                  <a:schemeClr val="tx1"/>
                </a:solidFill>
                <a:latin typeface="Times New Roman" panose="02020603050405020304" pitchFamily="18" charset="0"/>
                <a:sym typeface="+mn-ea"/>
              </a:rPr>
              <a:t>[1,2]  [1,3]   [1,3]   [2,3]    [2,4]      [3,4]       </a:t>
            </a:r>
            <a:endParaRPr lang="en-US" altLang="zh-CN">
              <a:solidFill>
                <a:schemeClr val="tx1"/>
              </a:solidFill>
              <a:latin typeface="Times New Roman" panose="02020603050405020304" pitchFamily="18" charset="0"/>
              <a:sym typeface="+mn-ea"/>
            </a:endParaRPr>
          </a:p>
          <a:p>
            <a:endParaRPr lang="en-US" altLang="zh-CN">
              <a:solidFill>
                <a:schemeClr val="tx1"/>
              </a:solidFill>
              <a:latin typeface="Times New Roman" panose="02020603050405020304" pitchFamily="18" charset="0"/>
              <a:sym typeface="+mn-ea"/>
            </a:endParaRPr>
          </a:p>
        </p:txBody>
      </p:sp>
      <p:sp>
        <p:nvSpPr>
          <p:cNvPr id="3" name="文本框 2"/>
          <p:cNvSpPr txBox="1"/>
          <p:nvPr/>
        </p:nvSpPr>
        <p:spPr>
          <a:xfrm>
            <a:off x="1115695" y="1772285"/>
            <a:ext cx="7971790" cy="431165"/>
          </a:xfrm>
          <a:prstGeom prst="rect">
            <a:avLst/>
          </a:prstGeom>
          <a:noFill/>
        </p:spPr>
        <p:txBody>
          <a:bodyPr>
            <a:noAutofit/>
          </a:bodyPr>
          <a:p>
            <a:pPr>
              <a:defRPr/>
            </a:pPr>
            <a:r>
              <a:rPr lang="zh-CN" altLang="en-US">
                <a:solidFill>
                  <a:srgbClr val="000066"/>
                </a:solidFill>
                <a:uFillTx/>
                <a:latin typeface="Times New Roman" panose="02020603050405020304" pitchFamily="18" charset="0"/>
              </a:rPr>
              <a:t>例如：输入：</a:t>
            </a:r>
            <a:r>
              <a:rPr lang="en-US" altLang="zh-CN">
                <a:solidFill>
                  <a:srgbClr val="000066"/>
                </a:solidFill>
                <a:uFillTx/>
                <a:latin typeface="Times New Roman" panose="02020603050405020304" pitchFamily="18" charset="0"/>
              </a:rPr>
              <a:t>n = 4, k = 2</a:t>
            </a:r>
            <a:r>
              <a:rPr lang="zh-CN" altLang="en-US">
                <a:solidFill>
                  <a:srgbClr val="000066"/>
                </a:solidFill>
                <a:uFillTx/>
                <a:latin typeface="Times New Roman" panose="02020603050405020304" pitchFamily="18" charset="0"/>
              </a:rPr>
              <a:t>输出：</a:t>
            </a:r>
            <a:r>
              <a:rPr lang="en-US" altLang="zh-CN">
                <a:solidFill>
                  <a:srgbClr val="000066"/>
                </a:solidFill>
                <a:uFillTx/>
                <a:latin typeface="Times New Roman" panose="02020603050405020304" pitchFamily="18" charset="0"/>
              </a:rPr>
              <a:t>[[2,4],[3,4],[2,3],[1,2],[1,3],[1,4],]</a:t>
            </a:r>
            <a:endParaRPr lang="en-US" altLang="zh-CN">
              <a:solidFill>
                <a:srgbClr val="000066"/>
              </a:solidFill>
              <a:uFillTx/>
              <a:latin typeface="Times New Roman" panose="02020603050405020304" pitchFamily="18" charset="0"/>
            </a:endParaRPr>
          </a:p>
        </p:txBody>
      </p:sp>
      <p:sp>
        <p:nvSpPr>
          <p:cNvPr id="6" name="文本框 5"/>
          <p:cNvSpPr txBox="1"/>
          <p:nvPr/>
        </p:nvSpPr>
        <p:spPr>
          <a:xfrm>
            <a:off x="7884795" y="2060575"/>
            <a:ext cx="1292860" cy="1198880"/>
          </a:xfrm>
          <a:prstGeom prst="rect">
            <a:avLst/>
          </a:prstGeom>
          <a:noFill/>
        </p:spPr>
        <p:txBody>
          <a:bodyPr wrap="square" rtlCol="0">
            <a:spAutoFit/>
          </a:bodyPr>
          <a:p>
            <a:r>
              <a:rPr lang="zh-CN" altLang="en-US"/>
              <a:t>画一个空间树</a:t>
            </a:r>
            <a:r>
              <a:rPr lang="en-US" altLang="zh-CN"/>
              <a:t>0-1</a:t>
            </a:r>
            <a:r>
              <a:rPr lang="zh-CN" altLang="en-US"/>
              <a:t>背包问题回溯求</a:t>
            </a:r>
            <a:r>
              <a:rPr lang="zh-CN" altLang="en-US"/>
              <a:t>解</a:t>
            </a:r>
            <a:endParaRPr lang="zh-CN" altLang="en-US"/>
          </a:p>
        </p:txBody>
      </p:sp>
      <p:grpSp>
        <p:nvGrpSpPr>
          <p:cNvPr id="2" name="组合 1"/>
          <p:cNvGrpSpPr/>
          <p:nvPr/>
        </p:nvGrpSpPr>
        <p:grpSpPr>
          <a:xfrm rot="0">
            <a:off x="4500245" y="3506470"/>
            <a:ext cx="646430" cy="581660"/>
            <a:chOff x="10489" y="3359"/>
            <a:chExt cx="1018" cy="916"/>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 name="组合 8"/>
          <p:cNvGrpSpPr/>
          <p:nvPr/>
        </p:nvGrpSpPr>
        <p:grpSpPr>
          <a:xfrm rot="0">
            <a:off x="5436235" y="350710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13" name="曲线连接符 12"/>
          <p:cNvCxnSpPr/>
          <p:nvPr/>
        </p:nvCxnSpPr>
        <p:spPr>
          <a:xfrm rot="5400000" flipV="1">
            <a:off x="4302125" y="2985135"/>
            <a:ext cx="431800" cy="6108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 name="曲线连接符 13"/>
          <p:cNvCxnSpPr/>
          <p:nvPr/>
        </p:nvCxnSpPr>
        <p:spPr>
          <a:xfrm rot="5400000" flipV="1">
            <a:off x="4770120" y="2517140"/>
            <a:ext cx="432435" cy="154686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15" name="椭圆 14"/>
          <p:cNvSpPr/>
          <p:nvPr/>
        </p:nvSpPr>
        <p:spPr>
          <a:xfrm>
            <a:off x="2296160"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椭圆 15"/>
          <p:cNvSpPr/>
          <p:nvPr/>
        </p:nvSpPr>
        <p:spPr>
          <a:xfrm>
            <a:off x="2869565"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7" name="曲线连接符 16"/>
          <p:cNvCxnSpPr>
            <a:endCxn id="16" idx="0"/>
          </p:cNvCxnSpPr>
          <p:nvPr/>
        </p:nvCxnSpPr>
        <p:spPr>
          <a:xfrm rot="5400000" flipV="1">
            <a:off x="2800668" y="4181158"/>
            <a:ext cx="337820" cy="141605"/>
          </a:xfrm>
          <a:prstGeom prst="curvedConnector3">
            <a:avLst>
              <a:gd name="adj1" fmla="val 49906"/>
            </a:avLst>
          </a:prstGeom>
          <a:solidFill>
            <a:schemeClr val="accent1"/>
          </a:solidFill>
          <a:ln w="9525" cap="flat" cmpd="sng" algn="ctr">
            <a:solidFill>
              <a:schemeClr val="tx1"/>
            </a:solidFill>
            <a:prstDash val="solid"/>
            <a:round/>
            <a:headEnd type="none" w="med" len="med"/>
            <a:tailEnd type="arrow" w="med" len="med"/>
          </a:ln>
        </p:spPr>
      </p:cxnSp>
      <p:cxnSp>
        <p:nvCxnSpPr>
          <p:cNvPr id="20" name="曲线连接符 19"/>
          <p:cNvCxnSpPr>
            <a:endCxn id="21" idx="0"/>
          </p:cNvCxnSpPr>
          <p:nvPr/>
        </p:nvCxnSpPr>
        <p:spPr>
          <a:xfrm rot="5400000">
            <a:off x="3515995" y="4121150"/>
            <a:ext cx="338455" cy="259715"/>
          </a:xfrm>
          <a:prstGeom prst="curvedConnector3">
            <a:avLst>
              <a:gd name="adj1" fmla="val 50094"/>
            </a:avLst>
          </a:prstGeom>
          <a:solidFill>
            <a:schemeClr val="accent1"/>
          </a:solidFill>
          <a:ln w="9525" cap="flat" cmpd="sng" algn="ctr">
            <a:solidFill>
              <a:schemeClr val="tx1"/>
            </a:solidFill>
            <a:prstDash val="solid"/>
            <a:round/>
            <a:headEnd type="none" w="med" len="med"/>
            <a:tailEnd type="arrow" w="med" len="med"/>
          </a:ln>
        </p:spPr>
      </p:cxnSp>
      <p:sp>
        <p:nvSpPr>
          <p:cNvPr id="21" name="椭圆 20"/>
          <p:cNvSpPr/>
          <p:nvPr/>
        </p:nvSpPr>
        <p:spPr>
          <a:xfrm>
            <a:off x="3384550"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2" name="曲线连接符 21"/>
          <p:cNvCxnSpPr>
            <a:endCxn id="23" idx="0"/>
          </p:cNvCxnSpPr>
          <p:nvPr/>
        </p:nvCxnSpPr>
        <p:spPr>
          <a:xfrm rot="5400000" flipV="1">
            <a:off x="3830320" y="4067175"/>
            <a:ext cx="321310" cy="3517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23" name="椭圆 22"/>
          <p:cNvSpPr/>
          <p:nvPr/>
        </p:nvSpPr>
        <p:spPr>
          <a:xfrm>
            <a:off x="399605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4" name="直接连接符 23"/>
          <p:cNvCxnSpPr/>
          <p:nvPr/>
        </p:nvCxnSpPr>
        <p:spPr>
          <a:xfrm>
            <a:off x="1139825" y="4145915"/>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cxnSp>
        <p:nvCxnSpPr>
          <p:cNvPr id="25" name="直接连接符 24"/>
          <p:cNvCxnSpPr/>
          <p:nvPr/>
        </p:nvCxnSpPr>
        <p:spPr>
          <a:xfrm>
            <a:off x="1187450" y="4822190"/>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）回溯模板</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2</a:t>
            </a:r>
            <a:r>
              <a:rPr lang="zh-CN">
                <a:solidFill>
                  <a:srgbClr val="000066"/>
                </a:solidFill>
                <a:uFillTx/>
                <a:latin typeface="Times New Roman" panose="02020603050405020304" pitchFamily="18" charset="0"/>
              </a:rPr>
              <a:t>）回溯模板（有剪枝）</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3</a:t>
            </a:r>
            <a:r>
              <a:rPr lang="zh-CN">
                <a:solidFill>
                  <a:srgbClr val="000066"/>
                </a:solidFill>
                <a:uFillTx/>
                <a:latin typeface="Times New Roman" panose="02020603050405020304" pitchFamily="18" charset="0"/>
              </a:rPr>
              <a:t>）空间树类型：子集树，全排列树，</a:t>
            </a:r>
            <a:r>
              <a:rPr lang="en-US" altLang="zh-CN">
                <a:solidFill>
                  <a:srgbClr val="000066"/>
                </a:solidFill>
                <a:uFillTx/>
                <a:latin typeface="Times New Roman" panose="02020603050405020304" pitchFamily="18" charset="0"/>
              </a:rPr>
              <a:t>n</a:t>
            </a:r>
            <a:r>
              <a:rPr lang="zh-CN" altLang="en-US">
                <a:solidFill>
                  <a:srgbClr val="000066"/>
                </a:solidFill>
                <a:uFillTx/>
                <a:latin typeface="Times New Roman" panose="02020603050405020304" pitchFamily="18" charset="0"/>
              </a:rPr>
              <a:t>叉树</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6" y="1988840"/>
            <a:ext cx="8874126" cy="4339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现实中存在很多问题，目前来说没有高效的算法，这个时候求解问题只能使用蛮力法，即通过穷举搜索的方式来解决，在搜索过程中，蛮力法会生成该问题所有的可能解，之后去判断其是否满足约束条件，但蛮力算法效率普遍较低，尤其是在处理规模较大的问题时耗费时间较长，回溯法是对蛮力法的改进，是有组织的搜索，它基于下面两个特征来组织搜索过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一是在求解问题的过程中只有满足约束条件的解才是可行解，二是只有满足目标函数的解才是最优解，如此能够避免不必要的重复搜索，提高搜索效率。回溯法每次只构造可能解的一部分，接着用约束条件先进行判断，如果满足条件再对其进一步构造，这样就能够避免搜索所有的可能解，节省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6.1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回朔法概述</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6.1.1 </a:t>
            </a:r>
            <a:r>
              <a:rPr lang="zh-CN" altLang="en-US" sz="2400" b="1" dirty="0">
                <a:solidFill>
                  <a:srgbClr val="080808"/>
                </a:solidFill>
                <a:latin typeface="楷体" panose="02010609060101010101" pitchFamily="49" charset="-122"/>
                <a:ea typeface="楷体" panose="02010609060101010101" pitchFamily="49" charset="-122"/>
              </a:rPr>
              <a:t>问题的解空间</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、解空间的概念</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问题的解空间是指解决一个问题的所有可能解构成的集合。复杂问题的解通常是由若干个决策步骤组成的决策序列，设问题的解由一个解向量</a:t>
            </a:r>
            <a:r>
              <a:rPr lang="en-US" altLang="zh-CN" sz="2400" dirty="0">
                <a:solidFill>
                  <a:srgbClr val="080808"/>
                </a:solidFill>
                <a:latin typeface="楷体" panose="02010609060101010101" pitchFamily="49" charset="-122"/>
                <a:ea typeface="楷体" panose="02010609060101010101" pitchFamily="49" charset="-122"/>
              </a:rPr>
              <a:t>X={x1,x2,…,</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组成，其中分量</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个决策步骤的操作，</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的所有可能取值的组合叫做问题的解空间。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 </a:t>
            </a:r>
            <a:r>
              <a:rPr lang="zh-CN" altLang="en-US" sz="2400" dirty="0">
                <a:solidFill>
                  <a:srgbClr val="080808"/>
                </a:solidFill>
                <a:latin typeface="楷体" panose="02010609060101010101" pitchFamily="49" charset="-122"/>
                <a:ea typeface="楷体" panose="02010609060101010101" pitchFamily="49" charset="-122"/>
              </a:rPr>
              <a:t>两种可能的取值，当</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 (0,0,1), (0,1,0), (0,1,1),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 (1,0,1), (1,1,0), (1,1,1)}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{(0,0,0,0), (0,0,0,1), (0,0,1,0), (0,0,1,1),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(0,1,0,0), (0,1,0,1), (0,1,1,0), (0,1,1,1)</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(1,0,0,0), (1,0,0,1), (1,0,1,0), (1,0,1,1),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(1,1,0,0), (1,1,0,1), (1,1,1,0), (1,1,1,1)}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即：当问题规模为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时，有</a:t>
            </a:r>
            <a:r>
              <a:rPr lang="en-US" altLang="zh-CN" sz="2400" dirty="0">
                <a:solidFill>
                  <a:srgbClr val="080808"/>
                </a:solidFill>
                <a:latin typeface="楷体" panose="02010609060101010101" pitchFamily="49" charset="-122"/>
                <a:ea typeface="楷体" panose="02010609060101010101" pitchFamily="49" charset="-122"/>
              </a:rPr>
              <a:t>2n </a:t>
            </a:r>
            <a:r>
              <a:rPr lang="zh-CN" altLang="en-US" sz="2400" dirty="0">
                <a:solidFill>
                  <a:srgbClr val="080808"/>
                </a:solidFill>
                <a:latin typeface="楷体" panose="02010609060101010101" pitchFamily="49" charset="-122"/>
                <a:ea typeface="楷体" panose="02010609060101010101" pitchFamily="49" charset="-122"/>
              </a:rPr>
              <a:t>种可能的解。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可能解的表示：用等长向量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，其中分量 </a:t>
            </a:r>
            <a:r>
              <a:rPr lang="en-US" altLang="zh-CN" sz="2400" dirty="0">
                <a:solidFill>
                  <a:srgbClr val="080808"/>
                </a:solidFill>
                <a:latin typeface="楷体" panose="02010609060101010101" pitchFamily="49" charset="-122"/>
                <a:ea typeface="楷体" panose="02010609060101010101" pitchFamily="49" charset="-122"/>
              </a:rPr>
              <a:t>xi (1≤i≤n) </a:t>
            </a:r>
            <a:r>
              <a:rPr lang="zh-CN" altLang="en-US" sz="2400" dirty="0">
                <a:solidFill>
                  <a:srgbClr val="080808"/>
                </a:solidFill>
                <a:latin typeface="楷体" panose="02010609060101010101" pitchFamily="49" charset="-122"/>
                <a:ea typeface="楷体" panose="02010609060101010101" pitchFamily="49" charset="-122"/>
              </a:rPr>
              <a:t>的取值范围是某个有限集合 </a:t>
            </a:r>
            <a:r>
              <a:rPr lang="en-US" altLang="zh-CN" sz="2400" dirty="0">
                <a:solidFill>
                  <a:srgbClr val="080808"/>
                </a:solidFill>
                <a:latin typeface="楷体" panose="02010609060101010101" pitchFamily="49" charset="-122"/>
                <a:ea typeface="楷体" panose="02010609060101010101" pitchFamily="49" charset="-122"/>
              </a:rPr>
              <a:t>S={a1, a2, …, </a:t>
            </a:r>
            <a:r>
              <a:rPr lang="en-US" altLang="zh-CN" sz="2400" dirty="0" err="1">
                <a:solidFill>
                  <a:srgbClr val="080808"/>
                </a:solidFill>
                <a:latin typeface="楷体" panose="02010609060101010101" pitchFamily="49" charset="-122"/>
                <a:ea typeface="楷体" panose="02010609060101010101" pitchFamily="49" charset="-122"/>
              </a:rPr>
              <a:t>aj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，所有可能的解向量就构成了问题的解空间。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问题的解空间一般采用树的方式来组织，称之为解空间树，解空间树中的各个结点都能够确定所解问题的一个状态。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层：即树的根结点，代表搜索的初始状态；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层结点：表示对解向量的第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个分量做出选择后到达的状态；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层间的边：标出对第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个分量选择的结果。</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依此类推，通常情况下，从根结点到叶子结点的路径就构成了解空间的一个可能解。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在解空间中，满足约束条件的解称为可行解，在约束条件下使目标达到最优的可行解称为该问题的最优解。例如在背包问题中，有</a:t>
            </a:r>
            <a:r>
              <a:rPr lang="en-US" altLang="zh-CN" sz="2400" dirty="0">
                <a:solidFill>
                  <a:srgbClr val="080808"/>
                </a:solidFill>
                <a:latin typeface="楷体" panose="02010609060101010101" pitchFamily="49" charset="-122"/>
                <a:ea typeface="楷体" panose="02010609060101010101" pitchFamily="49" charset="-122"/>
              </a:rPr>
              <a:t>2n</a:t>
            </a:r>
            <a:r>
              <a:rPr lang="zh-CN" altLang="en-US" sz="2400" dirty="0">
                <a:solidFill>
                  <a:srgbClr val="080808"/>
                </a:solidFill>
                <a:latin typeface="楷体" panose="02010609060101010101" pitchFamily="49" charset="-122"/>
                <a:ea typeface="楷体" panose="02010609060101010101" pitchFamily="49" charset="-122"/>
              </a:rPr>
              <a:t>种可能解，一部分是可行解，而可行解中只有一个或几个是最优解。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1124744"/>
            <a:ext cx="8863627"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例：在</a:t>
            </a:r>
            <a:r>
              <a:rPr lang="en-US" altLang="zh-CN" sz="2000" dirty="0">
                <a:solidFill>
                  <a:srgbClr val="080808"/>
                </a:solidFill>
                <a:latin typeface="楷体" panose="02010609060101010101" pitchFamily="49" charset="-122"/>
                <a:ea typeface="楷体" panose="02010609060101010101" pitchFamily="49" charset="-122"/>
              </a:rPr>
              <a:t>0-1</a:t>
            </a:r>
            <a:r>
              <a:rPr lang="zh-CN" altLang="en-US" sz="2000" dirty="0">
                <a:solidFill>
                  <a:srgbClr val="080808"/>
                </a:solidFill>
                <a:latin typeface="楷体" panose="02010609060101010101" pitchFamily="49" charset="-122"/>
                <a:ea typeface="楷体" panose="02010609060101010101" pitchFamily="49" charset="-122"/>
              </a:rPr>
              <a:t>背包问题中，当</a:t>
            </a:r>
            <a:r>
              <a:rPr lang="en-US" altLang="zh-CN" sz="2000" dirty="0">
                <a:solidFill>
                  <a:srgbClr val="080808"/>
                </a:solidFill>
                <a:latin typeface="楷体" panose="02010609060101010101" pitchFamily="49" charset="-122"/>
                <a:ea typeface="楷体" panose="02010609060101010101" pitchFamily="49" charset="-122"/>
              </a:rPr>
              <a:t>n=3</a:t>
            </a:r>
            <a:r>
              <a:rPr lang="zh-CN" altLang="en-US" sz="2000" dirty="0">
                <a:solidFill>
                  <a:srgbClr val="080808"/>
                </a:solidFill>
                <a:latin typeface="楷体" panose="02010609060101010101" pitchFamily="49" charset="-122"/>
                <a:ea typeface="楷体" panose="02010609060101010101" pitchFamily="49" charset="-122"/>
              </a:rPr>
              <a:t>时，其解空间树如下图</a:t>
            </a:r>
            <a:r>
              <a:rPr lang="en-US" altLang="zh-CN" sz="2000" dirty="0">
                <a:solidFill>
                  <a:srgbClr val="080808"/>
                </a:solidFill>
                <a:latin typeface="楷体" panose="02010609060101010101" pitchFamily="49" charset="-122"/>
                <a:ea typeface="楷体" panose="02010609060101010101" pitchFamily="49" charset="-122"/>
              </a:rPr>
              <a:t>6.1 </a:t>
            </a:r>
            <a:r>
              <a:rPr lang="zh-CN" altLang="en-US" sz="2000" dirty="0">
                <a:solidFill>
                  <a:srgbClr val="080808"/>
                </a:solidFill>
                <a:latin typeface="楷体" panose="02010609060101010101" pitchFamily="49" charset="-122"/>
                <a:ea typeface="楷体" panose="02010609060101010101" pitchFamily="49" charset="-122"/>
              </a:rPr>
              <a:t>所示，第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，树中的</a:t>
            </a:r>
            <a:r>
              <a:rPr lang="en-US" altLang="zh-CN" sz="2000" dirty="0">
                <a:solidFill>
                  <a:srgbClr val="080808"/>
                </a:solidFill>
                <a:latin typeface="楷体" panose="02010609060101010101" pitchFamily="49" charset="-122"/>
                <a:ea typeface="楷体" panose="02010609060101010101" pitchFamily="49" charset="-122"/>
              </a:rPr>
              <a:t>8</a:t>
            </a:r>
            <a:r>
              <a:rPr lang="zh-CN" altLang="en-US" sz="20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000" dirty="0">
                <a:solidFill>
                  <a:srgbClr val="080808"/>
                </a:solidFill>
                <a:latin typeface="楷体" panose="02010609060101010101" pitchFamily="49" charset="-122"/>
                <a:ea typeface="楷体" panose="02010609060101010101" pitchFamily="49" charset="-122"/>
              </a:rPr>
              <a:t>8 </a:t>
            </a:r>
            <a:r>
              <a:rPr lang="zh-CN" altLang="en-US" sz="2000" dirty="0">
                <a:solidFill>
                  <a:srgbClr val="080808"/>
                </a:solidFill>
                <a:latin typeface="楷体" panose="02010609060101010101" pitchFamily="49" charset="-122"/>
                <a:ea typeface="楷体" panose="02010609060101010101" pitchFamily="49" charset="-122"/>
              </a:rPr>
              <a:t>个可能解。</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34862" y="3063736"/>
            <a:ext cx="8208912" cy="3489329"/>
          </a:xfrm>
          <a:prstGeom prst="rect">
            <a:avLst/>
          </a:prstGeom>
        </p:spPr>
      </p:pic>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6.1.2 </a:t>
            </a:r>
            <a:r>
              <a:rPr lang="zh-CN" altLang="en-US" sz="2400" b="1" dirty="0">
                <a:solidFill>
                  <a:srgbClr val="080808"/>
                </a:solidFill>
                <a:latin typeface="楷体" panose="02010609060101010101" pitchFamily="49" charset="-122"/>
                <a:ea typeface="楷体" panose="02010609060101010101" pitchFamily="49" charset="-122"/>
              </a:rPr>
              <a:t>回朔法的基本思想</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回溯法是有组织的，在不断探索的过程中寻找问题的解，当探索到某一步时，发现不满足约束条件的时候，就回退一步，而后重新选择，继续尝试其它的路径，这种方法就叫做回溯法，满足回溯条件的某个状态的点称为“回溯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树中，回溯法是从初始状态，即根结点出发，遵循深度优先遍历的策略，探索满足约束条件的解。在探索到树中的某一结点时，会先判断该结点所对应解是否满足约束条件，即判断该结点是否包含问题的解，如果不满足条件，就不再对以该结点为根的子树进行探索，称之为剪枝；如果满足条件的话再进入以该结点为根的子树，继续按照深度优先策略进行探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20</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136831" cy="2499041"/>
          </a:xfrm>
          <a:prstGeom prst="rect">
            <a:avLst/>
          </a:prstGeom>
        </p:spPr>
      </p:pic>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0" y="3573017"/>
            <a:ext cx="9144001" cy="3465076"/>
          </a:xfrm>
          <a:prstGeom prst="rect">
            <a:avLst/>
          </a:prstGeom>
        </p:spPr>
      </p:pic>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54259" y="539988"/>
            <a:ext cx="9144001" cy="2961020"/>
          </a:xfrm>
          <a:prstGeom prst="rect">
            <a:avLst/>
          </a:prstGeom>
        </p:spPr>
      </p:pic>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908720"/>
            <a:ext cx="8798261"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6.1.3  0-1</a:t>
            </a:r>
            <a:r>
              <a:rPr lang="zh-CN" altLang="en-US" sz="2400" b="1" dirty="0">
                <a:solidFill>
                  <a:srgbClr val="080808"/>
                </a:solidFill>
                <a:latin typeface="楷体" panose="02010609060101010101" pitchFamily="49" charset="-122"/>
                <a:ea typeface="楷体" panose="02010609060101010101" pitchFamily="49" charset="-122"/>
              </a:rPr>
              <a:t>背包问题</a:t>
            </a: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问题描述：给定一个容量为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的背包和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种物品，已知物品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的重量是 </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，其价值为 </a:t>
            </a:r>
            <a:r>
              <a:rPr lang="en-US" altLang="zh-CN" sz="2400" dirty="0">
                <a:solidFill>
                  <a:srgbClr val="080808"/>
                </a:solidFill>
                <a:latin typeface="楷体" panose="02010609060101010101" pitchFamily="49" charset="-122"/>
                <a:ea typeface="楷体" panose="02010609060101010101" pitchFamily="49" charset="-122"/>
              </a:rPr>
              <a:t>vi</a:t>
            </a:r>
            <a:r>
              <a:rPr lang="zh-CN" altLang="en-US" sz="2400" dirty="0">
                <a:solidFill>
                  <a:srgbClr val="080808"/>
                </a:solidFill>
                <a:latin typeface="楷体" panose="02010609060101010101" pitchFamily="49" charset="-122"/>
                <a:ea typeface="楷体" panose="02010609060101010101" pitchFamily="49" charset="-122"/>
              </a:rPr>
              <a:t>，求解的问题是</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表示物品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装入背包的情况，即解向量：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没被装入背包，当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整个被装入背包。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背包载重量是</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3282499" y="4149080"/>
            <a:ext cx="1794936" cy="897467"/>
          </a:xfrm>
          <a:prstGeom prst="rect">
            <a:avLst/>
          </a:prstGeom>
        </p:spPr>
      </p:pic>
      <p:sp>
        <p:nvSpPr>
          <p:cNvPr id="5" name="Text Box 4"/>
          <p:cNvSpPr txBox="1">
            <a:spLocks noChangeArrowheads="1"/>
          </p:cNvSpPr>
          <p:nvPr/>
        </p:nvSpPr>
        <p:spPr bwMode="auto">
          <a:xfrm>
            <a:off x="546195" y="5046547"/>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背包中的物品总价值最大，即：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7"/>
          <a:stretch>
            <a:fillRect/>
          </a:stretch>
        </p:blipFill>
        <p:spPr>
          <a:xfrm>
            <a:off x="3224462" y="5508212"/>
            <a:ext cx="1911009" cy="1005795"/>
          </a:xfrm>
          <a:prstGeom prst="rect">
            <a:avLst/>
          </a:prstGeom>
        </p:spPr>
      </p:pic>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使用回朔法求解</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首先确定问题的解空间树。数中的每个结点都代表背包的一种状态，可以在每个结点中存放当前背包装入物品的总重量和总价值。每个结点的下面有两个分支表示对某个物品是否放入背包的两种可能选择。例如，对于对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层上的某个结点，其左下方的分支表示物品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装入背包，此时背包中物品的总重量增加了</a:t>
            </a: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，总价值增加了</a:t>
            </a:r>
            <a:r>
              <a:rPr lang="en-US" altLang="zh-CN" sz="2400" dirty="0">
                <a:solidFill>
                  <a:srgbClr val="080808"/>
                </a:solidFill>
                <a:latin typeface="楷体" panose="02010609060101010101" pitchFamily="49" charset="-122"/>
                <a:ea typeface="楷体" panose="02010609060101010101" pitchFamily="49" charset="-122"/>
              </a:rPr>
              <a:t>v[</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，其右下方的分支表示物品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不装入背包，此时背包的重量和价值不发生变化。在搜索过程中，用约束条件来进行判断，剪去无法获得可行解的分支，避免无效搜索。所有的可行解都在叶子节点中，最后根据目标函数从中找出最优解。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8</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579190" cy="3194417"/>
          </a:xfrm>
          <a:prstGeom prst="rect">
            <a:avLst/>
          </a:prstGeom>
        </p:spPr>
      </p:pic>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2869" y="1340768"/>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467544" y="1834650"/>
            <a:ext cx="7673018" cy="4772877"/>
          </a:xfrm>
          <a:prstGeom prst="rect">
            <a:avLst/>
          </a:prstGeom>
        </p:spPr>
      </p:pic>
      <p:pic>
        <p:nvPicPr>
          <p:cNvPr id="5" name="图片 4"/>
          <p:cNvPicPr>
            <a:picLocks noChangeAspect="1"/>
          </p:cNvPicPr>
          <p:nvPr/>
        </p:nvPicPr>
        <p:blipFill>
          <a:blip r:embed="rId7"/>
          <a:stretch>
            <a:fillRect/>
          </a:stretch>
        </p:blipFill>
        <p:spPr>
          <a:xfrm>
            <a:off x="5400505" y="0"/>
            <a:ext cx="3780008" cy="2636912"/>
          </a:xfrm>
          <a:prstGeom prst="rect">
            <a:avLst/>
          </a:prstGeom>
        </p:spPr>
      </p:pic>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 y="-10954"/>
            <a:ext cx="5400506"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如上图所示，解空间树中的有些分枝结点的总重量已超过了</a:t>
            </a:r>
            <a:r>
              <a:rPr lang="en-US" altLang="zh-CN" sz="2000" dirty="0">
                <a:solidFill>
                  <a:srgbClr val="080808"/>
                </a:solidFill>
                <a:latin typeface="楷体" panose="02010609060101010101" pitchFamily="49" charset="-122"/>
                <a:ea typeface="楷体" panose="02010609060101010101" pitchFamily="49" charset="-122"/>
              </a:rPr>
              <a:t>c</a:t>
            </a:r>
            <a:r>
              <a:rPr lang="zh-CN" altLang="en-US" sz="2000" dirty="0">
                <a:solidFill>
                  <a:srgbClr val="080808"/>
                </a:solidFill>
                <a:latin typeface="楷体" panose="02010609060101010101" pitchFamily="49" charset="-122"/>
                <a:ea typeface="楷体" panose="02010609060101010101" pitchFamily="49" charset="-122"/>
              </a:rPr>
              <a:t>，就无需再继续搜索了，可以在此处设置约束函数，即装入背包物品的重量之和</a:t>
            </a:r>
            <a:r>
              <a:rPr lang="en-US" altLang="zh-CN" sz="2000" dirty="0">
                <a:solidFill>
                  <a:srgbClr val="080808"/>
                </a:solidFill>
                <a:latin typeface="楷体" panose="02010609060101010101" pitchFamily="49" charset="-122"/>
                <a:ea typeface="楷体" panose="02010609060101010101" pitchFamily="49" charset="-122"/>
              </a:rPr>
              <a:t>&lt;c</a:t>
            </a:r>
            <a:r>
              <a:rPr lang="zh-CN" altLang="en-US" sz="2000" dirty="0">
                <a:solidFill>
                  <a:srgbClr val="080808"/>
                </a:solidFill>
                <a:latin typeface="楷体" panose="02010609060101010101" pitchFamily="49" charset="-122"/>
                <a:ea typeface="楷体" panose="02010609060101010101" pitchFamily="49" charset="-122"/>
              </a:rPr>
              <a:t>，运用它对解空间树进行剪枝，剪枝后的解空间树如下图所示。</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5400505" y="0"/>
            <a:ext cx="3780008" cy="2636912"/>
          </a:xfrm>
          <a:prstGeom prst="rect">
            <a:avLst/>
          </a:prstGeom>
        </p:spPr>
      </p:pic>
      <p:pic>
        <p:nvPicPr>
          <p:cNvPr id="6" name="图片 5"/>
          <p:cNvPicPr/>
          <p:nvPr/>
        </p:nvPicPr>
        <p:blipFill>
          <a:blip r:embed="rId7">
            <a:extLst>
              <a:ext uri="{28A0092B-C50C-407E-A947-70E740481C1C}">
                <a14:useLocalDpi xmlns:a14="http://schemas.microsoft.com/office/drawing/2010/main" val="0"/>
              </a:ext>
            </a:extLst>
          </a:blip>
          <a:stretch>
            <a:fillRect/>
          </a:stretch>
        </p:blipFill>
        <p:spPr>
          <a:xfrm>
            <a:off x="107504" y="2636912"/>
            <a:ext cx="8876050" cy="3984510"/>
          </a:xfrm>
          <a:prstGeom prst="rect">
            <a:avLst/>
          </a:prstGeom>
        </p:spPr>
      </p:pic>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16351" y="1493495"/>
            <a:ext cx="8874126"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6.1】</a:t>
            </a:r>
            <a:r>
              <a:rPr lang="zh-CN" altLang="en-US" sz="2400" dirty="0">
                <a:solidFill>
                  <a:srgbClr val="080808"/>
                </a:solidFill>
                <a:latin typeface="楷体" panose="02010609060101010101" pitchFamily="49" charset="-122"/>
                <a:ea typeface="楷体" panose="02010609060101010101" pitchFamily="49" charset="-122"/>
              </a:rPr>
              <a:t>子集和问题。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问题描述：现有正整数集</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z1,z2,…,</a:t>
            </a:r>
            <a:r>
              <a:rPr lang="en-US" altLang="zh-CN" sz="2400" dirty="0" err="1">
                <a:solidFill>
                  <a:srgbClr val="080808"/>
                </a:solidFill>
                <a:latin typeface="楷体" panose="02010609060101010101" pitchFamily="49" charset="-122"/>
                <a:ea typeface="楷体" panose="02010609060101010101" pitchFamily="49" charset="-122"/>
              </a:rPr>
              <a:t>zn</a:t>
            </a:r>
            <a:r>
              <a:rPr lang="zh-CN" altLang="en-US" sz="2400" dirty="0">
                <a:solidFill>
                  <a:srgbClr val="080808"/>
                </a:solidFill>
                <a:latin typeface="楷体" panose="02010609060101010101" pitchFamily="49" charset="-122"/>
                <a:ea typeface="楷体" panose="02010609060101010101" pitchFamily="49" charset="-122"/>
              </a:rPr>
              <a:t>），其中各数据元素的值不相等，给定一个正数</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，请设计算法找出</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的子集</a:t>
            </a:r>
            <a:r>
              <a:rPr lang="en-US" altLang="zh-CN" sz="2400" dirty="0">
                <a:solidFill>
                  <a:srgbClr val="080808"/>
                </a:solidFill>
                <a:latin typeface="楷体" panose="02010609060101010101" pitchFamily="49" charset="-122"/>
                <a:ea typeface="楷体" panose="02010609060101010101" pitchFamily="49" charset="-122"/>
              </a:rPr>
              <a:t>t</a:t>
            </a:r>
            <a:r>
              <a:rPr lang="zh-CN" altLang="en-US" sz="2400" dirty="0">
                <a:solidFill>
                  <a:srgbClr val="080808"/>
                </a:solidFill>
                <a:latin typeface="楷体" panose="02010609060101010101" pitchFamily="49" charset="-122"/>
                <a:ea typeface="楷体" panose="02010609060101010101" pitchFamily="49" charset="-122"/>
              </a:rPr>
              <a:t>，使该子集中所有元素的和等于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16,12,28,7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c=35</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则所求子集为：（</a:t>
            </a:r>
            <a:r>
              <a:rPr lang="en-US" altLang="zh-CN" sz="2400" dirty="0">
                <a:solidFill>
                  <a:srgbClr val="080808"/>
                </a:solidFill>
                <a:latin typeface="楷体" panose="02010609060101010101" pitchFamily="49" charset="-122"/>
                <a:ea typeface="楷体" panose="02010609060101010101" pitchFamily="49" charset="-122"/>
              </a:rPr>
              <a:t>16,12,7</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28,7</a:t>
            </a:r>
            <a:r>
              <a:rPr lang="zh-CN" altLang="en-US"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问题求解：本题采用回朔法策略。首先构造解空间树，如下图</a:t>
            </a:r>
            <a:r>
              <a:rPr lang="en-US" altLang="zh-CN" sz="2400" dirty="0">
                <a:solidFill>
                  <a:srgbClr val="080808"/>
                </a:solidFill>
                <a:latin typeface="楷体" panose="02010609060101010101" pitchFamily="49" charset="-122"/>
                <a:ea typeface="楷体" panose="02010609060101010101" pitchFamily="49" charset="-122"/>
              </a:rPr>
              <a:t>6.5</a:t>
            </a:r>
            <a:r>
              <a:rPr lang="zh-CN" altLang="en-US" sz="2400" dirty="0">
                <a:solidFill>
                  <a:srgbClr val="080808"/>
                </a:solidFill>
                <a:latin typeface="楷体" panose="02010609060101010101" pitchFamily="49" charset="-122"/>
                <a:ea typeface="楷体" panose="02010609060101010101" pitchFamily="49" charset="-122"/>
              </a:rPr>
              <a:t>所示：第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，树中的</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个可能解：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123728" y="908720"/>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486873" y="1340768"/>
            <a:ext cx="8170254" cy="5112568"/>
          </a:xfrm>
          <a:prstGeom prst="rect">
            <a:avLst/>
          </a:prstGeom>
        </p:spPr>
      </p:pic>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76363" y="1622539"/>
            <a:ext cx="9067637"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为求解子集和问题需要搜索整个解空间树，设解向量</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x1,x2,…,</a:t>
            </a:r>
            <a:r>
              <a:rPr lang="en-US" altLang="zh-CN" sz="2400" dirty="0" err="1">
                <a:solidFill>
                  <a:srgbClr val="080808"/>
                </a:solidFill>
                <a:latin typeface="楷体" panose="02010609060101010101" pitchFamily="49" charset="-122"/>
                <a:ea typeface="楷体" panose="02010609060101010101" pitchFamily="49" charset="-122"/>
              </a:rPr>
              <a:t>xn</a:t>
            </a:r>
            <a:r>
              <a:rPr lang="zh-CN" altLang="en-US" sz="2400" dirty="0">
                <a:solidFill>
                  <a:srgbClr val="080808"/>
                </a:solidFill>
                <a:latin typeface="楷体" panose="02010609060101010101" pitchFamily="49" charset="-122"/>
                <a:ea typeface="楷体" panose="02010609060101010101" pitchFamily="49" charset="-122"/>
              </a:rPr>
              <a:t>），当搜索到叶子结点的时候，计算子集和，如果相应所得结果为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，就输出</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。在搜索过程中设置约束函数进行剪枝，设</a:t>
            </a:r>
            <a:r>
              <a:rPr lang="en-US" altLang="zh-CN" sz="2400" dirty="0" err="1">
                <a:solidFill>
                  <a:srgbClr val="080808"/>
                </a:solidFill>
                <a:latin typeface="楷体" panose="02010609060101010101" pitchFamily="49" charset="-122"/>
                <a:ea typeface="楷体" panose="02010609060101010101" pitchFamily="49" charset="-122"/>
              </a:rPr>
              <a:t>tz</a:t>
            </a:r>
            <a:r>
              <a:rPr lang="zh-CN" altLang="en-US" sz="2400" dirty="0">
                <a:solidFill>
                  <a:srgbClr val="080808"/>
                </a:solidFill>
                <a:latin typeface="楷体" panose="02010609060101010101" pitchFamily="49" charset="-122"/>
                <a:ea typeface="楷体" panose="02010609060101010101" pitchFamily="49" charset="-122"/>
              </a:rPr>
              <a:t>表示已选取整数的和，</a:t>
            </a:r>
            <a:r>
              <a:rPr lang="en-US" altLang="zh-CN" sz="2400" dirty="0" err="1">
                <a:solidFill>
                  <a:srgbClr val="080808"/>
                </a:solidFill>
                <a:latin typeface="楷体" panose="02010609060101010101" pitchFamily="49" charset="-122"/>
                <a:ea typeface="楷体" panose="02010609060101010101" pitchFamily="49" charset="-122"/>
              </a:rPr>
              <a:t>rz</a:t>
            </a:r>
            <a:r>
              <a:rPr lang="zh-CN" altLang="en-US" sz="2400" dirty="0">
                <a:solidFill>
                  <a:srgbClr val="080808"/>
                </a:solidFill>
                <a:latin typeface="楷体" panose="02010609060101010101" pitchFamily="49" charset="-122"/>
                <a:ea typeface="楷体" panose="02010609060101010101" pitchFamily="49" charset="-122"/>
              </a:rPr>
              <a:t>表示余下整数的和，则：</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约束函数：一是判断当前整数</a:t>
            </a:r>
            <a:r>
              <a:rPr lang="en-US" altLang="zh-CN" sz="2400" dirty="0" err="1">
                <a:solidFill>
                  <a:srgbClr val="080808"/>
                </a:solidFill>
                <a:latin typeface="楷体" panose="02010609060101010101" pitchFamily="49" charset="-122"/>
                <a:ea typeface="楷体" panose="02010609060101010101" pitchFamily="49" charset="-122"/>
              </a:rPr>
              <a:t>zi</a:t>
            </a:r>
            <a:r>
              <a:rPr lang="zh-CN" altLang="en-US" sz="2400" dirty="0">
                <a:solidFill>
                  <a:srgbClr val="080808"/>
                </a:solidFill>
                <a:latin typeface="楷体" panose="02010609060101010101" pitchFamily="49" charset="-122"/>
                <a:ea typeface="楷体" panose="02010609060101010101" pitchFamily="49" charset="-122"/>
              </a:rPr>
              <a:t>加入后的子集和是否小于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，如果是就继续搜索，否则结束搜索。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限界函数：如果某一个结点的</a:t>
            </a:r>
            <a:r>
              <a:rPr lang="en-US" altLang="zh-CN" sz="2400" dirty="0" err="1">
                <a:solidFill>
                  <a:srgbClr val="080808"/>
                </a:solidFill>
                <a:latin typeface="楷体" panose="02010609060101010101" pitchFamily="49" charset="-122"/>
                <a:ea typeface="楷体" panose="02010609060101010101" pitchFamily="49" charset="-122"/>
              </a:rPr>
              <a:t>tz+rz</a:t>
            </a:r>
            <a:r>
              <a:rPr lang="en-US" altLang="zh-CN" sz="2400" dirty="0">
                <a:solidFill>
                  <a:srgbClr val="080808"/>
                </a:solidFill>
                <a:latin typeface="楷体" panose="02010609060101010101" pitchFamily="49" charset="-122"/>
                <a:ea typeface="楷体" panose="02010609060101010101" pitchFamily="49" charset="-122"/>
              </a:rPr>
              <a:t>&lt;c</a:t>
            </a:r>
            <a:r>
              <a:rPr lang="zh-CN" altLang="en-US" sz="2400" dirty="0">
                <a:solidFill>
                  <a:srgbClr val="080808"/>
                </a:solidFill>
                <a:latin typeface="楷体" panose="02010609060101010101" pitchFamily="49" charset="-122"/>
                <a:ea typeface="楷体" panose="02010609060101010101" pitchFamily="49" charset="-122"/>
              </a:rPr>
              <a:t>，表示无解，结束搜索。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从根结点出发，对解空间树的搜索过程如表</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所示：</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0" y="3429000"/>
            <a:ext cx="9144000" cy="4045496"/>
          </a:xfrm>
          <a:prstGeom prst="rect">
            <a:avLst/>
          </a:prstGeom>
        </p:spPr>
      </p:pic>
      <p:sp>
        <p:nvSpPr>
          <p:cNvPr id="5" name="矩形 4"/>
          <p:cNvSpPr/>
          <p:nvPr/>
        </p:nvSpPr>
        <p:spPr>
          <a:xfrm>
            <a:off x="5220072" y="3657601"/>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19473" y="-29682"/>
            <a:ext cx="9144000" cy="3458682"/>
          </a:xfrm>
          <a:prstGeom prst="rect">
            <a:avLst/>
          </a:prstGeom>
        </p:spPr>
      </p:pic>
      <p:sp>
        <p:nvSpPr>
          <p:cNvPr id="5" name="矩形 4"/>
          <p:cNvSpPr/>
          <p:nvPr/>
        </p:nvSpPr>
        <p:spPr>
          <a:xfrm>
            <a:off x="5056258" y="116632"/>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340768"/>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装载问题。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个集装箱，要装上</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艘轮船，轮船的载重量分别为</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c2</a:t>
            </a:r>
            <a:r>
              <a:rPr lang="zh-CN" altLang="en-US" sz="2400" dirty="0">
                <a:solidFill>
                  <a:srgbClr val="080808"/>
                </a:solidFill>
                <a:latin typeface="楷体" panose="02010609060101010101" pitchFamily="49" charset="-122"/>
                <a:ea typeface="楷体" panose="02010609060101010101" pitchFamily="49" charset="-122"/>
              </a:rPr>
              <a:t>，已知集装箱</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的重量为</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，且</a:t>
            </a:r>
            <a:r>
              <a:rPr lang="en-US" altLang="zh-CN" sz="2400" dirty="0">
                <a:solidFill>
                  <a:srgbClr val="080808"/>
                </a:solidFill>
                <a:latin typeface="楷体" panose="02010609060101010101" pitchFamily="49" charset="-122"/>
                <a:ea typeface="楷体" panose="02010609060101010101" pitchFamily="49" charset="-122"/>
              </a:rPr>
              <a:t>w1+w2+……+</a:t>
            </a:r>
            <a:r>
              <a:rPr lang="en-US" altLang="zh-CN" sz="2400" dirty="0" err="1">
                <a:solidFill>
                  <a:srgbClr val="080808"/>
                </a:solidFill>
                <a:latin typeface="楷体" panose="02010609060101010101" pitchFamily="49" charset="-122"/>
                <a:ea typeface="楷体" panose="02010609060101010101" pitchFamily="49" charset="-122"/>
              </a:rPr>
              <a:t>wn</a:t>
            </a:r>
            <a:r>
              <a:rPr lang="en-US" altLang="zh-CN" sz="2400" dirty="0">
                <a:solidFill>
                  <a:srgbClr val="080808"/>
                </a:solidFill>
                <a:latin typeface="楷体" panose="02010609060101010101" pitchFamily="49" charset="-122"/>
                <a:ea typeface="楷体" panose="02010609060101010101" pitchFamily="49" charset="-122"/>
              </a:rPr>
              <a:t>&lt;=c1+c2</a:t>
            </a:r>
            <a:r>
              <a:rPr lang="zh-CN" altLang="en-US" sz="2400" dirty="0">
                <a:solidFill>
                  <a:srgbClr val="080808"/>
                </a:solidFill>
                <a:latin typeface="楷体" panose="02010609060101010101" pitchFamily="49" charset="-122"/>
                <a:ea typeface="楷体" panose="02010609060101010101" pitchFamily="49" charset="-122"/>
              </a:rPr>
              <a:t>，请设计算法找出一个合理的装载方案可将全部集装箱装上这</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、解题思路：分为以下两步：</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）先将第一艘轮船尽可能的装满；</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）而后将剩余的集装箱装在第二艘轮船上。</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采用回朔法求解，将第一艘轮船尽可能的装满相当于选取所有集装箱的一个子集，使该子集中的集装箱重量之和尽可能接近</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，和背包问题有些类似，问题描述如下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4088" y="1124744"/>
            <a:ext cx="8874126"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表示集装箱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的载重量是</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，因此装入轮船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中的集装箱总重量不得超过</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，即：</a:t>
            </a:r>
            <a:r>
              <a:rPr lang="en-US" altLang="zh-CN" sz="2400" dirty="0">
                <a:solidFill>
                  <a:srgbClr val="080808"/>
                </a:solidFill>
                <a:latin typeface="楷体" panose="02010609060101010101" pitchFamily="49" charset="-122"/>
                <a:ea typeface="楷体" panose="02010609060101010101" pitchFamily="49" charset="-122"/>
              </a:rPr>
              <a:t>(w1x1+w2x2+...+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)&lt;= c1</a:t>
            </a:r>
            <a:r>
              <a:rPr lang="zh-CN" altLang="en-US" sz="2400" dirty="0">
                <a:solidFill>
                  <a:srgbClr val="080808"/>
                </a:solidFill>
                <a:latin typeface="楷体" panose="02010609060101010101" pitchFamily="49" charset="-122"/>
                <a:ea typeface="楷体" panose="02010609060101010101" pitchFamily="49" charset="-122"/>
              </a:rPr>
              <a:t>，可以用于解空间树的剪枝。</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中的集装箱总重量最大，即</a:t>
            </a:r>
            <a:r>
              <a:rPr lang="en-US" altLang="zh-CN" sz="2400" dirty="0">
                <a:solidFill>
                  <a:srgbClr val="080808"/>
                </a:solidFill>
                <a:latin typeface="楷体" panose="02010609060101010101" pitchFamily="49" charset="-122"/>
                <a:ea typeface="楷体" panose="02010609060101010101" pitchFamily="49" charset="-122"/>
              </a:rPr>
              <a:t>max(w1x1+w2x2+...+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搜索该问题的解空间树，给出以下两个剪枝函数：</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）约束条件：当搜索到第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层的结点时，设</a:t>
            </a:r>
            <a:r>
              <a:rPr lang="en-US" altLang="zh-CN" sz="2400" dirty="0" err="1">
                <a:solidFill>
                  <a:srgbClr val="080808"/>
                </a:solidFill>
                <a:latin typeface="楷体" panose="02010609060101010101" pitchFamily="49" charset="-122"/>
                <a:ea typeface="楷体" panose="02010609060101010101" pitchFamily="49" charset="-122"/>
              </a:rPr>
              <a:t>cw</a:t>
            </a:r>
            <a:r>
              <a:rPr lang="zh-CN" altLang="en-US" sz="2400" dirty="0">
                <a:solidFill>
                  <a:srgbClr val="080808"/>
                </a:solidFill>
                <a:latin typeface="楷体" panose="02010609060101010101" pitchFamily="49" charset="-122"/>
                <a:ea typeface="楷体" panose="02010609060101010101" pitchFamily="49" charset="-122"/>
              </a:rPr>
              <a:t>为当前结点已有的轮船载重量，当满足</a:t>
            </a:r>
            <a:r>
              <a:rPr lang="en-US" altLang="zh-CN" sz="2400" dirty="0" err="1">
                <a:solidFill>
                  <a:srgbClr val="080808"/>
                </a:solidFill>
                <a:latin typeface="楷体" panose="02010609060101010101" pitchFamily="49" charset="-122"/>
                <a:ea typeface="楷体" panose="02010609060101010101" pitchFamily="49" charset="-122"/>
              </a:rPr>
              <a:t>cw+w</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c</a:t>
            </a:r>
            <a:r>
              <a:rPr lang="zh-CN" altLang="en-US" sz="2400" dirty="0">
                <a:solidFill>
                  <a:srgbClr val="080808"/>
                </a:solidFill>
                <a:latin typeface="楷体" panose="02010609060101010101" pitchFamily="49" charset="-122"/>
                <a:ea typeface="楷体" panose="02010609060101010101" pitchFamily="49" charset="-122"/>
              </a:rPr>
              <a:t>时继续搜索左子树</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否则将该结点的子树删去。</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）限界函数：当搜索到某个结点时，设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为当前最优载重量</a:t>
            </a:r>
            <a:r>
              <a:rPr lang="en-US" altLang="zh-CN" sz="2400" dirty="0">
                <a:solidFill>
                  <a:srgbClr val="080808"/>
                </a:solidFill>
                <a:latin typeface="楷体" panose="02010609060101010101" pitchFamily="49" charset="-122"/>
                <a:ea typeface="楷体" panose="02010609060101010101" pitchFamily="49" charset="-122"/>
              </a:rPr>
              <a:t>, rest</a:t>
            </a:r>
            <a:r>
              <a:rPr lang="zh-CN" altLang="en-US" sz="2400" dirty="0">
                <a:solidFill>
                  <a:srgbClr val="080808"/>
                </a:solidFill>
                <a:latin typeface="楷体" panose="02010609060101010101" pitchFamily="49" charset="-122"/>
                <a:ea typeface="楷体" panose="02010609060101010101" pitchFamily="49" charset="-122"/>
              </a:rPr>
              <a:t>为剩余集装箱的重量，当</a:t>
            </a:r>
            <a:r>
              <a:rPr lang="en-US" altLang="zh-CN" sz="2400" dirty="0" err="1">
                <a:solidFill>
                  <a:srgbClr val="080808"/>
                </a:solidFill>
                <a:latin typeface="楷体" panose="02010609060101010101" pitchFamily="49" charset="-122"/>
                <a:ea typeface="楷体" panose="02010609060101010101" pitchFamily="49" charset="-122"/>
              </a:rPr>
              <a:t>cw</a:t>
            </a:r>
            <a:r>
              <a:rPr lang="en-US" altLang="zh-CN" sz="2400" dirty="0">
                <a:solidFill>
                  <a:srgbClr val="080808"/>
                </a:solidFill>
                <a:latin typeface="楷体" panose="02010609060101010101" pitchFamily="49" charset="-122"/>
                <a:ea typeface="楷体" panose="02010609060101010101" pitchFamily="49" charset="-122"/>
              </a:rPr>
              <a:t> + rest&gt;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时，继续搜索右子树</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否则将该结点的右子树剪去。</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36512" y="980728"/>
            <a:ext cx="8874126"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6.3】</a:t>
            </a:r>
            <a:r>
              <a:rPr lang="zh-CN" altLang="en-US" sz="2400" dirty="0">
                <a:solidFill>
                  <a:srgbClr val="080808"/>
                </a:solidFill>
                <a:latin typeface="楷体" panose="02010609060101010101" pitchFamily="49" charset="-122"/>
                <a:ea typeface="楷体" panose="02010609060101010101" pitchFamily="49" charset="-122"/>
              </a:rPr>
              <a:t>求解迷宫问题。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a:t>
            </a:r>
            <a:r>
              <a:rPr lang="en-US" altLang="zh-CN" sz="2400" dirty="0">
                <a:solidFill>
                  <a:srgbClr val="080808"/>
                </a:solidFill>
                <a:latin typeface="楷体" panose="02010609060101010101" pitchFamily="49" charset="-122"/>
                <a:ea typeface="楷体" panose="02010609060101010101" pitchFamily="49" charset="-122"/>
              </a:rPr>
              <a:t>m</a:t>
            </a:r>
            <a:r>
              <a:rPr lang="zh-CN" altLang="en-US" sz="2400" dirty="0">
                <a:solidFill>
                  <a:srgbClr val="080808"/>
                </a:solidFill>
                <a:latin typeface="楷体" panose="02010609060101010101" pitchFamily="49" charset="-122"/>
                <a:ea typeface="楷体" panose="02010609060101010101" pitchFamily="49" charset="-122"/>
              </a:rPr>
              <a:t>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列的迷宫图，求从指定入口到出口的所有可行的路径。设现有一张迷宫图如下图</a:t>
            </a:r>
            <a:r>
              <a:rPr lang="en-US" altLang="zh-CN" sz="2400" dirty="0">
                <a:solidFill>
                  <a:srgbClr val="080808"/>
                </a:solidFill>
                <a:latin typeface="楷体" panose="02010609060101010101" pitchFamily="49" charset="-122"/>
                <a:ea typeface="楷体" panose="02010609060101010101" pitchFamily="49" charset="-122"/>
              </a:rPr>
              <a:t>6.6</a:t>
            </a:r>
            <a:r>
              <a:rPr lang="zh-CN" altLang="en-US" sz="2400" dirty="0">
                <a:solidFill>
                  <a:srgbClr val="080808"/>
                </a:solidFill>
                <a:latin typeface="楷体" panose="02010609060101010101" pitchFamily="49" charset="-122"/>
                <a:ea typeface="楷体" panose="02010609060101010101" pitchFamily="49" charset="-122"/>
              </a:rPr>
              <a:t>所示， </a:t>
            </a:r>
            <a:r>
              <a:rPr lang="en-US" altLang="zh-CN" sz="2400" dirty="0">
                <a:solidFill>
                  <a:srgbClr val="080808"/>
                </a:solidFill>
                <a:latin typeface="楷体" panose="02010609060101010101" pitchFamily="49" charset="-122"/>
                <a:ea typeface="楷体" panose="02010609060101010101" pitchFamily="49" charset="-122"/>
              </a:rPr>
              <a:t>m=7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n=8</a:t>
            </a:r>
            <a:r>
              <a:rPr lang="zh-CN" altLang="en-US" sz="2400" dirty="0">
                <a:solidFill>
                  <a:srgbClr val="080808"/>
                </a:solidFill>
                <a:latin typeface="楷体" panose="02010609060101010101" pitchFamily="49" charset="-122"/>
                <a:ea typeface="楷体" panose="02010609060101010101" pitchFamily="49" charset="-122"/>
              </a:rPr>
              <a:t>，外围是一圈围墙，能够防止在查找时出界，整个迷宫由两种方块构成，白色方块代表可以走的通道，灰色方块代表不可以走的的障碍物。要求所求出的路径必须是简单路径，即当中不能重复出现同一空白方块，规定从每个方块出发只能走四个位置：向上、向下、向左和向右这四个相邻的空白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203848" y="3933056"/>
            <a:ext cx="2865482" cy="2634072"/>
          </a:xfrm>
          <a:prstGeom prst="rect">
            <a:avLst/>
          </a:prstGeom>
        </p:spPr>
      </p:pic>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0801" y="976660"/>
            <a:ext cx="8874126"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、解题思路。在迷宫中的每一个方块，都有上下左右相邻的四个方块，如下图</a:t>
            </a:r>
            <a:r>
              <a:rPr lang="en-US" altLang="zh-CN" sz="2400" dirty="0">
                <a:solidFill>
                  <a:srgbClr val="080808"/>
                </a:solidFill>
                <a:latin typeface="楷体" panose="02010609060101010101" pitchFamily="49" charset="-122"/>
                <a:ea typeface="楷体" panose="02010609060101010101" pitchFamily="49" charset="-122"/>
              </a:rPr>
              <a:t>6.7</a:t>
            </a:r>
            <a:r>
              <a:rPr lang="zh-CN" altLang="en-US" sz="2400" dirty="0">
                <a:solidFill>
                  <a:srgbClr val="080808"/>
                </a:solidFill>
                <a:latin typeface="楷体" panose="02010609060101010101" pitchFamily="49" charset="-122"/>
                <a:ea typeface="楷体" panose="02010609060101010101" pitchFamily="49" charset="-122"/>
              </a:rPr>
              <a:t>所示，设第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列的方块的位置记为</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，为了搜索有序，现规定上方方块的方位是</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，并按顺时针方向递增进行编号，左方方块的方位是</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，下方方块的方位是</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，右方方块的方位是</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，在搜索过程中，将从方位</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到方位</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的方向查找下一个可走的方块。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131840" y="3140968"/>
            <a:ext cx="3384376" cy="2934816"/>
          </a:xfrm>
          <a:prstGeom prst="rect">
            <a:avLst/>
          </a:prstGeom>
        </p:spPr>
      </p:pic>
      <p:sp>
        <p:nvSpPr>
          <p:cNvPr id="2" name="矩形 1"/>
          <p:cNvSpPr/>
          <p:nvPr/>
        </p:nvSpPr>
        <p:spPr>
          <a:xfrm>
            <a:off x="0" y="6087821"/>
            <a:ext cx="9217024" cy="553998"/>
          </a:xfrm>
          <a:prstGeom prst="rect">
            <a:avLst/>
          </a:prstGeom>
        </p:spPr>
        <p:txBody>
          <a:bodyPr wrap="square">
            <a:spAutoFit/>
          </a:bodyPr>
          <a:lstStyle/>
          <a:p>
            <a:pPr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设当从起点</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a:t>
            </a:r>
            <a:r>
              <a:rPr lang="en-US" altLang="zh-CN" kern="100" dirty="0" err="1">
                <a:latin typeface="Times New Roman" panose="02020603050405020304" pitchFamily="18" charset="0"/>
                <a:cs typeface="Times New Roman" panose="02020603050405020304" pitchFamily="18" charset="0"/>
              </a:rPr>
              <a:t>ys</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方块找到一个可走相邻方块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后，接下来的要求解的问题就是从方块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到出口</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xe,ye</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的路径，显然这个问题是原问题的子问题，可以使用递归技术</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268760"/>
            <a:ext cx="8874126"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6.5】n</a:t>
            </a:r>
            <a:r>
              <a:rPr lang="zh-CN" altLang="en-US" sz="2400" dirty="0">
                <a:solidFill>
                  <a:srgbClr val="080808"/>
                </a:solidFill>
                <a:latin typeface="楷体" panose="02010609060101010101" pitchFamily="49" charset="-122"/>
                <a:ea typeface="楷体" panose="02010609060101010101" pitchFamily="49" charset="-122"/>
              </a:rPr>
              <a:t>皇后问题。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问题描述：八皇后问题是一个古老的问题，说的是在</a:t>
            </a:r>
            <a:r>
              <a:rPr lang="en-US" altLang="zh-CN" sz="2400" dirty="0">
                <a:solidFill>
                  <a:srgbClr val="080808"/>
                </a:solidFill>
                <a:latin typeface="楷体" panose="02010609060101010101" pitchFamily="49" charset="-122"/>
                <a:ea typeface="楷体" panose="02010609060101010101" pitchFamily="49" charset="-122"/>
              </a:rPr>
              <a:t>8×8</a:t>
            </a:r>
            <a:r>
              <a:rPr lang="zh-CN" altLang="en-US" sz="2400" dirty="0">
                <a:solidFill>
                  <a:srgbClr val="080808"/>
                </a:solidFill>
                <a:latin typeface="楷体" panose="02010609060101010101" pitchFamily="49" charset="-122"/>
                <a:ea typeface="楷体" panose="02010609060101010101" pitchFamily="49" charset="-122"/>
              </a:rPr>
              <a:t>的国际象棋棋盘上摆放八个皇后，使其不能互相攻击，即其中任意两个皇后都不能处于同一行、同一列或同一斜线上。如下图所示：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915816" y="2996952"/>
            <a:ext cx="3650704" cy="3627887"/>
          </a:xfrm>
          <a:prstGeom prst="rect">
            <a:avLst/>
          </a:prstGeom>
        </p:spPr>
      </p:pic>
    </p:spTree>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八皇后问题可以扩展到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皇后问题，即在</a:t>
            </a:r>
            <a:r>
              <a:rPr lang="en-US" altLang="zh-CN" sz="2400" dirty="0" err="1">
                <a:solidFill>
                  <a:srgbClr val="080808"/>
                </a:solidFill>
                <a:latin typeface="楷体" panose="02010609060101010101" pitchFamily="49" charset="-122"/>
                <a:ea typeface="楷体" panose="02010609060101010101" pitchFamily="49" charset="-122"/>
              </a:rPr>
              <a:t>n×n</a:t>
            </a:r>
            <a:r>
              <a:rPr lang="zh-CN" altLang="en-US" sz="2400" dirty="0">
                <a:solidFill>
                  <a:srgbClr val="080808"/>
                </a:solidFill>
                <a:latin typeface="楷体" panose="02010609060101010101" pitchFamily="49" charset="-122"/>
                <a:ea typeface="楷体" panose="02010609060101010101" pitchFamily="49" charset="-122"/>
              </a:rPr>
              <a:t>的国际象棋棋盘上摆放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个皇后，使其中任意两个皇后都不能处于同一行、同一列或同一斜线上。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、解题思路。首先，在棋盘的每一行上都能够且必须摆放一个皇后，此时可以用一个向量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来表示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皇后问题的可能解，其中</a:t>
            </a:r>
            <a:r>
              <a:rPr lang="en-US" altLang="zh-CN" sz="2400" dirty="0">
                <a:solidFill>
                  <a:srgbClr val="080808"/>
                </a:solidFill>
                <a:latin typeface="楷体" panose="02010609060101010101" pitchFamily="49" charset="-122"/>
                <a:ea typeface="楷体" panose="02010609060101010101" pitchFamily="49" charset="-122"/>
              </a:rPr>
              <a:t>1≤i≤n </a:t>
            </a:r>
            <a:r>
              <a:rPr lang="zh-CN" altLang="en-US" sz="2400" dirty="0">
                <a:solidFill>
                  <a:srgbClr val="080808"/>
                </a:solidFill>
                <a:latin typeface="楷体" panose="02010609060101010101" pitchFamily="49" charset="-122"/>
                <a:ea typeface="楷体" panose="02010609060101010101" pitchFamily="49" charset="-122"/>
              </a:rPr>
              <a:t>并且 </a:t>
            </a:r>
            <a:r>
              <a:rPr lang="en-US" altLang="zh-CN" sz="2400" dirty="0">
                <a:solidFill>
                  <a:srgbClr val="080808"/>
                </a:solidFill>
                <a:latin typeface="楷体" panose="02010609060101010101" pitchFamily="49" charset="-122"/>
                <a:ea typeface="楷体" panose="02010609060101010101" pitchFamily="49" charset="-122"/>
              </a:rPr>
              <a:t>1≤xi≤n</a:t>
            </a:r>
            <a:r>
              <a:rPr lang="zh-CN" altLang="en-US" sz="2400" dirty="0">
                <a:solidFill>
                  <a:srgbClr val="080808"/>
                </a:solidFill>
                <a:latin typeface="楷体" panose="02010609060101010101" pitchFamily="49" charset="-122"/>
                <a:ea typeface="楷体" panose="02010609060101010101" pitchFamily="49" charset="-122"/>
              </a:rPr>
              <a:t>，即第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个皇后放在第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列上。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根据题目要求，两个皇后是不能放在同一列上的，因此约束条件是：</a:t>
            </a:r>
            <a:r>
              <a:rPr lang="en-US" altLang="zh-CN" sz="2400" dirty="0" err="1">
                <a:solidFill>
                  <a:srgbClr val="080808"/>
                </a:solidFill>
                <a:latin typeface="楷体" panose="02010609060101010101" pitchFamily="49" charset="-122"/>
                <a:ea typeface="楷体" panose="02010609060101010101" pitchFamily="49" charset="-122"/>
              </a:rPr>
              <a:t>xi≠xj</a:t>
            </a:r>
            <a:r>
              <a:rPr lang="zh-CN" altLang="en-US" sz="2400" dirty="0">
                <a:solidFill>
                  <a:srgbClr val="080808"/>
                </a:solidFill>
                <a:latin typeface="楷体" panose="02010609060101010101" pitchFamily="49" charset="-122"/>
                <a:ea typeface="楷体" panose="02010609060101010101" pitchFamily="49" charset="-122"/>
              </a:rPr>
              <a:t>，还有就是两个皇后是不能放在同一斜线上的，设两个皇后摆放的位置分别是 </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xi)</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(j, </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 xi-</a:t>
            </a:r>
            <a:r>
              <a:rPr lang="en-US" altLang="zh-CN" sz="2400" dirty="0" err="1">
                <a:solidFill>
                  <a:srgbClr val="080808"/>
                </a:solidFill>
                <a:latin typeface="楷体" panose="02010609060101010101" pitchFamily="49" charset="-122"/>
                <a:ea typeface="楷体" panose="02010609060101010101" pitchFamily="49" charset="-122"/>
              </a:rPr>
              <a:t>xj</a:t>
            </a:r>
            <a:r>
              <a:rPr lang="zh-CN" altLang="en-US" sz="2400" dirty="0">
                <a:solidFill>
                  <a:srgbClr val="080808"/>
                </a:solidFill>
                <a:latin typeface="楷体" panose="02010609060101010101" pitchFamily="49" charset="-122"/>
                <a:ea typeface="楷体" panose="02010609060101010101" pitchFamily="49" charset="-122"/>
              </a:rPr>
              <a:t>，因此约束条件是：</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下面以四皇后问题为例，分析</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皇后问题的求解过程：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四皇后问题的解空间：向量</a:t>
            </a:r>
            <a:r>
              <a:rPr lang="en-US" altLang="zh-CN" sz="2400" dirty="0">
                <a:solidFill>
                  <a:srgbClr val="080808"/>
                </a:solidFill>
                <a:latin typeface="楷体" panose="02010609060101010101" pitchFamily="49" charset="-122"/>
                <a:ea typeface="楷体" panose="02010609060101010101" pitchFamily="49" charset="-122"/>
              </a:rPr>
              <a:t>X=(x1, x2, x3, x4)</a:t>
            </a:r>
            <a:r>
              <a:rPr lang="zh-CN" altLang="en-US" sz="2400" dirty="0">
                <a:solidFill>
                  <a:srgbClr val="080808"/>
                </a:solidFill>
                <a:latin typeface="楷体" panose="02010609060101010101" pitchFamily="49" charset="-122"/>
                <a:ea typeface="楷体" panose="02010609060101010101" pitchFamily="49" charset="-122"/>
              </a:rPr>
              <a:t>表示四皇后的布局，其中</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行皇后的列位置，</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的取值范围</a:t>
            </a:r>
            <a:r>
              <a:rPr lang="en-US" altLang="zh-CN" sz="2400" dirty="0">
                <a:solidFill>
                  <a:srgbClr val="080808"/>
                </a:solidFill>
                <a:latin typeface="楷体" panose="02010609060101010101" pitchFamily="49" charset="-122"/>
                <a:ea typeface="楷体" panose="02010609060101010101" pitchFamily="49" charset="-122"/>
              </a:rPr>
              <a:t>Si={1,2,3,4}</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44</a:t>
            </a:r>
            <a:r>
              <a:rPr lang="zh-CN" altLang="en-US" sz="2400" dirty="0">
                <a:solidFill>
                  <a:srgbClr val="080808"/>
                </a:solidFill>
                <a:latin typeface="楷体" panose="02010609060101010101" pitchFamily="49" charset="-122"/>
                <a:ea typeface="楷体" panose="02010609060101010101" pitchFamily="49" charset="-122"/>
              </a:rPr>
              <a:t>个可能的解，其解空间树是一个完全</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叉树。约束条件是：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xi≠xj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对列的约束；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对斜线的约束；</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四皇后问题的解空间树如下图</a:t>
            </a:r>
            <a:r>
              <a:rPr lang="en-US" altLang="zh-CN" sz="2400" dirty="0">
                <a:solidFill>
                  <a:srgbClr val="080808"/>
                </a:solidFill>
                <a:latin typeface="楷体" panose="02010609060101010101" pitchFamily="49" charset="-122"/>
                <a:ea typeface="楷体" panose="02010609060101010101" pitchFamily="49" charset="-122"/>
              </a:rPr>
              <a:t>6.10</a:t>
            </a:r>
            <a:r>
              <a:rPr lang="zh-CN" altLang="en-US" sz="2400" dirty="0">
                <a:solidFill>
                  <a:srgbClr val="080808"/>
                </a:solidFill>
                <a:latin typeface="楷体" panose="02010609060101010101" pitchFamily="49" charset="-122"/>
                <a:ea typeface="楷体" panose="02010609060101010101" pitchFamily="49" charset="-122"/>
              </a:rPr>
              <a:t>所示：从树的根结点开始搜索，从第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5</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行的可能摆放位置。</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109717" y="1484784"/>
            <a:ext cx="8924565" cy="5112568"/>
          </a:xfrm>
          <a:prstGeom prst="rect">
            <a:avLst/>
          </a:prstGeom>
        </p:spPr>
      </p:pic>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80528" y="1117032"/>
            <a:ext cx="887412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下图</a:t>
            </a:r>
            <a:r>
              <a:rPr lang="en-US" altLang="zh-CN" sz="2400" dirty="0">
                <a:solidFill>
                  <a:srgbClr val="080808"/>
                </a:solidFill>
                <a:latin typeface="楷体" panose="02010609060101010101" pitchFamily="49" charset="-122"/>
                <a:ea typeface="楷体" panose="02010609060101010101" pitchFamily="49" charset="-122"/>
              </a:rPr>
              <a:t>6.11</a:t>
            </a:r>
            <a:r>
              <a:rPr lang="zh-CN" altLang="en-US" sz="2400" dirty="0">
                <a:solidFill>
                  <a:srgbClr val="080808"/>
                </a:solidFill>
                <a:latin typeface="楷体" panose="02010609060101010101" pitchFamily="49" charset="-122"/>
                <a:ea typeface="楷体" panose="02010609060101010101" pitchFamily="49" charset="-122"/>
              </a:rPr>
              <a:t>所示是四皇后问题寻找第一个解的过程：</a:t>
            </a:r>
            <a:endParaRPr lang="zh-CN" altLang="en-US" sz="2400" dirty="0">
              <a:solidFill>
                <a:srgbClr val="080808"/>
              </a:solidFill>
              <a:latin typeface="楷体" panose="02010609060101010101" pitchFamily="49" charset="-122"/>
              <a:ea typeface="楷体" panose="02010609060101010101" pitchFamily="49" charset="-122"/>
            </a:endParaRPr>
          </a:p>
        </p:txBody>
      </p:sp>
      <p:grpSp>
        <p:nvGrpSpPr>
          <p:cNvPr id="4" name="组合 3"/>
          <p:cNvGrpSpPr/>
          <p:nvPr/>
        </p:nvGrpSpPr>
        <p:grpSpPr>
          <a:xfrm>
            <a:off x="1156490" y="1578697"/>
            <a:ext cx="6367837" cy="5279303"/>
            <a:chOff x="0" y="0"/>
            <a:chExt cx="3759200" cy="3498850"/>
          </a:xfrm>
        </p:grpSpPr>
        <p:pic>
          <p:nvPicPr>
            <p:cNvPr id="5" name="图片 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3759200" cy="1612900"/>
            </a:xfrm>
            <a:prstGeom prst="rect">
              <a:avLst/>
            </a:prstGeom>
          </p:spPr>
        </p:pic>
        <p:pic>
          <p:nvPicPr>
            <p:cNvPr id="6" name="图片 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20850"/>
              <a:ext cx="3759200" cy="1778000"/>
            </a:xfrm>
            <a:prstGeom prst="rect">
              <a:avLst/>
            </a:prstGeom>
          </p:spPr>
        </p:pic>
      </p:gr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cstate="print">
            <a:extLst>
              <a:ext uri="{28A0092B-C50C-407E-A947-70E740481C1C}">
                <a14:useLocalDpi xmlns:a14="http://schemas.microsoft.com/office/drawing/2010/main" val="0"/>
              </a:ext>
            </a:extLst>
          </a:blip>
          <a:stretch>
            <a:fillRect/>
          </a:stretch>
        </p:blipFill>
        <p:spPr>
          <a:xfrm>
            <a:off x="873829" y="1916832"/>
            <a:ext cx="7082548" cy="3283932"/>
          </a:xfrm>
          <a:prstGeom prst="rect">
            <a:avLst/>
          </a:prstGeom>
        </p:spPr>
      </p:pic>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773771" y="1484784"/>
            <a:ext cx="5596458" cy="5068654"/>
            <a:chOff x="0" y="0"/>
            <a:chExt cx="3848431" cy="3944731"/>
          </a:xfrm>
        </p:grpSpPr>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3848100" cy="2172335"/>
            </a:xfrm>
            <a:prstGeom prst="rect">
              <a:avLst/>
            </a:prstGeom>
          </p:spPr>
        </p:pic>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51" y="2258171"/>
              <a:ext cx="3840480" cy="1686560"/>
            </a:xfrm>
            <a:prstGeom prst="rect">
              <a:avLst/>
            </a:prstGeom>
          </p:spPr>
        </p:pic>
      </p:gr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10499</Words>
  <Application>WPS 演示</Application>
  <PresentationFormat>全屏显示(4:3)</PresentationFormat>
  <Paragraphs>1943</Paragraphs>
  <Slides>74</Slides>
  <Notes>16</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74</vt:i4>
      </vt:variant>
    </vt:vector>
  </HeadingPairs>
  <TitlesOfParts>
    <vt:vector size="93"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楷体</vt:lpstr>
      <vt:lpstr>隶书</vt:lpstr>
      <vt:lpstr>Wingdings</vt:lpstr>
      <vt:lpstr>方正正大黑简体</vt:lpstr>
      <vt:lpstr>JetBrains Mono</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402</cp:revision>
  <dcterms:created xsi:type="dcterms:W3CDTF">2010-09-23T08:30:00Z</dcterms:created>
  <dcterms:modified xsi:type="dcterms:W3CDTF">2025-12-07T17:19:47Z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2052-12.1.0.24034</vt:lpwstr>
  </property>
</Properties>
</file>