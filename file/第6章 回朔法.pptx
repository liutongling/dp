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1"/>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07" r:id="rId26"/>
    <p:sldId id="310" r:id="rId27"/>
    <p:sldId id="313" r:id="rId28"/>
    <p:sldId id="311" r:id="rId29"/>
    <p:sldId id="312" r:id="rId30"/>
    <p:sldId id="314" r:id="rId31"/>
    <p:sldId id="317" r:id="rId32"/>
    <p:sldId id="318" r:id="rId33"/>
    <p:sldId id="319" r:id="rId34"/>
    <p:sldId id="320" r:id="rId35"/>
    <p:sldId id="323" r:id="rId36"/>
    <p:sldId id="321" r:id="rId37"/>
    <p:sldId id="324" r:id="rId38"/>
    <p:sldId id="329" r:id="rId39"/>
    <p:sldId id="325" r:id="rId40"/>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76" r:id="rId61"/>
    <p:sldId id="277" r:id="rId62"/>
    <p:sldId id="278" r:id="rId63"/>
    <p:sldId id="279" r:id="rId64"/>
    <p:sldId id="280" r:id="rId65"/>
    <p:sldId id="281" r:id="rId66"/>
    <p:sldId id="282" r:id="rId67"/>
    <p:sldId id="283" r:id="rId68"/>
    <p:sldId id="284" r:id="rId69"/>
    <p:sldId id="285" r:id="rId70"/>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26" userDrawn="1">
          <p15:clr>
            <a:srgbClr val="A4A3A4"/>
          </p15:clr>
        </p15:guide>
        <p15:guide id="2" pos="284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26"/>
        <p:guide pos="284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5" Type="http://schemas.openxmlformats.org/officeDocument/2006/relationships/commentAuthors" Target="commentAuthors.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2.png"/><Relationship Id="rId1" Type="http://schemas.openxmlformats.org/officeDocument/2006/relationships/image" Target="../media/image41.png"/></Relationships>
</file>

<file path=ppt/slides/_rels/slide3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3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2.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3.png"/><Relationship Id="rId6" Type="http://schemas.openxmlformats.org/officeDocument/2006/relationships/image" Target="../media/image5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0.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4.png"/><Relationship Id="rId6" Type="http://schemas.openxmlformats.org/officeDocument/2006/relationships/image" Target="../media/image55.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6.png"/><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65.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3.png"/><Relationship Id="rId6" Type="http://schemas.openxmlformats.org/officeDocument/2006/relationships/image" Target="../media/image6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66.png"/><Relationship Id="rId1" Type="http://schemas.openxmlformats.org/officeDocument/2006/relationships/image" Target="../media/image6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p:transition spd="slow" advTm="109041"/>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47941"/>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p:transition spd="slow" advTm="437"/>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p:transition spd="slow" advTm="437"/>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3889375" y="2492375"/>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2575560" y="350075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3491865" y="3500120"/>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129" name="曲线连接符 128"/>
          <p:cNvCxnSpPr/>
          <p:nvPr/>
        </p:nvCxnSpPr>
        <p:spPr>
          <a:xfrm rot="5400000">
            <a:off x="3342640" y="2630170"/>
            <a:ext cx="426085" cy="1313815"/>
          </a:xfrm>
          <a:prstGeom prst="curvedConnector3">
            <a:avLst>
              <a:gd name="adj1" fmla="val 50075"/>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rot="5400000">
            <a:off x="3801110" y="3088640"/>
            <a:ext cx="425450" cy="39751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5" idx="0"/>
          </p:cNvCxnSpPr>
          <p:nvPr/>
        </p:nvCxnSpPr>
        <p:spPr>
          <a:xfrm rot="5400000">
            <a:off x="2225675" y="3729990"/>
            <a:ext cx="320675" cy="1025525"/>
          </a:xfrm>
          <a:prstGeom prst="curvedConnector3">
            <a:avLst>
              <a:gd name="adj1" fmla="val 50099"/>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a:endCxn id="15" idx="0"/>
          </p:cNvCxnSpPr>
          <p:nvPr/>
        </p:nvCxnSpPr>
        <p:spPr>
          <a:xfrm rot="5400000">
            <a:off x="2522538" y="4027488"/>
            <a:ext cx="320675" cy="4318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4806950" y="4161155"/>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sp>
        <p:nvSpPr>
          <p:cNvPr id="135" name="椭圆 134"/>
          <p:cNvSpPr/>
          <p:nvPr/>
        </p:nvSpPr>
        <p:spPr>
          <a:xfrm>
            <a:off x="170243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7" name="文本框 156"/>
          <p:cNvSpPr txBox="1"/>
          <p:nvPr/>
        </p:nvSpPr>
        <p:spPr>
          <a:xfrm>
            <a:off x="1134110" y="3721100"/>
            <a:ext cx="669925" cy="368300"/>
          </a:xfrm>
          <a:prstGeom prst="rect">
            <a:avLst/>
          </a:prstGeom>
          <a:noFill/>
        </p:spPr>
        <p:txBody>
          <a:bodyPr wrap="square" rtlCol="0">
            <a:spAutoFit/>
          </a:bodyPr>
          <a:p>
            <a:r>
              <a:rPr lang="zh-CN" altLang="en-US"/>
              <a:t>①</a:t>
            </a:r>
            <a:r>
              <a:rPr lang="en-US" altLang="zh-CN"/>
              <a:t> </a:t>
            </a:r>
            <a:endParaRPr lang="en-US" altLang="zh-CN"/>
          </a:p>
        </p:txBody>
      </p:sp>
      <p:sp>
        <p:nvSpPr>
          <p:cNvPr id="160" name="文本框 159"/>
          <p:cNvSpPr txBox="1"/>
          <p:nvPr/>
        </p:nvSpPr>
        <p:spPr>
          <a:xfrm>
            <a:off x="539750" y="4415790"/>
            <a:ext cx="669925" cy="368300"/>
          </a:xfrm>
          <a:prstGeom prst="rect">
            <a:avLst/>
          </a:prstGeom>
          <a:noFill/>
        </p:spPr>
        <p:txBody>
          <a:bodyPr wrap="square" rtlCol="0">
            <a:spAutoFit/>
          </a:bodyPr>
          <a:p>
            <a:r>
              <a:rPr lang="zh-CN" altLang="en-US"/>
              <a:t>②</a:t>
            </a:r>
            <a:r>
              <a:rPr lang="en-US" altLang="zh-CN"/>
              <a:t> </a:t>
            </a:r>
            <a:endParaRPr lang="en-US" altLang="zh-CN"/>
          </a:p>
        </p:txBody>
      </p:sp>
      <p:grpSp>
        <p:nvGrpSpPr>
          <p:cNvPr id="164" name="组合 163"/>
          <p:cNvGrpSpPr/>
          <p:nvPr/>
        </p:nvGrpSpPr>
        <p:grpSpPr>
          <a:xfrm rot="0">
            <a:off x="4925060" y="4438015"/>
            <a:ext cx="341630" cy="342265"/>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800">
                  <a:solidFill>
                    <a:srgbClr val="000066"/>
                  </a:solidFill>
                  <a:latin typeface="Times New Roman" panose="02020603050405020304" pitchFamily="18" charset="0"/>
                  <a:ea typeface="+mj-ea"/>
                  <a:cs typeface="Times New Roman" panose="02020603050405020304" pitchFamily="18" charset="0"/>
                </a:rPr>
                <a:t>4</a:t>
              </a:r>
              <a:endParaRPr lang="en-US" sz="1800">
                <a:solidFill>
                  <a:srgbClr val="000066"/>
                </a:solidFill>
                <a:latin typeface="Times New Roman" panose="02020603050405020304" pitchFamily="18" charset="0"/>
                <a:ea typeface="+mj-ea"/>
                <a:cs typeface="Times New Roman" panose="02020603050405020304" pitchFamily="18" charset="0"/>
              </a:endParaRPr>
            </a:p>
          </p:txBody>
        </p:sp>
      </p:grpSp>
      <p:sp>
        <p:nvSpPr>
          <p:cNvPr id="207" name="文本框 206"/>
          <p:cNvSpPr txBox="1"/>
          <p:nvPr/>
        </p:nvSpPr>
        <p:spPr>
          <a:xfrm>
            <a:off x="1619885" y="4826000"/>
            <a:ext cx="5189220" cy="450850"/>
          </a:xfrm>
          <a:prstGeom prst="rect">
            <a:avLst/>
          </a:prstGeom>
          <a:noFill/>
        </p:spPr>
        <p:txBody>
          <a:bodyPr wrap="square" rtlCol="0" anchor="t">
            <a:noAutofit/>
          </a:bodyPr>
          <a:p>
            <a:r>
              <a:rPr lang="en-US" altLang="zh-CN">
                <a:solidFill>
                  <a:schemeClr val="tx1"/>
                </a:solidFill>
                <a:latin typeface="Times New Roman" panose="02020603050405020304" pitchFamily="18" charset="0"/>
                <a:sym typeface="+mn-ea"/>
              </a:rPr>
              <a:t>[1,2]  [1,3]   [1,3]   [2,3]    [2,4]      [3,4]       </a:t>
            </a:r>
            <a:endParaRPr lang="en-US" altLang="zh-CN">
              <a:solidFill>
                <a:schemeClr val="tx1"/>
              </a:solidFill>
              <a:latin typeface="Times New Roman" panose="02020603050405020304" pitchFamily="18" charset="0"/>
              <a:sym typeface="+mn-ea"/>
            </a:endParaRPr>
          </a:p>
          <a:p>
            <a:endParaRPr lang="en-US" altLang="zh-CN">
              <a:solidFill>
                <a:schemeClr val="tx1"/>
              </a:solidFill>
              <a:latin typeface="Times New Roman" panose="02020603050405020304" pitchFamily="18" charset="0"/>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sp>
        <p:nvSpPr>
          <p:cNvPr id="6" name="文本框 5"/>
          <p:cNvSpPr txBox="1"/>
          <p:nvPr/>
        </p:nvSpPr>
        <p:spPr>
          <a:xfrm>
            <a:off x="7884795" y="2060575"/>
            <a:ext cx="1292860" cy="1198880"/>
          </a:xfrm>
          <a:prstGeom prst="rect">
            <a:avLst/>
          </a:prstGeom>
          <a:noFill/>
        </p:spPr>
        <p:txBody>
          <a:bodyPr wrap="square" rtlCol="0">
            <a:spAutoFit/>
          </a:bodyPr>
          <a:p>
            <a:r>
              <a:rPr lang="zh-CN" altLang="en-US"/>
              <a:t>画一个空间树</a:t>
            </a:r>
            <a:r>
              <a:rPr lang="en-US" altLang="zh-CN"/>
              <a:t>0-1</a:t>
            </a:r>
            <a:r>
              <a:rPr lang="zh-CN" altLang="en-US"/>
              <a:t>背包问题回溯求</a:t>
            </a:r>
            <a:r>
              <a:rPr lang="zh-CN" altLang="en-US"/>
              <a:t>解</a:t>
            </a:r>
            <a:endParaRPr lang="zh-CN" altLang="en-US"/>
          </a:p>
        </p:txBody>
      </p:sp>
      <p:grpSp>
        <p:nvGrpSpPr>
          <p:cNvPr id="2" name="组合 1"/>
          <p:cNvGrpSpPr/>
          <p:nvPr/>
        </p:nvGrpSpPr>
        <p:grpSpPr>
          <a:xfrm rot="0">
            <a:off x="4500245" y="3506470"/>
            <a:ext cx="646430" cy="581660"/>
            <a:chOff x="10489" y="3359"/>
            <a:chExt cx="1018" cy="916"/>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 name="组合 8"/>
          <p:cNvGrpSpPr/>
          <p:nvPr/>
        </p:nvGrpSpPr>
        <p:grpSpPr>
          <a:xfrm rot="0">
            <a:off x="5436235" y="350710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13" name="曲线连接符 12"/>
          <p:cNvCxnSpPr/>
          <p:nvPr/>
        </p:nvCxnSpPr>
        <p:spPr>
          <a:xfrm rot="5400000" flipV="1">
            <a:off x="4302125" y="2985135"/>
            <a:ext cx="431800" cy="6108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 name="曲线连接符 13"/>
          <p:cNvCxnSpPr/>
          <p:nvPr/>
        </p:nvCxnSpPr>
        <p:spPr>
          <a:xfrm rot="5400000" flipV="1">
            <a:off x="4770120" y="2517140"/>
            <a:ext cx="432435" cy="154686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15" name="椭圆 14"/>
          <p:cNvSpPr/>
          <p:nvPr/>
        </p:nvSpPr>
        <p:spPr>
          <a:xfrm>
            <a:off x="2296160"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椭圆 15"/>
          <p:cNvSpPr/>
          <p:nvPr/>
        </p:nvSpPr>
        <p:spPr>
          <a:xfrm>
            <a:off x="2869565"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7" name="曲线连接符 16"/>
          <p:cNvCxnSpPr>
            <a:endCxn id="16" idx="0"/>
          </p:cNvCxnSpPr>
          <p:nvPr/>
        </p:nvCxnSpPr>
        <p:spPr>
          <a:xfrm rot="5400000" flipV="1">
            <a:off x="2800668" y="4181158"/>
            <a:ext cx="337820" cy="141605"/>
          </a:xfrm>
          <a:prstGeom prst="curvedConnector3">
            <a:avLst>
              <a:gd name="adj1" fmla="val 49906"/>
            </a:avLst>
          </a:prstGeom>
          <a:solidFill>
            <a:schemeClr val="accent1"/>
          </a:solidFill>
          <a:ln w="9525" cap="flat" cmpd="sng" algn="ctr">
            <a:solidFill>
              <a:schemeClr val="tx1"/>
            </a:solidFill>
            <a:prstDash val="solid"/>
            <a:round/>
            <a:headEnd type="none" w="med" len="med"/>
            <a:tailEnd type="arrow" w="med" len="med"/>
          </a:ln>
        </p:spPr>
      </p:cxnSp>
      <p:cxnSp>
        <p:nvCxnSpPr>
          <p:cNvPr id="20" name="曲线连接符 19"/>
          <p:cNvCxnSpPr>
            <a:endCxn id="21" idx="0"/>
          </p:cNvCxnSpPr>
          <p:nvPr/>
        </p:nvCxnSpPr>
        <p:spPr>
          <a:xfrm rot="5400000">
            <a:off x="3515995" y="4121150"/>
            <a:ext cx="338455" cy="259715"/>
          </a:xfrm>
          <a:prstGeom prst="curvedConnector3">
            <a:avLst>
              <a:gd name="adj1" fmla="val 50094"/>
            </a:avLst>
          </a:prstGeom>
          <a:solidFill>
            <a:schemeClr val="accent1"/>
          </a:solidFill>
          <a:ln w="9525" cap="flat" cmpd="sng" algn="ctr">
            <a:solidFill>
              <a:schemeClr val="tx1"/>
            </a:solidFill>
            <a:prstDash val="solid"/>
            <a:round/>
            <a:headEnd type="none" w="med" len="med"/>
            <a:tailEnd type="arrow" w="med" len="med"/>
          </a:ln>
        </p:spPr>
      </p:cxnSp>
      <p:sp>
        <p:nvSpPr>
          <p:cNvPr id="21" name="椭圆 20"/>
          <p:cNvSpPr/>
          <p:nvPr/>
        </p:nvSpPr>
        <p:spPr>
          <a:xfrm>
            <a:off x="3384550"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曲线连接符 21"/>
          <p:cNvCxnSpPr>
            <a:endCxn id="23" idx="0"/>
          </p:cNvCxnSpPr>
          <p:nvPr/>
        </p:nvCxnSpPr>
        <p:spPr>
          <a:xfrm rot="5400000" flipV="1">
            <a:off x="3830320" y="4067175"/>
            <a:ext cx="321310" cy="3517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23" name="椭圆 22"/>
          <p:cNvSpPr/>
          <p:nvPr/>
        </p:nvSpPr>
        <p:spPr>
          <a:xfrm>
            <a:off x="399605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4" name="直接连接符 23"/>
          <p:cNvCxnSpPr/>
          <p:nvPr/>
        </p:nvCxnSpPr>
        <p:spPr>
          <a:xfrm>
            <a:off x="1139825" y="4145915"/>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cxnSp>
        <p:nvCxnSpPr>
          <p:cNvPr id="25" name="直接连接符 24"/>
          <p:cNvCxnSpPr/>
          <p:nvPr/>
        </p:nvCxnSpPr>
        <p:spPr>
          <a:xfrm>
            <a:off x="1187450" y="4822190"/>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）回溯模板</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）回溯模板（有剪枝</a:t>
            </a:r>
            <a:r>
              <a:rPr lang="zh-CN">
                <a:solidFill>
                  <a:srgbClr val="000066"/>
                </a:solidFill>
                <a:latin typeface="+mj-ea"/>
                <a:ea typeface="+mj-ea"/>
              </a:rPr>
              <a:t>）</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3</a:t>
            </a:r>
            <a:r>
              <a:rPr lang="zh-CN">
                <a:solidFill>
                  <a:srgbClr val="000066"/>
                </a:solidFill>
                <a:latin typeface="+mj-ea"/>
                <a:ea typeface="+mj-ea"/>
              </a:rPr>
              <a:t>）空间树类型：子集树，全排列树，</a:t>
            </a:r>
            <a:r>
              <a:rPr lang="en-US" altLang="zh-CN">
                <a:solidFill>
                  <a:srgbClr val="000066"/>
                </a:solidFill>
                <a:latin typeface="+mj-ea"/>
                <a:ea typeface="+mj-ea"/>
              </a:rPr>
              <a:t>n</a:t>
            </a:r>
            <a:r>
              <a:rPr lang="zh-CN" altLang="en-US">
                <a:solidFill>
                  <a:srgbClr val="000066"/>
                </a:solidFill>
                <a:latin typeface="+mj-ea"/>
                <a:ea typeface="+mj-ea"/>
              </a:rPr>
              <a:t>叉树</a:t>
            </a:r>
            <a:r>
              <a:rPr lang="en-US" altLang="zh-CN">
                <a:solidFill>
                  <a:srgbClr val="000066"/>
                </a:solidFill>
                <a:latin typeface="+mj-ea"/>
                <a:ea typeface="+mj-ea"/>
              </a:rPr>
              <a:t> </a:t>
            </a:r>
            <a:endParaRPr lang="zh-CN" altLang="en-US">
              <a:solidFill>
                <a:srgbClr val="000066"/>
              </a:solidFill>
              <a:latin typeface="+mj-ea"/>
              <a:ea typeface="+mj-e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268760"/>
            <a:ext cx="887412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6.5】n</a:t>
            </a:r>
            <a:r>
              <a:rPr lang="zh-CN" altLang="en-US" sz="2400" dirty="0">
                <a:solidFill>
                  <a:srgbClr val="080808"/>
                </a:solidFill>
                <a:latin typeface="楷体" panose="02010609060101010101" pitchFamily="49" charset="-122"/>
                <a:ea typeface="楷体" panose="02010609060101010101" pitchFamily="49" charset="-122"/>
              </a:rPr>
              <a:t>皇后问题。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问题描述：八皇后问题是一个古老的问题，说的是在</a:t>
            </a:r>
            <a:r>
              <a:rPr lang="en-US" altLang="zh-CN" sz="2400" dirty="0">
                <a:solidFill>
                  <a:srgbClr val="080808"/>
                </a:solidFill>
                <a:latin typeface="楷体" panose="02010609060101010101" pitchFamily="49" charset="-122"/>
                <a:ea typeface="楷体" panose="02010609060101010101" pitchFamily="49" charset="-122"/>
              </a:rPr>
              <a:t>8×8</a:t>
            </a:r>
            <a:r>
              <a:rPr lang="zh-CN" altLang="en-US" sz="2400" dirty="0">
                <a:solidFill>
                  <a:srgbClr val="080808"/>
                </a:solidFill>
                <a:latin typeface="楷体" panose="02010609060101010101" pitchFamily="49" charset="-122"/>
                <a:ea typeface="楷体" panose="02010609060101010101" pitchFamily="49" charset="-122"/>
              </a:rPr>
              <a:t>的国际象棋棋盘上摆放八个皇后，使其不能互相攻击，即其中任意两个皇后都不能处于同一行、同一列或同一斜线上。如下图所示：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915816" y="2996952"/>
            <a:ext cx="3650704" cy="3627887"/>
          </a:xfrm>
          <a:prstGeom prst="rect">
            <a:avLst/>
          </a:prstGeom>
        </p:spPr>
      </p:pic>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9101</Words>
  <Application>WPS 演示</Application>
  <PresentationFormat>全屏显示(4:3)</PresentationFormat>
  <Paragraphs>1533</Paragraphs>
  <Slides>67</Slides>
  <Notes>16</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67</vt:i4>
      </vt:variant>
    </vt:vector>
  </HeadingPairs>
  <TitlesOfParts>
    <vt:vector size="85"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Wingdings</vt:lpstr>
      <vt:lpstr>方正正大黑简体</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395</cp:revision>
  <dcterms:created xsi:type="dcterms:W3CDTF">2010-09-23T08:30:00Z</dcterms:created>
  <dcterms:modified xsi:type="dcterms:W3CDTF">2025-12-05T06:59:59Z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2052-12.1.0.24034</vt:lpwstr>
  </property>
</Properties>
</file>